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slides/charts/chart9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0.xml" ContentType="application/vnd.openxmlformats-officedocument.drawingml.chart+xml"/>
  <Override PartName="/ppt/slides/charts/chart11.xml" ContentType="application/vnd.openxmlformats-officedocument.drawingml.chart+xml"/>
  <Override PartName="/ppt/slides/charts/chart12.xml" ContentType="application/vnd.openxmlformats-officedocument.drawingml.chart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slides/charts/chart15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cac6df7d7b46b6" /><Relationship Type="http://schemas.openxmlformats.org/officeDocument/2006/relationships/extended-properties" Target="/docProps/app.xml" Id="R0eb8d75c4c714dfd" /><Relationship Type="http://schemas.openxmlformats.org/officeDocument/2006/relationships/officeDocument" Target="/ppt/presentation.xml" Id="R9bf63d84128849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d0e0804fc44735"/>
  </p:sldMasterIdLst>
  <p:notesMasterIdLst>
    <p:notesMasterId xmlns:r="http://schemas.openxmlformats.org/officeDocument/2006/relationships" r:id="R9b0cf2a734684883"/>
  </p:notesMasterIdLst>
  <p:sldIdLst>
    <p:sldId xmlns:r="http://schemas.openxmlformats.org/officeDocument/2006/relationships" id="256" r:id="R921c3ed5eefe401e"/>
    <p:sldId xmlns:r="http://schemas.openxmlformats.org/officeDocument/2006/relationships" id="257" r:id="Rd9e9e2dbf83649fd"/>
    <p:sldId xmlns:r="http://schemas.openxmlformats.org/officeDocument/2006/relationships" id="258" r:id="R0cac0ff00f324232"/>
    <p:sldId xmlns:r="http://schemas.openxmlformats.org/officeDocument/2006/relationships" id="259" r:id="Rf2ea71c691934c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727c4afb4b423b" /><Relationship Type="http://schemas.openxmlformats.org/officeDocument/2006/relationships/slideMaster" Target="/ppt/slideMasters/slideMaster1.xml" Id="Rbcd0e0804fc44735" /><Relationship Type="http://schemas.openxmlformats.org/officeDocument/2006/relationships/notesMaster" Target="/ppt/notesMasters/notesMaster1.xml" Id="R9b0cf2a734684883" /><Relationship Type="http://schemas.openxmlformats.org/officeDocument/2006/relationships/presProps" Target="/ppt/presProps.xml" Id="Rafbd7b9f860149e3" /><Relationship Type="http://schemas.openxmlformats.org/officeDocument/2006/relationships/viewProps" Target="/ppt/viewProps.xml" Id="R1ea249f80e784564" /><Relationship Type="http://schemas.openxmlformats.org/officeDocument/2006/relationships/tableStyles" Target="/ppt/tableStyles.xml" Id="R35bba5ae7b0c4fe2" /><Relationship Type="http://schemas.openxmlformats.org/officeDocument/2006/relationships/slide" Target="/ppt/slides/slide1.xml" Id="R921c3ed5eefe401e" /><Relationship Type="http://schemas.openxmlformats.org/officeDocument/2006/relationships/slide" Target="/ppt/slides/slide2.xml" Id="Rd9e9e2dbf83649fd" /><Relationship Type="http://schemas.openxmlformats.org/officeDocument/2006/relationships/slide" Target="/ppt/slides/slide3.xml" Id="R0cac0ff00f324232" /><Relationship Type="http://schemas.openxmlformats.org/officeDocument/2006/relationships/slide" Target="/ppt/slides/slide4.xml" Id="Rf2ea71c691934c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54978c52054a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2472c11e5a415c" /><Relationship Type="http://schemas.openxmlformats.org/officeDocument/2006/relationships/notesMaster" Target="/ppt/notesMasters/notesMaster1.xml" Id="Rd6cb67f103384d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cf5a49fc8d4098" /><Relationship Type="http://schemas.openxmlformats.org/officeDocument/2006/relationships/notesMaster" Target="/ppt/notesMasters/notesMaster1.xml" Id="Re751c252cea140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6e3d13c9a64a63" /><Relationship Type="http://schemas.openxmlformats.org/officeDocument/2006/relationships/notesMaster" Target="/ppt/notesMasters/notesMaster1.xml" Id="Rf3ab633989f240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51904b00b0d4aad" /><Relationship Type="http://schemas.openxmlformats.org/officeDocument/2006/relationships/notesMaster" Target="/ppt/notesMasters/notesMaster1.xml" Id="Rae571623bd1042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/Users/agatbe/Downloads/TIM - 3.xlsx; BSDE Annual Report 2025; BSDE 1H26 Financial Statements and press release; PEFINDO Rating Summary dated 18 March 2026.</a:t>
            </a:r>
            <a:endParaRPr/>
          </a:p>
          <a:p xmlns:a="http://schemas.openxmlformats.org/drawingml/2006/main">
            <a:r>
              <a:t>https://www.bsdcity.com/app/uploads/2026/04/BSDE-Annual-Report-2025.pdf</a:t>
            </a:r>
            <a:endParaRPr/>
          </a:p>
          <a:p xmlns:a="http://schemas.openxmlformats.org/drawingml/2006/main">
            <a:r>
              <a:t>https://www.bsdcity.com/app/uploads/2026/07/BSDE-LK-Q2-2026.pdf</a:t>
            </a:r>
            <a:endParaRPr/>
          </a:p>
          <a:p xmlns:a="http://schemas.openxmlformats.org/drawingml/2006/main">
            <a:r>
              <a:t>https://cms.sinarmasland.com/uploads/BSDE_Press_Release_31_07_2026_8ec616fbb1.pdf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/Users/agatbe/Downloads/TIM - 3.xlsx. Figures are in IDR million unless stated otherwise. The 1H26 column aggregates 1Q26 and 2Q26 for P&amp;L and cash flow items and uses 2Q26 ending balances for balance-sheet and ratio items.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/Users/agatbe/Downloads/TIM - 3.xlsx. Annual data are FY figures; 1H26 revenue and profit margin are cumulative, while total assets, liabilities, equity, ROA and ROE use the latest 2Q26 workbook values.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/Users/agatbe/Downloads/TIM - 3.xlsx.</a:t>
            </a:r>
            <a:endParaRPr/>
          </a:p>
          <a:p xmlns:a="http://schemas.openxmlformats.org/drawingml/2006/main">
            <a:r>
              <a:t>Company-defined 1H26 capital expenditure was IDR3.25tn including IDR2.51tn of land purchases. The workbook capital-expenditure series excludes land purchases, which property developers classify in operating cash flow.</a:t>
            </a:r>
            <a:endParaRPr/>
          </a:p>
          <a:p xmlns:a="http://schemas.openxmlformats.org/drawingml/2006/main">
            <a:r>
              <a:t>https://cms.sinarmasland.com/uploads/BSDE_Press_Release_31_07_2026_8ec616fbb1.pdf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3c2d3630f4441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d3d359fddf46a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db32711f2743e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e68b92ece447f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20b48e08f24b7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760ca44f30418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f3faf10f444fb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d4ecf48e76432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cc92239d7c4d5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35436eb1944dd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a94376102a4929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649595-8991-F93B-D011-05F921BD7AF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0F53D45-FDD2-316B-4069-B5F586E3DFD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681030E-D60A-AD35-00B2-C06DE2ABE6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669F748-B750-0295-19F3-C36EAE3843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81C434-A940-4531-8760-FDFE25EE5C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30F649-5DE4-50A7-35FC-43B36BCBFE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2BCD34C-A0E0-03D5-7B46-68E20A272BB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793B4C6-5737-FF4D-C6D1-FE91BC4781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940690F-634A-813D-AA4A-94DB06F4318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0B69A9A-EE12-F453-A2E6-72A9D3AB64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5C85846-0705-CF4B-8F3B-5FBEF3ABAD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03F4E1-6E66-D396-AD22-E5E5F87752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D75FD25-D829-A5A4-57D5-EDDE834D97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EAEBF84-823E-17C0-2B97-EC31285C09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A06C37C-0293-76ED-BFB5-888C464055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DEF68B-023B-4656-9B7A-8A80AF7FFD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58AAF83-50D0-7093-A729-E90FB5C0FC6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E9AED08-201C-5208-8C30-A6964539C51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C138FD2-17F5-3609-9053-5639712C49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C9E465F-22D5-C665-77CF-E08C1E1D52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8EADB7A-4E48-61EE-3327-0ADF61D952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907964D-DFB3-EDB0-6165-919D56D993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55CB428-099D-DC6E-CC5A-AA4AF921BF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B5133F4-2967-1CFE-BC81-7177EC27405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718077F-7442-C082-2DBF-5572F4C0C4C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4DBE69E-1374-1D84-F45F-723EEF562B5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BBC7D4D-B6A3-5309-F9FB-2EAE3183CF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3125A1B-21D0-51A1-4C90-BCF6A9F2C0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DBD7231-0D22-CA9C-8C58-0FC8AF5B0CC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5B142D-B1C8-A04F-DB04-913DB4F99C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CF0B34E-3E7F-CA8E-0408-1EE9214754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FB50067-2120-C824-81B3-40410275352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57312D05-573D-1F57-72AC-A0F3CE8156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89AD53E-97D1-6670-2201-0DBFB201FC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9731C8D-68D2-AEE1-3A71-1D9D99C782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88D3C87-B564-88C9-9EFD-1AB08F4C13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71141AE-B2F9-8374-493E-8F67C69784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35DCE6C-1501-33D4-4D23-6035839BEF0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65F433E-D276-1347-4A8E-00C1E5A08C0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1B970C1-5B3D-12B4-C338-7E7CF7CC90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763E853-FFED-909B-B931-28044DF853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24AA7B6-9E0D-E1DC-046E-2EEED50FA0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A59102-92E6-60C5-941D-3C90711C9E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359C041-E08C-E99C-361B-ACCD4F09CFB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433B35D-E609-97FF-8396-EE08B7674C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83B490A-AD5E-4E9A-DC19-07E3E03F1B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F861614-47BA-D53A-8246-0C9A6E986F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268CAD1-76AC-251F-577F-B1AE936893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A095A50-2F51-7D9E-32A7-1CCEC5D0BC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AA50E9F-2BE0-E71D-6758-8CE8364ADA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706490C-81DA-A3A3-4CE2-1BF1EBF9BF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9BD4C2A-7C58-1C46-5671-AF59E7C7CD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79E813-502F-4823-F1DA-DC57F5428C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E491F163-43DA-C5E5-4048-EB858AD088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DB0EAB-330A-1E0A-296A-3C320CC54B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5FA2AF7-ADA6-331E-A02E-78A5531CD8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F353AB3-E6D1-9CB7-AF48-CE5968CA4A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332568E-B049-EA63-B0BA-B34470B091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d9beefe01042d5" /><Relationship Type="http://schemas.openxmlformats.org/officeDocument/2006/relationships/slideLayout" Target="/ppt/slideLayouts/slideLayout1.xml" Id="R2fd037169ee448ac" /><Relationship Type="http://schemas.openxmlformats.org/officeDocument/2006/relationships/slideLayout" Target="/ppt/slideLayouts/slideLayout2.xml" Id="R53d8d48c72e1459c" /><Relationship Type="http://schemas.openxmlformats.org/officeDocument/2006/relationships/slideLayout" Target="/ppt/slideLayouts/slideLayout3.xml" Id="R10d31d94991b4702" /><Relationship Type="http://schemas.openxmlformats.org/officeDocument/2006/relationships/slideLayout" Target="/ppt/slideLayouts/slideLayout4.xml" Id="Rf113ebc343f24893" /><Relationship Type="http://schemas.openxmlformats.org/officeDocument/2006/relationships/slideLayout" Target="/ppt/slideLayouts/slideLayout5.xml" Id="Rc7ea93a448fe4efb" /><Relationship Type="http://schemas.openxmlformats.org/officeDocument/2006/relationships/slideLayout" Target="/ppt/slideLayouts/slideLayout6.xml" Id="R385942f6fdcf4d1e" /><Relationship Type="http://schemas.openxmlformats.org/officeDocument/2006/relationships/slideLayout" Target="/ppt/slideLayouts/slideLayout7.xml" Id="R3451b2b8ec9a412c" /><Relationship Type="http://schemas.openxmlformats.org/officeDocument/2006/relationships/slideLayout" Target="/ppt/slideLayouts/slideLayout8.xml" Id="R566c326558984e5b" /><Relationship Type="http://schemas.openxmlformats.org/officeDocument/2006/relationships/slideLayout" Target="/ppt/slideLayouts/slideLayout9.xml" Id="R9ce0f33de10e4346" /><Relationship Type="http://schemas.openxmlformats.org/officeDocument/2006/relationships/slideLayout" Target="/ppt/slideLayouts/slideLayout10.xml" Id="Rbb5310a9289a4ec8" /><Relationship Type="http://schemas.openxmlformats.org/officeDocument/2006/relationships/slideLayout" Target="/ppt/slideLayouts/slideLayout11.xml" Id="Rbcb2fab7486245f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4F60F7D-BCBA-C720-1CF9-C05AEDD641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3C4CEA-B021-87BF-254B-EB10335687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35C9356-17DD-A1F5-CEF4-D09C24344E6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FC32458A-D894-4A55-AB51-91A9CDAD3556}" type="datetimeFigureOut">
              <a:t>18/09/26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8D3EE79-D6C3-EE3B-C48C-6E312DE4992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C9A582D-040D-6BF1-C43C-14C898B5182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887D6EF6-D894-4C43-BE71-40EC1D8336A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d037169ee448ac"/>
    <p:sldLayoutId xmlns:r="http://schemas.openxmlformats.org/officeDocument/2006/relationships" id="2147483650" r:id="R53d8d48c72e1459c"/>
    <p:sldLayoutId xmlns:r="http://schemas.openxmlformats.org/officeDocument/2006/relationships" id="2147483651" r:id="R10d31d94991b4702"/>
    <p:sldLayoutId xmlns:r="http://schemas.openxmlformats.org/officeDocument/2006/relationships" id="2147483652" r:id="Rf113ebc343f24893"/>
    <p:sldLayoutId xmlns:r="http://schemas.openxmlformats.org/officeDocument/2006/relationships" id="2147483653" r:id="Rc7ea93a448fe4efb"/>
    <p:sldLayoutId xmlns:r="http://schemas.openxmlformats.org/officeDocument/2006/relationships" id="2147483654" r:id="R385942f6fdcf4d1e"/>
    <p:sldLayoutId xmlns:r="http://schemas.openxmlformats.org/officeDocument/2006/relationships" id="2147483655" r:id="R3451b2b8ec9a412c"/>
    <p:sldLayoutId xmlns:r="http://schemas.openxmlformats.org/officeDocument/2006/relationships" id="2147483656" r:id="R566c326558984e5b"/>
    <p:sldLayoutId xmlns:r="http://schemas.openxmlformats.org/officeDocument/2006/relationships" id="2147483657" r:id="R9ce0f33de10e4346"/>
    <p:sldLayoutId xmlns:r="http://schemas.openxmlformats.org/officeDocument/2006/relationships" id="2147483658" r:id="Rbb5310a9289a4ec8"/>
    <p:sldLayoutId xmlns:r="http://schemas.openxmlformats.org/officeDocument/2006/relationships" id="2147483659" r:id="Rbcb2fab7486245f5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3693d4a64434f" /><Relationship Type="http://schemas.openxmlformats.org/officeDocument/2006/relationships/chart" Target="/ppt/slides/charts/chart1.xml" Id="R145822a1b00c463f" /><Relationship Type="http://schemas.openxmlformats.org/officeDocument/2006/relationships/chart" Target="/ppt/slides/charts/chart2.xml" Id="Rd1d70b50ef6f41e8" /><Relationship Type="http://schemas.openxmlformats.org/officeDocument/2006/relationships/chart" Target="/ppt/slides/charts/chart3.xml" Id="R0f159cb08bec4f0c" /><Relationship Type="http://schemas.openxmlformats.org/officeDocument/2006/relationships/notesSlide" Target="/ppt/notesSlides/notesSlide1.xml" Id="R60a45a3698354e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ba14efb7ce4a3c" /><Relationship Type="http://schemas.openxmlformats.org/officeDocument/2006/relationships/notesSlide" Target="/ppt/notesSlides/notesSlide2.xml" Id="Re1f68c8ee7fd4d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bc8e5ce6c54d85" /><Relationship Type="http://schemas.openxmlformats.org/officeDocument/2006/relationships/chart" Target="/ppt/slides/charts/chart4.xml" Id="Rbbef4e65c33e4bb5" /><Relationship Type="http://schemas.openxmlformats.org/officeDocument/2006/relationships/chart" Target="/ppt/slides/charts/chart5.xml" Id="R70b668f3e4bf45cb" /><Relationship Type="http://schemas.openxmlformats.org/officeDocument/2006/relationships/chart" Target="/ppt/slides/charts/chart6.xml" Id="Rcf85b386dc904206" /><Relationship Type="http://schemas.openxmlformats.org/officeDocument/2006/relationships/chart" Target="/ppt/slides/charts/chart7.xml" Id="Rac2ffc50e3b54735" /><Relationship Type="http://schemas.openxmlformats.org/officeDocument/2006/relationships/chart" Target="/ppt/slides/charts/chart8.xml" Id="Rcce2ea8b1ad04abe" /><Relationship Type="http://schemas.openxmlformats.org/officeDocument/2006/relationships/chart" Target="/ppt/slides/charts/chart9.xml" Id="Rd754cc208c9b4be6" /><Relationship Type="http://schemas.openxmlformats.org/officeDocument/2006/relationships/notesSlide" Target="/ppt/notesSlides/notesSlide3.xml" Id="R6d91a07da6ee40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e76573a33543fe" /><Relationship Type="http://schemas.openxmlformats.org/officeDocument/2006/relationships/chart" Target="/ppt/slides/charts/chart10.xml" Id="R553b1d4ad30a4a0f" /><Relationship Type="http://schemas.openxmlformats.org/officeDocument/2006/relationships/chart" Target="/ppt/slides/charts/chart11.xml" Id="R2d4ef52999974011" /><Relationship Type="http://schemas.openxmlformats.org/officeDocument/2006/relationships/chart" Target="/ppt/slides/charts/chart12.xml" Id="Rc1122d5b7e04463b" /><Relationship Type="http://schemas.openxmlformats.org/officeDocument/2006/relationships/chart" Target="/ppt/slides/charts/chart13.xml" Id="Rced6339572a645bb" /><Relationship Type="http://schemas.openxmlformats.org/officeDocument/2006/relationships/chart" Target="/ppt/slides/charts/chart14.xml" Id="R37ae91b607d849ed" /><Relationship Type="http://schemas.openxmlformats.org/officeDocument/2006/relationships/chart" Target="/ppt/slides/charts/chart15.xml" Id="R80e511d62d8749c8" /><Relationship Type="http://schemas.openxmlformats.org/officeDocument/2006/relationships/notesSlide" Target="/ppt/notesSlides/notesSlide4.xml" Id="R940f6eff187f41d5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Free Cash Flow (IDR Bn)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bg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Free Cash Flow</c:v>
          </c:tx>
          <c:spPr>
            <a:solidFill xmlns:a="http://schemas.openxmlformats.org/drawingml/2006/main">
              <a:srgbClr val="E97132"/>
            </a:solidFill>
            <a:ln xmlns:a="http://schemas.openxmlformats.org/drawingml/2006/main">
              <a:noFill/>
            </a:ln>
          </c:spPr>
          <c:invertIfNegative val="0"/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70C0"/>
              </a:solidFill>
              <a:ln xmlns:a="http://schemas.openxmlformats.org/drawingml/2006/main">
                <a:noFill/>
              </a:ln>
            </c:spPr>
          </c:dPt>
          <c:dLbls>
            <c:numFmt formatCode="#,##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00" b="1" i="0" u="none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0"/>
              <c:pt idx="0">
                <c:v>2017</c:v>
              </c:pt>
              <c:pt idx="1">
                <c:v>2018</c:v>
              </c:pt>
              <c:pt idx="2">
                <c:v>2019</c:v>
              </c:pt>
              <c:pt idx="3">
                <c:v>2020</c:v>
              </c:pt>
              <c:pt idx="4">
                <c:v>2021</c:v>
              </c:pt>
              <c:pt idx="5">
                <c:v>2022</c:v>
              </c:pt>
              <c:pt idx="6">
                <c:v>2023</c:v>
              </c:pt>
              <c:pt idx="7">
                <c:v>2024</c:v>
              </c:pt>
              <c:pt idx="8">
                <c:v>2025</c:v>
              </c:pt>
              <c:pt idx="9">
                <c:v>1H26</c:v>
              </c:pt>
            </c:strLit>
          </c:cat>
          <c:val>
            <c:numLit>
              <c:formatCode>_(* #,##0.00_);_(* \(#,##0.00\);_(* "-"??_);_(@_)</c:formatCode>
              <c:ptCount val="10"/>
              <c:pt idx="0">
                <c:v>4527.2</c:v>
              </c:pt>
              <c:pt idx="1">
                <c:v>1083.43</c:v>
              </c:pt>
              <c:pt idx="2">
                <c:v>2172.89</c:v>
              </c:pt>
              <c:pt idx="3">
                <c:v>971.41</c:v>
              </c:pt>
              <c:pt idx="4">
                <c:v>2863.83</c:v>
              </c:pt>
              <c:pt idx="5">
                <c:v>2618.35</c:v>
              </c:pt>
              <c:pt idx="6">
                <c:v>630.86</c:v>
              </c:pt>
              <c:pt idx="7">
                <c:v>224.08</c:v>
              </c:pt>
              <c:pt idx="8">
                <c:v>-1674.51</c:v>
              </c:pt>
              <c:pt idx="9">
                <c:v>-1478.61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ysClr val="window" lastClr="FFFFFF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1000" b="0" i="0" u="none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2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Net Debt (IDR Bn)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bg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Net Debt</c:v>
          </c:tx>
          <c:spPr>
            <a:solidFill xmlns:a="http://schemas.openxmlformats.org/drawingml/2006/main">
              <a:srgbClr val="E9713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70C0"/>
              </a:solidFill>
              <a:ln xmlns:a="http://schemas.openxmlformats.org/drawingml/2006/main">
                <a:noFill/>
              </a:ln>
            </c:spPr>
          </c:dPt>
          <c:dLbls>
            <c:numFmt formatCode="#,##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1" i="0" u="none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0"/>
              <c:pt idx="0">
                <c:v>2017</c:v>
              </c:pt>
              <c:pt idx="1">
                <c:v>2018</c:v>
              </c:pt>
              <c:pt idx="2">
                <c:v>2019</c:v>
              </c:pt>
              <c:pt idx="3">
                <c:v>2020</c:v>
              </c:pt>
              <c:pt idx="4">
                <c:v>2021</c:v>
              </c:pt>
              <c:pt idx="5">
                <c:v>2022</c:v>
              </c:pt>
              <c:pt idx="6">
                <c:v>2023</c:v>
              </c:pt>
              <c:pt idx="7">
                <c:v>2024</c:v>
              </c:pt>
              <c:pt idx="8">
                <c:v>2025</c:v>
              </c:pt>
              <c:pt idx="9">
                <c:v>1H26</c:v>
              </c:pt>
            </c:strLit>
          </c:cat>
          <c:val>
            <c:numLit>
              <c:formatCode>_(* #,##0.00_);_(* \(#,##0.00\);_(* "-"??_);_(@_)</c:formatCode>
              <c:ptCount val="10"/>
              <c:pt idx="0">
                <c:v>2520.67</c:v>
              </c:pt>
              <c:pt idx="1">
                <c:v>3430.45</c:v>
              </c:pt>
              <c:pt idx="2">
                <c:v>3184.77</c:v>
              </c:pt>
              <c:pt idx="3">
                <c:v>1918.69</c:v>
              </c:pt>
              <c:pt idx="4">
                <c:v>153.73</c:v>
              </c:pt>
              <c:pt idx="5">
                <c:v>38.63</c:v>
              </c:pt>
              <c:pt idx="6">
                <c:v>1025.23</c:v>
              </c:pt>
              <c:pt idx="7">
                <c:v>3454.3</c:v>
              </c:pt>
              <c:pt idx="8">
                <c:v>4614.04</c:v>
              </c:pt>
              <c:pt idx="9">
                <c:v>8761.26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ysClr val="window" lastClr="FFFFFF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3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Net Income (IDR Bn)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bg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Net Income</c:v>
          </c:tx>
          <c:spPr>
            <a:solidFill xmlns:a="http://schemas.openxmlformats.org/drawingml/2006/main">
              <a:srgbClr val="E9713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70C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1" i="0" u="none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0"/>
              <c:pt idx="0">
                <c:v>2017</c:v>
              </c:pt>
              <c:pt idx="1">
                <c:v>2018</c:v>
              </c:pt>
              <c:pt idx="2">
                <c:v>2019</c:v>
              </c:pt>
              <c:pt idx="3">
                <c:v>2020</c:v>
              </c:pt>
              <c:pt idx="4">
                <c:v>2021</c:v>
              </c:pt>
              <c:pt idx="5">
                <c:v>2022</c:v>
              </c:pt>
              <c:pt idx="6">
                <c:v>2023</c:v>
              </c:pt>
              <c:pt idx="7">
                <c:v>2024</c:v>
              </c:pt>
              <c:pt idx="8">
                <c:v>2025</c:v>
              </c:pt>
              <c:pt idx="9">
                <c:v>1H26</c:v>
              </c:pt>
            </c:strLit>
          </c:cat>
          <c:val>
            <c:numLit>
              <c:formatCode>_(* #,##0.00_);_(* \(#,##0.00\);_(* "-"??_);_(@_)</c:formatCode>
              <c:ptCount val="10"/>
              <c:pt idx="0">
                <c:v>4920.23</c:v>
              </c:pt>
              <c:pt idx="1">
                <c:v>1293.85</c:v>
              </c:pt>
              <c:pt idx="2">
                <c:v>2791.42</c:v>
              </c:pt>
              <c:pt idx="3">
                <c:v>281.7</c:v>
              </c:pt>
              <c:pt idx="4">
                <c:v>1348.62</c:v>
              </c:pt>
              <c:pt idx="5">
                <c:v>2433.15</c:v>
              </c:pt>
              <c:pt idx="6">
                <c:v>1945.47</c:v>
              </c:pt>
              <c:pt idx="7">
                <c:v>4359.06</c:v>
              </c:pt>
              <c:pt idx="8">
                <c:v>2545.38</c:v>
              </c:pt>
              <c:pt idx="9">
                <c:v>603.9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ysClr val="window" lastClr="FFFFFF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bg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4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Profit Margin (%)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Profit Margin (%)</c:v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0"/>
              <c:pt idx="0">
                <c:v>2017</c:v>
              </c:pt>
              <c:pt idx="1">
                <c:v>2018</c:v>
              </c:pt>
              <c:pt idx="2">
                <c:v>2019</c:v>
              </c:pt>
              <c:pt idx="3">
                <c:v>2020</c:v>
              </c:pt>
              <c:pt idx="4">
                <c:v>2021</c:v>
              </c:pt>
              <c:pt idx="5">
                <c:v>2022</c:v>
              </c:pt>
              <c:pt idx="6">
                <c:v>2023</c:v>
              </c:pt>
              <c:pt idx="7">
                <c:v>2024</c:v>
              </c:pt>
              <c:pt idx="8">
                <c:v>2025</c:v>
              </c:pt>
              <c:pt idx="9">
                <c:v>1H26</c:v>
              </c:pt>
            </c:strLit>
          </c:cat>
          <c:val>
            <c:numLit>
              <c:formatCode>_(* #,##0.00_);_(* \(#,##0.00\);_(* "-"??_);_(@_)</c:formatCode>
              <c:ptCount val="10"/>
              <c:pt idx="0">
                <c:v>47.55</c:v>
              </c:pt>
              <c:pt idx="1">
                <c:v>19.52</c:v>
              </c:pt>
              <c:pt idx="2">
                <c:v>39.4</c:v>
              </c:pt>
              <c:pt idx="3">
                <c:v>4.56</c:v>
              </c:pt>
              <c:pt idx="4">
                <c:v>17.62</c:v>
              </c:pt>
              <c:pt idx="5">
                <c:v>23.77</c:v>
              </c:pt>
              <c:pt idx="6">
                <c:v>16.86</c:v>
              </c:pt>
              <c:pt idx="7">
                <c:v>31.6</c:v>
              </c:pt>
              <c:pt idx="8">
                <c:v>19.9</c:v>
              </c:pt>
              <c:pt idx="9">
                <c:v>12.71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5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Return on Equity (%)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Return on Equity (%)</c:v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0"/>
              <c:pt idx="0">
                <c:v>2017</c:v>
              </c:pt>
              <c:pt idx="1">
                <c:v>2018</c:v>
              </c:pt>
              <c:pt idx="2">
                <c:v>2019</c:v>
              </c:pt>
              <c:pt idx="3">
                <c:v>2020</c:v>
              </c:pt>
              <c:pt idx="4">
                <c:v>2021</c:v>
              </c:pt>
              <c:pt idx="5">
                <c:v>2022</c:v>
              </c:pt>
              <c:pt idx="6">
                <c:v>2023</c:v>
              </c:pt>
              <c:pt idx="7">
                <c:v>2024</c:v>
              </c:pt>
              <c:pt idx="8">
                <c:v>2025</c:v>
              </c:pt>
              <c:pt idx="9">
                <c:v>1H26</c:v>
              </c:pt>
            </c:strLit>
          </c:cat>
          <c:val>
            <c:numLit>
              <c:formatCode>_(* #,##0.00_);_(* \(#,##0.00\);_(* "-"??_);_(@_)</c:formatCode>
              <c:ptCount val="10"/>
              <c:pt idx="0">
                <c:v>21.4</c:v>
              </c:pt>
              <c:pt idx="1">
                <c:v>5.02</c:v>
              </c:pt>
              <c:pt idx="2">
                <c:v>10.08</c:v>
              </c:pt>
              <c:pt idx="3">
                <c:v>0.95</c:v>
              </c:pt>
              <c:pt idx="4">
                <c:v>4.38</c:v>
              </c:pt>
              <c:pt idx="5">
                <c:v>7.48</c:v>
              </c:pt>
              <c:pt idx="6">
                <c:v>5.55</c:v>
              </c:pt>
              <c:pt idx="7">
                <c:v>11.27</c:v>
              </c:pt>
              <c:pt idx="8">
                <c:v>6.01</c:v>
              </c:pt>
              <c:pt idx="9">
                <c:v>4.26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6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Return on Assets (%)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Return on Assets (%)</c:v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0"/>
              <c:pt idx="0">
                <c:v>2017</c:v>
              </c:pt>
              <c:pt idx="1">
                <c:v>2018</c:v>
              </c:pt>
              <c:pt idx="2">
                <c:v>2019</c:v>
              </c:pt>
              <c:pt idx="3">
                <c:v>2020</c:v>
              </c:pt>
              <c:pt idx="4">
                <c:v>2021</c:v>
              </c:pt>
              <c:pt idx="5">
                <c:v>2022</c:v>
              </c:pt>
              <c:pt idx="6">
                <c:v>2023</c:v>
              </c:pt>
              <c:pt idx="7">
                <c:v>2024</c:v>
              </c:pt>
              <c:pt idx="8">
                <c:v>2025</c:v>
              </c:pt>
              <c:pt idx="9">
                <c:v>1H26</c:v>
              </c:pt>
            </c:strLit>
          </c:cat>
          <c:val>
            <c:numLit>
              <c:formatCode>_(* #,##0.00_);_(* \(#,##0.00\);_(* "-"??_);_(@_)</c:formatCode>
              <c:ptCount val="10"/>
              <c:pt idx="0">
                <c:v>11.65</c:v>
              </c:pt>
              <c:pt idx="1">
                <c:v>2.64</c:v>
              </c:pt>
              <c:pt idx="2">
                <c:v>5.23</c:v>
              </c:pt>
              <c:pt idx="3">
                <c:v>0.49</c:v>
              </c:pt>
              <c:pt idx="4">
                <c:v>2.2</c:v>
              </c:pt>
              <c:pt idx="5">
                <c:v>3.85</c:v>
              </c:pt>
              <c:pt idx="6">
                <c:v>2.95</c:v>
              </c:pt>
              <c:pt idx="7">
                <c:v>6.1</c:v>
              </c:pt>
              <c:pt idx="8">
                <c:v>3.28</c:v>
              </c:pt>
              <c:pt idx="9">
                <c:v>2.35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7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Revenue (IDR Tn)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Revenue</c:v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0"/>
              <c:pt idx="0">
                <c:v>2017</c:v>
              </c:pt>
              <c:pt idx="1">
                <c:v>2018</c:v>
              </c:pt>
              <c:pt idx="2">
                <c:v>2019</c:v>
              </c:pt>
              <c:pt idx="3">
                <c:v>2020</c:v>
              </c:pt>
              <c:pt idx="4">
                <c:v>2021</c:v>
              </c:pt>
              <c:pt idx="5">
                <c:v>2022</c:v>
              </c:pt>
              <c:pt idx="6">
                <c:v>2023</c:v>
              </c:pt>
              <c:pt idx="7">
                <c:v>2024</c:v>
              </c:pt>
              <c:pt idx="8">
                <c:v>2025</c:v>
              </c:pt>
              <c:pt idx="9">
                <c:v>1H26</c:v>
              </c:pt>
            </c:strLit>
          </c:cat>
          <c:val>
            <c:numLit>
              <c:formatCode>_(* #,##0.0_);_(* \(#,##0.0\);_(* "-"??_);_(@_)</c:formatCode>
              <c:ptCount val="10"/>
              <c:pt idx="0">
                <c:v>10.35</c:v>
              </c:pt>
              <c:pt idx="1">
                <c:v>6.63</c:v>
              </c:pt>
              <c:pt idx="2">
                <c:v>7.08</c:v>
              </c:pt>
              <c:pt idx="3">
                <c:v>6.18</c:v>
              </c:pt>
              <c:pt idx="4">
                <c:v>7.65</c:v>
              </c:pt>
              <c:pt idx="5">
                <c:v>10.24</c:v>
              </c:pt>
              <c:pt idx="6">
                <c:v>11.54</c:v>
              </c:pt>
              <c:pt idx="7">
                <c:v>13.8</c:v>
              </c:pt>
              <c:pt idx="8">
                <c:v>12.79</c:v>
              </c:pt>
              <c:pt idx="9">
                <c:v>4.75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_);_(* \(#,##0.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9525" cmpd="sng">
      <a:noFill/>
    </a:ln>
  </c:spPr>
</c:chartSpace>
</file>

<file path=ppt/slides/charts/chart8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Total Assets (IDR Tn)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Total Assets</c:v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numFmt formatCode="0.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0"/>
              <c:pt idx="0">
                <c:v>2017</c:v>
              </c:pt>
              <c:pt idx="1">
                <c:v>2018</c:v>
              </c:pt>
              <c:pt idx="2">
                <c:v>2019</c:v>
              </c:pt>
              <c:pt idx="3">
                <c:v>2020</c:v>
              </c:pt>
              <c:pt idx="4">
                <c:v>2021</c:v>
              </c:pt>
              <c:pt idx="5">
                <c:v>2022</c:v>
              </c:pt>
              <c:pt idx="6">
                <c:v>2023</c:v>
              </c:pt>
              <c:pt idx="7">
                <c:v>2024</c:v>
              </c:pt>
              <c:pt idx="8">
                <c:v>2025</c:v>
              </c:pt>
              <c:pt idx="9">
                <c:v>1H26</c:v>
              </c:pt>
            </c:strLit>
          </c:cat>
          <c:val>
            <c:numLit>
              <c:formatCode>0.00%</c:formatCode>
              <c:ptCount val="10"/>
              <c:pt idx="0">
                <c:v>45.95</c:v>
              </c:pt>
              <c:pt idx="1">
                <c:v>52.19</c:v>
              </c:pt>
              <c:pt idx="2">
                <c:v>54.54</c:v>
              </c:pt>
              <c:pt idx="3">
                <c:v>60.86</c:v>
              </c:pt>
              <c:pt idx="4">
                <c:v>61.47</c:v>
              </c:pt>
              <c:pt idx="5">
                <c:v>65</c:v>
              </c:pt>
              <c:pt idx="6">
                <c:v>66.83</c:v>
              </c:pt>
              <c:pt idx="7">
                <c:v>76.02</c:v>
              </c:pt>
              <c:pt idx="8">
                <c:v>79.27</c:v>
              </c:pt>
              <c:pt idx="9">
                <c:v>81.94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9525" cmpd="sng">
      <a:noFill/>
    </a:ln>
  </c:spPr>
</c:chartSpace>
</file>

<file path=ppt/slides/charts/chart9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Capital Structure (IDR Tn)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ysClr val="windowText" lastClr="000000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39496806538531846"/>
          <c:y val="0.21433841084997937"/>
          <c:w val="0.9276297606938425"/>
          <c:h val="0.666235926492064"/>
        </c:manualLayout>
      </c:layout>
      <c:barChart>
        <c:barDir val="col"/>
        <c:grouping val="stacked"/>
        <c:varyColors val="0"/>
        <c:ser>
          <c:idx val="0"/>
          <c:order val="0"/>
          <c:tx>
            <c:v>Total Equity</c:v>
          </c:tx>
          <c:spPr>
            <a:solidFill xmlns:a="http://schemas.openxmlformats.org/drawingml/2006/main">
              <a:srgbClr val="002060"/>
            </a:solidFill>
            <a:ln xmlns:a="http://schemas.openxmlformats.org/drawingml/2006/main">
              <a:noFill/>
            </a:ln>
          </c:spPr>
          <c:dLbls>
            <c:dLbl>
              <c:idx val="0"/>
            </c:dLbl>
            <c:dLbl>
              <c:idx val="1"/>
            </c:dLbl>
            <c:dLbl>
              <c:idx val="2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1" i="0" u="none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0"/>
              <c:pt idx="0">
                <c:v>2017</c:v>
              </c:pt>
              <c:pt idx="1">
                <c:v>2018</c:v>
              </c:pt>
              <c:pt idx="2">
                <c:v>2019</c:v>
              </c:pt>
              <c:pt idx="3">
                <c:v>2020</c:v>
              </c:pt>
              <c:pt idx="4">
                <c:v>2021</c:v>
              </c:pt>
              <c:pt idx="5">
                <c:v>2022</c:v>
              </c:pt>
              <c:pt idx="6">
                <c:v>2023</c:v>
              </c:pt>
              <c:pt idx="7">
                <c:v>2024</c:v>
              </c:pt>
              <c:pt idx="8">
                <c:v>2025</c:v>
              </c:pt>
              <c:pt idx="9">
                <c:v>1H26</c:v>
              </c:pt>
            </c:strLit>
          </c:cat>
          <c:val>
            <c:numLit>
              <c:formatCode>0.0</c:formatCode>
              <c:ptCount val="10"/>
              <c:pt idx="0">
                <c:v>29.2</c:v>
              </c:pt>
              <c:pt idx="1">
                <c:v>30.36</c:v>
              </c:pt>
              <c:pt idx="2">
                <c:v>33.63</c:v>
              </c:pt>
              <c:pt idx="3">
                <c:v>34.47</c:v>
              </c:pt>
              <c:pt idx="4">
                <c:v>35.89</c:v>
              </c:pt>
              <c:pt idx="5">
                <c:v>38.05</c:v>
              </c:pt>
              <c:pt idx="6">
                <c:v>41.2</c:v>
              </c:pt>
              <c:pt idx="7">
                <c:v>47.32</c:v>
              </c:pt>
              <c:pt idx="8">
                <c:v>52.67</c:v>
              </c:pt>
              <c:pt idx="9">
                <c:v>53.15</c:v>
              </c:pt>
            </c:numLit>
          </c:val>
        </c:ser>
        <c:ser>
          <c:idx val="1"/>
          <c:order val="1"/>
          <c:tx>
            <c:v>Total Liabilities</c:v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Lbls>
            <c:dLbl>
              <c:idx val="8"/>
              <c:spPr>
                <a:noFill xmlns:a="http://schemas.openxmlformats.org/drawingml/2006/main"/>
                <a:ln xmlns:a="http://schemas.openxmlformats.org/drawingml/2006/main">
                  <a:noFill/>
                </a:ln>
              </c:spPr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000" b="1" i="0" u="none">
                      <a:solidFill>
                        <a:schemeClr val="tx1"/>
                      </a:solidFill>
                      <a:latin typeface="Calibri"/>
                      <a:ea typeface="Calibri"/>
                      <a:cs typeface="Calibri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bg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0"/>
              <c:pt idx="0">
                <c:v>2017</c:v>
              </c:pt>
              <c:pt idx="1">
                <c:v>2018</c:v>
              </c:pt>
              <c:pt idx="2">
                <c:v>2019</c:v>
              </c:pt>
              <c:pt idx="3">
                <c:v>2020</c:v>
              </c:pt>
              <c:pt idx="4">
                <c:v>2021</c:v>
              </c:pt>
              <c:pt idx="5">
                <c:v>2022</c:v>
              </c:pt>
              <c:pt idx="6">
                <c:v>2023</c:v>
              </c:pt>
              <c:pt idx="7">
                <c:v>2024</c:v>
              </c:pt>
              <c:pt idx="8">
                <c:v>2025</c:v>
              </c:pt>
              <c:pt idx="9">
                <c:v>1H26</c:v>
              </c:pt>
            </c:strLit>
          </c:cat>
          <c:val>
            <c:numLit>
              <c:formatCode>0.0</c:formatCode>
              <c:ptCount val="10"/>
              <c:pt idx="0">
                <c:v>16.75</c:v>
              </c:pt>
              <c:pt idx="1">
                <c:v>21.83</c:v>
              </c:pt>
              <c:pt idx="2">
                <c:v>20.92</c:v>
              </c:pt>
              <c:pt idx="3">
                <c:v>26.39</c:v>
              </c:pt>
              <c:pt idx="4">
                <c:v>25.58</c:v>
              </c:pt>
              <c:pt idx="5">
                <c:v>26.95</c:v>
              </c:pt>
              <c:pt idx="6">
                <c:v>25.63</c:v>
              </c:pt>
              <c:pt idx="7">
                <c:v>28.7</c:v>
              </c:pt>
              <c:pt idx="8">
                <c:v>26.6</c:v>
              </c:pt>
              <c:pt idx="9">
                <c:v>28.79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905085856"/>
        <c:axId val="905087776"/>
      </c:barChart>
      <c:catAx>
        <c:axId val="905085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>
                    <a:lumMod val="65000"/>
                    <a:lumOff val="35000"/>
                  </a:schemeClr>
                </a:solidFill>
                <a:latin typeface="Calibri"/>
                <a:ea typeface="Calibri"/>
                <a:cs typeface="Calibri"/>
              </a:defRPr>
            </a:pPr>
          </a:p>
        </c:txPr>
        <c:crossAx val="905087776"/>
        <c:crosses val="autoZero"/>
        <c:lblOffset val="100"/>
      </c:catAx>
      <c:valAx>
        <c:axId val="905087776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905085856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legend>
      <c:legendPos val="b"/>
      <c:layout>
        <c:manualLayout>
          <c:xMode val="edge"/>
          <c:yMode val="edge"/>
          <c:x val="0.22633831196028287"/>
          <c:y val="0.17028511278903882"/>
          <c:w val="0.5341648917308583"/>
          <c:h val="0.08703357538430549"/>
        </c:manualLayout>
      </c:layout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000" b="0" i="0" u="none">
              <a:solidFill>
                <a:schemeClr val="tx1">
                  <a:lumMod val="65000"/>
                  <a:lumOff val="35000"/>
                </a:schemeClr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9525" cmpd="sng">
      <a:noFill/>
    </a:ln>
  </c:spPr>
</c:chartSpace>
</file>

<file path=ppt/slides/charts/chart10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Quick Ratio (X)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Quick Ratio (X)</c:v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0"/>
              <c:pt idx="0">
                <c:v>2017</c:v>
              </c:pt>
              <c:pt idx="1">
                <c:v>2018</c:v>
              </c:pt>
              <c:pt idx="2">
                <c:v>2019</c:v>
              </c:pt>
              <c:pt idx="3">
                <c:v>2020</c:v>
              </c:pt>
              <c:pt idx="4">
                <c:v>2021</c:v>
              </c:pt>
              <c:pt idx="5">
                <c:v>2022</c:v>
              </c:pt>
              <c:pt idx="6">
                <c:v>2023</c:v>
              </c:pt>
              <c:pt idx="7">
                <c:v>2024</c:v>
              </c:pt>
              <c:pt idx="8">
                <c:v>2025</c:v>
              </c:pt>
              <c:pt idx="9">
                <c:v>1H26</c:v>
              </c:pt>
            </c:strLit>
          </c:cat>
          <c:val>
            <c:numLit>
              <c:formatCode>_(* #,##0.00_);_(* \(#,##0.00\);_(* "-"??_);_(@_)</c:formatCode>
              <c:ptCount val="10"/>
              <c:pt idx="0">
                <c:v>0.93</c:v>
              </c:pt>
              <c:pt idx="1">
                <c:v>1.51</c:v>
              </c:pt>
              <c:pt idx="2">
                <c:v>1.61</c:v>
              </c:pt>
              <c:pt idx="3">
                <c:v>1.13</c:v>
              </c:pt>
              <c:pt idx="4">
                <c:v>1.09</c:v>
              </c:pt>
              <c:pt idx="5">
                <c:v>1.07</c:v>
              </c:pt>
              <c:pt idx="6">
                <c:v>0.93</c:v>
              </c:pt>
              <c:pt idx="7">
                <c:v>0.78</c:v>
              </c:pt>
              <c:pt idx="8">
                <c:v>1.23</c:v>
              </c:pt>
              <c:pt idx="9">
                <c:v>1.08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1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Debt to Equity (%)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36190322236349486"/>
          <c:y val="0.17596823108959184"/>
          <c:w val="0.927619355527301"/>
          <c:h val="0.7095092937901203"/>
        </c:manualLayout>
      </c:layout>
      <c:barChart>
        <c:barDir val="col"/>
        <c:grouping val="clustered"/>
        <c:varyColors val="0"/>
        <c:ser>
          <c:idx val="0"/>
          <c:order val="0"/>
          <c:tx>
            <c:v>Debt to Equity (%)</c:v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numFmt formatCode="#,##0.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0"/>
              <c:pt idx="0">
                <c:v>2017</c:v>
              </c:pt>
              <c:pt idx="1">
                <c:v>2018</c:v>
              </c:pt>
              <c:pt idx="2">
                <c:v>2019</c:v>
              </c:pt>
              <c:pt idx="3">
                <c:v>2020</c:v>
              </c:pt>
              <c:pt idx="4">
                <c:v>2021</c:v>
              </c:pt>
              <c:pt idx="5">
                <c:v>2022</c:v>
              </c:pt>
              <c:pt idx="6">
                <c:v>2023</c:v>
              </c:pt>
              <c:pt idx="7">
                <c:v>2024</c:v>
              </c:pt>
              <c:pt idx="8">
                <c:v>2025</c:v>
              </c:pt>
              <c:pt idx="9">
                <c:v>1H26</c:v>
              </c:pt>
            </c:strLit>
          </c:cat>
          <c:val>
            <c:numLit>
              <c:formatCode>_(* #,##0.00_);_(* \(#,##0.00\);_(* "-"??_);_(@_)</c:formatCode>
              <c:ptCount val="10"/>
              <c:pt idx="0">
                <c:v>31.09</c:v>
              </c:pt>
              <c:pt idx="1">
                <c:v>45.96</c:v>
              </c:pt>
              <c:pt idx="2">
                <c:v>39.87</c:v>
              </c:pt>
              <c:pt idx="3">
                <c:v>49.67</c:v>
              </c:pt>
              <c:pt idx="4">
                <c:v>33.42</c:v>
              </c:pt>
              <c:pt idx="5">
                <c:v>31.48</c:v>
              </c:pt>
              <c:pt idx="6">
                <c:v>28.72</c:v>
              </c:pt>
              <c:pt idx="7">
                <c:v>30.55</c:v>
              </c:pt>
              <c:pt idx="8">
                <c:v>31.14</c:v>
              </c:pt>
              <c:pt idx="9">
                <c:v>35.16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12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Financial Leverage (X)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Financial Leverage (X)</c:v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0"/>
              <c:pt idx="0">
                <c:v>2017</c:v>
              </c:pt>
              <c:pt idx="1">
                <c:v>2018</c:v>
              </c:pt>
              <c:pt idx="2">
                <c:v>2019</c:v>
              </c:pt>
              <c:pt idx="3">
                <c:v>2020</c:v>
              </c:pt>
              <c:pt idx="4">
                <c:v>2021</c:v>
              </c:pt>
              <c:pt idx="5">
                <c:v>2022</c:v>
              </c:pt>
              <c:pt idx="6">
                <c:v>2023</c:v>
              </c:pt>
              <c:pt idx="7">
                <c:v>2024</c:v>
              </c:pt>
              <c:pt idx="8">
                <c:v>2025</c:v>
              </c:pt>
              <c:pt idx="9">
                <c:v>1H26</c:v>
              </c:pt>
            </c:strLit>
          </c:cat>
          <c:val>
            <c:numLit>
              <c:formatCode>_(* #,##0.00_);_(* \(#,##0.00\);_(* "-"??_);_(@_)</c:formatCode>
              <c:ptCount val="10"/>
              <c:pt idx="0">
                <c:v>1.84</c:v>
              </c:pt>
              <c:pt idx="1">
                <c:v>1.9</c:v>
              </c:pt>
              <c:pt idx="2">
                <c:v>1.93</c:v>
              </c:pt>
              <c:pt idx="3">
                <c:v>1.94</c:v>
              </c:pt>
              <c:pt idx="4">
                <c:v>1.99</c:v>
              </c:pt>
              <c:pt idx="5">
                <c:v>1.94</c:v>
              </c:pt>
              <c:pt idx="6">
                <c:v>1.88</c:v>
              </c:pt>
              <c:pt idx="7">
                <c:v>1.85</c:v>
              </c:pt>
              <c:pt idx="8">
                <c:v>1.83</c:v>
              </c:pt>
              <c:pt idx="9">
                <c:v>1.82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13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Operating Cash Flow (IDR Bn)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Operating Cash Flow</c:v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invertIfNegative val="0"/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numFmt formatCode="#,##0" sourceLinked="0"/>
            <c:dLbl>
              <c:idx val="6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9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0"/>
              <c:pt idx="0">
                <c:v>2017</c:v>
              </c:pt>
              <c:pt idx="1">
                <c:v>2018</c:v>
              </c:pt>
              <c:pt idx="2">
                <c:v>2019</c:v>
              </c:pt>
              <c:pt idx="3">
                <c:v>2020</c:v>
              </c:pt>
              <c:pt idx="4">
                <c:v>2021</c:v>
              </c:pt>
              <c:pt idx="5">
                <c:v>2022</c:v>
              </c:pt>
              <c:pt idx="6">
                <c:v>2023</c:v>
              </c:pt>
              <c:pt idx="7">
                <c:v>2024</c:v>
              </c:pt>
              <c:pt idx="8">
                <c:v>2025</c:v>
              </c:pt>
              <c:pt idx="9">
                <c:v>1H26</c:v>
              </c:pt>
            </c:strLit>
          </c:cat>
          <c:val>
            <c:numLit>
              <c:formatCode>_(* #,##0.0_);_(* \(#,##0.0\);_(* "-"??_);_(@_)</c:formatCode>
              <c:ptCount val="10"/>
              <c:pt idx="0">
                <c:v>4606.85</c:v>
              </c:pt>
              <c:pt idx="1">
                <c:v>1125.47</c:v>
              </c:pt>
              <c:pt idx="2">
                <c:v>2557.66</c:v>
              </c:pt>
              <c:pt idx="3">
                <c:v>1103.95</c:v>
              </c:pt>
              <c:pt idx="4">
                <c:v>2887.01</c:v>
              </c:pt>
              <c:pt idx="5">
                <c:v>2816.81</c:v>
              </c:pt>
              <c:pt idx="6">
                <c:v>1207.98</c:v>
              </c:pt>
              <c:pt idx="7">
                <c:v>1046.66</c:v>
              </c:pt>
              <c:pt idx="8">
                <c:v>-1351.7</c:v>
              </c:pt>
              <c:pt idx="9">
                <c:v>-1370.74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_);_(* \(#,##0.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14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Capital Expenditure (IDR Bn)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Capital Expenditure</c:v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invertIfNegative val="0"/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0"/>
              <c:pt idx="0">
                <c:v>2017</c:v>
              </c:pt>
              <c:pt idx="1">
                <c:v>2018</c:v>
              </c:pt>
              <c:pt idx="2">
                <c:v>2019</c:v>
              </c:pt>
              <c:pt idx="3">
                <c:v>2020</c:v>
              </c:pt>
              <c:pt idx="4">
                <c:v>2021</c:v>
              </c:pt>
              <c:pt idx="5">
                <c:v>2022</c:v>
              </c:pt>
              <c:pt idx="6">
                <c:v>2023</c:v>
              </c:pt>
              <c:pt idx="7">
                <c:v>2024</c:v>
              </c:pt>
              <c:pt idx="8">
                <c:v>2025</c:v>
              </c:pt>
              <c:pt idx="9">
                <c:v>1H26</c:v>
              </c:pt>
            </c:strLit>
          </c:cat>
          <c:val>
            <c:numLit>
              <c:formatCode>_(* #,##0.0_);_(* \(#,##0.0\);_(* "-"??_);_(@_)</c:formatCode>
              <c:ptCount val="10"/>
              <c:pt idx="0">
                <c:v>-79.65</c:v>
              </c:pt>
              <c:pt idx="1">
                <c:v>-42.04</c:v>
              </c:pt>
              <c:pt idx="2">
                <c:v>-384.77</c:v>
              </c:pt>
              <c:pt idx="3">
                <c:v>-132.54</c:v>
              </c:pt>
              <c:pt idx="4">
                <c:v>-23.18</c:v>
              </c:pt>
              <c:pt idx="5">
                <c:v>-198.46</c:v>
              </c:pt>
              <c:pt idx="6">
                <c:v>-577.12</c:v>
              </c:pt>
              <c:pt idx="7">
                <c:v>-822.57</c:v>
              </c:pt>
              <c:pt idx="8">
                <c:v>-322.81</c:v>
              </c:pt>
              <c:pt idx="9">
                <c:v>-107.86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_);_(* \(#,##0.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15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 i="0" u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Free Cash Flow (IDR Bn)</a:t>
            </a:r>
          </a:p>
        </c:rich>
      </c:tx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200" b="1" i="0" u="none" spc="0">
              <a:solidFill>
                <a:schemeClr val="tx1"/>
              </a:solidFill>
              <a:latin typeface="Calibri"/>
              <a:ea typeface="Calibri"/>
              <a:cs typeface="Calibri"/>
            </a:defRPr>
          </a:pPr>
        </a:p>
      </c:tx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v>Free Cash Flow</c:v>
          </c:tx>
          <c:spPr>
            <a:solidFill xmlns:a="http://schemas.openxmlformats.org/drawingml/2006/main">
              <a:schemeClr val="accent2"/>
            </a:solidFill>
            <a:ln xmlns:a="http://schemas.openxmlformats.org/drawingml/2006/main">
              <a:noFill/>
            </a:ln>
          </c:spPr>
          <c:invertIfNegative val="0"/>
          <c:dPt>
            <c:idx val="8"/>
            <c:invertIfNegative val="0"/>
            <c:spPr>
              <a:solidFill xmlns:a="http://schemas.openxmlformats.org/drawingml/2006/main">
                <a:srgbClr val="E97132"/>
              </a:solidFill>
              <a:ln xmlns:a="http://schemas.openxmlformats.org/drawingml/2006/main">
                <a:noFill/>
              </a:ln>
            </c:spPr>
          </c:dPt>
          <c:dPt>
            <c:idx val="9"/>
            <c:invertIfNegative val="0"/>
            <c:spPr>
              <a:solidFill xmlns:a="http://schemas.openxmlformats.org/drawingml/2006/main">
                <a:srgbClr val="002060"/>
              </a:solidFill>
              <a:ln xmlns:a="http://schemas.openxmlformats.org/drawingml/2006/main">
                <a:noFill/>
              </a:ln>
            </c:spPr>
          </c:dPt>
          <c:dLbls>
            <c:numFmt formatCode="#,##0" sourceLinked="0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00" b="1" i="0" u="none">
                    <a:solidFill>
                      <a:schemeClr val="tx1"/>
                    </a:solidFill>
                    <a:latin typeface="Calibri"/>
                    <a:ea typeface="Calibri"/>
                    <a:cs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10"/>
              <c:pt idx="0">
                <c:v>2017</c:v>
              </c:pt>
              <c:pt idx="1">
                <c:v>2018</c:v>
              </c:pt>
              <c:pt idx="2">
                <c:v>2019</c:v>
              </c:pt>
              <c:pt idx="3">
                <c:v>2020</c:v>
              </c:pt>
              <c:pt idx="4">
                <c:v>2021</c:v>
              </c:pt>
              <c:pt idx="5">
                <c:v>2022</c:v>
              </c:pt>
              <c:pt idx="6">
                <c:v>2023</c:v>
              </c:pt>
              <c:pt idx="7">
                <c:v>2024</c:v>
              </c:pt>
              <c:pt idx="8">
                <c:v>2025</c:v>
              </c:pt>
              <c:pt idx="9">
                <c:v>1H26</c:v>
              </c:pt>
            </c:strLit>
          </c:cat>
          <c:val>
            <c:numLit>
              <c:formatCode>_(* #,##0.00_);_(* \(#,##0.00\);_(* "-"??_);_(@_)</c:formatCode>
              <c:ptCount val="10"/>
              <c:pt idx="0">
                <c:v>4527.2</c:v>
              </c:pt>
              <c:pt idx="1">
                <c:v>1083.43</c:v>
              </c:pt>
              <c:pt idx="2">
                <c:v>2172.89</c:v>
              </c:pt>
              <c:pt idx="3">
                <c:v>971.41</c:v>
              </c:pt>
              <c:pt idx="4">
                <c:v>2863.83</c:v>
              </c:pt>
              <c:pt idx="5">
                <c:v>2618.35</c:v>
              </c:pt>
              <c:pt idx="6">
                <c:v>630.86</c:v>
              </c:pt>
              <c:pt idx="7">
                <c:v>224.08</c:v>
              </c:pt>
              <c:pt idx="8">
                <c:v>-1674.51</c:v>
              </c:pt>
              <c:pt idx="9">
                <c:v>-1478.61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-27"/>
        <c:axId val="512132880"/>
        <c:axId val="512141040"/>
      </c:barChart>
      <c:catAx>
        <c:axId val="5121328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xmlns:a="http://schemas.openxmlformats.org/drawingml/2006/main" w="9525" cmpd="sng">
            <a:solidFill>
              <a:schemeClr val="tx1"/>
            </a:solidFill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pPr>
          </a:p>
        </c:txPr>
        <c:crossAx val="512141040"/>
        <c:crosses val="autoZero"/>
        <c:lblOffset val="100"/>
      </c:catAx>
      <c:valAx>
        <c:axId val="512141040"/>
        <c:scaling>
          <c:orientation val="minMax"/>
        </c:scaling>
        <c:delete val="1"/>
        <c:axPos val="l"/>
        <c:numFmt formatCode="_(* #,##0.00_);_(* \(#,##0.00\);_(* &quot;-&quot;??_);_(@_)" sourceLinked="1"/>
        <c:majorTickMark val="none"/>
        <c:minorTickMark val="none"/>
        <c:tickLblPos val="nextTo"/>
        <c:crossAx val="512132880"/>
        <c:crosses val="autoZero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3D5C6D6-728B-412F-A592-D274BA6B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685800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alpha val="83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56AE4D3-0524-424C-971C-999F2AD8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259558"/>
            <a:ext cx="9636369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chemeClr val="bg1"/>
                </a:solidFill>
              </a:rPr>
              <a:t>Bumi Serpong Damai</a:t>
            </a:r>
            <a:r>
              <a:rPr sz="3200" b="1">
                <a:solidFill>
                  <a:schemeClr val="bg1"/>
                </a:solidFill>
              </a:rPr>
              <a:t> </a:t>
            </a:r>
            <a:r>
              <a:rPr sz="1600" b="1">
                <a:solidFill>
                  <a:schemeClr val="bg1"/>
                </a:solidFill>
              </a:rPr>
              <a:t>(</a:t>
            </a:r>
            <a:r>
              <a:rPr sz="1600" b="1">
                <a:solidFill>
                  <a:schemeClr val="bg1"/>
                </a:solidFill>
              </a:rPr>
              <a:t>Pefindo</a:t>
            </a:r>
            <a:r>
              <a:rPr sz="1600" b="1">
                <a:solidFill>
                  <a:schemeClr val="bg1"/>
                </a:solidFill>
              </a:rPr>
              <a:t>: </a:t>
            </a:r>
            <a:r>
              <a:rPr sz="1600" b="1">
                <a:solidFill>
                  <a:schemeClr val="bg1"/>
                </a:solidFill>
              </a:rPr>
              <a:t>idAA</a:t>
            </a:r>
            <a:r>
              <a:rPr sz="1600" b="1">
                <a:solidFill>
                  <a:schemeClr val="bg1"/>
                </a:solidFill>
              </a:rPr>
              <a:t>)</a:t>
            </a:r>
            <a:endParaRPr sz="3200" b="1">
              <a:solidFill>
                <a:schemeClr val="bg1"/>
              </a:solidFill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82E453F-FFF0-4A48-AAAC-91912CFB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49" y="3445577"/>
            <a:ext cx="11423301" cy="329320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00" b="1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Profitability:</a:t>
            </a:r>
          </a:p>
          <a:p xmlns:a="http://schemas.openxmlformats.org/drawingml/2006/main">
            <a:pPr marL="279400" indent="-152400">
              <a:buChar char="•"/>
              <a:defRPr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>
                <a:solidFill>
                  <a:srgbClr val="FFFFFF"/>
                </a:solidFill>
                <a:latin typeface="Aptos"/>
                <a:ea typeface="Aptos"/>
                <a:cs typeface="Aptos"/>
              </a:rPr>
              <a:t>FY25 revenue turun 7,3% menjadi Rp12,79 triliun dan laba bersih turun 41,6% menjadi Rp2,55 triliun. FY24 mencakup bargain purchase gain Rp1,55 triliun, sehingga penurunan laba underlying diperkirakan sekitar 9,5%. Pada 1H26, revenue turun 25,6% dan laba bersih turun 53,1%, tetapi gross margin naik dari 63,5% menjadi 66,5% dan recurring revenue tumbuh 19%.</a:t>
            </a:r>
          </a:p>
          <a:p xmlns:a="http://schemas.openxmlformats.org/drawingml/2006/main">
            <a:pPr>
              <a:defRPr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00" b="1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Solvency:</a:t>
            </a:r>
          </a:p>
          <a:p xmlns:a="http://schemas.openxmlformats.org/drawingml/2006/main">
            <a:pPr marL="279400" indent="-152400">
              <a:buChar char="•"/>
              <a:defRPr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>
                <a:solidFill>
                  <a:srgbClr val="FFFFFF"/>
                </a:solidFill>
                <a:latin typeface="Aptos"/>
                <a:ea typeface="Aptos"/>
                <a:cs typeface="Aptos"/>
              </a:rPr>
              <a:t>Net debt meningkat dari Rp4,61 triliun pada FY25 menjadi Rp8,76 triliun pada 1H26. Debt-to-Equity naik dari 31,1% menjadi 35,2% dan net debt-to-equity mencapai 16,4%. Quick ratio turun menjadi 1,08x, tetapi current ratio masih 3,56x. PEFINDO mempertahankan rating idAA dengan outlook stabil, meski debt-to-EBITDA FY25 naik menjadi 3,5x.</a:t>
            </a:r>
          </a:p>
          <a:p xmlns:a="http://schemas.openxmlformats.org/drawingml/2006/main">
            <a:pPr>
              <a:defRPr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00" b="1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Free Cash Flow:</a:t>
            </a:r>
          </a:p>
          <a:p xmlns:a="http://schemas.openxmlformats.org/drawingml/2006/main">
            <a:pPr marL="279400" indent="-152400">
              <a:buChar char="•"/>
              <a:defRPr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>
                <a:solidFill>
                  <a:srgbClr val="FFFFFF"/>
                </a:solidFill>
                <a:latin typeface="Aptos"/>
                <a:ea typeface="Aptos"/>
                <a:cs typeface="Aptos"/>
              </a:rPr>
              <a:t>Free cash flow turun dari positif Rp224 miliar pada FY24 menjadi negatif Rp1,67 triliun pada FY25 dan negatif Rp1,48 triliun pada 1H26. Penerimaan pelanggan naik 15%, tetapi pembelian lahan mencapai Rp2,51 triliun. Marketing sales Rp5,12 triliun telah memenuhi 51% target FY26. Revenue recognition dan stabilisasi net debt menjadi indikator utama 2H26.</a:t>
            </a:r>
          </a:p>
        </p:txBody>
      </p:sp>
      <p:graphicFrame>
        <p:nvGraphicFramePr>
          <p:cNvPr id="16" name="Chart 6"/>
          <p:cNvGraphicFramePr/>
          <p:nvPr/>
        </p:nvGraphicFramePr>
        <p:xfrm>
          <a:off xmlns:a="http://schemas.openxmlformats.org/drawingml/2006/main" x="8006209" y="943685"/>
          <a:ext xmlns:a="http://schemas.openxmlformats.org/drawingml/2006/main" cx="3801441" cy="257257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5822a1b00c463f"/>
          </a:graphicData>
        </a:graphic>
      </p:graphicFrame>
      <p:graphicFrame>
        <p:nvGraphicFramePr>
          <p:cNvPr id="17" name="Chart 7"/>
          <p:cNvGraphicFramePr/>
          <p:nvPr/>
        </p:nvGraphicFramePr>
        <p:xfrm>
          <a:off xmlns:a="http://schemas.openxmlformats.org/drawingml/2006/main" x="4195278" y="943685"/>
          <a:ext xmlns:a="http://schemas.openxmlformats.org/drawingml/2006/main" cx="3801441" cy="257257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d70b50ef6f41e8"/>
          </a:graphicData>
        </a:graphic>
      </p:graphicFrame>
      <p:graphicFrame>
        <p:nvGraphicFramePr>
          <p:cNvPr id="18" name="Chart 10"/>
          <p:cNvGraphicFramePr/>
          <p:nvPr/>
        </p:nvGraphicFramePr>
        <p:xfrm>
          <a:off xmlns:a="http://schemas.openxmlformats.org/drawingml/2006/main" x="389092" y="943686"/>
          <a:ext xmlns:a="http://schemas.openxmlformats.org/drawingml/2006/main" cx="3801441" cy="2572577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159cb08bec4f0c"/>
          </a:graphicData>
        </a:graphic>
      </p:graphicFrame>
    </p:spTree>
    <p:extLst>
      <p:ext uri="{BB962C8B-B14F-4D97-AF65-F5344CB8AC3E}">
        <p14:creationId xmlns:p14="http://schemas.microsoft.com/office/powerpoint/2010/main" val="31845928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7A4521E-3420-312E-9AEC-8D40FBF9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259558"/>
            <a:ext cx="9636369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/>
              <a:t>Bumi Serpong Damai</a:t>
            </a:r>
            <a:r>
              <a:rPr sz="3200" b="1"/>
              <a:t> </a:t>
            </a:r>
            <a:r>
              <a:rPr sz="1600" b="1"/>
              <a:t>(</a:t>
            </a:r>
            <a:r>
              <a:rPr sz="1600" b="1"/>
              <a:t>Pefindo</a:t>
            </a:r>
            <a:r>
              <a:rPr sz="1600" b="1"/>
              <a:t>: </a:t>
            </a:r>
            <a:r>
              <a:rPr sz="1600" b="1"/>
              <a:t>idAA</a:t>
            </a:r>
            <a:r>
              <a:rPr sz="1600" b="1"/>
              <a:t>)</a:t>
            </a:r>
            <a:endParaRPr sz="3200" b="1"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92D3B0D-0A31-CF27-98DE-44A022E9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844333"/>
            <a:ext cx="11509862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Yearly Performance</a:t>
            </a:r>
            <a:endParaRPr sz="1200" b="1" i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67BC1D2-752C-8803-6651-5D1106A2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3751922"/>
            <a:ext cx="11509862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Quarterly Performance</a:t>
            </a:r>
            <a:endParaRPr sz="1200" b="1" i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7" name="Table 15"/>
          <p:cNvGraphicFramePr/>
          <p:nvPr/>
        </p:nvGraphicFramePr>
        <p:xfrm>
          <a:off xmlns:a="http://schemas.openxmlformats.org/drawingml/2006/main" x="341067" y="1174408"/>
          <a:ext xmlns:a="http://schemas.openxmlformats.org/drawingml/2006/main" cx="11509854" cy="252868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48525"/>
                <a:gridCol w="866660"/>
                <a:gridCol w="866660"/>
                <a:gridCol w="866660"/>
                <a:gridCol w="866660"/>
                <a:gridCol w="866660"/>
                <a:gridCol w="866660"/>
                <a:gridCol w="866660"/>
                <a:gridCol w="866660"/>
                <a:gridCol w="942683"/>
                <a:gridCol w="942683"/>
                <a:gridCol w="942683"/>
              </a:tblGrid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Dates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2015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2016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2017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2018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2019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2025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Revenue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6,209,574.07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6,602,955.28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10,347,343.19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6,628,782.19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7,084,864.04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6,180,589.09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7,654,802.25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10,235,479.96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11,539,141.25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13,796,572.15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12,788,452.34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Capital Expenditures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(143,094.70)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(129,290.35)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(79,649.11)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(42,038.69)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(384,767.06)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(132,542.14)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(23,182.59)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(198,459.21)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(577,124.90)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(822,574.94)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(322,805.88)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Net Income/Net Profit (Losses)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2,139,496.60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1,796,156.48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4,920,228.06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A9C7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1,293,850.22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BAD7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2,791,416.33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F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281,700.89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9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1,348,623.04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BEA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2,433,146.91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0E7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1,945,467.44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6E4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4,359,063.78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BDC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2,545,380.72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Assets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36,022,148.49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38,536,825.18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45,951,188.48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52,190,720.01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54,540,978.40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60,862,926.59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61,469,712.17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64,999,403.48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66,827,648.49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76,023,348.89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79,268,402.20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Liabilities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13,925,458.01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14,074,217.87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16,754,337.39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21,832,718.50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20,915,564.10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26,391,824.11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25,575,995.15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26,953,967.35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25,626,062.28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28,704,020.73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26,599,497.52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Equity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22,096,690.48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24,462,607.31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29,196,851.09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30,358,001.50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33,625,414.30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34,471,102.48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35,893,717.01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38,045,436.13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41,201,586.20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47,319,328.15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52,668,904.68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Net Debt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1,132,372.29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AE5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3,457,406.18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9E5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2,520,674.05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1E7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3,430,445.21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EE6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3,184,765.00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1E3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1,918,687.66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BCD8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153,731.62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A6D2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38,630.07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A1D0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1,025,232.66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86C8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3,454,295.10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4,614,035.55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86C87D"/>
                    </a:solidFill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Cash From Operations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(366,494.06)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D78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(605,189.89)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4,606,851.24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D2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1,125,468.09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2,557,655.41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C3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1,103,950.69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726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2,887,014.89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BA27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2,816,809.60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1,207,984.65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BA37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1,046,659.71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A9D7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(1,351,699.49)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7DB81"/>
                    </a:solidFill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Free Cash Flow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(509,588.76)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D78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(734,480.24)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4,527,202.13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E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1,083,429.40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2,172,888.35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C1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971,408.55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2,863,832.30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A9E7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2,618,350.38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5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630,859.75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A997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224,084.77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7A6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(1,674,505.37)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5DF82"/>
                    </a:solidFill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Return on Assets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6.66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4.82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11.65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2.64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5.23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0.49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3.85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2.95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Return on Common Equity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12.51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21.40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5.02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10.08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4.38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11.27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Profit Margin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34.45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27.20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47.55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19.52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39.40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4.56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17.62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23.77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16.86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31.60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19.90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Debt to Total Equity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35.86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31.30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B87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716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45.96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39.87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C1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49.67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0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33.42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0D9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31.48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BE1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28.72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75C4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31.14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1D981"/>
                    </a:solidFill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Financial Leverage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1.90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1.93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1.94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1.99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1.94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Quick Ratio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1.13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1.51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1.61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1.13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1.07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1.23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487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Profit Margin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34.45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27.20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47.55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19.52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39.40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4.56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17.62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23.77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16.86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31.60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19.90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Table 19"/>
          <p:cNvGraphicFramePr/>
          <p:nvPr/>
        </p:nvGraphicFramePr>
        <p:xfrm>
          <a:off xmlns:a="http://schemas.openxmlformats.org/drawingml/2006/main" x="341059" y="4077753"/>
          <a:ext xmlns:a="http://schemas.openxmlformats.org/drawingml/2006/main" cx="11509867" cy="236410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6159"/>
                <a:gridCol w="801053"/>
                <a:gridCol w="801053"/>
                <a:gridCol w="801053"/>
                <a:gridCol w="801053"/>
                <a:gridCol w="801053"/>
                <a:gridCol w="801053"/>
                <a:gridCol w="801053"/>
                <a:gridCol w="801053"/>
                <a:gridCol w="871321"/>
                <a:gridCol w="871321"/>
                <a:gridCol w="871321"/>
                <a:gridCol w="871321"/>
              </a:tblGrid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Dates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4Q23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1Q24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2Q24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3Q24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4Q24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1Q25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2Q25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3Q25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4Q25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1Q26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2Q26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1" i="0" u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1H26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Revenue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4,230,823.25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3,774,499.93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3,572,133.03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2,720,373.60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3,729,565.59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2,700,904.01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3,689,852.47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2,372,024.73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4,025,671.12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2,368,795.97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2,382,857.13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4,751,653.10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Capital Expenditures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(234,074.86)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(112,485.07)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(107,952.65)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(304,506.73)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(297,630.49)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(95,354.47)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(87,216.89)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(78,447.68)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(61,865.53)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(40,092.19)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(67,771.26)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(107,863.45)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Net Income/Net Profit (Losses)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176,421.45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98E7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1,436,953.18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896,097.25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B3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368,868.03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B379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1,657,145.32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BAB7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305,874.26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4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982,173.64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75,523.35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2E3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1,181,809.47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3DF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277,628.65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74C3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326,267.38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603,896.02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BED981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Assets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66,827,648.49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67,653,911.80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67,862,665.42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68,466,170.28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76,023,348.89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75,916,736.81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76,641,008.60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77,400,079.56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79,268,402.20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80,125,884.90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81,942,880.58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81,942,880.58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Liabilities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25,626,062.28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24,935,494.70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24,310,502.86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24,632,854.28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28,704,020.73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27,469,342.35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25,905,271.53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26,075,586.09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26,599,497.52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27,257,461.88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28,788,877.34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28,788,877.34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Equity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41,201,586.20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42,718,417.11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43,552,162.56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43,833,316.00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47,319,328.15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48,447,394.46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50,735,737.06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51,324,493.47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52,668,904.68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52,868,423.02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53,154,003.25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53,154,003.25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Net Debt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1,025,232.66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8ACA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1,263,661.32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95CD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1,329,674.01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94CD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2,194,292.97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96CD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3,454,295.10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82C7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3,741,557.78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73C3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1,746,344.99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CC1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4,162,834.42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4,614,035.55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85C8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6,250,119.00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95CD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8,761,255.25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BDC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8,761,255.25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73C37C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Cash From Operations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410,737.07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7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(27,801.76)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9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899,529.55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DB8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449,588.74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0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(274,656.83)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C1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(491,662.12)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E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(472,830.85)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D4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(362,085.79)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D2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(25,120.73)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4E4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(816,556.72)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7E9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(554,186.50)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5DF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(1,370,743.23)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A6B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Free Cash Flow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176,662.21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7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(140,286.83)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8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791,576.91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D98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145,082.01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(572,287.31)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C0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(587,016.59)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6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(560,047.74)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D2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(440,533.47)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F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(86,986.26)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6E4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(856,648.91)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(621,957.76)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D6E08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(1,478,606.67)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Return on Assets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2.95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3.68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4.54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4.12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6.10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4.50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4.59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4.14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3.23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2.35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2.35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Return on Common Equity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796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6.84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B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9877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7.65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11.27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746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8.12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DD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8.14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7.38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2E3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6.01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C8DB8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5.86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96CD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BC1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Profit Margin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4.17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38.07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13.56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44.43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11.32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26.62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3.18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29.36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11.72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13.69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12.71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Total Debt to Total Equity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28.72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8CCA7E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28.82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E0E3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27.78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C87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26.51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CC2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30.55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DEB8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28.37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9CCF7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25.26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74C37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29.15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31.14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33.05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BA47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35.16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A6B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35.16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8696B"/>
                    </a:solidFill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Financial Leverage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1.90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1.77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1.75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1.82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Quick Ratio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0.87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0.78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0.80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0.94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0.99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1.23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1.28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1.08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1.08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3270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Profit Margin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4.17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38.07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25.09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13.56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44.43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11.32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26.62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3.18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29.36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11.72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13.69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850" b="0" i="0" u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12.71</a:t>
                      </a:r>
                    </a:p>
                  </a:txBody>
                  <a:tcPr marL="9525" marR="9525" marT="9525" marB="0" anchor="b">
                    <a:lnL w="6350" cmpd="sng">
                      <a:solidFill>
                        <a:srgbClr val="000000"/>
                      </a:solidFill>
                      <a:prstDash val="solid"/>
                    </a:lnL>
                    <a:lnR w="6350" cmpd="sng">
                      <a:solidFill>
                        <a:srgbClr val="000000"/>
                      </a:solidFill>
                      <a:prstDash val="solid"/>
                    </a:lnR>
                    <a:lnT w="6350" cmpd="sng">
                      <a:solidFill>
                        <a:srgbClr val="000000"/>
                      </a:solidFill>
                      <a:prstDash val="solid"/>
                    </a:lnT>
                    <a:lnB w="6350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547502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540A03C-0598-DD07-66B6-F795829C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844333"/>
            <a:ext cx="11509862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Scale Metrics</a:t>
            </a:r>
            <a:endParaRPr sz="1200" b="1" i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4482B1C-40E8-B49F-7AC2-55F89E95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8" y="3743944"/>
            <a:ext cx="11509861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Profitability</a:t>
            </a:r>
            <a:endParaRPr sz="1200" b="1" i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24837A5-275D-EC01-9EB6-A8DC5B2D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259558"/>
            <a:ext cx="9636369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/>
              <a:t>Bumi Serpong Damai</a:t>
            </a:r>
            <a:r>
              <a:rPr sz="3200" b="1"/>
              <a:t> </a:t>
            </a:r>
            <a:r>
              <a:rPr sz="1600" b="1"/>
              <a:t>(</a:t>
            </a:r>
            <a:r>
              <a:rPr sz="1600" b="1"/>
              <a:t>Pefindo</a:t>
            </a:r>
            <a:r>
              <a:rPr sz="1600" b="1"/>
              <a:t>: </a:t>
            </a:r>
            <a:r>
              <a:rPr sz="1600" b="1"/>
              <a:t>idAA</a:t>
            </a:r>
            <a:r>
              <a:rPr sz="1600" b="1"/>
              <a:t>)</a:t>
            </a:r>
            <a:endParaRPr sz="3200" b="1"/>
          </a:p>
        </p:txBody>
      </p:sp>
      <p:graphicFrame>
        <p:nvGraphicFramePr>
          <p:cNvPr id="30" name="Chart 5"/>
          <p:cNvGraphicFramePr/>
          <p:nvPr/>
        </p:nvGraphicFramePr>
        <p:xfrm>
          <a:off xmlns:a="http://schemas.openxmlformats.org/drawingml/2006/main" x="350593" y="4136012"/>
          <a:ext xmlns:a="http://schemas.openxmlformats.org/drawingml/2006/main" cx="3817063" cy="246243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ef4e65c33e4bb5"/>
          </a:graphicData>
        </a:graphic>
      </p:graphicFrame>
      <p:graphicFrame>
        <p:nvGraphicFramePr>
          <p:cNvPr id="31" name="Chart 7"/>
          <p:cNvGraphicFramePr/>
          <p:nvPr/>
        </p:nvGraphicFramePr>
        <p:xfrm>
          <a:off xmlns:a="http://schemas.openxmlformats.org/drawingml/2006/main" x="4189474" y="4136012"/>
          <a:ext xmlns:a="http://schemas.openxmlformats.org/drawingml/2006/main" cx="3813048" cy="246695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b668f3e4bf45cb"/>
          </a:graphicData>
        </a:graphic>
      </p:graphicFrame>
      <p:graphicFrame>
        <p:nvGraphicFramePr>
          <p:cNvPr id="32" name="Chart 8"/>
          <p:cNvGraphicFramePr/>
          <p:nvPr/>
        </p:nvGraphicFramePr>
        <p:xfrm>
          <a:off xmlns:a="http://schemas.openxmlformats.org/drawingml/2006/main" x="7980704" y="4136012"/>
          <a:ext xmlns:a="http://schemas.openxmlformats.org/drawingml/2006/main" cx="3870225" cy="246242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85b386dc904206"/>
          </a:graphicData>
        </a:graphic>
      </p:graphicFrame>
      <p:graphicFrame>
        <p:nvGraphicFramePr>
          <p:cNvPr id="33" name="Chart 9"/>
          <p:cNvGraphicFramePr/>
          <p:nvPr/>
        </p:nvGraphicFramePr>
        <p:xfrm>
          <a:off xmlns:a="http://schemas.openxmlformats.org/drawingml/2006/main" x="372411" y="1157088"/>
          <a:ext xmlns:a="http://schemas.openxmlformats.org/drawingml/2006/main" cx="3817063" cy="246242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c2ffc50e3b54735"/>
          </a:graphicData>
        </a:graphic>
      </p:graphicFrame>
      <p:graphicFrame>
        <p:nvGraphicFramePr>
          <p:cNvPr id="34" name="Chart 10"/>
          <p:cNvGraphicFramePr/>
          <p:nvPr/>
        </p:nvGraphicFramePr>
        <p:xfrm>
          <a:off xmlns:a="http://schemas.openxmlformats.org/drawingml/2006/main" x="4189474" y="1157088"/>
          <a:ext xmlns:a="http://schemas.openxmlformats.org/drawingml/2006/main" cx="3813048" cy="246242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e2ea8b1ad04abe"/>
          </a:graphicData>
        </a:graphic>
      </p:graphicFrame>
      <p:graphicFrame>
        <p:nvGraphicFramePr>
          <p:cNvPr id="35" name="Chart 11"/>
          <p:cNvGraphicFramePr/>
          <p:nvPr/>
        </p:nvGraphicFramePr>
        <p:xfrm>
          <a:off xmlns:a="http://schemas.openxmlformats.org/drawingml/2006/main" x="7980704" y="1157087"/>
          <a:ext xmlns:a="http://schemas.openxmlformats.org/drawingml/2006/main" cx="3834867" cy="246242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54cc208c9b4be6"/>
          </a:graphicData>
        </a:graphic>
      </p:graphicFrame>
    </p:spTree>
    <p:extLst>
      <p:ext uri="{BB962C8B-B14F-4D97-AF65-F5344CB8AC3E}">
        <p14:creationId xmlns:p14="http://schemas.microsoft.com/office/powerpoint/2010/main" val="421091354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540A03C-0598-DD07-66B6-F795829C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844333"/>
            <a:ext cx="11509862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Liquidity &amp; Solvency</a:t>
            </a:r>
            <a:endParaRPr sz="1200" b="1" i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4482B1C-40E8-B49F-7AC2-55F89E95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8" y="3743944"/>
            <a:ext cx="11509861" cy="27699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Cash Flow &amp; Sustainability</a:t>
            </a:r>
            <a:endParaRPr sz="1200" b="1" i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8C2A7AF-A1F9-9246-D53C-1DF615C5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69" y="259558"/>
            <a:ext cx="9636369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200" b="1"/>
              <a:t>Bumi Serpong Damai</a:t>
            </a:r>
            <a:r>
              <a:rPr sz="3200" b="1"/>
              <a:t> </a:t>
            </a:r>
            <a:r>
              <a:rPr sz="1600" b="1"/>
              <a:t>(</a:t>
            </a:r>
            <a:r>
              <a:rPr sz="1600" b="1"/>
              <a:t>Pefindo</a:t>
            </a:r>
            <a:r>
              <a:rPr sz="1600" b="1"/>
              <a:t>: </a:t>
            </a:r>
            <a:r>
              <a:rPr sz="1600" b="1"/>
              <a:t>idAA</a:t>
            </a:r>
            <a:r>
              <a:rPr sz="1600" b="1"/>
              <a:t>)</a:t>
            </a:r>
            <a:endParaRPr sz="3200" b="1"/>
          </a:p>
        </p:txBody>
      </p:sp>
      <p:graphicFrame>
        <p:nvGraphicFramePr>
          <p:cNvPr id="30" name="Chart 2"/>
          <p:cNvGraphicFramePr/>
          <p:nvPr/>
        </p:nvGraphicFramePr>
        <p:xfrm>
          <a:off xmlns:a="http://schemas.openxmlformats.org/drawingml/2006/main" x="339822" y="1143334"/>
          <a:ext xmlns:a="http://schemas.openxmlformats.org/drawingml/2006/main" cx="3824990" cy="257860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3b1d4ad30a4a0f"/>
          </a:graphicData>
        </a:graphic>
      </p:graphicFrame>
      <p:graphicFrame>
        <p:nvGraphicFramePr>
          <p:cNvPr id="31" name="Chart 3"/>
          <p:cNvGraphicFramePr/>
          <p:nvPr/>
        </p:nvGraphicFramePr>
        <p:xfrm>
          <a:off xmlns:a="http://schemas.openxmlformats.org/drawingml/2006/main" x="4141263" y="1149364"/>
          <a:ext xmlns:a="http://schemas.openxmlformats.org/drawingml/2006/main" cx="3860148" cy="257257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4ef52999974011"/>
          </a:graphicData>
        </a:graphic>
      </p:graphicFrame>
      <p:graphicFrame>
        <p:nvGraphicFramePr>
          <p:cNvPr id="32" name="Chart 8"/>
          <p:cNvGraphicFramePr/>
          <p:nvPr/>
        </p:nvGraphicFramePr>
        <p:xfrm>
          <a:off xmlns:a="http://schemas.openxmlformats.org/drawingml/2006/main" x="8001410" y="1143334"/>
          <a:ext xmlns:a="http://schemas.openxmlformats.org/drawingml/2006/main" cx="3782815" cy="257860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122d5b7e04463b"/>
          </a:graphicData>
        </a:graphic>
      </p:graphicFrame>
      <p:graphicFrame>
        <p:nvGraphicFramePr>
          <p:cNvPr id="33" name="Chart 12"/>
          <p:cNvGraphicFramePr/>
          <p:nvPr/>
        </p:nvGraphicFramePr>
        <p:xfrm>
          <a:off xmlns:a="http://schemas.openxmlformats.org/drawingml/2006/main" x="339822" y="4084048"/>
          <a:ext xmlns:a="http://schemas.openxmlformats.org/drawingml/2006/main" cx="3824990" cy="257257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d6339572a645bb"/>
          </a:graphicData>
        </a:graphic>
      </p:graphicFrame>
      <p:graphicFrame>
        <p:nvGraphicFramePr>
          <p:cNvPr id="34" name="Chart 14"/>
          <p:cNvGraphicFramePr/>
          <p:nvPr/>
        </p:nvGraphicFramePr>
        <p:xfrm>
          <a:off xmlns:a="http://schemas.openxmlformats.org/drawingml/2006/main" x="8001410" y="4084048"/>
          <a:ext xmlns:a="http://schemas.openxmlformats.org/drawingml/2006/main" cx="3801443" cy="258463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7ae91b607d849ed"/>
          </a:graphicData>
        </a:graphic>
      </p:graphicFrame>
      <p:graphicFrame>
        <p:nvGraphicFramePr>
          <p:cNvPr id="35" name="Chart 15"/>
          <p:cNvGraphicFramePr/>
          <p:nvPr/>
        </p:nvGraphicFramePr>
        <p:xfrm>
          <a:off xmlns:a="http://schemas.openxmlformats.org/drawingml/2006/main" x="4141263" y="4084048"/>
          <a:ext xmlns:a="http://schemas.openxmlformats.org/drawingml/2006/main" cx="3801441" cy="257257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0e511d62d8749c8"/>
          </a:graphicData>
        </a:graphic>
      </p:graphicFrame>
    </p:spTree>
    <p:extLst>
      <p:ext uri="{BB962C8B-B14F-4D97-AF65-F5344CB8AC3E}">
        <p14:creationId xmlns:p14="http://schemas.microsoft.com/office/powerpoint/2010/main" val="323343311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2026-10-08T02:17:54.2680000Z</dcterms:created>
  <dcterms:modified xsi:type="dcterms:W3CDTF">2026-10-08T02:17:54.2680000Z</dcterms:modified>
</coreProperties>
</file>