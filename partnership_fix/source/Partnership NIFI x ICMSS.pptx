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x="7556500" cy="10693400"/>
  <p:notesSz cx="6858000" cy="9144000"/>
  <p:embeddedFontLst>
    <p:embeddedFont>
      <p:font typeface="DM Sans" charset="1" panose="00000000000000000000"/>
      <p:regular r:id="rId31"/>
    </p:embeddedFont>
    <p:embeddedFont>
      <p:font typeface="DM Sans Bold" charset="1" panose="00000000000000000000"/>
      <p:regular r:id="rId32"/>
    </p:embeddedFont>
    <p:embeddedFont>
      <p:font typeface="DM Sans Bold Italics" charset="1" panose="00000000000000000000"/>
      <p:regular r:id="rId33"/>
    </p:embeddedFont>
    <p:embeddedFont>
      <p:font typeface="Helvetica World Bold" charset="1" panose="020B0800040000020004"/>
      <p:regular r:id="rId34"/>
    </p:embeddedFont>
    <p:embeddedFont>
      <p:font typeface="Helvetica World" charset="1" panose="020B0500040000020004"/>
      <p:regular r:id="rId35"/>
    </p:embeddedFont>
    <p:embeddedFont>
      <p:font typeface="Poppins Bold" charset="1" panose="00000800000000000000"/>
      <p:regular r:id="rId36"/>
    </p:embeddedFont>
    <p:embeddedFont>
      <p:font typeface="Poppins" charset="1" panose="00000500000000000000"/>
      <p:regular r:id="rId37"/>
    </p:embeddedFont>
    <p:embeddedFont>
      <p:font typeface="DM Sans Italics" charset="1" panose="00000000000000000000"/>
      <p:regular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png" Type="http://schemas.openxmlformats.org/officeDocument/2006/relationships/image"/><Relationship Id="rId4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4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jpeg" Type="http://schemas.openxmlformats.org/officeDocument/2006/relationships/image"/><Relationship Id="rId11" Target="../media/image22.png" Type="http://schemas.openxmlformats.org/officeDocument/2006/relationships/image"/><Relationship Id="rId12" Target="../media/image23.jpeg" Type="http://schemas.openxmlformats.org/officeDocument/2006/relationships/image"/><Relationship Id="rId13" Target="../media/image1.png" Type="http://schemas.openxmlformats.org/officeDocument/2006/relationships/image"/><Relationship Id="rId14" Target="../media/image2.png" Type="http://schemas.openxmlformats.org/officeDocument/2006/relationships/image"/><Relationship Id="rId2" Target="../media/image13.jpeg" Type="http://schemas.openxmlformats.org/officeDocument/2006/relationships/image"/><Relationship Id="rId3" Target="../media/image14.jpe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Relationship Id="rId8" Target="../media/image19.png" Type="http://schemas.openxmlformats.org/officeDocument/2006/relationships/image"/><Relationship Id="rId9" Target="../media/image20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png" Type="http://schemas.openxmlformats.org/officeDocument/2006/relationships/image"/><Relationship Id="rId11" Target="../media/image31.png" Type="http://schemas.openxmlformats.org/officeDocument/2006/relationships/image"/><Relationship Id="rId12" Target="../media/image32.png" Type="http://schemas.openxmlformats.org/officeDocument/2006/relationships/image"/><Relationship Id="rId13" Target="../media/image33.png" Type="http://schemas.openxmlformats.org/officeDocument/2006/relationships/image"/><Relationship Id="rId14" Target="../media/image34.png" Type="http://schemas.openxmlformats.org/officeDocument/2006/relationships/image"/><Relationship Id="rId15" Target="../media/image35.png" Type="http://schemas.openxmlformats.org/officeDocument/2006/relationships/image"/><Relationship Id="rId16" Target="../media/image36.png" Type="http://schemas.openxmlformats.org/officeDocument/2006/relationships/image"/><Relationship Id="rId2" Target="../media/image24.png" Type="http://schemas.openxmlformats.org/officeDocument/2006/relationships/image"/><Relationship Id="rId3" Target="../media/image25.png" Type="http://schemas.openxmlformats.org/officeDocument/2006/relationships/image"/><Relationship Id="rId4" Target="../media/image26.png" Type="http://schemas.openxmlformats.org/officeDocument/2006/relationships/image"/><Relationship Id="rId5" Target="../media/image27.png" Type="http://schemas.openxmlformats.org/officeDocument/2006/relationships/image"/><Relationship Id="rId6" Target="../media/image28.pn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Relationship Id="rId9" Target="../media/image2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5.png" Type="http://schemas.openxmlformats.org/officeDocument/2006/relationships/image"/><Relationship Id="rId11" Target="../media/image46.png" Type="http://schemas.openxmlformats.org/officeDocument/2006/relationships/image"/><Relationship Id="rId12" Target="../media/image47.png" Type="http://schemas.openxmlformats.org/officeDocument/2006/relationships/image"/><Relationship Id="rId13" Target="../media/image48.png" Type="http://schemas.openxmlformats.org/officeDocument/2006/relationships/image"/><Relationship Id="rId14" Target="../media/image49.png" Type="http://schemas.openxmlformats.org/officeDocument/2006/relationships/image"/><Relationship Id="rId15" Target="../media/image50.png" Type="http://schemas.openxmlformats.org/officeDocument/2006/relationships/image"/><Relationship Id="rId16" Target="../media/image51.png" Type="http://schemas.openxmlformats.org/officeDocument/2006/relationships/image"/><Relationship Id="rId17" Target="../media/image52.png" Type="http://schemas.openxmlformats.org/officeDocument/2006/relationships/image"/><Relationship Id="rId18" Target="../media/image53.png" Type="http://schemas.openxmlformats.org/officeDocument/2006/relationships/image"/><Relationship Id="rId19" Target="../media/image54.png" Type="http://schemas.openxmlformats.org/officeDocument/2006/relationships/image"/><Relationship Id="rId2" Target="../media/image37.png" Type="http://schemas.openxmlformats.org/officeDocument/2006/relationships/image"/><Relationship Id="rId20" Target="../media/image55.png" Type="http://schemas.openxmlformats.org/officeDocument/2006/relationships/image"/><Relationship Id="rId21" Target="../media/image56.png" Type="http://schemas.openxmlformats.org/officeDocument/2006/relationships/image"/><Relationship Id="rId3" Target="../media/image38.png" Type="http://schemas.openxmlformats.org/officeDocument/2006/relationships/image"/><Relationship Id="rId4" Target="../media/image39.png" Type="http://schemas.openxmlformats.org/officeDocument/2006/relationships/image"/><Relationship Id="rId5" Target="../media/image40.png" Type="http://schemas.openxmlformats.org/officeDocument/2006/relationships/image"/><Relationship Id="rId6" Target="../media/image41.png" Type="http://schemas.openxmlformats.org/officeDocument/2006/relationships/image"/><Relationship Id="rId7" Target="../media/image42.png" Type="http://schemas.openxmlformats.org/officeDocument/2006/relationships/image"/><Relationship Id="rId8" Target="../media/image43.png" Type="http://schemas.openxmlformats.org/officeDocument/2006/relationships/image"/><Relationship Id="rId9" Target="../media/image4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7.png" Type="http://schemas.openxmlformats.org/officeDocument/2006/relationships/image"/><Relationship Id="rId4" Target="../media/image58.png" Type="http://schemas.openxmlformats.org/officeDocument/2006/relationships/image"/><Relationship Id="rId5" Target="../media/image59.png" Type="http://schemas.openxmlformats.org/officeDocument/2006/relationships/image"/><Relationship Id="rId6" Target="../media/image60.png" Type="http://schemas.openxmlformats.org/officeDocument/2006/relationships/image"/><Relationship Id="rId7" Target="../media/image6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2.png" Type="http://schemas.openxmlformats.org/officeDocument/2006/relationships/image"/><Relationship Id="rId3" Target="../media/image63.jpeg" Type="http://schemas.openxmlformats.org/officeDocument/2006/relationships/image"/><Relationship Id="rId4" Target="../media/image64.png" Type="http://schemas.openxmlformats.org/officeDocument/2006/relationships/image"/><Relationship Id="rId5" Target="../media/image57.png" Type="http://schemas.openxmlformats.org/officeDocument/2006/relationships/image"/><Relationship Id="rId6" Target="../media/image60.png" Type="http://schemas.openxmlformats.org/officeDocument/2006/relationships/image"/><Relationship Id="rId7" Target="../media/image6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6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3366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341012" y="2718770"/>
            <a:ext cx="7460742" cy="746074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21F">
                    <a:alpha val="22000"/>
                  </a:srgbClr>
                </a:gs>
                <a:gs pos="100000">
                  <a:srgbClr val="848484">
                    <a:alpha val="17050"/>
                  </a:srgbClr>
                </a:gs>
              </a:gsLst>
              <a:lin ang="0"/>
            </a:gradFill>
            <a:ln w="19050" cap="sq">
              <a:gradFill>
                <a:gsLst>
                  <a:gs pos="0">
                    <a:srgbClr val="FFFFFF">
                      <a:alpha val="22000"/>
                    </a:srgbClr>
                  </a:gs>
                  <a:gs pos="100000">
                    <a:srgbClr val="9B9B9B">
                      <a:alpha val="22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4564555" y="6205629"/>
            <a:ext cx="7460742" cy="7460742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48484">
                    <a:alpha val="20925"/>
                  </a:srgbClr>
                </a:gs>
                <a:gs pos="100000">
                  <a:srgbClr val="00021F">
                    <a:alpha val="27000"/>
                  </a:srgbClr>
                </a:gs>
              </a:gsLst>
              <a:lin ang="0"/>
            </a:gradFill>
            <a:ln w="19050" cap="sq">
              <a:gradFill>
                <a:gsLst>
                  <a:gs pos="0">
                    <a:srgbClr val="FFFFFF">
                      <a:alpha val="27000"/>
                    </a:srgbClr>
                  </a:gs>
                  <a:gs pos="100000">
                    <a:srgbClr val="9B9B9B">
                      <a:alpha val="27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3730371" y="-1828984"/>
            <a:ext cx="7460742" cy="7460742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48484">
                    <a:alpha val="17050"/>
                  </a:srgbClr>
                </a:gs>
                <a:gs pos="100000">
                  <a:srgbClr val="00021F">
                    <a:alpha val="22000"/>
                  </a:srgbClr>
                </a:gs>
              </a:gsLst>
              <a:lin ang="0"/>
            </a:gradFill>
            <a:ln w="19050" cap="sq">
              <a:gradFill>
                <a:gsLst>
                  <a:gs pos="0">
                    <a:srgbClr val="FFFFFF">
                      <a:alpha val="22000"/>
                    </a:srgbClr>
                  </a:gs>
                  <a:gs pos="100000">
                    <a:srgbClr val="9B9B9B">
                      <a:alpha val="22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499779" y="756000"/>
            <a:ext cx="411005" cy="421795"/>
          </a:xfrm>
          <a:custGeom>
            <a:avLst/>
            <a:gdLst/>
            <a:ahLst/>
            <a:cxnLst/>
            <a:rect r="r" b="b" t="t" l="l"/>
            <a:pathLst>
              <a:path h="421795" w="411005">
                <a:moveTo>
                  <a:pt x="0" y="0"/>
                </a:moveTo>
                <a:lnTo>
                  <a:pt x="411005" y="0"/>
                </a:lnTo>
                <a:lnTo>
                  <a:pt x="411005" y="421795"/>
                </a:lnTo>
                <a:lnTo>
                  <a:pt x="0" y="4217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0447" t="-144434" r="-490104" b="-139546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37500" y="713076"/>
            <a:ext cx="468982" cy="464718"/>
          </a:xfrm>
          <a:custGeom>
            <a:avLst/>
            <a:gdLst/>
            <a:ahLst/>
            <a:cxnLst/>
            <a:rect r="r" b="b" t="t" l="l"/>
            <a:pathLst>
              <a:path h="464718" w="468982">
                <a:moveTo>
                  <a:pt x="0" y="0"/>
                </a:moveTo>
                <a:lnTo>
                  <a:pt x="468982" y="0"/>
                </a:lnTo>
                <a:lnTo>
                  <a:pt x="468982" y="464719"/>
                </a:lnTo>
                <a:lnTo>
                  <a:pt x="0" y="4647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83846" y="10420770"/>
            <a:ext cx="6592309" cy="163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2"/>
              </a:lnSpc>
              <a:spcBef>
                <a:spcPct val="0"/>
              </a:spcBef>
            </a:pPr>
            <a:r>
              <a:rPr lang="en-US" sz="95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Confidential &amp; Proprietary © 2026 Not Into Finance &amp; Indonesia Capital Market Student Studies</a:t>
            </a:r>
            <a:r>
              <a:rPr lang="en-US" sz="95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. All right</a:t>
            </a:r>
            <a:r>
              <a:rPr lang="en-US" sz="95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 reserved.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75124" y="789276"/>
            <a:ext cx="230303" cy="388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2"/>
              </a:lnSpc>
            </a:pPr>
            <a:r>
              <a:rPr lang="en-US" b="true" sz="3101" spc="-254">
                <a:gradFill>
                  <a:gsLst>
                    <a:gs pos="0">
                      <a:srgbClr val="E6E6E6">
                        <a:alpha val="100000"/>
                      </a:srgbClr>
                    </a:gs>
                    <a:gs pos="100000">
                      <a:srgbClr val="848484">
                        <a:alpha val="77500"/>
                      </a:srgbClr>
                    </a:gs>
                  </a:gsLst>
                  <a:lin ang="0"/>
                </a:gradFill>
                <a:latin typeface="DM Sans Bold"/>
                <a:ea typeface="DM Sans Bold"/>
                <a:cs typeface="DM Sans Bold"/>
                <a:sym typeface="DM Sans Bold"/>
              </a:rPr>
              <a:t>x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-920222" y="4387505"/>
            <a:ext cx="9400444" cy="1916990"/>
            <a:chOff x="0" y="0"/>
            <a:chExt cx="12533926" cy="2555987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66675"/>
              <a:ext cx="12533926" cy="11593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506"/>
                </a:lnSpc>
              </a:pPr>
              <a:r>
                <a:rPr lang="en-US" b="true" sz="6080" spc="-498">
                  <a:gradFill>
                    <a:gsLst>
                      <a:gs pos="0">
                        <a:srgbClr val="E6E6E6">
                          <a:alpha val="100000"/>
                        </a:srgbClr>
                      </a:gs>
                      <a:gs pos="100000">
                        <a:srgbClr val="848484">
                          <a:alpha val="77500"/>
                        </a:srgbClr>
                      </a:gs>
                    </a:gsLst>
                    <a:lin ang="0"/>
                  </a:gradFill>
                  <a:latin typeface="DM Sans Bold"/>
                  <a:ea typeface="DM Sans Bold"/>
                  <a:cs typeface="DM Sans Bold"/>
                  <a:sym typeface="DM Sans Bold"/>
                </a:rPr>
                <a:t>PARTNERSHIP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5184047" y="2032747"/>
              <a:ext cx="2165832" cy="523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60"/>
                </a:lnSpc>
              </a:pPr>
              <a:r>
                <a:rPr lang="en-US" b="true" sz="3000" spc="-246">
                  <a:gradFill>
                    <a:gsLst>
                      <a:gs pos="0">
                        <a:srgbClr val="E6E6E6">
                          <a:alpha val="100000"/>
                        </a:srgbClr>
                      </a:gs>
                      <a:gs pos="100000">
                        <a:srgbClr val="848484">
                          <a:alpha val="77500"/>
                        </a:srgbClr>
                      </a:gs>
                    </a:gsLst>
                    <a:lin ang="0"/>
                  </a:gradFill>
                  <a:latin typeface="DM Sans Bold"/>
                  <a:ea typeface="DM Sans Bold"/>
                  <a:cs typeface="DM Sans Bold"/>
                  <a:sym typeface="DM Sans Bold"/>
                </a:rPr>
                <a:t>2026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1192219"/>
              <a:ext cx="12533926" cy="7643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79"/>
                </a:lnSpc>
              </a:pPr>
              <a:r>
                <a:rPr lang="en-US" b="true" sz="3999" spc="-327">
                  <a:gradFill>
                    <a:gsLst>
                      <a:gs pos="0">
                        <a:srgbClr val="E6E6E6">
                          <a:alpha val="100000"/>
                        </a:srgbClr>
                      </a:gs>
                      <a:gs pos="100000">
                        <a:srgbClr val="848484">
                          <a:alpha val="77500"/>
                        </a:srgbClr>
                      </a:gs>
                    </a:gsLst>
                    <a:lin ang="0"/>
                  </a:gradFill>
                  <a:latin typeface="DM Sans Bold"/>
                  <a:ea typeface="DM Sans Bold"/>
                  <a:cs typeface="DM Sans Bold"/>
                  <a:sym typeface="DM Sans Bold"/>
                </a:rPr>
                <a:t>Not Into Finance x ICMSS UI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3366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7540755"/>
            <a:ext cx="7560000" cy="3435787"/>
          </a:xfrm>
          <a:custGeom>
            <a:avLst/>
            <a:gdLst/>
            <a:ahLst/>
            <a:cxnLst/>
            <a:rect r="r" b="b" t="t" l="l"/>
            <a:pathLst>
              <a:path h="3435787" w="7560000">
                <a:moveTo>
                  <a:pt x="0" y="0"/>
                </a:moveTo>
                <a:lnTo>
                  <a:pt x="7560000" y="0"/>
                </a:lnTo>
                <a:lnTo>
                  <a:pt x="7560000" y="3435787"/>
                </a:lnTo>
                <a:lnTo>
                  <a:pt x="0" y="34357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59" t="-24907" r="-459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9629" y="7795246"/>
            <a:ext cx="7609629" cy="2896754"/>
          </a:xfrm>
          <a:custGeom>
            <a:avLst/>
            <a:gdLst/>
            <a:ahLst/>
            <a:cxnLst/>
            <a:rect r="r" b="b" t="t" l="l"/>
            <a:pathLst>
              <a:path h="2896754" w="7609629">
                <a:moveTo>
                  <a:pt x="0" y="0"/>
                </a:moveTo>
                <a:lnTo>
                  <a:pt x="7609629" y="0"/>
                </a:lnTo>
                <a:lnTo>
                  <a:pt x="7609629" y="2896754"/>
                </a:lnTo>
                <a:lnTo>
                  <a:pt x="0" y="28967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26421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475929" y="4744749"/>
            <a:ext cx="601251" cy="486303"/>
            <a:chOff x="0" y="0"/>
            <a:chExt cx="215475" cy="1742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5475" cy="174280"/>
            </a:xfrm>
            <a:custGeom>
              <a:avLst/>
              <a:gdLst/>
              <a:ahLst/>
              <a:cxnLst/>
              <a:rect r="r" b="b" t="t" l="l"/>
              <a:pathLst>
                <a:path h="174280" w="215475">
                  <a:moveTo>
                    <a:pt x="87140" y="0"/>
                  </a:moveTo>
                  <a:lnTo>
                    <a:pt x="128335" y="0"/>
                  </a:lnTo>
                  <a:cubicBezTo>
                    <a:pt x="176461" y="0"/>
                    <a:pt x="215475" y="39014"/>
                    <a:pt x="215475" y="87140"/>
                  </a:cubicBezTo>
                  <a:lnTo>
                    <a:pt x="215475" y="87140"/>
                  </a:lnTo>
                  <a:cubicBezTo>
                    <a:pt x="215475" y="110251"/>
                    <a:pt x="206294" y="132415"/>
                    <a:pt x="189952" y="148757"/>
                  </a:cubicBezTo>
                  <a:cubicBezTo>
                    <a:pt x="173610" y="165099"/>
                    <a:pt x="151446" y="174280"/>
                    <a:pt x="128335" y="174280"/>
                  </a:cubicBezTo>
                  <a:lnTo>
                    <a:pt x="87140" y="174280"/>
                  </a:lnTo>
                  <a:cubicBezTo>
                    <a:pt x="39014" y="174280"/>
                    <a:pt x="0" y="135266"/>
                    <a:pt x="0" y="87140"/>
                  </a:cubicBezTo>
                  <a:lnTo>
                    <a:pt x="0" y="87140"/>
                  </a:lnTo>
                  <a:cubicBezTo>
                    <a:pt x="0" y="39014"/>
                    <a:pt x="39014" y="0"/>
                    <a:pt x="87140" y="0"/>
                  </a:cubicBezTo>
                  <a:close/>
                </a:path>
              </a:pathLst>
            </a:custGeom>
            <a:ln w="9525" cap="sq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9B9B9B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15475" cy="1838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75929" y="5551407"/>
            <a:ext cx="601251" cy="486303"/>
            <a:chOff x="0" y="0"/>
            <a:chExt cx="801668" cy="648404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801668" cy="648404"/>
              <a:chOff x="0" y="0"/>
              <a:chExt cx="215475" cy="17428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215475" cy="174280"/>
              </a:xfrm>
              <a:custGeom>
                <a:avLst/>
                <a:gdLst/>
                <a:ahLst/>
                <a:cxnLst/>
                <a:rect r="r" b="b" t="t" l="l"/>
                <a:pathLst>
                  <a:path h="174280" w="215475">
                    <a:moveTo>
                      <a:pt x="87140" y="0"/>
                    </a:moveTo>
                    <a:lnTo>
                      <a:pt x="128335" y="0"/>
                    </a:lnTo>
                    <a:cubicBezTo>
                      <a:pt x="176461" y="0"/>
                      <a:pt x="215475" y="39014"/>
                      <a:pt x="215475" y="87140"/>
                    </a:cubicBezTo>
                    <a:lnTo>
                      <a:pt x="215475" y="87140"/>
                    </a:lnTo>
                    <a:cubicBezTo>
                      <a:pt x="215475" y="110251"/>
                      <a:pt x="206294" y="132415"/>
                      <a:pt x="189952" y="148757"/>
                    </a:cubicBezTo>
                    <a:cubicBezTo>
                      <a:pt x="173610" y="165099"/>
                      <a:pt x="151446" y="174280"/>
                      <a:pt x="128335" y="174280"/>
                    </a:cubicBezTo>
                    <a:lnTo>
                      <a:pt x="87140" y="174280"/>
                    </a:lnTo>
                    <a:cubicBezTo>
                      <a:pt x="39014" y="174280"/>
                      <a:pt x="0" y="135266"/>
                      <a:pt x="0" y="87140"/>
                    </a:cubicBezTo>
                    <a:lnTo>
                      <a:pt x="0" y="87140"/>
                    </a:lnTo>
                    <a:cubicBezTo>
                      <a:pt x="0" y="39014"/>
                      <a:pt x="39014" y="0"/>
                      <a:pt x="87140" y="0"/>
                    </a:cubicBezTo>
                    <a:close/>
                  </a:path>
                </a:pathLst>
              </a:custGeom>
              <a:ln w="9525" cap="sq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9B9B9B">
                        <a:alpha val="100000"/>
                      </a:srgbClr>
                    </a:gs>
                  </a:gsLst>
                  <a:lin ang="5400000"/>
                </a:gradFill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9525"/>
                <a:ext cx="215475" cy="1838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236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161849" y="92251"/>
              <a:ext cx="477970" cy="454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4"/>
                </a:lnSpc>
                <a:spcBef>
                  <a:spcPct val="0"/>
                </a:spcBef>
              </a:pPr>
              <a:r>
                <a:rPr lang="en-US" b="true" sz="2212">
                  <a:gradFill>
                    <a:gsLst>
                      <a:gs pos="0">
                        <a:srgbClr val="E6E6E6">
                          <a:alpha val="100000"/>
                        </a:srgbClr>
                      </a:gs>
                      <a:gs pos="100000">
                        <a:srgbClr val="848484">
                          <a:alpha val="77500"/>
                        </a:srgbClr>
                      </a:gs>
                    </a:gsLst>
                    <a:lin ang="0"/>
                  </a:gradFill>
                  <a:latin typeface="DM Sans Bold"/>
                  <a:ea typeface="DM Sans Bold"/>
                  <a:cs typeface="DM Sans Bold"/>
                  <a:sym typeface="DM Sans Bold"/>
                </a:rPr>
                <a:t>02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75929" y="6359127"/>
            <a:ext cx="601251" cy="486303"/>
            <a:chOff x="0" y="0"/>
            <a:chExt cx="801668" cy="648404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801668" cy="648404"/>
              <a:chOff x="0" y="0"/>
              <a:chExt cx="215475" cy="17428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15475" cy="174280"/>
              </a:xfrm>
              <a:custGeom>
                <a:avLst/>
                <a:gdLst/>
                <a:ahLst/>
                <a:cxnLst/>
                <a:rect r="r" b="b" t="t" l="l"/>
                <a:pathLst>
                  <a:path h="174280" w="215475">
                    <a:moveTo>
                      <a:pt x="87140" y="0"/>
                    </a:moveTo>
                    <a:lnTo>
                      <a:pt x="128335" y="0"/>
                    </a:lnTo>
                    <a:cubicBezTo>
                      <a:pt x="176461" y="0"/>
                      <a:pt x="215475" y="39014"/>
                      <a:pt x="215475" y="87140"/>
                    </a:cubicBezTo>
                    <a:lnTo>
                      <a:pt x="215475" y="87140"/>
                    </a:lnTo>
                    <a:cubicBezTo>
                      <a:pt x="215475" y="110251"/>
                      <a:pt x="206294" y="132415"/>
                      <a:pt x="189952" y="148757"/>
                    </a:cubicBezTo>
                    <a:cubicBezTo>
                      <a:pt x="173610" y="165099"/>
                      <a:pt x="151446" y="174280"/>
                      <a:pt x="128335" y="174280"/>
                    </a:cubicBezTo>
                    <a:lnTo>
                      <a:pt x="87140" y="174280"/>
                    </a:lnTo>
                    <a:cubicBezTo>
                      <a:pt x="39014" y="174280"/>
                      <a:pt x="0" y="135266"/>
                      <a:pt x="0" y="87140"/>
                    </a:cubicBezTo>
                    <a:lnTo>
                      <a:pt x="0" y="87140"/>
                    </a:lnTo>
                    <a:cubicBezTo>
                      <a:pt x="0" y="39014"/>
                      <a:pt x="39014" y="0"/>
                      <a:pt x="87140" y="0"/>
                    </a:cubicBezTo>
                    <a:close/>
                  </a:path>
                </a:pathLst>
              </a:custGeom>
              <a:ln w="9525" cap="sq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9B9B9B">
                        <a:alpha val="100000"/>
                      </a:srgbClr>
                    </a:gs>
                  </a:gsLst>
                  <a:lin ang="5400000"/>
                </a:gradFill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9525"/>
                <a:ext cx="215475" cy="1838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236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156227" y="92251"/>
              <a:ext cx="489215" cy="454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4"/>
                </a:lnSpc>
                <a:spcBef>
                  <a:spcPct val="0"/>
                </a:spcBef>
              </a:pPr>
              <a:r>
                <a:rPr lang="en-US" b="true" sz="2212">
                  <a:gradFill>
                    <a:gsLst>
                      <a:gs pos="0">
                        <a:srgbClr val="E6E6E6">
                          <a:alpha val="100000"/>
                        </a:srgbClr>
                      </a:gs>
                      <a:gs pos="100000">
                        <a:srgbClr val="848484">
                          <a:alpha val="77500"/>
                        </a:srgbClr>
                      </a:gs>
                    </a:gsLst>
                    <a:lin ang="0"/>
                  </a:gradFill>
                  <a:latin typeface="DM Sans Bold"/>
                  <a:ea typeface="DM Sans Bold"/>
                  <a:cs typeface="DM Sans Bold"/>
                  <a:sym typeface="DM Sans Bold"/>
                </a:rPr>
                <a:t>03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499779" y="756000"/>
            <a:ext cx="2432388" cy="421795"/>
          </a:xfrm>
          <a:custGeom>
            <a:avLst/>
            <a:gdLst/>
            <a:ahLst/>
            <a:cxnLst/>
            <a:rect r="r" b="b" t="t" l="l"/>
            <a:pathLst>
              <a:path h="421795" w="2432388">
                <a:moveTo>
                  <a:pt x="0" y="0"/>
                </a:moveTo>
                <a:lnTo>
                  <a:pt x="2432387" y="0"/>
                </a:lnTo>
                <a:lnTo>
                  <a:pt x="2432387" y="421795"/>
                </a:lnTo>
                <a:lnTo>
                  <a:pt x="0" y="4217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8716" t="-144997" r="0" b="-140095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475929" y="1595694"/>
            <a:ext cx="5055122" cy="1190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54"/>
              </a:lnSpc>
            </a:pPr>
            <a:r>
              <a:rPr lang="en-US" b="true" sz="4793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Introduction to</a:t>
            </a:r>
          </a:p>
          <a:p>
            <a:pPr algn="just" marL="0" indent="0" lvl="0">
              <a:lnSpc>
                <a:spcPts val="4554"/>
              </a:lnSpc>
              <a:spcBef>
                <a:spcPct val="0"/>
              </a:spcBef>
            </a:pPr>
            <a:r>
              <a:rPr lang="en-US" b="true" sz="4793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Not Into Finance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55521" y="3081818"/>
            <a:ext cx="6399328" cy="1045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No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t Into Finance (NIFI) is a 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r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s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r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c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h, edu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cati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o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n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,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nd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 community plat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for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m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th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t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 m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ak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s f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ina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nce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 and 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inv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st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ing 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ea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s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ier 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t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o 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u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n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de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rs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t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an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d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 f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or 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p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o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p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le ac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ross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 d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i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ffere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n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t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exper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ie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nce 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l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evel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s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. Through research publications, educational content, classes, and community activities, NIFI connects financial analysis with practical learning for students, retail investors, professionals, and beginners.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75929" y="4252285"/>
            <a:ext cx="6328071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NIFI 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delivers its mission through three core pillars: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07767" y="4811556"/>
            <a:ext cx="296466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4"/>
              </a:lnSpc>
              <a:spcBef>
                <a:spcPct val="0"/>
              </a:spcBef>
            </a:pPr>
            <a:r>
              <a:rPr lang="en-US" b="true" sz="2212">
                <a:gradFill>
                  <a:gsLst>
                    <a:gs pos="0">
                      <a:srgbClr val="E6E6E6">
                        <a:alpha val="100000"/>
                      </a:srgbClr>
                    </a:gs>
                    <a:gs pos="100000">
                      <a:srgbClr val="848484">
                        <a:alpha val="77500"/>
                      </a:srgbClr>
                    </a:gs>
                  </a:gsLst>
                  <a:lin ang="0"/>
                </a:gradFill>
                <a:latin typeface="DM Sans Bold"/>
                <a:ea typeface="DM Sans Bold"/>
                <a:cs typeface="DM Sans Bold"/>
                <a:sym typeface="DM Sans Bold"/>
              </a:rPr>
              <a:t>01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31929" y="4660240"/>
            <a:ext cx="5643328" cy="626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Research: </a:t>
            </a:r>
            <a:r>
              <a:rPr lang="en-US" sz="12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We translate company, industry, macroeconomic, and market analysis into accessible insights, helping our audience understand the drivers behind businesses, financial markets, and investment opportunities.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31929" y="5466899"/>
            <a:ext cx="5643328" cy="626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Education: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 We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 make financial knowledge accessible through educational content and classes, covering investing fundamentals, risk, valuation, and equity research to help people build their understanding and make informed decisions.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31929" y="6274619"/>
            <a:ext cx="5643328" cy="626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Community: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 We bring people together through Discord discussions, classes, meetups, and #NiFiBerbagi activities, creating an inclusive space for shared learning, meaningful connections, and community participation.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59691" y="10420781"/>
            <a:ext cx="5840618" cy="163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2"/>
              </a:lnSpc>
              <a:spcBef>
                <a:spcPct val="0"/>
              </a:spcBef>
            </a:pPr>
            <a:r>
              <a:rPr lang="en-US" sz="95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Confidential &amp; Proprietary © 2026 Not Into Finance</a:t>
            </a:r>
            <a:r>
              <a:rPr lang="en-US" sz="95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. All right</a:t>
            </a:r>
            <a:r>
              <a:rPr lang="en-US" sz="95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 reserved.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3366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7599631"/>
            <a:ext cx="7560000" cy="3092369"/>
          </a:xfrm>
          <a:custGeom>
            <a:avLst/>
            <a:gdLst/>
            <a:ahLst/>
            <a:cxnLst/>
            <a:rect r="r" b="b" t="t" l="l"/>
            <a:pathLst>
              <a:path h="3092369" w="7560000">
                <a:moveTo>
                  <a:pt x="0" y="0"/>
                </a:moveTo>
                <a:lnTo>
                  <a:pt x="7560000" y="0"/>
                </a:lnTo>
                <a:lnTo>
                  <a:pt x="7560000" y="3092369"/>
                </a:lnTo>
                <a:lnTo>
                  <a:pt x="0" y="30923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6697" r="0" b="-3492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9629" y="8924053"/>
            <a:ext cx="7609629" cy="1767947"/>
          </a:xfrm>
          <a:custGeom>
            <a:avLst/>
            <a:gdLst/>
            <a:ahLst/>
            <a:cxnLst/>
            <a:rect r="r" b="b" t="t" l="l"/>
            <a:pathLst>
              <a:path h="1767947" w="7609629">
                <a:moveTo>
                  <a:pt x="0" y="0"/>
                </a:moveTo>
                <a:lnTo>
                  <a:pt x="7609629" y="0"/>
                </a:lnTo>
                <a:lnTo>
                  <a:pt x="7609629" y="1767947"/>
                </a:lnTo>
                <a:lnTo>
                  <a:pt x="0" y="17679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3848" r="0" b="-43292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475929" y="4849591"/>
            <a:ext cx="601251" cy="486303"/>
            <a:chOff x="0" y="0"/>
            <a:chExt cx="215475" cy="1742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5475" cy="174280"/>
            </a:xfrm>
            <a:custGeom>
              <a:avLst/>
              <a:gdLst/>
              <a:ahLst/>
              <a:cxnLst/>
              <a:rect r="r" b="b" t="t" l="l"/>
              <a:pathLst>
                <a:path h="174280" w="215475">
                  <a:moveTo>
                    <a:pt x="87140" y="0"/>
                  </a:moveTo>
                  <a:lnTo>
                    <a:pt x="128335" y="0"/>
                  </a:lnTo>
                  <a:cubicBezTo>
                    <a:pt x="176461" y="0"/>
                    <a:pt x="215475" y="39014"/>
                    <a:pt x="215475" y="87140"/>
                  </a:cubicBezTo>
                  <a:lnTo>
                    <a:pt x="215475" y="87140"/>
                  </a:lnTo>
                  <a:cubicBezTo>
                    <a:pt x="215475" y="110251"/>
                    <a:pt x="206294" y="132415"/>
                    <a:pt x="189952" y="148757"/>
                  </a:cubicBezTo>
                  <a:cubicBezTo>
                    <a:pt x="173610" y="165099"/>
                    <a:pt x="151446" y="174280"/>
                    <a:pt x="128335" y="174280"/>
                  </a:cubicBezTo>
                  <a:lnTo>
                    <a:pt x="87140" y="174280"/>
                  </a:lnTo>
                  <a:cubicBezTo>
                    <a:pt x="39014" y="174280"/>
                    <a:pt x="0" y="135266"/>
                    <a:pt x="0" y="87140"/>
                  </a:cubicBezTo>
                  <a:lnTo>
                    <a:pt x="0" y="87140"/>
                  </a:lnTo>
                  <a:cubicBezTo>
                    <a:pt x="0" y="39014"/>
                    <a:pt x="39014" y="0"/>
                    <a:pt x="87140" y="0"/>
                  </a:cubicBezTo>
                  <a:close/>
                </a:path>
              </a:pathLst>
            </a:custGeom>
            <a:ln w="9525" cap="sq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9B9B9B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15475" cy="1838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75929" y="5656249"/>
            <a:ext cx="601251" cy="486303"/>
            <a:chOff x="0" y="0"/>
            <a:chExt cx="801668" cy="648404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801668" cy="648404"/>
              <a:chOff x="0" y="0"/>
              <a:chExt cx="215475" cy="17428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215475" cy="174280"/>
              </a:xfrm>
              <a:custGeom>
                <a:avLst/>
                <a:gdLst/>
                <a:ahLst/>
                <a:cxnLst/>
                <a:rect r="r" b="b" t="t" l="l"/>
                <a:pathLst>
                  <a:path h="174280" w="215475">
                    <a:moveTo>
                      <a:pt x="87140" y="0"/>
                    </a:moveTo>
                    <a:lnTo>
                      <a:pt x="128335" y="0"/>
                    </a:lnTo>
                    <a:cubicBezTo>
                      <a:pt x="176461" y="0"/>
                      <a:pt x="215475" y="39014"/>
                      <a:pt x="215475" y="87140"/>
                    </a:cubicBezTo>
                    <a:lnTo>
                      <a:pt x="215475" y="87140"/>
                    </a:lnTo>
                    <a:cubicBezTo>
                      <a:pt x="215475" y="110251"/>
                      <a:pt x="206294" y="132415"/>
                      <a:pt x="189952" y="148757"/>
                    </a:cubicBezTo>
                    <a:cubicBezTo>
                      <a:pt x="173610" y="165099"/>
                      <a:pt x="151446" y="174280"/>
                      <a:pt x="128335" y="174280"/>
                    </a:cubicBezTo>
                    <a:lnTo>
                      <a:pt x="87140" y="174280"/>
                    </a:lnTo>
                    <a:cubicBezTo>
                      <a:pt x="39014" y="174280"/>
                      <a:pt x="0" y="135266"/>
                      <a:pt x="0" y="87140"/>
                    </a:cubicBezTo>
                    <a:lnTo>
                      <a:pt x="0" y="87140"/>
                    </a:lnTo>
                    <a:cubicBezTo>
                      <a:pt x="0" y="39014"/>
                      <a:pt x="39014" y="0"/>
                      <a:pt x="87140" y="0"/>
                    </a:cubicBezTo>
                    <a:close/>
                  </a:path>
                </a:pathLst>
              </a:custGeom>
              <a:ln w="9525" cap="sq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9B9B9B">
                        <a:alpha val="100000"/>
                      </a:srgbClr>
                    </a:gs>
                  </a:gsLst>
                  <a:lin ang="5400000"/>
                </a:gradFill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9525"/>
                <a:ext cx="215475" cy="1838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236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161849" y="92251"/>
              <a:ext cx="477970" cy="454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4"/>
                </a:lnSpc>
                <a:spcBef>
                  <a:spcPct val="0"/>
                </a:spcBef>
              </a:pPr>
              <a:r>
                <a:rPr lang="en-US" b="true" sz="2212">
                  <a:gradFill>
                    <a:gsLst>
                      <a:gs pos="0">
                        <a:srgbClr val="E6E6E6">
                          <a:alpha val="100000"/>
                        </a:srgbClr>
                      </a:gs>
                      <a:gs pos="100000">
                        <a:srgbClr val="848484">
                          <a:alpha val="77500"/>
                        </a:srgbClr>
                      </a:gs>
                    </a:gsLst>
                    <a:lin ang="0"/>
                  </a:gradFill>
                  <a:latin typeface="DM Sans Bold"/>
                  <a:ea typeface="DM Sans Bold"/>
                  <a:cs typeface="DM Sans Bold"/>
                  <a:sym typeface="DM Sans Bold"/>
                </a:rPr>
                <a:t>02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75929" y="6463969"/>
            <a:ext cx="601251" cy="486303"/>
            <a:chOff x="0" y="0"/>
            <a:chExt cx="801668" cy="648404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801668" cy="648404"/>
              <a:chOff x="0" y="0"/>
              <a:chExt cx="215475" cy="17428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15475" cy="174280"/>
              </a:xfrm>
              <a:custGeom>
                <a:avLst/>
                <a:gdLst/>
                <a:ahLst/>
                <a:cxnLst/>
                <a:rect r="r" b="b" t="t" l="l"/>
                <a:pathLst>
                  <a:path h="174280" w="215475">
                    <a:moveTo>
                      <a:pt x="87140" y="0"/>
                    </a:moveTo>
                    <a:lnTo>
                      <a:pt x="128335" y="0"/>
                    </a:lnTo>
                    <a:cubicBezTo>
                      <a:pt x="176461" y="0"/>
                      <a:pt x="215475" y="39014"/>
                      <a:pt x="215475" y="87140"/>
                    </a:cubicBezTo>
                    <a:lnTo>
                      <a:pt x="215475" y="87140"/>
                    </a:lnTo>
                    <a:cubicBezTo>
                      <a:pt x="215475" y="110251"/>
                      <a:pt x="206294" y="132415"/>
                      <a:pt x="189952" y="148757"/>
                    </a:cubicBezTo>
                    <a:cubicBezTo>
                      <a:pt x="173610" y="165099"/>
                      <a:pt x="151446" y="174280"/>
                      <a:pt x="128335" y="174280"/>
                    </a:cubicBezTo>
                    <a:lnTo>
                      <a:pt x="87140" y="174280"/>
                    </a:lnTo>
                    <a:cubicBezTo>
                      <a:pt x="39014" y="174280"/>
                      <a:pt x="0" y="135266"/>
                      <a:pt x="0" y="87140"/>
                    </a:cubicBezTo>
                    <a:lnTo>
                      <a:pt x="0" y="87140"/>
                    </a:lnTo>
                    <a:cubicBezTo>
                      <a:pt x="0" y="39014"/>
                      <a:pt x="39014" y="0"/>
                      <a:pt x="87140" y="0"/>
                    </a:cubicBezTo>
                    <a:close/>
                  </a:path>
                </a:pathLst>
              </a:custGeom>
              <a:ln w="9525" cap="sq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9B9B9B">
                        <a:alpha val="100000"/>
                      </a:srgbClr>
                    </a:gs>
                  </a:gsLst>
                  <a:lin ang="5400000"/>
                </a:gradFill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9525"/>
                <a:ext cx="215475" cy="1838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236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156227" y="92251"/>
              <a:ext cx="489215" cy="454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4"/>
                </a:lnSpc>
                <a:spcBef>
                  <a:spcPct val="0"/>
                </a:spcBef>
              </a:pPr>
              <a:r>
                <a:rPr lang="en-US" b="true" sz="2212">
                  <a:gradFill>
                    <a:gsLst>
                      <a:gs pos="0">
                        <a:srgbClr val="E6E6E6">
                          <a:alpha val="100000"/>
                        </a:srgbClr>
                      </a:gs>
                      <a:gs pos="100000">
                        <a:srgbClr val="848484">
                          <a:alpha val="77500"/>
                        </a:srgbClr>
                      </a:gs>
                    </a:gsLst>
                    <a:lin ang="0"/>
                  </a:gradFill>
                  <a:latin typeface="DM Sans Bold"/>
                  <a:ea typeface="DM Sans Bold"/>
                  <a:cs typeface="DM Sans Bold"/>
                  <a:sym typeface="DM Sans Bold"/>
                </a:rPr>
                <a:t>03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475929" y="713076"/>
            <a:ext cx="468982" cy="464718"/>
          </a:xfrm>
          <a:custGeom>
            <a:avLst/>
            <a:gdLst/>
            <a:ahLst/>
            <a:cxnLst/>
            <a:rect r="r" b="b" t="t" l="l"/>
            <a:pathLst>
              <a:path h="464718" w="468982">
                <a:moveTo>
                  <a:pt x="0" y="0"/>
                </a:moveTo>
                <a:lnTo>
                  <a:pt x="468982" y="0"/>
                </a:lnTo>
                <a:lnTo>
                  <a:pt x="468982" y="464719"/>
                </a:lnTo>
                <a:lnTo>
                  <a:pt x="0" y="4647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475929" y="1467218"/>
            <a:ext cx="6478920" cy="1428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705"/>
              </a:lnSpc>
              <a:spcBef>
                <a:spcPct val="0"/>
              </a:spcBef>
            </a:pPr>
            <a:r>
              <a:rPr lang="en-US" b="true" sz="3900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Introduction to Indonesia Capital Market Student Studies (ICMSS)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15725" y="3081818"/>
            <a:ext cx="6399328" cy="1045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In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dones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i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Ca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pi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t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al 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M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ar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ket Student Studies (ICMSS) 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i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s a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n a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nnual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 c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pit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al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 m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ark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et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 even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t 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org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an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ize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d 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by t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he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 Ma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n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g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ement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S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tudent 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S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o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ci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ty at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 the 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Faculty 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of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 Ec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on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omics 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nd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Bus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i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n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s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s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, Universitas Indonesia. Through research competitions, seminars, and investment training, ICMSS helps students and the wider public understand financial markets, develop analytical skills, and learn from industry professionals.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75929" y="4265742"/>
            <a:ext cx="6328071" cy="417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ICMSS pursues its vision of becoming 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an international capital market learning center for students through three main programs: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07767" y="4916398"/>
            <a:ext cx="296466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4"/>
              </a:lnSpc>
              <a:spcBef>
                <a:spcPct val="0"/>
              </a:spcBef>
            </a:pPr>
            <a:r>
              <a:rPr lang="en-US" b="true" sz="2212">
                <a:gradFill>
                  <a:gsLst>
                    <a:gs pos="0">
                      <a:srgbClr val="E6E6E6">
                        <a:alpha val="100000"/>
                      </a:srgbClr>
                    </a:gs>
                    <a:gs pos="100000">
                      <a:srgbClr val="848484">
                        <a:alpha val="77500"/>
                      </a:srgbClr>
                    </a:gs>
                  </a:gsLst>
                  <a:lin ang="0"/>
                </a:gradFill>
                <a:latin typeface="DM Sans Bold"/>
                <a:ea typeface="DM Sans Bold"/>
                <a:cs typeface="DM Sans Bold"/>
                <a:sym typeface="DM Sans Bold"/>
              </a:rPr>
              <a:t>01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31929" y="4764950"/>
            <a:ext cx="5643328" cy="626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Equity Research Conference: </a:t>
            </a:r>
            <a:r>
              <a:rPr lang="en-US" sz="12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 competition where undergraduate students analyze publicly listed companies, develop equity research reports, and present investment recommendations to experienced equity analysts.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31929" y="5571741"/>
            <a:ext cx="5643328" cy="626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Capital Market Seminar: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 Seminars featuring industry professionals who share perspectives on economic developments, market trends, and the outlook for Indonesia’s capital markets.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31929" y="6379461"/>
            <a:ext cx="5643328" cy="626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Investment Training: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 Learning sessions that introduce participants to stock investing, providing foundational knowledge and practical tools to support informed investment decisions.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83846" y="10420770"/>
            <a:ext cx="6592309" cy="163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2"/>
              </a:lnSpc>
              <a:spcBef>
                <a:spcPct val="0"/>
              </a:spcBef>
            </a:pPr>
            <a:r>
              <a:rPr lang="en-US" sz="95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Confidential &amp; Proprietary © 2026 Not Into Finance &amp; Indonesia Capital Market Student Studies</a:t>
            </a:r>
            <a:r>
              <a:rPr lang="en-US" sz="95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. All right</a:t>
            </a:r>
            <a:r>
              <a:rPr lang="en-US" sz="95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 reserved.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1F1F1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6530836">
            <a:off x="3325026" y="-2370897"/>
            <a:ext cx="7460742" cy="746074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6E6E6">
                    <a:alpha val="16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  <a:ln w="19050" cap="sq">
              <a:gradFill>
                <a:gsLst>
                  <a:gs pos="0">
                    <a:srgbClr val="FFFFFF">
                      <a:alpha val="16000"/>
                    </a:srgbClr>
                  </a:gs>
                  <a:gs pos="100000">
                    <a:srgbClr val="9B9B9B">
                      <a:alpha val="16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3458383">
            <a:off x="-4963930" y="5836570"/>
            <a:ext cx="7460742" cy="7460742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6E6E6">
                    <a:alpha val="16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  <a:ln w="19050" cap="sq">
              <a:gradFill>
                <a:gsLst>
                  <a:gs pos="0">
                    <a:srgbClr val="FFFFFF">
                      <a:alpha val="16000"/>
                    </a:srgbClr>
                  </a:gs>
                  <a:gs pos="100000">
                    <a:srgbClr val="9B9B9B">
                      <a:alpha val="16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75929" y="6989817"/>
            <a:ext cx="601251" cy="486303"/>
            <a:chOff x="0" y="0"/>
            <a:chExt cx="801668" cy="648404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801668" cy="648404"/>
              <a:chOff x="0" y="0"/>
              <a:chExt cx="215475" cy="17428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15475" cy="174280"/>
              </a:xfrm>
              <a:custGeom>
                <a:avLst/>
                <a:gdLst/>
                <a:ahLst/>
                <a:cxnLst/>
                <a:rect r="r" b="b" t="t" l="l"/>
                <a:pathLst>
                  <a:path h="174280" w="215475">
                    <a:moveTo>
                      <a:pt x="87140" y="0"/>
                    </a:moveTo>
                    <a:lnTo>
                      <a:pt x="128335" y="0"/>
                    </a:lnTo>
                    <a:cubicBezTo>
                      <a:pt x="176461" y="0"/>
                      <a:pt x="215475" y="39014"/>
                      <a:pt x="215475" y="87140"/>
                    </a:cubicBezTo>
                    <a:lnTo>
                      <a:pt x="215475" y="87140"/>
                    </a:lnTo>
                    <a:cubicBezTo>
                      <a:pt x="215475" y="110251"/>
                      <a:pt x="206294" y="132415"/>
                      <a:pt x="189952" y="148757"/>
                    </a:cubicBezTo>
                    <a:cubicBezTo>
                      <a:pt x="173610" y="165099"/>
                      <a:pt x="151446" y="174280"/>
                      <a:pt x="128335" y="174280"/>
                    </a:cubicBezTo>
                    <a:lnTo>
                      <a:pt x="87140" y="174280"/>
                    </a:lnTo>
                    <a:cubicBezTo>
                      <a:pt x="39014" y="174280"/>
                      <a:pt x="0" y="135266"/>
                      <a:pt x="0" y="87140"/>
                    </a:cubicBezTo>
                    <a:lnTo>
                      <a:pt x="0" y="87140"/>
                    </a:lnTo>
                    <a:cubicBezTo>
                      <a:pt x="0" y="39014"/>
                      <a:pt x="39014" y="0"/>
                      <a:pt x="87140" y="0"/>
                    </a:cubicBezTo>
                    <a:close/>
                  </a:path>
                </a:pathLst>
              </a:custGeom>
              <a:ln w="9525" cap="sq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9B9B9B">
                        <a:alpha val="100000"/>
                      </a:srgbClr>
                    </a:gs>
                  </a:gsLst>
                  <a:lin ang="5400000"/>
                </a:gra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9525"/>
                <a:ext cx="215475" cy="1838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236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175784" y="92251"/>
              <a:ext cx="395288" cy="454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4"/>
                </a:lnSpc>
                <a:spcBef>
                  <a:spcPct val="0"/>
                </a:spcBef>
              </a:pPr>
              <a:r>
                <a:rPr lang="en-US" b="true" sz="2212">
                  <a:gradFill>
                    <a:gsLst>
                      <a:gs pos="0">
                        <a:srgbClr val="E6E6E6">
                          <a:alpha val="100000"/>
                        </a:srgbClr>
                      </a:gs>
                      <a:gs pos="100000">
                        <a:srgbClr val="848484">
                          <a:alpha val="77500"/>
                        </a:srgbClr>
                      </a:gs>
                    </a:gsLst>
                    <a:lin ang="0"/>
                  </a:gradFill>
                  <a:latin typeface="DM Sans Bold"/>
                  <a:ea typeface="DM Sans Bold"/>
                  <a:cs typeface="DM Sans Bold"/>
                  <a:sym typeface="DM Sans Bold"/>
                </a:rPr>
                <a:t>01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75929" y="7691833"/>
            <a:ext cx="601251" cy="486303"/>
            <a:chOff x="0" y="0"/>
            <a:chExt cx="801668" cy="648404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801668" cy="648404"/>
              <a:chOff x="0" y="0"/>
              <a:chExt cx="215475" cy="17428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215475" cy="174280"/>
              </a:xfrm>
              <a:custGeom>
                <a:avLst/>
                <a:gdLst/>
                <a:ahLst/>
                <a:cxnLst/>
                <a:rect r="r" b="b" t="t" l="l"/>
                <a:pathLst>
                  <a:path h="174280" w="215475">
                    <a:moveTo>
                      <a:pt x="87140" y="0"/>
                    </a:moveTo>
                    <a:lnTo>
                      <a:pt x="128335" y="0"/>
                    </a:lnTo>
                    <a:cubicBezTo>
                      <a:pt x="176461" y="0"/>
                      <a:pt x="215475" y="39014"/>
                      <a:pt x="215475" y="87140"/>
                    </a:cubicBezTo>
                    <a:lnTo>
                      <a:pt x="215475" y="87140"/>
                    </a:lnTo>
                    <a:cubicBezTo>
                      <a:pt x="215475" y="110251"/>
                      <a:pt x="206294" y="132415"/>
                      <a:pt x="189952" y="148757"/>
                    </a:cubicBezTo>
                    <a:cubicBezTo>
                      <a:pt x="173610" y="165099"/>
                      <a:pt x="151446" y="174280"/>
                      <a:pt x="128335" y="174280"/>
                    </a:cubicBezTo>
                    <a:lnTo>
                      <a:pt x="87140" y="174280"/>
                    </a:lnTo>
                    <a:cubicBezTo>
                      <a:pt x="39014" y="174280"/>
                      <a:pt x="0" y="135266"/>
                      <a:pt x="0" y="87140"/>
                    </a:cubicBezTo>
                    <a:lnTo>
                      <a:pt x="0" y="87140"/>
                    </a:lnTo>
                    <a:cubicBezTo>
                      <a:pt x="0" y="39014"/>
                      <a:pt x="39014" y="0"/>
                      <a:pt x="87140" y="0"/>
                    </a:cubicBezTo>
                    <a:close/>
                  </a:path>
                </a:pathLst>
              </a:custGeom>
              <a:ln w="9525" cap="sq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9B9B9B">
                        <a:alpha val="100000"/>
                      </a:srgbClr>
                    </a:gs>
                  </a:gsLst>
                  <a:lin ang="5400000"/>
                </a:gradFill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9525"/>
                <a:ext cx="215475" cy="1838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236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161849" y="92251"/>
              <a:ext cx="477970" cy="454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4"/>
                </a:lnSpc>
                <a:spcBef>
                  <a:spcPct val="0"/>
                </a:spcBef>
              </a:pPr>
              <a:r>
                <a:rPr lang="en-US" b="true" sz="2212">
                  <a:gradFill>
                    <a:gsLst>
                      <a:gs pos="0">
                        <a:srgbClr val="E6E6E6">
                          <a:alpha val="100000"/>
                        </a:srgbClr>
                      </a:gs>
                      <a:gs pos="100000">
                        <a:srgbClr val="848484">
                          <a:alpha val="77500"/>
                        </a:srgbClr>
                      </a:gs>
                    </a:gsLst>
                    <a:lin ang="0"/>
                  </a:gradFill>
                  <a:latin typeface="DM Sans Bold"/>
                  <a:ea typeface="DM Sans Bold"/>
                  <a:cs typeface="DM Sans Bold"/>
                  <a:sym typeface="DM Sans Bold"/>
                </a:rPr>
                <a:t>02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75929" y="8394778"/>
            <a:ext cx="601251" cy="486303"/>
            <a:chOff x="0" y="0"/>
            <a:chExt cx="801668" cy="648404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801668" cy="648404"/>
              <a:chOff x="0" y="0"/>
              <a:chExt cx="215475" cy="17428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215475" cy="174280"/>
              </a:xfrm>
              <a:custGeom>
                <a:avLst/>
                <a:gdLst/>
                <a:ahLst/>
                <a:cxnLst/>
                <a:rect r="r" b="b" t="t" l="l"/>
                <a:pathLst>
                  <a:path h="174280" w="215475">
                    <a:moveTo>
                      <a:pt x="87140" y="0"/>
                    </a:moveTo>
                    <a:lnTo>
                      <a:pt x="128335" y="0"/>
                    </a:lnTo>
                    <a:cubicBezTo>
                      <a:pt x="176461" y="0"/>
                      <a:pt x="215475" y="39014"/>
                      <a:pt x="215475" y="87140"/>
                    </a:cubicBezTo>
                    <a:lnTo>
                      <a:pt x="215475" y="87140"/>
                    </a:lnTo>
                    <a:cubicBezTo>
                      <a:pt x="215475" y="110251"/>
                      <a:pt x="206294" y="132415"/>
                      <a:pt x="189952" y="148757"/>
                    </a:cubicBezTo>
                    <a:cubicBezTo>
                      <a:pt x="173610" y="165099"/>
                      <a:pt x="151446" y="174280"/>
                      <a:pt x="128335" y="174280"/>
                    </a:cubicBezTo>
                    <a:lnTo>
                      <a:pt x="87140" y="174280"/>
                    </a:lnTo>
                    <a:cubicBezTo>
                      <a:pt x="39014" y="174280"/>
                      <a:pt x="0" y="135266"/>
                      <a:pt x="0" y="87140"/>
                    </a:cubicBezTo>
                    <a:lnTo>
                      <a:pt x="0" y="87140"/>
                    </a:lnTo>
                    <a:cubicBezTo>
                      <a:pt x="0" y="39014"/>
                      <a:pt x="39014" y="0"/>
                      <a:pt x="87140" y="0"/>
                    </a:cubicBezTo>
                    <a:close/>
                  </a:path>
                </a:pathLst>
              </a:custGeom>
              <a:ln w="9525" cap="sq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9B9B9B">
                        <a:alpha val="100000"/>
                      </a:srgbClr>
                    </a:gs>
                  </a:gsLst>
                  <a:lin ang="5400000"/>
                </a:gradFill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9525"/>
                <a:ext cx="215475" cy="1838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236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156227" y="92251"/>
              <a:ext cx="489215" cy="454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4"/>
                </a:lnSpc>
                <a:spcBef>
                  <a:spcPct val="0"/>
                </a:spcBef>
              </a:pPr>
              <a:r>
                <a:rPr lang="en-US" b="true" sz="2212">
                  <a:gradFill>
                    <a:gsLst>
                      <a:gs pos="0">
                        <a:srgbClr val="E6E6E6">
                          <a:alpha val="100000"/>
                        </a:srgbClr>
                      </a:gs>
                      <a:gs pos="100000">
                        <a:srgbClr val="848484">
                          <a:alpha val="77500"/>
                        </a:srgbClr>
                      </a:gs>
                    </a:gsLst>
                    <a:lin ang="0"/>
                  </a:gradFill>
                  <a:latin typeface="DM Sans Bold"/>
                  <a:ea typeface="DM Sans Bold"/>
                  <a:cs typeface="DM Sans Bold"/>
                  <a:sym typeface="DM Sans Bold"/>
                </a:rPr>
                <a:t>03</a:t>
              </a: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499779" y="756000"/>
            <a:ext cx="411005" cy="421795"/>
          </a:xfrm>
          <a:custGeom>
            <a:avLst/>
            <a:gdLst/>
            <a:ahLst/>
            <a:cxnLst/>
            <a:rect r="r" b="b" t="t" l="l"/>
            <a:pathLst>
              <a:path h="421795" w="411005">
                <a:moveTo>
                  <a:pt x="0" y="0"/>
                </a:moveTo>
                <a:lnTo>
                  <a:pt x="411005" y="0"/>
                </a:lnTo>
                <a:lnTo>
                  <a:pt x="411005" y="421795"/>
                </a:lnTo>
                <a:lnTo>
                  <a:pt x="0" y="4217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0447" t="-144434" r="-490104" b="-139546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437500" y="713076"/>
            <a:ext cx="468982" cy="464718"/>
          </a:xfrm>
          <a:custGeom>
            <a:avLst/>
            <a:gdLst/>
            <a:ahLst/>
            <a:cxnLst/>
            <a:rect r="r" b="b" t="t" l="l"/>
            <a:pathLst>
              <a:path h="464718" w="468982">
                <a:moveTo>
                  <a:pt x="0" y="0"/>
                </a:moveTo>
                <a:lnTo>
                  <a:pt x="468982" y="0"/>
                </a:lnTo>
                <a:lnTo>
                  <a:pt x="468982" y="464719"/>
                </a:lnTo>
                <a:lnTo>
                  <a:pt x="0" y="4647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3410617" y="3478445"/>
            <a:ext cx="1850190" cy="2386701"/>
            <a:chOff x="0" y="0"/>
            <a:chExt cx="630089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30089" cy="812800"/>
            </a:xfrm>
            <a:custGeom>
              <a:avLst/>
              <a:gdLst/>
              <a:ahLst/>
              <a:cxnLst/>
              <a:rect r="r" b="b" t="t" l="l"/>
              <a:pathLst>
                <a:path h="812800" w="630089">
                  <a:moveTo>
                    <a:pt x="0" y="0"/>
                  </a:moveTo>
                  <a:lnTo>
                    <a:pt x="630089" y="0"/>
                  </a:lnTo>
                  <a:lnTo>
                    <a:pt x="630089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4"/>
              <a:stretch>
                <a:fillRect l="0" t="-1680" r="0" b="-168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5361302" y="3478445"/>
            <a:ext cx="1850190" cy="2386701"/>
            <a:chOff x="0" y="0"/>
            <a:chExt cx="630089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30089" cy="812800"/>
            </a:xfrm>
            <a:custGeom>
              <a:avLst/>
              <a:gdLst/>
              <a:ahLst/>
              <a:cxnLst/>
              <a:rect r="r" b="b" t="t" l="l"/>
              <a:pathLst>
                <a:path h="812800" w="630089">
                  <a:moveTo>
                    <a:pt x="0" y="0"/>
                  </a:moveTo>
                  <a:lnTo>
                    <a:pt x="630089" y="0"/>
                  </a:lnTo>
                  <a:lnTo>
                    <a:pt x="630089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 l="-43143" t="0" r="-43143" b="0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511929" y="3516545"/>
            <a:ext cx="2898687" cy="21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15"/>
              </a:lnSpc>
              <a:spcBef>
                <a:spcPct val="0"/>
              </a:spcBef>
            </a:pPr>
            <a:r>
              <a:rPr lang="en-US" b="true" sz="1700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Complementary</a:t>
            </a:r>
            <a:r>
              <a:rPr lang="en-US" b="true" sz="1700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9B9B9B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 Strengths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75929" y="1511961"/>
            <a:ext cx="6087997" cy="614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554"/>
              </a:lnSpc>
              <a:spcBef>
                <a:spcPct val="0"/>
              </a:spcBef>
            </a:pPr>
            <a:r>
              <a:rPr lang="en-US" b="true" sz="4793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Why NIFI × ICMSS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11929" y="2482540"/>
            <a:ext cx="6399328" cy="626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NIFI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 and ICMSS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 bri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ng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 t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ogether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 r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se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rc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h, ed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u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cation, an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d 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ca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p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ita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l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 m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r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k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et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c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o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mpet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i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t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i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o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n experience to help aspir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ing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 equ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ity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 researc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her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s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 turn financial knowledge into practical analysis and informed investment recommendations.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11929" y="2175579"/>
            <a:ext cx="2347733" cy="230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756"/>
              </a:lnSpc>
              <a:spcBef>
                <a:spcPct val="0"/>
              </a:spcBef>
            </a:pPr>
            <a:r>
              <a:rPr lang="en-US" b="true" sz="1848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9B9B9B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A Shared </a:t>
            </a:r>
            <a:r>
              <a:rPr lang="en-US" b="true" sz="1848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Purpose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11929" y="3771551"/>
            <a:ext cx="2635670" cy="2093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NIFI brings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 acce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s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s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ibl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 research,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 practical finance ed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u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cation, and community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eng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agement. ICMSS b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ri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ngs experie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n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c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e in equi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ty r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ese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r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c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h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com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pe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ti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t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ion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s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,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 in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v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es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t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ment training, and capital market seminars. Together, these strengths support a learning journey from understanding companies to presenting investment ideas.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11929" y="6217571"/>
            <a:ext cx="5266115" cy="230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56"/>
              </a:lnSpc>
              <a:spcBef>
                <a:spcPct val="0"/>
              </a:spcBef>
            </a:pPr>
            <a:r>
              <a:rPr lang="en-US" b="true" sz="1848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9B9B9B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What This Collaboration Brings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31929" y="6905309"/>
            <a:ext cx="5643328" cy="626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Research into Practice:</a:t>
            </a:r>
            <a:r>
              <a:rPr lang="en-US" sz="1200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D9D9D9">
                        <a:alpha val="100000"/>
                      </a:srgbClr>
                    </a:gs>
                  </a:gsLst>
                  <a:lin ang="5400000"/>
                </a:gradFill>
                <a:latin typeface="DM Sans"/>
                <a:ea typeface="DM Sans"/>
                <a:cs typeface="DM Sans"/>
                <a:sym typeface="DM Sans"/>
              </a:rPr>
              <a:t>Connect research insights with company analysis and valuation, helping participants develop investment recommendations supported by evidence.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31929" y="7712099"/>
            <a:ext cx="5643328" cy="417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Structured Learning: 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Build equity research skills through classes, assignments, and report writing within a clear learning journey.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31929" y="8415044"/>
            <a:ext cx="5643328" cy="417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Investment Pitching: 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Apply research through presentations, helping participants communicate their investment thesis, valuation, and risks clearly.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475929" y="6478589"/>
            <a:ext cx="6435328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Thre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e stre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ngths </a:t>
            </a:r>
            <a:r>
              <a:rPr lang="en-US" b="true" sz="1200">
                <a:solidFill>
                  <a:srgbClr val="E6E6E6"/>
                </a:solidFill>
                <a:latin typeface="DM Sans Bold"/>
                <a:ea typeface="DM Sans Bold"/>
                <a:cs typeface="DM Sans Bold"/>
                <a:sym typeface="DM Sans Bold"/>
              </a:rPr>
              <a:t>supporting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 the 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par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ti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cip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nt journey: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75124" y="789276"/>
            <a:ext cx="230303" cy="388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2"/>
              </a:lnSpc>
            </a:pPr>
            <a:r>
              <a:rPr lang="en-US" b="true" sz="3101" spc="-254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x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483846" y="10420770"/>
            <a:ext cx="6592309" cy="163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2"/>
              </a:lnSpc>
              <a:spcBef>
                <a:spcPct val="0"/>
              </a:spcBef>
            </a:pPr>
            <a:r>
              <a:rPr lang="en-US" sz="95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Confidential &amp; Proprietary © 2026 Not Into Finance &amp; Indonesia Capital Market Student Studies</a:t>
            </a:r>
            <a:r>
              <a:rPr lang="en-US" sz="95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. All right</a:t>
            </a:r>
            <a:r>
              <a:rPr lang="en-US" sz="95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 reserved.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3458383">
            <a:off x="2663526" y="-5093846"/>
            <a:ext cx="7460742" cy="746074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908">
                    <a:alpha val="14000"/>
                  </a:srgbClr>
                </a:gs>
                <a:gs pos="100000">
                  <a:srgbClr val="001614">
                    <a:alpha val="0"/>
                  </a:srgbClr>
                </a:gs>
              </a:gsLst>
              <a:lin ang="5400000"/>
            </a:gradFill>
            <a:ln w="19050" cap="sq">
              <a:gradFill>
                <a:gsLst>
                  <a:gs pos="0">
                    <a:srgbClr val="00352F">
                      <a:alpha val="14000"/>
                    </a:srgbClr>
                  </a:gs>
                  <a:gs pos="100000">
                    <a:srgbClr val="000000">
                      <a:alpha val="14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869346" y="8360077"/>
            <a:ext cx="1052794" cy="1370218"/>
            <a:chOff x="0" y="0"/>
            <a:chExt cx="532583" cy="693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32583" cy="693160"/>
            </a:xfrm>
            <a:custGeom>
              <a:avLst/>
              <a:gdLst/>
              <a:ahLst/>
              <a:cxnLst/>
              <a:rect r="r" b="b" t="t" l="l"/>
              <a:pathLst>
                <a:path h="693160" w="532583">
                  <a:moveTo>
                    <a:pt x="44122" y="0"/>
                  </a:moveTo>
                  <a:lnTo>
                    <a:pt x="488460" y="0"/>
                  </a:lnTo>
                  <a:cubicBezTo>
                    <a:pt x="512828" y="0"/>
                    <a:pt x="532583" y="19754"/>
                    <a:pt x="532583" y="44122"/>
                  </a:cubicBezTo>
                  <a:lnTo>
                    <a:pt x="532583" y="649038"/>
                  </a:lnTo>
                  <a:cubicBezTo>
                    <a:pt x="532583" y="660739"/>
                    <a:pt x="527934" y="671962"/>
                    <a:pt x="519660" y="680237"/>
                  </a:cubicBezTo>
                  <a:cubicBezTo>
                    <a:pt x="511385" y="688511"/>
                    <a:pt x="500162" y="693160"/>
                    <a:pt x="488460" y="693160"/>
                  </a:cubicBezTo>
                  <a:lnTo>
                    <a:pt x="44122" y="693160"/>
                  </a:lnTo>
                  <a:cubicBezTo>
                    <a:pt x="19754" y="693160"/>
                    <a:pt x="0" y="673406"/>
                    <a:pt x="0" y="649038"/>
                  </a:cubicBezTo>
                  <a:lnTo>
                    <a:pt x="0" y="44122"/>
                  </a:lnTo>
                  <a:cubicBezTo>
                    <a:pt x="0" y="19754"/>
                    <a:pt x="19754" y="0"/>
                    <a:pt x="44122" y="0"/>
                  </a:cubicBezTo>
                  <a:close/>
                </a:path>
              </a:pathLst>
            </a:custGeom>
            <a:ln w="9525" cap="sq">
              <a:gradFill>
                <a:gsLst>
                  <a:gs pos="0">
                    <a:srgbClr val="002036">
                      <a:alpha val="100000"/>
                    </a:srgbClr>
                  </a:gs>
                  <a:gs pos="100000">
                    <a:srgbClr val="13607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532583" cy="7026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3458383">
            <a:off x="3603019" y="7374198"/>
            <a:ext cx="7460742" cy="7460742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908">
                    <a:alpha val="14000"/>
                  </a:srgbClr>
                </a:gs>
                <a:gs pos="100000">
                  <a:srgbClr val="001614">
                    <a:alpha val="0"/>
                  </a:srgbClr>
                </a:gs>
              </a:gsLst>
              <a:lin ang="5400000"/>
            </a:gradFill>
            <a:ln w="19050" cap="sq">
              <a:gradFill>
                <a:gsLst>
                  <a:gs pos="0">
                    <a:srgbClr val="00352F">
                      <a:alpha val="14000"/>
                    </a:srgbClr>
                  </a:gs>
                  <a:gs pos="100000">
                    <a:srgbClr val="000000">
                      <a:alpha val="14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700465" y="8367015"/>
            <a:ext cx="1052794" cy="1370218"/>
            <a:chOff x="0" y="0"/>
            <a:chExt cx="532583" cy="6931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2583" cy="693160"/>
            </a:xfrm>
            <a:custGeom>
              <a:avLst/>
              <a:gdLst/>
              <a:ahLst/>
              <a:cxnLst/>
              <a:rect r="r" b="b" t="t" l="l"/>
              <a:pathLst>
                <a:path h="693160" w="532583">
                  <a:moveTo>
                    <a:pt x="44122" y="0"/>
                  </a:moveTo>
                  <a:lnTo>
                    <a:pt x="488460" y="0"/>
                  </a:lnTo>
                  <a:cubicBezTo>
                    <a:pt x="512828" y="0"/>
                    <a:pt x="532583" y="19754"/>
                    <a:pt x="532583" y="44122"/>
                  </a:cubicBezTo>
                  <a:lnTo>
                    <a:pt x="532583" y="649038"/>
                  </a:lnTo>
                  <a:cubicBezTo>
                    <a:pt x="532583" y="660739"/>
                    <a:pt x="527934" y="671962"/>
                    <a:pt x="519660" y="680237"/>
                  </a:cubicBezTo>
                  <a:cubicBezTo>
                    <a:pt x="511385" y="688511"/>
                    <a:pt x="500162" y="693160"/>
                    <a:pt x="488460" y="693160"/>
                  </a:cubicBezTo>
                  <a:lnTo>
                    <a:pt x="44122" y="693160"/>
                  </a:lnTo>
                  <a:cubicBezTo>
                    <a:pt x="19754" y="693160"/>
                    <a:pt x="0" y="673406"/>
                    <a:pt x="0" y="649038"/>
                  </a:cubicBezTo>
                  <a:lnTo>
                    <a:pt x="0" y="44122"/>
                  </a:lnTo>
                  <a:cubicBezTo>
                    <a:pt x="0" y="19754"/>
                    <a:pt x="19754" y="0"/>
                    <a:pt x="44122" y="0"/>
                  </a:cubicBezTo>
                  <a:close/>
                </a:path>
              </a:pathLst>
            </a:custGeom>
            <a:ln w="9525" cap="sq">
              <a:gradFill>
                <a:gsLst>
                  <a:gs pos="0">
                    <a:srgbClr val="002036">
                      <a:alpha val="100000"/>
                    </a:srgbClr>
                  </a:gs>
                  <a:gs pos="100000">
                    <a:srgbClr val="13607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532583" cy="7026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3458383">
            <a:off x="-3235264" y="8119153"/>
            <a:ext cx="6628018" cy="6628018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1614">
                    <a:alpha val="0"/>
                  </a:srgbClr>
                </a:gs>
                <a:gs pos="100000">
                  <a:srgbClr val="000908">
                    <a:alpha val="14000"/>
                  </a:srgbClr>
                </a:gs>
              </a:gsLst>
              <a:lin ang="5400000"/>
            </a:gradFill>
            <a:ln w="19050" cap="sq">
              <a:gradFill>
                <a:gsLst>
                  <a:gs pos="0">
                    <a:srgbClr val="00352F">
                      <a:alpha val="14000"/>
                    </a:srgbClr>
                  </a:gs>
                  <a:gs pos="100000">
                    <a:srgbClr val="000000">
                      <a:alpha val="14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62703" y="8380892"/>
            <a:ext cx="1063256" cy="1370218"/>
            <a:chOff x="0" y="0"/>
            <a:chExt cx="537875" cy="6931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37875" cy="693160"/>
            </a:xfrm>
            <a:custGeom>
              <a:avLst/>
              <a:gdLst/>
              <a:ahLst/>
              <a:cxnLst/>
              <a:rect r="r" b="b" t="t" l="l"/>
              <a:pathLst>
                <a:path h="693160" w="537875">
                  <a:moveTo>
                    <a:pt x="43688" y="0"/>
                  </a:moveTo>
                  <a:lnTo>
                    <a:pt x="494187" y="0"/>
                  </a:lnTo>
                  <a:cubicBezTo>
                    <a:pt x="518316" y="0"/>
                    <a:pt x="537875" y="19560"/>
                    <a:pt x="537875" y="43688"/>
                  </a:cubicBezTo>
                  <a:lnTo>
                    <a:pt x="537875" y="649472"/>
                  </a:lnTo>
                  <a:cubicBezTo>
                    <a:pt x="537875" y="673600"/>
                    <a:pt x="518316" y="693160"/>
                    <a:pt x="494187" y="693160"/>
                  </a:cubicBezTo>
                  <a:lnTo>
                    <a:pt x="43688" y="693160"/>
                  </a:lnTo>
                  <a:cubicBezTo>
                    <a:pt x="19560" y="693160"/>
                    <a:pt x="0" y="673600"/>
                    <a:pt x="0" y="649472"/>
                  </a:cubicBezTo>
                  <a:lnTo>
                    <a:pt x="0" y="43688"/>
                  </a:lnTo>
                  <a:cubicBezTo>
                    <a:pt x="0" y="19560"/>
                    <a:pt x="19560" y="0"/>
                    <a:pt x="43688" y="0"/>
                  </a:cubicBezTo>
                  <a:close/>
                </a:path>
              </a:pathLst>
            </a:custGeom>
            <a:ln w="9525" cap="sq">
              <a:gradFill>
                <a:gsLst>
                  <a:gs pos="0">
                    <a:srgbClr val="002036">
                      <a:alpha val="100000"/>
                    </a:srgbClr>
                  </a:gs>
                  <a:gs pos="100000">
                    <a:srgbClr val="13607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537875" cy="7026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499779" y="756000"/>
            <a:ext cx="411005" cy="421795"/>
          </a:xfrm>
          <a:custGeom>
            <a:avLst/>
            <a:gdLst/>
            <a:ahLst/>
            <a:cxnLst/>
            <a:rect r="r" b="b" t="t" l="l"/>
            <a:pathLst>
              <a:path h="421795" w="411005">
                <a:moveTo>
                  <a:pt x="0" y="0"/>
                </a:moveTo>
                <a:lnTo>
                  <a:pt x="411005" y="0"/>
                </a:lnTo>
                <a:lnTo>
                  <a:pt x="411005" y="421795"/>
                </a:lnTo>
                <a:lnTo>
                  <a:pt x="0" y="4217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0447" t="-144434" r="-490104" b="-139546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437500" y="713076"/>
            <a:ext cx="468982" cy="464718"/>
          </a:xfrm>
          <a:custGeom>
            <a:avLst/>
            <a:gdLst/>
            <a:ahLst/>
            <a:cxnLst/>
            <a:rect r="r" b="b" t="t" l="l"/>
            <a:pathLst>
              <a:path h="464718" w="468982">
                <a:moveTo>
                  <a:pt x="0" y="0"/>
                </a:moveTo>
                <a:lnTo>
                  <a:pt x="468982" y="0"/>
                </a:lnTo>
                <a:lnTo>
                  <a:pt x="468982" y="464719"/>
                </a:lnTo>
                <a:lnTo>
                  <a:pt x="0" y="4647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511929" y="3003808"/>
            <a:ext cx="1226012" cy="1141155"/>
            <a:chOff x="0" y="0"/>
            <a:chExt cx="545280" cy="50753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45280" cy="507539"/>
            </a:xfrm>
            <a:custGeom>
              <a:avLst/>
              <a:gdLst/>
              <a:ahLst/>
              <a:cxnLst/>
              <a:rect r="r" b="b" t="t" l="l"/>
              <a:pathLst>
                <a:path h="507539" w="545280">
                  <a:moveTo>
                    <a:pt x="37888" y="0"/>
                  </a:moveTo>
                  <a:lnTo>
                    <a:pt x="507392" y="0"/>
                  </a:lnTo>
                  <a:cubicBezTo>
                    <a:pt x="517440" y="0"/>
                    <a:pt x="527077" y="3992"/>
                    <a:pt x="534183" y="11097"/>
                  </a:cubicBezTo>
                  <a:cubicBezTo>
                    <a:pt x="541288" y="18203"/>
                    <a:pt x="545280" y="27840"/>
                    <a:pt x="545280" y="37888"/>
                  </a:cubicBezTo>
                  <a:lnTo>
                    <a:pt x="545280" y="469650"/>
                  </a:lnTo>
                  <a:cubicBezTo>
                    <a:pt x="545280" y="490576"/>
                    <a:pt x="528317" y="507539"/>
                    <a:pt x="507392" y="507539"/>
                  </a:cubicBezTo>
                  <a:lnTo>
                    <a:pt x="37888" y="507539"/>
                  </a:lnTo>
                  <a:cubicBezTo>
                    <a:pt x="27840" y="507539"/>
                    <a:pt x="18203" y="503547"/>
                    <a:pt x="11097" y="496442"/>
                  </a:cubicBezTo>
                  <a:cubicBezTo>
                    <a:pt x="3992" y="489336"/>
                    <a:pt x="0" y="479699"/>
                    <a:pt x="0" y="469650"/>
                  </a:cubicBezTo>
                  <a:lnTo>
                    <a:pt x="0" y="37888"/>
                  </a:lnTo>
                  <a:cubicBezTo>
                    <a:pt x="0" y="27840"/>
                    <a:pt x="3992" y="18203"/>
                    <a:pt x="11097" y="11097"/>
                  </a:cubicBezTo>
                  <a:cubicBezTo>
                    <a:pt x="18203" y="3992"/>
                    <a:pt x="27840" y="0"/>
                    <a:pt x="3788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1F35">
                    <a:alpha val="100000"/>
                  </a:srgbClr>
                </a:gs>
                <a:gs pos="100000">
                  <a:srgbClr val="0D3C82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545280" cy="5170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544704" y="3040566"/>
            <a:ext cx="1160462" cy="422462"/>
            <a:chOff x="0" y="0"/>
            <a:chExt cx="516126" cy="18789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16126" cy="187894"/>
            </a:xfrm>
            <a:custGeom>
              <a:avLst/>
              <a:gdLst/>
              <a:ahLst/>
              <a:cxnLst/>
              <a:rect r="r" b="b" t="t" l="l"/>
              <a:pathLst>
                <a:path h="187894" w="516126">
                  <a:moveTo>
                    <a:pt x="46700" y="0"/>
                  </a:moveTo>
                  <a:lnTo>
                    <a:pt x="469426" y="0"/>
                  </a:lnTo>
                  <a:cubicBezTo>
                    <a:pt x="481812" y="0"/>
                    <a:pt x="493690" y="4920"/>
                    <a:pt x="502448" y="13678"/>
                  </a:cubicBezTo>
                  <a:cubicBezTo>
                    <a:pt x="511206" y="22436"/>
                    <a:pt x="516126" y="34314"/>
                    <a:pt x="516126" y="46700"/>
                  </a:cubicBezTo>
                  <a:lnTo>
                    <a:pt x="516126" y="141194"/>
                  </a:lnTo>
                  <a:cubicBezTo>
                    <a:pt x="516126" y="153579"/>
                    <a:pt x="511206" y="165458"/>
                    <a:pt x="502448" y="174216"/>
                  </a:cubicBezTo>
                  <a:cubicBezTo>
                    <a:pt x="493690" y="182974"/>
                    <a:pt x="481812" y="187894"/>
                    <a:pt x="469426" y="187894"/>
                  </a:cubicBezTo>
                  <a:lnTo>
                    <a:pt x="46700" y="187894"/>
                  </a:lnTo>
                  <a:cubicBezTo>
                    <a:pt x="34314" y="187894"/>
                    <a:pt x="22436" y="182974"/>
                    <a:pt x="13678" y="174216"/>
                  </a:cubicBezTo>
                  <a:cubicBezTo>
                    <a:pt x="4920" y="165458"/>
                    <a:pt x="0" y="153579"/>
                    <a:pt x="0" y="141194"/>
                  </a:cubicBezTo>
                  <a:lnTo>
                    <a:pt x="0" y="46700"/>
                  </a:lnTo>
                  <a:cubicBezTo>
                    <a:pt x="0" y="34314"/>
                    <a:pt x="4920" y="22436"/>
                    <a:pt x="13678" y="13678"/>
                  </a:cubicBezTo>
                  <a:cubicBezTo>
                    <a:pt x="22436" y="4920"/>
                    <a:pt x="34314" y="0"/>
                    <a:pt x="467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D9D9D9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516126" cy="197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825752" y="3003808"/>
            <a:ext cx="1226012" cy="1141155"/>
            <a:chOff x="0" y="0"/>
            <a:chExt cx="545280" cy="50753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45280" cy="507539"/>
            </a:xfrm>
            <a:custGeom>
              <a:avLst/>
              <a:gdLst/>
              <a:ahLst/>
              <a:cxnLst/>
              <a:rect r="r" b="b" t="t" l="l"/>
              <a:pathLst>
                <a:path h="507539" w="545280">
                  <a:moveTo>
                    <a:pt x="37888" y="0"/>
                  </a:moveTo>
                  <a:lnTo>
                    <a:pt x="507392" y="0"/>
                  </a:lnTo>
                  <a:cubicBezTo>
                    <a:pt x="517440" y="0"/>
                    <a:pt x="527077" y="3992"/>
                    <a:pt x="534183" y="11097"/>
                  </a:cubicBezTo>
                  <a:cubicBezTo>
                    <a:pt x="541288" y="18203"/>
                    <a:pt x="545280" y="27840"/>
                    <a:pt x="545280" y="37888"/>
                  </a:cubicBezTo>
                  <a:lnTo>
                    <a:pt x="545280" y="469650"/>
                  </a:lnTo>
                  <a:cubicBezTo>
                    <a:pt x="545280" y="490576"/>
                    <a:pt x="528317" y="507539"/>
                    <a:pt x="507392" y="507539"/>
                  </a:cubicBezTo>
                  <a:lnTo>
                    <a:pt x="37888" y="507539"/>
                  </a:lnTo>
                  <a:cubicBezTo>
                    <a:pt x="27840" y="507539"/>
                    <a:pt x="18203" y="503547"/>
                    <a:pt x="11097" y="496442"/>
                  </a:cubicBezTo>
                  <a:cubicBezTo>
                    <a:pt x="3992" y="489336"/>
                    <a:pt x="0" y="479699"/>
                    <a:pt x="0" y="469650"/>
                  </a:cubicBezTo>
                  <a:lnTo>
                    <a:pt x="0" y="37888"/>
                  </a:lnTo>
                  <a:cubicBezTo>
                    <a:pt x="0" y="27840"/>
                    <a:pt x="3992" y="18203"/>
                    <a:pt x="11097" y="11097"/>
                  </a:cubicBezTo>
                  <a:cubicBezTo>
                    <a:pt x="18203" y="3992"/>
                    <a:pt x="27840" y="0"/>
                    <a:pt x="3788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1F35">
                    <a:alpha val="100000"/>
                  </a:srgbClr>
                </a:gs>
                <a:gs pos="100000">
                  <a:srgbClr val="0D3C82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545280" cy="5170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858527" y="3040566"/>
            <a:ext cx="1160462" cy="422462"/>
            <a:chOff x="0" y="0"/>
            <a:chExt cx="516126" cy="18789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16126" cy="187894"/>
            </a:xfrm>
            <a:custGeom>
              <a:avLst/>
              <a:gdLst/>
              <a:ahLst/>
              <a:cxnLst/>
              <a:rect r="r" b="b" t="t" l="l"/>
              <a:pathLst>
                <a:path h="187894" w="516126">
                  <a:moveTo>
                    <a:pt x="46700" y="0"/>
                  </a:moveTo>
                  <a:lnTo>
                    <a:pt x="469426" y="0"/>
                  </a:lnTo>
                  <a:cubicBezTo>
                    <a:pt x="481812" y="0"/>
                    <a:pt x="493690" y="4920"/>
                    <a:pt x="502448" y="13678"/>
                  </a:cubicBezTo>
                  <a:cubicBezTo>
                    <a:pt x="511206" y="22436"/>
                    <a:pt x="516126" y="34314"/>
                    <a:pt x="516126" y="46700"/>
                  </a:cubicBezTo>
                  <a:lnTo>
                    <a:pt x="516126" y="141194"/>
                  </a:lnTo>
                  <a:cubicBezTo>
                    <a:pt x="516126" y="153579"/>
                    <a:pt x="511206" y="165458"/>
                    <a:pt x="502448" y="174216"/>
                  </a:cubicBezTo>
                  <a:cubicBezTo>
                    <a:pt x="493690" y="182974"/>
                    <a:pt x="481812" y="187894"/>
                    <a:pt x="469426" y="187894"/>
                  </a:cubicBezTo>
                  <a:lnTo>
                    <a:pt x="46700" y="187894"/>
                  </a:lnTo>
                  <a:cubicBezTo>
                    <a:pt x="34314" y="187894"/>
                    <a:pt x="22436" y="182974"/>
                    <a:pt x="13678" y="174216"/>
                  </a:cubicBezTo>
                  <a:cubicBezTo>
                    <a:pt x="4920" y="165458"/>
                    <a:pt x="0" y="153579"/>
                    <a:pt x="0" y="141194"/>
                  </a:cubicBezTo>
                  <a:lnTo>
                    <a:pt x="0" y="46700"/>
                  </a:lnTo>
                  <a:cubicBezTo>
                    <a:pt x="0" y="34314"/>
                    <a:pt x="4920" y="22436"/>
                    <a:pt x="13678" y="13678"/>
                  </a:cubicBezTo>
                  <a:cubicBezTo>
                    <a:pt x="22436" y="4920"/>
                    <a:pt x="34314" y="0"/>
                    <a:pt x="467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D9D9D9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516126" cy="197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3139574" y="3003808"/>
            <a:ext cx="1226012" cy="1141155"/>
            <a:chOff x="0" y="0"/>
            <a:chExt cx="545280" cy="50753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45280" cy="507539"/>
            </a:xfrm>
            <a:custGeom>
              <a:avLst/>
              <a:gdLst/>
              <a:ahLst/>
              <a:cxnLst/>
              <a:rect r="r" b="b" t="t" l="l"/>
              <a:pathLst>
                <a:path h="507539" w="545280">
                  <a:moveTo>
                    <a:pt x="37888" y="0"/>
                  </a:moveTo>
                  <a:lnTo>
                    <a:pt x="507392" y="0"/>
                  </a:lnTo>
                  <a:cubicBezTo>
                    <a:pt x="517440" y="0"/>
                    <a:pt x="527077" y="3992"/>
                    <a:pt x="534183" y="11097"/>
                  </a:cubicBezTo>
                  <a:cubicBezTo>
                    <a:pt x="541288" y="18203"/>
                    <a:pt x="545280" y="27840"/>
                    <a:pt x="545280" y="37888"/>
                  </a:cubicBezTo>
                  <a:lnTo>
                    <a:pt x="545280" y="469650"/>
                  </a:lnTo>
                  <a:cubicBezTo>
                    <a:pt x="545280" y="490576"/>
                    <a:pt x="528317" y="507539"/>
                    <a:pt x="507392" y="507539"/>
                  </a:cubicBezTo>
                  <a:lnTo>
                    <a:pt x="37888" y="507539"/>
                  </a:lnTo>
                  <a:cubicBezTo>
                    <a:pt x="27840" y="507539"/>
                    <a:pt x="18203" y="503547"/>
                    <a:pt x="11097" y="496442"/>
                  </a:cubicBezTo>
                  <a:cubicBezTo>
                    <a:pt x="3992" y="489336"/>
                    <a:pt x="0" y="479699"/>
                    <a:pt x="0" y="469650"/>
                  </a:cubicBezTo>
                  <a:lnTo>
                    <a:pt x="0" y="37888"/>
                  </a:lnTo>
                  <a:cubicBezTo>
                    <a:pt x="0" y="27840"/>
                    <a:pt x="3992" y="18203"/>
                    <a:pt x="11097" y="11097"/>
                  </a:cubicBezTo>
                  <a:cubicBezTo>
                    <a:pt x="18203" y="3992"/>
                    <a:pt x="27840" y="0"/>
                    <a:pt x="3788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1F35">
                    <a:alpha val="100000"/>
                  </a:srgbClr>
                </a:gs>
                <a:gs pos="100000">
                  <a:srgbClr val="0D3C82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545280" cy="5170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3172349" y="3040566"/>
            <a:ext cx="1160462" cy="422462"/>
            <a:chOff x="0" y="0"/>
            <a:chExt cx="516126" cy="18789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16126" cy="187894"/>
            </a:xfrm>
            <a:custGeom>
              <a:avLst/>
              <a:gdLst/>
              <a:ahLst/>
              <a:cxnLst/>
              <a:rect r="r" b="b" t="t" l="l"/>
              <a:pathLst>
                <a:path h="187894" w="516126">
                  <a:moveTo>
                    <a:pt x="46700" y="0"/>
                  </a:moveTo>
                  <a:lnTo>
                    <a:pt x="469426" y="0"/>
                  </a:lnTo>
                  <a:cubicBezTo>
                    <a:pt x="481812" y="0"/>
                    <a:pt x="493690" y="4920"/>
                    <a:pt x="502448" y="13678"/>
                  </a:cubicBezTo>
                  <a:cubicBezTo>
                    <a:pt x="511206" y="22436"/>
                    <a:pt x="516126" y="34314"/>
                    <a:pt x="516126" y="46700"/>
                  </a:cubicBezTo>
                  <a:lnTo>
                    <a:pt x="516126" y="141194"/>
                  </a:lnTo>
                  <a:cubicBezTo>
                    <a:pt x="516126" y="153579"/>
                    <a:pt x="511206" y="165458"/>
                    <a:pt x="502448" y="174216"/>
                  </a:cubicBezTo>
                  <a:cubicBezTo>
                    <a:pt x="493690" y="182974"/>
                    <a:pt x="481812" y="187894"/>
                    <a:pt x="469426" y="187894"/>
                  </a:cubicBezTo>
                  <a:lnTo>
                    <a:pt x="46700" y="187894"/>
                  </a:lnTo>
                  <a:cubicBezTo>
                    <a:pt x="34314" y="187894"/>
                    <a:pt x="22436" y="182974"/>
                    <a:pt x="13678" y="174216"/>
                  </a:cubicBezTo>
                  <a:cubicBezTo>
                    <a:pt x="4920" y="165458"/>
                    <a:pt x="0" y="153579"/>
                    <a:pt x="0" y="141194"/>
                  </a:cubicBezTo>
                  <a:lnTo>
                    <a:pt x="0" y="46700"/>
                  </a:lnTo>
                  <a:cubicBezTo>
                    <a:pt x="0" y="34314"/>
                    <a:pt x="4920" y="22436"/>
                    <a:pt x="13678" y="13678"/>
                  </a:cubicBezTo>
                  <a:cubicBezTo>
                    <a:pt x="22436" y="4920"/>
                    <a:pt x="34314" y="0"/>
                    <a:pt x="467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D9D9D9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516126" cy="197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4453397" y="3003808"/>
            <a:ext cx="1226012" cy="1141155"/>
            <a:chOff x="0" y="0"/>
            <a:chExt cx="545280" cy="50753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45280" cy="507539"/>
            </a:xfrm>
            <a:custGeom>
              <a:avLst/>
              <a:gdLst/>
              <a:ahLst/>
              <a:cxnLst/>
              <a:rect r="r" b="b" t="t" l="l"/>
              <a:pathLst>
                <a:path h="507539" w="545280">
                  <a:moveTo>
                    <a:pt x="37888" y="0"/>
                  </a:moveTo>
                  <a:lnTo>
                    <a:pt x="507392" y="0"/>
                  </a:lnTo>
                  <a:cubicBezTo>
                    <a:pt x="517440" y="0"/>
                    <a:pt x="527077" y="3992"/>
                    <a:pt x="534183" y="11097"/>
                  </a:cubicBezTo>
                  <a:cubicBezTo>
                    <a:pt x="541288" y="18203"/>
                    <a:pt x="545280" y="27840"/>
                    <a:pt x="545280" y="37888"/>
                  </a:cubicBezTo>
                  <a:lnTo>
                    <a:pt x="545280" y="469650"/>
                  </a:lnTo>
                  <a:cubicBezTo>
                    <a:pt x="545280" y="490576"/>
                    <a:pt x="528317" y="507539"/>
                    <a:pt x="507392" y="507539"/>
                  </a:cubicBezTo>
                  <a:lnTo>
                    <a:pt x="37888" y="507539"/>
                  </a:lnTo>
                  <a:cubicBezTo>
                    <a:pt x="27840" y="507539"/>
                    <a:pt x="18203" y="503547"/>
                    <a:pt x="11097" y="496442"/>
                  </a:cubicBezTo>
                  <a:cubicBezTo>
                    <a:pt x="3992" y="489336"/>
                    <a:pt x="0" y="479699"/>
                    <a:pt x="0" y="469650"/>
                  </a:cubicBezTo>
                  <a:lnTo>
                    <a:pt x="0" y="37888"/>
                  </a:lnTo>
                  <a:cubicBezTo>
                    <a:pt x="0" y="27840"/>
                    <a:pt x="3992" y="18203"/>
                    <a:pt x="11097" y="11097"/>
                  </a:cubicBezTo>
                  <a:cubicBezTo>
                    <a:pt x="18203" y="3992"/>
                    <a:pt x="27840" y="0"/>
                    <a:pt x="3788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1F35">
                    <a:alpha val="100000"/>
                  </a:srgbClr>
                </a:gs>
                <a:gs pos="100000">
                  <a:srgbClr val="0D3C82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545280" cy="5170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4486172" y="3040566"/>
            <a:ext cx="1160462" cy="422462"/>
            <a:chOff x="0" y="0"/>
            <a:chExt cx="516126" cy="18789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16126" cy="187894"/>
            </a:xfrm>
            <a:custGeom>
              <a:avLst/>
              <a:gdLst/>
              <a:ahLst/>
              <a:cxnLst/>
              <a:rect r="r" b="b" t="t" l="l"/>
              <a:pathLst>
                <a:path h="187894" w="516126">
                  <a:moveTo>
                    <a:pt x="46700" y="0"/>
                  </a:moveTo>
                  <a:lnTo>
                    <a:pt x="469426" y="0"/>
                  </a:lnTo>
                  <a:cubicBezTo>
                    <a:pt x="481812" y="0"/>
                    <a:pt x="493690" y="4920"/>
                    <a:pt x="502448" y="13678"/>
                  </a:cubicBezTo>
                  <a:cubicBezTo>
                    <a:pt x="511206" y="22436"/>
                    <a:pt x="516126" y="34314"/>
                    <a:pt x="516126" y="46700"/>
                  </a:cubicBezTo>
                  <a:lnTo>
                    <a:pt x="516126" y="141194"/>
                  </a:lnTo>
                  <a:cubicBezTo>
                    <a:pt x="516126" y="153579"/>
                    <a:pt x="511206" y="165458"/>
                    <a:pt x="502448" y="174216"/>
                  </a:cubicBezTo>
                  <a:cubicBezTo>
                    <a:pt x="493690" y="182974"/>
                    <a:pt x="481812" y="187894"/>
                    <a:pt x="469426" y="187894"/>
                  </a:cubicBezTo>
                  <a:lnTo>
                    <a:pt x="46700" y="187894"/>
                  </a:lnTo>
                  <a:cubicBezTo>
                    <a:pt x="34314" y="187894"/>
                    <a:pt x="22436" y="182974"/>
                    <a:pt x="13678" y="174216"/>
                  </a:cubicBezTo>
                  <a:cubicBezTo>
                    <a:pt x="4920" y="165458"/>
                    <a:pt x="0" y="153579"/>
                    <a:pt x="0" y="141194"/>
                  </a:cubicBezTo>
                  <a:lnTo>
                    <a:pt x="0" y="46700"/>
                  </a:lnTo>
                  <a:cubicBezTo>
                    <a:pt x="0" y="34314"/>
                    <a:pt x="4920" y="22436"/>
                    <a:pt x="13678" y="13678"/>
                  </a:cubicBezTo>
                  <a:cubicBezTo>
                    <a:pt x="22436" y="4920"/>
                    <a:pt x="34314" y="0"/>
                    <a:pt x="467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D9D9D9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516126" cy="197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5767219" y="3003808"/>
            <a:ext cx="1226012" cy="1141155"/>
            <a:chOff x="0" y="0"/>
            <a:chExt cx="545280" cy="507539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45280" cy="507539"/>
            </a:xfrm>
            <a:custGeom>
              <a:avLst/>
              <a:gdLst/>
              <a:ahLst/>
              <a:cxnLst/>
              <a:rect r="r" b="b" t="t" l="l"/>
              <a:pathLst>
                <a:path h="507539" w="545280">
                  <a:moveTo>
                    <a:pt x="37888" y="0"/>
                  </a:moveTo>
                  <a:lnTo>
                    <a:pt x="507392" y="0"/>
                  </a:lnTo>
                  <a:cubicBezTo>
                    <a:pt x="517440" y="0"/>
                    <a:pt x="527077" y="3992"/>
                    <a:pt x="534183" y="11097"/>
                  </a:cubicBezTo>
                  <a:cubicBezTo>
                    <a:pt x="541288" y="18203"/>
                    <a:pt x="545280" y="27840"/>
                    <a:pt x="545280" y="37888"/>
                  </a:cubicBezTo>
                  <a:lnTo>
                    <a:pt x="545280" y="469650"/>
                  </a:lnTo>
                  <a:cubicBezTo>
                    <a:pt x="545280" y="490576"/>
                    <a:pt x="528317" y="507539"/>
                    <a:pt x="507392" y="507539"/>
                  </a:cubicBezTo>
                  <a:lnTo>
                    <a:pt x="37888" y="507539"/>
                  </a:lnTo>
                  <a:cubicBezTo>
                    <a:pt x="27840" y="507539"/>
                    <a:pt x="18203" y="503547"/>
                    <a:pt x="11097" y="496442"/>
                  </a:cubicBezTo>
                  <a:cubicBezTo>
                    <a:pt x="3992" y="489336"/>
                    <a:pt x="0" y="479699"/>
                    <a:pt x="0" y="469650"/>
                  </a:cubicBezTo>
                  <a:lnTo>
                    <a:pt x="0" y="37888"/>
                  </a:lnTo>
                  <a:cubicBezTo>
                    <a:pt x="0" y="27840"/>
                    <a:pt x="3992" y="18203"/>
                    <a:pt x="11097" y="11097"/>
                  </a:cubicBezTo>
                  <a:cubicBezTo>
                    <a:pt x="18203" y="3992"/>
                    <a:pt x="27840" y="0"/>
                    <a:pt x="3788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1F35">
                    <a:alpha val="100000"/>
                  </a:srgbClr>
                </a:gs>
                <a:gs pos="100000">
                  <a:srgbClr val="0D3C82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9525"/>
              <a:ext cx="545280" cy="5170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5799994" y="3040566"/>
            <a:ext cx="1160462" cy="422462"/>
            <a:chOff x="0" y="0"/>
            <a:chExt cx="516126" cy="18789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16126" cy="187894"/>
            </a:xfrm>
            <a:custGeom>
              <a:avLst/>
              <a:gdLst/>
              <a:ahLst/>
              <a:cxnLst/>
              <a:rect r="r" b="b" t="t" l="l"/>
              <a:pathLst>
                <a:path h="187894" w="516126">
                  <a:moveTo>
                    <a:pt x="46700" y="0"/>
                  </a:moveTo>
                  <a:lnTo>
                    <a:pt x="469426" y="0"/>
                  </a:lnTo>
                  <a:cubicBezTo>
                    <a:pt x="481812" y="0"/>
                    <a:pt x="493690" y="4920"/>
                    <a:pt x="502448" y="13678"/>
                  </a:cubicBezTo>
                  <a:cubicBezTo>
                    <a:pt x="511206" y="22436"/>
                    <a:pt x="516126" y="34314"/>
                    <a:pt x="516126" y="46700"/>
                  </a:cubicBezTo>
                  <a:lnTo>
                    <a:pt x="516126" y="141194"/>
                  </a:lnTo>
                  <a:cubicBezTo>
                    <a:pt x="516126" y="153579"/>
                    <a:pt x="511206" y="165458"/>
                    <a:pt x="502448" y="174216"/>
                  </a:cubicBezTo>
                  <a:cubicBezTo>
                    <a:pt x="493690" y="182974"/>
                    <a:pt x="481812" y="187894"/>
                    <a:pt x="469426" y="187894"/>
                  </a:cubicBezTo>
                  <a:lnTo>
                    <a:pt x="46700" y="187894"/>
                  </a:lnTo>
                  <a:cubicBezTo>
                    <a:pt x="34314" y="187894"/>
                    <a:pt x="22436" y="182974"/>
                    <a:pt x="13678" y="174216"/>
                  </a:cubicBezTo>
                  <a:cubicBezTo>
                    <a:pt x="4920" y="165458"/>
                    <a:pt x="0" y="153579"/>
                    <a:pt x="0" y="141194"/>
                  </a:cubicBezTo>
                  <a:lnTo>
                    <a:pt x="0" y="46700"/>
                  </a:lnTo>
                  <a:cubicBezTo>
                    <a:pt x="0" y="34314"/>
                    <a:pt x="4920" y="22436"/>
                    <a:pt x="13678" y="13678"/>
                  </a:cubicBezTo>
                  <a:cubicBezTo>
                    <a:pt x="22436" y="4920"/>
                    <a:pt x="34314" y="0"/>
                    <a:pt x="467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D9D9D9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516126" cy="197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511929" y="6024124"/>
            <a:ext cx="1529947" cy="1528428"/>
            <a:chOff x="0" y="0"/>
            <a:chExt cx="680458" cy="67978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80458" cy="679782"/>
            </a:xfrm>
            <a:custGeom>
              <a:avLst/>
              <a:gdLst/>
              <a:ahLst/>
              <a:cxnLst/>
              <a:rect r="r" b="b" t="t" l="l"/>
              <a:pathLst>
                <a:path h="679782" w="680458">
                  <a:moveTo>
                    <a:pt x="30362" y="0"/>
                  </a:moveTo>
                  <a:lnTo>
                    <a:pt x="650096" y="0"/>
                  </a:lnTo>
                  <a:cubicBezTo>
                    <a:pt x="658149" y="0"/>
                    <a:pt x="665871" y="3199"/>
                    <a:pt x="671565" y="8893"/>
                  </a:cubicBezTo>
                  <a:cubicBezTo>
                    <a:pt x="677259" y="14587"/>
                    <a:pt x="680458" y="22309"/>
                    <a:pt x="680458" y="30362"/>
                  </a:cubicBezTo>
                  <a:lnTo>
                    <a:pt x="680458" y="649421"/>
                  </a:lnTo>
                  <a:cubicBezTo>
                    <a:pt x="680458" y="666189"/>
                    <a:pt x="666865" y="679782"/>
                    <a:pt x="650096" y="679782"/>
                  </a:cubicBezTo>
                  <a:lnTo>
                    <a:pt x="30362" y="679782"/>
                  </a:lnTo>
                  <a:cubicBezTo>
                    <a:pt x="22309" y="679782"/>
                    <a:pt x="14587" y="676583"/>
                    <a:pt x="8893" y="670890"/>
                  </a:cubicBezTo>
                  <a:cubicBezTo>
                    <a:pt x="3199" y="665196"/>
                    <a:pt x="0" y="657473"/>
                    <a:pt x="0" y="649421"/>
                  </a:cubicBezTo>
                  <a:lnTo>
                    <a:pt x="0" y="30362"/>
                  </a:lnTo>
                  <a:cubicBezTo>
                    <a:pt x="0" y="13593"/>
                    <a:pt x="13593" y="0"/>
                    <a:pt x="3036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1F35">
                    <a:alpha val="100000"/>
                  </a:srgbClr>
                </a:gs>
                <a:gs pos="100000">
                  <a:srgbClr val="0D3C82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680458" cy="6893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552829" y="6060882"/>
            <a:ext cx="1448148" cy="422462"/>
            <a:chOff x="0" y="0"/>
            <a:chExt cx="644077" cy="187894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644077" cy="187894"/>
            </a:xfrm>
            <a:custGeom>
              <a:avLst/>
              <a:gdLst/>
              <a:ahLst/>
              <a:cxnLst/>
              <a:rect r="r" b="b" t="t" l="l"/>
              <a:pathLst>
                <a:path h="187894" w="644077">
                  <a:moveTo>
                    <a:pt x="37423" y="0"/>
                  </a:moveTo>
                  <a:lnTo>
                    <a:pt x="606654" y="0"/>
                  </a:lnTo>
                  <a:cubicBezTo>
                    <a:pt x="627322" y="0"/>
                    <a:pt x="644077" y="16755"/>
                    <a:pt x="644077" y="37423"/>
                  </a:cubicBezTo>
                  <a:lnTo>
                    <a:pt x="644077" y="150471"/>
                  </a:lnTo>
                  <a:cubicBezTo>
                    <a:pt x="644077" y="160396"/>
                    <a:pt x="640134" y="169915"/>
                    <a:pt x="633116" y="176933"/>
                  </a:cubicBezTo>
                  <a:cubicBezTo>
                    <a:pt x="626098" y="183951"/>
                    <a:pt x="616579" y="187894"/>
                    <a:pt x="606654" y="187894"/>
                  </a:cubicBezTo>
                  <a:lnTo>
                    <a:pt x="37423" y="187894"/>
                  </a:lnTo>
                  <a:cubicBezTo>
                    <a:pt x="16755" y="187894"/>
                    <a:pt x="0" y="171139"/>
                    <a:pt x="0" y="150471"/>
                  </a:cubicBezTo>
                  <a:lnTo>
                    <a:pt x="0" y="37423"/>
                  </a:lnTo>
                  <a:cubicBezTo>
                    <a:pt x="0" y="27498"/>
                    <a:pt x="3943" y="17979"/>
                    <a:pt x="10961" y="10961"/>
                  </a:cubicBezTo>
                  <a:cubicBezTo>
                    <a:pt x="17979" y="3943"/>
                    <a:pt x="27498" y="0"/>
                    <a:pt x="3742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D9D9D9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57" id="57"/>
            <p:cNvSpPr txBox="true"/>
            <p:nvPr/>
          </p:nvSpPr>
          <p:spPr>
            <a:xfrm>
              <a:off x="0" y="-9525"/>
              <a:ext cx="644077" cy="197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2151456" y="6024124"/>
            <a:ext cx="1529947" cy="1528428"/>
            <a:chOff x="0" y="0"/>
            <a:chExt cx="680458" cy="679782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80458" cy="679782"/>
            </a:xfrm>
            <a:custGeom>
              <a:avLst/>
              <a:gdLst/>
              <a:ahLst/>
              <a:cxnLst/>
              <a:rect r="r" b="b" t="t" l="l"/>
              <a:pathLst>
                <a:path h="679782" w="680458">
                  <a:moveTo>
                    <a:pt x="30362" y="0"/>
                  </a:moveTo>
                  <a:lnTo>
                    <a:pt x="650096" y="0"/>
                  </a:lnTo>
                  <a:cubicBezTo>
                    <a:pt x="658149" y="0"/>
                    <a:pt x="665871" y="3199"/>
                    <a:pt x="671565" y="8893"/>
                  </a:cubicBezTo>
                  <a:cubicBezTo>
                    <a:pt x="677259" y="14587"/>
                    <a:pt x="680458" y="22309"/>
                    <a:pt x="680458" y="30362"/>
                  </a:cubicBezTo>
                  <a:lnTo>
                    <a:pt x="680458" y="649421"/>
                  </a:lnTo>
                  <a:cubicBezTo>
                    <a:pt x="680458" y="666189"/>
                    <a:pt x="666865" y="679782"/>
                    <a:pt x="650096" y="679782"/>
                  </a:cubicBezTo>
                  <a:lnTo>
                    <a:pt x="30362" y="679782"/>
                  </a:lnTo>
                  <a:cubicBezTo>
                    <a:pt x="22309" y="679782"/>
                    <a:pt x="14587" y="676583"/>
                    <a:pt x="8893" y="670890"/>
                  </a:cubicBezTo>
                  <a:cubicBezTo>
                    <a:pt x="3199" y="665196"/>
                    <a:pt x="0" y="657473"/>
                    <a:pt x="0" y="649421"/>
                  </a:cubicBezTo>
                  <a:lnTo>
                    <a:pt x="0" y="30362"/>
                  </a:lnTo>
                  <a:cubicBezTo>
                    <a:pt x="0" y="13593"/>
                    <a:pt x="13593" y="0"/>
                    <a:pt x="3036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1F35">
                    <a:alpha val="100000"/>
                  </a:srgbClr>
                </a:gs>
                <a:gs pos="100000">
                  <a:srgbClr val="0D3C82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9525"/>
              <a:ext cx="680458" cy="6893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2192356" y="6060882"/>
            <a:ext cx="1448148" cy="422462"/>
            <a:chOff x="0" y="0"/>
            <a:chExt cx="644077" cy="187894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44077" cy="187894"/>
            </a:xfrm>
            <a:custGeom>
              <a:avLst/>
              <a:gdLst/>
              <a:ahLst/>
              <a:cxnLst/>
              <a:rect r="r" b="b" t="t" l="l"/>
              <a:pathLst>
                <a:path h="187894" w="644077">
                  <a:moveTo>
                    <a:pt x="37423" y="0"/>
                  </a:moveTo>
                  <a:lnTo>
                    <a:pt x="606654" y="0"/>
                  </a:lnTo>
                  <a:cubicBezTo>
                    <a:pt x="627322" y="0"/>
                    <a:pt x="644077" y="16755"/>
                    <a:pt x="644077" y="37423"/>
                  </a:cubicBezTo>
                  <a:lnTo>
                    <a:pt x="644077" y="150471"/>
                  </a:lnTo>
                  <a:cubicBezTo>
                    <a:pt x="644077" y="160396"/>
                    <a:pt x="640134" y="169915"/>
                    <a:pt x="633116" y="176933"/>
                  </a:cubicBezTo>
                  <a:cubicBezTo>
                    <a:pt x="626098" y="183951"/>
                    <a:pt x="616579" y="187894"/>
                    <a:pt x="606654" y="187894"/>
                  </a:cubicBezTo>
                  <a:lnTo>
                    <a:pt x="37423" y="187894"/>
                  </a:lnTo>
                  <a:cubicBezTo>
                    <a:pt x="16755" y="187894"/>
                    <a:pt x="0" y="171139"/>
                    <a:pt x="0" y="150471"/>
                  </a:cubicBezTo>
                  <a:lnTo>
                    <a:pt x="0" y="37423"/>
                  </a:lnTo>
                  <a:cubicBezTo>
                    <a:pt x="0" y="27498"/>
                    <a:pt x="3943" y="17979"/>
                    <a:pt x="10961" y="10961"/>
                  </a:cubicBezTo>
                  <a:cubicBezTo>
                    <a:pt x="17979" y="3943"/>
                    <a:pt x="27498" y="0"/>
                    <a:pt x="3742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D9D9D9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63" id="63"/>
            <p:cNvSpPr txBox="true"/>
            <p:nvPr/>
          </p:nvSpPr>
          <p:spPr>
            <a:xfrm>
              <a:off x="0" y="-9525"/>
              <a:ext cx="644077" cy="197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3790982" y="6024124"/>
            <a:ext cx="1529947" cy="1528428"/>
            <a:chOff x="0" y="0"/>
            <a:chExt cx="680458" cy="67978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80458" cy="679782"/>
            </a:xfrm>
            <a:custGeom>
              <a:avLst/>
              <a:gdLst/>
              <a:ahLst/>
              <a:cxnLst/>
              <a:rect r="r" b="b" t="t" l="l"/>
              <a:pathLst>
                <a:path h="679782" w="680458">
                  <a:moveTo>
                    <a:pt x="30362" y="0"/>
                  </a:moveTo>
                  <a:lnTo>
                    <a:pt x="650096" y="0"/>
                  </a:lnTo>
                  <a:cubicBezTo>
                    <a:pt x="658149" y="0"/>
                    <a:pt x="665871" y="3199"/>
                    <a:pt x="671565" y="8893"/>
                  </a:cubicBezTo>
                  <a:cubicBezTo>
                    <a:pt x="677259" y="14587"/>
                    <a:pt x="680458" y="22309"/>
                    <a:pt x="680458" y="30362"/>
                  </a:cubicBezTo>
                  <a:lnTo>
                    <a:pt x="680458" y="649421"/>
                  </a:lnTo>
                  <a:cubicBezTo>
                    <a:pt x="680458" y="666189"/>
                    <a:pt x="666865" y="679782"/>
                    <a:pt x="650096" y="679782"/>
                  </a:cubicBezTo>
                  <a:lnTo>
                    <a:pt x="30362" y="679782"/>
                  </a:lnTo>
                  <a:cubicBezTo>
                    <a:pt x="22309" y="679782"/>
                    <a:pt x="14587" y="676583"/>
                    <a:pt x="8893" y="670890"/>
                  </a:cubicBezTo>
                  <a:cubicBezTo>
                    <a:pt x="3199" y="665196"/>
                    <a:pt x="0" y="657473"/>
                    <a:pt x="0" y="649421"/>
                  </a:cubicBezTo>
                  <a:lnTo>
                    <a:pt x="0" y="30362"/>
                  </a:lnTo>
                  <a:cubicBezTo>
                    <a:pt x="0" y="13593"/>
                    <a:pt x="13593" y="0"/>
                    <a:pt x="3036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1F35">
                    <a:alpha val="100000"/>
                  </a:srgbClr>
                </a:gs>
                <a:gs pos="100000">
                  <a:srgbClr val="0D3C82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9525"/>
              <a:ext cx="680458" cy="6893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3831882" y="6060882"/>
            <a:ext cx="1448148" cy="422462"/>
            <a:chOff x="0" y="0"/>
            <a:chExt cx="644077" cy="187894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644077" cy="187894"/>
            </a:xfrm>
            <a:custGeom>
              <a:avLst/>
              <a:gdLst/>
              <a:ahLst/>
              <a:cxnLst/>
              <a:rect r="r" b="b" t="t" l="l"/>
              <a:pathLst>
                <a:path h="187894" w="644077">
                  <a:moveTo>
                    <a:pt x="37423" y="0"/>
                  </a:moveTo>
                  <a:lnTo>
                    <a:pt x="606654" y="0"/>
                  </a:lnTo>
                  <a:cubicBezTo>
                    <a:pt x="627322" y="0"/>
                    <a:pt x="644077" y="16755"/>
                    <a:pt x="644077" y="37423"/>
                  </a:cubicBezTo>
                  <a:lnTo>
                    <a:pt x="644077" y="150471"/>
                  </a:lnTo>
                  <a:cubicBezTo>
                    <a:pt x="644077" y="160396"/>
                    <a:pt x="640134" y="169915"/>
                    <a:pt x="633116" y="176933"/>
                  </a:cubicBezTo>
                  <a:cubicBezTo>
                    <a:pt x="626098" y="183951"/>
                    <a:pt x="616579" y="187894"/>
                    <a:pt x="606654" y="187894"/>
                  </a:cubicBezTo>
                  <a:lnTo>
                    <a:pt x="37423" y="187894"/>
                  </a:lnTo>
                  <a:cubicBezTo>
                    <a:pt x="16755" y="187894"/>
                    <a:pt x="0" y="171139"/>
                    <a:pt x="0" y="150471"/>
                  </a:cubicBezTo>
                  <a:lnTo>
                    <a:pt x="0" y="37423"/>
                  </a:lnTo>
                  <a:cubicBezTo>
                    <a:pt x="0" y="27498"/>
                    <a:pt x="3943" y="17979"/>
                    <a:pt x="10961" y="10961"/>
                  </a:cubicBezTo>
                  <a:cubicBezTo>
                    <a:pt x="17979" y="3943"/>
                    <a:pt x="27498" y="0"/>
                    <a:pt x="3742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D9D9D9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69" id="69"/>
            <p:cNvSpPr txBox="true"/>
            <p:nvPr/>
          </p:nvSpPr>
          <p:spPr>
            <a:xfrm>
              <a:off x="0" y="-9525"/>
              <a:ext cx="644077" cy="197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5430509" y="6024124"/>
            <a:ext cx="1529947" cy="1528428"/>
            <a:chOff x="0" y="0"/>
            <a:chExt cx="680458" cy="679782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680458" cy="679782"/>
            </a:xfrm>
            <a:custGeom>
              <a:avLst/>
              <a:gdLst/>
              <a:ahLst/>
              <a:cxnLst/>
              <a:rect r="r" b="b" t="t" l="l"/>
              <a:pathLst>
                <a:path h="679782" w="680458">
                  <a:moveTo>
                    <a:pt x="30362" y="0"/>
                  </a:moveTo>
                  <a:lnTo>
                    <a:pt x="650096" y="0"/>
                  </a:lnTo>
                  <a:cubicBezTo>
                    <a:pt x="658149" y="0"/>
                    <a:pt x="665871" y="3199"/>
                    <a:pt x="671565" y="8893"/>
                  </a:cubicBezTo>
                  <a:cubicBezTo>
                    <a:pt x="677259" y="14587"/>
                    <a:pt x="680458" y="22309"/>
                    <a:pt x="680458" y="30362"/>
                  </a:cubicBezTo>
                  <a:lnTo>
                    <a:pt x="680458" y="649421"/>
                  </a:lnTo>
                  <a:cubicBezTo>
                    <a:pt x="680458" y="666189"/>
                    <a:pt x="666865" y="679782"/>
                    <a:pt x="650096" y="679782"/>
                  </a:cubicBezTo>
                  <a:lnTo>
                    <a:pt x="30362" y="679782"/>
                  </a:lnTo>
                  <a:cubicBezTo>
                    <a:pt x="22309" y="679782"/>
                    <a:pt x="14587" y="676583"/>
                    <a:pt x="8893" y="670890"/>
                  </a:cubicBezTo>
                  <a:cubicBezTo>
                    <a:pt x="3199" y="665196"/>
                    <a:pt x="0" y="657473"/>
                    <a:pt x="0" y="649421"/>
                  </a:cubicBezTo>
                  <a:lnTo>
                    <a:pt x="0" y="30362"/>
                  </a:lnTo>
                  <a:cubicBezTo>
                    <a:pt x="0" y="13593"/>
                    <a:pt x="13593" y="0"/>
                    <a:pt x="3036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1F35">
                    <a:alpha val="100000"/>
                  </a:srgbClr>
                </a:gs>
                <a:gs pos="100000">
                  <a:srgbClr val="0D3C82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9525"/>
              <a:ext cx="680458" cy="6893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5471409" y="6060882"/>
            <a:ext cx="1448148" cy="422462"/>
            <a:chOff x="0" y="0"/>
            <a:chExt cx="644077" cy="187894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44077" cy="187894"/>
            </a:xfrm>
            <a:custGeom>
              <a:avLst/>
              <a:gdLst/>
              <a:ahLst/>
              <a:cxnLst/>
              <a:rect r="r" b="b" t="t" l="l"/>
              <a:pathLst>
                <a:path h="187894" w="644077">
                  <a:moveTo>
                    <a:pt x="37423" y="0"/>
                  </a:moveTo>
                  <a:lnTo>
                    <a:pt x="606654" y="0"/>
                  </a:lnTo>
                  <a:cubicBezTo>
                    <a:pt x="627322" y="0"/>
                    <a:pt x="644077" y="16755"/>
                    <a:pt x="644077" y="37423"/>
                  </a:cubicBezTo>
                  <a:lnTo>
                    <a:pt x="644077" y="150471"/>
                  </a:lnTo>
                  <a:cubicBezTo>
                    <a:pt x="644077" y="160396"/>
                    <a:pt x="640134" y="169915"/>
                    <a:pt x="633116" y="176933"/>
                  </a:cubicBezTo>
                  <a:cubicBezTo>
                    <a:pt x="626098" y="183951"/>
                    <a:pt x="616579" y="187894"/>
                    <a:pt x="606654" y="187894"/>
                  </a:cubicBezTo>
                  <a:lnTo>
                    <a:pt x="37423" y="187894"/>
                  </a:lnTo>
                  <a:cubicBezTo>
                    <a:pt x="16755" y="187894"/>
                    <a:pt x="0" y="171139"/>
                    <a:pt x="0" y="150471"/>
                  </a:cubicBezTo>
                  <a:lnTo>
                    <a:pt x="0" y="37423"/>
                  </a:lnTo>
                  <a:cubicBezTo>
                    <a:pt x="0" y="27498"/>
                    <a:pt x="3943" y="17979"/>
                    <a:pt x="10961" y="10961"/>
                  </a:cubicBezTo>
                  <a:cubicBezTo>
                    <a:pt x="17979" y="3943"/>
                    <a:pt x="27498" y="0"/>
                    <a:pt x="3742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D9D9D9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75" id="75"/>
            <p:cNvSpPr txBox="true"/>
            <p:nvPr/>
          </p:nvSpPr>
          <p:spPr>
            <a:xfrm>
              <a:off x="0" y="-9525"/>
              <a:ext cx="644077" cy="197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sp>
        <p:nvSpPr>
          <p:cNvPr name="TextBox 76" id="76"/>
          <p:cNvSpPr txBox="true"/>
          <p:nvPr/>
        </p:nvSpPr>
        <p:spPr>
          <a:xfrm rot="0">
            <a:off x="499779" y="7883827"/>
            <a:ext cx="604800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850"/>
              </a:lnSpc>
              <a:spcBef>
                <a:spcPct val="0"/>
              </a:spcBef>
            </a:pPr>
            <a:r>
              <a:rPr lang="en-US" b="true" sz="3000">
                <a:gradFill>
                  <a:gsLst>
                    <a:gs pos="0">
                      <a:srgbClr val="00352F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2700000"/>
                </a:gradFill>
                <a:latin typeface="DM Sans Bold"/>
                <a:ea typeface="DM Sans Bold"/>
                <a:cs typeface="DM Sans Bold"/>
                <a:sym typeface="DM Sans Bold"/>
              </a:rPr>
              <a:t>Participant Benefit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3865355" y="6515581"/>
            <a:ext cx="1406747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  <a:spcBef>
                <a:spcPct val="0"/>
              </a:spcBef>
            </a:pPr>
            <a:r>
              <a:rPr lang="en-US" b="true" sz="999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D9D9D9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Apply learning through assignments and equity research reports.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5525385" y="6502881"/>
            <a:ext cx="1340195" cy="1012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  <a:spcBef>
                <a:spcPct val="0"/>
              </a:spcBef>
            </a:pPr>
            <a:r>
              <a:rPr lang="en-US" b="true" sz="999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D9D9D9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The top 10 finalists present their research and investment recommendations to judges via Discord.</a:t>
            </a:r>
          </a:p>
        </p:txBody>
      </p:sp>
      <p:sp>
        <p:nvSpPr>
          <p:cNvPr name="Freeform 79" id="79"/>
          <p:cNvSpPr/>
          <p:nvPr/>
        </p:nvSpPr>
        <p:spPr>
          <a:xfrm flipH="false" flipV="false" rot="0">
            <a:off x="412557" y="8471313"/>
            <a:ext cx="321124" cy="284202"/>
          </a:xfrm>
          <a:custGeom>
            <a:avLst/>
            <a:gdLst/>
            <a:ahLst/>
            <a:cxnLst/>
            <a:rect r="r" b="b" t="t" l="l"/>
            <a:pathLst>
              <a:path h="284202" w="321124">
                <a:moveTo>
                  <a:pt x="0" y="0"/>
                </a:moveTo>
                <a:lnTo>
                  <a:pt x="321124" y="0"/>
                </a:lnTo>
                <a:lnTo>
                  <a:pt x="321124" y="284202"/>
                </a:lnTo>
                <a:lnTo>
                  <a:pt x="0" y="2842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8367" t="-144434" r="-415776" b="-139546"/>
            </a:stretch>
          </a:blipFill>
        </p:spPr>
      </p:sp>
      <p:grpSp>
        <p:nvGrpSpPr>
          <p:cNvPr name="Group 80" id="80"/>
          <p:cNvGrpSpPr/>
          <p:nvPr/>
        </p:nvGrpSpPr>
        <p:grpSpPr>
          <a:xfrm rot="0">
            <a:off x="1531584" y="8373954"/>
            <a:ext cx="1052794" cy="1370218"/>
            <a:chOff x="0" y="0"/>
            <a:chExt cx="532583" cy="69316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32583" cy="693160"/>
            </a:xfrm>
            <a:custGeom>
              <a:avLst/>
              <a:gdLst/>
              <a:ahLst/>
              <a:cxnLst/>
              <a:rect r="r" b="b" t="t" l="l"/>
              <a:pathLst>
                <a:path h="693160" w="532583">
                  <a:moveTo>
                    <a:pt x="44122" y="0"/>
                  </a:moveTo>
                  <a:lnTo>
                    <a:pt x="488460" y="0"/>
                  </a:lnTo>
                  <a:cubicBezTo>
                    <a:pt x="512828" y="0"/>
                    <a:pt x="532583" y="19754"/>
                    <a:pt x="532583" y="44122"/>
                  </a:cubicBezTo>
                  <a:lnTo>
                    <a:pt x="532583" y="649038"/>
                  </a:lnTo>
                  <a:cubicBezTo>
                    <a:pt x="532583" y="660739"/>
                    <a:pt x="527934" y="671962"/>
                    <a:pt x="519660" y="680237"/>
                  </a:cubicBezTo>
                  <a:cubicBezTo>
                    <a:pt x="511385" y="688511"/>
                    <a:pt x="500162" y="693160"/>
                    <a:pt x="488460" y="693160"/>
                  </a:cubicBezTo>
                  <a:lnTo>
                    <a:pt x="44122" y="693160"/>
                  </a:lnTo>
                  <a:cubicBezTo>
                    <a:pt x="19754" y="693160"/>
                    <a:pt x="0" y="673406"/>
                    <a:pt x="0" y="649038"/>
                  </a:cubicBezTo>
                  <a:lnTo>
                    <a:pt x="0" y="44122"/>
                  </a:lnTo>
                  <a:cubicBezTo>
                    <a:pt x="0" y="19754"/>
                    <a:pt x="19754" y="0"/>
                    <a:pt x="44122" y="0"/>
                  </a:cubicBezTo>
                  <a:close/>
                </a:path>
              </a:pathLst>
            </a:custGeom>
            <a:ln w="9525" cap="sq">
              <a:gradFill>
                <a:gsLst>
                  <a:gs pos="0">
                    <a:srgbClr val="002036">
                      <a:alpha val="100000"/>
                    </a:srgbClr>
                  </a:gs>
                  <a:gs pos="100000">
                    <a:srgbClr val="13607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82" id="82"/>
            <p:cNvSpPr txBox="true"/>
            <p:nvPr/>
          </p:nvSpPr>
          <p:spPr>
            <a:xfrm>
              <a:off x="0" y="-9525"/>
              <a:ext cx="532583" cy="7026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5022361" y="8367015"/>
            <a:ext cx="1052794" cy="1370218"/>
            <a:chOff x="0" y="0"/>
            <a:chExt cx="532583" cy="69316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532583" cy="693160"/>
            </a:xfrm>
            <a:custGeom>
              <a:avLst/>
              <a:gdLst/>
              <a:ahLst/>
              <a:cxnLst/>
              <a:rect r="r" b="b" t="t" l="l"/>
              <a:pathLst>
                <a:path h="693160" w="532583">
                  <a:moveTo>
                    <a:pt x="44122" y="0"/>
                  </a:moveTo>
                  <a:lnTo>
                    <a:pt x="488460" y="0"/>
                  </a:lnTo>
                  <a:cubicBezTo>
                    <a:pt x="512828" y="0"/>
                    <a:pt x="532583" y="19754"/>
                    <a:pt x="532583" y="44122"/>
                  </a:cubicBezTo>
                  <a:lnTo>
                    <a:pt x="532583" y="649038"/>
                  </a:lnTo>
                  <a:cubicBezTo>
                    <a:pt x="532583" y="660739"/>
                    <a:pt x="527934" y="671962"/>
                    <a:pt x="519660" y="680237"/>
                  </a:cubicBezTo>
                  <a:cubicBezTo>
                    <a:pt x="511385" y="688511"/>
                    <a:pt x="500162" y="693160"/>
                    <a:pt x="488460" y="693160"/>
                  </a:cubicBezTo>
                  <a:lnTo>
                    <a:pt x="44122" y="693160"/>
                  </a:lnTo>
                  <a:cubicBezTo>
                    <a:pt x="19754" y="693160"/>
                    <a:pt x="0" y="673406"/>
                    <a:pt x="0" y="649038"/>
                  </a:cubicBezTo>
                  <a:lnTo>
                    <a:pt x="0" y="44122"/>
                  </a:lnTo>
                  <a:cubicBezTo>
                    <a:pt x="0" y="19754"/>
                    <a:pt x="19754" y="0"/>
                    <a:pt x="44122" y="0"/>
                  </a:cubicBezTo>
                  <a:close/>
                </a:path>
              </a:pathLst>
            </a:custGeom>
            <a:ln w="9525" cap="sq">
              <a:gradFill>
                <a:gsLst>
                  <a:gs pos="0">
                    <a:srgbClr val="002036">
                      <a:alpha val="100000"/>
                    </a:srgbClr>
                  </a:gs>
                  <a:gs pos="100000">
                    <a:srgbClr val="13607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85" id="85"/>
            <p:cNvSpPr txBox="true"/>
            <p:nvPr/>
          </p:nvSpPr>
          <p:spPr>
            <a:xfrm>
              <a:off x="0" y="-9525"/>
              <a:ext cx="532583" cy="7026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sp>
        <p:nvSpPr>
          <p:cNvPr name="Freeform 86" id="86"/>
          <p:cNvSpPr/>
          <p:nvPr/>
        </p:nvSpPr>
        <p:spPr>
          <a:xfrm flipH="false" flipV="false" rot="0">
            <a:off x="1595631" y="8431566"/>
            <a:ext cx="353949" cy="344507"/>
          </a:xfrm>
          <a:custGeom>
            <a:avLst/>
            <a:gdLst/>
            <a:ahLst/>
            <a:cxnLst/>
            <a:rect r="r" b="b" t="t" l="l"/>
            <a:pathLst>
              <a:path h="344507" w="353949">
                <a:moveTo>
                  <a:pt x="0" y="0"/>
                </a:moveTo>
                <a:lnTo>
                  <a:pt x="353949" y="0"/>
                </a:lnTo>
                <a:lnTo>
                  <a:pt x="353949" y="344507"/>
                </a:lnTo>
                <a:lnTo>
                  <a:pt x="0" y="3445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73" t="0" r="-473" b="-2771"/>
            </a:stretch>
          </a:blipFill>
        </p:spPr>
      </p:sp>
      <p:sp>
        <p:nvSpPr>
          <p:cNvPr name="Freeform 87" id="87"/>
          <p:cNvSpPr/>
          <p:nvPr/>
        </p:nvSpPr>
        <p:spPr>
          <a:xfrm flipH="false" flipV="false" rot="0">
            <a:off x="6256130" y="8579152"/>
            <a:ext cx="961541" cy="176363"/>
          </a:xfrm>
          <a:custGeom>
            <a:avLst/>
            <a:gdLst/>
            <a:ahLst/>
            <a:cxnLst/>
            <a:rect r="r" b="b" t="t" l="l"/>
            <a:pathLst>
              <a:path h="176363" w="961541">
                <a:moveTo>
                  <a:pt x="0" y="0"/>
                </a:moveTo>
                <a:lnTo>
                  <a:pt x="961541" y="0"/>
                </a:lnTo>
                <a:lnTo>
                  <a:pt x="961541" y="176363"/>
                </a:lnTo>
                <a:lnTo>
                  <a:pt x="0" y="1763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1907" r="-1035" b="-51595"/>
            </a:stretch>
          </a:blipFill>
        </p:spPr>
      </p:sp>
      <p:sp>
        <p:nvSpPr>
          <p:cNvPr name="Freeform 88" id="88"/>
          <p:cNvSpPr/>
          <p:nvPr/>
        </p:nvSpPr>
        <p:spPr>
          <a:xfrm flipH="false" flipV="false" rot="0">
            <a:off x="3937760" y="8524690"/>
            <a:ext cx="916248" cy="230825"/>
          </a:xfrm>
          <a:custGeom>
            <a:avLst/>
            <a:gdLst/>
            <a:ahLst/>
            <a:cxnLst/>
            <a:rect r="r" b="b" t="t" l="l"/>
            <a:pathLst>
              <a:path h="230825" w="916248">
                <a:moveTo>
                  <a:pt x="0" y="0"/>
                </a:moveTo>
                <a:lnTo>
                  <a:pt x="916248" y="0"/>
                </a:lnTo>
                <a:lnTo>
                  <a:pt x="916248" y="230825"/>
                </a:lnTo>
                <a:lnTo>
                  <a:pt x="0" y="2308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4705" r="0" b="-7737"/>
            </a:stretch>
          </a:blipFill>
        </p:spPr>
      </p:sp>
      <p:sp>
        <p:nvSpPr>
          <p:cNvPr name="Freeform 89" id="89"/>
          <p:cNvSpPr/>
          <p:nvPr/>
        </p:nvSpPr>
        <p:spPr>
          <a:xfrm flipH="false" flipV="false" rot="0">
            <a:off x="5064139" y="8589659"/>
            <a:ext cx="982691" cy="165856"/>
          </a:xfrm>
          <a:custGeom>
            <a:avLst/>
            <a:gdLst/>
            <a:ahLst/>
            <a:cxnLst/>
            <a:rect r="r" b="b" t="t" l="l"/>
            <a:pathLst>
              <a:path h="165856" w="982691">
                <a:moveTo>
                  <a:pt x="0" y="0"/>
                </a:moveTo>
                <a:lnTo>
                  <a:pt x="982692" y="0"/>
                </a:lnTo>
                <a:lnTo>
                  <a:pt x="982692" y="165856"/>
                </a:lnTo>
                <a:lnTo>
                  <a:pt x="0" y="1658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2069" r="0" b="-7542"/>
            </a:stretch>
          </a:blipFill>
        </p:spPr>
      </p:sp>
      <p:sp>
        <p:nvSpPr>
          <p:cNvPr name="TextBox 90" id="90"/>
          <p:cNvSpPr txBox="true"/>
          <p:nvPr/>
        </p:nvSpPr>
        <p:spPr>
          <a:xfrm rot="0">
            <a:off x="3911346" y="8895296"/>
            <a:ext cx="972129" cy="229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984"/>
              </a:lnSpc>
              <a:spcBef>
                <a:spcPct val="0"/>
              </a:spcBef>
            </a:pPr>
            <a:r>
              <a:rPr lang="en-US" b="true" sz="703">
                <a:gradFill>
                  <a:gsLst>
                    <a:gs pos="0">
                      <a:srgbClr val="6B6B6B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Winner Opportunity: WPPE / WMI Training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3919200" y="9232874"/>
            <a:ext cx="934808" cy="174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38"/>
              </a:lnSpc>
              <a:spcBef>
                <a:spcPct val="0"/>
              </a:spcBef>
            </a:pPr>
            <a:r>
              <a:rPr lang="en-US" sz="52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2700000"/>
                </a:gradFill>
                <a:latin typeface="DM Sans"/>
                <a:ea typeface="DM Sans"/>
                <a:cs typeface="DM Sans"/>
                <a:sym typeface="DM Sans"/>
              </a:rPr>
              <a:t>For winne</a:t>
            </a:r>
            <a:r>
              <a:rPr lang="en-US" sz="52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2700000"/>
                </a:gradFill>
                <a:latin typeface="DM Sans"/>
                <a:ea typeface="DM Sans"/>
                <a:cs typeface="DM Sans"/>
                <a:sym typeface="DM Sans"/>
              </a:rPr>
              <a:t>rs; subject to partner terms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1075124" y="789276"/>
            <a:ext cx="230303" cy="388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2"/>
              </a:lnSpc>
            </a:pPr>
            <a:r>
              <a:rPr lang="en-US" b="true" sz="3101" spc="-254">
                <a:gradFill>
                  <a:gsLst>
                    <a:gs pos="0">
                      <a:srgbClr val="6B6B6B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x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499779" y="1646678"/>
            <a:ext cx="604800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850"/>
              </a:lnSpc>
              <a:spcBef>
                <a:spcPct val="0"/>
              </a:spcBef>
            </a:pPr>
            <a:r>
              <a:rPr lang="en-US" b="true" sz="3000">
                <a:gradFill>
                  <a:gsLst>
                    <a:gs pos="0">
                      <a:srgbClr val="00352F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2700000"/>
                </a:gradFill>
                <a:latin typeface="DM Sans Bold"/>
                <a:ea typeface="DM Sans Bold"/>
                <a:cs typeface="DM Sans Bold"/>
                <a:sym typeface="DM Sans Bold"/>
              </a:rPr>
              <a:t>NIFI x ICMSS Equity Research Bootcamp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511929" y="2370578"/>
            <a:ext cx="6292071" cy="417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gradFill>
                  <a:gsLst>
                    <a:gs pos="0">
                      <a:srgbClr val="6B6B6B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An online bootcamp designed to help participants develop practical equity research skills through structured learning, assignments, and investment pitching.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598351" y="3053568"/>
            <a:ext cx="1073640" cy="386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1"/>
              </a:lnSpc>
              <a:spcBef>
                <a:spcPct val="0"/>
              </a:spcBef>
            </a:pPr>
            <a:r>
              <a:rPr lang="en-US" b="true" sz="1251">
                <a:solidFill>
                  <a:srgbClr val="002035"/>
                </a:solidFill>
                <a:latin typeface="DM Sans Bold"/>
                <a:ea typeface="DM Sans Bold"/>
                <a:cs typeface="DM Sans Bold"/>
                <a:sym typeface="DM Sans Bold"/>
              </a:rPr>
              <a:t>Learning Session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668880" y="3630876"/>
            <a:ext cx="912111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D9D9D9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8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1912173" y="3053568"/>
            <a:ext cx="1073640" cy="386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1"/>
              </a:lnSpc>
              <a:spcBef>
                <a:spcPct val="0"/>
              </a:spcBef>
            </a:pPr>
            <a:r>
              <a:rPr lang="en-US" b="true" sz="1251">
                <a:solidFill>
                  <a:srgbClr val="002035"/>
                </a:solidFill>
                <a:latin typeface="DM Sans Bold"/>
                <a:ea typeface="DM Sans Bold"/>
                <a:cs typeface="DM Sans Bold"/>
                <a:sym typeface="DM Sans Bold"/>
              </a:rPr>
              <a:t>Program Format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1982702" y="3606428"/>
            <a:ext cx="912111" cy="417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D9D9D9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Online Learning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3225996" y="3053568"/>
            <a:ext cx="1073640" cy="386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1"/>
              </a:lnSpc>
              <a:spcBef>
                <a:spcPct val="0"/>
              </a:spcBef>
            </a:pPr>
            <a:r>
              <a:rPr lang="en-US" b="true" sz="1251">
                <a:solidFill>
                  <a:srgbClr val="002035"/>
                </a:solidFill>
                <a:latin typeface="DM Sans Bold"/>
                <a:ea typeface="DM Sans Bold"/>
                <a:cs typeface="DM Sans Bold"/>
                <a:sym typeface="DM Sans Bold"/>
              </a:rPr>
              <a:t>Planned Schedule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3296525" y="3476215"/>
            <a:ext cx="912111" cy="626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D9D9D9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Late November 2026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4539818" y="3053568"/>
            <a:ext cx="1073640" cy="386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1"/>
              </a:lnSpc>
              <a:spcBef>
                <a:spcPct val="0"/>
              </a:spcBef>
            </a:pPr>
            <a:r>
              <a:rPr lang="en-US" b="true" sz="1251">
                <a:solidFill>
                  <a:srgbClr val="002035"/>
                </a:solidFill>
                <a:latin typeface="DM Sans Bold"/>
                <a:ea typeface="DM Sans Bold"/>
                <a:cs typeface="DM Sans Bold"/>
                <a:sym typeface="DM Sans Bold"/>
              </a:rPr>
              <a:t>Registration Fee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4610347" y="3659389"/>
            <a:ext cx="912111" cy="207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06"/>
              </a:lnSpc>
              <a:spcBef>
                <a:spcPct val="0"/>
              </a:spcBef>
            </a:pPr>
            <a:r>
              <a:rPr lang="en-US" b="true" sz="1219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D9D9D9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Rp200.000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5853640" y="3147920"/>
            <a:ext cx="1073640" cy="198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1"/>
              </a:lnSpc>
              <a:spcBef>
                <a:spcPct val="0"/>
              </a:spcBef>
            </a:pPr>
            <a:r>
              <a:rPr lang="en-US" b="true" sz="1251">
                <a:solidFill>
                  <a:srgbClr val="002035"/>
                </a:solidFill>
                <a:latin typeface="DM Sans Bold"/>
                <a:ea typeface="DM Sans Bold"/>
                <a:cs typeface="DM Sans Bold"/>
                <a:sym typeface="DM Sans Bold"/>
              </a:rPr>
              <a:t>Final Stage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5924170" y="3580990"/>
            <a:ext cx="912111" cy="417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D9D9D9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Top 10 Finalist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511929" y="4798182"/>
            <a:ext cx="604800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850"/>
              </a:lnSpc>
              <a:spcBef>
                <a:spcPct val="0"/>
              </a:spcBef>
            </a:pPr>
            <a:r>
              <a:rPr lang="en-US" b="true" sz="3000">
                <a:gradFill>
                  <a:gsLst>
                    <a:gs pos="0">
                      <a:srgbClr val="00352F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2700000"/>
                </a:gradFill>
                <a:latin typeface="DM Sans Bold"/>
                <a:ea typeface="DM Sans Bold"/>
                <a:cs typeface="DM Sans Bold"/>
                <a:sym typeface="DM Sans Bold"/>
              </a:rPr>
              <a:t>From Financial Knowledge to Investment Recommendations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544210" y="1314143"/>
            <a:ext cx="6292071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gradFill>
                  <a:gsLst>
                    <a:gs pos="0">
                      <a:srgbClr val="6B6B6B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Program Overview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511929" y="4485762"/>
            <a:ext cx="6292071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gradFill>
                  <a:gsLst>
                    <a:gs pos="0">
                      <a:srgbClr val="6B6B6B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Learning Journey &amp; Participant Outcomes</a:t>
            </a:r>
          </a:p>
        </p:txBody>
      </p:sp>
      <p:sp>
        <p:nvSpPr>
          <p:cNvPr name="TextBox 108" id="108"/>
          <p:cNvSpPr txBox="true"/>
          <p:nvPr/>
        </p:nvSpPr>
        <p:spPr>
          <a:xfrm rot="0">
            <a:off x="619775" y="6073884"/>
            <a:ext cx="1339802" cy="386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1"/>
              </a:lnSpc>
              <a:spcBef>
                <a:spcPct val="0"/>
              </a:spcBef>
            </a:pPr>
            <a:r>
              <a:rPr lang="en-US" b="true" sz="1251">
                <a:solidFill>
                  <a:srgbClr val="002035"/>
                </a:solidFill>
                <a:latin typeface="DM Sans Bold"/>
                <a:ea typeface="DM Sans Bold"/>
                <a:cs typeface="DM Sans Bold"/>
                <a:sym typeface="DM Sans Bold"/>
              </a:rPr>
              <a:t>Foundation Classes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659736" y="6515581"/>
            <a:ext cx="1291381" cy="498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  <a:spcBef>
                <a:spcPct val="0"/>
              </a:spcBef>
            </a:pPr>
            <a:r>
              <a:rPr lang="en-US" b="true" sz="999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D9D9D9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Build a foundation in capital markets and equity research.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2224913" y="6073884"/>
            <a:ext cx="1339802" cy="386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1"/>
              </a:lnSpc>
              <a:spcBef>
                <a:spcPct val="0"/>
              </a:spcBef>
            </a:pPr>
            <a:r>
              <a:rPr lang="en-US" b="true" sz="1251">
                <a:solidFill>
                  <a:srgbClr val="002035"/>
                </a:solidFill>
                <a:latin typeface="DM Sans Bold"/>
                <a:ea typeface="DM Sans Bold"/>
                <a:cs typeface="DM Sans Bold"/>
                <a:sym typeface="DM Sans Bold"/>
              </a:rPr>
              <a:t>Equity Research Training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2247391" y="6511919"/>
            <a:ext cx="1338078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  <a:spcBef>
                <a:spcPct val="0"/>
              </a:spcBef>
            </a:pPr>
            <a:r>
              <a:rPr lang="en-US" b="true" sz="999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D9D9D9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Develop skills in company analysis, financial modeling, and research writing.</a:t>
            </a:r>
          </a:p>
        </p:txBody>
      </p:sp>
      <p:sp>
        <p:nvSpPr>
          <p:cNvPr name="TextBox 112" id="112"/>
          <p:cNvSpPr txBox="true"/>
          <p:nvPr/>
        </p:nvSpPr>
        <p:spPr>
          <a:xfrm rot="0">
            <a:off x="3898828" y="6050372"/>
            <a:ext cx="1339802" cy="386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1"/>
              </a:lnSpc>
              <a:spcBef>
                <a:spcPct val="0"/>
              </a:spcBef>
            </a:pPr>
            <a:r>
              <a:rPr lang="en-US" b="true" sz="1251">
                <a:solidFill>
                  <a:srgbClr val="002035"/>
                </a:solidFill>
                <a:latin typeface="DM Sans Bold"/>
                <a:ea typeface="DM Sans Bold"/>
                <a:cs typeface="DM Sans Bold"/>
                <a:sym typeface="DM Sans Bold"/>
              </a:rPr>
              <a:t>Assessment Process</a:t>
            </a:r>
          </a:p>
        </p:txBody>
      </p:sp>
      <p:sp>
        <p:nvSpPr>
          <p:cNvPr name="TextBox 113" id="113"/>
          <p:cNvSpPr txBox="true"/>
          <p:nvPr/>
        </p:nvSpPr>
        <p:spPr>
          <a:xfrm rot="0">
            <a:off x="5538355" y="6147949"/>
            <a:ext cx="1339802" cy="198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1"/>
              </a:lnSpc>
              <a:spcBef>
                <a:spcPct val="0"/>
              </a:spcBef>
            </a:pPr>
            <a:r>
              <a:rPr lang="en-US" b="true" sz="1251">
                <a:solidFill>
                  <a:srgbClr val="002035"/>
                </a:solidFill>
                <a:latin typeface="DM Sans Bold"/>
                <a:ea typeface="DM Sans Bold"/>
                <a:cs typeface="DM Sans Bold"/>
                <a:sym typeface="DM Sans Bold"/>
              </a:rPr>
              <a:t>Finalist Pitching</a:t>
            </a:r>
          </a:p>
        </p:txBody>
      </p:sp>
      <p:sp>
        <p:nvSpPr>
          <p:cNvPr name="TextBox 114" id="114"/>
          <p:cNvSpPr txBox="true"/>
          <p:nvPr/>
        </p:nvSpPr>
        <p:spPr>
          <a:xfrm rot="0">
            <a:off x="544704" y="5512557"/>
            <a:ext cx="6292071" cy="417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gradFill>
                  <a:gsLst>
                    <a:gs pos="0">
                      <a:srgbClr val="6B6B6B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A Structured Journey from foundational learning to research application and investment Pitching</a:t>
            </a:r>
          </a:p>
        </p:txBody>
      </p:sp>
      <p:sp>
        <p:nvSpPr>
          <p:cNvPr name="TextBox 115" id="115"/>
          <p:cNvSpPr txBox="true"/>
          <p:nvPr/>
        </p:nvSpPr>
        <p:spPr>
          <a:xfrm rot="0">
            <a:off x="412053" y="8895296"/>
            <a:ext cx="924373" cy="229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984"/>
              </a:lnSpc>
              <a:spcBef>
                <a:spcPct val="0"/>
              </a:spcBef>
            </a:pPr>
            <a:r>
              <a:rPr lang="en-US" b="true" sz="703">
                <a:gradFill>
                  <a:gsLst>
                    <a:gs pos="0">
                      <a:srgbClr val="6B6B6B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Equity Research Learning Materials</a:t>
            </a:r>
          </a:p>
        </p:txBody>
      </p:sp>
      <p:sp>
        <p:nvSpPr>
          <p:cNvPr name="TextBox 116" id="116"/>
          <p:cNvSpPr txBox="true"/>
          <p:nvPr/>
        </p:nvSpPr>
        <p:spPr>
          <a:xfrm rot="0">
            <a:off x="412557" y="9232874"/>
            <a:ext cx="934808" cy="174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38"/>
              </a:lnSpc>
              <a:spcBef>
                <a:spcPct val="0"/>
              </a:spcBef>
            </a:pPr>
            <a:r>
              <a:rPr lang="en-US" sz="52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2700000"/>
                </a:gradFill>
                <a:latin typeface="DM Sans"/>
                <a:ea typeface="DM Sans"/>
                <a:cs typeface="DM Sans"/>
                <a:sym typeface="DM Sans"/>
              </a:rPr>
              <a:t>Structured Modules and real case studies.</a:t>
            </a:r>
          </a:p>
        </p:txBody>
      </p:sp>
      <p:sp>
        <p:nvSpPr>
          <p:cNvPr name="TextBox 117" id="117"/>
          <p:cNvSpPr txBox="true"/>
          <p:nvPr/>
        </p:nvSpPr>
        <p:spPr>
          <a:xfrm rot="0">
            <a:off x="1580934" y="8895710"/>
            <a:ext cx="924373" cy="229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984"/>
              </a:lnSpc>
              <a:spcBef>
                <a:spcPct val="0"/>
              </a:spcBef>
            </a:pPr>
            <a:r>
              <a:rPr lang="en-US" b="true" sz="703">
                <a:gradFill>
                  <a:gsLst>
                    <a:gs pos="0">
                      <a:srgbClr val="6B6B6B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Professional Training Exposure</a:t>
            </a:r>
          </a:p>
        </p:txBody>
      </p:sp>
      <p:sp>
        <p:nvSpPr>
          <p:cNvPr name="TextBox 118" id="118"/>
          <p:cNvSpPr txBox="true"/>
          <p:nvPr/>
        </p:nvSpPr>
        <p:spPr>
          <a:xfrm rot="0">
            <a:off x="1581438" y="9232874"/>
            <a:ext cx="934808" cy="174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38"/>
              </a:lnSpc>
              <a:spcBef>
                <a:spcPct val="0"/>
              </a:spcBef>
            </a:pPr>
            <a:r>
              <a:rPr lang="en-US" sz="52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2700000"/>
                </a:gradFill>
                <a:latin typeface="DM Sans"/>
                <a:ea typeface="DM Sans"/>
                <a:cs typeface="DM Sans"/>
                <a:sym typeface="DM Sans"/>
              </a:rPr>
              <a:t>Learn f</a:t>
            </a:r>
            <a:r>
              <a:rPr lang="en-US" sz="52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2700000"/>
                </a:gradFill>
                <a:latin typeface="DM Sans"/>
                <a:ea typeface="DM Sans"/>
                <a:cs typeface="DM Sans"/>
                <a:sym typeface="DM Sans"/>
              </a:rPr>
              <a:t>rom industry experts &amp; practitioners.</a:t>
            </a:r>
          </a:p>
        </p:txBody>
      </p:sp>
      <p:sp>
        <p:nvSpPr>
          <p:cNvPr name="TextBox 119" id="119"/>
          <p:cNvSpPr txBox="true"/>
          <p:nvPr/>
        </p:nvSpPr>
        <p:spPr>
          <a:xfrm rot="0">
            <a:off x="2749458" y="8895710"/>
            <a:ext cx="971199" cy="229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984"/>
              </a:lnSpc>
              <a:spcBef>
                <a:spcPct val="0"/>
              </a:spcBef>
            </a:pPr>
            <a:r>
              <a:rPr lang="en-US" b="true" sz="703">
                <a:gradFill>
                  <a:gsLst>
                    <a:gs pos="0">
                      <a:srgbClr val="6B6B6B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Acces to International Competition</a:t>
            </a:r>
          </a:p>
        </p:txBody>
      </p:sp>
      <p:sp>
        <p:nvSpPr>
          <p:cNvPr name="TextBox 120" id="120"/>
          <p:cNvSpPr txBox="true"/>
          <p:nvPr/>
        </p:nvSpPr>
        <p:spPr>
          <a:xfrm rot="0">
            <a:off x="2750319" y="9232874"/>
            <a:ext cx="934808" cy="174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38"/>
              </a:lnSpc>
              <a:spcBef>
                <a:spcPct val="0"/>
              </a:spcBef>
            </a:pPr>
            <a:r>
              <a:rPr lang="en-US" sz="52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2700000"/>
                </a:gradFill>
                <a:latin typeface="DM Sans"/>
                <a:ea typeface="DM Sans"/>
                <a:cs typeface="DM Sans"/>
                <a:sym typeface="DM Sans"/>
              </a:rPr>
              <a:t>Free access for winner to attend ERC by ICMSS</a:t>
            </a:r>
          </a:p>
        </p:txBody>
      </p:sp>
      <p:sp>
        <p:nvSpPr>
          <p:cNvPr name="TextBox 121" id="121"/>
          <p:cNvSpPr txBox="true"/>
          <p:nvPr/>
        </p:nvSpPr>
        <p:spPr>
          <a:xfrm rot="0">
            <a:off x="5087577" y="8895296"/>
            <a:ext cx="924373" cy="229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984"/>
              </a:lnSpc>
              <a:spcBef>
                <a:spcPct val="0"/>
              </a:spcBef>
            </a:pPr>
            <a:r>
              <a:rPr lang="en-US" b="true" sz="703">
                <a:gradFill>
                  <a:gsLst>
                    <a:gs pos="0">
                      <a:srgbClr val="6B6B6B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Bloomberg Company Visit</a:t>
            </a:r>
          </a:p>
        </p:txBody>
      </p:sp>
      <p:sp>
        <p:nvSpPr>
          <p:cNvPr name="TextBox 122" id="122"/>
          <p:cNvSpPr txBox="true"/>
          <p:nvPr/>
        </p:nvSpPr>
        <p:spPr>
          <a:xfrm rot="0">
            <a:off x="5088081" y="9232874"/>
            <a:ext cx="934808" cy="442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38"/>
              </a:lnSpc>
              <a:spcBef>
                <a:spcPct val="0"/>
              </a:spcBef>
            </a:pPr>
            <a:r>
              <a:rPr lang="en-US" sz="52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2700000"/>
                </a:gradFill>
                <a:latin typeface="DM Sans"/>
                <a:ea typeface="DM Sans"/>
                <a:cs typeface="DM Sans"/>
                <a:sym typeface="DM Sans"/>
              </a:rPr>
              <a:t>Gain fi</a:t>
            </a:r>
            <a:r>
              <a:rPr lang="en-US" sz="52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2700000"/>
                </a:gradFill>
                <a:latin typeface="DM Sans"/>
                <a:ea typeface="DM Sans"/>
                <a:cs typeface="DM Sans"/>
                <a:sym typeface="DM Sans"/>
              </a:rPr>
              <a:t>rst-hand exposure to the financial industry and a professional working environment through a visit to Bloomberg.</a:t>
            </a:r>
          </a:p>
        </p:txBody>
      </p:sp>
      <p:grpSp>
        <p:nvGrpSpPr>
          <p:cNvPr name="Group 123" id="123"/>
          <p:cNvGrpSpPr/>
          <p:nvPr/>
        </p:nvGrpSpPr>
        <p:grpSpPr>
          <a:xfrm rot="0">
            <a:off x="6195483" y="8367015"/>
            <a:ext cx="1052794" cy="1370218"/>
            <a:chOff x="0" y="0"/>
            <a:chExt cx="532583" cy="693160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532583" cy="693160"/>
            </a:xfrm>
            <a:custGeom>
              <a:avLst/>
              <a:gdLst/>
              <a:ahLst/>
              <a:cxnLst/>
              <a:rect r="r" b="b" t="t" l="l"/>
              <a:pathLst>
                <a:path h="693160" w="532583">
                  <a:moveTo>
                    <a:pt x="44122" y="0"/>
                  </a:moveTo>
                  <a:lnTo>
                    <a:pt x="488460" y="0"/>
                  </a:lnTo>
                  <a:cubicBezTo>
                    <a:pt x="512828" y="0"/>
                    <a:pt x="532583" y="19754"/>
                    <a:pt x="532583" y="44122"/>
                  </a:cubicBezTo>
                  <a:lnTo>
                    <a:pt x="532583" y="649038"/>
                  </a:lnTo>
                  <a:cubicBezTo>
                    <a:pt x="532583" y="660739"/>
                    <a:pt x="527934" y="671962"/>
                    <a:pt x="519660" y="680237"/>
                  </a:cubicBezTo>
                  <a:cubicBezTo>
                    <a:pt x="511385" y="688511"/>
                    <a:pt x="500162" y="693160"/>
                    <a:pt x="488460" y="693160"/>
                  </a:cubicBezTo>
                  <a:lnTo>
                    <a:pt x="44122" y="693160"/>
                  </a:lnTo>
                  <a:cubicBezTo>
                    <a:pt x="19754" y="693160"/>
                    <a:pt x="0" y="673406"/>
                    <a:pt x="0" y="649038"/>
                  </a:cubicBezTo>
                  <a:lnTo>
                    <a:pt x="0" y="44122"/>
                  </a:lnTo>
                  <a:cubicBezTo>
                    <a:pt x="0" y="19754"/>
                    <a:pt x="19754" y="0"/>
                    <a:pt x="44122" y="0"/>
                  </a:cubicBezTo>
                  <a:close/>
                </a:path>
              </a:pathLst>
            </a:custGeom>
            <a:ln w="9525" cap="sq">
              <a:gradFill>
                <a:gsLst>
                  <a:gs pos="0">
                    <a:srgbClr val="002036">
                      <a:alpha val="100000"/>
                    </a:srgbClr>
                  </a:gs>
                  <a:gs pos="100000">
                    <a:srgbClr val="13607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25" id="125"/>
            <p:cNvSpPr txBox="true"/>
            <p:nvPr/>
          </p:nvSpPr>
          <p:spPr>
            <a:xfrm>
              <a:off x="0" y="-9525"/>
              <a:ext cx="532583" cy="7026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sp>
        <p:nvSpPr>
          <p:cNvPr name="Freeform 126" id="126"/>
          <p:cNvSpPr/>
          <p:nvPr/>
        </p:nvSpPr>
        <p:spPr>
          <a:xfrm flipH="false" flipV="false" rot="0">
            <a:off x="2785626" y="8445802"/>
            <a:ext cx="353949" cy="344507"/>
          </a:xfrm>
          <a:custGeom>
            <a:avLst/>
            <a:gdLst/>
            <a:ahLst/>
            <a:cxnLst/>
            <a:rect r="r" b="b" t="t" l="l"/>
            <a:pathLst>
              <a:path h="344507" w="353949">
                <a:moveTo>
                  <a:pt x="0" y="0"/>
                </a:moveTo>
                <a:lnTo>
                  <a:pt x="353948" y="0"/>
                </a:lnTo>
                <a:lnTo>
                  <a:pt x="353948" y="344507"/>
                </a:lnTo>
                <a:lnTo>
                  <a:pt x="0" y="3445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73" t="0" r="-473" b="-2771"/>
            </a:stretch>
          </a:blipFill>
        </p:spPr>
      </p:sp>
      <p:sp>
        <p:nvSpPr>
          <p:cNvPr name="TextBox 127" id="127"/>
          <p:cNvSpPr txBox="true"/>
          <p:nvPr/>
        </p:nvSpPr>
        <p:spPr>
          <a:xfrm rot="0">
            <a:off x="6244833" y="8888771"/>
            <a:ext cx="924373" cy="229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984"/>
              </a:lnSpc>
              <a:spcBef>
                <a:spcPct val="0"/>
              </a:spcBef>
            </a:pPr>
            <a:r>
              <a:rPr lang="en-US" b="true" sz="703">
                <a:gradFill>
                  <a:gsLst>
                    <a:gs pos="0">
                      <a:srgbClr val="6B6B6B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Arthara Subscription Access</a:t>
            </a:r>
          </a:p>
        </p:txBody>
      </p:sp>
      <p:sp>
        <p:nvSpPr>
          <p:cNvPr name="TextBox 128" id="128"/>
          <p:cNvSpPr txBox="true"/>
          <p:nvPr/>
        </p:nvSpPr>
        <p:spPr>
          <a:xfrm rot="0">
            <a:off x="6256130" y="9242460"/>
            <a:ext cx="934808" cy="174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38"/>
              </a:lnSpc>
              <a:spcBef>
                <a:spcPct val="0"/>
              </a:spcBef>
            </a:pPr>
            <a:r>
              <a:rPr lang="en-US" sz="52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2700000"/>
                </a:gradFill>
                <a:latin typeface="DM Sans"/>
                <a:ea typeface="DM Sans"/>
                <a:cs typeface="DM Sans"/>
                <a:sym typeface="DM Sans"/>
              </a:rPr>
              <a:t>Gain ac</a:t>
            </a:r>
            <a:r>
              <a:rPr lang="en-US" sz="52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2700000"/>
                </a:gradFill>
                <a:latin typeface="DM Sans"/>
                <a:ea typeface="DM Sans"/>
                <a:cs typeface="DM Sans"/>
                <a:sym typeface="DM Sans"/>
              </a:rPr>
              <a:t>cess to premium research platform</a:t>
            </a:r>
          </a:p>
        </p:txBody>
      </p:sp>
      <p:sp>
        <p:nvSpPr>
          <p:cNvPr name="TextBox 129" id="129"/>
          <p:cNvSpPr txBox="true"/>
          <p:nvPr/>
        </p:nvSpPr>
        <p:spPr>
          <a:xfrm rot="0">
            <a:off x="483846" y="10420770"/>
            <a:ext cx="6592309" cy="163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2"/>
              </a:lnSpc>
              <a:spcBef>
                <a:spcPct val="0"/>
              </a:spcBef>
            </a:pPr>
            <a:r>
              <a:rPr lang="en-US" sz="95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Confidential &amp; Proprietary © 2026 Not Into Finance &amp; Indonesia Capital Market Student Studies</a:t>
            </a:r>
            <a:r>
              <a:rPr lang="en-US" sz="95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. All right</a:t>
            </a:r>
            <a:r>
              <a:rPr lang="en-US" sz="95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 reserved.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3458383">
            <a:off x="2663526" y="-5093846"/>
            <a:ext cx="7460742" cy="746074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908">
                    <a:alpha val="14000"/>
                  </a:srgbClr>
                </a:gs>
                <a:gs pos="100000">
                  <a:srgbClr val="001614">
                    <a:alpha val="0"/>
                  </a:srgbClr>
                </a:gs>
              </a:gsLst>
              <a:lin ang="5400000"/>
            </a:gradFill>
            <a:ln w="19050" cap="sq">
              <a:gradFill>
                <a:gsLst>
                  <a:gs pos="0">
                    <a:srgbClr val="00352F">
                      <a:alpha val="14000"/>
                    </a:srgbClr>
                  </a:gs>
                  <a:gs pos="100000">
                    <a:srgbClr val="000000">
                      <a:alpha val="14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869346" y="8360077"/>
            <a:ext cx="1052794" cy="1370218"/>
            <a:chOff x="0" y="0"/>
            <a:chExt cx="532583" cy="693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32583" cy="693160"/>
            </a:xfrm>
            <a:custGeom>
              <a:avLst/>
              <a:gdLst/>
              <a:ahLst/>
              <a:cxnLst/>
              <a:rect r="r" b="b" t="t" l="l"/>
              <a:pathLst>
                <a:path h="693160" w="532583">
                  <a:moveTo>
                    <a:pt x="44122" y="0"/>
                  </a:moveTo>
                  <a:lnTo>
                    <a:pt x="488460" y="0"/>
                  </a:lnTo>
                  <a:cubicBezTo>
                    <a:pt x="512828" y="0"/>
                    <a:pt x="532583" y="19754"/>
                    <a:pt x="532583" y="44122"/>
                  </a:cubicBezTo>
                  <a:lnTo>
                    <a:pt x="532583" y="649038"/>
                  </a:lnTo>
                  <a:cubicBezTo>
                    <a:pt x="532583" y="660739"/>
                    <a:pt x="527934" y="671962"/>
                    <a:pt x="519660" y="680237"/>
                  </a:cubicBezTo>
                  <a:cubicBezTo>
                    <a:pt x="511385" y="688511"/>
                    <a:pt x="500162" y="693160"/>
                    <a:pt x="488460" y="693160"/>
                  </a:cubicBezTo>
                  <a:lnTo>
                    <a:pt x="44122" y="693160"/>
                  </a:lnTo>
                  <a:cubicBezTo>
                    <a:pt x="19754" y="693160"/>
                    <a:pt x="0" y="673406"/>
                    <a:pt x="0" y="649038"/>
                  </a:cubicBezTo>
                  <a:lnTo>
                    <a:pt x="0" y="44122"/>
                  </a:lnTo>
                  <a:cubicBezTo>
                    <a:pt x="0" y="19754"/>
                    <a:pt x="19754" y="0"/>
                    <a:pt x="44122" y="0"/>
                  </a:cubicBezTo>
                  <a:close/>
                </a:path>
              </a:pathLst>
            </a:custGeom>
            <a:ln w="9525" cap="sq">
              <a:gradFill>
                <a:gsLst>
                  <a:gs pos="0">
                    <a:srgbClr val="002036">
                      <a:alpha val="100000"/>
                    </a:srgbClr>
                  </a:gs>
                  <a:gs pos="100000">
                    <a:srgbClr val="13607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532583" cy="7026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3458383">
            <a:off x="3603019" y="7374198"/>
            <a:ext cx="7460742" cy="7460742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908">
                    <a:alpha val="14000"/>
                  </a:srgbClr>
                </a:gs>
                <a:gs pos="100000">
                  <a:srgbClr val="001614">
                    <a:alpha val="0"/>
                  </a:srgbClr>
                </a:gs>
              </a:gsLst>
              <a:lin ang="5400000"/>
            </a:gradFill>
            <a:ln w="19050" cap="sq">
              <a:gradFill>
                <a:gsLst>
                  <a:gs pos="0">
                    <a:srgbClr val="00352F">
                      <a:alpha val="14000"/>
                    </a:srgbClr>
                  </a:gs>
                  <a:gs pos="100000">
                    <a:srgbClr val="000000">
                      <a:alpha val="14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700465" y="8367015"/>
            <a:ext cx="1052794" cy="1370218"/>
            <a:chOff x="0" y="0"/>
            <a:chExt cx="532583" cy="6931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2583" cy="693160"/>
            </a:xfrm>
            <a:custGeom>
              <a:avLst/>
              <a:gdLst/>
              <a:ahLst/>
              <a:cxnLst/>
              <a:rect r="r" b="b" t="t" l="l"/>
              <a:pathLst>
                <a:path h="693160" w="532583">
                  <a:moveTo>
                    <a:pt x="44122" y="0"/>
                  </a:moveTo>
                  <a:lnTo>
                    <a:pt x="488460" y="0"/>
                  </a:lnTo>
                  <a:cubicBezTo>
                    <a:pt x="512828" y="0"/>
                    <a:pt x="532583" y="19754"/>
                    <a:pt x="532583" y="44122"/>
                  </a:cubicBezTo>
                  <a:lnTo>
                    <a:pt x="532583" y="649038"/>
                  </a:lnTo>
                  <a:cubicBezTo>
                    <a:pt x="532583" y="660739"/>
                    <a:pt x="527934" y="671962"/>
                    <a:pt x="519660" y="680237"/>
                  </a:cubicBezTo>
                  <a:cubicBezTo>
                    <a:pt x="511385" y="688511"/>
                    <a:pt x="500162" y="693160"/>
                    <a:pt x="488460" y="693160"/>
                  </a:cubicBezTo>
                  <a:lnTo>
                    <a:pt x="44122" y="693160"/>
                  </a:lnTo>
                  <a:cubicBezTo>
                    <a:pt x="19754" y="693160"/>
                    <a:pt x="0" y="673406"/>
                    <a:pt x="0" y="649038"/>
                  </a:cubicBezTo>
                  <a:lnTo>
                    <a:pt x="0" y="44122"/>
                  </a:lnTo>
                  <a:cubicBezTo>
                    <a:pt x="0" y="19754"/>
                    <a:pt x="19754" y="0"/>
                    <a:pt x="44122" y="0"/>
                  </a:cubicBezTo>
                  <a:close/>
                </a:path>
              </a:pathLst>
            </a:custGeom>
            <a:ln w="9525" cap="sq">
              <a:gradFill>
                <a:gsLst>
                  <a:gs pos="0">
                    <a:srgbClr val="002036">
                      <a:alpha val="100000"/>
                    </a:srgbClr>
                  </a:gs>
                  <a:gs pos="100000">
                    <a:srgbClr val="13607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532583" cy="7026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3458383">
            <a:off x="-3235264" y="8119153"/>
            <a:ext cx="6628018" cy="6628018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1614">
                    <a:alpha val="0"/>
                  </a:srgbClr>
                </a:gs>
                <a:gs pos="100000">
                  <a:srgbClr val="000908">
                    <a:alpha val="14000"/>
                  </a:srgbClr>
                </a:gs>
              </a:gsLst>
              <a:lin ang="5400000"/>
            </a:gradFill>
            <a:ln w="19050" cap="sq">
              <a:gradFill>
                <a:gsLst>
                  <a:gs pos="0">
                    <a:srgbClr val="00352F">
                      <a:alpha val="14000"/>
                    </a:srgbClr>
                  </a:gs>
                  <a:gs pos="100000">
                    <a:srgbClr val="000000">
                      <a:alpha val="14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62703" y="8380892"/>
            <a:ext cx="1063256" cy="1370218"/>
            <a:chOff x="0" y="0"/>
            <a:chExt cx="537875" cy="6931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37875" cy="693160"/>
            </a:xfrm>
            <a:custGeom>
              <a:avLst/>
              <a:gdLst/>
              <a:ahLst/>
              <a:cxnLst/>
              <a:rect r="r" b="b" t="t" l="l"/>
              <a:pathLst>
                <a:path h="693160" w="537875">
                  <a:moveTo>
                    <a:pt x="43688" y="0"/>
                  </a:moveTo>
                  <a:lnTo>
                    <a:pt x="494187" y="0"/>
                  </a:lnTo>
                  <a:cubicBezTo>
                    <a:pt x="518316" y="0"/>
                    <a:pt x="537875" y="19560"/>
                    <a:pt x="537875" y="43688"/>
                  </a:cubicBezTo>
                  <a:lnTo>
                    <a:pt x="537875" y="649472"/>
                  </a:lnTo>
                  <a:cubicBezTo>
                    <a:pt x="537875" y="673600"/>
                    <a:pt x="518316" y="693160"/>
                    <a:pt x="494187" y="693160"/>
                  </a:cubicBezTo>
                  <a:lnTo>
                    <a:pt x="43688" y="693160"/>
                  </a:lnTo>
                  <a:cubicBezTo>
                    <a:pt x="19560" y="693160"/>
                    <a:pt x="0" y="673600"/>
                    <a:pt x="0" y="649472"/>
                  </a:cubicBezTo>
                  <a:lnTo>
                    <a:pt x="0" y="43688"/>
                  </a:lnTo>
                  <a:cubicBezTo>
                    <a:pt x="0" y="19560"/>
                    <a:pt x="19560" y="0"/>
                    <a:pt x="43688" y="0"/>
                  </a:cubicBezTo>
                  <a:close/>
                </a:path>
              </a:pathLst>
            </a:custGeom>
            <a:ln w="9525" cap="sq">
              <a:gradFill>
                <a:gsLst>
                  <a:gs pos="0">
                    <a:srgbClr val="002036">
                      <a:alpha val="100000"/>
                    </a:srgbClr>
                  </a:gs>
                  <a:gs pos="100000">
                    <a:srgbClr val="13607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537875" cy="7026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499779" y="756000"/>
            <a:ext cx="411005" cy="421795"/>
          </a:xfrm>
          <a:custGeom>
            <a:avLst/>
            <a:gdLst/>
            <a:ahLst/>
            <a:cxnLst/>
            <a:rect r="r" b="b" t="t" l="l"/>
            <a:pathLst>
              <a:path h="421795" w="411005">
                <a:moveTo>
                  <a:pt x="0" y="0"/>
                </a:moveTo>
                <a:lnTo>
                  <a:pt x="411005" y="0"/>
                </a:lnTo>
                <a:lnTo>
                  <a:pt x="411005" y="421795"/>
                </a:lnTo>
                <a:lnTo>
                  <a:pt x="0" y="4217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0447" t="-144434" r="-490104" b="-139546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437500" y="713076"/>
            <a:ext cx="468982" cy="464718"/>
          </a:xfrm>
          <a:custGeom>
            <a:avLst/>
            <a:gdLst/>
            <a:ahLst/>
            <a:cxnLst/>
            <a:rect r="r" b="b" t="t" l="l"/>
            <a:pathLst>
              <a:path h="464718" w="468982">
                <a:moveTo>
                  <a:pt x="0" y="0"/>
                </a:moveTo>
                <a:lnTo>
                  <a:pt x="468982" y="0"/>
                </a:lnTo>
                <a:lnTo>
                  <a:pt x="468982" y="464719"/>
                </a:lnTo>
                <a:lnTo>
                  <a:pt x="0" y="4647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511929" y="3003808"/>
            <a:ext cx="1226012" cy="1141155"/>
            <a:chOff x="0" y="0"/>
            <a:chExt cx="545280" cy="50753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45280" cy="507539"/>
            </a:xfrm>
            <a:custGeom>
              <a:avLst/>
              <a:gdLst/>
              <a:ahLst/>
              <a:cxnLst/>
              <a:rect r="r" b="b" t="t" l="l"/>
              <a:pathLst>
                <a:path h="507539" w="545280">
                  <a:moveTo>
                    <a:pt x="37888" y="0"/>
                  </a:moveTo>
                  <a:lnTo>
                    <a:pt x="507392" y="0"/>
                  </a:lnTo>
                  <a:cubicBezTo>
                    <a:pt x="517440" y="0"/>
                    <a:pt x="527077" y="3992"/>
                    <a:pt x="534183" y="11097"/>
                  </a:cubicBezTo>
                  <a:cubicBezTo>
                    <a:pt x="541288" y="18203"/>
                    <a:pt x="545280" y="27840"/>
                    <a:pt x="545280" y="37888"/>
                  </a:cubicBezTo>
                  <a:lnTo>
                    <a:pt x="545280" y="469650"/>
                  </a:lnTo>
                  <a:cubicBezTo>
                    <a:pt x="545280" y="490576"/>
                    <a:pt x="528317" y="507539"/>
                    <a:pt x="507392" y="507539"/>
                  </a:cubicBezTo>
                  <a:lnTo>
                    <a:pt x="37888" y="507539"/>
                  </a:lnTo>
                  <a:cubicBezTo>
                    <a:pt x="27840" y="507539"/>
                    <a:pt x="18203" y="503547"/>
                    <a:pt x="11097" y="496442"/>
                  </a:cubicBezTo>
                  <a:cubicBezTo>
                    <a:pt x="3992" y="489336"/>
                    <a:pt x="0" y="479699"/>
                    <a:pt x="0" y="469650"/>
                  </a:cubicBezTo>
                  <a:lnTo>
                    <a:pt x="0" y="37888"/>
                  </a:lnTo>
                  <a:cubicBezTo>
                    <a:pt x="0" y="27840"/>
                    <a:pt x="3992" y="18203"/>
                    <a:pt x="11097" y="11097"/>
                  </a:cubicBezTo>
                  <a:cubicBezTo>
                    <a:pt x="18203" y="3992"/>
                    <a:pt x="27840" y="0"/>
                    <a:pt x="3788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1F35">
                    <a:alpha val="100000"/>
                  </a:srgbClr>
                </a:gs>
                <a:gs pos="100000">
                  <a:srgbClr val="0D3C82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545280" cy="5170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544704" y="3040566"/>
            <a:ext cx="1160462" cy="422462"/>
            <a:chOff x="0" y="0"/>
            <a:chExt cx="516126" cy="18789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16126" cy="187894"/>
            </a:xfrm>
            <a:custGeom>
              <a:avLst/>
              <a:gdLst/>
              <a:ahLst/>
              <a:cxnLst/>
              <a:rect r="r" b="b" t="t" l="l"/>
              <a:pathLst>
                <a:path h="187894" w="516126">
                  <a:moveTo>
                    <a:pt x="46700" y="0"/>
                  </a:moveTo>
                  <a:lnTo>
                    <a:pt x="469426" y="0"/>
                  </a:lnTo>
                  <a:cubicBezTo>
                    <a:pt x="481812" y="0"/>
                    <a:pt x="493690" y="4920"/>
                    <a:pt x="502448" y="13678"/>
                  </a:cubicBezTo>
                  <a:cubicBezTo>
                    <a:pt x="511206" y="22436"/>
                    <a:pt x="516126" y="34314"/>
                    <a:pt x="516126" y="46700"/>
                  </a:cubicBezTo>
                  <a:lnTo>
                    <a:pt x="516126" y="141194"/>
                  </a:lnTo>
                  <a:cubicBezTo>
                    <a:pt x="516126" y="153579"/>
                    <a:pt x="511206" y="165458"/>
                    <a:pt x="502448" y="174216"/>
                  </a:cubicBezTo>
                  <a:cubicBezTo>
                    <a:pt x="493690" y="182974"/>
                    <a:pt x="481812" y="187894"/>
                    <a:pt x="469426" y="187894"/>
                  </a:cubicBezTo>
                  <a:lnTo>
                    <a:pt x="46700" y="187894"/>
                  </a:lnTo>
                  <a:cubicBezTo>
                    <a:pt x="34314" y="187894"/>
                    <a:pt x="22436" y="182974"/>
                    <a:pt x="13678" y="174216"/>
                  </a:cubicBezTo>
                  <a:cubicBezTo>
                    <a:pt x="4920" y="165458"/>
                    <a:pt x="0" y="153579"/>
                    <a:pt x="0" y="141194"/>
                  </a:cubicBezTo>
                  <a:lnTo>
                    <a:pt x="0" y="46700"/>
                  </a:lnTo>
                  <a:cubicBezTo>
                    <a:pt x="0" y="34314"/>
                    <a:pt x="4920" y="22436"/>
                    <a:pt x="13678" y="13678"/>
                  </a:cubicBezTo>
                  <a:cubicBezTo>
                    <a:pt x="22436" y="4920"/>
                    <a:pt x="34314" y="0"/>
                    <a:pt x="467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D9D9D9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516126" cy="197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825752" y="3003808"/>
            <a:ext cx="1226012" cy="1141155"/>
            <a:chOff x="0" y="0"/>
            <a:chExt cx="545280" cy="50753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45280" cy="507539"/>
            </a:xfrm>
            <a:custGeom>
              <a:avLst/>
              <a:gdLst/>
              <a:ahLst/>
              <a:cxnLst/>
              <a:rect r="r" b="b" t="t" l="l"/>
              <a:pathLst>
                <a:path h="507539" w="545280">
                  <a:moveTo>
                    <a:pt x="37888" y="0"/>
                  </a:moveTo>
                  <a:lnTo>
                    <a:pt x="507392" y="0"/>
                  </a:lnTo>
                  <a:cubicBezTo>
                    <a:pt x="517440" y="0"/>
                    <a:pt x="527077" y="3992"/>
                    <a:pt x="534183" y="11097"/>
                  </a:cubicBezTo>
                  <a:cubicBezTo>
                    <a:pt x="541288" y="18203"/>
                    <a:pt x="545280" y="27840"/>
                    <a:pt x="545280" y="37888"/>
                  </a:cubicBezTo>
                  <a:lnTo>
                    <a:pt x="545280" y="469650"/>
                  </a:lnTo>
                  <a:cubicBezTo>
                    <a:pt x="545280" y="490576"/>
                    <a:pt x="528317" y="507539"/>
                    <a:pt x="507392" y="507539"/>
                  </a:cubicBezTo>
                  <a:lnTo>
                    <a:pt x="37888" y="507539"/>
                  </a:lnTo>
                  <a:cubicBezTo>
                    <a:pt x="27840" y="507539"/>
                    <a:pt x="18203" y="503547"/>
                    <a:pt x="11097" y="496442"/>
                  </a:cubicBezTo>
                  <a:cubicBezTo>
                    <a:pt x="3992" y="489336"/>
                    <a:pt x="0" y="479699"/>
                    <a:pt x="0" y="469650"/>
                  </a:cubicBezTo>
                  <a:lnTo>
                    <a:pt x="0" y="37888"/>
                  </a:lnTo>
                  <a:cubicBezTo>
                    <a:pt x="0" y="27840"/>
                    <a:pt x="3992" y="18203"/>
                    <a:pt x="11097" y="11097"/>
                  </a:cubicBezTo>
                  <a:cubicBezTo>
                    <a:pt x="18203" y="3992"/>
                    <a:pt x="27840" y="0"/>
                    <a:pt x="3788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1F35">
                    <a:alpha val="100000"/>
                  </a:srgbClr>
                </a:gs>
                <a:gs pos="100000">
                  <a:srgbClr val="0D3C82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545280" cy="5170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858527" y="3040566"/>
            <a:ext cx="1160462" cy="422462"/>
            <a:chOff x="0" y="0"/>
            <a:chExt cx="516126" cy="18789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16126" cy="187894"/>
            </a:xfrm>
            <a:custGeom>
              <a:avLst/>
              <a:gdLst/>
              <a:ahLst/>
              <a:cxnLst/>
              <a:rect r="r" b="b" t="t" l="l"/>
              <a:pathLst>
                <a:path h="187894" w="516126">
                  <a:moveTo>
                    <a:pt x="46700" y="0"/>
                  </a:moveTo>
                  <a:lnTo>
                    <a:pt x="469426" y="0"/>
                  </a:lnTo>
                  <a:cubicBezTo>
                    <a:pt x="481812" y="0"/>
                    <a:pt x="493690" y="4920"/>
                    <a:pt x="502448" y="13678"/>
                  </a:cubicBezTo>
                  <a:cubicBezTo>
                    <a:pt x="511206" y="22436"/>
                    <a:pt x="516126" y="34314"/>
                    <a:pt x="516126" y="46700"/>
                  </a:cubicBezTo>
                  <a:lnTo>
                    <a:pt x="516126" y="141194"/>
                  </a:lnTo>
                  <a:cubicBezTo>
                    <a:pt x="516126" y="153579"/>
                    <a:pt x="511206" y="165458"/>
                    <a:pt x="502448" y="174216"/>
                  </a:cubicBezTo>
                  <a:cubicBezTo>
                    <a:pt x="493690" y="182974"/>
                    <a:pt x="481812" y="187894"/>
                    <a:pt x="469426" y="187894"/>
                  </a:cubicBezTo>
                  <a:lnTo>
                    <a:pt x="46700" y="187894"/>
                  </a:lnTo>
                  <a:cubicBezTo>
                    <a:pt x="34314" y="187894"/>
                    <a:pt x="22436" y="182974"/>
                    <a:pt x="13678" y="174216"/>
                  </a:cubicBezTo>
                  <a:cubicBezTo>
                    <a:pt x="4920" y="165458"/>
                    <a:pt x="0" y="153579"/>
                    <a:pt x="0" y="141194"/>
                  </a:cubicBezTo>
                  <a:lnTo>
                    <a:pt x="0" y="46700"/>
                  </a:lnTo>
                  <a:cubicBezTo>
                    <a:pt x="0" y="34314"/>
                    <a:pt x="4920" y="22436"/>
                    <a:pt x="13678" y="13678"/>
                  </a:cubicBezTo>
                  <a:cubicBezTo>
                    <a:pt x="22436" y="4920"/>
                    <a:pt x="34314" y="0"/>
                    <a:pt x="467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D9D9D9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516126" cy="197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3139574" y="3003808"/>
            <a:ext cx="1226012" cy="1141155"/>
            <a:chOff x="0" y="0"/>
            <a:chExt cx="545280" cy="50753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45280" cy="507539"/>
            </a:xfrm>
            <a:custGeom>
              <a:avLst/>
              <a:gdLst/>
              <a:ahLst/>
              <a:cxnLst/>
              <a:rect r="r" b="b" t="t" l="l"/>
              <a:pathLst>
                <a:path h="507539" w="545280">
                  <a:moveTo>
                    <a:pt x="37888" y="0"/>
                  </a:moveTo>
                  <a:lnTo>
                    <a:pt x="507392" y="0"/>
                  </a:lnTo>
                  <a:cubicBezTo>
                    <a:pt x="517440" y="0"/>
                    <a:pt x="527077" y="3992"/>
                    <a:pt x="534183" y="11097"/>
                  </a:cubicBezTo>
                  <a:cubicBezTo>
                    <a:pt x="541288" y="18203"/>
                    <a:pt x="545280" y="27840"/>
                    <a:pt x="545280" y="37888"/>
                  </a:cubicBezTo>
                  <a:lnTo>
                    <a:pt x="545280" y="469650"/>
                  </a:lnTo>
                  <a:cubicBezTo>
                    <a:pt x="545280" y="490576"/>
                    <a:pt x="528317" y="507539"/>
                    <a:pt x="507392" y="507539"/>
                  </a:cubicBezTo>
                  <a:lnTo>
                    <a:pt x="37888" y="507539"/>
                  </a:lnTo>
                  <a:cubicBezTo>
                    <a:pt x="27840" y="507539"/>
                    <a:pt x="18203" y="503547"/>
                    <a:pt x="11097" y="496442"/>
                  </a:cubicBezTo>
                  <a:cubicBezTo>
                    <a:pt x="3992" y="489336"/>
                    <a:pt x="0" y="479699"/>
                    <a:pt x="0" y="469650"/>
                  </a:cubicBezTo>
                  <a:lnTo>
                    <a:pt x="0" y="37888"/>
                  </a:lnTo>
                  <a:cubicBezTo>
                    <a:pt x="0" y="27840"/>
                    <a:pt x="3992" y="18203"/>
                    <a:pt x="11097" y="11097"/>
                  </a:cubicBezTo>
                  <a:cubicBezTo>
                    <a:pt x="18203" y="3992"/>
                    <a:pt x="27840" y="0"/>
                    <a:pt x="3788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1F35">
                    <a:alpha val="100000"/>
                  </a:srgbClr>
                </a:gs>
                <a:gs pos="100000">
                  <a:srgbClr val="0D3C82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545280" cy="5170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3172349" y="3040566"/>
            <a:ext cx="1160462" cy="422462"/>
            <a:chOff x="0" y="0"/>
            <a:chExt cx="516126" cy="18789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16126" cy="187894"/>
            </a:xfrm>
            <a:custGeom>
              <a:avLst/>
              <a:gdLst/>
              <a:ahLst/>
              <a:cxnLst/>
              <a:rect r="r" b="b" t="t" l="l"/>
              <a:pathLst>
                <a:path h="187894" w="516126">
                  <a:moveTo>
                    <a:pt x="46700" y="0"/>
                  </a:moveTo>
                  <a:lnTo>
                    <a:pt x="469426" y="0"/>
                  </a:lnTo>
                  <a:cubicBezTo>
                    <a:pt x="481812" y="0"/>
                    <a:pt x="493690" y="4920"/>
                    <a:pt x="502448" y="13678"/>
                  </a:cubicBezTo>
                  <a:cubicBezTo>
                    <a:pt x="511206" y="22436"/>
                    <a:pt x="516126" y="34314"/>
                    <a:pt x="516126" y="46700"/>
                  </a:cubicBezTo>
                  <a:lnTo>
                    <a:pt x="516126" y="141194"/>
                  </a:lnTo>
                  <a:cubicBezTo>
                    <a:pt x="516126" y="153579"/>
                    <a:pt x="511206" y="165458"/>
                    <a:pt x="502448" y="174216"/>
                  </a:cubicBezTo>
                  <a:cubicBezTo>
                    <a:pt x="493690" y="182974"/>
                    <a:pt x="481812" y="187894"/>
                    <a:pt x="469426" y="187894"/>
                  </a:cubicBezTo>
                  <a:lnTo>
                    <a:pt x="46700" y="187894"/>
                  </a:lnTo>
                  <a:cubicBezTo>
                    <a:pt x="34314" y="187894"/>
                    <a:pt x="22436" y="182974"/>
                    <a:pt x="13678" y="174216"/>
                  </a:cubicBezTo>
                  <a:cubicBezTo>
                    <a:pt x="4920" y="165458"/>
                    <a:pt x="0" y="153579"/>
                    <a:pt x="0" y="141194"/>
                  </a:cubicBezTo>
                  <a:lnTo>
                    <a:pt x="0" y="46700"/>
                  </a:lnTo>
                  <a:cubicBezTo>
                    <a:pt x="0" y="34314"/>
                    <a:pt x="4920" y="22436"/>
                    <a:pt x="13678" y="13678"/>
                  </a:cubicBezTo>
                  <a:cubicBezTo>
                    <a:pt x="22436" y="4920"/>
                    <a:pt x="34314" y="0"/>
                    <a:pt x="467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D9D9D9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516126" cy="197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4453397" y="3003808"/>
            <a:ext cx="1226012" cy="1141155"/>
            <a:chOff x="0" y="0"/>
            <a:chExt cx="545280" cy="50753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45280" cy="507539"/>
            </a:xfrm>
            <a:custGeom>
              <a:avLst/>
              <a:gdLst/>
              <a:ahLst/>
              <a:cxnLst/>
              <a:rect r="r" b="b" t="t" l="l"/>
              <a:pathLst>
                <a:path h="507539" w="545280">
                  <a:moveTo>
                    <a:pt x="37888" y="0"/>
                  </a:moveTo>
                  <a:lnTo>
                    <a:pt x="507392" y="0"/>
                  </a:lnTo>
                  <a:cubicBezTo>
                    <a:pt x="517440" y="0"/>
                    <a:pt x="527077" y="3992"/>
                    <a:pt x="534183" y="11097"/>
                  </a:cubicBezTo>
                  <a:cubicBezTo>
                    <a:pt x="541288" y="18203"/>
                    <a:pt x="545280" y="27840"/>
                    <a:pt x="545280" y="37888"/>
                  </a:cubicBezTo>
                  <a:lnTo>
                    <a:pt x="545280" y="469650"/>
                  </a:lnTo>
                  <a:cubicBezTo>
                    <a:pt x="545280" y="490576"/>
                    <a:pt x="528317" y="507539"/>
                    <a:pt x="507392" y="507539"/>
                  </a:cubicBezTo>
                  <a:lnTo>
                    <a:pt x="37888" y="507539"/>
                  </a:lnTo>
                  <a:cubicBezTo>
                    <a:pt x="27840" y="507539"/>
                    <a:pt x="18203" y="503547"/>
                    <a:pt x="11097" y="496442"/>
                  </a:cubicBezTo>
                  <a:cubicBezTo>
                    <a:pt x="3992" y="489336"/>
                    <a:pt x="0" y="479699"/>
                    <a:pt x="0" y="469650"/>
                  </a:cubicBezTo>
                  <a:lnTo>
                    <a:pt x="0" y="37888"/>
                  </a:lnTo>
                  <a:cubicBezTo>
                    <a:pt x="0" y="27840"/>
                    <a:pt x="3992" y="18203"/>
                    <a:pt x="11097" y="11097"/>
                  </a:cubicBezTo>
                  <a:cubicBezTo>
                    <a:pt x="18203" y="3992"/>
                    <a:pt x="27840" y="0"/>
                    <a:pt x="3788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1F35">
                    <a:alpha val="100000"/>
                  </a:srgbClr>
                </a:gs>
                <a:gs pos="100000">
                  <a:srgbClr val="0D3C82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545280" cy="5170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4486172" y="3040566"/>
            <a:ext cx="1160462" cy="422462"/>
            <a:chOff x="0" y="0"/>
            <a:chExt cx="516126" cy="18789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16126" cy="187894"/>
            </a:xfrm>
            <a:custGeom>
              <a:avLst/>
              <a:gdLst/>
              <a:ahLst/>
              <a:cxnLst/>
              <a:rect r="r" b="b" t="t" l="l"/>
              <a:pathLst>
                <a:path h="187894" w="516126">
                  <a:moveTo>
                    <a:pt x="46700" y="0"/>
                  </a:moveTo>
                  <a:lnTo>
                    <a:pt x="469426" y="0"/>
                  </a:lnTo>
                  <a:cubicBezTo>
                    <a:pt x="481812" y="0"/>
                    <a:pt x="493690" y="4920"/>
                    <a:pt x="502448" y="13678"/>
                  </a:cubicBezTo>
                  <a:cubicBezTo>
                    <a:pt x="511206" y="22436"/>
                    <a:pt x="516126" y="34314"/>
                    <a:pt x="516126" y="46700"/>
                  </a:cubicBezTo>
                  <a:lnTo>
                    <a:pt x="516126" y="141194"/>
                  </a:lnTo>
                  <a:cubicBezTo>
                    <a:pt x="516126" y="153579"/>
                    <a:pt x="511206" y="165458"/>
                    <a:pt x="502448" y="174216"/>
                  </a:cubicBezTo>
                  <a:cubicBezTo>
                    <a:pt x="493690" y="182974"/>
                    <a:pt x="481812" y="187894"/>
                    <a:pt x="469426" y="187894"/>
                  </a:cubicBezTo>
                  <a:lnTo>
                    <a:pt x="46700" y="187894"/>
                  </a:lnTo>
                  <a:cubicBezTo>
                    <a:pt x="34314" y="187894"/>
                    <a:pt x="22436" y="182974"/>
                    <a:pt x="13678" y="174216"/>
                  </a:cubicBezTo>
                  <a:cubicBezTo>
                    <a:pt x="4920" y="165458"/>
                    <a:pt x="0" y="153579"/>
                    <a:pt x="0" y="141194"/>
                  </a:cubicBezTo>
                  <a:lnTo>
                    <a:pt x="0" y="46700"/>
                  </a:lnTo>
                  <a:cubicBezTo>
                    <a:pt x="0" y="34314"/>
                    <a:pt x="4920" y="22436"/>
                    <a:pt x="13678" y="13678"/>
                  </a:cubicBezTo>
                  <a:cubicBezTo>
                    <a:pt x="22436" y="4920"/>
                    <a:pt x="34314" y="0"/>
                    <a:pt x="467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D9D9D9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516126" cy="197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5767219" y="3003808"/>
            <a:ext cx="1226012" cy="1141155"/>
            <a:chOff x="0" y="0"/>
            <a:chExt cx="545280" cy="507539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45280" cy="507539"/>
            </a:xfrm>
            <a:custGeom>
              <a:avLst/>
              <a:gdLst/>
              <a:ahLst/>
              <a:cxnLst/>
              <a:rect r="r" b="b" t="t" l="l"/>
              <a:pathLst>
                <a:path h="507539" w="545280">
                  <a:moveTo>
                    <a:pt x="37888" y="0"/>
                  </a:moveTo>
                  <a:lnTo>
                    <a:pt x="507392" y="0"/>
                  </a:lnTo>
                  <a:cubicBezTo>
                    <a:pt x="517440" y="0"/>
                    <a:pt x="527077" y="3992"/>
                    <a:pt x="534183" y="11097"/>
                  </a:cubicBezTo>
                  <a:cubicBezTo>
                    <a:pt x="541288" y="18203"/>
                    <a:pt x="545280" y="27840"/>
                    <a:pt x="545280" y="37888"/>
                  </a:cubicBezTo>
                  <a:lnTo>
                    <a:pt x="545280" y="469650"/>
                  </a:lnTo>
                  <a:cubicBezTo>
                    <a:pt x="545280" y="490576"/>
                    <a:pt x="528317" y="507539"/>
                    <a:pt x="507392" y="507539"/>
                  </a:cubicBezTo>
                  <a:lnTo>
                    <a:pt x="37888" y="507539"/>
                  </a:lnTo>
                  <a:cubicBezTo>
                    <a:pt x="27840" y="507539"/>
                    <a:pt x="18203" y="503547"/>
                    <a:pt x="11097" y="496442"/>
                  </a:cubicBezTo>
                  <a:cubicBezTo>
                    <a:pt x="3992" y="489336"/>
                    <a:pt x="0" y="479699"/>
                    <a:pt x="0" y="469650"/>
                  </a:cubicBezTo>
                  <a:lnTo>
                    <a:pt x="0" y="37888"/>
                  </a:lnTo>
                  <a:cubicBezTo>
                    <a:pt x="0" y="27840"/>
                    <a:pt x="3992" y="18203"/>
                    <a:pt x="11097" y="11097"/>
                  </a:cubicBezTo>
                  <a:cubicBezTo>
                    <a:pt x="18203" y="3992"/>
                    <a:pt x="27840" y="0"/>
                    <a:pt x="3788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1F35">
                    <a:alpha val="100000"/>
                  </a:srgbClr>
                </a:gs>
                <a:gs pos="100000">
                  <a:srgbClr val="0D3C82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9525"/>
              <a:ext cx="545280" cy="5170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5799994" y="3040566"/>
            <a:ext cx="1160462" cy="422462"/>
            <a:chOff x="0" y="0"/>
            <a:chExt cx="516126" cy="18789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16126" cy="187894"/>
            </a:xfrm>
            <a:custGeom>
              <a:avLst/>
              <a:gdLst/>
              <a:ahLst/>
              <a:cxnLst/>
              <a:rect r="r" b="b" t="t" l="l"/>
              <a:pathLst>
                <a:path h="187894" w="516126">
                  <a:moveTo>
                    <a:pt x="46700" y="0"/>
                  </a:moveTo>
                  <a:lnTo>
                    <a:pt x="469426" y="0"/>
                  </a:lnTo>
                  <a:cubicBezTo>
                    <a:pt x="481812" y="0"/>
                    <a:pt x="493690" y="4920"/>
                    <a:pt x="502448" y="13678"/>
                  </a:cubicBezTo>
                  <a:cubicBezTo>
                    <a:pt x="511206" y="22436"/>
                    <a:pt x="516126" y="34314"/>
                    <a:pt x="516126" y="46700"/>
                  </a:cubicBezTo>
                  <a:lnTo>
                    <a:pt x="516126" y="141194"/>
                  </a:lnTo>
                  <a:cubicBezTo>
                    <a:pt x="516126" y="153579"/>
                    <a:pt x="511206" y="165458"/>
                    <a:pt x="502448" y="174216"/>
                  </a:cubicBezTo>
                  <a:cubicBezTo>
                    <a:pt x="493690" y="182974"/>
                    <a:pt x="481812" y="187894"/>
                    <a:pt x="469426" y="187894"/>
                  </a:cubicBezTo>
                  <a:lnTo>
                    <a:pt x="46700" y="187894"/>
                  </a:lnTo>
                  <a:cubicBezTo>
                    <a:pt x="34314" y="187894"/>
                    <a:pt x="22436" y="182974"/>
                    <a:pt x="13678" y="174216"/>
                  </a:cubicBezTo>
                  <a:cubicBezTo>
                    <a:pt x="4920" y="165458"/>
                    <a:pt x="0" y="153579"/>
                    <a:pt x="0" y="141194"/>
                  </a:cubicBezTo>
                  <a:lnTo>
                    <a:pt x="0" y="46700"/>
                  </a:lnTo>
                  <a:cubicBezTo>
                    <a:pt x="0" y="34314"/>
                    <a:pt x="4920" y="22436"/>
                    <a:pt x="13678" y="13678"/>
                  </a:cubicBezTo>
                  <a:cubicBezTo>
                    <a:pt x="22436" y="4920"/>
                    <a:pt x="34314" y="0"/>
                    <a:pt x="467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D9D9D9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516126" cy="197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511929" y="6024124"/>
            <a:ext cx="1529947" cy="1528428"/>
            <a:chOff x="0" y="0"/>
            <a:chExt cx="680458" cy="67978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80458" cy="679782"/>
            </a:xfrm>
            <a:custGeom>
              <a:avLst/>
              <a:gdLst/>
              <a:ahLst/>
              <a:cxnLst/>
              <a:rect r="r" b="b" t="t" l="l"/>
              <a:pathLst>
                <a:path h="679782" w="680458">
                  <a:moveTo>
                    <a:pt x="30362" y="0"/>
                  </a:moveTo>
                  <a:lnTo>
                    <a:pt x="650096" y="0"/>
                  </a:lnTo>
                  <a:cubicBezTo>
                    <a:pt x="658149" y="0"/>
                    <a:pt x="665871" y="3199"/>
                    <a:pt x="671565" y="8893"/>
                  </a:cubicBezTo>
                  <a:cubicBezTo>
                    <a:pt x="677259" y="14587"/>
                    <a:pt x="680458" y="22309"/>
                    <a:pt x="680458" y="30362"/>
                  </a:cubicBezTo>
                  <a:lnTo>
                    <a:pt x="680458" y="649421"/>
                  </a:lnTo>
                  <a:cubicBezTo>
                    <a:pt x="680458" y="666189"/>
                    <a:pt x="666865" y="679782"/>
                    <a:pt x="650096" y="679782"/>
                  </a:cubicBezTo>
                  <a:lnTo>
                    <a:pt x="30362" y="679782"/>
                  </a:lnTo>
                  <a:cubicBezTo>
                    <a:pt x="22309" y="679782"/>
                    <a:pt x="14587" y="676583"/>
                    <a:pt x="8893" y="670890"/>
                  </a:cubicBezTo>
                  <a:cubicBezTo>
                    <a:pt x="3199" y="665196"/>
                    <a:pt x="0" y="657473"/>
                    <a:pt x="0" y="649421"/>
                  </a:cubicBezTo>
                  <a:lnTo>
                    <a:pt x="0" y="30362"/>
                  </a:lnTo>
                  <a:cubicBezTo>
                    <a:pt x="0" y="13593"/>
                    <a:pt x="13593" y="0"/>
                    <a:pt x="3036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1F35">
                    <a:alpha val="100000"/>
                  </a:srgbClr>
                </a:gs>
                <a:gs pos="100000">
                  <a:srgbClr val="0D3C82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680458" cy="6893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552829" y="6060882"/>
            <a:ext cx="1448148" cy="422462"/>
            <a:chOff x="0" y="0"/>
            <a:chExt cx="644077" cy="187894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644077" cy="187894"/>
            </a:xfrm>
            <a:custGeom>
              <a:avLst/>
              <a:gdLst/>
              <a:ahLst/>
              <a:cxnLst/>
              <a:rect r="r" b="b" t="t" l="l"/>
              <a:pathLst>
                <a:path h="187894" w="644077">
                  <a:moveTo>
                    <a:pt x="37423" y="0"/>
                  </a:moveTo>
                  <a:lnTo>
                    <a:pt x="606654" y="0"/>
                  </a:lnTo>
                  <a:cubicBezTo>
                    <a:pt x="627322" y="0"/>
                    <a:pt x="644077" y="16755"/>
                    <a:pt x="644077" y="37423"/>
                  </a:cubicBezTo>
                  <a:lnTo>
                    <a:pt x="644077" y="150471"/>
                  </a:lnTo>
                  <a:cubicBezTo>
                    <a:pt x="644077" y="160396"/>
                    <a:pt x="640134" y="169915"/>
                    <a:pt x="633116" y="176933"/>
                  </a:cubicBezTo>
                  <a:cubicBezTo>
                    <a:pt x="626098" y="183951"/>
                    <a:pt x="616579" y="187894"/>
                    <a:pt x="606654" y="187894"/>
                  </a:cubicBezTo>
                  <a:lnTo>
                    <a:pt x="37423" y="187894"/>
                  </a:lnTo>
                  <a:cubicBezTo>
                    <a:pt x="16755" y="187894"/>
                    <a:pt x="0" y="171139"/>
                    <a:pt x="0" y="150471"/>
                  </a:cubicBezTo>
                  <a:lnTo>
                    <a:pt x="0" y="37423"/>
                  </a:lnTo>
                  <a:cubicBezTo>
                    <a:pt x="0" y="27498"/>
                    <a:pt x="3943" y="17979"/>
                    <a:pt x="10961" y="10961"/>
                  </a:cubicBezTo>
                  <a:cubicBezTo>
                    <a:pt x="17979" y="3943"/>
                    <a:pt x="27498" y="0"/>
                    <a:pt x="3742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D9D9D9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57" id="57"/>
            <p:cNvSpPr txBox="true"/>
            <p:nvPr/>
          </p:nvSpPr>
          <p:spPr>
            <a:xfrm>
              <a:off x="0" y="-9525"/>
              <a:ext cx="644077" cy="197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2151456" y="6024124"/>
            <a:ext cx="1529947" cy="1528428"/>
            <a:chOff x="0" y="0"/>
            <a:chExt cx="680458" cy="679782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80458" cy="679782"/>
            </a:xfrm>
            <a:custGeom>
              <a:avLst/>
              <a:gdLst/>
              <a:ahLst/>
              <a:cxnLst/>
              <a:rect r="r" b="b" t="t" l="l"/>
              <a:pathLst>
                <a:path h="679782" w="680458">
                  <a:moveTo>
                    <a:pt x="30362" y="0"/>
                  </a:moveTo>
                  <a:lnTo>
                    <a:pt x="650096" y="0"/>
                  </a:lnTo>
                  <a:cubicBezTo>
                    <a:pt x="658149" y="0"/>
                    <a:pt x="665871" y="3199"/>
                    <a:pt x="671565" y="8893"/>
                  </a:cubicBezTo>
                  <a:cubicBezTo>
                    <a:pt x="677259" y="14587"/>
                    <a:pt x="680458" y="22309"/>
                    <a:pt x="680458" y="30362"/>
                  </a:cubicBezTo>
                  <a:lnTo>
                    <a:pt x="680458" y="649421"/>
                  </a:lnTo>
                  <a:cubicBezTo>
                    <a:pt x="680458" y="666189"/>
                    <a:pt x="666865" y="679782"/>
                    <a:pt x="650096" y="679782"/>
                  </a:cubicBezTo>
                  <a:lnTo>
                    <a:pt x="30362" y="679782"/>
                  </a:lnTo>
                  <a:cubicBezTo>
                    <a:pt x="22309" y="679782"/>
                    <a:pt x="14587" y="676583"/>
                    <a:pt x="8893" y="670890"/>
                  </a:cubicBezTo>
                  <a:cubicBezTo>
                    <a:pt x="3199" y="665196"/>
                    <a:pt x="0" y="657473"/>
                    <a:pt x="0" y="649421"/>
                  </a:cubicBezTo>
                  <a:lnTo>
                    <a:pt x="0" y="30362"/>
                  </a:lnTo>
                  <a:cubicBezTo>
                    <a:pt x="0" y="13593"/>
                    <a:pt x="13593" y="0"/>
                    <a:pt x="3036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1F35">
                    <a:alpha val="100000"/>
                  </a:srgbClr>
                </a:gs>
                <a:gs pos="100000">
                  <a:srgbClr val="0D3C82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9525"/>
              <a:ext cx="680458" cy="6893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2192356" y="6060882"/>
            <a:ext cx="1448148" cy="422462"/>
            <a:chOff x="0" y="0"/>
            <a:chExt cx="644077" cy="187894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44077" cy="187894"/>
            </a:xfrm>
            <a:custGeom>
              <a:avLst/>
              <a:gdLst/>
              <a:ahLst/>
              <a:cxnLst/>
              <a:rect r="r" b="b" t="t" l="l"/>
              <a:pathLst>
                <a:path h="187894" w="644077">
                  <a:moveTo>
                    <a:pt x="37423" y="0"/>
                  </a:moveTo>
                  <a:lnTo>
                    <a:pt x="606654" y="0"/>
                  </a:lnTo>
                  <a:cubicBezTo>
                    <a:pt x="627322" y="0"/>
                    <a:pt x="644077" y="16755"/>
                    <a:pt x="644077" y="37423"/>
                  </a:cubicBezTo>
                  <a:lnTo>
                    <a:pt x="644077" y="150471"/>
                  </a:lnTo>
                  <a:cubicBezTo>
                    <a:pt x="644077" y="160396"/>
                    <a:pt x="640134" y="169915"/>
                    <a:pt x="633116" y="176933"/>
                  </a:cubicBezTo>
                  <a:cubicBezTo>
                    <a:pt x="626098" y="183951"/>
                    <a:pt x="616579" y="187894"/>
                    <a:pt x="606654" y="187894"/>
                  </a:cubicBezTo>
                  <a:lnTo>
                    <a:pt x="37423" y="187894"/>
                  </a:lnTo>
                  <a:cubicBezTo>
                    <a:pt x="16755" y="187894"/>
                    <a:pt x="0" y="171139"/>
                    <a:pt x="0" y="150471"/>
                  </a:cubicBezTo>
                  <a:lnTo>
                    <a:pt x="0" y="37423"/>
                  </a:lnTo>
                  <a:cubicBezTo>
                    <a:pt x="0" y="27498"/>
                    <a:pt x="3943" y="17979"/>
                    <a:pt x="10961" y="10961"/>
                  </a:cubicBezTo>
                  <a:cubicBezTo>
                    <a:pt x="17979" y="3943"/>
                    <a:pt x="27498" y="0"/>
                    <a:pt x="3742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D9D9D9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63" id="63"/>
            <p:cNvSpPr txBox="true"/>
            <p:nvPr/>
          </p:nvSpPr>
          <p:spPr>
            <a:xfrm>
              <a:off x="0" y="-9525"/>
              <a:ext cx="644077" cy="197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3790982" y="6024124"/>
            <a:ext cx="1529947" cy="1528428"/>
            <a:chOff x="0" y="0"/>
            <a:chExt cx="680458" cy="67978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80458" cy="679782"/>
            </a:xfrm>
            <a:custGeom>
              <a:avLst/>
              <a:gdLst/>
              <a:ahLst/>
              <a:cxnLst/>
              <a:rect r="r" b="b" t="t" l="l"/>
              <a:pathLst>
                <a:path h="679782" w="680458">
                  <a:moveTo>
                    <a:pt x="30362" y="0"/>
                  </a:moveTo>
                  <a:lnTo>
                    <a:pt x="650096" y="0"/>
                  </a:lnTo>
                  <a:cubicBezTo>
                    <a:pt x="658149" y="0"/>
                    <a:pt x="665871" y="3199"/>
                    <a:pt x="671565" y="8893"/>
                  </a:cubicBezTo>
                  <a:cubicBezTo>
                    <a:pt x="677259" y="14587"/>
                    <a:pt x="680458" y="22309"/>
                    <a:pt x="680458" y="30362"/>
                  </a:cubicBezTo>
                  <a:lnTo>
                    <a:pt x="680458" y="649421"/>
                  </a:lnTo>
                  <a:cubicBezTo>
                    <a:pt x="680458" y="666189"/>
                    <a:pt x="666865" y="679782"/>
                    <a:pt x="650096" y="679782"/>
                  </a:cubicBezTo>
                  <a:lnTo>
                    <a:pt x="30362" y="679782"/>
                  </a:lnTo>
                  <a:cubicBezTo>
                    <a:pt x="22309" y="679782"/>
                    <a:pt x="14587" y="676583"/>
                    <a:pt x="8893" y="670890"/>
                  </a:cubicBezTo>
                  <a:cubicBezTo>
                    <a:pt x="3199" y="665196"/>
                    <a:pt x="0" y="657473"/>
                    <a:pt x="0" y="649421"/>
                  </a:cubicBezTo>
                  <a:lnTo>
                    <a:pt x="0" y="30362"/>
                  </a:lnTo>
                  <a:cubicBezTo>
                    <a:pt x="0" y="13593"/>
                    <a:pt x="13593" y="0"/>
                    <a:pt x="3036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1F35">
                    <a:alpha val="100000"/>
                  </a:srgbClr>
                </a:gs>
                <a:gs pos="100000">
                  <a:srgbClr val="0D3C82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9525"/>
              <a:ext cx="680458" cy="6893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3831882" y="6060882"/>
            <a:ext cx="1448148" cy="422462"/>
            <a:chOff x="0" y="0"/>
            <a:chExt cx="644077" cy="187894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644077" cy="187894"/>
            </a:xfrm>
            <a:custGeom>
              <a:avLst/>
              <a:gdLst/>
              <a:ahLst/>
              <a:cxnLst/>
              <a:rect r="r" b="b" t="t" l="l"/>
              <a:pathLst>
                <a:path h="187894" w="644077">
                  <a:moveTo>
                    <a:pt x="37423" y="0"/>
                  </a:moveTo>
                  <a:lnTo>
                    <a:pt x="606654" y="0"/>
                  </a:lnTo>
                  <a:cubicBezTo>
                    <a:pt x="627322" y="0"/>
                    <a:pt x="644077" y="16755"/>
                    <a:pt x="644077" y="37423"/>
                  </a:cubicBezTo>
                  <a:lnTo>
                    <a:pt x="644077" y="150471"/>
                  </a:lnTo>
                  <a:cubicBezTo>
                    <a:pt x="644077" y="160396"/>
                    <a:pt x="640134" y="169915"/>
                    <a:pt x="633116" y="176933"/>
                  </a:cubicBezTo>
                  <a:cubicBezTo>
                    <a:pt x="626098" y="183951"/>
                    <a:pt x="616579" y="187894"/>
                    <a:pt x="606654" y="187894"/>
                  </a:cubicBezTo>
                  <a:lnTo>
                    <a:pt x="37423" y="187894"/>
                  </a:lnTo>
                  <a:cubicBezTo>
                    <a:pt x="16755" y="187894"/>
                    <a:pt x="0" y="171139"/>
                    <a:pt x="0" y="150471"/>
                  </a:cubicBezTo>
                  <a:lnTo>
                    <a:pt x="0" y="37423"/>
                  </a:lnTo>
                  <a:cubicBezTo>
                    <a:pt x="0" y="27498"/>
                    <a:pt x="3943" y="17979"/>
                    <a:pt x="10961" y="10961"/>
                  </a:cubicBezTo>
                  <a:cubicBezTo>
                    <a:pt x="17979" y="3943"/>
                    <a:pt x="27498" y="0"/>
                    <a:pt x="3742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D9D9D9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69" id="69"/>
            <p:cNvSpPr txBox="true"/>
            <p:nvPr/>
          </p:nvSpPr>
          <p:spPr>
            <a:xfrm>
              <a:off x="0" y="-9525"/>
              <a:ext cx="644077" cy="197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5430509" y="6024124"/>
            <a:ext cx="1529947" cy="1528428"/>
            <a:chOff x="0" y="0"/>
            <a:chExt cx="680458" cy="679782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680458" cy="679782"/>
            </a:xfrm>
            <a:custGeom>
              <a:avLst/>
              <a:gdLst/>
              <a:ahLst/>
              <a:cxnLst/>
              <a:rect r="r" b="b" t="t" l="l"/>
              <a:pathLst>
                <a:path h="679782" w="680458">
                  <a:moveTo>
                    <a:pt x="30362" y="0"/>
                  </a:moveTo>
                  <a:lnTo>
                    <a:pt x="650096" y="0"/>
                  </a:lnTo>
                  <a:cubicBezTo>
                    <a:pt x="658149" y="0"/>
                    <a:pt x="665871" y="3199"/>
                    <a:pt x="671565" y="8893"/>
                  </a:cubicBezTo>
                  <a:cubicBezTo>
                    <a:pt x="677259" y="14587"/>
                    <a:pt x="680458" y="22309"/>
                    <a:pt x="680458" y="30362"/>
                  </a:cubicBezTo>
                  <a:lnTo>
                    <a:pt x="680458" y="649421"/>
                  </a:lnTo>
                  <a:cubicBezTo>
                    <a:pt x="680458" y="666189"/>
                    <a:pt x="666865" y="679782"/>
                    <a:pt x="650096" y="679782"/>
                  </a:cubicBezTo>
                  <a:lnTo>
                    <a:pt x="30362" y="679782"/>
                  </a:lnTo>
                  <a:cubicBezTo>
                    <a:pt x="22309" y="679782"/>
                    <a:pt x="14587" y="676583"/>
                    <a:pt x="8893" y="670890"/>
                  </a:cubicBezTo>
                  <a:cubicBezTo>
                    <a:pt x="3199" y="665196"/>
                    <a:pt x="0" y="657473"/>
                    <a:pt x="0" y="649421"/>
                  </a:cubicBezTo>
                  <a:lnTo>
                    <a:pt x="0" y="30362"/>
                  </a:lnTo>
                  <a:cubicBezTo>
                    <a:pt x="0" y="13593"/>
                    <a:pt x="13593" y="0"/>
                    <a:pt x="3036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1F35">
                    <a:alpha val="100000"/>
                  </a:srgbClr>
                </a:gs>
                <a:gs pos="100000">
                  <a:srgbClr val="0D3C82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9525"/>
              <a:ext cx="680458" cy="6893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5471409" y="6060882"/>
            <a:ext cx="1448148" cy="422462"/>
            <a:chOff x="0" y="0"/>
            <a:chExt cx="644077" cy="187894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44077" cy="187894"/>
            </a:xfrm>
            <a:custGeom>
              <a:avLst/>
              <a:gdLst/>
              <a:ahLst/>
              <a:cxnLst/>
              <a:rect r="r" b="b" t="t" l="l"/>
              <a:pathLst>
                <a:path h="187894" w="644077">
                  <a:moveTo>
                    <a:pt x="37423" y="0"/>
                  </a:moveTo>
                  <a:lnTo>
                    <a:pt x="606654" y="0"/>
                  </a:lnTo>
                  <a:cubicBezTo>
                    <a:pt x="627322" y="0"/>
                    <a:pt x="644077" y="16755"/>
                    <a:pt x="644077" y="37423"/>
                  </a:cubicBezTo>
                  <a:lnTo>
                    <a:pt x="644077" y="150471"/>
                  </a:lnTo>
                  <a:cubicBezTo>
                    <a:pt x="644077" y="160396"/>
                    <a:pt x="640134" y="169915"/>
                    <a:pt x="633116" y="176933"/>
                  </a:cubicBezTo>
                  <a:cubicBezTo>
                    <a:pt x="626098" y="183951"/>
                    <a:pt x="616579" y="187894"/>
                    <a:pt x="606654" y="187894"/>
                  </a:cubicBezTo>
                  <a:lnTo>
                    <a:pt x="37423" y="187894"/>
                  </a:lnTo>
                  <a:cubicBezTo>
                    <a:pt x="16755" y="187894"/>
                    <a:pt x="0" y="171139"/>
                    <a:pt x="0" y="150471"/>
                  </a:cubicBezTo>
                  <a:lnTo>
                    <a:pt x="0" y="37423"/>
                  </a:lnTo>
                  <a:cubicBezTo>
                    <a:pt x="0" y="27498"/>
                    <a:pt x="3943" y="17979"/>
                    <a:pt x="10961" y="10961"/>
                  </a:cubicBezTo>
                  <a:cubicBezTo>
                    <a:pt x="17979" y="3943"/>
                    <a:pt x="27498" y="0"/>
                    <a:pt x="3742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D9D9D9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75" id="75"/>
            <p:cNvSpPr txBox="true"/>
            <p:nvPr/>
          </p:nvSpPr>
          <p:spPr>
            <a:xfrm>
              <a:off x="0" y="-9525"/>
              <a:ext cx="644077" cy="197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sp>
        <p:nvSpPr>
          <p:cNvPr name="TextBox 76" id="76"/>
          <p:cNvSpPr txBox="true"/>
          <p:nvPr/>
        </p:nvSpPr>
        <p:spPr>
          <a:xfrm rot="0">
            <a:off x="499779" y="7883827"/>
            <a:ext cx="604800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850"/>
              </a:lnSpc>
              <a:spcBef>
                <a:spcPct val="0"/>
              </a:spcBef>
            </a:pPr>
            <a:r>
              <a:rPr lang="en-US" b="true" sz="3000">
                <a:gradFill>
                  <a:gsLst>
                    <a:gs pos="0">
                      <a:srgbClr val="00352F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2700000"/>
                </a:gradFill>
                <a:latin typeface="DM Sans Bold"/>
                <a:ea typeface="DM Sans Bold"/>
                <a:cs typeface="DM Sans Bold"/>
                <a:sym typeface="DM Sans Bold"/>
              </a:rPr>
              <a:t>Participant Benefit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3865355" y="6515581"/>
            <a:ext cx="1406747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  <a:spcBef>
                <a:spcPct val="0"/>
              </a:spcBef>
            </a:pPr>
            <a:r>
              <a:rPr lang="en-US" b="true" sz="999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D9D9D9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Apply learning through assignments and equity research reports.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5525385" y="6502881"/>
            <a:ext cx="1340195" cy="1012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  <a:spcBef>
                <a:spcPct val="0"/>
              </a:spcBef>
            </a:pPr>
            <a:r>
              <a:rPr lang="en-US" b="true" sz="999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D9D9D9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The top 10 finalists present their research and investment recommendations to judges via Discord.</a:t>
            </a:r>
          </a:p>
        </p:txBody>
      </p:sp>
      <p:sp>
        <p:nvSpPr>
          <p:cNvPr name="Freeform 79" id="79"/>
          <p:cNvSpPr/>
          <p:nvPr/>
        </p:nvSpPr>
        <p:spPr>
          <a:xfrm flipH="false" flipV="false" rot="0">
            <a:off x="412557" y="8471313"/>
            <a:ext cx="321124" cy="284202"/>
          </a:xfrm>
          <a:custGeom>
            <a:avLst/>
            <a:gdLst/>
            <a:ahLst/>
            <a:cxnLst/>
            <a:rect r="r" b="b" t="t" l="l"/>
            <a:pathLst>
              <a:path h="284202" w="321124">
                <a:moveTo>
                  <a:pt x="0" y="0"/>
                </a:moveTo>
                <a:lnTo>
                  <a:pt x="321124" y="0"/>
                </a:lnTo>
                <a:lnTo>
                  <a:pt x="321124" y="284202"/>
                </a:lnTo>
                <a:lnTo>
                  <a:pt x="0" y="2842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8367" t="-144434" r="-415776" b="-139546"/>
            </a:stretch>
          </a:blipFill>
        </p:spPr>
      </p:sp>
      <p:grpSp>
        <p:nvGrpSpPr>
          <p:cNvPr name="Group 80" id="80"/>
          <p:cNvGrpSpPr/>
          <p:nvPr/>
        </p:nvGrpSpPr>
        <p:grpSpPr>
          <a:xfrm rot="0">
            <a:off x="1531584" y="8373954"/>
            <a:ext cx="1052794" cy="1370218"/>
            <a:chOff x="0" y="0"/>
            <a:chExt cx="532583" cy="69316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32583" cy="693160"/>
            </a:xfrm>
            <a:custGeom>
              <a:avLst/>
              <a:gdLst/>
              <a:ahLst/>
              <a:cxnLst/>
              <a:rect r="r" b="b" t="t" l="l"/>
              <a:pathLst>
                <a:path h="693160" w="532583">
                  <a:moveTo>
                    <a:pt x="44122" y="0"/>
                  </a:moveTo>
                  <a:lnTo>
                    <a:pt x="488460" y="0"/>
                  </a:lnTo>
                  <a:cubicBezTo>
                    <a:pt x="512828" y="0"/>
                    <a:pt x="532583" y="19754"/>
                    <a:pt x="532583" y="44122"/>
                  </a:cubicBezTo>
                  <a:lnTo>
                    <a:pt x="532583" y="649038"/>
                  </a:lnTo>
                  <a:cubicBezTo>
                    <a:pt x="532583" y="660739"/>
                    <a:pt x="527934" y="671962"/>
                    <a:pt x="519660" y="680237"/>
                  </a:cubicBezTo>
                  <a:cubicBezTo>
                    <a:pt x="511385" y="688511"/>
                    <a:pt x="500162" y="693160"/>
                    <a:pt x="488460" y="693160"/>
                  </a:cubicBezTo>
                  <a:lnTo>
                    <a:pt x="44122" y="693160"/>
                  </a:lnTo>
                  <a:cubicBezTo>
                    <a:pt x="19754" y="693160"/>
                    <a:pt x="0" y="673406"/>
                    <a:pt x="0" y="649038"/>
                  </a:cubicBezTo>
                  <a:lnTo>
                    <a:pt x="0" y="44122"/>
                  </a:lnTo>
                  <a:cubicBezTo>
                    <a:pt x="0" y="19754"/>
                    <a:pt x="19754" y="0"/>
                    <a:pt x="44122" y="0"/>
                  </a:cubicBezTo>
                  <a:close/>
                </a:path>
              </a:pathLst>
            </a:custGeom>
            <a:ln w="9525" cap="sq">
              <a:gradFill>
                <a:gsLst>
                  <a:gs pos="0">
                    <a:srgbClr val="002036">
                      <a:alpha val="100000"/>
                    </a:srgbClr>
                  </a:gs>
                  <a:gs pos="100000">
                    <a:srgbClr val="13607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82" id="82"/>
            <p:cNvSpPr txBox="true"/>
            <p:nvPr/>
          </p:nvSpPr>
          <p:spPr>
            <a:xfrm>
              <a:off x="0" y="-9525"/>
              <a:ext cx="532583" cy="7026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5022361" y="8367015"/>
            <a:ext cx="1052794" cy="1370218"/>
            <a:chOff x="0" y="0"/>
            <a:chExt cx="532583" cy="69316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532583" cy="693160"/>
            </a:xfrm>
            <a:custGeom>
              <a:avLst/>
              <a:gdLst/>
              <a:ahLst/>
              <a:cxnLst/>
              <a:rect r="r" b="b" t="t" l="l"/>
              <a:pathLst>
                <a:path h="693160" w="532583">
                  <a:moveTo>
                    <a:pt x="44122" y="0"/>
                  </a:moveTo>
                  <a:lnTo>
                    <a:pt x="488460" y="0"/>
                  </a:lnTo>
                  <a:cubicBezTo>
                    <a:pt x="512828" y="0"/>
                    <a:pt x="532583" y="19754"/>
                    <a:pt x="532583" y="44122"/>
                  </a:cubicBezTo>
                  <a:lnTo>
                    <a:pt x="532583" y="649038"/>
                  </a:lnTo>
                  <a:cubicBezTo>
                    <a:pt x="532583" y="660739"/>
                    <a:pt x="527934" y="671962"/>
                    <a:pt x="519660" y="680237"/>
                  </a:cubicBezTo>
                  <a:cubicBezTo>
                    <a:pt x="511385" y="688511"/>
                    <a:pt x="500162" y="693160"/>
                    <a:pt x="488460" y="693160"/>
                  </a:cubicBezTo>
                  <a:lnTo>
                    <a:pt x="44122" y="693160"/>
                  </a:lnTo>
                  <a:cubicBezTo>
                    <a:pt x="19754" y="693160"/>
                    <a:pt x="0" y="673406"/>
                    <a:pt x="0" y="649038"/>
                  </a:cubicBezTo>
                  <a:lnTo>
                    <a:pt x="0" y="44122"/>
                  </a:lnTo>
                  <a:cubicBezTo>
                    <a:pt x="0" y="19754"/>
                    <a:pt x="19754" y="0"/>
                    <a:pt x="44122" y="0"/>
                  </a:cubicBezTo>
                  <a:close/>
                </a:path>
              </a:pathLst>
            </a:custGeom>
            <a:ln w="9525" cap="sq">
              <a:gradFill>
                <a:gsLst>
                  <a:gs pos="0">
                    <a:srgbClr val="002036">
                      <a:alpha val="100000"/>
                    </a:srgbClr>
                  </a:gs>
                  <a:gs pos="100000">
                    <a:srgbClr val="13607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85" id="85"/>
            <p:cNvSpPr txBox="true"/>
            <p:nvPr/>
          </p:nvSpPr>
          <p:spPr>
            <a:xfrm>
              <a:off x="0" y="-9525"/>
              <a:ext cx="532583" cy="7026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sp>
        <p:nvSpPr>
          <p:cNvPr name="Freeform 86" id="86"/>
          <p:cNvSpPr/>
          <p:nvPr/>
        </p:nvSpPr>
        <p:spPr>
          <a:xfrm flipH="false" flipV="false" rot="0">
            <a:off x="1595631" y="8431566"/>
            <a:ext cx="353949" cy="344507"/>
          </a:xfrm>
          <a:custGeom>
            <a:avLst/>
            <a:gdLst/>
            <a:ahLst/>
            <a:cxnLst/>
            <a:rect r="r" b="b" t="t" l="l"/>
            <a:pathLst>
              <a:path h="344507" w="353949">
                <a:moveTo>
                  <a:pt x="0" y="0"/>
                </a:moveTo>
                <a:lnTo>
                  <a:pt x="353949" y="0"/>
                </a:lnTo>
                <a:lnTo>
                  <a:pt x="353949" y="344507"/>
                </a:lnTo>
                <a:lnTo>
                  <a:pt x="0" y="3445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73" t="0" r="-473" b="-2771"/>
            </a:stretch>
          </a:blipFill>
        </p:spPr>
      </p:sp>
      <p:sp>
        <p:nvSpPr>
          <p:cNvPr name="Freeform 87" id="87"/>
          <p:cNvSpPr/>
          <p:nvPr/>
        </p:nvSpPr>
        <p:spPr>
          <a:xfrm flipH="false" flipV="false" rot="0">
            <a:off x="6256130" y="8579152"/>
            <a:ext cx="961541" cy="176363"/>
          </a:xfrm>
          <a:custGeom>
            <a:avLst/>
            <a:gdLst/>
            <a:ahLst/>
            <a:cxnLst/>
            <a:rect r="r" b="b" t="t" l="l"/>
            <a:pathLst>
              <a:path h="176363" w="961541">
                <a:moveTo>
                  <a:pt x="0" y="0"/>
                </a:moveTo>
                <a:lnTo>
                  <a:pt x="961541" y="0"/>
                </a:lnTo>
                <a:lnTo>
                  <a:pt x="961541" y="176363"/>
                </a:lnTo>
                <a:lnTo>
                  <a:pt x="0" y="1763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1907" r="-1035" b="-51595"/>
            </a:stretch>
          </a:blipFill>
        </p:spPr>
      </p:sp>
      <p:sp>
        <p:nvSpPr>
          <p:cNvPr name="Freeform 88" id="88"/>
          <p:cNvSpPr/>
          <p:nvPr/>
        </p:nvSpPr>
        <p:spPr>
          <a:xfrm flipH="false" flipV="false" rot="0">
            <a:off x="3937760" y="8524690"/>
            <a:ext cx="916248" cy="230825"/>
          </a:xfrm>
          <a:custGeom>
            <a:avLst/>
            <a:gdLst/>
            <a:ahLst/>
            <a:cxnLst/>
            <a:rect r="r" b="b" t="t" l="l"/>
            <a:pathLst>
              <a:path h="230825" w="916248">
                <a:moveTo>
                  <a:pt x="0" y="0"/>
                </a:moveTo>
                <a:lnTo>
                  <a:pt x="916248" y="0"/>
                </a:lnTo>
                <a:lnTo>
                  <a:pt x="916248" y="230825"/>
                </a:lnTo>
                <a:lnTo>
                  <a:pt x="0" y="2308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4705" r="0" b="-7737"/>
            </a:stretch>
          </a:blipFill>
        </p:spPr>
      </p:sp>
      <p:sp>
        <p:nvSpPr>
          <p:cNvPr name="Freeform 89" id="89"/>
          <p:cNvSpPr/>
          <p:nvPr/>
        </p:nvSpPr>
        <p:spPr>
          <a:xfrm flipH="false" flipV="false" rot="0">
            <a:off x="5064139" y="8589659"/>
            <a:ext cx="982691" cy="165856"/>
          </a:xfrm>
          <a:custGeom>
            <a:avLst/>
            <a:gdLst/>
            <a:ahLst/>
            <a:cxnLst/>
            <a:rect r="r" b="b" t="t" l="l"/>
            <a:pathLst>
              <a:path h="165856" w="982691">
                <a:moveTo>
                  <a:pt x="0" y="0"/>
                </a:moveTo>
                <a:lnTo>
                  <a:pt x="982692" y="0"/>
                </a:lnTo>
                <a:lnTo>
                  <a:pt x="982692" y="165856"/>
                </a:lnTo>
                <a:lnTo>
                  <a:pt x="0" y="1658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2069" r="0" b="-7542"/>
            </a:stretch>
          </a:blipFill>
        </p:spPr>
      </p:sp>
      <p:sp>
        <p:nvSpPr>
          <p:cNvPr name="TextBox 90" id="90"/>
          <p:cNvSpPr txBox="true"/>
          <p:nvPr/>
        </p:nvSpPr>
        <p:spPr>
          <a:xfrm rot="0">
            <a:off x="3911346" y="8895296"/>
            <a:ext cx="972129" cy="229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984"/>
              </a:lnSpc>
              <a:spcBef>
                <a:spcPct val="0"/>
              </a:spcBef>
            </a:pPr>
            <a:r>
              <a:rPr lang="en-US" b="true" sz="703">
                <a:gradFill>
                  <a:gsLst>
                    <a:gs pos="0">
                      <a:srgbClr val="6B6B6B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Winner Opportunity: WPPE / WMI Training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3919200" y="9232874"/>
            <a:ext cx="934808" cy="174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38"/>
              </a:lnSpc>
              <a:spcBef>
                <a:spcPct val="0"/>
              </a:spcBef>
            </a:pPr>
            <a:r>
              <a:rPr lang="en-US" sz="52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2700000"/>
                </a:gradFill>
                <a:latin typeface="DM Sans"/>
                <a:ea typeface="DM Sans"/>
                <a:cs typeface="DM Sans"/>
                <a:sym typeface="DM Sans"/>
              </a:rPr>
              <a:t>For winne</a:t>
            </a:r>
            <a:r>
              <a:rPr lang="en-US" sz="52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2700000"/>
                </a:gradFill>
                <a:latin typeface="DM Sans"/>
                <a:ea typeface="DM Sans"/>
                <a:cs typeface="DM Sans"/>
                <a:sym typeface="DM Sans"/>
              </a:rPr>
              <a:t>rs; subject to partner terms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1075124" y="789276"/>
            <a:ext cx="230303" cy="388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2"/>
              </a:lnSpc>
            </a:pPr>
            <a:r>
              <a:rPr lang="en-US" b="true" sz="3101" spc="-254">
                <a:gradFill>
                  <a:gsLst>
                    <a:gs pos="0">
                      <a:srgbClr val="6B6B6B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x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499779" y="1646678"/>
            <a:ext cx="604800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850"/>
              </a:lnSpc>
              <a:spcBef>
                <a:spcPct val="0"/>
              </a:spcBef>
            </a:pPr>
            <a:r>
              <a:rPr lang="en-US" b="true" sz="3000">
                <a:gradFill>
                  <a:gsLst>
                    <a:gs pos="0">
                      <a:srgbClr val="00352F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2700000"/>
                </a:gradFill>
                <a:latin typeface="DM Sans Bold"/>
                <a:ea typeface="DM Sans Bold"/>
                <a:cs typeface="DM Sans Bold"/>
                <a:sym typeface="DM Sans Bold"/>
              </a:rPr>
              <a:t>NIFI x ICMSS Equity Research Bootcamp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511929" y="2370578"/>
            <a:ext cx="6292071" cy="417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gradFill>
                  <a:gsLst>
                    <a:gs pos="0">
                      <a:srgbClr val="6B6B6B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An online bootcamp designed to help participants develop practical equity research skills through structured learning, assignments, and investment pitching.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598351" y="3053568"/>
            <a:ext cx="1073640" cy="386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1"/>
              </a:lnSpc>
              <a:spcBef>
                <a:spcPct val="0"/>
              </a:spcBef>
            </a:pPr>
            <a:r>
              <a:rPr lang="en-US" b="true" sz="1251">
                <a:solidFill>
                  <a:srgbClr val="002035"/>
                </a:solidFill>
                <a:latin typeface="DM Sans Bold"/>
                <a:ea typeface="DM Sans Bold"/>
                <a:cs typeface="DM Sans Bold"/>
                <a:sym typeface="DM Sans Bold"/>
              </a:rPr>
              <a:t>Learning Session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668880" y="3630876"/>
            <a:ext cx="912111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D9D9D9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8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1912173" y="3053568"/>
            <a:ext cx="1073640" cy="386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1"/>
              </a:lnSpc>
              <a:spcBef>
                <a:spcPct val="0"/>
              </a:spcBef>
            </a:pPr>
            <a:r>
              <a:rPr lang="en-US" b="true" sz="1251">
                <a:solidFill>
                  <a:srgbClr val="002035"/>
                </a:solidFill>
                <a:latin typeface="DM Sans Bold"/>
                <a:ea typeface="DM Sans Bold"/>
                <a:cs typeface="DM Sans Bold"/>
                <a:sym typeface="DM Sans Bold"/>
              </a:rPr>
              <a:t>Program Format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1982702" y="3606428"/>
            <a:ext cx="912111" cy="417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D9D9D9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Online Learning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3225996" y="3053568"/>
            <a:ext cx="1073640" cy="386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1"/>
              </a:lnSpc>
              <a:spcBef>
                <a:spcPct val="0"/>
              </a:spcBef>
            </a:pPr>
            <a:r>
              <a:rPr lang="en-US" b="true" sz="1251">
                <a:solidFill>
                  <a:srgbClr val="002035"/>
                </a:solidFill>
                <a:latin typeface="DM Sans Bold"/>
                <a:ea typeface="DM Sans Bold"/>
                <a:cs typeface="DM Sans Bold"/>
                <a:sym typeface="DM Sans Bold"/>
              </a:rPr>
              <a:t>Planned Schedule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3296525" y="3476215"/>
            <a:ext cx="912111" cy="626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D9D9D9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Late November 2026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4539818" y="3053568"/>
            <a:ext cx="1073640" cy="386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1"/>
              </a:lnSpc>
              <a:spcBef>
                <a:spcPct val="0"/>
              </a:spcBef>
            </a:pPr>
            <a:r>
              <a:rPr lang="en-US" b="true" sz="1251">
                <a:solidFill>
                  <a:srgbClr val="002035"/>
                </a:solidFill>
                <a:latin typeface="DM Sans Bold"/>
                <a:ea typeface="DM Sans Bold"/>
                <a:cs typeface="DM Sans Bold"/>
                <a:sym typeface="DM Sans Bold"/>
              </a:rPr>
              <a:t>Registration Fee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4610347" y="3659389"/>
            <a:ext cx="912111" cy="207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06"/>
              </a:lnSpc>
              <a:spcBef>
                <a:spcPct val="0"/>
              </a:spcBef>
            </a:pPr>
            <a:r>
              <a:rPr lang="en-US" b="true" sz="1219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D9D9D9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Rp200.000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5853640" y="3147920"/>
            <a:ext cx="1073640" cy="198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1"/>
              </a:lnSpc>
              <a:spcBef>
                <a:spcPct val="0"/>
              </a:spcBef>
            </a:pPr>
            <a:r>
              <a:rPr lang="en-US" b="true" sz="1251">
                <a:solidFill>
                  <a:srgbClr val="002035"/>
                </a:solidFill>
                <a:latin typeface="DM Sans Bold"/>
                <a:ea typeface="DM Sans Bold"/>
                <a:cs typeface="DM Sans Bold"/>
                <a:sym typeface="DM Sans Bold"/>
              </a:rPr>
              <a:t>Final Stage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5924170" y="3580990"/>
            <a:ext cx="912111" cy="417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D9D9D9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Top 10 Finalist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511929" y="4798182"/>
            <a:ext cx="604800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850"/>
              </a:lnSpc>
              <a:spcBef>
                <a:spcPct val="0"/>
              </a:spcBef>
            </a:pPr>
            <a:r>
              <a:rPr lang="en-US" b="true" sz="3000">
                <a:gradFill>
                  <a:gsLst>
                    <a:gs pos="0">
                      <a:srgbClr val="00352F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2700000"/>
                </a:gradFill>
                <a:latin typeface="DM Sans Bold"/>
                <a:ea typeface="DM Sans Bold"/>
                <a:cs typeface="DM Sans Bold"/>
                <a:sym typeface="DM Sans Bold"/>
              </a:rPr>
              <a:t>From Financial Knowledge to Investment Recommendations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544210" y="1314143"/>
            <a:ext cx="6292071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gradFill>
                  <a:gsLst>
                    <a:gs pos="0">
                      <a:srgbClr val="6B6B6B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Program Overview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511929" y="4485762"/>
            <a:ext cx="6292071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gradFill>
                  <a:gsLst>
                    <a:gs pos="0">
                      <a:srgbClr val="6B6B6B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Learning Journey &amp; Participant Outcomes</a:t>
            </a:r>
          </a:p>
        </p:txBody>
      </p:sp>
      <p:sp>
        <p:nvSpPr>
          <p:cNvPr name="TextBox 108" id="108"/>
          <p:cNvSpPr txBox="true"/>
          <p:nvPr/>
        </p:nvSpPr>
        <p:spPr>
          <a:xfrm rot="0">
            <a:off x="619775" y="6073884"/>
            <a:ext cx="1339802" cy="386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1"/>
              </a:lnSpc>
              <a:spcBef>
                <a:spcPct val="0"/>
              </a:spcBef>
            </a:pPr>
            <a:r>
              <a:rPr lang="en-US" b="true" sz="1251">
                <a:solidFill>
                  <a:srgbClr val="002035"/>
                </a:solidFill>
                <a:latin typeface="DM Sans Bold"/>
                <a:ea typeface="DM Sans Bold"/>
                <a:cs typeface="DM Sans Bold"/>
                <a:sym typeface="DM Sans Bold"/>
              </a:rPr>
              <a:t>Foundation Classes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659736" y="6515581"/>
            <a:ext cx="1291381" cy="498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  <a:spcBef>
                <a:spcPct val="0"/>
              </a:spcBef>
            </a:pPr>
            <a:r>
              <a:rPr lang="en-US" b="true" sz="999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D9D9D9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Build a foundation in capital markets and equity research.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2224913" y="6073884"/>
            <a:ext cx="1339802" cy="386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1"/>
              </a:lnSpc>
              <a:spcBef>
                <a:spcPct val="0"/>
              </a:spcBef>
            </a:pPr>
            <a:r>
              <a:rPr lang="en-US" b="true" sz="1251">
                <a:solidFill>
                  <a:srgbClr val="002035"/>
                </a:solidFill>
                <a:latin typeface="DM Sans Bold"/>
                <a:ea typeface="DM Sans Bold"/>
                <a:cs typeface="DM Sans Bold"/>
                <a:sym typeface="DM Sans Bold"/>
              </a:rPr>
              <a:t>Equity Research Training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2247391" y="6511919"/>
            <a:ext cx="1338078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  <a:spcBef>
                <a:spcPct val="0"/>
              </a:spcBef>
            </a:pPr>
            <a:r>
              <a:rPr lang="en-US" b="true" sz="999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D9D9D9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Develop skills in company analysis, financial modeling, and research writing.</a:t>
            </a:r>
          </a:p>
        </p:txBody>
      </p:sp>
      <p:sp>
        <p:nvSpPr>
          <p:cNvPr name="TextBox 112" id="112"/>
          <p:cNvSpPr txBox="true"/>
          <p:nvPr/>
        </p:nvSpPr>
        <p:spPr>
          <a:xfrm rot="0">
            <a:off x="3898828" y="6050372"/>
            <a:ext cx="1339802" cy="386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1"/>
              </a:lnSpc>
              <a:spcBef>
                <a:spcPct val="0"/>
              </a:spcBef>
            </a:pPr>
            <a:r>
              <a:rPr lang="en-US" b="true" sz="1251">
                <a:solidFill>
                  <a:srgbClr val="002035"/>
                </a:solidFill>
                <a:latin typeface="DM Sans Bold"/>
                <a:ea typeface="DM Sans Bold"/>
                <a:cs typeface="DM Sans Bold"/>
                <a:sym typeface="DM Sans Bold"/>
              </a:rPr>
              <a:t>Assessment Process</a:t>
            </a:r>
          </a:p>
        </p:txBody>
      </p:sp>
      <p:sp>
        <p:nvSpPr>
          <p:cNvPr name="TextBox 113" id="113"/>
          <p:cNvSpPr txBox="true"/>
          <p:nvPr/>
        </p:nvSpPr>
        <p:spPr>
          <a:xfrm rot="0">
            <a:off x="5538355" y="6147949"/>
            <a:ext cx="1339802" cy="198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1"/>
              </a:lnSpc>
              <a:spcBef>
                <a:spcPct val="0"/>
              </a:spcBef>
            </a:pPr>
            <a:r>
              <a:rPr lang="en-US" b="true" sz="1251">
                <a:solidFill>
                  <a:srgbClr val="002035"/>
                </a:solidFill>
                <a:latin typeface="DM Sans Bold"/>
                <a:ea typeface="DM Sans Bold"/>
                <a:cs typeface="DM Sans Bold"/>
                <a:sym typeface="DM Sans Bold"/>
              </a:rPr>
              <a:t>Finalist Pitching</a:t>
            </a:r>
          </a:p>
        </p:txBody>
      </p:sp>
      <p:sp>
        <p:nvSpPr>
          <p:cNvPr name="TextBox 114" id="114"/>
          <p:cNvSpPr txBox="true"/>
          <p:nvPr/>
        </p:nvSpPr>
        <p:spPr>
          <a:xfrm rot="0">
            <a:off x="544704" y="5512557"/>
            <a:ext cx="6292071" cy="417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gradFill>
                  <a:gsLst>
                    <a:gs pos="0">
                      <a:srgbClr val="6B6B6B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A Structured Journey from foundational learning to research application and investment Pitching</a:t>
            </a:r>
          </a:p>
        </p:txBody>
      </p:sp>
      <p:sp>
        <p:nvSpPr>
          <p:cNvPr name="TextBox 115" id="115"/>
          <p:cNvSpPr txBox="true"/>
          <p:nvPr/>
        </p:nvSpPr>
        <p:spPr>
          <a:xfrm rot="0">
            <a:off x="412053" y="8895296"/>
            <a:ext cx="924373" cy="229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984"/>
              </a:lnSpc>
              <a:spcBef>
                <a:spcPct val="0"/>
              </a:spcBef>
            </a:pPr>
            <a:r>
              <a:rPr lang="en-US" b="true" sz="703">
                <a:gradFill>
                  <a:gsLst>
                    <a:gs pos="0">
                      <a:srgbClr val="6B6B6B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Equity Research Learning Materials</a:t>
            </a:r>
          </a:p>
        </p:txBody>
      </p:sp>
      <p:sp>
        <p:nvSpPr>
          <p:cNvPr name="TextBox 116" id="116"/>
          <p:cNvSpPr txBox="true"/>
          <p:nvPr/>
        </p:nvSpPr>
        <p:spPr>
          <a:xfrm rot="0">
            <a:off x="412557" y="9232874"/>
            <a:ext cx="934808" cy="174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38"/>
              </a:lnSpc>
              <a:spcBef>
                <a:spcPct val="0"/>
              </a:spcBef>
            </a:pPr>
            <a:r>
              <a:rPr lang="en-US" sz="52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2700000"/>
                </a:gradFill>
                <a:latin typeface="DM Sans"/>
                <a:ea typeface="DM Sans"/>
                <a:cs typeface="DM Sans"/>
                <a:sym typeface="DM Sans"/>
              </a:rPr>
              <a:t>Structured Modules and real case studies.</a:t>
            </a:r>
          </a:p>
        </p:txBody>
      </p:sp>
      <p:sp>
        <p:nvSpPr>
          <p:cNvPr name="TextBox 117" id="117"/>
          <p:cNvSpPr txBox="true"/>
          <p:nvPr/>
        </p:nvSpPr>
        <p:spPr>
          <a:xfrm rot="0">
            <a:off x="1580934" y="8895710"/>
            <a:ext cx="924373" cy="229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984"/>
              </a:lnSpc>
              <a:spcBef>
                <a:spcPct val="0"/>
              </a:spcBef>
            </a:pPr>
            <a:r>
              <a:rPr lang="en-US" b="true" sz="703">
                <a:gradFill>
                  <a:gsLst>
                    <a:gs pos="0">
                      <a:srgbClr val="6B6B6B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Professional Training Exposure</a:t>
            </a:r>
          </a:p>
        </p:txBody>
      </p:sp>
      <p:sp>
        <p:nvSpPr>
          <p:cNvPr name="TextBox 118" id="118"/>
          <p:cNvSpPr txBox="true"/>
          <p:nvPr/>
        </p:nvSpPr>
        <p:spPr>
          <a:xfrm rot="0">
            <a:off x="1581438" y="9232874"/>
            <a:ext cx="934808" cy="174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38"/>
              </a:lnSpc>
              <a:spcBef>
                <a:spcPct val="0"/>
              </a:spcBef>
            </a:pPr>
            <a:r>
              <a:rPr lang="en-US" sz="52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2700000"/>
                </a:gradFill>
                <a:latin typeface="DM Sans"/>
                <a:ea typeface="DM Sans"/>
                <a:cs typeface="DM Sans"/>
                <a:sym typeface="DM Sans"/>
              </a:rPr>
              <a:t>Learn f</a:t>
            </a:r>
            <a:r>
              <a:rPr lang="en-US" sz="52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2700000"/>
                </a:gradFill>
                <a:latin typeface="DM Sans"/>
                <a:ea typeface="DM Sans"/>
                <a:cs typeface="DM Sans"/>
                <a:sym typeface="DM Sans"/>
              </a:rPr>
              <a:t>rom industry experts &amp; practitioners.</a:t>
            </a:r>
          </a:p>
        </p:txBody>
      </p:sp>
      <p:sp>
        <p:nvSpPr>
          <p:cNvPr name="TextBox 119" id="119"/>
          <p:cNvSpPr txBox="true"/>
          <p:nvPr/>
        </p:nvSpPr>
        <p:spPr>
          <a:xfrm rot="0">
            <a:off x="2749458" y="8895710"/>
            <a:ext cx="971199" cy="229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984"/>
              </a:lnSpc>
              <a:spcBef>
                <a:spcPct val="0"/>
              </a:spcBef>
            </a:pPr>
            <a:r>
              <a:rPr lang="en-US" b="true" sz="703">
                <a:gradFill>
                  <a:gsLst>
                    <a:gs pos="0">
                      <a:srgbClr val="6B6B6B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Acces to International Competition</a:t>
            </a:r>
          </a:p>
        </p:txBody>
      </p:sp>
      <p:sp>
        <p:nvSpPr>
          <p:cNvPr name="TextBox 120" id="120"/>
          <p:cNvSpPr txBox="true"/>
          <p:nvPr/>
        </p:nvSpPr>
        <p:spPr>
          <a:xfrm rot="0">
            <a:off x="2750319" y="9232874"/>
            <a:ext cx="934808" cy="174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38"/>
              </a:lnSpc>
              <a:spcBef>
                <a:spcPct val="0"/>
              </a:spcBef>
            </a:pPr>
            <a:r>
              <a:rPr lang="en-US" sz="52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2700000"/>
                </a:gradFill>
                <a:latin typeface="DM Sans"/>
                <a:ea typeface="DM Sans"/>
                <a:cs typeface="DM Sans"/>
                <a:sym typeface="DM Sans"/>
              </a:rPr>
              <a:t>Free access for winner to attend ERC by ICMSS</a:t>
            </a:r>
          </a:p>
        </p:txBody>
      </p:sp>
      <p:sp>
        <p:nvSpPr>
          <p:cNvPr name="TextBox 121" id="121"/>
          <p:cNvSpPr txBox="true"/>
          <p:nvPr/>
        </p:nvSpPr>
        <p:spPr>
          <a:xfrm rot="0">
            <a:off x="5087577" y="8895296"/>
            <a:ext cx="924373" cy="229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984"/>
              </a:lnSpc>
              <a:spcBef>
                <a:spcPct val="0"/>
              </a:spcBef>
            </a:pPr>
            <a:r>
              <a:rPr lang="en-US" b="true" sz="703">
                <a:gradFill>
                  <a:gsLst>
                    <a:gs pos="0">
                      <a:srgbClr val="6B6B6B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Bloomberg Company Visit</a:t>
            </a:r>
          </a:p>
        </p:txBody>
      </p:sp>
      <p:sp>
        <p:nvSpPr>
          <p:cNvPr name="TextBox 122" id="122"/>
          <p:cNvSpPr txBox="true"/>
          <p:nvPr/>
        </p:nvSpPr>
        <p:spPr>
          <a:xfrm rot="0">
            <a:off x="5088081" y="9232874"/>
            <a:ext cx="934808" cy="442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38"/>
              </a:lnSpc>
              <a:spcBef>
                <a:spcPct val="0"/>
              </a:spcBef>
            </a:pPr>
            <a:r>
              <a:rPr lang="en-US" sz="52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2700000"/>
                </a:gradFill>
                <a:latin typeface="DM Sans"/>
                <a:ea typeface="DM Sans"/>
                <a:cs typeface="DM Sans"/>
                <a:sym typeface="DM Sans"/>
              </a:rPr>
              <a:t>Gain fi</a:t>
            </a:r>
            <a:r>
              <a:rPr lang="en-US" sz="52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2700000"/>
                </a:gradFill>
                <a:latin typeface="DM Sans"/>
                <a:ea typeface="DM Sans"/>
                <a:cs typeface="DM Sans"/>
                <a:sym typeface="DM Sans"/>
              </a:rPr>
              <a:t>rst-hand exposure to the financial industry and a professional working environment through a visit to Bloomberg.</a:t>
            </a:r>
          </a:p>
        </p:txBody>
      </p:sp>
      <p:grpSp>
        <p:nvGrpSpPr>
          <p:cNvPr name="Group 123" id="123"/>
          <p:cNvGrpSpPr/>
          <p:nvPr/>
        </p:nvGrpSpPr>
        <p:grpSpPr>
          <a:xfrm rot="0">
            <a:off x="6195483" y="8367015"/>
            <a:ext cx="1052794" cy="1370218"/>
            <a:chOff x="0" y="0"/>
            <a:chExt cx="532583" cy="693160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532583" cy="693160"/>
            </a:xfrm>
            <a:custGeom>
              <a:avLst/>
              <a:gdLst/>
              <a:ahLst/>
              <a:cxnLst/>
              <a:rect r="r" b="b" t="t" l="l"/>
              <a:pathLst>
                <a:path h="693160" w="532583">
                  <a:moveTo>
                    <a:pt x="44122" y="0"/>
                  </a:moveTo>
                  <a:lnTo>
                    <a:pt x="488460" y="0"/>
                  </a:lnTo>
                  <a:cubicBezTo>
                    <a:pt x="512828" y="0"/>
                    <a:pt x="532583" y="19754"/>
                    <a:pt x="532583" y="44122"/>
                  </a:cubicBezTo>
                  <a:lnTo>
                    <a:pt x="532583" y="649038"/>
                  </a:lnTo>
                  <a:cubicBezTo>
                    <a:pt x="532583" y="660739"/>
                    <a:pt x="527934" y="671962"/>
                    <a:pt x="519660" y="680237"/>
                  </a:cubicBezTo>
                  <a:cubicBezTo>
                    <a:pt x="511385" y="688511"/>
                    <a:pt x="500162" y="693160"/>
                    <a:pt x="488460" y="693160"/>
                  </a:cubicBezTo>
                  <a:lnTo>
                    <a:pt x="44122" y="693160"/>
                  </a:lnTo>
                  <a:cubicBezTo>
                    <a:pt x="19754" y="693160"/>
                    <a:pt x="0" y="673406"/>
                    <a:pt x="0" y="649038"/>
                  </a:cubicBezTo>
                  <a:lnTo>
                    <a:pt x="0" y="44122"/>
                  </a:lnTo>
                  <a:cubicBezTo>
                    <a:pt x="0" y="19754"/>
                    <a:pt x="19754" y="0"/>
                    <a:pt x="44122" y="0"/>
                  </a:cubicBezTo>
                  <a:close/>
                </a:path>
              </a:pathLst>
            </a:custGeom>
            <a:ln w="9525" cap="sq">
              <a:gradFill>
                <a:gsLst>
                  <a:gs pos="0">
                    <a:srgbClr val="002036">
                      <a:alpha val="100000"/>
                    </a:srgbClr>
                  </a:gs>
                  <a:gs pos="100000">
                    <a:srgbClr val="13607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25" id="125"/>
            <p:cNvSpPr txBox="true"/>
            <p:nvPr/>
          </p:nvSpPr>
          <p:spPr>
            <a:xfrm>
              <a:off x="0" y="-9525"/>
              <a:ext cx="532583" cy="7026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sp>
        <p:nvSpPr>
          <p:cNvPr name="Freeform 126" id="126"/>
          <p:cNvSpPr/>
          <p:nvPr/>
        </p:nvSpPr>
        <p:spPr>
          <a:xfrm flipH="false" flipV="false" rot="0">
            <a:off x="2785626" y="8445802"/>
            <a:ext cx="353949" cy="344507"/>
          </a:xfrm>
          <a:custGeom>
            <a:avLst/>
            <a:gdLst/>
            <a:ahLst/>
            <a:cxnLst/>
            <a:rect r="r" b="b" t="t" l="l"/>
            <a:pathLst>
              <a:path h="344507" w="353949">
                <a:moveTo>
                  <a:pt x="0" y="0"/>
                </a:moveTo>
                <a:lnTo>
                  <a:pt x="353948" y="0"/>
                </a:lnTo>
                <a:lnTo>
                  <a:pt x="353948" y="344507"/>
                </a:lnTo>
                <a:lnTo>
                  <a:pt x="0" y="3445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73" t="0" r="-473" b="-2771"/>
            </a:stretch>
          </a:blipFill>
        </p:spPr>
      </p:sp>
      <p:sp>
        <p:nvSpPr>
          <p:cNvPr name="TextBox 127" id="127"/>
          <p:cNvSpPr txBox="true"/>
          <p:nvPr/>
        </p:nvSpPr>
        <p:spPr>
          <a:xfrm rot="0">
            <a:off x="6244833" y="8888771"/>
            <a:ext cx="924373" cy="229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984"/>
              </a:lnSpc>
              <a:spcBef>
                <a:spcPct val="0"/>
              </a:spcBef>
            </a:pPr>
            <a:r>
              <a:rPr lang="en-US" b="true" sz="703">
                <a:gradFill>
                  <a:gsLst>
                    <a:gs pos="0">
                      <a:srgbClr val="6B6B6B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Arthara Subscription Access</a:t>
            </a:r>
          </a:p>
        </p:txBody>
      </p:sp>
      <p:sp>
        <p:nvSpPr>
          <p:cNvPr name="TextBox 128" id="128"/>
          <p:cNvSpPr txBox="true"/>
          <p:nvPr/>
        </p:nvSpPr>
        <p:spPr>
          <a:xfrm rot="0">
            <a:off x="6256130" y="9242460"/>
            <a:ext cx="934808" cy="174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38"/>
              </a:lnSpc>
              <a:spcBef>
                <a:spcPct val="0"/>
              </a:spcBef>
            </a:pPr>
            <a:r>
              <a:rPr lang="en-US" sz="52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2700000"/>
                </a:gradFill>
                <a:latin typeface="DM Sans"/>
                <a:ea typeface="DM Sans"/>
                <a:cs typeface="DM Sans"/>
                <a:sym typeface="DM Sans"/>
              </a:rPr>
              <a:t>Gain ac</a:t>
            </a:r>
            <a:r>
              <a:rPr lang="en-US" sz="52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2700000"/>
                </a:gradFill>
                <a:latin typeface="DM Sans"/>
                <a:ea typeface="DM Sans"/>
                <a:cs typeface="DM Sans"/>
                <a:sym typeface="DM Sans"/>
              </a:rPr>
              <a:t>cess to premium research platform</a:t>
            </a:r>
          </a:p>
        </p:txBody>
      </p:sp>
      <p:sp>
        <p:nvSpPr>
          <p:cNvPr name="TextBox 129" id="129"/>
          <p:cNvSpPr txBox="true"/>
          <p:nvPr/>
        </p:nvSpPr>
        <p:spPr>
          <a:xfrm rot="0">
            <a:off x="483846" y="10420770"/>
            <a:ext cx="6592309" cy="163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2"/>
              </a:lnSpc>
              <a:spcBef>
                <a:spcPct val="0"/>
              </a:spcBef>
            </a:pPr>
            <a:r>
              <a:rPr lang="en-US" sz="95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Confidential &amp; Proprietary © 2026 Not Into Finance &amp; Indonesia Capital Market Student Studies</a:t>
            </a:r>
            <a:r>
              <a:rPr lang="en-US" sz="95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. All right</a:t>
            </a:r>
            <a:r>
              <a:rPr lang="en-US" sz="95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 reserved.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3458383">
            <a:off x="2663526" y="-5093846"/>
            <a:ext cx="7460742" cy="746074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908">
                    <a:alpha val="14000"/>
                  </a:srgbClr>
                </a:gs>
                <a:gs pos="100000">
                  <a:srgbClr val="001614">
                    <a:alpha val="0"/>
                  </a:srgbClr>
                </a:gs>
              </a:gsLst>
              <a:lin ang="5400000"/>
            </a:gradFill>
            <a:ln w="19050" cap="sq">
              <a:gradFill>
                <a:gsLst>
                  <a:gs pos="0">
                    <a:srgbClr val="00352F">
                      <a:alpha val="14000"/>
                    </a:srgbClr>
                  </a:gs>
                  <a:gs pos="100000">
                    <a:srgbClr val="000000">
                      <a:alpha val="14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7371813">
            <a:off x="-3612334" y="4965206"/>
            <a:ext cx="7460742" cy="7460742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908">
                    <a:alpha val="14000"/>
                  </a:srgbClr>
                </a:gs>
                <a:gs pos="100000">
                  <a:srgbClr val="001614">
                    <a:alpha val="0"/>
                  </a:srgbClr>
                </a:gs>
              </a:gsLst>
              <a:lin ang="5400000"/>
            </a:gradFill>
            <a:ln w="19050" cap="sq">
              <a:gradFill>
                <a:gsLst>
                  <a:gs pos="0">
                    <a:srgbClr val="00352F">
                      <a:alpha val="14000"/>
                    </a:srgbClr>
                  </a:gs>
                  <a:gs pos="100000">
                    <a:srgbClr val="000000">
                      <a:alpha val="14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548" y="2935853"/>
            <a:ext cx="1640801" cy="1001965"/>
            <a:chOff x="0" y="0"/>
            <a:chExt cx="588026" cy="35908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88026" cy="359082"/>
            </a:xfrm>
            <a:custGeom>
              <a:avLst/>
              <a:gdLst/>
              <a:ahLst/>
              <a:cxnLst/>
              <a:rect r="r" b="b" t="t" l="l"/>
              <a:pathLst>
                <a:path h="359082" w="588026">
                  <a:moveTo>
                    <a:pt x="28310" y="0"/>
                  </a:moveTo>
                  <a:lnTo>
                    <a:pt x="559716" y="0"/>
                  </a:lnTo>
                  <a:cubicBezTo>
                    <a:pt x="575351" y="0"/>
                    <a:pt x="588026" y="12675"/>
                    <a:pt x="588026" y="28310"/>
                  </a:cubicBezTo>
                  <a:lnTo>
                    <a:pt x="588026" y="330771"/>
                  </a:lnTo>
                  <a:cubicBezTo>
                    <a:pt x="588026" y="346407"/>
                    <a:pt x="575351" y="359082"/>
                    <a:pt x="559716" y="359082"/>
                  </a:cubicBezTo>
                  <a:lnTo>
                    <a:pt x="28310" y="359082"/>
                  </a:lnTo>
                  <a:cubicBezTo>
                    <a:pt x="12675" y="359082"/>
                    <a:pt x="0" y="346407"/>
                    <a:pt x="0" y="330771"/>
                  </a:cubicBezTo>
                  <a:lnTo>
                    <a:pt x="0" y="28310"/>
                  </a:lnTo>
                  <a:cubicBezTo>
                    <a:pt x="0" y="12675"/>
                    <a:pt x="12675" y="0"/>
                    <a:pt x="2831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1F35">
                    <a:alpha val="100000"/>
                  </a:srgbClr>
                </a:gs>
                <a:gs pos="100000">
                  <a:srgbClr val="0D3C82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588026" cy="3686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73412" y="2981471"/>
            <a:ext cx="1553074" cy="345984"/>
            <a:chOff x="0" y="0"/>
            <a:chExt cx="556587" cy="12399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56587" cy="123993"/>
            </a:xfrm>
            <a:custGeom>
              <a:avLst/>
              <a:gdLst/>
              <a:ahLst/>
              <a:cxnLst/>
              <a:rect r="r" b="b" t="t" l="l"/>
              <a:pathLst>
                <a:path h="123993" w="556587">
                  <a:moveTo>
                    <a:pt x="34894" y="0"/>
                  </a:moveTo>
                  <a:lnTo>
                    <a:pt x="521692" y="0"/>
                  </a:lnTo>
                  <a:cubicBezTo>
                    <a:pt x="530947" y="0"/>
                    <a:pt x="539822" y="3676"/>
                    <a:pt x="546366" y="10220"/>
                  </a:cubicBezTo>
                  <a:cubicBezTo>
                    <a:pt x="552910" y="16764"/>
                    <a:pt x="556587" y="25640"/>
                    <a:pt x="556587" y="34894"/>
                  </a:cubicBezTo>
                  <a:lnTo>
                    <a:pt x="556587" y="89099"/>
                  </a:lnTo>
                  <a:cubicBezTo>
                    <a:pt x="556587" y="98353"/>
                    <a:pt x="552910" y="107229"/>
                    <a:pt x="546366" y="113773"/>
                  </a:cubicBezTo>
                  <a:cubicBezTo>
                    <a:pt x="539822" y="120316"/>
                    <a:pt x="530947" y="123993"/>
                    <a:pt x="521692" y="123993"/>
                  </a:cubicBezTo>
                  <a:lnTo>
                    <a:pt x="34894" y="123993"/>
                  </a:lnTo>
                  <a:cubicBezTo>
                    <a:pt x="25640" y="123993"/>
                    <a:pt x="16764" y="120316"/>
                    <a:pt x="10220" y="113773"/>
                  </a:cubicBezTo>
                  <a:cubicBezTo>
                    <a:pt x="3676" y="107229"/>
                    <a:pt x="0" y="98353"/>
                    <a:pt x="0" y="89099"/>
                  </a:cubicBezTo>
                  <a:lnTo>
                    <a:pt x="0" y="34894"/>
                  </a:lnTo>
                  <a:cubicBezTo>
                    <a:pt x="0" y="25640"/>
                    <a:pt x="3676" y="16764"/>
                    <a:pt x="10220" y="10220"/>
                  </a:cubicBezTo>
                  <a:cubicBezTo>
                    <a:pt x="16764" y="3676"/>
                    <a:pt x="25640" y="0"/>
                    <a:pt x="3489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D9D9D9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556587" cy="1335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230761" y="3037385"/>
            <a:ext cx="1038375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b="true" sz="1400">
                <a:solidFill>
                  <a:srgbClr val="00352F"/>
                </a:solidFill>
                <a:latin typeface="DM Sans Bold"/>
                <a:ea typeface="DM Sans Bold"/>
                <a:cs typeface="DM Sans Bold"/>
                <a:sym typeface="DM Sans Bold"/>
              </a:rPr>
              <a:t>2 November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39599" y="3516355"/>
            <a:ext cx="1220700" cy="169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23"/>
              </a:lnSpc>
              <a:spcBef>
                <a:spcPct val="0"/>
              </a:spcBef>
            </a:pPr>
            <a:r>
              <a:rPr lang="en-US" b="true" sz="1016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D9D9D9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Registration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2842611" y="2935853"/>
            <a:ext cx="1640801" cy="1001965"/>
            <a:chOff x="0" y="0"/>
            <a:chExt cx="588026" cy="35908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88026" cy="359082"/>
            </a:xfrm>
            <a:custGeom>
              <a:avLst/>
              <a:gdLst/>
              <a:ahLst/>
              <a:cxnLst/>
              <a:rect r="r" b="b" t="t" l="l"/>
              <a:pathLst>
                <a:path h="359082" w="588026">
                  <a:moveTo>
                    <a:pt x="28310" y="0"/>
                  </a:moveTo>
                  <a:lnTo>
                    <a:pt x="559716" y="0"/>
                  </a:lnTo>
                  <a:cubicBezTo>
                    <a:pt x="575351" y="0"/>
                    <a:pt x="588026" y="12675"/>
                    <a:pt x="588026" y="28310"/>
                  </a:cubicBezTo>
                  <a:lnTo>
                    <a:pt x="588026" y="330771"/>
                  </a:lnTo>
                  <a:cubicBezTo>
                    <a:pt x="588026" y="346407"/>
                    <a:pt x="575351" y="359082"/>
                    <a:pt x="559716" y="359082"/>
                  </a:cubicBezTo>
                  <a:lnTo>
                    <a:pt x="28310" y="359082"/>
                  </a:lnTo>
                  <a:cubicBezTo>
                    <a:pt x="12675" y="359082"/>
                    <a:pt x="0" y="346407"/>
                    <a:pt x="0" y="330771"/>
                  </a:cubicBezTo>
                  <a:lnTo>
                    <a:pt x="0" y="28310"/>
                  </a:lnTo>
                  <a:cubicBezTo>
                    <a:pt x="0" y="12675"/>
                    <a:pt x="12675" y="0"/>
                    <a:pt x="2831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1F35">
                    <a:alpha val="100000"/>
                  </a:srgbClr>
                </a:gs>
                <a:gs pos="100000">
                  <a:srgbClr val="0D3C82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588026" cy="3686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886474" y="2981471"/>
            <a:ext cx="1553074" cy="345984"/>
            <a:chOff x="0" y="0"/>
            <a:chExt cx="556587" cy="12399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56587" cy="123993"/>
            </a:xfrm>
            <a:custGeom>
              <a:avLst/>
              <a:gdLst/>
              <a:ahLst/>
              <a:cxnLst/>
              <a:rect r="r" b="b" t="t" l="l"/>
              <a:pathLst>
                <a:path h="123993" w="556587">
                  <a:moveTo>
                    <a:pt x="34894" y="0"/>
                  </a:moveTo>
                  <a:lnTo>
                    <a:pt x="521692" y="0"/>
                  </a:lnTo>
                  <a:cubicBezTo>
                    <a:pt x="530947" y="0"/>
                    <a:pt x="539822" y="3676"/>
                    <a:pt x="546366" y="10220"/>
                  </a:cubicBezTo>
                  <a:cubicBezTo>
                    <a:pt x="552910" y="16764"/>
                    <a:pt x="556587" y="25640"/>
                    <a:pt x="556587" y="34894"/>
                  </a:cubicBezTo>
                  <a:lnTo>
                    <a:pt x="556587" y="89099"/>
                  </a:lnTo>
                  <a:cubicBezTo>
                    <a:pt x="556587" y="98353"/>
                    <a:pt x="552910" y="107229"/>
                    <a:pt x="546366" y="113773"/>
                  </a:cubicBezTo>
                  <a:cubicBezTo>
                    <a:pt x="539822" y="120316"/>
                    <a:pt x="530947" y="123993"/>
                    <a:pt x="521692" y="123993"/>
                  </a:cubicBezTo>
                  <a:lnTo>
                    <a:pt x="34894" y="123993"/>
                  </a:lnTo>
                  <a:cubicBezTo>
                    <a:pt x="25640" y="123993"/>
                    <a:pt x="16764" y="120316"/>
                    <a:pt x="10220" y="113773"/>
                  </a:cubicBezTo>
                  <a:cubicBezTo>
                    <a:pt x="3676" y="107229"/>
                    <a:pt x="0" y="98353"/>
                    <a:pt x="0" y="89099"/>
                  </a:cubicBezTo>
                  <a:lnTo>
                    <a:pt x="0" y="34894"/>
                  </a:lnTo>
                  <a:cubicBezTo>
                    <a:pt x="0" y="25640"/>
                    <a:pt x="3676" y="16764"/>
                    <a:pt x="10220" y="10220"/>
                  </a:cubicBezTo>
                  <a:cubicBezTo>
                    <a:pt x="16764" y="3676"/>
                    <a:pt x="25640" y="0"/>
                    <a:pt x="3489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D9D9D9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556587" cy="1335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2972460" y="3037385"/>
            <a:ext cx="1379578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b="true" sz="1400">
                <a:solidFill>
                  <a:srgbClr val="00352F"/>
                </a:solidFill>
                <a:latin typeface="DM Sans Bold"/>
                <a:ea typeface="DM Sans Bold"/>
                <a:cs typeface="DM Sans Bold"/>
                <a:sym typeface="DM Sans Bold"/>
              </a:rPr>
              <a:t>25 November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051899" y="3428128"/>
            <a:ext cx="1220700" cy="34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23"/>
              </a:lnSpc>
              <a:spcBef>
                <a:spcPct val="0"/>
              </a:spcBef>
            </a:pPr>
            <a:r>
              <a:rPr lang="en-US" b="true" sz="1016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D9D9D9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Participant On Boarding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4759637" y="2935853"/>
            <a:ext cx="1640801" cy="1001965"/>
            <a:chOff x="0" y="0"/>
            <a:chExt cx="588026" cy="35908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88026" cy="359082"/>
            </a:xfrm>
            <a:custGeom>
              <a:avLst/>
              <a:gdLst/>
              <a:ahLst/>
              <a:cxnLst/>
              <a:rect r="r" b="b" t="t" l="l"/>
              <a:pathLst>
                <a:path h="359082" w="588026">
                  <a:moveTo>
                    <a:pt x="28310" y="0"/>
                  </a:moveTo>
                  <a:lnTo>
                    <a:pt x="559716" y="0"/>
                  </a:lnTo>
                  <a:cubicBezTo>
                    <a:pt x="575351" y="0"/>
                    <a:pt x="588026" y="12675"/>
                    <a:pt x="588026" y="28310"/>
                  </a:cubicBezTo>
                  <a:lnTo>
                    <a:pt x="588026" y="330771"/>
                  </a:lnTo>
                  <a:cubicBezTo>
                    <a:pt x="588026" y="346407"/>
                    <a:pt x="575351" y="359082"/>
                    <a:pt x="559716" y="359082"/>
                  </a:cubicBezTo>
                  <a:lnTo>
                    <a:pt x="28310" y="359082"/>
                  </a:lnTo>
                  <a:cubicBezTo>
                    <a:pt x="12675" y="359082"/>
                    <a:pt x="0" y="346407"/>
                    <a:pt x="0" y="330771"/>
                  </a:cubicBezTo>
                  <a:lnTo>
                    <a:pt x="0" y="28310"/>
                  </a:lnTo>
                  <a:cubicBezTo>
                    <a:pt x="0" y="12675"/>
                    <a:pt x="12675" y="0"/>
                    <a:pt x="2831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1F35">
                    <a:alpha val="100000"/>
                  </a:srgbClr>
                </a:gs>
                <a:gs pos="100000">
                  <a:srgbClr val="0D3C82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588026" cy="3686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4803500" y="2981471"/>
            <a:ext cx="1553074" cy="343462"/>
            <a:chOff x="0" y="0"/>
            <a:chExt cx="556587" cy="12308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56587" cy="123089"/>
            </a:xfrm>
            <a:custGeom>
              <a:avLst/>
              <a:gdLst/>
              <a:ahLst/>
              <a:cxnLst/>
              <a:rect r="r" b="b" t="t" l="l"/>
              <a:pathLst>
                <a:path h="123089" w="556587">
                  <a:moveTo>
                    <a:pt x="34894" y="0"/>
                  </a:moveTo>
                  <a:lnTo>
                    <a:pt x="521692" y="0"/>
                  </a:lnTo>
                  <a:cubicBezTo>
                    <a:pt x="530947" y="0"/>
                    <a:pt x="539822" y="3676"/>
                    <a:pt x="546366" y="10220"/>
                  </a:cubicBezTo>
                  <a:cubicBezTo>
                    <a:pt x="552910" y="16764"/>
                    <a:pt x="556587" y="25640"/>
                    <a:pt x="556587" y="34894"/>
                  </a:cubicBezTo>
                  <a:lnTo>
                    <a:pt x="556587" y="88195"/>
                  </a:lnTo>
                  <a:cubicBezTo>
                    <a:pt x="556587" y="97449"/>
                    <a:pt x="552910" y="106325"/>
                    <a:pt x="546366" y="112869"/>
                  </a:cubicBezTo>
                  <a:cubicBezTo>
                    <a:pt x="539822" y="119413"/>
                    <a:pt x="530947" y="123089"/>
                    <a:pt x="521692" y="123089"/>
                  </a:cubicBezTo>
                  <a:lnTo>
                    <a:pt x="34894" y="123089"/>
                  </a:lnTo>
                  <a:cubicBezTo>
                    <a:pt x="25640" y="123089"/>
                    <a:pt x="16764" y="119413"/>
                    <a:pt x="10220" y="112869"/>
                  </a:cubicBezTo>
                  <a:cubicBezTo>
                    <a:pt x="3676" y="106325"/>
                    <a:pt x="0" y="97449"/>
                    <a:pt x="0" y="88195"/>
                  </a:cubicBezTo>
                  <a:lnTo>
                    <a:pt x="0" y="34894"/>
                  </a:lnTo>
                  <a:cubicBezTo>
                    <a:pt x="0" y="25640"/>
                    <a:pt x="3676" y="16764"/>
                    <a:pt x="10220" y="10220"/>
                  </a:cubicBezTo>
                  <a:cubicBezTo>
                    <a:pt x="16764" y="3676"/>
                    <a:pt x="25640" y="0"/>
                    <a:pt x="3489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D9D9D9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556587" cy="1326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4990796" y="3037385"/>
            <a:ext cx="1178483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b="true" sz="1400">
                <a:solidFill>
                  <a:srgbClr val="00352F"/>
                </a:solidFill>
                <a:latin typeface="DM Sans Bold"/>
                <a:ea typeface="DM Sans Bold"/>
                <a:cs typeface="DM Sans Bold"/>
                <a:sym typeface="DM Sans Bold"/>
              </a:rPr>
              <a:t>27 November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975267" y="3516355"/>
            <a:ext cx="1215802" cy="169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23"/>
              </a:lnSpc>
              <a:spcBef>
                <a:spcPct val="0"/>
              </a:spcBef>
            </a:pPr>
            <a:r>
              <a:rPr lang="en-US" b="true" sz="1016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D9D9D9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Bootcamp Session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4975267" y="4360807"/>
            <a:ext cx="2002634" cy="1001965"/>
            <a:chOff x="0" y="0"/>
            <a:chExt cx="717699" cy="35908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17699" cy="359082"/>
            </a:xfrm>
            <a:custGeom>
              <a:avLst/>
              <a:gdLst/>
              <a:ahLst/>
              <a:cxnLst/>
              <a:rect r="r" b="b" t="t" l="l"/>
              <a:pathLst>
                <a:path h="359082" w="717699">
                  <a:moveTo>
                    <a:pt x="23195" y="0"/>
                  </a:moveTo>
                  <a:lnTo>
                    <a:pt x="694504" y="0"/>
                  </a:lnTo>
                  <a:cubicBezTo>
                    <a:pt x="707314" y="0"/>
                    <a:pt x="717699" y="10385"/>
                    <a:pt x="717699" y="23195"/>
                  </a:cubicBezTo>
                  <a:lnTo>
                    <a:pt x="717699" y="335886"/>
                  </a:lnTo>
                  <a:cubicBezTo>
                    <a:pt x="717699" y="348697"/>
                    <a:pt x="707314" y="359082"/>
                    <a:pt x="694504" y="359082"/>
                  </a:cubicBezTo>
                  <a:lnTo>
                    <a:pt x="23195" y="359082"/>
                  </a:lnTo>
                  <a:cubicBezTo>
                    <a:pt x="10385" y="359082"/>
                    <a:pt x="0" y="348697"/>
                    <a:pt x="0" y="335886"/>
                  </a:cubicBezTo>
                  <a:lnTo>
                    <a:pt x="0" y="23195"/>
                  </a:lnTo>
                  <a:cubicBezTo>
                    <a:pt x="0" y="10385"/>
                    <a:pt x="10385" y="0"/>
                    <a:pt x="231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1F35">
                    <a:alpha val="100000"/>
                  </a:srgbClr>
                </a:gs>
                <a:gs pos="100000">
                  <a:srgbClr val="0D3C82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717699" cy="3686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5028803" y="4406425"/>
            <a:ext cx="1895562" cy="345984"/>
            <a:chOff x="0" y="0"/>
            <a:chExt cx="679327" cy="12399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79327" cy="123993"/>
            </a:xfrm>
            <a:custGeom>
              <a:avLst/>
              <a:gdLst/>
              <a:ahLst/>
              <a:cxnLst/>
              <a:rect r="r" b="b" t="t" l="l"/>
              <a:pathLst>
                <a:path h="123993" w="679327">
                  <a:moveTo>
                    <a:pt x="28590" y="0"/>
                  </a:moveTo>
                  <a:lnTo>
                    <a:pt x="650737" y="0"/>
                  </a:lnTo>
                  <a:cubicBezTo>
                    <a:pt x="658319" y="0"/>
                    <a:pt x="665591" y="3012"/>
                    <a:pt x="670953" y="8374"/>
                  </a:cubicBezTo>
                  <a:cubicBezTo>
                    <a:pt x="676314" y="13735"/>
                    <a:pt x="679327" y="21007"/>
                    <a:pt x="679327" y="28590"/>
                  </a:cubicBezTo>
                  <a:lnTo>
                    <a:pt x="679327" y="95403"/>
                  </a:lnTo>
                  <a:cubicBezTo>
                    <a:pt x="679327" y="102986"/>
                    <a:pt x="676314" y="110258"/>
                    <a:pt x="670953" y="115619"/>
                  </a:cubicBezTo>
                  <a:cubicBezTo>
                    <a:pt x="665591" y="120981"/>
                    <a:pt x="658319" y="123993"/>
                    <a:pt x="650737" y="123993"/>
                  </a:cubicBezTo>
                  <a:lnTo>
                    <a:pt x="28590" y="123993"/>
                  </a:lnTo>
                  <a:cubicBezTo>
                    <a:pt x="21007" y="123993"/>
                    <a:pt x="13735" y="120981"/>
                    <a:pt x="8374" y="115619"/>
                  </a:cubicBezTo>
                  <a:cubicBezTo>
                    <a:pt x="3012" y="110258"/>
                    <a:pt x="0" y="102986"/>
                    <a:pt x="0" y="95403"/>
                  </a:cubicBezTo>
                  <a:lnTo>
                    <a:pt x="0" y="28590"/>
                  </a:lnTo>
                  <a:cubicBezTo>
                    <a:pt x="0" y="21007"/>
                    <a:pt x="3012" y="13735"/>
                    <a:pt x="8374" y="8374"/>
                  </a:cubicBezTo>
                  <a:cubicBezTo>
                    <a:pt x="13735" y="3012"/>
                    <a:pt x="21007" y="0"/>
                    <a:pt x="2859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D9D9D9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679327" cy="1335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5140908" y="4462339"/>
            <a:ext cx="1721507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b="true" sz="1400">
                <a:solidFill>
                  <a:srgbClr val="00352F"/>
                </a:solidFill>
                <a:latin typeface="DM Sans Bold"/>
                <a:ea typeface="DM Sans Bold"/>
                <a:cs typeface="DM Sans Bold"/>
                <a:sym typeface="DM Sans Bold"/>
              </a:rPr>
              <a:t>TBA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5391311" y="4816029"/>
            <a:ext cx="1220700" cy="34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23"/>
              </a:lnSpc>
              <a:spcBef>
                <a:spcPct val="0"/>
              </a:spcBef>
            </a:pPr>
            <a:r>
              <a:rPr lang="en-US" b="true" sz="1016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D9D9D9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Research Submission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582099" y="4359725"/>
            <a:ext cx="2002634" cy="1001965"/>
            <a:chOff x="0" y="0"/>
            <a:chExt cx="717699" cy="35908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17699" cy="359082"/>
            </a:xfrm>
            <a:custGeom>
              <a:avLst/>
              <a:gdLst/>
              <a:ahLst/>
              <a:cxnLst/>
              <a:rect r="r" b="b" t="t" l="l"/>
              <a:pathLst>
                <a:path h="359082" w="717699">
                  <a:moveTo>
                    <a:pt x="23195" y="0"/>
                  </a:moveTo>
                  <a:lnTo>
                    <a:pt x="694504" y="0"/>
                  </a:lnTo>
                  <a:cubicBezTo>
                    <a:pt x="707314" y="0"/>
                    <a:pt x="717699" y="10385"/>
                    <a:pt x="717699" y="23195"/>
                  </a:cubicBezTo>
                  <a:lnTo>
                    <a:pt x="717699" y="335886"/>
                  </a:lnTo>
                  <a:cubicBezTo>
                    <a:pt x="717699" y="348697"/>
                    <a:pt x="707314" y="359082"/>
                    <a:pt x="694504" y="359082"/>
                  </a:cubicBezTo>
                  <a:lnTo>
                    <a:pt x="23195" y="359082"/>
                  </a:lnTo>
                  <a:cubicBezTo>
                    <a:pt x="10385" y="359082"/>
                    <a:pt x="0" y="348697"/>
                    <a:pt x="0" y="335886"/>
                  </a:cubicBezTo>
                  <a:lnTo>
                    <a:pt x="0" y="23195"/>
                  </a:lnTo>
                  <a:cubicBezTo>
                    <a:pt x="0" y="10385"/>
                    <a:pt x="10385" y="0"/>
                    <a:pt x="231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1F35">
                    <a:alpha val="100000"/>
                  </a:srgbClr>
                </a:gs>
                <a:gs pos="100000">
                  <a:srgbClr val="0D3C82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717699" cy="3686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635635" y="4405343"/>
            <a:ext cx="1895562" cy="345984"/>
            <a:chOff x="0" y="0"/>
            <a:chExt cx="679327" cy="123993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79327" cy="123993"/>
            </a:xfrm>
            <a:custGeom>
              <a:avLst/>
              <a:gdLst/>
              <a:ahLst/>
              <a:cxnLst/>
              <a:rect r="r" b="b" t="t" l="l"/>
              <a:pathLst>
                <a:path h="123993" w="679327">
                  <a:moveTo>
                    <a:pt x="28590" y="0"/>
                  </a:moveTo>
                  <a:lnTo>
                    <a:pt x="650737" y="0"/>
                  </a:lnTo>
                  <a:cubicBezTo>
                    <a:pt x="658319" y="0"/>
                    <a:pt x="665591" y="3012"/>
                    <a:pt x="670953" y="8374"/>
                  </a:cubicBezTo>
                  <a:cubicBezTo>
                    <a:pt x="676314" y="13735"/>
                    <a:pt x="679327" y="21007"/>
                    <a:pt x="679327" y="28590"/>
                  </a:cubicBezTo>
                  <a:lnTo>
                    <a:pt x="679327" y="95403"/>
                  </a:lnTo>
                  <a:cubicBezTo>
                    <a:pt x="679327" y="102986"/>
                    <a:pt x="676314" y="110258"/>
                    <a:pt x="670953" y="115619"/>
                  </a:cubicBezTo>
                  <a:cubicBezTo>
                    <a:pt x="665591" y="120981"/>
                    <a:pt x="658319" y="123993"/>
                    <a:pt x="650737" y="123993"/>
                  </a:cubicBezTo>
                  <a:lnTo>
                    <a:pt x="28590" y="123993"/>
                  </a:lnTo>
                  <a:cubicBezTo>
                    <a:pt x="21007" y="123993"/>
                    <a:pt x="13735" y="120981"/>
                    <a:pt x="8374" y="115619"/>
                  </a:cubicBezTo>
                  <a:cubicBezTo>
                    <a:pt x="3012" y="110258"/>
                    <a:pt x="0" y="102986"/>
                    <a:pt x="0" y="95403"/>
                  </a:cubicBezTo>
                  <a:lnTo>
                    <a:pt x="0" y="28590"/>
                  </a:lnTo>
                  <a:cubicBezTo>
                    <a:pt x="0" y="21007"/>
                    <a:pt x="3012" y="13735"/>
                    <a:pt x="8374" y="8374"/>
                  </a:cubicBezTo>
                  <a:cubicBezTo>
                    <a:pt x="13735" y="3012"/>
                    <a:pt x="21007" y="0"/>
                    <a:pt x="2859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D9D9D9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679327" cy="1335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747739" y="4461257"/>
            <a:ext cx="1721507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b="true" sz="1400">
                <a:solidFill>
                  <a:srgbClr val="00352F"/>
                </a:solidFill>
                <a:latin typeface="DM Sans Bold"/>
                <a:ea typeface="DM Sans Bold"/>
                <a:cs typeface="DM Sans Bold"/>
                <a:sym typeface="DM Sans Bold"/>
              </a:rPr>
              <a:t>TBD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843085" y="4904256"/>
            <a:ext cx="1480661" cy="169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23"/>
              </a:lnSpc>
              <a:spcBef>
                <a:spcPct val="0"/>
              </a:spcBef>
            </a:pPr>
            <a:r>
              <a:rPr lang="en-US" b="true" sz="1016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D9D9D9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Final Pitching &amp; Awards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2778683" y="4359725"/>
            <a:ext cx="2002634" cy="1001965"/>
            <a:chOff x="0" y="0"/>
            <a:chExt cx="717699" cy="35908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17699" cy="359082"/>
            </a:xfrm>
            <a:custGeom>
              <a:avLst/>
              <a:gdLst/>
              <a:ahLst/>
              <a:cxnLst/>
              <a:rect r="r" b="b" t="t" l="l"/>
              <a:pathLst>
                <a:path h="359082" w="717699">
                  <a:moveTo>
                    <a:pt x="23195" y="0"/>
                  </a:moveTo>
                  <a:lnTo>
                    <a:pt x="694504" y="0"/>
                  </a:lnTo>
                  <a:cubicBezTo>
                    <a:pt x="707314" y="0"/>
                    <a:pt x="717699" y="10385"/>
                    <a:pt x="717699" y="23195"/>
                  </a:cubicBezTo>
                  <a:lnTo>
                    <a:pt x="717699" y="335886"/>
                  </a:lnTo>
                  <a:cubicBezTo>
                    <a:pt x="717699" y="348697"/>
                    <a:pt x="707314" y="359082"/>
                    <a:pt x="694504" y="359082"/>
                  </a:cubicBezTo>
                  <a:lnTo>
                    <a:pt x="23195" y="359082"/>
                  </a:lnTo>
                  <a:cubicBezTo>
                    <a:pt x="10385" y="359082"/>
                    <a:pt x="0" y="348697"/>
                    <a:pt x="0" y="335886"/>
                  </a:cubicBezTo>
                  <a:lnTo>
                    <a:pt x="0" y="23195"/>
                  </a:lnTo>
                  <a:cubicBezTo>
                    <a:pt x="0" y="10385"/>
                    <a:pt x="10385" y="0"/>
                    <a:pt x="231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1F35">
                    <a:alpha val="100000"/>
                  </a:srgbClr>
                </a:gs>
                <a:gs pos="100000">
                  <a:srgbClr val="0D3C82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9525"/>
              <a:ext cx="717699" cy="3686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2832219" y="4405343"/>
            <a:ext cx="1895562" cy="345984"/>
            <a:chOff x="0" y="0"/>
            <a:chExt cx="679327" cy="123993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79327" cy="123993"/>
            </a:xfrm>
            <a:custGeom>
              <a:avLst/>
              <a:gdLst/>
              <a:ahLst/>
              <a:cxnLst/>
              <a:rect r="r" b="b" t="t" l="l"/>
              <a:pathLst>
                <a:path h="123993" w="679327">
                  <a:moveTo>
                    <a:pt x="28590" y="0"/>
                  </a:moveTo>
                  <a:lnTo>
                    <a:pt x="650737" y="0"/>
                  </a:lnTo>
                  <a:cubicBezTo>
                    <a:pt x="658319" y="0"/>
                    <a:pt x="665591" y="3012"/>
                    <a:pt x="670953" y="8374"/>
                  </a:cubicBezTo>
                  <a:cubicBezTo>
                    <a:pt x="676314" y="13735"/>
                    <a:pt x="679327" y="21007"/>
                    <a:pt x="679327" y="28590"/>
                  </a:cubicBezTo>
                  <a:lnTo>
                    <a:pt x="679327" y="95403"/>
                  </a:lnTo>
                  <a:cubicBezTo>
                    <a:pt x="679327" y="102986"/>
                    <a:pt x="676314" y="110258"/>
                    <a:pt x="670953" y="115619"/>
                  </a:cubicBezTo>
                  <a:cubicBezTo>
                    <a:pt x="665591" y="120981"/>
                    <a:pt x="658319" y="123993"/>
                    <a:pt x="650737" y="123993"/>
                  </a:cubicBezTo>
                  <a:lnTo>
                    <a:pt x="28590" y="123993"/>
                  </a:lnTo>
                  <a:cubicBezTo>
                    <a:pt x="21007" y="123993"/>
                    <a:pt x="13735" y="120981"/>
                    <a:pt x="8374" y="115619"/>
                  </a:cubicBezTo>
                  <a:cubicBezTo>
                    <a:pt x="3012" y="110258"/>
                    <a:pt x="0" y="102986"/>
                    <a:pt x="0" y="95403"/>
                  </a:cubicBezTo>
                  <a:lnTo>
                    <a:pt x="0" y="28590"/>
                  </a:lnTo>
                  <a:cubicBezTo>
                    <a:pt x="0" y="21007"/>
                    <a:pt x="3012" y="13735"/>
                    <a:pt x="8374" y="8374"/>
                  </a:cubicBezTo>
                  <a:cubicBezTo>
                    <a:pt x="13735" y="3012"/>
                    <a:pt x="21007" y="0"/>
                    <a:pt x="2859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D9D9D9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53" id="53"/>
            <p:cNvSpPr txBox="true"/>
            <p:nvPr/>
          </p:nvSpPr>
          <p:spPr>
            <a:xfrm>
              <a:off x="0" y="-9525"/>
              <a:ext cx="679327" cy="1335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2944323" y="4461257"/>
            <a:ext cx="1721507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b="true" sz="1400">
                <a:solidFill>
                  <a:srgbClr val="00352F"/>
                </a:solidFill>
                <a:latin typeface="DM Sans Bold"/>
                <a:ea typeface="DM Sans Bold"/>
                <a:cs typeface="DM Sans Bold"/>
                <a:sym typeface="DM Sans Bold"/>
              </a:rPr>
              <a:t>TBA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3068300" y="4816029"/>
            <a:ext cx="1423400" cy="34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23"/>
              </a:lnSpc>
              <a:spcBef>
                <a:spcPct val="0"/>
              </a:spcBef>
            </a:pPr>
            <a:r>
              <a:rPr lang="en-US" b="true" sz="1016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D9D9D9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Assessment &amp; Finalist Announcement</a:t>
            </a:r>
          </a:p>
        </p:txBody>
      </p:sp>
      <p:sp>
        <p:nvSpPr>
          <p:cNvPr name="Freeform 56" id="56"/>
          <p:cNvSpPr/>
          <p:nvPr/>
        </p:nvSpPr>
        <p:spPr>
          <a:xfrm>
            <a:off x="1749949" y="2678449"/>
            <a:ext cx="4861453" cy="1491858"/>
          </a:xfrm>
          <a:custGeom>
            <a:avLst/>
            <a:gdLst/>
            <a:ahLst/>
            <a:cxnLst/>
            <a:rect r="r" b="b" t="t" l="l"/>
            <a:pathLst>
              <a:path h="1491858" w="4861453">
                <a:moveTo>
                  <a:pt x="0" y="257404"/>
                </a:moveTo>
                <a:lnTo>
                  <a:pt x="0" y="128702"/>
                </a:lnTo>
                <a:cubicBezTo>
                  <a:pt x="0" y="94568"/>
                  <a:pt x="13559" y="61832"/>
                  <a:pt x="37696" y="37696"/>
                </a:cubicBezTo>
                <a:cubicBezTo>
                  <a:pt x="61832" y="13559"/>
                  <a:pt x="94568" y="0"/>
                  <a:pt x="128702" y="0"/>
                </a:cubicBezTo>
                <a:lnTo>
                  <a:pt x="4632853" y="0"/>
                </a:lnTo>
                <a:cubicBezTo>
                  <a:pt x="4693481" y="0"/>
                  <a:pt x="4751627" y="24084"/>
                  <a:pt x="4794497" y="66955"/>
                </a:cubicBezTo>
                <a:cubicBezTo>
                  <a:pt x="4837368" y="109826"/>
                  <a:pt x="4861453" y="167971"/>
                  <a:pt x="4861453" y="228600"/>
                </a:cubicBezTo>
                <a:lnTo>
                  <a:pt x="4861453" y="1263258"/>
                </a:lnTo>
                <a:cubicBezTo>
                  <a:pt x="4861453" y="1389510"/>
                  <a:pt x="4759105" y="1491858"/>
                  <a:pt x="4632853" y="1491858"/>
                </a:cubicBezTo>
                <a:lnTo>
                  <a:pt x="1092662" y="1491858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7" id="57"/>
          <p:cNvSpPr/>
          <p:nvPr/>
        </p:nvSpPr>
        <p:spPr>
          <a:xfrm>
            <a:off x="1597967" y="4170307"/>
            <a:ext cx="1957099" cy="189418"/>
          </a:xfrm>
          <a:custGeom>
            <a:avLst/>
            <a:gdLst/>
            <a:ahLst/>
            <a:cxnLst/>
            <a:rect r="r" b="b" t="t" l="l"/>
            <a:pathLst>
              <a:path h="189418" w="1957099">
                <a:moveTo>
                  <a:pt x="1957100" y="0"/>
                </a:moveTo>
                <a:lnTo>
                  <a:pt x="94710" y="0"/>
                </a:lnTo>
                <a:cubicBezTo>
                  <a:pt x="69591" y="0"/>
                  <a:pt x="45501" y="9978"/>
                  <a:pt x="27740" y="27739"/>
                </a:cubicBezTo>
                <a:cubicBezTo>
                  <a:pt x="9979" y="45501"/>
                  <a:pt x="0" y="69590"/>
                  <a:pt x="0" y="94709"/>
                </a:cubicBezTo>
                <a:lnTo>
                  <a:pt x="0" y="189418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58" id="58"/>
          <p:cNvGrpSpPr/>
          <p:nvPr/>
        </p:nvGrpSpPr>
        <p:grpSpPr>
          <a:xfrm rot="0">
            <a:off x="3555067" y="4062362"/>
            <a:ext cx="215889" cy="215889"/>
            <a:chOff x="0" y="0"/>
            <a:chExt cx="812800" cy="8128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1F35">
                    <a:alpha val="100000"/>
                  </a:srgbClr>
                </a:gs>
                <a:gs pos="100000">
                  <a:srgbClr val="0D3C82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60" id="60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5472093" y="2565951"/>
            <a:ext cx="215889" cy="215889"/>
            <a:chOff x="0" y="0"/>
            <a:chExt cx="812800" cy="8128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1F35">
                    <a:alpha val="100000"/>
                  </a:srgbClr>
                </a:gs>
                <a:gs pos="100000">
                  <a:srgbClr val="0D3C82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63" id="63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3555067" y="2565951"/>
            <a:ext cx="215889" cy="215889"/>
            <a:chOff x="0" y="0"/>
            <a:chExt cx="812800" cy="8128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1F35">
                    <a:alpha val="100000"/>
                  </a:srgbClr>
                </a:gs>
                <a:gs pos="100000">
                  <a:srgbClr val="0D3C82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66" id="66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67" id="67"/>
          <p:cNvGrpSpPr/>
          <p:nvPr/>
        </p:nvGrpSpPr>
        <p:grpSpPr>
          <a:xfrm rot="-7371813">
            <a:off x="3962987" y="6978039"/>
            <a:ext cx="5682026" cy="5682026"/>
            <a:chOff x="0" y="0"/>
            <a:chExt cx="812800" cy="8128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908">
                    <a:alpha val="14000"/>
                  </a:srgbClr>
                </a:gs>
                <a:gs pos="100000">
                  <a:srgbClr val="001614">
                    <a:alpha val="0"/>
                  </a:srgbClr>
                </a:gs>
              </a:gsLst>
              <a:lin ang="5400000"/>
            </a:gradFill>
            <a:ln w="19050" cap="sq">
              <a:gradFill>
                <a:gsLst>
                  <a:gs pos="0">
                    <a:srgbClr val="00352F">
                      <a:alpha val="14000"/>
                    </a:srgbClr>
                  </a:gs>
                  <a:gs pos="100000">
                    <a:srgbClr val="000000">
                      <a:alpha val="14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69" id="69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sp>
        <p:nvSpPr>
          <p:cNvPr name="TextBox 70" id="70"/>
          <p:cNvSpPr txBox="true"/>
          <p:nvPr/>
        </p:nvSpPr>
        <p:spPr>
          <a:xfrm rot="0">
            <a:off x="-29462" y="1784117"/>
            <a:ext cx="7618924" cy="609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54"/>
              </a:lnSpc>
              <a:spcBef>
                <a:spcPct val="0"/>
              </a:spcBef>
            </a:pPr>
            <a:r>
              <a:rPr lang="en-US" b="true" sz="4793">
                <a:gradFill>
                  <a:gsLst>
                    <a:gs pos="0">
                      <a:srgbClr val="002036">
                        <a:alpha val="100000"/>
                      </a:srgbClr>
                    </a:gs>
                    <a:gs pos="100000">
                      <a:srgbClr val="136071">
                        <a:alpha val="100000"/>
                      </a:srgbClr>
                    </a:gs>
                  </a:gsLst>
                  <a:lin ang="0"/>
                </a:gradFill>
                <a:latin typeface="DM Sans Bold"/>
                <a:ea typeface="DM Sans Bold"/>
                <a:cs typeface="DM Sans Bold"/>
                <a:sym typeface="DM Sans Bold"/>
              </a:rPr>
              <a:t>Program Timeline</a:t>
            </a:r>
          </a:p>
        </p:txBody>
      </p:sp>
      <p:grpSp>
        <p:nvGrpSpPr>
          <p:cNvPr name="Group 71" id="71"/>
          <p:cNvGrpSpPr/>
          <p:nvPr/>
        </p:nvGrpSpPr>
        <p:grpSpPr>
          <a:xfrm rot="0">
            <a:off x="4663798" y="5515172"/>
            <a:ext cx="2422104" cy="3805025"/>
            <a:chOff x="0" y="0"/>
            <a:chExt cx="868027" cy="1363635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868027" cy="1363635"/>
            </a:xfrm>
            <a:custGeom>
              <a:avLst/>
              <a:gdLst/>
              <a:ahLst/>
              <a:cxnLst/>
              <a:rect r="r" b="b" t="t" l="l"/>
              <a:pathLst>
                <a:path h="1363635" w="868027">
                  <a:moveTo>
                    <a:pt x="57535" y="0"/>
                  </a:moveTo>
                  <a:lnTo>
                    <a:pt x="810493" y="0"/>
                  </a:lnTo>
                  <a:cubicBezTo>
                    <a:pt x="842268" y="0"/>
                    <a:pt x="868027" y="25759"/>
                    <a:pt x="868027" y="57535"/>
                  </a:cubicBezTo>
                  <a:lnTo>
                    <a:pt x="868027" y="1306101"/>
                  </a:lnTo>
                  <a:cubicBezTo>
                    <a:pt x="868027" y="1321360"/>
                    <a:pt x="861966" y="1335994"/>
                    <a:pt x="851176" y="1346783"/>
                  </a:cubicBezTo>
                  <a:cubicBezTo>
                    <a:pt x="840386" y="1357573"/>
                    <a:pt x="825752" y="1363635"/>
                    <a:pt x="810493" y="1363635"/>
                  </a:cubicBezTo>
                  <a:lnTo>
                    <a:pt x="57535" y="1363635"/>
                  </a:lnTo>
                  <a:cubicBezTo>
                    <a:pt x="42275" y="1363635"/>
                    <a:pt x="27641" y="1357573"/>
                    <a:pt x="16851" y="1346783"/>
                  </a:cubicBezTo>
                  <a:cubicBezTo>
                    <a:pt x="6062" y="1335994"/>
                    <a:pt x="0" y="1321360"/>
                    <a:pt x="0" y="1306101"/>
                  </a:cubicBezTo>
                  <a:lnTo>
                    <a:pt x="0" y="57535"/>
                  </a:lnTo>
                  <a:cubicBezTo>
                    <a:pt x="0" y="42275"/>
                    <a:pt x="6062" y="27641"/>
                    <a:pt x="16851" y="16851"/>
                  </a:cubicBezTo>
                  <a:cubicBezTo>
                    <a:pt x="27641" y="6062"/>
                    <a:pt x="42275" y="0"/>
                    <a:pt x="5753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1F35">
                    <a:alpha val="100000"/>
                  </a:srgbClr>
                </a:gs>
                <a:gs pos="100000">
                  <a:srgbClr val="0D3C82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9525"/>
              <a:ext cx="868027" cy="13731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3416664" y="5515172"/>
            <a:ext cx="2278380" cy="3805025"/>
            <a:chOff x="0" y="0"/>
            <a:chExt cx="816520" cy="1363635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816520" cy="1363635"/>
            </a:xfrm>
            <a:custGeom>
              <a:avLst/>
              <a:gdLst/>
              <a:ahLst/>
              <a:cxnLst/>
              <a:rect r="r" b="b" t="t" l="l"/>
              <a:pathLst>
                <a:path h="1363635" w="816520">
                  <a:moveTo>
                    <a:pt x="61164" y="0"/>
                  </a:moveTo>
                  <a:lnTo>
                    <a:pt x="755356" y="0"/>
                  </a:lnTo>
                  <a:cubicBezTo>
                    <a:pt x="789136" y="0"/>
                    <a:pt x="816520" y="27384"/>
                    <a:pt x="816520" y="61164"/>
                  </a:cubicBezTo>
                  <a:lnTo>
                    <a:pt x="816520" y="1302471"/>
                  </a:lnTo>
                  <a:cubicBezTo>
                    <a:pt x="816520" y="1318693"/>
                    <a:pt x="810076" y="1334250"/>
                    <a:pt x="798606" y="1345720"/>
                  </a:cubicBezTo>
                  <a:cubicBezTo>
                    <a:pt x="787135" y="1357191"/>
                    <a:pt x="771578" y="1363635"/>
                    <a:pt x="755356" y="1363635"/>
                  </a:cubicBezTo>
                  <a:lnTo>
                    <a:pt x="61164" y="1363635"/>
                  </a:lnTo>
                  <a:cubicBezTo>
                    <a:pt x="44942" y="1363635"/>
                    <a:pt x="29385" y="1357191"/>
                    <a:pt x="17914" y="1345720"/>
                  </a:cubicBezTo>
                  <a:cubicBezTo>
                    <a:pt x="6444" y="1334250"/>
                    <a:pt x="0" y="1318693"/>
                    <a:pt x="0" y="1302471"/>
                  </a:cubicBezTo>
                  <a:lnTo>
                    <a:pt x="0" y="61164"/>
                  </a:lnTo>
                  <a:cubicBezTo>
                    <a:pt x="0" y="44942"/>
                    <a:pt x="6444" y="29385"/>
                    <a:pt x="17914" y="17914"/>
                  </a:cubicBezTo>
                  <a:cubicBezTo>
                    <a:pt x="29385" y="6444"/>
                    <a:pt x="44942" y="0"/>
                    <a:pt x="6116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1F35">
                    <a:alpha val="100000"/>
                  </a:srgbClr>
                </a:gs>
                <a:gs pos="100000">
                  <a:srgbClr val="0D3C82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9525"/>
              <a:ext cx="816520" cy="13731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2374649" y="5515172"/>
            <a:ext cx="1984969" cy="3805025"/>
            <a:chOff x="0" y="0"/>
            <a:chExt cx="711368" cy="1363635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711368" cy="1363635"/>
            </a:xfrm>
            <a:custGeom>
              <a:avLst/>
              <a:gdLst/>
              <a:ahLst/>
              <a:cxnLst/>
              <a:rect r="r" b="b" t="t" l="l"/>
              <a:pathLst>
                <a:path h="1363635" w="711368">
                  <a:moveTo>
                    <a:pt x="70205" y="0"/>
                  </a:moveTo>
                  <a:lnTo>
                    <a:pt x="641163" y="0"/>
                  </a:lnTo>
                  <a:cubicBezTo>
                    <a:pt x="659782" y="0"/>
                    <a:pt x="677639" y="7397"/>
                    <a:pt x="690805" y="20563"/>
                  </a:cubicBezTo>
                  <a:cubicBezTo>
                    <a:pt x="703971" y="33729"/>
                    <a:pt x="711368" y="51585"/>
                    <a:pt x="711368" y="70205"/>
                  </a:cubicBezTo>
                  <a:lnTo>
                    <a:pt x="711368" y="1293430"/>
                  </a:lnTo>
                  <a:cubicBezTo>
                    <a:pt x="711368" y="1312050"/>
                    <a:pt x="703971" y="1329907"/>
                    <a:pt x="690805" y="1343072"/>
                  </a:cubicBezTo>
                  <a:cubicBezTo>
                    <a:pt x="677639" y="1356238"/>
                    <a:pt x="659782" y="1363635"/>
                    <a:pt x="641163" y="1363635"/>
                  </a:cubicBezTo>
                  <a:lnTo>
                    <a:pt x="70205" y="1363635"/>
                  </a:lnTo>
                  <a:cubicBezTo>
                    <a:pt x="51585" y="1363635"/>
                    <a:pt x="33729" y="1356238"/>
                    <a:pt x="20563" y="1343072"/>
                  </a:cubicBezTo>
                  <a:cubicBezTo>
                    <a:pt x="7397" y="1329907"/>
                    <a:pt x="0" y="1312050"/>
                    <a:pt x="0" y="1293430"/>
                  </a:cubicBezTo>
                  <a:lnTo>
                    <a:pt x="0" y="70205"/>
                  </a:lnTo>
                  <a:cubicBezTo>
                    <a:pt x="0" y="51585"/>
                    <a:pt x="7397" y="33729"/>
                    <a:pt x="20563" y="20563"/>
                  </a:cubicBezTo>
                  <a:cubicBezTo>
                    <a:pt x="33729" y="7397"/>
                    <a:pt x="51585" y="0"/>
                    <a:pt x="7020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1F35">
                    <a:alpha val="100000"/>
                  </a:srgbClr>
                </a:gs>
                <a:gs pos="100000">
                  <a:srgbClr val="0D3C82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9525"/>
              <a:ext cx="711368" cy="13731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322926" y="5515172"/>
            <a:ext cx="1984969" cy="3805025"/>
            <a:chOff x="0" y="0"/>
            <a:chExt cx="711368" cy="1363635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711368" cy="1363635"/>
            </a:xfrm>
            <a:custGeom>
              <a:avLst/>
              <a:gdLst/>
              <a:ahLst/>
              <a:cxnLst/>
              <a:rect r="r" b="b" t="t" l="l"/>
              <a:pathLst>
                <a:path h="1363635" w="711368">
                  <a:moveTo>
                    <a:pt x="70205" y="0"/>
                  </a:moveTo>
                  <a:lnTo>
                    <a:pt x="641163" y="0"/>
                  </a:lnTo>
                  <a:cubicBezTo>
                    <a:pt x="659782" y="0"/>
                    <a:pt x="677639" y="7397"/>
                    <a:pt x="690805" y="20563"/>
                  </a:cubicBezTo>
                  <a:cubicBezTo>
                    <a:pt x="703971" y="33729"/>
                    <a:pt x="711368" y="51585"/>
                    <a:pt x="711368" y="70205"/>
                  </a:cubicBezTo>
                  <a:lnTo>
                    <a:pt x="711368" y="1293430"/>
                  </a:lnTo>
                  <a:cubicBezTo>
                    <a:pt x="711368" y="1312050"/>
                    <a:pt x="703971" y="1329907"/>
                    <a:pt x="690805" y="1343072"/>
                  </a:cubicBezTo>
                  <a:cubicBezTo>
                    <a:pt x="677639" y="1356238"/>
                    <a:pt x="659782" y="1363635"/>
                    <a:pt x="641163" y="1363635"/>
                  </a:cubicBezTo>
                  <a:lnTo>
                    <a:pt x="70205" y="1363635"/>
                  </a:lnTo>
                  <a:cubicBezTo>
                    <a:pt x="51585" y="1363635"/>
                    <a:pt x="33729" y="1356238"/>
                    <a:pt x="20563" y="1343072"/>
                  </a:cubicBezTo>
                  <a:cubicBezTo>
                    <a:pt x="7397" y="1329907"/>
                    <a:pt x="0" y="1312050"/>
                    <a:pt x="0" y="1293430"/>
                  </a:cubicBezTo>
                  <a:lnTo>
                    <a:pt x="0" y="70205"/>
                  </a:lnTo>
                  <a:cubicBezTo>
                    <a:pt x="0" y="51585"/>
                    <a:pt x="7397" y="33729"/>
                    <a:pt x="20563" y="20563"/>
                  </a:cubicBezTo>
                  <a:cubicBezTo>
                    <a:pt x="33729" y="7397"/>
                    <a:pt x="51585" y="0"/>
                    <a:pt x="7020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1F35">
                    <a:alpha val="100000"/>
                  </a:srgbClr>
                </a:gs>
                <a:gs pos="100000">
                  <a:srgbClr val="0D3C82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9525"/>
              <a:ext cx="711368" cy="13731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475929" y="5515172"/>
            <a:ext cx="1514960" cy="3805025"/>
            <a:chOff x="0" y="0"/>
            <a:chExt cx="542928" cy="1363635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542928" cy="1363635"/>
            </a:xfrm>
            <a:custGeom>
              <a:avLst/>
              <a:gdLst/>
              <a:ahLst/>
              <a:cxnLst/>
              <a:rect r="r" b="b" t="t" l="l"/>
              <a:pathLst>
                <a:path h="1363635" w="542928">
                  <a:moveTo>
                    <a:pt x="91986" y="0"/>
                  </a:moveTo>
                  <a:lnTo>
                    <a:pt x="450942" y="0"/>
                  </a:lnTo>
                  <a:cubicBezTo>
                    <a:pt x="501744" y="0"/>
                    <a:pt x="542928" y="41183"/>
                    <a:pt x="542928" y="91986"/>
                  </a:cubicBezTo>
                  <a:lnTo>
                    <a:pt x="542928" y="1271649"/>
                  </a:lnTo>
                  <a:cubicBezTo>
                    <a:pt x="542928" y="1322452"/>
                    <a:pt x="501744" y="1363635"/>
                    <a:pt x="450942" y="1363635"/>
                  </a:cubicBezTo>
                  <a:lnTo>
                    <a:pt x="91986" y="1363635"/>
                  </a:lnTo>
                  <a:cubicBezTo>
                    <a:pt x="41183" y="1363635"/>
                    <a:pt x="0" y="1322452"/>
                    <a:pt x="0" y="1271649"/>
                  </a:cubicBezTo>
                  <a:lnTo>
                    <a:pt x="0" y="91986"/>
                  </a:lnTo>
                  <a:cubicBezTo>
                    <a:pt x="0" y="41183"/>
                    <a:pt x="41183" y="0"/>
                    <a:pt x="9198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1F35">
                    <a:alpha val="100000"/>
                  </a:srgbClr>
                </a:gs>
                <a:gs pos="100000">
                  <a:srgbClr val="0D3C82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9525"/>
              <a:ext cx="542928" cy="13731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sp>
        <p:nvSpPr>
          <p:cNvPr name="TextBox 86" id="86"/>
          <p:cNvSpPr txBox="true"/>
          <p:nvPr/>
        </p:nvSpPr>
        <p:spPr>
          <a:xfrm rot="0">
            <a:off x="688559" y="5591005"/>
            <a:ext cx="886316" cy="256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77"/>
              </a:lnSpc>
              <a:spcBef>
                <a:spcPct val="0"/>
              </a:spcBef>
            </a:pPr>
            <a:r>
              <a:rPr lang="en-US" b="true" sz="1555" i="true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D9D9D9">
                        <a:alpha val="100000"/>
                      </a:srgbClr>
                    </a:gs>
                  </a:gsLst>
                  <a:lin ang="5400000"/>
                </a:gradFill>
                <a:latin typeface="DM Sans Bold Italics"/>
                <a:ea typeface="DM Sans Bold Italics"/>
                <a:cs typeface="DM Sans Bold Italics"/>
                <a:sym typeface="DM Sans Bold Italics"/>
              </a:rPr>
              <a:t>Session 1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1870231" y="5591005"/>
            <a:ext cx="1154538" cy="265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7"/>
              </a:lnSpc>
              <a:spcBef>
                <a:spcPct val="0"/>
              </a:spcBef>
            </a:pPr>
            <a:r>
              <a:rPr lang="en-US" b="true" sz="1555" i="true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D9D9D9">
                        <a:alpha val="100000"/>
                      </a:srgbClr>
                    </a:gs>
                  </a:gsLst>
                  <a:lin ang="5400000"/>
                </a:gradFill>
                <a:latin typeface="DM Sans Bold Italics"/>
                <a:ea typeface="DM Sans Bold Italics"/>
                <a:cs typeface="DM Sans Bold Italics"/>
                <a:sym typeface="DM Sans Bold Italics"/>
              </a:rPr>
              <a:t>Session 2-3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4483412" y="5591005"/>
            <a:ext cx="1178707" cy="265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7"/>
              </a:lnSpc>
              <a:spcBef>
                <a:spcPct val="0"/>
              </a:spcBef>
            </a:pPr>
            <a:r>
              <a:rPr lang="en-US" b="true" sz="1555" i="true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D9D9D9">
                        <a:alpha val="100000"/>
                      </a:srgbClr>
                    </a:gs>
                  </a:gsLst>
                  <a:lin ang="5400000"/>
                </a:gradFill>
                <a:latin typeface="DM Sans Bold Italics"/>
                <a:ea typeface="DM Sans Bold Italics"/>
                <a:cs typeface="DM Sans Bold Italics"/>
                <a:sym typeface="DM Sans Bold Italics"/>
              </a:rPr>
              <a:t>Session 6-7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5811795" y="5591005"/>
            <a:ext cx="1166106" cy="265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7"/>
              </a:lnSpc>
              <a:spcBef>
                <a:spcPct val="0"/>
              </a:spcBef>
            </a:pPr>
            <a:r>
              <a:rPr lang="en-US" b="true" sz="1555" i="true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D9D9D9">
                        <a:alpha val="100000"/>
                      </a:srgbClr>
                    </a:gs>
                  </a:gsLst>
                  <a:lin ang="5400000"/>
                </a:gradFill>
                <a:latin typeface="DM Sans Bold Italics"/>
                <a:ea typeface="DM Sans Bold Italics"/>
                <a:cs typeface="DM Sans Bold Italics"/>
                <a:sym typeface="DM Sans Bold Italics"/>
              </a:rPr>
              <a:t>Session 8</a:t>
            </a:r>
          </a:p>
        </p:txBody>
      </p:sp>
      <p:grpSp>
        <p:nvGrpSpPr>
          <p:cNvPr name="Group 90" id="90"/>
          <p:cNvGrpSpPr/>
          <p:nvPr/>
        </p:nvGrpSpPr>
        <p:grpSpPr>
          <a:xfrm rot="0">
            <a:off x="5868640" y="4040143"/>
            <a:ext cx="215889" cy="215889"/>
            <a:chOff x="0" y="0"/>
            <a:chExt cx="812800" cy="81280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1F35">
                    <a:alpha val="100000"/>
                  </a:srgbClr>
                </a:gs>
                <a:gs pos="100000">
                  <a:srgbClr val="0D3C82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92" id="92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sp>
        <p:nvSpPr>
          <p:cNvPr name="Freeform 93" id="93"/>
          <p:cNvSpPr/>
          <p:nvPr/>
        </p:nvSpPr>
        <p:spPr>
          <a:xfrm flipH="false" flipV="false" rot="0">
            <a:off x="499779" y="756000"/>
            <a:ext cx="411005" cy="421795"/>
          </a:xfrm>
          <a:custGeom>
            <a:avLst/>
            <a:gdLst/>
            <a:ahLst/>
            <a:cxnLst/>
            <a:rect r="r" b="b" t="t" l="l"/>
            <a:pathLst>
              <a:path h="421795" w="411005">
                <a:moveTo>
                  <a:pt x="0" y="0"/>
                </a:moveTo>
                <a:lnTo>
                  <a:pt x="411005" y="0"/>
                </a:lnTo>
                <a:lnTo>
                  <a:pt x="411005" y="421795"/>
                </a:lnTo>
                <a:lnTo>
                  <a:pt x="0" y="4217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0447" t="-144434" r="-490104" b="-139546"/>
            </a:stretch>
          </a:blipFill>
        </p:spPr>
      </p:sp>
      <p:sp>
        <p:nvSpPr>
          <p:cNvPr name="Freeform 94" id="94"/>
          <p:cNvSpPr/>
          <p:nvPr/>
        </p:nvSpPr>
        <p:spPr>
          <a:xfrm flipH="false" flipV="false" rot="0">
            <a:off x="1437500" y="713076"/>
            <a:ext cx="468982" cy="464718"/>
          </a:xfrm>
          <a:custGeom>
            <a:avLst/>
            <a:gdLst/>
            <a:ahLst/>
            <a:cxnLst/>
            <a:rect r="r" b="b" t="t" l="l"/>
            <a:pathLst>
              <a:path h="464718" w="468982">
                <a:moveTo>
                  <a:pt x="0" y="0"/>
                </a:moveTo>
                <a:lnTo>
                  <a:pt x="468982" y="0"/>
                </a:lnTo>
                <a:lnTo>
                  <a:pt x="468982" y="464719"/>
                </a:lnTo>
                <a:lnTo>
                  <a:pt x="0" y="4647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95" id="95"/>
          <p:cNvSpPr txBox="true"/>
          <p:nvPr/>
        </p:nvSpPr>
        <p:spPr>
          <a:xfrm rot="0">
            <a:off x="1075124" y="789276"/>
            <a:ext cx="230303" cy="388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2"/>
              </a:lnSpc>
            </a:pPr>
            <a:r>
              <a:rPr lang="en-US" b="true" sz="3101" spc="-254">
                <a:gradFill>
                  <a:gsLst>
                    <a:gs pos="0">
                      <a:srgbClr val="6B6B6B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x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483846" y="10420770"/>
            <a:ext cx="6592309" cy="163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2"/>
              </a:lnSpc>
              <a:spcBef>
                <a:spcPct val="0"/>
              </a:spcBef>
            </a:pPr>
            <a:r>
              <a:rPr lang="en-US" sz="95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Confidential &amp; Proprietary © 2026 Not Into Finance &amp; Indonesia Capital Market Student Studies</a:t>
            </a:r>
            <a:r>
              <a:rPr lang="en-US" sz="95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. All right</a:t>
            </a:r>
            <a:r>
              <a:rPr lang="en-US" sz="95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 reserved.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3186014" y="5591005"/>
            <a:ext cx="1154538" cy="265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7"/>
              </a:lnSpc>
              <a:spcBef>
                <a:spcPct val="0"/>
              </a:spcBef>
            </a:pPr>
            <a:r>
              <a:rPr lang="en-US" b="true" sz="1555" i="true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D9D9D9">
                        <a:alpha val="100000"/>
                      </a:srgbClr>
                    </a:gs>
                  </a:gsLst>
                  <a:lin ang="5400000"/>
                </a:gradFill>
                <a:latin typeface="DM Sans Bold Italics"/>
                <a:ea typeface="DM Sans Bold Italics"/>
                <a:cs typeface="DM Sans Bold Italics"/>
                <a:sym typeface="DM Sans Bold Italics"/>
              </a:rPr>
              <a:t>Session 4-5</a:t>
            </a:r>
          </a:p>
        </p:txBody>
      </p:sp>
      <p:grpSp>
        <p:nvGrpSpPr>
          <p:cNvPr name="Group 98" id="98"/>
          <p:cNvGrpSpPr/>
          <p:nvPr/>
        </p:nvGrpSpPr>
        <p:grpSpPr>
          <a:xfrm rot="0">
            <a:off x="548664" y="6056759"/>
            <a:ext cx="1166106" cy="725950"/>
            <a:chOff x="0" y="0"/>
            <a:chExt cx="417906" cy="260164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417906" cy="260164"/>
            </a:xfrm>
            <a:custGeom>
              <a:avLst/>
              <a:gdLst/>
              <a:ahLst/>
              <a:cxnLst/>
              <a:rect r="r" b="b" t="t" l="l"/>
              <a:pathLst>
                <a:path h="260164" w="417906">
                  <a:moveTo>
                    <a:pt x="0" y="0"/>
                  </a:moveTo>
                  <a:lnTo>
                    <a:pt x="417906" y="0"/>
                  </a:lnTo>
                  <a:lnTo>
                    <a:pt x="417906" y="260164"/>
                  </a:lnTo>
                  <a:lnTo>
                    <a:pt x="0" y="260164"/>
                  </a:lnTo>
                  <a:close/>
                </a:path>
              </a:pathLst>
            </a:custGeom>
            <a:gradFill rotWithShape="true">
              <a:gsLst>
                <a:gs pos="0">
                  <a:srgbClr val="001F35">
                    <a:alpha val="100000"/>
                  </a:srgbClr>
                </a:gs>
                <a:gs pos="100000">
                  <a:srgbClr val="0D3C82">
                    <a:alpha val="100000"/>
                  </a:srgbClr>
                </a:gs>
              </a:gsLst>
              <a:lin ang="2700000"/>
            </a:gradFill>
            <a:ln w="19050" cap="sq">
              <a:gradFill>
                <a:gsLst>
                  <a:gs pos="0">
                    <a:srgbClr val="9B9B9B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100" id="100"/>
            <p:cNvSpPr txBox="true"/>
            <p:nvPr/>
          </p:nvSpPr>
          <p:spPr>
            <a:xfrm>
              <a:off x="0" y="-9525"/>
              <a:ext cx="417906" cy="2696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  <a:r>
                <a:rPr lang="en-US" b="true" sz="1030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Equity Research Foundations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864447" y="6056759"/>
            <a:ext cx="1166106" cy="725950"/>
            <a:chOff x="0" y="0"/>
            <a:chExt cx="417906" cy="260164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417906" cy="260164"/>
            </a:xfrm>
            <a:custGeom>
              <a:avLst/>
              <a:gdLst/>
              <a:ahLst/>
              <a:cxnLst/>
              <a:rect r="r" b="b" t="t" l="l"/>
              <a:pathLst>
                <a:path h="260164" w="417906">
                  <a:moveTo>
                    <a:pt x="0" y="0"/>
                  </a:moveTo>
                  <a:lnTo>
                    <a:pt x="417906" y="0"/>
                  </a:lnTo>
                  <a:lnTo>
                    <a:pt x="417906" y="260164"/>
                  </a:lnTo>
                  <a:lnTo>
                    <a:pt x="0" y="260164"/>
                  </a:lnTo>
                  <a:close/>
                </a:path>
              </a:pathLst>
            </a:custGeom>
            <a:gradFill rotWithShape="true">
              <a:gsLst>
                <a:gs pos="0">
                  <a:srgbClr val="001F35">
                    <a:alpha val="100000"/>
                  </a:srgbClr>
                </a:gs>
                <a:gs pos="100000">
                  <a:srgbClr val="0D3C82">
                    <a:alpha val="100000"/>
                  </a:srgbClr>
                </a:gs>
              </a:gsLst>
              <a:lin ang="2700000"/>
            </a:gradFill>
            <a:ln w="19050" cap="sq">
              <a:gradFill>
                <a:gsLst>
                  <a:gs pos="0">
                    <a:srgbClr val="9B9B9B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103" id="103"/>
            <p:cNvSpPr txBox="true"/>
            <p:nvPr/>
          </p:nvSpPr>
          <p:spPr>
            <a:xfrm>
              <a:off x="0" y="-9525"/>
              <a:ext cx="417906" cy="2696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  <a:r>
                <a:rPr lang="en-US" b="true" sz="1030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Business &amp; Financial Statements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3180230" y="6056759"/>
            <a:ext cx="1166106" cy="725950"/>
            <a:chOff x="0" y="0"/>
            <a:chExt cx="417906" cy="260164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417906" cy="260164"/>
            </a:xfrm>
            <a:custGeom>
              <a:avLst/>
              <a:gdLst/>
              <a:ahLst/>
              <a:cxnLst/>
              <a:rect r="r" b="b" t="t" l="l"/>
              <a:pathLst>
                <a:path h="260164" w="417906">
                  <a:moveTo>
                    <a:pt x="0" y="0"/>
                  </a:moveTo>
                  <a:lnTo>
                    <a:pt x="417906" y="0"/>
                  </a:lnTo>
                  <a:lnTo>
                    <a:pt x="417906" y="260164"/>
                  </a:lnTo>
                  <a:lnTo>
                    <a:pt x="0" y="260164"/>
                  </a:lnTo>
                  <a:close/>
                </a:path>
              </a:pathLst>
            </a:custGeom>
            <a:gradFill rotWithShape="true">
              <a:gsLst>
                <a:gs pos="0">
                  <a:srgbClr val="001F35">
                    <a:alpha val="100000"/>
                  </a:srgbClr>
                </a:gs>
                <a:gs pos="100000">
                  <a:srgbClr val="0D3C82">
                    <a:alpha val="100000"/>
                  </a:srgbClr>
                </a:gs>
              </a:gsLst>
              <a:lin ang="2700000"/>
            </a:gradFill>
            <a:ln w="19050" cap="sq">
              <a:gradFill>
                <a:gsLst>
                  <a:gs pos="0">
                    <a:srgbClr val="9B9B9B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106" id="106"/>
            <p:cNvSpPr txBox="true"/>
            <p:nvPr/>
          </p:nvSpPr>
          <p:spPr>
            <a:xfrm>
              <a:off x="0" y="-9525"/>
              <a:ext cx="417906" cy="2696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  <a:r>
                <a:rPr lang="en-US" b="true" sz="1030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Analysis &amp; Forecasting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4496012" y="6056759"/>
            <a:ext cx="1166106" cy="725950"/>
            <a:chOff x="0" y="0"/>
            <a:chExt cx="417906" cy="260164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417906" cy="260164"/>
            </a:xfrm>
            <a:custGeom>
              <a:avLst/>
              <a:gdLst/>
              <a:ahLst/>
              <a:cxnLst/>
              <a:rect r="r" b="b" t="t" l="l"/>
              <a:pathLst>
                <a:path h="260164" w="417906">
                  <a:moveTo>
                    <a:pt x="0" y="0"/>
                  </a:moveTo>
                  <a:lnTo>
                    <a:pt x="417906" y="0"/>
                  </a:lnTo>
                  <a:lnTo>
                    <a:pt x="417906" y="260164"/>
                  </a:lnTo>
                  <a:lnTo>
                    <a:pt x="0" y="260164"/>
                  </a:lnTo>
                  <a:close/>
                </a:path>
              </a:pathLst>
            </a:custGeom>
            <a:gradFill rotWithShape="true">
              <a:gsLst>
                <a:gs pos="0">
                  <a:srgbClr val="001F35">
                    <a:alpha val="100000"/>
                  </a:srgbClr>
                </a:gs>
                <a:gs pos="100000">
                  <a:srgbClr val="0D3C82">
                    <a:alpha val="100000"/>
                  </a:srgbClr>
                </a:gs>
              </a:gsLst>
              <a:lin ang="2700000"/>
            </a:gradFill>
            <a:ln w="19050" cap="sq">
              <a:gradFill>
                <a:gsLst>
                  <a:gs pos="0">
                    <a:srgbClr val="9B9B9B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109" id="109"/>
            <p:cNvSpPr txBox="true"/>
            <p:nvPr/>
          </p:nvSpPr>
          <p:spPr>
            <a:xfrm>
              <a:off x="0" y="-9525"/>
              <a:ext cx="417906" cy="2696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  <a:r>
                <a:rPr lang="en-US" b="true" sz="1030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Valuation, Risk, &amp; ESG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5811795" y="6056759"/>
            <a:ext cx="1166106" cy="725950"/>
            <a:chOff x="0" y="0"/>
            <a:chExt cx="417906" cy="260164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417906" cy="260164"/>
            </a:xfrm>
            <a:custGeom>
              <a:avLst/>
              <a:gdLst/>
              <a:ahLst/>
              <a:cxnLst/>
              <a:rect r="r" b="b" t="t" l="l"/>
              <a:pathLst>
                <a:path h="260164" w="417906">
                  <a:moveTo>
                    <a:pt x="0" y="0"/>
                  </a:moveTo>
                  <a:lnTo>
                    <a:pt x="417906" y="0"/>
                  </a:lnTo>
                  <a:lnTo>
                    <a:pt x="417906" y="260164"/>
                  </a:lnTo>
                  <a:lnTo>
                    <a:pt x="0" y="260164"/>
                  </a:lnTo>
                  <a:close/>
                </a:path>
              </a:pathLst>
            </a:custGeom>
            <a:gradFill rotWithShape="true">
              <a:gsLst>
                <a:gs pos="0">
                  <a:srgbClr val="001F35">
                    <a:alpha val="100000"/>
                  </a:srgbClr>
                </a:gs>
                <a:gs pos="100000">
                  <a:srgbClr val="0D3C82">
                    <a:alpha val="100000"/>
                  </a:srgbClr>
                </a:gs>
              </a:gsLst>
              <a:lin ang="2700000"/>
            </a:gradFill>
            <a:ln w="19050" cap="sq">
              <a:gradFill>
                <a:gsLst>
                  <a:gs pos="0">
                    <a:srgbClr val="9B9B9B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112" id="112"/>
            <p:cNvSpPr txBox="true"/>
            <p:nvPr/>
          </p:nvSpPr>
          <p:spPr>
            <a:xfrm>
              <a:off x="0" y="-9525"/>
              <a:ext cx="417906" cy="2696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  <a:r>
                <a:rPr lang="en-US" b="true" sz="1030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Research Writing &amp; Pitching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548664" y="6848794"/>
            <a:ext cx="1166106" cy="1374445"/>
            <a:chOff x="0" y="0"/>
            <a:chExt cx="417906" cy="49257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417906" cy="492570"/>
            </a:xfrm>
            <a:custGeom>
              <a:avLst/>
              <a:gdLst/>
              <a:ahLst/>
              <a:cxnLst/>
              <a:rect r="r" b="b" t="t" l="l"/>
              <a:pathLst>
                <a:path h="492570" w="417906">
                  <a:moveTo>
                    <a:pt x="0" y="0"/>
                  </a:moveTo>
                  <a:lnTo>
                    <a:pt x="417906" y="0"/>
                  </a:lnTo>
                  <a:lnTo>
                    <a:pt x="417906" y="492570"/>
                  </a:lnTo>
                  <a:lnTo>
                    <a:pt x="0" y="492570"/>
                  </a:lnTo>
                  <a:close/>
                </a:path>
              </a:pathLst>
            </a:custGeom>
            <a:solidFill>
              <a:srgbClr val="EDEDEF"/>
            </a:solidFill>
            <a:ln w="19050" cap="sq">
              <a:gradFill>
                <a:gsLst>
                  <a:gs pos="0">
                    <a:srgbClr val="9B9B9B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115" id="115"/>
            <p:cNvSpPr txBox="true"/>
            <p:nvPr/>
          </p:nvSpPr>
          <p:spPr>
            <a:xfrm>
              <a:off x="0" y="-9525"/>
              <a:ext cx="417906" cy="5020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  <a:r>
                <a:rPr lang="en-US" sz="1030" b="true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Introduction to Equity Research:</a:t>
              </a:r>
            </a:p>
            <a:p>
              <a:pPr algn="ctr">
                <a:lnSpc>
                  <a:spcPts val="1236"/>
                </a:lnSpc>
              </a:pPr>
            </a:p>
            <a:p>
              <a:pPr algn="ctr">
                <a:lnSpc>
                  <a:spcPts val="1236"/>
                </a:lnSpc>
              </a:pPr>
              <a:r>
                <a:rPr lang="en-US" sz="1030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Ratings, report structure and analyst ethics.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548664" y="8289323"/>
            <a:ext cx="1166106" cy="725950"/>
            <a:chOff x="0" y="0"/>
            <a:chExt cx="417906" cy="260164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417906" cy="260164"/>
            </a:xfrm>
            <a:custGeom>
              <a:avLst/>
              <a:gdLst/>
              <a:ahLst/>
              <a:cxnLst/>
              <a:rect r="r" b="b" t="t" l="l"/>
              <a:pathLst>
                <a:path h="260164" w="417906">
                  <a:moveTo>
                    <a:pt x="0" y="0"/>
                  </a:moveTo>
                  <a:lnTo>
                    <a:pt x="417906" y="0"/>
                  </a:lnTo>
                  <a:lnTo>
                    <a:pt x="417906" y="260164"/>
                  </a:lnTo>
                  <a:lnTo>
                    <a:pt x="0" y="260164"/>
                  </a:lnTo>
                  <a:close/>
                </a:path>
              </a:pathLst>
            </a:custGeom>
            <a:gradFill rotWithShape="true">
              <a:gsLst>
                <a:gs pos="0">
                  <a:srgbClr val="001F35">
                    <a:alpha val="100000"/>
                  </a:srgbClr>
                </a:gs>
                <a:gs pos="100000">
                  <a:srgbClr val="0D3C82">
                    <a:alpha val="100000"/>
                  </a:srgbClr>
                </a:gs>
              </a:gsLst>
              <a:lin ang="2700000"/>
            </a:gradFill>
            <a:ln w="19050" cap="sq">
              <a:gradFill>
                <a:gsLst>
                  <a:gs pos="0">
                    <a:srgbClr val="9B9B9B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118" id="118"/>
            <p:cNvSpPr txBox="true"/>
            <p:nvPr/>
          </p:nvSpPr>
          <p:spPr>
            <a:xfrm>
              <a:off x="0" y="-9525"/>
              <a:ext cx="417906" cy="2696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839"/>
                </a:lnSpc>
              </a:pPr>
              <a:r>
                <a:rPr lang="en-US" sz="699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Understand the analyst’s role and research process.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1857591" y="6848794"/>
            <a:ext cx="1166106" cy="1374445"/>
            <a:chOff x="0" y="0"/>
            <a:chExt cx="417906" cy="49257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417906" cy="492570"/>
            </a:xfrm>
            <a:custGeom>
              <a:avLst/>
              <a:gdLst/>
              <a:ahLst/>
              <a:cxnLst/>
              <a:rect r="r" b="b" t="t" l="l"/>
              <a:pathLst>
                <a:path h="492570" w="417906">
                  <a:moveTo>
                    <a:pt x="0" y="0"/>
                  </a:moveTo>
                  <a:lnTo>
                    <a:pt x="417906" y="0"/>
                  </a:lnTo>
                  <a:lnTo>
                    <a:pt x="417906" y="492570"/>
                  </a:lnTo>
                  <a:lnTo>
                    <a:pt x="0" y="492570"/>
                  </a:lnTo>
                  <a:close/>
                </a:path>
              </a:pathLst>
            </a:custGeom>
            <a:solidFill>
              <a:srgbClr val="EDEDEF"/>
            </a:solidFill>
            <a:ln w="19050" cap="sq">
              <a:gradFill>
                <a:gsLst>
                  <a:gs pos="0">
                    <a:srgbClr val="9B9B9B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121" id="121"/>
            <p:cNvSpPr txBox="true"/>
            <p:nvPr/>
          </p:nvSpPr>
          <p:spPr>
            <a:xfrm>
              <a:off x="0" y="-9525"/>
              <a:ext cx="417906" cy="5020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1857591" y="8289323"/>
            <a:ext cx="1166106" cy="725950"/>
            <a:chOff x="0" y="0"/>
            <a:chExt cx="417906" cy="260164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417906" cy="260164"/>
            </a:xfrm>
            <a:custGeom>
              <a:avLst/>
              <a:gdLst/>
              <a:ahLst/>
              <a:cxnLst/>
              <a:rect r="r" b="b" t="t" l="l"/>
              <a:pathLst>
                <a:path h="260164" w="417906">
                  <a:moveTo>
                    <a:pt x="0" y="0"/>
                  </a:moveTo>
                  <a:lnTo>
                    <a:pt x="417906" y="0"/>
                  </a:lnTo>
                  <a:lnTo>
                    <a:pt x="417906" y="260164"/>
                  </a:lnTo>
                  <a:lnTo>
                    <a:pt x="0" y="260164"/>
                  </a:lnTo>
                  <a:close/>
                </a:path>
              </a:pathLst>
            </a:custGeom>
            <a:gradFill rotWithShape="true">
              <a:gsLst>
                <a:gs pos="0">
                  <a:srgbClr val="001F35">
                    <a:alpha val="100000"/>
                  </a:srgbClr>
                </a:gs>
                <a:gs pos="100000">
                  <a:srgbClr val="0D3C82">
                    <a:alpha val="100000"/>
                  </a:srgbClr>
                </a:gs>
              </a:gsLst>
              <a:lin ang="2700000"/>
            </a:gradFill>
            <a:ln w="19050" cap="sq">
              <a:gradFill>
                <a:gsLst>
                  <a:gs pos="0">
                    <a:srgbClr val="9B9B9B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124" id="124"/>
            <p:cNvSpPr txBox="true"/>
            <p:nvPr/>
          </p:nvSpPr>
          <p:spPr>
            <a:xfrm>
              <a:off x="0" y="-9525"/>
              <a:ext cx="417906" cy="2696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839"/>
                </a:lnSpc>
              </a:pPr>
              <a:r>
                <a:rPr lang="en-US" sz="699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Read the business and establish the financial baseline.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3187902" y="6848794"/>
            <a:ext cx="1166106" cy="1374445"/>
            <a:chOff x="0" y="0"/>
            <a:chExt cx="417906" cy="49257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417906" cy="492570"/>
            </a:xfrm>
            <a:custGeom>
              <a:avLst/>
              <a:gdLst/>
              <a:ahLst/>
              <a:cxnLst/>
              <a:rect r="r" b="b" t="t" l="l"/>
              <a:pathLst>
                <a:path h="492570" w="417906">
                  <a:moveTo>
                    <a:pt x="0" y="0"/>
                  </a:moveTo>
                  <a:lnTo>
                    <a:pt x="417906" y="0"/>
                  </a:lnTo>
                  <a:lnTo>
                    <a:pt x="417906" y="492570"/>
                  </a:lnTo>
                  <a:lnTo>
                    <a:pt x="0" y="492570"/>
                  </a:lnTo>
                  <a:close/>
                </a:path>
              </a:pathLst>
            </a:custGeom>
            <a:solidFill>
              <a:srgbClr val="EDEDEF"/>
            </a:solidFill>
            <a:ln w="19050" cap="sq">
              <a:gradFill>
                <a:gsLst>
                  <a:gs pos="0">
                    <a:srgbClr val="9B9B9B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127" id="127"/>
            <p:cNvSpPr txBox="true"/>
            <p:nvPr/>
          </p:nvSpPr>
          <p:spPr>
            <a:xfrm>
              <a:off x="0" y="-9525"/>
              <a:ext cx="417906" cy="5020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3187902" y="8289323"/>
            <a:ext cx="1166106" cy="725950"/>
            <a:chOff x="0" y="0"/>
            <a:chExt cx="417906" cy="260164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417906" cy="260164"/>
            </a:xfrm>
            <a:custGeom>
              <a:avLst/>
              <a:gdLst/>
              <a:ahLst/>
              <a:cxnLst/>
              <a:rect r="r" b="b" t="t" l="l"/>
              <a:pathLst>
                <a:path h="260164" w="417906">
                  <a:moveTo>
                    <a:pt x="0" y="0"/>
                  </a:moveTo>
                  <a:lnTo>
                    <a:pt x="417906" y="0"/>
                  </a:lnTo>
                  <a:lnTo>
                    <a:pt x="417906" y="260164"/>
                  </a:lnTo>
                  <a:lnTo>
                    <a:pt x="0" y="260164"/>
                  </a:lnTo>
                  <a:close/>
                </a:path>
              </a:pathLst>
            </a:custGeom>
            <a:gradFill rotWithShape="true">
              <a:gsLst>
                <a:gs pos="0">
                  <a:srgbClr val="001F35">
                    <a:alpha val="100000"/>
                  </a:srgbClr>
                </a:gs>
                <a:gs pos="100000">
                  <a:srgbClr val="0D3C82">
                    <a:alpha val="100000"/>
                  </a:srgbClr>
                </a:gs>
              </a:gsLst>
              <a:lin ang="2700000"/>
            </a:gradFill>
            <a:ln w="19050" cap="sq">
              <a:gradFill>
                <a:gsLst>
                  <a:gs pos="0">
                    <a:srgbClr val="9B9B9B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130" id="130"/>
            <p:cNvSpPr txBox="true"/>
            <p:nvPr/>
          </p:nvSpPr>
          <p:spPr>
            <a:xfrm>
              <a:off x="0" y="-9525"/>
              <a:ext cx="417906" cy="2696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839"/>
                </a:lnSpc>
              </a:pPr>
              <a:r>
                <a:rPr lang="en-US" sz="699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Translate business drivers into financial projections.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4502493" y="6848794"/>
            <a:ext cx="1166106" cy="1374445"/>
            <a:chOff x="0" y="0"/>
            <a:chExt cx="417906" cy="492570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417906" cy="492570"/>
            </a:xfrm>
            <a:custGeom>
              <a:avLst/>
              <a:gdLst/>
              <a:ahLst/>
              <a:cxnLst/>
              <a:rect r="r" b="b" t="t" l="l"/>
              <a:pathLst>
                <a:path h="492570" w="417906">
                  <a:moveTo>
                    <a:pt x="0" y="0"/>
                  </a:moveTo>
                  <a:lnTo>
                    <a:pt x="417906" y="0"/>
                  </a:lnTo>
                  <a:lnTo>
                    <a:pt x="417906" y="492570"/>
                  </a:lnTo>
                  <a:lnTo>
                    <a:pt x="0" y="492570"/>
                  </a:lnTo>
                  <a:close/>
                </a:path>
              </a:pathLst>
            </a:custGeom>
            <a:solidFill>
              <a:srgbClr val="EDEDEF"/>
            </a:solidFill>
            <a:ln w="19050" cap="sq">
              <a:gradFill>
                <a:gsLst>
                  <a:gs pos="0">
                    <a:srgbClr val="9B9B9B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133" id="133"/>
            <p:cNvSpPr txBox="true"/>
            <p:nvPr/>
          </p:nvSpPr>
          <p:spPr>
            <a:xfrm>
              <a:off x="0" y="-9525"/>
              <a:ext cx="417906" cy="5020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4502493" y="8289323"/>
            <a:ext cx="1166106" cy="725950"/>
            <a:chOff x="0" y="0"/>
            <a:chExt cx="417906" cy="260164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417906" cy="260164"/>
            </a:xfrm>
            <a:custGeom>
              <a:avLst/>
              <a:gdLst/>
              <a:ahLst/>
              <a:cxnLst/>
              <a:rect r="r" b="b" t="t" l="l"/>
              <a:pathLst>
                <a:path h="260164" w="417906">
                  <a:moveTo>
                    <a:pt x="0" y="0"/>
                  </a:moveTo>
                  <a:lnTo>
                    <a:pt x="417906" y="0"/>
                  </a:lnTo>
                  <a:lnTo>
                    <a:pt x="417906" y="260164"/>
                  </a:lnTo>
                  <a:lnTo>
                    <a:pt x="0" y="260164"/>
                  </a:lnTo>
                  <a:close/>
                </a:path>
              </a:pathLst>
            </a:custGeom>
            <a:gradFill rotWithShape="true">
              <a:gsLst>
                <a:gs pos="0">
                  <a:srgbClr val="001F35">
                    <a:alpha val="100000"/>
                  </a:srgbClr>
                </a:gs>
                <a:gs pos="100000">
                  <a:srgbClr val="0D3C82">
                    <a:alpha val="100000"/>
                  </a:srgbClr>
                </a:gs>
              </a:gsLst>
              <a:lin ang="2700000"/>
            </a:gradFill>
            <a:ln w="19050" cap="sq">
              <a:gradFill>
                <a:gsLst>
                  <a:gs pos="0">
                    <a:srgbClr val="9B9B9B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136" id="136"/>
            <p:cNvSpPr txBox="true"/>
            <p:nvPr/>
          </p:nvSpPr>
          <p:spPr>
            <a:xfrm>
              <a:off x="0" y="-9525"/>
              <a:ext cx="417906" cy="2696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839"/>
                </a:lnSpc>
              </a:pPr>
              <a:r>
                <a:rPr lang="en-US" sz="699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Assess value and the assumptions behind it.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5817385" y="6848794"/>
            <a:ext cx="1166106" cy="1374445"/>
            <a:chOff x="0" y="0"/>
            <a:chExt cx="417906" cy="49257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417906" cy="492570"/>
            </a:xfrm>
            <a:custGeom>
              <a:avLst/>
              <a:gdLst/>
              <a:ahLst/>
              <a:cxnLst/>
              <a:rect r="r" b="b" t="t" l="l"/>
              <a:pathLst>
                <a:path h="492570" w="417906">
                  <a:moveTo>
                    <a:pt x="0" y="0"/>
                  </a:moveTo>
                  <a:lnTo>
                    <a:pt x="417906" y="0"/>
                  </a:lnTo>
                  <a:lnTo>
                    <a:pt x="417906" y="492570"/>
                  </a:lnTo>
                  <a:lnTo>
                    <a:pt x="0" y="492570"/>
                  </a:lnTo>
                  <a:close/>
                </a:path>
              </a:pathLst>
            </a:custGeom>
            <a:solidFill>
              <a:srgbClr val="EDEDEF"/>
            </a:solidFill>
            <a:ln w="19050" cap="sq">
              <a:gradFill>
                <a:gsLst>
                  <a:gs pos="0">
                    <a:srgbClr val="9B9B9B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139" id="139"/>
            <p:cNvSpPr txBox="true"/>
            <p:nvPr/>
          </p:nvSpPr>
          <p:spPr>
            <a:xfrm>
              <a:off x="0" y="-9525"/>
              <a:ext cx="417906" cy="5020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  <a:r>
                <a:rPr lang="en-US" sz="1030" b="true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Writing the Call and Defending It</a:t>
              </a:r>
            </a:p>
            <a:p>
              <a:pPr algn="ctr">
                <a:lnSpc>
                  <a:spcPts val="1236"/>
                </a:lnSpc>
              </a:pPr>
            </a:p>
            <a:p>
              <a:pPr algn="ctr">
                <a:lnSpc>
                  <a:spcPts val="996"/>
                </a:lnSpc>
              </a:pPr>
              <a:r>
                <a:rPr lang="en-US" sz="830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Investment thesis, recommendation and a three-minute practice pitch.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5817385" y="8289323"/>
            <a:ext cx="1166106" cy="725950"/>
            <a:chOff x="0" y="0"/>
            <a:chExt cx="417906" cy="260164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417906" cy="260164"/>
            </a:xfrm>
            <a:custGeom>
              <a:avLst/>
              <a:gdLst/>
              <a:ahLst/>
              <a:cxnLst/>
              <a:rect r="r" b="b" t="t" l="l"/>
              <a:pathLst>
                <a:path h="260164" w="417906">
                  <a:moveTo>
                    <a:pt x="0" y="0"/>
                  </a:moveTo>
                  <a:lnTo>
                    <a:pt x="417906" y="0"/>
                  </a:lnTo>
                  <a:lnTo>
                    <a:pt x="417906" y="260164"/>
                  </a:lnTo>
                  <a:lnTo>
                    <a:pt x="0" y="260164"/>
                  </a:lnTo>
                  <a:close/>
                </a:path>
              </a:pathLst>
            </a:custGeom>
            <a:gradFill rotWithShape="true">
              <a:gsLst>
                <a:gs pos="0">
                  <a:srgbClr val="001F35">
                    <a:alpha val="100000"/>
                  </a:srgbClr>
                </a:gs>
                <a:gs pos="100000">
                  <a:srgbClr val="0D3C82">
                    <a:alpha val="100000"/>
                  </a:srgbClr>
                </a:gs>
              </a:gsLst>
              <a:lin ang="2700000"/>
            </a:gradFill>
            <a:ln w="19050" cap="sq">
              <a:gradFill>
                <a:gsLst>
                  <a:gs pos="0">
                    <a:srgbClr val="9B9B9B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142" id="142"/>
            <p:cNvSpPr txBox="true"/>
            <p:nvPr/>
          </p:nvSpPr>
          <p:spPr>
            <a:xfrm>
              <a:off x="0" y="-9525"/>
              <a:ext cx="417906" cy="2696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839"/>
                </a:lnSpc>
              </a:pPr>
              <a:r>
                <a:rPr lang="en-US" sz="699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Communicate and defend an investment recommendation.</a:t>
              </a:r>
            </a:p>
          </p:txBody>
        </p:sp>
      </p:grpSp>
      <p:sp>
        <p:nvSpPr>
          <p:cNvPr name="TextBox 143" id="143"/>
          <p:cNvSpPr txBox="true"/>
          <p:nvPr/>
        </p:nvSpPr>
        <p:spPr>
          <a:xfrm rot="0">
            <a:off x="1949851" y="6944634"/>
            <a:ext cx="994472" cy="265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3"/>
              </a:lnSpc>
              <a:spcBef>
                <a:spcPct val="0"/>
              </a:spcBef>
            </a:pPr>
            <a:r>
              <a:rPr lang="en-US" b="true" sz="816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02 Business &amp; Industry</a:t>
            </a:r>
          </a:p>
        </p:txBody>
      </p:sp>
      <p:sp>
        <p:nvSpPr>
          <p:cNvPr name="TextBox 144" id="144"/>
          <p:cNvSpPr txBox="true"/>
          <p:nvPr/>
        </p:nvSpPr>
        <p:spPr>
          <a:xfrm rot="0">
            <a:off x="1943408" y="7214994"/>
            <a:ext cx="994472" cy="202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3"/>
              </a:lnSpc>
              <a:spcBef>
                <a:spcPct val="0"/>
              </a:spcBef>
            </a:pPr>
            <a:r>
              <a:rPr lang="en-US" sz="61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Revenue drivers and competitive position.</a:t>
            </a:r>
          </a:p>
        </p:txBody>
      </p:sp>
      <p:sp>
        <p:nvSpPr>
          <p:cNvPr name="TextBox 145" id="145"/>
          <p:cNvSpPr txBox="true"/>
          <p:nvPr/>
        </p:nvSpPr>
        <p:spPr>
          <a:xfrm rot="0">
            <a:off x="1943408" y="7665334"/>
            <a:ext cx="994472" cy="265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3"/>
              </a:lnSpc>
              <a:spcBef>
                <a:spcPct val="0"/>
              </a:spcBef>
            </a:pPr>
            <a:r>
              <a:rPr lang="en-US" b="true" sz="816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03 Financial Statements</a:t>
            </a:r>
          </a:p>
        </p:txBody>
      </p:sp>
      <p:sp>
        <p:nvSpPr>
          <p:cNvPr name="TextBox 146" id="146"/>
          <p:cNvSpPr txBox="true"/>
          <p:nvPr/>
        </p:nvSpPr>
        <p:spPr>
          <a:xfrm rot="0">
            <a:off x="1936964" y="7935694"/>
            <a:ext cx="994472" cy="202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3"/>
              </a:lnSpc>
              <a:spcBef>
                <a:spcPct val="0"/>
              </a:spcBef>
            </a:pPr>
            <a:r>
              <a:rPr lang="en-US" sz="61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Rebuild comparable historical financials.</a:t>
            </a:r>
          </a:p>
        </p:txBody>
      </p:sp>
      <p:sp>
        <p:nvSpPr>
          <p:cNvPr name="TextBox 147" id="147"/>
          <p:cNvSpPr txBox="true"/>
          <p:nvPr/>
        </p:nvSpPr>
        <p:spPr>
          <a:xfrm rot="0">
            <a:off x="3289208" y="6935109"/>
            <a:ext cx="994472" cy="265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3"/>
              </a:lnSpc>
              <a:spcBef>
                <a:spcPct val="0"/>
              </a:spcBef>
            </a:pPr>
            <a:r>
              <a:rPr lang="en-US" b="true" sz="816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04 Financial Analysis</a:t>
            </a:r>
          </a:p>
        </p:txBody>
      </p:sp>
      <p:sp>
        <p:nvSpPr>
          <p:cNvPr name="TextBox 148" id="148"/>
          <p:cNvSpPr txBox="true"/>
          <p:nvPr/>
        </p:nvSpPr>
        <p:spPr>
          <a:xfrm rot="0">
            <a:off x="3282764" y="7205469"/>
            <a:ext cx="994472" cy="202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3"/>
              </a:lnSpc>
              <a:spcBef>
                <a:spcPct val="0"/>
              </a:spcBef>
            </a:pPr>
            <a:r>
              <a:rPr lang="en-US" sz="61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Ratios, earnings quality and red flags.</a:t>
            </a:r>
          </a:p>
        </p:txBody>
      </p:sp>
      <p:sp>
        <p:nvSpPr>
          <p:cNvPr name="TextBox 149" id="149"/>
          <p:cNvSpPr txBox="true"/>
          <p:nvPr/>
        </p:nvSpPr>
        <p:spPr>
          <a:xfrm rot="0">
            <a:off x="3282764" y="7665334"/>
            <a:ext cx="994472" cy="127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3"/>
              </a:lnSpc>
              <a:spcBef>
                <a:spcPct val="0"/>
              </a:spcBef>
            </a:pPr>
            <a:r>
              <a:rPr lang="en-US" b="true" sz="816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05 Forecasting</a:t>
            </a:r>
          </a:p>
        </p:txBody>
      </p:sp>
      <p:sp>
        <p:nvSpPr>
          <p:cNvPr name="TextBox 150" id="150"/>
          <p:cNvSpPr txBox="true"/>
          <p:nvPr/>
        </p:nvSpPr>
        <p:spPr>
          <a:xfrm rot="0">
            <a:off x="3276320" y="7797414"/>
            <a:ext cx="994472" cy="202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3"/>
              </a:lnSpc>
              <a:spcBef>
                <a:spcPct val="0"/>
              </a:spcBef>
            </a:pPr>
            <a:r>
              <a:rPr lang="en-US" sz="61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Five-year projections and scenarios.</a:t>
            </a:r>
          </a:p>
        </p:txBody>
      </p:sp>
      <p:sp>
        <p:nvSpPr>
          <p:cNvPr name="TextBox 151" id="151"/>
          <p:cNvSpPr txBox="true"/>
          <p:nvPr/>
        </p:nvSpPr>
        <p:spPr>
          <a:xfrm rot="0">
            <a:off x="4588696" y="6925584"/>
            <a:ext cx="994472" cy="265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3"/>
              </a:lnSpc>
              <a:spcBef>
                <a:spcPct val="0"/>
              </a:spcBef>
            </a:pPr>
            <a:r>
              <a:rPr lang="en-US" b="true" sz="816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06 Relative Valuation</a:t>
            </a:r>
          </a:p>
        </p:txBody>
      </p:sp>
      <p:sp>
        <p:nvSpPr>
          <p:cNvPr name="TextBox 152" id="152"/>
          <p:cNvSpPr txBox="true"/>
          <p:nvPr/>
        </p:nvSpPr>
        <p:spPr>
          <a:xfrm rot="0">
            <a:off x="4582252" y="7195944"/>
            <a:ext cx="994472" cy="202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3"/>
              </a:lnSpc>
              <a:spcBef>
                <a:spcPct val="0"/>
              </a:spcBef>
            </a:pPr>
            <a:r>
              <a:rPr lang="en-US" sz="61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Comps, multiples and target price.</a:t>
            </a:r>
          </a:p>
        </p:txBody>
      </p:sp>
      <p:sp>
        <p:nvSpPr>
          <p:cNvPr name="TextBox 153" id="153"/>
          <p:cNvSpPr txBox="true"/>
          <p:nvPr/>
        </p:nvSpPr>
        <p:spPr>
          <a:xfrm rot="0">
            <a:off x="4582252" y="7662234"/>
            <a:ext cx="994472" cy="265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3"/>
              </a:lnSpc>
              <a:spcBef>
                <a:spcPct val="0"/>
              </a:spcBef>
            </a:pPr>
            <a:r>
              <a:rPr lang="en-US" b="true" sz="816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07 Intrinsic Valuation</a:t>
            </a:r>
          </a:p>
        </p:txBody>
      </p:sp>
      <p:sp>
        <p:nvSpPr>
          <p:cNvPr name="TextBox 154" id="154"/>
          <p:cNvSpPr txBox="true"/>
          <p:nvPr/>
        </p:nvSpPr>
        <p:spPr>
          <a:xfrm rot="0">
            <a:off x="4575809" y="7918052"/>
            <a:ext cx="994472" cy="98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3"/>
              </a:lnSpc>
              <a:spcBef>
                <a:spcPct val="0"/>
              </a:spcBef>
            </a:pPr>
            <a:r>
              <a:rPr lang="en-US" sz="61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DCF, WACC, risks and ESG.</a:t>
            </a:r>
          </a:p>
        </p:txBody>
      </p:sp>
      <p:sp>
        <p:nvSpPr>
          <p:cNvPr name="TextBox 155" id="155"/>
          <p:cNvSpPr txBox="true"/>
          <p:nvPr/>
        </p:nvSpPr>
        <p:spPr>
          <a:xfrm rot="0">
            <a:off x="477402" y="9367822"/>
            <a:ext cx="6592309" cy="163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2"/>
              </a:lnSpc>
              <a:spcBef>
                <a:spcPct val="0"/>
              </a:spcBef>
            </a:pPr>
            <a:r>
              <a:rPr lang="en-US" sz="95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</a:t>
            </a:r>
            <a:r>
              <a:rPr lang="en-US" sz="95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ession dates and final-stage deadlines</a:t>
            </a:r>
            <a:r>
              <a:rPr lang="en-US" sz="95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TBA</a:t>
            </a:r>
            <a:r>
              <a:rPr lang="en-US" sz="95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3366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341012" y="2718770"/>
            <a:ext cx="7460742" cy="746074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21F">
                    <a:alpha val="22000"/>
                  </a:srgbClr>
                </a:gs>
                <a:gs pos="100000">
                  <a:srgbClr val="848484">
                    <a:alpha val="17050"/>
                  </a:srgbClr>
                </a:gs>
              </a:gsLst>
              <a:lin ang="0"/>
            </a:gradFill>
            <a:ln w="19050" cap="sq">
              <a:gradFill>
                <a:gsLst>
                  <a:gs pos="0">
                    <a:srgbClr val="FFFFFF">
                      <a:alpha val="22000"/>
                    </a:srgbClr>
                  </a:gs>
                  <a:gs pos="100000">
                    <a:srgbClr val="9B9B9B">
                      <a:alpha val="22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4564555" y="6205629"/>
            <a:ext cx="7460742" cy="7460742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48484">
                    <a:alpha val="20925"/>
                  </a:srgbClr>
                </a:gs>
                <a:gs pos="100000">
                  <a:srgbClr val="00021F">
                    <a:alpha val="27000"/>
                  </a:srgbClr>
                </a:gs>
              </a:gsLst>
              <a:lin ang="0"/>
            </a:gradFill>
            <a:ln w="19050" cap="sq">
              <a:gradFill>
                <a:gsLst>
                  <a:gs pos="0">
                    <a:srgbClr val="FFFFFF">
                      <a:alpha val="27000"/>
                    </a:srgbClr>
                  </a:gs>
                  <a:gs pos="100000">
                    <a:srgbClr val="9B9B9B">
                      <a:alpha val="27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68397" y="1424470"/>
            <a:ext cx="6523947" cy="852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6"/>
              </a:lnSpc>
            </a:pPr>
            <a:r>
              <a:rPr lang="en-US" b="true" sz="6080" spc="-498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898989">
                        <a:alpha val="100000"/>
                      </a:srgbClr>
                    </a:gs>
                  </a:gsLst>
                  <a:lin ang="2700000"/>
                </a:gradFill>
                <a:latin typeface="DM Sans Bold"/>
                <a:ea typeface="DM Sans Bold"/>
                <a:cs typeface="DM Sans Bold"/>
                <a:sym typeface="DM Sans Bold"/>
              </a:rPr>
              <a:t>Our Track Record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-3730371" y="-1828984"/>
            <a:ext cx="7460742" cy="7460742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48484">
                    <a:alpha val="17050"/>
                  </a:srgbClr>
                </a:gs>
                <a:gs pos="100000">
                  <a:srgbClr val="00021F">
                    <a:alpha val="22000"/>
                  </a:srgbClr>
                </a:gs>
              </a:gsLst>
              <a:lin ang="0"/>
            </a:gradFill>
            <a:ln w="19050" cap="sq">
              <a:gradFill>
                <a:gsLst>
                  <a:gs pos="0">
                    <a:srgbClr val="FFFFFF">
                      <a:alpha val="22000"/>
                    </a:srgbClr>
                  </a:gs>
                  <a:gs pos="100000">
                    <a:srgbClr val="9B9B9B">
                      <a:alpha val="22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99779" y="3470023"/>
            <a:ext cx="2138141" cy="1082094"/>
            <a:chOff x="0" y="0"/>
            <a:chExt cx="4928521" cy="24942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928521" cy="2494280"/>
            </a:xfrm>
            <a:custGeom>
              <a:avLst/>
              <a:gdLst/>
              <a:ahLst/>
              <a:cxnLst/>
              <a:rect r="r" b="b" t="t" l="l"/>
              <a:pathLst>
                <a:path h="2494280" w="4928521">
                  <a:moveTo>
                    <a:pt x="0" y="0"/>
                  </a:moveTo>
                  <a:lnTo>
                    <a:pt x="4928521" y="0"/>
                  </a:lnTo>
                  <a:lnTo>
                    <a:pt x="4928521" y="2494280"/>
                  </a:lnTo>
                  <a:lnTo>
                    <a:pt x="0" y="2494280"/>
                  </a:lnTo>
                  <a:close/>
                </a:path>
              </a:pathLst>
            </a:custGeom>
            <a:blipFill>
              <a:blip r:embed="rId2"/>
              <a:stretch>
                <a:fillRect l="-7428" t="0" r="-7428" b="0"/>
              </a:stretch>
            </a:blipFill>
            <a:ln w="9525" cap="sq">
              <a:solidFill>
                <a:srgbClr val="F2F3F5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2708825" y="3470023"/>
            <a:ext cx="2138141" cy="1082094"/>
            <a:chOff x="0" y="0"/>
            <a:chExt cx="4928521" cy="24942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928521" cy="2494280"/>
            </a:xfrm>
            <a:custGeom>
              <a:avLst/>
              <a:gdLst/>
              <a:ahLst/>
              <a:cxnLst/>
              <a:rect r="r" b="b" t="t" l="l"/>
              <a:pathLst>
                <a:path h="2494280" w="4928521">
                  <a:moveTo>
                    <a:pt x="0" y="0"/>
                  </a:moveTo>
                  <a:lnTo>
                    <a:pt x="4928521" y="0"/>
                  </a:lnTo>
                  <a:lnTo>
                    <a:pt x="4928521" y="2494280"/>
                  </a:lnTo>
                  <a:lnTo>
                    <a:pt x="0" y="2494280"/>
                  </a:lnTo>
                  <a:close/>
                </a:path>
              </a:pathLst>
            </a:custGeom>
            <a:blipFill>
              <a:blip r:embed="rId3"/>
              <a:stretch>
                <a:fillRect l="-3146" t="0" r="-11711" b="0"/>
              </a:stretch>
            </a:blipFill>
            <a:ln w="9525" cap="sq">
              <a:solidFill>
                <a:srgbClr val="F2F3F5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4916966" y="3470023"/>
            <a:ext cx="2138141" cy="1082094"/>
            <a:chOff x="0" y="0"/>
            <a:chExt cx="4928521" cy="24942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928521" cy="2494280"/>
            </a:xfrm>
            <a:custGeom>
              <a:avLst/>
              <a:gdLst/>
              <a:ahLst/>
              <a:cxnLst/>
              <a:rect r="r" b="b" t="t" l="l"/>
              <a:pathLst>
                <a:path h="2494280" w="4928521">
                  <a:moveTo>
                    <a:pt x="0" y="0"/>
                  </a:moveTo>
                  <a:lnTo>
                    <a:pt x="4928521" y="0"/>
                  </a:lnTo>
                  <a:lnTo>
                    <a:pt x="4928521" y="2494280"/>
                  </a:lnTo>
                  <a:lnTo>
                    <a:pt x="0" y="2494280"/>
                  </a:lnTo>
                  <a:close/>
                </a:path>
              </a:pathLst>
            </a:custGeom>
            <a:blipFill>
              <a:blip r:embed="rId4"/>
              <a:stretch>
                <a:fillRect l="0" t="-24097" r="0" b="-24097"/>
              </a:stretch>
            </a:blipFill>
            <a:ln w="9525" cap="sq">
              <a:solidFill>
                <a:srgbClr val="F2F3F5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463283" y="4943404"/>
            <a:ext cx="2138141" cy="1082094"/>
            <a:chOff x="0" y="0"/>
            <a:chExt cx="4928521" cy="24942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928521" cy="2494280"/>
            </a:xfrm>
            <a:custGeom>
              <a:avLst/>
              <a:gdLst/>
              <a:ahLst/>
              <a:cxnLst/>
              <a:rect r="r" b="b" t="t" l="l"/>
              <a:pathLst>
                <a:path h="2494280" w="4928521">
                  <a:moveTo>
                    <a:pt x="0" y="0"/>
                  </a:moveTo>
                  <a:lnTo>
                    <a:pt x="4928521" y="0"/>
                  </a:lnTo>
                  <a:lnTo>
                    <a:pt x="4928521" y="2494280"/>
                  </a:lnTo>
                  <a:lnTo>
                    <a:pt x="0" y="2494280"/>
                  </a:lnTo>
                  <a:close/>
                </a:path>
              </a:pathLst>
            </a:custGeom>
            <a:blipFill>
              <a:blip r:embed="rId5"/>
              <a:stretch>
                <a:fillRect l="0" t="-5495" r="0" b="-5495"/>
              </a:stretch>
            </a:blipFill>
            <a:ln w="9525" cap="sq">
              <a:solidFill>
                <a:srgbClr val="F2F3F5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4951741" y="4940766"/>
            <a:ext cx="2138141" cy="1082094"/>
            <a:chOff x="0" y="0"/>
            <a:chExt cx="4928521" cy="24942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928521" cy="2494280"/>
            </a:xfrm>
            <a:custGeom>
              <a:avLst/>
              <a:gdLst/>
              <a:ahLst/>
              <a:cxnLst/>
              <a:rect r="r" b="b" t="t" l="l"/>
              <a:pathLst>
                <a:path h="2494280" w="4928521">
                  <a:moveTo>
                    <a:pt x="0" y="0"/>
                  </a:moveTo>
                  <a:lnTo>
                    <a:pt x="4928521" y="0"/>
                  </a:lnTo>
                  <a:lnTo>
                    <a:pt x="4928521" y="2494280"/>
                  </a:lnTo>
                  <a:lnTo>
                    <a:pt x="0" y="2494280"/>
                  </a:lnTo>
                  <a:close/>
                </a:path>
              </a:pathLst>
            </a:custGeom>
            <a:blipFill>
              <a:blip r:embed="rId6"/>
              <a:stretch>
                <a:fillRect l="0" t="-11989" r="0" b="-18641"/>
              </a:stretch>
            </a:blipFill>
            <a:ln w="9525" cap="sq">
              <a:solidFill>
                <a:srgbClr val="F2F3F5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2708825" y="4943404"/>
            <a:ext cx="2138141" cy="1082094"/>
            <a:chOff x="0" y="0"/>
            <a:chExt cx="4928521" cy="24942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928521" cy="2494280"/>
            </a:xfrm>
            <a:custGeom>
              <a:avLst/>
              <a:gdLst/>
              <a:ahLst/>
              <a:cxnLst/>
              <a:rect r="r" b="b" t="t" l="l"/>
              <a:pathLst>
                <a:path h="2494280" w="4928521">
                  <a:moveTo>
                    <a:pt x="0" y="0"/>
                  </a:moveTo>
                  <a:lnTo>
                    <a:pt x="4928521" y="0"/>
                  </a:lnTo>
                  <a:lnTo>
                    <a:pt x="4928521" y="2494280"/>
                  </a:lnTo>
                  <a:lnTo>
                    <a:pt x="0" y="2494280"/>
                  </a:lnTo>
                  <a:close/>
                </a:path>
              </a:pathLst>
            </a:custGeom>
            <a:blipFill>
              <a:blip r:embed="rId7"/>
              <a:stretch>
                <a:fillRect l="0" t="-17476" r="0" b="-17476"/>
              </a:stretch>
            </a:blipFill>
            <a:ln w="9525" cap="sq">
              <a:solidFill>
                <a:srgbClr val="F2F3F5"/>
              </a:solidFill>
              <a:prstDash val="solid"/>
              <a:miter/>
            </a:ln>
          </p:spPr>
        </p:sp>
      </p:grpSp>
      <p:sp>
        <p:nvSpPr>
          <p:cNvPr name="Freeform 24" id="24"/>
          <p:cNvSpPr/>
          <p:nvPr/>
        </p:nvSpPr>
        <p:spPr>
          <a:xfrm flipH="false" flipV="false" rot="0">
            <a:off x="5475646" y="6954630"/>
            <a:ext cx="1512973" cy="1155533"/>
          </a:xfrm>
          <a:custGeom>
            <a:avLst/>
            <a:gdLst/>
            <a:ahLst/>
            <a:cxnLst/>
            <a:rect r="r" b="b" t="t" l="l"/>
            <a:pathLst>
              <a:path h="1155533" w="1512973">
                <a:moveTo>
                  <a:pt x="0" y="0"/>
                </a:moveTo>
                <a:lnTo>
                  <a:pt x="1512973" y="0"/>
                </a:lnTo>
                <a:lnTo>
                  <a:pt x="1512973" y="1155533"/>
                </a:lnTo>
                <a:lnTo>
                  <a:pt x="0" y="115553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463283" y="6983205"/>
            <a:ext cx="1513837" cy="2141590"/>
          </a:xfrm>
          <a:custGeom>
            <a:avLst/>
            <a:gdLst/>
            <a:ahLst/>
            <a:cxnLst/>
            <a:rect r="r" b="b" t="t" l="l"/>
            <a:pathLst>
              <a:path h="2141590" w="1513837">
                <a:moveTo>
                  <a:pt x="0" y="0"/>
                </a:moveTo>
                <a:lnTo>
                  <a:pt x="1513837" y="0"/>
                </a:lnTo>
                <a:lnTo>
                  <a:pt x="1513837" y="2141590"/>
                </a:lnTo>
                <a:lnTo>
                  <a:pt x="0" y="214159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2120253" y="6983205"/>
            <a:ext cx="1513837" cy="2141590"/>
          </a:xfrm>
          <a:custGeom>
            <a:avLst/>
            <a:gdLst/>
            <a:ahLst/>
            <a:cxnLst/>
            <a:rect r="r" b="b" t="t" l="l"/>
            <a:pathLst>
              <a:path h="2141590" w="1513837">
                <a:moveTo>
                  <a:pt x="0" y="0"/>
                </a:moveTo>
                <a:lnTo>
                  <a:pt x="1513836" y="0"/>
                </a:lnTo>
                <a:lnTo>
                  <a:pt x="1513836" y="2141590"/>
                </a:lnTo>
                <a:lnTo>
                  <a:pt x="0" y="214159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5475646" y="8006908"/>
            <a:ext cx="1516698" cy="1158703"/>
          </a:xfrm>
          <a:custGeom>
            <a:avLst/>
            <a:gdLst/>
            <a:ahLst/>
            <a:cxnLst/>
            <a:rect r="r" b="b" t="t" l="l"/>
            <a:pathLst>
              <a:path h="1158703" w="1516698">
                <a:moveTo>
                  <a:pt x="0" y="0"/>
                </a:moveTo>
                <a:lnTo>
                  <a:pt x="1516698" y="0"/>
                </a:lnTo>
                <a:lnTo>
                  <a:pt x="1516698" y="1158703"/>
                </a:lnTo>
                <a:lnTo>
                  <a:pt x="0" y="115870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3780000" y="6983205"/>
            <a:ext cx="1513837" cy="2141590"/>
          </a:xfrm>
          <a:custGeom>
            <a:avLst/>
            <a:gdLst/>
            <a:ahLst/>
            <a:cxnLst/>
            <a:rect r="r" b="b" t="t" l="l"/>
            <a:pathLst>
              <a:path h="2141590" w="1513837">
                <a:moveTo>
                  <a:pt x="0" y="0"/>
                </a:moveTo>
                <a:lnTo>
                  <a:pt x="1513837" y="0"/>
                </a:lnTo>
                <a:lnTo>
                  <a:pt x="1513837" y="2141590"/>
                </a:lnTo>
                <a:lnTo>
                  <a:pt x="0" y="214159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499779" y="2296386"/>
            <a:ext cx="6523947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0"/>
              </a:lnSpc>
            </a:pPr>
            <a:r>
              <a:rPr lang="en-US" b="true" sz="2000" spc="-164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Experience Across Research, Education &amp; Community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31160" y="2622581"/>
            <a:ext cx="6523947" cy="334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4"/>
              </a:lnSpc>
            </a:pPr>
            <a:r>
              <a:rPr lang="en-US" sz="1200" spc="-9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NIFI and ICMSS bring experience in finance education, research, and community engagement—a relevant foundation for the joint equity research bootcamp.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99779" y="3115253"/>
            <a:ext cx="6523947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0"/>
              </a:lnSpc>
            </a:pPr>
            <a:r>
              <a:rPr lang="en-US" b="true" sz="2000" spc="-164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Previous Activities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99779" y="4599742"/>
            <a:ext cx="2138141" cy="172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4"/>
              </a:lnSpc>
            </a:pPr>
            <a:r>
              <a:rPr lang="en-US" b="true" sz="1200" spc="-98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Capital Market Class 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710929" y="4599742"/>
            <a:ext cx="2138141" cy="172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4"/>
              </a:lnSpc>
            </a:pPr>
            <a:r>
              <a:rPr lang="en-US" b="true" sz="1200" spc="-98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NIFI Academy Bootcamp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922080" y="4599742"/>
            <a:ext cx="2138141" cy="172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4"/>
              </a:lnSpc>
            </a:pPr>
            <a:r>
              <a:rPr lang="en-US" b="true" sz="1200" spc="-98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Community Activities</a:t>
            </a:r>
          </a:p>
        </p:txBody>
      </p:sp>
      <p:sp>
        <p:nvSpPr>
          <p:cNvPr name="TextBox 35" id="35"/>
          <p:cNvSpPr txBox="true"/>
          <p:nvPr/>
        </p:nvSpPr>
        <p:spPr>
          <a:xfrm rot="-5400000">
            <a:off x="126921" y="3899266"/>
            <a:ext cx="392757" cy="172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4"/>
              </a:lnSpc>
            </a:pPr>
            <a:r>
              <a:rPr lang="en-US" b="true" sz="1200" spc="-98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NIFI</a:t>
            </a:r>
          </a:p>
        </p:txBody>
      </p:sp>
      <p:sp>
        <p:nvSpPr>
          <p:cNvPr name="TextBox 36" id="36"/>
          <p:cNvSpPr txBox="true"/>
          <p:nvPr/>
        </p:nvSpPr>
        <p:spPr>
          <a:xfrm rot="-5400000">
            <a:off x="-55516" y="5398346"/>
            <a:ext cx="684641" cy="172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4"/>
              </a:lnSpc>
            </a:pPr>
            <a:r>
              <a:rPr lang="en-US" b="true" sz="1200" spc="-98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ICMSS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463283" y="6073123"/>
            <a:ext cx="2138141" cy="172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4"/>
              </a:lnSpc>
            </a:pPr>
            <a:r>
              <a:rPr lang="en-US" b="true" sz="1200" spc="-98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Equity Research Conference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674434" y="6073123"/>
            <a:ext cx="2138141" cy="172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4"/>
              </a:lnSpc>
            </a:pPr>
            <a:r>
              <a:rPr lang="en-US" b="true" sz="1200" spc="-98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Capital Market Seminar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4885585" y="6073123"/>
            <a:ext cx="2138141" cy="172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4"/>
              </a:lnSpc>
            </a:pPr>
            <a:r>
              <a:rPr lang="en-US" b="true" sz="1200" spc="-98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Investment Training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499779" y="6597760"/>
            <a:ext cx="6523947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0"/>
              </a:lnSpc>
            </a:pPr>
            <a:r>
              <a:rPr lang="en-US" b="true" sz="2000" spc="-164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Previous Research</a:t>
            </a:r>
          </a:p>
        </p:txBody>
      </p:sp>
      <p:sp>
        <p:nvSpPr>
          <p:cNvPr name="Freeform 41" id="41"/>
          <p:cNvSpPr/>
          <p:nvPr/>
        </p:nvSpPr>
        <p:spPr>
          <a:xfrm flipH="false" flipV="false" rot="0">
            <a:off x="499779" y="756000"/>
            <a:ext cx="411005" cy="421795"/>
          </a:xfrm>
          <a:custGeom>
            <a:avLst/>
            <a:gdLst/>
            <a:ahLst/>
            <a:cxnLst/>
            <a:rect r="r" b="b" t="t" l="l"/>
            <a:pathLst>
              <a:path h="421795" w="411005">
                <a:moveTo>
                  <a:pt x="0" y="0"/>
                </a:moveTo>
                <a:lnTo>
                  <a:pt x="411005" y="0"/>
                </a:lnTo>
                <a:lnTo>
                  <a:pt x="411005" y="421795"/>
                </a:lnTo>
                <a:lnTo>
                  <a:pt x="0" y="42179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110447" t="-144434" r="-490104" b="-139546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1437500" y="713076"/>
            <a:ext cx="468982" cy="464718"/>
          </a:xfrm>
          <a:custGeom>
            <a:avLst/>
            <a:gdLst/>
            <a:ahLst/>
            <a:cxnLst/>
            <a:rect r="r" b="b" t="t" l="l"/>
            <a:pathLst>
              <a:path h="464718" w="468982">
                <a:moveTo>
                  <a:pt x="0" y="0"/>
                </a:moveTo>
                <a:lnTo>
                  <a:pt x="468982" y="0"/>
                </a:lnTo>
                <a:lnTo>
                  <a:pt x="468982" y="464719"/>
                </a:lnTo>
                <a:lnTo>
                  <a:pt x="0" y="46471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1075124" y="789276"/>
            <a:ext cx="230303" cy="388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2"/>
              </a:lnSpc>
            </a:pPr>
            <a:r>
              <a:rPr lang="en-US" b="true" sz="3101" spc="-254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x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483846" y="10420770"/>
            <a:ext cx="6592309" cy="163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2"/>
              </a:lnSpc>
              <a:spcBef>
                <a:spcPct val="0"/>
              </a:spcBef>
            </a:pPr>
            <a:r>
              <a:rPr lang="en-US" sz="95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Confidential &amp; Proprietary © 2026 Not Into Finance &amp; Indonesia Capital Market Student Studies</a:t>
            </a:r>
            <a:r>
              <a:rPr lang="en-US" sz="95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. All right</a:t>
            </a:r>
            <a:r>
              <a:rPr lang="en-US" sz="95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 reserved.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3458383">
            <a:off x="2663526" y="-5093846"/>
            <a:ext cx="7460742" cy="746074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908">
                    <a:alpha val="14000"/>
                  </a:srgbClr>
                </a:gs>
                <a:gs pos="100000">
                  <a:srgbClr val="001614">
                    <a:alpha val="0"/>
                  </a:srgbClr>
                </a:gs>
              </a:gsLst>
              <a:lin ang="5400000"/>
            </a:gradFill>
            <a:ln w="19050" cap="sq">
              <a:gradFill>
                <a:gsLst>
                  <a:gs pos="0">
                    <a:srgbClr val="00352F">
                      <a:alpha val="14000"/>
                    </a:srgbClr>
                  </a:gs>
                  <a:gs pos="100000">
                    <a:srgbClr val="000000">
                      <a:alpha val="14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3458383">
            <a:off x="-3235264" y="8119153"/>
            <a:ext cx="6628018" cy="6628018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1614">
                    <a:alpha val="0"/>
                  </a:srgbClr>
                </a:gs>
                <a:gs pos="100000">
                  <a:srgbClr val="000908">
                    <a:alpha val="14000"/>
                  </a:srgbClr>
                </a:gs>
              </a:gsLst>
              <a:lin ang="5400000"/>
            </a:gradFill>
            <a:ln w="19050" cap="sq">
              <a:gradFill>
                <a:gsLst>
                  <a:gs pos="0">
                    <a:srgbClr val="00352F">
                      <a:alpha val="14000"/>
                    </a:srgbClr>
                  </a:gs>
                  <a:gs pos="100000">
                    <a:srgbClr val="000000">
                      <a:alpha val="14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70894" y="4218989"/>
            <a:ext cx="1493509" cy="1218292"/>
            <a:chOff x="0" y="0"/>
            <a:chExt cx="1997653" cy="16295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97653" cy="1629535"/>
            </a:xfrm>
            <a:custGeom>
              <a:avLst/>
              <a:gdLst/>
              <a:ahLst/>
              <a:cxnLst/>
              <a:rect r="r" b="b" t="t" l="l"/>
              <a:pathLst>
                <a:path h="1629535" w="1997653">
                  <a:moveTo>
                    <a:pt x="0" y="0"/>
                  </a:moveTo>
                  <a:lnTo>
                    <a:pt x="1997653" y="0"/>
                  </a:lnTo>
                  <a:lnTo>
                    <a:pt x="1997653" y="1629535"/>
                  </a:lnTo>
                  <a:lnTo>
                    <a:pt x="0" y="162953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1997653" cy="1705735"/>
            </a:xfrm>
            <a:prstGeom prst="rect">
              <a:avLst/>
            </a:prstGeom>
          </p:spPr>
          <p:txBody>
            <a:bodyPr anchor="ctr" rtlCol="false" tIns="24215" lIns="24215" bIns="24215" rIns="24215"/>
            <a:lstStyle/>
            <a:p>
              <a:pPr algn="ctr">
                <a:lnSpc>
                  <a:spcPts val="2404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470894" y="3494498"/>
            <a:ext cx="1501418" cy="1227505"/>
          </a:xfrm>
          <a:custGeom>
            <a:avLst/>
            <a:gdLst/>
            <a:ahLst/>
            <a:cxnLst/>
            <a:rect r="r" b="b" t="t" l="l"/>
            <a:pathLst>
              <a:path h="1227505" w="1501418">
                <a:moveTo>
                  <a:pt x="0" y="0"/>
                </a:moveTo>
                <a:lnTo>
                  <a:pt x="1501418" y="0"/>
                </a:lnTo>
                <a:lnTo>
                  <a:pt x="1501418" y="1227505"/>
                </a:lnTo>
                <a:lnTo>
                  <a:pt x="0" y="12275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851" t="-26014" r="-182307" b="-133259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70894" y="3990739"/>
            <a:ext cx="1492163" cy="766316"/>
            <a:chOff x="0" y="0"/>
            <a:chExt cx="1995852" cy="102499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95852" cy="1024992"/>
            </a:xfrm>
            <a:custGeom>
              <a:avLst/>
              <a:gdLst/>
              <a:ahLst/>
              <a:cxnLst/>
              <a:rect r="r" b="b" t="t" l="l"/>
              <a:pathLst>
                <a:path h="1024992" w="1995852">
                  <a:moveTo>
                    <a:pt x="0" y="0"/>
                  </a:moveTo>
                  <a:lnTo>
                    <a:pt x="1995852" y="0"/>
                  </a:lnTo>
                  <a:lnTo>
                    <a:pt x="1995852" y="1024992"/>
                  </a:lnTo>
                  <a:lnTo>
                    <a:pt x="0" y="1024992"/>
                  </a:lnTo>
                  <a:close/>
                </a:path>
              </a:pathLst>
            </a:custGeom>
            <a:gradFill rotWithShape="true">
              <a:gsLst>
                <a:gs pos="0">
                  <a:srgbClr val="001614">
                    <a:alpha val="0"/>
                  </a:srgbClr>
                </a:gs>
                <a:gs pos="100000">
                  <a:srgbClr val="00090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76200"/>
              <a:ext cx="1995852" cy="1101192"/>
            </a:xfrm>
            <a:prstGeom prst="rect">
              <a:avLst/>
            </a:prstGeom>
          </p:spPr>
          <p:txBody>
            <a:bodyPr anchor="ctr" rtlCol="false" tIns="24215" lIns="24215" bIns="24215" rIns="24215"/>
            <a:lstStyle/>
            <a:p>
              <a:pPr algn="ctr">
                <a:lnSpc>
                  <a:spcPts val="2404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189067" y="4226982"/>
            <a:ext cx="1493016" cy="1218292"/>
            <a:chOff x="0" y="0"/>
            <a:chExt cx="1996994" cy="16295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96994" cy="1629535"/>
            </a:xfrm>
            <a:custGeom>
              <a:avLst/>
              <a:gdLst/>
              <a:ahLst/>
              <a:cxnLst/>
              <a:rect r="r" b="b" t="t" l="l"/>
              <a:pathLst>
                <a:path h="1629535" w="1996994">
                  <a:moveTo>
                    <a:pt x="0" y="0"/>
                  </a:moveTo>
                  <a:lnTo>
                    <a:pt x="1996994" y="0"/>
                  </a:lnTo>
                  <a:lnTo>
                    <a:pt x="1996994" y="1629535"/>
                  </a:lnTo>
                  <a:lnTo>
                    <a:pt x="0" y="162953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76200"/>
              <a:ext cx="1996994" cy="1705735"/>
            </a:xfrm>
            <a:prstGeom prst="rect">
              <a:avLst/>
            </a:prstGeom>
          </p:spPr>
          <p:txBody>
            <a:bodyPr anchor="ctr" rtlCol="false" tIns="24215" lIns="24215" bIns="24215" rIns="24215"/>
            <a:lstStyle/>
            <a:p>
              <a:pPr algn="ctr">
                <a:lnSpc>
                  <a:spcPts val="2404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2187720" y="3491085"/>
            <a:ext cx="1498703" cy="1226338"/>
          </a:xfrm>
          <a:custGeom>
            <a:avLst/>
            <a:gdLst/>
            <a:ahLst/>
            <a:cxnLst/>
            <a:rect r="r" b="b" t="t" l="l"/>
            <a:pathLst>
              <a:path h="1226338" w="1498703">
                <a:moveTo>
                  <a:pt x="0" y="0"/>
                </a:moveTo>
                <a:lnTo>
                  <a:pt x="1498703" y="0"/>
                </a:lnTo>
                <a:lnTo>
                  <a:pt x="1498703" y="1226339"/>
                </a:lnTo>
                <a:lnTo>
                  <a:pt x="0" y="12263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4032" t="-50705" r="-93055" b="-112431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2187720" y="3998732"/>
            <a:ext cx="1493016" cy="766316"/>
            <a:chOff x="0" y="0"/>
            <a:chExt cx="1996994" cy="102499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96994" cy="1024992"/>
            </a:xfrm>
            <a:custGeom>
              <a:avLst/>
              <a:gdLst/>
              <a:ahLst/>
              <a:cxnLst/>
              <a:rect r="r" b="b" t="t" l="l"/>
              <a:pathLst>
                <a:path h="1024992" w="1996994">
                  <a:moveTo>
                    <a:pt x="0" y="0"/>
                  </a:moveTo>
                  <a:lnTo>
                    <a:pt x="1996994" y="0"/>
                  </a:lnTo>
                  <a:lnTo>
                    <a:pt x="1996994" y="1024992"/>
                  </a:lnTo>
                  <a:lnTo>
                    <a:pt x="0" y="1024992"/>
                  </a:lnTo>
                  <a:close/>
                </a:path>
              </a:pathLst>
            </a:custGeom>
            <a:gradFill rotWithShape="true">
              <a:gsLst>
                <a:gs pos="0">
                  <a:srgbClr val="001614">
                    <a:alpha val="0"/>
                  </a:srgbClr>
                </a:gs>
                <a:gs pos="100000">
                  <a:srgbClr val="00090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76200"/>
              <a:ext cx="1996994" cy="1101192"/>
            </a:xfrm>
            <a:prstGeom prst="rect">
              <a:avLst/>
            </a:prstGeom>
          </p:spPr>
          <p:txBody>
            <a:bodyPr anchor="ctr" rtlCol="false" tIns="24215" lIns="24215" bIns="24215" rIns="24215"/>
            <a:lstStyle/>
            <a:p>
              <a:pPr algn="ctr">
                <a:lnSpc>
                  <a:spcPts val="2404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3905197" y="4226982"/>
            <a:ext cx="1493016" cy="1218292"/>
            <a:chOff x="0" y="0"/>
            <a:chExt cx="1996994" cy="162953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996994" cy="1629535"/>
            </a:xfrm>
            <a:custGeom>
              <a:avLst/>
              <a:gdLst/>
              <a:ahLst/>
              <a:cxnLst/>
              <a:rect r="r" b="b" t="t" l="l"/>
              <a:pathLst>
                <a:path h="1629535" w="1996994">
                  <a:moveTo>
                    <a:pt x="0" y="0"/>
                  </a:moveTo>
                  <a:lnTo>
                    <a:pt x="1996994" y="0"/>
                  </a:lnTo>
                  <a:lnTo>
                    <a:pt x="1996994" y="1629535"/>
                  </a:lnTo>
                  <a:lnTo>
                    <a:pt x="0" y="162953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76200"/>
              <a:ext cx="1996994" cy="1705735"/>
            </a:xfrm>
            <a:prstGeom prst="rect">
              <a:avLst/>
            </a:prstGeom>
          </p:spPr>
          <p:txBody>
            <a:bodyPr anchor="ctr" rtlCol="false" tIns="24215" lIns="24215" bIns="24215" rIns="24215"/>
            <a:lstStyle/>
            <a:p>
              <a:pPr algn="ctr">
                <a:lnSpc>
                  <a:spcPts val="2404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3905197" y="3491085"/>
            <a:ext cx="1493016" cy="1230918"/>
          </a:xfrm>
          <a:custGeom>
            <a:avLst/>
            <a:gdLst/>
            <a:ahLst/>
            <a:cxnLst/>
            <a:rect r="r" b="b" t="t" l="l"/>
            <a:pathLst>
              <a:path h="1230918" w="1493016">
                <a:moveTo>
                  <a:pt x="0" y="0"/>
                </a:moveTo>
                <a:lnTo>
                  <a:pt x="1493016" y="0"/>
                </a:lnTo>
                <a:lnTo>
                  <a:pt x="1493016" y="1230918"/>
                </a:lnTo>
                <a:lnTo>
                  <a:pt x="0" y="12309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0646" r="0" b="-10646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3901376" y="3491085"/>
            <a:ext cx="1502199" cy="1226338"/>
          </a:xfrm>
          <a:custGeom>
            <a:avLst/>
            <a:gdLst/>
            <a:ahLst/>
            <a:cxnLst/>
            <a:rect r="r" b="b" t="t" l="l"/>
            <a:pathLst>
              <a:path h="1226338" w="1502199">
                <a:moveTo>
                  <a:pt x="0" y="0"/>
                </a:moveTo>
                <a:lnTo>
                  <a:pt x="1502199" y="0"/>
                </a:lnTo>
                <a:lnTo>
                  <a:pt x="1502199" y="1226339"/>
                </a:lnTo>
                <a:lnTo>
                  <a:pt x="0" y="12263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6544" r="0" b="-1595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3903851" y="3998732"/>
            <a:ext cx="1493016" cy="766316"/>
            <a:chOff x="0" y="0"/>
            <a:chExt cx="1996994" cy="102499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996994" cy="1024992"/>
            </a:xfrm>
            <a:custGeom>
              <a:avLst/>
              <a:gdLst/>
              <a:ahLst/>
              <a:cxnLst/>
              <a:rect r="r" b="b" t="t" l="l"/>
              <a:pathLst>
                <a:path h="1024992" w="1996994">
                  <a:moveTo>
                    <a:pt x="0" y="0"/>
                  </a:moveTo>
                  <a:lnTo>
                    <a:pt x="1996994" y="0"/>
                  </a:lnTo>
                  <a:lnTo>
                    <a:pt x="1996994" y="1024992"/>
                  </a:lnTo>
                  <a:lnTo>
                    <a:pt x="0" y="1024992"/>
                  </a:lnTo>
                  <a:close/>
                </a:path>
              </a:pathLst>
            </a:custGeom>
            <a:gradFill rotWithShape="true">
              <a:gsLst>
                <a:gs pos="0">
                  <a:srgbClr val="001614">
                    <a:alpha val="0"/>
                  </a:srgbClr>
                </a:gs>
                <a:gs pos="100000">
                  <a:srgbClr val="00090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76200"/>
              <a:ext cx="1996994" cy="1101192"/>
            </a:xfrm>
            <a:prstGeom prst="rect">
              <a:avLst/>
            </a:prstGeom>
          </p:spPr>
          <p:txBody>
            <a:bodyPr anchor="ctr" rtlCol="false" tIns="24215" lIns="24215" bIns="24215" rIns="24215"/>
            <a:lstStyle/>
            <a:p>
              <a:pPr algn="ctr">
                <a:lnSpc>
                  <a:spcPts val="2404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5626813" y="4226982"/>
            <a:ext cx="1493509" cy="1218292"/>
            <a:chOff x="0" y="0"/>
            <a:chExt cx="1997653" cy="162953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997653" cy="1629535"/>
            </a:xfrm>
            <a:custGeom>
              <a:avLst/>
              <a:gdLst/>
              <a:ahLst/>
              <a:cxnLst/>
              <a:rect r="r" b="b" t="t" l="l"/>
              <a:pathLst>
                <a:path h="1629535" w="1997653">
                  <a:moveTo>
                    <a:pt x="0" y="0"/>
                  </a:moveTo>
                  <a:lnTo>
                    <a:pt x="1997653" y="0"/>
                  </a:lnTo>
                  <a:lnTo>
                    <a:pt x="1997653" y="1629535"/>
                  </a:lnTo>
                  <a:lnTo>
                    <a:pt x="0" y="162953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76200"/>
              <a:ext cx="1997653" cy="1705735"/>
            </a:xfrm>
            <a:prstGeom prst="rect">
              <a:avLst/>
            </a:prstGeom>
          </p:spPr>
          <p:txBody>
            <a:bodyPr anchor="ctr" rtlCol="false" tIns="24215" lIns="24215" bIns="24215" rIns="24215"/>
            <a:lstStyle/>
            <a:p>
              <a:pPr algn="ctr">
                <a:lnSpc>
                  <a:spcPts val="2404"/>
                </a:lnSpc>
              </a:pPr>
            </a:p>
          </p:txBody>
        </p:sp>
      </p:grpSp>
      <p:sp>
        <p:nvSpPr>
          <p:cNvPr name="Freeform 33" id="33"/>
          <p:cNvSpPr/>
          <p:nvPr/>
        </p:nvSpPr>
        <p:spPr>
          <a:xfrm flipH="false" flipV="false" rot="0">
            <a:off x="5622650" y="3469800"/>
            <a:ext cx="1497672" cy="1264412"/>
          </a:xfrm>
          <a:custGeom>
            <a:avLst/>
            <a:gdLst/>
            <a:ahLst/>
            <a:cxnLst/>
            <a:rect r="r" b="b" t="t" l="l"/>
            <a:pathLst>
              <a:path h="1264412" w="1497672">
                <a:moveTo>
                  <a:pt x="0" y="0"/>
                </a:moveTo>
                <a:lnTo>
                  <a:pt x="1497673" y="0"/>
                </a:lnTo>
                <a:lnTo>
                  <a:pt x="1497673" y="1264412"/>
                </a:lnTo>
                <a:lnTo>
                  <a:pt x="0" y="126441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8429" t="0" r="-41887" b="-101737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5626813" y="3998732"/>
            <a:ext cx="1492163" cy="766316"/>
            <a:chOff x="0" y="0"/>
            <a:chExt cx="1995852" cy="102499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995852" cy="1024992"/>
            </a:xfrm>
            <a:custGeom>
              <a:avLst/>
              <a:gdLst/>
              <a:ahLst/>
              <a:cxnLst/>
              <a:rect r="r" b="b" t="t" l="l"/>
              <a:pathLst>
                <a:path h="1024992" w="1995852">
                  <a:moveTo>
                    <a:pt x="0" y="0"/>
                  </a:moveTo>
                  <a:lnTo>
                    <a:pt x="1995852" y="0"/>
                  </a:lnTo>
                  <a:lnTo>
                    <a:pt x="1995852" y="1024992"/>
                  </a:lnTo>
                  <a:lnTo>
                    <a:pt x="0" y="1024992"/>
                  </a:lnTo>
                  <a:close/>
                </a:path>
              </a:pathLst>
            </a:custGeom>
            <a:gradFill rotWithShape="true">
              <a:gsLst>
                <a:gs pos="0">
                  <a:srgbClr val="001614">
                    <a:alpha val="0"/>
                  </a:srgbClr>
                </a:gs>
                <a:gs pos="50000">
                  <a:srgbClr val="001614">
                    <a:alpha val="0"/>
                  </a:srgbClr>
                </a:gs>
                <a:gs pos="100000">
                  <a:srgbClr val="00090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76200"/>
              <a:ext cx="1995852" cy="1101192"/>
            </a:xfrm>
            <a:prstGeom prst="rect">
              <a:avLst/>
            </a:prstGeom>
          </p:spPr>
          <p:txBody>
            <a:bodyPr anchor="ctr" rtlCol="false" tIns="24215" lIns="24215" bIns="24215" rIns="24215"/>
            <a:lstStyle/>
            <a:p>
              <a:pPr algn="ctr">
                <a:lnSpc>
                  <a:spcPts val="2404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3458383">
            <a:off x="3603019" y="7374198"/>
            <a:ext cx="7460742" cy="7460742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908">
                    <a:alpha val="14000"/>
                  </a:srgbClr>
                </a:gs>
                <a:gs pos="100000">
                  <a:srgbClr val="001614">
                    <a:alpha val="0"/>
                  </a:srgbClr>
                </a:gs>
              </a:gsLst>
              <a:lin ang="5400000"/>
            </a:gradFill>
            <a:ln w="19050" cap="sq">
              <a:gradFill>
                <a:gsLst>
                  <a:gs pos="0">
                    <a:srgbClr val="00352F">
                      <a:alpha val="14000"/>
                    </a:srgbClr>
                  </a:gs>
                  <a:gs pos="100000">
                    <a:srgbClr val="000000">
                      <a:alpha val="14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sp>
        <p:nvSpPr>
          <p:cNvPr name="Freeform 40" id="40"/>
          <p:cNvSpPr/>
          <p:nvPr/>
        </p:nvSpPr>
        <p:spPr>
          <a:xfrm flipH="false" flipV="false" rot="0">
            <a:off x="499779" y="756000"/>
            <a:ext cx="411005" cy="421795"/>
          </a:xfrm>
          <a:custGeom>
            <a:avLst/>
            <a:gdLst/>
            <a:ahLst/>
            <a:cxnLst/>
            <a:rect r="r" b="b" t="t" l="l"/>
            <a:pathLst>
              <a:path h="421795" w="411005">
                <a:moveTo>
                  <a:pt x="0" y="0"/>
                </a:moveTo>
                <a:lnTo>
                  <a:pt x="411005" y="0"/>
                </a:lnTo>
                <a:lnTo>
                  <a:pt x="411005" y="421795"/>
                </a:lnTo>
                <a:lnTo>
                  <a:pt x="0" y="42179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10447" t="-144434" r="-490104" b="-139546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1437500" y="713076"/>
            <a:ext cx="468982" cy="464718"/>
          </a:xfrm>
          <a:custGeom>
            <a:avLst/>
            <a:gdLst/>
            <a:ahLst/>
            <a:cxnLst/>
            <a:rect r="r" b="b" t="t" l="l"/>
            <a:pathLst>
              <a:path h="464718" w="468982">
                <a:moveTo>
                  <a:pt x="0" y="0"/>
                </a:moveTo>
                <a:lnTo>
                  <a:pt x="468982" y="0"/>
                </a:lnTo>
                <a:lnTo>
                  <a:pt x="468982" y="464719"/>
                </a:lnTo>
                <a:lnTo>
                  <a:pt x="0" y="4647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42" id="42"/>
          <p:cNvGrpSpPr/>
          <p:nvPr/>
        </p:nvGrpSpPr>
        <p:grpSpPr>
          <a:xfrm rot="0">
            <a:off x="468419" y="6622176"/>
            <a:ext cx="1493509" cy="1218292"/>
            <a:chOff x="0" y="0"/>
            <a:chExt cx="1997653" cy="1629535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997653" cy="1629535"/>
            </a:xfrm>
            <a:custGeom>
              <a:avLst/>
              <a:gdLst/>
              <a:ahLst/>
              <a:cxnLst/>
              <a:rect r="r" b="b" t="t" l="l"/>
              <a:pathLst>
                <a:path h="1629535" w="1997653">
                  <a:moveTo>
                    <a:pt x="0" y="0"/>
                  </a:moveTo>
                  <a:lnTo>
                    <a:pt x="1997653" y="0"/>
                  </a:lnTo>
                  <a:lnTo>
                    <a:pt x="1997653" y="1629535"/>
                  </a:lnTo>
                  <a:lnTo>
                    <a:pt x="0" y="162953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76200"/>
              <a:ext cx="1997653" cy="1705735"/>
            </a:xfrm>
            <a:prstGeom prst="rect">
              <a:avLst/>
            </a:prstGeom>
          </p:spPr>
          <p:txBody>
            <a:bodyPr anchor="ctr" rtlCol="false" tIns="24215" lIns="24215" bIns="24215" rIns="24215"/>
            <a:lstStyle/>
            <a:p>
              <a:pPr algn="ctr">
                <a:lnSpc>
                  <a:spcPts val="2404"/>
                </a:lnSpc>
              </a:pPr>
            </a:p>
          </p:txBody>
        </p:sp>
      </p:grpSp>
      <p:sp>
        <p:nvSpPr>
          <p:cNvPr name="Freeform 45" id="45"/>
          <p:cNvSpPr/>
          <p:nvPr/>
        </p:nvSpPr>
        <p:spPr>
          <a:xfrm flipH="false" flipV="false" rot="0">
            <a:off x="467073" y="5894272"/>
            <a:ext cx="1500780" cy="1262710"/>
          </a:xfrm>
          <a:custGeom>
            <a:avLst/>
            <a:gdLst/>
            <a:ahLst/>
            <a:cxnLst/>
            <a:rect r="r" b="b" t="t" l="l"/>
            <a:pathLst>
              <a:path h="1262710" w="1500780">
                <a:moveTo>
                  <a:pt x="0" y="0"/>
                </a:moveTo>
                <a:lnTo>
                  <a:pt x="1500780" y="0"/>
                </a:lnTo>
                <a:lnTo>
                  <a:pt x="1500780" y="1262710"/>
                </a:lnTo>
                <a:lnTo>
                  <a:pt x="0" y="126271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95442" t="-14861" r="-93293" b="-78174"/>
            </a:stretch>
          </a:blipFill>
        </p:spPr>
      </p:sp>
      <p:grpSp>
        <p:nvGrpSpPr>
          <p:cNvPr name="Group 46" id="46"/>
          <p:cNvGrpSpPr/>
          <p:nvPr/>
        </p:nvGrpSpPr>
        <p:grpSpPr>
          <a:xfrm rot="0">
            <a:off x="468419" y="6398158"/>
            <a:ext cx="1492163" cy="766316"/>
            <a:chOff x="0" y="0"/>
            <a:chExt cx="1995852" cy="102499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995852" cy="1024992"/>
            </a:xfrm>
            <a:custGeom>
              <a:avLst/>
              <a:gdLst/>
              <a:ahLst/>
              <a:cxnLst/>
              <a:rect r="r" b="b" t="t" l="l"/>
              <a:pathLst>
                <a:path h="1024992" w="1995852">
                  <a:moveTo>
                    <a:pt x="0" y="0"/>
                  </a:moveTo>
                  <a:lnTo>
                    <a:pt x="1995852" y="0"/>
                  </a:lnTo>
                  <a:lnTo>
                    <a:pt x="1995852" y="1024992"/>
                  </a:lnTo>
                  <a:lnTo>
                    <a:pt x="0" y="1024992"/>
                  </a:lnTo>
                  <a:close/>
                </a:path>
              </a:pathLst>
            </a:custGeom>
            <a:gradFill rotWithShape="true">
              <a:gsLst>
                <a:gs pos="0">
                  <a:srgbClr val="001614">
                    <a:alpha val="0"/>
                  </a:srgbClr>
                </a:gs>
                <a:gs pos="100000">
                  <a:srgbClr val="00090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76200"/>
              <a:ext cx="1995852" cy="1101192"/>
            </a:xfrm>
            <a:prstGeom prst="rect">
              <a:avLst/>
            </a:prstGeom>
          </p:spPr>
          <p:txBody>
            <a:bodyPr anchor="ctr" rtlCol="false" tIns="24215" lIns="24215" bIns="24215" rIns="24215"/>
            <a:lstStyle/>
            <a:p>
              <a:pPr algn="ctr">
                <a:lnSpc>
                  <a:spcPts val="2404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2186592" y="6630169"/>
            <a:ext cx="1493016" cy="1218292"/>
            <a:chOff x="0" y="0"/>
            <a:chExt cx="1996994" cy="1629535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996994" cy="1629535"/>
            </a:xfrm>
            <a:custGeom>
              <a:avLst/>
              <a:gdLst/>
              <a:ahLst/>
              <a:cxnLst/>
              <a:rect r="r" b="b" t="t" l="l"/>
              <a:pathLst>
                <a:path h="1629535" w="1996994">
                  <a:moveTo>
                    <a:pt x="0" y="0"/>
                  </a:moveTo>
                  <a:lnTo>
                    <a:pt x="1996994" y="0"/>
                  </a:lnTo>
                  <a:lnTo>
                    <a:pt x="1996994" y="1629535"/>
                  </a:lnTo>
                  <a:lnTo>
                    <a:pt x="0" y="162953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76200"/>
              <a:ext cx="1996994" cy="1705735"/>
            </a:xfrm>
            <a:prstGeom prst="rect">
              <a:avLst/>
            </a:prstGeom>
          </p:spPr>
          <p:txBody>
            <a:bodyPr anchor="ctr" rtlCol="false" tIns="24215" lIns="24215" bIns="24215" rIns="24215"/>
            <a:lstStyle/>
            <a:p>
              <a:pPr algn="ctr">
                <a:lnSpc>
                  <a:spcPts val="2404"/>
                </a:lnSpc>
              </a:pPr>
            </a:p>
          </p:txBody>
        </p:sp>
      </p:grpSp>
      <p:sp>
        <p:nvSpPr>
          <p:cNvPr name="Freeform 52" id="52"/>
          <p:cNvSpPr/>
          <p:nvPr/>
        </p:nvSpPr>
        <p:spPr>
          <a:xfrm flipH="false" flipV="false" rot="0">
            <a:off x="2183899" y="5888845"/>
            <a:ext cx="1497356" cy="1279407"/>
          </a:xfrm>
          <a:custGeom>
            <a:avLst/>
            <a:gdLst/>
            <a:ahLst/>
            <a:cxnLst/>
            <a:rect r="r" b="b" t="t" l="l"/>
            <a:pathLst>
              <a:path h="1279407" w="1497356">
                <a:moveTo>
                  <a:pt x="0" y="0"/>
                </a:moveTo>
                <a:lnTo>
                  <a:pt x="1497356" y="0"/>
                </a:lnTo>
                <a:lnTo>
                  <a:pt x="1497356" y="1279407"/>
                </a:lnTo>
                <a:lnTo>
                  <a:pt x="0" y="127940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21760" t="-9497" r="-17989" b="-134496"/>
            </a:stretch>
          </a:blipFill>
        </p:spPr>
      </p:sp>
      <p:grpSp>
        <p:nvGrpSpPr>
          <p:cNvPr name="Group 53" id="53"/>
          <p:cNvGrpSpPr/>
          <p:nvPr/>
        </p:nvGrpSpPr>
        <p:grpSpPr>
          <a:xfrm rot="0">
            <a:off x="2185245" y="6401919"/>
            <a:ext cx="1493016" cy="766316"/>
            <a:chOff x="0" y="0"/>
            <a:chExt cx="1996994" cy="102499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996994" cy="1024992"/>
            </a:xfrm>
            <a:custGeom>
              <a:avLst/>
              <a:gdLst/>
              <a:ahLst/>
              <a:cxnLst/>
              <a:rect r="r" b="b" t="t" l="l"/>
              <a:pathLst>
                <a:path h="1024992" w="1996994">
                  <a:moveTo>
                    <a:pt x="0" y="0"/>
                  </a:moveTo>
                  <a:lnTo>
                    <a:pt x="1996994" y="0"/>
                  </a:lnTo>
                  <a:lnTo>
                    <a:pt x="1996994" y="1024992"/>
                  </a:lnTo>
                  <a:lnTo>
                    <a:pt x="0" y="1024992"/>
                  </a:lnTo>
                  <a:close/>
                </a:path>
              </a:pathLst>
            </a:custGeom>
            <a:gradFill rotWithShape="true">
              <a:gsLst>
                <a:gs pos="0">
                  <a:srgbClr val="001614">
                    <a:alpha val="0"/>
                  </a:srgbClr>
                </a:gs>
                <a:gs pos="100000">
                  <a:srgbClr val="00090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76200"/>
              <a:ext cx="1996994" cy="1101192"/>
            </a:xfrm>
            <a:prstGeom prst="rect">
              <a:avLst/>
            </a:prstGeom>
          </p:spPr>
          <p:txBody>
            <a:bodyPr anchor="ctr" rtlCol="false" tIns="24215" lIns="24215" bIns="24215" rIns="24215"/>
            <a:lstStyle/>
            <a:p>
              <a:pPr algn="ctr">
                <a:lnSpc>
                  <a:spcPts val="2404"/>
                </a:lnSpc>
              </a:pP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3902722" y="6630169"/>
            <a:ext cx="1493016" cy="1218292"/>
            <a:chOff x="0" y="0"/>
            <a:chExt cx="1996994" cy="1629535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996994" cy="1629535"/>
            </a:xfrm>
            <a:custGeom>
              <a:avLst/>
              <a:gdLst/>
              <a:ahLst/>
              <a:cxnLst/>
              <a:rect r="r" b="b" t="t" l="l"/>
              <a:pathLst>
                <a:path h="1629535" w="1996994">
                  <a:moveTo>
                    <a:pt x="0" y="0"/>
                  </a:moveTo>
                  <a:lnTo>
                    <a:pt x="1996994" y="0"/>
                  </a:lnTo>
                  <a:lnTo>
                    <a:pt x="1996994" y="1629535"/>
                  </a:lnTo>
                  <a:lnTo>
                    <a:pt x="0" y="162953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76200"/>
              <a:ext cx="1996994" cy="1705735"/>
            </a:xfrm>
            <a:prstGeom prst="rect">
              <a:avLst/>
            </a:prstGeom>
          </p:spPr>
          <p:txBody>
            <a:bodyPr anchor="ctr" rtlCol="false" tIns="24215" lIns="24215" bIns="24215" rIns="24215"/>
            <a:lstStyle/>
            <a:p>
              <a:pPr algn="ctr">
                <a:lnSpc>
                  <a:spcPts val="2404"/>
                </a:lnSpc>
              </a:pPr>
            </a:p>
          </p:txBody>
        </p:sp>
      </p:grpSp>
      <p:sp>
        <p:nvSpPr>
          <p:cNvPr name="Freeform 59" id="59"/>
          <p:cNvSpPr/>
          <p:nvPr/>
        </p:nvSpPr>
        <p:spPr>
          <a:xfrm flipH="false" flipV="false" rot="0">
            <a:off x="3900030" y="5890326"/>
            <a:ext cx="1491320" cy="1266656"/>
          </a:xfrm>
          <a:custGeom>
            <a:avLst/>
            <a:gdLst/>
            <a:ahLst/>
            <a:cxnLst/>
            <a:rect r="r" b="b" t="t" l="l"/>
            <a:pathLst>
              <a:path h="1266656" w="1491320">
                <a:moveTo>
                  <a:pt x="0" y="0"/>
                </a:moveTo>
                <a:lnTo>
                  <a:pt x="1491320" y="0"/>
                </a:lnTo>
                <a:lnTo>
                  <a:pt x="1491320" y="1266656"/>
                </a:lnTo>
                <a:lnTo>
                  <a:pt x="0" y="126665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-422" r="-819" b="-18279"/>
            </a:stretch>
          </a:blipFill>
        </p:spPr>
      </p:sp>
      <p:grpSp>
        <p:nvGrpSpPr>
          <p:cNvPr name="Group 60" id="60"/>
          <p:cNvGrpSpPr/>
          <p:nvPr/>
        </p:nvGrpSpPr>
        <p:grpSpPr>
          <a:xfrm rot="0">
            <a:off x="3901376" y="6401919"/>
            <a:ext cx="1493016" cy="766316"/>
            <a:chOff x="0" y="0"/>
            <a:chExt cx="1996994" cy="1024992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996994" cy="1024992"/>
            </a:xfrm>
            <a:custGeom>
              <a:avLst/>
              <a:gdLst/>
              <a:ahLst/>
              <a:cxnLst/>
              <a:rect r="r" b="b" t="t" l="l"/>
              <a:pathLst>
                <a:path h="1024992" w="1996994">
                  <a:moveTo>
                    <a:pt x="0" y="0"/>
                  </a:moveTo>
                  <a:lnTo>
                    <a:pt x="1996994" y="0"/>
                  </a:lnTo>
                  <a:lnTo>
                    <a:pt x="1996994" y="1024992"/>
                  </a:lnTo>
                  <a:lnTo>
                    <a:pt x="0" y="1024992"/>
                  </a:lnTo>
                  <a:close/>
                </a:path>
              </a:pathLst>
            </a:custGeom>
            <a:gradFill rotWithShape="true">
              <a:gsLst>
                <a:gs pos="0">
                  <a:srgbClr val="001614">
                    <a:alpha val="0"/>
                  </a:srgbClr>
                </a:gs>
                <a:gs pos="100000">
                  <a:srgbClr val="00090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76200"/>
              <a:ext cx="1996994" cy="1101192"/>
            </a:xfrm>
            <a:prstGeom prst="rect">
              <a:avLst/>
            </a:prstGeom>
          </p:spPr>
          <p:txBody>
            <a:bodyPr anchor="ctr" rtlCol="false" tIns="24215" lIns="24215" bIns="24215" rIns="24215"/>
            <a:lstStyle/>
            <a:p>
              <a:pPr algn="ctr">
                <a:lnSpc>
                  <a:spcPts val="2404"/>
                </a:lnSpc>
              </a:pP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5624339" y="6630169"/>
            <a:ext cx="1493509" cy="1218292"/>
            <a:chOff x="0" y="0"/>
            <a:chExt cx="1997653" cy="1629535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997653" cy="1629535"/>
            </a:xfrm>
            <a:custGeom>
              <a:avLst/>
              <a:gdLst/>
              <a:ahLst/>
              <a:cxnLst/>
              <a:rect r="r" b="b" t="t" l="l"/>
              <a:pathLst>
                <a:path h="1629535" w="1997653">
                  <a:moveTo>
                    <a:pt x="0" y="0"/>
                  </a:moveTo>
                  <a:lnTo>
                    <a:pt x="1997653" y="0"/>
                  </a:lnTo>
                  <a:lnTo>
                    <a:pt x="1997653" y="1629535"/>
                  </a:lnTo>
                  <a:lnTo>
                    <a:pt x="0" y="162953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76200"/>
              <a:ext cx="1997653" cy="1705735"/>
            </a:xfrm>
            <a:prstGeom prst="rect">
              <a:avLst/>
            </a:prstGeom>
          </p:spPr>
          <p:txBody>
            <a:bodyPr anchor="ctr" rtlCol="false" tIns="24215" lIns="24215" bIns="24215" rIns="24215"/>
            <a:lstStyle/>
            <a:p>
              <a:pPr algn="ctr">
                <a:lnSpc>
                  <a:spcPts val="2404"/>
                </a:lnSpc>
              </a:pPr>
            </a:p>
          </p:txBody>
        </p:sp>
      </p:grpSp>
      <p:sp>
        <p:nvSpPr>
          <p:cNvPr name="Freeform 66" id="66"/>
          <p:cNvSpPr/>
          <p:nvPr/>
        </p:nvSpPr>
        <p:spPr>
          <a:xfrm flipH="false" flipV="false" rot="0">
            <a:off x="5626813" y="5897685"/>
            <a:ext cx="1491034" cy="1259297"/>
          </a:xfrm>
          <a:custGeom>
            <a:avLst/>
            <a:gdLst/>
            <a:ahLst/>
            <a:cxnLst/>
            <a:rect r="r" b="b" t="t" l="l"/>
            <a:pathLst>
              <a:path h="1259297" w="1491034">
                <a:moveTo>
                  <a:pt x="0" y="0"/>
                </a:moveTo>
                <a:lnTo>
                  <a:pt x="1491035" y="0"/>
                </a:lnTo>
                <a:lnTo>
                  <a:pt x="1491035" y="1259297"/>
                </a:lnTo>
                <a:lnTo>
                  <a:pt x="0" y="125929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-8363" r="0" b="-59881"/>
            </a:stretch>
          </a:blipFill>
        </p:spPr>
      </p:sp>
      <p:grpSp>
        <p:nvGrpSpPr>
          <p:cNvPr name="Group 67" id="67"/>
          <p:cNvGrpSpPr/>
          <p:nvPr/>
        </p:nvGrpSpPr>
        <p:grpSpPr>
          <a:xfrm rot="0">
            <a:off x="5624339" y="6401919"/>
            <a:ext cx="1492163" cy="766316"/>
            <a:chOff x="0" y="0"/>
            <a:chExt cx="1995852" cy="1024992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995852" cy="1024992"/>
            </a:xfrm>
            <a:custGeom>
              <a:avLst/>
              <a:gdLst/>
              <a:ahLst/>
              <a:cxnLst/>
              <a:rect r="r" b="b" t="t" l="l"/>
              <a:pathLst>
                <a:path h="1024992" w="1995852">
                  <a:moveTo>
                    <a:pt x="0" y="0"/>
                  </a:moveTo>
                  <a:lnTo>
                    <a:pt x="1995852" y="0"/>
                  </a:lnTo>
                  <a:lnTo>
                    <a:pt x="1995852" y="1024992"/>
                  </a:lnTo>
                  <a:lnTo>
                    <a:pt x="0" y="1024992"/>
                  </a:lnTo>
                  <a:close/>
                </a:path>
              </a:pathLst>
            </a:custGeom>
            <a:gradFill rotWithShape="true">
              <a:gsLst>
                <a:gs pos="0">
                  <a:srgbClr val="001614">
                    <a:alpha val="0"/>
                  </a:srgbClr>
                </a:gs>
                <a:gs pos="50000">
                  <a:srgbClr val="001614">
                    <a:alpha val="0"/>
                  </a:srgbClr>
                </a:gs>
                <a:gs pos="100000">
                  <a:srgbClr val="00090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76200"/>
              <a:ext cx="1995852" cy="1101192"/>
            </a:xfrm>
            <a:prstGeom prst="rect">
              <a:avLst/>
            </a:prstGeom>
          </p:spPr>
          <p:txBody>
            <a:bodyPr anchor="ctr" rtlCol="false" tIns="24215" lIns="24215" bIns="24215" rIns="24215"/>
            <a:lstStyle/>
            <a:p>
              <a:pPr algn="ctr">
                <a:lnSpc>
                  <a:spcPts val="2404"/>
                </a:lnSpc>
              </a:pP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467073" y="8709715"/>
            <a:ext cx="1493509" cy="1218292"/>
            <a:chOff x="0" y="0"/>
            <a:chExt cx="1997653" cy="1629535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997653" cy="1629535"/>
            </a:xfrm>
            <a:custGeom>
              <a:avLst/>
              <a:gdLst/>
              <a:ahLst/>
              <a:cxnLst/>
              <a:rect r="r" b="b" t="t" l="l"/>
              <a:pathLst>
                <a:path h="1629535" w="1997653">
                  <a:moveTo>
                    <a:pt x="0" y="0"/>
                  </a:moveTo>
                  <a:lnTo>
                    <a:pt x="1997653" y="0"/>
                  </a:lnTo>
                  <a:lnTo>
                    <a:pt x="1997653" y="1629535"/>
                  </a:lnTo>
                  <a:lnTo>
                    <a:pt x="0" y="162953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76200"/>
              <a:ext cx="1997653" cy="1705735"/>
            </a:xfrm>
            <a:prstGeom prst="rect">
              <a:avLst/>
            </a:prstGeom>
          </p:spPr>
          <p:txBody>
            <a:bodyPr anchor="ctr" rtlCol="false" tIns="24215" lIns="24215" bIns="24215" rIns="24215"/>
            <a:lstStyle/>
            <a:p>
              <a:pPr algn="ctr">
                <a:lnSpc>
                  <a:spcPts val="2404"/>
                </a:lnSpc>
              </a:pPr>
            </a:p>
          </p:txBody>
        </p:sp>
      </p:grpSp>
      <p:sp>
        <p:nvSpPr>
          <p:cNvPr name="Freeform 73" id="73"/>
          <p:cNvSpPr/>
          <p:nvPr/>
        </p:nvSpPr>
        <p:spPr>
          <a:xfrm flipH="false" flipV="false" rot="0">
            <a:off x="467073" y="7981811"/>
            <a:ext cx="1494856" cy="1234331"/>
          </a:xfrm>
          <a:custGeom>
            <a:avLst/>
            <a:gdLst/>
            <a:ahLst/>
            <a:cxnLst/>
            <a:rect r="r" b="b" t="t" l="l"/>
            <a:pathLst>
              <a:path h="1234331" w="1494856">
                <a:moveTo>
                  <a:pt x="0" y="0"/>
                </a:moveTo>
                <a:lnTo>
                  <a:pt x="1494855" y="0"/>
                </a:lnTo>
                <a:lnTo>
                  <a:pt x="1494855" y="1234331"/>
                </a:lnTo>
                <a:lnTo>
                  <a:pt x="0" y="123433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30474" t="-23735" r="-34632" b="-76218"/>
            </a:stretch>
          </a:blipFill>
        </p:spPr>
      </p:sp>
      <p:grpSp>
        <p:nvGrpSpPr>
          <p:cNvPr name="Group 74" id="74"/>
          <p:cNvGrpSpPr/>
          <p:nvPr/>
        </p:nvGrpSpPr>
        <p:grpSpPr>
          <a:xfrm rot="0">
            <a:off x="467073" y="8481465"/>
            <a:ext cx="1492163" cy="766316"/>
            <a:chOff x="0" y="0"/>
            <a:chExt cx="1995852" cy="102499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995852" cy="1024992"/>
            </a:xfrm>
            <a:custGeom>
              <a:avLst/>
              <a:gdLst/>
              <a:ahLst/>
              <a:cxnLst/>
              <a:rect r="r" b="b" t="t" l="l"/>
              <a:pathLst>
                <a:path h="1024992" w="1995852">
                  <a:moveTo>
                    <a:pt x="0" y="0"/>
                  </a:moveTo>
                  <a:lnTo>
                    <a:pt x="1995852" y="0"/>
                  </a:lnTo>
                  <a:lnTo>
                    <a:pt x="1995852" y="1024992"/>
                  </a:lnTo>
                  <a:lnTo>
                    <a:pt x="0" y="1024992"/>
                  </a:lnTo>
                  <a:close/>
                </a:path>
              </a:pathLst>
            </a:custGeom>
            <a:gradFill rotWithShape="true">
              <a:gsLst>
                <a:gs pos="0">
                  <a:srgbClr val="001614">
                    <a:alpha val="0"/>
                  </a:srgbClr>
                </a:gs>
                <a:gs pos="100000">
                  <a:srgbClr val="00090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76200"/>
              <a:ext cx="1995852" cy="1101192"/>
            </a:xfrm>
            <a:prstGeom prst="rect">
              <a:avLst/>
            </a:prstGeom>
          </p:spPr>
          <p:txBody>
            <a:bodyPr anchor="ctr" rtlCol="false" tIns="24215" lIns="24215" bIns="24215" rIns="24215"/>
            <a:lstStyle/>
            <a:p>
              <a:pPr algn="ctr">
                <a:lnSpc>
                  <a:spcPts val="2404"/>
                </a:lnSpc>
              </a:pP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2185245" y="8717708"/>
            <a:ext cx="1493016" cy="1218292"/>
            <a:chOff x="0" y="0"/>
            <a:chExt cx="1996994" cy="1629535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996994" cy="1629535"/>
            </a:xfrm>
            <a:custGeom>
              <a:avLst/>
              <a:gdLst/>
              <a:ahLst/>
              <a:cxnLst/>
              <a:rect r="r" b="b" t="t" l="l"/>
              <a:pathLst>
                <a:path h="1629535" w="1996994">
                  <a:moveTo>
                    <a:pt x="0" y="0"/>
                  </a:moveTo>
                  <a:lnTo>
                    <a:pt x="1996994" y="0"/>
                  </a:lnTo>
                  <a:lnTo>
                    <a:pt x="1996994" y="1629535"/>
                  </a:lnTo>
                  <a:lnTo>
                    <a:pt x="0" y="162953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76200"/>
              <a:ext cx="1996994" cy="1705735"/>
            </a:xfrm>
            <a:prstGeom prst="rect">
              <a:avLst/>
            </a:prstGeom>
          </p:spPr>
          <p:txBody>
            <a:bodyPr anchor="ctr" rtlCol="false" tIns="24215" lIns="24215" bIns="24215" rIns="24215"/>
            <a:lstStyle/>
            <a:p>
              <a:pPr algn="ctr">
                <a:lnSpc>
                  <a:spcPts val="2404"/>
                </a:lnSpc>
              </a:pPr>
            </a:p>
          </p:txBody>
        </p:sp>
      </p:grpSp>
      <p:sp>
        <p:nvSpPr>
          <p:cNvPr name="Freeform 80" id="80"/>
          <p:cNvSpPr/>
          <p:nvPr/>
        </p:nvSpPr>
        <p:spPr>
          <a:xfrm flipH="false" flipV="false" rot="0">
            <a:off x="2183899" y="7981811"/>
            <a:ext cx="1498703" cy="1265971"/>
          </a:xfrm>
          <a:custGeom>
            <a:avLst/>
            <a:gdLst/>
            <a:ahLst/>
            <a:cxnLst/>
            <a:rect r="r" b="b" t="t" l="l"/>
            <a:pathLst>
              <a:path h="1265971" w="1498703">
                <a:moveTo>
                  <a:pt x="0" y="0"/>
                </a:moveTo>
                <a:lnTo>
                  <a:pt x="1498703" y="0"/>
                </a:lnTo>
                <a:lnTo>
                  <a:pt x="1498703" y="1265970"/>
                </a:lnTo>
                <a:lnTo>
                  <a:pt x="0" y="126597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101688" t="0" r="-86453" b="-91876"/>
            </a:stretch>
          </a:blipFill>
        </p:spPr>
      </p:sp>
      <p:grpSp>
        <p:nvGrpSpPr>
          <p:cNvPr name="Group 81" id="81"/>
          <p:cNvGrpSpPr/>
          <p:nvPr/>
        </p:nvGrpSpPr>
        <p:grpSpPr>
          <a:xfrm rot="0">
            <a:off x="2183899" y="8489458"/>
            <a:ext cx="1493016" cy="766316"/>
            <a:chOff x="0" y="0"/>
            <a:chExt cx="1996994" cy="1024992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996994" cy="1024992"/>
            </a:xfrm>
            <a:custGeom>
              <a:avLst/>
              <a:gdLst/>
              <a:ahLst/>
              <a:cxnLst/>
              <a:rect r="r" b="b" t="t" l="l"/>
              <a:pathLst>
                <a:path h="1024992" w="1996994">
                  <a:moveTo>
                    <a:pt x="0" y="0"/>
                  </a:moveTo>
                  <a:lnTo>
                    <a:pt x="1996994" y="0"/>
                  </a:lnTo>
                  <a:lnTo>
                    <a:pt x="1996994" y="1024992"/>
                  </a:lnTo>
                  <a:lnTo>
                    <a:pt x="0" y="1024992"/>
                  </a:lnTo>
                  <a:close/>
                </a:path>
              </a:pathLst>
            </a:custGeom>
            <a:gradFill rotWithShape="true">
              <a:gsLst>
                <a:gs pos="0">
                  <a:srgbClr val="001614">
                    <a:alpha val="0"/>
                  </a:srgbClr>
                </a:gs>
                <a:gs pos="100000">
                  <a:srgbClr val="00090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76200"/>
              <a:ext cx="1996994" cy="1101192"/>
            </a:xfrm>
            <a:prstGeom prst="rect">
              <a:avLst/>
            </a:prstGeom>
          </p:spPr>
          <p:txBody>
            <a:bodyPr anchor="ctr" rtlCol="false" tIns="24215" lIns="24215" bIns="24215" rIns="24215"/>
            <a:lstStyle/>
            <a:p>
              <a:pPr algn="ctr">
                <a:lnSpc>
                  <a:spcPts val="2404"/>
                </a:lnSpc>
              </a:pP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3901376" y="8717708"/>
            <a:ext cx="1493016" cy="1218292"/>
            <a:chOff x="0" y="0"/>
            <a:chExt cx="1996994" cy="1629535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996994" cy="1629535"/>
            </a:xfrm>
            <a:custGeom>
              <a:avLst/>
              <a:gdLst/>
              <a:ahLst/>
              <a:cxnLst/>
              <a:rect r="r" b="b" t="t" l="l"/>
              <a:pathLst>
                <a:path h="1629535" w="1996994">
                  <a:moveTo>
                    <a:pt x="0" y="0"/>
                  </a:moveTo>
                  <a:lnTo>
                    <a:pt x="1996994" y="0"/>
                  </a:lnTo>
                  <a:lnTo>
                    <a:pt x="1996994" y="1629535"/>
                  </a:lnTo>
                  <a:lnTo>
                    <a:pt x="0" y="162953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76200"/>
              <a:ext cx="1996994" cy="1705735"/>
            </a:xfrm>
            <a:prstGeom prst="rect">
              <a:avLst/>
            </a:prstGeom>
          </p:spPr>
          <p:txBody>
            <a:bodyPr anchor="ctr" rtlCol="false" tIns="24215" lIns="24215" bIns="24215" rIns="24215"/>
            <a:lstStyle/>
            <a:p>
              <a:pPr algn="ctr">
                <a:lnSpc>
                  <a:spcPts val="2404"/>
                </a:lnSpc>
              </a:pPr>
            </a:p>
          </p:txBody>
        </p:sp>
      </p:grpSp>
      <p:sp>
        <p:nvSpPr>
          <p:cNvPr name="Freeform 87" id="87"/>
          <p:cNvSpPr/>
          <p:nvPr/>
        </p:nvSpPr>
        <p:spPr>
          <a:xfrm flipH="false" flipV="false" rot="0">
            <a:off x="3901376" y="7981811"/>
            <a:ext cx="1493016" cy="1230918"/>
          </a:xfrm>
          <a:custGeom>
            <a:avLst/>
            <a:gdLst/>
            <a:ahLst/>
            <a:cxnLst/>
            <a:rect r="r" b="b" t="t" l="l"/>
            <a:pathLst>
              <a:path h="1230918" w="1493016">
                <a:moveTo>
                  <a:pt x="0" y="0"/>
                </a:moveTo>
                <a:lnTo>
                  <a:pt x="1493016" y="0"/>
                </a:lnTo>
                <a:lnTo>
                  <a:pt x="1493016" y="1230918"/>
                </a:lnTo>
                <a:lnTo>
                  <a:pt x="0" y="12309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0646" r="0" b="-10646"/>
            </a:stretch>
          </a:blipFill>
        </p:spPr>
      </p:sp>
      <p:sp>
        <p:nvSpPr>
          <p:cNvPr name="Freeform 88" id="88"/>
          <p:cNvSpPr/>
          <p:nvPr/>
        </p:nvSpPr>
        <p:spPr>
          <a:xfrm flipH="false" flipV="false" rot="0">
            <a:off x="3902722" y="7989629"/>
            <a:ext cx="1488627" cy="1258152"/>
          </a:xfrm>
          <a:custGeom>
            <a:avLst/>
            <a:gdLst/>
            <a:ahLst/>
            <a:cxnLst/>
            <a:rect r="r" b="b" t="t" l="l"/>
            <a:pathLst>
              <a:path h="1258152" w="1488627">
                <a:moveTo>
                  <a:pt x="0" y="0"/>
                </a:moveTo>
                <a:lnTo>
                  <a:pt x="1488628" y="0"/>
                </a:lnTo>
                <a:lnTo>
                  <a:pt x="1488628" y="1258152"/>
                </a:lnTo>
                <a:lnTo>
                  <a:pt x="0" y="125815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-4310" r="0" b="-60122"/>
            </a:stretch>
          </a:blipFill>
        </p:spPr>
      </p:sp>
      <p:grpSp>
        <p:nvGrpSpPr>
          <p:cNvPr name="Group 89" id="89"/>
          <p:cNvGrpSpPr/>
          <p:nvPr/>
        </p:nvGrpSpPr>
        <p:grpSpPr>
          <a:xfrm rot="0">
            <a:off x="3900030" y="8489458"/>
            <a:ext cx="1493016" cy="766316"/>
            <a:chOff x="0" y="0"/>
            <a:chExt cx="1996994" cy="1024992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996994" cy="1024992"/>
            </a:xfrm>
            <a:custGeom>
              <a:avLst/>
              <a:gdLst/>
              <a:ahLst/>
              <a:cxnLst/>
              <a:rect r="r" b="b" t="t" l="l"/>
              <a:pathLst>
                <a:path h="1024992" w="1996994">
                  <a:moveTo>
                    <a:pt x="0" y="0"/>
                  </a:moveTo>
                  <a:lnTo>
                    <a:pt x="1996994" y="0"/>
                  </a:lnTo>
                  <a:lnTo>
                    <a:pt x="1996994" y="1024992"/>
                  </a:lnTo>
                  <a:lnTo>
                    <a:pt x="0" y="1024992"/>
                  </a:lnTo>
                  <a:close/>
                </a:path>
              </a:pathLst>
            </a:custGeom>
            <a:gradFill rotWithShape="true">
              <a:gsLst>
                <a:gs pos="0">
                  <a:srgbClr val="001614">
                    <a:alpha val="0"/>
                  </a:srgbClr>
                </a:gs>
                <a:gs pos="100000">
                  <a:srgbClr val="00090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76200"/>
              <a:ext cx="1996994" cy="1101192"/>
            </a:xfrm>
            <a:prstGeom prst="rect">
              <a:avLst/>
            </a:prstGeom>
          </p:spPr>
          <p:txBody>
            <a:bodyPr anchor="ctr" rtlCol="false" tIns="24215" lIns="24215" bIns="24215" rIns="24215"/>
            <a:lstStyle/>
            <a:p>
              <a:pPr algn="ctr">
                <a:lnSpc>
                  <a:spcPts val="2404"/>
                </a:lnSpc>
              </a:pP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5622992" y="8717708"/>
            <a:ext cx="1493509" cy="1218292"/>
            <a:chOff x="0" y="0"/>
            <a:chExt cx="1997653" cy="1629535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997653" cy="1629535"/>
            </a:xfrm>
            <a:custGeom>
              <a:avLst/>
              <a:gdLst/>
              <a:ahLst/>
              <a:cxnLst/>
              <a:rect r="r" b="b" t="t" l="l"/>
              <a:pathLst>
                <a:path h="1629535" w="1997653">
                  <a:moveTo>
                    <a:pt x="0" y="0"/>
                  </a:moveTo>
                  <a:lnTo>
                    <a:pt x="1997653" y="0"/>
                  </a:lnTo>
                  <a:lnTo>
                    <a:pt x="1997653" y="1629535"/>
                  </a:lnTo>
                  <a:lnTo>
                    <a:pt x="0" y="162953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76200"/>
              <a:ext cx="1997653" cy="1705735"/>
            </a:xfrm>
            <a:prstGeom prst="rect">
              <a:avLst/>
            </a:prstGeom>
          </p:spPr>
          <p:txBody>
            <a:bodyPr anchor="ctr" rtlCol="false" tIns="24215" lIns="24215" bIns="24215" rIns="24215"/>
            <a:lstStyle/>
            <a:p>
              <a:pPr algn="ctr">
                <a:lnSpc>
                  <a:spcPts val="2404"/>
                </a:lnSpc>
              </a:pPr>
            </a:p>
          </p:txBody>
        </p:sp>
      </p:grpSp>
      <p:sp>
        <p:nvSpPr>
          <p:cNvPr name="Freeform 95" id="95"/>
          <p:cNvSpPr/>
          <p:nvPr/>
        </p:nvSpPr>
        <p:spPr>
          <a:xfrm flipH="false" flipV="false" rot="0">
            <a:off x="5626813" y="7989629"/>
            <a:ext cx="1488342" cy="1272754"/>
          </a:xfrm>
          <a:custGeom>
            <a:avLst/>
            <a:gdLst/>
            <a:ahLst/>
            <a:cxnLst/>
            <a:rect r="r" b="b" t="t" l="l"/>
            <a:pathLst>
              <a:path h="1272754" w="1488342">
                <a:moveTo>
                  <a:pt x="0" y="0"/>
                </a:moveTo>
                <a:lnTo>
                  <a:pt x="1488342" y="0"/>
                </a:lnTo>
                <a:lnTo>
                  <a:pt x="1488342" y="1272754"/>
                </a:lnTo>
                <a:lnTo>
                  <a:pt x="0" y="1272754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-28156" t="-18638" r="-37554" b="-171941"/>
            </a:stretch>
          </a:blipFill>
        </p:spPr>
      </p:sp>
      <p:grpSp>
        <p:nvGrpSpPr>
          <p:cNvPr name="Group 96" id="96"/>
          <p:cNvGrpSpPr/>
          <p:nvPr/>
        </p:nvGrpSpPr>
        <p:grpSpPr>
          <a:xfrm rot="0">
            <a:off x="5622992" y="8489458"/>
            <a:ext cx="1492163" cy="766316"/>
            <a:chOff x="0" y="0"/>
            <a:chExt cx="1995852" cy="1024992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995852" cy="1024992"/>
            </a:xfrm>
            <a:custGeom>
              <a:avLst/>
              <a:gdLst/>
              <a:ahLst/>
              <a:cxnLst/>
              <a:rect r="r" b="b" t="t" l="l"/>
              <a:pathLst>
                <a:path h="1024992" w="1995852">
                  <a:moveTo>
                    <a:pt x="0" y="0"/>
                  </a:moveTo>
                  <a:lnTo>
                    <a:pt x="1995852" y="0"/>
                  </a:lnTo>
                  <a:lnTo>
                    <a:pt x="1995852" y="1024992"/>
                  </a:lnTo>
                  <a:lnTo>
                    <a:pt x="0" y="1024992"/>
                  </a:lnTo>
                  <a:close/>
                </a:path>
              </a:pathLst>
            </a:custGeom>
            <a:gradFill rotWithShape="true">
              <a:gsLst>
                <a:gs pos="0">
                  <a:srgbClr val="001614">
                    <a:alpha val="0"/>
                  </a:srgbClr>
                </a:gs>
                <a:gs pos="50000">
                  <a:srgbClr val="001614">
                    <a:alpha val="0"/>
                  </a:srgbClr>
                </a:gs>
                <a:gs pos="100000">
                  <a:srgbClr val="00090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76200"/>
              <a:ext cx="1995852" cy="1101192"/>
            </a:xfrm>
            <a:prstGeom prst="rect">
              <a:avLst/>
            </a:prstGeom>
          </p:spPr>
          <p:txBody>
            <a:bodyPr anchor="ctr" rtlCol="false" tIns="24215" lIns="24215" bIns="24215" rIns="24215"/>
            <a:lstStyle/>
            <a:p>
              <a:pPr algn="ctr">
                <a:lnSpc>
                  <a:spcPts val="2404"/>
                </a:lnSpc>
              </a:pPr>
            </a:p>
          </p:txBody>
        </p:sp>
      </p:grpSp>
      <p:sp>
        <p:nvSpPr>
          <p:cNvPr name="TextBox 99" id="99"/>
          <p:cNvSpPr txBox="true"/>
          <p:nvPr/>
        </p:nvSpPr>
        <p:spPr>
          <a:xfrm rot="0">
            <a:off x="565176" y="4951787"/>
            <a:ext cx="1402677" cy="154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5"/>
              </a:lnSpc>
            </a:pPr>
            <a:r>
              <a:rPr lang="en-US" b="true" sz="1100" spc="-31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Ahmad Solihin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567518" y="4757072"/>
            <a:ext cx="1300753" cy="87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"/>
              </a:lnSpc>
            </a:pPr>
            <a:r>
              <a:rPr lang="en-US" b="true" sz="599" spc="-17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Key Note Speker NIFI Academy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561256" y="5213183"/>
            <a:ext cx="1310585" cy="107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"/>
              </a:lnSpc>
            </a:pPr>
            <a:r>
              <a:rPr lang="en-US" b="true" sz="799" spc="-23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Syailendra Capital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2282400" y="4951787"/>
            <a:ext cx="1402677" cy="154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5"/>
              </a:lnSpc>
            </a:pPr>
            <a:r>
              <a:rPr lang="en-US" b="true" sz="1100" spc="-31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Harry Su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2285198" y="4765065"/>
            <a:ext cx="1300753" cy="87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"/>
              </a:lnSpc>
            </a:pPr>
            <a:r>
              <a:rPr lang="en-US" b="true" sz="599" spc="-17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Key Note Speker NIFI Academy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2278936" y="5221176"/>
            <a:ext cx="1310585" cy="107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"/>
              </a:lnSpc>
            </a:pPr>
            <a:r>
              <a:rPr lang="en-US" b="true" sz="799" spc="-23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Samuel Sekuritas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3992494" y="4951787"/>
            <a:ext cx="1402677" cy="154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5"/>
              </a:lnSpc>
            </a:pPr>
            <a:r>
              <a:rPr lang="en-US" b="true" sz="1100" spc="-31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Faza Verdana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4001329" y="4765065"/>
            <a:ext cx="1300753" cy="87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"/>
              </a:lnSpc>
            </a:pPr>
            <a:r>
              <a:rPr lang="en-US" b="true" sz="599" spc="-17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Speaker #NIFIBERBAGI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3995067" y="5221176"/>
            <a:ext cx="1310585" cy="107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"/>
              </a:lnSpc>
            </a:pPr>
            <a:r>
              <a:rPr lang="en-US" b="true" sz="799" spc="-23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Revalue Academy</a:t>
            </a:r>
          </a:p>
        </p:txBody>
      </p:sp>
      <p:sp>
        <p:nvSpPr>
          <p:cNvPr name="TextBox 108" id="108"/>
          <p:cNvSpPr txBox="true"/>
          <p:nvPr/>
        </p:nvSpPr>
        <p:spPr>
          <a:xfrm rot="0">
            <a:off x="475929" y="1511961"/>
            <a:ext cx="6469456" cy="614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554"/>
              </a:lnSpc>
              <a:spcBef>
                <a:spcPct val="0"/>
              </a:spcBef>
            </a:pPr>
            <a:r>
              <a:rPr lang="en-US" b="true" sz="4793">
                <a:gradFill>
                  <a:gsLst>
                    <a:gs pos="0">
                      <a:srgbClr val="00352F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2700000"/>
                </a:gradFill>
                <a:latin typeface="DM Sans Bold"/>
                <a:ea typeface="DM Sans Bold"/>
                <a:cs typeface="DM Sans Bold"/>
                <a:sym typeface="DM Sans Bold"/>
              </a:rPr>
              <a:t>Industry Connections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5726701" y="5221176"/>
            <a:ext cx="1310585" cy="107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"/>
              </a:lnSpc>
            </a:pPr>
            <a:r>
              <a:rPr lang="en-US" b="true" sz="799" spc="-23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House of Trader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5722063" y="4987609"/>
            <a:ext cx="1223322" cy="154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5"/>
              </a:lnSpc>
            </a:pPr>
            <a:r>
              <a:rPr lang="en-US" b="true" sz="1100" spc="-31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Handi Erawan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5732963" y="4800887"/>
            <a:ext cx="1300753" cy="87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"/>
              </a:lnSpc>
            </a:pPr>
            <a:r>
              <a:rPr lang="en-US" b="true" sz="599" spc="-17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Speaker #NIFIBERBAGI</a:t>
            </a:r>
          </a:p>
        </p:txBody>
      </p:sp>
      <p:sp>
        <p:nvSpPr>
          <p:cNvPr name="TextBox 112" id="112"/>
          <p:cNvSpPr txBox="true"/>
          <p:nvPr/>
        </p:nvSpPr>
        <p:spPr>
          <a:xfrm rot="0">
            <a:off x="467073" y="2145388"/>
            <a:ext cx="6523947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0"/>
              </a:lnSpc>
            </a:pPr>
            <a:r>
              <a:rPr lang="en-US" b="true" sz="2000" spc="-164">
                <a:gradFill>
                  <a:gsLst>
                    <a:gs pos="0">
                      <a:srgbClr val="002036">
                        <a:alpha val="100000"/>
                      </a:srgbClr>
                    </a:gs>
                    <a:gs pos="100000">
                      <a:srgbClr val="0F3E87">
                        <a:alpha val="100000"/>
                      </a:srgbClr>
                    </a:gs>
                  </a:gsLst>
                  <a:lin ang="0"/>
                </a:gradFill>
                <a:latin typeface="DM Sans Bold"/>
                <a:ea typeface="DM Sans Bold"/>
                <a:cs typeface="DM Sans Bold"/>
                <a:sym typeface="DM Sans Bold"/>
              </a:rPr>
              <a:t>Experience Across Research, Education &amp; Community</a:t>
            </a:r>
          </a:p>
        </p:txBody>
      </p:sp>
      <p:sp>
        <p:nvSpPr>
          <p:cNvPr name="TextBox 113" id="113"/>
          <p:cNvSpPr txBox="true"/>
          <p:nvPr/>
        </p:nvSpPr>
        <p:spPr>
          <a:xfrm rot="0">
            <a:off x="470894" y="2435583"/>
            <a:ext cx="6523947" cy="334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4"/>
              </a:lnSpc>
            </a:pPr>
            <a:r>
              <a:rPr lang="en-US" sz="1200" spc="-9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NIFI and ICMSS bring experience in finance education, research, and community engagement—a relevant foundation for the joint equity research bootcamp.</a:t>
            </a:r>
          </a:p>
        </p:txBody>
      </p:sp>
      <p:sp>
        <p:nvSpPr>
          <p:cNvPr name="TextBox 114" id="114"/>
          <p:cNvSpPr txBox="true"/>
          <p:nvPr/>
        </p:nvSpPr>
        <p:spPr>
          <a:xfrm rot="0">
            <a:off x="470894" y="2867926"/>
            <a:ext cx="6523947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0"/>
              </a:lnSpc>
            </a:pPr>
            <a:r>
              <a:rPr lang="en-US" b="true" sz="2000" spc="-164">
                <a:gradFill>
                  <a:gsLst>
                    <a:gs pos="0">
                      <a:srgbClr val="002036">
                        <a:alpha val="100000"/>
                      </a:srgbClr>
                    </a:gs>
                    <a:gs pos="100000">
                      <a:srgbClr val="0F3E87">
                        <a:alpha val="100000"/>
                      </a:srgbClr>
                    </a:gs>
                  </a:gsLst>
                  <a:lin ang="0"/>
                </a:gradFill>
                <a:latin typeface="DM Sans Bold"/>
                <a:ea typeface="DM Sans Bold"/>
                <a:cs typeface="DM Sans Bold"/>
                <a:sym typeface="DM Sans Bold"/>
              </a:rPr>
              <a:t>Selected Previous Speakers</a:t>
            </a:r>
          </a:p>
        </p:txBody>
      </p:sp>
      <p:sp>
        <p:nvSpPr>
          <p:cNvPr name="TextBox 115" id="115"/>
          <p:cNvSpPr txBox="true"/>
          <p:nvPr/>
        </p:nvSpPr>
        <p:spPr>
          <a:xfrm rot="0">
            <a:off x="1075124" y="789276"/>
            <a:ext cx="230303" cy="388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2"/>
              </a:lnSpc>
            </a:pPr>
            <a:r>
              <a:rPr lang="en-US" b="true" sz="3101" spc="-254">
                <a:gradFill>
                  <a:gsLst>
                    <a:gs pos="0">
                      <a:srgbClr val="6B6B6B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x</a:t>
            </a:r>
          </a:p>
        </p:txBody>
      </p:sp>
      <p:sp>
        <p:nvSpPr>
          <p:cNvPr name="TextBox 116" id="116"/>
          <p:cNvSpPr txBox="true"/>
          <p:nvPr/>
        </p:nvSpPr>
        <p:spPr>
          <a:xfrm rot="0">
            <a:off x="562701" y="7354974"/>
            <a:ext cx="1402677" cy="154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5"/>
              </a:lnSpc>
            </a:pPr>
            <a:r>
              <a:rPr lang="en-US" b="true" sz="1100" spc="-31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Pandu Sjahrir</a:t>
            </a:r>
          </a:p>
        </p:txBody>
      </p:sp>
      <p:sp>
        <p:nvSpPr>
          <p:cNvPr name="TextBox 117" id="117"/>
          <p:cNvSpPr txBox="true"/>
          <p:nvPr/>
        </p:nvSpPr>
        <p:spPr>
          <a:xfrm rot="0">
            <a:off x="565044" y="7160259"/>
            <a:ext cx="1300753" cy="87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"/>
              </a:lnSpc>
            </a:pPr>
            <a:r>
              <a:rPr lang="en-US" b="true" sz="599" spc="-17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Speaker Capital Market Seminar</a:t>
            </a:r>
          </a:p>
        </p:txBody>
      </p:sp>
      <p:sp>
        <p:nvSpPr>
          <p:cNvPr name="TextBox 118" id="118"/>
          <p:cNvSpPr txBox="true"/>
          <p:nvPr/>
        </p:nvSpPr>
        <p:spPr>
          <a:xfrm rot="0">
            <a:off x="558782" y="7616369"/>
            <a:ext cx="1310585" cy="107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"/>
              </a:lnSpc>
            </a:pPr>
            <a:r>
              <a:rPr lang="en-US" b="true" sz="799" spc="-23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Danantara Indonesia</a:t>
            </a:r>
          </a:p>
        </p:txBody>
      </p:sp>
      <p:sp>
        <p:nvSpPr>
          <p:cNvPr name="TextBox 119" id="119"/>
          <p:cNvSpPr txBox="true"/>
          <p:nvPr/>
        </p:nvSpPr>
        <p:spPr>
          <a:xfrm rot="0">
            <a:off x="2279925" y="7354974"/>
            <a:ext cx="1402677" cy="154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5"/>
              </a:lnSpc>
            </a:pPr>
            <a:r>
              <a:rPr lang="en-US" b="true" sz="1100" spc="-31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Dony Oskaria</a:t>
            </a:r>
          </a:p>
        </p:txBody>
      </p:sp>
      <p:sp>
        <p:nvSpPr>
          <p:cNvPr name="TextBox 120" id="120"/>
          <p:cNvSpPr txBox="true"/>
          <p:nvPr/>
        </p:nvSpPr>
        <p:spPr>
          <a:xfrm rot="0">
            <a:off x="2282723" y="7168252"/>
            <a:ext cx="1300753" cy="87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"/>
              </a:lnSpc>
            </a:pPr>
            <a:r>
              <a:rPr lang="en-US" b="true" sz="599" spc="-17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Speaker Capital Market Seminar</a:t>
            </a:r>
          </a:p>
        </p:txBody>
      </p:sp>
      <p:sp>
        <p:nvSpPr>
          <p:cNvPr name="TextBox 121" id="121"/>
          <p:cNvSpPr txBox="true"/>
          <p:nvPr/>
        </p:nvSpPr>
        <p:spPr>
          <a:xfrm rot="0">
            <a:off x="2276461" y="7624362"/>
            <a:ext cx="1310585" cy="107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"/>
              </a:lnSpc>
            </a:pPr>
            <a:r>
              <a:rPr lang="en-US" b="true" sz="799" spc="-23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Danantara Indonesia</a:t>
            </a:r>
          </a:p>
        </p:txBody>
      </p:sp>
      <p:sp>
        <p:nvSpPr>
          <p:cNvPr name="TextBox 122" id="122"/>
          <p:cNvSpPr txBox="true"/>
          <p:nvPr/>
        </p:nvSpPr>
        <p:spPr>
          <a:xfrm rot="0">
            <a:off x="3990019" y="7354974"/>
            <a:ext cx="1402677" cy="154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5"/>
              </a:lnSpc>
            </a:pPr>
            <a:r>
              <a:rPr lang="en-US" b="true" sz="1100" spc="-31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Sandiaga Uno</a:t>
            </a:r>
          </a:p>
        </p:txBody>
      </p:sp>
      <p:sp>
        <p:nvSpPr>
          <p:cNvPr name="TextBox 123" id="123"/>
          <p:cNvSpPr txBox="true"/>
          <p:nvPr/>
        </p:nvSpPr>
        <p:spPr>
          <a:xfrm rot="0">
            <a:off x="3998854" y="7168252"/>
            <a:ext cx="1300753" cy="87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"/>
              </a:lnSpc>
            </a:pPr>
            <a:r>
              <a:rPr lang="en-US" b="true" sz="599" spc="-17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Speaker Capital Market Seminar</a:t>
            </a:r>
          </a:p>
        </p:txBody>
      </p:sp>
      <p:sp>
        <p:nvSpPr>
          <p:cNvPr name="TextBox 124" id="124"/>
          <p:cNvSpPr txBox="true"/>
          <p:nvPr/>
        </p:nvSpPr>
        <p:spPr>
          <a:xfrm rot="0">
            <a:off x="3992592" y="7624362"/>
            <a:ext cx="1310585" cy="107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"/>
              </a:lnSpc>
            </a:pPr>
            <a:r>
              <a:rPr lang="en-US" b="true" sz="799" spc="-23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Indonesia’s Minister</a:t>
            </a:r>
          </a:p>
        </p:txBody>
      </p:sp>
      <p:sp>
        <p:nvSpPr>
          <p:cNvPr name="TextBox 125" id="125"/>
          <p:cNvSpPr txBox="true"/>
          <p:nvPr/>
        </p:nvSpPr>
        <p:spPr>
          <a:xfrm rot="0">
            <a:off x="5724226" y="7667169"/>
            <a:ext cx="1310585" cy="107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"/>
              </a:lnSpc>
            </a:pPr>
            <a:r>
              <a:rPr lang="en-US" b="true" sz="799" spc="-23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CFA Society Indonesia</a:t>
            </a:r>
          </a:p>
        </p:txBody>
      </p:sp>
      <p:sp>
        <p:nvSpPr>
          <p:cNvPr name="TextBox 126" id="126"/>
          <p:cNvSpPr txBox="true"/>
          <p:nvPr/>
        </p:nvSpPr>
        <p:spPr>
          <a:xfrm rot="0">
            <a:off x="5719589" y="7390796"/>
            <a:ext cx="1223322" cy="154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5"/>
              </a:lnSpc>
            </a:pPr>
            <a:r>
              <a:rPr lang="en-US" b="true" sz="1100" spc="-31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Pahala Mansury</a:t>
            </a:r>
          </a:p>
        </p:txBody>
      </p:sp>
      <p:sp>
        <p:nvSpPr>
          <p:cNvPr name="TextBox 127" id="127"/>
          <p:cNvSpPr txBox="true"/>
          <p:nvPr/>
        </p:nvSpPr>
        <p:spPr>
          <a:xfrm rot="0">
            <a:off x="5730488" y="7168235"/>
            <a:ext cx="1300753" cy="87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"/>
              </a:lnSpc>
            </a:pPr>
            <a:r>
              <a:rPr lang="en-US" b="true" sz="599" spc="-17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Speaker Capital Market Seminar</a:t>
            </a:r>
          </a:p>
        </p:txBody>
      </p:sp>
      <p:sp>
        <p:nvSpPr>
          <p:cNvPr name="TextBox 128" id="128"/>
          <p:cNvSpPr txBox="true"/>
          <p:nvPr/>
        </p:nvSpPr>
        <p:spPr>
          <a:xfrm rot="0">
            <a:off x="475929" y="3243846"/>
            <a:ext cx="6523947" cy="172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4"/>
              </a:lnSpc>
            </a:pPr>
            <a:r>
              <a:rPr lang="en-US" b="true" sz="1200" spc="-98">
                <a:gradFill>
                  <a:gsLst>
                    <a:gs pos="0">
                      <a:srgbClr val="002036">
                        <a:alpha val="100000"/>
                      </a:srgbClr>
                    </a:gs>
                    <a:gs pos="100000">
                      <a:srgbClr val="0F3E87">
                        <a:alpha val="100000"/>
                      </a:srgbClr>
                    </a:gs>
                  </a:gsLst>
                  <a:lin ang="0"/>
                </a:gradFill>
                <a:latin typeface="DM Sans Bold"/>
                <a:ea typeface="DM Sans Bold"/>
                <a:cs typeface="DM Sans Bold"/>
                <a:sym typeface="DM Sans Bold"/>
              </a:rPr>
              <a:t>Not Into Finance</a:t>
            </a:r>
          </a:p>
        </p:txBody>
      </p:sp>
      <p:sp>
        <p:nvSpPr>
          <p:cNvPr name="TextBox 129" id="129"/>
          <p:cNvSpPr txBox="true"/>
          <p:nvPr/>
        </p:nvSpPr>
        <p:spPr>
          <a:xfrm rot="0">
            <a:off x="468419" y="5673874"/>
            <a:ext cx="6523947" cy="172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4"/>
              </a:lnSpc>
            </a:pPr>
            <a:r>
              <a:rPr lang="en-US" b="true" sz="1200" spc="-98">
                <a:gradFill>
                  <a:gsLst>
                    <a:gs pos="0">
                      <a:srgbClr val="002036">
                        <a:alpha val="100000"/>
                      </a:srgbClr>
                    </a:gs>
                    <a:gs pos="100000">
                      <a:srgbClr val="0F3E87">
                        <a:alpha val="100000"/>
                      </a:srgbClr>
                    </a:gs>
                  </a:gsLst>
                  <a:lin ang="0"/>
                </a:gradFill>
                <a:latin typeface="DM Sans Bold"/>
                <a:ea typeface="DM Sans Bold"/>
                <a:cs typeface="DM Sans Bold"/>
                <a:sym typeface="DM Sans Bold"/>
              </a:rPr>
              <a:t>Indonesia Capital Market Student Studies</a:t>
            </a:r>
          </a:p>
        </p:txBody>
      </p:sp>
      <p:sp>
        <p:nvSpPr>
          <p:cNvPr name="TextBox 130" id="130"/>
          <p:cNvSpPr txBox="true"/>
          <p:nvPr/>
        </p:nvSpPr>
        <p:spPr>
          <a:xfrm rot="0">
            <a:off x="561355" y="9442513"/>
            <a:ext cx="1402677" cy="154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5"/>
              </a:lnSpc>
            </a:pPr>
            <a:r>
              <a:rPr lang="en-US" b="true" sz="1100" spc="-31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Airlangga Hartarto</a:t>
            </a:r>
          </a:p>
        </p:txBody>
      </p:sp>
      <p:sp>
        <p:nvSpPr>
          <p:cNvPr name="TextBox 131" id="131"/>
          <p:cNvSpPr txBox="true"/>
          <p:nvPr/>
        </p:nvSpPr>
        <p:spPr>
          <a:xfrm rot="0">
            <a:off x="563697" y="9247798"/>
            <a:ext cx="1300753" cy="87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"/>
              </a:lnSpc>
            </a:pPr>
            <a:r>
              <a:rPr lang="en-US" b="true" sz="599" spc="-17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Speaker Capital Market Seminar</a:t>
            </a:r>
          </a:p>
        </p:txBody>
      </p:sp>
      <p:sp>
        <p:nvSpPr>
          <p:cNvPr name="TextBox 132" id="132"/>
          <p:cNvSpPr txBox="true"/>
          <p:nvPr/>
        </p:nvSpPr>
        <p:spPr>
          <a:xfrm rot="0">
            <a:off x="557435" y="9703909"/>
            <a:ext cx="1310585" cy="107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"/>
              </a:lnSpc>
            </a:pPr>
            <a:r>
              <a:rPr lang="en-US" b="true" sz="799" spc="-23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Indonesia’s Minister</a:t>
            </a:r>
          </a:p>
        </p:txBody>
      </p:sp>
      <p:sp>
        <p:nvSpPr>
          <p:cNvPr name="TextBox 133" id="133"/>
          <p:cNvSpPr txBox="true"/>
          <p:nvPr/>
        </p:nvSpPr>
        <p:spPr>
          <a:xfrm rot="0">
            <a:off x="2278578" y="9442513"/>
            <a:ext cx="1402677" cy="154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5"/>
              </a:lnSpc>
            </a:pPr>
            <a:r>
              <a:rPr lang="en-US" b="true" sz="1100" spc="-31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Oki Ramadhana</a:t>
            </a:r>
          </a:p>
        </p:txBody>
      </p:sp>
      <p:sp>
        <p:nvSpPr>
          <p:cNvPr name="TextBox 134" id="134"/>
          <p:cNvSpPr txBox="true"/>
          <p:nvPr/>
        </p:nvSpPr>
        <p:spPr>
          <a:xfrm rot="0">
            <a:off x="2281377" y="9255791"/>
            <a:ext cx="1300753" cy="87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"/>
              </a:lnSpc>
            </a:pPr>
            <a:r>
              <a:rPr lang="en-US" b="true" sz="599" spc="-17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Speaker Capital Market Seminar</a:t>
            </a:r>
          </a:p>
        </p:txBody>
      </p:sp>
      <p:sp>
        <p:nvSpPr>
          <p:cNvPr name="TextBox 135" id="135"/>
          <p:cNvSpPr txBox="true"/>
          <p:nvPr/>
        </p:nvSpPr>
        <p:spPr>
          <a:xfrm rot="0">
            <a:off x="2275115" y="9711901"/>
            <a:ext cx="1310585" cy="107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"/>
              </a:lnSpc>
            </a:pPr>
            <a:r>
              <a:rPr lang="en-US" b="true" sz="799" spc="-23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Mandiri Sekuritas</a:t>
            </a:r>
          </a:p>
        </p:txBody>
      </p:sp>
      <p:sp>
        <p:nvSpPr>
          <p:cNvPr name="TextBox 136" id="136"/>
          <p:cNvSpPr txBox="true"/>
          <p:nvPr/>
        </p:nvSpPr>
        <p:spPr>
          <a:xfrm rot="0">
            <a:off x="3988673" y="9442513"/>
            <a:ext cx="1402677" cy="154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5"/>
              </a:lnSpc>
            </a:pPr>
            <a:r>
              <a:rPr lang="en-US" b="true" sz="1100" spc="-31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Bahlil Lahadalia</a:t>
            </a:r>
          </a:p>
        </p:txBody>
      </p:sp>
      <p:sp>
        <p:nvSpPr>
          <p:cNvPr name="TextBox 137" id="137"/>
          <p:cNvSpPr txBox="true"/>
          <p:nvPr/>
        </p:nvSpPr>
        <p:spPr>
          <a:xfrm rot="0">
            <a:off x="3997508" y="9255791"/>
            <a:ext cx="1300753" cy="87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"/>
              </a:lnSpc>
            </a:pPr>
            <a:r>
              <a:rPr lang="en-US" b="true" sz="599" spc="-17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Speaker Capital Market Seminar</a:t>
            </a:r>
          </a:p>
        </p:txBody>
      </p:sp>
      <p:sp>
        <p:nvSpPr>
          <p:cNvPr name="TextBox 138" id="138"/>
          <p:cNvSpPr txBox="true"/>
          <p:nvPr/>
        </p:nvSpPr>
        <p:spPr>
          <a:xfrm rot="0">
            <a:off x="3991245" y="9711901"/>
            <a:ext cx="1310585" cy="107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"/>
              </a:lnSpc>
            </a:pPr>
            <a:r>
              <a:rPr lang="en-US" b="true" sz="799" spc="-23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Indonesia’s Minister</a:t>
            </a:r>
          </a:p>
        </p:txBody>
      </p:sp>
      <p:sp>
        <p:nvSpPr>
          <p:cNvPr name="TextBox 139" id="139"/>
          <p:cNvSpPr txBox="true"/>
          <p:nvPr/>
        </p:nvSpPr>
        <p:spPr>
          <a:xfrm rot="0">
            <a:off x="5722880" y="9689790"/>
            <a:ext cx="1310585" cy="208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"/>
              </a:lnSpc>
            </a:pPr>
            <a:r>
              <a:rPr lang="en-US" b="true" sz="799" spc="-23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Indonesia’s Former Governor</a:t>
            </a:r>
          </a:p>
        </p:txBody>
      </p:sp>
      <p:sp>
        <p:nvSpPr>
          <p:cNvPr name="TextBox 140" id="140"/>
          <p:cNvSpPr txBox="true"/>
          <p:nvPr/>
        </p:nvSpPr>
        <p:spPr>
          <a:xfrm rot="0">
            <a:off x="5718242" y="9478335"/>
            <a:ext cx="1223322" cy="154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5"/>
              </a:lnSpc>
            </a:pPr>
            <a:r>
              <a:rPr lang="en-US" b="true" sz="1100" spc="-31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Basuki T. Purnama</a:t>
            </a:r>
          </a:p>
        </p:txBody>
      </p:sp>
      <p:sp>
        <p:nvSpPr>
          <p:cNvPr name="TextBox 141" id="141"/>
          <p:cNvSpPr txBox="true"/>
          <p:nvPr/>
        </p:nvSpPr>
        <p:spPr>
          <a:xfrm rot="0">
            <a:off x="5729142" y="9291613"/>
            <a:ext cx="1300753" cy="87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"/>
              </a:lnSpc>
            </a:pPr>
            <a:r>
              <a:rPr lang="en-US" b="true" sz="599" spc="-17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Speaker Capital Market Seminar</a:t>
            </a:r>
          </a:p>
        </p:txBody>
      </p:sp>
      <p:sp>
        <p:nvSpPr>
          <p:cNvPr name="TextBox 142" id="142"/>
          <p:cNvSpPr txBox="true"/>
          <p:nvPr/>
        </p:nvSpPr>
        <p:spPr>
          <a:xfrm rot="0">
            <a:off x="483846" y="10420770"/>
            <a:ext cx="6592309" cy="163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2"/>
              </a:lnSpc>
              <a:spcBef>
                <a:spcPct val="0"/>
              </a:spcBef>
            </a:pPr>
            <a:r>
              <a:rPr lang="en-US" sz="95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Confidential &amp; Proprietary © 2026 Not Into Finance &amp; Indonesia Capital Market Student Studies</a:t>
            </a:r>
            <a:r>
              <a:rPr lang="en-US" sz="95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. All right</a:t>
            </a:r>
            <a:r>
              <a:rPr lang="en-US" sz="95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 reserved.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8000"/>
            <a:ext cx="7594606" cy="10536650"/>
            <a:chOff x="0" y="0"/>
            <a:chExt cx="5063071" cy="70244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63109" cy="7024497"/>
            </a:xfrm>
            <a:custGeom>
              <a:avLst/>
              <a:gdLst/>
              <a:ahLst/>
              <a:cxnLst/>
              <a:rect r="r" b="b" t="t" l="l"/>
              <a:pathLst>
                <a:path h="7024497" w="5063109">
                  <a:moveTo>
                    <a:pt x="0" y="0"/>
                  </a:moveTo>
                  <a:lnTo>
                    <a:pt x="5063109" y="0"/>
                  </a:lnTo>
                  <a:lnTo>
                    <a:pt x="5063109" y="7024497"/>
                  </a:lnTo>
                  <a:lnTo>
                    <a:pt x="0" y="7024497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105180" y="-1897763"/>
            <a:ext cx="6294615" cy="6294615"/>
            <a:chOff x="0" y="0"/>
            <a:chExt cx="4196410" cy="419641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96461" cy="4196461"/>
            </a:xfrm>
            <a:custGeom>
              <a:avLst/>
              <a:gdLst/>
              <a:ahLst/>
              <a:cxnLst/>
              <a:rect r="r" b="b" t="t" l="l"/>
              <a:pathLst>
                <a:path h="4196461" w="4196461">
                  <a:moveTo>
                    <a:pt x="0" y="2098167"/>
                  </a:moveTo>
                  <a:cubicBezTo>
                    <a:pt x="0" y="939419"/>
                    <a:pt x="939419" y="0"/>
                    <a:pt x="2098167" y="0"/>
                  </a:cubicBezTo>
                  <a:cubicBezTo>
                    <a:pt x="3256915" y="0"/>
                    <a:pt x="4196461" y="939419"/>
                    <a:pt x="4196461" y="2098167"/>
                  </a:cubicBezTo>
                  <a:cubicBezTo>
                    <a:pt x="4196461" y="3256915"/>
                    <a:pt x="3257042" y="4196461"/>
                    <a:pt x="2098167" y="4196461"/>
                  </a:cubicBezTo>
                  <a:cubicBezTo>
                    <a:pt x="939292" y="4196461"/>
                    <a:pt x="0" y="3257042"/>
                    <a:pt x="0" y="2098167"/>
                  </a:cubicBezTo>
                  <a:close/>
                </a:path>
              </a:pathLst>
            </a:custGeom>
            <a:solidFill>
              <a:srgbClr val="F6F6F6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105180" y="6394587"/>
            <a:ext cx="5473579" cy="5473579"/>
            <a:chOff x="0" y="0"/>
            <a:chExt cx="3649053" cy="36490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49091" cy="3649091"/>
            </a:xfrm>
            <a:custGeom>
              <a:avLst/>
              <a:gdLst/>
              <a:ahLst/>
              <a:cxnLst/>
              <a:rect r="r" b="b" t="t" l="l"/>
              <a:pathLst>
                <a:path h="3649091" w="3649091">
                  <a:moveTo>
                    <a:pt x="0" y="1824482"/>
                  </a:moveTo>
                  <a:cubicBezTo>
                    <a:pt x="0" y="816864"/>
                    <a:pt x="816864" y="0"/>
                    <a:pt x="1824482" y="0"/>
                  </a:cubicBezTo>
                  <a:cubicBezTo>
                    <a:pt x="2832100" y="0"/>
                    <a:pt x="3649091" y="816864"/>
                    <a:pt x="3649091" y="1824482"/>
                  </a:cubicBezTo>
                  <a:cubicBezTo>
                    <a:pt x="3649091" y="2832100"/>
                    <a:pt x="2832227" y="3649091"/>
                    <a:pt x="1824482" y="3649091"/>
                  </a:cubicBezTo>
                  <a:cubicBezTo>
                    <a:pt x="816737" y="3649091"/>
                    <a:pt x="0" y="2832227"/>
                    <a:pt x="0" y="1824482"/>
                  </a:cubicBezTo>
                  <a:close/>
                </a:path>
              </a:pathLst>
            </a:custGeom>
            <a:solidFill>
              <a:srgbClr val="F6F6F6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06311" y="661147"/>
            <a:ext cx="410528" cy="410528"/>
            <a:chOff x="0" y="0"/>
            <a:chExt cx="273685" cy="273685"/>
          </a:xfrm>
        </p:grpSpPr>
        <p:sp>
          <p:nvSpPr>
            <p:cNvPr name="Freeform 9" id="9" descr="nifi_icon.png"/>
            <p:cNvSpPr/>
            <p:nvPr/>
          </p:nvSpPr>
          <p:spPr>
            <a:xfrm flipH="false" flipV="false" rot="0">
              <a:off x="0" y="0"/>
              <a:ext cx="273685" cy="273685"/>
            </a:xfrm>
            <a:custGeom>
              <a:avLst/>
              <a:gdLst/>
              <a:ahLst/>
              <a:cxnLst/>
              <a:rect r="r" b="b" t="t" l="l"/>
              <a:pathLst>
                <a:path h="273685" w="273685">
                  <a:moveTo>
                    <a:pt x="0" y="0"/>
                  </a:moveTo>
                  <a:lnTo>
                    <a:pt x="273685" y="0"/>
                  </a:lnTo>
                  <a:lnTo>
                    <a:pt x="273685" y="273685"/>
                  </a:lnTo>
                  <a:lnTo>
                    <a:pt x="0" y="2736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8925" y="692675"/>
            <a:ext cx="273672" cy="337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8"/>
              </a:lnSpc>
            </a:pPr>
            <a:r>
              <a:rPr lang="en-US" sz="1723" b="true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x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245241" y="647469"/>
            <a:ext cx="437883" cy="437883"/>
            <a:chOff x="0" y="0"/>
            <a:chExt cx="291922" cy="291922"/>
          </a:xfrm>
        </p:grpSpPr>
        <p:sp>
          <p:nvSpPr>
            <p:cNvPr name="Freeform 12" id="12" descr="icmss_navy.png"/>
            <p:cNvSpPr/>
            <p:nvPr/>
          </p:nvSpPr>
          <p:spPr>
            <a:xfrm flipH="false" flipV="false" rot="0">
              <a:off x="0" y="0"/>
              <a:ext cx="291973" cy="291973"/>
            </a:xfrm>
            <a:custGeom>
              <a:avLst/>
              <a:gdLst/>
              <a:ahLst/>
              <a:cxnLst/>
              <a:rect r="r" b="b" t="t" l="l"/>
              <a:pathLst>
                <a:path h="291973" w="291973">
                  <a:moveTo>
                    <a:pt x="0" y="0"/>
                  </a:moveTo>
                  <a:lnTo>
                    <a:pt x="291973" y="0"/>
                  </a:lnTo>
                  <a:lnTo>
                    <a:pt x="291973" y="291973"/>
                  </a:lnTo>
                  <a:lnTo>
                    <a:pt x="0" y="2919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7" b="17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499472" y="2118491"/>
            <a:ext cx="1536021" cy="1108405"/>
            <a:chOff x="0" y="0"/>
            <a:chExt cx="1024014" cy="73893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24001" cy="739013"/>
            </a:xfrm>
            <a:custGeom>
              <a:avLst/>
              <a:gdLst/>
              <a:ahLst/>
              <a:cxnLst/>
              <a:rect r="r" b="b" t="t" l="l"/>
              <a:pathLst>
                <a:path h="739013" w="1024001">
                  <a:moveTo>
                    <a:pt x="0" y="73914"/>
                  </a:moveTo>
                  <a:cubicBezTo>
                    <a:pt x="0" y="33020"/>
                    <a:pt x="33020" y="0"/>
                    <a:pt x="73914" y="0"/>
                  </a:cubicBezTo>
                  <a:lnTo>
                    <a:pt x="950087" y="0"/>
                  </a:lnTo>
                  <a:cubicBezTo>
                    <a:pt x="990854" y="0"/>
                    <a:pt x="1024001" y="33020"/>
                    <a:pt x="1024001" y="73914"/>
                  </a:cubicBezTo>
                  <a:lnTo>
                    <a:pt x="1024001" y="665099"/>
                  </a:lnTo>
                  <a:cubicBezTo>
                    <a:pt x="1024001" y="705866"/>
                    <a:pt x="990981" y="739013"/>
                    <a:pt x="950087" y="739013"/>
                  </a:cubicBezTo>
                  <a:lnTo>
                    <a:pt x="73914" y="739013"/>
                  </a:lnTo>
                  <a:cubicBezTo>
                    <a:pt x="33020" y="738886"/>
                    <a:pt x="0" y="705866"/>
                    <a:pt x="0" y="665099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2E2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658539" y="2318249"/>
            <a:ext cx="1217866" cy="697211"/>
            <a:chOff x="0" y="0"/>
            <a:chExt cx="811911" cy="46480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1911" cy="464833"/>
            </a:xfrm>
            <a:custGeom>
              <a:avLst/>
              <a:gdLst/>
              <a:ahLst/>
              <a:cxnLst/>
              <a:rect r="r" b="b" t="t" l="l"/>
              <a:pathLst>
                <a:path h="464833" w="811911">
                  <a:moveTo>
                    <a:pt x="0" y="0"/>
                  </a:moveTo>
                  <a:lnTo>
                    <a:pt x="811911" y="0"/>
                  </a:lnTo>
                  <a:lnTo>
                    <a:pt x="811911" y="464833"/>
                  </a:lnTo>
                  <a:lnTo>
                    <a:pt x="0" y="4648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8222" r="0" b="-8222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2186007" y="2118491"/>
            <a:ext cx="1536021" cy="1108405"/>
            <a:chOff x="0" y="0"/>
            <a:chExt cx="1024014" cy="73893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24001" cy="739013"/>
            </a:xfrm>
            <a:custGeom>
              <a:avLst/>
              <a:gdLst/>
              <a:ahLst/>
              <a:cxnLst/>
              <a:rect r="r" b="b" t="t" l="l"/>
              <a:pathLst>
                <a:path h="739013" w="1024001">
                  <a:moveTo>
                    <a:pt x="0" y="73914"/>
                  </a:moveTo>
                  <a:cubicBezTo>
                    <a:pt x="0" y="33020"/>
                    <a:pt x="33020" y="0"/>
                    <a:pt x="73914" y="0"/>
                  </a:cubicBezTo>
                  <a:lnTo>
                    <a:pt x="950087" y="0"/>
                  </a:lnTo>
                  <a:cubicBezTo>
                    <a:pt x="990854" y="0"/>
                    <a:pt x="1024001" y="33020"/>
                    <a:pt x="1024001" y="73914"/>
                  </a:cubicBezTo>
                  <a:lnTo>
                    <a:pt x="1024001" y="665099"/>
                  </a:lnTo>
                  <a:cubicBezTo>
                    <a:pt x="1024001" y="705866"/>
                    <a:pt x="990981" y="739013"/>
                    <a:pt x="950087" y="739013"/>
                  </a:cubicBezTo>
                  <a:lnTo>
                    <a:pt x="73914" y="739013"/>
                  </a:lnTo>
                  <a:cubicBezTo>
                    <a:pt x="33020" y="738886"/>
                    <a:pt x="0" y="705866"/>
                    <a:pt x="0" y="665099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2E2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2432253" y="2203949"/>
            <a:ext cx="1043529" cy="939164"/>
            <a:chOff x="0" y="0"/>
            <a:chExt cx="340576" cy="30651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40614" cy="306578"/>
            </a:xfrm>
            <a:custGeom>
              <a:avLst/>
              <a:gdLst/>
              <a:ahLst/>
              <a:cxnLst/>
              <a:rect r="r" b="b" t="t" l="l"/>
              <a:pathLst>
                <a:path h="306578" w="340614">
                  <a:moveTo>
                    <a:pt x="0" y="0"/>
                  </a:moveTo>
                  <a:lnTo>
                    <a:pt x="340614" y="0"/>
                  </a:lnTo>
                  <a:lnTo>
                    <a:pt x="340614" y="306578"/>
                  </a:lnTo>
                  <a:lnTo>
                    <a:pt x="0" y="3065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5550" r="0" b="-555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3872560" y="2118491"/>
            <a:ext cx="1536021" cy="1108405"/>
            <a:chOff x="0" y="0"/>
            <a:chExt cx="1024014" cy="73893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24001" cy="739013"/>
            </a:xfrm>
            <a:custGeom>
              <a:avLst/>
              <a:gdLst/>
              <a:ahLst/>
              <a:cxnLst/>
              <a:rect r="r" b="b" t="t" l="l"/>
              <a:pathLst>
                <a:path h="739013" w="1024001">
                  <a:moveTo>
                    <a:pt x="0" y="73914"/>
                  </a:moveTo>
                  <a:cubicBezTo>
                    <a:pt x="0" y="33020"/>
                    <a:pt x="33020" y="0"/>
                    <a:pt x="73914" y="0"/>
                  </a:cubicBezTo>
                  <a:lnTo>
                    <a:pt x="950087" y="0"/>
                  </a:lnTo>
                  <a:cubicBezTo>
                    <a:pt x="990854" y="0"/>
                    <a:pt x="1024001" y="33020"/>
                    <a:pt x="1024001" y="73914"/>
                  </a:cubicBezTo>
                  <a:lnTo>
                    <a:pt x="1024001" y="665099"/>
                  </a:lnTo>
                  <a:cubicBezTo>
                    <a:pt x="1024001" y="705866"/>
                    <a:pt x="990981" y="739013"/>
                    <a:pt x="950087" y="739013"/>
                  </a:cubicBezTo>
                  <a:lnTo>
                    <a:pt x="73914" y="739013"/>
                  </a:lnTo>
                  <a:cubicBezTo>
                    <a:pt x="33020" y="738886"/>
                    <a:pt x="0" y="705866"/>
                    <a:pt x="0" y="665099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2E2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4031647" y="2579253"/>
            <a:ext cx="1217866" cy="186861"/>
            <a:chOff x="0" y="0"/>
            <a:chExt cx="811911" cy="124574"/>
          </a:xfrm>
        </p:grpSpPr>
        <p:sp>
          <p:nvSpPr>
            <p:cNvPr name="Freeform 24" id="24" descr="arthara.png"/>
            <p:cNvSpPr/>
            <p:nvPr/>
          </p:nvSpPr>
          <p:spPr>
            <a:xfrm flipH="false" flipV="false" rot="0">
              <a:off x="0" y="0"/>
              <a:ext cx="811911" cy="124587"/>
            </a:xfrm>
            <a:custGeom>
              <a:avLst/>
              <a:gdLst/>
              <a:ahLst/>
              <a:cxnLst/>
              <a:rect r="r" b="b" t="t" l="l"/>
              <a:pathLst>
                <a:path h="124587" w="811911">
                  <a:moveTo>
                    <a:pt x="0" y="0"/>
                  </a:moveTo>
                  <a:lnTo>
                    <a:pt x="811911" y="0"/>
                  </a:lnTo>
                  <a:lnTo>
                    <a:pt x="811911" y="124587"/>
                  </a:lnTo>
                  <a:lnTo>
                    <a:pt x="0" y="1245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1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5559114" y="2118491"/>
            <a:ext cx="1536021" cy="1108405"/>
            <a:chOff x="0" y="0"/>
            <a:chExt cx="1024014" cy="73893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24001" cy="739013"/>
            </a:xfrm>
            <a:custGeom>
              <a:avLst/>
              <a:gdLst/>
              <a:ahLst/>
              <a:cxnLst/>
              <a:rect r="r" b="b" t="t" l="l"/>
              <a:pathLst>
                <a:path h="739013" w="1024001">
                  <a:moveTo>
                    <a:pt x="0" y="73914"/>
                  </a:moveTo>
                  <a:cubicBezTo>
                    <a:pt x="0" y="33020"/>
                    <a:pt x="33020" y="0"/>
                    <a:pt x="73914" y="0"/>
                  </a:cubicBezTo>
                  <a:lnTo>
                    <a:pt x="950087" y="0"/>
                  </a:lnTo>
                  <a:cubicBezTo>
                    <a:pt x="990854" y="0"/>
                    <a:pt x="1024001" y="33020"/>
                    <a:pt x="1024001" y="73914"/>
                  </a:cubicBezTo>
                  <a:lnTo>
                    <a:pt x="1024001" y="665099"/>
                  </a:lnTo>
                  <a:cubicBezTo>
                    <a:pt x="1024001" y="705866"/>
                    <a:pt x="990981" y="739013"/>
                    <a:pt x="950087" y="739013"/>
                  </a:cubicBezTo>
                  <a:lnTo>
                    <a:pt x="73914" y="739013"/>
                  </a:lnTo>
                  <a:cubicBezTo>
                    <a:pt x="33020" y="738886"/>
                    <a:pt x="0" y="705866"/>
                    <a:pt x="0" y="665099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2E2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5816298" y="2171223"/>
            <a:ext cx="1021652" cy="1004618"/>
            <a:chOff x="0" y="0"/>
            <a:chExt cx="578904" cy="56925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78866" cy="569214"/>
            </a:xfrm>
            <a:custGeom>
              <a:avLst/>
              <a:gdLst/>
              <a:ahLst/>
              <a:cxnLst/>
              <a:rect r="r" b="b" t="t" l="l"/>
              <a:pathLst>
                <a:path h="569214" w="578866">
                  <a:moveTo>
                    <a:pt x="0" y="0"/>
                  </a:moveTo>
                  <a:lnTo>
                    <a:pt x="578866" y="0"/>
                  </a:lnTo>
                  <a:lnTo>
                    <a:pt x="578866" y="569214"/>
                  </a:lnTo>
                  <a:lnTo>
                    <a:pt x="0" y="5692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847" r="0" b="-847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342739" y="3377410"/>
            <a:ext cx="1536021" cy="1108405"/>
            <a:chOff x="0" y="0"/>
            <a:chExt cx="1024014" cy="73893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24001" cy="739013"/>
            </a:xfrm>
            <a:custGeom>
              <a:avLst/>
              <a:gdLst/>
              <a:ahLst/>
              <a:cxnLst/>
              <a:rect r="r" b="b" t="t" l="l"/>
              <a:pathLst>
                <a:path h="739013" w="1024001">
                  <a:moveTo>
                    <a:pt x="0" y="73914"/>
                  </a:moveTo>
                  <a:cubicBezTo>
                    <a:pt x="0" y="33020"/>
                    <a:pt x="33020" y="0"/>
                    <a:pt x="73914" y="0"/>
                  </a:cubicBezTo>
                  <a:lnTo>
                    <a:pt x="950087" y="0"/>
                  </a:lnTo>
                  <a:cubicBezTo>
                    <a:pt x="990854" y="0"/>
                    <a:pt x="1024001" y="33020"/>
                    <a:pt x="1024001" y="73914"/>
                  </a:cubicBezTo>
                  <a:lnTo>
                    <a:pt x="1024001" y="665099"/>
                  </a:lnTo>
                  <a:cubicBezTo>
                    <a:pt x="1024001" y="705866"/>
                    <a:pt x="990981" y="739013"/>
                    <a:pt x="950087" y="739013"/>
                  </a:cubicBezTo>
                  <a:lnTo>
                    <a:pt x="73914" y="739013"/>
                  </a:lnTo>
                  <a:cubicBezTo>
                    <a:pt x="33020" y="738886"/>
                    <a:pt x="0" y="705866"/>
                    <a:pt x="0" y="665099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2E2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501807" y="3741246"/>
            <a:ext cx="1303581" cy="357226"/>
            <a:chOff x="0" y="0"/>
            <a:chExt cx="811911" cy="222491"/>
          </a:xfrm>
        </p:grpSpPr>
        <p:sp>
          <p:nvSpPr>
            <p:cNvPr name="Freeform 32" id="32" descr="doo.png"/>
            <p:cNvSpPr/>
            <p:nvPr/>
          </p:nvSpPr>
          <p:spPr>
            <a:xfrm flipH="false" flipV="false" rot="0">
              <a:off x="0" y="0"/>
              <a:ext cx="811911" cy="222504"/>
            </a:xfrm>
            <a:custGeom>
              <a:avLst/>
              <a:gdLst/>
              <a:ahLst/>
              <a:cxnLst/>
              <a:rect r="r" b="b" t="t" l="l"/>
              <a:pathLst>
                <a:path h="222504" w="811911">
                  <a:moveTo>
                    <a:pt x="0" y="0"/>
                  </a:moveTo>
                  <a:lnTo>
                    <a:pt x="811911" y="0"/>
                  </a:lnTo>
                  <a:lnTo>
                    <a:pt x="811911" y="222504"/>
                  </a:lnTo>
                  <a:lnTo>
                    <a:pt x="0" y="222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5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3029293" y="3377410"/>
            <a:ext cx="1536021" cy="1108405"/>
            <a:chOff x="0" y="0"/>
            <a:chExt cx="1024014" cy="73893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24001" cy="739013"/>
            </a:xfrm>
            <a:custGeom>
              <a:avLst/>
              <a:gdLst/>
              <a:ahLst/>
              <a:cxnLst/>
              <a:rect r="r" b="b" t="t" l="l"/>
              <a:pathLst>
                <a:path h="739013" w="1024001">
                  <a:moveTo>
                    <a:pt x="0" y="73914"/>
                  </a:moveTo>
                  <a:cubicBezTo>
                    <a:pt x="0" y="33020"/>
                    <a:pt x="33020" y="0"/>
                    <a:pt x="73914" y="0"/>
                  </a:cubicBezTo>
                  <a:lnTo>
                    <a:pt x="950087" y="0"/>
                  </a:lnTo>
                  <a:cubicBezTo>
                    <a:pt x="990854" y="0"/>
                    <a:pt x="1024001" y="33020"/>
                    <a:pt x="1024001" y="73914"/>
                  </a:cubicBezTo>
                  <a:lnTo>
                    <a:pt x="1024001" y="665099"/>
                  </a:lnTo>
                  <a:cubicBezTo>
                    <a:pt x="1024001" y="705866"/>
                    <a:pt x="990981" y="739013"/>
                    <a:pt x="950087" y="739013"/>
                  </a:cubicBezTo>
                  <a:lnTo>
                    <a:pt x="73914" y="739013"/>
                  </a:lnTo>
                  <a:cubicBezTo>
                    <a:pt x="33020" y="738886"/>
                    <a:pt x="0" y="705866"/>
                    <a:pt x="0" y="665099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2E2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3188360" y="3690935"/>
            <a:ext cx="1217866" cy="481355"/>
            <a:chOff x="0" y="0"/>
            <a:chExt cx="811911" cy="320904"/>
          </a:xfrm>
        </p:grpSpPr>
        <p:sp>
          <p:nvSpPr>
            <p:cNvPr name="Freeform 36" id="36" descr="samuel.png"/>
            <p:cNvSpPr/>
            <p:nvPr/>
          </p:nvSpPr>
          <p:spPr>
            <a:xfrm flipH="false" flipV="false" rot="0">
              <a:off x="0" y="0"/>
              <a:ext cx="811911" cy="320929"/>
            </a:xfrm>
            <a:custGeom>
              <a:avLst/>
              <a:gdLst/>
              <a:ahLst/>
              <a:cxnLst/>
              <a:rect r="r" b="b" t="t" l="l"/>
              <a:pathLst>
                <a:path h="320929" w="811911">
                  <a:moveTo>
                    <a:pt x="0" y="0"/>
                  </a:moveTo>
                  <a:lnTo>
                    <a:pt x="811911" y="0"/>
                  </a:lnTo>
                  <a:lnTo>
                    <a:pt x="811911" y="320929"/>
                  </a:lnTo>
                  <a:lnTo>
                    <a:pt x="0" y="3209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7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4715828" y="3377410"/>
            <a:ext cx="1536021" cy="1108405"/>
            <a:chOff x="0" y="0"/>
            <a:chExt cx="1024014" cy="738937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24001" cy="739013"/>
            </a:xfrm>
            <a:custGeom>
              <a:avLst/>
              <a:gdLst/>
              <a:ahLst/>
              <a:cxnLst/>
              <a:rect r="r" b="b" t="t" l="l"/>
              <a:pathLst>
                <a:path h="739013" w="1024001">
                  <a:moveTo>
                    <a:pt x="0" y="73914"/>
                  </a:moveTo>
                  <a:cubicBezTo>
                    <a:pt x="0" y="33020"/>
                    <a:pt x="33020" y="0"/>
                    <a:pt x="73914" y="0"/>
                  </a:cubicBezTo>
                  <a:lnTo>
                    <a:pt x="950087" y="0"/>
                  </a:lnTo>
                  <a:cubicBezTo>
                    <a:pt x="990854" y="0"/>
                    <a:pt x="1024001" y="33020"/>
                    <a:pt x="1024001" y="73914"/>
                  </a:cubicBezTo>
                  <a:lnTo>
                    <a:pt x="1024001" y="665099"/>
                  </a:lnTo>
                  <a:cubicBezTo>
                    <a:pt x="1024001" y="705866"/>
                    <a:pt x="990981" y="739013"/>
                    <a:pt x="950087" y="739013"/>
                  </a:cubicBezTo>
                  <a:lnTo>
                    <a:pt x="73914" y="739013"/>
                  </a:lnTo>
                  <a:cubicBezTo>
                    <a:pt x="33020" y="738886"/>
                    <a:pt x="0" y="705866"/>
                    <a:pt x="0" y="665099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2E2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4874914" y="3871834"/>
            <a:ext cx="1217866" cy="119539"/>
            <a:chOff x="0" y="0"/>
            <a:chExt cx="811911" cy="79692"/>
          </a:xfrm>
        </p:grpSpPr>
        <p:sp>
          <p:nvSpPr>
            <p:cNvPr name="Freeform 40" id="40" descr="syailendra.png"/>
            <p:cNvSpPr/>
            <p:nvPr/>
          </p:nvSpPr>
          <p:spPr>
            <a:xfrm flipH="false" flipV="false" rot="0">
              <a:off x="0" y="0"/>
              <a:ext cx="811911" cy="79756"/>
            </a:xfrm>
            <a:custGeom>
              <a:avLst/>
              <a:gdLst/>
              <a:ahLst/>
              <a:cxnLst/>
              <a:rect r="r" b="b" t="t" l="l"/>
              <a:pathLst>
                <a:path h="79756" w="811911">
                  <a:moveTo>
                    <a:pt x="0" y="0"/>
                  </a:moveTo>
                  <a:lnTo>
                    <a:pt x="811911" y="0"/>
                  </a:lnTo>
                  <a:lnTo>
                    <a:pt x="811911" y="79756"/>
                  </a:lnTo>
                  <a:lnTo>
                    <a:pt x="0" y="797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79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499472" y="5046857"/>
            <a:ext cx="1536021" cy="1081030"/>
            <a:chOff x="0" y="0"/>
            <a:chExt cx="1024014" cy="720687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24001" cy="720598"/>
            </a:xfrm>
            <a:custGeom>
              <a:avLst/>
              <a:gdLst/>
              <a:ahLst/>
              <a:cxnLst/>
              <a:rect r="r" b="b" t="t" l="l"/>
              <a:pathLst>
                <a:path h="720598" w="1024001">
                  <a:moveTo>
                    <a:pt x="0" y="72009"/>
                  </a:moveTo>
                  <a:cubicBezTo>
                    <a:pt x="0" y="32258"/>
                    <a:pt x="32258" y="0"/>
                    <a:pt x="72009" y="0"/>
                  </a:cubicBezTo>
                  <a:lnTo>
                    <a:pt x="951992" y="0"/>
                  </a:lnTo>
                  <a:cubicBezTo>
                    <a:pt x="991743" y="0"/>
                    <a:pt x="1024001" y="32258"/>
                    <a:pt x="1024001" y="72009"/>
                  </a:cubicBezTo>
                  <a:lnTo>
                    <a:pt x="1024001" y="648589"/>
                  </a:lnTo>
                  <a:cubicBezTo>
                    <a:pt x="1024001" y="688340"/>
                    <a:pt x="991743" y="720598"/>
                    <a:pt x="951992" y="720598"/>
                  </a:cubicBezTo>
                  <a:lnTo>
                    <a:pt x="72009" y="720598"/>
                  </a:lnTo>
                  <a:cubicBezTo>
                    <a:pt x="32258" y="720725"/>
                    <a:pt x="0" y="688467"/>
                    <a:pt x="0" y="648589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2E2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658539" y="5257874"/>
            <a:ext cx="1217866" cy="658978"/>
            <a:chOff x="0" y="0"/>
            <a:chExt cx="811911" cy="439318"/>
          </a:xfrm>
        </p:grpSpPr>
        <p:sp>
          <p:nvSpPr>
            <p:cNvPr name="Freeform 44" id="44" descr="mandiri.png"/>
            <p:cNvSpPr/>
            <p:nvPr/>
          </p:nvSpPr>
          <p:spPr>
            <a:xfrm flipH="false" flipV="false" rot="0">
              <a:off x="0" y="0"/>
              <a:ext cx="811911" cy="439293"/>
            </a:xfrm>
            <a:custGeom>
              <a:avLst/>
              <a:gdLst/>
              <a:ahLst/>
              <a:cxnLst/>
              <a:rect r="r" b="b" t="t" l="l"/>
              <a:pathLst>
                <a:path h="439293" w="811911">
                  <a:moveTo>
                    <a:pt x="0" y="0"/>
                  </a:moveTo>
                  <a:lnTo>
                    <a:pt x="811911" y="0"/>
                  </a:lnTo>
                  <a:lnTo>
                    <a:pt x="811911" y="439293"/>
                  </a:lnTo>
                  <a:lnTo>
                    <a:pt x="0" y="439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-5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2186007" y="5046857"/>
            <a:ext cx="1536021" cy="1081030"/>
            <a:chOff x="0" y="0"/>
            <a:chExt cx="1024014" cy="720687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24001" cy="720598"/>
            </a:xfrm>
            <a:custGeom>
              <a:avLst/>
              <a:gdLst/>
              <a:ahLst/>
              <a:cxnLst/>
              <a:rect r="r" b="b" t="t" l="l"/>
              <a:pathLst>
                <a:path h="720598" w="1024001">
                  <a:moveTo>
                    <a:pt x="0" y="72009"/>
                  </a:moveTo>
                  <a:cubicBezTo>
                    <a:pt x="0" y="32258"/>
                    <a:pt x="32258" y="0"/>
                    <a:pt x="72009" y="0"/>
                  </a:cubicBezTo>
                  <a:lnTo>
                    <a:pt x="951992" y="0"/>
                  </a:lnTo>
                  <a:cubicBezTo>
                    <a:pt x="991743" y="0"/>
                    <a:pt x="1024001" y="32258"/>
                    <a:pt x="1024001" y="72009"/>
                  </a:cubicBezTo>
                  <a:lnTo>
                    <a:pt x="1024001" y="648589"/>
                  </a:lnTo>
                  <a:cubicBezTo>
                    <a:pt x="1024001" y="688340"/>
                    <a:pt x="991743" y="720598"/>
                    <a:pt x="951992" y="720598"/>
                  </a:cubicBezTo>
                  <a:lnTo>
                    <a:pt x="72009" y="720598"/>
                  </a:lnTo>
                  <a:cubicBezTo>
                    <a:pt x="32258" y="720725"/>
                    <a:pt x="0" y="688467"/>
                    <a:pt x="0" y="648589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2E2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2266483" y="5408274"/>
            <a:ext cx="1375067" cy="386516"/>
            <a:chOff x="0" y="0"/>
            <a:chExt cx="811911" cy="228219"/>
          </a:xfrm>
        </p:grpSpPr>
        <p:sp>
          <p:nvSpPr>
            <p:cNvPr name="Freeform 48" id="48" descr="trimegah.png"/>
            <p:cNvSpPr/>
            <p:nvPr/>
          </p:nvSpPr>
          <p:spPr>
            <a:xfrm flipH="false" flipV="false" rot="0">
              <a:off x="0" y="0"/>
              <a:ext cx="811911" cy="228219"/>
            </a:xfrm>
            <a:custGeom>
              <a:avLst/>
              <a:gdLst/>
              <a:ahLst/>
              <a:cxnLst/>
              <a:rect r="r" b="b" t="t" l="l"/>
              <a:pathLst>
                <a:path h="228219" w="811911">
                  <a:moveTo>
                    <a:pt x="0" y="0"/>
                  </a:moveTo>
                  <a:lnTo>
                    <a:pt x="811911" y="0"/>
                  </a:lnTo>
                  <a:lnTo>
                    <a:pt x="811911" y="228219"/>
                  </a:lnTo>
                  <a:lnTo>
                    <a:pt x="0" y="2282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3872560" y="5046857"/>
            <a:ext cx="1536021" cy="1081030"/>
            <a:chOff x="0" y="0"/>
            <a:chExt cx="1024014" cy="720687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24001" cy="720598"/>
            </a:xfrm>
            <a:custGeom>
              <a:avLst/>
              <a:gdLst/>
              <a:ahLst/>
              <a:cxnLst/>
              <a:rect r="r" b="b" t="t" l="l"/>
              <a:pathLst>
                <a:path h="720598" w="1024001">
                  <a:moveTo>
                    <a:pt x="0" y="72009"/>
                  </a:moveTo>
                  <a:cubicBezTo>
                    <a:pt x="0" y="32258"/>
                    <a:pt x="32258" y="0"/>
                    <a:pt x="72009" y="0"/>
                  </a:cubicBezTo>
                  <a:lnTo>
                    <a:pt x="951992" y="0"/>
                  </a:lnTo>
                  <a:cubicBezTo>
                    <a:pt x="991743" y="0"/>
                    <a:pt x="1024001" y="32258"/>
                    <a:pt x="1024001" y="72009"/>
                  </a:cubicBezTo>
                  <a:lnTo>
                    <a:pt x="1024001" y="648589"/>
                  </a:lnTo>
                  <a:cubicBezTo>
                    <a:pt x="1024001" y="688340"/>
                    <a:pt x="991743" y="720598"/>
                    <a:pt x="951992" y="720598"/>
                  </a:cubicBezTo>
                  <a:lnTo>
                    <a:pt x="72009" y="720598"/>
                  </a:lnTo>
                  <a:cubicBezTo>
                    <a:pt x="32258" y="720725"/>
                    <a:pt x="0" y="688467"/>
                    <a:pt x="0" y="648589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2E2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4031647" y="5408274"/>
            <a:ext cx="1217866" cy="358197"/>
            <a:chOff x="0" y="0"/>
            <a:chExt cx="811911" cy="238798"/>
          </a:xfrm>
        </p:grpSpPr>
        <p:sp>
          <p:nvSpPr>
            <p:cNvPr name="Freeform 52" id="52" descr="growin.png"/>
            <p:cNvSpPr/>
            <p:nvPr/>
          </p:nvSpPr>
          <p:spPr>
            <a:xfrm flipH="false" flipV="false" rot="0">
              <a:off x="0" y="0"/>
              <a:ext cx="811911" cy="238760"/>
            </a:xfrm>
            <a:custGeom>
              <a:avLst/>
              <a:gdLst/>
              <a:ahLst/>
              <a:cxnLst/>
              <a:rect r="r" b="b" t="t" l="l"/>
              <a:pathLst>
                <a:path h="238760" w="811911">
                  <a:moveTo>
                    <a:pt x="0" y="0"/>
                  </a:moveTo>
                  <a:lnTo>
                    <a:pt x="811911" y="0"/>
                  </a:lnTo>
                  <a:lnTo>
                    <a:pt x="811911" y="238760"/>
                  </a:lnTo>
                  <a:lnTo>
                    <a:pt x="0" y="238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-15"/>
              </a:stretch>
            </a:blip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5559114" y="5046857"/>
            <a:ext cx="1536021" cy="1081030"/>
            <a:chOff x="0" y="0"/>
            <a:chExt cx="1024014" cy="720687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24001" cy="720598"/>
            </a:xfrm>
            <a:custGeom>
              <a:avLst/>
              <a:gdLst/>
              <a:ahLst/>
              <a:cxnLst/>
              <a:rect r="r" b="b" t="t" l="l"/>
              <a:pathLst>
                <a:path h="720598" w="1024001">
                  <a:moveTo>
                    <a:pt x="0" y="72009"/>
                  </a:moveTo>
                  <a:cubicBezTo>
                    <a:pt x="0" y="32258"/>
                    <a:pt x="32258" y="0"/>
                    <a:pt x="72009" y="0"/>
                  </a:cubicBezTo>
                  <a:lnTo>
                    <a:pt x="951992" y="0"/>
                  </a:lnTo>
                  <a:cubicBezTo>
                    <a:pt x="991743" y="0"/>
                    <a:pt x="1024001" y="32258"/>
                    <a:pt x="1024001" y="72009"/>
                  </a:cubicBezTo>
                  <a:lnTo>
                    <a:pt x="1024001" y="648589"/>
                  </a:lnTo>
                  <a:cubicBezTo>
                    <a:pt x="1024001" y="688340"/>
                    <a:pt x="991743" y="720598"/>
                    <a:pt x="951992" y="720598"/>
                  </a:cubicBezTo>
                  <a:lnTo>
                    <a:pt x="72009" y="720598"/>
                  </a:lnTo>
                  <a:cubicBezTo>
                    <a:pt x="32258" y="720725"/>
                    <a:pt x="0" y="688467"/>
                    <a:pt x="0" y="648589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2E2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5739651" y="5256502"/>
            <a:ext cx="1174947" cy="661759"/>
            <a:chOff x="0" y="0"/>
            <a:chExt cx="783298" cy="441173"/>
          </a:xfrm>
        </p:grpSpPr>
        <p:sp>
          <p:nvSpPr>
            <p:cNvPr name="Freeform 56" id="56" descr="sim.png"/>
            <p:cNvSpPr/>
            <p:nvPr/>
          </p:nvSpPr>
          <p:spPr>
            <a:xfrm flipH="false" flipV="false" rot="0">
              <a:off x="0" y="0"/>
              <a:ext cx="783336" cy="441198"/>
            </a:xfrm>
            <a:custGeom>
              <a:avLst/>
              <a:gdLst/>
              <a:ahLst/>
              <a:cxnLst/>
              <a:rect r="r" b="b" t="t" l="l"/>
              <a:pathLst>
                <a:path h="441198" w="783336">
                  <a:moveTo>
                    <a:pt x="0" y="0"/>
                  </a:moveTo>
                  <a:lnTo>
                    <a:pt x="783336" y="0"/>
                  </a:lnTo>
                  <a:lnTo>
                    <a:pt x="783336" y="441198"/>
                  </a:lnTo>
                  <a:lnTo>
                    <a:pt x="0" y="4411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4" b="5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499472" y="6278421"/>
            <a:ext cx="1536021" cy="1081030"/>
            <a:chOff x="0" y="0"/>
            <a:chExt cx="1024014" cy="720687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024001" cy="720598"/>
            </a:xfrm>
            <a:custGeom>
              <a:avLst/>
              <a:gdLst/>
              <a:ahLst/>
              <a:cxnLst/>
              <a:rect r="r" b="b" t="t" l="l"/>
              <a:pathLst>
                <a:path h="720598" w="1024001">
                  <a:moveTo>
                    <a:pt x="0" y="72009"/>
                  </a:moveTo>
                  <a:cubicBezTo>
                    <a:pt x="0" y="32258"/>
                    <a:pt x="32258" y="0"/>
                    <a:pt x="72009" y="0"/>
                  </a:cubicBezTo>
                  <a:lnTo>
                    <a:pt x="951992" y="0"/>
                  </a:lnTo>
                  <a:cubicBezTo>
                    <a:pt x="991743" y="0"/>
                    <a:pt x="1024001" y="32258"/>
                    <a:pt x="1024001" y="72009"/>
                  </a:cubicBezTo>
                  <a:lnTo>
                    <a:pt x="1024001" y="648589"/>
                  </a:lnTo>
                  <a:cubicBezTo>
                    <a:pt x="1024001" y="688340"/>
                    <a:pt x="991743" y="720598"/>
                    <a:pt x="951992" y="720598"/>
                  </a:cubicBezTo>
                  <a:lnTo>
                    <a:pt x="72009" y="720598"/>
                  </a:lnTo>
                  <a:cubicBezTo>
                    <a:pt x="32258" y="720725"/>
                    <a:pt x="0" y="688467"/>
                    <a:pt x="0" y="648589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2E2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658539" y="6491438"/>
            <a:ext cx="1217866" cy="654996"/>
            <a:chOff x="0" y="0"/>
            <a:chExt cx="811911" cy="436664"/>
          </a:xfrm>
        </p:grpSpPr>
        <p:sp>
          <p:nvSpPr>
            <p:cNvPr name="Freeform 60" id="60" descr="bjb.png"/>
            <p:cNvSpPr/>
            <p:nvPr/>
          </p:nvSpPr>
          <p:spPr>
            <a:xfrm flipH="false" flipV="false" rot="0">
              <a:off x="0" y="0"/>
              <a:ext cx="811911" cy="436626"/>
            </a:xfrm>
            <a:custGeom>
              <a:avLst/>
              <a:gdLst/>
              <a:ahLst/>
              <a:cxnLst/>
              <a:rect r="r" b="b" t="t" l="l"/>
              <a:pathLst>
                <a:path h="436626" w="811911">
                  <a:moveTo>
                    <a:pt x="0" y="0"/>
                  </a:moveTo>
                  <a:lnTo>
                    <a:pt x="811911" y="0"/>
                  </a:lnTo>
                  <a:lnTo>
                    <a:pt x="811911" y="436626"/>
                  </a:lnTo>
                  <a:lnTo>
                    <a:pt x="0" y="4366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-8"/>
              </a:stretch>
            </a:blip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2186007" y="6278421"/>
            <a:ext cx="1536021" cy="1081030"/>
            <a:chOff x="0" y="0"/>
            <a:chExt cx="1024014" cy="720687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024001" cy="720598"/>
            </a:xfrm>
            <a:custGeom>
              <a:avLst/>
              <a:gdLst/>
              <a:ahLst/>
              <a:cxnLst/>
              <a:rect r="r" b="b" t="t" l="l"/>
              <a:pathLst>
                <a:path h="720598" w="1024001">
                  <a:moveTo>
                    <a:pt x="0" y="72009"/>
                  </a:moveTo>
                  <a:cubicBezTo>
                    <a:pt x="0" y="32258"/>
                    <a:pt x="32258" y="0"/>
                    <a:pt x="72009" y="0"/>
                  </a:cubicBezTo>
                  <a:lnTo>
                    <a:pt x="951992" y="0"/>
                  </a:lnTo>
                  <a:cubicBezTo>
                    <a:pt x="991743" y="0"/>
                    <a:pt x="1024001" y="32258"/>
                    <a:pt x="1024001" y="72009"/>
                  </a:cubicBezTo>
                  <a:lnTo>
                    <a:pt x="1024001" y="648589"/>
                  </a:lnTo>
                  <a:cubicBezTo>
                    <a:pt x="1024001" y="688340"/>
                    <a:pt x="991743" y="720598"/>
                    <a:pt x="951992" y="720598"/>
                  </a:cubicBezTo>
                  <a:lnTo>
                    <a:pt x="72009" y="720598"/>
                  </a:lnTo>
                  <a:cubicBezTo>
                    <a:pt x="32258" y="720725"/>
                    <a:pt x="0" y="688467"/>
                    <a:pt x="0" y="648589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2E2"/>
              </a:solidFill>
              <a:prstDash val="solid"/>
              <a:miter/>
            </a:ln>
          </p:spPr>
        </p:sp>
      </p:grpSp>
      <p:grpSp>
        <p:nvGrpSpPr>
          <p:cNvPr name="Group 63" id="63"/>
          <p:cNvGrpSpPr/>
          <p:nvPr/>
        </p:nvGrpSpPr>
        <p:grpSpPr>
          <a:xfrm rot="0">
            <a:off x="2345093" y="6554474"/>
            <a:ext cx="1217866" cy="528904"/>
            <a:chOff x="0" y="0"/>
            <a:chExt cx="811911" cy="352603"/>
          </a:xfrm>
        </p:grpSpPr>
        <p:sp>
          <p:nvSpPr>
            <p:cNvPr name="Freeform 64" id="64" descr="tring.png"/>
            <p:cNvSpPr/>
            <p:nvPr/>
          </p:nvSpPr>
          <p:spPr>
            <a:xfrm flipH="false" flipV="false" rot="0">
              <a:off x="0" y="0"/>
              <a:ext cx="811911" cy="352552"/>
            </a:xfrm>
            <a:custGeom>
              <a:avLst/>
              <a:gdLst/>
              <a:ahLst/>
              <a:cxnLst/>
              <a:rect r="r" b="b" t="t" l="l"/>
              <a:pathLst>
                <a:path h="352552" w="811911">
                  <a:moveTo>
                    <a:pt x="0" y="0"/>
                  </a:moveTo>
                  <a:lnTo>
                    <a:pt x="811911" y="0"/>
                  </a:lnTo>
                  <a:lnTo>
                    <a:pt x="811911" y="352552"/>
                  </a:lnTo>
                  <a:lnTo>
                    <a:pt x="0" y="352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-14"/>
              </a:stretch>
            </a:blip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3872560" y="6278421"/>
            <a:ext cx="1536021" cy="1081030"/>
            <a:chOff x="0" y="0"/>
            <a:chExt cx="1024014" cy="720687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24001" cy="720598"/>
            </a:xfrm>
            <a:custGeom>
              <a:avLst/>
              <a:gdLst/>
              <a:ahLst/>
              <a:cxnLst/>
              <a:rect r="r" b="b" t="t" l="l"/>
              <a:pathLst>
                <a:path h="720598" w="1024001">
                  <a:moveTo>
                    <a:pt x="0" y="72009"/>
                  </a:moveTo>
                  <a:cubicBezTo>
                    <a:pt x="0" y="32258"/>
                    <a:pt x="32258" y="0"/>
                    <a:pt x="72009" y="0"/>
                  </a:cubicBezTo>
                  <a:lnTo>
                    <a:pt x="951992" y="0"/>
                  </a:lnTo>
                  <a:cubicBezTo>
                    <a:pt x="991743" y="0"/>
                    <a:pt x="1024001" y="32258"/>
                    <a:pt x="1024001" y="72009"/>
                  </a:cubicBezTo>
                  <a:lnTo>
                    <a:pt x="1024001" y="648589"/>
                  </a:lnTo>
                  <a:cubicBezTo>
                    <a:pt x="1024001" y="688340"/>
                    <a:pt x="991743" y="720598"/>
                    <a:pt x="951992" y="720598"/>
                  </a:cubicBezTo>
                  <a:lnTo>
                    <a:pt x="72009" y="720598"/>
                  </a:lnTo>
                  <a:cubicBezTo>
                    <a:pt x="32258" y="720725"/>
                    <a:pt x="0" y="688467"/>
                    <a:pt x="0" y="648589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2E2"/>
              </a:solidFill>
              <a:prstDash val="solid"/>
              <a:miter/>
            </a:ln>
          </p:spPr>
        </p:sp>
      </p:grpSp>
      <p:grpSp>
        <p:nvGrpSpPr>
          <p:cNvPr name="Group 67" id="67"/>
          <p:cNvGrpSpPr/>
          <p:nvPr/>
        </p:nvGrpSpPr>
        <p:grpSpPr>
          <a:xfrm rot="0">
            <a:off x="4031647" y="6612672"/>
            <a:ext cx="1217866" cy="412509"/>
            <a:chOff x="0" y="0"/>
            <a:chExt cx="811911" cy="275006"/>
          </a:xfrm>
        </p:grpSpPr>
        <p:sp>
          <p:nvSpPr>
            <p:cNvPr name="Freeform 68" id="68" descr="hrta.png"/>
            <p:cNvSpPr/>
            <p:nvPr/>
          </p:nvSpPr>
          <p:spPr>
            <a:xfrm flipH="false" flipV="false" rot="0">
              <a:off x="0" y="0"/>
              <a:ext cx="811911" cy="274955"/>
            </a:xfrm>
            <a:custGeom>
              <a:avLst/>
              <a:gdLst/>
              <a:ahLst/>
              <a:cxnLst/>
              <a:rect r="r" b="b" t="t" l="l"/>
              <a:pathLst>
                <a:path h="274955" w="811911">
                  <a:moveTo>
                    <a:pt x="0" y="0"/>
                  </a:moveTo>
                  <a:lnTo>
                    <a:pt x="811911" y="0"/>
                  </a:lnTo>
                  <a:lnTo>
                    <a:pt x="811911" y="274955"/>
                  </a:lnTo>
                  <a:lnTo>
                    <a:pt x="0" y="2749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-18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5559114" y="6278421"/>
            <a:ext cx="1536021" cy="1081030"/>
            <a:chOff x="0" y="0"/>
            <a:chExt cx="1024014" cy="720687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024001" cy="720598"/>
            </a:xfrm>
            <a:custGeom>
              <a:avLst/>
              <a:gdLst/>
              <a:ahLst/>
              <a:cxnLst/>
              <a:rect r="r" b="b" t="t" l="l"/>
              <a:pathLst>
                <a:path h="720598" w="1024001">
                  <a:moveTo>
                    <a:pt x="0" y="72009"/>
                  </a:moveTo>
                  <a:cubicBezTo>
                    <a:pt x="0" y="32258"/>
                    <a:pt x="32258" y="0"/>
                    <a:pt x="72009" y="0"/>
                  </a:cubicBezTo>
                  <a:lnTo>
                    <a:pt x="951992" y="0"/>
                  </a:lnTo>
                  <a:cubicBezTo>
                    <a:pt x="991743" y="0"/>
                    <a:pt x="1024001" y="32258"/>
                    <a:pt x="1024001" y="72009"/>
                  </a:cubicBezTo>
                  <a:lnTo>
                    <a:pt x="1024001" y="648589"/>
                  </a:lnTo>
                  <a:cubicBezTo>
                    <a:pt x="1024001" y="688340"/>
                    <a:pt x="991743" y="720598"/>
                    <a:pt x="951992" y="720598"/>
                  </a:cubicBezTo>
                  <a:lnTo>
                    <a:pt x="72009" y="720598"/>
                  </a:lnTo>
                  <a:cubicBezTo>
                    <a:pt x="32258" y="720725"/>
                    <a:pt x="0" y="688467"/>
                    <a:pt x="0" y="648589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2E2"/>
              </a:solidFill>
              <a:prstDash val="solid"/>
              <a:miter/>
            </a:ln>
          </p:spPr>
        </p:sp>
      </p:grpSp>
      <p:grpSp>
        <p:nvGrpSpPr>
          <p:cNvPr name="Group 71" id="71"/>
          <p:cNvGrpSpPr/>
          <p:nvPr/>
        </p:nvGrpSpPr>
        <p:grpSpPr>
          <a:xfrm rot="0">
            <a:off x="5882145" y="6488047"/>
            <a:ext cx="889940" cy="661759"/>
            <a:chOff x="0" y="0"/>
            <a:chExt cx="593293" cy="441173"/>
          </a:xfrm>
        </p:grpSpPr>
        <p:sp>
          <p:nvSpPr>
            <p:cNvPr name="Freeform 72" id="72" descr="telkom.png"/>
            <p:cNvSpPr/>
            <p:nvPr/>
          </p:nvSpPr>
          <p:spPr>
            <a:xfrm flipH="false" flipV="false" rot="0">
              <a:off x="0" y="0"/>
              <a:ext cx="593344" cy="441198"/>
            </a:xfrm>
            <a:custGeom>
              <a:avLst/>
              <a:gdLst/>
              <a:ahLst/>
              <a:cxnLst/>
              <a:rect r="r" b="b" t="t" l="l"/>
              <a:pathLst>
                <a:path h="441198" w="593344">
                  <a:moveTo>
                    <a:pt x="0" y="0"/>
                  </a:moveTo>
                  <a:lnTo>
                    <a:pt x="593344" y="0"/>
                  </a:lnTo>
                  <a:lnTo>
                    <a:pt x="593344" y="441198"/>
                  </a:lnTo>
                  <a:lnTo>
                    <a:pt x="0" y="4411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8" b="5"/>
              </a:stretch>
            </a:blip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499472" y="7509965"/>
            <a:ext cx="1536021" cy="1081030"/>
            <a:chOff x="0" y="0"/>
            <a:chExt cx="1024014" cy="720687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024001" cy="720598"/>
            </a:xfrm>
            <a:custGeom>
              <a:avLst/>
              <a:gdLst/>
              <a:ahLst/>
              <a:cxnLst/>
              <a:rect r="r" b="b" t="t" l="l"/>
              <a:pathLst>
                <a:path h="720598" w="1024001">
                  <a:moveTo>
                    <a:pt x="0" y="72009"/>
                  </a:moveTo>
                  <a:cubicBezTo>
                    <a:pt x="0" y="32258"/>
                    <a:pt x="32258" y="0"/>
                    <a:pt x="72009" y="0"/>
                  </a:cubicBezTo>
                  <a:lnTo>
                    <a:pt x="951992" y="0"/>
                  </a:lnTo>
                  <a:cubicBezTo>
                    <a:pt x="991743" y="0"/>
                    <a:pt x="1024001" y="32258"/>
                    <a:pt x="1024001" y="72009"/>
                  </a:cubicBezTo>
                  <a:lnTo>
                    <a:pt x="1024001" y="648589"/>
                  </a:lnTo>
                  <a:cubicBezTo>
                    <a:pt x="1024001" y="688340"/>
                    <a:pt x="991743" y="720598"/>
                    <a:pt x="951992" y="720598"/>
                  </a:cubicBezTo>
                  <a:lnTo>
                    <a:pt x="72009" y="720598"/>
                  </a:lnTo>
                  <a:cubicBezTo>
                    <a:pt x="32258" y="720725"/>
                    <a:pt x="0" y="688467"/>
                    <a:pt x="0" y="648589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2E2"/>
              </a:solidFill>
              <a:prstDash val="solid"/>
              <a:miter/>
            </a:ln>
          </p:spPr>
        </p:sp>
      </p:grpSp>
      <p:grpSp>
        <p:nvGrpSpPr>
          <p:cNvPr name="Group 75" id="75"/>
          <p:cNvGrpSpPr/>
          <p:nvPr/>
        </p:nvGrpSpPr>
        <p:grpSpPr>
          <a:xfrm rot="0">
            <a:off x="658539" y="7900642"/>
            <a:ext cx="1217866" cy="299695"/>
            <a:chOff x="0" y="0"/>
            <a:chExt cx="811911" cy="199796"/>
          </a:xfrm>
        </p:grpSpPr>
        <p:sp>
          <p:nvSpPr>
            <p:cNvPr name="Freeform 76" id="76" descr="jasamarga.png"/>
            <p:cNvSpPr/>
            <p:nvPr/>
          </p:nvSpPr>
          <p:spPr>
            <a:xfrm flipH="false" flipV="false" rot="0">
              <a:off x="0" y="0"/>
              <a:ext cx="811911" cy="199771"/>
            </a:xfrm>
            <a:custGeom>
              <a:avLst/>
              <a:gdLst/>
              <a:ahLst/>
              <a:cxnLst/>
              <a:rect r="r" b="b" t="t" l="l"/>
              <a:pathLst>
                <a:path h="199771" w="811911">
                  <a:moveTo>
                    <a:pt x="0" y="0"/>
                  </a:moveTo>
                  <a:lnTo>
                    <a:pt x="811911" y="0"/>
                  </a:lnTo>
                  <a:lnTo>
                    <a:pt x="811911" y="199771"/>
                  </a:lnTo>
                  <a:lnTo>
                    <a:pt x="0" y="1997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-12"/>
              </a:stretch>
            </a:blip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2186007" y="7509965"/>
            <a:ext cx="3222574" cy="1081030"/>
            <a:chOff x="0" y="0"/>
            <a:chExt cx="2148383" cy="720687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148332" cy="720598"/>
            </a:xfrm>
            <a:custGeom>
              <a:avLst/>
              <a:gdLst/>
              <a:ahLst/>
              <a:cxnLst/>
              <a:rect r="r" b="b" t="t" l="l"/>
              <a:pathLst>
                <a:path h="720598" w="2148332">
                  <a:moveTo>
                    <a:pt x="0" y="72009"/>
                  </a:moveTo>
                  <a:cubicBezTo>
                    <a:pt x="0" y="32258"/>
                    <a:pt x="32258" y="0"/>
                    <a:pt x="72009" y="0"/>
                  </a:cubicBezTo>
                  <a:lnTo>
                    <a:pt x="2076323" y="0"/>
                  </a:lnTo>
                  <a:cubicBezTo>
                    <a:pt x="2116074" y="0"/>
                    <a:pt x="2148332" y="32258"/>
                    <a:pt x="2148332" y="72009"/>
                  </a:cubicBezTo>
                  <a:lnTo>
                    <a:pt x="2148332" y="648589"/>
                  </a:lnTo>
                  <a:cubicBezTo>
                    <a:pt x="2148332" y="688340"/>
                    <a:pt x="2116074" y="720598"/>
                    <a:pt x="2076323" y="720598"/>
                  </a:cubicBezTo>
                  <a:lnTo>
                    <a:pt x="72009" y="720598"/>
                  </a:lnTo>
                  <a:cubicBezTo>
                    <a:pt x="32258" y="720725"/>
                    <a:pt x="0" y="688467"/>
                    <a:pt x="0" y="648589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2E2"/>
              </a:solidFill>
              <a:prstDash val="solid"/>
              <a:miter/>
            </a:ln>
          </p:spPr>
        </p:sp>
      </p:grpSp>
      <p:grpSp>
        <p:nvGrpSpPr>
          <p:cNvPr name="Group 79" id="79"/>
          <p:cNvGrpSpPr/>
          <p:nvPr/>
        </p:nvGrpSpPr>
        <p:grpSpPr>
          <a:xfrm rot="0">
            <a:off x="2513743" y="7952896"/>
            <a:ext cx="2567121" cy="195186"/>
            <a:chOff x="0" y="0"/>
            <a:chExt cx="1711414" cy="130124"/>
          </a:xfrm>
        </p:grpSpPr>
        <p:sp>
          <p:nvSpPr>
            <p:cNvPr name="Freeform 80" id="80" descr="samudra.png"/>
            <p:cNvSpPr/>
            <p:nvPr/>
          </p:nvSpPr>
          <p:spPr>
            <a:xfrm flipH="false" flipV="false" rot="0">
              <a:off x="0" y="0"/>
              <a:ext cx="1711452" cy="130175"/>
            </a:xfrm>
            <a:custGeom>
              <a:avLst/>
              <a:gdLst/>
              <a:ahLst/>
              <a:cxnLst/>
              <a:rect r="r" b="b" t="t" l="l"/>
              <a:pathLst>
                <a:path h="130175" w="1711452">
                  <a:moveTo>
                    <a:pt x="0" y="0"/>
                  </a:moveTo>
                  <a:lnTo>
                    <a:pt x="1711452" y="0"/>
                  </a:lnTo>
                  <a:lnTo>
                    <a:pt x="1711452" y="130175"/>
                  </a:lnTo>
                  <a:lnTo>
                    <a:pt x="0" y="1301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2" b="39"/>
              </a:stretch>
            </a:blip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5559114" y="7509965"/>
            <a:ext cx="1536021" cy="1081030"/>
            <a:chOff x="0" y="0"/>
            <a:chExt cx="1024014" cy="720687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024001" cy="720598"/>
            </a:xfrm>
            <a:custGeom>
              <a:avLst/>
              <a:gdLst/>
              <a:ahLst/>
              <a:cxnLst/>
              <a:rect r="r" b="b" t="t" l="l"/>
              <a:pathLst>
                <a:path h="720598" w="1024001">
                  <a:moveTo>
                    <a:pt x="0" y="72009"/>
                  </a:moveTo>
                  <a:cubicBezTo>
                    <a:pt x="0" y="32258"/>
                    <a:pt x="32258" y="0"/>
                    <a:pt x="72009" y="0"/>
                  </a:cubicBezTo>
                  <a:lnTo>
                    <a:pt x="951992" y="0"/>
                  </a:lnTo>
                  <a:cubicBezTo>
                    <a:pt x="991743" y="0"/>
                    <a:pt x="1024001" y="32258"/>
                    <a:pt x="1024001" y="72009"/>
                  </a:cubicBezTo>
                  <a:lnTo>
                    <a:pt x="1024001" y="648589"/>
                  </a:lnTo>
                  <a:cubicBezTo>
                    <a:pt x="1024001" y="688340"/>
                    <a:pt x="991743" y="720598"/>
                    <a:pt x="951992" y="720598"/>
                  </a:cubicBezTo>
                  <a:lnTo>
                    <a:pt x="72009" y="720598"/>
                  </a:lnTo>
                  <a:cubicBezTo>
                    <a:pt x="32258" y="720725"/>
                    <a:pt x="0" y="688467"/>
                    <a:pt x="0" y="648589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2E2"/>
              </a:solidFill>
              <a:prstDash val="solid"/>
              <a:miter/>
            </a:ln>
          </p:spPr>
        </p:sp>
      </p:grpSp>
      <p:grpSp>
        <p:nvGrpSpPr>
          <p:cNvPr name="Group 83" id="83"/>
          <p:cNvGrpSpPr/>
          <p:nvPr/>
        </p:nvGrpSpPr>
        <p:grpSpPr>
          <a:xfrm rot="0">
            <a:off x="5718181" y="7908243"/>
            <a:ext cx="1217866" cy="284474"/>
            <a:chOff x="0" y="0"/>
            <a:chExt cx="811911" cy="189649"/>
          </a:xfrm>
        </p:grpSpPr>
        <p:sp>
          <p:nvSpPr>
            <p:cNvPr name="Freeform 84" id="84" descr="jiep.png"/>
            <p:cNvSpPr/>
            <p:nvPr/>
          </p:nvSpPr>
          <p:spPr>
            <a:xfrm flipH="false" flipV="false" rot="0">
              <a:off x="0" y="0"/>
              <a:ext cx="811911" cy="189611"/>
            </a:xfrm>
            <a:custGeom>
              <a:avLst/>
              <a:gdLst/>
              <a:ahLst/>
              <a:cxnLst/>
              <a:rect r="r" b="b" t="t" l="l"/>
              <a:pathLst>
                <a:path h="189611" w="811911">
                  <a:moveTo>
                    <a:pt x="0" y="0"/>
                  </a:moveTo>
                  <a:lnTo>
                    <a:pt x="811911" y="0"/>
                  </a:lnTo>
                  <a:lnTo>
                    <a:pt x="811911" y="189611"/>
                  </a:lnTo>
                  <a:lnTo>
                    <a:pt x="0" y="189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0" r="0" b="-19"/>
              </a:stretch>
            </a:blipFill>
          </p:spPr>
        </p:sp>
      </p:grpSp>
      <p:sp>
        <p:nvSpPr>
          <p:cNvPr name="TextBox 85" id="85"/>
          <p:cNvSpPr txBox="true"/>
          <p:nvPr/>
        </p:nvSpPr>
        <p:spPr>
          <a:xfrm rot="0">
            <a:off x="506311" y="1276919"/>
            <a:ext cx="6581985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4"/>
              </a:lnSpc>
            </a:pPr>
            <a:r>
              <a:rPr lang="en-US" sz="2370" b="true">
                <a:solidFill>
                  <a:srgbClr val="1B2A5E"/>
                </a:solidFill>
                <a:latin typeface="DM Sans Bold"/>
                <a:ea typeface="DM Sans Bold"/>
                <a:cs typeface="DM Sans Bold"/>
                <a:sym typeface="DM Sans Bold"/>
              </a:rPr>
              <a:t>Previous Partners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506311" y="1814758"/>
            <a:ext cx="6581985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2"/>
              </a:lnSpc>
            </a:pPr>
            <a:r>
              <a:rPr lang="en-US" sz="1185" b="true">
                <a:solidFill>
                  <a:srgbClr val="555555"/>
                </a:solidFill>
                <a:latin typeface="DM Sans Bold"/>
                <a:ea typeface="DM Sans Bold"/>
                <a:cs typeface="DM Sans Bold"/>
                <a:sym typeface="DM Sans Bold"/>
              </a:rPr>
              <a:t>Not Into Finance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506311" y="4743124"/>
            <a:ext cx="6581985" cy="255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2"/>
              </a:lnSpc>
            </a:pPr>
            <a:r>
              <a:rPr lang="en-US" sz="1185" b="true">
                <a:solidFill>
                  <a:srgbClr val="555555"/>
                </a:solidFill>
                <a:latin typeface="Poppins Bold"/>
                <a:ea typeface="Poppins Bold"/>
                <a:cs typeface="Poppins Bold"/>
                <a:sym typeface="Poppins Bold"/>
              </a:rPr>
              <a:t>Indonesia Capital Market Student Studies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0" y="10189347"/>
            <a:ext cx="7594606" cy="201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817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Confidential &amp; Proprietary © 2026 Not Into Finance &amp; Indonesia Capital Market Student Studies. All rights reserved.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1F1F1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99779" y="3011935"/>
            <a:ext cx="2002634" cy="1001965"/>
            <a:chOff x="0" y="0"/>
            <a:chExt cx="717699" cy="3590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17699" cy="359082"/>
            </a:xfrm>
            <a:custGeom>
              <a:avLst/>
              <a:gdLst/>
              <a:ahLst/>
              <a:cxnLst/>
              <a:rect r="r" b="b" t="t" l="l"/>
              <a:pathLst>
                <a:path h="359082" w="717699">
                  <a:moveTo>
                    <a:pt x="23195" y="0"/>
                  </a:moveTo>
                  <a:lnTo>
                    <a:pt x="694504" y="0"/>
                  </a:lnTo>
                  <a:cubicBezTo>
                    <a:pt x="707314" y="0"/>
                    <a:pt x="717699" y="10385"/>
                    <a:pt x="717699" y="23195"/>
                  </a:cubicBezTo>
                  <a:lnTo>
                    <a:pt x="717699" y="335886"/>
                  </a:lnTo>
                  <a:cubicBezTo>
                    <a:pt x="717699" y="348697"/>
                    <a:pt x="707314" y="359082"/>
                    <a:pt x="694504" y="359082"/>
                  </a:cubicBezTo>
                  <a:lnTo>
                    <a:pt x="23195" y="359082"/>
                  </a:lnTo>
                  <a:cubicBezTo>
                    <a:pt x="10385" y="359082"/>
                    <a:pt x="0" y="348697"/>
                    <a:pt x="0" y="335886"/>
                  </a:cubicBezTo>
                  <a:lnTo>
                    <a:pt x="0" y="23195"/>
                  </a:lnTo>
                  <a:cubicBezTo>
                    <a:pt x="0" y="10385"/>
                    <a:pt x="10385" y="0"/>
                    <a:pt x="231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303030">
                    <a:alpha val="100000"/>
                  </a:srgbClr>
                </a:gs>
              </a:gsLst>
              <a:lin ang="2700000"/>
            </a:gradFill>
            <a:ln w="19050" cap="sq">
              <a:gradFill>
                <a:gsLst>
                  <a:gs pos="0">
                    <a:srgbClr val="F7FFA1">
                      <a:alpha val="100000"/>
                    </a:srgbClr>
                  </a:gs>
                  <a:gs pos="100000">
                    <a:srgbClr val="EFEFEF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717699" cy="3686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6530836">
            <a:off x="3325026" y="-2370897"/>
            <a:ext cx="7460742" cy="7460742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6E6E6">
                    <a:alpha val="16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  <a:ln w="19050" cap="sq">
              <a:gradFill>
                <a:gsLst>
                  <a:gs pos="0">
                    <a:srgbClr val="FFFFFF">
                      <a:alpha val="16000"/>
                    </a:srgbClr>
                  </a:gs>
                  <a:gs pos="100000">
                    <a:srgbClr val="9B9B9B">
                      <a:alpha val="16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3458383">
            <a:off x="-4963930" y="5836570"/>
            <a:ext cx="7460742" cy="7460742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6E6E6">
                    <a:alpha val="16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  <a:ln w="19050" cap="sq">
              <a:gradFill>
                <a:gsLst>
                  <a:gs pos="0">
                    <a:srgbClr val="FFFFFF">
                      <a:alpha val="16000"/>
                    </a:srgbClr>
                  </a:gs>
                  <a:gs pos="100000">
                    <a:srgbClr val="9B9B9B">
                      <a:alpha val="16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499779" y="756000"/>
            <a:ext cx="411005" cy="421795"/>
          </a:xfrm>
          <a:custGeom>
            <a:avLst/>
            <a:gdLst/>
            <a:ahLst/>
            <a:cxnLst/>
            <a:rect r="r" b="b" t="t" l="l"/>
            <a:pathLst>
              <a:path h="421795" w="411005">
                <a:moveTo>
                  <a:pt x="0" y="0"/>
                </a:moveTo>
                <a:lnTo>
                  <a:pt x="411005" y="0"/>
                </a:lnTo>
                <a:lnTo>
                  <a:pt x="411005" y="421795"/>
                </a:lnTo>
                <a:lnTo>
                  <a:pt x="0" y="4217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0447" t="-144434" r="-490104" b="-139546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596441" y="3086128"/>
            <a:ext cx="1833611" cy="345984"/>
            <a:chOff x="0" y="0"/>
            <a:chExt cx="657125" cy="12399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57125" cy="123993"/>
            </a:xfrm>
            <a:custGeom>
              <a:avLst/>
              <a:gdLst/>
              <a:ahLst/>
              <a:cxnLst/>
              <a:rect r="r" b="b" t="t" l="l"/>
              <a:pathLst>
                <a:path h="123993" w="657125">
                  <a:moveTo>
                    <a:pt x="29556" y="0"/>
                  </a:moveTo>
                  <a:lnTo>
                    <a:pt x="627569" y="0"/>
                  </a:lnTo>
                  <a:cubicBezTo>
                    <a:pt x="635408" y="0"/>
                    <a:pt x="642926" y="3114"/>
                    <a:pt x="648468" y="8657"/>
                  </a:cubicBezTo>
                  <a:cubicBezTo>
                    <a:pt x="654011" y="14199"/>
                    <a:pt x="657125" y="21717"/>
                    <a:pt x="657125" y="29556"/>
                  </a:cubicBezTo>
                  <a:lnTo>
                    <a:pt x="657125" y="94437"/>
                  </a:lnTo>
                  <a:cubicBezTo>
                    <a:pt x="657125" y="102276"/>
                    <a:pt x="654011" y="109793"/>
                    <a:pt x="648468" y="115336"/>
                  </a:cubicBezTo>
                  <a:cubicBezTo>
                    <a:pt x="642926" y="120879"/>
                    <a:pt x="635408" y="123993"/>
                    <a:pt x="627569" y="123993"/>
                  </a:cubicBezTo>
                  <a:lnTo>
                    <a:pt x="29556" y="123993"/>
                  </a:lnTo>
                  <a:cubicBezTo>
                    <a:pt x="21717" y="123993"/>
                    <a:pt x="14199" y="120879"/>
                    <a:pt x="8657" y="115336"/>
                  </a:cubicBezTo>
                  <a:cubicBezTo>
                    <a:pt x="3114" y="109793"/>
                    <a:pt x="0" y="102276"/>
                    <a:pt x="0" y="94437"/>
                  </a:cubicBezTo>
                  <a:lnTo>
                    <a:pt x="0" y="29556"/>
                  </a:lnTo>
                  <a:cubicBezTo>
                    <a:pt x="0" y="21717"/>
                    <a:pt x="3114" y="14199"/>
                    <a:pt x="8657" y="8657"/>
                  </a:cubicBezTo>
                  <a:cubicBezTo>
                    <a:pt x="14199" y="3114"/>
                    <a:pt x="21717" y="0"/>
                    <a:pt x="2955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D9D9D9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657125" cy="1335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655822" y="3142026"/>
            <a:ext cx="234188" cy="234188"/>
          </a:xfrm>
          <a:custGeom>
            <a:avLst/>
            <a:gdLst/>
            <a:ahLst/>
            <a:cxnLst/>
            <a:rect r="r" b="b" t="t" l="l"/>
            <a:pathLst>
              <a:path h="234188" w="234188">
                <a:moveTo>
                  <a:pt x="0" y="0"/>
                </a:moveTo>
                <a:lnTo>
                  <a:pt x="234188" y="0"/>
                </a:lnTo>
                <a:lnTo>
                  <a:pt x="234188" y="234188"/>
                </a:lnTo>
                <a:lnTo>
                  <a:pt x="0" y="2341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2686014" y="3040510"/>
            <a:ext cx="2002634" cy="1001965"/>
            <a:chOff x="0" y="0"/>
            <a:chExt cx="717699" cy="35908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17699" cy="359082"/>
            </a:xfrm>
            <a:custGeom>
              <a:avLst/>
              <a:gdLst/>
              <a:ahLst/>
              <a:cxnLst/>
              <a:rect r="r" b="b" t="t" l="l"/>
              <a:pathLst>
                <a:path h="359082" w="717699">
                  <a:moveTo>
                    <a:pt x="23195" y="0"/>
                  </a:moveTo>
                  <a:lnTo>
                    <a:pt x="694504" y="0"/>
                  </a:lnTo>
                  <a:cubicBezTo>
                    <a:pt x="707314" y="0"/>
                    <a:pt x="717699" y="10385"/>
                    <a:pt x="717699" y="23195"/>
                  </a:cubicBezTo>
                  <a:lnTo>
                    <a:pt x="717699" y="335886"/>
                  </a:lnTo>
                  <a:cubicBezTo>
                    <a:pt x="717699" y="348697"/>
                    <a:pt x="707314" y="359082"/>
                    <a:pt x="694504" y="359082"/>
                  </a:cubicBezTo>
                  <a:lnTo>
                    <a:pt x="23195" y="359082"/>
                  </a:lnTo>
                  <a:cubicBezTo>
                    <a:pt x="10385" y="359082"/>
                    <a:pt x="0" y="348697"/>
                    <a:pt x="0" y="335886"/>
                  </a:cubicBezTo>
                  <a:lnTo>
                    <a:pt x="0" y="23195"/>
                  </a:lnTo>
                  <a:cubicBezTo>
                    <a:pt x="0" y="10385"/>
                    <a:pt x="10385" y="0"/>
                    <a:pt x="231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303030">
                    <a:alpha val="100000"/>
                  </a:srgbClr>
                </a:gs>
              </a:gsLst>
              <a:lin ang="2700000"/>
            </a:gradFill>
            <a:ln w="19050" cap="sq">
              <a:gradFill>
                <a:gsLst>
                  <a:gs pos="0">
                    <a:srgbClr val="F7FFA1">
                      <a:alpha val="100000"/>
                    </a:srgbClr>
                  </a:gs>
                  <a:gs pos="100000">
                    <a:srgbClr val="EFEFEF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717699" cy="3686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770525" y="3086128"/>
            <a:ext cx="1833611" cy="345984"/>
            <a:chOff x="0" y="0"/>
            <a:chExt cx="657125" cy="12399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57125" cy="123993"/>
            </a:xfrm>
            <a:custGeom>
              <a:avLst/>
              <a:gdLst/>
              <a:ahLst/>
              <a:cxnLst/>
              <a:rect r="r" b="b" t="t" l="l"/>
              <a:pathLst>
                <a:path h="123993" w="657125">
                  <a:moveTo>
                    <a:pt x="29556" y="0"/>
                  </a:moveTo>
                  <a:lnTo>
                    <a:pt x="627569" y="0"/>
                  </a:lnTo>
                  <a:cubicBezTo>
                    <a:pt x="635408" y="0"/>
                    <a:pt x="642926" y="3114"/>
                    <a:pt x="648468" y="8657"/>
                  </a:cubicBezTo>
                  <a:cubicBezTo>
                    <a:pt x="654011" y="14199"/>
                    <a:pt x="657125" y="21717"/>
                    <a:pt x="657125" y="29556"/>
                  </a:cubicBezTo>
                  <a:lnTo>
                    <a:pt x="657125" y="94437"/>
                  </a:lnTo>
                  <a:cubicBezTo>
                    <a:pt x="657125" y="102276"/>
                    <a:pt x="654011" y="109793"/>
                    <a:pt x="648468" y="115336"/>
                  </a:cubicBezTo>
                  <a:cubicBezTo>
                    <a:pt x="642926" y="120879"/>
                    <a:pt x="635408" y="123993"/>
                    <a:pt x="627569" y="123993"/>
                  </a:cubicBezTo>
                  <a:lnTo>
                    <a:pt x="29556" y="123993"/>
                  </a:lnTo>
                  <a:cubicBezTo>
                    <a:pt x="21717" y="123993"/>
                    <a:pt x="14199" y="120879"/>
                    <a:pt x="8657" y="115336"/>
                  </a:cubicBezTo>
                  <a:cubicBezTo>
                    <a:pt x="3114" y="109793"/>
                    <a:pt x="0" y="102276"/>
                    <a:pt x="0" y="94437"/>
                  </a:cubicBezTo>
                  <a:lnTo>
                    <a:pt x="0" y="29556"/>
                  </a:lnTo>
                  <a:cubicBezTo>
                    <a:pt x="0" y="21717"/>
                    <a:pt x="3114" y="14199"/>
                    <a:pt x="8657" y="8657"/>
                  </a:cubicBezTo>
                  <a:cubicBezTo>
                    <a:pt x="14199" y="3114"/>
                    <a:pt x="21717" y="0"/>
                    <a:pt x="2955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D9D9D9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657125" cy="1335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4860098" y="3040510"/>
            <a:ext cx="2002634" cy="1001965"/>
            <a:chOff x="0" y="0"/>
            <a:chExt cx="717699" cy="35908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17699" cy="359082"/>
            </a:xfrm>
            <a:custGeom>
              <a:avLst/>
              <a:gdLst/>
              <a:ahLst/>
              <a:cxnLst/>
              <a:rect r="r" b="b" t="t" l="l"/>
              <a:pathLst>
                <a:path h="359082" w="717699">
                  <a:moveTo>
                    <a:pt x="23195" y="0"/>
                  </a:moveTo>
                  <a:lnTo>
                    <a:pt x="694504" y="0"/>
                  </a:lnTo>
                  <a:cubicBezTo>
                    <a:pt x="707314" y="0"/>
                    <a:pt x="717699" y="10385"/>
                    <a:pt x="717699" y="23195"/>
                  </a:cubicBezTo>
                  <a:lnTo>
                    <a:pt x="717699" y="335886"/>
                  </a:lnTo>
                  <a:cubicBezTo>
                    <a:pt x="717699" y="348697"/>
                    <a:pt x="707314" y="359082"/>
                    <a:pt x="694504" y="359082"/>
                  </a:cubicBezTo>
                  <a:lnTo>
                    <a:pt x="23195" y="359082"/>
                  </a:lnTo>
                  <a:cubicBezTo>
                    <a:pt x="10385" y="359082"/>
                    <a:pt x="0" y="348697"/>
                    <a:pt x="0" y="335886"/>
                  </a:cubicBezTo>
                  <a:lnTo>
                    <a:pt x="0" y="23195"/>
                  </a:lnTo>
                  <a:cubicBezTo>
                    <a:pt x="0" y="10385"/>
                    <a:pt x="10385" y="0"/>
                    <a:pt x="231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303030">
                    <a:alpha val="100000"/>
                  </a:srgbClr>
                </a:gs>
              </a:gsLst>
              <a:lin ang="2700000"/>
            </a:gradFill>
            <a:ln w="19050" cap="sq">
              <a:gradFill>
                <a:gsLst>
                  <a:gs pos="0">
                    <a:srgbClr val="F7FFA1">
                      <a:alpha val="100000"/>
                    </a:srgbClr>
                  </a:gs>
                  <a:gs pos="100000">
                    <a:srgbClr val="EFEFEF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717699" cy="3686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4944610" y="3086128"/>
            <a:ext cx="1833611" cy="345984"/>
            <a:chOff x="0" y="0"/>
            <a:chExt cx="657125" cy="12399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57125" cy="123993"/>
            </a:xfrm>
            <a:custGeom>
              <a:avLst/>
              <a:gdLst/>
              <a:ahLst/>
              <a:cxnLst/>
              <a:rect r="r" b="b" t="t" l="l"/>
              <a:pathLst>
                <a:path h="123993" w="657125">
                  <a:moveTo>
                    <a:pt x="29556" y="0"/>
                  </a:moveTo>
                  <a:lnTo>
                    <a:pt x="627569" y="0"/>
                  </a:lnTo>
                  <a:cubicBezTo>
                    <a:pt x="635408" y="0"/>
                    <a:pt x="642926" y="3114"/>
                    <a:pt x="648468" y="8657"/>
                  </a:cubicBezTo>
                  <a:cubicBezTo>
                    <a:pt x="654011" y="14199"/>
                    <a:pt x="657125" y="21717"/>
                    <a:pt x="657125" y="29556"/>
                  </a:cubicBezTo>
                  <a:lnTo>
                    <a:pt x="657125" y="94437"/>
                  </a:lnTo>
                  <a:cubicBezTo>
                    <a:pt x="657125" y="102276"/>
                    <a:pt x="654011" y="109793"/>
                    <a:pt x="648468" y="115336"/>
                  </a:cubicBezTo>
                  <a:cubicBezTo>
                    <a:pt x="642926" y="120879"/>
                    <a:pt x="635408" y="123993"/>
                    <a:pt x="627569" y="123993"/>
                  </a:cubicBezTo>
                  <a:lnTo>
                    <a:pt x="29556" y="123993"/>
                  </a:lnTo>
                  <a:cubicBezTo>
                    <a:pt x="21717" y="123993"/>
                    <a:pt x="14199" y="120879"/>
                    <a:pt x="8657" y="115336"/>
                  </a:cubicBezTo>
                  <a:cubicBezTo>
                    <a:pt x="3114" y="109793"/>
                    <a:pt x="0" y="102276"/>
                    <a:pt x="0" y="94437"/>
                  </a:cubicBezTo>
                  <a:lnTo>
                    <a:pt x="0" y="29556"/>
                  </a:lnTo>
                  <a:cubicBezTo>
                    <a:pt x="0" y="21717"/>
                    <a:pt x="3114" y="14199"/>
                    <a:pt x="8657" y="8657"/>
                  </a:cubicBezTo>
                  <a:cubicBezTo>
                    <a:pt x="14199" y="3114"/>
                    <a:pt x="21717" y="0"/>
                    <a:pt x="2955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D9D9D9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657125" cy="1335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5047369" y="3104992"/>
            <a:ext cx="308257" cy="308257"/>
          </a:xfrm>
          <a:custGeom>
            <a:avLst/>
            <a:gdLst/>
            <a:ahLst/>
            <a:cxnLst/>
            <a:rect r="r" b="b" t="t" l="l"/>
            <a:pathLst>
              <a:path h="308257" w="308257">
                <a:moveTo>
                  <a:pt x="0" y="0"/>
                </a:moveTo>
                <a:lnTo>
                  <a:pt x="308257" y="0"/>
                </a:lnTo>
                <a:lnTo>
                  <a:pt x="308257" y="308257"/>
                </a:lnTo>
                <a:lnTo>
                  <a:pt x="0" y="3082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0">
            <a:off x="511929" y="8295162"/>
            <a:ext cx="2002634" cy="1544784"/>
            <a:chOff x="0" y="0"/>
            <a:chExt cx="717699" cy="55361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17699" cy="553616"/>
            </a:xfrm>
            <a:custGeom>
              <a:avLst/>
              <a:gdLst/>
              <a:ahLst/>
              <a:cxnLst/>
              <a:rect r="r" b="b" t="t" l="l"/>
              <a:pathLst>
                <a:path h="553616" w="717699">
                  <a:moveTo>
                    <a:pt x="23195" y="0"/>
                  </a:moveTo>
                  <a:lnTo>
                    <a:pt x="694504" y="0"/>
                  </a:lnTo>
                  <a:cubicBezTo>
                    <a:pt x="707314" y="0"/>
                    <a:pt x="717699" y="10385"/>
                    <a:pt x="717699" y="23195"/>
                  </a:cubicBezTo>
                  <a:lnTo>
                    <a:pt x="717699" y="530421"/>
                  </a:lnTo>
                  <a:cubicBezTo>
                    <a:pt x="717699" y="543231"/>
                    <a:pt x="707314" y="553616"/>
                    <a:pt x="694504" y="553616"/>
                  </a:cubicBezTo>
                  <a:lnTo>
                    <a:pt x="23195" y="553616"/>
                  </a:lnTo>
                  <a:cubicBezTo>
                    <a:pt x="10385" y="553616"/>
                    <a:pt x="0" y="543231"/>
                    <a:pt x="0" y="530421"/>
                  </a:cubicBezTo>
                  <a:lnTo>
                    <a:pt x="0" y="23195"/>
                  </a:lnTo>
                  <a:cubicBezTo>
                    <a:pt x="0" y="10385"/>
                    <a:pt x="10385" y="0"/>
                    <a:pt x="231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303030">
                    <a:alpha val="100000"/>
                  </a:srgbClr>
                </a:gs>
              </a:gsLst>
              <a:lin ang="2700000"/>
            </a:gradFill>
            <a:ln w="19050" cap="sq">
              <a:gradFill>
                <a:gsLst>
                  <a:gs pos="0">
                    <a:srgbClr val="F7FFA1">
                      <a:alpha val="100000"/>
                    </a:srgbClr>
                  </a:gs>
                  <a:gs pos="100000">
                    <a:srgbClr val="EFEFEF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717699" cy="5631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01708" y="4109150"/>
            <a:ext cx="2012856" cy="937164"/>
            <a:chOff x="0" y="0"/>
            <a:chExt cx="721362" cy="33585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21362" cy="335858"/>
            </a:xfrm>
            <a:custGeom>
              <a:avLst/>
              <a:gdLst/>
              <a:ahLst/>
              <a:cxnLst/>
              <a:rect r="r" b="b" t="t" l="l"/>
              <a:pathLst>
                <a:path h="335858" w="721362">
                  <a:moveTo>
                    <a:pt x="23077" y="0"/>
                  </a:moveTo>
                  <a:lnTo>
                    <a:pt x="698285" y="0"/>
                  </a:lnTo>
                  <a:cubicBezTo>
                    <a:pt x="704405" y="0"/>
                    <a:pt x="710275" y="2431"/>
                    <a:pt x="714603" y="6759"/>
                  </a:cubicBezTo>
                  <a:cubicBezTo>
                    <a:pt x="718931" y="11087"/>
                    <a:pt x="721362" y="16957"/>
                    <a:pt x="721362" y="23077"/>
                  </a:cubicBezTo>
                  <a:lnTo>
                    <a:pt x="721362" y="312781"/>
                  </a:lnTo>
                  <a:cubicBezTo>
                    <a:pt x="721362" y="318901"/>
                    <a:pt x="718931" y="324771"/>
                    <a:pt x="714603" y="329099"/>
                  </a:cubicBezTo>
                  <a:cubicBezTo>
                    <a:pt x="710275" y="333427"/>
                    <a:pt x="704405" y="335858"/>
                    <a:pt x="698285" y="335858"/>
                  </a:cubicBezTo>
                  <a:lnTo>
                    <a:pt x="23077" y="335858"/>
                  </a:lnTo>
                  <a:cubicBezTo>
                    <a:pt x="10332" y="335858"/>
                    <a:pt x="0" y="325526"/>
                    <a:pt x="0" y="312781"/>
                  </a:cubicBezTo>
                  <a:lnTo>
                    <a:pt x="0" y="23077"/>
                  </a:lnTo>
                  <a:cubicBezTo>
                    <a:pt x="0" y="16957"/>
                    <a:pt x="2431" y="11087"/>
                    <a:pt x="6759" y="6759"/>
                  </a:cubicBezTo>
                  <a:cubicBezTo>
                    <a:pt x="11087" y="2431"/>
                    <a:pt x="16957" y="0"/>
                    <a:pt x="2307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303030">
                    <a:alpha val="100000"/>
                  </a:srgbClr>
                </a:gs>
              </a:gsLst>
              <a:lin ang="2700000"/>
            </a:gradFill>
            <a:ln w="19050" cap="sq">
              <a:gradFill>
                <a:gsLst>
                  <a:gs pos="0">
                    <a:srgbClr val="F7FFA1">
                      <a:alpha val="100000"/>
                    </a:srgbClr>
                  </a:gs>
                  <a:gs pos="100000">
                    <a:srgbClr val="EFEFEF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721362" cy="3453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2686014" y="4109150"/>
            <a:ext cx="2012856" cy="937164"/>
            <a:chOff x="0" y="0"/>
            <a:chExt cx="721362" cy="33585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21362" cy="335858"/>
            </a:xfrm>
            <a:custGeom>
              <a:avLst/>
              <a:gdLst/>
              <a:ahLst/>
              <a:cxnLst/>
              <a:rect r="r" b="b" t="t" l="l"/>
              <a:pathLst>
                <a:path h="335858" w="721362">
                  <a:moveTo>
                    <a:pt x="23077" y="0"/>
                  </a:moveTo>
                  <a:lnTo>
                    <a:pt x="698285" y="0"/>
                  </a:lnTo>
                  <a:cubicBezTo>
                    <a:pt x="704405" y="0"/>
                    <a:pt x="710275" y="2431"/>
                    <a:pt x="714603" y="6759"/>
                  </a:cubicBezTo>
                  <a:cubicBezTo>
                    <a:pt x="718931" y="11087"/>
                    <a:pt x="721362" y="16957"/>
                    <a:pt x="721362" y="23077"/>
                  </a:cubicBezTo>
                  <a:lnTo>
                    <a:pt x="721362" y="312781"/>
                  </a:lnTo>
                  <a:cubicBezTo>
                    <a:pt x="721362" y="318901"/>
                    <a:pt x="718931" y="324771"/>
                    <a:pt x="714603" y="329099"/>
                  </a:cubicBezTo>
                  <a:cubicBezTo>
                    <a:pt x="710275" y="333427"/>
                    <a:pt x="704405" y="335858"/>
                    <a:pt x="698285" y="335858"/>
                  </a:cubicBezTo>
                  <a:lnTo>
                    <a:pt x="23077" y="335858"/>
                  </a:lnTo>
                  <a:cubicBezTo>
                    <a:pt x="10332" y="335858"/>
                    <a:pt x="0" y="325526"/>
                    <a:pt x="0" y="312781"/>
                  </a:cubicBezTo>
                  <a:lnTo>
                    <a:pt x="0" y="23077"/>
                  </a:lnTo>
                  <a:cubicBezTo>
                    <a:pt x="0" y="16957"/>
                    <a:pt x="2431" y="11087"/>
                    <a:pt x="6759" y="6759"/>
                  </a:cubicBezTo>
                  <a:cubicBezTo>
                    <a:pt x="11087" y="2431"/>
                    <a:pt x="16957" y="0"/>
                    <a:pt x="2307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303030">
                    <a:alpha val="100000"/>
                  </a:srgbClr>
                </a:gs>
              </a:gsLst>
              <a:lin ang="2700000"/>
            </a:gradFill>
            <a:ln w="19050" cap="sq">
              <a:gradFill>
                <a:gsLst>
                  <a:gs pos="0">
                    <a:srgbClr val="F7FFA1">
                      <a:alpha val="100000"/>
                    </a:srgbClr>
                  </a:gs>
                  <a:gs pos="100000">
                    <a:srgbClr val="EFEFEF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721362" cy="3453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2559296" y="8531929"/>
            <a:ext cx="4496100" cy="1308017"/>
          </a:xfrm>
          <a:custGeom>
            <a:avLst/>
            <a:gdLst/>
            <a:ahLst/>
            <a:cxnLst/>
            <a:rect r="r" b="b" t="t" l="l"/>
            <a:pathLst>
              <a:path h="1308017" w="4496100">
                <a:moveTo>
                  <a:pt x="0" y="0"/>
                </a:moveTo>
                <a:lnTo>
                  <a:pt x="4496100" y="0"/>
                </a:lnTo>
                <a:lnTo>
                  <a:pt x="4496100" y="1308017"/>
                </a:lnTo>
                <a:lnTo>
                  <a:pt x="0" y="13080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879" t="-12461" r="-5233" b="-23766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584604" y="4147250"/>
            <a:ext cx="1833611" cy="345984"/>
            <a:chOff x="0" y="0"/>
            <a:chExt cx="657125" cy="123993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57125" cy="123993"/>
            </a:xfrm>
            <a:custGeom>
              <a:avLst/>
              <a:gdLst/>
              <a:ahLst/>
              <a:cxnLst/>
              <a:rect r="r" b="b" t="t" l="l"/>
              <a:pathLst>
                <a:path h="123993" w="657125">
                  <a:moveTo>
                    <a:pt x="29556" y="0"/>
                  </a:moveTo>
                  <a:lnTo>
                    <a:pt x="627569" y="0"/>
                  </a:lnTo>
                  <a:cubicBezTo>
                    <a:pt x="635408" y="0"/>
                    <a:pt x="642926" y="3114"/>
                    <a:pt x="648468" y="8657"/>
                  </a:cubicBezTo>
                  <a:cubicBezTo>
                    <a:pt x="654011" y="14199"/>
                    <a:pt x="657125" y="21717"/>
                    <a:pt x="657125" y="29556"/>
                  </a:cubicBezTo>
                  <a:lnTo>
                    <a:pt x="657125" y="94437"/>
                  </a:lnTo>
                  <a:cubicBezTo>
                    <a:pt x="657125" y="102276"/>
                    <a:pt x="654011" y="109793"/>
                    <a:pt x="648468" y="115336"/>
                  </a:cubicBezTo>
                  <a:cubicBezTo>
                    <a:pt x="642926" y="120879"/>
                    <a:pt x="635408" y="123993"/>
                    <a:pt x="627569" y="123993"/>
                  </a:cubicBezTo>
                  <a:lnTo>
                    <a:pt x="29556" y="123993"/>
                  </a:lnTo>
                  <a:cubicBezTo>
                    <a:pt x="21717" y="123993"/>
                    <a:pt x="14199" y="120879"/>
                    <a:pt x="8657" y="115336"/>
                  </a:cubicBezTo>
                  <a:cubicBezTo>
                    <a:pt x="3114" y="109793"/>
                    <a:pt x="0" y="102276"/>
                    <a:pt x="0" y="94437"/>
                  </a:cubicBezTo>
                  <a:lnTo>
                    <a:pt x="0" y="29556"/>
                  </a:lnTo>
                  <a:cubicBezTo>
                    <a:pt x="0" y="21717"/>
                    <a:pt x="3114" y="14199"/>
                    <a:pt x="8657" y="8657"/>
                  </a:cubicBezTo>
                  <a:cubicBezTo>
                    <a:pt x="14199" y="3114"/>
                    <a:pt x="21717" y="0"/>
                    <a:pt x="2955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D9D9D9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657125" cy="1335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2770525" y="4155517"/>
            <a:ext cx="1833611" cy="345984"/>
            <a:chOff x="0" y="0"/>
            <a:chExt cx="657125" cy="123993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57125" cy="123993"/>
            </a:xfrm>
            <a:custGeom>
              <a:avLst/>
              <a:gdLst/>
              <a:ahLst/>
              <a:cxnLst/>
              <a:rect r="r" b="b" t="t" l="l"/>
              <a:pathLst>
                <a:path h="123993" w="657125">
                  <a:moveTo>
                    <a:pt x="29556" y="0"/>
                  </a:moveTo>
                  <a:lnTo>
                    <a:pt x="627569" y="0"/>
                  </a:lnTo>
                  <a:cubicBezTo>
                    <a:pt x="635408" y="0"/>
                    <a:pt x="642926" y="3114"/>
                    <a:pt x="648468" y="8657"/>
                  </a:cubicBezTo>
                  <a:cubicBezTo>
                    <a:pt x="654011" y="14199"/>
                    <a:pt x="657125" y="21717"/>
                    <a:pt x="657125" y="29556"/>
                  </a:cubicBezTo>
                  <a:lnTo>
                    <a:pt x="657125" y="94437"/>
                  </a:lnTo>
                  <a:cubicBezTo>
                    <a:pt x="657125" y="102276"/>
                    <a:pt x="654011" y="109793"/>
                    <a:pt x="648468" y="115336"/>
                  </a:cubicBezTo>
                  <a:cubicBezTo>
                    <a:pt x="642926" y="120879"/>
                    <a:pt x="635408" y="123993"/>
                    <a:pt x="627569" y="123993"/>
                  </a:cubicBezTo>
                  <a:lnTo>
                    <a:pt x="29556" y="123993"/>
                  </a:lnTo>
                  <a:cubicBezTo>
                    <a:pt x="21717" y="123993"/>
                    <a:pt x="14199" y="120879"/>
                    <a:pt x="8657" y="115336"/>
                  </a:cubicBezTo>
                  <a:cubicBezTo>
                    <a:pt x="3114" y="109793"/>
                    <a:pt x="0" y="102276"/>
                    <a:pt x="0" y="94437"/>
                  </a:cubicBezTo>
                  <a:lnTo>
                    <a:pt x="0" y="29556"/>
                  </a:lnTo>
                  <a:cubicBezTo>
                    <a:pt x="0" y="21717"/>
                    <a:pt x="3114" y="14199"/>
                    <a:pt x="8657" y="8657"/>
                  </a:cubicBezTo>
                  <a:cubicBezTo>
                    <a:pt x="14199" y="3114"/>
                    <a:pt x="21717" y="0"/>
                    <a:pt x="2955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D9D9D9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657125" cy="1335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sp>
        <p:nvSpPr>
          <p:cNvPr name="Freeform 45" id="45"/>
          <p:cNvSpPr/>
          <p:nvPr/>
        </p:nvSpPr>
        <p:spPr>
          <a:xfrm flipH="false" flipV="false" rot="0">
            <a:off x="1119923" y="5389058"/>
            <a:ext cx="234188" cy="234188"/>
          </a:xfrm>
          <a:custGeom>
            <a:avLst/>
            <a:gdLst/>
            <a:ahLst/>
            <a:cxnLst/>
            <a:rect r="r" b="b" t="t" l="l"/>
            <a:pathLst>
              <a:path h="234188" w="234188">
                <a:moveTo>
                  <a:pt x="0" y="0"/>
                </a:moveTo>
                <a:lnTo>
                  <a:pt x="234188" y="0"/>
                </a:lnTo>
                <a:lnTo>
                  <a:pt x="234188" y="234188"/>
                </a:lnTo>
                <a:lnTo>
                  <a:pt x="0" y="2341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6" id="46"/>
          <p:cNvGrpSpPr/>
          <p:nvPr/>
        </p:nvGrpSpPr>
        <p:grpSpPr>
          <a:xfrm rot="0">
            <a:off x="2794788" y="3084445"/>
            <a:ext cx="1833611" cy="345984"/>
            <a:chOff x="0" y="0"/>
            <a:chExt cx="2444815" cy="461312"/>
          </a:xfrm>
        </p:grpSpPr>
        <p:grpSp>
          <p:nvGrpSpPr>
            <p:cNvPr name="Group 47" id="47"/>
            <p:cNvGrpSpPr/>
            <p:nvPr/>
          </p:nvGrpSpPr>
          <p:grpSpPr>
            <a:xfrm rot="0">
              <a:off x="0" y="0"/>
              <a:ext cx="2444815" cy="461312"/>
              <a:chOff x="0" y="0"/>
              <a:chExt cx="657125" cy="123993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657125" cy="123993"/>
              </a:xfrm>
              <a:custGeom>
                <a:avLst/>
                <a:gdLst/>
                <a:ahLst/>
                <a:cxnLst/>
                <a:rect r="r" b="b" t="t" l="l"/>
                <a:pathLst>
                  <a:path h="123993" w="657125">
                    <a:moveTo>
                      <a:pt x="29556" y="0"/>
                    </a:moveTo>
                    <a:lnTo>
                      <a:pt x="627569" y="0"/>
                    </a:lnTo>
                    <a:cubicBezTo>
                      <a:pt x="635408" y="0"/>
                      <a:pt x="642926" y="3114"/>
                      <a:pt x="648468" y="8657"/>
                    </a:cubicBezTo>
                    <a:cubicBezTo>
                      <a:pt x="654011" y="14199"/>
                      <a:pt x="657125" y="21717"/>
                      <a:pt x="657125" y="29556"/>
                    </a:cubicBezTo>
                    <a:lnTo>
                      <a:pt x="657125" y="94437"/>
                    </a:lnTo>
                    <a:cubicBezTo>
                      <a:pt x="657125" y="102276"/>
                      <a:pt x="654011" y="109793"/>
                      <a:pt x="648468" y="115336"/>
                    </a:cubicBezTo>
                    <a:cubicBezTo>
                      <a:pt x="642926" y="120879"/>
                      <a:pt x="635408" y="123993"/>
                      <a:pt x="627569" y="123993"/>
                    </a:cubicBezTo>
                    <a:lnTo>
                      <a:pt x="29556" y="123993"/>
                    </a:lnTo>
                    <a:cubicBezTo>
                      <a:pt x="21717" y="123993"/>
                      <a:pt x="14199" y="120879"/>
                      <a:pt x="8657" y="115336"/>
                    </a:cubicBezTo>
                    <a:cubicBezTo>
                      <a:pt x="3114" y="109793"/>
                      <a:pt x="0" y="102276"/>
                      <a:pt x="0" y="94437"/>
                    </a:cubicBezTo>
                    <a:lnTo>
                      <a:pt x="0" y="29556"/>
                    </a:lnTo>
                    <a:cubicBezTo>
                      <a:pt x="0" y="21717"/>
                      <a:pt x="3114" y="14199"/>
                      <a:pt x="8657" y="8657"/>
                    </a:cubicBezTo>
                    <a:cubicBezTo>
                      <a:pt x="14199" y="3114"/>
                      <a:pt x="21717" y="0"/>
                      <a:pt x="2955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9D9D9">
                      <a:alpha val="100000"/>
                    </a:srgbClr>
                  </a:gs>
                </a:gsLst>
                <a:lin ang="540000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0" y="-9525"/>
                <a:ext cx="657125" cy="13351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236"/>
                  </a:lnSpc>
                </a:pPr>
              </a:p>
            </p:txBody>
          </p:sp>
        </p:grpSp>
        <p:sp>
          <p:nvSpPr>
            <p:cNvPr name="TextBox 50" id="50"/>
            <p:cNvSpPr txBox="true"/>
            <p:nvPr/>
          </p:nvSpPr>
          <p:spPr>
            <a:xfrm rot="0">
              <a:off x="597835" y="72286"/>
              <a:ext cx="1217581" cy="3122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63"/>
                </a:lnSpc>
                <a:spcBef>
                  <a:spcPct val="0"/>
                </a:spcBef>
              </a:pPr>
              <a:r>
                <a:rPr lang="en-US" b="true" sz="1552">
                  <a:solidFill>
                    <a:srgbClr val="00352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Followers</a:t>
              </a:r>
            </a:p>
          </p:txBody>
        </p:sp>
        <p:sp>
          <p:nvSpPr>
            <p:cNvPr name="Freeform 51" id="51"/>
            <p:cNvSpPr/>
            <p:nvPr/>
          </p:nvSpPr>
          <p:spPr>
            <a:xfrm flipH="false" flipV="false" rot="0">
              <a:off x="152328" y="71521"/>
              <a:ext cx="303270" cy="303270"/>
            </a:xfrm>
            <a:custGeom>
              <a:avLst/>
              <a:gdLst/>
              <a:ahLst/>
              <a:cxnLst/>
              <a:rect r="r" b="b" t="t" l="l"/>
              <a:pathLst>
                <a:path h="303270" w="303270">
                  <a:moveTo>
                    <a:pt x="0" y="0"/>
                  </a:moveTo>
                  <a:lnTo>
                    <a:pt x="303270" y="0"/>
                  </a:lnTo>
                  <a:lnTo>
                    <a:pt x="303270" y="303270"/>
                  </a:lnTo>
                  <a:lnTo>
                    <a:pt x="0" y="3032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Freeform 52" id="52"/>
          <p:cNvSpPr/>
          <p:nvPr/>
        </p:nvSpPr>
        <p:spPr>
          <a:xfrm flipH="false" flipV="false" rot="0">
            <a:off x="475929" y="5236814"/>
            <a:ext cx="6571551" cy="2631556"/>
          </a:xfrm>
          <a:custGeom>
            <a:avLst/>
            <a:gdLst/>
            <a:ahLst/>
            <a:cxnLst/>
            <a:rect r="r" b="b" t="t" l="l"/>
            <a:pathLst>
              <a:path h="2631556" w="6571551">
                <a:moveTo>
                  <a:pt x="0" y="0"/>
                </a:moveTo>
                <a:lnTo>
                  <a:pt x="6571551" y="0"/>
                </a:lnTo>
                <a:lnTo>
                  <a:pt x="6571551" y="2631556"/>
                </a:lnTo>
                <a:lnTo>
                  <a:pt x="0" y="263155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087" t="-4819" r="-1815" b="-4643"/>
            </a:stretch>
          </a:blipFill>
        </p:spPr>
      </p:sp>
      <p:sp>
        <p:nvSpPr>
          <p:cNvPr name="TextBox 53" id="53"/>
          <p:cNvSpPr txBox="true"/>
          <p:nvPr/>
        </p:nvSpPr>
        <p:spPr>
          <a:xfrm rot="0">
            <a:off x="475929" y="1555624"/>
            <a:ext cx="6087997" cy="50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799"/>
              </a:lnSpc>
              <a:spcBef>
                <a:spcPct val="0"/>
              </a:spcBef>
            </a:pPr>
            <a:r>
              <a:rPr lang="en-US" b="true" sz="3999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Audience &amp; Engagement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511929" y="2482540"/>
            <a:ext cx="6399328" cy="417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Research content, educational programs, and community channels connect NIFI with people interested in finance &amp; investing.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511929" y="2175579"/>
            <a:ext cx="6399328" cy="230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756"/>
              </a:lnSpc>
              <a:spcBef>
                <a:spcPct val="0"/>
              </a:spcBef>
            </a:pPr>
            <a:r>
              <a:rPr lang="en-US" b="true" sz="1848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9B9B9B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NIFI Digital Reach &amp; Learning Participation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044817" y="3140343"/>
            <a:ext cx="913185" cy="234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63"/>
              </a:lnSpc>
              <a:spcBef>
                <a:spcPct val="0"/>
              </a:spcBef>
            </a:pPr>
            <a:r>
              <a:rPr lang="en-US" b="true" sz="1552">
                <a:solidFill>
                  <a:srgbClr val="00352F"/>
                </a:solidFill>
                <a:latin typeface="DM Sans Bold"/>
                <a:ea typeface="DM Sans Bold"/>
                <a:cs typeface="DM Sans Bold"/>
                <a:sym typeface="DM Sans Bold"/>
              </a:rPr>
              <a:t>Followers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772916" y="3365437"/>
            <a:ext cx="1480661" cy="612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63"/>
              </a:lnSpc>
              <a:spcBef>
                <a:spcPct val="0"/>
              </a:spcBef>
            </a:pPr>
            <a:r>
              <a:rPr lang="en-US" b="true" sz="3616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4638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5460537" y="3142026"/>
            <a:ext cx="801757" cy="234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63"/>
              </a:lnSpc>
              <a:spcBef>
                <a:spcPct val="0"/>
              </a:spcBef>
            </a:pPr>
            <a:r>
              <a:rPr lang="en-US" b="true" sz="1552">
                <a:solidFill>
                  <a:srgbClr val="00352F"/>
                </a:solidFill>
                <a:latin typeface="DM Sans Bold"/>
                <a:ea typeface="DM Sans Bold"/>
                <a:cs typeface="DM Sans Bold"/>
                <a:sym typeface="DM Sans Bold"/>
              </a:rPr>
              <a:t>Member 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966690" y="8585437"/>
            <a:ext cx="1093114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3"/>
              </a:lnSpc>
              <a:spcBef>
                <a:spcPct val="0"/>
              </a:spcBef>
            </a:pPr>
            <a:r>
              <a:rPr lang="en-US" b="true" sz="3852">
                <a:solidFill>
                  <a:srgbClr val="EBEBEB"/>
                </a:solidFill>
                <a:latin typeface="DM Sans Bold"/>
                <a:ea typeface="DM Sans Bold"/>
                <a:cs typeface="DM Sans Bold"/>
                <a:sym typeface="DM Sans Bold"/>
              </a:rPr>
              <a:t>1706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772916" y="9305699"/>
            <a:ext cx="1480661" cy="169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23"/>
              </a:lnSpc>
              <a:spcBef>
                <a:spcPct val="0"/>
              </a:spcBef>
            </a:pPr>
            <a:r>
              <a:rPr lang="en-US" b="true" sz="1016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D9D9D9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Ticket Units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511929" y="9907425"/>
            <a:ext cx="6399328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Ticket units represent historical sales, not unique participants or actual attendance.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511929" y="7969212"/>
            <a:ext cx="6399328" cy="230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756"/>
              </a:lnSpc>
              <a:spcBef>
                <a:spcPct val="0"/>
              </a:spcBef>
            </a:pPr>
            <a:r>
              <a:rPr lang="en-US" b="true" sz="1848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9B9B9B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Historical Participant Class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2971263" y="3391386"/>
            <a:ext cx="1480661" cy="612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63"/>
              </a:lnSpc>
              <a:spcBef>
                <a:spcPct val="0"/>
              </a:spcBef>
            </a:pPr>
            <a:r>
              <a:rPr lang="en-US" b="true" sz="3616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7100+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5028817" y="3365437"/>
            <a:ext cx="1665198" cy="612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63"/>
              </a:lnSpc>
              <a:spcBef>
                <a:spcPct val="0"/>
              </a:spcBef>
            </a:pPr>
            <a:r>
              <a:rPr lang="en-US" b="true" sz="3616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4800+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784200" y="4201465"/>
            <a:ext cx="1469377" cy="234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63"/>
              </a:lnSpc>
              <a:spcBef>
                <a:spcPct val="0"/>
              </a:spcBef>
            </a:pPr>
            <a:r>
              <a:rPr lang="en-US" b="true" sz="1552">
                <a:solidFill>
                  <a:srgbClr val="00352F"/>
                </a:solidFill>
                <a:latin typeface="DM Sans Bold"/>
                <a:ea typeface="DM Sans Bold"/>
                <a:cs typeface="DM Sans Bold"/>
                <a:sym typeface="DM Sans Bold"/>
              </a:rPr>
              <a:t>Reach Account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761080" y="4467806"/>
            <a:ext cx="1480661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127,959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2864581" y="4209732"/>
            <a:ext cx="1694025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43"/>
              </a:lnSpc>
              <a:spcBef>
                <a:spcPct val="0"/>
              </a:spcBef>
            </a:pPr>
            <a:r>
              <a:rPr lang="en-US" b="true" sz="1452">
                <a:solidFill>
                  <a:srgbClr val="00352F"/>
                </a:solidFill>
                <a:latin typeface="DM Sans Bold"/>
                <a:ea typeface="DM Sans Bold"/>
                <a:cs typeface="DM Sans Bold"/>
                <a:sym typeface="DM Sans Bold"/>
              </a:rPr>
              <a:t>Avg. Engmnt. Rate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2947001" y="4476073"/>
            <a:ext cx="1480661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8.47%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483846" y="10420770"/>
            <a:ext cx="6592309" cy="163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2"/>
              </a:lnSpc>
              <a:spcBef>
                <a:spcPct val="0"/>
              </a:spcBef>
            </a:pPr>
            <a:r>
              <a:rPr lang="en-US" sz="95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Confidential &amp; Proprietary © 2026 Not Into Finance &amp; Indonesia Capital Market Student Studies</a:t>
            </a:r>
            <a:r>
              <a:rPr lang="en-US" sz="95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. All right</a:t>
            </a:r>
            <a:r>
              <a:rPr lang="en-US" sz="95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 reserved.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594606" cy="10692000"/>
            <a:chOff x="0" y="0"/>
            <a:chExt cx="5063071" cy="7128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63109" cy="7128063"/>
            </a:xfrm>
            <a:custGeom>
              <a:avLst/>
              <a:gdLst/>
              <a:ahLst/>
              <a:cxnLst/>
              <a:rect r="r" b="b" t="t" l="l"/>
              <a:pathLst>
                <a:path h="7128063" w="5063109">
                  <a:moveTo>
                    <a:pt x="0" y="0"/>
                  </a:moveTo>
                  <a:lnTo>
                    <a:pt x="5063109" y="0"/>
                  </a:lnTo>
                  <a:lnTo>
                    <a:pt x="5063109" y="7128063"/>
                  </a:lnTo>
                  <a:lnTo>
                    <a:pt x="0" y="7128063"/>
                  </a:lnTo>
                  <a:close/>
                </a:path>
              </a:pathLst>
            </a:custGeom>
            <a:solidFill>
              <a:srgbClr val="0B0B0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626244" y="-2034599"/>
            <a:ext cx="7115670" cy="7115670"/>
            <a:chOff x="0" y="0"/>
            <a:chExt cx="4743780" cy="47437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743831" cy="4743831"/>
            </a:xfrm>
            <a:custGeom>
              <a:avLst/>
              <a:gdLst/>
              <a:ahLst/>
              <a:cxnLst/>
              <a:rect r="r" b="b" t="t" l="l"/>
              <a:pathLst>
                <a:path h="4743831" w="4743831">
                  <a:moveTo>
                    <a:pt x="0" y="2371852"/>
                  </a:moveTo>
                  <a:cubicBezTo>
                    <a:pt x="0" y="1061974"/>
                    <a:pt x="1061974" y="0"/>
                    <a:pt x="2371852" y="0"/>
                  </a:cubicBezTo>
                  <a:cubicBezTo>
                    <a:pt x="3681730" y="0"/>
                    <a:pt x="4743831" y="1061974"/>
                    <a:pt x="4743831" y="2371852"/>
                  </a:cubicBezTo>
                  <a:cubicBezTo>
                    <a:pt x="4743831" y="3681730"/>
                    <a:pt x="3681857" y="4743831"/>
                    <a:pt x="2371852" y="4743831"/>
                  </a:cubicBezTo>
                  <a:cubicBezTo>
                    <a:pt x="1061847" y="4743831"/>
                    <a:pt x="0" y="3681857"/>
                    <a:pt x="0" y="2371852"/>
                  </a:cubicBezTo>
                  <a:close/>
                </a:path>
              </a:pathLst>
            </a:custGeom>
            <a:solidFill>
              <a:srgbClr val="1C1C1C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3557835" y="5902107"/>
            <a:ext cx="5747271" cy="5747271"/>
            <a:chOff x="0" y="0"/>
            <a:chExt cx="3831514" cy="38315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31463" cy="3831463"/>
            </a:xfrm>
            <a:custGeom>
              <a:avLst/>
              <a:gdLst/>
              <a:ahLst/>
              <a:cxnLst/>
              <a:rect r="r" b="b" t="t" l="l"/>
              <a:pathLst>
                <a:path h="3831463" w="3831463">
                  <a:moveTo>
                    <a:pt x="0" y="1915795"/>
                  </a:moveTo>
                  <a:cubicBezTo>
                    <a:pt x="0" y="857758"/>
                    <a:pt x="857758" y="0"/>
                    <a:pt x="1915795" y="0"/>
                  </a:cubicBezTo>
                  <a:cubicBezTo>
                    <a:pt x="2973832" y="0"/>
                    <a:pt x="3831463" y="857758"/>
                    <a:pt x="3831463" y="1915795"/>
                  </a:cubicBezTo>
                  <a:cubicBezTo>
                    <a:pt x="3831463" y="2973832"/>
                    <a:pt x="2973832" y="3831463"/>
                    <a:pt x="1915795" y="3831463"/>
                  </a:cubicBezTo>
                  <a:cubicBezTo>
                    <a:pt x="857758" y="3831463"/>
                    <a:pt x="0" y="2973832"/>
                    <a:pt x="0" y="1915795"/>
                  </a:cubicBezTo>
                  <a:close/>
                </a:path>
              </a:pathLst>
            </a:custGeom>
            <a:solidFill>
              <a:srgbClr val="18181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06311" y="537989"/>
            <a:ext cx="492614" cy="492614"/>
            <a:chOff x="0" y="0"/>
            <a:chExt cx="328409" cy="328409"/>
          </a:xfrm>
        </p:grpSpPr>
        <p:sp>
          <p:nvSpPr>
            <p:cNvPr name="Freeform 9" id="9" descr="icmss_circle_white.png"/>
            <p:cNvSpPr/>
            <p:nvPr/>
          </p:nvSpPr>
          <p:spPr>
            <a:xfrm flipH="false" flipV="false" rot="0">
              <a:off x="0" y="0"/>
              <a:ext cx="328422" cy="328422"/>
            </a:xfrm>
            <a:custGeom>
              <a:avLst/>
              <a:gdLst/>
              <a:ahLst/>
              <a:cxnLst/>
              <a:rect r="r" b="b" t="t" l="l"/>
              <a:pathLst>
                <a:path h="328422" w="328422">
                  <a:moveTo>
                    <a:pt x="0" y="0"/>
                  </a:moveTo>
                  <a:lnTo>
                    <a:pt x="328422" y="0"/>
                  </a:lnTo>
                  <a:lnTo>
                    <a:pt x="328422" y="328422"/>
                  </a:lnTo>
                  <a:lnTo>
                    <a:pt x="0" y="3284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3" b="3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94443" y="2660826"/>
            <a:ext cx="2048942" cy="872128"/>
            <a:chOff x="0" y="0"/>
            <a:chExt cx="1365961" cy="58141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65885" cy="581406"/>
            </a:xfrm>
            <a:custGeom>
              <a:avLst/>
              <a:gdLst/>
              <a:ahLst/>
              <a:cxnLst/>
              <a:rect r="r" b="b" t="t" l="l"/>
              <a:pathLst>
                <a:path h="581406" w="1365885">
                  <a:moveTo>
                    <a:pt x="0" y="46482"/>
                  </a:moveTo>
                  <a:cubicBezTo>
                    <a:pt x="0" y="20828"/>
                    <a:pt x="20828" y="0"/>
                    <a:pt x="46482" y="0"/>
                  </a:cubicBezTo>
                  <a:lnTo>
                    <a:pt x="1319403" y="0"/>
                  </a:lnTo>
                  <a:cubicBezTo>
                    <a:pt x="1345057" y="0"/>
                    <a:pt x="1365885" y="20828"/>
                    <a:pt x="1365885" y="46482"/>
                  </a:cubicBezTo>
                  <a:lnTo>
                    <a:pt x="1365885" y="534924"/>
                  </a:lnTo>
                  <a:cubicBezTo>
                    <a:pt x="1365885" y="560578"/>
                    <a:pt x="1345057" y="581406"/>
                    <a:pt x="1319403" y="581406"/>
                  </a:cubicBezTo>
                  <a:lnTo>
                    <a:pt x="46482" y="581406"/>
                  </a:lnTo>
                  <a:cubicBezTo>
                    <a:pt x="20828" y="581406"/>
                    <a:pt x="0" y="560578"/>
                    <a:pt x="0" y="534924"/>
                  </a:cubicBezTo>
                  <a:close/>
                </a:path>
              </a:pathLst>
            </a:custGeom>
            <a:solidFill>
              <a:srgbClr val="141414"/>
            </a:solidFill>
            <a:ln w="19050" cap="sq">
              <a:solidFill>
                <a:srgbClr val="F4F0BB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518160" y="3112579"/>
            <a:ext cx="2025225" cy="512889"/>
            <a:chOff x="0" y="0"/>
            <a:chExt cx="1350150" cy="34192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50151" cy="341924"/>
            </a:xfrm>
            <a:custGeom>
              <a:avLst/>
              <a:gdLst/>
              <a:ahLst/>
              <a:cxnLst/>
              <a:rect r="r" b="b" t="t" l="l"/>
              <a:pathLst>
                <a:path h="341924" w="1350151">
                  <a:moveTo>
                    <a:pt x="0" y="0"/>
                  </a:moveTo>
                  <a:lnTo>
                    <a:pt x="1350151" y="0"/>
                  </a:lnTo>
                  <a:lnTo>
                    <a:pt x="1350151" y="341924"/>
                  </a:lnTo>
                  <a:lnTo>
                    <a:pt x="0" y="3419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583" r="0" b="-2229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350150" cy="3419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32"/>
                </a:lnSpc>
              </a:pPr>
              <a:r>
                <a:rPr lang="en-US" sz="2693" b="true">
                  <a:solidFill>
                    <a:srgbClr val="F4F0BB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7729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772823" y="2660826"/>
            <a:ext cx="2048942" cy="872128"/>
            <a:chOff x="0" y="0"/>
            <a:chExt cx="1365961" cy="58141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65885" cy="581406"/>
            </a:xfrm>
            <a:custGeom>
              <a:avLst/>
              <a:gdLst/>
              <a:ahLst/>
              <a:cxnLst/>
              <a:rect r="r" b="b" t="t" l="l"/>
              <a:pathLst>
                <a:path h="581406" w="1365885">
                  <a:moveTo>
                    <a:pt x="0" y="46482"/>
                  </a:moveTo>
                  <a:cubicBezTo>
                    <a:pt x="0" y="20828"/>
                    <a:pt x="20828" y="0"/>
                    <a:pt x="46482" y="0"/>
                  </a:cubicBezTo>
                  <a:lnTo>
                    <a:pt x="1319403" y="0"/>
                  </a:lnTo>
                  <a:cubicBezTo>
                    <a:pt x="1345057" y="0"/>
                    <a:pt x="1365885" y="20828"/>
                    <a:pt x="1365885" y="46482"/>
                  </a:cubicBezTo>
                  <a:lnTo>
                    <a:pt x="1365885" y="534924"/>
                  </a:lnTo>
                  <a:cubicBezTo>
                    <a:pt x="1365885" y="560578"/>
                    <a:pt x="1345057" y="581406"/>
                    <a:pt x="1319403" y="581406"/>
                  </a:cubicBezTo>
                  <a:lnTo>
                    <a:pt x="46482" y="581406"/>
                  </a:lnTo>
                  <a:cubicBezTo>
                    <a:pt x="20828" y="581406"/>
                    <a:pt x="0" y="560578"/>
                    <a:pt x="0" y="534924"/>
                  </a:cubicBezTo>
                  <a:close/>
                </a:path>
              </a:pathLst>
            </a:custGeom>
            <a:solidFill>
              <a:srgbClr val="141414"/>
            </a:solidFill>
            <a:ln w="19050" cap="sq">
              <a:solidFill>
                <a:srgbClr val="F4F0BB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2805227" y="3088763"/>
            <a:ext cx="2025225" cy="512889"/>
            <a:chOff x="0" y="0"/>
            <a:chExt cx="1350150" cy="34192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50151" cy="341924"/>
            </a:xfrm>
            <a:custGeom>
              <a:avLst/>
              <a:gdLst/>
              <a:ahLst/>
              <a:cxnLst/>
              <a:rect r="r" b="b" t="t" l="l"/>
              <a:pathLst>
                <a:path h="341924" w="1350151">
                  <a:moveTo>
                    <a:pt x="0" y="0"/>
                  </a:moveTo>
                  <a:lnTo>
                    <a:pt x="1350151" y="0"/>
                  </a:lnTo>
                  <a:lnTo>
                    <a:pt x="1350151" y="341924"/>
                  </a:lnTo>
                  <a:lnTo>
                    <a:pt x="0" y="34192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4456" r="0" b="-9445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1350150" cy="3419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32"/>
                </a:lnSpc>
              </a:pPr>
              <a:r>
                <a:rPr lang="en-US" sz="2693" b="true">
                  <a:solidFill>
                    <a:srgbClr val="F4F0BB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1696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051203" y="2660826"/>
            <a:ext cx="2048942" cy="872128"/>
            <a:chOff x="0" y="0"/>
            <a:chExt cx="1365961" cy="58141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65885" cy="581406"/>
            </a:xfrm>
            <a:custGeom>
              <a:avLst/>
              <a:gdLst/>
              <a:ahLst/>
              <a:cxnLst/>
              <a:rect r="r" b="b" t="t" l="l"/>
              <a:pathLst>
                <a:path h="581406" w="1365885">
                  <a:moveTo>
                    <a:pt x="0" y="46482"/>
                  </a:moveTo>
                  <a:cubicBezTo>
                    <a:pt x="0" y="20828"/>
                    <a:pt x="20828" y="0"/>
                    <a:pt x="46482" y="0"/>
                  </a:cubicBezTo>
                  <a:lnTo>
                    <a:pt x="1319403" y="0"/>
                  </a:lnTo>
                  <a:cubicBezTo>
                    <a:pt x="1345057" y="0"/>
                    <a:pt x="1365885" y="20828"/>
                    <a:pt x="1365885" y="46482"/>
                  </a:cubicBezTo>
                  <a:lnTo>
                    <a:pt x="1365885" y="534924"/>
                  </a:lnTo>
                  <a:cubicBezTo>
                    <a:pt x="1365885" y="560578"/>
                    <a:pt x="1345057" y="581406"/>
                    <a:pt x="1319403" y="581406"/>
                  </a:cubicBezTo>
                  <a:lnTo>
                    <a:pt x="46482" y="581406"/>
                  </a:lnTo>
                  <a:cubicBezTo>
                    <a:pt x="20828" y="581406"/>
                    <a:pt x="0" y="560578"/>
                    <a:pt x="0" y="534924"/>
                  </a:cubicBezTo>
                  <a:close/>
                </a:path>
              </a:pathLst>
            </a:custGeom>
            <a:solidFill>
              <a:srgbClr val="141414"/>
            </a:solidFill>
            <a:ln w="19050" cap="sq">
              <a:solidFill>
                <a:srgbClr val="F4F0BB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5051203" y="3088763"/>
            <a:ext cx="2025225" cy="512889"/>
            <a:chOff x="0" y="0"/>
            <a:chExt cx="1350150" cy="34192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350151" cy="341924"/>
            </a:xfrm>
            <a:custGeom>
              <a:avLst/>
              <a:gdLst/>
              <a:ahLst/>
              <a:cxnLst/>
              <a:rect r="r" b="b" t="t" l="l"/>
              <a:pathLst>
                <a:path h="341924" w="1350151">
                  <a:moveTo>
                    <a:pt x="0" y="0"/>
                  </a:moveTo>
                  <a:lnTo>
                    <a:pt x="1350151" y="0"/>
                  </a:lnTo>
                  <a:lnTo>
                    <a:pt x="1350151" y="341924"/>
                  </a:lnTo>
                  <a:lnTo>
                    <a:pt x="0" y="3419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583" r="0" b="-22297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1350150" cy="3419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32"/>
                </a:lnSpc>
              </a:pPr>
              <a:r>
                <a:rPr lang="en-US" sz="2693" b="true">
                  <a:solidFill>
                    <a:srgbClr val="F4F0BB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955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494443" y="3646072"/>
            <a:ext cx="2048942" cy="872128"/>
            <a:chOff x="0" y="0"/>
            <a:chExt cx="1365961" cy="58141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365885" cy="581406"/>
            </a:xfrm>
            <a:custGeom>
              <a:avLst/>
              <a:gdLst/>
              <a:ahLst/>
              <a:cxnLst/>
              <a:rect r="r" b="b" t="t" l="l"/>
              <a:pathLst>
                <a:path h="581406" w="1365885">
                  <a:moveTo>
                    <a:pt x="0" y="46482"/>
                  </a:moveTo>
                  <a:cubicBezTo>
                    <a:pt x="0" y="20828"/>
                    <a:pt x="20828" y="0"/>
                    <a:pt x="46482" y="0"/>
                  </a:cubicBezTo>
                  <a:lnTo>
                    <a:pt x="1319403" y="0"/>
                  </a:lnTo>
                  <a:cubicBezTo>
                    <a:pt x="1345057" y="0"/>
                    <a:pt x="1365885" y="20828"/>
                    <a:pt x="1365885" y="46482"/>
                  </a:cubicBezTo>
                  <a:lnTo>
                    <a:pt x="1365885" y="534924"/>
                  </a:lnTo>
                  <a:cubicBezTo>
                    <a:pt x="1365885" y="560578"/>
                    <a:pt x="1345057" y="581406"/>
                    <a:pt x="1319403" y="581406"/>
                  </a:cubicBezTo>
                  <a:lnTo>
                    <a:pt x="46482" y="581406"/>
                  </a:lnTo>
                  <a:cubicBezTo>
                    <a:pt x="20828" y="581406"/>
                    <a:pt x="0" y="560578"/>
                    <a:pt x="0" y="534924"/>
                  </a:cubicBezTo>
                  <a:close/>
                </a:path>
              </a:pathLst>
            </a:custGeom>
            <a:solidFill>
              <a:srgbClr val="141414"/>
            </a:solidFill>
            <a:ln w="19050" cap="sq">
              <a:solidFill>
                <a:srgbClr val="F4F0BB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588416" y="3726349"/>
            <a:ext cx="1861014" cy="273672"/>
            <a:chOff x="0" y="0"/>
            <a:chExt cx="1240676" cy="18244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40663" cy="182373"/>
            </a:xfrm>
            <a:custGeom>
              <a:avLst/>
              <a:gdLst/>
              <a:ahLst/>
              <a:cxnLst/>
              <a:rect r="r" b="b" t="t" l="l"/>
              <a:pathLst>
                <a:path h="182373" w="1240663">
                  <a:moveTo>
                    <a:pt x="0" y="36449"/>
                  </a:moveTo>
                  <a:cubicBezTo>
                    <a:pt x="0" y="16383"/>
                    <a:pt x="16383" y="0"/>
                    <a:pt x="36449" y="0"/>
                  </a:cubicBezTo>
                  <a:lnTo>
                    <a:pt x="1204214" y="0"/>
                  </a:lnTo>
                  <a:cubicBezTo>
                    <a:pt x="1224407" y="0"/>
                    <a:pt x="1240663" y="16383"/>
                    <a:pt x="1240663" y="36449"/>
                  </a:cubicBezTo>
                  <a:lnTo>
                    <a:pt x="1240663" y="145923"/>
                  </a:lnTo>
                  <a:cubicBezTo>
                    <a:pt x="1240663" y="166116"/>
                    <a:pt x="1224280" y="182372"/>
                    <a:pt x="1204214" y="182372"/>
                  </a:cubicBezTo>
                  <a:lnTo>
                    <a:pt x="36449" y="182372"/>
                  </a:lnTo>
                  <a:cubicBezTo>
                    <a:pt x="16383" y="182499"/>
                    <a:pt x="0" y="166116"/>
                    <a:pt x="0" y="145923"/>
                  </a:cubicBezTo>
                  <a:close/>
                </a:path>
              </a:pathLst>
            </a:custGeom>
            <a:solidFill>
              <a:srgbClr val="ECECEC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1240676" cy="191973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ctr">
                <a:lnSpc>
                  <a:spcPts val="1486"/>
                </a:lnSpc>
              </a:pPr>
              <a:r>
                <a:rPr lang="en-US" sz="1238">
                  <a:solidFill>
                    <a:srgbClr val="1A1A1A"/>
                  </a:solidFill>
                  <a:latin typeface="Poppins"/>
                  <a:ea typeface="Poppins"/>
                  <a:cs typeface="Poppins"/>
                  <a:sym typeface="Poppins"/>
                </a:rPr>
                <a:t>Total Participants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506311" y="4013718"/>
            <a:ext cx="2025225" cy="512889"/>
            <a:chOff x="0" y="0"/>
            <a:chExt cx="1350150" cy="34192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350151" cy="341924"/>
            </a:xfrm>
            <a:custGeom>
              <a:avLst/>
              <a:gdLst/>
              <a:ahLst/>
              <a:cxnLst/>
              <a:rect r="r" b="b" t="t" l="l"/>
              <a:pathLst>
                <a:path h="341924" w="1350151">
                  <a:moveTo>
                    <a:pt x="0" y="0"/>
                  </a:moveTo>
                  <a:lnTo>
                    <a:pt x="1350151" y="0"/>
                  </a:lnTo>
                  <a:lnTo>
                    <a:pt x="1350151" y="341924"/>
                  </a:lnTo>
                  <a:lnTo>
                    <a:pt x="0" y="3419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583" r="0" b="-22297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1350150" cy="3419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32"/>
                </a:lnSpc>
              </a:pPr>
              <a:r>
                <a:rPr lang="en-US" sz="2693" b="true">
                  <a:solidFill>
                    <a:srgbClr val="F4F0BB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10,000+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2772823" y="3646072"/>
            <a:ext cx="2048942" cy="872128"/>
            <a:chOff x="0" y="0"/>
            <a:chExt cx="1365961" cy="58141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365885" cy="581406"/>
            </a:xfrm>
            <a:custGeom>
              <a:avLst/>
              <a:gdLst/>
              <a:ahLst/>
              <a:cxnLst/>
              <a:rect r="r" b="b" t="t" l="l"/>
              <a:pathLst>
                <a:path h="581406" w="1365885">
                  <a:moveTo>
                    <a:pt x="0" y="46482"/>
                  </a:moveTo>
                  <a:cubicBezTo>
                    <a:pt x="0" y="20828"/>
                    <a:pt x="20828" y="0"/>
                    <a:pt x="46482" y="0"/>
                  </a:cubicBezTo>
                  <a:lnTo>
                    <a:pt x="1319403" y="0"/>
                  </a:lnTo>
                  <a:cubicBezTo>
                    <a:pt x="1345057" y="0"/>
                    <a:pt x="1365885" y="20828"/>
                    <a:pt x="1365885" y="46482"/>
                  </a:cubicBezTo>
                  <a:lnTo>
                    <a:pt x="1365885" y="534924"/>
                  </a:lnTo>
                  <a:cubicBezTo>
                    <a:pt x="1365885" y="560578"/>
                    <a:pt x="1345057" y="581406"/>
                    <a:pt x="1319403" y="581406"/>
                  </a:cubicBezTo>
                  <a:lnTo>
                    <a:pt x="46482" y="581406"/>
                  </a:lnTo>
                  <a:cubicBezTo>
                    <a:pt x="20828" y="581406"/>
                    <a:pt x="0" y="560578"/>
                    <a:pt x="0" y="534924"/>
                  </a:cubicBezTo>
                  <a:close/>
                </a:path>
              </a:pathLst>
            </a:custGeom>
            <a:solidFill>
              <a:srgbClr val="141414"/>
            </a:solidFill>
            <a:ln w="19050" cap="sq">
              <a:solidFill>
                <a:srgbClr val="F4F0BB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2866796" y="3726349"/>
            <a:ext cx="1861014" cy="273672"/>
            <a:chOff x="0" y="0"/>
            <a:chExt cx="1240676" cy="18244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240663" cy="182373"/>
            </a:xfrm>
            <a:custGeom>
              <a:avLst/>
              <a:gdLst/>
              <a:ahLst/>
              <a:cxnLst/>
              <a:rect r="r" b="b" t="t" l="l"/>
              <a:pathLst>
                <a:path h="182373" w="1240663">
                  <a:moveTo>
                    <a:pt x="0" y="36449"/>
                  </a:moveTo>
                  <a:cubicBezTo>
                    <a:pt x="0" y="16383"/>
                    <a:pt x="16383" y="0"/>
                    <a:pt x="36449" y="0"/>
                  </a:cubicBezTo>
                  <a:lnTo>
                    <a:pt x="1204214" y="0"/>
                  </a:lnTo>
                  <a:cubicBezTo>
                    <a:pt x="1224407" y="0"/>
                    <a:pt x="1240663" y="16383"/>
                    <a:pt x="1240663" y="36449"/>
                  </a:cubicBezTo>
                  <a:lnTo>
                    <a:pt x="1240663" y="145923"/>
                  </a:lnTo>
                  <a:cubicBezTo>
                    <a:pt x="1240663" y="166116"/>
                    <a:pt x="1224280" y="182372"/>
                    <a:pt x="1204214" y="182372"/>
                  </a:cubicBezTo>
                  <a:lnTo>
                    <a:pt x="36449" y="182372"/>
                  </a:lnTo>
                  <a:cubicBezTo>
                    <a:pt x="16383" y="182499"/>
                    <a:pt x="0" y="166116"/>
                    <a:pt x="0" y="145923"/>
                  </a:cubicBezTo>
                  <a:close/>
                </a:path>
              </a:pathLst>
            </a:custGeom>
            <a:solidFill>
              <a:srgbClr val="ECECEC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1240676" cy="191973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ctr">
                <a:lnSpc>
                  <a:spcPts val="1486"/>
                </a:lnSpc>
              </a:pPr>
              <a:r>
                <a:rPr lang="en-US" sz="1238">
                  <a:solidFill>
                    <a:srgbClr val="1A1A1A"/>
                  </a:solidFill>
                  <a:latin typeface="Poppins"/>
                  <a:ea typeface="Poppins"/>
                  <a:cs typeface="Poppins"/>
                  <a:sym typeface="Poppins"/>
                </a:rPr>
                <a:t>Years Running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2784691" y="4013718"/>
            <a:ext cx="2025225" cy="512889"/>
            <a:chOff x="0" y="0"/>
            <a:chExt cx="1350150" cy="34192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350151" cy="341924"/>
            </a:xfrm>
            <a:custGeom>
              <a:avLst/>
              <a:gdLst/>
              <a:ahLst/>
              <a:cxnLst/>
              <a:rect r="r" b="b" t="t" l="l"/>
              <a:pathLst>
                <a:path h="341924" w="1350151">
                  <a:moveTo>
                    <a:pt x="0" y="0"/>
                  </a:moveTo>
                  <a:lnTo>
                    <a:pt x="1350151" y="0"/>
                  </a:lnTo>
                  <a:lnTo>
                    <a:pt x="1350151" y="341924"/>
                  </a:lnTo>
                  <a:lnTo>
                    <a:pt x="0" y="3419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583" r="0" b="-22297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1350150" cy="3419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32"/>
                </a:lnSpc>
              </a:pPr>
              <a:r>
                <a:rPr lang="en-US" sz="2693" b="true">
                  <a:solidFill>
                    <a:srgbClr val="F4F0BB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25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5051203" y="3646072"/>
            <a:ext cx="2048942" cy="872128"/>
            <a:chOff x="0" y="0"/>
            <a:chExt cx="1365961" cy="58141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365885" cy="581406"/>
            </a:xfrm>
            <a:custGeom>
              <a:avLst/>
              <a:gdLst/>
              <a:ahLst/>
              <a:cxnLst/>
              <a:rect r="r" b="b" t="t" l="l"/>
              <a:pathLst>
                <a:path h="581406" w="1365885">
                  <a:moveTo>
                    <a:pt x="0" y="46482"/>
                  </a:moveTo>
                  <a:cubicBezTo>
                    <a:pt x="0" y="20828"/>
                    <a:pt x="20828" y="0"/>
                    <a:pt x="46482" y="0"/>
                  </a:cubicBezTo>
                  <a:lnTo>
                    <a:pt x="1319403" y="0"/>
                  </a:lnTo>
                  <a:cubicBezTo>
                    <a:pt x="1345057" y="0"/>
                    <a:pt x="1365885" y="20828"/>
                    <a:pt x="1365885" y="46482"/>
                  </a:cubicBezTo>
                  <a:lnTo>
                    <a:pt x="1365885" y="534924"/>
                  </a:lnTo>
                  <a:cubicBezTo>
                    <a:pt x="1365885" y="560578"/>
                    <a:pt x="1345057" y="581406"/>
                    <a:pt x="1319403" y="581406"/>
                  </a:cubicBezTo>
                  <a:lnTo>
                    <a:pt x="46482" y="581406"/>
                  </a:lnTo>
                  <a:cubicBezTo>
                    <a:pt x="20828" y="581406"/>
                    <a:pt x="0" y="560578"/>
                    <a:pt x="0" y="534924"/>
                  </a:cubicBezTo>
                  <a:close/>
                </a:path>
              </a:pathLst>
            </a:custGeom>
            <a:solidFill>
              <a:srgbClr val="141414"/>
            </a:solidFill>
            <a:ln w="19050" cap="sq">
              <a:solidFill>
                <a:srgbClr val="F4F0BB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5145176" y="3726349"/>
            <a:ext cx="1861014" cy="273672"/>
            <a:chOff x="0" y="0"/>
            <a:chExt cx="1240676" cy="18244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240663" cy="182373"/>
            </a:xfrm>
            <a:custGeom>
              <a:avLst/>
              <a:gdLst/>
              <a:ahLst/>
              <a:cxnLst/>
              <a:rect r="r" b="b" t="t" l="l"/>
              <a:pathLst>
                <a:path h="182373" w="1240663">
                  <a:moveTo>
                    <a:pt x="0" y="36449"/>
                  </a:moveTo>
                  <a:cubicBezTo>
                    <a:pt x="0" y="16383"/>
                    <a:pt x="16383" y="0"/>
                    <a:pt x="36449" y="0"/>
                  </a:cubicBezTo>
                  <a:lnTo>
                    <a:pt x="1204214" y="0"/>
                  </a:lnTo>
                  <a:cubicBezTo>
                    <a:pt x="1224407" y="0"/>
                    <a:pt x="1240663" y="16383"/>
                    <a:pt x="1240663" y="36449"/>
                  </a:cubicBezTo>
                  <a:lnTo>
                    <a:pt x="1240663" y="145923"/>
                  </a:lnTo>
                  <a:cubicBezTo>
                    <a:pt x="1240663" y="166116"/>
                    <a:pt x="1224280" y="182372"/>
                    <a:pt x="1204214" y="182372"/>
                  </a:cubicBezTo>
                  <a:lnTo>
                    <a:pt x="36449" y="182372"/>
                  </a:lnTo>
                  <a:cubicBezTo>
                    <a:pt x="16383" y="182499"/>
                    <a:pt x="0" y="166116"/>
                    <a:pt x="0" y="145923"/>
                  </a:cubicBezTo>
                  <a:close/>
                </a:path>
              </a:pathLst>
            </a:custGeom>
            <a:solidFill>
              <a:srgbClr val="ECECEC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1240676" cy="191973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ctr">
                <a:lnSpc>
                  <a:spcPts val="1422"/>
                </a:lnSpc>
              </a:pPr>
              <a:r>
                <a:rPr lang="en-US" sz="1185">
                  <a:solidFill>
                    <a:srgbClr val="1A1A1A"/>
                  </a:solidFill>
                  <a:latin typeface="Poppins"/>
                  <a:ea typeface="Poppins"/>
                  <a:cs typeface="Poppins"/>
                  <a:sym typeface="Poppins"/>
                </a:rPr>
                <a:t>Speakers &amp; Panelists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5063071" y="4013718"/>
            <a:ext cx="2025225" cy="512889"/>
            <a:chOff x="0" y="0"/>
            <a:chExt cx="1350150" cy="34192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350151" cy="341924"/>
            </a:xfrm>
            <a:custGeom>
              <a:avLst/>
              <a:gdLst/>
              <a:ahLst/>
              <a:cxnLst/>
              <a:rect r="r" b="b" t="t" l="l"/>
              <a:pathLst>
                <a:path h="341924" w="1350151">
                  <a:moveTo>
                    <a:pt x="0" y="0"/>
                  </a:moveTo>
                  <a:lnTo>
                    <a:pt x="1350151" y="0"/>
                  </a:lnTo>
                  <a:lnTo>
                    <a:pt x="1350151" y="341924"/>
                  </a:lnTo>
                  <a:lnTo>
                    <a:pt x="0" y="3419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583" r="0" b="-22297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1350150" cy="3419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32"/>
                </a:lnSpc>
              </a:pPr>
              <a:r>
                <a:rPr lang="en-US" sz="2693" b="true">
                  <a:solidFill>
                    <a:srgbClr val="F4F0BB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160+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506311" y="5190532"/>
            <a:ext cx="6581985" cy="355778"/>
            <a:chOff x="0" y="0"/>
            <a:chExt cx="4387990" cy="237185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387977" cy="237236"/>
            </a:xfrm>
            <a:custGeom>
              <a:avLst/>
              <a:gdLst/>
              <a:ahLst/>
              <a:cxnLst/>
              <a:rect r="r" b="b" t="t" l="l"/>
              <a:pathLst>
                <a:path h="237236" w="4387977">
                  <a:moveTo>
                    <a:pt x="0" y="0"/>
                  </a:moveTo>
                  <a:lnTo>
                    <a:pt x="4387977" y="0"/>
                  </a:lnTo>
                  <a:lnTo>
                    <a:pt x="4387977" y="237236"/>
                  </a:lnTo>
                  <a:lnTo>
                    <a:pt x="0" y="237236"/>
                  </a:lnTo>
                  <a:close/>
                </a:path>
              </a:pathLst>
            </a:custGeom>
            <a:solidFill>
              <a:srgbClr val="F4F0BB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629469" y="5190532"/>
            <a:ext cx="2326272" cy="355783"/>
            <a:chOff x="0" y="0"/>
            <a:chExt cx="1550848" cy="237189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550849" cy="237192"/>
            </a:xfrm>
            <a:custGeom>
              <a:avLst/>
              <a:gdLst/>
              <a:ahLst/>
              <a:cxnLst/>
              <a:rect r="r" b="b" t="t" l="l"/>
              <a:pathLst>
                <a:path h="237192" w="1550849">
                  <a:moveTo>
                    <a:pt x="0" y="0"/>
                  </a:moveTo>
                  <a:lnTo>
                    <a:pt x="1550849" y="0"/>
                  </a:lnTo>
                  <a:lnTo>
                    <a:pt x="1550849" y="237192"/>
                  </a:lnTo>
                  <a:lnTo>
                    <a:pt x="0" y="2371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401" r="0" b="-77398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1550848" cy="237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27"/>
                </a:lnSpc>
              </a:pPr>
              <a:r>
                <a:rPr lang="en-US" sz="1022" b="true">
                  <a:solidFill>
                    <a:srgbClr val="1A1A1A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Capital Market Seminar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2969419" y="5190532"/>
            <a:ext cx="1642072" cy="355783"/>
            <a:chOff x="0" y="0"/>
            <a:chExt cx="1094715" cy="237189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94717" cy="237192"/>
            </a:xfrm>
            <a:custGeom>
              <a:avLst/>
              <a:gdLst/>
              <a:ahLst/>
              <a:cxnLst/>
              <a:rect r="r" b="b" t="t" l="l"/>
              <a:pathLst>
                <a:path h="237192" w="1094717">
                  <a:moveTo>
                    <a:pt x="0" y="0"/>
                  </a:moveTo>
                  <a:lnTo>
                    <a:pt x="1094717" y="0"/>
                  </a:lnTo>
                  <a:lnTo>
                    <a:pt x="1094717" y="237192"/>
                  </a:lnTo>
                  <a:lnTo>
                    <a:pt x="0" y="2371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930" r="0" b="-39927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9525"/>
              <a:ext cx="1094715" cy="2276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98"/>
                </a:lnSpc>
              </a:pPr>
              <a:r>
                <a:rPr lang="en-US" sz="915">
                  <a:solidFill>
                    <a:srgbClr val="55523A"/>
                  </a:solidFill>
                  <a:latin typeface="DM Sans"/>
                  <a:ea typeface="DM Sans"/>
                  <a:cs typeface="DM Sans"/>
                  <a:sym typeface="DM Sans"/>
                </a:rPr>
                <a:t>2-day, open to public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4064146" y="5190532"/>
            <a:ext cx="2900991" cy="355783"/>
            <a:chOff x="0" y="0"/>
            <a:chExt cx="1933994" cy="237189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934000" cy="237192"/>
            </a:xfrm>
            <a:custGeom>
              <a:avLst/>
              <a:gdLst/>
              <a:ahLst/>
              <a:cxnLst/>
              <a:rect r="r" b="b" t="t" l="l"/>
              <a:pathLst>
                <a:path h="237192" w="1934000">
                  <a:moveTo>
                    <a:pt x="0" y="0"/>
                  </a:moveTo>
                  <a:lnTo>
                    <a:pt x="1934000" y="0"/>
                  </a:lnTo>
                  <a:lnTo>
                    <a:pt x="1934000" y="237192"/>
                  </a:lnTo>
                  <a:lnTo>
                    <a:pt x="0" y="2371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876" r="0" b="-108873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9525"/>
              <a:ext cx="1933994" cy="2276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098"/>
                </a:lnSpc>
              </a:pPr>
              <a:r>
                <a:rPr lang="en-US" sz="915" b="true">
                  <a:solidFill>
                    <a:srgbClr val="1A1A1A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1,500+</a:t>
              </a:r>
              <a:r>
                <a:rPr lang="en-US" sz="915">
                  <a:solidFill>
                    <a:srgbClr val="55523A"/>
                  </a:solidFill>
                  <a:latin typeface="DM Sans"/>
                  <a:ea typeface="DM Sans"/>
                  <a:cs typeface="DM Sans"/>
                  <a:sym typeface="DM Sans"/>
                </a:rPr>
                <a:t> audience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506311" y="5628435"/>
            <a:ext cx="6581985" cy="355778"/>
            <a:chOff x="0" y="0"/>
            <a:chExt cx="4387990" cy="237185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387977" cy="237236"/>
            </a:xfrm>
            <a:custGeom>
              <a:avLst/>
              <a:gdLst/>
              <a:ahLst/>
              <a:cxnLst/>
              <a:rect r="r" b="b" t="t" l="l"/>
              <a:pathLst>
                <a:path h="237236" w="4387977">
                  <a:moveTo>
                    <a:pt x="0" y="0"/>
                  </a:moveTo>
                  <a:lnTo>
                    <a:pt x="4387977" y="0"/>
                  </a:lnTo>
                  <a:lnTo>
                    <a:pt x="4387977" y="237236"/>
                  </a:lnTo>
                  <a:lnTo>
                    <a:pt x="0" y="237236"/>
                  </a:lnTo>
                  <a:close/>
                </a:path>
              </a:pathLst>
            </a:custGeom>
            <a:solidFill>
              <a:srgbClr val="F4F0BB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629469" y="5628435"/>
            <a:ext cx="2326272" cy="355783"/>
            <a:chOff x="0" y="0"/>
            <a:chExt cx="1550848" cy="237189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550849" cy="237192"/>
            </a:xfrm>
            <a:custGeom>
              <a:avLst/>
              <a:gdLst/>
              <a:ahLst/>
              <a:cxnLst/>
              <a:rect r="r" b="b" t="t" l="l"/>
              <a:pathLst>
                <a:path h="237192" w="1550849">
                  <a:moveTo>
                    <a:pt x="0" y="0"/>
                  </a:moveTo>
                  <a:lnTo>
                    <a:pt x="1550849" y="0"/>
                  </a:lnTo>
                  <a:lnTo>
                    <a:pt x="1550849" y="237192"/>
                  </a:lnTo>
                  <a:lnTo>
                    <a:pt x="0" y="2371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401" r="0" b="-77398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1550848" cy="237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27"/>
                </a:lnSpc>
              </a:pPr>
              <a:r>
                <a:rPr lang="en-US" sz="1022" b="true">
                  <a:solidFill>
                    <a:srgbClr val="1A1A1A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Investment Training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2969419" y="5628435"/>
            <a:ext cx="1642072" cy="355783"/>
            <a:chOff x="0" y="0"/>
            <a:chExt cx="1094715" cy="237189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94717" cy="237192"/>
            </a:xfrm>
            <a:custGeom>
              <a:avLst/>
              <a:gdLst/>
              <a:ahLst/>
              <a:cxnLst/>
              <a:rect r="r" b="b" t="t" l="l"/>
              <a:pathLst>
                <a:path h="237192" w="1094717">
                  <a:moveTo>
                    <a:pt x="0" y="0"/>
                  </a:moveTo>
                  <a:lnTo>
                    <a:pt x="1094717" y="0"/>
                  </a:lnTo>
                  <a:lnTo>
                    <a:pt x="1094717" y="237192"/>
                  </a:lnTo>
                  <a:lnTo>
                    <a:pt x="0" y="2371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930" r="0" b="-39927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9525"/>
              <a:ext cx="1094715" cy="2276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98"/>
                </a:lnSpc>
              </a:pPr>
              <a:r>
                <a:rPr lang="en-US" sz="915">
                  <a:solidFill>
                    <a:srgbClr val="55523A"/>
                  </a:solidFill>
                  <a:latin typeface="DM Sans"/>
                  <a:ea typeface="DM Sans"/>
                  <a:cs typeface="DM Sans"/>
                  <a:sym typeface="DM Sans"/>
                </a:rPr>
                <a:t>Hands-on training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4064146" y="5628435"/>
            <a:ext cx="2900991" cy="355783"/>
            <a:chOff x="0" y="0"/>
            <a:chExt cx="1933994" cy="237189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934000" cy="237192"/>
            </a:xfrm>
            <a:custGeom>
              <a:avLst/>
              <a:gdLst/>
              <a:ahLst/>
              <a:cxnLst/>
              <a:rect r="r" b="b" t="t" l="l"/>
              <a:pathLst>
                <a:path h="237192" w="1934000">
                  <a:moveTo>
                    <a:pt x="0" y="0"/>
                  </a:moveTo>
                  <a:lnTo>
                    <a:pt x="1934000" y="0"/>
                  </a:lnTo>
                  <a:lnTo>
                    <a:pt x="1934000" y="237192"/>
                  </a:lnTo>
                  <a:lnTo>
                    <a:pt x="0" y="2371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876" r="0" b="-108873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9525"/>
              <a:ext cx="1933994" cy="2276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098"/>
                </a:lnSpc>
              </a:pPr>
              <a:r>
                <a:rPr lang="en-US" sz="915" b="true">
                  <a:solidFill>
                    <a:srgbClr val="1A1A1A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245+</a:t>
              </a:r>
              <a:r>
                <a:rPr lang="en-US" sz="915">
                  <a:solidFill>
                    <a:srgbClr val="55523A"/>
                  </a:solidFill>
                  <a:latin typeface="DM Sans"/>
                  <a:ea typeface="DM Sans"/>
                  <a:cs typeface="DM Sans"/>
                  <a:sym typeface="DM Sans"/>
                </a:rPr>
                <a:t> participants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506311" y="6066318"/>
            <a:ext cx="6581985" cy="355778"/>
            <a:chOff x="0" y="0"/>
            <a:chExt cx="4387990" cy="237185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387977" cy="237236"/>
            </a:xfrm>
            <a:custGeom>
              <a:avLst/>
              <a:gdLst/>
              <a:ahLst/>
              <a:cxnLst/>
              <a:rect r="r" b="b" t="t" l="l"/>
              <a:pathLst>
                <a:path h="237236" w="4387977">
                  <a:moveTo>
                    <a:pt x="0" y="0"/>
                  </a:moveTo>
                  <a:lnTo>
                    <a:pt x="4387977" y="0"/>
                  </a:lnTo>
                  <a:lnTo>
                    <a:pt x="4387977" y="237236"/>
                  </a:lnTo>
                  <a:lnTo>
                    <a:pt x="0" y="237236"/>
                  </a:lnTo>
                  <a:close/>
                </a:path>
              </a:pathLst>
            </a:custGeom>
            <a:solidFill>
              <a:srgbClr val="F4F0BB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629469" y="6066318"/>
            <a:ext cx="2326272" cy="355783"/>
            <a:chOff x="0" y="0"/>
            <a:chExt cx="1550848" cy="237189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550849" cy="237192"/>
            </a:xfrm>
            <a:custGeom>
              <a:avLst/>
              <a:gdLst/>
              <a:ahLst/>
              <a:cxnLst/>
              <a:rect r="r" b="b" t="t" l="l"/>
              <a:pathLst>
                <a:path h="237192" w="1550849">
                  <a:moveTo>
                    <a:pt x="0" y="0"/>
                  </a:moveTo>
                  <a:lnTo>
                    <a:pt x="1550849" y="0"/>
                  </a:lnTo>
                  <a:lnTo>
                    <a:pt x="1550849" y="237192"/>
                  </a:lnTo>
                  <a:lnTo>
                    <a:pt x="0" y="2371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401" r="0" b="-77398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0"/>
              <a:ext cx="1550848" cy="237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27"/>
                </a:lnSpc>
              </a:pPr>
              <a:r>
                <a:rPr lang="en-US" sz="1022" b="true">
                  <a:solidFill>
                    <a:srgbClr val="1A1A1A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Equity Research Conference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2969419" y="6066318"/>
            <a:ext cx="1642072" cy="355783"/>
            <a:chOff x="0" y="0"/>
            <a:chExt cx="1094715" cy="237189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094717" cy="237192"/>
            </a:xfrm>
            <a:custGeom>
              <a:avLst/>
              <a:gdLst/>
              <a:ahLst/>
              <a:cxnLst/>
              <a:rect r="r" b="b" t="t" l="l"/>
              <a:pathLst>
                <a:path h="237192" w="1094717">
                  <a:moveTo>
                    <a:pt x="0" y="0"/>
                  </a:moveTo>
                  <a:lnTo>
                    <a:pt x="1094717" y="0"/>
                  </a:lnTo>
                  <a:lnTo>
                    <a:pt x="1094717" y="237192"/>
                  </a:lnTo>
                  <a:lnTo>
                    <a:pt x="0" y="2371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930" r="0" b="-39927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9525"/>
              <a:ext cx="1094715" cy="2276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98"/>
                </a:lnSpc>
              </a:pPr>
              <a:r>
                <a:rPr lang="en-US" sz="915">
                  <a:solidFill>
                    <a:srgbClr val="55523A"/>
                  </a:solidFill>
                  <a:latin typeface="DM Sans"/>
                  <a:ea typeface="DM Sans"/>
                  <a:cs typeface="DM Sans"/>
                  <a:sym typeface="DM Sans"/>
                </a:rPr>
                <a:t>Local + foreign teams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4064146" y="6066318"/>
            <a:ext cx="2900991" cy="355783"/>
            <a:chOff x="0" y="0"/>
            <a:chExt cx="1933994" cy="237189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934000" cy="237192"/>
            </a:xfrm>
            <a:custGeom>
              <a:avLst/>
              <a:gdLst/>
              <a:ahLst/>
              <a:cxnLst/>
              <a:rect r="r" b="b" t="t" l="l"/>
              <a:pathLst>
                <a:path h="237192" w="1934000">
                  <a:moveTo>
                    <a:pt x="0" y="0"/>
                  </a:moveTo>
                  <a:lnTo>
                    <a:pt x="1934000" y="0"/>
                  </a:lnTo>
                  <a:lnTo>
                    <a:pt x="1934000" y="237192"/>
                  </a:lnTo>
                  <a:lnTo>
                    <a:pt x="0" y="2371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876" r="0" b="-108873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9525"/>
              <a:ext cx="1933994" cy="2276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098"/>
                </a:lnSpc>
              </a:pPr>
              <a:r>
                <a:rPr lang="en-US" sz="915" b="true">
                  <a:solidFill>
                    <a:srgbClr val="1A1A1A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60+</a:t>
              </a:r>
              <a:r>
                <a:rPr lang="en-US" sz="915">
                  <a:solidFill>
                    <a:srgbClr val="55523A"/>
                  </a:solidFill>
                  <a:latin typeface="DM Sans"/>
                  <a:ea typeface="DM Sans"/>
                  <a:cs typeface="DM Sans"/>
                  <a:sym typeface="DM Sans"/>
                </a:rPr>
                <a:t> participants  ·  </a:t>
              </a:r>
              <a:r>
                <a:rPr lang="en-US" sz="915" b="true">
                  <a:solidFill>
                    <a:srgbClr val="1A1A1A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160+</a:t>
              </a:r>
              <a:r>
                <a:rPr lang="en-US" sz="915">
                  <a:solidFill>
                    <a:srgbClr val="55523A"/>
                  </a:solidFill>
                  <a:latin typeface="DM Sans"/>
                  <a:ea typeface="DM Sans"/>
                  <a:cs typeface="DM Sans"/>
                  <a:sym typeface="DM Sans"/>
                </a:rPr>
                <a:t> audience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494443" y="7313369"/>
            <a:ext cx="2021586" cy="1665789"/>
            <a:chOff x="0" y="0"/>
            <a:chExt cx="1347724" cy="1110526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347724" cy="1110488"/>
            </a:xfrm>
            <a:custGeom>
              <a:avLst/>
              <a:gdLst/>
              <a:ahLst/>
              <a:cxnLst/>
              <a:rect r="r" b="b" t="t" l="l"/>
              <a:pathLst>
                <a:path h="1110488" w="1347724">
                  <a:moveTo>
                    <a:pt x="0" y="55499"/>
                  </a:moveTo>
                  <a:cubicBezTo>
                    <a:pt x="0" y="24892"/>
                    <a:pt x="24892" y="0"/>
                    <a:pt x="55499" y="0"/>
                  </a:cubicBezTo>
                  <a:lnTo>
                    <a:pt x="1292225" y="0"/>
                  </a:lnTo>
                  <a:cubicBezTo>
                    <a:pt x="1322832" y="0"/>
                    <a:pt x="1347724" y="24892"/>
                    <a:pt x="1347724" y="55499"/>
                  </a:cubicBezTo>
                  <a:lnTo>
                    <a:pt x="1347724" y="1054989"/>
                  </a:lnTo>
                  <a:cubicBezTo>
                    <a:pt x="1347724" y="1085596"/>
                    <a:pt x="1322832" y="1110488"/>
                    <a:pt x="1292225" y="1110488"/>
                  </a:cubicBezTo>
                  <a:lnTo>
                    <a:pt x="55499" y="1110488"/>
                  </a:lnTo>
                  <a:cubicBezTo>
                    <a:pt x="24892" y="1110488"/>
                    <a:pt x="0" y="1085723"/>
                    <a:pt x="0" y="1054989"/>
                  </a:cubicBezTo>
                  <a:close/>
                </a:path>
              </a:pathLst>
            </a:custGeom>
            <a:solidFill>
              <a:srgbClr val="1E1E1E"/>
            </a:solidFill>
            <a:ln w="19050" cap="sq">
              <a:solidFill>
                <a:srgbClr val="F4F0BB"/>
              </a:solidFill>
              <a:prstDash val="solid"/>
              <a:miter/>
            </a:ln>
          </p:spPr>
        </p:sp>
      </p:grpSp>
      <p:grpSp>
        <p:nvGrpSpPr>
          <p:cNvPr name="Group 84" id="84"/>
          <p:cNvGrpSpPr/>
          <p:nvPr/>
        </p:nvGrpSpPr>
        <p:grpSpPr>
          <a:xfrm rot="0">
            <a:off x="2695746" y="7325237"/>
            <a:ext cx="4392549" cy="205264"/>
            <a:chOff x="0" y="0"/>
            <a:chExt cx="2928366" cy="136842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928368" cy="136840"/>
            </a:xfrm>
            <a:custGeom>
              <a:avLst/>
              <a:gdLst/>
              <a:ahLst/>
              <a:cxnLst/>
              <a:rect r="r" b="b" t="t" l="l"/>
              <a:pathLst>
                <a:path h="136840" w="2928368">
                  <a:moveTo>
                    <a:pt x="0" y="0"/>
                  </a:moveTo>
                  <a:lnTo>
                    <a:pt x="2928368" y="0"/>
                  </a:lnTo>
                  <a:lnTo>
                    <a:pt x="2928368" y="136840"/>
                  </a:lnTo>
                  <a:lnTo>
                    <a:pt x="0" y="136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6978" r="0" b="-366980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19050"/>
              <a:ext cx="2928366" cy="155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27"/>
                </a:lnSpc>
              </a:pPr>
              <a:r>
                <a:rPr lang="en-US" sz="1022" b="true">
                  <a:solidFill>
                    <a:srgbClr val="E9E9E9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Age distribution  </a:t>
              </a:r>
              <a:r>
                <a:rPr lang="en-US" sz="1022">
                  <a:solidFill>
                    <a:srgbClr val="BDBDBD"/>
                  </a:solidFill>
                  <a:latin typeface="Poppins"/>
                  <a:ea typeface="Poppins"/>
                  <a:cs typeface="Poppins"/>
                  <a:sym typeface="Poppins"/>
                </a:rPr>
                <a:t>·  90% aged 14–34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2695746" y="7612606"/>
            <a:ext cx="3162643" cy="332468"/>
            <a:chOff x="0" y="0"/>
            <a:chExt cx="2108429" cy="221645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2108454" cy="221603"/>
            </a:xfrm>
            <a:custGeom>
              <a:avLst/>
              <a:gdLst/>
              <a:ahLst/>
              <a:cxnLst/>
              <a:rect r="r" b="b" t="t" l="l"/>
              <a:pathLst>
                <a:path h="221603" w="2108454">
                  <a:moveTo>
                    <a:pt x="0" y="0"/>
                  </a:moveTo>
                  <a:lnTo>
                    <a:pt x="2108454" y="0"/>
                  </a:lnTo>
                  <a:lnTo>
                    <a:pt x="2108454" y="221603"/>
                  </a:lnTo>
                  <a:lnTo>
                    <a:pt x="0" y="221603"/>
                  </a:lnTo>
                  <a:close/>
                </a:path>
              </a:pathLst>
            </a:custGeom>
            <a:solidFill>
              <a:srgbClr val="F4F0BB"/>
            </a:solidFill>
          </p:spPr>
        </p:sp>
        <p:sp>
          <p:nvSpPr>
            <p:cNvPr name="TextBox 89" id="89"/>
            <p:cNvSpPr txBox="true"/>
            <p:nvPr/>
          </p:nvSpPr>
          <p:spPr>
            <a:xfrm>
              <a:off x="0" y="9525"/>
              <a:ext cx="2108429" cy="212120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r">
                <a:lnSpc>
                  <a:spcPts val="1163"/>
                </a:lnSpc>
              </a:pPr>
              <a:r>
                <a:rPr lang="en-US" sz="969" b="true">
                  <a:solidFill>
                    <a:srgbClr val="1A1A1A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72%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5858370" y="7612606"/>
            <a:ext cx="790651" cy="332468"/>
            <a:chOff x="0" y="0"/>
            <a:chExt cx="527101" cy="221645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527050" cy="221603"/>
            </a:xfrm>
            <a:custGeom>
              <a:avLst/>
              <a:gdLst/>
              <a:ahLst/>
              <a:cxnLst/>
              <a:rect r="r" b="b" t="t" l="l"/>
              <a:pathLst>
                <a:path h="221603" w="527050">
                  <a:moveTo>
                    <a:pt x="0" y="0"/>
                  </a:moveTo>
                  <a:lnTo>
                    <a:pt x="527050" y="0"/>
                  </a:lnTo>
                  <a:lnTo>
                    <a:pt x="527050" y="221603"/>
                  </a:lnTo>
                  <a:lnTo>
                    <a:pt x="0" y="221603"/>
                  </a:lnTo>
                  <a:close/>
                </a:path>
              </a:pathLst>
            </a:custGeom>
            <a:solidFill>
              <a:srgbClr val="C9C38A"/>
            </a:solidFill>
          </p:spPr>
        </p:sp>
        <p:sp>
          <p:nvSpPr>
            <p:cNvPr name="TextBox 92" id="92"/>
            <p:cNvSpPr txBox="true"/>
            <p:nvPr/>
          </p:nvSpPr>
          <p:spPr>
            <a:xfrm>
              <a:off x="0" y="9525"/>
              <a:ext cx="527101" cy="212120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r">
                <a:lnSpc>
                  <a:spcPts val="1163"/>
                </a:lnSpc>
              </a:pPr>
              <a:r>
                <a:rPr lang="en-US" sz="969" b="true">
                  <a:solidFill>
                    <a:srgbClr val="1A1A1A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18%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6649041" y="7612606"/>
            <a:ext cx="219627" cy="301047"/>
            <a:chOff x="0" y="0"/>
            <a:chExt cx="146418" cy="200698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46431" cy="200660"/>
            </a:xfrm>
            <a:custGeom>
              <a:avLst/>
              <a:gdLst/>
              <a:ahLst/>
              <a:cxnLst/>
              <a:rect r="r" b="b" t="t" l="l"/>
              <a:pathLst>
                <a:path h="200660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200660"/>
                  </a:lnTo>
                  <a:lnTo>
                    <a:pt x="0" y="200660"/>
                  </a:lnTo>
                  <a:close/>
                </a:path>
              </a:pathLst>
            </a:custGeom>
            <a:solidFill>
              <a:srgbClr val="8C8862"/>
            </a:solidFill>
          </p:spPr>
        </p:sp>
        <p:sp>
          <p:nvSpPr>
            <p:cNvPr name="TextBox 95" id="95"/>
            <p:cNvSpPr txBox="true"/>
            <p:nvPr/>
          </p:nvSpPr>
          <p:spPr>
            <a:xfrm>
              <a:off x="0" y="0"/>
              <a:ext cx="146418" cy="200698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ctr">
                <a:lnSpc>
                  <a:spcPts val="1098"/>
                </a:lnSpc>
              </a:pPr>
              <a:r>
                <a:rPr lang="en-US" sz="915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5%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6868668" y="7612606"/>
            <a:ext cx="219627" cy="301047"/>
            <a:chOff x="0" y="0"/>
            <a:chExt cx="146418" cy="200698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46431" cy="200660"/>
            </a:xfrm>
            <a:custGeom>
              <a:avLst/>
              <a:gdLst/>
              <a:ahLst/>
              <a:cxnLst/>
              <a:rect r="r" b="b" t="t" l="l"/>
              <a:pathLst>
                <a:path h="200660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200660"/>
                  </a:lnTo>
                  <a:lnTo>
                    <a:pt x="0" y="200660"/>
                  </a:lnTo>
                  <a:close/>
                </a:path>
              </a:pathLst>
            </a:custGeom>
            <a:solidFill>
              <a:srgbClr val="5C5942"/>
            </a:solidFill>
          </p:spPr>
        </p:sp>
        <p:sp>
          <p:nvSpPr>
            <p:cNvPr name="TextBox 98" id="98"/>
            <p:cNvSpPr txBox="true"/>
            <p:nvPr/>
          </p:nvSpPr>
          <p:spPr>
            <a:xfrm>
              <a:off x="0" y="0"/>
              <a:ext cx="146418" cy="200698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ctr">
                <a:lnSpc>
                  <a:spcPts val="1098"/>
                </a:lnSpc>
              </a:pPr>
              <a:r>
                <a:rPr lang="en-US" sz="915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5%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2695746" y="8050490"/>
            <a:ext cx="109480" cy="109480"/>
            <a:chOff x="0" y="0"/>
            <a:chExt cx="72987" cy="72987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73025" cy="73025"/>
            </a:xfrm>
            <a:custGeom>
              <a:avLst/>
              <a:gdLst/>
              <a:ahLst/>
              <a:cxnLst/>
              <a:rect r="r" b="b" t="t" l="l"/>
              <a:pathLst>
                <a:path h="73025" w="73025">
                  <a:moveTo>
                    <a:pt x="0" y="0"/>
                  </a:moveTo>
                  <a:lnTo>
                    <a:pt x="73025" y="0"/>
                  </a:lnTo>
                  <a:lnTo>
                    <a:pt x="73025" y="73025"/>
                  </a:lnTo>
                  <a:lnTo>
                    <a:pt x="0" y="73025"/>
                  </a:lnTo>
                  <a:close/>
                </a:path>
              </a:pathLst>
            </a:custGeom>
            <a:solidFill>
              <a:srgbClr val="F4F0BB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2873635" y="8009437"/>
            <a:ext cx="1778908" cy="191567"/>
            <a:chOff x="0" y="0"/>
            <a:chExt cx="1185939" cy="127711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185944" cy="127717"/>
            </a:xfrm>
            <a:custGeom>
              <a:avLst/>
              <a:gdLst/>
              <a:ahLst/>
              <a:cxnLst/>
              <a:rect r="r" b="b" t="t" l="l"/>
              <a:pathLst>
                <a:path h="127717" w="1185944">
                  <a:moveTo>
                    <a:pt x="0" y="0"/>
                  </a:moveTo>
                  <a:lnTo>
                    <a:pt x="1185944" y="0"/>
                  </a:lnTo>
                  <a:lnTo>
                    <a:pt x="1185944" y="127717"/>
                  </a:lnTo>
                  <a:lnTo>
                    <a:pt x="0" y="1277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0934" r="0" b="-130929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0"/>
              <a:ext cx="1185939" cy="1277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98"/>
                </a:lnSpc>
              </a:pPr>
              <a:r>
                <a:rPr lang="en-US" sz="915">
                  <a:solidFill>
                    <a:srgbClr val="E9E9E9"/>
                  </a:solidFill>
                  <a:latin typeface="Poppins"/>
                  <a:ea typeface="Poppins"/>
                  <a:cs typeface="Poppins"/>
                  <a:sym typeface="Poppins"/>
                </a:rPr>
                <a:t>14–25 (Gen Z)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4748327" y="8050490"/>
            <a:ext cx="109480" cy="109480"/>
            <a:chOff x="0" y="0"/>
            <a:chExt cx="72987" cy="72987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73025" cy="73025"/>
            </a:xfrm>
            <a:custGeom>
              <a:avLst/>
              <a:gdLst/>
              <a:ahLst/>
              <a:cxnLst/>
              <a:rect r="r" b="b" t="t" l="l"/>
              <a:pathLst>
                <a:path h="73025" w="73025">
                  <a:moveTo>
                    <a:pt x="0" y="0"/>
                  </a:moveTo>
                  <a:lnTo>
                    <a:pt x="73025" y="0"/>
                  </a:lnTo>
                  <a:lnTo>
                    <a:pt x="73025" y="73025"/>
                  </a:lnTo>
                  <a:lnTo>
                    <a:pt x="0" y="73025"/>
                  </a:lnTo>
                  <a:close/>
                </a:path>
              </a:pathLst>
            </a:custGeom>
            <a:solidFill>
              <a:srgbClr val="C9C38A"/>
            </a:solidFill>
          </p:spPr>
        </p:sp>
      </p:grpSp>
      <p:grpSp>
        <p:nvGrpSpPr>
          <p:cNvPr name="Group 106" id="106"/>
          <p:cNvGrpSpPr/>
          <p:nvPr/>
        </p:nvGrpSpPr>
        <p:grpSpPr>
          <a:xfrm rot="0">
            <a:off x="4926235" y="8009437"/>
            <a:ext cx="1778908" cy="191575"/>
            <a:chOff x="0" y="0"/>
            <a:chExt cx="1185939" cy="127717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1185944" cy="127723"/>
            </a:xfrm>
            <a:custGeom>
              <a:avLst/>
              <a:gdLst/>
              <a:ahLst/>
              <a:cxnLst/>
              <a:rect r="r" b="b" t="t" l="l"/>
              <a:pathLst>
                <a:path h="127723" w="1185944">
                  <a:moveTo>
                    <a:pt x="0" y="0"/>
                  </a:moveTo>
                  <a:lnTo>
                    <a:pt x="1185944" y="0"/>
                  </a:lnTo>
                  <a:lnTo>
                    <a:pt x="1185944" y="127723"/>
                  </a:lnTo>
                  <a:lnTo>
                    <a:pt x="0" y="1277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0928" r="0" b="-130919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9525"/>
              <a:ext cx="1185939" cy="1181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98"/>
                </a:lnSpc>
              </a:pPr>
              <a:r>
                <a:rPr lang="en-US" sz="915">
                  <a:solidFill>
                    <a:srgbClr val="E9E9E9"/>
                  </a:solidFill>
                  <a:latin typeface="DM Sans"/>
                  <a:ea typeface="DM Sans"/>
                  <a:cs typeface="DM Sans"/>
                  <a:sym typeface="DM Sans"/>
                </a:rPr>
                <a:t>25–34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2695746" y="8255753"/>
            <a:ext cx="109480" cy="109480"/>
            <a:chOff x="0" y="0"/>
            <a:chExt cx="72987" cy="72987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73025" cy="73025"/>
            </a:xfrm>
            <a:custGeom>
              <a:avLst/>
              <a:gdLst/>
              <a:ahLst/>
              <a:cxnLst/>
              <a:rect r="r" b="b" t="t" l="l"/>
              <a:pathLst>
                <a:path h="73025" w="73025">
                  <a:moveTo>
                    <a:pt x="0" y="0"/>
                  </a:moveTo>
                  <a:lnTo>
                    <a:pt x="73025" y="0"/>
                  </a:lnTo>
                  <a:lnTo>
                    <a:pt x="73025" y="73025"/>
                  </a:lnTo>
                  <a:lnTo>
                    <a:pt x="0" y="73025"/>
                  </a:lnTo>
                  <a:close/>
                </a:path>
              </a:pathLst>
            </a:custGeom>
            <a:solidFill>
              <a:srgbClr val="8C8862"/>
            </a:solidFill>
          </p:spPr>
        </p:sp>
      </p:grpSp>
      <p:grpSp>
        <p:nvGrpSpPr>
          <p:cNvPr name="Group 111" id="111"/>
          <p:cNvGrpSpPr/>
          <p:nvPr/>
        </p:nvGrpSpPr>
        <p:grpSpPr>
          <a:xfrm rot="0">
            <a:off x="2873635" y="8214701"/>
            <a:ext cx="1778908" cy="191575"/>
            <a:chOff x="0" y="0"/>
            <a:chExt cx="1185939" cy="127717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1185944" cy="127723"/>
            </a:xfrm>
            <a:custGeom>
              <a:avLst/>
              <a:gdLst/>
              <a:ahLst/>
              <a:cxnLst/>
              <a:rect r="r" b="b" t="t" l="l"/>
              <a:pathLst>
                <a:path h="127723" w="1185944">
                  <a:moveTo>
                    <a:pt x="0" y="0"/>
                  </a:moveTo>
                  <a:lnTo>
                    <a:pt x="1185944" y="0"/>
                  </a:lnTo>
                  <a:lnTo>
                    <a:pt x="1185944" y="127723"/>
                  </a:lnTo>
                  <a:lnTo>
                    <a:pt x="0" y="1277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0928" r="0" b="-130919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9525"/>
              <a:ext cx="1185939" cy="1181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98"/>
                </a:lnSpc>
              </a:pPr>
              <a:r>
                <a:rPr lang="en-US" sz="915">
                  <a:solidFill>
                    <a:srgbClr val="E9E9E9"/>
                  </a:solidFill>
                  <a:latin typeface="DM Sans"/>
                  <a:ea typeface="DM Sans"/>
                  <a:cs typeface="DM Sans"/>
                  <a:sym typeface="DM Sans"/>
                </a:rPr>
                <a:t>35–44</a:t>
              </a: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4748327" y="8255753"/>
            <a:ext cx="109480" cy="109480"/>
            <a:chOff x="0" y="0"/>
            <a:chExt cx="72987" cy="72987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73025" cy="73025"/>
            </a:xfrm>
            <a:custGeom>
              <a:avLst/>
              <a:gdLst/>
              <a:ahLst/>
              <a:cxnLst/>
              <a:rect r="r" b="b" t="t" l="l"/>
              <a:pathLst>
                <a:path h="73025" w="73025">
                  <a:moveTo>
                    <a:pt x="0" y="0"/>
                  </a:moveTo>
                  <a:lnTo>
                    <a:pt x="73025" y="0"/>
                  </a:lnTo>
                  <a:lnTo>
                    <a:pt x="73025" y="73025"/>
                  </a:lnTo>
                  <a:lnTo>
                    <a:pt x="0" y="73025"/>
                  </a:lnTo>
                  <a:close/>
                </a:path>
              </a:pathLst>
            </a:custGeom>
            <a:solidFill>
              <a:srgbClr val="5C5942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4926235" y="8214701"/>
            <a:ext cx="1778908" cy="191575"/>
            <a:chOff x="0" y="0"/>
            <a:chExt cx="1185939" cy="127717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1185944" cy="127723"/>
            </a:xfrm>
            <a:custGeom>
              <a:avLst/>
              <a:gdLst/>
              <a:ahLst/>
              <a:cxnLst/>
              <a:rect r="r" b="b" t="t" l="l"/>
              <a:pathLst>
                <a:path h="127723" w="1185944">
                  <a:moveTo>
                    <a:pt x="0" y="0"/>
                  </a:moveTo>
                  <a:lnTo>
                    <a:pt x="1185944" y="0"/>
                  </a:lnTo>
                  <a:lnTo>
                    <a:pt x="1185944" y="127723"/>
                  </a:lnTo>
                  <a:lnTo>
                    <a:pt x="0" y="1277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0928" r="0" b="-130919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9525"/>
              <a:ext cx="1185939" cy="1181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98"/>
                </a:lnSpc>
              </a:pPr>
              <a:r>
                <a:rPr lang="en-US" sz="915">
                  <a:solidFill>
                    <a:srgbClr val="E9E9E9"/>
                  </a:solidFill>
                  <a:latin typeface="DM Sans"/>
                  <a:ea typeface="DM Sans"/>
                  <a:cs typeface="DM Sans"/>
                  <a:sym typeface="DM Sans"/>
                </a:rPr>
                <a:t>45+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2695746" y="8502051"/>
            <a:ext cx="4392549" cy="465255"/>
            <a:chOff x="0" y="0"/>
            <a:chExt cx="2928366" cy="31017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2928368" cy="310168"/>
            </a:xfrm>
            <a:custGeom>
              <a:avLst/>
              <a:gdLst/>
              <a:ahLst/>
              <a:cxnLst/>
              <a:rect r="r" b="b" t="t" l="l"/>
              <a:pathLst>
                <a:path h="310168" w="2928368">
                  <a:moveTo>
                    <a:pt x="0" y="0"/>
                  </a:moveTo>
                  <a:lnTo>
                    <a:pt x="2928368" y="0"/>
                  </a:lnTo>
                  <a:lnTo>
                    <a:pt x="2928368" y="310168"/>
                  </a:lnTo>
                  <a:lnTo>
                    <a:pt x="0" y="3101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962" r="0" b="-133963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0"/>
              <a:ext cx="2928366" cy="310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27"/>
                </a:lnSpc>
              </a:pPr>
              <a:r>
                <a:rPr lang="en-US" sz="1022" b="true">
                  <a:solidFill>
                    <a:srgbClr val="F4F0BB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2,500+</a:t>
              </a:r>
              <a:r>
                <a:rPr lang="en-US" sz="1022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   students of Universitas Indonesia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602108" y="2742779"/>
            <a:ext cx="1833611" cy="345984"/>
            <a:chOff x="0" y="0"/>
            <a:chExt cx="2444815" cy="461312"/>
          </a:xfrm>
        </p:grpSpPr>
        <p:grpSp>
          <p:nvGrpSpPr>
            <p:cNvPr name="Group 123" id="123"/>
            <p:cNvGrpSpPr/>
            <p:nvPr/>
          </p:nvGrpSpPr>
          <p:grpSpPr>
            <a:xfrm rot="0">
              <a:off x="0" y="0"/>
              <a:ext cx="2444815" cy="461312"/>
              <a:chOff x="0" y="0"/>
              <a:chExt cx="657125" cy="123993"/>
            </a:xfrm>
          </p:grpSpPr>
          <p:sp>
            <p:nvSpPr>
              <p:cNvPr name="Freeform 124" id="124"/>
              <p:cNvSpPr/>
              <p:nvPr/>
            </p:nvSpPr>
            <p:spPr>
              <a:xfrm flipH="false" flipV="false" rot="0">
                <a:off x="0" y="0"/>
                <a:ext cx="657125" cy="123993"/>
              </a:xfrm>
              <a:custGeom>
                <a:avLst/>
                <a:gdLst/>
                <a:ahLst/>
                <a:cxnLst/>
                <a:rect r="r" b="b" t="t" l="l"/>
                <a:pathLst>
                  <a:path h="123993" w="657125">
                    <a:moveTo>
                      <a:pt x="29556" y="0"/>
                    </a:moveTo>
                    <a:lnTo>
                      <a:pt x="627569" y="0"/>
                    </a:lnTo>
                    <a:cubicBezTo>
                      <a:pt x="635408" y="0"/>
                      <a:pt x="642926" y="3114"/>
                      <a:pt x="648468" y="8657"/>
                    </a:cubicBezTo>
                    <a:cubicBezTo>
                      <a:pt x="654011" y="14199"/>
                      <a:pt x="657125" y="21717"/>
                      <a:pt x="657125" y="29556"/>
                    </a:cubicBezTo>
                    <a:lnTo>
                      <a:pt x="657125" y="94437"/>
                    </a:lnTo>
                    <a:cubicBezTo>
                      <a:pt x="657125" y="102276"/>
                      <a:pt x="654011" y="109793"/>
                      <a:pt x="648468" y="115336"/>
                    </a:cubicBezTo>
                    <a:cubicBezTo>
                      <a:pt x="642926" y="120879"/>
                      <a:pt x="635408" y="123993"/>
                      <a:pt x="627569" y="123993"/>
                    </a:cubicBezTo>
                    <a:lnTo>
                      <a:pt x="29556" y="123993"/>
                    </a:lnTo>
                    <a:cubicBezTo>
                      <a:pt x="21717" y="123993"/>
                      <a:pt x="14199" y="120879"/>
                      <a:pt x="8657" y="115336"/>
                    </a:cubicBezTo>
                    <a:cubicBezTo>
                      <a:pt x="3114" y="109793"/>
                      <a:pt x="0" y="102276"/>
                      <a:pt x="0" y="94437"/>
                    </a:cubicBezTo>
                    <a:lnTo>
                      <a:pt x="0" y="29556"/>
                    </a:lnTo>
                    <a:cubicBezTo>
                      <a:pt x="0" y="21717"/>
                      <a:pt x="3114" y="14199"/>
                      <a:pt x="8657" y="8657"/>
                    </a:cubicBezTo>
                    <a:cubicBezTo>
                      <a:pt x="14199" y="3114"/>
                      <a:pt x="21717" y="0"/>
                      <a:pt x="2955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9D9D9">
                      <a:alpha val="100000"/>
                    </a:srgbClr>
                  </a:gs>
                </a:gsLst>
                <a:lin ang="540000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name="TextBox 125" id="125"/>
              <p:cNvSpPr txBox="true"/>
              <p:nvPr/>
            </p:nvSpPr>
            <p:spPr>
              <a:xfrm>
                <a:off x="0" y="-9525"/>
                <a:ext cx="657125" cy="13351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236"/>
                  </a:lnSpc>
                </a:pPr>
              </a:p>
            </p:txBody>
          </p:sp>
        </p:grpSp>
        <p:sp>
          <p:nvSpPr>
            <p:cNvPr name="Freeform 126" id="126"/>
            <p:cNvSpPr/>
            <p:nvPr/>
          </p:nvSpPr>
          <p:spPr>
            <a:xfrm flipH="false" flipV="false" rot="0">
              <a:off x="79175" y="74531"/>
              <a:ext cx="312251" cy="312251"/>
            </a:xfrm>
            <a:custGeom>
              <a:avLst/>
              <a:gdLst/>
              <a:ahLst/>
              <a:cxnLst/>
              <a:rect r="r" b="b" t="t" l="l"/>
              <a:pathLst>
                <a:path h="312251" w="312251">
                  <a:moveTo>
                    <a:pt x="0" y="0"/>
                  </a:moveTo>
                  <a:lnTo>
                    <a:pt x="312251" y="0"/>
                  </a:lnTo>
                  <a:lnTo>
                    <a:pt x="312251" y="312250"/>
                  </a:lnTo>
                  <a:lnTo>
                    <a:pt x="0" y="312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 rot="0">
              <a:off x="597835" y="72286"/>
              <a:ext cx="1217581" cy="3122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63"/>
                </a:lnSpc>
                <a:spcBef>
                  <a:spcPct val="0"/>
                </a:spcBef>
              </a:pPr>
              <a:r>
                <a:rPr lang="en-US" b="true" sz="1552">
                  <a:solidFill>
                    <a:srgbClr val="00352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Followers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2873635" y="2742779"/>
            <a:ext cx="1833611" cy="345984"/>
            <a:chOff x="0" y="0"/>
            <a:chExt cx="2444815" cy="461312"/>
          </a:xfrm>
        </p:grpSpPr>
        <p:grpSp>
          <p:nvGrpSpPr>
            <p:cNvPr name="Group 129" id="129"/>
            <p:cNvGrpSpPr/>
            <p:nvPr/>
          </p:nvGrpSpPr>
          <p:grpSpPr>
            <a:xfrm rot="0">
              <a:off x="0" y="0"/>
              <a:ext cx="2444815" cy="461312"/>
              <a:chOff x="0" y="0"/>
              <a:chExt cx="657125" cy="123993"/>
            </a:xfrm>
          </p:grpSpPr>
          <p:sp>
            <p:nvSpPr>
              <p:cNvPr name="Freeform 130" id="130"/>
              <p:cNvSpPr/>
              <p:nvPr/>
            </p:nvSpPr>
            <p:spPr>
              <a:xfrm flipH="false" flipV="false" rot="0">
                <a:off x="0" y="0"/>
                <a:ext cx="657125" cy="123993"/>
              </a:xfrm>
              <a:custGeom>
                <a:avLst/>
                <a:gdLst/>
                <a:ahLst/>
                <a:cxnLst/>
                <a:rect r="r" b="b" t="t" l="l"/>
                <a:pathLst>
                  <a:path h="123993" w="657125">
                    <a:moveTo>
                      <a:pt x="29556" y="0"/>
                    </a:moveTo>
                    <a:lnTo>
                      <a:pt x="627569" y="0"/>
                    </a:lnTo>
                    <a:cubicBezTo>
                      <a:pt x="635408" y="0"/>
                      <a:pt x="642926" y="3114"/>
                      <a:pt x="648468" y="8657"/>
                    </a:cubicBezTo>
                    <a:cubicBezTo>
                      <a:pt x="654011" y="14199"/>
                      <a:pt x="657125" y="21717"/>
                      <a:pt x="657125" y="29556"/>
                    </a:cubicBezTo>
                    <a:lnTo>
                      <a:pt x="657125" y="94437"/>
                    </a:lnTo>
                    <a:cubicBezTo>
                      <a:pt x="657125" y="102276"/>
                      <a:pt x="654011" y="109793"/>
                      <a:pt x="648468" y="115336"/>
                    </a:cubicBezTo>
                    <a:cubicBezTo>
                      <a:pt x="642926" y="120879"/>
                      <a:pt x="635408" y="123993"/>
                      <a:pt x="627569" y="123993"/>
                    </a:cubicBezTo>
                    <a:lnTo>
                      <a:pt x="29556" y="123993"/>
                    </a:lnTo>
                    <a:cubicBezTo>
                      <a:pt x="21717" y="123993"/>
                      <a:pt x="14199" y="120879"/>
                      <a:pt x="8657" y="115336"/>
                    </a:cubicBezTo>
                    <a:cubicBezTo>
                      <a:pt x="3114" y="109793"/>
                      <a:pt x="0" y="102276"/>
                      <a:pt x="0" y="94437"/>
                    </a:cubicBezTo>
                    <a:lnTo>
                      <a:pt x="0" y="29556"/>
                    </a:lnTo>
                    <a:cubicBezTo>
                      <a:pt x="0" y="21717"/>
                      <a:pt x="3114" y="14199"/>
                      <a:pt x="8657" y="8657"/>
                    </a:cubicBezTo>
                    <a:cubicBezTo>
                      <a:pt x="14199" y="3114"/>
                      <a:pt x="21717" y="0"/>
                      <a:pt x="2955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9D9D9">
                      <a:alpha val="100000"/>
                    </a:srgbClr>
                  </a:gs>
                </a:gsLst>
                <a:lin ang="540000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name="TextBox 131" id="131"/>
              <p:cNvSpPr txBox="true"/>
              <p:nvPr/>
            </p:nvSpPr>
            <p:spPr>
              <a:xfrm>
                <a:off x="0" y="-9525"/>
                <a:ext cx="657125" cy="13351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236"/>
                  </a:lnSpc>
                </a:pPr>
              </a:p>
            </p:txBody>
          </p:sp>
        </p:grpSp>
        <p:sp>
          <p:nvSpPr>
            <p:cNvPr name="TextBox 132" id="132"/>
            <p:cNvSpPr txBox="true"/>
            <p:nvPr/>
          </p:nvSpPr>
          <p:spPr>
            <a:xfrm rot="0">
              <a:off x="597835" y="72286"/>
              <a:ext cx="1217581" cy="3122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63"/>
                </a:lnSpc>
                <a:spcBef>
                  <a:spcPct val="0"/>
                </a:spcBef>
              </a:pPr>
              <a:r>
                <a:rPr lang="en-US" b="true" sz="1552">
                  <a:solidFill>
                    <a:srgbClr val="00352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X</a:t>
              </a:r>
            </a:p>
          </p:txBody>
        </p:sp>
      </p:grpSp>
      <p:grpSp>
        <p:nvGrpSpPr>
          <p:cNvPr name="Group 133" id="133"/>
          <p:cNvGrpSpPr/>
          <p:nvPr/>
        </p:nvGrpSpPr>
        <p:grpSpPr>
          <a:xfrm rot="0">
            <a:off x="5174190" y="2742779"/>
            <a:ext cx="1833611" cy="345984"/>
            <a:chOff x="0" y="0"/>
            <a:chExt cx="2444815" cy="461312"/>
          </a:xfrm>
        </p:grpSpPr>
        <p:grpSp>
          <p:nvGrpSpPr>
            <p:cNvPr name="Group 134" id="134"/>
            <p:cNvGrpSpPr/>
            <p:nvPr/>
          </p:nvGrpSpPr>
          <p:grpSpPr>
            <a:xfrm rot="0">
              <a:off x="0" y="0"/>
              <a:ext cx="2444815" cy="461312"/>
              <a:chOff x="0" y="0"/>
              <a:chExt cx="657125" cy="123993"/>
            </a:xfrm>
          </p:grpSpPr>
          <p:sp>
            <p:nvSpPr>
              <p:cNvPr name="Freeform 135" id="135"/>
              <p:cNvSpPr/>
              <p:nvPr/>
            </p:nvSpPr>
            <p:spPr>
              <a:xfrm flipH="false" flipV="false" rot="0">
                <a:off x="0" y="0"/>
                <a:ext cx="657125" cy="123993"/>
              </a:xfrm>
              <a:custGeom>
                <a:avLst/>
                <a:gdLst/>
                <a:ahLst/>
                <a:cxnLst/>
                <a:rect r="r" b="b" t="t" l="l"/>
                <a:pathLst>
                  <a:path h="123993" w="657125">
                    <a:moveTo>
                      <a:pt x="29556" y="0"/>
                    </a:moveTo>
                    <a:lnTo>
                      <a:pt x="627569" y="0"/>
                    </a:lnTo>
                    <a:cubicBezTo>
                      <a:pt x="635408" y="0"/>
                      <a:pt x="642926" y="3114"/>
                      <a:pt x="648468" y="8657"/>
                    </a:cubicBezTo>
                    <a:cubicBezTo>
                      <a:pt x="654011" y="14199"/>
                      <a:pt x="657125" y="21717"/>
                      <a:pt x="657125" y="29556"/>
                    </a:cubicBezTo>
                    <a:lnTo>
                      <a:pt x="657125" y="94437"/>
                    </a:lnTo>
                    <a:cubicBezTo>
                      <a:pt x="657125" y="102276"/>
                      <a:pt x="654011" y="109793"/>
                      <a:pt x="648468" y="115336"/>
                    </a:cubicBezTo>
                    <a:cubicBezTo>
                      <a:pt x="642926" y="120879"/>
                      <a:pt x="635408" y="123993"/>
                      <a:pt x="627569" y="123993"/>
                    </a:cubicBezTo>
                    <a:lnTo>
                      <a:pt x="29556" y="123993"/>
                    </a:lnTo>
                    <a:cubicBezTo>
                      <a:pt x="21717" y="123993"/>
                      <a:pt x="14199" y="120879"/>
                      <a:pt x="8657" y="115336"/>
                    </a:cubicBezTo>
                    <a:cubicBezTo>
                      <a:pt x="3114" y="109793"/>
                      <a:pt x="0" y="102276"/>
                      <a:pt x="0" y="94437"/>
                    </a:cubicBezTo>
                    <a:lnTo>
                      <a:pt x="0" y="29556"/>
                    </a:lnTo>
                    <a:cubicBezTo>
                      <a:pt x="0" y="21717"/>
                      <a:pt x="3114" y="14199"/>
                      <a:pt x="8657" y="8657"/>
                    </a:cubicBezTo>
                    <a:cubicBezTo>
                      <a:pt x="14199" y="3114"/>
                      <a:pt x="21717" y="0"/>
                      <a:pt x="2955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9D9D9">
                      <a:alpha val="100000"/>
                    </a:srgbClr>
                  </a:gs>
                </a:gsLst>
                <a:lin ang="540000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name="TextBox 136" id="136"/>
              <p:cNvSpPr txBox="true"/>
              <p:nvPr/>
            </p:nvSpPr>
            <p:spPr>
              <a:xfrm>
                <a:off x="0" y="-9525"/>
                <a:ext cx="657125" cy="13351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236"/>
                  </a:lnSpc>
                </a:pPr>
              </a:p>
            </p:txBody>
          </p:sp>
        </p:grpSp>
        <p:sp>
          <p:nvSpPr>
            <p:cNvPr name="TextBox 137" id="137"/>
            <p:cNvSpPr txBox="true"/>
            <p:nvPr/>
          </p:nvSpPr>
          <p:spPr>
            <a:xfrm rot="0">
              <a:off x="597835" y="72286"/>
              <a:ext cx="1217581" cy="3122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63"/>
                </a:lnSpc>
                <a:spcBef>
                  <a:spcPct val="0"/>
                </a:spcBef>
              </a:pPr>
              <a:r>
                <a:rPr lang="en-US" b="true" sz="1552">
                  <a:solidFill>
                    <a:srgbClr val="00352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Linkedin</a:t>
              </a:r>
            </a:p>
          </p:txBody>
        </p:sp>
      </p:grpSp>
      <p:sp>
        <p:nvSpPr>
          <p:cNvPr name="TextBox 138" id="138"/>
          <p:cNvSpPr txBox="true"/>
          <p:nvPr/>
        </p:nvSpPr>
        <p:spPr>
          <a:xfrm rot="0">
            <a:off x="506311" y="1149608"/>
            <a:ext cx="4803696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6"/>
              </a:lnSpc>
            </a:pPr>
            <a:r>
              <a:rPr lang="en-US" sz="3663" b="true">
                <a:solidFill>
                  <a:srgbClr val="F4F0BB"/>
                </a:solidFill>
                <a:latin typeface="DM Sans Bold"/>
                <a:ea typeface="DM Sans Bold"/>
                <a:cs typeface="DM Sans Bold"/>
                <a:sym typeface="DM Sans Bold"/>
              </a:rPr>
              <a:t>Event Scale &amp; Impact</a:t>
            </a:r>
          </a:p>
        </p:txBody>
      </p:sp>
      <p:sp>
        <p:nvSpPr>
          <p:cNvPr name="TextBox 139" id="139"/>
          <p:cNvSpPr txBox="true"/>
          <p:nvPr/>
        </p:nvSpPr>
        <p:spPr>
          <a:xfrm rot="0">
            <a:off x="506311" y="1742177"/>
            <a:ext cx="6581985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3"/>
              </a:lnSpc>
            </a:pPr>
            <a:r>
              <a:rPr lang="en-US" sz="1669">
                <a:solidFill>
                  <a:srgbClr val="E9E9E9"/>
                </a:solidFill>
                <a:latin typeface="DM Sans"/>
                <a:ea typeface="DM Sans"/>
                <a:cs typeface="DM Sans"/>
                <a:sym typeface="DM Sans"/>
              </a:rPr>
              <a:t>ICMSS Capital Market Events &amp; Learning Programs</a:t>
            </a:r>
          </a:p>
        </p:txBody>
      </p:sp>
      <p:sp>
        <p:nvSpPr>
          <p:cNvPr name="TextBox 140" id="140"/>
          <p:cNvSpPr txBox="true"/>
          <p:nvPr/>
        </p:nvSpPr>
        <p:spPr>
          <a:xfrm rot="0">
            <a:off x="506311" y="2061074"/>
            <a:ext cx="6581985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8"/>
              </a:lnSpc>
            </a:pPr>
            <a:r>
              <a:rPr lang="en-US" sz="10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Indonesia's biggest and oldest student-run capital market event, uniting students, professionals, and industry leaders with support from IDX and CFA Society Indonesia.</a:t>
            </a:r>
          </a:p>
        </p:txBody>
      </p:sp>
      <p:sp>
        <p:nvSpPr>
          <p:cNvPr name="TextBox 141" id="141"/>
          <p:cNvSpPr txBox="true"/>
          <p:nvPr/>
        </p:nvSpPr>
        <p:spPr>
          <a:xfrm rot="0">
            <a:off x="506311" y="4834754"/>
            <a:ext cx="6581985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3"/>
              </a:lnSpc>
            </a:pPr>
            <a:r>
              <a:rPr lang="en-US" sz="1561">
                <a:solidFill>
                  <a:srgbClr val="E9E9E9"/>
                </a:solidFill>
                <a:latin typeface="DM Sans"/>
                <a:ea typeface="DM Sans"/>
                <a:cs typeface="DM Sans"/>
                <a:sym typeface="DM Sans"/>
              </a:rPr>
              <a:t>Flagship Programs at The 25th ICMSS</a:t>
            </a:r>
          </a:p>
        </p:txBody>
      </p:sp>
      <p:sp>
        <p:nvSpPr>
          <p:cNvPr name="TextBox 142" id="142"/>
          <p:cNvSpPr txBox="true"/>
          <p:nvPr/>
        </p:nvSpPr>
        <p:spPr>
          <a:xfrm rot="0">
            <a:off x="506311" y="6578934"/>
            <a:ext cx="6581985" cy="16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3"/>
              </a:lnSpc>
            </a:pPr>
            <a:r>
              <a:rPr lang="en-US" sz="106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Also featuring Trading Competition &amp; #BlueTalks digital talk show  ·  run by 80+ committee members</a:t>
            </a:r>
          </a:p>
        </p:txBody>
      </p:sp>
      <p:sp>
        <p:nvSpPr>
          <p:cNvPr name="TextBox 143" id="143"/>
          <p:cNvSpPr txBox="true"/>
          <p:nvPr/>
        </p:nvSpPr>
        <p:spPr>
          <a:xfrm rot="0">
            <a:off x="506311" y="6969459"/>
            <a:ext cx="6581985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3"/>
              </a:lnSpc>
            </a:pPr>
            <a:r>
              <a:rPr lang="en-US" sz="1561">
                <a:solidFill>
                  <a:srgbClr val="E9E9E9"/>
                </a:solidFill>
                <a:latin typeface="DM Sans"/>
                <a:ea typeface="DM Sans"/>
                <a:cs typeface="DM Sans"/>
                <a:sym typeface="DM Sans"/>
              </a:rPr>
              <a:t>Audience Profile</a:t>
            </a:r>
          </a:p>
        </p:txBody>
      </p:sp>
      <p:sp>
        <p:nvSpPr>
          <p:cNvPr name="TextBox 144" id="144"/>
          <p:cNvSpPr txBox="true"/>
          <p:nvPr/>
        </p:nvSpPr>
        <p:spPr>
          <a:xfrm rot="0">
            <a:off x="1045357" y="7581079"/>
            <a:ext cx="919758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6"/>
              </a:lnSpc>
            </a:pPr>
            <a:r>
              <a:rPr lang="en-US" sz="3663" b="true">
                <a:solidFill>
                  <a:srgbClr val="F4F0BB"/>
                </a:solidFill>
                <a:latin typeface="DM Sans Bold"/>
                <a:ea typeface="DM Sans Bold"/>
                <a:cs typeface="DM Sans Bold"/>
                <a:sym typeface="DM Sans Bold"/>
              </a:rPr>
              <a:t>72%</a:t>
            </a:r>
          </a:p>
        </p:txBody>
      </p:sp>
      <p:sp>
        <p:nvSpPr>
          <p:cNvPr name="TextBox 145" id="145"/>
          <p:cNvSpPr txBox="true"/>
          <p:nvPr/>
        </p:nvSpPr>
        <p:spPr>
          <a:xfrm rot="0">
            <a:off x="506311" y="8237904"/>
            <a:ext cx="199785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3"/>
              </a:lnSpc>
            </a:pPr>
            <a:r>
              <a:rPr lang="en-US" sz="96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Gen Z audience</a:t>
            </a:r>
          </a:p>
          <a:p>
            <a:pPr algn="ctr">
              <a:lnSpc>
                <a:spcPts val="1163"/>
              </a:lnSpc>
            </a:pPr>
            <a:r>
              <a:rPr lang="en-US" sz="96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(aged 14–25)</a:t>
            </a:r>
          </a:p>
        </p:txBody>
      </p:sp>
      <p:sp>
        <p:nvSpPr>
          <p:cNvPr name="TextBox 146" id="146"/>
          <p:cNvSpPr txBox="true"/>
          <p:nvPr/>
        </p:nvSpPr>
        <p:spPr>
          <a:xfrm rot="0">
            <a:off x="506311" y="9213626"/>
            <a:ext cx="658198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7"/>
              </a:lnSpc>
            </a:pPr>
            <a:r>
              <a:rPr lang="en-US" sz="1222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Program and audience figures are based on The 25th ICMSS. Total participants and speakers &amp; panelists are cumulative across past editions.</a:t>
            </a:r>
          </a:p>
        </p:txBody>
      </p:sp>
      <p:sp>
        <p:nvSpPr>
          <p:cNvPr name="TextBox 147" id="147"/>
          <p:cNvSpPr txBox="true"/>
          <p:nvPr/>
        </p:nvSpPr>
        <p:spPr>
          <a:xfrm rot="0">
            <a:off x="0" y="10413775"/>
            <a:ext cx="7594606" cy="201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817">
                <a:solidFill>
                  <a:srgbClr val="E9E9E9"/>
                </a:solidFill>
                <a:latin typeface="Poppins"/>
                <a:ea typeface="Poppins"/>
                <a:cs typeface="Poppins"/>
                <a:sym typeface="Poppins"/>
              </a:rPr>
              <a:t>Confidential &amp; Proprietary © 2026 Not Into Finance &amp; Indonesia Capital Market Student Studies. All rights reserved.</a:t>
            </a:r>
          </a:p>
        </p:txBody>
      </p:sp>
      <p:grpSp>
        <p:nvGrpSpPr>
          <p:cNvPr name="Group 148" id="148"/>
          <p:cNvGrpSpPr/>
          <p:nvPr/>
        </p:nvGrpSpPr>
        <p:grpSpPr>
          <a:xfrm rot="0">
            <a:off x="2880497" y="2742779"/>
            <a:ext cx="1833611" cy="345984"/>
            <a:chOff x="0" y="0"/>
            <a:chExt cx="2444815" cy="461312"/>
          </a:xfrm>
        </p:grpSpPr>
        <p:grpSp>
          <p:nvGrpSpPr>
            <p:cNvPr name="Group 149" id="149"/>
            <p:cNvGrpSpPr/>
            <p:nvPr/>
          </p:nvGrpSpPr>
          <p:grpSpPr>
            <a:xfrm rot="0">
              <a:off x="0" y="0"/>
              <a:ext cx="2444815" cy="461312"/>
              <a:chOff x="0" y="0"/>
              <a:chExt cx="657125" cy="123993"/>
            </a:xfrm>
          </p:grpSpPr>
          <p:sp>
            <p:nvSpPr>
              <p:cNvPr name="Freeform 150" id="150"/>
              <p:cNvSpPr/>
              <p:nvPr/>
            </p:nvSpPr>
            <p:spPr>
              <a:xfrm flipH="false" flipV="false" rot="0">
                <a:off x="0" y="0"/>
                <a:ext cx="657125" cy="123993"/>
              </a:xfrm>
              <a:custGeom>
                <a:avLst/>
                <a:gdLst/>
                <a:ahLst/>
                <a:cxnLst/>
                <a:rect r="r" b="b" t="t" l="l"/>
                <a:pathLst>
                  <a:path h="123993" w="657125">
                    <a:moveTo>
                      <a:pt x="29556" y="0"/>
                    </a:moveTo>
                    <a:lnTo>
                      <a:pt x="627569" y="0"/>
                    </a:lnTo>
                    <a:cubicBezTo>
                      <a:pt x="635408" y="0"/>
                      <a:pt x="642926" y="3114"/>
                      <a:pt x="648468" y="8657"/>
                    </a:cubicBezTo>
                    <a:cubicBezTo>
                      <a:pt x="654011" y="14199"/>
                      <a:pt x="657125" y="21717"/>
                      <a:pt x="657125" y="29556"/>
                    </a:cubicBezTo>
                    <a:lnTo>
                      <a:pt x="657125" y="94437"/>
                    </a:lnTo>
                    <a:cubicBezTo>
                      <a:pt x="657125" y="102276"/>
                      <a:pt x="654011" y="109793"/>
                      <a:pt x="648468" y="115336"/>
                    </a:cubicBezTo>
                    <a:cubicBezTo>
                      <a:pt x="642926" y="120879"/>
                      <a:pt x="635408" y="123993"/>
                      <a:pt x="627569" y="123993"/>
                    </a:cubicBezTo>
                    <a:lnTo>
                      <a:pt x="29556" y="123993"/>
                    </a:lnTo>
                    <a:cubicBezTo>
                      <a:pt x="21717" y="123993"/>
                      <a:pt x="14199" y="120879"/>
                      <a:pt x="8657" y="115336"/>
                    </a:cubicBezTo>
                    <a:cubicBezTo>
                      <a:pt x="3114" y="109793"/>
                      <a:pt x="0" y="102276"/>
                      <a:pt x="0" y="94437"/>
                    </a:cubicBezTo>
                    <a:lnTo>
                      <a:pt x="0" y="29556"/>
                    </a:lnTo>
                    <a:cubicBezTo>
                      <a:pt x="0" y="21717"/>
                      <a:pt x="3114" y="14199"/>
                      <a:pt x="8657" y="8657"/>
                    </a:cubicBezTo>
                    <a:cubicBezTo>
                      <a:pt x="14199" y="3114"/>
                      <a:pt x="21717" y="0"/>
                      <a:pt x="2955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9D9D9">
                      <a:alpha val="100000"/>
                    </a:srgbClr>
                  </a:gs>
                </a:gsLst>
                <a:lin ang="540000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name="TextBox 151" id="151"/>
              <p:cNvSpPr txBox="true"/>
              <p:nvPr/>
            </p:nvSpPr>
            <p:spPr>
              <a:xfrm>
                <a:off x="0" y="-9525"/>
                <a:ext cx="657125" cy="13351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236"/>
                  </a:lnSpc>
                </a:pPr>
              </a:p>
            </p:txBody>
          </p:sp>
        </p:grpSp>
        <p:sp>
          <p:nvSpPr>
            <p:cNvPr name="TextBox 152" id="152"/>
            <p:cNvSpPr txBox="true"/>
            <p:nvPr/>
          </p:nvSpPr>
          <p:spPr>
            <a:xfrm rot="0">
              <a:off x="597835" y="72286"/>
              <a:ext cx="1217581" cy="3122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63"/>
                </a:lnSpc>
                <a:spcBef>
                  <a:spcPct val="0"/>
                </a:spcBef>
              </a:pPr>
              <a:r>
                <a:rPr lang="en-US" b="true" sz="1552">
                  <a:solidFill>
                    <a:srgbClr val="00352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Followers</a:t>
              </a:r>
            </a:p>
          </p:txBody>
        </p:sp>
        <p:sp>
          <p:nvSpPr>
            <p:cNvPr name="Freeform 153" id="153"/>
            <p:cNvSpPr/>
            <p:nvPr/>
          </p:nvSpPr>
          <p:spPr>
            <a:xfrm flipH="false" flipV="false" rot="0">
              <a:off x="152328" y="71521"/>
              <a:ext cx="303270" cy="303270"/>
            </a:xfrm>
            <a:custGeom>
              <a:avLst/>
              <a:gdLst/>
              <a:ahLst/>
              <a:cxnLst/>
              <a:rect r="r" b="b" t="t" l="l"/>
              <a:pathLst>
                <a:path h="303270" w="303270">
                  <a:moveTo>
                    <a:pt x="0" y="0"/>
                  </a:moveTo>
                  <a:lnTo>
                    <a:pt x="303270" y="0"/>
                  </a:lnTo>
                  <a:lnTo>
                    <a:pt x="303270" y="303270"/>
                  </a:lnTo>
                  <a:lnTo>
                    <a:pt x="0" y="3032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54" id="154"/>
          <p:cNvGrpSpPr/>
          <p:nvPr/>
        </p:nvGrpSpPr>
        <p:grpSpPr>
          <a:xfrm rot="0">
            <a:off x="5182876" y="2756115"/>
            <a:ext cx="1833611" cy="347032"/>
            <a:chOff x="0" y="0"/>
            <a:chExt cx="2444815" cy="462710"/>
          </a:xfrm>
        </p:grpSpPr>
        <p:grpSp>
          <p:nvGrpSpPr>
            <p:cNvPr name="Group 155" id="155"/>
            <p:cNvGrpSpPr/>
            <p:nvPr/>
          </p:nvGrpSpPr>
          <p:grpSpPr>
            <a:xfrm rot="0">
              <a:off x="0" y="0"/>
              <a:ext cx="2444815" cy="461312"/>
              <a:chOff x="0" y="0"/>
              <a:chExt cx="657125" cy="123993"/>
            </a:xfrm>
          </p:grpSpPr>
          <p:sp>
            <p:nvSpPr>
              <p:cNvPr name="Freeform 156" id="156"/>
              <p:cNvSpPr/>
              <p:nvPr/>
            </p:nvSpPr>
            <p:spPr>
              <a:xfrm flipH="false" flipV="false" rot="0">
                <a:off x="0" y="0"/>
                <a:ext cx="657125" cy="123993"/>
              </a:xfrm>
              <a:custGeom>
                <a:avLst/>
                <a:gdLst/>
                <a:ahLst/>
                <a:cxnLst/>
                <a:rect r="r" b="b" t="t" l="l"/>
                <a:pathLst>
                  <a:path h="123993" w="657125">
                    <a:moveTo>
                      <a:pt x="29556" y="0"/>
                    </a:moveTo>
                    <a:lnTo>
                      <a:pt x="627569" y="0"/>
                    </a:lnTo>
                    <a:cubicBezTo>
                      <a:pt x="635408" y="0"/>
                      <a:pt x="642926" y="3114"/>
                      <a:pt x="648468" y="8657"/>
                    </a:cubicBezTo>
                    <a:cubicBezTo>
                      <a:pt x="654011" y="14199"/>
                      <a:pt x="657125" y="21717"/>
                      <a:pt x="657125" y="29556"/>
                    </a:cubicBezTo>
                    <a:lnTo>
                      <a:pt x="657125" y="94437"/>
                    </a:lnTo>
                    <a:cubicBezTo>
                      <a:pt x="657125" y="102276"/>
                      <a:pt x="654011" y="109793"/>
                      <a:pt x="648468" y="115336"/>
                    </a:cubicBezTo>
                    <a:cubicBezTo>
                      <a:pt x="642926" y="120879"/>
                      <a:pt x="635408" y="123993"/>
                      <a:pt x="627569" y="123993"/>
                    </a:cubicBezTo>
                    <a:lnTo>
                      <a:pt x="29556" y="123993"/>
                    </a:lnTo>
                    <a:cubicBezTo>
                      <a:pt x="21717" y="123993"/>
                      <a:pt x="14199" y="120879"/>
                      <a:pt x="8657" y="115336"/>
                    </a:cubicBezTo>
                    <a:cubicBezTo>
                      <a:pt x="3114" y="109793"/>
                      <a:pt x="0" y="102276"/>
                      <a:pt x="0" y="94437"/>
                    </a:cubicBezTo>
                    <a:lnTo>
                      <a:pt x="0" y="29556"/>
                    </a:lnTo>
                    <a:cubicBezTo>
                      <a:pt x="0" y="21717"/>
                      <a:pt x="3114" y="14199"/>
                      <a:pt x="8657" y="8657"/>
                    </a:cubicBezTo>
                    <a:cubicBezTo>
                      <a:pt x="14199" y="3114"/>
                      <a:pt x="21717" y="0"/>
                      <a:pt x="2955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9D9D9">
                      <a:alpha val="100000"/>
                    </a:srgbClr>
                  </a:gs>
                </a:gsLst>
                <a:lin ang="540000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name="TextBox 157" id="157"/>
              <p:cNvSpPr txBox="true"/>
              <p:nvPr/>
            </p:nvSpPr>
            <p:spPr>
              <a:xfrm>
                <a:off x="0" y="-9525"/>
                <a:ext cx="657125" cy="13351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236"/>
                  </a:lnSpc>
                </a:pPr>
              </a:p>
            </p:txBody>
          </p:sp>
        </p:grpSp>
        <p:sp>
          <p:nvSpPr>
            <p:cNvPr name="TextBox 158" id="158"/>
            <p:cNvSpPr txBox="true"/>
            <p:nvPr/>
          </p:nvSpPr>
          <p:spPr>
            <a:xfrm rot="0">
              <a:off x="597835" y="72286"/>
              <a:ext cx="1217581" cy="3122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63"/>
                </a:lnSpc>
                <a:spcBef>
                  <a:spcPct val="0"/>
                </a:spcBef>
              </a:pPr>
              <a:r>
                <a:rPr lang="en-US" b="true" sz="1552">
                  <a:solidFill>
                    <a:srgbClr val="00352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Followers</a:t>
              </a:r>
            </a:p>
          </p:txBody>
        </p:sp>
        <p:sp>
          <p:nvSpPr>
            <p:cNvPr name="Freeform 159" id="159"/>
            <p:cNvSpPr/>
            <p:nvPr/>
          </p:nvSpPr>
          <p:spPr>
            <a:xfrm flipH="false" flipV="false" rot="0">
              <a:off x="59935" y="0"/>
              <a:ext cx="462710" cy="462710"/>
            </a:xfrm>
            <a:custGeom>
              <a:avLst/>
              <a:gdLst/>
              <a:ahLst/>
              <a:cxnLst/>
              <a:rect r="r" b="b" t="t" l="l"/>
              <a:pathLst>
                <a:path h="462710" w="462710">
                  <a:moveTo>
                    <a:pt x="0" y="0"/>
                  </a:moveTo>
                  <a:lnTo>
                    <a:pt x="462710" y="0"/>
                  </a:lnTo>
                  <a:lnTo>
                    <a:pt x="462710" y="462710"/>
                  </a:lnTo>
                  <a:lnTo>
                    <a:pt x="0" y="462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3366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341012" y="2718770"/>
            <a:ext cx="7460742" cy="746074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21F">
                    <a:alpha val="22000"/>
                  </a:srgbClr>
                </a:gs>
                <a:gs pos="100000">
                  <a:srgbClr val="848484">
                    <a:alpha val="17050"/>
                  </a:srgbClr>
                </a:gs>
              </a:gsLst>
              <a:lin ang="0"/>
            </a:gradFill>
            <a:ln w="19050" cap="sq">
              <a:gradFill>
                <a:gsLst>
                  <a:gs pos="0">
                    <a:srgbClr val="FFFFFF">
                      <a:alpha val="22000"/>
                    </a:srgbClr>
                  </a:gs>
                  <a:gs pos="100000">
                    <a:srgbClr val="9B9B9B">
                      <a:alpha val="22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4564555" y="6205629"/>
            <a:ext cx="7460742" cy="7460742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48484">
                    <a:alpha val="20925"/>
                  </a:srgbClr>
                </a:gs>
                <a:gs pos="100000">
                  <a:srgbClr val="00021F">
                    <a:alpha val="27000"/>
                  </a:srgbClr>
                </a:gs>
              </a:gsLst>
              <a:lin ang="0"/>
            </a:gradFill>
            <a:ln w="19050" cap="sq">
              <a:gradFill>
                <a:gsLst>
                  <a:gs pos="0">
                    <a:srgbClr val="FFFFFF">
                      <a:alpha val="27000"/>
                    </a:srgbClr>
                  </a:gs>
                  <a:gs pos="100000">
                    <a:srgbClr val="9B9B9B">
                      <a:alpha val="27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3730371" y="-1828984"/>
            <a:ext cx="7460742" cy="7460742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48484">
                    <a:alpha val="17050"/>
                  </a:srgbClr>
                </a:gs>
                <a:gs pos="100000">
                  <a:srgbClr val="00021F">
                    <a:alpha val="22000"/>
                  </a:srgbClr>
                </a:gs>
              </a:gsLst>
              <a:lin ang="0"/>
            </a:gradFill>
            <a:ln w="19050" cap="sq">
              <a:gradFill>
                <a:gsLst>
                  <a:gs pos="0">
                    <a:srgbClr val="FFFFFF">
                      <a:alpha val="22000"/>
                    </a:srgbClr>
                  </a:gs>
                  <a:gs pos="100000">
                    <a:srgbClr val="9B9B9B">
                      <a:alpha val="22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499779" y="756000"/>
            <a:ext cx="411005" cy="421795"/>
          </a:xfrm>
          <a:custGeom>
            <a:avLst/>
            <a:gdLst/>
            <a:ahLst/>
            <a:cxnLst/>
            <a:rect r="r" b="b" t="t" l="l"/>
            <a:pathLst>
              <a:path h="421795" w="411005">
                <a:moveTo>
                  <a:pt x="0" y="0"/>
                </a:moveTo>
                <a:lnTo>
                  <a:pt x="411005" y="0"/>
                </a:lnTo>
                <a:lnTo>
                  <a:pt x="411005" y="421795"/>
                </a:lnTo>
                <a:lnTo>
                  <a:pt x="0" y="4217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0447" t="-144434" r="-490104" b="-139546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37500" y="713076"/>
            <a:ext cx="468982" cy="464718"/>
          </a:xfrm>
          <a:custGeom>
            <a:avLst/>
            <a:gdLst/>
            <a:ahLst/>
            <a:cxnLst/>
            <a:rect r="r" b="b" t="t" l="l"/>
            <a:pathLst>
              <a:path h="464718" w="468982">
                <a:moveTo>
                  <a:pt x="0" y="0"/>
                </a:moveTo>
                <a:lnTo>
                  <a:pt x="468982" y="0"/>
                </a:lnTo>
                <a:lnTo>
                  <a:pt x="468982" y="464719"/>
                </a:lnTo>
                <a:lnTo>
                  <a:pt x="0" y="4647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83846" y="10420770"/>
            <a:ext cx="6592309" cy="163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2"/>
              </a:lnSpc>
              <a:spcBef>
                <a:spcPct val="0"/>
              </a:spcBef>
            </a:pPr>
            <a:r>
              <a:rPr lang="en-US" sz="95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Confidential &amp; Proprietary © 2026 Not Into Finance &amp; Indonesia Capital Market Student Studies</a:t>
            </a:r>
            <a:r>
              <a:rPr lang="en-US" sz="95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. All right</a:t>
            </a:r>
            <a:r>
              <a:rPr lang="en-US" sz="95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 reserved.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75124" y="789276"/>
            <a:ext cx="230303" cy="388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2"/>
              </a:lnSpc>
            </a:pPr>
            <a:r>
              <a:rPr lang="en-US" b="true" sz="3101" spc="-254">
                <a:gradFill>
                  <a:gsLst>
                    <a:gs pos="0">
                      <a:srgbClr val="E6E6E6">
                        <a:alpha val="100000"/>
                      </a:srgbClr>
                    </a:gs>
                    <a:gs pos="100000">
                      <a:srgbClr val="848484">
                        <a:alpha val="77500"/>
                      </a:srgbClr>
                    </a:gs>
                  </a:gsLst>
                  <a:lin ang="0"/>
                </a:gradFill>
                <a:latin typeface="DM Sans Bold"/>
                <a:ea typeface="DM Sans Bold"/>
                <a:cs typeface="DM Sans Bold"/>
                <a:sym typeface="DM Sans Bold"/>
              </a:rPr>
              <a:t>x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-920222" y="4387505"/>
            <a:ext cx="9400444" cy="1916990"/>
            <a:chOff x="0" y="0"/>
            <a:chExt cx="12533926" cy="2555987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66675"/>
              <a:ext cx="12533926" cy="11593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506"/>
                </a:lnSpc>
              </a:pPr>
              <a:r>
                <a:rPr lang="en-US" b="true" sz="6080" spc="-498">
                  <a:gradFill>
                    <a:gsLst>
                      <a:gs pos="0">
                        <a:srgbClr val="E6E6E6">
                          <a:alpha val="100000"/>
                        </a:srgbClr>
                      </a:gs>
                      <a:gs pos="100000">
                        <a:srgbClr val="848484">
                          <a:alpha val="77500"/>
                        </a:srgbClr>
                      </a:gs>
                    </a:gsLst>
                    <a:lin ang="0"/>
                  </a:gradFill>
                  <a:latin typeface="DM Sans Bold"/>
                  <a:ea typeface="DM Sans Bold"/>
                  <a:cs typeface="DM Sans Bold"/>
                  <a:sym typeface="DM Sans Bold"/>
                </a:rPr>
                <a:t>Talent Partnership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5184047" y="2032747"/>
              <a:ext cx="2165832" cy="523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60"/>
                </a:lnSpc>
              </a:pPr>
              <a:r>
                <a:rPr lang="en-US" b="true" sz="3000" spc="-246">
                  <a:gradFill>
                    <a:gsLst>
                      <a:gs pos="0">
                        <a:srgbClr val="E6E6E6">
                          <a:alpha val="100000"/>
                        </a:srgbClr>
                      </a:gs>
                      <a:gs pos="100000">
                        <a:srgbClr val="848484">
                          <a:alpha val="77500"/>
                        </a:srgbClr>
                      </a:gs>
                    </a:gsLst>
                    <a:lin ang="0"/>
                  </a:gradFill>
                  <a:latin typeface="DM Sans Bold"/>
                  <a:ea typeface="DM Sans Bold"/>
                  <a:cs typeface="DM Sans Bold"/>
                  <a:sym typeface="DM Sans Bold"/>
                </a:rPr>
                <a:t>2026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1192219"/>
              <a:ext cx="12533926" cy="7643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79"/>
                </a:lnSpc>
              </a:pPr>
              <a:r>
                <a:rPr lang="en-US" b="true" sz="3999" spc="-327">
                  <a:gradFill>
                    <a:gsLst>
                      <a:gs pos="0">
                        <a:srgbClr val="E6E6E6">
                          <a:alpha val="100000"/>
                        </a:srgbClr>
                      </a:gs>
                      <a:gs pos="100000">
                        <a:srgbClr val="848484">
                          <a:alpha val="77500"/>
                        </a:srgbClr>
                      </a:gs>
                    </a:gsLst>
                    <a:lin ang="0"/>
                  </a:gradFill>
                  <a:latin typeface="DM Sans Bold"/>
                  <a:ea typeface="DM Sans Bold"/>
                  <a:cs typeface="DM Sans Bold"/>
                  <a:sym typeface="DM Sans Bold"/>
                </a:rPr>
                <a:t>Not Into Finance x ICMSS UI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3366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99779" y="756000"/>
            <a:ext cx="411005" cy="421795"/>
          </a:xfrm>
          <a:custGeom>
            <a:avLst/>
            <a:gdLst/>
            <a:ahLst/>
            <a:cxnLst/>
            <a:rect r="r" b="b" t="t" l="l"/>
            <a:pathLst>
              <a:path h="421795" w="411005">
                <a:moveTo>
                  <a:pt x="0" y="0"/>
                </a:moveTo>
                <a:lnTo>
                  <a:pt x="411005" y="0"/>
                </a:lnTo>
                <a:lnTo>
                  <a:pt x="411005" y="421795"/>
                </a:lnTo>
                <a:lnTo>
                  <a:pt x="0" y="4217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0447" t="-144434" r="-490104" b="-13954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7500" y="713076"/>
            <a:ext cx="468982" cy="464718"/>
          </a:xfrm>
          <a:custGeom>
            <a:avLst/>
            <a:gdLst/>
            <a:ahLst/>
            <a:cxnLst/>
            <a:rect r="r" b="b" t="t" l="l"/>
            <a:pathLst>
              <a:path h="464718" w="468982">
                <a:moveTo>
                  <a:pt x="0" y="0"/>
                </a:moveTo>
                <a:lnTo>
                  <a:pt x="468982" y="0"/>
                </a:lnTo>
                <a:lnTo>
                  <a:pt x="468982" y="464719"/>
                </a:lnTo>
                <a:lnTo>
                  <a:pt x="0" y="4647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499779" y="5987863"/>
            <a:ext cx="3108136" cy="2630495"/>
            <a:chOff x="0" y="0"/>
            <a:chExt cx="1113886" cy="94271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13886" cy="942710"/>
            </a:xfrm>
            <a:custGeom>
              <a:avLst/>
              <a:gdLst/>
              <a:ahLst/>
              <a:cxnLst/>
              <a:rect r="r" b="b" t="t" l="l"/>
              <a:pathLst>
                <a:path h="942710" w="1113886">
                  <a:moveTo>
                    <a:pt x="0" y="0"/>
                  </a:moveTo>
                  <a:lnTo>
                    <a:pt x="1113886" y="0"/>
                  </a:lnTo>
                  <a:lnTo>
                    <a:pt x="1113886" y="942710"/>
                  </a:lnTo>
                  <a:lnTo>
                    <a:pt x="0" y="942710"/>
                  </a:lnTo>
                  <a:close/>
                </a:path>
              </a:pathLst>
            </a:custGeom>
            <a:ln w="19050" cap="sq">
              <a:gradFill>
                <a:gsLst>
                  <a:gs pos="0">
                    <a:srgbClr val="F7FFA1">
                      <a:alpha val="100000"/>
                    </a:srgbClr>
                  </a:gs>
                  <a:gs pos="100000">
                    <a:srgbClr val="EFEFEF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113886" cy="9522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695864" y="5987863"/>
            <a:ext cx="3108136" cy="2630495"/>
            <a:chOff x="0" y="0"/>
            <a:chExt cx="1113886" cy="94271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13886" cy="942710"/>
            </a:xfrm>
            <a:custGeom>
              <a:avLst/>
              <a:gdLst/>
              <a:ahLst/>
              <a:cxnLst/>
              <a:rect r="r" b="b" t="t" l="l"/>
              <a:pathLst>
                <a:path h="942710" w="1113886">
                  <a:moveTo>
                    <a:pt x="0" y="0"/>
                  </a:moveTo>
                  <a:lnTo>
                    <a:pt x="1113886" y="0"/>
                  </a:lnTo>
                  <a:lnTo>
                    <a:pt x="1113886" y="942710"/>
                  </a:lnTo>
                  <a:lnTo>
                    <a:pt x="0" y="942710"/>
                  </a:lnTo>
                  <a:close/>
                </a:path>
              </a:pathLst>
            </a:custGeom>
            <a:ln w="19050" cap="sq">
              <a:gradFill>
                <a:gsLst>
                  <a:gs pos="0">
                    <a:srgbClr val="F7FFA1">
                      <a:alpha val="100000"/>
                    </a:srgbClr>
                  </a:gs>
                  <a:gs pos="100000">
                    <a:srgbClr val="EFEFEF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113886" cy="9522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75929" y="4159753"/>
            <a:ext cx="2069424" cy="1051041"/>
            <a:chOff x="0" y="0"/>
            <a:chExt cx="1379616" cy="70069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79539" cy="700679"/>
            </a:xfrm>
            <a:custGeom>
              <a:avLst/>
              <a:gdLst/>
              <a:ahLst/>
              <a:cxnLst/>
              <a:rect r="r" b="b" t="t" l="l"/>
              <a:pathLst>
                <a:path h="700679" w="1379539">
                  <a:moveTo>
                    <a:pt x="0" y="56018"/>
                  </a:moveTo>
                  <a:cubicBezTo>
                    <a:pt x="0" y="25101"/>
                    <a:pt x="21036" y="0"/>
                    <a:pt x="46947" y="0"/>
                  </a:cubicBezTo>
                  <a:lnTo>
                    <a:pt x="1332592" y="0"/>
                  </a:lnTo>
                  <a:cubicBezTo>
                    <a:pt x="1358503" y="0"/>
                    <a:pt x="1379539" y="25101"/>
                    <a:pt x="1379539" y="56018"/>
                  </a:cubicBezTo>
                  <a:lnTo>
                    <a:pt x="1379539" y="644661"/>
                  </a:lnTo>
                  <a:cubicBezTo>
                    <a:pt x="1379539" y="675578"/>
                    <a:pt x="1358503" y="700679"/>
                    <a:pt x="1332592" y="700679"/>
                  </a:cubicBezTo>
                  <a:lnTo>
                    <a:pt x="46947" y="700679"/>
                  </a:lnTo>
                  <a:cubicBezTo>
                    <a:pt x="21036" y="700679"/>
                    <a:pt x="0" y="675578"/>
                    <a:pt x="0" y="644661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gradFill>
                <a:gsLst>
                  <a:gs pos="0">
                    <a:srgbClr val="002036">
                      <a:alpha val="100000"/>
                    </a:srgbClr>
                  </a:gs>
                  <a:gs pos="100000">
                    <a:srgbClr val="1A2A5F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2605253" y="4159753"/>
            <a:ext cx="2069424" cy="1051041"/>
            <a:chOff x="0" y="0"/>
            <a:chExt cx="1379616" cy="70069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79539" cy="700679"/>
            </a:xfrm>
            <a:custGeom>
              <a:avLst/>
              <a:gdLst/>
              <a:ahLst/>
              <a:cxnLst/>
              <a:rect r="r" b="b" t="t" l="l"/>
              <a:pathLst>
                <a:path h="700679" w="1379539">
                  <a:moveTo>
                    <a:pt x="0" y="56018"/>
                  </a:moveTo>
                  <a:cubicBezTo>
                    <a:pt x="0" y="25101"/>
                    <a:pt x="21036" y="0"/>
                    <a:pt x="46947" y="0"/>
                  </a:cubicBezTo>
                  <a:lnTo>
                    <a:pt x="1332592" y="0"/>
                  </a:lnTo>
                  <a:cubicBezTo>
                    <a:pt x="1358503" y="0"/>
                    <a:pt x="1379539" y="25101"/>
                    <a:pt x="1379539" y="56018"/>
                  </a:cubicBezTo>
                  <a:lnTo>
                    <a:pt x="1379539" y="644661"/>
                  </a:lnTo>
                  <a:cubicBezTo>
                    <a:pt x="1379539" y="675578"/>
                    <a:pt x="1358503" y="700679"/>
                    <a:pt x="1332592" y="700679"/>
                  </a:cubicBezTo>
                  <a:lnTo>
                    <a:pt x="46947" y="700679"/>
                  </a:lnTo>
                  <a:cubicBezTo>
                    <a:pt x="21036" y="700679"/>
                    <a:pt x="0" y="675578"/>
                    <a:pt x="0" y="644661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gradFill>
                <a:gsLst>
                  <a:gs pos="0">
                    <a:srgbClr val="002036">
                      <a:alpha val="100000"/>
                    </a:srgbClr>
                  </a:gs>
                  <a:gs pos="100000">
                    <a:srgbClr val="1A2A5F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4734576" y="4159753"/>
            <a:ext cx="2069424" cy="1051041"/>
            <a:chOff x="0" y="0"/>
            <a:chExt cx="1379616" cy="70069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79539" cy="700679"/>
            </a:xfrm>
            <a:custGeom>
              <a:avLst/>
              <a:gdLst/>
              <a:ahLst/>
              <a:cxnLst/>
              <a:rect r="r" b="b" t="t" l="l"/>
              <a:pathLst>
                <a:path h="700679" w="1379539">
                  <a:moveTo>
                    <a:pt x="0" y="56018"/>
                  </a:moveTo>
                  <a:cubicBezTo>
                    <a:pt x="0" y="25101"/>
                    <a:pt x="21036" y="0"/>
                    <a:pt x="46947" y="0"/>
                  </a:cubicBezTo>
                  <a:lnTo>
                    <a:pt x="1332592" y="0"/>
                  </a:lnTo>
                  <a:cubicBezTo>
                    <a:pt x="1358503" y="0"/>
                    <a:pt x="1379539" y="25101"/>
                    <a:pt x="1379539" y="56018"/>
                  </a:cubicBezTo>
                  <a:lnTo>
                    <a:pt x="1379539" y="644661"/>
                  </a:lnTo>
                  <a:cubicBezTo>
                    <a:pt x="1379539" y="675578"/>
                    <a:pt x="1358503" y="700679"/>
                    <a:pt x="1332592" y="700679"/>
                  </a:cubicBezTo>
                  <a:lnTo>
                    <a:pt x="46947" y="700679"/>
                  </a:lnTo>
                  <a:cubicBezTo>
                    <a:pt x="21036" y="700679"/>
                    <a:pt x="0" y="675578"/>
                    <a:pt x="0" y="644661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gradFill>
                <a:gsLst>
                  <a:gs pos="0">
                    <a:srgbClr val="002036">
                      <a:alpha val="100000"/>
                    </a:srgbClr>
                  </a:gs>
                  <a:gs pos="100000">
                    <a:srgbClr val="1A2A5F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499779" y="5363194"/>
            <a:ext cx="3108136" cy="548469"/>
            <a:chOff x="0" y="0"/>
            <a:chExt cx="1113886" cy="19655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13886" cy="196559"/>
            </a:xfrm>
            <a:custGeom>
              <a:avLst/>
              <a:gdLst/>
              <a:ahLst/>
              <a:cxnLst/>
              <a:rect r="r" b="b" t="t" l="l"/>
              <a:pathLst>
                <a:path h="196559" w="1113886">
                  <a:moveTo>
                    <a:pt x="0" y="0"/>
                  </a:moveTo>
                  <a:lnTo>
                    <a:pt x="1113886" y="0"/>
                  </a:lnTo>
                  <a:lnTo>
                    <a:pt x="1113886" y="196559"/>
                  </a:lnTo>
                  <a:lnTo>
                    <a:pt x="0" y="196559"/>
                  </a:lnTo>
                  <a:close/>
                </a:path>
              </a:pathLst>
            </a:custGeom>
            <a:gradFill rotWithShape="true">
              <a:gsLst>
                <a:gs pos="0">
                  <a:srgbClr val="1B2A5E">
                    <a:alpha val="100000"/>
                  </a:srgbClr>
                </a:gs>
                <a:gs pos="100000">
                  <a:srgbClr val="0D3C82">
                    <a:alpha val="100000"/>
                  </a:srgbClr>
                </a:gs>
              </a:gsLst>
              <a:lin ang="2700000"/>
            </a:gradFill>
            <a:ln w="19050" cap="sq">
              <a:gradFill>
                <a:gsLst>
                  <a:gs pos="0">
                    <a:srgbClr val="F7FFA1">
                      <a:alpha val="100000"/>
                    </a:srgbClr>
                  </a:gs>
                  <a:gs pos="100000">
                    <a:srgbClr val="EFEFEF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1113886" cy="2060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475929" y="1425041"/>
            <a:ext cx="5407366" cy="1190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554"/>
              </a:lnSpc>
              <a:spcBef>
                <a:spcPct val="0"/>
              </a:spcBef>
            </a:pPr>
            <a:r>
              <a:rPr lang="en-US" b="true" sz="4793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Talent Partnership Opportunity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75124" y="789276"/>
            <a:ext cx="230303" cy="388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2"/>
              </a:lnSpc>
            </a:pPr>
            <a:r>
              <a:rPr lang="en-US" b="true" sz="3101" spc="-254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x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83846" y="10420770"/>
            <a:ext cx="6592309" cy="163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2"/>
              </a:lnSpc>
              <a:spcBef>
                <a:spcPct val="0"/>
              </a:spcBef>
            </a:pPr>
            <a:r>
              <a:rPr lang="en-US" sz="95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Confidential &amp; Proprietary © 2026 Not Into Finance &amp; Indonesia Capital Market Student Studies</a:t>
            </a:r>
            <a:r>
              <a:rPr lang="en-US" sz="95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. All right</a:t>
            </a:r>
            <a:r>
              <a:rPr lang="en-US" sz="95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 reserved.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06311" y="2796653"/>
            <a:ext cx="6581985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3"/>
              </a:lnSpc>
            </a:pPr>
            <a:r>
              <a:rPr lang="en-US" sz="1669">
                <a:solidFill>
                  <a:srgbClr val="E9E9E9"/>
                </a:solidFill>
                <a:latin typeface="DM Sans"/>
                <a:ea typeface="DM Sans"/>
                <a:cs typeface="DM Sans"/>
                <a:sym typeface="DM Sans"/>
              </a:rPr>
              <a:t>Connect Emerging Research Talent with Industry Opportunities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99779" y="3110978"/>
            <a:ext cx="6581985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E9E9E9"/>
                </a:solidFill>
                <a:latin typeface="DM Sans"/>
                <a:ea typeface="DM Sans"/>
                <a:cs typeface="DM Sans"/>
                <a:sym typeface="DM Sans"/>
              </a:rPr>
              <a:t>Partner with NIFI × ICMSS to offer the top three bootcamp winners a direct internship interview opportunity.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99779" y="3672953"/>
            <a:ext cx="5407366" cy="454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325"/>
              </a:lnSpc>
              <a:spcBef>
                <a:spcPct val="0"/>
              </a:spcBef>
            </a:pPr>
            <a:r>
              <a:rPr lang="en-US" b="true" sz="3500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The Talent Profile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52184" y="4296156"/>
            <a:ext cx="1716914" cy="16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139"/>
              </a:lnSpc>
              <a:spcBef>
                <a:spcPct val="0"/>
              </a:spcBef>
            </a:pPr>
            <a:r>
              <a:rPr lang="en-US" b="true" sz="1200">
                <a:gradFill>
                  <a:gsLst>
                    <a:gs pos="0">
                      <a:srgbClr val="003365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2700000"/>
                </a:gradFill>
                <a:latin typeface="DM Sans Bold"/>
                <a:ea typeface="DM Sans Bold"/>
                <a:cs typeface="DM Sans Bold"/>
                <a:sym typeface="DM Sans Bold"/>
              </a:rPr>
              <a:t>Company Analysis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781508" y="4296156"/>
            <a:ext cx="1716914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139"/>
              </a:lnSpc>
              <a:spcBef>
                <a:spcPct val="0"/>
              </a:spcBef>
            </a:pPr>
            <a:r>
              <a:rPr lang="en-US" b="true" sz="1200">
                <a:gradFill>
                  <a:gsLst>
                    <a:gs pos="0">
                      <a:srgbClr val="003365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2700000"/>
                </a:gradFill>
                <a:latin typeface="DM Sans Bold"/>
                <a:ea typeface="DM Sans Bold"/>
                <a:cs typeface="DM Sans Bold"/>
                <a:sym typeface="DM Sans Bold"/>
              </a:rPr>
              <a:t>Financial Modelling &amp; Valuation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910831" y="4296156"/>
            <a:ext cx="1716914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139"/>
              </a:lnSpc>
              <a:spcBef>
                <a:spcPct val="0"/>
              </a:spcBef>
            </a:pPr>
            <a:r>
              <a:rPr lang="en-US" b="true" sz="1200">
                <a:gradFill>
                  <a:gsLst>
                    <a:gs pos="0">
                      <a:srgbClr val="003365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2700000"/>
                </a:gradFill>
                <a:latin typeface="DM Sans Bold"/>
                <a:ea typeface="DM Sans Bold"/>
                <a:cs typeface="DM Sans Bold"/>
                <a:sym typeface="DM Sans Bold"/>
              </a:rPr>
              <a:t>Research Writing &amp; Pitching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56000" y="6411513"/>
            <a:ext cx="2628727" cy="241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0"/>
              </a:lnSpc>
              <a:spcBef>
                <a:spcPct val="0"/>
              </a:spcBef>
            </a:pPr>
            <a:r>
              <a:rPr lang="en-US" sz="1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Offer the top three winners a direct internship interview opportunity.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781508" y="4724781"/>
            <a:ext cx="1716914" cy="241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0"/>
              </a:lnSpc>
              <a:spcBef>
                <a:spcPct val="0"/>
              </a:spcBef>
            </a:pPr>
            <a:r>
              <a:rPr lang="en-US" sz="1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Building forecasts and assessing company value.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910831" y="4735893"/>
            <a:ext cx="1716914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5"/>
              </a:lnSpc>
              <a:spcBef>
                <a:spcPct val="0"/>
              </a:spcBef>
            </a:pPr>
            <a:r>
              <a:rPr lang="en-US" sz="9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Communicating an investment recommendation.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56000" y="6201963"/>
            <a:ext cx="1716914" cy="16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139"/>
              </a:lnSpc>
              <a:spcBef>
                <a:spcPct val="0"/>
              </a:spcBef>
            </a:pPr>
            <a:r>
              <a:rPr lang="en-US" b="true" sz="1200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Interview Opportunity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3695864" y="5363194"/>
            <a:ext cx="3108136" cy="548469"/>
            <a:chOff x="0" y="0"/>
            <a:chExt cx="1113886" cy="19655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113886" cy="196559"/>
            </a:xfrm>
            <a:custGeom>
              <a:avLst/>
              <a:gdLst/>
              <a:ahLst/>
              <a:cxnLst/>
              <a:rect r="r" b="b" t="t" l="l"/>
              <a:pathLst>
                <a:path h="196559" w="1113886">
                  <a:moveTo>
                    <a:pt x="0" y="0"/>
                  </a:moveTo>
                  <a:lnTo>
                    <a:pt x="1113886" y="0"/>
                  </a:lnTo>
                  <a:lnTo>
                    <a:pt x="1113886" y="196559"/>
                  </a:lnTo>
                  <a:lnTo>
                    <a:pt x="0" y="196559"/>
                  </a:lnTo>
                  <a:close/>
                </a:path>
              </a:pathLst>
            </a:custGeom>
            <a:gradFill rotWithShape="true">
              <a:gsLst>
                <a:gs pos="0">
                  <a:srgbClr val="1B2A5E">
                    <a:alpha val="100000"/>
                  </a:srgbClr>
                </a:gs>
                <a:gs pos="100000">
                  <a:srgbClr val="0D3C82">
                    <a:alpha val="100000"/>
                  </a:srgbClr>
                </a:gs>
              </a:gsLst>
              <a:lin ang="2700000"/>
            </a:gradFill>
            <a:ln w="19050" cap="sq">
              <a:gradFill>
                <a:gsLst>
                  <a:gs pos="0">
                    <a:srgbClr val="F7FFA1">
                      <a:alpha val="100000"/>
                    </a:srgbClr>
                  </a:gs>
                  <a:gs pos="100000">
                    <a:srgbClr val="EFEFEF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1113886" cy="2060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643711" y="5529881"/>
            <a:ext cx="2820272" cy="279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090"/>
              </a:lnSpc>
              <a:spcBef>
                <a:spcPct val="0"/>
              </a:spcBef>
            </a:pPr>
            <a:r>
              <a:rPr lang="en-US" b="true" sz="2200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Partner Contribution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839796" y="5521541"/>
            <a:ext cx="2820272" cy="279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090"/>
              </a:lnSpc>
              <a:spcBef>
                <a:spcPct val="0"/>
              </a:spcBef>
            </a:pPr>
            <a:r>
              <a:rPr lang="en-US" b="true" sz="2200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Partner Benefits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52184" y="4713668"/>
            <a:ext cx="1716914" cy="241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0"/>
              </a:lnSpc>
              <a:spcBef>
                <a:spcPct val="0"/>
              </a:spcBef>
            </a:pPr>
            <a:r>
              <a:rPr lang="en-US" sz="1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Understanding businesses and industry dynamics.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56000" y="7043338"/>
            <a:ext cx="2025508" cy="16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139"/>
              </a:lnSpc>
              <a:spcBef>
                <a:spcPct val="0"/>
              </a:spcBef>
            </a:pPr>
            <a:r>
              <a:rPr lang="en-US" b="true" sz="1200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Eligibility Requirements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756000" y="7252888"/>
            <a:ext cx="2628727" cy="241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0"/>
              </a:lnSpc>
              <a:spcBef>
                <a:spcPct val="0"/>
              </a:spcBef>
            </a:pPr>
            <a:r>
              <a:rPr lang="en-US" sz="1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Sha</a:t>
            </a:r>
            <a:r>
              <a:rPr lang="en-US" sz="1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 relevant internship roles, requirements, and selection criteria.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56000" y="7884713"/>
            <a:ext cx="2025508" cy="16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139"/>
              </a:lnSpc>
              <a:spcBef>
                <a:spcPct val="0"/>
              </a:spcBef>
            </a:pPr>
            <a:r>
              <a:rPr lang="en-US" b="true" sz="1200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Recruitment Coordination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56000" y="8094263"/>
            <a:ext cx="2628727" cy="241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0"/>
              </a:lnSpc>
              <a:spcBef>
                <a:spcPct val="0"/>
              </a:spcBef>
            </a:pPr>
            <a:r>
              <a:rPr lang="en-US" sz="1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Appoint a</a:t>
            </a:r>
            <a:r>
              <a:rPr lang="en-US" sz="1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contact to coordinate candidate submissions and interviews.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3935569" y="6406963"/>
            <a:ext cx="2628727" cy="241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0"/>
              </a:lnSpc>
              <a:spcBef>
                <a:spcPct val="0"/>
              </a:spcBef>
            </a:pPr>
            <a:r>
              <a:rPr lang="en-US" sz="1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</a:t>
            </a:r>
            <a:r>
              <a:rPr lang="en-US" sz="1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eet shortlisted candidates with equity research work samples.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3935569" y="6197413"/>
            <a:ext cx="2477985" cy="16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139"/>
              </a:lnSpc>
              <a:spcBef>
                <a:spcPct val="0"/>
              </a:spcBef>
            </a:pPr>
            <a:r>
              <a:rPr lang="en-US" b="true" sz="1200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Access to Emerging Talent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3935569" y="7038788"/>
            <a:ext cx="2025508" cy="16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139"/>
              </a:lnSpc>
              <a:spcBef>
                <a:spcPct val="0"/>
              </a:spcBef>
            </a:pPr>
            <a:r>
              <a:rPr lang="en-US" b="true" sz="1200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Talent Partner Recognition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3935569" y="7248338"/>
            <a:ext cx="2628727" cy="241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0"/>
              </a:lnSpc>
              <a:spcBef>
                <a:spcPct val="0"/>
              </a:spcBef>
            </a:pPr>
            <a:r>
              <a:rPr lang="en-US" sz="1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</a:t>
            </a:r>
            <a:r>
              <a:rPr lang="en-US" sz="1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eceive logo placement on agreed program materials.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3935569" y="7880163"/>
            <a:ext cx="2025508" cy="16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139"/>
              </a:lnSpc>
              <a:spcBef>
                <a:spcPct val="0"/>
              </a:spcBef>
            </a:pPr>
            <a:r>
              <a:rPr lang="en-US" b="true" sz="1200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Dedicated Partnership Post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3935569" y="8089713"/>
            <a:ext cx="2628727" cy="241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0"/>
              </a:lnSpc>
              <a:spcBef>
                <a:spcPct val="0"/>
              </a:spcBef>
            </a:pPr>
            <a:r>
              <a:rPr lang="en-US" sz="1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Intr</a:t>
            </a:r>
            <a:r>
              <a:rPr lang="en-US" sz="1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oduce the partnership through one dedicated social media post.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506311" y="8989833"/>
            <a:ext cx="6297689" cy="673703"/>
            <a:chOff x="0" y="0"/>
            <a:chExt cx="2256950" cy="2414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256950" cy="241440"/>
            </a:xfrm>
            <a:custGeom>
              <a:avLst/>
              <a:gdLst/>
              <a:ahLst/>
              <a:cxnLst/>
              <a:rect r="r" b="b" t="t" l="l"/>
              <a:pathLst>
                <a:path h="241440" w="2256950">
                  <a:moveTo>
                    <a:pt x="0" y="0"/>
                  </a:moveTo>
                  <a:lnTo>
                    <a:pt x="2256950" y="0"/>
                  </a:lnTo>
                  <a:lnTo>
                    <a:pt x="2256950" y="241440"/>
                  </a:lnTo>
                  <a:lnTo>
                    <a:pt x="0" y="241440"/>
                  </a:lnTo>
                  <a:close/>
                </a:path>
              </a:pathLst>
            </a:custGeom>
            <a:gradFill rotWithShape="true">
              <a:gsLst>
                <a:gs pos="0">
                  <a:srgbClr val="1B2A5E">
                    <a:alpha val="100000"/>
                  </a:srgbClr>
                </a:gs>
                <a:gs pos="100000">
                  <a:srgbClr val="0D3C82">
                    <a:alpha val="100000"/>
                  </a:srgbClr>
                </a:gs>
              </a:gsLst>
              <a:lin ang="2700000"/>
            </a:gradFill>
            <a:ln w="19050" cap="sq">
              <a:gradFill>
                <a:gsLst>
                  <a:gs pos="0">
                    <a:srgbClr val="F7FFA1">
                      <a:alpha val="100000"/>
                    </a:srgbClr>
                  </a:gs>
                  <a:gs pos="100000">
                    <a:srgbClr val="EFEFEF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0" y="-9525"/>
              <a:ext cx="2256950" cy="250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602272" y="9245722"/>
            <a:ext cx="6075385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24"/>
              </a:lnSpc>
              <a:spcBef>
                <a:spcPct val="0"/>
              </a:spcBef>
            </a:pPr>
            <a:r>
              <a:rPr lang="en-US" b="true" sz="1499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Help turn research potential into professional opportunity.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3458383">
            <a:off x="2663526" y="-5093846"/>
            <a:ext cx="7460742" cy="746074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908">
                    <a:alpha val="14000"/>
                  </a:srgbClr>
                </a:gs>
                <a:gs pos="100000">
                  <a:srgbClr val="001614">
                    <a:alpha val="0"/>
                  </a:srgbClr>
                </a:gs>
              </a:gsLst>
              <a:lin ang="5400000"/>
            </a:gradFill>
            <a:ln w="19050" cap="sq">
              <a:gradFill>
                <a:gsLst>
                  <a:gs pos="0">
                    <a:srgbClr val="00352F">
                      <a:alpha val="14000"/>
                    </a:srgbClr>
                  </a:gs>
                  <a:gs pos="100000">
                    <a:srgbClr val="000000">
                      <a:alpha val="14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3458383">
            <a:off x="-3235264" y="8119153"/>
            <a:ext cx="6628018" cy="6628018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1614">
                    <a:alpha val="0"/>
                  </a:srgbClr>
                </a:gs>
                <a:gs pos="100000">
                  <a:srgbClr val="000908">
                    <a:alpha val="14000"/>
                  </a:srgbClr>
                </a:gs>
              </a:gsLst>
              <a:lin ang="5400000"/>
            </a:gradFill>
            <a:ln w="19050" cap="sq">
              <a:gradFill>
                <a:gsLst>
                  <a:gs pos="0">
                    <a:srgbClr val="00352F">
                      <a:alpha val="14000"/>
                    </a:srgbClr>
                  </a:gs>
                  <a:gs pos="100000">
                    <a:srgbClr val="000000">
                      <a:alpha val="14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3458383">
            <a:off x="3603019" y="7374198"/>
            <a:ext cx="7460742" cy="7460742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908">
                    <a:alpha val="14000"/>
                  </a:srgbClr>
                </a:gs>
                <a:gs pos="100000">
                  <a:srgbClr val="001614">
                    <a:alpha val="0"/>
                  </a:srgbClr>
                </a:gs>
              </a:gsLst>
              <a:lin ang="5400000"/>
            </a:gradFill>
            <a:ln w="19050" cap="sq">
              <a:gradFill>
                <a:gsLst>
                  <a:gs pos="0">
                    <a:srgbClr val="00352F">
                      <a:alpha val="14000"/>
                    </a:srgbClr>
                  </a:gs>
                  <a:gs pos="100000">
                    <a:srgbClr val="000000">
                      <a:alpha val="14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499779" y="1614913"/>
            <a:ext cx="6304221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99"/>
              </a:lnSpc>
              <a:spcBef>
                <a:spcPct val="0"/>
              </a:spcBef>
            </a:pPr>
            <a:r>
              <a:rPr lang="en-US" b="true" sz="3999">
                <a:gradFill>
                  <a:gsLst>
                    <a:gs pos="0">
                      <a:srgbClr val="003365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2700000"/>
                </a:gradFill>
                <a:latin typeface="DM Sans Bold"/>
                <a:ea typeface="DM Sans Bold"/>
                <a:cs typeface="DM Sans Bold"/>
                <a:sym typeface="DM Sans Bold"/>
              </a:rPr>
              <a:t>Talent Selection &amp; Recruitment Process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499779" y="756000"/>
            <a:ext cx="411005" cy="421795"/>
          </a:xfrm>
          <a:custGeom>
            <a:avLst/>
            <a:gdLst/>
            <a:ahLst/>
            <a:cxnLst/>
            <a:rect r="r" b="b" t="t" l="l"/>
            <a:pathLst>
              <a:path h="421795" w="411005">
                <a:moveTo>
                  <a:pt x="0" y="0"/>
                </a:moveTo>
                <a:lnTo>
                  <a:pt x="411005" y="0"/>
                </a:lnTo>
                <a:lnTo>
                  <a:pt x="411005" y="421795"/>
                </a:lnTo>
                <a:lnTo>
                  <a:pt x="0" y="4217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0447" t="-144434" r="-490104" b="-139546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37500" y="713076"/>
            <a:ext cx="468982" cy="464718"/>
          </a:xfrm>
          <a:custGeom>
            <a:avLst/>
            <a:gdLst/>
            <a:ahLst/>
            <a:cxnLst/>
            <a:rect r="r" b="b" t="t" l="l"/>
            <a:pathLst>
              <a:path h="464718" w="468982">
                <a:moveTo>
                  <a:pt x="0" y="0"/>
                </a:moveTo>
                <a:lnTo>
                  <a:pt x="468982" y="0"/>
                </a:lnTo>
                <a:lnTo>
                  <a:pt x="468982" y="464719"/>
                </a:lnTo>
                <a:lnTo>
                  <a:pt x="0" y="4647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75124" y="789276"/>
            <a:ext cx="230303" cy="388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2"/>
              </a:lnSpc>
            </a:pPr>
            <a:r>
              <a:rPr lang="en-US" b="true" sz="3101" spc="-254">
                <a:gradFill>
                  <a:gsLst>
                    <a:gs pos="0">
                      <a:srgbClr val="6B6B6B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x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83846" y="10420770"/>
            <a:ext cx="6592309" cy="163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2"/>
              </a:lnSpc>
              <a:spcBef>
                <a:spcPct val="0"/>
              </a:spcBef>
            </a:pPr>
            <a:r>
              <a:rPr lang="en-US" sz="95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Confidential &amp; Proprietary © 2026 Not Into Finance &amp; Indonesia Capital Market Student Studies</a:t>
            </a:r>
            <a:r>
              <a:rPr lang="en-US" sz="95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. All right</a:t>
            </a:r>
            <a:r>
              <a:rPr lang="en-US" sz="95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 reserved.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06311" y="2652653"/>
            <a:ext cx="6581985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3"/>
              </a:lnSpc>
            </a:pPr>
            <a:r>
              <a:rPr lang="en-US" sz="1669">
                <a:gradFill>
                  <a:gsLst>
                    <a:gs pos="0">
                      <a:srgbClr val="003365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2700000"/>
                </a:gradFill>
                <a:latin typeface="DM Sans"/>
                <a:ea typeface="DM Sans"/>
                <a:cs typeface="DM Sans"/>
                <a:sym typeface="DM Sans"/>
              </a:rPr>
              <a:t>From Bootcamp Performance to Recruitment Consideration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99779" y="2926778"/>
            <a:ext cx="6581985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1B2A5E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1200">
                <a:solidFill>
                  <a:srgbClr val="1B2A5E"/>
                </a:solidFill>
                <a:latin typeface="DM Sans"/>
                <a:ea typeface="DM Sans"/>
                <a:cs typeface="DM Sans"/>
                <a:sym typeface="DM Sans"/>
              </a:rPr>
              <a:t> coordinated process connects selected winners with the partner’s internship recruitment team.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483846" y="3503993"/>
            <a:ext cx="3262054" cy="2247146"/>
            <a:chOff x="0" y="0"/>
            <a:chExt cx="6689588" cy="460828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689588" cy="4608286"/>
            </a:xfrm>
            <a:custGeom>
              <a:avLst/>
              <a:gdLst/>
              <a:ahLst/>
              <a:cxnLst/>
              <a:rect r="r" b="b" t="t" l="l"/>
              <a:pathLst>
                <a:path h="4608286" w="6689588">
                  <a:moveTo>
                    <a:pt x="23733" y="0"/>
                  </a:moveTo>
                  <a:lnTo>
                    <a:pt x="6665854" y="0"/>
                  </a:lnTo>
                  <a:cubicBezTo>
                    <a:pt x="6678962" y="0"/>
                    <a:pt x="6689588" y="10626"/>
                    <a:pt x="6689588" y="23733"/>
                  </a:cubicBezTo>
                  <a:lnTo>
                    <a:pt x="6689588" y="4584552"/>
                  </a:lnTo>
                  <a:cubicBezTo>
                    <a:pt x="6689588" y="4597660"/>
                    <a:pt x="6678962" y="4608286"/>
                    <a:pt x="6665854" y="4608286"/>
                  </a:cubicBezTo>
                  <a:lnTo>
                    <a:pt x="23733" y="4608286"/>
                  </a:lnTo>
                  <a:cubicBezTo>
                    <a:pt x="10626" y="4608286"/>
                    <a:pt x="0" y="4597660"/>
                    <a:pt x="0" y="4584552"/>
                  </a:cubicBezTo>
                  <a:lnTo>
                    <a:pt x="0" y="23733"/>
                  </a:lnTo>
                  <a:cubicBezTo>
                    <a:pt x="0" y="10626"/>
                    <a:pt x="10626" y="0"/>
                    <a:pt x="2373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22222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5400000"/>
            </a:gradFill>
            <a:ln w="19050" cap="sq">
              <a:gradFill>
                <a:gsLst>
                  <a:gs pos="0">
                    <a:srgbClr val="F7FFA1">
                      <a:alpha val="100000"/>
                    </a:srgbClr>
                  </a:gs>
                  <a:gs pos="100000">
                    <a:srgbClr val="EFEFEF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6689588" cy="4608286"/>
            </a:xfrm>
            <a:prstGeom prst="rect">
              <a:avLst/>
            </a:prstGeom>
          </p:spPr>
          <p:txBody>
            <a:bodyPr anchor="ctr" rtlCol="false" tIns="16381" lIns="16381" bIns="16381" rIns="16381"/>
            <a:lstStyle/>
            <a:p>
              <a:pPr algn="ctr">
                <a:lnSpc>
                  <a:spcPts val="871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3826241" y="3503993"/>
            <a:ext cx="3262054" cy="2247146"/>
            <a:chOff x="0" y="0"/>
            <a:chExt cx="6689588" cy="460828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689588" cy="4608286"/>
            </a:xfrm>
            <a:custGeom>
              <a:avLst/>
              <a:gdLst/>
              <a:ahLst/>
              <a:cxnLst/>
              <a:rect r="r" b="b" t="t" l="l"/>
              <a:pathLst>
                <a:path h="4608286" w="6689588">
                  <a:moveTo>
                    <a:pt x="23733" y="0"/>
                  </a:moveTo>
                  <a:lnTo>
                    <a:pt x="6665854" y="0"/>
                  </a:lnTo>
                  <a:cubicBezTo>
                    <a:pt x="6678962" y="0"/>
                    <a:pt x="6689588" y="10626"/>
                    <a:pt x="6689588" y="23733"/>
                  </a:cubicBezTo>
                  <a:lnTo>
                    <a:pt x="6689588" y="4584552"/>
                  </a:lnTo>
                  <a:cubicBezTo>
                    <a:pt x="6689588" y="4597660"/>
                    <a:pt x="6678962" y="4608286"/>
                    <a:pt x="6665854" y="4608286"/>
                  </a:cubicBezTo>
                  <a:lnTo>
                    <a:pt x="23733" y="4608286"/>
                  </a:lnTo>
                  <a:cubicBezTo>
                    <a:pt x="10626" y="4608286"/>
                    <a:pt x="0" y="4597660"/>
                    <a:pt x="0" y="4584552"/>
                  </a:cubicBezTo>
                  <a:lnTo>
                    <a:pt x="0" y="23733"/>
                  </a:lnTo>
                  <a:cubicBezTo>
                    <a:pt x="0" y="10626"/>
                    <a:pt x="10626" y="0"/>
                    <a:pt x="2373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22222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5400000"/>
            </a:gradFill>
            <a:ln w="19050" cap="sq">
              <a:gradFill>
                <a:gsLst>
                  <a:gs pos="0">
                    <a:srgbClr val="F7FFA1">
                      <a:alpha val="100000"/>
                    </a:srgbClr>
                  </a:gs>
                  <a:gs pos="100000">
                    <a:srgbClr val="EFEFEF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6689588" cy="4608286"/>
            </a:xfrm>
            <a:prstGeom prst="rect">
              <a:avLst/>
            </a:prstGeom>
          </p:spPr>
          <p:txBody>
            <a:bodyPr anchor="ctr" rtlCol="false" tIns="16381" lIns="16381" bIns="16381" rIns="16381"/>
            <a:lstStyle/>
            <a:p>
              <a:pPr algn="ctr">
                <a:lnSpc>
                  <a:spcPts val="871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488546" y="5808289"/>
            <a:ext cx="3262054" cy="2247146"/>
            <a:chOff x="0" y="0"/>
            <a:chExt cx="6689588" cy="460828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689588" cy="4608286"/>
            </a:xfrm>
            <a:custGeom>
              <a:avLst/>
              <a:gdLst/>
              <a:ahLst/>
              <a:cxnLst/>
              <a:rect r="r" b="b" t="t" l="l"/>
              <a:pathLst>
                <a:path h="4608286" w="6689588">
                  <a:moveTo>
                    <a:pt x="23733" y="0"/>
                  </a:moveTo>
                  <a:lnTo>
                    <a:pt x="6665854" y="0"/>
                  </a:lnTo>
                  <a:cubicBezTo>
                    <a:pt x="6678962" y="0"/>
                    <a:pt x="6689588" y="10626"/>
                    <a:pt x="6689588" y="23733"/>
                  </a:cubicBezTo>
                  <a:lnTo>
                    <a:pt x="6689588" y="4584552"/>
                  </a:lnTo>
                  <a:cubicBezTo>
                    <a:pt x="6689588" y="4597660"/>
                    <a:pt x="6678962" y="4608286"/>
                    <a:pt x="6665854" y="4608286"/>
                  </a:cubicBezTo>
                  <a:lnTo>
                    <a:pt x="23733" y="4608286"/>
                  </a:lnTo>
                  <a:cubicBezTo>
                    <a:pt x="10626" y="4608286"/>
                    <a:pt x="0" y="4597660"/>
                    <a:pt x="0" y="4584552"/>
                  </a:cubicBezTo>
                  <a:lnTo>
                    <a:pt x="0" y="23733"/>
                  </a:lnTo>
                  <a:cubicBezTo>
                    <a:pt x="0" y="10626"/>
                    <a:pt x="10626" y="0"/>
                    <a:pt x="2373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22222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5400000"/>
            </a:gradFill>
            <a:ln w="19050" cap="sq">
              <a:gradFill>
                <a:gsLst>
                  <a:gs pos="0">
                    <a:srgbClr val="F7FFA1">
                      <a:alpha val="100000"/>
                    </a:srgbClr>
                  </a:gs>
                  <a:gs pos="100000">
                    <a:srgbClr val="EFEFEF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6689588" cy="4608286"/>
            </a:xfrm>
            <a:prstGeom prst="rect">
              <a:avLst/>
            </a:prstGeom>
          </p:spPr>
          <p:txBody>
            <a:bodyPr anchor="ctr" rtlCol="false" tIns="16381" lIns="16381" bIns="16381" rIns="16381"/>
            <a:lstStyle/>
            <a:p>
              <a:pPr algn="ctr">
                <a:lnSpc>
                  <a:spcPts val="871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3830942" y="5808289"/>
            <a:ext cx="3262054" cy="2247146"/>
            <a:chOff x="0" y="0"/>
            <a:chExt cx="6689588" cy="460828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689588" cy="4608286"/>
            </a:xfrm>
            <a:custGeom>
              <a:avLst/>
              <a:gdLst/>
              <a:ahLst/>
              <a:cxnLst/>
              <a:rect r="r" b="b" t="t" l="l"/>
              <a:pathLst>
                <a:path h="4608286" w="6689588">
                  <a:moveTo>
                    <a:pt x="23733" y="0"/>
                  </a:moveTo>
                  <a:lnTo>
                    <a:pt x="6665854" y="0"/>
                  </a:lnTo>
                  <a:cubicBezTo>
                    <a:pt x="6678962" y="0"/>
                    <a:pt x="6689588" y="10626"/>
                    <a:pt x="6689588" y="23733"/>
                  </a:cubicBezTo>
                  <a:lnTo>
                    <a:pt x="6689588" y="4584552"/>
                  </a:lnTo>
                  <a:cubicBezTo>
                    <a:pt x="6689588" y="4597660"/>
                    <a:pt x="6678962" y="4608286"/>
                    <a:pt x="6665854" y="4608286"/>
                  </a:cubicBezTo>
                  <a:lnTo>
                    <a:pt x="23733" y="4608286"/>
                  </a:lnTo>
                  <a:cubicBezTo>
                    <a:pt x="10626" y="4608286"/>
                    <a:pt x="0" y="4597660"/>
                    <a:pt x="0" y="4584552"/>
                  </a:cubicBezTo>
                  <a:lnTo>
                    <a:pt x="0" y="23733"/>
                  </a:lnTo>
                  <a:cubicBezTo>
                    <a:pt x="0" y="10626"/>
                    <a:pt x="10626" y="0"/>
                    <a:pt x="2373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22222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5400000"/>
            </a:gradFill>
            <a:ln w="19050" cap="sq">
              <a:gradFill>
                <a:gsLst>
                  <a:gs pos="0">
                    <a:srgbClr val="F7FFA1">
                      <a:alpha val="100000"/>
                    </a:srgbClr>
                  </a:gs>
                  <a:gs pos="100000">
                    <a:srgbClr val="EFEFEF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6689588" cy="4608286"/>
            </a:xfrm>
            <a:prstGeom prst="rect">
              <a:avLst/>
            </a:prstGeom>
          </p:spPr>
          <p:txBody>
            <a:bodyPr anchor="ctr" rtlCol="false" tIns="16381" lIns="16381" bIns="16381" rIns="16381"/>
            <a:lstStyle/>
            <a:p>
              <a:pPr algn="ctr">
                <a:lnSpc>
                  <a:spcPts val="871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499779" y="8085502"/>
            <a:ext cx="6576376" cy="1850498"/>
            <a:chOff x="0" y="0"/>
            <a:chExt cx="12705292" cy="357508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2705292" cy="3575088"/>
            </a:xfrm>
            <a:custGeom>
              <a:avLst/>
              <a:gdLst/>
              <a:ahLst/>
              <a:cxnLst/>
              <a:rect r="r" b="b" t="t" l="l"/>
              <a:pathLst>
                <a:path h="3575088" w="12705292">
                  <a:moveTo>
                    <a:pt x="11772" y="0"/>
                  </a:moveTo>
                  <a:lnTo>
                    <a:pt x="12693520" y="0"/>
                  </a:lnTo>
                  <a:cubicBezTo>
                    <a:pt x="12700022" y="0"/>
                    <a:pt x="12705292" y="5271"/>
                    <a:pt x="12705292" y="11772"/>
                  </a:cubicBezTo>
                  <a:lnTo>
                    <a:pt x="12705292" y="3563315"/>
                  </a:lnTo>
                  <a:cubicBezTo>
                    <a:pt x="12705292" y="3569817"/>
                    <a:pt x="12700022" y="3575088"/>
                    <a:pt x="12693520" y="3575088"/>
                  </a:cubicBezTo>
                  <a:lnTo>
                    <a:pt x="11772" y="3575088"/>
                  </a:lnTo>
                  <a:cubicBezTo>
                    <a:pt x="5271" y="3575088"/>
                    <a:pt x="0" y="3569817"/>
                    <a:pt x="0" y="3563315"/>
                  </a:cubicBezTo>
                  <a:lnTo>
                    <a:pt x="0" y="11772"/>
                  </a:lnTo>
                  <a:cubicBezTo>
                    <a:pt x="0" y="5271"/>
                    <a:pt x="5271" y="0"/>
                    <a:pt x="1177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D9D9D9">
                    <a:alpha val="100000"/>
                  </a:srgbClr>
                </a:gs>
              </a:gsLst>
              <a:lin ang="5400000"/>
            </a:gradFill>
            <a:ln w="19050" cap="sq">
              <a:gradFill>
                <a:gsLst>
                  <a:gs pos="0">
                    <a:srgbClr val="002036">
                      <a:alpha val="100000"/>
                    </a:srgbClr>
                  </a:gs>
                  <a:gs pos="100000">
                    <a:srgbClr val="1A2A5F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12705292" cy="3575088"/>
            </a:xfrm>
            <a:prstGeom prst="rect">
              <a:avLst/>
            </a:prstGeom>
          </p:spPr>
          <p:txBody>
            <a:bodyPr anchor="ctr" rtlCol="false" tIns="16381" lIns="16381" bIns="16381" rIns="16381"/>
            <a:lstStyle/>
            <a:p>
              <a:pPr algn="ctr">
                <a:lnSpc>
                  <a:spcPts val="871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643711" y="3763953"/>
            <a:ext cx="2820272" cy="26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900"/>
              </a:lnSpc>
              <a:spcBef>
                <a:spcPct val="0"/>
              </a:spcBef>
            </a:pPr>
            <a:r>
              <a:rPr lang="en-US" b="true" sz="2000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Winner Selection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983728" y="3763953"/>
            <a:ext cx="2820272" cy="26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900"/>
              </a:lnSpc>
              <a:spcBef>
                <a:spcPct val="0"/>
              </a:spcBef>
            </a:pPr>
            <a:r>
              <a:rPr lang="en-US" b="true" sz="2000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Candidate Submission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43711" y="6078976"/>
            <a:ext cx="2820272" cy="26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900"/>
              </a:lnSpc>
              <a:spcBef>
                <a:spcPct val="0"/>
              </a:spcBef>
            </a:pPr>
            <a:r>
              <a:rPr lang="en-US" b="true" sz="2000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Partner Interview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983728" y="6078976"/>
            <a:ext cx="2820272" cy="26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900"/>
              </a:lnSpc>
              <a:spcBef>
                <a:spcPct val="0"/>
              </a:spcBef>
            </a:pPr>
            <a:r>
              <a:rPr lang="en-US" b="true" sz="2000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Hiring Decision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43711" y="4302958"/>
            <a:ext cx="2820272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13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NIFI × ICMSS identifies the top three winners through the bootcamp assessment and final pitching process.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4047132" y="4302958"/>
            <a:ext cx="2820272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13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With each candidate’s consent, the organizers share their profile and available research work samples.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43711" y="6618727"/>
            <a:ext cx="2820272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13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The partner conducts interviews based on the agreed internship requirements and eligibility criteria.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4037475" y="6618727"/>
            <a:ext cx="2820272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13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The partner determines internship offers through its own recruitment process.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652559" y="8260435"/>
            <a:ext cx="2993650" cy="272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016"/>
              </a:lnSpc>
              <a:spcBef>
                <a:spcPct val="0"/>
              </a:spcBef>
            </a:pPr>
            <a:r>
              <a:rPr lang="en-US" b="true" sz="2122">
                <a:gradFill>
                  <a:gsLst>
                    <a:gs pos="0">
                      <a:srgbClr val="002036">
                        <a:alpha val="100000"/>
                      </a:srgbClr>
                    </a:gs>
                    <a:gs pos="100000">
                      <a:srgbClr val="0F3E87">
                        <a:alpha val="100000"/>
                      </a:srgbClr>
                    </a:gs>
                  </a:gsLst>
                  <a:lin ang="0"/>
                </a:gradFill>
                <a:latin typeface="DM Sans Bold"/>
                <a:ea typeface="DM Sans Bold"/>
                <a:cs typeface="DM Sans Bold"/>
                <a:sym typeface="DM Sans Bold"/>
              </a:rPr>
              <a:t>Candidate Portfolio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652559" y="8628749"/>
            <a:ext cx="1340401" cy="173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210"/>
              </a:lnSpc>
              <a:spcBef>
                <a:spcPct val="0"/>
              </a:spcBef>
            </a:pPr>
            <a:r>
              <a:rPr lang="en-US" b="true" sz="1273">
                <a:gradFill>
                  <a:gsLst>
                    <a:gs pos="0">
                      <a:srgbClr val="002036">
                        <a:alpha val="100000"/>
                      </a:srgbClr>
                    </a:gs>
                    <a:gs pos="100000">
                      <a:srgbClr val="0F3E87">
                        <a:alpha val="100000"/>
                      </a:srgbClr>
                    </a:gs>
                  </a:gsLst>
                  <a:lin ang="0"/>
                </a:gradFill>
                <a:latin typeface="DM Sans Bold"/>
                <a:ea typeface="DM Sans Bold"/>
                <a:cs typeface="DM Sans Bold"/>
                <a:sym typeface="DM Sans Bold"/>
              </a:rPr>
              <a:t>Curriculum Vitae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652559" y="9024804"/>
            <a:ext cx="1340401" cy="509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"/>
              </a:lnSpc>
              <a:spcBef>
                <a:spcPct val="0"/>
              </a:spcBef>
            </a:pPr>
            <a:r>
              <a:rPr lang="en-US" sz="1061">
                <a:gradFill>
                  <a:gsLst>
                    <a:gs pos="0">
                      <a:srgbClr val="002036">
                        <a:alpha val="100000"/>
                      </a:srgbClr>
                    </a:gs>
                    <a:gs pos="100000">
                      <a:srgbClr val="0F3E87">
                        <a:alpha val="100000"/>
                      </a:srgbClr>
                    </a:gs>
                  </a:gsLst>
                  <a:lin ang="0"/>
                </a:gradFill>
                <a:latin typeface="DM Sans"/>
                <a:ea typeface="DM Sans"/>
                <a:cs typeface="DM Sans"/>
                <a:sym typeface="DM Sans"/>
              </a:rPr>
              <a:t>Candidate background, experience, and relevant skills.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260600" y="8628749"/>
            <a:ext cx="1382665" cy="324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210"/>
              </a:lnSpc>
              <a:spcBef>
                <a:spcPct val="0"/>
              </a:spcBef>
            </a:pPr>
            <a:r>
              <a:rPr lang="en-US" b="true" sz="1273">
                <a:gradFill>
                  <a:gsLst>
                    <a:gs pos="0">
                      <a:srgbClr val="002036">
                        <a:alpha val="100000"/>
                      </a:srgbClr>
                    </a:gs>
                    <a:gs pos="100000">
                      <a:srgbClr val="0F3E87">
                        <a:alpha val="100000"/>
                      </a:srgbClr>
                    </a:gs>
                  </a:gsLst>
                  <a:lin ang="0"/>
                </a:gradFill>
                <a:latin typeface="DM Sans Bold"/>
                <a:ea typeface="DM Sans Bold"/>
                <a:cs typeface="DM Sans Bold"/>
                <a:sym typeface="DM Sans Bold"/>
              </a:rPr>
              <a:t>Equity Research Report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2260600" y="9026053"/>
            <a:ext cx="1382665" cy="386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"/>
              </a:lnSpc>
              <a:spcBef>
                <a:spcPct val="0"/>
              </a:spcBef>
            </a:pPr>
            <a:r>
              <a:rPr lang="en-US" sz="1061">
                <a:gradFill>
                  <a:gsLst>
                    <a:gs pos="0">
                      <a:srgbClr val="002036">
                        <a:alpha val="100000"/>
                      </a:srgbClr>
                    </a:gs>
                    <a:gs pos="100000">
                      <a:srgbClr val="0F3E87">
                        <a:alpha val="100000"/>
                      </a:srgbClr>
                    </a:gs>
                  </a:gsLst>
                  <a:lin ang="0"/>
                </a:gradFill>
                <a:latin typeface="DM Sans"/>
                <a:ea typeface="DM Sans"/>
                <a:cs typeface="DM Sans"/>
                <a:sym typeface="DM Sans"/>
              </a:rPr>
              <a:t>Company analysis, valuation, investment thesis, and risks.</a:t>
            </a:r>
          </a:p>
        </p:txBody>
      </p:sp>
      <p:sp>
        <p:nvSpPr>
          <p:cNvPr name="AutoShape 46" id="46"/>
          <p:cNvSpPr/>
          <p:nvPr/>
        </p:nvSpPr>
        <p:spPr>
          <a:xfrm flipV="true">
            <a:off x="2129163" y="8609699"/>
            <a:ext cx="0" cy="1025481"/>
          </a:xfrm>
          <a:prstGeom prst="line">
            <a:avLst/>
          </a:prstGeom>
          <a:ln cap="flat" w="38100">
            <a:gradFill>
              <a:gsLst>
                <a:gs pos="0">
                  <a:srgbClr val="002036">
                    <a:alpha val="100000"/>
                  </a:srgbClr>
                </a:gs>
                <a:gs pos="100000">
                  <a:srgbClr val="1A2A5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47" id="47"/>
          <p:cNvSpPr/>
          <p:nvPr/>
        </p:nvSpPr>
        <p:spPr>
          <a:xfrm flipV="true">
            <a:off x="3774703" y="8609699"/>
            <a:ext cx="0" cy="1025481"/>
          </a:xfrm>
          <a:prstGeom prst="line">
            <a:avLst/>
          </a:prstGeom>
          <a:ln cap="flat" w="38100">
            <a:gradFill>
              <a:gsLst>
                <a:gs pos="0">
                  <a:srgbClr val="002036">
                    <a:alpha val="100000"/>
                  </a:srgbClr>
                </a:gs>
                <a:gs pos="100000">
                  <a:srgbClr val="1A2A5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TextBox 48" id="48"/>
          <p:cNvSpPr txBox="true"/>
          <p:nvPr/>
        </p:nvSpPr>
        <p:spPr>
          <a:xfrm rot="0">
            <a:off x="3906140" y="8628749"/>
            <a:ext cx="1382665" cy="173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210"/>
              </a:lnSpc>
              <a:spcBef>
                <a:spcPct val="0"/>
              </a:spcBef>
            </a:pPr>
            <a:r>
              <a:rPr lang="en-US" b="true" sz="1273">
                <a:gradFill>
                  <a:gsLst>
                    <a:gs pos="0">
                      <a:srgbClr val="002036">
                        <a:alpha val="100000"/>
                      </a:srgbClr>
                    </a:gs>
                    <a:gs pos="100000">
                      <a:srgbClr val="0F3E87">
                        <a:alpha val="100000"/>
                      </a:srgbClr>
                    </a:gs>
                  </a:gsLst>
                  <a:lin ang="0"/>
                </a:gradFill>
                <a:latin typeface="DM Sans Bold"/>
                <a:ea typeface="DM Sans Bold"/>
                <a:cs typeface="DM Sans Bold"/>
                <a:sym typeface="DM Sans Bold"/>
              </a:rPr>
              <a:t>Financial Model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3906140" y="9024804"/>
            <a:ext cx="1382665" cy="509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"/>
              </a:lnSpc>
              <a:spcBef>
                <a:spcPct val="0"/>
              </a:spcBef>
            </a:pPr>
            <a:r>
              <a:rPr lang="en-US" sz="1061">
                <a:gradFill>
                  <a:gsLst>
                    <a:gs pos="0">
                      <a:srgbClr val="002036">
                        <a:alpha val="100000"/>
                      </a:srgbClr>
                    </a:gs>
                    <a:gs pos="100000">
                      <a:srgbClr val="0F3E87">
                        <a:alpha val="100000"/>
                      </a:srgbClr>
                    </a:gs>
                  </a:gsLst>
                  <a:lin ang="0"/>
                </a:gradFill>
                <a:latin typeface="DM Sans"/>
                <a:ea typeface="DM Sans"/>
                <a:cs typeface="DM Sans"/>
                <a:sym typeface="DM Sans"/>
              </a:rPr>
              <a:t>Historical financial analysis, forecasts, and valuation workings.</a:t>
            </a:r>
          </a:p>
        </p:txBody>
      </p:sp>
      <p:sp>
        <p:nvSpPr>
          <p:cNvPr name="AutoShape 50" id="50"/>
          <p:cNvSpPr/>
          <p:nvPr/>
        </p:nvSpPr>
        <p:spPr>
          <a:xfrm flipV="true">
            <a:off x="5420242" y="8609699"/>
            <a:ext cx="0" cy="1025481"/>
          </a:xfrm>
          <a:prstGeom prst="line">
            <a:avLst/>
          </a:prstGeom>
          <a:ln cap="flat" w="38100">
            <a:gradFill>
              <a:gsLst>
                <a:gs pos="0">
                  <a:srgbClr val="002036">
                    <a:alpha val="100000"/>
                  </a:srgbClr>
                </a:gs>
                <a:gs pos="100000">
                  <a:srgbClr val="1A2A5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TextBox 51" id="51"/>
          <p:cNvSpPr txBox="true"/>
          <p:nvPr/>
        </p:nvSpPr>
        <p:spPr>
          <a:xfrm rot="0">
            <a:off x="5551679" y="8628749"/>
            <a:ext cx="1382665" cy="173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210"/>
              </a:lnSpc>
              <a:spcBef>
                <a:spcPct val="0"/>
              </a:spcBef>
            </a:pPr>
            <a:r>
              <a:rPr lang="en-US" b="true" sz="1273">
                <a:gradFill>
                  <a:gsLst>
                    <a:gs pos="0">
                      <a:srgbClr val="002036">
                        <a:alpha val="100000"/>
                      </a:srgbClr>
                    </a:gs>
                    <a:gs pos="100000">
                      <a:srgbClr val="0F3E87">
                        <a:alpha val="100000"/>
                      </a:srgbClr>
                    </a:gs>
                  </a:gsLst>
                  <a:lin ang="0"/>
                </a:gradFill>
                <a:latin typeface="DM Sans Bold"/>
                <a:ea typeface="DM Sans Bold"/>
                <a:cs typeface="DM Sans Bold"/>
                <a:sym typeface="DM Sans Bold"/>
              </a:rPr>
              <a:t>Pitch Deck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5551679" y="9024804"/>
            <a:ext cx="1382665" cy="509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"/>
              </a:lnSpc>
              <a:spcBef>
                <a:spcPct val="0"/>
              </a:spcBef>
            </a:pPr>
            <a:r>
              <a:rPr lang="en-US" sz="1061">
                <a:gradFill>
                  <a:gsLst>
                    <a:gs pos="0">
                      <a:srgbClr val="002036">
                        <a:alpha val="100000"/>
                      </a:srgbClr>
                    </a:gs>
                    <a:gs pos="100000">
                      <a:srgbClr val="0F3E87">
                        <a:alpha val="100000"/>
                      </a:srgbClr>
                    </a:gs>
                  </a:gsLst>
                  <a:lin ang="0"/>
                </a:gradFill>
                <a:latin typeface="DM Sans"/>
                <a:ea typeface="DM Sans"/>
                <a:cs typeface="DM Sans"/>
                <a:sym typeface="DM Sans"/>
              </a:rPr>
              <a:t>A concise presentation of the investment recommendation.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491358" y="10012200"/>
            <a:ext cx="6593217" cy="257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008"/>
              </a:lnSpc>
              <a:spcBef>
                <a:spcPct val="0"/>
              </a:spcBef>
            </a:pPr>
            <a:r>
              <a:rPr lang="en-US" sz="1061">
                <a:gradFill>
                  <a:gsLst>
                    <a:gs pos="0">
                      <a:srgbClr val="002036">
                        <a:alpha val="100000"/>
                      </a:srgbClr>
                    </a:gs>
                    <a:gs pos="100000">
                      <a:srgbClr val="0F3E87">
                        <a:alpha val="100000"/>
                      </a:srgbClr>
                    </a:gs>
                  </a:gsLst>
                  <a:lin ang="0"/>
                </a:gradFill>
                <a:latin typeface="DM Sans"/>
                <a:ea typeface="DM Sans"/>
                <a:cs typeface="DM Sans"/>
                <a:sym typeface="DM Sans"/>
              </a:rPr>
              <a:t>Interview access does not guarantee an internship offer. Candidate eligibility and recruitment arrangements will be agreed with the partner.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3366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341012" y="2718770"/>
            <a:ext cx="7460742" cy="746074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21F">
                    <a:alpha val="22000"/>
                  </a:srgbClr>
                </a:gs>
                <a:gs pos="100000">
                  <a:srgbClr val="848484">
                    <a:alpha val="17050"/>
                  </a:srgbClr>
                </a:gs>
              </a:gsLst>
              <a:lin ang="0"/>
            </a:gradFill>
            <a:ln w="19050" cap="sq">
              <a:gradFill>
                <a:gsLst>
                  <a:gs pos="0">
                    <a:srgbClr val="FFFFFF">
                      <a:alpha val="22000"/>
                    </a:srgbClr>
                  </a:gs>
                  <a:gs pos="100000">
                    <a:srgbClr val="9B9B9B">
                      <a:alpha val="22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4564555" y="6205629"/>
            <a:ext cx="7460742" cy="7460742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48484">
                    <a:alpha val="20925"/>
                  </a:srgbClr>
                </a:gs>
                <a:gs pos="100000">
                  <a:srgbClr val="00021F">
                    <a:alpha val="27000"/>
                  </a:srgbClr>
                </a:gs>
              </a:gsLst>
              <a:lin ang="0"/>
            </a:gradFill>
            <a:ln w="19050" cap="sq">
              <a:gradFill>
                <a:gsLst>
                  <a:gs pos="0">
                    <a:srgbClr val="FFFFFF">
                      <a:alpha val="27000"/>
                    </a:srgbClr>
                  </a:gs>
                  <a:gs pos="100000">
                    <a:srgbClr val="9B9B9B">
                      <a:alpha val="27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3730371" y="-1828984"/>
            <a:ext cx="7460742" cy="7460742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48484">
                    <a:alpha val="17050"/>
                  </a:srgbClr>
                </a:gs>
                <a:gs pos="100000">
                  <a:srgbClr val="00021F">
                    <a:alpha val="22000"/>
                  </a:srgbClr>
                </a:gs>
              </a:gsLst>
              <a:lin ang="0"/>
            </a:gradFill>
            <a:ln w="19050" cap="sq">
              <a:gradFill>
                <a:gsLst>
                  <a:gs pos="0">
                    <a:srgbClr val="FFFFFF">
                      <a:alpha val="22000"/>
                    </a:srgbClr>
                  </a:gs>
                  <a:gs pos="100000">
                    <a:srgbClr val="9B9B9B">
                      <a:alpha val="22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499779" y="756000"/>
            <a:ext cx="411005" cy="421795"/>
          </a:xfrm>
          <a:custGeom>
            <a:avLst/>
            <a:gdLst/>
            <a:ahLst/>
            <a:cxnLst/>
            <a:rect r="r" b="b" t="t" l="l"/>
            <a:pathLst>
              <a:path h="421795" w="411005">
                <a:moveTo>
                  <a:pt x="0" y="0"/>
                </a:moveTo>
                <a:lnTo>
                  <a:pt x="411005" y="0"/>
                </a:lnTo>
                <a:lnTo>
                  <a:pt x="411005" y="421795"/>
                </a:lnTo>
                <a:lnTo>
                  <a:pt x="0" y="4217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0447" t="-144434" r="-490104" b="-139546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37500" y="713076"/>
            <a:ext cx="468982" cy="464718"/>
          </a:xfrm>
          <a:custGeom>
            <a:avLst/>
            <a:gdLst/>
            <a:ahLst/>
            <a:cxnLst/>
            <a:rect r="r" b="b" t="t" l="l"/>
            <a:pathLst>
              <a:path h="464718" w="468982">
                <a:moveTo>
                  <a:pt x="0" y="0"/>
                </a:moveTo>
                <a:lnTo>
                  <a:pt x="468982" y="0"/>
                </a:lnTo>
                <a:lnTo>
                  <a:pt x="468982" y="464719"/>
                </a:lnTo>
                <a:lnTo>
                  <a:pt x="0" y="4647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83846" y="10420770"/>
            <a:ext cx="6592309" cy="163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2"/>
              </a:lnSpc>
              <a:spcBef>
                <a:spcPct val="0"/>
              </a:spcBef>
            </a:pPr>
            <a:r>
              <a:rPr lang="en-US" sz="95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Confidential &amp; Proprietary © 2026 Not Into Finance &amp; Indonesia Capital Market Student Studies</a:t>
            </a:r>
            <a:r>
              <a:rPr lang="en-US" sz="95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. All right</a:t>
            </a:r>
            <a:r>
              <a:rPr lang="en-US" sz="95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 reserved.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75124" y="789276"/>
            <a:ext cx="230303" cy="388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2"/>
              </a:lnSpc>
            </a:pPr>
            <a:r>
              <a:rPr lang="en-US" b="true" sz="3101" spc="-254">
                <a:gradFill>
                  <a:gsLst>
                    <a:gs pos="0">
                      <a:srgbClr val="E6E6E6">
                        <a:alpha val="100000"/>
                      </a:srgbClr>
                    </a:gs>
                    <a:gs pos="100000">
                      <a:srgbClr val="848484">
                        <a:alpha val="77500"/>
                      </a:srgbClr>
                    </a:gs>
                  </a:gsLst>
                  <a:lin ang="0"/>
                </a:gradFill>
                <a:latin typeface="DM Sans Bold"/>
                <a:ea typeface="DM Sans Bold"/>
                <a:cs typeface="DM Sans Bold"/>
                <a:sym typeface="DM Sans Bold"/>
              </a:rPr>
              <a:t>x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-920222" y="4387505"/>
            <a:ext cx="9400444" cy="1916990"/>
            <a:chOff x="0" y="0"/>
            <a:chExt cx="12533926" cy="2555987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66675"/>
              <a:ext cx="12533926" cy="11593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506"/>
                </a:lnSpc>
              </a:pPr>
              <a:r>
                <a:rPr lang="en-US" b="true" sz="6080" spc="-498">
                  <a:gradFill>
                    <a:gsLst>
                      <a:gs pos="0">
                        <a:srgbClr val="E6E6E6">
                          <a:alpha val="100000"/>
                        </a:srgbClr>
                      </a:gs>
                      <a:gs pos="100000">
                        <a:srgbClr val="848484">
                          <a:alpha val="77500"/>
                        </a:srgbClr>
                      </a:gs>
                    </a:gsLst>
                    <a:lin ang="0"/>
                  </a:gradFill>
                  <a:latin typeface="DM Sans Bold"/>
                  <a:ea typeface="DM Sans Bold"/>
                  <a:cs typeface="DM Sans Bold"/>
                  <a:sym typeface="DM Sans Bold"/>
                </a:rPr>
                <a:t>Case Collaborator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5184047" y="2032747"/>
              <a:ext cx="2165832" cy="523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60"/>
                </a:lnSpc>
              </a:pPr>
              <a:r>
                <a:rPr lang="en-US" b="true" sz="3000" spc="-246">
                  <a:gradFill>
                    <a:gsLst>
                      <a:gs pos="0">
                        <a:srgbClr val="E6E6E6">
                          <a:alpha val="100000"/>
                        </a:srgbClr>
                      </a:gs>
                      <a:gs pos="100000">
                        <a:srgbClr val="848484">
                          <a:alpha val="77500"/>
                        </a:srgbClr>
                      </a:gs>
                    </a:gsLst>
                    <a:lin ang="0"/>
                  </a:gradFill>
                  <a:latin typeface="DM Sans Bold"/>
                  <a:ea typeface="DM Sans Bold"/>
                  <a:cs typeface="DM Sans Bold"/>
                  <a:sym typeface="DM Sans Bold"/>
                </a:rPr>
                <a:t>2026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1192219"/>
              <a:ext cx="12533926" cy="7643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79"/>
                </a:lnSpc>
              </a:pPr>
              <a:r>
                <a:rPr lang="en-US" b="true" sz="3999" spc="-327">
                  <a:gradFill>
                    <a:gsLst>
                      <a:gs pos="0">
                        <a:srgbClr val="E6E6E6">
                          <a:alpha val="100000"/>
                        </a:srgbClr>
                      </a:gs>
                      <a:gs pos="100000">
                        <a:srgbClr val="848484">
                          <a:alpha val="77500"/>
                        </a:srgbClr>
                      </a:gs>
                    </a:gsLst>
                    <a:lin ang="0"/>
                  </a:gradFill>
                  <a:latin typeface="DM Sans Bold"/>
                  <a:ea typeface="DM Sans Bold"/>
                  <a:cs typeface="DM Sans Bold"/>
                  <a:sym typeface="DM Sans Bold"/>
                </a:rPr>
                <a:t>Not Into Finance x ICMSS UI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3366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99779" y="756000"/>
            <a:ext cx="411005" cy="421795"/>
          </a:xfrm>
          <a:custGeom>
            <a:avLst/>
            <a:gdLst/>
            <a:ahLst/>
            <a:cxnLst/>
            <a:rect r="r" b="b" t="t" l="l"/>
            <a:pathLst>
              <a:path h="421795" w="411005">
                <a:moveTo>
                  <a:pt x="0" y="0"/>
                </a:moveTo>
                <a:lnTo>
                  <a:pt x="411005" y="0"/>
                </a:lnTo>
                <a:lnTo>
                  <a:pt x="411005" y="421795"/>
                </a:lnTo>
                <a:lnTo>
                  <a:pt x="0" y="4217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0447" t="-144434" r="-490104" b="-13954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7500" y="713076"/>
            <a:ext cx="468982" cy="464718"/>
          </a:xfrm>
          <a:custGeom>
            <a:avLst/>
            <a:gdLst/>
            <a:ahLst/>
            <a:cxnLst/>
            <a:rect r="r" b="b" t="t" l="l"/>
            <a:pathLst>
              <a:path h="464718" w="468982">
                <a:moveTo>
                  <a:pt x="0" y="0"/>
                </a:moveTo>
                <a:lnTo>
                  <a:pt x="468982" y="0"/>
                </a:lnTo>
                <a:lnTo>
                  <a:pt x="468982" y="464719"/>
                </a:lnTo>
                <a:lnTo>
                  <a:pt x="0" y="4647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499779" y="5171538"/>
            <a:ext cx="3108136" cy="3900787"/>
            <a:chOff x="0" y="0"/>
            <a:chExt cx="1113886" cy="139795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13886" cy="1397954"/>
            </a:xfrm>
            <a:custGeom>
              <a:avLst/>
              <a:gdLst/>
              <a:ahLst/>
              <a:cxnLst/>
              <a:rect r="r" b="b" t="t" l="l"/>
              <a:pathLst>
                <a:path h="1397954" w="1113886">
                  <a:moveTo>
                    <a:pt x="0" y="0"/>
                  </a:moveTo>
                  <a:lnTo>
                    <a:pt x="1113886" y="0"/>
                  </a:lnTo>
                  <a:lnTo>
                    <a:pt x="1113886" y="1397954"/>
                  </a:lnTo>
                  <a:lnTo>
                    <a:pt x="0" y="1397954"/>
                  </a:lnTo>
                  <a:close/>
                </a:path>
              </a:pathLst>
            </a:custGeom>
            <a:ln w="19050" cap="sq">
              <a:gradFill>
                <a:gsLst>
                  <a:gs pos="0">
                    <a:srgbClr val="F7FFA1">
                      <a:alpha val="100000"/>
                    </a:srgbClr>
                  </a:gs>
                  <a:gs pos="100000">
                    <a:srgbClr val="EFEFEF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113886" cy="1407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695864" y="5184882"/>
            <a:ext cx="3108136" cy="3900787"/>
            <a:chOff x="0" y="0"/>
            <a:chExt cx="1113886" cy="139795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13886" cy="1397954"/>
            </a:xfrm>
            <a:custGeom>
              <a:avLst/>
              <a:gdLst/>
              <a:ahLst/>
              <a:cxnLst/>
              <a:rect r="r" b="b" t="t" l="l"/>
              <a:pathLst>
                <a:path h="1397954" w="1113886">
                  <a:moveTo>
                    <a:pt x="0" y="0"/>
                  </a:moveTo>
                  <a:lnTo>
                    <a:pt x="1113886" y="0"/>
                  </a:lnTo>
                  <a:lnTo>
                    <a:pt x="1113886" y="1397954"/>
                  </a:lnTo>
                  <a:lnTo>
                    <a:pt x="0" y="1397954"/>
                  </a:lnTo>
                  <a:close/>
                </a:path>
              </a:pathLst>
            </a:custGeom>
            <a:ln w="19050" cap="sq">
              <a:gradFill>
                <a:gsLst>
                  <a:gs pos="0">
                    <a:srgbClr val="F7FFA1">
                      <a:alpha val="100000"/>
                    </a:srgbClr>
                  </a:gs>
                  <a:gs pos="100000">
                    <a:srgbClr val="EFEFEF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113886" cy="1407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99779" y="4546868"/>
            <a:ext cx="3108136" cy="548469"/>
            <a:chOff x="0" y="0"/>
            <a:chExt cx="1113886" cy="19655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13886" cy="196559"/>
            </a:xfrm>
            <a:custGeom>
              <a:avLst/>
              <a:gdLst/>
              <a:ahLst/>
              <a:cxnLst/>
              <a:rect r="r" b="b" t="t" l="l"/>
              <a:pathLst>
                <a:path h="196559" w="1113886">
                  <a:moveTo>
                    <a:pt x="0" y="0"/>
                  </a:moveTo>
                  <a:lnTo>
                    <a:pt x="1113886" y="0"/>
                  </a:lnTo>
                  <a:lnTo>
                    <a:pt x="1113886" y="196559"/>
                  </a:lnTo>
                  <a:lnTo>
                    <a:pt x="0" y="196559"/>
                  </a:lnTo>
                  <a:close/>
                </a:path>
              </a:pathLst>
            </a:custGeom>
            <a:gradFill rotWithShape="true">
              <a:gsLst>
                <a:gs pos="0">
                  <a:srgbClr val="1B2A5E">
                    <a:alpha val="100000"/>
                  </a:srgbClr>
                </a:gs>
                <a:gs pos="100000">
                  <a:srgbClr val="0D3C82">
                    <a:alpha val="100000"/>
                  </a:srgbClr>
                </a:gs>
              </a:gsLst>
              <a:lin ang="2700000"/>
            </a:gradFill>
            <a:ln w="19050" cap="sq">
              <a:gradFill>
                <a:gsLst>
                  <a:gs pos="0">
                    <a:srgbClr val="F7FFA1">
                      <a:alpha val="100000"/>
                    </a:srgbClr>
                  </a:gs>
                  <a:gs pos="100000">
                    <a:srgbClr val="EFEFEF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1113886" cy="2060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475929" y="1507801"/>
            <a:ext cx="6201728" cy="1006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89"/>
              </a:lnSpc>
              <a:spcBef>
                <a:spcPct val="0"/>
              </a:spcBef>
            </a:pPr>
            <a:r>
              <a:rPr lang="en-US" b="true" sz="4093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Case Collaboration Opportunity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75124" y="789276"/>
            <a:ext cx="230303" cy="388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2"/>
              </a:lnSpc>
            </a:pPr>
            <a:r>
              <a:rPr lang="en-US" b="true" sz="3101" spc="-254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x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83846" y="10420770"/>
            <a:ext cx="6592309" cy="163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2"/>
              </a:lnSpc>
              <a:spcBef>
                <a:spcPct val="0"/>
              </a:spcBef>
            </a:pPr>
            <a:r>
              <a:rPr lang="en-US" sz="95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Confidential &amp; Proprietary © 2026 Not Into Finance &amp; Indonesia Capital Market Student Studies</a:t>
            </a:r>
            <a:r>
              <a:rPr lang="en-US" sz="95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. All right</a:t>
            </a:r>
            <a:r>
              <a:rPr lang="en-US" sz="95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 reserved.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06311" y="2796653"/>
            <a:ext cx="6581985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3"/>
              </a:lnSpc>
            </a:pPr>
            <a:r>
              <a:rPr lang="en-US" sz="1669">
                <a:solidFill>
                  <a:srgbClr val="E9E9E9"/>
                </a:solidFill>
                <a:latin typeface="DM Sans"/>
                <a:ea typeface="DM Sans"/>
                <a:cs typeface="DM Sans"/>
                <a:sym typeface="DM Sans"/>
              </a:rPr>
              <a:t>Bring Your Business into the Research Classroom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99779" y="3110978"/>
            <a:ext cx="6581985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E9E9E9"/>
                </a:solidFill>
                <a:latin typeface="DM Sans"/>
                <a:ea typeface="DM Sans"/>
                <a:cs typeface="DM Sans"/>
                <a:sym typeface="DM Sans"/>
              </a:rPr>
              <a:t>Partner with NIFI × ICMSS to introduce your company as the shared equity research case for participant assessment and final pitching.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56000" y="5590638"/>
            <a:ext cx="2628727" cy="35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0"/>
              </a:lnSpc>
              <a:spcBef>
                <a:spcPct val="0"/>
              </a:spcBef>
            </a:pPr>
            <a:r>
              <a:rPr lang="en-US" sz="1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Deliv</a:t>
            </a:r>
            <a:r>
              <a:rPr lang="en-US" sz="1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er one session introducing the company’s business model, operating performance, and strategic priorities.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56000" y="5385638"/>
            <a:ext cx="1716914" cy="16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139"/>
              </a:lnSpc>
              <a:spcBef>
                <a:spcPct val="0"/>
              </a:spcBef>
            </a:pPr>
            <a:r>
              <a:rPr lang="en-US" b="true" sz="1200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Company Presentation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3695864" y="4546868"/>
            <a:ext cx="3108136" cy="548469"/>
            <a:chOff x="0" y="0"/>
            <a:chExt cx="1113886" cy="19655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13886" cy="196559"/>
            </a:xfrm>
            <a:custGeom>
              <a:avLst/>
              <a:gdLst/>
              <a:ahLst/>
              <a:cxnLst/>
              <a:rect r="r" b="b" t="t" l="l"/>
              <a:pathLst>
                <a:path h="196559" w="1113886">
                  <a:moveTo>
                    <a:pt x="0" y="0"/>
                  </a:moveTo>
                  <a:lnTo>
                    <a:pt x="1113886" y="0"/>
                  </a:lnTo>
                  <a:lnTo>
                    <a:pt x="1113886" y="196559"/>
                  </a:lnTo>
                  <a:lnTo>
                    <a:pt x="0" y="196559"/>
                  </a:lnTo>
                  <a:close/>
                </a:path>
              </a:pathLst>
            </a:custGeom>
            <a:gradFill rotWithShape="true">
              <a:gsLst>
                <a:gs pos="0">
                  <a:srgbClr val="1B2A5E">
                    <a:alpha val="100000"/>
                  </a:srgbClr>
                </a:gs>
                <a:gs pos="100000">
                  <a:srgbClr val="0D3C82">
                    <a:alpha val="100000"/>
                  </a:srgbClr>
                </a:gs>
              </a:gsLst>
              <a:lin ang="2700000"/>
            </a:gradFill>
            <a:ln w="19050" cap="sq">
              <a:gradFill>
                <a:gsLst>
                  <a:gs pos="0">
                    <a:srgbClr val="F7FFA1">
                      <a:alpha val="100000"/>
                    </a:srgbClr>
                  </a:gs>
                  <a:gs pos="100000">
                    <a:srgbClr val="EFEFEF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1113886" cy="2060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643711" y="4723081"/>
            <a:ext cx="2820272" cy="250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805"/>
              </a:lnSpc>
              <a:spcBef>
                <a:spcPct val="0"/>
              </a:spcBef>
            </a:pPr>
            <a:r>
              <a:rPr lang="en-US" b="true" sz="1900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Company Contribution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839796" y="4714740"/>
            <a:ext cx="2820272" cy="250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804"/>
              </a:lnSpc>
              <a:spcBef>
                <a:spcPct val="0"/>
              </a:spcBef>
            </a:pPr>
            <a:r>
              <a:rPr lang="en-US" b="true" sz="1899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Collaboration Benefits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56000" y="6579438"/>
            <a:ext cx="2025508" cy="16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139"/>
              </a:lnSpc>
              <a:spcBef>
                <a:spcPct val="0"/>
              </a:spcBef>
            </a:pPr>
            <a:r>
              <a:rPr lang="en-US" b="true" sz="1200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Public Research Materials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56000" y="6788988"/>
            <a:ext cx="2628727" cy="35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0"/>
              </a:lnSpc>
              <a:spcBef>
                <a:spcPct val="0"/>
              </a:spcBef>
            </a:pPr>
            <a:r>
              <a:rPr lang="en-US" sz="1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Sha</a:t>
            </a:r>
            <a:r>
              <a:rPr lang="en-US" sz="1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 publicly available reports, presentations, and other materials to support participant analysis.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56000" y="7777788"/>
            <a:ext cx="2707982" cy="16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139"/>
              </a:lnSpc>
              <a:spcBef>
                <a:spcPct val="0"/>
              </a:spcBef>
            </a:pPr>
            <a:r>
              <a:rPr lang="en-US" b="true" sz="1200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Optional Judging Participation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56000" y="7987338"/>
            <a:ext cx="2628727" cy="35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0"/>
              </a:lnSpc>
              <a:spcBef>
                <a:spcPct val="0"/>
              </a:spcBef>
            </a:pPr>
            <a:r>
              <a:rPr lang="en-US" sz="1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Nominate a</a:t>
            </a:r>
            <a:r>
              <a:rPr lang="en-US" sz="1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company representative to join the final judging panel, subject to agreed assessment arrangements.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935569" y="5590638"/>
            <a:ext cx="2628727" cy="35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0"/>
              </a:lnSpc>
              <a:spcBef>
                <a:spcPct val="0"/>
              </a:spcBef>
            </a:pPr>
            <a:r>
              <a:rPr lang="en-US" sz="1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</a:t>
            </a:r>
            <a:r>
              <a:rPr lang="en-US" sz="1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eceive recognition and logo placement on agreed case materials and final pitching publications.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935569" y="5381088"/>
            <a:ext cx="2477985" cy="16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139"/>
              </a:lnSpc>
              <a:spcBef>
                <a:spcPct val="0"/>
              </a:spcBef>
            </a:pPr>
            <a:r>
              <a:rPr lang="en-US" b="true" sz="1200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Case Collaborator Recognition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935569" y="6574888"/>
            <a:ext cx="2477985" cy="16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139"/>
              </a:lnSpc>
              <a:spcBef>
                <a:spcPct val="0"/>
              </a:spcBef>
            </a:pPr>
            <a:r>
              <a:rPr lang="en-US" b="true" sz="1200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Dedicated Announcement Post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935569" y="6788988"/>
            <a:ext cx="2628727" cy="241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0"/>
              </a:lnSpc>
              <a:spcBef>
                <a:spcPct val="0"/>
              </a:spcBef>
            </a:pPr>
            <a:r>
              <a:rPr lang="en-US" sz="1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Introdu</a:t>
            </a:r>
            <a:r>
              <a:rPr lang="en-US" sz="1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ce the collaboration through one dedicated social media post.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3935569" y="7773238"/>
            <a:ext cx="2025508" cy="16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139"/>
              </a:lnSpc>
              <a:spcBef>
                <a:spcPct val="0"/>
              </a:spcBef>
            </a:pPr>
            <a:r>
              <a:rPr lang="en-US" b="true" sz="1200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Business Exposure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935569" y="7987338"/>
            <a:ext cx="2628727" cy="35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0"/>
              </a:lnSpc>
              <a:spcBef>
                <a:spcPct val="0"/>
              </a:spcBef>
            </a:pPr>
            <a:r>
              <a:rPr lang="en-US" sz="1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Present y</a:t>
            </a:r>
            <a:r>
              <a:rPr lang="en-US" sz="1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our company’s business and strategic priorities to aspiring equity researchers.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506311" y="3707340"/>
            <a:ext cx="6297689" cy="673703"/>
            <a:chOff x="0" y="0"/>
            <a:chExt cx="2256950" cy="2414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256950" cy="241440"/>
            </a:xfrm>
            <a:custGeom>
              <a:avLst/>
              <a:gdLst/>
              <a:ahLst/>
              <a:cxnLst/>
              <a:rect r="r" b="b" t="t" l="l"/>
              <a:pathLst>
                <a:path h="241440" w="2256950">
                  <a:moveTo>
                    <a:pt x="0" y="0"/>
                  </a:moveTo>
                  <a:lnTo>
                    <a:pt x="2256950" y="0"/>
                  </a:lnTo>
                  <a:lnTo>
                    <a:pt x="2256950" y="241440"/>
                  </a:lnTo>
                  <a:lnTo>
                    <a:pt x="0" y="241440"/>
                  </a:lnTo>
                  <a:close/>
                </a:path>
              </a:pathLst>
            </a:custGeom>
            <a:gradFill rotWithShape="true">
              <a:gsLst>
                <a:gs pos="0">
                  <a:srgbClr val="1B2A5E">
                    <a:alpha val="100000"/>
                  </a:srgbClr>
                </a:gs>
                <a:gs pos="100000">
                  <a:srgbClr val="0D3C82">
                    <a:alpha val="100000"/>
                  </a:srgbClr>
                </a:gs>
              </a:gsLst>
              <a:lin ang="2700000"/>
            </a:gradFill>
            <a:ln w="19050" cap="sq">
              <a:gradFill>
                <a:gsLst>
                  <a:gs pos="0">
                    <a:srgbClr val="F7FFA1">
                      <a:alpha val="100000"/>
                    </a:srgbClr>
                  </a:gs>
                  <a:gs pos="100000">
                    <a:srgbClr val="EFEFEF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2256950" cy="250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602272" y="3963229"/>
            <a:ext cx="6075385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24"/>
              </a:lnSpc>
              <a:spcBef>
                <a:spcPct val="0"/>
              </a:spcBef>
            </a:pPr>
            <a:r>
              <a:rPr lang="en-US" b="true" sz="1499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One Listed Company. One Shared Research Case.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506311" y="9234249"/>
            <a:ext cx="6297689" cy="673703"/>
            <a:chOff x="0" y="0"/>
            <a:chExt cx="2256950" cy="2414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256950" cy="241440"/>
            </a:xfrm>
            <a:custGeom>
              <a:avLst/>
              <a:gdLst/>
              <a:ahLst/>
              <a:cxnLst/>
              <a:rect r="r" b="b" t="t" l="l"/>
              <a:pathLst>
                <a:path h="241440" w="2256950">
                  <a:moveTo>
                    <a:pt x="0" y="0"/>
                  </a:moveTo>
                  <a:lnTo>
                    <a:pt x="2256950" y="0"/>
                  </a:lnTo>
                  <a:lnTo>
                    <a:pt x="2256950" y="241440"/>
                  </a:lnTo>
                  <a:lnTo>
                    <a:pt x="0" y="241440"/>
                  </a:lnTo>
                  <a:close/>
                </a:path>
              </a:pathLst>
            </a:custGeom>
            <a:gradFill rotWithShape="true">
              <a:gsLst>
                <a:gs pos="0">
                  <a:srgbClr val="1B2A5E">
                    <a:alpha val="100000"/>
                  </a:srgbClr>
                </a:gs>
                <a:gs pos="100000">
                  <a:srgbClr val="0D3C82">
                    <a:alpha val="100000"/>
                  </a:srgbClr>
                </a:gs>
              </a:gsLst>
              <a:lin ang="2700000"/>
            </a:gradFill>
            <a:ln w="19050" cap="sq">
              <a:gradFill>
                <a:gsLst>
                  <a:gs pos="0">
                    <a:srgbClr val="F7FFA1">
                      <a:alpha val="100000"/>
                    </a:srgbClr>
                  </a:gs>
                  <a:gs pos="100000">
                    <a:srgbClr val="EFEFEF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2256950" cy="250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602272" y="9404413"/>
            <a:ext cx="607538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24"/>
              </a:lnSpc>
              <a:spcBef>
                <a:spcPct val="0"/>
              </a:spcBef>
            </a:pPr>
            <a:r>
              <a:rPr lang="en-US" b="true" sz="1499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Connect business insights with independent research and practical learning.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3458383">
            <a:off x="2663526" y="-5093846"/>
            <a:ext cx="7460742" cy="746074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908">
                    <a:alpha val="14000"/>
                  </a:srgbClr>
                </a:gs>
                <a:gs pos="100000">
                  <a:srgbClr val="001614">
                    <a:alpha val="0"/>
                  </a:srgbClr>
                </a:gs>
              </a:gsLst>
              <a:lin ang="5400000"/>
            </a:gradFill>
            <a:ln w="19050" cap="sq">
              <a:gradFill>
                <a:gsLst>
                  <a:gs pos="0">
                    <a:srgbClr val="00352F">
                      <a:alpha val="14000"/>
                    </a:srgbClr>
                  </a:gs>
                  <a:gs pos="100000">
                    <a:srgbClr val="000000">
                      <a:alpha val="14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3458383">
            <a:off x="-3235264" y="8119153"/>
            <a:ext cx="6628018" cy="6628018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1614">
                    <a:alpha val="0"/>
                  </a:srgbClr>
                </a:gs>
                <a:gs pos="100000">
                  <a:srgbClr val="000908">
                    <a:alpha val="14000"/>
                  </a:srgbClr>
                </a:gs>
              </a:gsLst>
              <a:lin ang="5400000"/>
            </a:gradFill>
            <a:ln w="19050" cap="sq">
              <a:gradFill>
                <a:gsLst>
                  <a:gs pos="0">
                    <a:srgbClr val="00352F">
                      <a:alpha val="14000"/>
                    </a:srgbClr>
                  </a:gs>
                  <a:gs pos="100000">
                    <a:srgbClr val="000000">
                      <a:alpha val="14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3458383">
            <a:off x="3603019" y="7374198"/>
            <a:ext cx="7460742" cy="7460742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908">
                    <a:alpha val="14000"/>
                  </a:srgbClr>
                </a:gs>
                <a:gs pos="100000">
                  <a:srgbClr val="001614">
                    <a:alpha val="0"/>
                  </a:srgbClr>
                </a:gs>
              </a:gsLst>
              <a:lin ang="5400000"/>
            </a:gradFill>
            <a:ln w="19050" cap="sq">
              <a:gradFill>
                <a:gsLst>
                  <a:gs pos="0">
                    <a:srgbClr val="00352F">
                      <a:alpha val="14000"/>
                    </a:srgbClr>
                  </a:gs>
                  <a:gs pos="100000">
                    <a:srgbClr val="000000">
                      <a:alpha val="14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499779" y="1614913"/>
            <a:ext cx="6304221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99"/>
              </a:lnSpc>
              <a:spcBef>
                <a:spcPct val="0"/>
              </a:spcBef>
            </a:pPr>
            <a:r>
              <a:rPr lang="en-US" b="true" sz="3999">
                <a:gradFill>
                  <a:gsLst>
                    <a:gs pos="0">
                      <a:srgbClr val="003365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2700000"/>
                </a:gradFill>
                <a:latin typeface="DM Sans Bold"/>
                <a:ea typeface="DM Sans Bold"/>
                <a:cs typeface="DM Sans Bold"/>
                <a:sym typeface="DM Sans Bold"/>
              </a:rPr>
              <a:t>Case Development &amp; Assessment Process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499779" y="756000"/>
            <a:ext cx="411005" cy="421795"/>
          </a:xfrm>
          <a:custGeom>
            <a:avLst/>
            <a:gdLst/>
            <a:ahLst/>
            <a:cxnLst/>
            <a:rect r="r" b="b" t="t" l="l"/>
            <a:pathLst>
              <a:path h="421795" w="411005">
                <a:moveTo>
                  <a:pt x="0" y="0"/>
                </a:moveTo>
                <a:lnTo>
                  <a:pt x="411005" y="0"/>
                </a:lnTo>
                <a:lnTo>
                  <a:pt x="411005" y="421795"/>
                </a:lnTo>
                <a:lnTo>
                  <a:pt x="0" y="4217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0447" t="-144434" r="-490104" b="-139546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37500" y="713076"/>
            <a:ext cx="468982" cy="464718"/>
          </a:xfrm>
          <a:custGeom>
            <a:avLst/>
            <a:gdLst/>
            <a:ahLst/>
            <a:cxnLst/>
            <a:rect r="r" b="b" t="t" l="l"/>
            <a:pathLst>
              <a:path h="464718" w="468982">
                <a:moveTo>
                  <a:pt x="0" y="0"/>
                </a:moveTo>
                <a:lnTo>
                  <a:pt x="468982" y="0"/>
                </a:lnTo>
                <a:lnTo>
                  <a:pt x="468982" y="464719"/>
                </a:lnTo>
                <a:lnTo>
                  <a:pt x="0" y="4647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75124" y="789276"/>
            <a:ext cx="230303" cy="388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2"/>
              </a:lnSpc>
            </a:pPr>
            <a:r>
              <a:rPr lang="en-US" b="true" sz="3101" spc="-254">
                <a:gradFill>
                  <a:gsLst>
                    <a:gs pos="0">
                      <a:srgbClr val="6B6B6B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x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83846" y="10420770"/>
            <a:ext cx="6592309" cy="163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2"/>
              </a:lnSpc>
              <a:spcBef>
                <a:spcPct val="0"/>
              </a:spcBef>
            </a:pPr>
            <a:r>
              <a:rPr lang="en-US" sz="95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Confidential &amp; Proprietary © 2026 Not Into Finance &amp; Indonesia Capital Market Student Studies</a:t>
            </a:r>
            <a:r>
              <a:rPr lang="en-US" sz="95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. All right</a:t>
            </a:r>
            <a:r>
              <a:rPr lang="en-US" sz="95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 reserved.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06311" y="2652653"/>
            <a:ext cx="6581985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3"/>
              </a:lnSpc>
            </a:pPr>
            <a:r>
              <a:rPr lang="en-US" sz="1669">
                <a:gradFill>
                  <a:gsLst>
                    <a:gs pos="0">
                      <a:srgbClr val="003365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2700000"/>
                </a:gradFill>
                <a:latin typeface="DM Sans"/>
                <a:ea typeface="DM Sans"/>
                <a:cs typeface="DM Sans"/>
                <a:sym typeface="DM Sans"/>
              </a:rPr>
              <a:t>From Company Understanding to Investment Recommendations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99779" y="2926778"/>
            <a:ext cx="6581985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1B2A5E"/>
                </a:solidFill>
                <a:latin typeface="DM Sans"/>
                <a:ea typeface="DM Sans"/>
                <a:cs typeface="DM Sans"/>
                <a:sym typeface="DM Sans"/>
              </a:rPr>
              <a:t>Pa</a:t>
            </a:r>
            <a:r>
              <a:rPr lang="en-US" sz="1200">
                <a:solidFill>
                  <a:srgbClr val="1B2A5E"/>
                </a:solidFill>
                <a:latin typeface="DM Sans"/>
                <a:ea typeface="DM Sans"/>
                <a:cs typeface="DM Sans"/>
                <a:sym typeface="DM Sans"/>
              </a:rPr>
              <a:t>rticipants research the same company throughout the assessment and final pitching stages.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483846" y="3355403"/>
            <a:ext cx="3262054" cy="1847116"/>
            <a:chOff x="0" y="0"/>
            <a:chExt cx="6689588" cy="378793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689588" cy="3787934"/>
            </a:xfrm>
            <a:custGeom>
              <a:avLst/>
              <a:gdLst/>
              <a:ahLst/>
              <a:cxnLst/>
              <a:rect r="r" b="b" t="t" l="l"/>
              <a:pathLst>
                <a:path h="3787934" w="6689588">
                  <a:moveTo>
                    <a:pt x="23733" y="0"/>
                  </a:moveTo>
                  <a:lnTo>
                    <a:pt x="6665854" y="0"/>
                  </a:lnTo>
                  <a:cubicBezTo>
                    <a:pt x="6678962" y="0"/>
                    <a:pt x="6689588" y="10626"/>
                    <a:pt x="6689588" y="23733"/>
                  </a:cubicBezTo>
                  <a:lnTo>
                    <a:pt x="6689588" y="3764200"/>
                  </a:lnTo>
                  <a:cubicBezTo>
                    <a:pt x="6689588" y="3777308"/>
                    <a:pt x="6678962" y="3787934"/>
                    <a:pt x="6665854" y="3787934"/>
                  </a:cubicBezTo>
                  <a:lnTo>
                    <a:pt x="23733" y="3787934"/>
                  </a:lnTo>
                  <a:cubicBezTo>
                    <a:pt x="10626" y="3787934"/>
                    <a:pt x="0" y="3777308"/>
                    <a:pt x="0" y="3764200"/>
                  </a:cubicBezTo>
                  <a:lnTo>
                    <a:pt x="0" y="23733"/>
                  </a:lnTo>
                  <a:cubicBezTo>
                    <a:pt x="0" y="10626"/>
                    <a:pt x="10626" y="0"/>
                    <a:pt x="2373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22222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5400000"/>
            </a:gradFill>
            <a:ln w="19050" cap="sq">
              <a:gradFill>
                <a:gsLst>
                  <a:gs pos="0">
                    <a:srgbClr val="F7FFA1">
                      <a:alpha val="100000"/>
                    </a:srgbClr>
                  </a:gs>
                  <a:gs pos="100000">
                    <a:srgbClr val="EFEFEF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6689588" cy="3787934"/>
            </a:xfrm>
            <a:prstGeom prst="rect">
              <a:avLst/>
            </a:prstGeom>
          </p:spPr>
          <p:txBody>
            <a:bodyPr anchor="ctr" rtlCol="false" tIns="16381" lIns="16381" bIns="16381" rIns="16381"/>
            <a:lstStyle/>
            <a:p>
              <a:pPr algn="ctr">
                <a:lnSpc>
                  <a:spcPts val="871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3826241" y="3355403"/>
            <a:ext cx="3262054" cy="1847116"/>
            <a:chOff x="0" y="0"/>
            <a:chExt cx="6689588" cy="378793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689588" cy="3787934"/>
            </a:xfrm>
            <a:custGeom>
              <a:avLst/>
              <a:gdLst/>
              <a:ahLst/>
              <a:cxnLst/>
              <a:rect r="r" b="b" t="t" l="l"/>
              <a:pathLst>
                <a:path h="3787934" w="6689588">
                  <a:moveTo>
                    <a:pt x="23733" y="0"/>
                  </a:moveTo>
                  <a:lnTo>
                    <a:pt x="6665854" y="0"/>
                  </a:lnTo>
                  <a:cubicBezTo>
                    <a:pt x="6678962" y="0"/>
                    <a:pt x="6689588" y="10626"/>
                    <a:pt x="6689588" y="23733"/>
                  </a:cubicBezTo>
                  <a:lnTo>
                    <a:pt x="6689588" y="3764200"/>
                  </a:lnTo>
                  <a:cubicBezTo>
                    <a:pt x="6689588" y="3777308"/>
                    <a:pt x="6678962" y="3787934"/>
                    <a:pt x="6665854" y="3787934"/>
                  </a:cubicBezTo>
                  <a:lnTo>
                    <a:pt x="23733" y="3787934"/>
                  </a:lnTo>
                  <a:cubicBezTo>
                    <a:pt x="10626" y="3787934"/>
                    <a:pt x="0" y="3777308"/>
                    <a:pt x="0" y="3764200"/>
                  </a:cubicBezTo>
                  <a:lnTo>
                    <a:pt x="0" y="23733"/>
                  </a:lnTo>
                  <a:cubicBezTo>
                    <a:pt x="0" y="10626"/>
                    <a:pt x="10626" y="0"/>
                    <a:pt x="2373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22222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5400000"/>
            </a:gradFill>
            <a:ln w="19050" cap="sq">
              <a:gradFill>
                <a:gsLst>
                  <a:gs pos="0">
                    <a:srgbClr val="F7FFA1">
                      <a:alpha val="100000"/>
                    </a:srgbClr>
                  </a:gs>
                  <a:gs pos="100000">
                    <a:srgbClr val="EFEFEF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6689588" cy="3787934"/>
            </a:xfrm>
            <a:prstGeom prst="rect">
              <a:avLst/>
            </a:prstGeom>
          </p:spPr>
          <p:txBody>
            <a:bodyPr anchor="ctr" rtlCol="false" tIns="16381" lIns="16381" bIns="16381" rIns="16381"/>
            <a:lstStyle/>
            <a:p>
              <a:pPr algn="ctr">
                <a:lnSpc>
                  <a:spcPts val="871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488546" y="5249495"/>
            <a:ext cx="3262054" cy="1847116"/>
            <a:chOff x="0" y="0"/>
            <a:chExt cx="6689588" cy="378793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689588" cy="3787934"/>
            </a:xfrm>
            <a:custGeom>
              <a:avLst/>
              <a:gdLst/>
              <a:ahLst/>
              <a:cxnLst/>
              <a:rect r="r" b="b" t="t" l="l"/>
              <a:pathLst>
                <a:path h="3787934" w="6689588">
                  <a:moveTo>
                    <a:pt x="23733" y="0"/>
                  </a:moveTo>
                  <a:lnTo>
                    <a:pt x="6665854" y="0"/>
                  </a:lnTo>
                  <a:cubicBezTo>
                    <a:pt x="6678962" y="0"/>
                    <a:pt x="6689588" y="10626"/>
                    <a:pt x="6689588" y="23733"/>
                  </a:cubicBezTo>
                  <a:lnTo>
                    <a:pt x="6689588" y="3764200"/>
                  </a:lnTo>
                  <a:cubicBezTo>
                    <a:pt x="6689588" y="3777308"/>
                    <a:pt x="6678962" y="3787934"/>
                    <a:pt x="6665854" y="3787934"/>
                  </a:cubicBezTo>
                  <a:lnTo>
                    <a:pt x="23733" y="3787934"/>
                  </a:lnTo>
                  <a:cubicBezTo>
                    <a:pt x="10626" y="3787934"/>
                    <a:pt x="0" y="3777308"/>
                    <a:pt x="0" y="3764200"/>
                  </a:cubicBezTo>
                  <a:lnTo>
                    <a:pt x="0" y="23733"/>
                  </a:lnTo>
                  <a:cubicBezTo>
                    <a:pt x="0" y="10626"/>
                    <a:pt x="10626" y="0"/>
                    <a:pt x="2373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22222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5400000"/>
            </a:gradFill>
            <a:ln w="19050" cap="sq">
              <a:gradFill>
                <a:gsLst>
                  <a:gs pos="0">
                    <a:srgbClr val="F7FFA1">
                      <a:alpha val="100000"/>
                    </a:srgbClr>
                  </a:gs>
                  <a:gs pos="100000">
                    <a:srgbClr val="EFEFEF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6689588" cy="3787934"/>
            </a:xfrm>
            <a:prstGeom prst="rect">
              <a:avLst/>
            </a:prstGeom>
          </p:spPr>
          <p:txBody>
            <a:bodyPr anchor="ctr" rtlCol="false" tIns="16381" lIns="16381" bIns="16381" rIns="16381"/>
            <a:lstStyle/>
            <a:p>
              <a:pPr algn="ctr">
                <a:lnSpc>
                  <a:spcPts val="871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3830942" y="5249495"/>
            <a:ext cx="3262054" cy="1847116"/>
            <a:chOff x="0" y="0"/>
            <a:chExt cx="6689588" cy="378793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689588" cy="3787934"/>
            </a:xfrm>
            <a:custGeom>
              <a:avLst/>
              <a:gdLst/>
              <a:ahLst/>
              <a:cxnLst/>
              <a:rect r="r" b="b" t="t" l="l"/>
              <a:pathLst>
                <a:path h="3787934" w="6689588">
                  <a:moveTo>
                    <a:pt x="23733" y="0"/>
                  </a:moveTo>
                  <a:lnTo>
                    <a:pt x="6665854" y="0"/>
                  </a:lnTo>
                  <a:cubicBezTo>
                    <a:pt x="6678962" y="0"/>
                    <a:pt x="6689588" y="10626"/>
                    <a:pt x="6689588" y="23733"/>
                  </a:cubicBezTo>
                  <a:lnTo>
                    <a:pt x="6689588" y="3764200"/>
                  </a:lnTo>
                  <a:cubicBezTo>
                    <a:pt x="6689588" y="3777308"/>
                    <a:pt x="6678962" y="3787934"/>
                    <a:pt x="6665854" y="3787934"/>
                  </a:cubicBezTo>
                  <a:lnTo>
                    <a:pt x="23733" y="3787934"/>
                  </a:lnTo>
                  <a:cubicBezTo>
                    <a:pt x="10626" y="3787934"/>
                    <a:pt x="0" y="3777308"/>
                    <a:pt x="0" y="3764200"/>
                  </a:cubicBezTo>
                  <a:lnTo>
                    <a:pt x="0" y="23733"/>
                  </a:lnTo>
                  <a:cubicBezTo>
                    <a:pt x="0" y="10626"/>
                    <a:pt x="10626" y="0"/>
                    <a:pt x="2373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22222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5400000"/>
            </a:gradFill>
            <a:ln w="19050" cap="sq">
              <a:gradFill>
                <a:gsLst>
                  <a:gs pos="0">
                    <a:srgbClr val="F7FFA1">
                      <a:alpha val="100000"/>
                    </a:srgbClr>
                  </a:gs>
                  <a:gs pos="100000">
                    <a:srgbClr val="EFEFEF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6689588" cy="3787934"/>
            </a:xfrm>
            <a:prstGeom prst="rect">
              <a:avLst/>
            </a:prstGeom>
          </p:spPr>
          <p:txBody>
            <a:bodyPr anchor="ctr" rtlCol="false" tIns="16381" lIns="16381" bIns="16381" rIns="16381"/>
            <a:lstStyle/>
            <a:p>
              <a:pPr algn="ctr">
                <a:lnSpc>
                  <a:spcPts val="871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499779" y="7153761"/>
            <a:ext cx="6576376" cy="1850498"/>
            <a:chOff x="0" y="0"/>
            <a:chExt cx="12705292" cy="357508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2705292" cy="3575088"/>
            </a:xfrm>
            <a:custGeom>
              <a:avLst/>
              <a:gdLst/>
              <a:ahLst/>
              <a:cxnLst/>
              <a:rect r="r" b="b" t="t" l="l"/>
              <a:pathLst>
                <a:path h="3575088" w="12705292">
                  <a:moveTo>
                    <a:pt x="11772" y="0"/>
                  </a:moveTo>
                  <a:lnTo>
                    <a:pt x="12693520" y="0"/>
                  </a:lnTo>
                  <a:cubicBezTo>
                    <a:pt x="12700022" y="0"/>
                    <a:pt x="12705292" y="5271"/>
                    <a:pt x="12705292" y="11772"/>
                  </a:cubicBezTo>
                  <a:lnTo>
                    <a:pt x="12705292" y="3563315"/>
                  </a:lnTo>
                  <a:cubicBezTo>
                    <a:pt x="12705292" y="3569817"/>
                    <a:pt x="12700022" y="3575088"/>
                    <a:pt x="12693520" y="3575088"/>
                  </a:cubicBezTo>
                  <a:lnTo>
                    <a:pt x="11772" y="3575088"/>
                  </a:lnTo>
                  <a:cubicBezTo>
                    <a:pt x="5271" y="3575088"/>
                    <a:pt x="0" y="3569817"/>
                    <a:pt x="0" y="3563315"/>
                  </a:cubicBezTo>
                  <a:lnTo>
                    <a:pt x="0" y="11772"/>
                  </a:lnTo>
                  <a:cubicBezTo>
                    <a:pt x="0" y="5271"/>
                    <a:pt x="5271" y="0"/>
                    <a:pt x="1177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D9D9D9">
                    <a:alpha val="100000"/>
                  </a:srgbClr>
                </a:gs>
              </a:gsLst>
              <a:lin ang="5400000"/>
            </a:gradFill>
            <a:ln w="19050" cap="sq">
              <a:gradFill>
                <a:gsLst>
                  <a:gs pos="0">
                    <a:srgbClr val="002036">
                      <a:alpha val="100000"/>
                    </a:srgbClr>
                  </a:gs>
                  <a:gs pos="100000">
                    <a:srgbClr val="1A2A5F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12705292" cy="3575088"/>
            </a:xfrm>
            <a:prstGeom prst="rect">
              <a:avLst/>
            </a:prstGeom>
          </p:spPr>
          <p:txBody>
            <a:bodyPr anchor="ctr" rtlCol="false" tIns="16381" lIns="16381" bIns="16381" rIns="16381"/>
            <a:lstStyle/>
            <a:p>
              <a:pPr algn="ctr">
                <a:lnSpc>
                  <a:spcPts val="871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643711" y="3507412"/>
            <a:ext cx="2820272" cy="250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805"/>
              </a:lnSpc>
              <a:spcBef>
                <a:spcPct val="0"/>
              </a:spcBef>
            </a:pPr>
            <a:r>
              <a:rPr lang="en-US" b="true" sz="1900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Company Briefing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983728" y="3507412"/>
            <a:ext cx="2820272" cy="47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805"/>
              </a:lnSpc>
              <a:spcBef>
                <a:spcPct val="0"/>
              </a:spcBef>
            </a:pPr>
            <a:r>
              <a:rPr lang="en-US" b="true" sz="1900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Research Development &amp; Submission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43711" y="5412069"/>
            <a:ext cx="2820272" cy="250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805"/>
              </a:lnSpc>
              <a:spcBef>
                <a:spcPct val="0"/>
              </a:spcBef>
            </a:pPr>
            <a:r>
              <a:rPr lang="en-US" b="true" sz="1900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Finalist Selection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983728" y="5412069"/>
            <a:ext cx="2820272" cy="250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805"/>
              </a:lnSpc>
              <a:spcBef>
                <a:spcPct val="0"/>
              </a:spcBef>
            </a:pPr>
            <a:r>
              <a:rPr lang="en-US" b="true" sz="1900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Final Pitching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43711" y="4154368"/>
            <a:ext cx="2820272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13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The</a:t>
            </a:r>
            <a:r>
              <a:rPr lang="en-US" sz="12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company introduces its business, operating performance, and strategic priorities through one presentation supported by public materials.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4047132" y="4154368"/>
            <a:ext cx="2820272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13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</a:t>
            </a:r>
            <a:r>
              <a:rPr lang="en-US" sz="12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articipants analyze the company and submit their research report, supported by financial forecasts and valuation analysis.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43711" y="5834344"/>
            <a:ext cx="2820272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13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Submissions</a:t>
            </a:r>
            <a:r>
              <a:rPr lang="en-US" sz="12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are assessed using a consistent rubric to select the top ten finalists.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4037475" y="5834344"/>
            <a:ext cx="2820272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13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Finalists</a:t>
            </a:r>
            <a:r>
              <a:rPr lang="en-US" sz="12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present and defend their investment recommendations before the judging panel.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652559" y="7328695"/>
            <a:ext cx="4644535" cy="272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016"/>
              </a:lnSpc>
              <a:spcBef>
                <a:spcPct val="0"/>
              </a:spcBef>
            </a:pPr>
            <a:r>
              <a:rPr lang="en-US" b="true" sz="2122">
                <a:gradFill>
                  <a:gsLst>
                    <a:gs pos="0">
                      <a:srgbClr val="002036">
                        <a:alpha val="100000"/>
                      </a:srgbClr>
                    </a:gs>
                    <a:gs pos="100000">
                      <a:srgbClr val="0F3E87">
                        <a:alpha val="100000"/>
                      </a:srgbClr>
                    </a:gs>
                  </a:gsLst>
                  <a:lin ang="0"/>
                </a:gradFill>
                <a:latin typeface="DM Sans Bold"/>
                <a:ea typeface="DM Sans Bold"/>
                <a:cs typeface="DM Sans Bold"/>
                <a:sym typeface="DM Sans Bold"/>
              </a:rPr>
              <a:t>Participant Research Outputs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652559" y="7719627"/>
            <a:ext cx="1340401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140"/>
              </a:lnSpc>
              <a:spcBef>
                <a:spcPct val="0"/>
              </a:spcBef>
            </a:pPr>
            <a:r>
              <a:rPr lang="en-US" b="true" sz="1200">
                <a:gradFill>
                  <a:gsLst>
                    <a:gs pos="0">
                      <a:srgbClr val="002036">
                        <a:alpha val="100000"/>
                      </a:srgbClr>
                    </a:gs>
                    <a:gs pos="100000">
                      <a:srgbClr val="0F3E87">
                        <a:alpha val="100000"/>
                      </a:srgbClr>
                    </a:gs>
                  </a:gsLst>
                  <a:lin ang="0"/>
                </a:gradFill>
                <a:latin typeface="DM Sans Bold"/>
                <a:ea typeface="DM Sans Bold"/>
                <a:cs typeface="DM Sans Bold"/>
                <a:sym typeface="DM Sans Bold"/>
              </a:rPr>
              <a:t>Business &amp; Industry Analysis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652559" y="8110221"/>
            <a:ext cx="1340401" cy="574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49"/>
              </a:lnSpc>
              <a:spcBef>
                <a:spcPct val="0"/>
              </a:spcBef>
            </a:pPr>
            <a:r>
              <a:rPr lang="en-US" sz="999">
                <a:gradFill>
                  <a:gsLst>
                    <a:gs pos="0">
                      <a:srgbClr val="002036">
                        <a:alpha val="100000"/>
                      </a:srgbClr>
                    </a:gs>
                    <a:gs pos="100000">
                      <a:srgbClr val="0F3E87">
                        <a:alpha val="100000"/>
                      </a:srgbClr>
                    </a:gs>
                  </a:gsLst>
                  <a:lin ang="0"/>
                </a:gradFill>
                <a:latin typeface="DM Sans"/>
                <a:ea typeface="DM Sans"/>
                <a:cs typeface="DM Sans"/>
                <a:sym typeface="DM Sans"/>
              </a:rPr>
              <a:t>Business model, revenue drivers, industry dynamics, and competitive position.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260600" y="7706963"/>
            <a:ext cx="1382665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140"/>
              </a:lnSpc>
              <a:spcBef>
                <a:spcPct val="0"/>
              </a:spcBef>
            </a:pPr>
            <a:r>
              <a:rPr lang="en-US" b="true" sz="1200">
                <a:gradFill>
                  <a:gsLst>
                    <a:gs pos="0">
                      <a:srgbClr val="002036">
                        <a:alpha val="100000"/>
                      </a:srgbClr>
                    </a:gs>
                    <a:gs pos="100000">
                      <a:srgbClr val="0F3E87">
                        <a:alpha val="100000"/>
                      </a:srgbClr>
                    </a:gs>
                  </a:gsLst>
                  <a:lin ang="0"/>
                </a:gradFill>
                <a:latin typeface="DM Sans Bold"/>
                <a:ea typeface="DM Sans Bold"/>
                <a:cs typeface="DM Sans Bold"/>
                <a:sym typeface="DM Sans Bold"/>
              </a:rPr>
              <a:t>Financial Analysis &amp; Forecasting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2260600" y="8110221"/>
            <a:ext cx="1382665" cy="574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49"/>
              </a:lnSpc>
              <a:spcBef>
                <a:spcPct val="0"/>
              </a:spcBef>
            </a:pPr>
            <a:r>
              <a:rPr lang="en-US" sz="999">
                <a:gradFill>
                  <a:gsLst>
                    <a:gs pos="0">
                      <a:srgbClr val="002036">
                        <a:alpha val="100000"/>
                      </a:srgbClr>
                    </a:gs>
                    <a:gs pos="100000">
                      <a:srgbClr val="0F3E87">
                        <a:alpha val="100000"/>
                      </a:srgbClr>
                    </a:gs>
                  </a:gsLst>
                  <a:lin ang="0"/>
                </a:gradFill>
                <a:latin typeface="DM Sans"/>
                <a:ea typeface="DM Sans"/>
                <a:cs typeface="DM Sans"/>
                <a:sym typeface="DM Sans"/>
              </a:rPr>
              <a:t>Historical performance, earnings quality, operating assumptions, and financial projections.</a:t>
            </a:r>
          </a:p>
        </p:txBody>
      </p:sp>
      <p:sp>
        <p:nvSpPr>
          <p:cNvPr name="AutoShape 46" id="46"/>
          <p:cNvSpPr/>
          <p:nvPr/>
        </p:nvSpPr>
        <p:spPr>
          <a:xfrm flipV="true">
            <a:off x="2129163" y="7677958"/>
            <a:ext cx="0" cy="1025481"/>
          </a:xfrm>
          <a:prstGeom prst="line">
            <a:avLst/>
          </a:prstGeom>
          <a:ln cap="flat" w="38100">
            <a:gradFill>
              <a:gsLst>
                <a:gs pos="0">
                  <a:srgbClr val="002036">
                    <a:alpha val="100000"/>
                  </a:srgbClr>
                </a:gs>
                <a:gs pos="100000">
                  <a:srgbClr val="1A2A5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47" id="47"/>
          <p:cNvSpPr/>
          <p:nvPr/>
        </p:nvSpPr>
        <p:spPr>
          <a:xfrm flipV="true">
            <a:off x="3774703" y="7677958"/>
            <a:ext cx="0" cy="1025481"/>
          </a:xfrm>
          <a:prstGeom prst="line">
            <a:avLst/>
          </a:prstGeom>
          <a:ln cap="flat" w="38100">
            <a:gradFill>
              <a:gsLst>
                <a:gs pos="0">
                  <a:srgbClr val="002036">
                    <a:alpha val="100000"/>
                  </a:srgbClr>
                </a:gs>
                <a:gs pos="100000">
                  <a:srgbClr val="1A2A5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TextBox 48" id="48"/>
          <p:cNvSpPr txBox="true"/>
          <p:nvPr/>
        </p:nvSpPr>
        <p:spPr>
          <a:xfrm rot="0">
            <a:off x="3906140" y="7719627"/>
            <a:ext cx="1382665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140"/>
              </a:lnSpc>
              <a:spcBef>
                <a:spcPct val="0"/>
              </a:spcBef>
            </a:pPr>
            <a:r>
              <a:rPr lang="en-US" b="true" sz="1200">
                <a:gradFill>
                  <a:gsLst>
                    <a:gs pos="0">
                      <a:srgbClr val="002036">
                        <a:alpha val="100000"/>
                      </a:srgbClr>
                    </a:gs>
                    <a:gs pos="100000">
                      <a:srgbClr val="0F3E87">
                        <a:alpha val="100000"/>
                      </a:srgbClr>
                    </a:gs>
                  </a:gsLst>
                  <a:lin ang="0"/>
                </a:gradFill>
                <a:latin typeface="DM Sans Bold"/>
                <a:ea typeface="DM Sans Bold"/>
                <a:cs typeface="DM Sans Bold"/>
                <a:sym typeface="DM Sans Bold"/>
              </a:rPr>
              <a:t>Valuation &amp; Recommendation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3906140" y="8110221"/>
            <a:ext cx="1382665" cy="460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49"/>
              </a:lnSpc>
              <a:spcBef>
                <a:spcPct val="0"/>
              </a:spcBef>
            </a:pPr>
            <a:r>
              <a:rPr lang="en-US" sz="999">
                <a:gradFill>
                  <a:gsLst>
                    <a:gs pos="0">
                      <a:srgbClr val="002036">
                        <a:alpha val="100000"/>
                      </a:srgbClr>
                    </a:gs>
                    <a:gs pos="100000">
                      <a:srgbClr val="0F3E87">
                        <a:alpha val="100000"/>
                      </a:srgbClr>
                    </a:gs>
                  </a:gsLst>
                  <a:lin ang="0"/>
                </a:gradFill>
                <a:latin typeface="DM Sans"/>
                <a:ea typeface="DM Sans"/>
                <a:cs typeface="DM Sans"/>
                <a:sym typeface="DM Sans"/>
              </a:rPr>
              <a:t>Valuation methods, target price, investment thesis, and supporting evidence.</a:t>
            </a:r>
          </a:p>
        </p:txBody>
      </p:sp>
      <p:sp>
        <p:nvSpPr>
          <p:cNvPr name="AutoShape 50" id="50"/>
          <p:cNvSpPr/>
          <p:nvPr/>
        </p:nvSpPr>
        <p:spPr>
          <a:xfrm flipV="true">
            <a:off x="5420242" y="7677958"/>
            <a:ext cx="0" cy="1025481"/>
          </a:xfrm>
          <a:prstGeom prst="line">
            <a:avLst/>
          </a:prstGeom>
          <a:ln cap="flat" w="38100">
            <a:gradFill>
              <a:gsLst>
                <a:gs pos="0">
                  <a:srgbClr val="002036">
                    <a:alpha val="100000"/>
                  </a:srgbClr>
                </a:gs>
                <a:gs pos="100000">
                  <a:srgbClr val="1A2A5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TextBox 51" id="51"/>
          <p:cNvSpPr txBox="true"/>
          <p:nvPr/>
        </p:nvSpPr>
        <p:spPr>
          <a:xfrm rot="0">
            <a:off x="5551679" y="7719627"/>
            <a:ext cx="1382665" cy="324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210"/>
              </a:lnSpc>
              <a:spcBef>
                <a:spcPct val="0"/>
              </a:spcBef>
            </a:pPr>
            <a:r>
              <a:rPr lang="en-US" b="true" sz="1273">
                <a:gradFill>
                  <a:gsLst>
                    <a:gs pos="0">
                      <a:srgbClr val="002036">
                        <a:alpha val="100000"/>
                      </a:srgbClr>
                    </a:gs>
                    <a:gs pos="100000">
                      <a:srgbClr val="0F3E87">
                        <a:alpha val="100000"/>
                      </a:srgbClr>
                    </a:gs>
                  </a:gsLst>
                  <a:lin ang="0"/>
                </a:gradFill>
                <a:latin typeface="DM Sans Bold"/>
                <a:ea typeface="DM Sans Bold"/>
                <a:cs typeface="DM Sans Bold"/>
                <a:sym typeface="DM Sans Bold"/>
              </a:rPr>
              <a:t>Investment Risks &amp; ESG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5551679" y="8120536"/>
            <a:ext cx="1382665" cy="460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49"/>
              </a:lnSpc>
              <a:spcBef>
                <a:spcPct val="0"/>
              </a:spcBef>
            </a:pPr>
            <a:r>
              <a:rPr lang="en-US" sz="999">
                <a:gradFill>
                  <a:gsLst>
                    <a:gs pos="0">
                      <a:srgbClr val="002036">
                        <a:alpha val="100000"/>
                      </a:srgbClr>
                    </a:gs>
                    <a:gs pos="100000">
                      <a:srgbClr val="0F3E87">
                        <a:alpha val="100000"/>
                      </a:srgbClr>
                    </a:gs>
                  </a:gsLst>
                  <a:lin ang="0"/>
                </a:gradFill>
                <a:latin typeface="DM Sans"/>
                <a:ea typeface="DM Sans"/>
                <a:cs typeface="DM Sans"/>
                <a:sym typeface="DM Sans"/>
              </a:rPr>
              <a:t>Key risks, scenario implications, and material ESG considerations.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483846" y="9356685"/>
            <a:ext cx="6593217" cy="117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49"/>
              </a:lnSpc>
              <a:spcBef>
                <a:spcPct val="0"/>
              </a:spcBef>
            </a:pPr>
            <a:r>
              <a:rPr lang="en-US" sz="999">
                <a:gradFill>
                  <a:gsLst>
                    <a:gs pos="0">
                      <a:srgbClr val="002036">
                        <a:alpha val="100000"/>
                      </a:srgbClr>
                    </a:gs>
                    <a:gs pos="100000">
                      <a:srgbClr val="0F3E87">
                        <a:alpha val="100000"/>
                      </a:srgbClr>
                    </a:gs>
                  </a:gsLst>
                  <a:lin ang="0"/>
                </a:gradFill>
                <a:latin typeface="DM Sans"/>
                <a:ea typeface="DM Sans"/>
                <a:cs typeface="DM Sans"/>
                <a:sym typeface="DM Sans"/>
              </a:rPr>
              <a:t>Research quality, supporting evidence, analytical consistency, and clarity of presentation.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483846" y="9118560"/>
            <a:ext cx="1979446" cy="16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140"/>
              </a:lnSpc>
              <a:spcBef>
                <a:spcPct val="0"/>
              </a:spcBef>
            </a:pPr>
            <a:r>
              <a:rPr lang="en-US" b="true" sz="1200">
                <a:gradFill>
                  <a:gsLst>
                    <a:gs pos="0">
                      <a:srgbClr val="002036">
                        <a:alpha val="100000"/>
                      </a:srgbClr>
                    </a:gs>
                    <a:gs pos="100000">
                      <a:srgbClr val="0F3E87">
                        <a:alpha val="100000"/>
                      </a:srgbClr>
                    </a:gs>
                  </a:gsLst>
                  <a:lin ang="0"/>
                </a:gradFill>
                <a:latin typeface="DM Sans Bold"/>
                <a:ea typeface="DM Sans Bold"/>
                <a:cs typeface="DM Sans Bold"/>
                <a:sym typeface="DM Sans Bold"/>
              </a:rPr>
              <a:t>Assessment Principles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483846" y="9645610"/>
            <a:ext cx="1979446" cy="16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140"/>
              </a:lnSpc>
              <a:spcBef>
                <a:spcPct val="0"/>
              </a:spcBef>
            </a:pPr>
            <a:r>
              <a:rPr lang="en-US" b="true" sz="1200">
                <a:gradFill>
                  <a:gsLst>
                    <a:gs pos="0">
                      <a:srgbClr val="002036">
                        <a:alpha val="100000"/>
                      </a:srgbClr>
                    </a:gs>
                    <a:gs pos="100000">
                      <a:srgbClr val="0F3E87">
                        <a:alpha val="100000"/>
                      </a:srgbClr>
                    </a:gs>
                  </a:gsLst>
                  <a:lin ang="0"/>
                </a:gradFill>
                <a:latin typeface="DM Sans Bold"/>
                <a:ea typeface="DM Sans Bold"/>
                <a:cs typeface="DM Sans Bold"/>
                <a:sym typeface="DM Sans Bold"/>
              </a:rPr>
              <a:t>Research Independence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483846" y="9874210"/>
            <a:ext cx="6593217" cy="231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49"/>
              </a:lnSpc>
              <a:spcBef>
                <a:spcPct val="0"/>
              </a:spcBef>
            </a:pPr>
            <a:r>
              <a:rPr lang="en-US" sz="999">
                <a:gradFill>
                  <a:gsLst>
                    <a:gs pos="0">
                      <a:srgbClr val="002036">
                        <a:alpha val="100000"/>
                      </a:srgbClr>
                    </a:gs>
                    <a:gs pos="100000">
                      <a:srgbClr val="0F3E87">
                        <a:alpha val="100000"/>
                      </a:srgbClr>
                    </a:gs>
                  </a:gsLst>
                  <a:lin ang="0"/>
                </a:gradFill>
                <a:latin typeface="DM Sans"/>
                <a:ea typeface="DM Sans"/>
                <a:cs typeface="DM Sans"/>
                <a:sym typeface="DM Sans"/>
              </a:rPr>
              <a:t>Company input may clarify factual information. Investment recommendations remain the participants’ independent conclusions.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3366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341012" y="2718770"/>
            <a:ext cx="7460742" cy="746074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21F">
                    <a:alpha val="22000"/>
                  </a:srgbClr>
                </a:gs>
                <a:gs pos="100000">
                  <a:srgbClr val="848484">
                    <a:alpha val="17050"/>
                  </a:srgbClr>
                </a:gs>
              </a:gsLst>
              <a:lin ang="0"/>
            </a:gradFill>
            <a:ln w="19050" cap="sq">
              <a:gradFill>
                <a:gsLst>
                  <a:gs pos="0">
                    <a:srgbClr val="FFFFFF">
                      <a:alpha val="22000"/>
                    </a:srgbClr>
                  </a:gs>
                  <a:gs pos="100000">
                    <a:srgbClr val="9B9B9B">
                      <a:alpha val="22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4564555" y="6205629"/>
            <a:ext cx="7460742" cy="7460742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48484">
                    <a:alpha val="20925"/>
                  </a:srgbClr>
                </a:gs>
                <a:gs pos="100000">
                  <a:srgbClr val="00021F">
                    <a:alpha val="27000"/>
                  </a:srgbClr>
                </a:gs>
              </a:gsLst>
              <a:lin ang="0"/>
            </a:gradFill>
            <a:ln w="19050" cap="sq">
              <a:gradFill>
                <a:gsLst>
                  <a:gs pos="0">
                    <a:srgbClr val="FFFFFF">
                      <a:alpha val="27000"/>
                    </a:srgbClr>
                  </a:gs>
                  <a:gs pos="100000">
                    <a:srgbClr val="9B9B9B">
                      <a:alpha val="27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3730371" y="-1828984"/>
            <a:ext cx="7460742" cy="7460742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48484">
                    <a:alpha val="17050"/>
                  </a:srgbClr>
                </a:gs>
                <a:gs pos="100000">
                  <a:srgbClr val="00021F">
                    <a:alpha val="22000"/>
                  </a:srgbClr>
                </a:gs>
              </a:gsLst>
              <a:lin ang="0"/>
            </a:gradFill>
            <a:ln w="19050" cap="sq">
              <a:gradFill>
                <a:gsLst>
                  <a:gs pos="0">
                    <a:srgbClr val="FFFFFF">
                      <a:alpha val="22000"/>
                    </a:srgbClr>
                  </a:gs>
                  <a:gs pos="100000">
                    <a:srgbClr val="9B9B9B">
                      <a:alpha val="22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499779" y="756000"/>
            <a:ext cx="411005" cy="421795"/>
          </a:xfrm>
          <a:custGeom>
            <a:avLst/>
            <a:gdLst/>
            <a:ahLst/>
            <a:cxnLst/>
            <a:rect r="r" b="b" t="t" l="l"/>
            <a:pathLst>
              <a:path h="421795" w="411005">
                <a:moveTo>
                  <a:pt x="0" y="0"/>
                </a:moveTo>
                <a:lnTo>
                  <a:pt x="411005" y="0"/>
                </a:lnTo>
                <a:lnTo>
                  <a:pt x="411005" y="421795"/>
                </a:lnTo>
                <a:lnTo>
                  <a:pt x="0" y="4217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0447" t="-144434" r="-490104" b="-139546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37500" y="713076"/>
            <a:ext cx="468982" cy="464718"/>
          </a:xfrm>
          <a:custGeom>
            <a:avLst/>
            <a:gdLst/>
            <a:ahLst/>
            <a:cxnLst/>
            <a:rect r="r" b="b" t="t" l="l"/>
            <a:pathLst>
              <a:path h="464718" w="468982">
                <a:moveTo>
                  <a:pt x="0" y="0"/>
                </a:moveTo>
                <a:lnTo>
                  <a:pt x="468982" y="0"/>
                </a:lnTo>
                <a:lnTo>
                  <a:pt x="468982" y="464719"/>
                </a:lnTo>
                <a:lnTo>
                  <a:pt x="0" y="4647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83846" y="10420770"/>
            <a:ext cx="6592309" cy="163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2"/>
              </a:lnSpc>
              <a:spcBef>
                <a:spcPct val="0"/>
              </a:spcBef>
            </a:pPr>
            <a:r>
              <a:rPr lang="en-US" sz="95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Confidential &amp; Proprietary © 2026 Not Into Finance &amp; Indonesia Capital Market Student Studies</a:t>
            </a:r>
            <a:r>
              <a:rPr lang="en-US" sz="95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. All right</a:t>
            </a:r>
            <a:r>
              <a:rPr lang="en-US" sz="95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 reserved.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75124" y="789276"/>
            <a:ext cx="230303" cy="388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2"/>
              </a:lnSpc>
            </a:pPr>
            <a:r>
              <a:rPr lang="en-US" b="true" sz="3101" spc="-254">
                <a:gradFill>
                  <a:gsLst>
                    <a:gs pos="0">
                      <a:srgbClr val="E6E6E6">
                        <a:alpha val="100000"/>
                      </a:srgbClr>
                    </a:gs>
                    <a:gs pos="100000">
                      <a:srgbClr val="848484">
                        <a:alpha val="77500"/>
                      </a:srgbClr>
                    </a:gs>
                  </a:gsLst>
                  <a:lin ang="0"/>
                </a:gradFill>
                <a:latin typeface="DM Sans Bold"/>
                <a:ea typeface="DM Sans Bold"/>
                <a:cs typeface="DM Sans Bold"/>
                <a:sym typeface="DM Sans Bold"/>
              </a:rPr>
              <a:t>x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-920222" y="4544841"/>
            <a:ext cx="9400444" cy="1602317"/>
            <a:chOff x="0" y="0"/>
            <a:chExt cx="12533926" cy="2136423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47625"/>
              <a:ext cx="12533926" cy="7643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79"/>
                </a:lnSpc>
              </a:pPr>
              <a:r>
                <a:rPr lang="en-US" b="true" sz="3999" spc="-327">
                  <a:gradFill>
                    <a:gsLst>
                      <a:gs pos="0">
                        <a:srgbClr val="E6E6E6">
                          <a:alpha val="100000"/>
                        </a:srgbClr>
                      </a:gs>
                      <a:gs pos="100000">
                        <a:srgbClr val="848484">
                          <a:alpha val="77500"/>
                        </a:srgbClr>
                      </a:gs>
                    </a:gsLst>
                    <a:lin ang="0"/>
                  </a:gradFill>
                  <a:latin typeface="DM Sans Bold"/>
                  <a:ea typeface="DM Sans Bold"/>
                  <a:cs typeface="DM Sans Bold"/>
                  <a:sym typeface="DM Sans Bold"/>
                </a:rPr>
                <a:t>Media &amp; Community Partnership 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5184047" y="1613183"/>
              <a:ext cx="2165832" cy="523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60"/>
                </a:lnSpc>
              </a:pPr>
              <a:r>
                <a:rPr lang="en-US" b="true" sz="3000" spc="-246">
                  <a:gradFill>
                    <a:gsLst>
                      <a:gs pos="0">
                        <a:srgbClr val="E6E6E6">
                          <a:alpha val="100000"/>
                        </a:srgbClr>
                      </a:gs>
                      <a:gs pos="100000">
                        <a:srgbClr val="848484">
                          <a:alpha val="77500"/>
                        </a:srgbClr>
                      </a:gs>
                    </a:gsLst>
                    <a:lin ang="0"/>
                  </a:gradFill>
                  <a:latin typeface="DM Sans Bold"/>
                  <a:ea typeface="DM Sans Bold"/>
                  <a:cs typeface="DM Sans Bold"/>
                  <a:sym typeface="DM Sans Bold"/>
                </a:rPr>
                <a:t>2026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875736"/>
              <a:ext cx="12533926" cy="6612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45"/>
                </a:lnSpc>
              </a:pPr>
              <a:r>
                <a:rPr lang="en-US" b="true" sz="3500" spc="-287">
                  <a:gradFill>
                    <a:gsLst>
                      <a:gs pos="0">
                        <a:srgbClr val="E6E6E6">
                          <a:alpha val="100000"/>
                        </a:srgbClr>
                      </a:gs>
                      <a:gs pos="100000">
                        <a:srgbClr val="848484">
                          <a:alpha val="77500"/>
                        </a:srgbClr>
                      </a:gs>
                    </a:gsLst>
                    <a:lin ang="0"/>
                  </a:gradFill>
                  <a:latin typeface="DM Sans Bold"/>
                  <a:ea typeface="DM Sans Bold"/>
                  <a:cs typeface="DM Sans Bold"/>
                  <a:sym typeface="DM Sans Bold"/>
                </a:rPr>
                <a:t>Not Into Finance x ICMSS UI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3366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99779" y="756000"/>
            <a:ext cx="411005" cy="421795"/>
          </a:xfrm>
          <a:custGeom>
            <a:avLst/>
            <a:gdLst/>
            <a:ahLst/>
            <a:cxnLst/>
            <a:rect r="r" b="b" t="t" l="l"/>
            <a:pathLst>
              <a:path h="421795" w="411005">
                <a:moveTo>
                  <a:pt x="0" y="0"/>
                </a:moveTo>
                <a:lnTo>
                  <a:pt x="411005" y="0"/>
                </a:lnTo>
                <a:lnTo>
                  <a:pt x="411005" y="421795"/>
                </a:lnTo>
                <a:lnTo>
                  <a:pt x="0" y="4217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0447" t="-144434" r="-490104" b="-13954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7500" y="713076"/>
            <a:ext cx="468982" cy="464718"/>
          </a:xfrm>
          <a:custGeom>
            <a:avLst/>
            <a:gdLst/>
            <a:ahLst/>
            <a:cxnLst/>
            <a:rect r="r" b="b" t="t" l="l"/>
            <a:pathLst>
              <a:path h="464718" w="468982">
                <a:moveTo>
                  <a:pt x="0" y="0"/>
                </a:moveTo>
                <a:lnTo>
                  <a:pt x="468982" y="0"/>
                </a:lnTo>
                <a:lnTo>
                  <a:pt x="468982" y="464719"/>
                </a:lnTo>
                <a:lnTo>
                  <a:pt x="0" y="4647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75929" y="1507801"/>
            <a:ext cx="6201728" cy="1006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89"/>
              </a:lnSpc>
              <a:spcBef>
                <a:spcPct val="0"/>
              </a:spcBef>
            </a:pPr>
            <a:r>
              <a:rPr lang="en-US" b="true" sz="4093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Community Partnership Referral Program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75124" y="789276"/>
            <a:ext cx="230303" cy="388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2"/>
              </a:lnSpc>
            </a:pPr>
            <a:r>
              <a:rPr lang="en-US" b="true" sz="3101" spc="-254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x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83846" y="10420770"/>
            <a:ext cx="6592309" cy="163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2"/>
              </a:lnSpc>
              <a:spcBef>
                <a:spcPct val="0"/>
              </a:spcBef>
            </a:pPr>
            <a:r>
              <a:rPr lang="en-US" sz="95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Confidential &amp; Proprietary © 2026 Not Into Finance &amp; Indonesia Capital Market Student Studies</a:t>
            </a:r>
            <a:r>
              <a:rPr lang="en-US" sz="95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. All right</a:t>
            </a:r>
            <a:r>
              <a:rPr lang="en-US" sz="95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 reserved.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06311" y="2616603"/>
            <a:ext cx="6581985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E9E9E9"/>
                </a:solidFill>
                <a:latin typeface="DM Sans"/>
                <a:ea typeface="DM Sans"/>
                <a:cs typeface="DM Sans"/>
                <a:sym typeface="DM Sans"/>
              </a:rPr>
              <a:t>Give your community a registration discount and earn a commission for every valid paid registration through your referral code.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99779" y="3207153"/>
            <a:ext cx="6581985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E9E9E9"/>
                </a:solidFill>
                <a:latin typeface="DM Sans"/>
                <a:ea typeface="DM Sans"/>
                <a:cs typeface="DM Sans"/>
                <a:sym typeface="DM Sans"/>
              </a:rPr>
              <a:t>Standard registration fee: IDR 200,000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499779" y="3557193"/>
            <a:ext cx="2035209" cy="928544"/>
            <a:chOff x="0" y="0"/>
            <a:chExt cx="729373" cy="33276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29373" cy="332769"/>
            </a:xfrm>
            <a:custGeom>
              <a:avLst/>
              <a:gdLst/>
              <a:ahLst/>
              <a:cxnLst/>
              <a:rect r="r" b="b" t="t" l="l"/>
              <a:pathLst>
                <a:path h="332769" w="729373">
                  <a:moveTo>
                    <a:pt x="0" y="0"/>
                  </a:moveTo>
                  <a:lnTo>
                    <a:pt x="729373" y="0"/>
                  </a:lnTo>
                  <a:lnTo>
                    <a:pt x="729373" y="332769"/>
                  </a:lnTo>
                  <a:lnTo>
                    <a:pt x="0" y="332769"/>
                  </a:lnTo>
                  <a:close/>
                </a:path>
              </a:pathLst>
            </a:custGeom>
            <a:gradFill rotWithShape="true">
              <a:gsLst>
                <a:gs pos="0">
                  <a:srgbClr val="1B2A5E">
                    <a:alpha val="100000"/>
                  </a:srgbClr>
                </a:gs>
                <a:gs pos="100000">
                  <a:srgbClr val="0D3C82">
                    <a:alpha val="100000"/>
                  </a:srgbClr>
                </a:gs>
              </a:gsLst>
              <a:lin ang="2700000"/>
            </a:gradFill>
            <a:ln w="19050" cap="sq">
              <a:gradFill>
                <a:gsLst>
                  <a:gs pos="0">
                    <a:srgbClr val="F7FFA1">
                      <a:alpha val="100000"/>
                    </a:srgbClr>
                  </a:gs>
                  <a:gs pos="100000">
                    <a:srgbClr val="EFEFEF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729373" cy="3422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634285" y="3557193"/>
            <a:ext cx="2035209" cy="928544"/>
            <a:chOff x="0" y="0"/>
            <a:chExt cx="729373" cy="33276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29373" cy="332769"/>
            </a:xfrm>
            <a:custGeom>
              <a:avLst/>
              <a:gdLst/>
              <a:ahLst/>
              <a:cxnLst/>
              <a:rect r="r" b="b" t="t" l="l"/>
              <a:pathLst>
                <a:path h="332769" w="729373">
                  <a:moveTo>
                    <a:pt x="0" y="0"/>
                  </a:moveTo>
                  <a:lnTo>
                    <a:pt x="729373" y="0"/>
                  </a:lnTo>
                  <a:lnTo>
                    <a:pt x="729373" y="332769"/>
                  </a:lnTo>
                  <a:lnTo>
                    <a:pt x="0" y="332769"/>
                  </a:lnTo>
                  <a:close/>
                </a:path>
              </a:pathLst>
            </a:custGeom>
            <a:gradFill rotWithShape="true">
              <a:gsLst>
                <a:gs pos="0">
                  <a:srgbClr val="1B2A5E">
                    <a:alpha val="100000"/>
                  </a:srgbClr>
                </a:gs>
                <a:gs pos="100000">
                  <a:srgbClr val="0D3C82">
                    <a:alpha val="100000"/>
                  </a:srgbClr>
                </a:gs>
              </a:gsLst>
              <a:lin ang="2700000"/>
            </a:gradFill>
            <a:ln w="19050" cap="sq">
              <a:gradFill>
                <a:gsLst>
                  <a:gs pos="0">
                    <a:srgbClr val="F7FFA1">
                      <a:alpha val="100000"/>
                    </a:srgbClr>
                  </a:gs>
                  <a:gs pos="100000">
                    <a:srgbClr val="EFEFEF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729373" cy="3422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768791" y="3557193"/>
            <a:ext cx="2035209" cy="928544"/>
            <a:chOff x="0" y="0"/>
            <a:chExt cx="729373" cy="33276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29373" cy="332769"/>
            </a:xfrm>
            <a:custGeom>
              <a:avLst/>
              <a:gdLst/>
              <a:ahLst/>
              <a:cxnLst/>
              <a:rect r="r" b="b" t="t" l="l"/>
              <a:pathLst>
                <a:path h="332769" w="729373">
                  <a:moveTo>
                    <a:pt x="0" y="0"/>
                  </a:moveTo>
                  <a:lnTo>
                    <a:pt x="729373" y="0"/>
                  </a:lnTo>
                  <a:lnTo>
                    <a:pt x="729373" y="332769"/>
                  </a:lnTo>
                  <a:lnTo>
                    <a:pt x="0" y="332769"/>
                  </a:lnTo>
                  <a:close/>
                </a:path>
              </a:pathLst>
            </a:custGeom>
            <a:gradFill rotWithShape="true">
              <a:gsLst>
                <a:gs pos="0">
                  <a:srgbClr val="1B2A5E">
                    <a:alpha val="100000"/>
                  </a:srgbClr>
                </a:gs>
                <a:gs pos="100000">
                  <a:srgbClr val="0D3C82">
                    <a:alpha val="100000"/>
                  </a:srgbClr>
                </a:gs>
              </a:gsLst>
              <a:lin ang="2700000"/>
            </a:gradFill>
            <a:ln w="19050" cap="sq">
              <a:gradFill>
                <a:gsLst>
                  <a:gs pos="0">
                    <a:srgbClr val="F7FFA1">
                      <a:alpha val="100000"/>
                    </a:srgbClr>
                  </a:gs>
                  <a:gs pos="100000">
                    <a:srgbClr val="EFEFEF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729373" cy="3422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06311" y="4600038"/>
            <a:ext cx="6297689" cy="909425"/>
            <a:chOff x="0" y="0"/>
            <a:chExt cx="2256950" cy="32591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56950" cy="325917"/>
            </a:xfrm>
            <a:custGeom>
              <a:avLst/>
              <a:gdLst/>
              <a:ahLst/>
              <a:cxnLst/>
              <a:rect r="r" b="b" t="t" l="l"/>
              <a:pathLst>
                <a:path h="325917" w="2256950">
                  <a:moveTo>
                    <a:pt x="0" y="0"/>
                  </a:moveTo>
                  <a:lnTo>
                    <a:pt x="2256950" y="0"/>
                  </a:lnTo>
                  <a:lnTo>
                    <a:pt x="2256950" y="325917"/>
                  </a:lnTo>
                  <a:lnTo>
                    <a:pt x="0" y="325917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E4E4E4">
                    <a:alpha val="100000"/>
                  </a:srgbClr>
                </a:gs>
              </a:gsLst>
              <a:lin ang="5400000"/>
            </a:gradFill>
            <a:ln w="19050" cap="sq">
              <a:gradFill>
                <a:gsLst>
                  <a:gs pos="0">
                    <a:srgbClr val="F7FFA1">
                      <a:alpha val="100000"/>
                    </a:srgbClr>
                  </a:gs>
                  <a:gs pos="100000">
                    <a:srgbClr val="EFEFEF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2256950" cy="3354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591414" y="3691989"/>
            <a:ext cx="1851938" cy="16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39"/>
              </a:lnSpc>
              <a:spcBef>
                <a:spcPct val="0"/>
              </a:spcBef>
            </a:pPr>
            <a:r>
              <a:rPr lang="en-US" b="true" sz="1200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Participant Discount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729186" y="3691989"/>
            <a:ext cx="1851938" cy="16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39"/>
              </a:lnSpc>
              <a:spcBef>
                <a:spcPct val="0"/>
              </a:spcBef>
            </a:pPr>
            <a:r>
              <a:rPr lang="en-US" b="true" sz="1200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Partner Commision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866958" y="3691989"/>
            <a:ext cx="1851938" cy="16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39"/>
              </a:lnSpc>
              <a:spcBef>
                <a:spcPct val="0"/>
              </a:spcBef>
            </a:pPr>
            <a:r>
              <a:rPr lang="en-US" b="true" sz="1200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Participant Payment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91414" y="4015839"/>
            <a:ext cx="1851938" cy="317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74"/>
              </a:lnSpc>
              <a:spcBef>
                <a:spcPct val="0"/>
              </a:spcBef>
            </a:pPr>
            <a:r>
              <a:rPr lang="en-US" b="true" sz="2499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D4D4D4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Rp15.000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725920" y="4015839"/>
            <a:ext cx="1851938" cy="317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74"/>
              </a:lnSpc>
              <a:spcBef>
                <a:spcPct val="0"/>
              </a:spcBef>
            </a:pPr>
            <a:r>
              <a:rPr lang="en-US" b="true" sz="2499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D4D4D4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Rp15.000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860426" y="4015839"/>
            <a:ext cx="1851938" cy="317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74"/>
              </a:lnSpc>
              <a:spcBef>
                <a:spcPct val="0"/>
              </a:spcBef>
            </a:pPr>
            <a:r>
              <a:rPr lang="en-US" b="true" sz="2499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D4D4D4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Rp185.000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23061" y="4736678"/>
            <a:ext cx="3210242" cy="26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00"/>
              </a:lnSpc>
              <a:spcBef>
                <a:spcPct val="0"/>
              </a:spcBef>
            </a:pPr>
            <a:r>
              <a:rPr lang="en-US" b="true" sz="200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43434">
                        <a:alpha val="86000"/>
                      </a:srgbClr>
                    </a:gs>
                  </a:gsLst>
                  <a:lin ang="0"/>
                </a:gradFill>
                <a:latin typeface="DM Sans Bold"/>
                <a:ea typeface="DM Sans Bold"/>
                <a:cs typeface="DM Sans Bold"/>
                <a:sym typeface="DM Sans Bold"/>
              </a:rPr>
              <a:t>Participant Price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23061" y="5117400"/>
            <a:ext cx="6054596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09"/>
              </a:lnSpc>
              <a:spcBef>
                <a:spcPct val="0"/>
              </a:spcBef>
            </a:pPr>
            <a:r>
              <a:rPr lang="en-US" b="true" sz="179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43434">
                        <a:alpha val="86000"/>
                      </a:srgbClr>
                    </a:gs>
                  </a:gsLst>
                  <a:lin ang="0"/>
                </a:gradFill>
                <a:latin typeface="DM Sans Bold"/>
                <a:ea typeface="DM Sans Bold"/>
                <a:cs typeface="DM Sans Bold"/>
                <a:sym typeface="DM Sans Bold"/>
              </a:rPr>
              <a:t>Rp200.000 - Rp15.000 = Rp185.000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75929" y="5709488"/>
            <a:ext cx="6201728" cy="520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89"/>
              </a:lnSpc>
              <a:spcBef>
                <a:spcPct val="0"/>
              </a:spcBef>
            </a:pPr>
            <a:r>
              <a:rPr lang="en-US" b="true" sz="4093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How It Works?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475929" y="6306193"/>
            <a:ext cx="2035209" cy="1382633"/>
            <a:chOff x="0" y="0"/>
            <a:chExt cx="729373" cy="49550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29373" cy="495505"/>
            </a:xfrm>
            <a:custGeom>
              <a:avLst/>
              <a:gdLst/>
              <a:ahLst/>
              <a:cxnLst/>
              <a:rect r="r" b="b" t="t" l="l"/>
              <a:pathLst>
                <a:path h="495505" w="729373">
                  <a:moveTo>
                    <a:pt x="0" y="0"/>
                  </a:moveTo>
                  <a:lnTo>
                    <a:pt x="729373" y="0"/>
                  </a:lnTo>
                  <a:lnTo>
                    <a:pt x="729373" y="495505"/>
                  </a:lnTo>
                  <a:lnTo>
                    <a:pt x="0" y="495505"/>
                  </a:lnTo>
                  <a:close/>
                </a:path>
              </a:pathLst>
            </a:custGeom>
            <a:gradFill rotWithShape="true">
              <a:gsLst>
                <a:gs pos="0">
                  <a:srgbClr val="1B2A5E">
                    <a:alpha val="100000"/>
                  </a:srgbClr>
                </a:gs>
                <a:gs pos="100000">
                  <a:srgbClr val="0D3C82">
                    <a:alpha val="100000"/>
                  </a:srgbClr>
                </a:gs>
              </a:gsLst>
              <a:lin ang="2700000"/>
            </a:gradFill>
            <a:ln w="19050" cap="sq">
              <a:gradFill>
                <a:gsLst>
                  <a:gs pos="0">
                    <a:srgbClr val="F7FFA1">
                      <a:alpha val="100000"/>
                    </a:srgbClr>
                  </a:gs>
                  <a:gs pos="100000">
                    <a:srgbClr val="EFEFEF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729373" cy="5050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2610435" y="6306193"/>
            <a:ext cx="2035209" cy="1382633"/>
            <a:chOff x="0" y="0"/>
            <a:chExt cx="729373" cy="49550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29373" cy="495505"/>
            </a:xfrm>
            <a:custGeom>
              <a:avLst/>
              <a:gdLst/>
              <a:ahLst/>
              <a:cxnLst/>
              <a:rect r="r" b="b" t="t" l="l"/>
              <a:pathLst>
                <a:path h="495505" w="729373">
                  <a:moveTo>
                    <a:pt x="0" y="0"/>
                  </a:moveTo>
                  <a:lnTo>
                    <a:pt x="729373" y="0"/>
                  </a:lnTo>
                  <a:lnTo>
                    <a:pt x="729373" y="495505"/>
                  </a:lnTo>
                  <a:lnTo>
                    <a:pt x="0" y="495505"/>
                  </a:lnTo>
                  <a:close/>
                </a:path>
              </a:pathLst>
            </a:custGeom>
            <a:gradFill rotWithShape="true">
              <a:gsLst>
                <a:gs pos="0">
                  <a:srgbClr val="1B2A5E">
                    <a:alpha val="100000"/>
                  </a:srgbClr>
                </a:gs>
                <a:gs pos="100000">
                  <a:srgbClr val="0D3C82">
                    <a:alpha val="100000"/>
                  </a:srgbClr>
                </a:gs>
              </a:gsLst>
              <a:lin ang="2700000"/>
            </a:gradFill>
            <a:ln w="19050" cap="sq">
              <a:gradFill>
                <a:gsLst>
                  <a:gs pos="0">
                    <a:srgbClr val="F7FFA1">
                      <a:alpha val="100000"/>
                    </a:srgbClr>
                  </a:gs>
                  <a:gs pos="100000">
                    <a:srgbClr val="EFEFEF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729373" cy="5050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4744941" y="6306193"/>
            <a:ext cx="2035209" cy="1382633"/>
            <a:chOff x="0" y="0"/>
            <a:chExt cx="729373" cy="49550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29373" cy="495505"/>
            </a:xfrm>
            <a:custGeom>
              <a:avLst/>
              <a:gdLst/>
              <a:ahLst/>
              <a:cxnLst/>
              <a:rect r="r" b="b" t="t" l="l"/>
              <a:pathLst>
                <a:path h="495505" w="729373">
                  <a:moveTo>
                    <a:pt x="0" y="0"/>
                  </a:moveTo>
                  <a:lnTo>
                    <a:pt x="729373" y="0"/>
                  </a:lnTo>
                  <a:lnTo>
                    <a:pt x="729373" y="495505"/>
                  </a:lnTo>
                  <a:lnTo>
                    <a:pt x="0" y="495505"/>
                  </a:lnTo>
                  <a:close/>
                </a:path>
              </a:pathLst>
            </a:custGeom>
            <a:gradFill rotWithShape="true">
              <a:gsLst>
                <a:gs pos="0">
                  <a:srgbClr val="1B2A5E">
                    <a:alpha val="100000"/>
                  </a:srgbClr>
                </a:gs>
                <a:gs pos="100000">
                  <a:srgbClr val="0D3C82">
                    <a:alpha val="100000"/>
                  </a:srgbClr>
                </a:gs>
              </a:gsLst>
              <a:lin ang="2700000"/>
            </a:gradFill>
            <a:ln w="19050" cap="sq">
              <a:gradFill>
                <a:gsLst>
                  <a:gs pos="0">
                    <a:srgbClr val="F7FFA1">
                      <a:alpha val="100000"/>
                    </a:srgbClr>
                  </a:gs>
                  <a:gs pos="100000">
                    <a:srgbClr val="EFEFEF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729373" cy="5050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591414" y="6458593"/>
            <a:ext cx="1851938" cy="16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39"/>
              </a:lnSpc>
              <a:spcBef>
                <a:spcPct val="0"/>
              </a:spcBef>
            </a:pPr>
            <a:r>
              <a:rPr lang="en-US" b="true" sz="1200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Share Your Code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724390" y="6458593"/>
            <a:ext cx="1851938" cy="16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39"/>
              </a:lnSpc>
              <a:spcBef>
                <a:spcPct val="0"/>
              </a:spcBef>
            </a:pPr>
            <a:r>
              <a:rPr lang="en-US" b="true" sz="1200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Register &amp; Pay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4836577" y="6458593"/>
            <a:ext cx="1851938" cy="16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39"/>
              </a:lnSpc>
              <a:spcBef>
                <a:spcPct val="0"/>
              </a:spcBef>
            </a:pPr>
            <a:r>
              <a:rPr lang="en-US" b="true" sz="1200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Earn Commission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542311" y="6715768"/>
            <a:ext cx="1901042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E9E9E9"/>
                </a:solidFill>
                <a:latin typeface="DM Sans"/>
                <a:ea typeface="DM Sans"/>
                <a:cs typeface="DM Sans"/>
                <a:sym typeface="DM Sans"/>
              </a:rPr>
              <a:t>Distribute your unique referral code to your community.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689444" y="6725293"/>
            <a:ext cx="1901042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E9E9E9"/>
                </a:solidFill>
                <a:latin typeface="DM Sans"/>
                <a:ea typeface="DM Sans"/>
                <a:cs typeface="DM Sans"/>
                <a:sym typeface="DM Sans"/>
              </a:rPr>
              <a:t>Participants enter the code and complete payment.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4842407" y="6734818"/>
            <a:ext cx="1901042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E9E9E9"/>
                </a:solidFill>
                <a:latin typeface="DM Sans"/>
                <a:ea typeface="DM Sans"/>
                <a:cs typeface="DM Sans"/>
                <a:sym typeface="DM Sans"/>
              </a:rPr>
              <a:t>Receive IDR 15,000 for each verified eligible registration.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475929" y="7812651"/>
            <a:ext cx="6297689" cy="1801374"/>
            <a:chOff x="0" y="0"/>
            <a:chExt cx="2256950" cy="64557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256950" cy="645572"/>
            </a:xfrm>
            <a:custGeom>
              <a:avLst/>
              <a:gdLst/>
              <a:ahLst/>
              <a:cxnLst/>
              <a:rect r="r" b="b" t="t" l="l"/>
              <a:pathLst>
                <a:path h="645572" w="2256950">
                  <a:moveTo>
                    <a:pt x="0" y="0"/>
                  </a:moveTo>
                  <a:lnTo>
                    <a:pt x="2256950" y="0"/>
                  </a:lnTo>
                  <a:lnTo>
                    <a:pt x="2256950" y="645572"/>
                  </a:lnTo>
                  <a:lnTo>
                    <a:pt x="0" y="645572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E4E4E4">
                    <a:alpha val="100000"/>
                  </a:srgbClr>
                </a:gs>
              </a:gsLst>
              <a:lin ang="5400000"/>
            </a:gradFill>
            <a:ln w="19050" cap="sq">
              <a:gradFill>
                <a:gsLst>
                  <a:gs pos="0">
                    <a:srgbClr val="F7FFA1">
                      <a:alpha val="100000"/>
                    </a:srgbClr>
                  </a:gs>
                  <a:gs pos="100000">
                    <a:srgbClr val="EFEFEF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2256950" cy="6550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542311" y="7957626"/>
            <a:ext cx="4987614" cy="50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99"/>
              </a:lnSpc>
              <a:spcBef>
                <a:spcPct val="0"/>
              </a:spcBef>
            </a:pPr>
            <a:r>
              <a:rPr lang="en-US" b="true" sz="399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43434">
                        <a:alpha val="86000"/>
                      </a:srgbClr>
                    </a:gs>
                  </a:gsLst>
                  <a:lin ang="0"/>
                </a:gradFill>
                <a:latin typeface="DM Sans Bold"/>
                <a:ea typeface="DM Sans Bold"/>
                <a:cs typeface="DM Sans Bold"/>
                <a:sym typeface="DM Sans Bold"/>
              </a:rPr>
              <a:t>Illustrative Example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542311" y="8455906"/>
            <a:ext cx="4987614" cy="993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0"/>
              </a:lnSpc>
            </a:pPr>
            <a:r>
              <a:rPr lang="en-US" sz="2000" b="true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43434">
                        <a:alpha val="86000"/>
                      </a:srgbClr>
                    </a:gs>
                  </a:gsLst>
                  <a:lin ang="0"/>
                </a:gradFill>
                <a:latin typeface="DM Sans Bold"/>
                <a:ea typeface="DM Sans Bold"/>
                <a:cs typeface="DM Sans Bold"/>
                <a:sym typeface="DM Sans Bold"/>
              </a:rPr>
              <a:t>10 Valid Paid Registrations</a:t>
            </a:r>
          </a:p>
          <a:p>
            <a:pPr algn="l">
              <a:lnSpc>
                <a:spcPts val="2680"/>
              </a:lnSpc>
            </a:pPr>
            <a:r>
              <a:rPr lang="en-US" sz="2000" b="true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43434">
                        <a:alpha val="86000"/>
                      </a:srgbClr>
                    </a:gs>
                  </a:gsLst>
                  <a:lin ang="0"/>
                </a:gradFill>
                <a:latin typeface="DM Sans Bold"/>
                <a:ea typeface="DM Sans Bold"/>
                <a:cs typeface="DM Sans Bold"/>
                <a:sym typeface="DM Sans Bold"/>
              </a:rPr>
              <a:t>10 × Rp15,000 = Rp150,000</a:t>
            </a:r>
          </a:p>
          <a:p>
            <a:pPr algn="l" marL="0" indent="0" lvl="0">
              <a:lnSpc>
                <a:spcPts val="2680"/>
              </a:lnSpc>
              <a:spcBef>
                <a:spcPct val="0"/>
              </a:spcBef>
            </a:pPr>
            <a:r>
              <a:rPr lang="en-US" b="true" sz="200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43434">
                        <a:alpha val="86000"/>
                      </a:srgbClr>
                    </a:gs>
                  </a:gsLst>
                  <a:lin ang="0"/>
                </a:gradFill>
                <a:latin typeface="DM Sans Bold"/>
                <a:ea typeface="DM Sans Bold"/>
                <a:cs typeface="DM Sans Bold"/>
                <a:sym typeface="DM Sans Bold"/>
              </a:rPr>
              <a:t>Partner commission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475929" y="9680700"/>
            <a:ext cx="6328071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E9E9E9"/>
                </a:solidFill>
                <a:latin typeface="DM Sans"/>
                <a:ea typeface="DM Sans"/>
                <a:cs typeface="DM Sans"/>
                <a:sym typeface="DM Sans"/>
              </a:rPr>
              <a:t>Commission applies to valid paid registrations that have not been refunded.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3458383">
            <a:off x="2663526" y="-5093846"/>
            <a:ext cx="7460742" cy="746074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908">
                    <a:alpha val="14000"/>
                  </a:srgbClr>
                </a:gs>
                <a:gs pos="100000">
                  <a:srgbClr val="001614">
                    <a:alpha val="0"/>
                  </a:srgbClr>
                </a:gs>
              </a:gsLst>
              <a:lin ang="5400000"/>
            </a:gradFill>
            <a:ln w="19050" cap="sq">
              <a:gradFill>
                <a:gsLst>
                  <a:gs pos="0">
                    <a:srgbClr val="00352F">
                      <a:alpha val="14000"/>
                    </a:srgbClr>
                  </a:gs>
                  <a:gs pos="100000">
                    <a:srgbClr val="000000">
                      <a:alpha val="14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3458383">
            <a:off x="-3235264" y="8119153"/>
            <a:ext cx="6628018" cy="6628018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1614">
                    <a:alpha val="0"/>
                  </a:srgbClr>
                </a:gs>
                <a:gs pos="100000">
                  <a:srgbClr val="000908">
                    <a:alpha val="14000"/>
                  </a:srgbClr>
                </a:gs>
              </a:gsLst>
              <a:lin ang="5400000"/>
            </a:gradFill>
            <a:ln w="19050" cap="sq">
              <a:gradFill>
                <a:gsLst>
                  <a:gs pos="0">
                    <a:srgbClr val="00352F">
                      <a:alpha val="14000"/>
                    </a:srgbClr>
                  </a:gs>
                  <a:gs pos="100000">
                    <a:srgbClr val="000000">
                      <a:alpha val="14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3458383">
            <a:off x="3603019" y="7374198"/>
            <a:ext cx="7460742" cy="7460742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908">
                    <a:alpha val="14000"/>
                  </a:srgbClr>
                </a:gs>
                <a:gs pos="100000">
                  <a:srgbClr val="001614">
                    <a:alpha val="0"/>
                  </a:srgbClr>
                </a:gs>
              </a:gsLst>
              <a:lin ang="5400000"/>
            </a:gradFill>
            <a:ln w="19050" cap="sq">
              <a:gradFill>
                <a:gsLst>
                  <a:gs pos="0">
                    <a:srgbClr val="00352F">
                      <a:alpha val="14000"/>
                    </a:srgbClr>
                  </a:gs>
                  <a:gs pos="100000">
                    <a:srgbClr val="000000">
                      <a:alpha val="14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499779" y="1489378"/>
            <a:ext cx="6304221" cy="50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99"/>
              </a:lnSpc>
              <a:spcBef>
                <a:spcPct val="0"/>
              </a:spcBef>
            </a:pPr>
            <a:r>
              <a:rPr lang="en-US" b="true" sz="3999">
                <a:gradFill>
                  <a:gsLst>
                    <a:gs pos="0">
                      <a:srgbClr val="003365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2700000"/>
                </a:gradFill>
                <a:latin typeface="DM Sans Bold"/>
                <a:ea typeface="DM Sans Bold"/>
                <a:cs typeface="DM Sans Bold"/>
                <a:sym typeface="DM Sans Bold"/>
              </a:rPr>
              <a:t>Media Partnership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499779" y="756000"/>
            <a:ext cx="411005" cy="421795"/>
          </a:xfrm>
          <a:custGeom>
            <a:avLst/>
            <a:gdLst/>
            <a:ahLst/>
            <a:cxnLst/>
            <a:rect r="r" b="b" t="t" l="l"/>
            <a:pathLst>
              <a:path h="421795" w="411005">
                <a:moveTo>
                  <a:pt x="0" y="0"/>
                </a:moveTo>
                <a:lnTo>
                  <a:pt x="411005" y="0"/>
                </a:lnTo>
                <a:lnTo>
                  <a:pt x="411005" y="421795"/>
                </a:lnTo>
                <a:lnTo>
                  <a:pt x="0" y="4217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0447" t="-144434" r="-490104" b="-139546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37500" y="713076"/>
            <a:ext cx="468982" cy="464718"/>
          </a:xfrm>
          <a:custGeom>
            <a:avLst/>
            <a:gdLst/>
            <a:ahLst/>
            <a:cxnLst/>
            <a:rect r="r" b="b" t="t" l="l"/>
            <a:pathLst>
              <a:path h="464718" w="468982">
                <a:moveTo>
                  <a:pt x="0" y="0"/>
                </a:moveTo>
                <a:lnTo>
                  <a:pt x="468982" y="0"/>
                </a:lnTo>
                <a:lnTo>
                  <a:pt x="468982" y="464719"/>
                </a:lnTo>
                <a:lnTo>
                  <a:pt x="0" y="4647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75124" y="789276"/>
            <a:ext cx="230303" cy="388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2"/>
              </a:lnSpc>
            </a:pPr>
            <a:r>
              <a:rPr lang="en-US" b="true" sz="3101" spc="-254">
                <a:gradFill>
                  <a:gsLst>
                    <a:gs pos="0">
                      <a:srgbClr val="6B6B6B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x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83846" y="10420770"/>
            <a:ext cx="6592309" cy="163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2"/>
              </a:lnSpc>
              <a:spcBef>
                <a:spcPct val="0"/>
              </a:spcBef>
            </a:pPr>
            <a:r>
              <a:rPr lang="en-US" sz="95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Confidential &amp; Proprietary © 2026 Not Into Finance &amp; Indonesia Capital Market Student Studies</a:t>
            </a:r>
            <a:r>
              <a:rPr lang="en-US" sz="95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. All right</a:t>
            </a:r>
            <a:r>
              <a:rPr lang="en-US" sz="95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 reserved.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06311" y="2060003"/>
            <a:ext cx="6581985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3"/>
              </a:lnSpc>
            </a:pPr>
            <a:r>
              <a:rPr lang="en-US" b="true" sz="1669">
                <a:gradFill>
                  <a:gsLst>
                    <a:gs pos="0">
                      <a:srgbClr val="003365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2700000"/>
                </a:gradFill>
                <a:latin typeface="DM Sans Bold"/>
                <a:ea typeface="DM Sans Bold"/>
                <a:cs typeface="DM Sans Bold"/>
                <a:sym typeface="DM Sans Bold"/>
              </a:rPr>
              <a:t>Publication Exchange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99779" y="2374328"/>
            <a:ext cx="6581985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1B2A5E"/>
                </a:solidFill>
                <a:latin typeface="DM Sans"/>
                <a:ea typeface="DM Sans"/>
                <a:cs typeface="DM Sans"/>
                <a:sym typeface="DM Sans"/>
              </a:rPr>
              <a:t>Su</a:t>
            </a:r>
            <a:r>
              <a:rPr lang="en-US" sz="1200">
                <a:solidFill>
                  <a:srgbClr val="1B2A5E"/>
                </a:solidFill>
                <a:latin typeface="DM Sans"/>
                <a:ea typeface="DM Sans"/>
                <a:cs typeface="DM Sans"/>
                <a:sym typeface="DM Sans"/>
              </a:rPr>
              <a:t>pport the bootcamp through reciprocal publication across agreed social media and community channels.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483846" y="3403028"/>
            <a:ext cx="3262054" cy="3722159"/>
            <a:chOff x="0" y="0"/>
            <a:chExt cx="6689588" cy="763313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689588" cy="7633136"/>
            </a:xfrm>
            <a:custGeom>
              <a:avLst/>
              <a:gdLst/>
              <a:ahLst/>
              <a:cxnLst/>
              <a:rect r="r" b="b" t="t" l="l"/>
              <a:pathLst>
                <a:path h="7633136" w="6689588">
                  <a:moveTo>
                    <a:pt x="23733" y="0"/>
                  </a:moveTo>
                  <a:lnTo>
                    <a:pt x="6665854" y="0"/>
                  </a:lnTo>
                  <a:cubicBezTo>
                    <a:pt x="6678962" y="0"/>
                    <a:pt x="6689588" y="10626"/>
                    <a:pt x="6689588" y="23733"/>
                  </a:cubicBezTo>
                  <a:lnTo>
                    <a:pt x="6689588" y="7609403"/>
                  </a:lnTo>
                  <a:cubicBezTo>
                    <a:pt x="6689588" y="7622511"/>
                    <a:pt x="6678962" y="7633136"/>
                    <a:pt x="6665854" y="7633136"/>
                  </a:cubicBezTo>
                  <a:lnTo>
                    <a:pt x="23733" y="7633136"/>
                  </a:lnTo>
                  <a:cubicBezTo>
                    <a:pt x="10626" y="7633136"/>
                    <a:pt x="0" y="7622511"/>
                    <a:pt x="0" y="7609403"/>
                  </a:cubicBezTo>
                  <a:lnTo>
                    <a:pt x="0" y="23733"/>
                  </a:lnTo>
                  <a:cubicBezTo>
                    <a:pt x="0" y="10626"/>
                    <a:pt x="10626" y="0"/>
                    <a:pt x="2373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22222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5400000"/>
            </a:gradFill>
            <a:ln w="19050" cap="sq">
              <a:gradFill>
                <a:gsLst>
                  <a:gs pos="0">
                    <a:srgbClr val="F7FFA1">
                      <a:alpha val="100000"/>
                    </a:srgbClr>
                  </a:gs>
                  <a:gs pos="100000">
                    <a:srgbClr val="EFEFEF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6689588" cy="7633137"/>
            </a:xfrm>
            <a:prstGeom prst="rect">
              <a:avLst/>
            </a:prstGeom>
          </p:spPr>
          <p:txBody>
            <a:bodyPr anchor="ctr" rtlCol="false" tIns="16381" lIns="16381" bIns="16381" rIns="16381"/>
            <a:lstStyle/>
            <a:p>
              <a:pPr algn="ctr">
                <a:lnSpc>
                  <a:spcPts val="871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3826241" y="3403028"/>
            <a:ext cx="3262054" cy="3722159"/>
            <a:chOff x="0" y="0"/>
            <a:chExt cx="6689588" cy="763313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689588" cy="7633136"/>
            </a:xfrm>
            <a:custGeom>
              <a:avLst/>
              <a:gdLst/>
              <a:ahLst/>
              <a:cxnLst/>
              <a:rect r="r" b="b" t="t" l="l"/>
              <a:pathLst>
                <a:path h="7633136" w="6689588">
                  <a:moveTo>
                    <a:pt x="23733" y="0"/>
                  </a:moveTo>
                  <a:lnTo>
                    <a:pt x="6665854" y="0"/>
                  </a:lnTo>
                  <a:cubicBezTo>
                    <a:pt x="6678962" y="0"/>
                    <a:pt x="6689588" y="10626"/>
                    <a:pt x="6689588" y="23733"/>
                  </a:cubicBezTo>
                  <a:lnTo>
                    <a:pt x="6689588" y="7609403"/>
                  </a:lnTo>
                  <a:cubicBezTo>
                    <a:pt x="6689588" y="7622511"/>
                    <a:pt x="6678962" y="7633136"/>
                    <a:pt x="6665854" y="7633136"/>
                  </a:cubicBezTo>
                  <a:lnTo>
                    <a:pt x="23733" y="7633136"/>
                  </a:lnTo>
                  <a:cubicBezTo>
                    <a:pt x="10626" y="7633136"/>
                    <a:pt x="0" y="7622511"/>
                    <a:pt x="0" y="7609403"/>
                  </a:cubicBezTo>
                  <a:lnTo>
                    <a:pt x="0" y="23733"/>
                  </a:lnTo>
                  <a:cubicBezTo>
                    <a:pt x="0" y="10626"/>
                    <a:pt x="10626" y="0"/>
                    <a:pt x="2373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22222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5400000"/>
            </a:gradFill>
            <a:ln w="19050" cap="sq">
              <a:gradFill>
                <a:gsLst>
                  <a:gs pos="0">
                    <a:srgbClr val="F7FFA1">
                      <a:alpha val="100000"/>
                    </a:srgbClr>
                  </a:gs>
                  <a:gs pos="100000">
                    <a:srgbClr val="EFEFEF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6689588" cy="7633137"/>
            </a:xfrm>
            <a:prstGeom prst="rect">
              <a:avLst/>
            </a:prstGeom>
          </p:spPr>
          <p:txBody>
            <a:bodyPr anchor="ctr" rtlCol="false" tIns="16381" lIns="16381" bIns="16381" rIns="16381"/>
            <a:lstStyle/>
            <a:p>
              <a:pPr algn="ctr">
                <a:lnSpc>
                  <a:spcPts val="871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499779" y="7201386"/>
            <a:ext cx="6576376" cy="936098"/>
            <a:chOff x="0" y="0"/>
            <a:chExt cx="12705292" cy="180850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705292" cy="1808504"/>
            </a:xfrm>
            <a:custGeom>
              <a:avLst/>
              <a:gdLst/>
              <a:ahLst/>
              <a:cxnLst/>
              <a:rect r="r" b="b" t="t" l="l"/>
              <a:pathLst>
                <a:path h="1808504" w="12705292">
                  <a:moveTo>
                    <a:pt x="11772" y="0"/>
                  </a:moveTo>
                  <a:lnTo>
                    <a:pt x="12693520" y="0"/>
                  </a:lnTo>
                  <a:cubicBezTo>
                    <a:pt x="12700022" y="0"/>
                    <a:pt x="12705292" y="5271"/>
                    <a:pt x="12705292" y="11772"/>
                  </a:cubicBezTo>
                  <a:lnTo>
                    <a:pt x="12705292" y="1796731"/>
                  </a:lnTo>
                  <a:cubicBezTo>
                    <a:pt x="12705292" y="1803233"/>
                    <a:pt x="12700022" y="1808504"/>
                    <a:pt x="12693520" y="1808504"/>
                  </a:cubicBezTo>
                  <a:lnTo>
                    <a:pt x="11772" y="1808504"/>
                  </a:lnTo>
                  <a:cubicBezTo>
                    <a:pt x="5271" y="1808504"/>
                    <a:pt x="0" y="1803233"/>
                    <a:pt x="0" y="1796731"/>
                  </a:cubicBezTo>
                  <a:lnTo>
                    <a:pt x="0" y="11772"/>
                  </a:lnTo>
                  <a:cubicBezTo>
                    <a:pt x="0" y="5271"/>
                    <a:pt x="5271" y="0"/>
                    <a:pt x="1177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D9D9D9">
                    <a:alpha val="100000"/>
                  </a:srgbClr>
                </a:gs>
              </a:gsLst>
              <a:lin ang="5400000"/>
            </a:gradFill>
            <a:ln w="19050" cap="sq">
              <a:gradFill>
                <a:gsLst>
                  <a:gs pos="0">
                    <a:srgbClr val="002036">
                      <a:alpha val="100000"/>
                    </a:srgbClr>
                  </a:gs>
                  <a:gs pos="100000">
                    <a:srgbClr val="1A2A5F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12705292" cy="1808504"/>
            </a:xfrm>
            <a:prstGeom prst="rect">
              <a:avLst/>
            </a:prstGeom>
          </p:spPr>
          <p:txBody>
            <a:bodyPr anchor="ctr" rtlCol="false" tIns="16381" lIns="16381" bIns="16381" rIns="16381"/>
            <a:lstStyle/>
            <a:p>
              <a:pPr algn="ctr">
                <a:lnSpc>
                  <a:spcPts val="871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643711" y="3615753"/>
            <a:ext cx="2820272" cy="26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900"/>
              </a:lnSpc>
              <a:spcBef>
                <a:spcPct val="0"/>
              </a:spcBef>
            </a:pPr>
            <a:r>
              <a:rPr lang="en-US" b="true" sz="2000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Partner Deliverables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983728" y="3603053"/>
            <a:ext cx="2820272" cy="26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900"/>
              </a:lnSpc>
              <a:spcBef>
                <a:spcPct val="0"/>
              </a:spcBef>
            </a:pPr>
            <a:r>
              <a:rPr lang="en-US" b="true" sz="2000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Organizer Deliverables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43711" y="4574026"/>
            <a:ext cx="2820272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13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Publish</a:t>
            </a:r>
            <a:r>
              <a:rPr lang="en-US" sz="12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bootcamp announcements and registration reminders through agreed Instagram Stories.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983728" y="4574026"/>
            <a:ext cx="2820272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13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</a:t>
            </a:r>
            <a:r>
              <a:rPr lang="en-US" sz="12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rovide ready-to-post visuals, captions, and registration links.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52559" y="7344261"/>
            <a:ext cx="4644535" cy="272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016"/>
              </a:lnSpc>
              <a:spcBef>
                <a:spcPct val="0"/>
              </a:spcBef>
            </a:pPr>
            <a:r>
              <a:rPr lang="en-US" b="true" sz="2122">
                <a:gradFill>
                  <a:gsLst>
                    <a:gs pos="0">
                      <a:srgbClr val="002036">
                        <a:alpha val="100000"/>
                      </a:srgbClr>
                    </a:gs>
                    <a:gs pos="100000">
                      <a:srgbClr val="0F3E87">
                        <a:alpha val="100000"/>
                      </a:srgbClr>
                    </a:gs>
                  </a:gsLst>
                  <a:lin ang="0"/>
                </a:gradFill>
                <a:latin typeface="DM Sans Bold"/>
                <a:ea typeface="DM Sans Bold"/>
                <a:cs typeface="DM Sans Bold"/>
                <a:sym typeface="DM Sans Bold"/>
              </a:rPr>
              <a:t>Publication Plan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52559" y="7640617"/>
            <a:ext cx="6151441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499"/>
              </a:lnSpc>
              <a:spcBef>
                <a:spcPct val="0"/>
              </a:spcBef>
            </a:pPr>
            <a:r>
              <a:rPr lang="en-US" sz="1499">
                <a:gradFill>
                  <a:gsLst>
                    <a:gs pos="0">
                      <a:srgbClr val="002036">
                        <a:alpha val="100000"/>
                      </a:srgbClr>
                    </a:gs>
                    <a:gs pos="100000">
                      <a:srgbClr val="0F3E87">
                        <a:alpha val="100000"/>
                      </a:srgbClr>
                    </a:gs>
                  </a:gsLst>
                  <a:lin ang="0"/>
                </a:gradFill>
                <a:latin typeface="DM Sans"/>
                <a:ea typeface="DM Sans"/>
                <a:cs typeface="DM Sans"/>
                <a:sym typeface="DM Sans"/>
              </a:rPr>
              <a:t>Story quantities, group posts, reposts, channels, and dates will be agreed before activation.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483846" y="2793428"/>
            <a:ext cx="6576376" cy="561975"/>
            <a:chOff x="0" y="0"/>
            <a:chExt cx="12705292" cy="108571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2705292" cy="1085713"/>
            </a:xfrm>
            <a:custGeom>
              <a:avLst/>
              <a:gdLst/>
              <a:ahLst/>
              <a:cxnLst/>
              <a:rect r="r" b="b" t="t" l="l"/>
              <a:pathLst>
                <a:path h="1085713" w="12705292">
                  <a:moveTo>
                    <a:pt x="11772" y="0"/>
                  </a:moveTo>
                  <a:lnTo>
                    <a:pt x="12693520" y="0"/>
                  </a:lnTo>
                  <a:cubicBezTo>
                    <a:pt x="12700022" y="0"/>
                    <a:pt x="12705292" y="5271"/>
                    <a:pt x="12705292" y="11772"/>
                  </a:cubicBezTo>
                  <a:lnTo>
                    <a:pt x="12705292" y="1073941"/>
                  </a:lnTo>
                  <a:cubicBezTo>
                    <a:pt x="12705292" y="1080442"/>
                    <a:pt x="12700022" y="1085713"/>
                    <a:pt x="12693520" y="1085713"/>
                  </a:cubicBezTo>
                  <a:lnTo>
                    <a:pt x="11772" y="1085713"/>
                  </a:lnTo>
                  <a:cubicBezTo>
                    <a:pt x="5271" y="1085713"/>
                    <a:pt x="0" y="1080442"/>
                    <a:pt x="0" y="1073941"/>
                  </a:cubicBezTo>
                  <a:lnTo>
                    <a:pt x="0" y="11772"/>
                  </a:lnTo>
                  <a:cubicBezTo>
                    <a:pt x="0" y="5271"/>
                    <a:pt x="5271" y="0"/>
                    <a:pt x="11772" y="0"/>
                  </a:cubicBezTo>
                  <a:close/>
                </a:path>
              </a:pathLst>
            </a:custGeom>
            <a:ln w="19050" cap="sq">
              <a:gradFill>
                <a:gsLst>
                  <a:gs pos="0">
                    <a:srgbClr val="002036">
                      <a:alpha val="100000"/>
                    </a:srgbClr>
                  </a:gs>
                  <a:gs pos="100000">
                    <a:srgbClr val="1A2A5F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12705292" cy="1085713"/>
            </a:xfrm>
            <a:prstGeom prst="rect">
              <a:avLst/>
            </a:prstGeom>
          </p:spPr>
          <p:txBody>
            <a:bodyPr anchor="ctr" rtlCol="false" tIns="16381" lIns="16381" bIns="16381" rIns="16381"/>
            <a:lstStyle/>
            <a:p>
              <a:pPr algn="ctr">
                <a:lnSpc>
                  <a:spcPts val="871"/>
                </a:lnSpc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572486" y="2945828"/>
            <a:ext cx="6399095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599" b="true">
                <a:solidFill>
                  <a:srgbClr val="1B2A5E"/>
                </a:solidFill>
                <a:latin typeface="DM Sans Bold"/>
                <a:ea typeface="DM Sans Bold"/>
                <a:cs typeface="DM Sans Bold"/>
                <a:sym typeface="DM Sans Bold"/>
              </a:rPr>
              <a:t>C</a:t>
            </a:r>
            <a:r>
              <a:rPr lang="en-US" b="true" sz="1599">
                <a:solidFill>
                  <a:srgbClr val="1B2A5E"/>
                </a:solidFill>
                <a:latin typeface="DM Sans Bold"/>
                <a:ea typeface="DM Sans Bold"/>
                <a:cs typeface="DM Sans Bold"/>
                <a:sym typeface="DM Sans Bold"/>
              </a:rPr>
              <a:t>hoose Media Partnership, Community Partnership, or Both.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43711" y="4316694"/>
            <a:ext cx="2820272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425"/>
              </a:lnSpc>
              <a:spcBef>
                <a:spcPct val="0"/>
              </a:spcBef>
            </a:pPr>
            <a:r>
              <a:rPr lang="en-US" b="true" sz="1500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Instagram Stories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3983728" y="4303994"/>
            <a:ext cx="2820272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425"/>
              </a:lnSpc>
              <a:spcBef>
                <a:spcPct val="0"/>
              </a:spcBef>
            </a:pPr>
            <a:r>
              <a:rPr lang="en-US" b="true" sz="1500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Promotional Materials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43711" y="5478901"/>
            <a:ext cx="2820272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13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Share</a:t>
            </a:r>
            <a:r>
              <a:rPr lang="en-US" sz="12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promotional materials in agreed community groups.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43711" y="5221726"/>
            <a:ext cx="2820272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425"/>
              </a:lnSpc>
              <a:spcBef>
                <a:spcPct val="0"/>
              </a:spcBef>
            </a:pPr>
            <a:r>
              <a:rPr lang="en-US" b="true" sz="1500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Community Distribution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643711" y="6279001"/>
            <a:ext cx="2820272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13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Publish</a:t>
            </a:r>
            <a:r>
              <a:rPr lang="en-US" sz="12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according to the agreed content plan and schedule.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643711" y="6021826"/>
            <a:ext cx="2820272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425"/>
              </a:lnSpc>
              <a:spcBef>
                <a:spcPct val="0"/>
              </a:spcBef>
            </a:pPr>
            <a:r>
              <a:rPr lang="en-US" b="true" sz="1500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Publication Schedule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3983728" y="5478901"/>
            <a:ext cx="2820272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13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Include the</a:t>
            </a:r>
            <a:r>
              <a:rPr lang="en-US" sz="12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partner’s logo on agreed program publications.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3983728" y="5221726"/>
            <a:ext cx="2820272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425"/>
              </a:lnSpc>
              <a:spcBef>
                <a:spcPct val="0"/>
              </a:spcBef>
            </a:pPr>
            <a:r>
              <a:rPr lang="en-US" b="true" sz="1500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Community Distribution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3983728" y="6279001"/>
            <a:ext cx="2820272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13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Publish</a:t>
            </a:r>
            <a:r>
              <a:rPr lang="en-US" sz="12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agreed partner content through selected organizer channels.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3983728" y="6021826"/>
            <a:ext cx="2820272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425"/>
              </a:lnSpc>
              <a:spcBef>
                <a:spcPct val="0"/>
              </a:spcBef>
            </a:pPr>
            <a:r>
              <a:rPr lang="en-US" b="true" sz="1500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Reciprocal Publication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506311" y="8213685"/>
            <a:ext cx="6553910" cy="1722315"/>
            <a:chOff x="0" y="0"/>
            <a:chExt cx="13440290" cy="353200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3440290" cy="3532001"/>
            </a:xfrm>
            <a:custGeom>
              <a:avLst/>
              <a:gdLst/>
              <a:ahLst/>
              <a:cxnLst/>
              <a:rect r="r" b="b" t="t" l="l"/>
              <a:pathLst>
                <a:path h="3532001" w="13440290">
                  <a:moveTo>
                    <a:pt x="11813" y="0"/>
                  </a:moveTo>
                  <a:lnTo>
                    <a:pt x="13428476" y="0"/>
                  </a:lnTo>
                  <a:cubicBezTo>
                    <a:pt x="13435002" y="0"/>
                    <a:pt x="13440290" y="5289"/>
                    <a:pt x="13440290" y="11813"/>
                  </a:cubicBezTo>
                  <a:lnTo>
                    <a:pt x="13440290" y="3520188"/>
                  </a:lnTo>
                  <a:cubicBezTo>
                    <a:pt x="13440290" y="3526712"/>
                    <a:pt x="13435002" y="3532001"/>
                    <a:pt x="13428476" y="3532001"/>
                  </a:cubicBezTo>
                  <a:lnTo>
                    <a:pt x="11813" y="3532001"/>
                  </a:lnTo>
                  <a:cubicBezTo>
                    <a:pt x="5289" y="3532001"/>
                    <a:pt x="0" y="3526712"/>
                    <a:pt x="0" y="3520188"/>
                  </a:cubicBezTo>
                  <a:lnTo>
                    <a:pt x="0" y="11813"/>
                  </a:lnTo>
                  <a:cubicBezTo>
                    <a:pt x="0" y="5289"/>
                    <a:pt x="5289" y="0"/>
                    <a:pt x="1181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22222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5400000"/>
            </a:gradFill>
            <a:ln w="19050" cap="sq">
              <a:gradFill>
                <a:gsLst>
                  <a:gs pos="0">
                    <a:srgbClr val="F7FFA1">
                      <a:alpha val="100000"/>
                    </a:srgbClr>
                  </a:gs>
                  <a:gs pos="100000">
                    <a:srgbClr val="EFEFEF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13440290" cy="3532001"/>
            </a:xfrm>
            <a:prstGeom prst="rect">
              <a:avLst/>
            </a:prstGeom>
          </p:spPr>
          <p:txBody>
            <a:bodyPr anchor="ctr" rtlCol="false" tIns="16381" lIns="16381" bIns="16381" rIns="16381"/>
            <a:lstStyle/>
            <a:p>
              <a:pPr algn="ctr">
                <a:lnSpc>
                  <a:spcPts val="871"/>
                </a:lnSpc>
              </a:pP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608486" y="8375610"/>
            <a:ext cx="6363095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850"/>
              </a:lnSpc>
              <a:spcBef>
                <a:spcPct val="0"/>
              </a:spcBef>
            </a:pPr>
            <a:r>
              <a:rPr lang="en-US" b="true" sz="3000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Custom Media Partnership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608486" y="8861385"/>
            <a:ext cx="6195514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3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Have</a:t>
            </a:r>
            <a:r>
              <a:rPr lang="en-US" sz="12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a different collaboration in mind? We’re open to discussing a custom publication exchange tailored to your channels, content formats, deliverables, and schedule.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608486" y="9466222"/>
            <a:ext cx="6195514" cy="16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3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</a:t>
            </a:r>
            <a:r>
              <a:rPr lang="en-US" sz="12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ntact our partnership team to explore a suitable arrangement.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594606" cy="10692000"/>
            <a:chOff x="0" y="0"/>
            <a:chExt cx="5063071" cy="7128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63109" cy="7128063"/>
            </a:xfrm>
            <a:custGeom>
              <a:avLst/>
              <a:gdLst/>
              <a:ahLst/>
              <a:cxnLst/>
              <a:rect r="r" b="b" t="t" l="l"/>
              <a:pathLst>
                <a:path h="7128063" w="5063109">
                  <a:moveTo>
                    <a:pt x="0" y="0"/>
                  </a:moveTo>
                  <a:lnTo>
                    <a:pt x="5063109" y="0"/>
                  </a:lnTo>
                  <a:lnTo>
                    <a:pt x="5063109" y="7128063"/>
                  </a:lnTo>
                  <a:lnTo>
                    <a:pt x="0" y="7128063"/>
                  </a:lnTo>
                  <a:close/>
                </a:path>
              </a:pathLst>
            </a:custGeom>
            <a:solidFill>
              <a:srgbClr val="0B0B0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626244" y="-2034599"/>
            <a:ext cx="7115670" cy="7115670"/>
            <a:chOff x="0" y="0"/>
            <a:chExt cx="4743780" cy="47437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743831" cy="4743831"/>
            </a:xfrm>
            <a:custGeom>
              <a:avLst/>
              <a:gdLst/>
              <a:ahLst/>
              <a:cxnLst/>
              <a:rect r="r" b="b" t="t" l="l"/>
              <a:pathLst>
                <a:path h="4743831" w="4743831">
                  <a:moveTo>
                    <a:pt x="0" y="2371852"/>
                  </a:moveTo>
                  <a:cubicBezTo>
                    <a:pt x="0" y="1061974"/>
                    <a:pt x="1061974" y="0"/>
                    <a:pt x="2371852" y="0"/>
                  </a:cubicBezTo>
                  <a:cubicBezTo>
                    <a:pt x="3681730" y="0"/>
                    <a:pt x="4743831" y="1061974"/>
                    <a:pt x="4743831" y="2371852"/>
                  </a:cubicBezTo>
                  <a:cubicBezTo>
                    <a:pt x="4743831" y="3681730"/>
                    <a:pt x="3681857" y="4743831"/>
                    <a:pt x="2371852" y="4743831"/>
                  </a:cubicBezTo>
                  <a:cubicBezTo>
                    <a:pt x="1061847" y="4743831"/>
                    <a:pt x="0" y="3681857"/>
                    <a:pt x="0" y="2371852"/>
                  </a:cubicBezTo>
                  <a:close/>
                </a:path>
              </a:pathLst>
            </a:custGeom>
            <a:solidFill>
              <a:srgbClr val="1C1C1C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3557835" y="5902107"/>
            <a:ext cx="5747271" cy="5747271"/>
            <a:chOff x="0" y="0"/>
            <a:chExt cx="3831514" cy="38315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31463" cy="3831463"/>
            </a:xfrm>
            <a:custGeom>
              <a:avLst/>
              <a:gdLst/>
              <a:ahLst/>
              <a:cxnLst/>
              <a:rect r="r" b="b" t="t" l="l"/>
              <a:pathLst>
                <a:path h="3831463" w="3831463">
                  <a:moveTo>
                    <a:pt x="0" y="1915795"/>
                  </a:moveTo>
                  <a:cubicBezTo>
                    <a:pt x="0" y="857758"/>
                    <a:pt x="857758" y="0"/>
                    <a:pt x="1915795" y="0"/>
                  </a:cubicBezTo>
                  <a:cubicBezTo>
                    <a:pt x="2973832" y="0"/>
                    <a:pt x="3831463" y="857758"/>
                    <a:pt x="3831463" y="1915795"/>
                  </a:cubicBezTo>
                  <a:cubicBezTo>
                    <a:pt x="3831463" y="2973832"/>
                    <a:pt x="2973832" y="3831463"/>
                    <a:pt x="1915795" y="3831463"/>
                  </a:cubicBezTo>
                  <a:cubicBezTo>
                    <a:pt x="857758" y="3831463"/>
                    <a:pt x="0" y="2973832"/>
                    <a:pt x="0" y="1915795"/>
                  </a:cubicBezTo>
                  <a:close/>
                </a:path>
              </a:pathLst>
            </a:custGeom>
            <a:solidFill>
              <a:srgbClr val="181818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0" y="10413775"/>
            <a:ext cx="7594606" cy="201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817">
                <a:solidFill>
                  <a:srgbClr val="E9E9E9"/>
                </a:solidFill>
                <a:latin typeface="Poppins"/>
                <a:ea typeface="Poppins"/>
                <a:cs typeface="Poppins"/>
                <a:sym typeface="Poppins"/>
              </a:rPr>
              <a:t>Confidential &amp; Proprietary © 2026 Not Into Finance &amp; Indonesia Capital Market Student Studies. All rights reserved.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499779" y="756000"/>
            <a:ext cx="411005" cy="421795"/>
          </a:xfrm>
          <a:custGeom>
            <a:avLst/>
            <a:gdLst/>
            <a:ahLst/>
            <a:cxnLst/>
            <a:rect r="r" b="b" t="t" l="l"/>
            <a:pathLst>
              <a:path h="421795" w="411005">
                <a:moveTo>
                  <a:pt x="0" y="0"/>
                </a:moveTo>
                <a:lnTo>
                  <a:pt x="411005" y="0"/>
                </a:lnTo>
                <a:lnTo>
                  <a:pt x="411005" y="421795"/>
                </a:lnTo>
                <a:lnTo>
                  <a:pt x="0" y="4217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0447" t="-144434" r="-490104" b="-139546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37500" y="713076"/>
            <a:ext cx="468982" cy="464718"/>
          </a:xfrm>
          <a:custGeom>
            <a:avLst/>
            <a:gdLst/>
            <a:ahLst/>
            <a:cxnLst/>
            <a:rect r="r" b="b" t="t" l="l"/>
            <a:pathLst>
              <a:path h="464718" w="468982">
                <a:moveTo>
                  <a:pt x="0" y="0"/>
                </a:moveTo>
                <a:lnTo>
                  <a:pt x="468982" y="0"/>
                </a:lnTo>
                <a:lnTo>
                  <a:pt x="468982" y="464719"/>
                </a:lnTo>
                <a:lnTo>
                  <a:pt x="0" y="4647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75124" y="789276"/>
            <a:ext cx="230303" cy="388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2"/>
              </a:lnSpc>
            </a:pPr>
            <a:r>
              <a:rPr lang="en-US" b="true" sz="3101" spc="-254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x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75929" y="1507801"/>
            <a:ext cx="6201728" cy="1006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89"/>
              </a:lnSpc>
              <a:spcBef>
                <a:spcPct val="0"/>
              </a:spcBef>
            </a:pPr>
            <a:r>
              <a:rPr lang="en-US" b="true" sz="4093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Publication &amp; Referral Mechanics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06311" y="2548754"/>
            <a:ext cx="6581985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3"/>
              </a:lnSpc>
            </a:pPr>
            <a:r>
              <a:rPr lang="en-US" sz="1669">
                <a:solidFill>
                  <a:srgbClr val="E9E9E9"/>
                </a:solidFill>
                <a:latin typeface="DM Sans"/>
                <a:ea typeface="DM Sans"/>
                <a:cs typeface="DM Sans"/>
                <a:sym typeface="DM Sans"/>
              </a:rPr>
              <a:t>Clear Deliverables. Clear Tracking.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99779" y="2863079"/>
            <a:ext cx="6581985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E9E9E9"/>
                </a:solidFill>
                <a:latin typeface="DM Sans"/>
                <a:ea typeface="DM Sans"/>
                <a:cs typeface="DM Sans"/>
                <a:sym typeface="DM Sans"/>
              </a:rPr>
              <a:t>Partners may participate in publication exchange, the referral program, or both.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483846" y="3193807"/>
            <a:ext cx="3262054" cy="4098986"/>
            <a:chOff x="0" y="0"/>
            <a:chExt cx="6689588" cy="840590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689588" cy="8405907"/>
            </a:xfrm>
            <a:custGeom>
              <a:avLst/>
              <a:gdLst/>
              <a:ahLst/>
              <a:cxnLst/>
              <a:rect r="r" b="b" t="t" l="l"/>
              <a:pathLst>
                <a:path h="8405907" w="6689588">
                  <a:moveTo>
                    <a:pt x="23733" y="0"/>
                  </a:moveTo>
                  <a:lnTo>
                    <a:pt x="6665854" y="0"/>
                  </a:lnTo>
                  <a:cubicBezTo>
                    <a:pt x="6678962" y="0"/>
                    <a:pt x="6689588" y="10626"/>
                    <a:pt x="6689588" y="23733"/>
                  </a:cubicBezTo>
                  <a:lnTo>
                    <a:pt x="6689588" y="8382174"/>
                  </a:lnTo>
                  <a:cubicBezTo>
                    <a:pt x="6689588" y="8395281"/>
                    <a:pt x="6678962" y="8405907"/>
                    <a:pt x="6665854" y="8405907"/>
                  </a:cubicBezTo>
                  <a:lnTo>
                    <a:pt x="23733" y="8405907"/>
                  </a:lnTo>
                  <a:cubicBezTo>
                    <a:pt x="10626" y="8405907"/>
                    <a:pt x="0" y="8395281"/>
                    <a:pt x="0" y="8382174"/>
                  </a:cubicBezTo>
                  <a:lnTo>
                    <a:pt x="0" y="23733"/>
                  </a:lnTo>
                  <a:cubicBezTo>
                    <a:pt x="0" y="10626"/>
                    <a:pt x="10626" y="0"/>
                    <a:pt x="2373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22222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5400000"/>
            </a:gradFill>
            <a:ln w="19050" cap="sq">
              <a:gradFill>
                <a:gsLst>
                  <a:gs pos="0">
                    <a:srgbClr val="F7FFA1">
                      <a:alpha val="100000"/>
                    </a:srgbClr>
                  </a:gs>
                  <a:gs pos="100000">
                    <a:srgbClr val="EFEFEF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6689588" cy="8405907"/>
            </a:xfrm>
            <a:prstGeom prst="rect">
              <a:avLst/>
            </a:prstGeom>
          </p:spPr>
          <p:txBody>
            <a:bodyPr anchor="ctr" rtlCol="false" tIns="16381" lIns="16381" bIns="16381" rIns="16381"/>
            <a:lstStyle/>
            <a:p>
              <a:pPr algn="ctr">
                <a:lnSpc>
                  <a:spcPts val="871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3826241" y="3193807"/>
            <a:ext cx="3262054" cy="4098986"/>
            <a:chOff x="0" y="0"/>
            <a:chExt cx="6689588" cy="840590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689588" cy="8405907"/>
            </a:xfrm>
            <a:custGeom>
              <a:avLst/>
              <a:gdLst/>
              <a:ahLst/>
              <a:cxnLst/>
              <a:rect r="r" b="b" t="t" l="l"/>
              <a:pathLst>
                <a:path h="8405907" w="6689588">
                  <a:moveTo>
                    <a:pt x="23733" y="0"/>
                  </a:moveTo>
                  <a:lnTo>
                    <a:pt x="6665854" y="0"/>
                  </a:lnTo>
                  <a:cubicBezTo>
                    <a:pt x="6678962" y="0"/>
                    <a:pt x="6689588" y="10626"/>
                    <a:pt x="6689588" y="23733"/>
                  </a:cubicBezTo>
                  <a:lnTo>
                    <a:pt x="6689588" y="8382174"/>
                  </a:lnTo>
                  <a:cubicBezTo>
                    <a:pt x="6689588" y="8395281"/>
                    <a:pt x="6678962" y="8405907"/>
                    <a:pt x="6665854" y="8405907"/>
                  </a:cubicBezTo>
                  <a:lnTo>
                    <a:pt x="23733" y="8405907"/>
                  </a:lnTo>
                  <a:cubicBezTo>
                    <a:pt x="10626" y="8405907"/>
                    <a:pt x="0" y="8395281"/>
                    <a:pt x="0" y="8382174"/>
                  </a:cubicBezTo>
                  <a:lnTo>
                    <a:pt x="0" y="23733"/>
                  </a:lnTo>
                  <a:cubicBezTo>
                    <a:pt x="0" y="10626"/>
                    <a:pt x="10626" y="0"/>
                    <a:pt x="2373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22222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5400000"/>
            </a:gradFill>
            <a:ln w="19050" cap="sq">
              <a:gradFill>
                <a:gsLst>
                  <a:gs pos="0">
                    <a:srgbClr val="F7FFA1">
                      <a:alpha val="100000"/>
                    </a:srgbClr>
                  </a:gs>
                  <a:gs pos="100000">
                    <a:srgbClr val="EFEFEF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6689588" cy="8405907"/>
            </a:xfrm>
            <a:prstGeom prst="rect">
              <a:avLst/>
            </a:prstGeom>
          </p:spPr>
          <p:txBody>
            <a:bodyPr anchor="ctr" rtlCol="false" tIns="16381" lIns="16381" bIns="16381" rIns="16381"/>
            <a:lstStyle/>
            <a:p>
              <a:pPr algn="ctr">
                <a:lnSpc>
                  <a:spcPts val="871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705281" y="3371632"/>
            <a:ext cx="2920962" cy="26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00"/>
              </a:lnSpc>
              <a:spcBef>
                <a:spcPct val="0"/>
              </a:spcBef>
            </a:pPr>
            <a:r>
              <a:rPr lang="en-US" b="true" sz="2000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Publication Process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021519" y="3371632"/>
            <a:ext cx="2920962" cy="26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00"/>
              </a:lnSpc>
              <a:spcBef>
                <a:spcPct val="0"/>
              </a:spcBef>
            </a:pPr>
            <a:r>
              <a:rPr lang="en-US" b="true" sz="2000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Referral Process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43711" y="4111286"/>
            <a:ext cx="2820272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13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</a:t>
            </a:r>
            <a:r>
              <a:rPr lang="en-US" sz="12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onfirm channels, publication quantities, and dates.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43711" y="3854111"/>
            <a:ext cx="2820272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425"/>
              </a:lnSpc>
              <a:spcBef>
                <a:spcPct val="0"/>
              </a:spcBef>
            </a:pPr>
            <a:r>
              <a:rPr lang="en-US" b="true" sz="1500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Agree the Plan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43711" y="5016318"/>
            <a:ext cx="2820272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13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Organizers</a:t>
            </a:r>
            <a:r>
              <a:rPr lang="en-US" sz="12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provide approved visuals, captions, and links.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43711" y="4759143"/>
            <a:ext cx="2820272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425"/>
              </a:lnSpc>
              <a:spcBef>
                <a:spcPct val="0"/>
              </a:spcBef>
            </a:pPr>
            <a:r>
              <a:rPr lang="en-US" b="true" sz="1500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Receive Materials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43711" y="5816418"/>
            <a:ext cx="2820272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13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Partner and organizer publish</a:t>
            </a:r>
            <a:r>
              <a:rPr lang="en-US" sz="12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their agreed deliverables.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43711" y="5559243"/>
            <a:ext cx="2820272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425"/>
              </a:lnSpc>
              <a:spcBef>
                <a:spcPct val="0"/>
              </a:spcBef>
            </a:pPr>
            <a:r>
              <a:rPr lang="en-US" b="true" sz="1500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Publish Content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43711" y="6616518"/>
            <a:ext cx="2820272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13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Share publication links</a:t>
            </a:r>
            <a:r>
              <a:rPr lang="en-US" sz="12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or screenshots for the activity recap.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43711" y="6359343"/>
            <a:ext cx="2820272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425"/>
              </a:lnSpc>
              <a:spcBef>
                <a:spcPct val="0"/>
              </a:spcBef>
            </a:pPr>
            <a:r>
              <a:rPr lang="en-US" b="true" sz="1500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Confirm Delivery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021519" y="4111286"/>
            <a:ext cx="2820272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13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</a:t>
            </a:r>
            <a:r>
              <a:rPr lang="en-US" sz="12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rganizers assign one unique referral code per partner.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021519" y="3854111"/>
            <a:ext cx="2820272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425"/>
              </a:lnSpc>
              <a:spcBef>
                <a:spcPct val="0"/>
              </a:spcBef>
            </a:pPr>
            <a:r>
              <a:rPr lang="en-US" b="true" sz="1500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Receive Your Code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021519" y="5016318"/>
            <a:ext cx="2820272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13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Participants</a:t>
            </a:r>
            <a:r>
              <a:rPr lang="en-US" sz="12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enter the code when registering.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021519" y="4759143"/>
            <a:ext cx="2820272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425"/>
              </a:lnSpc>
              <a:spcBef>
                <a:spcPct val="0"/>
              </a:spcBef>
            </a:pPr>
            <a:r>
              <a:rPr lang="en-US" b="true" sz="1500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Record Registrations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021519" y="5816418"/>
            <a:ext cx="2820272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13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Organizers verify paid</a:t>
            </a:r>
            <a:r>
              <a:rPr lang="en-US" sz="12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registrations and refund status.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4021519" y="5559243"/>
            <a:ext cx="2820272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425"/>
              </a:lnSpc>
              <a:spcBef>
                <a:spcPct val="0"/>
              </a:spcBef>
            </a:pPr>
            <a:r>
              <a:rPr lang="en-US" b="true" sz="1500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Validate Payments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4021519" y="6616518"/>
            <a:ext cx="2820272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13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Partner receives a registration recap and</a:t>
            </a:r>
            <a:r>
              <a:rPr lang="en-US" sz="12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commission according to the agreed payout schedule.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4021519" y="6359343"/>
            <a:ext cx="2820272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425"/>
              </a:lnSpc>
              <a:spcBef>
                <a:spcPct val="0"/>
              </a:spcBef>
            </a:pPr>
            <a:r>
              <a:rPr lang="en-US" b="true" sz="1500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Report &amp; Pay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475929" y="7435668"/>
            <a:ext cx="6612366" cy="1649945"/>
            <a:chOff x="0" y="0"/>
            <a:chExt cx="13560167" cy="338358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3560168" cy="3383588"/>
            </a:xfrm>
            <a:custGeom>
              <a:avLst/>
              <a:gdLst/>
              <a:ahLst/>
              <a:cxnLst/>
              <a:rect r="r" b="b" t="t" l="l"/>
              <a:pathLst>
                <a:path h="3383588" w="13560168">
                  <a:moveTo>
                    <a:pt x="11708" y="0"/>
                  </a:moveTo>
                  <a:lnTo>
                    <a:pt x="13548460" y="0"/>
                  </a:lnTo>
                  <a:cubicBezTo>
                    <a:pt x="13554926" y="0"/>
                    <a:pt x="13560168" y="5242"/>
                    <a:pt x="13560168" y="11708"/>
                  </a:cubicBezTo>
                  <a:lnTo>
                    <a:pt x="13560168" y="3371880"/>
                  </a:lnTo>
                  <a:cubicBezTo>
                    <a:pt x="13560168" y="3378347"/>
                    <a:pt x="13554926" y="3383588"/>
                    <a:pt x="13548460" y="3383588"/>
                  </a:cubicBezTo>
                  <a:lnTo>
                    <a:pt x="11708" y="3383588"/>
                  </a:lnTo>
                  <a:cubicBezTo>
                    <a:pt x="5242" y="3383588"/>
                    <a:pt x="0" y="3378347"/>
                    <a:pt x="0" y="3371880"/>
                  </a:cubicBezTo>
                  <a:lnTo>
                    <a:pt x="0" y="11708"/>
                  </a:lnTo>
                  <a:cubicBezTo>
                    <a:pt x="0" y="5242"/>
                    <a:pt x="5242" y="0"/>
                    <a:pt x="1170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EFEFEF">
                    <a:alpha val="100000"/>
                  </a:srgbClr>
                </a:gs>
              </a:gsLst>
              <a:lin ang="5400000"/>
            </a:gradFill>
            <a:ln w="19050" cap="sq">
              <a:gradFill>
                <a:gsLst>
                  <a:gs pos="0">
                    <a:srgbClr val="F7FFA1">
                      <a:alpha val="100000"/>
                    </a:srgbClr>
                  </a:gs>
                  <a:gs pos="100000">
                    <a:srgbClr val="EFEFEF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13560167" cy="3383588"/>
            </a:xfrm>
            <a:prstGeom prst="rect">
              <a:avLst/>
            </a:prstGeom>
          </p:spPr>
          <p:txBody>
            <a:bodyPr anchor="ctr" rtlCol="false" tIns="16381" lIns="16381" bIns="16381" rIns="16381"/>
            <a:lstStyle/>
            <a:p>
              <a:pPr algn="ctr">
                <a:lnSpc>
                  <a:spcPts val="871"/>
                </a:lnSpc>
              </a:pP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640063" y="7597593"/>
            <a:ext cx="6201728" cy="520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89"/>
              </a:lnSpc>
              <a:spcBef>
                <a:spcPct val="0"/>
              </a:spcBef>
            </a:pPr>
            <a:r>
              <a:rPr lang="en-US" b="true" sz="4093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6B6B6B">
                        <a:alpha val="100000"/>
                      </a:srgbClr>
                    </a:gs>
                  </a:gsLst>
                  <a:lin ang="0"/>
                </a:gradFill>
                <a:latin typeface="DM Sans Bold"/>
                <a:ea typeface="DM Sans Bold"/>
                <a:cs typeface="DM Sans Bold"/>
                <a:sym typeface="DM Sans Bold"/>
              </a:rPr>
              <a:t>Referral Terms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640063" y="8202431"/>
            <a:ext cx="6302419" cy="16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39"/>
              </a:lnSpc>
              <a:spcBef>
                <a:spcPct val="0"/>
              </a:spcBef>
            </a:pPr>
            <a:r>
              <a:rPr lang="en-US" sz="120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6B6B6B">
                        <a:alpha val="100000"/>
                      </a:srgbClr>
                    </a:gs>
                  </a:gsLst>
                  <a:lin ang="0"/>
                </a:gradFill>
                <a:latin typeface="DM Sans"/>
                <a:ea typeface="DM Sans"/>
                <a:cs typeface="DM Sans"/>
                <a:sym typeface="DM Sans"/>
              </a:rPr>
              <a:t>On</a:t>
            </a:r>
            <a:r>
              <a:rPr lang="en-US" sz="120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6B6B6B">
                        <a:alpha val="100000"/>
                      </a:srgbClr>
                    </a:gs>
                  </a:gsLst>
                  <a:lin ang="0"/>
                </a:gradFill>
                <a:latin typeface="DM Sans"/>
                <a:ea typeface="DM Sans"/>
                <a:cs typeface="DM Sans"/>
                <a:sym typeface="DM Sans"/>
              </a:rPr>
              <a:t>e referral code per registration.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636416" y="8450081"/>
            <a:ext cx="6302419" cy="16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39"/>
              </a:lnSpc>
              <a:spcBef>
                <a:spcPct val="0"/>
              </a:spcBef>
            </a:pPr>
            <a:r>
              <a:rPr lang="en-US" sz="120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6B6B6B">
                        <a:alpha val="100000"/>
                      </a:srgbClr>
                    </a:gs>
                  </a:gsLst>
                  <a:lin ang="0"/>
                </a:gradFill>
                <a:latin typeface="DM Sans"/>
                <a:ea typeface="DM Sans"/>
                <a:cs typeface="DM Sans"/>
                <a:sym typeface="DM Sans"/>
              </a:rPr>
              <a:t>R</a:t>
            </a:r>
            <a:r>
              <a:rPr lang="en-US" sz="120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6B6B6B">
                        <a:alpha val="100000"/>
                      </a:srgbClr>
                    </a:gs>
                  </a:gsLst>
                  <a:lin ang="0"/>
                </a:gradFill>
                <a:latin typeface="DM Sans"/>
                <a:ea typeface="DM Sans"/>
                <a:cs typeface="DM Sans"/>
                <a:sym typeface="DM Sans"/>
              </a:rPr>
              <a:t>eferral discounts cannot be combined with other promotions unless agreed.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632768" y="8697731"/>
            <a:ext cx="6302419" cy="16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39"/>
              </a:lnSpc>
              <a:spcBef>
                <a:spcPct val="0"/>
              </a:spcBef>
            </a:pPr>
            <a:r>
              <a:rPr lang="en-US" sz="120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6B6B6B">
                        <a:alpha val="100000"/>
                      </a:srgbClr>
                    </a:gs>
                  </a:gsLst>
                  <a:lin ang="0"/>
                </a:gradFill>
                <a:latin typeface="DM Sans"/>
                <a:ea typeface="DM Sans"/>
                <a:cs typeface="DM Sans"/>
                <a:sym typeface="DM Sans"/>
              </a:rPr>
              <a:t>Comm</a:t>
            </a:r>
            <a:r>
              <a:rPr lang="en-US" sz="120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6B6B6B">
                        <a:alpha val="100000"/>
                      </a:srgbClr>
                    </a:gs>
                  </a:gsLst>
                  <a:lin ang="0"/>
                </a:gradFill>
                <a:latin typeface="DM Sans"/>
                <a:ea typeface="DM Sans"/>
                <a:cs typeface="DM Sans"/>
                <a:sym typeface="DM Sans"/>
              </a:rPr>
              <a:t>ission applies to valid paid, non-refunded registrations.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475482" y="9247538"/>
            <a:ext cx="6613261" cy="16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3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Publicatio</a:t>
            </a:r>
            <a:r>
              <a:rPr lang="en-US" sz="12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n dates, referral period, and payout schedule will be agreed before activation.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3366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554936" y="4534479"/>
          <a:ext cx="6450127" cy="4768565"/>
        </p:xfrm>
        <a:graphic>
          <a:graphicData uri="http://schemas.openxmlformats.org/drawingml/2006/table">
            <a:tbl>
              <a:tblPr/>
              <a:tblGrid>
                <a:gridCol w="1972755"/>
                <a:gridCol w="1476279"/>
                <a:gridCol w="1592643"/>
                <a:gridCol w="1408450"/>
              </a:tblGrid>
              <a:tr h="92583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50"/>
                        </a:lnSpc>
                        <a:defRPr/>
                      </a:pPr>
                      <a:r>
                        <a:rPr lang="en-US" b="true" sz="1250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Benefits</a:t>
                      </a:r>
                      <a:endParaRPr lang="en-US" sz="1100"/>
                    </a:p>
                  </a:txBody>
                  <a:tcPr marL="85075" marR="85075" marT="85075" marB="85075" anchor="ctr">
                    <a:lnL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 b="true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Media Partner</a:t>
                      </a:r>
                      <a:endParaRPr lang="en-US" sz="1100"/>
                    </a:p>
                    <a:p>
                      <a:pPr algn="ctr">
                        <a:lnSpc>
                          <a:spcPts val="1540"/>
                        </a:lnSpc>
                      </a:pPr>
                      <a:r>
                        <a:rPr lang="en-US" sz="11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(to be negotiated)</a:t>
                      </a:r>
                    </a:p>
                  </a:txBody>
                  <a:tcPr marL="85075" marR="85075" marT="85075" marB="85075" anchor="ctr">
                    <a:lnL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b="true" sz="1200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Gold Package</a:t>
                      </a:r>
                      <a:endParaRPr lang="en-US" sz="1100"/>
                    </a:p>
                    <a:p>
                      <a:pPr algn="ctr">
                        <a:lnSpc>
                          <a:spcPts val="1540"/>
                        </a:lnSpc>
                      </a:pPr>
                      <a:r>
                        <a:rPr lang="en-US" sz="11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(to be negotiated)</a:t>
                      </a:r>
                    </a:p>
                  </a:txBody>
                  <a:tcPr marL="85075" marR="85075" marT="85075" marB="85075" anchor="ctr">
                    <a:lnL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 b="true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M</a:t>
                      </a:r>
                      <a:r>
                        <a:rPr lang="en-US" sz="1200" b="true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ain Sponsor</a:t>
                      </a:r>
                      <a:endParaRPr lang="en-US" sz="1100"/>
                    </a:p>
                    <a:p>
                      <a:pPr algn="ctr">
                        <a:lnSpc>
                          <a:spcPts val="1540"/>
                        </a:lnSpc>
                      </a:pPr>
                      <a:r>
                        <a:rPr lang="en-US" sz="11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(to be negotiated)</a:t>
                      </a:r>
                    </a:p>
                  </a:txBody>
                  <a:tcPr marL="85075" marR="85075" marT="85075" marB="85075" anchor="ctr">
                    <a:lnL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</a:tr>
              <a:tr h="45963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500"/>
                        </a:lnSpc>
                        <a:defRPr/>
                      </a:pPr>
                      <a:r>
                        <a:rPr lang="en-US" b="true" sz="1071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Ad-libs by mc</a:t>
                      </a:r>
                      <a:endParaRPr lang="en-US" sz="1100"/>
                    </a:p>
                  </a:txBody>
                  <a:tcPr marL="85075" marR="85075" marT="85075" marB="85075" anchor="ctr">
                    <a:lnL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25"/>
                        </a:lnSpc>
                        <a:defRPr/>
                      </a:pPr>
                      <a:r>
                        <a:rPr lang="en-US" sz="116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✓</a:t>
                      </a:r>
                      <a:endParaRPr lang="en-US" sz="1100"/>
                    </a:p>
                  </a:txBody>
                  <a:tcPr marL="85075" marR="85075" marT="85075" marB="85075" anchor="ctr">
                    <a:lnL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25"/>
                        </a:lnSpc>
                        <a:defRPr/>
                      </a:pPr>
                      <a:r>
                        <a:rPr lang="en-US" sz="116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✓</a:t>
                      </a:r>
                      <a:endParaRPr lang="en-US" sz="1100"/>
                    </a:p>
                  </a:txBody>
                  <a:tcPr marL="85075" marR="85075" marT="85075" marB="85075" anchor="ctr">
                    <a:lnL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25"/>
                        </a:lnSpc>
                        <a:defRPr/>
                      </a:pPr>
                      <a:r>
                        <a:rPr lang="en-US" sz="116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✓</a:t>
                      </a:r>
                      <a:endParaRPr lang="en-US" sz="1100"/>
                    </a:p>
                  </a:txBody>
                  <a:tcPr marL="85075" marR="85075" marT="85075" marB="85075" anchor="ctr">
                    <a:lnL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52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500"/>
                        </a:lnSpc>
                        <a:defRPr/>
                      </a:pPr>
                      <a:r>
                        <a:rPr lang="en-US" b="true" sz="1071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Social Media Feeds (Instagram and TikTok)</a:t>
                      </a:r>
                      <a:endParaRPr lang="en-US" sz="1100"/>
                    </a:p>
                  </a:txBody>
                  <a:tcPr marL="85075" marR="85075" marT="85075" marB="85075" anchor="ctr">
                    <a:lnL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25"/>
                        </a:lnSpc>
                        <a:defRPr/>
                      </a:pPr>
                      <a:r>
                        <a:rPr lang="en-US" sz="116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✓</a:t>
                      </a:r>
                      <a:endParaRPr lang="en-US" sz="1100"/>
                    </a:p>
                  </a:txBody>
                  <a:tcPr marL="85075" marR="85075" marT="85075" marB="85075" anchor="ctr">
                    <a:lnL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25"/>
                        </a:lnSpc>
                        <a:defRPr/>
                      </a:pPr>
                      <a:r>
                        <a:rPr lang="en-US" sz="116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✓</a:t>
                      </a:r>
                      <a:endParaRPr lang="en-US" sz="1100"/>
                    </a:p>
                  </a:txBody>
                  <a:tcPr marL="85075" marR="85075" marT="85075" marB="85075" anchor="ctr">
                    <a:lnL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25"/>
                        </a:lnSpc>
                        <a:defRPr/>
                      </a:pPr>
                      <a:r>
                        <a:rPr lang="en-US" sz="116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✓</a:t>
                      </a:r>
                      <a:endParaRPr lang="en-US" sz="1100"/>
                    </a:p>
                  </a:txBody>
                  <a:tcPr marL="85075" marR="85075" marT="85075" marB="85075" anchor="ctr">
                    <a:lnL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963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500"/>
                        </a:lnSpc>
                        <a:defRPr/>
                      </a:pPr>
                      <a:r>
                        <a:rPr lang="en-US" sz="1071" b="true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Zoom</a:t>
                      </a:r>
                      <a:r>
                        <a:rPr lang="en-US" b="true" sz="1071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 background</a:t>
                      </a:r>
                      <a:endParaRPr lang="en-US" sz="1100"/>
                    </a:p>
                  </a:txBody>
                  <a:tcPr marL="85075" marR="85075" marT="85075" marB="85075" anchor="ctr">
                    <a:lnL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25"/>
                        </a:lnSpc>
                        <a:defRPr/>
                      </a:pPr>
                      <a:r>
                        <a:rPr lang="en-US" sz="116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</a:t>
                      </a:r>
                      <a:endParaRPr lang="en-US" sz="1100"/>
                    </a:p>
                  </a:txBody>
                  <a:tcPr marL="85075" marR="85075" marT="85075" marB="85075" anchor="ctr">
                    <a:lnL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25"/>
                        </a:lnSpc>
                        <a:defRPr/>
                      </a:pPr>
                      <a:r>
                        <a:rPr lang="en-US" sz="116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</a:t>
                      </a:r>
                      <a:endParaRPr lang="en-US" sz="1100"/>
                    </a:p>
                  </a:txBody>
                  <a:tcPr marL="85075" marR="85075" marT="85075" marB="85075" anchor="ctr">
                    <a:lnL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25"/>
                        </a:lnSpc>
                        <a:defRPr/>
                      </a:pPr>
                      <a:r>
                        <a:rPr lang="en-US" sz="116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XL</a:t>
                      </a:r>
                      <a:endParaRPr lang="en-US" sz="1100"/>
                    </a:p>
                  </a:txBody>
                  <a:tcPr marL="85075" marR="85075" marT="85075" marB="85075" anchor="ctr">
                    <a:lnL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963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500"/>
                        </a:lnSpc>
                        <a:defRPr/>
                      </a:pPr>
                      <a:r>
                        <a:rPr lang="en-US" b="true" sz="1071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Poster/pamflet </a:t>
                      </a:r>
                      <a:endParaRPr lang="en-US" sz="1100"/>
                    </a:p>
                  </a:txBody>
                  <a:tcPr marL="85075" marR="85075" marT="85075" marB="85075" anchor="ctr">
                    <a:lnL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25"/>
                        </a:lnSpc>
                        <a:defRPr/>
                      </a:pPr>
                      <a:r>
                        <a:rPr lang="en-US" sz="116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</a:t>
                      </a:r>
                      <a:endParaRPr lang="en-US" sz="1100"/>
                    </a:p>
                  </a:txBody>
                  <a:tcPr marL="85075" marR="85075" marT="85075" marB="85075" anchor="ctr">
                    <a:lnL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25"/>
                        </a:lnSpc>
                        <a:defRPr/>
                      </a:pPr>
                      <a:r>
                        <a:rPr lang="en-US" sz="116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</a:t>
                      </a:r>
                      <a:endParaRPr lang="en-US" sz="1100"/>
                    </a:p>
                  </a:txBody>
                  <a:tcPr marL="85075" marR="85075" marT="85075" marB="85075" anchor="ctr">
                    <a:lnL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25"/>
                        </a:lnSpc>
                        <a:defRPr/>
                      </a:pPr>
                      <a:r>
                        <a:rPr lang="en-US" sz="116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XL</a:t>
                      </a:r>
                      <a:endParaRPr lang="en-US" sz="1100"/>
                    </a:p>
                  </a:txBody>
                  <a:tcPr marL="85075" marR="85075" marT="85075" marB="85075" anchor="ctr">
                    <a:lnL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963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498"/>
                        </a:lnSpc>
                        <a:defRPr/>
                      </a:pPr>
                      <a:r>
                        <a:rPr lang="en-US" b="true" sz="1070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Booklet</a:t>
                      </a:r>
                      <a:endParaRPr lang="en-US" sz="1100"/>
                    </a:p>
                  </a:txBody>
                  <a:tcPr marL="85075" marR="85075" marT="85075" marB="85075" anchor="ctr">
                    <a:lnL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498"/>
                        </a:lnSpc>
                        <a:defRPr/>
                      </a:pPr>
                      <a:r>
                        <a:rPr lang="en-US" sz="107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</a:t>
                      </a:r>
                      <a:endParaRPr lang="en-US" sz="1100"/>
                    </a:p>
                  </a:txBody>
                  <a:tcPr marL="85075" marR="85075" marT="85075" marB="85075" anchor="ctr">
                    <a:lnL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498"/>
                        </a:lnSpc>
                        <a:defRPr/>
                      </a:pPr>
                      <a:r>
                        <a:rPr lang="en-US" sz="107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</a:t>
                      </a:r>
                      <a:endParaRPr lang="en-US" sz="1100"/>
                    </a:p>
                  </a:txBody>
                  <a:tcPr marL="85075" marR="85075" marT="85075" marB="85075" anchor="ctr">
                    <a:lnL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498"/>
                        </a:lnSpc>
                        <a:defRPr/>
                      </a:pPr>
                      <a:r>
                        <a:rPr lang="en-US" sz="107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XL</a:t>
                      </a:r>
                      <a:endParaRPr lang="en-US" sz="1100"/>
                    </a:p>
                  </a:txBody>
                  <a:tcPr marL="85075" marR="85075" marT="85075" marB="85075" anchor="ctr">
                    <a:lnL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963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498"/>
                        </a:lnSpc>
                        <a:defRPr/>
                      </a:pPr>
                      <a:r>
                        <a:rPr lang="en-US" b="true" sz="1070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Certificate</a:t>
                      </a:r>
                      <a:endParaRPr lang="en-US" sz="1100"/>
                    </a:p>
                  </a:txBody>
                  <a:tcPr marL="85075" marR="85075" marT="85075" marB="85075" anchor="ctr">
                    <a:lnL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498"/>
                        </a:lnSpc>
                        <a:defRPr/>
                      </a:pPr>
                      <a:r>
                        <a:rPr lang="en-US" sz="107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</a:t>
                      </a:r>
                      <a:endParaRPr lang="en-US" sz="1100"/>
                    </a:p>
                  </a:txBody>
                  <a:tcPr marL="85075" marR="85075" marT="85075" marB="85075" anchor="ctr">
                    <a:lnL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498"/>
                        </a:lnSpc>
                        <a:defRPr/>
                      </a:pPr>
                      <a:r>
                        <a:rPr lang="en-US" sz="107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</a:t>
                      </a:r>
                      <a:endParaRPr lang="en-US" sz="1100"/>
                    </a:p>
                  </a:txBody>
                  <a:tcPr marL="85075" marR="85075" marT="85075" marB="85075" anchor="ctr">
                    <a:lnL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498"/>
                        </a:lnSpc>
                        <a:defRPr/>
                      </a:pPr>
                      <a:r>
                        <a:rPr lang="en-US" sz="107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XL</a:t>
                      </a:r>
                      <a:endParaRPr lang="en-US" sz="1100"/>
                    </a:p>
                  </a:txBody>
                  <a:tcPr marL="85075" marR="85075" marT="85075" marB="85075" anchor="ctr">
                    <a:lnL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963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498"/>
                        </a:lnSpc>
                        <a:defRPr/>
                      </a:pPr>
                      <a:r>
                        <a:rPr lang="en-US" sz="1070" b="true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Naming Rights (Event x ...)</a:t>
                      </a:r>
                      <a:endParaRPr lang="en-US" sz="1100"/>
                    </a:p>
                  </a:txBody>
                  <a:tcPr marL="85075" marR="85075" marT="85075" marB="85075" anchor="ctr">
                    <a:lnL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498"/>
                        </a:lnSpc>
                        <a:defRPr/>
                      </a:pPr>
                      <a:r>
                        <a:rPr lang="en-US" sz="107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X</a:t>
                      </a:r>
                      <a:endParaRPr lang="en-US" sz="1100"/>
                    </a:p>
                  </a:txBody>
                  <a:tcPr marL="85075" marR="85075" marT="85075" marB="85075" anchor="ctr">
                    <a:lnL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498"/>
                        </a:lnSpc>
                        <a:defRPr/>
                      </a:pPr>
                      <a:r>
                        <a:rPr lang="en-US" sz="107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X</a:t>
                      </a:r>
                      <a:endParaRPr lang="en-US" sz="1100"/>
                    </a:p>
                  </a:txBody>
                  <a:tcPr marL="85075" marR="85075" marT="85075" marB="85075" anchor="ctr">
                    <a:lnL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498"/>
                        </a:lnSpc>
                        <a:defRPr/>
                      </a:pPr>
                      <a:r>
                        <a:rPr lang="en-US" sz="107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✓</a:t>
                      </a:r>
                      <a:endParaRPr lang="en-US" sz="1100"/>
                    </a:p>
                  </a:txBody>
                  <a:tcPr marL="85075" marR="85075" marT="85075" marB="85075" anchor="ctr">
                    <a:lnL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963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498"/>
                        </a:lnSpc>
                        <a:defRPr/>
                      </a:pPr>
                      <a:r>
                        <a:rPr lang="en-US" sz="1070" b="true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Add-on package</a:t>
                      </a:r>
                      <a:endParaRPr lang="en-US" sz="1100"/>
                    </a:p>
                  </a:txBody>
                  <a:tcPr marL="85075" marR="85075" marT="85075" marB="85075" anchor="ctr">
                    <a:lnL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498"/>
                        </a:lnSpc>
                        <a:defRPr/>
                      </a:pPr>
                      <a:r>
                        <a:rPr lang="en-US" sz="107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X</a:t>
                      </a:r>
                      <a:endParaRPr lang="en-US" sz="1100"/>
                    </a:p>
                  </a:txBody>
                  <a:tcPr marL="85075" marR="85075" marT="85075" marB="85075" anchor="ctr">
                    <a:lnL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498"/>
                        </a:lnSpc>
                        <a:defRPr/>
                      </a:pPr>
                      <a:r>
                        <a:rPr lang="en-US" sz="107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X</a:t>
                      </a:r>
                      <a:endParaRPr lang="en-US" sz="1100"/>
                    </a:p>
                  </a:txBody>
                  <a:tcPr marL="85075" marR="85075" marT="85075" marB="85075" anchor="ctr">
                    <a:lnL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498"/>
                        </a:lnSpc>
                        <a:defRPr/>
                      </a:pPr>
                      <a:r>
                        <a:rPr lang="en-US" sz="107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✓</a:t>
                      </a:r>
                      <a:endParaRPr lang="en-US" sz="1100"/>
                    </a:p>
                  </a:txBody>
                  <a:tcPr marL="85075" marR="85075" marT="85075" marB="85075" anchor="ctr">
                    <a:lnL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7015">
                      <a:solidFill>
                        <a:srgbClr val="F0F8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3" id="3"/>
          <p:cNvSpPr/>
          <p:nvPr/>
        </p:nvSpPr>
        <p:spPr>
          <a:xfrm flipH="false" flipV="false" rot="0">
            <a:off x="499779" y="756000"/>
            <a:ext cx="411005" cy="421795"/>
          </a:xfrm>
          <a:custGeom>
            <a:avLst/>
            <a:gdLst/>
            <a:ahLst/>
            <a:cxnLst/>
            <a:rect r="r" b="b" t="t" l="l"/>
            <a:pathLst>
              <a:path h="421795" w="411005">
                <a:moveTo>
                  <a:pt x="0" y="0"/>
                </a:moveTo>
                <a:lnTo>
                  <a:pt x="411005" y="0"/>
                </a:lnTo>
                <a:lnTo>
                  <a:pt x="411005" y="421795"/>
                </a:lnTo>
                <a:lnTo>
                  <a:pt x="0" y="4217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0447" t="-144434" r="-490104" b="-139546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37500" y="713076"/>
            <a:ext cx="468982" cy="464718"/>
          </a:xfrm>
          <a:custGeom>
            <a:avLst/>
            <a:gdLst/>
            <a:ahLst/>
            <a:cxnLst/>
            <a:rect r="r" b="b" t="t" l="l"/>
            <a:pathLst>
              <a:path h="464718" w="468982">
                <a:moveTo>
                  <a:pt x="0" y="0"/>
                </a:moveTo>
                <a:lnTo>
                  <a:pt x="468982" y="0"/>
                </a:lnTo>
                <a:lnTo>
                  <a:pt x="468982" y="464719"/>
                </a:lnTo>
                <a:lnTo>
                  <a:pt x="0" y="4647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75929" y="1425041"/>
            <a:ext cx="5055122" cy="1190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54"/>
              </a:lnSpc>
            </a:pPr>
            <a:r>
              <a:rPr lang="en-US" b="true" sz="4793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The Sponsorship</a:t>
            </a:r>
          </a:p>
          <a:p>
            <a:pPr algn="just" marL="0" indent="0" lvl="0">
              <a:lnSpc>
                <a:spcPts val="4554"/>
              </a:lnSpc>
              <a:spcBef>
                <a:spcPct val="0"/>
              </a:spcBef>
            </a:pPr>
            <a:r>
              <a:rPr lang="en-US" b="true" sz="4793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Package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67221" y="2695315"/>
            <a:ext cx="6625558" cy="1464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79"/>
              </a:lnSpc>
            </a:pP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P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artnering with Not Into Finance x ICMSS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me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ns support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ing</a:t>
            </a:r>
            <a:r>
              <a:rPr lang="en-US" b="true" sz="1200">
                <a:solidFill>
                  <a:srgbClr val="E6E6E6"/>
                </a:solidFill>
                <a:latin typeface="DM Sans Bold"/>
                <a:ea typeface="DM Sans Bold"/>
                <a:cs typeface="DM Sans Bold"/>
                <a:sym typeface="DM Sans Bold"/>
              </a:rPr>
              <a:t> talent development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thr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ou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gh </a:t>
            </a:r>
            <a:r>
              <a:rPr lang="en-US" b="true" sz="1200">
                <a:solidFill>
                  <a:srgbClr val="E6E6E6"/>
                </a:solidFill>
                <a:latin typeface="DM Sans Bold"/>
                <a:ea typeface="DM Sans Bold"/>
                <a:cs typeface="DM Sans Bold"/>
                <a:sym typeface="DM Sans Bold"/>
              </a:rPr>
              <a:t>hands-on learning, guided mentorship, and exposure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 t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o r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al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 industry expec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tation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s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. Your contribution helps </a:t>
            </a:r>
            <a:r>
              <a:rPr lang="en-US" b="true" sz="1200">
                <a:solidFill>
                  <a:srgbClr val="E6E6E6"/>
                </a:solidFill>
                <a:latin typeface="DM Sans Bold"/>
                <a:ea typeface="DM Sans Bold"/>
                <a:cs typeface="DM Sans Bold"/>
                <a:sym typeface="DM Sans Bold"/>
              </a:rPr>
              <a:t>create an environment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 where young learners build practical skills and the confidence to apply them.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Our sponsorship options offer </a:t>
            </a:r>
            <a:r>
              <a:rPr lang="en-US" b="true" sz="1200">
                <a:solidFill>
                  <a:srgbClr val="E6E6E6"/>
                </a:solidFill>
                <a:latin typeface="DM Sans Bold"/>
                <a:ea typeface="DM Sans Bold"/>
                <a:cs typeface="DM Sans Bold"/>
                <a:sym typeface="DM Sans Bold"/>
              </a:rPr>
              <a:t>brand visibility, participant engagement, and long-term impact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. By joining us, your organization is recognized as </a:t>
            </a:r>
            <a:r>
              <a:rPr lang="en-US" b="true" sz="1200">
                <a:solidFill>
                  <a:srgbClr val="E6E6E6"/>
                </a:solidFill>
                <a:latin typeface="DM Sans Bold"/>
                <a:ea typeface="DM Sans Bold"/>
                <a:cs typeface="DM Sans Bold"/>
                <a:sym typeface="DM Sans Bold"/>
              </a:rPr>
              <a:t>a collaborative partner in shaping future talent</a:t>
            </a:r>
            <a:r>
              <a:rPr lang="en-US" sz="1200">
                <a:solidFill>
                  <a:srgbClr val="E6E6E6"/>
                </a:solidFill>
                <a:latin typeface="DM Sans"/>
                <a:ea typeface="DM Sans"/>
                <a:cs typeface="DM Sans"/>
                <a:sym typeface="DM Sans"/>
              </a:rPr>
              <a:t> and strengthening the connection between education and industry.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75929" y="9620786"/>
            <a:ext cx="6616849" cy="289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177"/>
              </a:lnSpc>
              <a:spcBef>
                <a:spcPct val="0"/>
              </a:spcBef>
            </a:pPr>
            <a:r>
              <a:rPr lang="en-US" sz="107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All spo</a:t>
            </a:r>
            <a:r>
              <a:rPr lang="en-US" sz="107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nsorship payments must be fully settled within </a:t>
            </a:r>
            <a:r>
              <a:rPr lang="en-US" b="true" sz="107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10 (ten) working days</a:t>
            </a:r>
            <a:r>
              <a:rPr lang="en-US" sz="107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after the confirmation of collaboration, unless otherwise agreed in writing.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75124" y="789276"/>
            <a:ext cx="230303" cy="388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2"/>
              </a:lnSpc>
            </a:pPr>
            <a:r>
              <a:rPr lang="en-US" b="true" sz="3101" spc="-254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x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83846" y="10420770"/>
            <a:ext cx="6592309" cy="163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2"/>
              </a:lnSpc>
              <a:spcBef>
                <a:spcPct val="0"/>
              </a:spcBef>
            </a:pPr>
            <a:r>
              <a:rPr lang="en-US" sz="95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Confidential &amp; Proprietary © 2026 Not Into Finance &amp; Indonesia Capital Market Student Studies</a:t>
            </a:r>
            <a:r>
              <a:rPr lang="en-US" sz="95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. All right</a:t>
            </a:r>
            <a:r>
              <a:rPr lang="en-US" sz="95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 reserved.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3458383">
            <a:off x="2663526" y="-5093846"/>
            <a:ext cx="7460742" cy="746074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908">
                    <a:alpha val="14000"/>
                  </a:srgbClr>
                </a:gs>
                <a:gs pos="100000">
                  <a:srgbClr val="001614">
                    <a:alpha val="0"/>
                  </a:srgbClr>
                </a:gs>
              </a:gsLst>
              <a:lin ang="5400000"/>
            </a:gradFill>
            <a:ln w="19050" cap="sq">
              <a:gradFill>
                <a:gsLst>
                  <a:gs pos="0">
                    <a:srgbClr val="00352F">
                      <a:alpha val="14000"/>
                    </a:srgbClr>
                  </a:gs>
                  <a:gs pos="100000">
                    <a:srgbClr val="000000">
                      <a:alpha val="14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3458383">
            <a:off x="-3235264" y="8119153"/>
            <a:ext cx="6628018" cy="6628018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1614">
                    <a:alpha val="0"/>
                  </a:srgbClr>
                </a:gs>
                <a:gs pos="100000">
                  <a:srgbClr val="000908">
                    <a:alpha val="14000"/>
                  </a:srgbClr>
                </a:gs>
              </a:gsLst>
              <a:lin ang="5400000"/>
            </a:gradFill>
            <a:ln w="19050" cap="sq">
              <a:gradFill>
                <a:gsLst>
                  <a:gs pos="0">
                    <a:srgbClr val="00352F">
                      <a:alpha val="14000"/>
                    </a:srgbClr>
                  </a:gs>
                  <a:gs pos="100000">
                    <a:srgbClr val="000000">
                      <a:alpha val="14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3458383">
            <a:off x="3603019" y="7374198"/>
            <a:ext cx="7460742" cy="7460742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908">
                    <a:alpha val="14000"/>
                  </a:srgbClr>
                </a:gs>
                <a:gs pos="100000">
                  <a:srgbClr val="001614">
                    <a:alpha val="0"/>
                  </a:srgbClr>
                </a:gs>
              </a:gsLst>
              <a:lin ang="5400000"/>
            </a:gradFill>
            <a:ln w="19050" cap="sq">
              <a:gradFill>
                <a:gsLst>
                  <a:gs pos="0">
                    <a:srgbClr val="00352F">
                      <a:alpha val="14000"/>
                    </a:srgbClr>
                  </a:gs>
                  <a:gs pos="100000">
                    <a:srgbClr val="000000">
                      <a:alpha val="14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51555" y="1811861"/>
            <a:ext cx="5656890" cy="609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54"/>
              </a:lnSpc>
              <a:spcBef>
                <a:spcPct val="0"/>
              </a:spcBef>
            </a:pPr>
            <a:r>
              <a:rPr lang="en-US" b="true" sz="4793">
                <a:gradFill>
                  <a:gsLst>
                    <a:gs pos="0">
                      <a:srgbClr val="003365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2700000"/>
                </a:gradFill>
                <a:latin typeface="DM Sans Bold"/>
                <a:ea typeface="DM Sans Bold"/>
                <a:cs typeface="DM Sans Bold"/>
                <a:sym typeface="DM Sans Bold"/>
              </a:rPr>
              <a:t>Logo Placement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4757693" y="2651902"/>
            <a:ext cx="1588891" cy="2247146"/>
            <a:chOff x="0" y="0"/>
            <a:chExt cx="5418667" cy="766354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418667" cy="7663543"/>
            </a:xfrm>
            <a:custGeom>
              <a:avLst/>
              <a:gdLst/>
              <a:ahLst/>
              <a:cxnLst/>
              <a:rect r="r" b="b" t="t" l="l"/>
              <a:pathLst>
                <a:path h="7663543" w="5418667">
                  <a:moveTo>
                    <a:pt x="48725" y="0"/>
                  </a:moveTo>
                  <a:lnTo>
                    <a:pt x="5369941" y="0"/>
                  </a:lnTo>
                  <a:cubicBezTo>
                    <a:pt x="5396852" y="0"/>
                    <a:pt x="5418667" y="21815"/>
                    <a:pt x="5418667" y="48725"/>
                  </a:cubicBezTo>
                  <a:lnTo>
                    <a:pt x="5418667" y="7614818"/>
                  </a:lnTo>
                  <a:cubicBezTo>
                    <a:pt x="5418667" y="7641728"/>
                    <a:pt x="5396852" y="7663543"/>
                    <a:pt x="5369941" y="7663543"/>
                  </a:cubicBezTo>
                  <a:lnTo>
                    <a:pt x="48725" y="7663543"/>
                  </a:lnTo>
                  <a:cubicBezTo>
                    <a:pt x="21815" y="7663543"/>
                    <a:pt x="0" y="7641728"/>
                    <a:pt x="0" y="7614818"/>
                  </a:cubicBezTo>
                  <a:lnTo>
                    <a:pt x="0" y="48725"/>
                  </a:lnTo>
                  <a:cubicBezTo>
                    <a:pt x="0" y="21815"/>
                    <a:pt x="21815" y="0"/>
                    <a:pt x="4872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3365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5418667" cy="7673068"/>
            </a:xfrm>
            <a:prstGeom prst="rect">
              <a:avLst/>
            </a:prstGeom>
          </p:spPr>
          <p:txBody>
            <a:bodyPr anchor="ctr" rtlCol="false" tIns="10481" lIns="10481" bIns="10481" rIns="10481"/>
            <a:lstStyle/>
            <a:p>
              <a:pPr algn="ctr">
                <a:lnSpc>
                  <a:spcPts val="524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5046756" y="3138834"/>
            <a:ext cx="1010765" cy="385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2"/>
              </a:lnSpc>
              <a:spcBef>
                <a:spcPct val="0"/>
              </a:spcBef>
            </a:pPr>
            <a:r>
              <a:rPr lang="en-US" b="true" sz="2568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898989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Poster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4846162" y="4429253"/>
            <a:ext cx="371673" cy="371673"/>
            <a:chOff x="0" y="0"/>
            <a:chExt cx="253655" cy="25365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53655" cy="253655"/>
            </a:xfrm>
            <a:custGeom>
              <a:avLst/>
              <a:gdLst/>
              <a:ahLst/>
              <a:cxnLst/>
              <a:rect r="r" b="b" t="t" l="l"/>
              <a:pathLst>
                <a:path h="253655" w="253655">
                  <a:moveTo>
                    <a:pt x="126828" y="0"/>
                  </a:moveTo>
                  <a:lnTo>
                    <a:pt x="126828" y="0"/>
                  </a:lnTo>
                  <a:cubicBezTo>
                    <a:pt x="196872" y="0"/>
                    <a:pt x="253655" y="56783"/>
                    <a:pt x="253655" y="126828"/>
                  </a:cubicBezTo>
                  <a:lnTo>
                    <a:pt x="253655" y="126828"/>
                  </a:lnTo>
                  <a:cubicBezTo>
                    <a:pt x="253655" y="160464"/>
                    <a:pt x="240293" y="192723"/>
                    <a:pt x="216508" y="216508"/>
                  </a:cubicBezTo>
                  <a:cubicBezTo>
                    <a:pt x="192723" y="240293"/>
                    <a:pt x="160464" y="253655"/>
                    <a:pt x="126828" y="253655"/>
                  </a:cubicBezTo>
                  <a:lnTo>
                    <a:pt x="126828" y="253655"/>
                  </a:lnTo>
                  <a:cubicBezTo>
                    <a:pt x="93191" y="253655"/>
                    <a:pt x="60932" y="240293"/>
                    <a:pt x="37147" y="216508"/>
                  </a:cubicBezTo>
                  <a:cubicBezTo>
                    <a:pt x="13362" y="192723"/>
                    <a:pt x="0" y="160464"/>
                    <a:pt x="0" y="126828"/>
                  </a:cubicBezTo>
                  <a:lnTo>
                    <a:pt x="0" y="126828"/>
                  </a:lnTo>
                  <a:cubicBezTo>
                    <a:pt x="0" y="93191"/>
                    <a:pt x="13362" y="60932"/>
                    <a:pt x="37147" y="37147"/>
                  </a:cubicBezTo>
                  <a:cubicBezTo>
                    <a:pt x="60932" y="13362"/>
                    <a:pt x="93191" y="0"/>
                    <a:pt x="12682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898989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253655" cy="263180"/>
            </a:xfrm>
            <a:prstGeom prst="rect">
              <a:avLst/>
            </a:prstGeom>
          </p:spPr>
          <p:txBody>
            <a:bodyPr anchor="ctr" rtlCol="false" tIns="19604" lIns="19604" bIns="19604" rIns="19604"/>
            <a:lstStyle/>
            <a:p>
              <a:pPr algn="ctr">
                <a:lnSpc>
                  <a:spcPts val="136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253840" y="4517427"/>
            <a:ext cx="283499" cy="283499"/>
            <a:chOff x="0" y="0"/>
            <a:chExt cx="193479" cy="19347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3479" cy="193479"/>
            </a:xfrm>
            <a:custGeom>
              <a:avLst/>
              <a:gdLst/>
              <a:ahLst/>
              <a:cxnLst/>
              <a:rect r="r" b="b" t="t" l="l"/>
              <a:pathLst>
                <a:path h="193479" w="193479">
                  <a:moveTo>
                    <a:pt x="96739" y="0"/>
                  </a:moveTo>
                  <a:lnTo>
                    <a:pt x="96739" y="0"/>
                  </a:lnTo>
                  <a:cubicBezTo>
                    <a:pt x="122396" y="0"/>
                    <a:pt x="147002" y="10192"/>
                    <a:pt x="165144" y="28334"/>
                  </a:cubicBezTo>
                  <a:cubicBezTo>
                    <a:pt x="183287" y="46476"/>
                    <a:pt x="193479" y="71083"/>
                    <a:pt x="193479" y="96739"/>
                  </a:cubicBezTo>
                  <a:lnTo>
                    <a:pt x="193479" y="96739"/>
                  </a:lnTo>
                  <a:cubicBezTo>
                    <a:pt x="193479" y="122396"/>
                    <a:pt x="183287" y="147002"/>
                    <a:pt x="165144" y="165144"/>
                  </a:cubicBezTo>
                  <a:cubicBezTo>
                    <a:pt x="147002" y="183287"/>
                    <a:pt x="122396" y="193479"/>
                    <a:pt x="96739" y="193479"/>
                  </a:cubicBezTo>
                  <a:lnTo>
                    <a:pt x="96739" y="193479"/>
                  </a:lnTo>
                  <a:cubicBezTo>
                    <a:pt x="71083" y="193479"/>
                    <a:pt x="46476" y="183287"/>
                    <a:pt x="28334" y="165144"/>
                  </a:cubicBezTo>
                  <a:cubicBezTo>
                    <a:pt x="10192" y="147002"/>
                    <a:pt x="0" y="122396"/>
                    <a:pt x="0" y="96739"/>
                  </a:cubicBezTo>
                  <a:lnTo>
                    <a:pt x="0" y="96739"/>
                  </a:lnTo>
                  <a:cubicBezTo>
                    <a:pt x="0" y="71083"/>
                    <a:pt x="10192" y="46476"/>
                    <a:pt x="28334" y="28334"/>
                  </a:cubicBezTo>
                  <a:cubicBezTo>
                    <a:pt x="46476" y="10192"/>
                    <a:pt x="71083" y="0"/>
                    <a:pt x="9673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898989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193479" cy="203004"/>
            </a:xfrm>
            <a:prstGeom prst="rect">
              <a:avLst/>
            </a:prstGeom>
          </p:spPr>
          <p:txBody>
            <a:bodyPr anchor="ctr" rtlCol="false" tIns="19604" lIns="19604" bIns="19604" rIns="19604"/>
            <a:lstStyle/>
            <a:p>
              <a:pPr algn="ctr">
                <a:lnSpc>
                  <a:spcPts val="136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574097" y="4588350"/>
            <a:ext cx="212576" cy="212576"/>
            <a:chOff x="0" y="0"/>
            <a:chExt cx="145076" cy="14507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5076" cy="145076"/>
            </a:xfrm>
            <a:custGeom>
              <a:avLst/>
              <a:gdLst/>
              <a:ahLst/>
              <a:cxnLst/>
              <a:rect r="r" b="b" t="t" l="l"/>
              <a:pathLst>
                <a:path h="145076" w="145076">
                  <a:moveTo>
                    <a:pt x="72538" y="0"/>
                  </a:moveTo>
                  <a:lnTo>
                    <a:pt x="72538" y="0"/>
                  </a:lnTo>
                  <a:cubicBezTo>
                    <a:pt x="112600" y="0"/>
                    <a:pt x="145076" y="32476"/>
                    <a:pt x="145076" y="72538"/>
                  </a:cubicBezTo>
                  <a:lnTo>
                    <a:pt x="145076" y="72538"/>
                  </a:lnTo>
                  <a:cubicBezTo>
                    <a:pt x="145076" y="91776"/>
                    <a:pt x="137434" y="110227"/>
                    <a:pt x="123830" y="123830"/>
                  </a:cubicBezTo>
                  <a:cubicBezTo>
                    <a:pt x="110227" y="137434"/>
                    <a:pt x="91776" y="145076"/>
                    <a:pt x="72538" y="145076"/>
                  </a:cubicBezTo>
                  <a:lnTo>
                    <a:pt x="72538" y="145076"/>
                  </a:lnTo>
                  <a:cubicBezTo>
                    <a:pt x="53300" y="145076"/>
                    <a:pt x="34849" y="137434"/>
                    <a:pt x="21246" y="123830"/>
                  </a:cubicBezTo>
                  <a:cubicBezTo>
                    <a:pt x="7642" y="110227"/>
                    <a:pt x="0" y="91776"/>
                    <a:pt x="0" y="72538"/>
                  </a:cubicBezTo>
                  <a:lnTo>
                    <a:pt x="0" y="72538"/>
                  </a:lnTo>
                  <a:cubicBezTo>
                    <a:pt x="0" y="53300"/>
                    <a:pt x="7642" y="34849"/>
                    <a:pt x="21246" y="21246"/>
                  </a:cubicBezTo>
                  <a:cubicBezTo>
                    <a:pt x="34849" y="7642"/>
                    <a:pt x="53300" y="0"/>
                    <a:pt x="725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898989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145076" cy="154601"/>
            </a:xfrm>
            <a:prstGeom prst="rect">
              <a:avLst/>
            </a:prstGeom>
          </p:spPr>
          <p:txBody>
            <a:bodyPr anchor="ctr" rtlCol="false" tIns="19604" lIns="19604" bIns="19604" rIns="19604"/>
            <a:lstStyle/>
            <a:p>
              <a:pPr algn="ctr">
                <a:lnSpc>
                  <a:spcPts val="136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4910710" y="4461467"/>
            <a:ext cx="242577" cy="275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9"/>
              </a:lnSpc>
              <a:spcBef>
                <a:spcPct val="0"/>
              </a:spcBef>
            </a:pPr>
            <a:r>
              <a:rPr lang="en-US" b="true" sz="1578">
                <a:gradFill>
                  <a:gsLst>
                    <a:gs pos="0">
                      <a:srgbClr val="6B6B6B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XL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344325" y="4514961"/>
            <a:ext cx="107590" cy="259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2"/>
              </a:lnSpc>
              <a:spcBef>
                <a:spcPct val="0"/>
              </a:spcBef>
            </a:pPr>
            <a:r>
              <a:rPr lang="en-US" b="true" sz="1537">
                <a:gradFill>
                  <a:gsLst>
                    <a:gs pos="0">
                      <a:srgbClr val="6B6B6B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L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624046" y="4589702"/>
            <a:ext cx="112677" cy="181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6"/>
              </a:lnSpc>
              <a:spcBef>
                <a:spcPct val="0"/>
              </a:spcBef>
            </a:pPr>
            <a:r>
              <a:rPr lang="en-US" b="true" sz="1004">
                <a:gradFill>
                  <a:gsLst>
                    <a:gs pos="0">
                      <a:srgbClr val="6B6B6B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M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213416" y="6541813"/>
            <a:ext cx="5133168" cy="3629513"/>
            <a:chOff x="0" y="0"/>
            <a:chExt cx="10838439" cy="766354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838439" cy="7663543"/>
            </a:xfrm>
            <a:custGeom>
              <a:avLst/>
              <a:gdLst/>
              <a:ahLst/>
              <a:cxnLst/>
              <a:rect r="r" b="b" t="t" l="l"/>
              <a:pathLst>
                <a:path h="7663543" w="10838439">
                  <a:moveTo>
                    <a:pt x="15082" y="0"/>
                  </a:moveTo>
                  <a:lnTo>
                    <a:pt x="10823357" y="0"/>
                  </a:lnTo>
                  <a:cubicBezTo>
                    <a:pt x="10827357" y="0"/>
                    <a:pt x="10831193" y="1589"/>
                    <a:pt x="10834022" y="4417"/>
                  </a:cubicBezTo>
                  <a:cubicBezTo>
                    <a:pt x="10836850" y="7246"/>
                    <a:pt x="10838439" y="11082"/>
                    <a:pt x="10838439" y="15082"/>
                  </a:cubicBezTo>
                  <a:lnTo>
                    <a:pt x="10838439" y="7648461"/>
                  </a:lnTo>
                  <a:cubicBezTo>
                    <a:pt x="10838439" y="7656791"/>
                    <a:pt x="10831687" y="7663543"/>
                    <a:pt x="10823357" y="7663543"/>
                  </a:cubicBezTo>
                  <a:lnTo>
                    <a:pt x="15082" y="7663543"/>
                  </a:lnTo>
                  <a:cubicBezTo>
                    <a:pt x="6753" y="7663543"/>
                    <a:pt x="0" y="7656791"/>
                    <a:pt x="0" y="7648461"/>
                  </a:cubicBezTo>
                  <a:lnTo>
                    <a:pt x="0" y="15082"/>
                  </a:lnTo>
                  <a:cubicBezTo>
                    <a:pt x="0" y="6753"/>
                    <a:pt x="6753" y="0"/>
                    <a:pt x="1508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3365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10838439" cy="7673068"/>
            </a:xfrm>
            <a:prstGeom prst="rect">
              <a:avLst/>
            </a:prstGeom>
          </p:spPr>
          <p:txBody>
            <a:bodyPr anchor="ctr" rtlCol="false" tIns="16929" lIns="16929" bIns="16929" rIns="16929"/>
            <a:lstStyle/>
            <a:p>
              <a:pPr algn="ctr">
                <a:lnSpc>
                  <a:spcPts val="385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908649" y="7249109"/>
            <a:ext cx="3742702" cy="838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74"/>
              </a:lnSpc>
              <a:spcBef>
                <a:spcPct val="0"/>
              </a:spcBef>
            </a:pPr>
            <a:r>
              <a:rPr lang="en-US" b="true" sz="5645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898989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Certificate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397353" y="9138820"/>
            <a:ext cx="816855" cy="816855"/>
            <a:chOff x="0" y="0"/>
            <a:chExt cx="253655" cy="25365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53655" cy="253655"/>
            </a:xfrm>
            <a:custGeom>
              <a:avLst/>
              <a:gdLst/>
              <a:ahLst/>
              <a:cxnLst/>
              <a:rect r="r" b="b" t="t" l="l"/>
              <a:pathLst>
                <a:path h="253655" w="253655">
                  <a:moveTo>
                    <a:pt x="94777" y="0"/>
                  </a:moveTo>
                  <a:lnTo>
                    <a:pt x="158878" y="0"/>
                  </a:lnTo>
                  <a:cubicBezTo>
                    <a:pt x="184014" y="0"/>
                    <a:pt x="208121" y="9985"/>
                    <a:pt x="225896" y="27760"/>
                  </a:cubicBezTo>
                  <a:cubicBezTo>
                    <a:pt x="243670" y="45534"/>
                    <a:pt x="253655" y="69641"/>
                    <a:pt x="253655" y="94777"/>
                  </a:cubicBezTo>
                  <a:lnTo>
                    <a:pt x="253655" y="158878"/>
                  </a:lnTo>
                  <a:cubicBezTo>
                    <a:pt x="253655" y="184014"/>
                    <a:pt x="243670" y="208121"/>
                    <a:pt x="225896" y="225896"/>
                  </a:cubicBezTo>
                  <a:cubicBezTo>
                    <a:pt x="208121" y="243670"/>
                    <a:pt x="184014" y="253655"/>
                    <a:pt x="158878" y="253655"/>
                  </a:cubicBezTo>
                  <a:lnTo>
                    <a:pt x="94777" y="253655"/>
                  </a:lnTo>
                  <a:cubicBezTo>
                    <a:pt x="69641" y="253655"/>
                    <a:pt x="45534" y="243670"/>
                    <a:pt x="27760" y="225896"/>
                  </a:cubicBezTo>
                  <a:cubicBezTo>
                    <a:pt x="9985" y="208121"/>
                    <a:pt x="0" y="184014"/>
                    <a:pt x="0" y="158878"/>
                  </a:cubicBezTo>
                  <a:lnTo>
                    <a:pt x="0" y="94777"/>
                  </a:lnTo>
                  <a:cubicBezTo>
                    <a:pt x="0" y="69641"/>
                    <a:pt x="9985" y="45534"/>
                    <a:pt x="27760" y="27760"/>
                  </a:cubicBezTo>
                  <a:cubicBezTo>
                    <a:pt x="45534" y="9985"/>
                    <a:pt x="69641" y="0"/>
                    <a:pt x="9477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898989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253655" cy="263180"/>
            </a:xfrm>
            <a:prstGeom prst="rect">
              <a:avLst/>
            </a:prstGeom>
          </p:spPr>
          <p:txBody>
            <a:bodyPr anchor="ctr" rtlCol="false" tIns="43086" lIns="43086" bIns="43086" rIns="43086"/>
            <a:lstStyle/>
            <a:p>
              <a:pPr algn="ctr">
                <a:lnSpc>
                  <a:spcPts val="136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2293339" y="9332608"/>
            <a:ext cx="623067" cy="623067"/>
            <a:chOff x="0" y="0"/>
            <a:chExt cx="193479" cy="19347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93479" cy="193479"/>
            </a:xfrm>
            <a:custGeom>
              <a:avLst/>
              <a:gdLst/>
              <a:ahLst/>
              <a:cxnLst/>
              <a:rect r="r" b="b" t="t" l="l"/>
              <a:pathLst>
                <a:path h="193479" w="193479">
                  <a:moveTo>
                    <a:pt x="96739" y="0"/>
                  </a:moveTo>
                  <a:lnTo>
                    <a:pt x="96739" y="0"/>
                  </a:lnTo>
                  <a:cubicBezTo>
                    <a:pt x="122396" y="0"/>
                    <a:pt x="147002" y="10192"/>
                    <a:pt x="165144" y="28334"/>
                  </a:cubicBezTo>
                  <a:cubicBezTo>
                    <a:pt x="183287" y="46476"/>
                    <a:pt x="193479" y="71083"/>
                    <a:pt x="193479" y="96739"/>
                  </a:cubicBezTo>
                  <a:lnTo>
                    <a:pt x="193479" y="96739"/>
                  </a:lnTo>
                  <a:cubicBezTo>
                    <a:pt x="193479" y="122396"/>
                    <a:pt x="183287" y="147002"/>
                    <a:pt x="165144" y="165144"/>
                  </a:cubicBezTo>
                  <a:cubicBezTo>
                    <a:pt x="147002" y="183287"/>
                    <a:pt x="122396" y="193479"/>
                    <a:pt x="96739" y="193479"/>
                  </a:cubicBezTo>
                  <a:lnTo>
                    <a:pt x="96739" y="193479"/>
                  </a:lnTo>
                  <a:cubicBezTo>
                    <a:pt x="71083" y="193479"/>
                    <a:pt x="46476" y="183287"/>
                    <a:pt x="28334" y="165144"/>
                  </a:cubicBezTo>
                  <a:cubicBezTo>
                    <a:pt x="10192" y="147002"/>
                    <a:pt x="0" y="122396"/>
                    <a:pt x="0" y="96739"/>
                  </a:cubicBezTo>
                  <a:lnTo>
                    <a:pt x="0" y="96739"/>
                  </a:lnTo>
                  <a:cubicBezTo>
                    <a:pt x="0" y="71083"/>
                    <a:pt x="10192" y="46476"/>
                    <a:pt x="28334" y="28334"/>
                  </a:cubicBezTo>
                  <a:cubicBezTo>
                    <a:pt x="46476" y="10192"/>
                    <a:pt x="71083" y="0"/>
                    <a:pt x="9673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898989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193479" cy="203004"/>
            </a:xfrm>
            <a:prstGeom prst="rect">
              <a:avLst/>
            </a:prstGeom>
          </p:spPr>
          <p:txBody>
            <a:bodyPr anchor="ctr" rtlCol="false" tIns="43086" lIns="43086" bIns="43086" rIns="43086"/>
            <a:lstStyle/>
            <a:p>
              <a:pPr algn="ctr">
                <a:lnSpc>
                  <a:spcPts val="136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2997193" y="9488481"/>
            <a:ext cx="467194" cy="467194"/>
            <a:chOff x="0" y="0"/>
            <a:chExt cx="145076" cy="14507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45076" cy="145076"/>
            </a:xfrm>
            <a:custGeom>
              <a:avLst/>
              <a:gdLst/>
              <a:ahLst/>
              <a:cxnLst/>
              <a:rect r="r" b="b" t="t" l="l"/>
              <a:pathLst>
                <a:path h="145076" w="145076">
                  <a:moveTo>
                    <a:pt x="72538" y="0"/>
                  </a:moveTo>
                  <a:lnTo>
                    <a:pt x="72538" y="0"/>
                  </a:lnTo>
                  <a:cubicBezTo>
                    <a:pt x="112600" y="0"/>
                    <a:pt x="145076" y="32476"/>
                    <a:pt x="145076" y="72538"/>
                  </a:cubicBezTo>
                  <a:lnTo>
                    <a:pt x="145076" y="72538"/>
                  </a:lnTo>
                  <a:cubicBezTo>
                    <a:pt x="145076" y="91776"/>
                    <a:pt x="137434" y="110227"/>
                    <a:pt x="123830" y="123830"/>
                  </a:cubicBezTo>
                  <a:cubicBezTo>
                    <a:pt x="110227" y="137434"/>
                    <a:pt x="91776" y="145076"/>
                    <a:pt x="72538" y="145076"/>
                  </a:cubicBezTo>
                  <a:lnTo>
                    <a:pt x="72538" y="145076"/>
                  </a:lnTo>
                  <a:cubicBezTo>
                    <a:pt x="53300" y="145076"/>
                    <a:pt x="34849" y="137434"/>
                    <a:pt x="21246" y="123830"/>
                  </a:cubicBezTo>
                  <a:cubicBezTo>
                    <a:pt x="7642" y="110227"/>
                    <a:pt x="0" y="91776"/>
                    <a:pt x="0" y="72538"/>
                  </a:cubicBezTo>
                  <a:lnTo>
                    <a:pt x="0" y="72538"/>
                  </a:lnTo>
                  <a:cubicBezTo>
                    <a:pt x="0" y="53300"/>
                    <a:pt x="7642" y="34849"/>
                    <a:pt x="21246" y="21246"/>
                  </a:cubicBezTo>
                  <a:cubicBezTo>
                    <a:pt x="34849" y="7642"/>
                    <a:pt x="53300" y="0"/>
                    <a:pt x="725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898989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145076" cy="154601"/>
            </a:xfrm>
            <a:prstGeom prst="rect">
              <a:avLst/>
            </a:prstGeom>
          </p:spPr>
          <p:txBody>
            <a:bodyPr anchor="ctr" rtlCol="false" tIns="43086" lIns="43086" bIns="43086" rIns="43086"/>
            <a:lstStyle/>
            <a:p>
              <a:pPr algn="ctr">
                <a:lnSpc>
                  <a:spcPts val="1369"/>
                </a:lnSpc>
              </a:pP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1539216" y="9226680"/>
            <a:ext cx="533130" cy="588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56"/>
              </a:lnSpc>
              <a:spcBef>
                <a:spcPct val="0"/>
              </a:spcBef>
            </a:pPr>
            <a:r>
              <a:rPr lang="en-US" b="true" sz="3468">
                <a:gradFill>
                  <a:gsLst>
                    <a:gs pos="0">
                      <a:srgbClr val="6B6B6B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XL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2492206" y="9323315"/>
            <a:ext cx="236460" cy="574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30"/>
              </a:lnSpc>
              <a:spcBef>
                <a:spcPct val="0"/>
              </a:spcBef>
            </a:pPr>
            <a:r>
              <a:rPr lang="en-US" b="true" sz="3379">
                <a:gradFill>
                  <a:gsLst>
                    <a:gs pos="0">
                      <a:srgbClr val="6B6B6B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L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3106971" y="9506629"/>
            <a:ext cx="247639" cy="383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1"/>
              </a:lnSpc>
              <a:spcBef>
                <a:spcPct val="0"/>
              </a:spcBef>
            </a:pPr>
            <a:r>
              <a:rPr lang="en-US" b="true" sz="2208">
                <a:gradFill>
                  <a:gsLst>
                    <a:gs pos="0">
                      <a:srgbClr val="6B6B6B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M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3797683" y="5009014"/>
            <a:ext cx="2548901" cy="1420359"/>
            <a:chOff x="0" y="0"/>
            <a:chExt cx="11108664" cy="619023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1108664" cy="6190231"/>
            </a:xfrm>
            <a:custGeom>
              <a:avLst/>
              <a:gdLst/>
              <a:ahLst/>
              <a:cxnLst/>
              <a:rect r="r" b="b" t="t" l="l"/>
              <a:pathLst>
                <a:path h="6190231" w="11108664">
                  <a:moveTo>
                    <a:pt x="30374" y="0"/>
                  </a:moveTo>
                  <a:lnTo>
                    <a:pt x="11078290" y="0"/>
                  </a:lnTo>
                  <a:cubicBezTo>
                    <a:pt x="11095065" y="0"/>
                    <a:pt x="11108664" y="13599"/>
                    <a:pt x="11108664" y="30374"/>
                  </a:cubicBezTo>
                  <a:lnTo>
                    <a:pt x="11108664" y="6159858"/>
                  </a:lnTo>
                  <a:cubicBezTo>
                    <a:pt x="11108664" y="6176633"/>
                    <a:pt x="11095065" y="6190231"/>
                    <a:pt x="11078290" y="6190231"/>
                  </a:cubicBezTo>
                  <a:lnTo>
                    <a:pt x="30374" y="6190231"/>
                  </a:lnTo>
                  <a:cubicBezTo>
                    <a:pt x="22318" y="6190231"/>
                    <a:pt x="14592" y="6187031"/>
                    <a:pt x="8896" y="6181335"/>
                  </a:cubicBezTo>
                  <a:cubicBezTo>
                    <a:pt x="3200" y="6175639"/>
                    <a:pt x="0" y="6167913"/>
                    <a:pt x="0" y="6159858"/>
                  </a:cubicBezTo>
                  <a:lnTo>
                    <a:pt x="0" y="30374"/>
                  </a:lnTo>
                  <a:cubicBezTo>
                    <a:pt x="0" y="22318"/>
                    <a:pt x="3200" y="14592"/>
                    <a:pt x="8896" y="8896"/>
                  </a:cubicBezTo>
                  <a:cubicBezTo>
                    <a:pt x="14592" y="3200"/>
                    <a:pt x="22318" y="0"/>
                    <a:pt x="3037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3365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11108664" cy="6199757"/>
            </a:xfrm>
            <a:prstGeom prst="rect">
              <a:avLst/>
            </a:prstGeom>
          </p:spPr>
          <p:txBody>
            <a:bodyPr anchor="ctr" rtlCol="false" tIns="8201" lIns="8201" bIns="8201" rIns="8201"/>
            <a:lstStyle/>
            <a:p>
              <a:pPr algn="ctr">
                <a:lnSpc>
                  <a:spcPts val="385"/>
                </a:lnSpc>
              </a:pP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4408441" y="5317873"/>
            <a:ext cx="1327386" cy="401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2"/>
              </a:lnSpc>
              <a:spcBef>
                <a:spcPct val="0"/>
              </a:spcBef>
            </a:pPr>
            <a:r>
              <a:rPr lang="en-US" b="true" sz="2735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898989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Bumper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3902984" y="5929148"/>
            <a:ext cx="395747" cy="395747"/>
            <a:chOff x="0" y="0"/>
            <a:chExt cx="253655" cy="253655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53655" cy="253655"/>
            </a:xfrm>
            <a:custGeom>
              <a:avLst/>
              <a:gdLst/>
              <a:ahLst/>
              <a:cxnLst/>
              <a:rect r="r" b="b" t="t" l="l"/>
              <a:pathLst>
                <a:path h="253655" w="253655">
                  <a:moveTo>
                    <a:pt x="126828" y="0"/>
                  </a:moveTo>
                  <a:lnTo>
                    <a:pt x="126828" y="0"/>
                  </a:lnTo>
                  <a:cubicBezTo>
                    <a:pt x="196872" y="0"/>
                    <a:pt x="253655" y="56783"/>
                    <a:pt x="253655" y="126828"/>
                  </a:cubicBezTo>
                  <a:lnTo>
                    <a:pt x="253655" y="126828"/>
                  </a:lnTo>
                  <a:cubicBezTo>
                    <a:pt x="253655" y="160464"/>
                    <a:pt x="240293" y="192723"/>
                    <a:pt x="216508" y="216508"/>
                  </a:cubicBezTo>
                  <a:cubicBezTo>
                    <a:pt x="192723" y="240293"/>
                    <a:pt x="160464" y="253655"/>
                    <a:pt x="126828" y="253655"/>
                  </a:cubicBezTo>
                  <a:lnTo>
                    <a:pt x="126828" y="253655"/>
                  </a:lnTo>
                  <a:cubicBezTo>
                    <a:pt x="93191" y="253655"/>
                    <a:pt x="60932" y="240293"/>
                    <a:pt x="37147" y="216508"/>
                  </a:cubicBezTo>
                  <a:cubicBezTo>
                    <a:pt x="13362" y="192723"/>
                    <a:pt x="0" y="160464"/>
                    <a:pt x="0" y="126828"/>
                  </a:cubicBezTo>
                  <a:lnTo>
                    <a:pt x="0" y="126828"/>
                  </a:lnTo>
                  <a:cubicBezTo>
                    <a:pt x="0" y="93191"/>
                    <a:pt x="13362" y="60932"/>
                    <a:pt x="37147" y="37147"/>
                  </a:cubicBezTo>
                  <a:cubicBezTo>
                    <a:pt x="60932" y="13362"/>
                    <a:pt x="93191" y="0"/>
                    <a:pt x="12682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898989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9525"/>
              <a:ext cx="253655" cy="263180"/>
            </a:xfrm>
            <a:prstGeom prst="rect">
              <a:avLst/>
            </a:prstGeom>
          </p:spPr>
          <p:txBody>
            <a:bodyPr anchor="ctr" rtlCol="false" tIns="20874" lIns="20874" bIns="20874" rIns="20874"/>
            <a:lstStyle/>
            <a:p>
              <a:pPr algn="ctr">
                <a:lnSpc>
                  <a:spcPts val="1369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4337068" y="6023034"/>
            <a:ext cx="301861" cy="301861"/>
            <a:chOff x="0" y="0"/>
            <a:chExt cx="193479" cy="193479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93479" cy="193479"/>
            </a:xfrm>
            <a:custGeom>
              <a:avLst/>
              <a:gdLst/>
              <a:ahLst/>
              <a:cxnLst/>
              <a:rect r="r" b="b" t="t" l="l"/>
              <a:pathLst>
                <a:path h="193479" w="193479">
                  <a:moveTo>
                    <a:pt x="96739" y="0"/>
                  </a:moveTo>
                  <a:lnTo>
                    <a:pt x="96739" y="0"/>
                  </a:lnTo>
                  <a:cubicBezTo>
                    <a:pt x="122396" y="0"/>
                    <a:pt x="147002" y="10192"/>
                    <a:pt x="165144" y="28334"/>
                  </a:cubicBezTo>
                  <a:cubicBezTo>
                    <a:pt x="183287" y="46476"/>
                    <a:pt x="193479" y="71083"/>
                    <a:pt x="193479" y="96739"/>
                  </a:cubicBezTo>
                  <a:lnTo>
                    <a:pt x="193479" y="96739"/>
                  </a:lnTo>
                  <a:cubicBezTo>
                    <a:pt x="193479" y="122396"/>
                    <a:pt x="183287" y="147002"/>
                    <a:pt x="165144" y="165144"/>
                  </a:cubicBezTo>
                  <a:cubicBezTo>
                    <a:pt x="147002" y="183287"/>
                    <a:pt x="122396" y="193479"/>
                    <a:pt x="96739" y="193479"/>
                  </a:cubicBezTo>
                  <a:lnTo>
                    <a:pt x="96739" y="193479"/>
                  </a:lnTo>
                  <a:cubicBezTo>
                    <a:pt x="71083" y="193479"/>
                    <a:pt x="46476" y="183287"/>
                    <a:pt x="28334" y="165144"/>
                  </a:cubicBezTo>
                  <a:cubicBezTo>
                    <a:pt x="10192" y="147002"/>
                    <a:pt x="0" y="122396"/>
                    <a:pt x="0" y="96739"/>
                  </a:cubicBezTo>
                  <a:lnTo>
                    <a:pt x="0" y="96739"/>
                  </a:lnTo>
                  <a:cubicBezTo>
                    <a:pt x="0" y="71083"/>
                    <a:pt x="10192" y="46476"/>
                    <a:pt x="28334" y="28334"/>
                  </a:cubicBezTo>
                  <a:cubicBezTo>
                    <a:pt x="46476" y="10192"/>
                    <a:pt x="71083" y="0"/>
                    <a:pt x="9673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898989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9525"/>
              <a:ext cx="193479" cy="203004"/>
            </a:xfrm>
            <a:prstGeom prst="rect">
              <a:avLst/>
            </a:prstGeom>
          </p:spPr>
          <p:txBody>
            <a:bodyPr anchor="ctr" rtlCol="false" tIns="20874" lIns="20874" bIns="20874" rIns="20874"/>
            <a:lstStyle/>
            <a:p>
              <a:pPr algn="ctr">
                <a:lnSpc>
                  <a:spcPts val="1369"/>
                </a:lnSpc>
              </a:pP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4678068" y="6098551"/>
            <a:ext cx="226344" cy="226344"/>
            <a:chOff x="0" y="0"/>
            <a:chExt cx="145076" cy="14507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45076" cy="145076"/>
            </a:xfrm>
            <a:custGeom>
              <a:avLst/>
              <a:gdLst/>
              <a:ahLst/>
              <a:cxnLst/>
              <a:rect r="r" b="b" t="t" l="l"/>
              <a:pathLst>
                <a:path h="145076" w="145076">
                  <a:moveTo>
                    <a:pt x="72538" y="0"/>
                  </a:moveTo>
                  <a:lnTo>
                    <a:pt x="72538" y="0"/>
                  </a:lnTo>
                  <a:cubicBezTo>
                    <a:pt x="112600" y="0"/>
                    <a:pt x="145076" y="32476"/>
                    <a:pt x="145076" y="72538"/>
                  </a:cubicBezTo>
                  <a:lnTo>
                    <a:pt x="145076" y="72538"/>
                  </a:lnTo>
                  <a:cubicBezTo>
                    <a:pt x="145076" y="91776"/>
                    <a:pt x="137434" y="110227"/>
                    <a:pt x="123830" y="123830"/>
                  </a:cubicBezTo>
                  <a:cubicBezTo>
                    <a:pt x="110227" y="137434"/>
                    <a:pt x="91776" y="145076"/>
                    <a:pt x="72538" y="145076"/>
                  </a:cubicBezTo>
                  <a:lnTo>
                    <a:pt x="72538" y="145076"/>
                  </a:lnTo>
                  <a:cubicBezTo>
                    <a:pt x="53300" y="145076"/>
                    <a:pt x="34849" y="137434"/>
                    <a:pt x="21246" y="123830"/>
                  </a:cubicBezTo>
                  <a:cubicBezTo>
                    <a:pt x="7642" y="110227"/>
                    <a:pt x="0" y="91776"/>
                    <a:pt x="0" y="72538"/>
                  </a:cubicBezTo>
                  <a:lnTo>
                    <a:pt x="0" y="72538"/>
                  </a:lnTo>
                  <a:cubicBezTo>
                    <a:pt x="0" y="53300"/>
                    <a:pt x="7642" y="34849"/>
                    <a:pt x="21246" y="21246"/>
                  </a:cubicBezTo>
                  <a:cubicBezTo>
                    <a:pt x="34849" y="7642"/>
                    <a:pt x="53300" y="0"/>
                    <a:pt x="725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898989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9525"/>
              <a:ext cx="145076" cy="154601"/>
            </a:xfrm>
            <a:prstGeom prst="rect">
              <a:avLst/>
            </a:prstGeom>
          </p:spPr>
          <p:txBody>
            <a:bodyPr anchor="ctr" rtlCol="false" tIns="20874" lIns="20874" bIns="20874" rIns="20874"/>
            <a:lstStyle/>
            <a:p>
              <a:pPr algn="ctr">
                <a:lnSpc>
                  <a:spcPts val="1369"/>
                </a:lnSpc>
              </a:pP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3971713" y="5975442"/>
            <a:ext cx="258289" cy="281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2"/>
              </a:lnSpc>
              <a:spcBef>
                <a:spcPct val="0"/>
              </a:spcBef>
            </a:pPr>
            <a:r>
              <a:rPr lang="en-US" b="true" sz="1680">
                <a:gradFill>
                  <a:gsLst>
                    <a:gs pos="0">
                      <a:srgbClr val="6B6B6B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XL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4433414" y="6031784"/>
            <a:ext cx="114559" cy="265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1"/>
              </a:lnSpc>
              <a:spcBef>
                <a:spcPct val="0"/>
              </a:spcBef>
            </a:pPr>
            <a:r>
              <a:rPr lang="en-US" b="true" sz="1637">
                <a:gradFill>
                  <a:gsLst>
                    <a:gs pos="0">
                      <a:srgbClr val="6B6B6B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L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4731253" y="6111366"/>
            <a:ext cx="119975" cy="181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97"/>
              </a:lnSpc>
              <a:spcBef>
                <a:spcPct val="0"/>
              </a:spcBef>
            </a:pPr>
            <a:r>
              <a:rPr lang="en-US" b="true" sz="1069">
                <a:gradFill>
                  <a:gsLst>
                    <a:gs pos="0">
                      <a:srgbClr val="6B6B6B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M</a:t>
            </a:r>
          </a:p>
        </p:txBody>
      </p:sp>
      <p:grpSp>
        <p:nvGrpSpPr>
          <p:cNvPr name="Group 60" id="60"/>
          <p:cNvGrpSpPr/>
          <p:nvPr/>
        </p:nvGrpSpPr>
        <p:grpSpPr>
          <a:xfrm rot="0">
            <a:off x="1213416" y="2651902"/>
            <a:ext cx="1797717" cy="2247146"/>
            <a:chOff x="0" y="0"/>
            <a:chExt cx="3686629" cy="460828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686628" cy="4608286"/>
            </a:xfrm>
            <a:custGeom>
              <a:avLst/>
              <a:gdLst/>
              <a:ahLst/>
              <a:cxnLst/>
              <a:rect r="r" b="b" t="t" l="l"/>
              <a:pathLst>
                <a:path h="4608286" w="3686628">
                  <a:moveTo>
                    <a:pt x="43065" y="0"/>
                  </a:moveTo>
                  <a:lnTo>
                    <a:pt x="3643563" y="0"/>
                  </a:lnTo>
                  <a:cubicBezTo>
                    <a:pt x="3654985" y="0"/>
                    <a:pt x="3665939" y="4537"/>
                    <a:pt x="3674015" y="12614"/>
                  </a:cubicBezTo>
                  <a:cubicBezTo>
                    <a:pt x="3682091" y="20690"/>
                    <a:pt x="3686628" y="31644"/>
                    <a:pt x="3686628" y="43065"/>
                  </a:cubicBezTo>
                  <a:lnTo>
                    <a:pt x="3686628" y="4565221"/>
                  </a:lnTo>
                  <a:cubicBezTo>
                    <a:pt x="3686628" y="4576642"/>
                    <a:pt x="3682091" y="4587596"/>
                    <a:pt x="3674015" y="4595672"/>
                  </a:cubicBezTo>
                  <a:cubicBezTo>
                    <a:pt x="3665939" y="4603748"/>
                    <a:pt x="3654985" y="4608286"/>
                    <a:pt x="3643563" y="4608286"/>
                  </a:cubicBezTo>
                  <a:lnTo>
                    <a:pt x="43065" y="4608286"/>
                  </a:lnTo>
                  <a:cubicBezTo>
                    <a:pt x="31644" y="4608286"/>
                    <a:pt x="20690" y="4603748"/>
                    <a:pt x="12614" y="4595672"/>
                  </a:cubicBezTo>
                  <a:cubicBezTo>
                    <a:pt x="4537" y="4587596"/>
                    <a:pt x="0" y="4576642"/>
                    <a:pt x="0" y="4565221"/>
                  </a:cubicBezTo>
                  <a:lnTo>
                    <a:pt x="0" y="43065"/>
                  </a:lnTo>
                  <a:cubicBezTo>
                    <a:pt x="0" y="31644"/>
                    <a:pt x="4537" y="20690"/>
                    <a:pt x="12614" y="12614"/>
                  </a:cubicBezTo>
                  <a:cubicBezTo>
                    <a:pt x="20690" y="4537"/>
                    <a:pt x="31644" y="0"/>
                    <a:pt x="4306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3365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62" id="62"/>
            <p:cNvSpPr txBox="true"/>
            <p:nvPr/>
          </p:nvSpPr>
          <p:spPr>
            <a:xfrm>
              <a:off x="0" y="0"/>
              <a:ext cx="3686629" cy="4608286"/>
            </a:xfrm>
            <a:prstGeom prst="rect">
              <a:avLst/>
            </a:prstGeom>
          </p:spPr>
          <p:txBody>
            <a:bodyPr anchor="ctr" rtlCol="false" tIns="16381" lIns="16381" bIns="16381" rIns="16381"/>
            <a:lstStyle/>
            <a:p>
              <a:pPr algn="ctr">
                <a:lnSpc>
                  <a:spcPts val="871"/>
                </a:lnSpc>
              </a:pPr>
            </a:p>
          </p:txBody>
        </p:sp>
      </p:grpSp>
      <p:sp>
        <p:nvSpPr>
          <p:cNvPr name="TextBox 63" id="63"/>
          <p:cNvSpPr txBox="true"/>
          <p:nvPr/>
        </p:nvSpPr>
        <p:spPr>
          <a:xfrm rot="0">
            <a:off x="1480648" y="3138834"/>
            <a:ext cx="1263254" cy="362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6"/>
              </a:lnSpc>
              <a:spcBef>
                <a:spcPct val="0"/>
              </a:spcBef>
            </a:pPr>
            <a:r>
              <a:rPr lang="en-US" b="true" sz="2414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898989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Twibbon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1310691" y="4431927"/>
            <a:ext cx="349298" cy="349298"/>
            <a:chOff x="0" y="0"/>
            <a:chExt cx="253655" cy="253655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53655" cy="253655"/>
            </a:xfrm>
            <a:custGeom>
              <a:avLst/>
              <a:gdLst/>
              <a:ahLst/>
              <a:cxnLst/>
              <a:rect r="r" b="b" t="t" l="l"/>
              <a:pathLst>
                <a:path h="253655" w="253655">
                  <a:moveTo>
                    <a:pt x="126828" y="0"/>
                  </a:moveTo>
                  <a:lnTo>
                    <a:pt x="126828" y="0"/>
                  </a:lnTo>
                  <a:cubicBezTo>
                    <a:pt x="196872" y="0"/>
                    <a:pt x="253655" y="56783"/>
                    <a:pt x="253655" y="126828"/>
                  </a:cubicBezTo>
                  <a:lnTo>
                    <a:pt x="253655" y="126828"/>
                  </a:lnTo>
                  <a:cubicBezTo>
                    <a:pt x="253655" y="160464"/>
                    <a:pt x="240293" y="192723"/>
                    <a:pt x="216508" y="216508"/>
                  </a:cubicBezTo>
                  <a:cubicBezTo>
                    <a:pt x="192723" y="240293"/>
                    <a:pt x="160464" y="253655"/>
                    <a:pt x="126828" y="253655"/>
                  </a:cubicBezTo>
                  <a:lnTo>
                    <a:pt x="126828" y="253655"/>
                  </a:lnTo>
                  <a:cubicBezTo>
                    <a:pt x="93191" y="253655"/>
                    <a:pt x="60932" y="240293"/>
                    <a:pt x="37147" y="216508"/>
                  </a:cubicBezTo>
                  <a:cubicBezTo>
                    <a:pt x="13362" y="192723"/>
                    <a:pt x="0" y="160464"/>
                    <a:pt x="0" y="126828"/>
                  </a:cubicBezTo>
                  <a:lnTo>
                    <a:pt x="0" y="126828"/>
                  </a:lnTo>
                  <a:cubicBezTo>
                    <a:pt x="0" y="93191"/>
                    <a:pt x="13362" y="60932"/>
                    <a:pt x="37147" y="37147"/>
                  </a:cubicBezTo>
                  <a:cubicBezTo>
                    <a:pt x="60932" y="13362"/>
                    <a:pt x="93191" y="0"/>
                    <a:pt x="12682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898989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9525"/>
              <a:ext cx="253655" cy="263180"/>
            </a:xfrm>
            <a:prstGeom prst="rect">
              <a:avLst/>
            </a:prstGeom>
          </p:spPr>
          <p:txBody>
            <a:bodyPr anchor="ctr" rtlCol="false" tIns="18424" lIns="18424" bIns="18424" rIns="18424"/>
            <a:lstStyle/>
            <a:p>
              <a:pPr algn="ctr">
                <a:lnSpc>
                  <a:spcPts val="1369"/>
                </a:lnSpc>
              </a:pP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693827" y="4514793"/>
            <a:ext cx="266432" cy="266432"/>
            <a:chOff x="0" y="0"/>
            <a:chExt cx="193479" cy="193479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93479" cy="193479"/>
            </a:xfrm>
            <a:custGeom>
              <a:avLst/>
              <a:gdLst/>
              <a:ahLst/>
              <a:cxnLst/>
              <a:rect r="r" b="b" t="t" l="l"/>
              <a:pathLst>
                <a:path h="193479" w="193479">
                  <a:moveTo>
                    <a:pt x="96739" y="0"/>
                  </a:moveTo>
                  <a:lnTo>
                    <a:pt x="96739" y="0"/>
                  </a:lnTo>
                  <a:cubicBezTo>
                    <a:pt x="122396" y="0"/>
                    <a:pt x="147002" y="10192"/>
                    <a:pt x="165144" y="28334"/>
                  </a:cubicBezTo>
                  <a:cubicBezTo>
                    <a:pt x="183287" y="46476"/>
                    <a:pt x="193479" y="71083"/>
                    <a:pt x="193479" y="96739"/>
                  </a:cubicBezTo>
                  <a:lnTo>
                    <a:pt x="193479" y="96739"/>
                  </a:lnTo>
                  <a:cubicBezTo>
                    <a:pt x="193479" y="122396"/>
                    <a:pt x="183287" y="147002"/>
                    <a:pt x="165144" y="165144"/>
                  </a:cubicBezTo>
                  <a:cubicBezTo>
                    <a:pt x="147002" y="183287"/>
                    <a:pt x="122396" y="193479"/>
                    <a:pt x="96739" y="193479"/>
                  </a:cubicBezTo>
                  <a:lnTo>
                    <a:pt x="96739" y="193479"/>
                  </a:lnTo>
                  <a:cubicBezTo>
                    <a:pt x="71083" y="193479"/>
                    <a:pt x="46476" y="183287"/>
                    <a:pt x="28334" y="165144"/>
                  </a:cubicBezTo>
                  <a:cubicBezTo>
                    <a:pt x="10192" y="147002"/>
                    <a:pt x="0" y="122396"/>
                    <a:pt x="0" y="96739"/>
                  </a:cubicBezTo>
                  <a:lnTo>
                    <a:pt x="0" y="96739"/>
                  </a:lnTo>
                  <a:cubicBezTo>
                    <a:pt x="0" y="71083"/>
                    <a:pt x="10192" y="46476"/>
                    <a:pt x="28334" y="28334"/>
                  </a:cubicBezTo>
                  <a:cubicBezTo>
                    <a:pt x="46476" y="10192"/>
                    <a:pt x="71083" y="0"/>
                    <a:pt x="9673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898989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9525"/>
              <a:ext cx="193479" cy="203004"/>
            </a:xfrm>
            <a:prstGeom prst="rect">
              <a:avLst/>
            </a:prstGeom>
          </p:spPr>
          <p:txBody>
            <a:bodyPr anchor="ctr" rtlCol="false" tIns="18424" lIns="18424" bIns="18424" rIns="18424"/>
            <a:lstStyle/>
            <a:p>
              <a:pPr algn="ctr">
                <a:lnSpc>
                  <a:spcPts val="1369"/>
                </a:lnSpc>
              </a:pP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994804" y="4581446"/>
            <a:ext cx="199778" cy="199778"/>
            <a:chOff x="0" y="0"/>
            <a:chExt cx="145076" cy="14507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45076" cy="145076"/>
            </a:xfrm>
            <a:custGeom>
              <a:avLst/>
              <a:gdLst/>
              <a:ahLst/>
              <a:cxnLst/>
              <a:rect r="r" b="b" t="t" l="l"/>
              <a:pathLst>
                <a:path h="145076" w="145076">
                  <a:moveTo>
                    <a:pt x="72538" y="0"/>
                  </a:moveTo>
                  <a:lnTo>
                    <a:pt x="72538" y="0"/>
                  </a:lnTo>
                  <a:cubicBezTo>
                    <a:pt x="112600" y="0"/>
                    <a:pt x="145076" y="32476"/>
                    <a:pt x="145076" y="72538"/>
                  </a:cubicBezTo>
                  <a:lnTo>
                    <a:pt x="145076" y="72538"/>
                  </a:lnTo>
                  <a:cubicBezTo>
                    <a:pt x="145076" y="91776"/>
                    <a:pt x="137434" y="110227"/>
                    <a:pt x="123830" y="123830"/>
                  </a:cubicBezTo>
                  <a:cubicBezTo>
                    <a:pt x="110227" y="137434"/>
                    <a:pt x="91776" y="145076"/>
                    <a:pt x="72538" y="145076"/>
                  </a:cubicBezTo>
                  <a:lnTo>
                    <a:pt x="72538" y="145076"/>
                  </a:lnTo>
                  <a:cubicBezTo>
                    <a:pt x="53300" y="145076"/>
                    <a:pt x="34849" y="137434"/>
                    <a:pt x="21246" y="123830"/>
                  </a:cubicBezTo>
                  <a:cubicBezTo>
                    <a:pt x="7642" y="110227"/>
                    <a:pt x="0" y="91776"/>
                    <a:pt x="0" y="72538"/>
                  </a:cubicBezTo>
                  <a:lnTo>
                    <a:pt x="0" y="72538"/>
                  </a:lnTo>
                  <a:cubicBezTo>
                    <a:pt x="0" y="53300"/>
                    <a:pt x="7642" y="34849"/>
                    <a:pt x="21246" y="21246"/>
                  </a:cubicBezTo>
                  <a:cubicBezTo>
                    <a:pt x="34849" y="7642"/>
                    <a:pt x="53300" y="0"/>
                    <a:pt x="725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898989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9525"/>
              <a:ext cx="145076" cy="154601"/>
            </a:xfrm>
            <a:prstGeom prst="rect">
              <a:avLst/>
            </a:prstGeom>
          </p:spPr>
          <p:txBody>
            <a:bodyPr anchor="ctr" rtlCol="false" tIns="18424" lIns="18424" bIns="18424" rIns="18424"/>
            <a:lstStyle/>
            <a:p>
              <a:pPr algn="ctr">
                <a:lnSpc>
                  <a:spcPts val="1369"/>
                </a:lnSpc>
              </a:pPr>
            </a:p>
          </p:txBody>
        </p:sp>
      </p:grpSp>
      <p:sp>
        <p:nvSpPr>
          <p:cNvPr name="TextBox 73" id="73"/>
          <p:cNvSpPr txBox="true"/>
          <p:nvPr/>
        </p:nvSpPr>
        <p:spPr>
          <a:xfrm rot="0">
            <a:off x="1371354" y="4466437"/>
            <a:ext cx="227973" cy="251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6"/>
              </a:lnSpc>
              <a:spcBef>
                <a:spcPct val="0"/>
              </a:spcBef>
            </a:pPr>
            <a:r>
              <a:rPr lang="en-US" b="true" sz="1483">
                <a:gradFill>
                  <a:gsLst>
                    <a:gs pos="0">
                      <a:srgbClr val="6B6B6B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XL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776840" y="4507167"/>
            <a:ext cx="101113" cy="245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2"/>
              </a:lnSpc>
              <a:spcBef>
                <a:spcPct val="0"/>
              </a:spcBef>
            </a:pPr>
            <a:r>
              <a:rPr lang="en-US" b="true" sz="1444">
                <a:gradFill>
                  <a:gsLst>
                    <a:gs pos="0">
                      <a:srgbClr val="6B6B6B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L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2041746" y="4594361"/>
            <a:ext cx="105894" cy="162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1"/>
              </a:lnSpc>
              <a:spcBef>
                <a:spcPct val="0"/>
              </a:spcBef>
            </a:pPr>
            <a:r>
              <a:rPr lang="en-US" b="true" sz="944">
                <a:gradFill>
                  <a:gsLst>
                    <a:gs pos="0">
                      <a:srgbClr val="6B6B6B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M</a:t>
            </a:r>
          </a:p>
        </p:txBody>
      </p:sp>
      <p:grpSp>
        <p:nvGrpSpPr>
          <p:cNvPr name="Group 76" id="76"/>
          <p:cNvGrpSpPr/>
          <p:nvPr/>
        </p:nvGrpSpPr>
        <p:grpSpPr>
          <a:xfrm rot="0">
            <a:off x="3083077" y="2651902"/>
            <a:ext cx="1588891" cy="2247146"/>
            <a:chOff x="0" y="0"/>
            <a:chExt cx="2709333" cy="3831771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2709333" cy="3831772"/>
            </a:xfrm>
            <a:custGeom>
              <a:avLst/>
              <a:gdLst/>
              <a:ahLst/>
              <a:cxnLst/>
              <a:rect r="r" b="b" t="t" l="l"/>
              <a:pathLst>
                <a:path h="3831772" w="2709333">
                  <a:moveTo>
                    <a:pt x="48725" y="0"/>
                  </a:moveTo>
                  <a:lnTo>
                    <a:pt x="2660608" y="0"/>
                  </a:lnTo>
                  <a:cubicBezTo>
                    <a:pt x="2673531" y="0"/>
                    <a:pt x="2685924" y="5134"/>
                    <a:pt x="2695062" y="14271"/>
                  </a:cubicBezTo>
                  <a:cubicBezTo>
                    <a:pt x="2704200" y="23409"/>
                    <a:pt x="2709333" y="35803"/>
                    <a:pt x="2709333" y="48725"/>
                  </a:cubicBezTo>
                  <a:lnTo>
                    <a:pt x="2709333" y="3783046"/>
                  </a:lnTo>
                  <a:cubicBezTo>
                    <a:pt x="2709333" y="3809957"/>
                    <a:pt x="2687518" y="3831772"/>
                    <a:pt x="2660608" y="3831772"/>
                  </a:cubicBezTo>
                  <a:lnTo>
                    <a:pt x="48725" y="3831772"/>
                  </a:lnTo>
                  <a:cubicBezTo>
                    <a:pt x="21815" y="3831772"/>
                    <a:pt x="0" y="3809957"/>
                    <a:pt x="0" y="3783046"/>
                  </a:cubicBezTo>
                  <a:lnTo>
                    <a:pt x="0" y="48725"/>
                  </a:lnTo>
                  <a:cubicBezTo>
                    <a:pt x="0" y="21815"/>
                    <a:pt x="21815" y="0"/>
                    <a:pt x="4872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3365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9525"/>
              <a:ext cx="2709333" cy="3841296"/>
            </a:xfrm>
            <a:prstGeom prst="rect">
              <a:avLst/>
            </a:prstGeom>
          </p:spPr>
          <p:txBody>
            <a:bodyPr anchor="ctr" rtlCol="false" tIns="19700" lIns="19700" bIns="19700" rIns="19700"/>
            <a:lstStyle/>
            <a:p>
              <a:pPr algn="ctr">
                <a:lnSpc>
                  <a:spcPts val="1048"/>
                </a:lnSpc>
              </a:pPr>
            </a:p>
          </p:txBody>
        </p:sp>
      </p:grpSp>
      <p:sp>
        <p:nvSpPr>
          <p:cNvPr name="TextBox 79" id="79"/>
          <p:cNvSpPr txBox="true"/>
          <p:nvPr/>
        </p:nvSpPr>
        <p:spPr>
          <a:xfrm rot="0">
            <a:off x="3313492" y="3138834"/>
            <a:ext cx="1128061" cy="362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6"/>
              </a:lnSpc>
              <a:spcBef>
                <a:spcPct val="0"/>
              </a:spcBef>
            </a:pPr>
            <a:r>
              <a:rPr lang="en-US" b="true" sz="2414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898989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Booklet</a:t>
            </a:r>
          </a:p>
        </p:txBody>
      </p:sp>
      <p:grpSp>
        <p:nvGrpSpPr>
          <p:cNvPr name="Group 80" id="80"/>
          <p:cNvGrpSpPr/>
          <p:nvPr/>
        </p:nvGrpSpPr>
        <p:grpSpPr>
          <a:xfrm rot="0">
            <a:off x="3182468" y="4431927"/>
            <a:ext cx="349298" cy="349298"/>
            <a:chOff x="0" y="0"/>
            <a:chExt cx="253655" cy="253655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53655" cy="253655"/>
            </a:xfrm>
            <a:custGeom>
              <a:avLst/>
              <a:gdLst/>
              <a:ahLst/>
              <a:cxnLst/>
              <a:rect r="r" b="b" t="t" l="l"/>
              <a:pathLst>
                <a:path h="253655" w="253655">
                  <a:moveTo>
                    <a:pt x="126828" y="0"/>
                  </a:moveTo>
                  <a:lnTo>
                    <a:pt x="126828" y="0"/>
                  </a:lnTo>
                  <a:cubicBezTo>
                    <a:pt x="196872" y="0"/>
                    <a:pt x="253655" y="56783"/>
                    <a:pt x="253655" y="126828"/>
                  </a:cubicBezTo>
                  <a:lnTo>
                    <a:pt x="253655" y="126828"/>
                  </a:lnTo>
                  <a:cubicBezTo>
                    <a:pt x="253655" y="160464"/>
                    <a:pt x="240293" y="192723"/>
                    <a:pt x="216508" y="216508"/>
                  </a:cubicBezTo>
                  <a:cubicBezTo>
                    <a:pt x="192723" y="240293"/>
                    <a:pt x="160464" y="253655"/>
                    <a:pt x="126828" y="253655"/>
                  </a:cubicBezTo>
                  <a:lnTo>
                    <a:pt x="126828" y="253655"/>
                  </a:lnTo>
                  <a:cubicBezTo>
                    <a:pt x="93191" y="253655"/>
                    <a:pt x="60932" y="240293"/>
                    <a:pt x="37147" y="216508"/>
                  </a:cubicBezTo>
                  <a:cubicBezTo>
                    <a:pt x="13362" y="192723"/>
                    <a:pt x="0" y="160464"/>
                    <a:pt x="0" y="126828"/>
                  </a:cubicBezTo>
                  <a:lnTo>
                    <a:pt x="0" y="126828"/>
                  </a:lnTo>
                  <a:cubicBezTo>
                    <a:pt x="0" y="93191"/>
                    <a:pt x="13362" y="60932"/>
                    <a:pt x="37147" y="37147"/>
                  </a:cubicBezTo>
                  <a:cubicBezTo>
                    <a:pt x="60932" y="13362"/>
                    <a:pt x="93191" y="0"/>
                    <a:pt x="12682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898989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9525"/>
              <a:ext cx="253655" cy="263180"/>
            </a:xfrm>
            <a:prstGeom prst="rect">
              <a:avLst/>
            </a:prstGeom>
          </p:spPr>
          <p:txBody>
            <a:bodyPr anchor="ctr" rtlCol="false" tIns="18424" lIns="18424" bIns="18424" rIns="18424"/>
            <a:lstStyle/>
            <a:p>
              <a:pPr algn="ctr">
                <a:lnSpc>
                  <a:spcPts val="1369"/>
                </a:lnSpc>
              </a:pP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3565604" y="4514793"/>
            <a:ext cx="266432" cy="266432"/>
            <a:chOff x="0" y="0"/>
            <a:chExt cx="193479" cy="193479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93479" cy="193479"/>
            </a:xfrm>
            <a:custGeom>
              <a:avLst/>
              <a:gdLst/>
              <a:ahLst/>
              <a:cxnLst/>
              <a:rect r="r" b="b" t="t" l="l"/>
              <a:pathLst>
                <a:path h="193479" w="193479">
                  <a:moveTo>
                    <a:pt x="96739" y="0"/>
                  </a:moveTo>
                  <a:lnTo>
                    <a:pt x="96739" y="0"/>
                  </a:lnTo>
                  <a:cubicBezTo>
                    <a:pt x="122396" y="0"/>
                    <a:pt x="147002" y="10192"/>
                    <a:pt x="165144" y="28334"/>
                  </a:cubicBezTo>
                  <a:cubicBezTo>
                    <a:pt x="183287" y="46476"/>
                    <a:pt x="193479" y="71083"/>
                    <a:pt x="193479" y="96739"/>
                  </a:cubicBezTo>
                  <a:lnTo>
                    <a:pt x="193479" y="96739"/>
                  </a:lnTo>
                  <a:cubicBezTo>
                    <a:pt x="193479" y="122396"/>
                    <a:pt x="183287" y="147002"/>
                    <a:pt x="165144" y="165144"/>
                  </a:cubicBezTo>
                  <a:cubicBezTo>
                    <a:pt x="147002" y="183287"/>
                    <a:pt x="122396" y="193479"/>
                    <a:pt x="96739" y="193479"/>
                  </a:cubicBezTo>
                  <a:lnTo>
                    <a:pt x="96739" y="193479"/>
                  </a:lnTo>
                  <a:cubicBezTo>
                    <a:pt x="71083" y="193479"/>
                    <a:pt x="46476" y="183287"/>
                    <a:pt x="28334" y="165144"/>
                  </a:cubicBezTo>
                  <a:cubicBezTo>
                    <a:pt x="10192" y="147002"/>
                    <a:pt x="0" y="122396"/>
                    <a:pt x="0" y="96739"/>
                  </a:cubicBezTo>
                  <a:lnTo>
                    <a:pt x="0" y="96739"/>
                  </a:lnTo>
                  <a:cubicBezTo>
                    <a:pt x="0" y="71083"/>
                    <a:pt x="10192" y="46476"/>
                    <a:pt x="28334" y="28334"/>
                  </a:cubicBezTo>
                  <a:cubicBezTo>
                    <a:pt x="46476" y="10192"/>
                    <a:pt x="71083" y="0"/>
                    <a:pt x="9673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898989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9525"/>
              <a:ext cx="193479" cy="203004"/>
            </a:xfrm>
            <a:prstGeom prst="rect">
              <a:avLst/>
            </a:prstGeom>
          </p:spPr>
          <p:txBody>
            <a:bodyPr anchor="ctr" rtlCol="false" tIns="18424" lIns="18424" bIns="18424" rIns="18424"/>
            <a:lstStyle/>
            <a:p>
              <a:pPr algn="ctr">
                <a:lnSpc>
                  <a:spcPts val="1369"/>
                </a:lnSpc>
              </a:pP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3866581" y="4581446"/>
            <a:ext cx="199778" cy="199778"/>
            <a:chOff x="0" y="0"/>
            <a:chExt cx="145076" cy="145076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45076" cy="145076"/>
            </a:xfrm>
            <a:custGeom>
              <a:avLst/>
              <a:gdLst/>
              <a:ahLst/>
              <a:cxnLst/>
              <a:rect r="r" b="b" t="t" l="l"/>
              <a:pathLst>
                <a:path h="145076" w="145076">
                  <a:moveTo>
                    <a:pt x="72538" y="0"/>
                  </a:moveTo>
                  <a:lnTo>
                    <a:pt x="72538" y="0"/>
                  </a:lnTo>
                  <a:cubicBezTo>
                    <a:pt x="112600" y="0"/>
                    <a:pt x="145076" y="32476"/>
                    <a:pt x="145076" y="72538"/>
                  </a:cubicBezTo>
                  <a:lnTo>
                    <a:pt x="145076" y="72538"/>
                  </a:lnTo>
                  <a:cubicBezTo>
                    <a:pt x="145076" y="91776"/>
                    <a:pt x="137434" y="110227"/>
                    <a:pt x="123830" y="123830"/>
                  </a:cubicBezTo>
                  <a:cubicBezTo>
                    <a:pt x="110227" y="137434"/>
                    <a:pt x="91776" y="145076"/>
                    <a:pt x="72538" y="145076"/>
                  </a:cubicBezTo>
                  <a:lnTo>
                    <a:pt x="72538" y="145076"/>
                  </a:lnTo>
                  <a:cubicBezTo>
                    <a:pt x="53300" y="145076"/>
                    <a:pt x="34849" y="137434"/>
                    <a:pt x="21246" y="123830"/>
                  </a:cubicBezTo>
                  <a:cubicBezTo>
                    <a:pt x="7642" y="110227"/>
                    <a:pt x="0" y="91776"/>
                    <a:pt x="0" y="72538"/>
                  </a:cubicBezTo>
                  <a:lnTo>
                    <a:pt x="0" y="72538"/>
                  </a:lnTo>
                  <a:cubicBezTo>
                    <a:pt x="0" y="53300"/>
                    <a:pt x="7642" y="34849"/>
                    <a:pt x="21246" y="21246"/>
                  </a:cubicBezTo>
                  <a:cubicBezTo>
                    <a:pt x="34849" y="7642"/>
                    <a:pt x="53300" y="0"/>
                    <a:pt x="725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898989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9525"/>
              <a:ext cx="145076" cy="154601"/>
            </a:xfrm>
            <a:prstGeom prst="rect">
              <a:avLst/>
            </a:prstGeom>
          </p:spPr>
          <p:txBody>
            <a:bodyPr anchor="ctr" rtlCol="false" tIns="18424" lIns="18424" bIns="18424" rIns="18424"/>
            <a:lstStyle/>
            <a:p>
              <a:pPr algn="ctr">
                <a:lnSpc>
                  <a:spcPts val="1369"/>
                </a:lnSpc>
              </a:pPr>
            </a:p>
          </p:txBody>
        </p:sp>
      </p:grpSp>
      <p:sp>
        <p:nvSpPr>
          <p:cNvPr name="TextBox 89" id="89"/>
          <p:cNvSpPr txBox="true"/>
          <p:nvPr/>
        </p:nvSpPr>
        <p:spPr>
          <a:xfrm rot="0">
            <a:off x="3243131" y="4469433"/>
            <a:ext cx="227973" cy="251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6"/>
              </a:lnSpc>
              <a:spcBef>
                <a:spcPct val="0"/>
              </a:spcBef>
            </a:pPr>
            <a:r>
              <a:rPr lang="en-US" b="true" sz="1483">
                <a:gradFill>
                  <a:gsLst>
                    <a:gs pos="0">
                      <a:srgbClr val="6B6B6B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XL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3650642" y="4510755"/>
            <a:ext cx="101113" cy="245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2"/>
              </a:lnSpc>
              <a:spcBef>
                <a:spcPct val="0"/>
              </a:spcBef>
            </a:pPr>
            <a:r>
              <a:rPr lang="en-US" b="true" sz="1444">
                <a:gradFill>
                  <a:gsLst>
                    <a:gs pos="0">
                      <a:srgbClr val="6B6B6B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L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3913523" y="4590522"/>
            <a:ext cx="105894" cy="162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1"/>
              </a:lnSpc>
              <a:spcBef>
                <a:spcPct val="0"/>
              </a:spcBef>
            </a:pPr>
            <a:r>
              <a:rPr lang="en-US" b="true" sz="944">
                <a:gradFill>
                  <a:gsLst>
                    <a:gs pos="0">
                      <a:srgbClr val="6B6B6B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M</a:t>
            </a:r>
          </a:p>
        </p:txBody>
      </p:sp>
      <p:grpSp>
        <p:nvGrpSpPr>
          <p:cNvPr name="Group 92" id="92"/>
          <p:cNvGrpSpPr/>
          <p:nvPr/>
        </p:nvGrpSpPr>
        <p:grpSpPr>
          <a:xfrm rot="0">
            <a:off x="1214587" y="5020398"/>
            <a:ext cx="2508040" cy="1397589"/>
            <a:chOff x="0" y="0"/>
            <a:chExt cx="11108664" cy="6190232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1108664" cy="6190231"/>
            </a:xfrm>
            <a:custGeom>
              <a:avLst/>
              <a:gdLst/>
              <a:ahLst/>
              <a:cxnLst/>
              <a:rect r="r" b="b" t="t" l="l"/>
              <a:pathLst>
                <a:path h="6190231" w="11108664">
                  <a:moveTo>
                    <a:pt x="30868" y="0"/>
                  </a:moveTo>
                  <a:lnTo>
                    <a:pt x="11077795" y="0"/>
                  </a:lnTo>
                  <a:cubicBezTo>
                    <a:pt x="11094844" y="0"/>
                    <a:pt x="11108664" y="13820"/>
                    <a:pt x="11108664" y="30868"/>
                  </a:cubicBezTo>
                  <a:lnTo>
                    <a:pt x="11108664" y="6159363"/>
                  </a:lnTo>
                  <a:cubicBezTo>
                    <a:pt x="11108664" y="6176411"/>
                    <a:pt x="11094844" y="6190231"/>
                    <a:pt x="11077795" y="6190231"/>
                  </a:cubicBezTo>
                  <a:lnTo>
                    <a:pt x="30868" y="6190231"/>
                  </a:lnTo>
                  <a:cubicBezTo>
                    <a:pt x="13820" y="6190231"/>
                    <a:pt x="0" y="6176411"/>
                    <a:pt x="0" y="6159363"/>
                  </a:cubicBezTo>
                  <a:lnTo>
                    <a:pt x="0" y="30868"/>
                  </a:lnTo>
                  <a:cubicBezTo>
                    <a:pt x="0" y="13820"/>
                    <a:pt x="13820" y="0"/>
                    <a:pt x="3086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3365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9525"/>
              <a:ext cx="11108664" cy="6199757"/>
            </a:xfrm>
            <a:prstGeom prst="rect">
              <a:avLst/>
            </a:prstGeom>
          </p:spPr>
          <p:txBody>
            <a:bodyPr anchor="ctr" rtlCol="false" tIns="7239" lIns="7239" bIns="7239" rIns="7239"/>
            <a:lstStyle/>
            <a:p>
              <a:pPr algn="ctr">
                <a:lnSpc>
                  <a:spcPts val="385"/>
                </a:lnSpc>
              </a:pPr>
            </a:p>
          </p:txBody>
        </p:sp>
      </p:grpSp>
      <p:sp>
        <p:nvSpPr>
          <p:cNvPr name="TextBox 95" id="95"/>
          <p:cNvSpPr txBox="true"/>
          <p:nvPr/>
        </p:nvSpPr>
        <p:spPr>
          <a:xfrm rot="0">
            <a:off x="1693727" y="5294415"/>
            <a:ext cx="1549760" cy="362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6"/>
              </a:lnSpc>
              <a:spcBef>
                <a:spcPct val="0"/>
              </a:spcBef>
            </a:pPr>
            <a:r>
              <a:rPr lang="en-US" b="true" sz="2414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898989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Virtual BG</a:t>
            </a:r>
          </a:p>
        </p:txBody>
      </p:sp>
      <p:grpSp>
        <p:nvGrpSpPr>
          <p:cNvPr name="Group 96" id="96"/>
          <p:cNvGrpSpPr/>
          <p:nvPr/>
        </p:nvGrpSpPr>
        <p:grpSpPr>
          <a:xfrm rot="0">
            <a:off x="1300818" y="5950867"/>
            <a:ext cx="349298" cy="349298"/>
            <a:chOff x="0" y="0"/>
            <a:chExt cx="253655" cy="253655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253655" cy="253655"/>
            </a:xfrm>
            <a:custGeom>
              <a:avLst/>
              <a:gdLst/>
              <a:ahLst/>
              <a:cxnLst/>
              <a:rect r="r" b="b" t="t" l="l"/>
              <a:pathLst>
                <a:path h="253655" w="253655">
                  <a:moveTo>
                    <a:pt x="126828" y="0"/>
                  </a:moveTo>
                  <a:lnTo>
                    <a:pt x="126828" y="0"/>
                  </a:lnTo>
                  <a:cubicBezTo>
                    <a:pt x="196872" y="0"/>
                    <a:pt x="253655" y="56783"/>
                    <a:pt x="253655" y="126828"/>
                  </a:cubicBezTo>
                  <a:lnTo>
                    <a:pt x="253655" y="126828"/>
                  </a:lnTo>
                  <a:cubicBezTo>
                    <a:pt x="253655" y="160464"/>
                    <a:pt x="240293" y="192723"/>
                    <a:pt x="216508" y="216508"/>
                  </a:cubicBezTo>
                  <a:cubicBezTo>
                    <a:pt x="192723" y="240293"/>
                    <a:pt x="160464" y="253655"/>
                    <a:pt x="126828" y="253655"/>
                  </a:cubicBezTo>
                  <a:lnTo>
                    <a:pt x="126828" y="253655"/>
                  </a:lnTo>
                  <a:cubicBezTo>
                    <a:pt x="93191" y="253655"/>
                    <a:pt x="60932" y="240293"/>
                    <a:pt x="37147" y="216508"/>
                  </a:cubicBezTo>
                  <a:cubicBezTo>
                    <a:pt x="13362" y="192723"/>
                    <a:pt x="0" y="160464"/>
                    <a:pt x="0" y="126828"/>
                  </a:cubicBezTo>
                  <a:lnTo>
                    <a:pt x="0" y="126828"/>
                  </a:lnTo>
                  <a:cubicBezTo>
                    <a:pt x="0" y="93191"/>
                    <a:pt x="13362" y="60932"/>
                    <a:pt x="37147" y="37147"/>
                  </a:cubicBezTo>
                  <a:cubicBezTo>
                    <a:pt x="60932" y="13362"/>
                    <a:pt x="93191" y="0"/>
                    <a:pt x="12682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898989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9525"/>
              <a:ext cx="253655" cy="263180"/>
            </a:xfrm>
            <a:prstGeom prst="rect">
              <a:avLst/>
            </a:prstGeom>
          </p:spPr>
          <p:txBody>
            <a:bodyPr anchor="ctr" rtlCol="false" tIns="18424" lIns="18424" bIns="18424" rIns="18424"/>
            <a:lstStyle/>
            <a:p>
              <a:pPr algn="ctr">
                <a:lnSpc>
                  <a:spcPts val="1369"/>
                </a:lnSpc>
              </a:pP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1683953" y="6033733"/>
            <a:ext cx="266432" cy="266432"/>
            <a:chOff x="0" y="0"/>
            <a:chExt cx="193479" cy="193479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93479" cy="193479"/>
            </a:xfrm>
            <a:custGeom>
              <a:avLst/>
              <a:gdLst/>
              <a:ahLst/>
              <a:cxnLst/>
              <a:rect r="r" b="b" t="t" l="l"/>
              <a:pathLst>
                <a:path h="193479" w="193479">
                  <a:moveTo>
                    <a:pt x="96739" y="0"/>
                  </a:moveTo>
                  <a:lnTo>
                    <a:pt x="96739" y="0"/>
                  </a:lnTo>
                  <a:cubicBezTo>
                    <a:pt x="122396" y="0"/>
                    <a:pt x="147002" y="10192"/>
                    <a:pt x="165144" y="28334"/>
                  </a:cubicBezTo>
                  <a:cubicBezTo>
                    <a:pt x="183287" y="46476"/>
                    <a:pt x="193479" y="71083"/>
                    <a:pt x="193479" y="96739"/>
                  </a:cubicBezTo>
                  <a:lnTo>
                    <a:pt x="193479" y="96739"/>
                  </a:lnTo>
                  <a:cubicBezTo>
                    <a:pt x="193479" y="122396"/>
                    <a:pt x="183287" y="147002"/>
                    <a:pt x="165144" y="165144"/>
                  </a:cubicBezTo>
                  <a:cubicBezTo>
                    <a:pt x="147002" y="183287"/>
                    <a:pt x="122396" y="193479"/>
                    <a:pt x="96739" y="193479"/>
                  </a:cubicBezTo>
                  <a:lnTo>
                    <a:pt x="96739" y="193479"/>
                  </a:lnTo>
                  <a:cubicBezTo>
                    <a:pt x="71083" y="193479"/>
                    <a:pt x="46476" y="183287"/>
                    <a:pt x="28334" y="165144"/>
                  </a:cubicBezTo>
                  <a:cubicBezTo>
                    <a:pt x="10192" y="147002"/>
                    <a:pt x="0" y="122396"/>
                    <a:pt x="0" y="96739"/>
                  </a:cubicBezTo>
                  <a:lnTo>
                    <a:pt x="0" y="96739"/>
                  </a:lnTo>
                  <a:cubicBezTo>
                    <a:pt x="0" y="71083"/>
                    <a:pt x="10192" y="46476"/>
                    <a:pt x="28334" y="28334"/>
                  </a:cubicBezTo>
                  <a:cubicBezTo>
                    <a:pt x="46476" y="10192"/>
                    <a:pt x="71083" y="0"/>
                    <a:pt x="9673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898989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9525"/>
              <a:ext cx="193479" cy="203004"/>
            </a:xfrm>
            <a:prstGeom prst="rect">
              <a:avLst/>
            </a:prstGeom>
          </p:spPr>
          <p:txBody>
            <a:bodyPr anchor="ctr" rtlCol="false" tIns="18424" lIns="18424" bIns="18424" rIns="18424"/>
            <a:lstStyle/>
            <a:p>
              <a:pPr algn="ctr">
                <a:lnSpc>
                  <a:spcPts val="1369"/>
                </a:lnSpc>
              </a:pP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1984930" y="6100386"/>
            <a:ext cx="199778" cy="199778"/>
            <a:chOff x="0" y="0"/>
            <a:chExt cx="145076" cy="145076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145076" cy="145076"/>
            </a:xfrm>
            <a:custGeom>
              <a:avLst/>
              <a:gdLst/>
              <a:ahLst/>
              <a:cxnLst/>
              <a:rect r="r" b="b" t="t" l="l"/>
              <a:pathLst>
                <a:path h="145076" w="145076">
                  <a:moveTo>
                    <a:pt x="72538" y="0"/>
                  </a:moveTo>
                  <a:lnTo>
                    <a:pt x="72538" y="0"/>
                  </a:lnTo>
                  <a:cubicBezTo>
                    <a:pt x="112600" y="0"/>
                    <a:pt x="145076" y="32476"/>
                    <a:pt x="145076" y="72538"/>
                  </a:cubicBezTo>
                  <a:lnTo>
                    <a:pt x="145076" y="72538"/>
                  </a:lnTo>
                  <a:cubicBezTo>
                    <a:pt x="145076" y="91776"/>
                    <a:pt x="137434" y="110227"/>
                    <a:pt x="123830" y="123830"/>
                  </a:cubicBezTo>
                  <a:cubicBezTo>
                    <a:pt x="110227" y="137434"/>
                    <a:pt x="91776" y="145076"/>
                    <a:pt x="72538" y="145076"/>
                  </a:cubicBezTo>
                  <a:lnTo>
                    <a:pt x="72538" y="145076"/>
                  </a:lnTo>
                  <a:cubicBezTo>
                    <a:pt x="53300" y="145076"/>
                    <a:pt x="34849" y="137434"/>
                    <a:pt x="21246" y="123830"/>
                  </a:cubicBezTo>
                  <a:cubicBezTo>
                    <a:pt x="7642" y="110227"/>
                    <a:pt x="0" y="91776"/>
                    <a:pt x="0" y="72538"/>
                  </a:cubicBezTo>
                  <a:lnTo>
                    <a:pt x="0" y="72538"/>
                  </a:lnTo>
                  <a:cubicBezTo>
                    <a:pt x="0" y="53300"/>
                    <a:pt x="7642" y="34849"/>
                    <a:pt x="21246" y="21246"/>
                  </a:cubicBezTo>
                  <a:cubicBezTo>
                    <a:pt x="34849" y="7642"/>
                    <a:pt x="53300" y="0"/>
                    <a:pt x="725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898989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9525"/>
              <a:ext cx="145076" cy="154601"/>
            </a:xfrm>
            <a:prstGeom prst="rect">
              <a:avLst/>
            </a:prstGeom>
          </p:spPr>
          <p:txBody>
            <a:bodyPr anchor="ctr" rtlCol="false" tIns="18424" lIns="18424" bIns="18424" rIns="18424"/>
            <a:lstStyle/>
            <a:p>
              <a:pPr algn="ctr">
                <a:lnSpc>
                  <a:spcPts val="1369"/>
                </a:lnSpc>
              </a:pPr>
            </a:p>
          </p:txBody>
        </p:sp>
      </p:grpSp>
      <p:sp>
        <p:nvSpPr>
          <p:cNvPr name="TextBox 105" id="105"/>
          <p:cNvSpPr txBox="true"/>
          <p:nvPr/>
        </p:nvSpPr>
        <p:spPr>
          <a:xfrm rot="0">
            <a:off x="1361480" y="5988373"/>
            <a:ext cx="227973" cy="251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6"/>
              </a:lnSpc>
              <a:spcBef>
                <a:spcPct val="0"/>
              </a:spcBef>
            </a:pPr>
            <a:r>
              <a:rPr lang="en-US" b="true" sz="1483">
                <a:gradFill>
                  <a:gsLst>
                    <a:gs pos="0">
                      <a:srgbClr val="6B6B6B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XL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1768991" y="6029695"/>
            <a:ext cx="101113" cy="245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2"/>
              </a:lnSpc>
              <a:spcBef>
                <a:spcPct val="0"/>
              </a:spcBef>
            </a:pPr>
            <a:r>
              <a:rPr lang="en-US" b="true" sz="1444">
                <a:gradFill>
                  <a:gsLst>
                    <a:gs pos="0">
                      <a:srgbClr val="6B6B6B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L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2031873" y="6109462"/>
            <a:ext cx="105894" cy="162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1"/>
              </a:lnSpc>
              <a:spcBef>
                <a:spcPct val="0"/>
              </a:spcBef>
            </a:pPr>
            <a:r>
              <a:rPr lang="en-US" b="true" sz="944">
                <a:gradFill>
                  <a:gsLst>
                    <a:gs pos="0">
                      <a:srgbClr val="6B6B6B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M</a:t>
            </a:r>
          </a:p>
        </p:txBody>
      </p:sp>
      <p:sp>
        <p:nvSpPr>
          <p:cNvPr name="Freeform 108" id="108"/>
          <p:cNvSpPr/>
          <p:nvPr/>
        </p:nvSpPr>
        <p:spPr>
          <a:xfrm flipH="false" flipV="false" rot="0">
            <a:off x="499779" y="756000"/>
            <a:ext cx="411005" cy="421795"/>
          </a:xfrm>
          <a:custGeom>
            <a:avLst/>
            <a:gdLst/>
            <a:ahLst/>
            <a:cxnLst/>
            <a:rect r="r" b="b" t="t" l="l"/>
            <a:pathLst>
              <a:path h="421795" w="411005">
                <a:moveTo>
                  <a:pt x="0" y="0"/>
                </a:moveTo>
                <a:lnTo>
                  <a:pt x="411005" y="0"/>
                </a:lnTo>
                <a:lnTo>
                  <a:pt x="411005" y="421795"/>
                </a:lnTo>
                <a:lnTo>
                  <a:pt x="0" y="4217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0447" t="-144434" r="-490104" b="-139546"/>
            </a:stretch>
          </a:blipFill>
        </p:spPr>
      </p:sp>
      <p:sp>
        <p:nvSpPr>
          <p:cNvPr name="Freeform 109" id="109"/>
          <p:cNvSpPr/>
          <p:nvPr/>
        </p:nvSpPr>
        <p:spPr>
          <a:xfrm flipH="false" flipV="false" rot="0">
            <a:off x="1437500" y="713076"/>
            <a:ext cx="468982" cy="464718"/>
          </a:xfrm>
          <a:custGeom>
            <a:avLst/>
            <a:gdLst/>
            <a:ahLst/>
            <a:cxnLst/>
            <a:rect r="r" b="b" t="t" l="l"/>
            <a:pathLst>
              <a:path h="464718" w="468982">
                <a:moveTo>
                  <a:pt x="0" y="0"/>
                </a:moveTo>
                <a:lnTo>
                  <a:pt x="468982" y="0"/>
                </a:lnTo>
                <a:lnTo>
                  <a:pt x="468982" y="464719"/>
                </a:lnTo>
                <a:lnTo>
                  <a:pt x="0" y="4647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10" id="110"/>
          <p:cNvSpPr txBox="true"/>
          <p:nvPr/>
        </p:nvSpPr>
        <p:spPr>
          <a:xfrm rot="0">
            <a:off x="1075124" y="789276"/>
            <a:ext cx="230303" cy="388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2"/>
              </a:lnSpc>
            </a:pPr>
            <a:r>
              <a:rPr lang="en-US" b="true" sz="3101" spc="-254">
                <a:gradFill>
                  <a:gsLst>
                    <a:gs pos="0">
                      <a:srgbClr val="6B6B6B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x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483846" y="10420770"/>
            <a:ext cx="6592309" cy="163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2"/>
              </a:lnSpc>
              <a:spcBef>
                <a:spcPct val="0"/>
              </a:spcBef>
            </a:pPr>
            <a:r>
              <a:rPr lang="en-US" sz="95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Confidential &amp; Proprietary © 2026 Not Into Finance &amp; Indonesia Capital Market Student Studies</a:t>
            </a:r>
            <a:r>
              <a:rPr lang="en-US" sz="95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. All right</a:t>
            </a:r>
            <a:r>
              <a:rPr lang="en-US" sz="95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 reserved.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3366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341012" y="2718770"/>
            <a:ext cx="7460742" cy="746074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1F1B">
                    <a:alpha val="22000"/>
                  </a:srgbClr>
                </a:gs>
                <a:gs pos="100000">
                  <a:srgbClr val="848484">
                    <a:alpha val="17050"/>
                  </a:srgbClr>
                </a:gs>
              </a:gsLst>
              <a:lin ang="0"/>
            </a:gradFill>
            <a:ln w="19050" cap="sq">
              <a:gradFill>
                <a:gsLst>
                  <a:gs pos="0">
                    <a:srgbClr val="FFFFFF">
                      <a:alpha val="22000"/>
                    </a:srgbClr>
                  </a:gs>
                  <a:gs pos="100000">
                    <a:srgbClr val="9B9B9B">
                      <a:alpha val="22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4564555" y="6205629"/>
            <a:ext cx="7460742" cy="7460742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48484">
                    <a:alpha val="20925"/>
                  </a:srgbClr>
                </a:gs>
                <a:gs pos="100000">
                  <a:srgbClr val="001F1B">
                    <a:alpha val="27000"/>
                  </a:srgbClr>
                </a:gs>
              </a:gsLst>
              <a:lin ang="0"/>
            </a:gradFill>
            <a:ln w="19050" cap="sq">
              <a:gradFill>
                <a:gsLst>
                  <a:gs pos="0">
                    <a:srgbClr val="FFFFFF">
                      <a:alpha val="27000"/>
                    </a:srgbClr>
                  </a:gs>
                  <a:gs pos="100000">
                    <a:srgbClr val="9B9B9B">
                      <a:alpha val="27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756000" y="3865312"/>
            <a:ext cx="6473944" cy="2970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8"/>
              </a:lnSpc>
            </a:pPr>
            <a:r>
              <a:rPr lang="en-US" b="true" sz="4990" spc="-409">
                <a:gradFill>
                  <a:gsLst>
                    <a:gs pos="0">
                      <a:srgbClr val="E6E6E6">
                        <a:alpha val="100000"/>
                      </a:srgbClr>
                    </a:gs>
                    <a:gs pos="100000">
                      <a:srgbClr val="848484">
                        <a:alpha val="77500"/>
                      </a:srgbClr>
                    </a:gs>
                  </a:gsLst>
                  <a:lin ang="0"/>
                </a:gradFill>
                <a:latin typeface="DM Sans Bold"/>
                <a:ea typeface="DM Sans Bold"/>
                <a:cs typeface="DM Sans Bold"/>
                <a:sym typeface="DM Sans Bold"/>
              </a:rPr>
              <a:t>Together, we turn potential into progress and learning into lasting impact.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-3730371" y="-1828984"/>
            <a:ext cx="7460742" cy="7460742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48484">
                    <a:alpha val="17050"/>
                  </a:srgbClr>
                </a:gs>
                <a:gs pos="100000">
                  <a:srgbClr val="001F1B">
                    <a:alpha val="22000"/>
                  </a:srgbClr>
                </a:gs>
              </a:gsLst>
              <a:lin ang="0"/>
            </a:gradFill>
            <a:ln w="19050" cap="sq">
              <a:gradFill>
                <a:gsLst>
                  <a:gs pos="0">
                    <a:srgbClr val="FFFFFF">
                      <a:alpha val="22000"/>
                    </a:srgbClr>
                  </a:gs>
                  <a:gs pos="100000">
                    <a:srgbClr val="9B9B9B">
                      <a:alpha val="22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6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106135" y="10265089"/>
            <a:ext cx="1347730" cy="177158"/>
            <a:chOff x="0" y="0"/>
            <a:chExt cx="1796974" cy="236211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236211" cy="236211"/>
              <a:chOff x="0" y="0"/>
              <a:chExt cx="97641" cy="97641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97641" cy="97641"/>
              </a:xfrm>
              <a:custGeom>
                <a:avLst/>
                <a:gdLst/>
                <a:ahLst/>
                <a:cxnLst/>
                <a:rect r="r" b="b" t="t" l="l"/>
                <a:pathLst>
                  <a:path h="97641" w="97641">
                    <a:moveTo>
                      <a:pt x="48821" y="0"/>
                    </a:moveTo>
                    <a:lnTo>
                      <a:pt x="48821" y="0"/>
                    </a:lnTo>
                    <a:cubicBezTo>
                      <a:pt x="61769" y="0"/>
                      <a:pt x="74186" y="5144"/>
                      <a:pt x="83342" y="14299"/>
                    </a:cubicBezTo>
                    <a:cubicBezTo>
                      <a:pt x="92498" y="23455"/>
                      <a:pt x="97641" y="35873"/>
                      <a:pt x="97641" y="48821"/>
                    </a:cubicBezTo>
                    <a:lnTo>
                      <a:pt x="97641" y="48821"/>
                    </a:lnTo>
                    <a:cubicBezTo>
                      <a:pt x="97641" y="75783"/>
                      <a:pt x="75783" y="97641"/>
                      <a:pt x="48821" y="97641"/>
                    </a:cubicBezTo>
                    <a:lnTo>
                      <a:pt x="48821" y="97641"/>
                    </a:lnTo>
                    <a:cubicBezTo>
                      <a:pt x="21858" y="97641"/>
                      <a:pt x="0" y="75783"/>
                      <a:pt x="0" y="48821"/>
                    </a:cubicBezTo>
                    <a:lnTo>
                      <a:pt x="0" y="48821"/>
                    </a:lnTo>
                    <a:cubicBezTo>
                      <a:pt x="0" y="21858"/>
                      <a:pt x="21858" y="0"/>
                      <a:pt x="48821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9B9B9B">
                      <a:alpha val="100000"/>
                    </a:srgbClr>
                  </a:gs>
                </a:gsLst>
                <a:lin ang="5400000"/>
              </a:gra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47625"/>
                <a:ext cx="97641" cy="145266"/>
              </a:xfrm>
              <a:prstGeom prst="rect">
                <a:avLst/>
              </a:prstGeom>
            </p:spPr>
            <p:txBody>
              <a:bodyPr anchor="ctr" rtlCol="false" tIns="24275" lIns="24275" bIns="24275" rIns="24275"/>
              <a:lstStyle/>
              <a:p>
                <a:pPr algn="ctr">
                  <a:lnSpc>
                    <a:spcPts val="2222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16643" y="17527"/>
              <a:ext cx="202925" cy="2106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140"/>
                </a:lnSpc>
              </a:pPr>
              <a:r>
                <a:rPr lang="en-US" b="true" sz="1086" spc="-31">
                  <a:gradFill>
                    <a:gsLst>
                      <a:gs pos="0">
                        <a:srgbClr val="000000">
                          <a:alpha val="100000"/>
                        </a:srgbClr>
                      </a:gs>
                      <a:gs pos="100000">
                        <a:srgbClr val="343434">
                          <a:alpha val="86000"/>
                        </a:srgbClr>
                      </a:gs>
                    </a:gsLst>
                    <a:lin ang="0"/>
                  </a:gradFill>
                  <a:latin typeface="DM Sans Bold"/>
                  <a:ea typeface="DM Sans Bold"/>
                  <a:cs typeface="DM Sans Bold"/>
                  <a:sym typeface="DM Sans Bold"/>
                </a:rPr>
                <a:t>in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276860" y="-28575"/>
              <a:ext cx="1520114" cy="2551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27"/>
                </a:lnSpc>
                <a:spcBef>
                  <a:spcPct val="0"/>
                </a:spcBef>
              </a:pPr>
              <a:r>
                <a:rPr lang="en-US" sz="1162">
                  <a:gradFill>
                    <a:gsLst>
                      <a:gs pos="0">
                        <a:srgbClr val="FFFFFF">
                          <a:alpha val="100000"/>
                        </a:srgbClr>
                      </a:gs>
                      <a:gs pos="100000">
                        <a:srgbClr val="EFEFEF">
                          <a:alpha val="100000"/>
                        </a:srgbClr>
                      </a:gs>
                    </a:gsLst>
                    <a:lin ang="5400000"/>
                  </a:gradFill>
                  <a:latin typeface="DM Sans"/>
                  <a:ea typeface="DM Sans"/>
                  <a:cs typeface="DM Sans"/>
                  <a:sym typeface="DM Sans"/>
                </a:rPr>
                <a:t>notintofinance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756000" y="9305067"/>
            <a:ext cx="193969" cy="190817"/>
          </a:xfrm>
          <a:custGeom>
            <a:avLst/>
            <a:gdLst/>
            <a:ahLst/>
            <a:cxnLst/>
            <a:rect r="r" b="b" t="t" l="l"/>
            <a:pathLst>
              <a:path h="190817" w="193969">
                <a:moveTo>
                  <a:pt x="0" y="0"/>
                </a:moveTo>
                <a:lnTo>
                  <a:pt x="193969" y="0"/>
                </a:lnTo>
                <a:lnTo>
                  <a:pt x="193969" y="190818"/>
                </a:lnTo>
                <a:lnTo>
                  <a:pt x="0" y="1908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996361" y="9282341"/>
            <a:ext cx="1130970" cy="207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 i="true">
                <a:solidFill>
                  <a:srgbClr val="FFFFFF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Contact Person: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56000" y="9518706"/>
            <a:ext cx="5543309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+62 812 9636 5009 - Thymoty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6000" y="9728305"/>
            <a:ext cx="5543309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+62 878 8588 8879 - Kyna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499779" y="756000"/>
            <a:ext cx="411005" cy="421795"/>
          </a:xfrm>
          <a:custGeom>
            <a:avLst/>
            <a:gdLst/>
            <a:ahLst/>
            <a:cxnLst/>
            <a:rect r="r" b="b" t="t" l="l"/>
            <a:pathLst>
              <a:path h="421795" w="411005">
                <a:moveTo>
                  <a:pt x="0" y="0"/>
                </a:moveTo>
                <a:lnTo>
                  <a:pt x="411005" y="0"/>
                </a:lnTo>
                <a:lnTo>
                  <a:pt x="411005" y="421795"/>
                </a:lnTo>
                <a:lnTo>
                  <a:pt x="0" y="4217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0447" t="-144434" r="-490104" b="-139546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437500" y="713076"/>
            <a:ext cx="468982" cy="464718"/>
          </a:xfrm>
          <a:custGeom>
            <a:avLst/>
            <a:gdLst/>
            <a:ahLst/>
            <a:cxnLst/>
            <a:rect r="r" b="b" t="t" l="l"/>
            <a:pathLst>
              <a:path h="464718" w="468982">
                <a:moveTo>
                  <a:pt x="0" y="0"/>
                </a:moveTo>
                <a:lnTo>
                  <a:pt x="468982" y="0"/>
                </a:lnTo>
                <a:lnTo>
                  <a:pt x="468982" y="464719"/>
                </a:lnTo>
                <a:lnTo>
                  <a:pt x="0" y="4647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075124" y="789276"/>
            <a:ext cx="230303" cy="388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2"/>
              </a:lnSpc>
            </a:pPr>
            <a:r>
              <a:rPr lang="en-US" b="true" sz="3101" spc="-254">
                <a:gradFill>
                  <a:gsLst>
                    <a:gs pos="0">
                      <a:srgbClr val="F7FFA1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DAHXEIv1R2Q</dc:identifier>
  <dcterms:modified xsi:type="dcterms:W3CDTF">2011-08-01T06:04:30Z</dcterms:modified>
  <cp:revision>1</cp:revision>
  <dc:title>Partnership NIFI x ICMSS</dc:title>
</cp:coreProperties>
</file>