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95acb7df854b79" /><Relationship Type="http://schemas.openxmlformats.org/officeDocument/2006/relationships/extended-properties" Target="/docProps/app.xml" Id="R0b8406072e614180" /><Relationship Type="http://schemas.openxmlformats.org/officeDocument/2006/relationships/officeDocument" Target="/ppt/presentation.xml" Id="Rdbc8e39a2f394d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f1b1e41a7f4e57"/>
  </p:sldMasterIdLst>
  <p:notesMasterIdLst>
    <p:notesMasterId xmlns:r="http://schemas.openxmlformats.org/officeDocument/2006/relationships" r:id="R4c4bf97fb1584b71"/>
  </p:notesMasterIdLst>
  <p:sldIdLst>
    <p:sldId xmlns:r="http://schemas.openxmlformats.org/officeDocument/2006/relationships" id="256" r:id="R753ed222eb494e2a"/>
    <p:sldId xmlns:r="http://schemas.openxmlformats.org/officeDocument/2006/relationships" id="257" r:id="R8e3dccd3162a4589"/>
    <p:sldId xmlns:r="http://schemas.openxmlformats.org/officeDocument/2006/relationships" id="258" r:id="R531066f2237440d9"/>
    <p:sldId xmlns:r="http://schemas.openxmlformats.org/officeDocument/2006/relationships" id="259" r:id="R5a707610782b4f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91ba1ecd10453c" /><Relationship Type="http://schemas.openxmlformats.org/officeDocument/2006/relationships/slideMaster" Target="/ppt/slideMasters/slideMaster1.xml" Id="Rfaf1b1e41a7f4e57" /><Relationship Type="http://schemas.openxmlformats.org/officeDocument/2006/relationships/notesMaster" Target="/ppt/notesMasters/notesMaster1.xml" Id="R4c4bf97fb1584b71" /><Relationship Type="http://schemas.openxmlformats.org/officeDocument/2006/relationships/presProps" Target="/ppt/presProps.xml" Id="Rb6965c74460d4aa4" /><Relationship Type="http://schemas.openxmlformats.org/officeDocument/2006/relationships/viewProps" Target="/ppt/viewProps.xml" Id="R835fca34800a493d" /><Relationship Type="http://schemas.openxmlformats.org/officeDocument/2006/relationships/tableStyles" Target="/ppt/tableStyles.xml" Id="R27bdf85e8e854e99" /><Relationship Type="http://schemas.openxmlformats.org/officeDocument/2006/relationships/slide" Target="/ppt/slides/slide1.xml" Id="R753ed222eb494e2a" /><Relationship Type="http://schemas.openxmlformats.org/officeDocument/2006/relationships/slide" Target="/ppt/slides/slide2.xml" Id="R8e3dccd3162a4589" /><Relationship Type="http://schemas.openxmlformats.org/officeDocument/2006/relationships/slide" Target="/ppt/slides/slide3.xml" Id="R531066f2237440d9" /><Relationship Type="http://schemas.openxmlformats.org/officeDocument/2006/relationships/slide" Target="/ppt/slides/slide4.xml" Id="R5a707610782b4f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ddc0d0314a42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25553c4bfb488f" /><Relationship Type="http://schemas.openxmlformats.org/officeDocument/2006/relationships/notesMaster" Target="/ppt/notesMasters/notesMaster1.xml" Id="R456f688e31494f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10576e40ea4bb5" /><Relationship Type="http://schemas.openxmlformats.org/officeDocument/2006/relationships/notesMaster" Target="/ppt/notesMasters/notesMaster1.xml" Id="R4b2d053056b140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e5c8ea03b74e9c" /><Relationship Type="http://schemas.openxmlformats.org/officeDocument/2006/relationships/notesMaster" Target="/ppt/notesMasters/notesMaster1.xml" Id="Rfd21fd61ab0f4c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070dcef4354640" /><Relationship Type="http://schemas.openxmlformats.org/officeDocument/2006/relationships/notesMaster" Target="/ppt/notesMasters/notesMaster1.xml" Id="R295c4c2f0ad64b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/Users/agatbe/Downloads/TIM - 3.xlsx; BSDE Annual Report 2025; BSDE 1H26 Financial Statements and press release; PEFINDO Rating Summary dated 18 March 2026.</a:t>
            </a:r>
            <a:endParaRPr/>
          </a:p>
          <a:p xmlns:a="http://schemas.openxmlformats.org/drawingml/2006/main">
            <a:r>
              <a:t>https://www.bsdcity.com/app/uploads/2026/04/BSDE-Annual-Report-2025.pdf</a:t>
            </a:r>
            <a:endParaRPr/>
          </a:p>
          <a:p xmlns:a="http://schemas.openxmlformats.org/drawingml/2006/main">
            <a:r>
              <a:t>https://www.bsdcity.com/app/uploads/2026/07/BSDE-LK-Q2-2026.pdf</a:t>
            </a:r>
            <a:endParaRPr/>
          </a:p>
          <a:p xmlns:a="http://schemas.openxmlformats.org/drawingml/2006/main">
            <a:r>
              <a:t>https://cms.sinarmasland.com/uploads/BSDE_Press_Release_31_07_2026_8ec616fbb1.pdf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 Figures are in IDR million unless stated otherwise. The 1H26 column aggregates 1Q26 and 2Q26 for P&amp;L and cash flow items and uses 2Q26 ending balances for balance-sheet and ratio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 Annual data are FY figures; 1H26 revenue and profit margin are cumulative, while total assets, liabilities, equity, ROA and ROE use the latest 2Q26 workbook values.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</a:t>
            </a:r>
            <a:endParaRPr/>
          </a:p>
          <a:p xmlns:a="http://schemas.openxmlformats.org/drawingml/2006/main">
            <a:r>
              <a:t>Company-defined 1H26 capital expenditure was IDR3.25tn including IDR2.51tn of land purchases. The workbook capital-expenditure series excludes land purchases, which property developers classify in operating cash flow.</a:t>
            </a:r>
            <a:endParaRPr/>
          </a:p>
          <a:p xmlns:a="http://schemas.openxmlformats.org/drawingml/2006/main">
            <a:r>
              <a:t>https://cms.sinarmasland.com/uploads/BSDE_Press_Release_31_07_2026_8ec616fbb1.pdf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65bb08b4e4a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3796715f346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ae78ecb4442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96a73416e45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fce36cdb547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7af097c1d4c1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70645b20b4d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ed82a5904425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f6079edcc4a9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8b8c5064e45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aaf070500440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649595-8991-F93B-D011-05F921BD7AF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0F53D45-FDD2-316B-4069-B5F586E3DF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81030E-D60A-AD35-00B2-C06DE2ABE6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69F748-B750-0295-19F3-C36EAE3843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81C434-A940-4531-8760-FDFE25EE5C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30F649-5DE4-50A7-35FC-43B36BCBF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2BCD34C-A0E0-03D5-7B46-68E20A272B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93B4C6-5737-FF4D-C6D1-FE91BC4781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40690F-634A-813D-AA4A-94DB06F431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B69A9A-EE12-F453-A2E6-72A9D3AB64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C85846-0705-CF4B-8F3B-5FBEF3ABA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03F4E1-6E66-D396-AD22-E5E5F8775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75FD25-D829-A5A4-57D5-EDDE834D97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AEBF84-823E-17C0-2B97-EC31285C09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06C37C-0293-76ED-BFB5-888C464055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DEF68B-023B-4656-9B7A-8A80AF7FFD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8AAF83-50D0-7093-A729-E90FB5C0FC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E9AED08-201C-5208-8C30-A6964539C5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138FD2-17F5-3609-9053-5639712C49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9E465F-22D5-C665-77CF-E08C1E1D52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EADB7A-4E48-61EE-3327-0ADF61D952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07964D-DFB3-EDB0-6165-919D56D99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5CB428-099D-DC6E-CC5A-AA4AF921B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5133F4-2967-1CFE-BC81-7177EC2740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718077F-7442-C082-2DBF-5572F4C0C4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4DBE69E-1374-1D84-F45F-723EEF562B5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BBC7D4D-B6A3-5309-F9FB-2EAE3183CF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3125A1B-21D0-51A1-4C90-BCF6A9F2C0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DBD7231-0D22-CA9C-8C58-0FC8AF5B0C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5B142D-B1C8-A04F-DB04-913DB4F99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CF0B34E-3E7F-CA8E-0408-1EE9214754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FB50067-2120-C824-81B3-4041027535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7312D05-573D-1F57-72AC-A0F3CE815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89AD53E-97D1-6670-2201-0DBFB201FC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9731C8D-68D2-AEE1-3A71-1D9D99C782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88D3C87-B564-88C9-9EFD-1AB08F4C13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1141AE-B2F9-8374-493E-8F67C6978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5DCE6C-1501-33D4-4D23-6035839BEF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5F433E-D276-1347-4A8E-00C1E5A08C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1B970C1-5B3D-12B4-C338-7E7CF7CC90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763E853-FFED-909B-B931-28044DF853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4AA7B6-9E0D-E1DC-046E-2EEED50FA0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A59102-92E6-60C5-941D-3C90711C9E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359C041-E08C-E99C-361B-ACCD4F09CF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33B35D-E609-97FF-8396-EE08B7674C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3B490A-AD5E-4E9A-DC19-07E3E03F1B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F861614-47BA-D53A-8246-0C9A6E986F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68CAD1-76AC-251F-577F-B1AE936893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095A50-2F51-7D9E-32A7-1CCEC5D0B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A50E9F-2BE0-E71D-6758-8CE8364ADA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06490C-81DA-A3A3-4CE2-1BF1EBF9BF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BD4C2A-7C58-1C46-5671-AF59E7C7CD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79E813-502F-4823-F1DA-DC57F5428C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91F163-43DA-C5E5-4048-EB858AD08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DB0EAB-330A-1E0A-296A-3C320CC54B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FA2AF7-ADA6-331E-A02E-78A5531CD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353AB3-E6D1-9CB7-AF48-CE5968CA4A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32568E-B049-EA63-B0BA-B34470B091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385e3327414719" /><Relationship Type="http://schemas.openxmlformats.org/officeDocument/2006/relationships/slideLayout" Target="/ppt/slideLayouts/slideLayout1.xml" Id="R229bdd6d1189451b" /><Relationship Type="http://schemas.openxmlformats.org/officeDocument/2006/relationships/slideLayout" Target="/ppt/slideLayouts/slideLayout2.xml" Id="R198bb27ebed64c5e" /><Relationship Type="http://schemas.openxmlformats.org/officeDocument/2006/relationships/slideLayout" Target="/ppt/slideLayouts/slideLayout3.xml" Id="R7cc56c9fbb6647f2" /><Relationship Type="http://schemas.openxmlformats.org/officeDocument/2006/relationships/slideLayout" Target="/ppt/slideLayouts/slideLayout4.xml" Id="R4f3156f63e1f46f9" /><Relationship Type="http://schemas.openxmlformats.org/officeDocument/2006/relationships/slideLayout" Target="/ppt/slideLayouts/slideLayout5.xml" Id="R24a98aceb9f44fd7" /><Relationship Type="http://schemas.openxmlformats.org/officeDocument/2006/relationships/slideLayout" Target="/ppt/slideLayouts/slideLayout6.xml" Id="Rbc224233f64b4f7e" /><Relationship Type="http://schemas.openxmlformats.org/officeDocument/2006/relationships/slideLayout" Target="/ppt/slideLayouts/slideLayout7.xml" Id="R2a9cfc16467941d8" /><Relationship Type="http://schemas.openxmlformats.org/officeDocument/2006/relationships/slideLayout" Target="/ppt/slideLayouts/slideLayout8.xml" Id="R8fafddd91de44433" /><Relationship Type="http://schemas.openxmlformats.org/officeDocument/2006/relationships/slideLayout" Target="/ppt/slideLayouts/slideLayout9.xml" Id="Re70310c6fff34cf5" /><Relationship Type="http://schemas.openxmlformats.org/officeDocument/2006/relationships/slideLayout" Target="/ppt/slideLayouts/slideLayout10.xml" Id="Rf1896dc10f2149b1" /><Relationship Type="http://schemas.openxmlformats.org/officeDocument/2006/relationships/slideLayout" Target="/ppt/slideLayouts/slideLayout11.xml" Id="Rcb98ca7506bc458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F60F7D-BCBA-C720-1CF9-C05AEDD64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3C4CEA-B021-87BF-254B-EB10335687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5C9356-17DD-A1F5-CEF4-D09C24344E6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D3EE79-D6C3-EE3B-C48C-6E312DE4992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9A582D-040D-6BF1-C43C-14C898B518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9bdd6d1189451b"/>
    <p:sldLayoutId xmlns:r="http://schemas.openxmlformats.org/officeDocument/2006/relationships" id="2147483650" r:id="R198bb27ebed64c5e"/>
    <p:sldLayoutId xmlns:r="http://schemas.openxmlformats.org/officeDocument/2006/relationships" id="2147483651" r:id="R7cc56c9fbb6647f2"/>
    <p:sldLayoutId xmlns:r="http://schemas.openxmlformats.org/officeDocument/2006/relationships" id="2147483652" r:id="R4f3156f63e1f46f9"/>
    <p:sldLayoutId xmlns:r="http://schemas.openxmlformats.org/officeDocument/2006/relationships" id="2147483653" r:id="R24a98aceb9f44fd7"/>
    <p:sldLayoutId xmlns:r="http://schemas.openxmlformats.org/officeDocument/2006/relationships" id="2147483654" r:id="Rbc224233f64b4f7e"/>
    <p:sldLayoutId xmlns:r="http://schemas.openxmlformats.org/officeDocument/2006/relationships" id="2147483655" r:id="R2a9cfc16467941d8"/>
    <p:sldLayoutId xmlns:r="http://schemas.openxmlformats.org/officeDocument/2006/relationships" id="2147483656" r:id="R8fafddd91de44433"/>
    <p:sldLayoutId xmlns:r="http://schemas.openxmlformats.org/officeDocument/2006/relationships" id="2147483657" r:id="Re70310c6fff34cf5"/>
    <p:sldLayoutId xmlns:r="http://schemas.openxmlformats.org/officeDocument/2006/relationships" id="2147483658" r:id="Rf1896dc10f2149b1"/>
    <p:sldLayoutId xmlns:r="http://schemas.openxmlformats.org/officeDocument/2006/relationships" id="2147483659" r:id="Rcb98ca7506bc458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b095f6be240c6" /><Relationship Type="http://schemas.openxmlformats.org/officeDocument/2006/relationships/chart" Target="/ppt/slides/charts/chart1.xml" Id="Rd7b0728fd9c14078" /><Relationship Type="http://schemas.openxmlformats.org/officeDocument/2006/relationships/chart" Target="/ppt/slides/charts/chart2.xml" Id="R00437e61088a431f" /><Relationship Type="http://schemas.openxmlformats.org/officeDocument/2006/relationships/chart" Target="/ppt/slides/charts/chart3.xml" Id="Rc7f8b9b4890a479c" /><Relationship Type="http://schemas.openxmlformats.org/officeDocument/2006/relationships/notesSlide" Target="/ppt/notesSlides/notesSlide1.xml" Id="R0f55da3b2f2a4e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6f603d19e74580" /><Relationship Type="http://schemas.openxmlformats.org/officeDocument/2006/relationships/notesSlide" Target="/ppt/notesSlides/notesSlide2.xml" Id="R8b3d4e32781e4b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0e613f62284c88" /><Relationship Type="http://schemas.openxmlformats.org/officeDocument/2006/relationships/chart" Target="/ppt/slides/charts/chart4.xml" Id="Rd3cd27a4658f458c" /><Relationship Type="http://schemas.openxmlformats.org/officeDocument/2006/relationships/chart" Target="/ppt/slides/charts/chart5.xml" Id="R55d9bf14e015436a" /><Relationship Type="http://schemas.openxmlformats.org/officeDocument/2006/relationships/chart" Target="/ppt/slides/charts/chart6.xml" Id="R570ba8f1783f4b9f" /><Relationship Type="http://schemas.openxmlformats.org/officeDocument/2006/relationships/chart" Target="/ppt/slides/charts/chart7.xml" Id="Rfb1ad452c1324f4c" /><Relationship Type="http://schemas.openxmlformats.org/officeDocument/2006/relationships/chart" Target="/ppt/slides/charts/chart8.xml" Id="Re9066da90a0c4858" /><Relationship Type="http://schemas.openxmlformats.org/officeDocument/2006/relationships/chart" Target="/ppt/slides/charts/chart9.xml" Id="R8de1f7597c9542fd" /><Relationship Type="http://schemas.openxmlformats.org/officeDocument/2006/relationships/notesSlide" Target="/ppt/notesSlides/notesSlide3.xml" Id="R6141d11456d94c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383077670c4f11" /><Relationship Type="http://schemas.openxmlformats.org/officeDocument/2006/relationships/chart" Target="/ppt/slides/charts/chart10.xml" Id="Rc6d5424ebb07484b" /><Relationship Type="http://schemas.openxmlformats.org/officeDocument/2006/relationships/chart" Target="/ppt/slides/charts/chart11.xml" Id="R33de4fe6e4694420" /><Relationship Type="http://schemas.openxmlformats.org/officeDocument/2006/relationships/chart" Target="/ppt/slides/charts/chart12.xml" Id="Rfd8dec5b6a04429c" /><Relationship Type="http://schemas.openxmlformats.org/officeDocument/2006/relationships/chart" Target="/ppt/slides/charts/chart13.xml" Id="R89498a1f34fc4210" /><Relationship Type="http://schemas.openxmlformats.org/officeDocument/2006/relationships/chart" Target="/ppt/slides/charts/chart14.xml" Id="R262d439b09cd463b" /><Relationship Type="http://schemas.openxmlformats.org/officeDocument/2006/relationships/chart" Target="/ppt/slides/charts/chart15.xml" Id="Rc525daf0ca0f4560" /><Relationship Type="http://schemas.openxmlformats.org/officeDocument/2006/relationships/notesSlide" Target="/ppt/notesSlides/notesSlide4.xml" Id="Rb340812805214f7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Free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Free Cash Flow</c:v>
              </c:pt>
            </c:strLit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4527.2</c:v>
                </c:pt>
                <c:pt idx="1">
                  <c:v>1083.43</c:v>
                </c:pt>
                <c:pt idx="2">
                  <c:v>2172.89</c:v>
                </c:pt>
                <c:pt idx="3">
                  <c:v>971.41</c:v>
                </c:pt>
                <c:pt idx="4">
                  <c:v>2863.83</c:v>
                </c:pt>
                <c:pt idx="5">
                  <c:v>2618.35</c:v>
                </c:pt>
                <c:pt idx="6">
                  <c:v>630.86</c:v>
                </c:pt>
                <c:pt idx="7">
                  <c:v>224.08</c:v>
                </c:pt>
                <c:pt idx="8">
                  <c:v>-1674.51</c:v>
                </c:pt>
                <c:pt idx="9">
                  <c:v>-1478.61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Net Debt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Net Debt</c:v>
              </c:pt>
            </c:strLit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2520.67</c:v>
                </c:pt>
                <c:pt idx="1">
                  <c:v>3430.45</c:v>
                </c:pt>
                <c:pt idx="2">
                  <c:v>3184.77</c:v>
                </c:pt>
                <c:pt idx="3">
                  <c:v>1918.69</c:v>
                </c:pt>
                <c:pt idx="4">
                  <c:v>153.73</c:v>
                </c:pt>
                <c:pt idx="5">
                  <c:v>38.63</c:v>
                </c:pt>
                <c:pt idx="6">
                  <c:v>1025.23</c:v>
                </c:pt>
                <c:pt idx="7">
                  <c:v>3454.3</c:v>
                </c:pt>
                <c:pt idx="8">
                  <c:v>4614.04</c:v>
                </c:pt>
                <c:pt idx="9">
                  <c:v>8761.26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Net Income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Net Income</c:v>
              </c:pt>
            </c:strLit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4920.23</c:v>
                </c:pt>
                <c:pt idx="1">
                  <c:v>1293.85</c:v>
                </c:pt>
                <c:pt idx="2">
                  <c:v>2791.42</c:v>
                </c:pt>
                <c:pt idx="3">
                  <c:v>281.7</c:v>
                </c:pt>
                <c:pt idx="4">
                  <c:v>1348.62</c:v>
                </c:pt>
                <c:pt idx="5">
                  <c:v>2433.15</c:v>
                </c:pt>
                <c:pt idx="6">
                  <c:v>1945.47</c:v>
                </c:pt>
                <c:pt idx="7">
                  <c:v>4359.06</c:v>
                </c:pt>
                <c:pt idx="8">
                  <c:v>2545.38</c:v>
                </c:pt>
                <c:pt idx="9">
                  <c:v>603.9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4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Profit Margin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Profit Margin (%)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47.55</c:v>
                </c:pt>
                <c:pt idx="1">
                  <c:v>19.52</c:v>
                </c:pt>
                <c:pt idx="2">
                  <c:v>39.4</c:v>
                </c:pt>
                <c:pt idx="3">
                  <c:v>4.56</c:v>
                </c:pt>
                <c:pt idx="4">
                  <c:v>17.62</c:v>
                </c:pt>
                <c:pt idx="5">
                  <c:v>23.77</c:v>
                </c:pt>
                <c:pt idx="6">
                  <c:v>16.86</c:v>
                </c:pt>
                <c:pt idx="7">
                  <c:v>31.6</c:v>
                </c:pt>
                <c:pt idx="8">
                  <c:v>19.9</c:v>
                </c:pt>
                <c:pt idx="9">
                  <c:v>12.71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Return on Equity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Return on Equity (%)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21.4</c:v>
                </c:pt>
                <c:pt idx="1">
                  <c:v>5.02</c:v>
                </c:pt>
                <c:pt idx="2">
                  <c:v>10.08</c:v>
                </c:pt>
                <c:pt idx="3">
                  <c:v>0.95</c:v>
                </c:pt>
                <c:pt idx="4">
                  <c:v>4.38</c:v>
                </c:pt>
                <c:pt idx="5">
                  <c:v>7.48</c:v>
                </c:pt>
                <c:pt idx="6">
                  <c:v>5.55</c:v>
                </c:pt>
                <c:pt idx="7">
                  <c:v>11.27</c:v>
                </c:pt>
                <c:pt idx="8">
                  <c:v>6.01</c:v>
                </c:pt>
                <c:pt idx="9">
                  <c:v>4.26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6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Return on Assets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Return on Assets (%)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11.65</c:v>
                </c:pt>
                <c:pt idx="1">
                  <c:v>2.64</c:v>
                </c:pt>
                <c:pt idx="2">
                  <c:v>5.23</c:v>
                </c:pt>
                <c:pt idx="3">
                  <c:v>0.49</c:v>
                </c:pt>
                <c:pt idx="4">
                  <c:v>2.2</c:v>
                </c:pt>
                <c:pt idx="5">
                  <c:v>3.85</c:v>
                </c:pt>
                <c:pt idx="6">
                  <c:v>2.95</c:v>
                </c:pt>
                <c:pt idx="7">
                  <c:v>6.1</c:v>
                </c:pt>
                <c:pt idx="8">
                  <c:v>3.28</c:v>
                </c:pt>
                <c:pt idx="9">
                  <c:v>2.35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7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Revenue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Revenue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10.35</c:v>
                </c:pt>
                <c:pt idx="1">
                  <c:v>6.63</c:v>
                </c:pt>
                <c:pt idx="2">
                  <c:v>7.08</c:v>
                </c:pt>
                <c:pt idx="3">
                  <c:v>6.18</c:v>
                </c:pt>
                <c:pt idx="4">
                  <c:v>7.65</c:v>
                </c:pt>
                <c:pt idx="5">
                  <c:v>10.24</c:v>
                </c:pt>
                <c:pt idx="6">
                  <c:v>11.54</c:v>
                </c:pt>
                <c:pt idx="7">
                  <c:v>13.8</c:v>
                </c:pt>
                <c:pt idx="8">
                  <c:v>12.79</c:v>
                </c:pt>
                <c:pt idx="9">
                  <c:v>4.75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8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Total Assets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Total Assets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0%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0.00%</c:formatCode>
                <c:ptCount val="10"/>
                <c:pt idx="0">
                  <c:v>45.95</c:v>
                </c:pt>
                <c:pt idx="1">
                  <c:v>52.19</c:v>
                </c:pt>
                <c:pt idx="2">
                  <c:v>54.54</c:v>
                </c:pt>
                <c:pt idx="3">
                  <c:v>60.86</c:v>
                </c:pt>
                <c:pt idx="4">
                  <c:v>61.47</c:v>
                </c:pt>
                <c:pt idx="5">
                  <c:v>65</c:v>
                </c:pt>
                <c:pt idx="6">
                  <c:v>66.83</c:v>
                </c:pt>
                <c:pt idx="7">
                  <c:v>76.02</c:v>
                </c:pt>
                <c:pt idx="8">
                  <c:v>79.27</c:v>
                </c:pt>
                <c:pt idx="9">
                  <c:v>81.94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9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Capital Structure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ysClr val="windowText" lastClr="000000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9496806538531846"/>
          <c:y val="0.21433841084997937"/>
          <c:w val="0.9276297606938425"/>
          <c:h val="0.666235926492064"/>
        </c:manualLayout>
      </c:layout>
      <c:barChart>
        <c:barDir val="col"/>
        <c:grouping val="stacked"/>
        <c:varyColors val="0"/>
        <c:ser>
          <c:idx val="0"/>
          <c:order val="0"/>
          <c:tx>
            <c:strLit>
              <c:ptCount val="1"/>
              <c:pt idx="0">
                <c:v>Total Equity</c:v>
              </c:pt>
            </c:strLit>
          </c:tx>
          <c:spPr>
            <a:solidFill xmlns:a="http://schemas.openxmlformats.org/drawingml/2006/main">
              <a:srgbClr val="002060"/>
            </a:solidFill>
            <a:ln xmlns:a="http://schemas.openxmlformats.org/drawingml/2006/main">
              <a:noFill/>
            </a:ln>
          </c:spPr>
          <c:dLbls>
            <c:dLbl>
              <c:idx val="0"/>
            </c:dLbl>
            <c:dLbl>
              <c:idx val="1"/>
            </c:dLbl>
            <c:dLbl>
              <c:idx val="2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0.0</c:formatCode>
                <c:ptCount val="10"/>
                <c:pt idx="0">
                  <c:v>29.2</c:v>
                </c:pt>
                <c:pt idx="1">
                  <c:v>30.36</c:v>
                </c:pt>
                <c:pt idx="2">
                  <c:v>33.63</c:v>
                </c:pt>
                <c:pt idx="3">
                  <c:v>34.47</c:v>
                </c:pt>
                <c:pt idx="4">
                  <c:v>35.89</c:v>
                </c:pt>
                <c:pt idx="5">
                  <c:v>38.05</c:v>
                </c:pt>
                <c:pt idx="6">
                  <c:v>41.2</c:v>
                </c:pt>
                <c:pt idx="7">
                  <c:v>47.32</c:v>
                </c:pt>
                <c:pt idx="8">
                  <c:v>52.67</c:v>
                </c:pt>
                <c:pt idx="9">
                  <c:v>53.15</c:v>
                </c:pt>
              </c:numCache>
            </c:numRef>
          </c:val>
        </c:ser>
        <c:ser>
          <c:idx val="1"/>
          <c:order val="1"/>
          <c:tx>
            <c:strLit>
              <c:ptCount val="1"/>
              <c:pt idx="0">
                <c:v>Total Liabilities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Lbls>
            <c:dLbl>
              <c:idx val="8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Data'!$D$2:$D$11</c:f>
              <c:numCache>
                <c:formatCode>0.0</c:formatCode>
                <c:ptCount val="10"/>
                <c:pt idx="0">
                  <c:v>16.75</c:v>
                </c:pt>
                <c:pt idx="1">
                  <c:v>21.83</c:v>
                </c:pt>
                <c:pt idx="2">
                  <c:v>20.92</c:v>
                </c:pt>
                <c:pt idx="3">
                  <c:v>26.39</c:v>
                </c:pt>
                <c:pt idx="4">
                  <c:v>25.58</c:v>
                </c:pt>
                <c:pt idx="5">
                  <c:v>26.95</c:v>
                </c:pt>
                <c:pt idx="6">
                  <c:v>25.63</c:v>
                </c:pt>
                <c:pt idx="7">
                  <c:v>28.7</c:v>
                </c:pt>
                <c:pt idx="8">
                  <c:v>26.6</c:v>
                </c:pt>
                <c:pt idx="9">
                  <c:v>28.79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05085856"/>
        <c:axId val="905087776"/>
      </c:barChart>
      <c:catAx>
        <c:axId val="905085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pPr>
          </a:p>
        </c:txPr>
        <c:crossAx val="905087776"/>
        <c:crosses val="autoZero"/>
        <c:lblOffset val="100"/>
      </c:catAx>
      <c:valAx>
        <c:axId val="90508777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905085856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22633831196028287"/>
          <c:y val="0.17028511278903882"/>
          <c:w val="0.5341648917308583"/>
          <c:h val="0.08703357538430549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000" b="0" i="0" u="none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10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Quick Ratio (X)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Quick Ratio (X)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0.93</c:v>
                </c:pt>
                <c:pt idx="1">
                  <c:v>1.51</c:v>
                </c:pt>
                <c:pt idx="2">
                  <c:v>1.61</c:v>
                </c:pt>
                <c:pt idx="3">
                  <c:v>1.13</c:v>
                </c:pt>
                <c:pt idx="4">
                  <c:v>1.09</c:v>
                </c:pt>
                <c:pt idx="5">
                  <c:v>1.07</c:v>
                </c:pt>
                <c:pt idx="6">
                  <c:v>0.93</c:v>
                </c:pt>
                <c:pt idx="7">
                  <c:v>0.78</c:v>
                </c:pt>
                <c:pt idx="8">
                  <c:v>1.23</c:v>
                </c:pt>
                <c:pt idx="9">
                  <c:v>1.08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1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Debt to Equity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6190322236349486"/>
          <c:y val="0.17596823108959184"/>
          <c:w val="0.927619355527301"/>
          <c:h val="0.7095092937901203"/>
        </c:manualLayout>
      </c:layout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Debt to Equity (%)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#,##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31.09</c:v>
                </c:pt>
                <c:pt idx="1">
                  <c:v>45.96</c:v>
                </c:pt>
                <c:pt idx="2">
                  <c:v>39.87</c:v>
                </c:pt>
                <c:pt idx="3">
                  <c:v>49.67</c:v>
                </c:pt>
                <c:pt idx="4">
                  <c:v>33.42</c:v>
                </c:pt>
                <c:pt idx="5">
                  <c:v>31.48</c:v>
                </c:pt>
                <c:pt idx="6">
                  <c:v>28.72</c:v>
                </c:pt>
                <c:pt idx="7">
                  <c:v>30.55</c:v>
                </c:pt>
                <c:pt idx="8">
                  <c:v>31.14</c:v>
                </c:pt>
                <c:pt idx="9">
                  <c:v>35.16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2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Financial Leverage (X)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Financial Leverage (X)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1.84</c:v>
                </c:pt>
                <c:pt idx="1">
                  <c:v>1.9</c:v>
                </c:pt>
                <c:pt idx="2">
                  <c:v>1.93</c:v>
                </c:pt>
                <c:pt idx="3">
                  <c:v>1.94</c:v>
                </c:pt>
                <c:pt idx="4">
                  <c:v>1.99</c:v>
                </c:pt>
                <c:pt idx="5">
                  <c:v>1.94</c:v>
                </c:pt>
                <c:pt idx="6">
                  <c:v>1.88</c:v>
                </c:pt>
                <c:pt idx="7">
                  <c:v>1.85</c:v>
                </c:pt>
                <c:pt idx="8">
                  <c:v>1.83</c:v>
                </c:pt>
                <c:pt idx="9">
                  <c:v>1.82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3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Operating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Operating Cash Flow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dLbl>
              <c:idx val="6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4606.85</c:v>
                </c:pt>
                <c:pt idx="1">
                  <c:v>1125.47</c:v>
                </c:pt>
                <c:pt idx="2">
                  <c:v>2557.66</c:v>
                </c:pt>
                <c:pt idx="3">
                  <c:v>1103.95</c:v>
                </c:pt>
                <c:pt idx="4">
                  <c:v>2887.01</c:v>
                </c:pt>
                <c:pt idx="5">
                  <c:v>2816.81</c:v>
                </c:pt>
                <c:pt idx="6">
                  <c:v>1207.98</c:v>
                </c:pt>
                <c:pt idx="7">
                  <c:v>1046.66</c:v>
                </c:pt>
                <c:pt idx="8">
                  <c:v>-1351.7</c:v>
                </c:pt>
                <c:pt idx="9">
                  <c:v>-1370.74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4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Capital Expenditure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Capital Expenditure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-79.65</c:v>
                </c:pt>
                <c:pt idx="1">
                  <c:v>-42.04</c:v>
                </c:pt>
                <c:pt idx="2">
                  <c:v>-384.77</c:v>
                </c:pt>
                <c:pt idx="3">
                  <c:v>-132.54</c:v>
                </c:pt>
                <c:pt idx="4">
                  <c:v>-23.18</c:v>
                </c:pt>
                <c:pt idx="5">
                  <c:v>-198.46</c:v>
                </c:pt>
                <c:pt idx="6">
                  <c:v>-577.12</c:v>
                </c:pt>
                <c:pt idx="7">
                  <c:v>-822.57</c:v>
                </c:pt>
                <c:pt idx="8">
                  <c:v>-322.81</c:v>
                </c:pt>
                <c:pt idx="9">
                  <c:v>-107.86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5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Free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Free Cash Flow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4527.2</c:v>
                </c:pt>
                <c:pt idx="1">
                  <c:v>1083.43</c:v>
                </c:pt>
                <c:pt idx="2">
                  <c:v>2172.89</c:v>
                </c:pt>
                <c:pt idx="3">
                  <c:v>971.41</c:v>
                </c:pt>
                <c:pt idx="4">
                  <c:v>2863.83</c:v>
                </c:pt>
                <c:pt idx="5">
                  <c:v>2618.35</c:v>
                </c:pt>
                <c:pt idx="6">
                  <c:v>630.86</c:v>
                </c:pt>
                <c:pt idx="7">
                  <c:v>224.08</c:v>
                </c:pt>
                <c:pt idx="8">
                  <c:v>-1674.51</c:v>
                </c:pt>
                <c:pt idx="9">
                  <c:v>-1478.61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689D11E-9D9A-4EEC-88A8-F231947A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68580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83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0B5A95A-8B80-4F97-A4E6-A8C77F88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bg1"/>
                </a:solidFill>
              </a:rPr>
              <a:t>Bumi Serpong Damai</a:t>
            </a:r>
            <a:r>
              <a:rPr sz="32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(</a:t>
            </a:r>
            <a:r>
              <a:rPr sz="1600" b="1">
                <a:solidFill>
                  <a:schemeClr val="bg1"/>
                </a:solidFill>
              </a:rPr>
              <a:t>Pefindo</a:t>
            </a:r>
            <a:r>
              <a:rPr sz="1600" b="1">
                <a:solidFill>
                  <a:schemeClr val="bg1"/>
                </a:solidFill>
              </a:rPr>
              <a:t>: </a:t>
            </a:r>
            <a:r>
              <a:rPr sz="1600" b="1">
                <a:solidFill>
                  <a:schemeClr val="bg1"/>
                </a:solidFill>
              </a:rPr>
              <a:t>idAA</a:t>
            </a:r>
            <a:r>
              <a:rPr sz="1600" b="1">
                <a:solidFill>
                  <a:schemeClr val="bg1"/>
                </a:solidFill>
              </a:rPr>
              <a:t>)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A545B9D-FE55-4CAA-9558-9937F8D3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49" y="3445577"/>
            <a:ext cx="11423301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 i="1"/>
              <a:t>Profitability:</a:t>
            </a:r>
          </a:p>
          <a:p xmlns:a="http://schemas.openxmlformats.org/drawingml/2006/main">
            <a:r>
              <a:t>2025: Pendapatan turun 7,3% YoY menjadi Rp12,79 triliun dan laba bersih turun 41,6% menjadi Rp2,55 triliun. Penurunan laba terlihat tajam karena FY24 mencakup bargain purchase gain sekitar Rp1,55 triliun dari akuisisi SMDM. Tanpa pos tersebut, penurunan laba underlying diperkirakan sekitar 9,5%. Pada 1H26, pendapatan turun 25,6% dan laba bersih turun 53,1%, tetapi gross margin naik dari 63,5% menjadi 66,5% karena product mix dan recurring revenue tumbuh 19%.</a:t>
            </a:r>
          </a:p>
          <a:p xmlns:a="http://schemas.openxmlformats.org/drawingml/2006/main">
            <a:r>
              <a:rPr b="1" i="1"/>
              <a:t>Solvency:</a:t>
            </a:r>
          </a:p>
          <a:p xmlns:a="http://schemas.openxmlformats.org/drawingml/2006/main">
            <a:r>
              <a:t>1H26: Net debt meningkat dari Rp4,61 triliun pada FY25 menjadi Rp8,76 triliun. Debt-to-Equity naik dari 31,1% menjadi 35,2%, sementara net debt-to-equity mencapai 16,4%. Quick ratio turun dari 1,23x menjadi 1,08x, tetapi current ratio masih kuat di sekitar 3,56x. PEFINDO mempertahankan rating idAA dengan outlook stabil, meski debt-to-EBITDA FY25 naik menjadi 3,5x.</a:t>
            </a:r>
          </a:p>
          <a:p xmlns:a="http://schemas.openxmlformats.org/drawingml/2006/main">
            <a:r>
              <a:rPr b="1" i="1"/>
              <a:t>Free Cash Flow:</a:t>
            </a:r>
          </a:p>
          <a:p xmlns:a="http://schemas.openxmlformats.org/drawingml/2006/main">
            <a:r>
              <a:t>Free cash flow turun dari positif Rp224 miliar pada FY24 menjadi negatif Rp1,67 triliun pada FY25 dan negatif Rp1,48 triliun pada 1H26. Penerimaan pelanggan 1H26 tetap naik 15%, tetapi pembelian lahan mencapai Rp2,51 triliun. Marketing sales Rp5,12 triliun telah mencapai 51% target FY26, sehingga revenue recognition dan stabilisasi net debt menjadi indikator utama pada 2H26.</a:t>
            </a:r>
          </a:p>
        </p:txBody>
      </p:sp>
      <p:graphicFrame>
        <p:nvGraphicFramePr>
          <p:cNvPr id="16" name="Chart 6"/>
          <p:cNvGraphicFramePr/>
          <p:nvPr/>
        </p:nvGraphicFramePr>
        <p:xfrm>
          <a:off xmlns:a="http://schemas.openxmlformats.org/drawingml/2006/main" x="8006209" y="943685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b0728fd9c14078"/>
          </a:graphicData>
        </a:graphic>
      </p:graphicFrame>
      <p:graphicFrame>
        <p:nvGraphicFramePr>
          <p:cNvPr id="17" name="Chart 7"/>
          <p:cNvGraphicFramePr/>
          <p:nvPr/>
        </p:nvGraphicFramePr>
        <p:xfrm>
          <a:off xmlns:a="http://schemas.openxmlformats.org/drawingml/2006/main" x="4195278" y="943685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437e61088a431f"/>
          </a:graphicData>
        </a:graphic>
      </p:graphicFrame>
      <p:graphicFrame>
        <p:nvGraphicFramePr>
          <p:cNvPr id="18" name="Chart 10"/>
          <p:cNvGraphicFramePr/>
          <p:nvPr/>
        </p:nvGraphicFramePr>
        <p:xfrm>
          <a:off xmlns:a="http://schemas.openxmlformats.org/drawingml/2006/main" x="389092" y="943686"/>
          <a:ext xmlns:a="http://schemas.openxmlformats.org/drawingml/2006/main" cx="3801441" cy="25725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f8b9b4890a479c"/>
          </a:graphicData>
        </a:graphic>
      </p:graphicFrame>
    </p:spTree>
    <p:extLst>
      <p:ext uri="{BB962C8B-B14F-4D97-AF65-F5344CB8AC3E}">
        <p14:creationId xmlns:p14="http://schemas.microsoft.com/office/powerpoint/2010/main" val="31845928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A4521E-3420-312E-9AEC-8D40FBF9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92D3B0D-0A31-CF27-98DE-44A022E9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Yearly Performance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7BC1D2-752C-8803-6651-5D1106A2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3751922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Quarterly Performance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7" name="Table 15"/>
          <p:cNvGraphicFramePr/>
          <p:nvPr/>
        </p:nvGraphicFramePr>
        <p:xfrm>
          <a:off xmlns:a="http://schemas.openxmlformats.org/drawingml/2006/main" x="341067" y="1174408"/>
          <a:ext xmlns:a="http://schemas.openxmlformats.org/drawingml/2006/main" cx="11509854" cy="25286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48525"/>
                <a:gridCol w="866660"/>
                <a:gridCol w="866660"/>
                <a:gridCol w="866660"/>
                <a:gridCol w="866660"/>
                <a:gridCol w="866660"/>
                <a:gridCol w="866660"/>
                <a:gridCol w="866660"/>
                <a:gridCol w="866660"/>
                <a:gridCol w="942683"/>
                <a:gridCol w="942683"/>
                <a:gridCol w="942683"/>
              </a:tblGrid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6,209,574.07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6,602,955.28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10,347,343.19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6,628,782.19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7,084,864.04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6,180,589.09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7,654,802.25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10,235,479.96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11,539,141.25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13,796,572.15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12,788,452.34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(143,094.70)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(129,290.35)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(79,649.11)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(42,038.69)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(384,767.06)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(132,542.14)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(23,182.59)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(198,459.21)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(577,124.90)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(822,574.94)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(322,805.88)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2,139,496.60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1,796,156.48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4,920,228.06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C7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1,293,850.22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D7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2,791,416.33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281,700.89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1,348,623.04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2,433,146.91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1,945,467.44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4,359,063.78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2,545,380.72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36,022,148.49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38,536,825.18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45,951,188.48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52,190,720.01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54,540,978.40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60,862,926.59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61,469,712.17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64,999,403.48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13,925,458.01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14,074,217.87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16,754,337.39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21,832,718.50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20,915,564.10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26,391,824.11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25,575,995.15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26,953,967.35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22,096,690.48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24,462,607.31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29,196,851.09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30,358,001.50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33,625,414.30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34,471,102.48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35,893,717.01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38,045,436.13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1,132,372.29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3,457,406.18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2,520,674.05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3,430,445.21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3,184,765.00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1,918,687.66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153,731.62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A6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38,630.07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6C87D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(366,494.06)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(605,189.89)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4,606,851.24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1,125,468.09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2,557,655.41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1,103,950.69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2,887,014.89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2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2,816,809.60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1,207,984.65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1,046,659.71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(1,351,699.49)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7DB81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(509,588.76)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(734,480.24)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4,527,202.13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1,083,429.40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2,172,888.35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971,408.55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2,863,832.30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E7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2,618,350.38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5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630,859.75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224,084.77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A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(1,674,505.37)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5DF82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2.64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3.85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16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45.96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49.67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BE1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5C4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1D981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 19"/>
          <p:cNvGraphicFramePr/>
          <p:nvPr/>
        </p:nvGraphicFramePr>
        <p:xfrm>
          <a:off xmlns:a="http://schemas.openxmlformats.org/drawingml/2006/main" x="341059" y="4077753"/>
          <a:ext xmlns:a="http://schemas.openxmlformats.org/drawingml/2006/main" cx="11509867" cy="23641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6159"/>
                <a:gridCol w="801053"/>
                <a:gridCol w="801053"/>
                <a:gridCol w="801053"/>
                <a:gridCol w="801053"/>
                <a:gridCol w="801053"/>
                <a:gridCol w="801053"/>
                <a:gridCol w="801053"/>
                <a:gridCol w="801053"/>
                <a:gridCol w="871321"/>
                <a:gridCol w="871321"/>
                <a:gridCol w="871321"/>
                <a:gridCol w="871321"/>
              </a:tblGrid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1H26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4,230,823.25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3,774,499.93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3,572,133.03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2,720,373.60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3,729,565.59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2,700,904.01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3,689,852.47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2,372,024.73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4,025,671.12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2,368,795.97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2,382,857.13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4,751,653.10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(234,074.86)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(112,485.07)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(107,952.65)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(304,506.73)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(297,630.49)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(95,354.47)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(87,216.89)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(78,447.68)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(61,865.53)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(40,092.19)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(67,771.26)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(107,863.45)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176,421.45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98E7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1,436,953.18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896,097.25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368,868.03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1,657,145.32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B7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305,874.26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982,173.64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75,523.35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1,181,809.47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3DF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277,628.65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326,267.38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603,896.02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ED981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67,653,911.80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67,862,665.42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68,466,170.28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75,916,736.81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76,641,008.60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77,400,079.56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80,125,884.90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24,935,494.70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24,310,502.86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24,632,854.28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27,469,342.35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25,905,271.53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26,075,586.09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27,257,461.88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42,718,417.11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43,552,162.56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43,833,316.00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48,447,394.46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50,735,737.06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51,324,493.47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52,868,423.02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1,263,661.32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1,329,674.01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4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2,194,292.97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3,741,557.78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3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1,746,344.99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4,162,834.42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5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6,250,119.00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3C37C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410,737.07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(27,801.76)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899,529.55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B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449,588.74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(274,656.83)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(491,662.12)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(472,830.85)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(362,085.79)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(25,120.73)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4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(816,556.72)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(554,186.50)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(1,370,743.23)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A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176,662.21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(140,286.83)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791,576.91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9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145,082.01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(572,287.31)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0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(587,016.59)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(560,047.74)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(440,533.47)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(86,986.26)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(856,648.91)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(621,957.76)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6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(1,478,606.67)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B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46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8DB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B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0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28.37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33.05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750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Scale Metrics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8" y="3743944"/>
            <a:ext cx="11509861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Profitability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4837A5-275D-EC01-9EB6-A8DC5B2D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graphicFrame>
        <p:nvGraphicFramePr>
          <p:cNvPr id="30" name="Chart 5"/>
          <p:cNvGraphicFramePr/>
          <p:nvPr/>
        </p:nvGraphicFramePr>
        <p:xfrm>
          <a:off xmlns:a="http://schemas.openxmlformats.org/drawingml/2006/main" x="350593" y="4136012"/>
          <a:ext xmlns:a="http://schemas.openxmlformats.org/drawingml/2006/main" cx="3817063" cy="246243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cd27a4658f458c"/>
          </a:graphicData>
        </a:graphic>
      </p:graphicFrame>
      <p:graphicFrame>
        <p:nvGraphicFramePr>
          <p:cNvPr id="31" name="Chart 7"/>
          <p:cNvGraphicFramePr/>
          <p:nvPr/>
        </p:nvGraphicFramePr>
        <p:xfrm>
          <a:off xmlns:a="http://schemas.openxmlformats.org/drawingml/2006/main" x="4189474" y="4136012"/>
          <a:ext xmlns:a="http://schemas.openxmlformats.org/drawingml/2006/main" cx="3813048" cy="246695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d9bf14e015436a"/>
          </a:graphicData>
        </a:graphic>
      </p:graphicFrame>
      <p:graphicFrame>
        <p:nvGraphicFramePr>
          <p:cNvPr id="32" name="Chart 8"/>
          <p:cNvGraphicFramePr/>
          <p:nvPr/>
        </p:nvGraphicFramePr>
        <p:xfrm>
          <a:off xmlns:a="http://schemas.openxmlformats.org/drawingml/2006/main" x="7980704" y="4136012"/>
          <a:ext xmlns:a="http://schemas.openxmlformats.org/drawingml/2006/main" cx="3870225" cy="246242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0ba8f1783f4b9f"/>
          </a:graphicData>
        </a:graphic>
      </p:graphicFrame>
      <p:graphicFrame>
        <p:nvGraphicFramePr>
          <p:cNvPr id="33" name="Chart 9"/>
          <p:cNvGraphicFramePr/>
          <p:nvPr/>
        </p:nvGraphicFramePr>
        <p:xfrm>
          <a:off xmlns:a="http://schemas.openxmlformats.org/drawingml/2006/main" x="372411" y="1157088"/>
          <a:ext xmlns:a="http://schemas.openxmlformats.org/drawingml/2006/main" cx="3817063" cy="246242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1ad452c1324f4c"/>
          </a:graphicData>
        </a:graphic>
      </p:graphicFrame>
      <p:graphicFrame>
        <p:nvGraphicFramePr>
          <p:cNvPr id="34" name="Chart 10"/>
          <p:cNvGraphicFramePr/>
          <p:nvPr/>
        </p:nvGraphicFramePr>
        <p:xfrm>
          <a:off xmlns:a="http://schemas.openxmlformats.org/drawingml/2006/main" x="4189474" y="1157088"/>
          <a:ext xmlns:a="http://schemas.openxmlformats.org/drawingml/2006/main" cx="3813048" cy="24624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066da90a0c4858"/>
          </a:graphicData>
        </a:graphic>
      </p:graphicFrame>
      <p:graphicFrame>
        <p:nvGraphicFramePr>
          <p:cNvPr id="35" name="Chart 11"/>
          <p:cNvGraphicFramePr/>
          <p:nvPr/>
        </p:nvGraphicFramePr>
        <p:xfrm>
          <a:off xmlns:a="http://schemas.openxmlformats.org/drawingml/2006/main" x="7980704" y="1157087"/>
          <a:ext xmlns:a="http://schemas.openxmlformats.org/drawingml/2006/main" cx="3834867" cy="24624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e1f7597c9542fd"/>
          </a:graphicData>
        </a:graphic>
      </p:graphicFrame>
    </p:spTree>
    <p:extLst>
      <p:ext uri="{BB962C8B-B14F-4D97-AF65-F5344CB8AC3E}">
        <p14:creationId xmlns:p14="http://schemas.microsoft.com/office/powerpoint/2010/main" val="42109135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Liquidity &amp; Solvency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8" y="3743944"/>
            <a:ext cx="11509861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Cash Flow &amp; Sustainability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C2A7AF-A1F9-9246-D53C-1DF615C5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graphicFrame>
        <p:nvGraphicFramePr>
          <p:cNvPr id="30" name="Chart 2"/>
          <p:cNvGraphicFramePr/>
          <p:nvPr/>
        </p:nvGraphicFramePr>
        <p:xfrm>
          <a:off xmlns:a="http://schemas.openxmlformats.org/drawingml/2006/main" x="339822" y="1143334"/>
          <a:ext xmlns:a="http://schemas.openxmlformats.org/drawingml/2006/main" cx="3824990" cy="25786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d5424ebb07484b"/>
          </a:graphicData>
        </a:graphic>
      </p:graphicFrame>
      <p:graphicFrame>
        <p:nvGraphicFramePr>
          <p:cNvPr id="31" name="Chart 3"/>
          <p:cNvGraphicFramePr/>
          <p:nvPr/>
        </p:nvGraphicFramePr>
        <p:xfrm>
          <a:off xmlns:a="http://schemas.openxmlformats.org/drawingml/2006/main" x="4141263" y="1149364"/>
          <a:ext xmlns:a="http://schemas.openxmlformats.org/drawingml/2006/main" cx="3860148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de4fe6e4694420"/>
          </a:graphicData>
        </a:graphic>
      </p:graphicFrame>
      <p:graphicFrame>
        <p:nvGraphicFramePr>
          <p:cNvPr id="32" name="Chart 8"/>
          <p:cNvGraphicFramePr/>
          <p:nvPr/>
        </p:nvGraphicFramePr>
        <p:xfrm>
          <a:off xmlns:a="http://schemas.openxmlformats.org/drawingml/2006/main" x="8001410" y="1143334"/>
          <a:ext xmlns:a="http://schemas.openxmlformats.org/drawingml/2006/main" cx="3782815" cy="25786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8dec5b6a04429c"/>
          </a:graphicData>
        </a:graphic>
      </p:graphicFrame>
      <p:graphicFrame>
        <p:nvGraphicFramePr>
          <p:cNvPr id="33" name="Chart 12"/>
          <p:cNvGraphicFramePr/>
          <p:nvPr/>
        </p:nvGraphicFramePr>
        <p:xfrm>
          <a:off xmlns:a="http://schemas.openxmlformats.org/drawingml/2006/main" x="339822" y="4084048"/>
          <a:ext xmlns:a="http://schemas.openxmlformats.org/drawingml/2006/main" cx="3824990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498a1f34fc4210"/>
          </a:graphicData>
        </a:graphic>
      </p:graphicFrame>
      <p:graphicFrame>
        <p:nvGraphicFramePr>
          <p:cNvPr id="34" name="Chart 14"/>
          <p:cNvGraphicFramePr/>
          <p:nvPr/>
        </p:nvGraphicFramePr>
        <p:xfrm>
          <a:off xmlns:a="http://schemas.openxmlformats.org/drawingml/2006/main" x="8001410" y="4084048"/>
          <a:ext xmlns:a="http://schemas.openxmlformats.org/drawingml/2006/main" cx="3801443" cy="258463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2d439b09cd463b"/>
          </a:graphicData>
        </a:graphic>
      </p:graphicFrame>
      <p:graphicFrame>
        <p:nvGraphicFramePr>
          <p:cNvPr id="35" name="Chart 15"/>
          <p:cNvGraphicFramePr/>
          <p:nvPr/>
        </p:nvGraphicFramePr>
        <p:xfrm>
          <a:off xmlns:a="http://schemas.openxmlformats.org/drawingml/2006/main" x="4141263" y="4084048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25daf0ca0f4560"/>
          </a:graphicData>
        </a:graphic>
      </p:graphicFrame>
    </p:spTree>
    <p:extLst>
      <p:ext uri="{BB962C8B-B14F-4D97-AF65-F5344CB8AC3E}">
        <p14:creationId xmlns:p14="http://schemas.microsoft.com/office/powerpoint/2010/main" val="32334331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2026-10-08T02:14:21.3360000Z</dcterms:created>
  <dcterms:modified xsi:type="dcterms:W3CDTF">2026-10-08T02:14:21.3360000Z</dcterms:modified>
</coreProperties>
</file>