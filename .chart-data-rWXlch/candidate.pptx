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9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c77a21461b4cff" /><Relationship Type="http://schemas.openxmlformats.org/officeDocument/2006/relationships/extended-properties" Target="/docProps/app.xml" Id="R99fe39ff4c6a4751" /><Relationship Type="http://schemas.openxmlformats.org/officeDocument/2006/relationships/officeDocument" Target="/ppt/presentation.xml" Id="R6b1e74e249334e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5e2bd772524c5f"/>
  </p:sldMasterIdLst>
  <p:notesMasterIdLst>
    <p:notesMasterId xmlns:r="http://schemas.openxmlformats.org/officeDocument/2006/relationships" r:id="Rd45a940261254ea4"/>
  </p:notesMasterIdLst>
  <p:sldIdLst>
    <p:sldId xmlns:r="http://schemas.openxmlformats.org/officeDocument/2006/relationships" id="256" r:id="Rdcb0a35abbf743bf"/>
    <p:sldId xmlns:r="http://schemas.openxmlformats.org/officeDocument/2006/relationships" id="257" r:id="R5837824a3d794c5c"/>
    <p:sldId xmlns:r="http://schemas.openxmlformats.org/officeDocument/2006/relationships" id="258" r:id="R5024c134186e41f9"/>
    <p:sldId xmlns:r="http://schemas.openxmlformats.org/officeDocument/2006/relationships" id="259" r:id="R6c40aa812c5b4624"/>
    <p:sldId xmlns:r="http://schemas.openxmlformats.org/officeDocument/2006/relationships" id="260" r:id="R51ca4f6f628c4efc"/>
    <p:sldId xmlns:r="http://schemas.openxmlformats.org/officeDocument/2006/relationships" id="261" r:id="R2cbefcb130844cef"/>
    <p:sldId xmlns:r="http://schemas.openxmlformats.org/officeDocument/2006/relationships" id="262" r:id="Rca946ba84a9b43d3"/>
    <p:sldId xmlns:r="http://schemas.openxmlformats.org/officeDocument/2006/relationships" id="263" r:id="Rf7bee11468e040b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41e7e532da4f89" /><Relationship Type="http://schemas.openxmlformats.org/officeDocument/2006/relationships/slideMaster" Target="/ppt/slideMasters/slideMaster1.xml" Id="R865e2bd772524c5f" /><Relationship Type="http://schemas.openxmlformats.org/officeDocument/2006/relationships/notesMaster" Target="/ppt/notesMasters/notesMaster1.xml" Id="Rd45a940261254ea4" /><Relationship Type="http://schemas.openxmlformats.org/officeDocument/2006/relationships/presProps" Target="/ppt/presProps.xml" Id="R42cc255c1be84e0c" /><Relationship Type="http://schemas.openxmlformats.org/officeDocument/2006/relationships/viewProps" Target="/ppt/viewProps.xml" Id="Rb700bf14810f462d" /><Relationship Type="http://schemas.openxmlformats.org/officeDocument/2006/relationships/tableStyles" Target="/ppt/tableStyles.xml" Id="Rf2405055f7264873" /><Relationship Type="http://schemas.openxmlformats.org/officeDocument/2006/relationships/slide" Target="/ppt/slides/slide1.xml" Id="Rdcb0a35abbf743bf" /><Relationship Type="http://schemas.openxmlformats.org/officeDocument/2006/relationships/slide" Target="/ppt/slides/slide2.xml" Id="R5837824a3d794c5c" /><Relationship Type="http://schemas.openxmlformats.org/officeDocument/2006/relationships/slide" Target="/ppt/slides/slide3.xml" Id="R5024c134186e41f9" /><Relationship Type="http://schemas.openxmlformats.org/officeDocument/2006/relationships/slide" Target="/ppt/slides/slide4.xml" Id="R6c40aa812c5b4624" /><Relationship Type="http://schemas.openxmlformats.org/officeDocument/2006/relationships/slide" Target="/ppt/slides/slide5.xml" Id="R51ca4f6f628c4efc" /><Relationship Type="http://schemas.openxmlformats.org/officeDocument/2006/relationships/slide" Target="/ppt/slides/slide6.xml" Id="R2cbefcb130844cef" /><Relationship Type="http://schemas.openxmlformats.org/officeDocument/2006/relationships/slide" Target="/ppt/slides/slide7.xml" Id="Rca946ba84a9b43d3" /><Relationship Type="http://schemas.openxmlformats.org/officeDocument/2006/relationships/slide" Target="/ppt/slides/slide8.xml" Id="Rf7bee11468e040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7b979763044f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a3a4c2766f45a0" /><Relationship Type="http://schemas.openxmlformats.org/officeDocument/2006/relationships/notesMaster" Target="/ppt/notesMasters/notesMaster1.xml" Id="R0869cc9d654146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11cddb3d6e4000" /><Relationship Type="http://schemas.openxmlformats.org/officeDocument/2006/relationships/notesMaster" Target="/ppt/notesMasters/notesMaster1.xml" Id="Rf90c33c888354c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fc0f2ebf994e93" /><Relationship Type="http://schemas.openxmlformats.org/officeDocument/2006/relationships/notesMaster" Target="/ppt/notesMasters/notesMaster1.xml" Id="R42429c12cd604e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a76d6ffd504174" /><Relationship Type="http://schemas.openxmlformats.org/officeDocument/2006/relationships/notesMaster" Target="/ppt/notesMasters/notesMaster1.xml" Id="R76d6adc981be4f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c80342c73c4d0b" /><Relationship Type="http://schemas.openxmlformats.org/officeDocument/2006/relationships/notesMaster" Target="/ppt/notesMasters/notesMaster1.xml" Id="Radfb529f797c45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65542cd7f441bd" /><Relationship Type="http://schemas.openxmlformats.org/officeDocument/2006/relationships/notesMaster" Target="/ppt/notesMasters/notesMaster1.xml" Id="R3f7dce103d194b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547c6392da437c" /><Relationship Type="http://schemas.openxmlformats.org/officeDocument/2006/relationships/notesMaster" Target="/ppt/notesMasters/notesMaster1.xml" Id="R59ffc67781c74d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9a166736e74957" /><Relationship Type="http://schemas.openxmlformats.org/officeDocument/2006/relationships/notesMaster" Target="/ppt/notesMasters/notesMaster1.xml" Id="Rb1344cb075694a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China Banks vs Fintech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Cover illustration generated for this presentation; no company logos or documentary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Fintech Owns Frequency; Banks Still Own Value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PBOC 2013 payment-system report: https://www.gov.cn/gzdt/att/att/site1/20140217/782bcb8883ce146be61101.pdf</a:t>
            </a:r>
          </a:p>
          <a:p xmlns:a="http://schemas.openxmlformats.org/drawingml/2006/main">
            <a:r>
              <a:t>- PBOC 2023 definitions and overlap footnotes: https://www.pbc.gov.cn/zhifujiesuansi/128525/128545/128643/e65053157ab14b9abf06bc9b18badb3a/2024032815235914509.pdf</a:t>
            </a:r>
          </a:p>
          <a:p xmlns:a="http://schemas.openxmlformats.org/drawingml/2006/main">
            <a:r>
              <a:t>- 2025 data reproduced in Cuiwei filing: https://static.cninfo.com.cn/finalpage/2026-03-28/1225042491.PDF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The displayed shares combine overlapping PBOC bank-electronic and non-bank network-payment series. They are a mechanical activity index, not mutually exclusive ownership shares.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China Finance Splits Across Four Layers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AMRO 2025: https://amro-asia.org/wp-content/uploads/2025/10/AMRO-AFSR-2025-Full-Report-Web.pdf</a:t>
            </a:r>
          </a:p>
          <a:p xmlns:a="http://schemas.openxmlformats.org/drawingml/2006/main">
            <a:r>
              <a:t>- PBOC/Cuiwei 2025 activity data: https://static.cninfo.com.cn/finalpage/2026-03-28/1225042491.PDF</a:t>
            </a:r>
          </a:p>
          <a:p xmlns:a="http://schemas.openxmlformats.org/drawingml/2006/main">
            <a:r>
              <a:t>- NBS 2025 communiqué: https://www.stats.gov.cn/english/PressRelease/202602/t20260228_1962661.html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1 Alipay plus WeChat Pay estimate. 2 Mechanical combined-series index. 3 Clearing-rail share. Denominators differ and must not be summed.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Banks Still Own the Balance Sheet</a:t>
            </a:r>
            <a:endParaRPr/>
          </a:p>
          <a:p xmlns:a="http://schemas.openxmlformats.org/drawingml/2006/main">
            <a:r>
              <a:t>Sources:</a:t>
            </a:r>
            <a:endParaRPr/>
          </a:p>
          <a:p xmlns:a="http://schemas.openxmlformats.org/drawingml/2006/main">
            <a:r>
              <a:t>- CBRC 2010 annual report: https://www.nfra.gov.cn/chinese/subject/subject/nianbao2010/english/1.pdf</a:t>
            </a:r>
            <a:endParaRPr/>
          </a:p>
          <a:p xmlns:a="http://schemas.openxmlformats.org/drawingml/2006/main">
            <a:r>
              <a:t>- NFRA 2025 sector data: https://www.nfra.gov.cn/en/view/pages/ItemDetail.html?docId=1251267&amp;itemId=980</a:t>
            </a:r>
            <a:endParaRPr/>
          </a:p>
          <a:p xmlns:a="http://schemas.openxmlformats.org/drawingml/2006/main">
            <a:r>
              <a:t>- NBS 2025 communiqué: https://www.stats.gov.cn/english/PressRelease/202602/t20260228_1962661.html</a:t>
            </a:r>
            <a:endParaRPr/>
          </a:p>
          <a:p xmlns:a="http://schemas.openxmlformats.org/drawingml/2006/main">
            <a:r>
              <a:t>- NFRA 2026 H1/Q2: https://www.nfra.gov.cn/en/view/pages/ItemDetail.html?docId=1270720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Clients Use Both Stacks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CNNIC historical multi-homing: https://www3.cnnic.cn/n4/2022/0401/c119-1026.html</a:t>
            </a:r>
          </a:p>
          <a:p xmlns:a="http://schemas.openxmlformats.org/drawingml/2006/main">
            <a:r>
              <a:t>- Ant prospectus: https://wynthia.com/wp-content/uploads/2020/09/ant-draft-ipo-prospectus-2020-08-read.pdf</a:t>
            </a:r>
          </a:p>
          <a:p xmlns:a="http://schemas.openxmlformats.org/drawingml/2006/main">
            <a:r>
              <a:t>- WeBank 2024 report: https://tctp.tctpwebankcdn.net/owb-admin/data/appsystems/owb-admin/1756804158938-13423.pdf</a:t>
            </a:r>
          </a:p>
          <a:p xmlns:a="http://schemas.openxmlformats.org/drawingml/2006/main">
            <a:r>
              <a:t>- MYbank 2024 report: https://qxb-pdf-osscache.qixin.com/AnBaseinfo/7f4fb677abdf6a905d911992520c8b93.pdf</a:t>
            </a:r>
          </a:p>
          <a:p xmlns:a="http://schemas.openxmlformats.org/drawingml/2006/main">
            <a:r>
              <a:t>- Bloomberg Intelligence, China fintech report, Nov 2019 (user-provided PDF 5).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Reported digital-bank loan balances are company-filing / Bloomberg Intelligence figures. They are not comparable with platform-enabled origination volumes without a funding and risk-bearing bridge.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Market Prices Business Models, Not Categories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User-provided Bloomberg workbook: TIM - 11.xlsx, Bank 1 and Fin sheets.</a:t>
            </a:r>
          </a:p>
          <a:p xmlns:a="http://schemas.openxmlformats.org/drawingml/2006/main">
            <a:r>
              <a:t>- Bank peer medians exclude the workbook's mislabeled 601995 / CICC block. Fintech valuation medians use names with populated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The fintech sample is heterogeneous and includes platforms, digital brokers, insurers and loan facilitators. Medians describe the supplied listed sample, not the whole sector.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Business Models; Three Different Risk Profiles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Bloomberg workbook supplied by user for listed bank and fintech valuation/financial comparisons.</a:t>
            </a:r>
          </a:p>
          <a:p xmlns:a="http://schemas.openxmlformats.org/drawingml/2006/main">
            <a:r>
              <a:t>- WeBank and MYbank company reports; Ant prospectus; Tencent and East Money filings.</a:t>
            </a:r>
          </a:p>
          <a:p xmlns:a="http://schemas.openxmlformats.org/drawingml/2006/main">
            <a:r>
              <a:t>- NFRA/PBOC 2020–2026 regulatory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Bubble size is a qualitative depiction of relative business-model emphasis, not a quantitative market-share or valuation measure.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Analysis based on PBOC, NFRA/CBRC/CBIRC, NBS, company filings, Bloomberg Intelligence PDFs and the user-provided Bloomberg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9d8fd3d0f4e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3b45e081f4a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71da4e5474a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4ef631a4d49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78a09bafa45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21abcad524db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ea415587646b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56954dcc29420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cc813752a497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1a672f319425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02b1be42f142d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EF7692-D0BF-93E1-909C-4E7603BD51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71B751A-B839-B89D-B1F1-EF83525010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6B04B9-DA51-0C5C-84F1-5149F15A16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063838-D73B-0177-BE1E-F060223B20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62382D-5257-7891-9412-A5AF7D7324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CEFEE7-2F08-FAF1-1B31-DEFF8150A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58D69C-C848-0D16-1DD6-A16745FC9E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15FF82-FF0A-C0CA-FD64-673606F109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F7E66C-FA75-96D9-C2C5-C36B0B11A1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630CD9-E546-98E1-0E0F-7139EDCFC5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91720D-E9ED-F886-C762-1988C483C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6FA7F8A-5FC1-D265-7FDE-93DB0642B0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51043C-4C97-FE32-B1E2-2D3A23C83D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E6E5E8-B2D7-6E1C-DCE5-A6D3BBCC12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1DE801-3919-34A4-E54F-1448AE9A98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C8005A-77D3-E8FB-D58C-B99B8BAE1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93EA38-6E80-3AC4-DB11-B2623C72F94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CC82C40-99EB-6C74-B65D-3546B8D1756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E397756-14C0-337D-9E42-071D3E85EE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F7E310F-8954-A5D3-CA32-ECCA5BE74F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21E1D85-93E2-54F9-C9E1-3CE0E511A2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0D513-A6DF-2DA0-BBAB-3BE825DD7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BBCBB2-0578-A11F-3A14-891149CC3D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C6B3C6A-C714-9F64-B721-EF4CD9B2402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3F3C3A4-D272-5428-F1BB-DD72447EFD0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D33C8C4-F01B-E70B-2D57-621098F5CA1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EE74FE-3EE1-AABF-6C20-D677B95538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4D84C70-8038-F23A-4B87-D2912EF464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F47A143-6627-961A-1B12-E9DEFC5D22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768E0F-8410-6191-2596-68A21FF66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3F06390-B68E-B76E-07F1-FC4C1A88C6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E66337C-2985-ABE2-C010-6C480591A1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4A865D-5C65-8DB7-6FA7-D8503A74FD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A78279E-0B83-293B-F314-B5A3A2DEA3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58050AA-6F7B-0949-35A0-CFA7E54C66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090F705-CED0-13ED-5D0F-B2104E94FD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5DC4CE-C968-BB3D-483C-42A98322A2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99A83B-FE61-7D87-EDF4-D9E04B6B12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7AF4B5-E79A-8B4E-14D2-69C7366D5D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B36254C-D882-D6F2-1248-D31907BA18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9CB0F7-BC81-23EA-8948-5002D886F1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A6C97F6-5E24-2AEC-7E70-8A7D327256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9BFC6-2F8D-38B7-41DA-AF2F844DD4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32A14E9-946F-2D0C-7CE2-CC0405EDBA6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4EAC576-6871-B647-D8FF-F745218997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18E932-DB6B-3454-3099-B08F2170A8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27F6556-34D4-3C85-D150-34A37B32EA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9C85435-53CF-E107-8D3E-6B7D0ABE7A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F197F9-2AE8-CEA3-3D27-5FE9CF20BF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540D77-CF95-32F1-A330-34658DFB57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61D249-0864-C56E-0D1E-53D3AFC07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064013-CE5B-42DA-B215-DBF391243A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419A1B-C0C2-F215-02A7-8AF6AFF495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D537FD5-9C5C-4C69-66E7-4F6B928F74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DA47AF-BFDE-DB74-B082-D1AC37729F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80A0E6-6021-087D-7A6F-33845A9174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5ACEDA-6026-FB62-D7A8-593A902F7D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B4ADBC-2137-EA5E-64A2-6ECDA2D719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1af3e878314c89" /><Relationship Type="http://schemas.openxmlformats.org/officeDocument/2006/relationships/slideLayout" Target="/ppt/slideLayouts/slideLayout1.xml" Id="R3004084848b44b23" /><Relationship Type="http://schemas.openxmlformats.org/officeDocument/2006/relationships/slideLayout" Target="/ppt/slideLayouts/slideLayout2.xml" Id="Rc87a5183e0f44ba8" /><Relationship Type="http://schemas.openxmlformats.org/officeDocument/2006/relationships/slideLayout" Target="/ppt/slideLayouts/slideLayout3.xml" Id="Re14f625ed2984b5a" /><Relationship Type="http://schemas.openxmlformats.org/officeDocument/2006/relationships/slideLayout" Target="/ppt/slideLayouts/slideLayout4.xml" Id="Ra14ad1aef96c453e" /><Relationship Type="http://schemas.openxmlformats.org/officeDocument/2006/relationships/slideLayout" Target="/ppt/slideLayouts/slideLayout5.xml" Id="R554c83da1c544576" /><Relationship Type="http://schemas.openxmlformats.org/officeDocument/2006/relationships/slideLayout" Target="/ppt/slideLayouts/slideLayout6.xml" Id="R09675cfdd6fa4aaa" /><Relationship Type="http://schemas.openxmlformats.org/officeDocument/2006/relationships/slideLayout" Target="/ppt/slideLayouts/slideLayout7.xml" Id="Rb245bd29673e4d55" /><Relationship Type="http://schemas.openxmlformats.org/officeDocument/2006/relationships/slideLayout" Target="/ppt/slideLayouts/slideLayout8.xml" Id="Rcaac859d751440d6" /><Relationship Type="http://schemas.openxmlformats.org/officeDocument/2006/relationships/slideLayout" Target="/ppt/slideLayouts/slideLayout9.xml" Id="R49eaaecb2630476d" /><Relationship Type="http://schemas.openxmlformats.org/officeDocument/2006/relationships/slideLayout" Target="/ppt/slideLayouts/slideLayout10.xml" Id="R560a755bd1d249d4" /><Relationship Type="http://schemas.openxmlformats.org/officeDocument/2006/relationships/slideLayout" Target="/ppt/slideLayouts/slideLayout11.xml" Id="R74290c2c7fa144c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A69ED60-E438-BA2C-7AE8-133BD9517D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CAC153-BA00-431B-12A1-8833AB6EAB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470832-0887-2137-B91B-6C97233FAAB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5765DA-7464-0E50-5D3F-9E96E96B40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724007-E902-00A7-B84C-02F0976626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04084848b44b23"/>
    <p:sldLayoutId xmlns:r="http://schemas.openxmlformats.org/officeDocument/2006/relationships" id="2147483650" r:id="Rc87a5183e0f44ba8"/>
    <p:sldLayoutId xmlns:r="http://schemas.openxmlformats.org/officeDocument/2006/relationships" id="2147483651" r:id="Re14f625ed2984b5a"/>
    <p:sldLayoutId xmlns:r="http://schemas.openxmlformats.org/officeDocument/2006/relationships" id="2147483652" r:id="Ra14ad1aef96c453e"/>
    <p:sldLayoutId xmlns:r="http://schemas.openxmlformats.org/officeDocument/2006/relationships" id="2147483653" r:id="R554c83da1c544576"/>
    <p:sldLayoutId xmlns:r="http://schemas.openxmlformats.org/officeDocument/2006/relationships" id="2147483654" r:id="R09675cfdd6fa4aaa"/>
    <p:sldLayoutId xmlns:r="http://schemas.openxmlformats.org/officeDocument/2006/relationships" id="2147483655" r:id="Rb245bd29673e4d55"/>
    <p:sldLayoutId xmlns:r="http://schemas.openxmlformats.org/officeDocument/2006/relationships" id="2147483656" r:id="Rcaac859d751440d6"/>
    <p:sldLayoutId xmlns:r="http://schemas.openxmlformats.org/officeDocument/2006/relationships" id="2147483657" r:id="R49eaaecb2630476d"/>
    <p:sldLayoutId xmlns:r="http://schemas.openxmlformats.org/officeDocument/2006/relationships" id="2147483658" r:id="R560a755bd1d249d4"/>
    <p:sldLayoutId xmlns:r="http://schemas.openxmlformats.org/officeDocument/2006/relationships" id="2147483659" r:id="R74290c2c7fa144c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adf6a746247ef" /><Relationship Type="http://schemas.openxmlformats.org/officeDocument/2006/relationships/image" Target="/ppt/media/image.png" Id="Rc72e456083cb4525" /><Relationship Type="http://schemas.openxmlformats.org/officeDocument/2006/relationships/notesSlide" Target="/ppt/notesSlides/notesSlide1.xml" Id="R4b39a3d19eb54a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5212226f354890" /><Relationship Type="http://schemas.openxmlformats.org/officeDocument/2006/relationships/chart" Target="/ppt/slides/charts/chart1.xml" Id="R60604fb3091348da" /><Relationship Type="http://schemas.openxmlformats.org/officeDocument/2006/relationships/chart" Target="/ppt/slides/charts/chart2.xml" Id="R3a3cdca9290948ce" /><Relationship Type="http://schemas.openxmlformats.org/officeDocument/2006/relationships/chart" Target="/ppt/slides/charts/chart3.xml" Id="R250e10c2e5a2464d" /><Relationship Type="http://schemas.openxmlformats.org/officeDocument/2006/relationships/notesSlide" Target="/ppt/notesSlides/notesSlide2.xml" Id="R71706a064f3942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9e6cb8c00b481b" /><Relationship Type="http://schemas.openxmlformats.org/officeDocument/2006/relationships/chart" Target="/ppt/slides/charts/chart4.xml" Id="R3b5ddbf33750474b" /><Relationship Type="http://schemas.openxmlformats.org/officeDocument/2006/relationships/chart" Target="/ppt/slides/charts/chart5.xml" Id="R4dce7b78ac184130" /><Relationship Type="http://schemas.openxmlformats.org/officeDocument/2006/relationships/chart" Target="/ppt/slides/charts/chart6.xml" Id="R67b005d53cb74326" /><Relationship Type="http://schemas.openxmlformats.org/officeDocument/2006/relationships/notesSlide" Target="/ppt/notesSlides/notesSlide3.xml" Id="R6d35fc9a613746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405d9d836c4eb2" /><Relationship Type="http://schemas.openxmlformats.org/officeDocument/2006/relationships/chart" Target="/ppt/slides/charts/chart7.xml" Id="Rc77031cdeea9411b" /><Relationship Type="http://schemas.openxmlformats.org/officeDocument/2006/relationships/chart" Target="/ppt/slides/charts/chart8.xml" Id="Rf1b31ed5e1e047dd" /><Relationship Type="http://schemas.openxmlformats.org/officeDocument/2006/relationships/notesSlide" Target="/ppt/notesSlides/notesSlide4.xml" Id="R6b4b8dbacc5544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3bd77ec1dd44db" /><Relationship Type="http://schemas.openxmlformats.org/officeDocument/2006/relationships/chart" Target="/ppt/slides/charts/chart9.xml" Id="R3037900d98e44d78" /><Relationship Type="http://schemas.openxmlformats.org/officeDocument/2006/relationships/notesSlide" Target="/ppt/notesSlides/notesSlide5.xml" Id="Rdcc56c6366724b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6bfeee184444ac" /><Relationship Type="http://schemas.openxmlformats.org/officeDocument/2006/relationships/chart" Target="/ppt/slides/charts/chart10.xml" Id="R61b8651d0d0b446c" /><Relationship Type="http://schemas.openxmlformats.org/officeDocument/2006/relationships/chart" Target="/ppt/slides/charts/chart11.xml" Id="R7c49cbf80db347d2" /><Relationship Type="http://schemas.openxmlformats.org/officeDocument/2006/relationships/notesSlide" Target="/ppt/notesSlides/notesSlide6.xml" Id="R7dbc0d41005c4a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6ff16bfc5741f7" /><Relationship Type="http://schemas.openxmlformats.org/officeDocument/2006/relationships/notesSlide" Target="/ppt/notesSlides/notesSlide7.xml" Id="Rc2e7d4d95d7841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992f994374758" /><Relationship Type="http://schemas.openxmlformats.org/officeDocument/2006/relationships/notesSlide" Target="/ppt/notesSlides/notesSlide8.xml" Id="R7df490e368e34a9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PBOC transaction count index, 2013 = 100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Bank electronic</c:v>
          </c:tx>
          <c:spPr>
            <a:ln xmlns:a="http://schemas.openxmlformats.org/drawingml/2006/main" w="22860">
              <a:solidFill>
                <a:srgbClr val="00206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2060"/>
              </a:solidFill>
            </c:spPr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2013</c:v>
                </c:pt>
                <c:pt idx="1">
                  <c:v>2015</c:v>
                </c:pt>
                <c:pt idx="2">
                  <c:v>2017</c:v>
                </c:pt>
                <c:pt idx="3">
                  <c:v>2019</c:v>
                </c:pt>
                <c:pt idx="4">
                  <c:v>2021</c:v>
                </c:pt>
                <c:pt idx="5">
                  <c:v>2023</c:v>
                </c:pt>
                <c:pt idx="6">
                  <c:v>2025</c:v>
                </c:pt>
              </c:numCache>
            </c:numRef>
          </c:cat>
          <c:val>
            <c:numRef>
              <c:f>'Chart Data'!$B$2:$B$8</c:f>
              <c:numCache>
                <c:formatCode>0</c:formatCode>
                <c:ptCount val="7"/>
                <c:pt idx="0">
                  <c:v>100</c:v>
                </c:pt>
                <c:pt idx="1">
                  <c:v>827</c:v>
                </c:pt>
                <c:pt idx="2">
                  <c:v>2243</c:v>
                </c:pt>
                <c:pt idx="3">
                  <c:v>6060</c:v>
                </c:pt>
                <c:pt idx="4">
                  <c:v>9034</c:v>
                </c:pt>
                <c:pt idx="5">
                  <c:v>11060</c:v>
                </c:pt>
                <c:pt idx="6">
                  <c:v>13827</c:v>
                </c:pt>
              </c:numCache>
            </c:numRef>
          </c:val>
        </c:ser>
        <c:ser>
          <c:idx val="1"/>
          <c:order val="1"/>
          <c:tx>
            <c:v>Non-bank network</c:v>
          </c:tx>
          <c:spPr>
            <a:ln xmlns:a="http://schemas.openxmlformats.org/drawingml/2006/main" w="22860">
              <a:solidFill>
                <a:srgbClr val="E97132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E97132"/>
              </a:solidFill>
            </c:spPr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2013</c:v>
                </c:pt>
                <c:pt idx="1">
                  <c:v>2015</c:v>
                </c:pt>
                <c:pt idx="2">
                  <c:v>2017</c:v>
                </c:pt>
                <c:pt idx="3">
                  <c:v>2019</c:v>
                </c:pt>
                <c:pt idx="4">
                  <c:v>2021</c:v>
                </c:pt>
                <c:pt idx="5">
                  <c:v>2023</c:v>
                </c:pt>
                <c:pt idx="6">
                  <c:v>2025</c:v>
                </c:pt>
              </c:numCache>
            </c:numRef>
          </c:cat>
          <c:val>
            <c:numRef>
              <c:f>'Chart Data'!$D$2:$D$8</c:f>
              <c:numCache>
                <c:formatCode>0</c:formatCode>
                <c:ptCount val="7"/>
                <c:pt idx="0">
                  <c:v>100</c:v>
                </c:pt>
                <c:pt idx="1">
                  <c:v>536</c:v>
                </c:pt>
                <c:pt idx="2">
                  <c:v>1869</c:v>
                </c:pt>
                <c:pt idx="3">
                  <c:v>4694</c:v>
                </c:pt>
                <c:pt idx="4">
                  <c:v>6704</c:v>
                </c:pt>
                <c:pt idx="5">
                  <c:v>8020</c:v>
                </c:pt>
                <c:pt idx="6">
                  <c:v>8642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595959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PBOC transaction value index, 2013 = 100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Bank electronic</c:v>
          </c:tx>
          <c:spPr>
            <a:ln xmlns:a="http://schemas.openxmlformats.org/drawingml/2006/main" w="20955">
              <a:solidFill>
                <a:srgbClr val="002060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002060"/>
              </a:solidFill>
            </c:spPr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2013</c:v>
                </c:pt>
                <c:pt idx="1">
                  <c:v>2015</c:v>
                </c:pt>
                <c:pt idx="2">
                  <c:v>2017</c:v>
                </c:pt>
                <c:pt idx="3">
                  <c:v>2019</c:v>
                </c:pt>
                <c:pt idx="4">
                  <c:v>2021</c:v>
                </c:pt>
                <c:pt idx="5">
                  <c:v>2023</c:v>
                </c:pt>
                <c:pt idx="6">
                  <c:v>2025</c:v>
                </c:pt>
              </c:numCache>
            </c:numRef>
          </c:cat>
          <c:val>
            <c:numRef>
              <c:f>'Chart Data'!$B$2:$B$8</c:f>
              <c:numCache>
                <c:formatCode>0</c:formatCode>
                <c:ptCount val="7"/>
                <c:pt idx="0">
                  <c:v>100</c:v>
                </c:pt>
                <c:pt idx="1">
                  <c:v>1123</c:v>
                </c:pt>
                <c:pt idx="2">
                  <c:v>2105</c:v>
                </c:pt>
                <c:pt idx="3">
                  <c:v>3601</c:v>
                </c:pt>
                <c:pt idx="4">
                  <c:v>5467</c:v>
                </c:pt>
                <c:pt idx="5">
                  <c:v>5761</c:v>
                </c:pt>
                <c:pt idx="6">
                  <c:v>5933</c:v>
                </c:pt>
              </c:numCache>
            </c:numRef>
          </c:val>
        </c:ser>
        <c:ser>
          <c:idx val="1"/>
          <c:order val="1"/>
          <c:tx>
            <c:v>Non-bank network</c:v>
          </c:tx>
          <c:spPr>
            <a:ln xmlns:a="http://schemas.openxmlformats.org/drawingml/2006/main" w="20955">
              <a:solidFill>
                <a:srgbClr val="E9713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E97132"/>
              </a:solidFill>
            </c:spPr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2013</c:v>
                </c:pt>
                <c:pt idx="1">
                  <c:v>2015</c:v>
                </c:pt>
                <c:pt idx="2">
                  <c:v>2017</c:v>
                </c:pt>
                <c:pt idx="3">
                  <c:v>2019</c:v>
                </c:pt>
                <c:pt idx="4">
                  <c:v>2021</c:v>
                </c:pt>
                <c:pt idx="5">
                  <c:v>2023</c:v>
                </c:pt>
                <c:pt idx="6">
                  <c:v>2025</c:v>
                </c:pt>
              </c:numCache>
            </c:numRef>
          </c:cat>
          <c:val>
            <c:numRef>
              <c:f>'Chart Data'!$D$2:$D$8</c:f>
              <c:numCache>
                <c:formatCode>0</c:formatCode>
                <c:ptCount val="7"/>
                <c:pt idx="0">
                  <c:v>100</c:v>
                </c:pt>
                <c:pt idx="1">
                  <c:v>537</c:v>
                </c:pt>
                <c:pt idx="2">
                  <c:v>1554</c:v>
                </c:pt>
                <c:pt idx="3">
                  <c:v>2710</c:v>
                </c:pt>
                <c:pt idx="4">
                  <c:v>3855</c:v>
                </c:pt>
                <c:pt idx="5">
                  <c:v>3690</c:v>
                </c:pt>
                <c:pt idx="6">
                  <c:v>3664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38">
              <a:solidFill>
                <a:srgbClr val="595959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Combined-series activity split, 2025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Share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Bank count</c:v>
                </c:pt>
                <c:pt idx="1">
                  <c:v>Non-bank count</c:v>
                </c:pt>
                <c:pt idx="2">
                  <c:v>Bank value</c:v>
                </c:pt>
                <c:pt idx="3">
                  <c:v>Non-bank value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19.4</c:v>
                </c:pt>
                <c:pt idx="1">
                  <c:v>80.6</c:v>
                </c:pt>
                <c:pt idx="2">
                  <c:v>91.5</c:v>
                </c:pt>
                <c:pt idx="3">
                  <c:v>8.5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Leading share by market layer, 2024–2025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bar"/>
        <c:grouping val="clustered"/>
        <c:varyColors val="1"/>
        <c:ser>
          <c:idx val="0"/>
          <c:order val="0"/>
          <c:tx>
            <c:v>Leading share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A838E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Wallet interface¹</c:v>
                </c:pt>
                <c:pt idx="1">
                  <c:v>Non-bank activity count²</c:v>
                </c:pt>
                <c:pt idx="2">
                  <c:v>NetsUnion clearing count³</c:v>
                </c:pt>
                <c:pt idx="3">
                  <c:v>Bank activity value²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94</c:v>
                </c:pt>
                <c:pt idx="1">
                  <c:v>80.6</c:v>
                </c:pt>
                <c:pt idx="2">
                  <c:v>75.9</c:v>
                </c:pt>
                <c:pt idx="3">
                  <c:v>91.5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0343B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Bank vs non-bank count share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bar"/>
        <c:grouping val="stacked"/>
        <c:varyColors val="0"/>
        <c:ser>
          <c:idx val="0"/>
          <c:order val="0"/>
          <c:tx>
            <c:v>Bank</c:v>
          </c:tx>
          <c:spPr>
            <a:solidFill xmlns:a="http://schemas.openxmlformats.org/drawingml/2006/main">
              <a:srgbClr val="002060"/>
            </a:solidFill>
          </c:spPr>
          <c:invertIfNegative val="0"/>
          <c:cat>
            <c:numRef>
              <c:f>'Chart Data'!$A$2:$A$2</c:f>
              <c:numCache>
                <c:formatCode>General</c:formatCode>
                <c:ptCount val="1"/>
                <c:pt idx="0">
                  <c:v>2025</c:v>
                </c:pt>
              </c:numCache>
            </c:num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19.4</c:v>
                </c:pt>
              </c:numCache>
            </c:numRef>
          </c:val>
        </c:ser>
        <c:ser>
          <c:idx val="1"/>
          <c:order val="1"/>
          <c:tx>
            <c:v>Non-bank</c:v>
          </c:tx>
          <c:spPr>
            <a:solidFill xmlns:a="http://schemas.openxmlformats.org/drawingml/2006/main">
              <a:srgbClr val="E97132"/>
            </a:solidFill>
          </c:spPr>
          <c:invertIfNegative val="0"/>
          <c:cat>
            <c:numRef>
              <c:f>'Chart Data'!$C$2:$C$2</c:f>
              <c:numCache>
                <c:formatCode>General</c:formatCode>
                <c:ptCount val="1"/>
                <c:pt idx="0">
                  <c:v>2025</c:v>
                </c:pt>
              </c:numCache>
            </c:num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80.6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FFFFFF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38">
              <a:solidFill>
                <a:srgbClr val="595959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Average transaction ticket, 2025 (RMB '000)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bar"/>
        <c:grouping val="clustered"/>
        <c:varyColors val="1"/>
        <c:ser>
          <c:idx val="0"/>
          <c:order val="0"/>
          <c:tx>
            <c:v>RMB '000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Bank electronic</c:v>
                </c:pt>
                <c:pt idx="1">
                  <c:v>Non-bank network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11.332</c:v>
                </c:pt>
                <c:pt idx="1">
                  <c:v>0.255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30343B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Banking-system assets (RMB tn)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Assets</c:v>
          </c:tx>
          <c:spPr>
            <a:solidFill xmlns:a="http://schemas.openxmlformats.org/drawingml/2006/main">
              <a:srgbClr val="002060"/>
            </a:solidFill>
          </c:spPr>
          <c:invertIfNegative val="0"/>
          <c:cat>
            <c:numRef>
              <c:f>'Chart Data'!$A$2:$A$5</c:f>
              <c:numCache>
                <c:formatCode>General</c:formatCode>
                <c:ptCount val="4"/>
                <c:pt idx="0">
                  <c:v>2010</c:v>
                </c:pt>
                <c:pt idx="1">
                  <c:v>2015</c:v>
                </c:pt>
                <c:pt idx="2">
                  <c:v>2020</c:v>
                </c:pt>
                <c:pt idx="3">
                  <c:v>2025</c:v>
                </c:pt>
              </c:numCache>
            </c:numRef>
          </c:cat>
          <c:val>
            <c:numRef>
              <c:f>'Chart Data'!$B$2:$B$5</c:f>
              <c:numCache>
                <c:formatCode>0</c:formatCode>
                <c:ptCount val="4"/>
                <c:pt idx="0">
                  <c:v>95.3</c:v>
                </c:pt>
                <c:pt idx="1">
                  <c:v>199.3</c:v>
                </c:pt>
                <c:pt idx="2">
                  <c:v>319.7</c:v>
                </c:pt>
                <c:pt idx="3">
                  <c:v>480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Sector ROE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ROE</c:v>
          </c:tx>
          <c:spPr>
            <a:solidFill xmlns:a="http://schemas.openxmlformats.org/drawingml/2006/main">
              <a:srgbClr val="E97132"/>
            </a:solidFill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2010</c:v>
                </c:pt>
                <c:pt idx="1">
                  <c:v>2020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17.5</c:v>
                </c:pt>
                <c:pt idx="1">
                  <c:v>9.48</c:v>
                </c:pt>
                <c:pt idx="2">
                  <c:v>8.93</c:v>
                </c:pt>
                <c:pt idx="3">
                  <c:v>8.1</c:v>
                </c:pt>
                <c:pt idx="4">
                  <c:v>7.78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38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Reported loan balance (RMB bn)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Loans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0070C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A838E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WeBank 2018</c:v>
                </c:pt>
                <c:pt idx="1">
                  <c:v>WeBank 2024</c:v>
                </c:pt>
                <c:pt idx="2">
                  <c:v>MYbank 2018</c:v>
                </c:pt>
                <c:pt idx="3">
                  <c:v>MYbank 2024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120</c:v>
                </c:pt>
                <c:pt idx="1">
                  <c:v>436</c:v>
                </c:pt>
                <c:pt idx="2">
                  <c:v>48</c:v>
                </c:pt>
                <c:pt idx="3">
                  <c:v>298.5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38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8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2025Q4 median ROE (%) and trailing P/E (x)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Median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Banks ROE</c:v>
                </c:pt>
                <c:pt idx="1">
                  <c:v>Fintech ROE</c:v>
                </c:pt>
                <c:pt idx="2">
                  <c:v>Banks P/E</c:v>
                </c:pt>
                <c:pt idx="3">
                  <c:v>Fintech P/E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9.68</c:v>
                </c:pt>
                <c:pt idx="1">
                  <c:v>14.78</c:v>
                </c:pt>
                <c:pt idx="2">
                  <c:v>7.35</c:v>
                </c:pt>
                <c:pt idx="3">
                  <c:v>17.29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Net income growth, H1 2026 (% YoY)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Growth</c:v>
          </c:tx>
          <c:spPr>
            <a:solidFill xmlns:a="http://schemas.openxmlformats.org/drawingml/2006/main">
              <a:srgbClr val="E97132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206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70C0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Tencent</c:v>
                </c:pt>
                <c:pt idx="1">
                  <c:v>East Money</c:v>
                </c:pt>
                <c:pt idx="2">
                  <c:v>Qfin</c:v>
                </c:pt>
                <c:pt idx="3">
                  <c:v>Lexin</c:v>
                </c:pt>
                <c:pt idx="4">
                  <c:v>FinVolution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10.3</c:v>
                </c:pt>
                <c:pt idx="1">
                  <c:v>44.8</c:v>
                </c:pt>
                <c:pt idx="2">
                  <c:v>-63.5</c:v>
                </c:pt>
                <c:pt idx="3">
                  <c:v>-67.9</c:v>
                </c:pt>
                <c:pt idx="4">
                  <c:v>-42.6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-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10CF68F-FB30-717E-980D-3D91710B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30" y="2700534"/>
            <a:ext cx="5288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 i="0" u="none" strike="noStrike">
                <a:solidFill>
                  <a:srgbClr val="002060"/>
                </a:solidFill>
              </a:rPr>
              <a:t>China Banks vs Fintech</a:t>
            </a:r>
            <a:endParaRPr sz="3600" b="1">
              <a:solidFill>
                <a:srgbClr val="002060"/>
              </a:solidFill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3BDC267-2CB9-F5BB-ED15-8A4D3E56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30" y="3280144"/>
            <a:ext cx="682815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0" i="0" u="none" strike="noStrike">
                <a:solidFill>
                  <a:srgbClr val="002060"/>
                </a:solidFill>
              </a:rPr>
              <a:t>The interface moved, the balance sheet stayed | 2010 to H1 2026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1026" name="Picture 2">
            <a:extLst xmlns:a="http://schemas.openxmlformats.org/drawingml/2006/main">
              <a:ext uri="{FF2B5EF4-FFF2-40B4-BE49-F238E27FC236}">
                <a16:creationId xmlns:a16="http://schemas.microsoft.com/office/drawing/2014/main" id="{9BF0CFBC-74C7-4AA1-99B2-2A88E1E2E7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e456083cb45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95" y="1619619"/>
            <a:ext cx="3262140" cy="332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698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635DC88-6755-4E52-8555-E4BE5C0C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MARKET STRUCTURE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372C8DC-9A57-44D8-95F9-43B93CB5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Fintech Owns Frequency; Banks Still Own Value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03DE8B-5D41-48FB-A05C-8739B458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The same transaction can be platform-initiated, bank-funded and bank-settled.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6AE475-D0BD-4DFB-A4C6-5AD062EA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PBOC payment-system statistics; 2025 figures reproduced by Cuiwei; internal calculations. Bank and non-bank series overlap and are not ownership shares.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5745FC8-25D6-4BF5-934C-34FC29CE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70FC3F-B8C8-47E8-A5F9-0114982E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11027664" cy="2615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4472BFA-37D4-4B70-8781-FB5D7E63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29621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C1847A1-6AA1-429E-B10B-BE65F476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29621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TRANSACTION COUNT INDEX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4FDD9BE-8204-494D-8061-D2C308A2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905" y="3248387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2013 = 100 | non-bank activity scaled faster, while bank channels also digitised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703DA8B-368C-4CDC-855B-B155EA7C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334256"/>
            <a:ext cx="5760720" cy="1883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6D2D27F-7389-4F3D-A7A8-C35698D8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24528"/>
            <a:ext cx="111320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019E979-0B09-49B7-BAA0-B47E48DE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24528"/>
            <a:ext cx="111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TRANSACTION VALUE INDEX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ADDBA4D-A2DE-46F9-8875-DA8F373F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3" y="4608576"/>
            <a:ext cx="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E4888C4-9ACC-4CD7-85E2-F9639C03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7" y="4791456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Average ticket, 2025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ABC5201-7446-431F-A538-74BE6205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7" y="5009126"/>
            <a:ext cx="13716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RMB11.3k vs RMB255</a:t>
            </a:r>
            <a:endParaRPr sz="2400" b="1" i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8B6514D-B896-42A7-B7B4-E071E7D0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7" y="5431536"/>
            <a:ext cx="1371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bank electronic vs non-bank network payment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86192CE-F826-4BBE-9FCF-1D14160A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1" y="4334256"/>
            <a:ext cx="4956048" cy="1883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A2F0E1C-8704-4B57-831D-6446E054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4224528"/>
            <a:ext cx="157050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A3C2659-5B73-420A-B54E-99F0349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4224528"/>
            <a:ext cx="157050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 ACTIVITY SPLIT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C91BCE2-8E27-4067-9516-5D0CCD8C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657" y="5366140"/>
            <a:ext cx="145939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Count: 19.4% bank / 80.6% non-bank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5504585-1C18-4CF0-ACBE-AA4EAE5D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657" y="5640460"/>
            <a:ext cx="14593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Value: 91.5% bank / 8.5% non-bank</a:t>
            </a:r>
          </a:p>
        </p:txBody>
      </p:sp>
      <p:graphicFrame>
        <p:nvGraphicFramePr>
          <p:cNvPr id="26" name="Chart">
            <a:extLst xmlns:a="http://schemas.openxmlformats.org/drawingml/2006/main">
              <a:ext uri="{FF2B5EF4-FFF2-40B4-BE49-F238E27FC236}">
                <a16:creationId xmlns:a16="http://schemas.microsoft.com/office/drawing/2014/main" id="{B1B769C1-E872-4F4D-8AED-5539A0DEFF08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10808208" cy="23408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604fb3091348da"/>
          </a:graphicData>
        </a:graphic>
      </p:graphicFrame>
      <p:graphicFrame>
        <p:nvGraphicFramePr>
          <p:cNvPr id="27" name="Chart">
            <a:extLst xmlns:a="http://schemas.openxmlformats.org/drawingml/2006/main">
              <a:ext uri="{FF2B5EF4-FFF2-40B4-BE49-F238E27FC236}">
                <a16:creationId xmlns:a16="http://schemas.microsoft.com/office/drawing/2014/main" id="{99FC0A54-F672-48C8-8E9B-974D854DED71}"/>
              </a:ext>
            </a:extLst>
          </p:cNvPr>
          <p:cNvGraphicFramePr/>
          <p:nvPr/>
        </p:nvGraphicFramePr>
        <p:xfrm>
          <a:off xmlns:a="http://schemas.openxmlformats.org/drawingml/2006/main" x="694944" y="4517136"/>
          <a:ext xmlns:a="http://schemas.openxmlformats.org/drawingml/2006/main" cx="5541264" cy="160934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3cdca9290948ce"/>
          </a:graphicData>
        </a:graphic>
      </p:graphicFrame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1E9F9735-3328-49F6-B5C8-FE70662EE247}"/>
              </a:ext>
            </a:extLst>
          </p:cNvPr>
          <p:cNvGraphicFramePr/>
          <p:nvPr/>
        </p:nvGraphicFramePr>
        <p:xfrm>
          <a:off xmlns:a="http://schemas.openxmlformats.org/drawingml/2006/main" x="6766560" y="4517136"/>
          <a:ext xmlns:a="http://schemas.openxmlformats.org/drawingml/2006/main" cx="4736592" cy="160934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0e10c2e5a2464d"/>
          </a:graphicData>
        </a:graphic>
      </p:graphicFrame>
    </p:spTree>
    <p:extLst>
      <p:ext uri="{BB962C8B-B14F-4D97-AF65-F5344CB8AC3E}">
        <p14:creationId xmlns:p14="http://schemas.microsoft.com/office/powerpoint/2010/main" val="14322387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81FC4B-A725-405C-BEA9-3C6BFF30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FOUR-LAYER MARKET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3F78620-B71F-4067-8802-A95E58F0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China Finance Splits Across Four Layers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35F2E72-D7FA-4662-96AA-A20E3562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Interface, activity, clearing and settlement produce different winners.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5DDCF2-D36E-43F8-ABFD-5A13D50A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AMRO; IMF; PBOC; NetsUnion statistics; NBS; internal calculations. Each layer uses a different denominator.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D737F96-4C39-4AB1-9A1D-46887E24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98566B1-6E8B-4C71-B559-2303ECE7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6492240" cy="4809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665A38C-8267-46AE-81C4-4072DA36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84604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01EAB9F-463A-49E2-9FA5-1D1D9943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84604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LEADING SHARE BY LAYER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0D36D29-048C-413D-87C2-CED803E4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755" y="2271003"/>
            <a:ext cx="0" cy="340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595959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5FE2F97-B3F9-46CA-8D76-FCA03A98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907" y="5398617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No single market-share number describes the stack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36EF03-2F5D-4ECD-9636-2D9CF3C5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1408176"/>
            <a:ext cx="4224528" cy="1847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1926C1D-42AC-487E-8B27-7B2FBC65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1298448"/>
            <a:ext cx="176872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E789738-8542-4F3D-888A-E4AC48E1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1298448"/>
            <a:ext cx="176872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 ACTIVITY COUNT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AB2BF83-7D91-480F-B6F1-EB1CC11D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181" y="2286000"/>
            <a:ext cx="3427872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4400E77-CE51-47CA-BC47-B4D2B7E6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181" y="2286000"/>
            <a:ext cx="0" cy="64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E05AD1A-58EF-4576-A442-20AA97BE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053" y="2286000"/>
            <a:ext cx="0" cy="64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6508D2E-691F-4EB0-A715-F58EDC4A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181" y="2048256"/>
            <a:ext cx="3427872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80.6% non-bank activity count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601A5C9-7EB6-42DD-A6CB-C4A33B6D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770" y="2885846"/>
            <a:ext cx="1097280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19.4% bank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97CCC60-41DB-4962-BA06-21CDC516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566160"/>
            <a:ext cx="4224528" cy="219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6ADEBBB-9E74-4E34-B281-08787799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456432"/>
            <a:ext cx="145249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685E8AF-B7D1-40E4-8BCB-F576B965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456432"/>
            <a:ext cx="145249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AVERAGE TICKET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A6A6434-0927-49F3-84DA-07302804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5833872"/>
            <a:ext cx="4224528" cy="3785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 channels move larger-value money; wallets win daily frequency.</a:t>
            </a:r>
          </a:p>
        </p:txBody>
      </p:sp>
      <p:graphicFrame>
        <p:nvGraphicFramePr>
          <p:cNvPr id="27" name="Chart">
            <a:extLst xmlns:a="http://schemas.openxmlformats.org/drawingml/2006/main">
              <a:ext uri="{FF2B5EF4-FFF2-40B4-BE49-F238E27FC236}">
                <a16:creationId xmlns:a16="http://schemas.microsoft.com/office/drawing/2014/main" id="{2B4AC16E-FA6C-43B6-BB5B-CAB56C51256C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6272784" cy="453542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5ddbf33750474b"/>
          </a:graphicData>
        </a:graphic>
      </p:graphicFrame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E545D2B5-D5C4-4F5E-BEC6-742DB82CDF96}"/>
              </a:ext>
            </a:extLst>
          </p:cNvPr>
          <p:cNvGraphicFramePr/>
          <p:nvPr/>
        </p:nvGraphicFramePr>
        <p:xfrm>
          <a:off xmlns:a="http://schemas.openxmlformats.org/drawingml/2006/main" x="7498080" y="1591056"/>
          <a:ext xmlns:a="http://schemas.openxmlformats.org/drawingml/2006/main" cx="4005072" cy="157276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ce7b78ac184130"/>
          </a:graphicData>
        </a:graphic>
      </p:graphicFrame>
      <p:graphicFrame>
        <p:nvGraphicFramePr>
          <p:cNvPr id="29" name="Chart">
            <a:extLst xmlns:a="http://schemas.openxmlformats.org/drawingml/2006/main">
              <a:ext uri="{FF2B5EF4-FFF2-40B4-BE49-F238E27FC236}">
                <a16:creationId xmlns:a16="http://schemas.microsoft.com/office/drawing/2014/main" id="{17D8CF5A-C7E0-4FA7-9B8D-A3FEFA513FCF}"/>
              </a:ext>
            </a:extLst>
          </p:cNvPr>
          <p:cNvGraphicFramePr/>
          <p:nvPr/>
        </p:nvGraphicFramePr>
        <p:xfrm>
          <a:off xmlns:a="http://schemas.openxmlformats.org/drawingml/2006/main" x="7498080" y="3749040"/>
          <a:ext xmlns:a="http://schemas.openxmlformats.org/drawingml/2006/main" cx="4005072" cy="1920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b005d53cb74326"/>
          </a:graphicData>
        </a:graphic>
      </p:graphicFrame>
    </p:spTree>
    <p:extLst>
      <p:ext uri="{BB962C8B-B14F-4D97-AF65-F5344CB8AC3E}">
        <p14:creationId xmlns:p14="http://schemas.microsoft.com/office/powerpoint/2010/main" val="9943312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D8F5E37-82B9-4EA5-AB83-0893684C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BANKING CAPACITY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CE08F16-72FC-41A5-BB3E-66D987D6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Banks Still Own the Balance Sheet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32F548-2084-477A-8F7A-B0DBFB19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Assets quintupled while ROE halved and margins compressed.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5E3AF8-2CEB-44B3-9188-42DDA62D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CBRC/CBIRC/NFRA; NBS; Bloomberg workbook; internal calculations. 2025 values are full-year actuals.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0C5F639-EFC9-4338-B312-4E51DE9F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EADEA57-BE16-4E60-9BAC-6EEAD4E2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5358384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A05ACE5-A1A1-4103-ADE8-33C108C8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76796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C34B3A3-651A-4BF7-B2C6-29454798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76796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ASSET SCALE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30066FE-EA61-4C56-9F03-D43CE41D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384" y="2011679"/>
            <a:ext cx="0" cy="1243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5959"/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30D0D41-F3C1-416E-A348-A507813D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248" y="1819655"/>
            <a:ext cx="2011680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2010–2025 CAGR: 11.4%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D2AACF8-5817-46AC-BBC6-011E2952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408176"/>
            <a:ext cx="5358384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D405491-0AF2-470B-AA5E-434EFCF1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98448"/>
            <a:ext cx="114388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B0ED6AC-8FFC-4087-96EB-7F621789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98448"/>
            <a:ext cx="114388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PROFITABILITY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5A8977C-70A9-4622-BFAC-866A923A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840480"/>
            <a:ext cx="11027664" cy="2377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8C490CF-C7F0-4F8C-B1A6-A2B3D3D3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30752"/>
            <a:ext cx="173435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E695846-88D0-4012-AEE7-90E86A66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30752"/>
            <a:ext cx="173435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 BALANCE-SHEET CAPACITY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115D194-BE44-4DE6-9A09-669DAA0B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1" y="4078224"/>
            <a:ext cx="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28861F7-EACD-4360-9807-C335EDA0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1" y="4078224"/>
            <a:ext cx="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D9042EC-0F3F-49FC-8D75-F7B5A8FA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1" y="4078224"/>
            <a:ext cx="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E9F98F5-173F-472C-BAA2-1CAC14FC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078224"/>
            <a:ext cx="2633471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Deposits and loans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4052193-2700-4CC0-90D5-4FAF9B13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306824"/>
            <a:ext cx="2633471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RMB tn, end-2025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0057632-B61B-42E7-97ED-6F0F7CE8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553712"/>
            <a:ext cx="22466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1933A73-04D4-4182-B227-0D95C81F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553712"/>
            <a:ext cx="2100376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Deposits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9F7E59A-49E8-45E9-A8B2-8C92B98E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553712"/>
            <a:ext cx="2100376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336.1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E608D0B-FAC6-4C6F-A828-15FEFADA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919472"/>
            <a:ext cx="1800636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190FD3D-80C7-469B-A991-05FFB461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919472"/>
            <a:ext cx="1654332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Loans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0A3D0BB-99F5-4732-AE7D-B25E8EE7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919472"/>
            <a:ext cx="1654332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275.7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4C5E5F0A-8DF5-4A0F-A688-DC02DB8B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413248"/>
            <a:ext cx="2633471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RMB2.4tn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0C35567-2510-4A7C-92BE-3B36FCB6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79008"/>
            <a:ext cx="263347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sector profit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803A582-581F-4287-9B21-2018405E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078224"/>
            <a:ext cx="2633471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Net interest margin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BE492A2-D83B-413C-9E1E-F3D61C02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306824"/>
            <a:ext cx="2633471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2025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FAA3412-60E4-46E6-A262-8D59C192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645152"/>
            <a:ext cx="2633471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4558D69E-684D-47EA-95FB-29F26D81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645152"/>
            <a:ext cx="202250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B728319-897C-4B40-AD0E-5F2A283E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645152"/>
            <a:ext cx="194935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1.42%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92E3D2FF-F7D3-4B20-80F3-69DEEA60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9" y="4572000"/>
            <a:ext cx="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971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1223236-2061-4D3E-B14B-55072150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5047488"/>
            <a:ext cx="109728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ROA 0.60%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8CA34C2F-1D60-4456-B865-A17F795F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5413248"/>
            <a:ext cx="2633471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7.78%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CC003560-B687-48D0-984F-2BFC6E50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5779008"/>
            <a:ext cx="263347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sector ROE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2D097FE-F307-4DC8-971D-7A482EC6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078224"/>
            <a:ext cx="2633471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Capital adequacy ratio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CE80DE81-7A98-409B-898B-6B770A73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306824"/>
            <a:ext cx="2633471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2025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B6C6DB06-E493-42A9-9231-A1506A6E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645152"/>
            <a:ext cx="2633471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8065154F-8E20-49AC-A3B8-E5D71008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645152"/>
            <a:ext cx="1975103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059E7D3B-D9E6-4E0D-8B89-E03D123C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645152"/>
            <a:ext cx="1901951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15.46%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0CACF5CC-48BC-4F4C-9DF1-7A93301D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404" y="4572000"/>
            <a:ext cx="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971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44B062CF-FAD2-4EEA-89BC-60BD76F0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116" y="5047488"/>
            <a:ext cx="109728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NPL 1.50%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A5211ED6-742A-431E-9F0E-4E02070F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5413248"/>
            <a:ext cx="2633471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4.9x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91272F3F-5D9C-4E2C-8F3C-27050948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5779008"/>
            <a:ext cx="263347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assets vs 2010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4C2E7BA4-385C-4E7D-A7B2-A09CC85F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4078224"/>
            <a:ext cx="1335024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2026 H1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5BA78637-6F50-43F2-804D-ACA81090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4306824"/>
            <a:ext cx="1335024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latest system snapshot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83A4E4F6-CBB1-4A86-A756-1B61249D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4608576"/>
            <a:ext cx="1335024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RMB498tn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5FE45D94-AB67-428C-A2ED-8B1DCAC0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5010912"/>
            <a:ext cx="1335024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total banking assets</a:t>
            </a:r>
          </a:p>
        </p:txBody>
      </p:sp>
      <p:graphicFrame>
        <p:nvGraphicFramePr>
          <p:cNvPr id="55" name="Chart">
            <a:extLst xmlns:a="http://schemas.openxmlformats.org/drawingml/2006/main">
              <a:ext uri="{FF2B5EF4-FFF2-40B4-BE49-F238E27FC236}">
                <a16:creationId xmlns:a16="http://schemas.microsoft.com/office/drawing/2014/main" id="{298046E1-DDA2-44FC-80B5-9D6CBEB9E8F3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5138928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7031cdeea9411b"/>
          </a:graphicData>
        </a:graphic>
      </p:graphicFrame>
      <p:graphicFrame>
        <p:nvGraphicFramePr>
          <p:cNvPr id="56" name="Chart">
            <a:extLst xmlns:a="http://schemas.openxmlformats.org/drawingml/2006/main">
              <a:ext uri="{FF2B5EF4-FFF2-40B4-BE49-F238E27FC236}">
                <a16:creationId xmlns:a16="http://schemas.microsoft.com/office/drawing/2014/main" id="{1FDB718F-635D-4AC4-9167-6DE8A3805298}"/>
              </a:ext>
            </a:extLst>
          </p:cNvPr>
          <p:cNvGraphicFramePr/>
          <p:nvPr/>
        </p:nvGraphicFramePr>
        <p:xfrm>
          <a:off xmlns:a="http://schemas.openxmlformats.org/drawingml/2006/main" x="6364224" y="1591056"/>
          <a:ext xmlns:a="http://schemas.openxmlformats.org/drawingml/2006/main" cx="5138928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b31ed5e1e047dd"/>
          </a:graphicData>
        </a:graphic>
      </p:graphicFrame>
    </p:spTree>
    <p:extLst>
      <p:ext uri="{BB962C8B-B14F-4D97-AF65-F5344CB8AC3E}">
        <p14:creationId xmlns:p14="http://schemas.microsoft.com/office/powerpoint/2010/main" val="11076299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26F7488-F776-4A6D-9FB3-AB473A53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CLIENT JOURNEY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50AFCB3-C8DC-4A3F-BC0F-507B3E08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Clients Use Both Stacks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CDE1F18-AD8F-4D7B-8C89-878A8DAA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Platforms own context; licensed institutions hold deposits, custody and most credit risk.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05AFFBA-1071-4EA6-8515-B0A53D29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CNNIC; NBS; Ant prospectus; WeBank and MYbank reports; Bloomberg Intelligence. Diagram is a functional map, not market share.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B19BF55-A1D2-4EA3-B039-293DFB34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03C9B9-EDD8-41EE-A612-C20E73DE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11027664" cy="256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B3645C8-5B9A-4F9C-835E-3F4ED1C1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2361531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4A95BE1-5C19-450E-924C-AE191215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2361531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WHERE THE CLIENT MEETS EACH STACK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662096A-5F56-40CA-B7E1-CA070292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79392"/>
            <a:ext cx="4846320" cy="1609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F314E53-AD42-48E9-9410-57DBB7E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663"/>
            <a:ext cx="2342094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83726A6-89B5-4357-8FD8-820FDCE2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663"/>
            <a:ext cx="234209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DIGITAL BANK LOAN SCALE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7DCACE1-5493-4286-A1ED-1D13F3CB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616061"/>
            <a:ext cx="4480559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Ecosystem traffic became a licensed deposit-and-loan franchise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C6A7CFE-764C-4A78-B290-0C6F27B5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1" y="4279392"/>
            <a:ext cx="5870448" cy="1609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979F0B2-0DD3-4020-B82F-5CFE6F6C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36" y="4169663"/>
            <a:ext cx="206187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2F2911E-FA97-4AE6-83D9-92A9AC6B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36" y="4169663"/>
            <a:ext cx="206187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HYBRID MODEL, 2024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E553D12-83B0-4179-9D27-1243C159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4498848"/>
            <a:ext cx="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F62C526-84B5-40F0-AC48-BEFC7D83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98848"/>
            <a:ext cx="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7346F10-903C-4411-8145-58912722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4700016"/>
            <a:ext cx="2011680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WeBank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8850686-9ADF-4FA0-BFFD-E00A4FE2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5047488"/>
            <a:ext cx="950976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RMB436bn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6D4AF53-9F39-4C07-B3B2-8C62C5F8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5449824"/>
            <a:ext cx="950976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loans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FF9EDD9-69F6-40A1-86C4-A3480337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5047488"/>
            <a:ext cx="950976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424m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BD294A72-8F73-412E-AC6F-EFE18C56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5449824"/>
            <a:ext cx="950976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retail clients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C9E8816D-7DCD-4423-9BBA-6DBF566D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700016"/>
            <a:ext cx="1188720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MYbank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F63AF3F-0395-4883-B8A3-AAEB899B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085623"/>
            <a:ext cx="118872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RMB298.5bn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B738104-3835-4AFB-9CE7-2125EA49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449824"/>
            <a:ext cx="11887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loans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4AC62907-A9F6-48B3-85EE-0458B292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700016"/>
            <a:ext cx="1645920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68m+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E93919C-2820-4159-AB11-766E235E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5047488"/>
            <a:ext cx="164592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SME clients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381F80CD-C5CB-4CF6-B92E-0E6446F5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5449824"/>
            <a:ext cx="16459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cumulative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843B6104-7333-4035-A95A-E289EB9B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952744"/>
            <a:ext cx="11027664" cy="129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50" b="0" i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Client functions overlap; funding, custody and final risk-bearing remain concentrated in licensed institutions.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EA52EF-DE72-4B6B-A6BF-BD887E0A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00250"/>
            <a:ext cx="39052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2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</a:t>
            </a:r>
          </a:p>
          <a:p xmlns:a="http://schemas.openxmlformats.org/drawingml/2006/main">
            <a:pPr algn="ctr">
              <a:defRPr sz="9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Deposits • custody • settlement</a:t>
            </a:r>
          </a:p>
          <a:p xmlns:a="http://schemas.openxmlformats.org/drawingml/2006/main">
            <a:pPr algn="ctr">
              <a:defRPr sz="9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Mortgage • corporate credit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6F5523-175B-4AEF-A800-A0B5036F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00250"/>
            <a:ext cx="39052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5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FINTECH</a:t>
            </a:r>
          </a:p>
          <a:p xmlns:a="http://schemas.openxmlformats.org/drawingml/2006/main">
            <a:pPr algn="ctr">
              <a:defRPr sz="975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Context • discovery • daily UX</a:t>
            </a:r>
          </a:p>
          <a:p xmlns:a="http://schemas.openxmlformats.org/drawingml/2006/main">
            <a:pPr algn="ctr">
              <a:defRPr sz="975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Data • distribution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A73BFD-E098-4AD7-8ABA-F0163422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1381125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PAYMENTS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833997-9B3E-4DF4-BF04-59FB0854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1190625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WEALTH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35B45D-B77E-460B-BF40-19320021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05125"/>
            <a:ext cx="1381125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SHORT CREDIT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59E153-632C-4EDA-A322-519BCECC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1571625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2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863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863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LICENSED</a:t>
            </a:r>
          </a:p>
          <a:p xmlns:a="http://schemas.openxmlformats.org/drawingml/2006/main">
            <a:pPr algn="ctr">
              <a:defRPr sz="863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HYBRID</a:t>
            </a:r>
          </a:p>
          <a:p xmlns:a="http://schemas.openxmlformats.org/drawingml/2006/main">
            <a:pPr algn="ctr">
              <a:defRPr sz="863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WeBank • MYbank</a:t>
            </a:r>
          </a:p>
        </p:txBody>
      </p:sp>
      <p:graphicFrame>
        <p:nvGraphicFramePr>
          <p:cNvPr id="46" name="Chart">
            <a:extLst xmlns:a="http://schemas.openxmlformats.org/drawingml/2006/main">
              <a:ext uri="{FF2B5EF4-FFF2-40B4-BE49-F238E27FC236}">
                <a16:creationId xmlns:a16="http://schemas.microsoft.com/office/drawing/2014/main" id="{55C6B4E6-98EF-4911-81CB-A9933D17549E}"/>
              </a:ext>
            </a:extLst>
          </p:cNvPr>
          <p:cNvGraphicFramePr/>
          <p:nvPr/>
        </p:nvGraphicFramePr>
        <p:xfrm>
          <a:off xmlns:a="http://schemas.openxmlformats.org/drawingml/2006/main" x="694944" y="4462272"/>
          <a:ext xmlns:a="http://schemas.openxmlformats.org/drawingml/2006/main" cx="4626864" cy="133502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37900d98e44d78"/>
          </a:graphicData>
        </a:graphic>
      </p:graphicFrame>
    </p:spTree>
    <p:extLst>
      <p:ext uri="{BB962C8B-B14F-4D97-AF65-F5344CB8AC3E}">
        <p14:creationId xmlns:p14="http://schemas.microsoft.com/office/powerpoint/2010/main" val="17258140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08BC9DD-7748-46B2-AE1A-10126037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PUBLIC-MARKET LENS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C3626BD-E70F-4F39-9DFC-C09774B5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The Market Prices Business Models, Not Categories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1136899-2FED-4740-98D9-1AE56B19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Banks trade at a discount; platform returns command a premium; facilitators weakened in H1 2026.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FC37894-D7D2-445B-B271-3C976162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Source: Bloomberg workbook supplied by user; internal cleaning and calculations. Valuation and ROE are 2025Q4 medians; earnings growth is H1 2026 actual.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F89A52C-14CB-49DF-B0B4-E8AE4CCB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D999E27-4DBB-4DA5-AE8A-ED65D980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11027664" cy="1938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C84D201-D052-493C-B1A4-9C1B75B2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926615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C3B0093-050E-4724-880E-021BB104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926615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VALUATION AND RETURNS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D8D3BBF-AE00-4FDF-B8FD-FCA29585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511296"/>
            <a:ext cx="21031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FUNDING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BD4734F-B2E8-44C5-A010-EC3D3EC5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694176"/>
            <a:ext cx="2103120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Banks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BB7FAD56-843D-4E7D-939C-46E510CB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739896"/>
            <a:ext cx="585216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A6A6A6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2E21F8D-9BAA-4745-824D-0812BF17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511296"/>
            <a:ext cx="21031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66096F7-BD47-4F08-90D0-1ADF2B45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694176"/>
            <a:ext cx="2103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Platforms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9CF70082-4802-4EE3-9046-689555BF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3739896"/>
            <a:ext cx="585216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A6A6A6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EA0D6B-4C69-4A7B-87F0-7364134D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3511296"/>
            <a:ext cx="21031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RISK / RULES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F9BC101-EDAB-4B06-ABD5-40C4A491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3694176"/>
            <a:ext cx="2103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Facilitators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83592A2-00B3-4581-8E09-C2DFF3A6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639312"/>
            <a:ext cx="2377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Funding → Interface → Regulation → Earnings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EFC62B0-3AF1-4279-9DC7-F9E1BD85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114800"/>
            <a:ext cx="11027664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7406FD4-9FE4-4B28-8AD9-7220B2D3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05072"/>
            <a:ext cx="141691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8905E11-EE28-44CD-9C47-5720450E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47000"/>
            <a:ext cx="141691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H1 2026 EARNINGS DISPERSION</a:t>
            </a:r>
            <a:endParaRPr sz="1000" b="1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FD8064F8-AC62-49B8-A6F4-62F9B8F0DC82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10808208" cy="16642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b8651d0d0b446c"/>
          </a:graphicData>
        </a:graphic>
      </p:graphicFrame>
      <p:graphicFrame>
        <p:nvGraphicFramePr>
          <p:cNvPr id="24" name="Chart">
            <a:extLst xmlns:a="http://schemas.openxmlformats.org/drawingml/2006/main">
              <a:ext uri="{FF2B5EF4-FFF2-40B4-BE49-F238E27FC236}">
                <a16:creationId xmlns:a16="http://schemas.microsoft.com/office/drawing/2014/main" id="{BB2FE3E1-D1FB-4FE4-B439-6BCB4F73D6A5}"/>
              </a:ext>
            </a:extLst>
          </p:cNvPr>
          <p:cNvGraphicFramePr/>
          <p:nvPr/>
        </p:nvGraphicFramePr>
        <p:xfrm>
          <a:off xmlns:a="http://schemas.openxmlformats.org/drawingml/2006/main" x="694944" y="4297680"/>
          <a:ext xmlns:a="http://schemas.openxmlformats.org/drawingml/2006/main" cx="10808208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49cbf80db347d2"/>
          </a:graphicData>
        </a:graphic>
      </p:graphicFrame>
    </p:spTree>
    <p:extLst>
      <p:ext uri="{BB962C8B-B14F-4D97-AF65-F5344CB8AC3E}">
        <p14:creationId xmlns:p14="http://schemas.microsoft.com/office/powerpoint/2010/main" val="925018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CC6C866-A058-4FEC-96FE-2AEF7E78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 BUSINESS MODELS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DB134FE-257B-4493-AF27-D7C01807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Three Business Models; Three Different Risk Profiles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50DC30A-E0C7-4187-9A85-8FFDC5F4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Funding control and interface control determine the investment case.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F58303B-05F5-44C0-B0D1-1FC6829B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Source: company filings; Bloomberg workbook; regulatory chronology; internal synthesis. Bubble size is qualitative, not market share.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0CB6ED5-50D3-43BB-B9BB-A90BFB81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</a:t>
            </a: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7</a:t>
            </a:r>
            <a:endParaRPr sz="1100" b="0" i="0">
              <a:solidFill>
                <a:srgbClr val="7A838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F3F39BF-383B-4AF9-A620-22E32F5D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64" y="1353312"/>
            <a:ext cx="0" cy="4178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E0DF1B6-ABF1-493A-A609-FE0C83B4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1353312"/>
            <a:ext cx="0" cy="4178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D425D3B-9067-4517-A0FD-4E670506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649" y="1371600"/>
            <a:ext cx="1599261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B4E9B46-AFB5-47CA-8C6A-1705D154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649" y="1371600"/>
            <a:ext cx="1599261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BALANCE SHEET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C6C18CF-F8CE-468C-884B-BE5F178F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700784"/>
            <a:ext cx="3310128" cy="231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Large banks / CMB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FF91CE-45FA-4DF7-9703-04DCB83F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31136"/>
            <a:ext cx="331012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Cheap valuation | yield | policy exposure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BA01B705-82A6-4329-929B-E41AE3DE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777" y="1371600"/>
            <a:ext cx="1026541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45056DD6-4016-4C7D-B797-4730D44C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777" y="1371600"/>
            <a:ext cx="1026541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LICENSED HYBRID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FFCCA5B7-6FC9-4CB8-AEAF-C426EFFB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1700784"/>
            <a:ext cx="3310128" cy="231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WeBank / MYbank / East Money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95625C21-166D-4445-B300-B5B4C9EA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2231136"/>
            <a:ext cx="331012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Preferred structure | two or more advantages</a:t>
            </a:r>
          </a:p>
        </p:txBody>
      </p:sp>
      <p:sp>
        <p:nvSpPr>
          <p:cNvPr id="95" name="Rectangle 94">
            <a:extLst xmlns:a="http://schemas.openxmlformats.org/drawingml/2006/main">
              <a:ext uri="{FF2B5EF4-FFF2-40B4-BE49-F238E27FC236}">
                <a16:creationId xmlns:a16="http://schemas.microsoft.com/office/drawing/2014/main" id="{885E3BE9-A488-4A97-A542-7E0C8177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578" y="1371600"/>
            <a:ext cx="12684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8D3E0EA9-ACC1-4A2D-B826-F82DD15F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578" y="1371600"/>
            <a:ext cx="1268476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PLATFORM / FACILITATOR</a:t>
            </a:r>
          </a:p>
        </p:txBody>
      </p:sp>
      <p:sp>
        <p:nvSpPr>
          <p:cNvPr id="97" name="TextBox 96">
            <a:extLst xmlns:a="http://schemas.openxmlformats.org/drawingml/2006/main">
              <a:ext uri="{FF2B5EF4-FFF2-40B4-BE49-F238E27FC236}">
                <a16:creationId xmlns:a16="http://schemas.microsoft.com/office/drawing/2014/main" id="{FF3A5136-9A82-4E42-A1D8-0D429C92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700784"/>
            <a:ext cx="3310128" cy="231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Tencent / Ant / loan facilitators</a:t>
            </a:r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FC172123-0034-4A40-A886-57DF1C4D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231136"/>
            <a:ext cx="331012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Selective | transparency and funding matter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B9EA350-0F9E-41CD-84D1-017879CE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1571625" cy="1571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5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FUNDING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1CE973F-9FF9-4372-9FC6-386AC5A6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0375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5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LICENCE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8E43A7C-63DD-4FB8-9726-83C3404E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57625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2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EB361B9-B7D4-4520-A220-555D5981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71750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4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FUNDING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2FF1FD7-006D-4E4C-8483-4DC6656B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4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LICENCE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B3D0E75-FC1E-4F70-98A9-8FDC3B8A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57625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4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BD83585-C91C-4ED5-93B1-242997AA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1666875" cy="1666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6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CEB0A5D-1B02-4EA8-9C27-4350A8A7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43250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4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REGULATION</a:t>
            </a:r>
          </a:p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+ FUNDING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0FE0745-F120-43E0-8608-710E7F80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0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LICENCE</a:t>
            </a:r>
          </a:p>
        </p:txBody>
      </p:sp>
    </p:spTree>
    <p:extLst>
      <p:ext uri="{BB962C8B-B14F-4D97-AF65-F5344CB8AC3E}">
        <p14:creationId xmlns:p14="http://schemas.microsoft.com/office/powerpoint/2010/main" val="318644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10CF68F-FB30-717E-980D-3D91710B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30" y="2700534"/>
            <a:ext cx="2443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>
                <a:latin typeface="Calibri"/>
                <a:ea typeface="Calibri"/>
                <a:cs typeface="Calibri"/>
              </a:defRPr>
            </a:pPr>
            <a:r>
              <a:rPr sz="3600" b="1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Thank you</a:t>
            </a:r>
            <a:endParaRPr sz="3600" b="1">
              <a:solidFill>
                <a:srgbClr val="002060"/>
              </a:solidFill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3BDC267-2CB9-F5BB-ED15-8A4D3E56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30" y="3280144"/>
            <a:ext cx="438023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>
                <a:latin typeface="Calibri"/>
                <a:ea typeface="Calibri"/>
                <a:cs typeface="Calibri"/>
              </a:defRPr>
            </a:pPr>
            <a:r>
              <a:rPr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China banks vs fintech | 2010 to H1 2026</a:t>
            </a:r>
            <a:endParaRPr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1550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2026-10-14T08:04:58.6630000Z</dcterms:created>
  <dcterms:modified xsi:type="dcterms:W3CDTF">2026-10-14T08:04:58.6630000Z</dcterms:modified>
</coreProperties>
</file>