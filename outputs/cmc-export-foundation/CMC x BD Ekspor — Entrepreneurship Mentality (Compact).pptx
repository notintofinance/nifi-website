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3c24d724314ec9" /><Relationship Type="http://schemas.openxmlformats.org/officeDocument/2006/relationships/extended-properties" Target="/docProps/app.xml" Id="R985cd2dbf1e446a0" /><Relationship Type="http://schemas.openxmlformats.org/officeDocument/2006/relationships/officeDocument" Target="/ppt/presentation.xml" Id="Rb3fd2f031e04468f" /></Relationships>
</file>

<file path=ppt/presentation.xml><?xml version="1.0" encoding="utf-8"?>
<p:presentation xmlns:p="http://schemas.openxmlformats.org/presentationml/2006/main">
  <p:sldMasterIdLst>
    <p:sldMasterId xmlns:r="http://schemas.openxmlformats.org/officeDocument/2006/relationships" id="2147483648" r:id="R211fb324681f4865"/>
  </p:sldMasterIdLst>
  <p:notesMasterIdLst>
    <p:notesMasterId xmlns:r="http://schemas.openxmlformats.org/officeDocument/2006/relationships" r:id="R907557cc72384259"/>
  </p:notesMasterIdLst>
  <p:sldIdLst>
    <p:sldId xmlns:r="http://schemas.openxmlformats.org/officeDocument/2006/relationships" id="256" r:id="Rcbd9f6a1b1d14450"/>
    <p:sldId xmlns:r="http://schemas.openxmlformats.org/officeDocument/2006/relationships" id="257" r:id="R87b15c5eaf3646f9"/>
    <p:sldId xmlns:r="http://schemas.openxmlformats.org/officeDocument/2006/relationships" id="258" r:id="R40430c7948084cd8"/>
    <p:sldId xmlns:r="http://schemas.openxmlformats.org/officeDocument/2006/relationships" id="259" r:id="Rb19f401c14784b1c"/>
    <p:sldId xmlns:r="http://schemas.openxmlformats.org/officeDocument/2006/relationships" id="260" r:id="Ra5ba3eb6fad74b61"/>
    <p:sldId xmlns:r="http://schemas.openxmlformats.org/officeDocument/2006/relationships" id="261" r:id="R2d2d86fb473242c4"/>
    <p:sldId xmlns:r="http://schemas.openxmlformats.org/officeDocument/2006/relationships" id="262" r:id="R971ca8be8c284aa2"/>
    <p:sldId xmlns:r="http://schemas.openxmlformats.org/officeDocument/2006/relationships" id="263" r:id="Re367b1a34611443d"/>
    <p:sldId xmlns:r="http://schemas.openxmlformats.org/officeDocument/2006/relationships" id="264" r:id="R83db2ad9dc8d4d9b"/>
    <p:sldId xmlns:r="http://schemas.openxmlformats.org/officeDocument/2006/relationships" id="265" r:id="R5475f79986214a52"/>
    <p:sldId xmlns:r="http://schemas.openxmlformats.org/officeDocument/2006/relationships" id="266" r:id="R9fc6414cadc1487e"/>
    <p:sldId xmlns:r="http://schemas.openxmlformats.org/officeDocument/2006/relationships" id="267" r:id="R4d69c98b87374f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3a68d554bb44dc" /><Relationship Type="http://schemas.openxmlformats.org/officeDocument/2006/relationships/slideMaster" Target="/ppt/slideMasters/slideMaster1.xml" Id="R211fb324681f4865" /><Relationship Type="http://schemas.openxmlformats.org/officeDocument/2006/relationships/notesMaster" Target="/ppt/notesMasters/notesMaster1.xml" Id="R907557cc72384259" /><Relationship Type="http://schemas.openxmlformats.org/officeDocument/2006/relationships/presProps" Target="/ppt/presProps.xml" Id="Rbd1e9cf64fb04b5d" /><Relationship Type="http://schemas.openxmlformats.org/officeDocument/2006/relationships/tableStyles" Target="/ppt/tableStyles.xml" Id="R1bf16b14f4f84417" /><Relationship Type="http://schemas.openxmlformats.org/officeDocument/2006/relationships/slide" Target="/ppt/slides/slide1.xml" Id="Rcbd9f6a1b1d14450" /><Relationship Type="http://schemas.openxmlformats.org/officeDocument/2006/relationships/slide" Target="/ppt/slides/slide2.xml" Id="R87b15c5eaf3646f9" /><Relationship Type="http://schemas.openxmlformats.org/officeDocument/2006/relationships/slide" Target="/ppt/slides/slide3.xml" Id="R40430c7948084cd8" /><Relationship Type="http://schemas.openxmlformats.org/officeDocument/2006/relationships/slide" Target="/ppt/slides/slide4.xml" Id="Rb19f401c14784b1c" /><Relationship Type="http://schemas.openxmlformats.org/officeDocument/2006/relationships/slide" Target="/ppt/slides/slide5.xml" Id="Ra5ba3eb6fad74b61" /><Relationship Type="http://schemas.openxmlformats.org/officeDocument/2006/relationships/slide" Target="/ppt/slides/slide6.xml" Id="R2d2d86fb473242c4" /><Relationship Type="http://schemas.openxmlformats.org/officeDocument/2006/relationships/slide" Target="/ppt/slides/slide7.xml" Id="R971ca8be8c284aa2" /><Relationship Type="http://schemas.openxmlformats.org/officeDocument/2006/relationships/slide" Target="/ppt/slides/slide8.xml" Id="Re367b1a34611443d" /><Relationship Type="http://schemas.openxmlformats.org/officeDocument/2006/relationships/slide" Target="/ppt/slides/slide9.xml" Id="R83db2ad9dc8d4d9b" /><Relationship Type="http://schemas.openxmlformats.org/officeDocument/2006/relationships/slide" Target="/ppt/slides/slide10.xml" Id="R5475f79986214a52" /><Relationship Type="http://schemas.openxmlformats.org/officeDocument/2006/relationships/slide" Target="/ppt/slides/slide11.xml" Id="R9fc6414cadc1487e" /><Relationship Type="http://schemas.openxmlformats.org/officeDocument/2006/relationships/slide" Target="/ppt/slides/slide12.xml" Id="R4d69c98b87374f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4d5101b88045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d68fb567574c7d" /><Relationship Type="http://schemas.openxmlformats.org/officeDocument/2006/relationships/notesMaster" Target="/ppt/notesMasters/notesMaster1.xml" Id="R8c56daefd99d42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16b94780f4fe1" /><Relationship Type="http://schemas.openxmlformats.org/officeDocument/2006/relationships/notesMaster" Target="/ppt/notesMasters/notesMaster1.xml" Id="R90ac44bf14884e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0e9badc980455e" /><Relationship Type="http://schemas.openxmlformats.org/officeDocument/2006/relationships/notesMaster" Target="/ppt/notesMasters/notesMaster1.xml" Id="R67ba95be6b1946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9bf78539694dfc" /><Relationship Type="http://schemas.openxmlformats.org/officeDocument/2006/relationships/notesMaster" Target="/ppt/notesMasters/notesMaster1.xml" Id="R6082b573ea7549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6f6f42fd004a82" /><Relationship Type="http://schemas.openxmlformats.org/officeDocument/2006/relationships/notesMaster" Target="/ppt/notesMasters/notesMaster1.xml" Id="Rcc15d464469b4e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dc4dba733b4cbf" /><Relationship Type="http://schemas.openxmlformats.org/officeDocument/2006/relationships/notesMaster" Target="/ppt/notesMasters/notesMaster1.xml" Id="R7e4e2ed277974e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69c05ea4164c5f" /><Relationship Type="http://schemas.openxmlformats.org/officeDocument/2006/relationships/notesMaster" Target="/ppt/notesMasters/notesMaster1.xml" Id="R9ce05f3349904d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d3d29c83634485" /><Relationship Type="http://schemas.openxmlformats.org/officeDocument/2006/relationships/notesMaster" Target="/ppt/notesMasters/notesMaster1.xml" Id="R3c9e3ebd1f0544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5970bcf3974467" /><Relationship Type="http://schemas.openxmlformats.org/officeDocument/2006/relationships/notesMaster" Target="/ppt/notesMasters/notesMaster1.xml" Id="R5010b2ca450249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1f268611864eaf" /><Relationship Type="http://schemas.openxmlformats.org/officeDocument/2006/relationships/notesMaster" Target="/ppt/notesMasters/notesMaster1.xml" Id="R6fbc20b736d041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400ee39e524a8d" /><Relationship Type="http://schemas.openxmlformats.org/officeDocument/2006/relationships/notesMaster" Target="/ppt/notesMasters/notesMaster1.xml" Id="Rd46366a6499c45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358163c5fd4b55" /><Relationship Type="http://schemas.openxmlformats.org/officeDocument/2006/relationships/notesMaster" Target="/ppt/notesMasters/notesMaster1.xml" Id="R99359162437c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 menit.</a:t>
            </a:r>
          </a:p>
          <a:p xmlns:a="http://schemas.openxmlformats.org/drawingml/2006/main">
            <a:r>
              <a:t/>
            </a:r>
          </a:p>
          <a:p xmlns:a="http://schemas.openxmlformats.org/drawingml/2006/main">
            <a:r>
              <a:t>Buka dengan pengalaman sederhana: banyak orang ingin ekspor ketika mendengar ada buyer. Sesi ini membantu peserta memutuskan peluang mana yang layak dikejar dan apa yang perlu diuji lebih dulu. Audiens campuran calon eksportir dan pelaku usaha. Total alokasi materi 34 menit; tambah 5–10 menit Q&amp;A. Untuk slot 30 menit, pendekkan diskusi slide 2 dan 11 serta gunakan pertanyaan sisanya sebagai refleksi mandiri.</a:t>
            </a:r>
          </a:p>
          <a:p xmlns:a="http://schemas.openxmlformats.org/drawingml/2006/main">
            <a:r>
              <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
            </a:r>
          </a:p>
          <a:p xmlns:a="http://schemas.openxmlformats.org/drawingml/2006/main">
            <a:r>
              <a:t>Sumber web diakses 6 Oktober 2026. Contoh usaha dekorasi rumah dan seluruh angka kasus adalah ilustrasi pembelajaran, bukan data perusahaan atau benchmark ekspor.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Minta peserta angkat tangan: langsung terima, cari detail dulu, atau tolak? Ambil satu jawaban singkat. Perkenalkan usaha dekorasi rumah sebagai kasus fiktif yang akan muncul lagi. Tidak perlu menentukan negara tujuan karena sesi membahas pola pikir; standar dan persyaratan teknis harus dicek untuk produk serta pasar tertentu. Business acumen pada modul berarti memahami situasi dan mengambil keputusan bisnis berdasarkan informasi. Jangan menyamakan inquiry dengan pesanan pasti.</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https://www.kemendag.go.id/index.php/berita/pojok-media/umkm-bisa-ekspor-catat-transaksi-rp404-miliar-pada-triwulan-i-2026</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Tambahan dari Modul 1 h.6: business acumen menghubungkan pemahaman bisnis, antisipasi tantangan, dan adaptasi. Jangan menganggap order otomatis peluang yang sehat. Minta voting singkat tanpa menghakimi jawaban; kembali ke kasus ini pada slide 11. Angka kasus diperkenalkan lebih awal agar kerangka berikutnya punya konteks. 3 menit.</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Adaptasi Golden Circle dari Modul PPT halaman 20–21. Ini alat refleksi tujuan, bukan janji bahwa cerita Why otomatis membuat buyer membeli. Gunakan contoh: kita ingin mengembangkan pesanan berulang untuk pengrajin; cara mewujudkannya melalui mutu dan komunikasi yang dapat dipercaya; produknya dekorasi rumah. Tanyakan: selain menambah omzet, apa alasan ekspor penting bagi bisnis Anda? Tujuan ini membantu menentukan trade-off, misalnya menolak volume yang melampaui kemampuan.</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Modul h.20–21: Why–How–What. Tambahan penerapan: tujuan perlu menuntun pilihan dan trade-off, bukan sekadar cerita merek. Pertanyaan presenter: jika tujuannya pesanan berulang, apakah kita tetap mengambil order yang berpotensi merusak kepercayaan? Why tidak menggantikan bukti permintaan atau kelayakan bisnis. 3 menit.</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Konsep sweet spot berasal dari Modul PPT halaman 17: passion, talent, profit. Tiga pertanyaan di slide adalah adaptasi bisnis ekspor, bukan definisi asli Ikigai. Tambahkan kebutuhan pasar supaya fokus tidak berhenti pada apa yang disukai founder. Dalam kasus dekorasi, tanyakan ukuran, fungsi, finishing, volume dan kemasan yang dibutuhkan buyer. Kemampuan memenuhi permintaan perlu diuji. Perhitungan biaya mengikuti tanggung jawab transaksi yang disepakati; tidak semua biaya otomatis menjadi beban eksportir.</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Memulihkan konsep asli Sweet Spot Modul h.17: passion, talent, profit. Tiga pertanyaan buyer merupakan adaptasi untuk ekspor, bukan bagian literal dari diagram original. Penerapan Strategyzer: uji kebutuhan pelanggan, solusi, lalu willingness to pay. Kualitas, kapasitas, kemasan, dan biaya masuk dalam pembuktian talent/profit. 3 menit.</a:t>
            </a:r>
          </a:p>
          <a:p xmlns:a="http://schemas.openxmlformats.org/drawingml/2006/main">
            <a:r>
              <a:t/>
            </a:r>
          </a:p>
          <a:p xmlns:a="http://schemas.openxmlformats.org/drawingml/2006/main">
            <a:r>
              <a:t>REFERENSI TAMBAHAN</a:t>
            </a:r>
          </a:p>
          <a:p xmlns:a="http://schemas.openxmlformats.org/drawingml/2006/main">
            <a:r>
              <a:t>https://www.strategyzer.com/library/roadmap-to-test-your-value-proposition</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Sumber konsep: fixed vs growth mindset, Modul PPT halaman 12. Dialog adalah ilustrasi, bukan kutipan buyer nyata. Perubahan satu sampel tidak selalu berarti seluruh produk harus berubah. Bedakan masukan satu buyer dan pola yang berulang dari segmen yang tepat. Tanya peserta: apa respons spontan Anda saat produk ditolak? Lanjutkan dengan: informasi apa yang belum Anda tanyakan? Sikap terbuka tetap memerlukan penilaian biaya dan kesesuaian bisnis.</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Materi tambahan Modul h.11–12: rasa ingin tahu, eksperimen, adaptasi, kesadaran diri, dan menerima kegagalan sebagai bahan belajar. Pakai tiga situasi konkret; jangan melabeli kepribadian peserta. Tanyakan kalimat mana yang pernah mereka ucapkan. Kegigihan bukan mengulang pendekatan tanpa evaluasi. 3 menit.</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Build–Measure–Learn dari Modul PPT halaman 27 dan metodologi asli Lean Startup. Terapkan pada kasus: kirim sampel sesuai hipotesis kebutuhan, catat ukuran/kemasan/harga yang ditanggapi, lalu putuskan apa yang diubah. Tindak lanjut buyer lebih berguna daripada pujian umum, tetapi persetujuan sampel tetap belum menjamin order atau pembayaran. Eksperimen perlu batas biaya dan waktu yang sanggup ditanggung. Sampel dan pengiriman percobaan tetap mengikuti persyaratan yang berlaku.</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Modul h.27. Tambahan contoh eksperimen yang lengkap agar siklus tidak abstrak. Dua alternatif adalah contoh desain uji, bukan ukuran sampel penelitian. Tentukan bukti kelulusan sebelum menjalankan uji. Respons positif belum sama dengan komitmen membeli. Rekam perubahan dan keputusan setelah uji. 3 menit.</a:t>
            </a:r>
          </a:p>
          <a:p xmlns:a="http://schemas.openxmlformats.org/drawingml/2006/main">
            <a:r>
              <a:t/>
            </a:r>
          </a:p>
          <a:p xmlns:a="http://schemas.openxmlformats.org/drawingml/2006/main">
            <a:r>
              <a:t>REFERENSI TAMBAHAN</a:t>
            </a:r>
          </a:p>
          <a:p xmlns:a="http://schemas.openxmlformats.org/drawingml/2006/main">
            <a:r>
              <a:t>https://theleanstartup.com/principles</a:t>
            </a:r>
          </a:p>
          <a:p xmlns:a="http://schemas.openxmlformats.org/drawingml/2006/main">
            <a:r>
              <a:t>https://www.strategyzer.com/library/roadmap-to-test-your-value-proposition</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Modul halaman 9 membahas kelincahan, tim dan adaptasi; halaman 25 membahas risiko. Kemendag menekankan kesiapan produk, kualitas dan kapasitas yang konsisten. Arahkan peserta memeriksa kapasitas nyata, bukan kapasitas maksimal mesin atau total pemasok yang belum dikonfirmasi. Mutu tidak berhenti pada contoh terbaik; harus mampu diulang. Timeline harus memakai tanggal dan definisi yang jelas: selesai produksi, siap kirim, atau tiba. Syarat negara tujuan/produk tetap diperiksa sebelum transaksi.</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https://www.kemendag.go.id/index.php/berita/pojok-media/umkm-bisa-ekspor-catat-transaksi-rp404-miliar-pada-triwulan-i-2026</a:t>
            </a:r>
          </a:p>
          <a:p xmlns:a="http://schemas.openxmlformats.org/drawingml/2006/main">
            <a:r>
              <a:t>https://www.trade.gov/exporter-assessments-0</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Business acumen dan kesiapan dari Modul h.6,23–25. Angka kapasitas hanya kasus ilustratif. Checklist ini bukan sertifikasi kesiapan ekspor atau pemeriksaan kepatuhan produk. Perizinan dan persyaratan pasar tujuan perlu diverifikasi terpisah sesuai kategori produk. 3 menit.</a:t>
            </a:r>
          </a:p>
          <a:p xmlns:a="http://schemas.openxmlformats.org/drawingml/2006/main">
            <a:r>
              <a:t/>
            </a:r>
          </a:p>
          <a:p xmlns:a="http://schemas.openxmlformats.org/drawingml/2006/main">
            <a:r>
              <a:t>REFERENSI TAMBAHAN</a:t>
            </a:r>
          </a:p>
          <a:p xmlns:a="http://schemas.openxmlformats.org/drawingml/2006/main">
            <a:r>
              <a:t>https://www.trade.gov/exporter-assessments-0</a:t>
            </a:r>
          </a:p>
          <a:p xmlns:a="http://schemas.openxmlformats.org/drawingml/2006/main">
            <a:r>
              <a:t>https://www.trade.gov/develop-export-plan</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Diagram adalah urutan ilustratif tanpa skala waktu. Tidak semua transaksi ekspor dibayar setelah penerimaan; waktu pembayaran mengikuti metode dan kontrak yang disepakati. Prinsip modul halaman 24: bedakan profit dan cash flow serta pahami kebutuhan keuangan. Trade.gov menjelaskan pilihan pembayaran memiliki risiko dan dampak arus kas berbeda. Tanyakan: kalau pelunasan terlambat, apakah gaji dan pesanan lain tetap bisa berjalan? Diskusikan uang muka atau tahapan pembayaran sebagai opsi negosiasi, bukan jaminan tersedia atau aman. Materi tidak menetapkan metode pembayaran tertentu.</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Modul h.24: kesiapan finansial dan pemisahan uang pribadi/usaha. Tambahkan verbal: jangan menganggap laba sebagai saldo kas, pisahkan pencatatan usaha. Timeline bersifat urutan, bukan skala waktu. Perubahan termin harus disepakati dengan buyer dan pemasok; tidak selalu tersedia dan mengubah risiko para pihak. Ini pengantar keputusan bisnis, bukan rekomendasi instrumen pembayaran tertentu. 3 menit.</a:t>
            </a:r>
          </a:p>
          <a:p xmlns:a="http://schemas.openxmlformats.org/drawingml/2006/main">
            <a:r>
              <a:t/>
            </a:r>
          </a:p>
          <a:p xmlns:a="http://schemas.openxmlformats.org/drawingml/2006/main">
            <a:r>
              <a:t>REFERENSI TAMBAHAN</a:t>
            </a:r>
          </a:p>
          <a:p xmlns:a="http://schemas.openxmlformats.org/drawingml/2006/main">
            <a:r>
              <a:t>https://www.trade.gov/methods-payment</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Adaptasi manajemen risiko pada Modul PPT halaman 25. Ini daftar pemicu diskusi, bukan daftar lengkap risiko ekspor. Cek buyer artinya mencari bukti identitas usaha, kredibilitas dan kemampuan memenuhi transaksi melalui proses yang relevan; identitas saja tidak menghilangkan risiko pembayaran. Tambahkan risiko lain dari peserta, misalnya pemasok, kurs atau permintaan pasar, jika relevan. Tanyakan: satu risiko apa yang paling mengancam bisnis Anda, dan siapa yang harus menanganinya? Kontrak, dokumen dan persyaratan teknis harus diperiksa sesuai produk dan pasar.</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https://www.trade.gov/exporter-assessments-0</a:t>
            </a:r>
          </a:p>
          <a:p xmlns:a="http://schemas.openxmlformats.org/drawingml/2006/main">
            <a:r>
              <a:t>https://www.trade.gov/methods-payment</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Modul h.25: identifikasi risiko, rencana darurat, belajar dari kegagalan. Diagram adalah cause/control chain, tidak mengukur probabilitas. Minta peserta menyebut satu batas stop sebelum order diterima. Kontrol mengurangi risiko, tidak menjamin risiko hilang. Jika mitigasi tidak terjangkau, negosiasikan atau tunda. 3 menit.</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 menit.</a:t>
            </a:r>
          </a:p>
          <a:p xmlns:a="http://schemas.openxmlformats.org/drawingml/2006/main">
            <a:r>
              <a:t>Modul halaman 9 membahas kru yang tepat; halaman 18 mengenalkan Designer, Showman dan Enforcer. Gunakan arketipe sebagai alat refleksi peran, bukan tes kepribadian atau syarat sukses. Tim kecil bisa merangkap peran dan memakai mitra ahli. Tetap perlu satu pemilik yang memastikan kebutuhan buyer diterjemahkan menjadi pekerjaan dan batas tanggung jawab. Pengiriman dapat melibatkan mitra, tetapi koordinasi dan janji ke buyer tetap harus memiliki penanggung jawab internal.</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Modul h.18. Arketipe dipakai sebagai lensa peran, bukan tes psikologi atau pembagian jabatan wajib. Designer mengembangkan solusi/produk; Showman memahami customer dan koneksi; Enforcer merapikan pelaksanaan. Peran boleh dirangkap atau diisi mitra. Tambahan dari Modul h.9 dan30: memilih tim dan menyelaraskan tanggung jawab. Gambar adalah ilustrasi AI, bukan tokoh riil. 3 menit.</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 menit.</a:t>
            </a:r>
          </a:p>
          <a:p xmlns:a="http://schemas.openxmlformats.org/drawingml/2006/main">
            <a:r>
              <a:t>Alokasikan 1 menit berpikir, 2 menit mengambil jawaban, 2 menit membahas. Semua angka ilustratif. Informasi ini belum cukup untuk langsung menerima order sesuai syarat awal: ada gap kapasitas 200 unit, risiko kas dan kemasan belum diuji. Arah pembahasan: negosiasikan order percobaan atau pengiriman bertahap, waktu yang realistis, dan syarat bayar yang dapat ditanggung. Pastikan kemasan dan spesifikasi terbukti sebelum pengiriman. Tidak ada kewajiban memilih satu volume atau besaran uang muka tertentu. Jika buyer tidak bersedia dan risikonya tetap melebihi kemampuan, tunda atau tolak. Respons yang dinilai adalah kualitas alasan dan bukti, bukan keberanian menerima pesanan. Untuk slot 30 menit, gunakan 3 menit.</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Grafik native tetap 500 dan300, gap200. Keputusan negosiasi adalah respons terhadap fakta kasus yang diberikan, bukan aturan semua transaksi ekspor. Terima jika kapasitas, mutu, kas, dan syarat kontrak terbukti layak. Tunda jika syarat tidak dapat dibuat aman. Buat diskusi 4 menit: peserta menyebut satu syarat yang ingin diubah dan satu bukti yang wajib ada. Tanpa asumsi tambahan, menerima syarat awal belum didukung kesiapan.</a:t>
            </a:r>
          </a:p>
          <a:p xmlns:a="http://schemas.openxmlformats.org/drawingml/2006/main">
            <a:r>
              <a:t/>
            </a:r>
          </a:p>
          <a:p xmlns:a="http://schemas.openxmlformats.org/drawingml/2006/main">
            <a:r>
              <a:t>REFERENSI TAMBAHAN</a:t>
            </a:r>
          </a:p>
          <a:p xmlns:a="http://schemas.openxmlformats.org/drawingml/2006/main">
            <a:r>
              <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 menit.</a:t>
            </a:r>
          </a:p>
          <a:p xmlns:a="http://schemas.openxmlformats.org/drawingml/2006/main">
            <a:r>
              <a:t>Minta peserta menulis rencana mereka sendiri; kalimat pada slide hanya contoh. Calon eksportir dapat mulai dari wawancara kebutuhan buyer. Pelaku usaha yang sudah berjalan dapat menguji satu asumsi, misalnya segmen buyer, spesifikasi, atau pola repeat order. Minta satu orang membacakan: apa yang diuji, langkahnya, buktinya, dan batas waktu/biaya. Penutup: kemajuan datang dari bukti yang mengubah keputusan. Rangkuman mentalitas modul: punya tujuan, terbuka pada pembelajaran, sadar risiko, dan bergerak iteratif. Sediakan 5–10 menit Q&amp;A bila durasi acara memungkinkan.</a:t>
            </a:r>
          </a:p>
          <a:p xmlns:a="http://schemas.openxmlformats.org/drawingml/2006/main">
            <a:r>
              <a:t>SUMBER</a:t>
            </a:r>
          </a:p>
          <a:p xmlns:a="http://schemas.openxmlformats.org/drawingml/2006/main">
            <a:r>
              <a:t>Modul 1 Entrepreneurship Mentality, CEO Masterclass, modul-ppt.pdf (30 halaman) dan rangkuman CMC × BD Ekspor (8 halaman), supplied user.</a:t>
            </a:r>
          </a:p>
          <a:p xmlns:a="http://schemas.openxmlformats.org/drawingml/2006/main">
            <a:r>
              <a:t>https://theleanstartup.com/principles</a:t>
            </a:r>
          </a:p>
          <a:p xmlns:a="http://schemas.openxmlformats.org/drawingml/2006/main">
            <a:r>
              <a:t>https://www.trade.gov/develop-export-plan</a:t>
            </a:r>
          </a:p>
          <a:p xmlns:a="http://schemas.openxmlformats.org/drawingml/2006/main">
            <a:r>
              <a:t>Sumber web diakses 6 Oktober 2026. Contoh usaha dekorasi rumah dan seluruh angka kasus adalah ilustrasi pembelajaran, bukan data perusahaan atau benchmark ekspor.</a:t>
            </a:r>
          </a:p>
          <a:p xmlns:a="http://schemas.openxmlformats.org/drawingml/2006/main">
            <a:r>
              <a:t/>
            </a:r>
          </a:p>
          <a:p xmlns:a="http://schemas.openxmlformats.org/drawingml/2006/main">
            <a:r>
              <a:t>Tambahan Modul h.28: challenge, coaching, progress, perseverance; gunakan feedback/mentor untuk membaca hasil uji. Modul h.29 pitch/publish/products/profile/partnerships disimpan sebagai pilihan tindak lanjut, bukan lima pekerjaan sekaligus. Ajak peserta mengisi komitmen singkat. Bukti kelulusan uji harus disepakati lebih dulu; jawaban sopan atau likes tidak otomatis menandakan niat membeli. Untuk sesi30menit, cukup tutup dengan satu contoh peserta. Total alokasi revisi sekitar35menit +Q&amp;A5–10menit.</a:t>
            </a:r>
          </a:p>
          <a:p xmlns:a="http://schemas.openxmlformats.org/drawingml/2006/main">
            <a:r>
              <a:t/>
            </a:r>
          </a:p>
          <a:p xmlns:a="http://schemas.openxmlformats.org/drawingml/2006/main">
            <a:r>
              <a:t>REFERENSI TAMBAHAN</a:t>
            </a:r>
          </a:p>
          <a:p xmlns:a="http://schemas.openxmlformats.org/drawingml/2006/main">
            <a:r>
              <a:t>https://www.strategyzer.com/library/roadmap-to-test-your-value-proposition</a:t>
            </a:r>
          </a:p>
          <a:p xmlns:a="http://schemas.openxmlformats.org/drawingml/2006/main">
            <a:r>
              <a:t>Diakses 6 Oktober 2026. Semua contoh dan posisi visual adalah adaptasi pembelajaran, bukan benchmark perusahaan.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1ded0731c45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f1ac8357b04f1e" /><Relationship Type="http://schemas.openxmlformats.org/officeDocument/2006/relationships/slideLayout" Target="/ppt/slideLayouts/slideLayout1.xml" Id="R1decb866363042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ecb86636304256"/>
  </p:sldLayoutIdLst>
  <p:txStyles>
    <p:titleStyle>
      <a:lvl1pPr xmlns:a="http://schemas.openxmlformats.org/drawingml/2006/main" algn="l">
        <a:lnSpc>
          <a:spcPct val="90000"/>
        </a:lnSpc>
        <a:spcBef>
          <a:spcPts val="0"/>
        </a:spcBef>
        <a:buNone/>
        <a:defRPr sz="4400">
          <a:solidFill>
            <a:schemeClr val="tx1"/>
          </a:solidFill>
          <a:latin typeface="Calibri"/>
          <a:ea typeface="Calibri"/>
          <a:cs typeface="Calibri"/>
        </a:defRPr>
      </a:lvl1pPr>
    </p:titleStyle>
    <p:bodyStyle>
      <a:lvl1pPr xmlns:a="http://schemas.openxmlformats.org/drawingml/2006/main" marL="228600" indent="-228600" algn="l">
        <a:lnSpc>
          <a:spcPct val="90000"/>
        </a:lnSpc>
        <a:spcBef>
          <a:spcPts val="1000"/>
        </a:spcBef>
        <a:buChar char="•"/>
        <a:defRPr sz="2800">
          <a:solidFill>
            <a:schemeClr val="tx1"/>
          </a:solidFill>
          <a:latin typeface="Calibri"/>
          <a:ea typeface="Calibri"/>
          <a:cs typeface="Calibri"/>
        </a:defRPr>
      </a:lvl1pPr>
      <a:lvl2pPr xmlns:a="http://schemas.openxmlformats.org/drawingml/2006/main" marL="685800" indent="-228600" algn="l">
        <a:lnSpc>
          <a:spcPct val="90000"/>
        </a:lnSpc>
        <a:spcBef>
          <a:spcPts val="500"/>
        </a:spcBef>
        <a:buChar char="•"/>
        <a:defRPr sz="2400">
          <a:solidFill>
            <a:schemeClr val="tx1"/>
          </a:solidFill>
          <a:latin typeface="Calibri"/>
          <a:ea typeface="Calibri"/>
          <a:cs typeface="Calibri"/>
        </a:defRPr>
      </a:lvl2pPr>
      <a:lvl3pPr xmlns:a="http://schemas.openxmlformats.org/drawingml/2006/main" marL="1143000" indent="-228600" algn="l">
        <a:lnSpc>
          <a:spcPct val="90000"/>
        </a:lnSpc>
        <a:spcBef>
          <a:spcPts val="500"/>
        </a:spcBef>
        <a:buChar char="•"/>
        <a:defRPr sz="2000">
          <a:solidFill>
            <a:schemeClr val="tx1"/>
          </a:solidFill>
          <a:latin typeface="Calibri"/>
          <a:ea typeface="Calibri"/>
          <a:cs typeface="Calibri"/>
        </a:defRPr>
      </a:lvl3pPr>
      <a:lvl4pPr xmlns:a="http://schemas.openxmlformats.org/drawingml/2006/main" marL="1600200" indent="-228600" algn="l">
        <a:lnSpc>
          <a:spcPct val="90000"/>
        </a:lnSpc>
        <a:spcBef>
          <a:spcPts val="500"/>
        </a:spcBef>
        <a:buChar char="•"/>
        <a:defRPr sz="1800">
          <a:solidFill>
            <a:schemeClr val="tx1"/>
          </a:solidFill>
          <a:latin typeface="Calibri"/>
          <a:ea typeface="Calibri"/>
          <a:cs typeface="Calibri"/>
        </a:defRPr>
      </a:lvl4pPr>
      <a:lvl5pPr xmlns:a="http://schemas.openxmlformats.org/drawingml/2006/main" marL="2057400" indent="-228600" algn="l">
        <a:lnSpc>
          <a:spcPct val="90000"/>
        </a:lnSpc>
        <a:spcBef>
          <a:spcPts val="500"/>
        </a:spcBef>
        <a:buChar char="•"/>
        <a:defRPr sz="1800">
          <a:solidFill>
            <a:schemeClr val="tx1"/>
          </a:solidFill>
          <a:latin typeface="Calibri"/>
          <a:ea typeface="Calibri"/>
          <a:cs typeface="Calibri"/>
        </a:defRPr>
      </a:lvl5pPr>
      <a:lvl6pPr xmlns:a="http://schemas.openxmlformats.org/drawingml/2006/main" marL="2514600" indent="-228600" algn="l">
        <a:lnSpc>
          <a:spcPct val="90000"/>
        </a:lnSpc>
        <a:spcBef>
          <a:spcPts val="500"/>
        </a:spcBef>
        <a:buChar char="•"/>
        <a:defRPr sz="1800">
          <a:solidFill>
            <a:schemeClr val="tx1"/>
          </a:solidFill>
          <a:latin typeface="Calibri"/>
          <a:ea typeface="Calibri"/>
          <a:cs typeface="Calibri"/>
        </a:defRPr>
      </a:lvl6pPr>
      <a:lvl7pPr xmlns:a="http://schemas.openxmlformats.org/drawingml/2006/main" marL="2971800" indent="-228600" algn="l">
        <a:lnSpc>
          <a:spcPct val="90000"/>
        </a:lnSpc>
        <a:spcBef>
          <a:spcPts val="500"/>
        </a:spcBef>
        <a:buChar char="•"/>
        <a:defRPr sz="1800">
          <a:solidFill>
            <a:schemeClr val="tx1"/>
          </a:solidFill>
          <a:latin typeface="Calibri"/>
          <a:ea typeface="Calibri"/>
          <a:cs typeface="Calibri"/>
        </a:defRPr>
      </a:lvl7pPr>
      <a:lvl8pPr xmlns:a="http://schemas.openxmlformats.org/drawingml/2006/main" marL="3429000" indent="-228600" algn="l">
        <a:lnSpc>
          <a:spcPct val="90000"/>
        </a:lnSpc>
        <a:spcBef>
          <a:spcPts val="500"/>
        </a:spcBef>
        <a:buChar char="•"/>
        <a:defRPr sz="1800">
          <a:solidFill>
            <a:schemeClr val="tx1"/>
          </a:solidFill>
          <a:latin typeface="Calibri"/>
          <a:ea typeface="Calibri"/>
          <a:cs typeface="Calibri"/>
        </a:defRPr>
      </a:lvl8pPr>
      <a:lvl9pPr xmlns:a="http://schemas.openxmlformats.org/drawingml/2006/main" marL="3886200" indent="-228600" algn="l">
        <a:lnSpc>
          <a:spcPct val="90000"/>
        </a:lnSpc>
        <a:spcBef>
          <a:spcPts val="500"/>
        </a:spcBef>
        <a:buChar char="•"/>
        <a:defRPr sz="1800">
          <a:solidFill>
            <a:schemeClr val="tx1"/>
          </a:solidFill>
          <a:latin typeface="Calibri"/>
          <a:ea typeface="Calibri"/>
          <a:cs typeface="Calibri"/>
        </a:defRPr>
      </a:lvl9pPr>
    </p:bodyStyle>
    <p:otherStyle>
      <a:lvl1pPr xmlns:a="http://schemas.openxmlformats.org/drawingml/2006/main" marL="0" algn="l">
        <a:buNone/>
        <a:defRPr sz="1800">
          <a:solidFill>
            <a:schemeClr val="tx1"/>
          </a:solidFill>
          <a:latin typeface="Calibri"/>
          <a:ea typeface="Calibri"/>
          <a:cs typeface="Calibri"/>
        </a:defRPr>
      </a:lvl1pPr>
      <a:lvl2pPr xmlns:a="http://schemas.openxmlformats.org/drawingml/2006/main" marL="457200" algn="l">
        <a:buNone/>
        <a:defRPr sz="1800">
          <a:solidFill>
            <a:schemeClr val="tx1"/>
          </a:solidFill>
          <a:latin typeface="Calibri"/>
          <a:ea typeface="Calibri"/>
          <a:cs typeface="Calibri"/>
        </a:defRPr>
      </a:lvl2pPr>
      <a:lvl3pPr xmlns:a="http://schemas.openxmlformats.org/drawingml/2006/main" marL="914400" algn="l">
        <a:buNone/>
        <a:defRPr sz="1800">
          <a:solidFill>
            <a:schemeClr val="tx1"/>
          </a:solidFill>
          <a:latin typeface="Calibri"/>
          <a:ea typeface="Calibri"/>
          <a:cs typeface="Calibri"/>
        </a:defRPr>
      </a:lvl3pPr>
      <a:lvl4pPr xmlns:a="http://schemas.openxmlformats.org/drawingml/2006/main" marL="1371600" algn="l">
        <a:buNone/>
        <a:defRPr sz="1800">
          <a:solidFill>
            <a:schemeClr val="tx1"/>
          </a:solidFill>
          <a:latin typeface="Calibri"/>
          <a:ea typeface="Calibri"/>
          <a:cs typeface="Calibri"/>
        </a:defRPr>
      </a:lvl4pPr>
      <a:lvl5pPr xmlns:a="http://schemas.openxmlformats.org/drawingml/2006/main" marL="1828800" algn="l">
        <a:buNone/>
        <a:defRPr sz="1800">
          <a:solidFill>
            <a:schemeClr val="tx1"/>
          </a:solidFill>
          <a:latin typeface="Calibri"/>
          <a:ea typeface="Calibri"/>
          <a:cs typeface="Calibri"/>
        </a:defRPr>
      </a:lvl5pPr>
      <a:lvl6pPr xmlns:a="http://schemas.openxmlformats.org/drawingml/2006/main" marL="2286000" algn="l">
        <a:buNone/>
        <a:defRPr sz="1800">
          <a:solidFill>
            <a:schemeClr val="tx1"/>
          </a:solidFill>
          <a:latin typeface="Calibri"/>
          <a:ea typeface="Calibri"/>
          <a:cs typeface="Calibri"/>
        </a:defRPr>
      </a:lvl6pPr>
      <a:lvl7pPr xmlns:a="http://schemas.openxmlformats.org/drawingml/2006/main" marL="2743200" algn="l">
        <a:buNone/>
        <a:defRPr sz="1800">
          <a:solidFill>
            <a:schemeClr val="tx1"/>
          </a:solidFill>
          <a:latin typeface="Calibri"/>
          <a:ea typeface="Calibri"/>
          <a:cs typeface="Calibri"/>
        </a:defRPr>
      </a:lvl7pPr>
      <a:lvl8pPr xmlns:a="http://schemas.openxmlformats.org/drawingml/2006/main" marL="3200400" algn="l">
        <a:buNone/>
        <a:defRPr sz="1800">
          <a:solidFill>
            <a:schemeClr val="tx1"/>
          </a:solidFill>
          <a:latin typeface="Calibri"/>
          <a:ea typeface="Calibri"/>
          <a:cs typeface="Calibri"/>
        </a:defRPr>
      </a:lvl8pPr>
      <a:lvl9pPr xmlns:a="http://schemas.openxmlformats.org/drawingml/2006/main" marL="3657600" algn="l">
        <a:buNone/>
        <a:defRPr sz="1800">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f626160ac9437e" /><Relationship Type="http://schemas.openxmlformats.org/officeDocument/2006/relationships/image" Target="/ppt/media/image.png" Id="Rddcb51bdf942472e" /><Relationship Type="http://schemas.openxmlformats.org/officeDocument/2006/relationships/image" Target="/ppt/media/image2.png" Id="R481bcdcde2d7475f" /><Relationship Type="http://schemas.openxmlformats.org/officeDocument/2006/relationships/notesSlide" Target="/ppt/notesSlides/notesSlide1.xml" Id="R59ae40138efb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1f04ca41a04687" /><Relationship Type="http://schemas.openxmlformats.org/officeDocument/2006/relationships/image" Target="/ppt/media/image3.png" Id="Rb7b272d5006e4b6a" /><Relationship Type="http://schemas.openxmlformats.org/officeDocument/2006/relationships/image" Target="/ppt/media/image4.png" Id="Rf59345fd5a794b95" /><Relationship Type="http://schemas.openxmlformats.org/officeDocument/2006/relationships/image" Target="/ppt/media/image5.png" Id="R8df47e9aa0cc48f6" /><Relationship Type="http://schemas.openxmlformats.org/officeDocument/2006/relationships/notesSlide" Target="/ppt/notesSlides/notesSlide2.xml" Id="R02748c455fa448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c825c81b464307" /><Relationship Type="http://schemas.openxmlformats.org/officeDocument/2006/relationships/image" Target="/ppt/media/image6.png" Id="Rb12056b47f594766" /><Relationship Type="http://schemas.openxmlformats.org/officeDocument/2006/relationships/image" Target="/ppt/media/image7.png" Id="R5f1de1d43cbe41fe" /><Relationship Type="http://schemas.openxmlformats.org/officeDocument/2006/relationships/notesSlide" Target="/ppt/notesSlides/notesSlide3.xml" Id="Rb964bf77e4ac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928623e8ea4a8e" /><Relationship Type="http://schemas.openxmlformats.org/officeDocument/2006/relationships/image" Target="/ppt/media/image8.png" Id="Rfe77517131854a74" /><Relationship Type="http://schemas.openxmlformats.org/officeDocument/2006/relationships/image" Target="/ppt/media/image9.png" Id="R0f8c32bc9b63405c" /><Relationship Type="http://schemas.openxmlformats.org/officeDocument/2006/relationships/notesSlide" Target="/ppt/notesSlides/notesSlide4.xml" Id="Rdc8f4f931f1042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d0ff4e150b441a" /><Relationship Type="http://schemas.openxmlformats.org/officeDocument/2006/relationships/image" Target="/ppt/media/image10.png" Id="Rfd27ada1876a4a50" /><Relationship Type="http://schemas.openxmlformats.org/officeDocument/2006/relationships/image" Target="/ppt/media/image11.png" Id="R2206af0e9f4542ff" /><Relationship Type="http://schemas.openxmlformats.org/officeDocument/2006/relationships/notesSlide" Target="/ppt/notesSlides/notesSlide5.xml" Id="R4edbb3ba987b48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0c2f63858040e9" /><Relationship Type="http://schemas.openxmlformats.org/officeDocument/2006/relationships/image" Target="/ppt/media/image12.png" Id="R6852dc5dfafd4082" /><Relationship Type="http://schemas.openxmlformats.org/officeDocument/2006/relationships/image" Target="/ppt/media/image13.png" Id="Rf91d4fd724974cd6" /><Relationship Type="http://schemas.openxmlformats.org/officeDocument/2006/relationships/notesSlide" Target="/ppt/notesSlides/notesSlide6.xml" Id="R85f97e8f5df343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452f371eb14b3f" /><Relationship Type="http://schemas.openxmlformats.org/officeDocument/2006/relationships/image" Target="/ppt/media/image14.png" Id="Refd9a915e0434598" /><Relationship Type="http://schemas.openxmlformats.org/officeDocument/2006/relationships/image" Target="/ppt/media/image15.png" Id="Rd15069a7b4474391" /><Relationship Type="http://schemas.openxmlformats.org/officeDocument/2006/relationships/image" Target="/ppt/media/image16.png" Id="Rbd4e9288ff1340e8" /><Relationship Type="http://schemas.openxmlformats.org/officeDocument/2006/relationships/notesSlide" Target="/ppt/notesSlides/notesSlide7.xml" Id="R9d708553d4ee44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abcc0ec1834e1a" /><Relationship Type="http://schemas.openxmlformats.org/officeDocument/2006/relationships/image" Target="/ppt/media/image17.png" Id="R15c5ac39b5564a05" /><Relationship Type="http://schemas.openxmlformats.org/officeDocument/2006/relationships/image" Target="/ppt/media/image18.png" Id="Rf6919f31c90b4aeb" /><Relationship Type="http://schemas.openxmlformats.org/officeDocument/2006/relationships/image" Target="/ppt/media/image19.png" Id="R9289609de83f499e" /><Relationship Type="http://schemas.openxmlformats.org/officeDocument/2006/relationships/notesSlide" Target="/ppt/notesSlides/notesSlide8.xml" Id="R7357e4b196dc47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2d109d79fe4966" /><Relationship Type="http://schemas.openxmlformats.org/officeDocument/2006/relationships/image" Target="/ppt/media/image20.png" Id="R9a599c87fb9b453d" /><Relationship Type="http://schemas.openxmlformats.org/officeDocument/2006/relationships/image" Target="/ppt/media/image21.png" Id="R7fe4c402c86a4fa8" /><Relationship Type="http://schemas.openxmlformats.org/officeDocument/2006/relationships/notesSlide" Target="/ppt/notesSlides/notesSlide9.xml" Id="Rdc1847fd30f44d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d7c06fea8a4d54" /><Relationship Type="http://schemas.openxmlformats.org/officeDocument/2006/relationships/image" Target="/ppt/media/image22.png" Id="Rcfa79d8efc104599" /><Relationship Type="http://schemas.openxmlformats.org/officeDocument/2006/relationships/image" Target="/ppt/media/image23.png" Id="Rdb3d656dc2d7422c" /><Relationship Type="http://schemas.openxmlformats.org/officeDocument/2006/relationships/image" Target="/ppt/media/image24.png" Id="Rae302f910efa4c87" /><Relationship Type="http://schemas.openxmlformats.org/officeDocument/2006/relationships/notesSlide" Target="/ppt/notesSlides/notesSlide10.xml" Id="R0116c8b60c844ff7" /></Relationships>
</file>

<file path=ppt/slides/_rels/slide11.xml.rels><?xml version='1.0' encoding='UTF-8'?>
<Relationships xmlns="http://schemas.openxmlformats.org/package/2006/relationships"><Relationship Type="http://schemas.openxmlformats.org/officeDocument/2006/relationships/slideLayout" Target="/ppt/slideLayouts/slideLayout1.xml" Id="R7ea5d3b3a78d49f9"/><Relationship Type="http://schemas.openxmlformats.org/officeDocument/2006/relationships/image" Target="/ppt/media/image25.png" Id="R186a0e736e964f94"/><Relationship Type="http://schemas.openxmlformats.org/officeDocument/2006/relationships/image" Target="/ppt/media/image26.png" Id="Rb8cef62353cc4dca"/><Relationship Type="http://schemas.openxmlformats.org/officeDocument/2006/relationships/chart" Target="/ppt/slides/charts/chart2.xml" Id="R26de03c169b342df"/><Relationship Type="http://schemas.openxmlformats.org/officeDocument/2006/relationships/notesSlide" Target="/ppt/notesSlides/notesSlide11.xml" Id="Rc106c3973a7a46c6"/></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1a99ae0956489a" /><Relationship Type="http://schemas.openxmlformats.org/officeDocument/2006/relationships/image" Target="/ppt/media/image27.png" Id="Ra27084f5c94d4ea3" /><Relationship Type="http://schemas.openxmlformats.org/officeDocument/2006/relationships/image" Target="/ppt/media/image28.png" Id="R59e777a6568f4e91" /><Relationship Type="http://schemas.openxmlformats.org/officeDocument/2006/relationships/notesSlide" Target="/ppt/notesSlides/notesSlide12.xml" Id="R36017de3f10d4ff5" /></Relationships>
</file>

<file path=ppt/slides/charts/_rels/chart2.xml.rels><Relationships xmlns="http://schemas.openxmlformats.org/package/2006/relationships"><Relationship Id="rIdChartSnapshot1" Type="http://schemas.openxmlformats.org/officeDocument/2006/relationships/package" Target="../../embeddings/chart-data-snapshot-001.xlsx"/></Relationships>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Unit</c:v>
          </c:tx>
          <c:spPr>
            <a:solidFill xmlns:a="http://schemas.openxmlformats.org/drawingml/2006/main">
              <a:srgbClr val="95BBA9"/>
            </a:solidFill>
          </c:spPr>
          <c:dPt>
            <c:idx val="1"/>
            <c:invertIfNegative val="0"/>
            <c:spPr>
              <a:solidFill xmlns:a="http://schemas.openxmlformats.org/drawingml/2006/main">
                <a:srgbClr val="087958"/>
              </a:solidFill>
            </c:spPr>
          </c:dPt>
          <c:cat>
            <c:strRef>
              <c:f>'Chart Data'!$A$2:$A$3</c:f>
              <c:strCache>
                <c:ptCount val="2"/>
                <c:pt idx="0">
                  <c:v>Pesanan buyer</c:v>
                </c:pt>
                <c:pt idx="1">
                  <c:v>Kapasitas tersedia</c:v>
                </c:pt>
              </c:strCache>
            </c:strRef>
          </c:cat>
          <c:val>
            <c:numRef>
              <c:f>'Chart Data'!$B$2:$B$3</c:f>
              <c:numCache>
                <c:formatCode>General</c:formatCode>
                <c:ptCount val="2"/>
                <c:pt idx="0">
                  <c:v>500</c:v>
                </c:pt>
                <c:pt idx="1">
                  <c:v>300</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002B28"/>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B6C65"/>
                </a:solidFill>
                <a:latin typeface="Calibri"/>
                <a:ea typeface="Calibri"/>
                <a:cs typeface="Calibri"/>
              </a:defRPr>
            </a:pPr>
          </a:p>
        </c:txPr>
        <c:crossAx val="48672768"/>
      </c:catAx>
      <c:valAx>
        <c:axId val="48672768"/>
        <c:scaling>
          <c:orientation val="minMax"/>
          <c:max val="60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B6C65"/>
                </a:solidFill>
                <a:latin typeface="Calibri"/>
                <a:ea typeface="Calibri"/>
                <a:cs typeface="Calibri"/>
              </a:defRPr>
            </a:pPr>
          </a:p>
        </c:txPr>
        <c:crossAx val="48650112"/>
        <c:crossBetween val="between"/>
        <c:majorUnit val="2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dcb51bdf942472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81bcdcde2d7475f"/>
          <a:stretch xmlns:a="http://schemas.openxmlformats.org/drawingml/2006/main"/>
        </p:blipFill>
        <p:spPr>
          <a:xfrm xmlns:a="http://schemas.openxmlformats.org/drawingml/2006/main">
            <a:off x="457200" y="362075"/>
            <a:ext cx="1828800" cy="685549"/>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C26D6F87-587C-4189-9214-99978CD7B3A6}"/>
              </a:ext>
            </a:extLst>
          </p:cNvPr>
          <p:cNvSpPr>
            <a:spLocks xmlns:a="http://schemas.openxmlformats.org/drawingml/2006/main" noGrp="1"/>
          </p:cNvSpPr>
          <p:nvPr/>
        </p:nvSpPr>
        <p:spPr>
          <a:xfrm xmlns:a="http://schemas.openxmlformats.org/drawingml/2006/main">
            <a:off x="457200" y="16954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1">
                <a:solidFill>
                  <a:srgbClr val="A8CEC0"/>
                </a:solidFill>
                <a:latin typeface="Calibri"/>
                <a:ea typeface="Calibri"/>
                <a:cs typeface="Calibri"/>
              </a:defRPr>
            </a:pPr>
            <a:r>
              <a:rPr sz="1575" b="1">
                <a:solidFill>
                  <a:srgbClr val="A8CEC0"/>
                </a:solidFill>
                <a:latin typeface="Calibri"/>
                <a:ea typeface="Calibri"/>
                <a:cs typeface="Calibri"/>
              </a:rPr>
              <a:t>CMC × BD EKSPOR</a:t>
            </a:r>
          </a:p>
        </p:txBody>
      </p:sp>
      <p:sp>
        <p:nvSpPr>
          <p:cNvPr id="4" name="text-2">
            <a:extLst xmlns:a="http://schemas.openxmlformats.org/drawingml/2006/main">
              <a:ext uri="{FF2B5EF4-FFF2-40B4-BE49-F238E27FC236}">
                <a16:creationId xmlns:a16="http://schemas.microsoft.com/office/drawing/2014/main" id="{62ABBA6C-CE67-4A06-8335-71355CC96436}"/>
              </a:ext>
            </a:extLst>
          </p:cNvPr>
          <p:cNvSpPr>
            <a:spLocks xmlns:a="http://schemas.openxmlformats.org/drawingml/2006/main" noGrp="1"/>
          </p:cNvSpPr>
          <p:nvPr/>
        </p:nvSpPr>
        <p:spPr>
          <a:xfrm xmlns:a="http://schemas.openxmlformats.org/drawingml/2006/main">
            <a:off x="457200" y="2276475"/>
            <a:ext cx="105727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100" b="1">
                <a:solidFill>
                  <a:srgbClr val="FFFFFF"/>
                </a:solidFill>
                <a:latin typeface="Calibri"/>
                <a:ea typeface="Calibri"/>
                <a:cs typeface="Calibri"/>
              </a:defRPr>
            </a:pPr>
            <a:r>
              <a:rPr sz="5100" b="1">
                <a:solidFill>
                  <a:srgbClr val="FFFFFF"/>
                </a:solidFill>
                <a:latin typeface="Calibri"/>
                <a:ea typeface="Calibri"/>
                <a:cs typeface="Calibri"/>
              </a:rPr>
              <a:t>Entrepreneurship</a:t>
            </a:r>
          </a:p>
          <a:p xmlns:a="http://schemas.openxmlformats.org/drawingml/2006/main">
            <a:pPr>
              <a:buNone/>
              <a:defRPr sz="5100" b="1">
                <a:solidFill>
                  <a:srgbClr val="FFFFFF"/>
                </a:solidFill>
                <a:latin typeface="Calibri"/>
                <a:ea typeface="Calibri"/>
                <a:cs typeface="Calibri"/>
              </a:defRPr>
            </a:pPr>
            <a:r>
              <a:rPr sz="5100" b="1">
                <a:solidFill>
                  <a:srgbClr val="FFFFFF"/>
                </a:solidFill>
                <a:latin typeface="Calibri"/>
                <a:ea typeface="Calibri"/>
                <a:cs typeface="Calibri"/>
              </a:rPr>
              <a:t>Mentality untuk</a:t>
            </a:r>
          </a:p>
          <a:p xmlns:a="http://schemas.openxmlformats.org/drawingml/2006/main">
            <a:pPr>
              <a:buNone/>
              <a:defRPr sz="5100" b="1">
                <a:solidFill>
                  <a:srgbClr val="FFFFFF"/>
                </a:solidFill>
                <a:latin typeface="Calibri"/>
                <a:ea typeface="Calibri"/>
                <a:cs typeface="Calibri"/>
              </a:defRPr>
            </a:pPr>
            <a:r>
              <a:rPr sz="5100" b="1">
                <a:solidFill>
                  <a:srgbClr val="FFFFFF"/>
                </a:solidFill>
                <a:latin typeface="Calibri"/>
                <a:ea typeface="Calibri"/>
                <a:cs typeface="Calibri"/>
              </a:rPr>
              <a:t>Bisnis Ekspor</a:t>
            </a:r>
          </a:p>
        </p:txBody>
      </p:sp>
      <p:sp>
        <p:nvSpPr>
          <p:cNvPr id="5" name="text-3">
            <a:extLst xmlns:a="http://schemas.openxmlformats.org/drawingml/2006/main">
              <a:ext uri="{FF2B5EF4-FFF2-40B4-BE49-F238E27FC236}">
                <a16:creationId xmlns:a16="http://schemas.microsoft.com/office/drawing/2014/main" id="{0B683F34-43DC-47E6-A49E-A5594B10B223}"/>
              </a:ext>
            </a:extLst>
          </p:cNvPr>
          <p:cNvSpPr>
            <a:spLocks xmlns:a="http://schemas.openxmlformats.org/drawingml/2006/main" noGrp="1"/>
          </p:cNvSpPr>
          <p:nvPr/>
        </p:nvSpPr>
        <p:spPr>
          <a:xfrm xmlns:a="http://schemas.openxmlformats.org/drawingml/2006/main">
            <a:off x="485775" y="5086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Calibri"/>
                <a:ea typeface="Calibri"/>
                <a:cs typeface="Calibri"/>
              </a:defRPr>
            </a:pPr>
            <a:r>
              <a:rPr sz="2250" b="0">
                <a:solidFill>
                  <a:srgbClr val="FFFFFF"/>
                </a:solidFill>
                <a:latin typeface="Calibri"/>
                <a:ea typeface="Calibri"/>
                <a:cs typeface="Calibri"/>
              </a:rPr>
              <a:t>Business Foundation</a:t>
            </a:r>
          </a:p>
        </p:txBody>
      </p:sp>
      <p:sp>
        <p:nvSpPr>
          <p:cNvPr id="6" name="text-4">
            <a:extLst xmlns:a="http://schemas.openxmlformats.org/drawingml/2006/main">
              <a:ext uri="{FF2B5EF4-FFF2-40B4-BE49-F238E27FC236}">
                <a16:creationId xmlns:a16="http://schemas.microsoft.com/office/drawing/2014/main" id="{CCADD6F9-5FE7-4722-913B-86D7C4DA54ED}"/>
              </a:ext>
            </a:extLst>
          </p:cNvPr>
          <p:cNvSpPr>
            <a:spLocks xmlns:a="http://schemas.openxmlformats.org/drawingml/2006/main" noGrp="1"/>
          </p:cNvSpPr>
          <p:nvPr/>
        </p:nvSpPr>
        <p:spPr>
          <a:xfrm xmlns:a="http://schemas.openxmlformats.org/drawingml/2006/main">
            <a:off x="485775" y="56864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C7DED6"/>
                </a:solidFill>
                <a:latin typeface="Calibri"/>
                <a:ea typeface="Calibri"/>
                <a:cs typeface="Calibri"/>
              </a:defRPr>
            </a:pPr>
            <a:r>
              <a:rPr sz="1875" b="0">
                <a:solidFill>
                  <a:srgbClr val="C7DED6"/>
                </a:solidFill>
                <a:latin typeface="Calibri"/>
                <a:ea typeface="Calibri"/>
                <a:cs typeface="Calibri"/>
              </a:rPr>
              <a:t>Cara berpikir dan mengambil keputusan sebelum masuk pasar global</a:t>
            </a:r>
          </a:p>
        </p:txBody>
      </p:sp>
    </p:spTree>
    <p:extLst>
      <p:ext uri="{BB962C8B-B14F-4D97-AF65-F5344CB8AC3E}">
        <p14:creationId xmlns:p14="http://schemas.microsoft.com/office/powerpoint/2010/main" val="12643004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7b272d5006e4b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21F57E-9F58-4525-97F6-975E5B2912EA}"/>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59345fd5a794b95"/>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
            <a:extLst xmlns:a="http://schemas.openxmlformats.org/drawingml/2006/main">
              <a:ext uri="{FF2B5EF4-FFF2-40B4-BE49-F238E27FC236}">
                <a16:creationId xmlns:a16="http://schemas.microsoft.com/office/drawing/2014/main" id="{7AA2C4C8-8947-4D91-9167-6E2D4AC77FAC}"/>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Pesanan besar menguji cara berpikir founder</a:t>
            </a:r>
          </a:p>
        </p:txBody>
      </p:sp>
      <p:sp>
        <p:nvSpPr>
          <p:cNvPr id="5" name="text-2">
            <a:extLst xmlns:a="http://schemas.openxmlformats.org/drawingml/2006/main">
              <a:ext uri="{FF2B5EF4-FFF2-40B4-BE49-F238E27FC236}">
                <a16:creationId xmlns:a16="http://schemas.microsoft.com/office/drawing/2014/main" id="{6F9C0603-2074-4BB1-8639-CBEF19C472F5}"/>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Business acumen berarti membaca peluang sekaligus konsekuensi keputusan.</a:t>
            </a:r>
          </a:p>
        </p:txBody>
      </p:sp>
      <p:sp>
        <p:nvSpPr>
          <p:cNvPr id="6" name="text-3">
            <a:extLst xmlns:a="http://schemas.openxmlformats.org/drawingml/2006/main">
              <a:ext uri="{FF2B5EF4-FFF2-40B4-BE49-F238E27FC236}">
                <a16:creationId xmlns:a16="http://schemas.microsoft.com/office/drawing/2014/main" id="{E168095F-BF4B-4A0E-846B-3299D73ABF4D}"/>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4">
            <a:extLst xmlns:a="http://schemas.openxmlformats.org/drawingml/2006/main">
              <a:ext uri="{FF2B5EF4-FFF2-40B4-BE49-F238E27FC236}">
                <a16:creationId xmlns:a16="http://schemas.microsoft.com/office/drawing/2014/main" id="{8E6DA2C2-3978-47F1-BCE6-BAB066354BDA}"/>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5">
            <a:extLst xmlns:a="http://schemas.openxmlformats.org/drawingml/2006/main">
              <a:ext uri="{FF2B5EF4-FFF2-40B4-BE49-F238E27FC236}">
                <a16:creationId xmlns:a16="http://schemas.microsoft.com/office/drawing/2014/main" id="{8BA45AA9-A5E0-4BB5-8194-DE21C7651393}"/>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02</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df47e9aa0cc48f6"/>
          <a:stretch xmlns:a="http://schemas.openxmlformats.org/drawingml/2006/main"/>
        </p:blipFill>
        <p:spPr>
          <a:xfrm xmlns:a="http://schemas.openxmlformats.org/drawingml/2006/main">
            <a:off x="457200" y="1916113"/>
            <a:ext cx="4552950" cy="303530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98100D66-B763-4743-B42B-DF2C5191B981}"/>
              </a:ext>
            </a:extLst>
          </p:cNvPr>
          <p:cNvSpPr>
            <a:spLocks xmlns:a="http://schemas.openxmlformats.org/drawingml/2006/main" noGrp="1"/>
          </p:cNvSpPr>
          <p:nvPr/>
        </p:nvSpPr>
        <p:spPr>
          <a:xfrm xmlns:a="http://schemas.openxmlformats.org/drawingml/2006/main">
            <a:off x="457200" y="4991100"/>
            <a:ext cx="4552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Ilustrasi AI untuk kasus fiktif.</a:t>
            </a:r>
          </a:p>
        </p:txBody>
      </p:sp>
      <p:sp>
        <p:nvSpPr>
          <p:cNvPr id="11" name="text-7">
            <a:extLst xmlns:a="http://schemas.openxmlformats.org/drawingml/2006/main">
              <a:ext uri="{FF2B5EF4-FFF2-40B4-BE49-F238E27FC236}">
                <a16:creationId xmlns:a16="http://schemas.microsoft.com/office/drawing/2014/main" id="{9443CC5D-4026-4FDD-BD89-4F480D846D92}"/>
              </a:ext>
            </a:extLst>
          </p:cNvPr>
          <p:cNvSpPr>
            <a:spLocks xmlns:a="http://schemas.openxmlformats.org/drawingml/2006/main" noGrp="1"/>
          </p:cNvSpPr>
          <p:nvPr/>
        </p:nvSpPr>
        <p:spPr>
          <a:xfrm xmlns:a="http://schemas.openxmlformats.org/drawingml/2006/main">
            <a:off x="5410200" y="1905000"/>
            <a:ext cx="6200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KASUS YANG KITA BAHAS SEPANJANG SESI</a:t>
            </a:r>
          </a:p>
        </p:txBody>
      </p:sp>
      <p:sp>
        <p:nvSpPr>
          <p:cNvPr id="12" name="text-8">
            <a:extLst xmlns:a="http://schemas.openxmlformats.org/drawingml/2006/main">
              <a:ext uri="{FF2B5EF4-FFF2-40B4-BE49-F238E27FC236}">
                <a16:creationId xmlns:a16="http://schemas.microsoft.com/office/drawing/2014/main" id="{38251EBA-7860-446D-990A-E7B133182E18}"/>
              </a:ext>
            </a:extLst>
          </p:cNvPr>
          <p:cNvSpPr>
            <a:spLocks xmlns:a="http://schemas.openxmlformats.org/drawingml/2006/main" noGrp="1"/>
          </p:cNvSpPr>
          <p:nvPr/>
        </p:nvSpPr>
        <p:spPr>
          <a:xfrm xmlns:a="http://schemas.openxmlformats.org/drawingml/2006/main">
            <a:off x="5410200" y="2266950"/>
            <a:ext cx="1962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02B28"/>
                </a:solidFill>
                <a:latin typeface="Calibri"/>
                <a:ea typeface="Calibri"/>
                <a:cs typeface="Calibri"/>
              </a:defRPr>
            </a:pPr>
            <a:r>
              <a:rPr sz="3900" b="1">
                <a:solidFill>
                  <a:srgbClr val="002B28"/>
                </a:solidFill>
                <a:latin typeface="Calibri"/>
                <a:ea typeface="Calibri"/>
                <a:cs typeface="Calibri"/>
              </a:rPr>
              <a:t>500</a:t>
            </a:r>
          </a:p>
        </p:txBody>
      </p:sp>
      <p:sp>
        <p:nvSpPr>
          <p:cNvPr id="13" name="text-9">
            <a:extLst xmlns:a="http://schemas.openxmlformats.org/drawingml/2006/main">
              <a:ext uri="{FF2B5EF4-FFF2-40B4-BE49-F238E27FC236}">
                <a16:creationId xmlns:a16="http://schemas.microsoft.com/office/drawing/2014/main" id="{70C199A3-D18D-43A7-AB94-069DBF7017E8}"/>
              </a:ext>
            </a:extLst>
          </p:cNvPr>
          <p:cNvSpPr>
            <a:spLocks xmlns:a="http://schemas.openxmlformats.org/drawingml/2006/main" noGrp="1"/>
          </p:cNvSpPr>
          <p:nvPr/>
        </p:nvSpPr>
        <p:spPr>
          <a:xfrm xmlns:a="http://schemas.openxmlformats.org/drawingml/2006/main">
            <a:off x="5410200" y="294322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unit diminta</a:t>
            </a:r>
          </a:p>
        </p:txBody>
      </p:sp>
      <p:sp>
        <p:nvSpPr>
          <p:cNvPr id="14" name="text-10">
            <a:extLst xmlns:a="http://schemas.openxmlformats.org/drawingml/2006/main">
              <a:ext uri="{FF2B5EF4-FFF2-40B4-BE49-F238E27FC236}">
                <a16:creationId xmlns:a16="http://schemas.microsoft.com/office/drawing/2014/main" id="{5B6DC55F-0ACC-469A-825A-062440910152}"/>
              </a:ext>
            </a:extLst>
          </p:cNvPr>
          <p:cNvSpPr>
            <a:spLocks xmlns:a="http://schemas.openxmlformats.org/drawingml/2006/main" noGrp="1"/>
          </p:cNvSpPr>
          <p:nvPr/>
        </p:nvSpPr>
        <p:spPr>
          <a:xfrm xmlns:a="http://schemas.openxmlformats.org/drawingml/2006/main">
            <a:off x="7505700" y="2266950"/>
            <a:ext cx="1962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87958"/>
                </a:solidFill>
                <a:latin typeface="Calibri"/>
                <a:ea typeface="Calibri"/>
                <a:cs typeface="Calibri"/>
              </a:defRPr>
            </a:pPr>
            <a:r>
              <a:rPr sz="3900" b="1">
                <a:solidFill>
                  <a:srgbClr val="087958"/>
                </a:solidFill>
                <a:latin typeface="Calibri"/>
                <a:ea typeface="Calibri"/>
                <a:cs typeface="Calibri"/>
              </a:rPr>
              <a:t>300</a:t>
            </a:r>
          </a:p>
        </p:txBody>
      </p:sp>
      <p:sp>
        <p:nvSpPr>
          <p:cNvPr id="15" name="text-11">
            <a:extLst xmlns:a="http://schemas.openxmlformats.org/drawingml/2006/main">
              <a:ext uri="{FF2B5EF4-FFF2-40B4-BE49-F238E27FC236}">
                <a16:creationId xmlns:a16="http://schemas.microsoft.com/office/drawing/2014/main" id="{723F54B5-3E65-4FCC-8A8C-5CA6BBD1FD70}"/>
              </a:ext>
            </a:extLst>
          </p:cNvPr>
          <p:cNvSpPr>
            <a:spLocks xmlns:a="http://schemas.openxmlformats.org/drawingml/2006/main" noGrp="1"/>
          </p:cNvSpPr>
          <p:nvPr/>
        </p:nvSpPr>
        <p:spPr>
          <a:xfrm xmlns:a="http://schemas.openxmlformats.org/drawingml/2006/main">
            <a:off x="7505700" y="294322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unit kapasitas</a:t>
            </a:r>
          </a:p>
        </p:txBody>
      </p:sp>
      <p:sp>
        <p:nvSpPr>
          <p:cNvPr id="16" name="text-12">
            <a:extLst xmlns:a="http://schemas.openxmlformats.org/drawingml/2006/main">
              <a:ext uri="{FF2B5EF4-FFF2-40B4-BE49-F238E27FC236}">
                <a16:creationId xmlns:a16="http://schemas.microsoft.com/office/drawing/2014/main" id="{8216B1AB-420B-444D-BCD4-95826675AEFD}"/>
              </a:ext>
            </a:extLst>
          </p:cNvPr>
          <p:cNvSpPr>
            <a:spLocks xmlns:a="http://schemas.openxmlformats.org/drawingml/2006/main" noGrp="1"/>
          </p:cNvSpPr>
          <p:nvPr/>
        </p:nvSpPr>
        <p:spPr>
          <a:xfrm xmlns:a="http://schemas.openxmlformats.org/drawingml/2006/main">
            <a:off x="9601200" y="2266950"/>
            <a:ext cx="1962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02B28"/>
                </a:solidFill>
                <a:latin typeface="Calibri"/>
                <a:ea typeface="Calibri"/>
                <a:cs typeface="Calibri"/>
              </a:defRPr>
            </a:pPr>
            <a:r>
              <a:rPr sz="3900" b="1">
                <a:solidFill>
                  <a:srgbClr val="002B28"/>
                </a:solidFill>
                <a:latin typeface="Calibri"/>
                <a:ea typeface="Calibri"/>
                <a:cs typeface="Calibri"/>
              </a:rPr>
              <a:t>30</a:t>
            </a:r>
          </a:p>
        </p:txBody>
      </p:sp>
      <p:sp>
        <p:nvSpPr>
          <p:cNvPr id="17" name="text-13">
            <a:extLst xmlns:a="http://schemas.openxmlformats.org/drawingml/2006/main">
              <a:ext uri="{FF2B5EF4-FFF2-40B4-BE49-F238E27FC236}">
                <a16:creationId xmlns:a16="http://schemas.microsoft.com/office/drawing/2014/main" id="{E0C0AA43-3FB7-4E93-9835-20F35B803842}"/>
              </a:ext>
            </a:extLst>
          </p:cNvPr>
          <p:cNvSpPr>
            <a:spLocks xmlns:a="http://schemas.openxmlformats.org/drawingml/2006/main" noGrp="1"/>
          </p:cNvSpPr>
          <p:nvPr/>
        </p:nvSpPr>
        <p:spPr>
          <a:xfrm xmlns:a="http://schemas.openxmlformats.org/drawingml/2006/main">
            <a:off x="9601200" y="294322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hari tenggat</a:t>
            </a:r>
          </a:p>
        </p:txBody>
      </p:sp>
      <p:sp>
        <p:nvSpPr>
          <p:cNvPr id="18" name="">
            <a:extLst xmlns:a="http://schemas.openxmlformats.org/drawingml/2006/main">
              <a:ext uri="{FF2B5EF4-FFF2-40B4-BE49-F238E27FC236}">
                <a16:creationId xmlns:a16="http://schemas.microsoft.com/office/drawing/2014/main" id="{69F82236-09BB-4BEA-BB21-45E9AAC9D52E}"/>
              </a:ext>
            </a:extLst>
          </p:cNvPr>
          <p:cNvSpPr>
            <a:spLocks xmlns:a="http://schemas.openxmlformats.org/drawingml/2006/main" noGrp="1"/>
          </p:cNvSpPr>
          <p:nvPr/>
        </p:nvSpPr>
        <p:spPr>
          <a:xfrm xmlns:a="http://schemas.openxmlformats.org/drawingml/2006/main">
            <a:off x="5410200" y="3352800"/>
            <a:ext cx="61912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9" name="text-14">
            <a:extLst xmlns:a="http://schemas.openxmlformats.org/drawingml/2006/main">
              <a:ext uri="{FF2B5EF4-FFF2-40B4-BE49-F238E27FC236}">
                <a16:creationId xmlns:a16="http://schemas.microsoft.com/office/drawing/2014/main" id="{04D3AAE6-94D4-4208-89E3-BEC1EE12DD47}"/>
              </a:ext>
            </a:extLst>
          </p:cNvPr>
          <p:cNvSpPr>
            <a:spLocks xmlns:a="http://schemas.openxmlformats.org/drawingml/2006/main" noGrp="1"/>
          </p:cNvSpPr>
          <p:nvPr/>
        </p:nvSpPr>
        <p:spPr>
          <a:xfrm xmlns:a="http://schemas.openxmlformats.org/drawingml/2006/main">
            <a:off x="5410200" y="3552825"/>
            <a:ext cx="6191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Buyer bayar setelah barang diterima.</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Kemasan ekspor belum pernah diuji.</a:t>
            </a:r>
          </a:p>
        </p:txBody>
      </p:sp>
      <p:sp>
        <p:nvSpPr>
          <p:cNvPr id="20" name="text-15">
            <a:extLst xmlns:a="http://schemas.openxmlformats.org/drawingml/2006/main">
              <a:ext uri="{FF2B5EF4-FFF2-40B4-BE49-F238E27FC236}">
                <a16:creationId xmlns:a16="http://schemas.microsoft.com/office/drawing/2014/main" id="{FB48AAA1-6154-45E1-AB9D-0D4EEEFD9278}"/>
              </a:ext>
            </a:extLst>
          </p:cNvPr>
          <p:cNvSpPr>
            <a:spLocks xmlns:a="http://schemas.openxmlformats.org/drawingml/2006/main" noGrp="1"/>
          </p:cNvSpPr>
          <p:nvPr/>
        </p:nvSpPr>
        <p:spPr>
          <a:xfrm xmlns:a="http://schemas.openxmlformats.org/drawingml/2006/main">
            <a:off x="5410200" y="44767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KEPUTUSAN AWAL</a:t>
            </a:r>
          </a:p>
        </p:txBody>
      </p:sp>
      <p:sp>
        <p:nvSpPr>
          <p:cNvPr id="21" name="text-16">
            <a:extLst xmlns:a="http://schemas.openxmlformats.org/drawingml/2006/main">
              <a:ext uri="{FF2B5EF4-FFF2-40B4-BE49-F238E27FC236}">
                <a16:creationId xmlns:a16="http://schemas.microsoft.com/office/drawing/2014/main" id="{8D3E1382-A888-428B-B5D4-D2512703B9A9}"/>
              </a:ext>
            </a:extLst>
          </p:cNvPr>
          <p:cNvSpPr>
            <a:spLocks xmlns:a="http://schemas.openxmlformats.org/drawingml/2006/main" noGrp="1"/>
          </p:cNvSpPr>
          <p:nvPr/>
        </p:nvSpPr>
        <p:spPr>
          <a:xfrm xmlns:a="http://schemas.openxmlformats.org/drawingml/2006/main">
            <a:off x="5410200" y="4791075"/>
            <a:ext cx="6219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Terima, negosiasikan, atau tunda?</a:t>
            </a:r>
          </a:p>
        </p:txBody>
      </p:sp>
      <p:sp>
        <p:nvSpPr>
          <p:cNvPr id="22" name="">
            <a:extLst xmlns:a="http://schemas.openxmlformats.org/drawingml/2006/main">
              <a:ext uri="{FF2B5EF4-FFF2-40B4-BE49-F238E27FC236}">
                <a16:creationId xmlns:a16="http://schemas.microsoft.com/office/drawing/2014/main" id="{96F66F79-9C18-4E3C-8347-A9E3FB1E8203}"/>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3" name="text-17">
            <a:extLst xmlns:a="http://schemas.openxmlformats.org/drawingml/2006/main">
              <a:ext uri="{FF2B5EF4-FFF2-40B4-BE49-F238E27FC236}">
                <a16:creationId xmlns:a16="http://schemas.microsoft.com/office/drawing/2014/main" id="{DD83A115-5A58-4BA4-9E4B-F2FCD25DC605}"/>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Angkat tangan: pilihanmu apa, dan bukti apa yang masih kurang?</a:t>
            </a:r>
          </a:p>
        </p:txBody>
      </p:sp>
    </p:spTree>
    <p:extLst>
      <p:ext uri="{BB962C8B-B14F-4D97-AF65-F5344CB8AC3E}">
        <p14:creationId xmlns:p14="http://schemas.microsoft.com/office/powerpoint/2010/main" val="182307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12056b47f5947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FC7BE8-3C77-4AFE-A559-582825CDC9C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f1de1d43cbe41fe"/>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8">
            <a:extLst xmlns:a="http://schemas.openxmlformats.org/drawingml/2006/main">
              <a:ext uri="{FF2B5EF4-FFF2-40B4-BE49-F238E27FC236}">
                <a16:creationId xmlns:a16="http://schemas.microsoft.com/office/drawing/2014/main" id="{C2DFCA55-8564-4281-A4D0-2608C55293BD}"/>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Tujuan ekspor membantu founder memilih peluang</a:t>
            </a:r>
          </a:p>
        </p:txBody>
      </p:sp>
      <p:sp>
        <p:nvSpPr>
          <p:cNvPr id="5" name="text-19">
            <a:extLst xmlns:a="http://schemas.openxmlformats.org/drawingml/2006/main">
              <a:ext uri="{FF2B5EF4-FFF2-40B4-BE49-F238E27FC236}">
                <a16:creationId xmlns:a16="http://schemas.microsoft.com/office/drawing/2014/main" id="{DAF6791B-B54A-471D-910B-A0D9F0D90F07}"/>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Golden Circle menghubungkan alasan, cara kerja, dan produk yang ditawarkan.</a:t>
            </a:r>
          </a:p>
        </p:txBody>
      </p:sp>
      <p:sp>
        <p:nvSpPr>
          <p:cNvPr id="6" name="text-20">
            <a:extLst xmlns:a="http://schemas.openxmlformats.org/drawingml/2006/main">
              <a:ext uri="{FF2B5EF4-FFF2-40B4-BE49-F238E27FC236}">
                <a16:creationId xmlns:a16="http://schemas.microsoft.com/office/drawing/2014/main" id="{6DE678EA-7D56-4779-8B24-96D66FD16114}"/>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21">
            <a:extLst xmlns:a="http://schemas.openxmlformats.org/drawingml/2006/main">
              <a:ext uri="{FF2B5EF4-FFF2-40B4-BE49-F238E27FC236}">
                <a16:creationId xmlns:a16="http://schemas.microsoft.com/office/drawing/2014/main" id="{E39B2F66-8C03-43A2-8ADD-B9EC70A2C977}"/>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22">
            <a:extLst xmlns:a="http://schemas.openxmlformats.org/drawingml/2006/main">
              <a:ext uri="{FF2B5EF4-FFF2-40B4-BE49-F238E27FC236}">
                <a16:creationId xmlns:a16="http://schemas.microsoft.com/office/drawing/2014/main" id="{D71DDD01-3C55-43A0-8530-2245BE7380F0}"/>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6C43425-6AD7-435D-ACF8-8C4D3A0E3E96}"/>
              </a:ext>
            </a:extLst>
          </p:cNvPr>
          <p:cNvSpPr>
            <a:spLocks xmlns:a="http://schemas.openxmlformats.org/drawingml/2006/main" noGrp="1"/>
          </p:cNvSpPr>
          <p:nvPr/>
        </p:nvSpPr>
        <p:spPr>
          <a:xfrm xmlns:a="http://schemas.openxmlformats.org/drawingml/2006/main">
            <a:off x="533400" y="1971675"/>
            <a:ext cx="3095625" cy="3095625"/>
          </a:xfrm>
          <a:prstGeom xmlns:a="http://schemas.openxmlformats.org/drawingml/2006/main" prst="ellipse">
            <a:avLst/>
          </a:prstGeom>
          <a:noFill xmlns:a="http://schemas.openxmlformats.org/drawingml/2006/main"/>
          <a:ln xmlns:a="http://schemas.openxmlformats.org/drawingml/2006/main" w="19050">
            <a:solidFill>
              <a:srgbClr val="95BBA9"/>
            </a:solidFill>
          </a:ln>
        </p:spPr>
      </p:sp>
      <p:sp>
        <p:nvSpPr>
          <p:cNvPr id="10" name="">
            <a:extLst xmlns:a="http://schemas.openxmlformats.org/drawingml/2006/main">
              <a:ext uri="{FF2B5EF4-FFF2-40B4-BE49-F238E27FC236}">
                <a16:creationId xmlns:a16="http://schemas.microsoft.com/office/drawing/2014/main" id="{6BFBACC2-0B19-4F39-9D98-82F14122AEFD}"/>
              </a:ext>
            </a:extLst>
          </p:cNvPr>
          <p:cNvSpPr>
            <a:spLocks xmlns:a="http://schemas.openxmlformats.org/drawingml/2006/main" noGrp="1"/>
          </p:cNvSpPr>
          <p:nvPr/>
        </p:nvSpPr>
        <p:spPr>
          <a:xfrm xmlns:a="http://schemas.openxmlformats.org/drawingml/2006/main">
            <a:off x="981075" y="2419350"/>
            <a:ext cx="2200275" cy="2200275"/>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6312F4F2-15AF-416A-9589-369BB1393488}"/>
              </a:ext>
            </a:extLst>
          </p:cNvPr>
          <p:cNvSpPr>
            <a:spLocks xmlns:a="http://schemas.openxmlformats.org/drawingml/2006/main" noGrp="1"/>
          </p:cNvSpPr>
          <p:nvPr/>
        </p:nvSpPr>
        <p:spPr>
          <a:xfrm xmlns:a="http://schemas.openxmlformats.org/drawingml/2006/main">
            <a:off x="1419225" y="2867025"/>
            <a:ext cx="1323975" cy="132397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23">
            <a:extLst xmlns:a="http://schemas.openxmlformats.org/drawingml/2006/main">
              <a:ext uri="{FF2B5EF4-FFF2-40B4-BE49-F238E27FC236}">
                <a16:creationId xmlns:a16="http://schemas.microsoft.com/office/drawing/2014/main" id="{74BC1B8E-0C9E-4346-A0EB-4AF734F02E56}"/>
              </a:ext>
            </a:extLst>
          </p:cNvPr>
          <p:cNvSpPr>
            <a:spLocks xmlns:a="http://schemas.openxmlformats.org/drawingml/2006/main" noGrp="1"/>
          </p:cNvSpPr>
          <p:nvPr/>
        </p:nvSpPr>
        <p:spPr>
          <a:xfrm xmlns:a="http://schemas.openxmlformats.org/drawingml/2006/main">
            <a:off x="1676400" y="2105025"/>
            <a:ext cx="114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2B28"/>
                </a:solidFill>
                <a:latin typeface="Calibri"/>
                <a:ea typeface="Calibri"/>
                <a:cs typeface="Calibri"/>
              </a:defRPr>
            </a:pPr>
            <a:r>
              <a:rPr sz="1875" b="1">
                <a:solidFill>
                  <a:srgbClr val="002B28"/>
                </a:solidFill>
                <a:latin typeface="Calibri"/>
                <a:ea typeface="Calibri"/>
                <a:cs typeface="Calibri"/>
              </a:rPr>
              <a:t>WHAT</a:t>
            </a:r>
          </a:p>
        </p:txBody>
      </p:sp>
      <p:sp>
        <p:nvSpPr>
          <p:cNvPr id="13" name="text-24">
            <a:extLst xmlns:a="http://schemas.openxmlformats.org/drawingml/2006/main">
              <a:ext uri="{FF2B5EF4-FFF2-40B4-BE49-F238E27FC236}">
                <a16:creationId xmlns:a16="http://schemas.microsoft.com/office/drawing/2014/main" id="{57412AC2-04C6-4492-9DC7-883D91C3BBCA}"/>
              </a:ext>
            </a:extLst>
          </p:cNvPr>
          <p:cNvSpPr>
            <a:spLocks xmlns:a="http://schemas.openxmlformats.org/drawingml/2006/main" noGrp="1"/>
          </p:cNvSpPr>
          <p:nvPr/>
        </p:nvSpPr>
        <p:spPr>
          <a:xfrm xmlns:a="http://schemas.openxmlformats.org/drawingml/2006/main">
            <a:off x="1752600" y="2524125"/>
            <a:ext cx="100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HOW</a:t>
            </a:r>
          </a:p>
        </p:txBody>
      </p:sp>
      <p:sp>
        <p:nvSpPr>
          <p:cNvPr id="14" name="text-25">
            <a:extLst xmlns:a="http://schemas.openxmlformats.org/drawingml/2006/main">
              <a:ext uri="{FF2B5EF4-FFF2-40B4-BE49-F238E27FC236}">
                <a16:creationId xmlns:a16="http://schemas.microsoft.com/office/drawing/2014/main" id="{5D23DC44-0E8E-4092-B402-B7A40ABCD184}"/>
              </a:ext>
            </a:extLst>
          </p:cNvPr>
          <p:cNvSpPr>
            <a:spLocks xmlns:a="http://schemas.openxmlformats.org/drawingml/2006/main" noGrp="1"/>
          </p:cNvSpPr>
          <p:nvPr/>
        </p:nvSpPr>
        <p:spPr>
          <a:xfrm xmlns:a="http://schemas.openxmlformats.org/drawingml/2006/main">
            <a:off x="1743075" y="3324225"/>
            <a:ext cx="106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FFFFF"/>
                </a:solidFill>
                <a:latin typeface="Calibri"/>
                <a:ea typeface="Calibri"/>
                <a:cs typeface="Calibri"/>
              </a:defRPr>
            </a:pPr>
            <a:r>
              <a:rPr sz="2400" b="1">
                <a:solidFill>
                  <a:srgbClr val="FFFFFF"/>
                </a:solidFill>
                <a:latin typeface="Calibri"/>
                <a:ea typeface="Calibri"/>
                <a:cs typeface="Calibri"/>
              </a:rPr>
              <a:t>WHY</a:t>
            </a:r>
          </a:p>
        </p:txBody>
      </p:sp>
      <p:sp>
        <p:nvSpPr>
          <p:cNvPr id="15" name="text-26">
            <a:extLst xmlns:a="http://schemas.openxmlformats.org/drawingml/2006/main">
              <a:ext uri="{FF2B5EF4-FFF2-40B4-BE49-F238E27FC236}">
                <a16:creationId xmlns:a16="http://schemas.microsoft.com/office/drawing/2014/main" id="{E9FAE507-4C57-4C01-9B06-2E36D07A14E3}"/>
              </a:ext>
            </a:extLst>
          </p:cNvPr>
          <p:cNvSpPr>
            <a:spLocks xmlns:a="http://schemas.openxmlformats.org/drawingml/2006/main" noGrp="1"/>
          </p:cNvSpPr>
          <p:nvPr/>
        </p:nvSpPr>
        <p:spPr>
          <a:xfrm xmlns:a="http://schemas.openxmlformats.org/drawingml/2006/main">
            <a:off x="4133850" y="1914525"/>
            <a:ext cx="742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CONTOH USAHA DEKORASI RUMAH</a:t>
            </a:r>
          </a:p>
        </p:txBody>
      </p:sp>
      <p:sp>
        <p:nvSpPr>
          <p:cNvPr id="16" name="text-27">
            <a:extLst xmlns:a="http://schemas.openxmlformats.org/drawingml/2006/main">
              <a:ext uri="{FF2B5EF4-FFF2-40B4-BE49-F238E27FC236}">
                <a16:creationId xmlns:a16="http://schemas.microsoft.com/office/drawing/2014/main" id="{D176C94A-E5A7-48FA-AAD8-3ED929A904F0}"/>
              </a:ext>
            </a:extLst>
          </p:cNvPr>
          <p:cNvSpPr>
            <a:spLocks xmlns:a="http://schemas.openxmlformats.org/drawingml/2006/main" noGrp="1"/>
          </p:cNvSpPr>
          <p:nvPr/>
        </p:nvSpPr>
        <p:spPr>
          <a:xfrm xmlns:a="http://schemas.openxmlformats.org/drawingml/2006/main">
            <a:off x="4133850" y="2295525"/>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WHY</a:t>
            </a:r>
          </a:p>
        </p:txBody>
      </p:sp>
      <p:sp>
        <p:nvSpPr>
          <p:cNvPr id="17" name="text-28">
            <a:extLst xmlns:a="http://schemas.openxmlformats.org/drawingml/2006/main">
              <a:ext uri="{FF2B5EF4-FFF2-40B4-BE49-F238E27FC236}">
                <a16:creationId xmlns:a16="http://schemas.microsoft.com/office/drawing/2014/main" id="{D8FAA984-322A-4551-8D03-4082B7B2BBF1}"/>
              </a:ext>
            </a:extLst>
          </p:cNvPr>
          <p:cNvSpPr>
            <a:spLocks xmlns:a="http://schemas.openxmlformats.org/drawingml/2006/main" noGrp="1"/>
          </p:cNvSpPr>
          <p:nvPr/>
        </p:nvSpPr>
        <p:spPr>
          <a:xfrm xmlns:a="http://schemas.openxmlformats.org/drawingml/2006/main">
            <a:off x="5105400" y="2266950"/>
            <a:ext cx="645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Pesanan berulang untuk pengrajin lokal</a:t>
            </a:r>
          </a:p>
        </p:txBody>
      </p:sp>
      <p:sp>
        <p:nvSpPr>
          <p:cNvPr id="18" name="text-29">
            <a:extLst xmlns:a="http://schemas.openxmlformats.org/drawingml/2006/main">
              <a:ext uri="{FF2B5EF4-FFF2-40B4-BE49-F238E27FC236}">
                <a16:creationId xmlns:a16="http://schemas.microsoft.com/office/drawing/2014/main" id="{C409D88A-F3F9-4ED3-AE54-17B19C6CB268}"/>
              </a:ext>
            </a:extLst>
          </p:cNvPr>
          <p:cNvSpPr>
            <a:spLocks xmlns:a="http://schemas.openxmlformats.org/drawingml/2006/main" noGrp="1"/>
          </p:cNvSpPr>
          <p:nvPr/>
        </p:nvSpPr>
        <p:spPr>
          <a:xfrm xmlns:a="http://schemas.openxmlformats.org/drawingml/2006/main">
            <a:off x="5105400" y="2647950"/>
            <a:ext cx="645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Tujuan lebih panjang dari satu order besar.</a:t>
            </a:r>
          </a:p>
        </p:txBody>
      </p:sp>
      <p:sp>
        <p:nvSpPr>
          <p:cNvPr id="19" name="">
            <a:extLst xmlns:a="http://schemas.openxmlformats.org/drawingml/2006/main">
              <a:ext uri="{FF2B5EF4-FFF2-40B4-BE49-F238E27FC236}">
                <a16:creationId xmlns:a16="http://schemas.microsoft.com/office/drawing/2014/main" id="{E5A6C532-FCFB-4DF9-8010-981DAC519FE4}"/>
              </a:ext>
            </a:extLst>
          </p:cNvPr>
          <p:cNvSpPr>
            <a:spLocks xmlns:a="http://schemas.openxmlformats.org/drawingml/2006/main" noGrp="1"/>
          </p:cNvSpPr>
          <p:nvPr/>
        </p:nvSpPr>
        <p:spPr>
          <a:xfrm xmlns:a="http://schemas.openxmlformats.org/drawingml/2006/main">
            <a:off x="4133850" y="3086100"/>
            <a:ext cx="74485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text-30">
            <a:extLst xmlns:a="http://schemas.openxmlformats.org/drawingml/2006/main">
              <a:ext uri="{FF2B5EF4-FFF2-40B4-BE49-F238E27FC236}">
                <a16:creationId xmlns:a16="http://schemas.microsoft.com/office/drawing/2014/main" id="{0F7AD682-3849-4F4D-B564-30A710849BFE}"/>
              </a:ext>
            </a:extLst>
          </p:cNvPr>
          <p:cNvSpPr>
            <a:spLocks xmlns:a="http://schemas.openxmlformats.org/drawingml/2006/main" noGrp="1"/>
          </p:cNvSpPr>
          <p:nvPr/>
        </p:nvSpPr>
        <p:spPr>
          <a:xfrm xmlns:a="http://schemas.openxmlformats.org/drawingml/2006/main">
            <a:off x="4133850" y="3238500"/>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HOW</a:t>
            </a:r>
          </a:p>
        </p:txBody>
      </p:sp>
      <p:sp>
        <p:nvSpPr>
          <p:cNvPr id="21" name="text-31">
            <a:extLst xmlns:a="http://schemas.openxmlformats.org/drawingml/2006/main">
              <a:ext uri="{FF2B5EF4-FFF2-40B4-BE49-F238E27FC236}">
                <a16:creationId xmlns:a16="http://schemas.microsoft.com/office/drawing/2014/main" id="{5CCF1E92-1207-4E3F-B4F4-3D140C13623F}"/>
              </a:ext>
            </a:extLst>
          </p:cNvPr>
          <p:cNvSpPr>
            <a:spLocks xmlns:a="http://schemas.openxmlformats.org/drawingml/2006/main" noGrp="1"/>
          </p:cNvSpPr>
          <p:nvPr/>
        </p:nvSpPr>
        <p:spPr>
          <a:xfrm xmlns:a="http://schemas.openxmlformats.org/drawingml/2006/main">
            <a:off x="5105400" y="3209925"/>
            <a:ext cx="645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Mutu konsisten, kapasitas jelas</a:t>
            </a:r>
          </a:p>
        </p:txBody>
      </p:sp>
      <p:sp>
        <p:nvSpPr>
          <p:cNvPr id="22" name="text-32">
            <a:extLst xmlns:a="http://schemas.openxmlformats.org/drawingml/2006/main">
              <a:ext uri="{FF2B5EF4-FFF2-40B4-BE49-F238E27FC236}">
                <a16:creationId xmlns:a16="http://schemas.microsoft.com/office/drawing/2014/main" id="{38DAB1AE-432F-4A14-B46B-C4A446029556}"/>
              </a:ext>
            </a:extLst>
          </p:cNvPr>
          <p:cNvSpPr>
            <a:spLocks xmlns:a="http://schemas.openxmlformats.org/drawingml/2006/main" noGrp="1"/>
          </p:cNvSpPr>
          <p:nvPr/>
        </p:nvSpPr>
        <p:spPr>
          <a:xfrm xmlns:a="http://schemas.openxmlformats.org/drawingml/2006/main">
            <a:off x="5105400" y="3590925"/>
            <a:ext cx="645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Janji ke buyer mengikuti kemampuan nyata.</a:t>
            </a:r>
          </a:p>
        </p:txBody>
      </p:sp>
      <p:sp>
        <p:nvSpPr>
          <p:cNvPr id="23" name="">
            <a:extLst xmlns:a="http://schemas.openxmlformats.org/drawingml/2006/main">
              <a:ext uri="{FF2B5EF4-FFF2-40B4-BE49-F238E27FC236}">
                <a16:creationId xmlns:a16="http://schemas.microsoft.com/office/drawing/2014/main" id="{76083074-B8D1-4729-ACEC-8104A4BE6F62}"/>
              </a:ext>
            </a:extLst>
          </p:cNvPr>
          <p:cNvSpPr>
            <a:spLocks xmlns:a="http://schemas.openxmlformats.org/drawingml/2006/main" noGrp="1"/>
          </p:cNvSpPr>
          <p:nvPr/>
        </p:nvSpPr>
        <p:spPr>
          <a:xfrm xmlns:a="http://schemas.openxmlformats.org/drawingml/2006/main">
            <a:off x="4133850" y="4029075"/>
            <a:ext cx="74485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4" name="text-33">
            <a:extLst xmlns:a="http://schemas.openxmlformats.org/drawingml/2006/main">
              <a:ext uri="{FF2B5EF4-FFF2-40B4-BE49-F238E27FC236}">
                <a16:creationId xmlns:a16="http://schemas.microsoft.com/office/drawing/2014/main" id="{7A694719-E705-400A-A07B-3E24C48D3E7C}"/>
              </a:ext>
            </a:extLst>
          </p:cNvPr>
          <p:cNvSpPr>
            <a:spLocks xmlns:a="http://schemas.openxmlformats.org/drawingml/2006/main" noGrp="1"/>
          </p:cNvSpPr>
          <p:nvPr/>
        </p:nvSpPr>
        <p:spPr>
          <a:xfrm xmlns:a="http://schemas.openxmlformats.org/drawingml/2006/main">
            <a:off x="4133850" y="4181475"/>
            <a:ext cx="819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WHAT</a:t>
            </a:r>
          </a:p>
        </p:txBody>
      </p:sp>
      <p:sp>
        <p:nvSpPr>
          <p:cNvPr id="25" name="text-34">
            <a:extLst xmlns:a="http://schemas.openxmlformats.org/drawingml/2006/main">
              <a:ext uri="{FF2B5EF4-FFF2-40B4-BE49-F238E27FC236}">
                <a16:creationId xmlns:a16="http://schemas.microsoft.com/office/drawing/2014/main" id="{10B8EFF5-96BF-4EAA-9340-FA7416EA3EB1}"/>
              </a:ext>
            </a:extLst>
          </p:cNvPr>
          <p:cNvSpPr>
            <a:spLocks xmlns:a="http://schemas.openxmlformats.org/drawingml/2006/main" noGrp="1"/>
          </p:cNvSpPr>
          <p:nvPr/>
        </p:nvSpPr>
        <p:spPr>
          <a:xfrm xmlns:a="http://schemas.openxmlformats.org/drawingml/2006/main">
            <a:off x="5105400" y="4152900"/>
            <a:ext cx="645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Dekorasi sesuai spesifikasi buyer</a:t>
            </a:r>
          </a:p>
        </p:txBody>
      </p:sp>
      <p:sp>
        <p:nvSpPr>
          <p:cNvPr id="26" name="text-35">
            <a:extLst xmlns:a="http://schemas.openxmlformats.org/drawingml/2006/main">
              <a:ext uri="{FF2B5EF4-FFF2-40B4-BE49-F238E27FC236}">
                <a16:creationId xmlns:a16="http://schemas.microsoft.com/office/drawing/2014/main" id="{B7AF35A6-0202-4D89-9C9C-5B682F331DF2}"/>
              </a:ext>
            </a:extLst>
          </p:cNvPr>
          <p:cNvSpPr>
            <a:spLocks xmlns:a="http://schemas.openxmlformats.org/drawingml/2006/main" noGrp="1"/>
          </p:cNvSpPr>
          <p:nvPr/>
        </p:nvSpPr>
        <p:spPr>
          <a:xfrm xmlns:a="http://schemas.openxmlformats.org/drawingml/2006/main">
            <a:off x="5105400" y="4533900"/>
            <a:ext cx="645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Ukuran, bahan, dan kemasan disepakati.</a:t>
            </a:r>
          </a:p>
        </p:txBody>
      </p:sp>
      <p:sp>
        <p:nvSpPr>
          <p:cNvPr id="27" name="">
            <a:extLst xmlns:a="http://schemas.openxmlformats.org/drawingml/2006/main">
              <a:ext uri="{FF2B5EF4-FFF2-40B4-BE49-F238E27FC236}">
                <a16:creationId xmlns:a16="http://schemas.microsoft.com/office/drawing/2014/main" id="{8D97ABD8-08B4-49DD-963D-03B4E5B23CE1}"/>
              </a:ext>
            </a:extLst>
          </p:cNvPr>
          <p:cNvSpPr>
            <a:spLocks xmlns:a="http://schemas.openxmlformats.org/drawingml/2006/main" noGrp="1"/>
          </p:cNvSpPr>
          <p:nvPr/>
        </p:nvSpPr>
        <p:spPr>
          <a:xfrm xmlns:a="http://schemas.openxmlformats.org/drawingml/2006/main">
            <a:off x="4133850" y="5076825"/>
            <a:ext cx="7448550" cy="685800"/>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28" name="text-36">
            <a:extLst xmlns:a="http://schemas.openxmlformats.org/drawingml/2006/main">
              <a:ext uri="{FF2B5EF4-FFF2-40B4-BE49-F238E27FC236}">
                <a16:creationId xmlns:a16="http://schemas.microsoft.com/office/drawing/2014/main" id="{809F8B5E-698E-4A93-A541-526B0779DA32}"/>
              </a:ext>
            </a:extLst>
          </p:cNvPr>
          <p:cNvSpPr>
            <a:spLocks xmlns:a="http://schemas.openxmlformats.org/drawingml/2006/main" noGrp="1"/>
          </p:cNvSpPr>
          <p:nvPr/>
        </p:nvSpPr>
        <p:spPr>
          <a:xfrm xmlns:a="http://schemas.openxmlformats.org/drawingml/2006/main">
            <a:off x="4305300" y="5172075"/>
            <a:ext cx="710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BATAS KEPUTUSAN</a:t>
            </a:r>
          </a:p>
        </p:txBody>
      </p:sp>
      <p:sp>
        <p:nvSpPr>
          <p:cNvPr id="29" name="text-37">
            <a:extLst xmlns:a="http://schemas.openxmlformats.org/drawingml/2006/main">
              <a:ext uri="{FF2B5EF4-FFF2-40B4-BE49-F238E27FC236}">
                <a16:creationId xmlns:a16="http://schemas.microsoft.com/office/drawing/2014/main" id="{3CCEFE7C-2250-41CB-8079-361E7FBCE7CF}"/>
              </a:ext>
            </a:extLst>
          </p:cNvPr>
          <p:cNvSpPr>
            <a:spLocks xmlns:a="http://schemas.openxmlformats.org/drawingml/2006/main" noGrp="1"/>
          </p:cNvSpPr>
          <p:nvPr/>
        </p:nvSpPr>
        <p:spPr>
          <a:xfrm xmlns:a="http://schemas.openxmlformats.org/drawingml/2006/main">
            <a:off x="4305300" y="5400675"/>
            <a:ext cx="710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Mutu tetap dijaga, meski volume pesanan besar.</a:t>
            </a:r>
          </a:p>
        </p:txBody>
      </p:sp>
    </p:spTree>
    <p:extLst>
      <p:ext uri="{BB962C8B-B14F-4D97-AF65-F5344CB8AC3E}">
        <p14:creationId xmlns:p14="http://schemas.microsoft.com/office/powerpoint/2010/main" val="692505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e77517131854a7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7D5968-E127-46AD-8C4B-ABC9BB459BD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f8c32bc9b63405c"/>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38">
            <a:extLst xmlns:a="http://schemas.openxmlformats.org/drawingml/2006/main">
              <a:ext uri="{FF2B5EF4-FFF2-40B4-BE49-F238E27FC236}">
                <a16:creationId xmlns:a16="http://schemas.microsoft.com/office/drawing/2014/main" id="{7EC1AC2F-26C1-4D6B-8C49-458886A57FE0}"/>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Peluang yang cocok perlu lolos uji diri dan uji buyer</a:t>
            </a:r>
          </a:p>
        </p:txBody>
      </p:sp>
      <p:sp>
        <p:nvSpPr>
          <p:cNvPr id="5" name="text-39">
            <a:extLst xmlns:a="http://schemas.openxmlformats.org/drawingml/2006/main">
              <a:ext uri="{FF2B5EF4-FFF2-40B4-BE49-F238E27FC236}">
                <a16:creationId xmlns:a16="http://schemas.microsoft.com/office/drawing/2014/main" id="{23F20401-EAE9-46DB-A4FE-CD707A653316}"/>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Sweet Spot dari modul menjadi titik awal. Kebutuhan pasar tetap harus dibuktikan.</a:t>
            </a:r>
          </a:p>
        </p:txBody>
      </p:sp>
      <p:sp>
        <p:nvSpPr>
          <p:cNvPr id="6" name="text-40">
            <a:extLst xmlns:a="http://schemas.openxmlformats.org/drawingml/2006/main">
              <a:ext uri="{FF2B5EF4-FFF2-40B4-BE49-F238E27FC236}">
                <a16:creationId xmlns:a16="http://schemas.microsoft.com/office/drawing/2014/main" id="{AFF9AE07-8FE6-4A67-AA3A-47B1C9DCE66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41">
            <a:extLst xmlns:a="http://schemas.openxmlformats.org/drawingml/2006/main">
              <a:ext uri="{FF2B5EF4-FFF2-40B4-BE49-F238E27FC236}">
                <a16:creationId xmlns:a16="http://schemas.microsoft.com/office/drawing/2014/main" id="{ED670070-D25F-4547-AF8E-7419896DB70F}"/>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42">
            <a:extLst xmlns:a="http://schemas.openxmlformats.org/drawingml/2006/main">
              <a:ext uri="{FF2B5EF4-FFF2-40B4-BE49-F238E27FC236}">
                <a16:creationId xmlns:a16="http://schemas.microsoft.com/office/drawing/2014/main" id="{BD7516E1-65D9-4B94-BF9D-B2F7A9528892}"/>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04</a:t>
            </a:r>
          </a:p>
        </p:txBody>
      </p:sp>
      <p:sp>
        <p:nvSpPr>
          <p:cNvPr id="9" name="text-43">
            <a:extLst xmlns:a="http://schemas.openxmlformats.org/drawingml/2006/main">
              <a:ext uri="{FF2B5EF4-FFF2-40B4-BE49-F238E27FC236}">
                <a16:creationId xmlns:a16="http://schemas.microsoft.com/office/drawing/2014/main" id="{8116DBFB-9AE9-4F03-BE5D-F437A28CA8BD}"/>
              </a:ext>
            </a:extLst>
          </p:cNvPr>
          <p:cNvSpPr>
            <a:spLocks xmlns:a="http://schemas.openxmlformats.org/drawingml/2006/main" noGrp="1"/>
          </p:cNvSpPr>
          <p:nvPr/>
        </p:nvSpPr>
        <p:spPr>
          <a:xfrm xmlns:a="http://schemas.openxmlformats.org/drawingml/2006/main">
            <a:off x="457200" y="18859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SWEET SPOT FOUNDER</a:t>
            </a:r>
          </a:p>
        </p:txBody>
      </p:sp>
      <p:sp>
        <p:nvSpPr>
          <p:cNvPr id="10" name="">
            <a:extLst xmlns:a="http://schemas.openxmlformats.org/drawingml/2006/main">
              <a:ext uri="{FF2B5EF4-FFF2-40B4-BE49-F238E27FC236}">
                <a16:creationId xmlns:a16="http://schemas.microsoft.com/office/drawing/2014/main" id="{E41372EA-4DDB-4721-B475-DFF127248D40}"/>
              </a:ext>
            </a:extLst>
          </p:cNvPr>
          <p:cNvSpPr>
            <a:spLocks xmlns:a="http://schemas.openxmlformats.org/drawingml/2006/main" noGrp="1"/>
          </p:cNvSpPr>
          <p:nvPr/>
        </p:nvSpPr>
        <p:spPr>
          <a:xfrm xmlns:a="http://schemas.openxmlformats.org/drawingml/2006/main">
            <a:off x="781050" y="2286000"/>
            <a:ext cx="2171700" cy="2171700"/>
          </a:xfrm>
          <a:prstGeom xmlns:a="http://schemas.openxmlformats.org/drawingml/2006/main" prst="ellipse">
            <a:avLst/>
          </a:prstGeom>
          <a:noFill xmlns:a="http://schemas.openxmlformats.org/drawingml/2006/main"/>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C0EF9E23-C5AF-4AAE-8EDC-457250A9CD88}"/>
              </a:ext>
            </a:extLst>
          </p:cNvPr>
          <p:cNvSpPr>
            <a:spLocks xmlns:a="http://schemas.openxmlformats.org/drawingml/2006/main" noGrp="1"/>
          </p:cNvSpPr>
          <p:nvPr/>
        </p:nvSpPr>
        <p:spPr>
          <a:xfrm xmlns:a="http://schemas.openxmlformats.org/drawingml/2006/main">
            <a:off x="2543175" y="2286000"/>
            <a:ext cx="2171700" cy="2171700"/>
          </a:xfrm>
          <a:prstGeom xmlns:a="http://schemas.openxmlformats.org/drawingml/2006/main" prst="ellipse">
            <a:avLst/>
          </a:prstGeom>
          <a:noFill xmlns:a="http://schemas.openxmlformats.org/drawingml/2006/main"/>
          <a:ln xmlns:a="http://schemas.openxmlformats.org/drawingml/2006/main" w="19050">
            <a:solidFill>
              <a:srgbClr val="95BBA9"/>
            </a:solidFill>
          </a:ln>
        </p:spPr>
      </p:sp>
      <p:sp>
        <p:nvSpPr>
          <p:cNvPr id="12" name="">
            <a:extLst xmlns:a="http://schemas.openxmlformats.org/drawingml/2006/main">
              <a:ext uri="{FF2B5EF4-FFF2-40B4-BE49-F238E27FC236}">
                <a16:creationId xmlns:a16="http://schemas.microsoft.com/office/drawing/2014/main" id="{9D75224E-9843-4730-9C2A-44ABEF140B18}"/>
              </a:ext>
            </a:extLst>
          </p:cNvPr>
          <p:cNvSpPr>
            <a:spLocks xmlns:a="http://schemas.openxmlformats.org/drawingml/2006/main" noGrp="1"/>
          </p:cNvSpPr>
          <p:nvPr/>
        </p:nvSpPr>
        <p:spPr>
          <a:xfrm xmlns:a="http://schemas.openxmlformats.org/drawingml/2006/main">
            <a:off x="1666875" y="3295650"/>
            <a:ext cx="2171700" cy="2171700"/>
          </a:xfrm>
          <a:prstGeom xmlns:a="http://schemas.openxmlformats.org/drawingml/2006/main" prst="ellipse">
            <a:avLst/>
          </a:prstGeom>
          <a:noFill xmlns:a="http://schemas.openxmlformats.org/drawingml/2006/main"/>
          <a:ln xmlns:a="http://schemas.openxmlformats.org/drawingml/2006/main" w="19050">
            <a:solidFill>
              <a:srgbClr val="002B28"/>
            </a:solidFill>
          </a:ln>
        </p:spPr>
      </p:sp>
      <p:sp>
        <p:nvSpPr>
          <p:cNvPr id="13" name="text-44">
            <a:extLst xmlns:a="http://schemas.openxmlformats.org/drawingml/2006/main">
              <a:ext uri="{FF2B5EF4-FFF2-40B4-BE49-F238E27FC236}">
                <a16:creationId xmlns:a16="http://schemas.microsoft.com/office/drawing/2014/main" id="{CC1D024B-6ED6-49BC-AA17-599695AB882C}"/>
              </a:ext>
            </a:extLst>
          </p:cNvPr>
          <p:cNvSpPr>
            <a:spLocks xmlns:a="http://schemas.openxmlformats.org/drawingml/2006/main" noGrp="1"/>
          </p:cNvSpPr>
          <p:nvPr/>
        </p:nvSpPr>
        <p:spPr>
          <a:xfrm xmlns:a="http://schemas.openxmlformats.org/drawingml/2006/main">
            <a:off x="952500" y="2752725"/>
            <a:ext cx="1571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PASSION</a:t>
            </a:r>
          </a:p>
        </p:txBody>
      </p:sp>
      <p:sp>
        <p:nvSpPr>
          <p:cNvPr id="14" name="text-45">
            <a:extLst xmlns:a="http://schemas.openxmlformats.org/drawingml/2006/main">
              <a:ext uri="{FF2B5EF4-FFF2-40B4-BE49-F238E27FC236}">
                <a16:creationId xmlns:a16="http://schemas.microsoft.com/office/drawing/2014/main" id="{6BAB69B4-F449-42DE-995A-E1B8D04DC280}"/>
              </a:ext>
            </a:extLst>
          </p:cNvPr>
          <p:cNvSpPr>
            <a:spLocks xmlns:a="http://schemas.openxmlformats.org/drawingml/2006/main" noGrp="1"/>
          </p:cNvSpPr>
          <p:nvPr/>
        </p:nvSpPr>
        <p:spPr>
          <a:xfrm xmlns:a="http://schemas.openxmlformats.org/drawingml/2006/main">
            <a:off x="1028700" y="3095625"/>
            <a:ext cx="157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Kita suka</a:t>
            </a:r>
          </a:p>
        </p:txBody>
      </p:sp>
      <p:sp>
        <p:nvSpPr>
          <p:cNvPr id="15" name="text-46">
            <a:extLst xmlns:a="http://schemas.openxmlformats.org/drawingml/2006/main">
              <a:ext uri="{FF2B5EF4-FFF2-40B4-BE49-F238E27FC236}">
                <a16:creationId xmlns:a16="http://schemas.microsoft.com/office/drawing/2014/main" id="{0B9D6ACB-DC58-49BA-B798-49AE0B87C9C5}"/>
              </a:ext>
            </a:extLst>
          </p:cNvPr>
          <p:cNvSpPr>
            <a:spLocks xmlns:a="http://schemas.openxmlformats.org/drawingml/2006/main" noGrp="1"/>
          </p:cNvSpPr>
          <p:nvPr/>
        </p:nvSpPr>
        <p:spPr>
          <a:xfrm xmlns:a="http://schemas.openxmlformats.org/drawingml/2006/main">
            <a:off x="3219450" y="27527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TALENT</a:t>
            </a:r>
          </a:p>
        </p:txBody>
      </p:sp>
      <p:sp>
        <p:nvSpPr>
          <p:cNvPr id="16" name="text-47">
            <a:extLst xmlns:a="http://schemas.openxmlformats.org/drawingml/2006/main">
              <a:ext uri="{FF2B5EF4-FFF2-40B4-BE49-F238E27FC236}">
                <a16:creationId xmlns:a16="http://schemas.microsoft.com/office/drawing/2014/main" id="{15263C4F-2F1F-45BC-8E71-D26471CA3540}"/>
              </a:ext>
            </a:extLst>
          </p:cNvPr>
          <p:cNvSpPr>
            <a:spLocks xmlns:a="http://schemas.openxmlformats.org/drawingml/2006/main" noGrp="1"/>
          </p:cNvSpPr>
          <p:nvPr/>
        </p:nvSpPr>
        <p:spPr>
          <a:xfrm xmlns:a="http://schemas.openxmlformats.org/drawingml/2006/main">
            <a:off x="3181350" y="30956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Kita kuasai</a:t>
            </a:r>
          </a:p>
        </p:txBody>
      </p:sp>
      <p:sp>
        <p:nvSpPr>
          <p:cNvPr id="17" name="text-48">
            <a:extLst xmlns:a="http://schemas.openxmlformats.org/drawingml/2006/main">
              <a:ext uri="{FF2B5EF4-FFF2-40B4-BE49-F238E27FC236}">
                <a16:creationId xmlns:a16="http://schemas.microsoft.com/office/drawing/2014/main" id="{21646B50-4038-4B00-AE58-5F3BA3561D60}"/>
              </a:ext>
            </a:extLst>
          </p:cNvPr>
          <p:cNvSpPr>
            <a:spLocks xmlns:a="http://schemas.openxmlformats.org/drawingml/2006/main" noGrp="1"/>
          </p:cNvSpPr>
          <p:nvPr/>
        </p:nvSpPr>
        <p:spPr>
          <a:xfrm xmlns:a="http://schemas.openxmlformats.org/drawingml/2006/main">
            <a:off x="2238375" y="4533900"/>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2B28"/>
                </a:solidFill>
                <a:latin typeface="Calibri"/>
                <a:ea typeface="Calibri"/>
                <a:cs typeface="Calibri"/>
              </a:defRPr>
            </a:pPr>
            <a:r>
              <a:rPr sz="1800" b="1">
                <a:solidFill>
                  <a:srgbClr val="002B28"/>
                </a:solidFill>
                <a:latin typeface="Calibri"/>
                <a:ea typeface="Calibri"/>
                <a:cs typeface="Calibri"/>
              </a:rPr>
              <a:t>PROFIT</a:t>
            </a:r>
          </a:p>
        </p:txBody>
      </p:sp>
      <p:sp>
        <p:nvSpPr>
          <p:cNvPr id="18" name="text-49">
            <a:extLst xmlns:a="http://schemas.openxmlformats.org/drawingml/2006/main">
              <a:ext uri="{FF2B5EF4-FFF2-40B4-BE49-F238E27FC236}">
                <a16:creationId xmlns:a16="http://schemas.microsoft.com/office/drawing/2014/main" id="{19C3B9CF-76DC-4914-9B48-C533641098C7}"/>
              </a:ext>
            </a:extLst>
          </p:cNvPr>
          <p:cNvSpPr>
            <a:spLocks xmlns:a="http://schemas.openxmlformats.org/drawingml/2006/main" noGrp="1"/>
          </p:cNvSpPr>
          <p:nvPr/>
        </p:nvSpPr>
        <p:spPr>
          <a:xfrm xmlns:a="http://schemas.openxmlformats.org/drawingml/2006/main">
            <a:off x="2076450" y="4876800"/>
            <a:ext cx="1666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Menghasilkan</a:t>
            </a:r>
          </a:p>
        </p:txBody>
      </p:sp>
      <p:sp>
        <p:nvSpPr>
          <p:cNvPr id="19" name="">
            <a:extLst xmlns:a="http://schemas.openxmlformats.org/drawingml/2006/main">
              <a:ext uri="{FF2B5EF4-FFF2-40B4-BE49-F238E27FC236}">
                <a16:creationId xmlns:a16="http://schemas.microsoft.com/office/drawing/2014/main" id="{D61CC9C0-6F0E-4EBC-9F8B-0CB411D4AF2D}"/>
              </a:ext>
            </a:extLst>
          </p:cNvPr>
          <p:cNvSpPr>
            <a:spLocks xmlns:a="http://schemas.openxmlformats.org/drawingml/2006/main" noGrp="1"/>
          </p:cNvSpPr>
          <p:nvPr/>
        </p:nvSpPr>
        <p:spPr>
          <a:xfrm xmlns:a="http://schemas.openxmlformats.org/drawingml/2006/main">
            <a:off x="2419350" y="3609975"/>
            <a:ext cx="619125" cy="61912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0" name="text-50">
            <a:extLst xmlns:a="http://schemas.openxmlformats.org/drawingml/2006/main">
              <a:ext uri="{FF2B5EF4-FFF2-40B4-BE49-F238E27FC236}">
                <a16:creationId xmlns:a16="http://schemas.microsoft.com/office/drawing/2014/main" id="{C5934D22-C82A-4657-9993-C916D68B7A3A}"/>
              </a:ext>
            </a:extLst>
          </p:cNvPr>
          <p:cNvSpPr>
            <a:spLocks xmlns:a="http://schemas.openxmlformats.org/drawingml/2006/main" noGrp="1"/>
          </p:cNvSpPr>
          <p:nvPr/>
        </p:nvSpPr>
        <p:spPr>
          <a:xfrm xmlns:a="http://schemas.openxmlformats.org/drawingml/2006/main">
            <a:off x="2562225" y="3790950"/>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FFFFF"/>
                </a:solidFill>
                <a:latin typeface="Calibri"/>
                <a:ea typeface="Calibri"/>
                <a:cs typeface="Calibri"/>
              </a:defRPr>
            </a:pPr>
            <a:r>
              <a:rPr sz="1800" b="1">
                <a:solidFill>
                  <a:srgbClr val="FFFFFF"/>
                </a:solidFill>
                <a:latin typeface="Calibri"/>
                <a:ea typeface="Calibri"/>
                <a:cs typeface="Calibri"/>
              </a:rPr>
              <a:t>FIT</a:t>
            </a:r>
          </a:p>
        </p:txBody>
      </p:sp>
      <p:sp>
        <p:nvSpPr>
          <p:cNvPr id="21" name="text-51">
            <a:extLst xmlns:a="http://schemas.openxmlformats.org/drawingml/2006/main">
              <a:ext uri="{FF2B5EF4-FFF2-40B4-BE49-F238E27FC236}">
                <a16:creationId xmlns:a16="http://schemas.microsoft.com/office/drawing/2014/main" id="{C1982013-15C6-4705-B82B-CB42DFE0FE84}"/>
              </a:ext>
            </a:extLst>
          </p:cNvPr>
          <p:cNvSpPr>
            <a:spLocks xmlns:a="http://schemas.openxmlformats.org/drawingml/2006/main" noGrp="1"/>
          </p:cNvSpPr>
          <p:nvPr/>
        </p:nvSpPr>
        <p:spPr>
          <a:xfrm xmlns:a="http://schemas.openxmlformats.org/drawingml/2006/main">
            <a:off x="5743575" y="1885950"/>
            <a:ext cx="5724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UJI KE BUYER</a:t>
            </a:r>
          </a:p>
        </p:txBody>
      </p:sp>
      <p:sp>
        <p:nvSpPr>
          <p:cNvPr id="22" name="">
            <a:extLst xmlns:a="http://schemas.openxmlformats.org/drawingml/2006/main">
              <a:ext uri="{FF2B5EF4-FFF2-40B4-BE49-F238E27FC236}">
                <a16:creationId xmlns:a16="http://schemas.microsoft.com/office/drawing/2014/main" id="{0643F2C0-12FC-408B-9E40-51CC00DF4700}"/>
              </a:ext>
            </a:extLst>
          </p:cNvPr>
          <p:cNvSpPr>
            <a:spLocks xmlns:a="http://schemas.openxmlformats.org/drawingml/2006/main" noGrp="1"/>
          </p:cNvSpPr>
          <p:nvPr/>
        </p:nvSpPr>
        <p:spPr>
          <a:xfrm xmlns:a="http://schemas.openxmlformats.org/drawingml/2006/main">
            <a:off x="5743575" y="2314575"/>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3" name="text-52">
            <a:extLst xmlns:a="http://schemas.openxmlformats.org/drawingml/2006/main">
              <a:ext uri="{FF2B5EF4-FFF2-40B4-BE49-F238E27FC236}">
                <a16:creationId xmlns:a16="http://schemas.microsoft.com/office/drawing/2014/main" id="{28E159AC-3F16-4F86-8AE4-EB6F015B61CE}"/>
              </a:ext>
            </a:extLst>
          </p:cNvPr>
          <p:cNvSpPr>
            <a:spLocks xmlns:a="http://schemas.openxmlformats.org/drawingml/2006/main" noGrp="1"/>
          </p:cNvSpPr>
          <p:nvPr/>
        </p:nvSpPr>
        <p:spPr>
          <a:xfrm xmlns:a="http://schemas.openxmlformats.org/drawingml/2006/main">
            <a:off x="5829300" y="2362200"/>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1</a:t>
            </a:r>
          </a:p>
        </p:txBody>
      </p:sp>
      <p:sp>
        <p:nvSpPr>
          <p:cNvPr id="24" name="text-53">
            <a:extLst xmlns:a="http://schemas.openxmlformats.org/drawingml/2006/main">
              <a:ext uri="{FF2B5EF4-FFF2-40B4-BE49-F238E27FC236}">
                <a16:creationId xmlns:a16="http://schemas.microsoft.com/office/drawing/2014/main" id="{87E3AA18-9569-46DD-B41C-E5EDB9B5716F}"/>
              </a:ext>
            </a:extLst>
          </p:cNvPr>
          <p:cNvSpPr>
            <a:spLocks xmlns:a="http://schemas.openxmlformats.org/drawingml/2006/main" noGrp="1"/>
          </p:cNvSpPr>
          <p:nvPr/>
        </p:nvSpPr>
        <p:spPr>
          <a:xfrm xmlns:a="http://schemas.openxmlformats.org/drawingml/2006/main">
            <a:off x="6191250" y="23431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KEBUTUHAN</a:t>
            </a:r>
          </a:p>
        </p:txBody>
      </p:sp>
      <p:sp>
        <p:nvSpPr>
          <p:cNvPr id="25" name="text-54">
            <a:extLst xmlns:a="http://schemas.openxmlformats.org/drawingml/2006/main">
              <a:ext uri="{FF2B5EF4-FFF2-40B4-BE49-F238E27FC236}">
                <a16:creationId xmlns:a16="http://schemas.microsoft.com/office/drawing/2014/main" id="{443AB35D-EAC8-4443-AE97-3618255152CB}"/>
              </a:ext>
            </a:extLst>
          </p:cNvPr>
          <p:cNvSpPr>
            <a:spLocks xmlns:a="http://schemas.openxmlformats.org/drawingml/2006/main" noGrp="1"/>
          </p:cNvSpPr>
          <p:nvPr/>
        </p:nvSpPr>
        <p:spPr>
          <a:xfrm xmlns:a="http://schemas.openxmlformats.org/drawingml/2006/main">
            <a:off x="6191250" y="2667000"/>
            <a:ext cx="5314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Untuk siapa dan dipakai buat apa?</a:t>
            </a:r>
          </a:p>
        </p:txBody>
      </p:sp>
      <p:sp>
        <p:nvSpPr>
          <p:cNvPr id="26" name="text-55">
            <a:extLst xmlns:a="http://schemas.openxmlformats.org/drawingml/2006/main">
              <a:ext uri="{FF2B5EF4-FFF2-40B4-BE49-F238E27FC236}">
                <a16:creationId xmlns:a16="http://schemas.microsoft.com/office/drawing/2014/main" id="{34F037A8-B12E-4A64-91BD-A048AB4721AB}"/>
              </a:ext>
            </a:extLst>
          </p:cNvPr>
          <p:cNvSpPr>
            <a:spLocks xmlns:a="http://schemas.openxmlformats.org/drawingml/2006/main" noGrp="1"/>
          </p:cNvSpPr>
          <p:nvPr/>
        </p:nvSpPr>
        <p:spPr>
          <a:xfrm xmlns:a="http://schemas.openxmlformats.org/drawingml/2006/main">
            <a:off x="6191250" y="3000375"/>
            <a:ext cx="5314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Toko dekorasi butuh ukuran yang pas.</a:t>
            </a:r>
          </a:p>
        </p:txBody>
      </p:sp>
      <p:sp>
        <p:nvSpPr>
          <p:cNvPr id="27" name="">
            <a:extLst xmlns:a="http://schemas.openxmlformats.org/drawingml/2006/main">
              <a:ext uri="{FF2B5EF4-FFF2-40B4-BE49-F238E27FC236}">
                <a16:creationId xmlns:a16="http://schemas.microsoft.com/office/drawing/2014/main" id="{811C083D-8267-4B31-9A68-327143C93A62}"/>
              </a:ext>
            </a:extLst>
          </p:cNvPr>
          <p:cNvSpPr>
            <a:spLocks xmlns:a="http://schemas.openxmlformats.org/drawingml/2006/main" noGrp="1"/>
          </p:cNvSpPr>
          <p:nvPr/>
        </p:nvSpPr>
        <p:spPr>
          <a:xfrm xmlns:a="http://schemas.openxmlformats.org/drawingml/2006/main">
            <a:off x="5743575" y="3371850"/>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8" name="text-56">
            <a:extLst xmlns:a="http://schemas.openxmlformats.org/drawingml/2006/main">
              <a:ext uri="{FF2B5EF4-FFF2-40B4-BE49-F238E27FC236}">
                <a16:creationId xmlns:a16="http://schemas.microsoft.com/office/drawing/2014/main" id="{11E64774-D76C-40B4-A4A6-45054BB45B26}"/>
              </a:ext>
            </a:extLst>
          </p:cNvPr>
          <p:cNvSpPr>
            <a:spLocks xmlns:a="http://schemas.openxmlformats.org/drawingml/2006/main" noGrp="1"/>
          </p:cNvSpPr>
          <p:nvPr/>
        </p:nvSpPr>
        <p:spPr>
          <a:xfrm xmlns:a="http://schemas.openxmlformats.org/drawingml/2006/main">
            <a:off x="5829300" y="3419475"/>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2</a:t>
            </a:r>
          </a:p>
        </p:txBody>
      </p:sp>
      <p:sp>
        <p:nvSpPr>
          <p:cNvPr id="29" name="text-57">
            <a:extLst xmlns:a="http://schemas.openxmlformats.org/drawingml/2006/main">
              <a:ext uri="{FF2B5EF4-FFF2-40B4-BE49-F238E27FC236}">
                <a16:creationId xmlns:a16="http://schemas.microsoft.com/office/drawing/2014/main" id="{5DF2EBD6-3030-4434-A09F-7D55BA3C8560}"/>
              </a:ext>
            </a:extLst>
          </p:cNvPr>
          <p:cNvSpPr>
            <a:spLocks xmlns:a="http://schemas.openxmlformats.org/drawingml/2006/main" noGrp="1"/>
          </p:cNvSpPr>
          <p:nvPr/>
        </p:nvSpPr>
        <p:spPr>
          <a:xfrm xmlns:a="http://schemas.openxmlformats.org/drawingml/2006/main">
            <a:off x="6191250" y="3400425"/>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PEMBEDA</a:t>
            </a:r>
          </a:p>
        </p:txBody>
      </p:sp>
      <p:sp>
        <p:nvSpPr>
          <p:cNvPr id="30" name="text-58">
            <a:extLst xmlns:a="http://schemas.openxmlformats.org/drawingml/2006/main">
              <a:ext uri="{FF2B5EF4-FFF2-40B4-BE49-F238E27FC236}">
                <a16:creationId xmlns:a16="http://schemas.microsoft.com/office/drawing/2014/main" id="{DD568038-5612-460F-9C62-4575A52CCD0C}"/>
              </a:ext>
            </a:extLst>
          </p:cNvPr>
          <p:cNvSpPr>
            <a:spLocks xmlns:a="http://schemas.openxmlformats.org/drawingml/2006/main" noGrp="1"/>
          </p:cNvSpPr>
          <p:nvPr/>
        </p:nvSpPr>
        <p:spPr>
          <a:xfrm xmlns:a="http://schemas.openxmlformats.org/drawingml/2006/main">
            <a:off x="6191250" y="3724275"/>
            <a:ext cx="5314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Kenapa memilih produk kita?</a:t>
            </a:r>
          </a:p>
        </p:txBody>
      </p:sp>
      <p:sp>
        <p:nvSpPr>
          <p:cNvPr id="31" name="text-59">
            <a:extLst xmlns:a="http://schemas.openxmlformats.org/drawingml/2006/main">
              <a:ext uri="{FF2B5EF4-FFF2-40B4-BE49-F238E27FC236}">
                <a16:creationId xmlns:a16="http://schemas.microsoft.com/office/drawing/2014/main" id="{83CA6119-BA21-4145-B5DF-54EC3BB49B90}"/>
              </a:ext>
            </a:extLst>
          </p:cNvPr>
          <p:cNvSpPr>
            <a:spLocks xmlns:a="http://schemas.openxmlformats.org/drawingml/2006/main" noGrp="1"/>
          </p:cNvSpPr>
          <p:nvPr/>
        </p:nvSpPr>
        <p:spPr>
          <a:xfrm xmlns:a="http://schemas.openxmlformats.org/drawingml/2006/main">
            <a:off x="6191250" y="4057650"/>
            <a:ext cx="5314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Desain, konsistensi, atau layanan.</a:t>
            </a:r>
          </a:p>
        </p:txBody>
      </p:sp>
      <p:sp>
        <p:nvSpPr>
          <p:cNvPr id="32" name="">
            <a:extLst xmlns:a="http://schemas.openxmlformats.org/drawingml/2006/main">
              <a:ext uri="{FF2B5EF4-FFF2-40B4-BE49-F238E27FC236}">
                <a16:creationId xmlns:a16="http://schemas.microsoft.com/office/drawing/2014/main" id="{53C0397B-F540-4C1B-867F-8E37B2A19B57}"/>
              </a:ext>
            </a:extLst>
          </p:cNvPr>
          <p:cNvSpPr>
            <a:spLocks xmlns:a="http://schemas.openxmlformats.org/drawingml/2006/main" noGrp="1"/>
          </p:cNvSpPr>
          <p:nvPr/>
        </p:nvSpPr>
        <p:spPr>
          <a:xfrm xmlns:a="http://schemas.openxmlformats.org/drawingml/2006/main">
            <a:off x="5743575" y="4429125"/>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33" name="text-60">
            <a:extLst xmlns:a="http://schemas.openxmlformats.org/drawingml/2006/main">
              <a:ext uri="{FF2B5EF4-FFF2-40B4-BE49-F238E27FC236}">
                <a16:creationId xmlns:a16="http://schemas.microsoft.com/office/drawing/2014/main" id="{16425BEE-7D94-4AEE-B5FC-6BEA22E5D532}"/>
              </a:ext>
            </a:extLst>
          </p:cNvPr>
          <p:cNvSpPr>
            <a:spLocks xmlns:a="http://schemas.openxmlformats.org/drawingml/2006/main" noGrp="1"/>
          </p:cNvSpPr>
          <p:nvPr/>
        </p:nvSpPr>
        <p:spPr>
          <a:xfrm xmlns:a="http://schemas.openxmlformats.org/drawingml/2006/main">
            <a:off x="5829300" y="4476750"/>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3</a:t>
            </a:r>
          </a:p>
        </p:txBody>
      </p:sp>
      <p:sp>
        <p:nvSpPr>
          <p:cNvPr id="34" name="text-61">
            <a:extLst xmlns:a="http://schemas.openxmlformats.org/drawingml/2006/main">
              <a:ext uri="{FF2B5EF4-FFF2-40B4-BE49-F238E27FC236}">
                <a16:creationId xmlns:a16="http://schemas.microsoft.com/office/drawing/2014/main" id="{25214B08-FA7D-4B0C-89F2-1772FC93B26C}"/>
              </a:ext>
            </a:extLst>
          </p:cNvPr>
          <p:cNvSpPr>
            <a:spLocks xmlns:a="http://schemas.openxmlformats.org/drawingml/2006/main" noGrp="1"/>
          </p:cNvSpPr>
          <p:nvPr/>
        </p:nvSpPr>
        <p:spPr>
          <a:xfrm xmlns:a="http://schemas.openxmlformats.org/drawingml/2006/main">
            <a:off x="6191250" y="445770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KELAYAKAN</a:t>
            </a:r>
          </a:p>
        </p:txBody>
      </p:sp>
      <p:sp>
        <p:nvSpPr>
          <p:cNvPr id="35" name="text-62">
            <a:extLst xmlns:a="http://schemas.openxmlformats.org/drawingml/2006/main">
              <a:ext uri="{FF2B5EF4-FFF2-40B4-BE49-F238E27FC236}">
                <a16:creationId xmlns:a16="http://schemas.microsoft.com/office/drawing/2014/main" id="{7E5EA4FC-7D0E-4763-8531-0FF51DF345D7}"/>
              </a:ext>
            </a:extLst>
          </p:cNvPr>
          <p:cNvSpPr>
            <a:spLocks xmlns:a="http://schemas.openxmlformats.org/drawingml/2006/main" noGrp="1"/>
          </p:cNvSpPr>
          <p:nvPr/>
        </p:nvSpPr>
        <p:spPr>
          <a:xfrm xmlns:a="http://schemas.openxmlformats.org/drawingml/2006/main">
            <a:off x="6191250" y="4781550"/>
            <a:ext cx="5314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Mau dibayar dengan harga yang masuk?</a:t>
            </a:r>
          </a:p>
        </p:txBody>
      </p:sp>
      <p:sp>
        <p:nvSpPr>
          <p:cNvPr id="36" name="text-63">
            <a:extLst xmlns:a="http://schemas.openxmlformats.org/drawingml/2006/main">
              <a:ext uri="{FF2B5EF4-FFF2-40B4-BE49-F238E27FC236}">
                <a16:creationId xmlns:a16="http://schemas.microsoft.com/office/drawing/2014/main" id="{E83A2FA5-6045-4529-84EA-524F3EF1D5D3}"/>
              </a:ext>
            </a:extLst>
          </p:cNvPr>
          <p:cNvSpPr>
            <a:spLocks xmlns:a="http://schemas.openxmlformats.org/drawingml/2006/main" noGrp="1"/>
          </p:cNvSpPr>
          <p:nvPr/>
        </p:nvSpPr>
        <p:spPr>
          <a:xfrm xmlns:a="http://schemas.openxmlformats.org/drawingml/2006/main">
            <a:off x="6191250" y="5114925"/>
            <a:ext cx="5314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Hitung biaya memenuhi janji ke buyer.</a:t>
            </a:r>
          </a:p>
        </p:txBody>
      </p:sp>
      <p:sp>
        <p:nvSpPr>
          <p:cNvPr id="37" name="">
            <a:extLst xmlns:a="http://schemas.openxmlformats.org/drawingml/2006/main">
              <a:ext uri="{FF2B5EF4-FFF2-40B4-BE49-F238E27FC236}">
                <a16:creationId xmlns:a16="http://schemas.microsoft.com/office/drawing/2014/main" id="{8EDFEC10-A543-41D0-95C5-6539CC90081B}"/>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38" name="text-64">
            <a:extLst xmlns:a="http://schemas.openxmlformats.org/drawingml/2006/main">
              <a:ext uri="{FF2B5EF4-FFF2-40B4-BE49-F238E27FC236}">
                <a16:creationId xmlns:a16="http://schemas.microsoft.com/office/drawing/2014/main" id="{B9F27B02-43EF-4D0A-B44F-97FD83A895FB}"/>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Suka produknya, bisa membuatnya, dan ada buyer yang mau membayar.</a:t>
            </a:r>
          </a:p>
        </p:txBody>
      </p:sp>
    </p:spTree>
    <p:extLst>
      <p:ext uri="{BB962C8B-B14F-4D97-AF65-F5344CB8AC3E}">
        <p14:creationId xmlns:p14="http://schemas.microsoft.com/office/powerpoint/2010/main" val="11887951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d27ada1876a4a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B4831F-1B89-4F28-8D00-9A0ED8A68CA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206af0e9f4542ff"/>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65">
            <a:extLst xmlns:a="http://schemas.openxmlformats.org/drawingml/2006/main">
              <a:ext uri="{FF2B5EF4-FFF2-40B4-BE49-F238E27FC236}">
                <a16:creationId xmlns:a16="http://schemas.microsoft.com/office/drawing/2014/main" id="{31A653BF-E0C1-4FCB-9D45-F03CDD15971C}"/>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Growth mindset terlihat dari cara menanggapi masukan</a:t>
            </a:r>
          </a:p>
        </p:txBody>
      </p:sp>
      <p:sp>
        <p:nvSpPr>
          <p:cNvPr id="5" name="text-66">
            <a:extLst xmlns:a="http://schemas.openxmlformats.org/drawingml/2006/main">
              <a:ext uri="{FF2B5EF4-FFF2-40B4-BE49-F238E27FC236}">
                <a16:creationId xmlns:a16="http://schemas.microsoft.com/office/drawing/2014/main" id="{C8196B65-42CD-464D-B4A0-0031F428FFD7}"/>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Buyer berkata: “Ukurannya belum cocok untuk toko kami.” Apa respons kita?</a:t>
            </a:r>
          </a:p>
        </p:txBody>
      </p:sp>
      <p:sp>
        <p:nvSpPr>
          <p:cNvPr id="6" name="text-67">
            <a:extLst xmlns:a="http://schemas.openxmlformats.org/drawingml/2006/main">
              <a:ext uri="{FF2B5EF4-FFF2-40B4-BE49-F238E27FC236}">
                <a16:creationId xmlns:a16="http://schemas.microsoft.com/office/drawing/2014/main" id="{C517C201-A70C-47BD-A93A-F5BA9598510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68">
            <a:extLst xmlns:a="http://schemas.openxmlformats.org/drawingml/2006/main">
              <a:ext uri="{FF2B5EF4-FFF2-40B4-BE49-F238E27FC236}">
                <a16:creationId xmlns:a16="http://schemas.microsoft.com/office/drawing/2014/main" id="{470307CE-1C24-4DEA-96E1-5329C1FAF828}"/>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69">
            <a:extLst xmlns:a="http://schemas.openxmlformats.org/drawingml/2006/main">
              <a:ext uri="{FF2B5EF4-FFF2-40B4-BE49-F238E27FC236}">
                <a16:creationId xmlns:a16="http://schemas.microsoft.com/office/drawing/2014/main" id="{9314230B-614B-4CA2-8CD1-D37EB9F709C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05</a:t>
            </a:r>
          </a:p>
        </p:txBody>
      </p:sp>
      <p:sp>
        <p:nvSpPr>
          <p:cNvPr id="9" name="text-70">
            <a:extLst xmlns:a="http://schemas.openxmlformats.org/drawingml/2006/main">
              <a:ext uri="{FF2B5EF4-FFF2-40B4-BE49-F238E27FC236}">
                <a16:creationId xmlns:a16="http://schemas.microsoft.com/office/drawing/2014/main" id="{DB794FD1-207D-40D4-857F-B3AE2B6DBE28}"/>
              </a:ext>
            </a:extLst>
          </p:cNvPr>
          <p:cNvSpPr>
            <a:spLocks xmlns:a="http://schemas.openxmlformats.org/drawingml/2006/main" noGrp="1"/>
          </p:cNvSpPr>
          <p:nvPr/>
        </p:nvSpPr>
        <p:spPr>
          <a:xfrm xmlns:a="http://schemas.openxmlformats.org/drawingml/2006/main">
            <a:off x="457200" y="2009775"/>
            <a:ext cx="1724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SAAT MENGHADAPI</a:t>
            </a:r>
          </a:p>
        </p:txBody>
      </p:sp>
      <p:sp>
        <p:nvSpPr>
          <p:cNvPr id="10" name="text-71">
            <a:extLst xmlns:a="http://schemas.openxmlformats.org/drawingml/2006/main">
              <a:ext uri="{FF2B5EF4-FFF2-40B4-BE49-F238E27FC236}">
                <a16:creationId xmlns:a16="http://schemas.microsoft.com/office/drawing/2014/main" id="{497ED7D1-8C0B-4D3D-90E9-4D41E35E953D}"/>
              </a:ext>
            </a:extLst>
          </p:cNvPr>
          <p:cNvSpPr>
            <a:spLocks xmlns:a="http://schemas.openxmlformats.org/drawingml/2006/main" noGrp="1"/>
          </p:cNvSpPr>
          <p:nvPr/>
        </p:nvSpPr>
        <p:spPr>
          <a:xfrm xmlns:a="http://schemas.openxmlformats.org/drawingml/2006/main">
            <a:off x="2476500" y="2009775"/>
            <a:ext cx="403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POLA PIKIR TETAP</a:t>
            </a:r>
          </a:p>
        </p:txBody>
      </p:sp>
      <p:sp>
        <p:nvSpPr>
          <p:cNvPr id="11" name="text-72">
            <a:extLst xmlns:a="http://schemas.openxmlformats.org/drawingml/2006/main">
              <a:ext uri="{FF2B5EF4-FFF2-40B4-BE49-F238E27FC236}">
                <a16:creationId xmlns:a16="http://schemas.microsoft.com/office/drawing/2014/main" id="{80F3B2B2-3C26-40F2-BFF8-30AEAC8F1CB4}"/>
              </a:ext>
            </a:extLst>
          </p:cNvPr>
          <p:cNvSpPr>
            <a:spLocks xmlns:a="http://schemas.openxmlformats.org/drawingml/2006/main" noGrp="1"/>
          </p:cNvSpPr>
          <p:nvPr/>
        </p:nvSpPr>
        <p:spPr>
          <a:xfrm xmlns:a="http://schemas.openxmlformats.org/drawingml/2006/main">
            <a:off x="7019925" y="2009775"/>
            <a:ext cx="459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POLA PIKIR BERKEMBANG</a:t>
            </a:r>
          </a:p>
        </p:txBody>
      </p:sp>
      <p:sp>
        <p:nvSpPr>
          <p:cNvPr id="12" name="">
            <a:extLst xmlns:a="http://schemas.openxmlformats.org/drawingml/2006/main">
              <a:ext uri="{FF2B5EF4-FFF2-40B4-BE49-F238E27FC236}">
                <a16:creationId xmlns:a16="http://schemas.microsoft.com/office/drawing/2014/main" id="{3702FD8F-DCE5-4BDF-A52B-C0D08DE63C35}"/>
              </a:ext>
            </a:extLst>
          </p:cNvPr>
          <p:cNvSpPr>
            <a:spLocks xmlns:a="http://schemas.openxmlformats.org/drawingml/2006/main" noGrp="1"/>
          </p:cNvSpPr>
          <p:nvPr/>
        </p:nvSpPr>
        <p:spPr>
          <a:xfrm xmlns:a="http://schemas.openxmlformats.org/drawingml/2006/main">
            <a:off x="6867525" y="2381250"/>
            <a:ext cx="4867275" cy="2895600"/>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13" name="text-73">
            <a:extLst xmlns:a="http://schemas.openxmlformats.org/drawingml/2006/main">
              <a:ext uri="{FF2B5EF4-FFF2-40B4-BE49-F238E27FC236}">
                <a16:creationId xmlns:a16="http://schemas.microsoft.com/office/drawing/2014/main" id="{008CEDAB-9C42-46D6-9E4F-6C37D84A1BAC}"/>
              </a:ext>
            </a:extLst>
          </p:cNvPr>
          <p:cNvSpPr>
            <a:spLocks xmlns:a="http://schemas.openxmlformats.org/drawingml/2006/main" noGrp="1"/>
          </p:cNvSpPr>
          <p:nvPr/>
        </p:nvSpPr>
        <p:spPr>
          <a:xfrm xmlns:a="http://schemas.openxmlformats.org/drawingml/2006/main">
            <a:off x="457200" y="2543175"/>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Masukan</a:t>
            </a:r>
          </a:p>
        </p:txBody>
      </p:sp>
      <p:sp>
        <p:nvSpPr>
          <p:cNvPr id="14" name="text-74">
            <a:extLst xmlns:a="http://schemas.openxmlformats.org/drawingml/2006/main">
              <a:ext uri="{FF2B5EF4-FFF2-40B4-BE49-F238E27FC236}">
                <a16:creationId xmlns:a16="http://schemas.microsoft.com/office/drawing/2014/main" id="{A28F046F-3E39-43B0-945D-03AA998DA6C4}"/>
              </a:ext>
            </a:extLst>
          </p:cNvPr>
          <p:cNvSpPr>
            <a:spLocks xmlns:a="http://schemas.openxmlformats.org/drawingml/2006/main" noGrp="1"/>
          </p:cNvSpPr>
          <p:nvPr/>
        </p:nvSpPr>
        <p:spPr>
          <a:xfrm xmlns:a="http://schemas.openxmlformats.org/drawingml/2006/main">
            <a:off x="2476500" y="2543175"/>
            <a:ext cx="40290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“Buyer nggak paham produk kita.”</a:t>
            </a:r>
          </a:p>
        </p:txBody>
      </p:sp>
      <p:sp>
        <p:nvSpPr>
          <p:cNvPr id="15" name="text-75">
            <a:extLst xmlns:a="http://schemas.openxmlformats.org/drawingml/2006/main">
              <a:ext uri="{FF2B5EF4-FFF2-40B4-BE49-F238E27FC236}">
                <a16:creationId xmlns:a16="http://schemas.microsoft.com/office/drawing/2014/main" id="{3E8111B7-9D04-45F1-ACC1-4721F543C1F6}"/>
              </a:ext>
            </a:extLst>
          </p:cNvPr>
          <p:cNvSpPr>
            <a:spLocks xmlns:a="http://schemas.openxmlformats.org/drawingml/2006/main" noGrp="1"/>
          </p:cNvSpPr>
          <p:nvPr/>
        </p:nvSpPr>
        <p:spPr>
          <a:xfrm xmlns:a="http://schemas.openxmlformats.org/drawingml/2006/main">
            <a:off x="7067550" y="2543175"/>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“Ukuran apa yang dicari?”</a:t>
            </a:r>
          </a:p>
        </p:txBody>
      </p:sp>
      <p:sp>
        <p:nvSpPr>
          <p:cNvPr id="16" name="">
            <a:extLst xmlns:a="http://schemas.openxmlformats.org/drawingml/2006/main">
              <a:ext uri="{FF2B5EF4-FFF2-40B4-BE49-F238E27FC236}">
                <a16:creationId xmlns:a16="http://schemas.microsoft.com/office/drawing/2014/main" id="{98332C96-BDC1-4951-9C9F-8A876C742A1C}"/>
              </a:ext>
            </a:extLst>
          </p:cNvPr>
          <p:cNvSpPr>
            <a:spLocks xmlns:a="http://schemas.openxmlformats.org/drawingml/2006/main" noGrp="1"/>
          </p:cNvSpPr>
          <p:nvPr/>
        </p:nvSpPr>
        <p:spPr>
          <a:xfrm xmlns:a="http://schemas.openxmlformats.org/drawingml/2006/main">
            <a:off x="457200" y="33337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17" name="text-76">
            <a:extLst xmlns:a="http://schemas.openxmlformats.org/drawingml/2006/main">
              <a:ext uri="{FF2B5EF4-FFF2-40B4-BE49-F238E27FC236}">
                <a16:creationId xmlns:a16="http://schemas.microsoft.com/office/drawing/2014/main" id="{7B1A962C-4208-4884-B051-6230D75BB0C2}"/>
              </a:ext>
            </a:extLst>
          </p:cNvPr>
          <p:cNvSpPr>
            <a:spLocks xmlns:a="http://schemas.openxmlformats.org/drawingml/2006/main" noGrp="1"/>
          </p:cNvSpPr>
          <p:nvPr/>
        </p:nvSpPr>
        <p:spPr>
          <a:xfrm xmlns:a="http://schemas.openxmlformats.org/drawingml/2006/main">
            <a:off x="457200" y="3476625"/>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Percobaan gagal</a:t>
            </a:r>
          </a:p>
        </p:txBody>
      </p:sp>
      <p:sp>
        <p:nvSpPr>
          <p:cNvPr id="18" name="text-77">
            <a:extLst xmlns:a="http://schemas.openxmlformats.org/drawingml/2006/main">
              <a:ext uri="{FF2B5EF4-FFF2-40B4-BE49-F238E27FC236}">
                <a16:creationId xmlns:a16="http://schemas.microsoft.com/office/drawing/2014/main" id="{001ADB3C-A28C-46E6-BCE8-2CE366261F8F}"/>
              </a:ext>
            </a:extLst>
          </p:cNvPr>
          <p:cNvSpPr>
            <a:spLocks xmlns:a="http://schemas.openxmlformats.org/drawingml/2006/main" noGrp="1"/>
          </p:cNvSpPr>
          <p:nvPr/>
        </p:nvSpPr>
        <p:spPr>
          <a:xfrm xmlns:a="http://schemas.openxmlformats.org/drawingml/2006/main">
            <a:off x="2476500" y="3476625"/>
            <a:ext cx="40290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“Berarti pasar ekspor nggak cocok.”</a:t>
            </a:r>
          </a:p>
        </p:txBody>
      </p:sp>
      <p:sp>
        <p:nvSpPr>
          <p:cNvPr id="19" name="text-78">
            <a:extLst xmlns:a="http://schemas.openxmlformats.org/drawingml/2006/main">
              <a:ext uri="{FF2B5EF4-FFF2-40B4-BE49-F238E27FC236}">
                <a16:creationId xmlns:a16="http://schemas.microsoft.com/office/drawing/2014/main" id="{654C8697-27AB-4D1E-9957-F92F5E4B506C}"/>
              </a:ext>
            </a:extLst>
          </p:cNvPr>
          <p:cNvSpPr>
            <a:spLocks xmlns:a="http://schemas.openxmlformats.org/drawingml/2006/main" noGrp="1"/>
          </p:cNvSpPr>
          <p:nvPr/>
        </p:nvSpPr>
        <p:spPr>
          <a:xfrm xmlns:a="http://schemas.openxmlformats.org/drawingml/2006/main">
            <a:off x="7067550" y="3476625"/>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“Bagian mana yang perlu diubah?”</a:t>
            </a:r>
          </a:p>
        </p:txBody>
      </p:sp>
      <p:sp>
        <p:nvSpPr>
          <p:cNvPr id="20" name="">
            <a:extLst xmlns:a="http://schemas.openxmlformats.org/drawingml/2006/main">
              <a:ext uri="{FF2B5EF4-FFF2-40B4-BE49-F238E27FC236}">
                <a16:creationId xmlns:a16="http://schemas.microsoft.com/office/drawing/2014/main" id="{592B4813-8FD8-4F5F-A3B0-98599204B0B2}"/>
              </a:ext>
            </a:extLst>
          </p:cNvPr>
          <p:cNvSpPr>
            <a:spLocks xmlns:a="http://schemas.openxmlformats.org/drawingml/2006/main" noGrp="1"/>
          </p:cNvSpPr>
          <p:nvPr/>
        </p:nvSpPr>
        <p:spPr>
          <a:xfrm xmlns:a="http://schemas.openxmlformats.org/drawingml/2006/main">
            <a:off x="457200" y="42672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1" name="text-79">
            <a:extLst xmlns:a="http://schemas.openxmlformats.org/drawingml/2006/main">
              <a:ext uri="{FF2B5EF4-FFF2-40B4-BE49-F238E27FC236}">
                <a16:creationId xmlns:a16="http://schemas.microsoft.com/office/drawing/2014/main" id="{21496BE0-656C-482F-BD31-0A355774B12D}"/>
              </a:ext>
            </a:extLst>
          </p:cNvPr>
          <p:cNvSpPr>
            <a:spLocks xmlns:a="http://schemas.openxmlformats.org/drawingml/2006/main" noGrp="1"/>
          </p:cNvSpPr>
          <p:nvPr/>
        </p:nvSpPr>
        <p:spPr>
          <a:xfrm xmlns:a="http://schemas.openxmlformats.org/drawingml/2006/main">
            <a:off x="457200" y="4410075"/>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2B28"/>
                </a:solidFill>
                <a:latin typeface="Calibri"/>
                <a:ea typeface="Calibri"/>
                <a:cs typeface="Calibri"/>
              </a:defRPr>
            </a:pPr>
            <a:r>
              <a:rPr sz="1725" b="1">
                <a:solidFill>
                  <a:srgbClr val="002B28"/>
                </a:solidFill>
                <a:latin typeface="Calibri"/>
                <a:ea typeface="Calibri"/>
                <a:cs typeface="Calibri"/>
              </a:rPr>
              <a:t>Hal yang belum bisa</a:t>
            </a:r>
          </a:p>
        </p:txBody>
      </p:sp>
      <p:sp>
        <p:nvSpPr>
          <p:cNvPr id="22" name="text-80">
            <a:extLst xmlns:a="http://schemas.openxmlformats.org/drawingml/2006/main">
              <a:ext uri="{FF2B5EF4-FFF2-40B4-BE49-F238E27FC236}">
                <a16:creationId xmlns:a16="http://schemas.microsoft.com/office/drawing/2014/main" id="{100C3480-363D-4872-8A84-8B6FA3257AA6}"/>
              </a:ext>
            </a:extLst>
          </p:cNvPr>
          <p:cNvSpPr>
            <a:spLocks xmlns:a="http://schemas.openxmlformats.org/drawingml/2006/main" noGrp="1"/>
          </p:cNvSpPr>
          <p:nvPr/>
        </p:nvSpPr>
        <p:spPr>
          <a:xfrm xmlns:a="http://schemas.openxmlformats.org/drawingml/2006/main">
            <a:off x="2476500" y="4410075"/>
            <a:ext cx="40290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6C65"/>
                </a:solidFill>
                <a:latin typeface="Calibri"/>
                <a:ea typeface="Calibri"/>
                <a:cs typeface="Calibri"/>
              </a:defRPr>
            </a:pPr>
            <a:r>
              <a:rPr sz="1950" b="0">
                <a:solidFill>
                  <a:srgbClr val="5B6C65"/>
                </a:solidFill>
                <a:latin typeface="Calibri"/>
                <a:ea typeface="Calibri"/>
                <a:cs typeface="Calibri"/>
              </a:rPr>
              <a:t>“Tim kita memang belum mampu.”</a:t>
            </a:r>
          </a:p>
        </p:txBody>
      </p:sp>
      <p:sp>
        <p:nvSpPr>
          <p:cNvPr id="23" name="text-81">
            <a:extLst xmlns:a="http://schemas.openxmlformats.org/drawingml/2006/main">
              <a:ext uri="{FF2B5EF4-FFF2-40B4-BE49-F238E27FC236}">
                <a16:creationId xmlns:a16="http://schemas.microsoft.com/office/drawing/2014/main" id="{F50695C4-E5BC-47C4-A359-EE43F2A35A8A}"/>
              </a:ext>
            </a:extLst>
          </p:cNvPr>
          <p:cNvSpPr>
            <a:spLocks xmlns:a="http://schemas.openxmlformats.org/drawingml/2006/main" noGrp="1"/>
          </p:cNvSpPr>
          <p:nvPr/>
        </p:nvSpPr>
        <p:spPr>
          <a:xfrm xmlns:a="http://schemas.openxmlformats.org/drawingml/2006/main">
            <a:off x="7067550" y="4410075"/>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“Skill atau mitra apa yang kurang?”</a:t>
            </a:r>
          </a:p>
        </p:txBody>
      </p:sp>
      <p:sp>
        <p:nvSpPr>
          <p:cNvPr id="24" name="">
            <a:extLst xmlns:a="http://schemas.openxmlformats.org/drawingml/2006/main">
              <a:ext uri="{FF2B5EF4-FFF2-40B4-BE49-F238E27FC236}">
                <a16:creationId xmlns:a16="http://schemas.microsoft.com/office/drawing/2014/main" id="{DB73F4BB-EE4B-4692-AF44-3597CE2ABE56}"/>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5" name="text-82">
            <a:extLst xmlns:a="http://schemas.openxmlformats.org/drawingml/2006/main">
              <a:ext uri="{FF2B5EF4-FFF2-40B4-BE49-F238E27FC236}">
                <a16:creationId xmlns:a16="http://schemas.microsoft.com/office/drawing/2014/main" id="{24C79457-13D3-4652-B5C4-D1248508CA4F}"/>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Terbuka terhadap masukan tetap perlu diikuti perubahan yang bisa diuji.</a:t>
            </a:r>
          </a:p>
        </p:txBody>
      </p:sp>
    </p:spTree>
    <p:extLst>
      <p:ext uri="{BB962C8B-B14F-4D97-AF65-F5344CB8AC3E}">
        <p14:creationId xmlns:p14="http://schemas.microsoft.com/office/powerpoint/2010/main" val="7888889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852dc5dfafd408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87D825-79C5-4FB3-9371-C2678F3A109C}"/>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91d4fd724974cd6"/>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83">
            <a:extLst xmlns:a="http://schemas.openxmlformats.org/drawingml/2006/main">
              <a:ext uri="{FF2B5EF4-FFF2-40B4-BE49-F238E27FC236}">
                <a16:creationId xmlns:a16="http://schemas.microsoft.com/office/drawing/2014/main" id="{943D419A-F7D5-44D3-B289-56DD6B73FA0A}"/>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Eksperimen kecil memberi bukti sebelum kita menambah risiko</a:t>
            </a:r>
          </a:p>
        </p:txBody>
      </p:sp>
      <p:sp>
        <p:nvSpPr>
          <p:cNvPr id="5" name="text-84">
            <a:extLst xmlns:a="http://schemas.openxmlformats.org/drawingml/2006/main">
              <a:ext uri="{FF2B5EF4-FFF2-40B4-BE49-F238E27FC236}">
                <a16:creationId xmlns:a16="http://schemas.microsoft.com/office/drawing/2014/main" id="{BD8DE95D-AFAC-4446-B90A-07365DE04AF3}"/>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Build–Measure–Learn mengubah asumsi menjadi bukti untuk keputusan berikutnya.</a:t>
            </a:r>
          </a:p>
        </p:txBody>
      </p:sp>
      <p:sp>
        <p:nvSpPr>
          <p:cNvPr id="6" name="text-85">
            <a:extLst xmlns:a="http://schemas.openxmlformats.org/drawingml/2006/main">
              <a:ext uri="{FF2B5EF4-FFF2-40B4-BE49-F238E27FC236}">
                <a16:creationId xmlns:a16="http://schemas.microsoft.com/office/drawing/2014/main" id="{F9958B5C-9FFE-48AB-BAD2-786DFA9A661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h.27; The Lean Startup; Strategyzer. Sumber lengkap di notes.</a:t>
            </a:r>
          </a:p>
        </p:txBody>
      </p:sp>
      <p:sp>
        <p:nvSpPr>
          <p:cNvPr id="7" name="text-86">
            <a:extLst xmlns:a="http://schemas.openxmlformats.org/drawingml/2006/main">
              <a:ext uri="{FF2B5EF4-FFF2-40B4-BE49-F238E27FC236}">
                <a16:creationId xmlns:a16="http://schemas.microsoft.com/office/drawing/2014/main" id="{53A9D237-FB14-415C-9AB8-6CD095C5A176}"/>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87">
            <a:extLst xmlns:a="http://schemas.openxmlformats.org/drawingml/2006/main">
              <a:ext uri="{FF2B5EF4-FFF2-40B4-BE49-F238E27FC236}">
                <a16:creationId xmlns:a16="http://schemas.microsoft.com/office/drawing/2014/main" id="{2C5BAAF3-4E43-4068-97DC-7E13B405EC6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06</a:t>
            </a:r>
          </a:p>
        </p:txBody>
      </p:sp>
      <p:sp>
        <p:nvSpPr>
          <p:cNvPr id="9" name="">
            <a:extLst xmlns:a="http://schemas.openxmlformats.org/drawingml/2006/main">
              <a:ext uri="{FF2B5EF4-FFF2-40B4-BE49-F238E27FC236}">
                <a16:creationId xmlns:a16="http://schemas.microsoft.com/office/drawing/2014/main" id="{45BC281D-F169-46B2-8A86-4C8BA4FC47C0}"/>
              </a:ext>
            </a:extLst>
          </p:cNvPr>
          <p:cNvSpPr>
            <a:spLocks xmlns:a="http://schemas.openxmlformats.org/drawingml/2006/main" noGrp="1"/>
          </p:cNvSpPr>
          <p:nvPr/>
        </p:nvSpPr>
        <p:spPr>
          <a:xfrm xmlns:a="http://schemas.openxmlformats.org/drawingml/2006/main">
            <a:off x="704850" y="2228850"/>
            <a:ext cx="1476375" cy="1476375"/>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0" name="">
            <a:extLst xmlns:a="http://schemas.openxmlformats.org/drawingml/2006/main">
              <a:ext uri="{FF2B5EF4-FFF2-40B4-BE49-F238E27FC236}">
                <a16:creationId xmlns:a16="http://schemas.microsoft.com/office/drawing/2014/main" id="{EEC920D8-17E6-4334-BD07-D45D4EE13909}"/>
              </a:ext>
            </a:extLst>
          </p:cNvPr>
          <p:cNvSpPr>
            <a:spLocks xmlns:a="http://schemas.openxmlformats.org/drawingml/2006/main" noGrp="1"/>
          </p:cNvSpPr>
          <p:nvPr/>
        </p:nvSpPr>
        <p:spPr>
          <a:xfrm xmlns:a="http://schemas.openxmlformats.org/drawingml/2006/main">
            <a:off x="3705225" y="2228850"/>
            <a:ext cx="1476375" cy="1476375"/>
          </a:xfrm>
          <a:prstGeom xmlns:a="http://schemas.openxmlformats.org/drawingml/2006/main" prst="ellipse">
            <a:avLst/>
          </a:prstGeom>
          <a:solidFill xmlns:a="http://schemas.openxmlformats.org/drawingml/2006/main">
            <a:srgbClr val="EBF4EE"/>
          </a:solidFill>
          <a:ln xmlns:a="http://schemas.openxmlformats.org/drawingml/2006/main" w="19050">
            <a:solidFill>
              <a:srgbClr val="087958"/>
            </a:solidFill>
          </a:ln>
        </p:spPr>
      </p:sp>
      <p:sp>
        <p:nvSpPr>
          <p:cNvPr id="11" name="">
            <a:extLst xmlns:a="http://schemas.openxmlformats.org/drawingml/2006/main">
              <a:ext uri="{FF2B5EF4-FFF2-40B4-BE49-F238E27FC236}">
                <a16:creationId xmlns:a16="http://schemas.microsoft.com/office/drawing/2014/main" id="{27516DDF-4DDC-4BF9-B8E8-29A7A34AB722}"/>
              </a:ext>
            </a:extLst>
          </p:cNvPr>
          <p:cNvSpPr>
            <a:spLocks xmlns:a="http://schemas.openxmlformats.org/drawingml/2006/main" noGrp="1"/>
          </p:cNvSpPr>
          <p:nvPr/>
        </p:nvSpPr>
        <p:spPr>
          <a:xfrm xmlns:a="http://schemas.openxmlformats.org/drawingml/2006/main">
            <a:off x="2200275" y="4086225"/>
            <a:ext cx="1476375" cy="1476375"/>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text-88">
            <a:extLst xmlns:a="http://schemas.openxmlformats.org/drawingml/2006/main">
              <a:ext uri="{FF2B5EF4-FFF2-40B4-BE49-F238E27FC236}">
                <a16:creationId xmlns:a16="http://schemas.microsoft.com/office/drawing/2014/main" id="{AA83C8F7-0637-4B2F-936F-E87FC78823FB}"/>
              </a:ext>
            </a:extLst>
          </p:cNvPr>
          <p:cNvSpPr>
            <a:spLocks xmlns:a="http://schemas.openxmlformats.org/drawingml/2006/main" noGrp="1"/>
          </p:cNvSpPr>
          <p:nvPr/>
        </p:nvSpPr>
        <p:spPr>
          <a:xfrm xmlns:a="http://schemas.openxmlformats.org/drawingml/2006/main">
            <a:off x="952500" y="26955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958"/>
                </a:solidFill>
                <a:latin typeface="Calibri"/>
                <a:ea typeface="Calibri"/>
                <a:cs typeface="Calibri"/>
              </a:defRPr>
            </a:pPr>
            <a:r>
              <a:rPr sz="2175" b="1">
                <a:solidFill>
                  <a:srgbClr val="087958"/>
                </a:solidFill>
                <a:latin typeface="Calibri"/>
                <a:ea typeface="Calibri"/>
                <a:cs typeface="Calibri"/>
              </a:rPr>
              <a:t>BUILD</a:t>
            </a:r>
          </a:p>
        </p:txBody>
      </p:sp>
      <p:sp>
        <p:nvSpPr>
          <p:cNvPr id="13" name="text-89">
            <a:extLst xmlns:a="http://schemas.openxmlformats.org/drawingml/2006/main">
              <a:ext uri="{FF2B5EF4-FFF2-40B4-BE49-F238E27FC236}">
                <a16:creationId xmlns:a16="http://schemas.microsoft.com/office/drawing/2014/main" id="{C936E14C-639F-43C2-A568-F4CABC133AFE}"/>
              </a:ext>
            </a:extLst>
          </p:cNvPr>
          <p:cNvSpPr>
            <a:spLocks xmlns:a="http://schemas.openxmlformats.org/drawingml/2006/main" noGrp="1"/>
          </p:cNvSpPr>
          <p:nvPr/>
        </p:nvSpPr>
        <p:spPr>
          <a:xfrm xmlns:a="http://schemas.openxmlformats.org/drawingml/2006/main">
            <a:off x="971550" y="3095625"/>
            <a:ext cx="1076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Sampel</a:t>
            </a:r>
          </a:p>
        </p:txBody>
      </p:sp>
      <p:sp>
        <p:nvSpPr>
          <p:cNvPr id="14" name="text-90">
            <a:extLst xmlns:a="http://schemas.openxmlformats.org/drawingml/2006/main">
              <a:ext uri="{FF2B5EF4-FFF2-40B4-BE49-F238E27FC236}">
                <a16:creationId xmlns:a16="http://schemas.microsoft.com/office/drawing/2014/main" id="{3D981143-B05C-400A-BA24-D13FD52740BF}"/>
              </a:ext>
            </a:extLst>
          </p:cNvPr>
          <p:cNvSpPr>
            <a:spLocks xmlns:a="http://schemas.openxmlformats.org/drawingml/2006/main" noGrp="1"/>
          </p:cNvSpPr>
          <p:nvPr/>
        </p:nvSpPr>
        <p:spPr>
          <a:xfrm xmlns:a="http://schemas.openxmlformats.org/drawingml/2006/main">
            <a:off x="3857625" y="2686050"/>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MEASURE</a:t>
            </a:r>
          </a:p>
        </p:txBody>
      </p:sp>
      <p:sp>
        <p:nvSpPr>
          <p:cNvPr id="15" name="text-91">
            <a:extLst xmlns:a="http://schemas.openxmlformats.org/drawingml/2006/main">
              <a:ext uri="{FF2B5EF4-FFF2-40B4-BE49-F238E27FC236}">
                <a16:creationId xmlns:a16="http://schemas.microsoft.com/office/drawing/2014/main" id="{318660A2-F862-4C8C-8E77-BBD0C789681C}"/>
              </a:ext>
            </a:extLst>
          </p:cNvPr>
          <p:cNvSpPr>
            <a:spLocks xmlns:a="http://schemas.openxmlformats.org/drawingml/2006/main" noGrp="1"/>
          </p:cNvSpPr>
          <p:nvPr/>
        </p:nvSpPr>
        <p:spPr>
          <a:xfrm xmlns:a="http://schemas.openxmlformats.org/drawingml/2006/main">
            <a:off x="4048125" y="3095625"/>
            <a:ext cx="1009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B6C65"/>
                </a:solidFill>
                <a:latin typeface="Calibri"/>
                <a:ea typeface="Calibri"/>
                <a:cs typeface="Calibri"/>
              </a:defRPr>
            </a:pPr>
            <a:r>
              <a:rPr sz="1500" b="0">
                <a:solidFill>
                  <a:srgbClr val="5B6C65"/>
                </a:solidFill>
                <a:latin typeface="Calibri"/>
                <a:ea typeface="Calibri"/>
                <a:cs typeface="Calibri"/>
              </a:rPr>
              <a:t>Respons</a:t>
            </a:r>
          </a:p>
        </p:txBody>
      </p:sp>
      <p:sp>
        <p:nvSpPr>
          <p:cNvPr id="16" name="text-92">
            <a:extLst xmlns:a="http://schemas.openxmlformats.org/drawingml/2006/main">
              <a:ext uri="{FF2B5EF4-FFF2-40B4-BE49-F238E27FC236}">
                <a16:creationId xmlns:a16="http://schemas.microsoft.com/office/drawing/2014/main" id="{D6CCB758-8FD5-406B-B498-F4AE39E350E3}"/>
              </a:ext>
            </a:extLst>
          </p:cNvPr>
          <p:cNvSpPr>
            <a:spLocks xmlns:a="http://schemas.openxmlformats.org/drawingml/2006/main" noGrp="1"/>
          </p:cNvSpPr>
          <p:nvPr/>
        </p:nvSpPr>
        <p:spPr>
          <a:xfrm xmlns:a="http://schemas.openxmlformats.org/drawingml/2006/main">
            <a:off x="2447925" y="4543425"/>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LEARN</a:t>
            </a:r>
          </a:p>
        </p:txBody>
      </p:sp>
      <p:sp>
        <p:nvSpPr>
          <p:cNvPr id="17" name="text-93">
            <a:extLst xmlns:a="http://schemas.openxmlformats.org/drawingml/2006/main">
              <a:ext uri="{FF2B5EF4-FFF2-40B4-BE49-F238E27FC236}">
                <a16:creationId xmlns:a16="http://schemas.microsoft.com/office/drawing/2014/main" id="{EA61EB32-893D-4F9F-B9DB-BE6E556EC244}"/>
              </a:ext>
            </a:extLst>
          </p:cNvPr>
          <p:cNvSpPr>
            <a:spLocks xmlns:a="http://schemas.openxmlformats.org/drawingml/2006/main" noGrp="1"/>
          </p:cNvSpPr>
          <p:nvPr/>
        </p:nvSpPr>
        <p:spPr>
          <a:xfrm xmlns:a="http://schemas.openxmlformats.org/drawingml/2006/main">
            <a:off x="2400300" y="4914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Calibri"/>
                <a:ea typeface="Calibri"/>
                <a:cs typeface="Calibri"/>
              </a:defRPr>
            </a:pPr>
            <a:r>
              <a:rPr sz="1500" b="0">
                <a:solidFill>
                  <a:srgbClr val="FFFFFF"/>
                </a:solidFill>
                <a:latin typeface="Calibri"/>
                <a:ea typeface="Calibri"/>
                <a:cs typeface="Calibri"/>
              </a:rPr>
              <a:t>Keputusan</a:t>
            </a:r>
          </a:p>
        </p:txBody>
      </p:sp>
      <p:sp>
        <p:nvSpPr>
          <p:cNvPr id="18" name="">
            <a:extLst xmlns:a="http://schemas.openxmlformats.org/drawingml/2006/main">
              <a:ext uri="{FF2B5EF4-FFF2-40B4-BE49-F238E27FC236}">
                <a16:creationId xmlns:a16="http://schemas.microsoft.com/office/drawing/2014/main" id="{9876C92B-89A1-4E45-8B5E-6BBFAC4512AB}"/>
              </a:ext>
            </a:extLst>
          </p:cNvPr>
          <p:cNvSpPr>
            <a:spLocks xmlns:a="http://schemas.openxmlformats.org/drawingml/2006/main" noGrp="1"/>
          </p:cNvSpPr>
          <p:nvPr/>
        </p:nvSpPr>
        <p:spPr>
          <a:xfrm xmlns:a="http://schemas.openxmlformats.org/drawingml/2006/main" rot="0">
            <a:off x="2390775" y="2857500"/>
            <a:ext cx="1085850" cy="19050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83AEE53-C279-476D-BF50-105759BB2A6F}"/>
              </a:ext>
            </a:extLst>
          </p:cNvPr>
          <p:cNvSpPr>
            <a:spLocks xmlns:a="http://schemas.openxmlformats.org/drawingml/2006/main" noGrp="1"/>
          </p:cNvSpPr>
          <p:nvPr/>
        </p:nvSpPr>
        <p:spPr>
          <a:xfrm xmlns:a="http://schemas.openxmlformats.org/drawingml/2006/main" rot="7800000">
            <a:off x="3590925" y="3819525"/>
            <a:ext cx="952500" cy="19050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B4DDAFF-1C1F-4512-81E5-3A6D774F8603}"/>
              </a:ext>
            </a:extLst>
          </p:cNvPr>
          <p:cNvSpPr>
            <a:spLocks xmlns:a="http://schemas.openxmlformats.org/drawingml/2006/main" noGrp="1"/>
          </p:cNvSpPr>
          <p:nvPr/>
        </p:nvSpPr>
        <p:spPr>
          <a:xfrm xmlns:a="http://schemas.openxmlformats.org/drawingml/2006/main" rot="13800000">
            <a:off x="1381125" y="3829050"/>
            <a:ext cx="952500" cy="190500"/>
          </a:xfrm>
          <a:prstGeom xmlns:a="http://schemas.openxmlformats.org/drawingml/2006/main" prst="rightArrow">
            <a:avLst/>
          </a:prstGeom>
          <a:solidFill xmlns:a="http://schemas.openxmlformats.org/drawingml/2006/main">
            <a:srgbClr val="087958"/>
          </a:solidFill>
          <a:ln xmlns:a="http://schemas.openxmlformats.org/drawingml/2006/main" w="0">
            <a:noFill/>
          </a:ln>
        </p:spPr>
      </p:sp>
      <p:sp>
        <p:nvSpPr>
          <p:cNvPr id="21" name="text-94">
            <a:extLst xmlns:a="http://schemas.openxmlformats.org/drawingml/2006/main">
              <a:ext uri="{FF2B5EF4-FFF2-40B4-BE49-F238E27FC236}">
                <a16:creationId xmlns:a16="http://schemas.microsoft.com/office/drawing/2014/main" id="{693BF8DF-1410-4028-BE73-E54F6486F4A7}"/>
              </a:ext>
            </a:extLst>
          </p:cNvPr>
          <p:cNvSpPr>
            <a:spLocks xmlns:a="http://schemas.openxmlformats.org/drawingml/2006/main" noGrp="1"/>
          </p:cNvSpPr>
          <p:nvPr/>
        </p:nvSpPr>
        <p:spPr>
          <a:xfrm xmlns:a="http://schemas.openxmlformats.org/drawingml/2006/main">
            <a:off x="5829300" y="1962150"/>
            <a:ext cx="5686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CONTOH UJI KERANJANG ROTAN</a:t>
            </a:r>
          </a:p>
        </p:txBody>
      </p:sp>
      <p:sp>
        <p:nvSpPr>
          <p:cNvPr id="22" name="text-95">
            <a:extLst xmlns:a="http://schemas.openxmlformats.org/drawingml/2006/main">
              <a:ext uri="{FF2B5EF4-FFF2-40B4-BE49-F238E27FC236}">
                <a16:creationId xmlns:a16="http://schemas.microsoft.com/office/drawing/2014/main" id="{95BD91B3-8208-4135-9AB3-5355FD88E334}"/>
              </a:ext>
            </a:extLst>
          </p:cNvPr>
          <p:cNvSpPr>
            <a:spLocks xmlns:a="http://schemas.openxmlformats.org/drawingml/2006/main" noGrp="1"/>
          </p:cNvSpPr>
          <p:nvPr/>
        </p:nvSpPr>
        <p:spPr>
          <a:xfrm xmlns:a="http://schemas.openxmlformats.org/drawingml/2006/main">
            <a:off x="5829300" y="2371725"/>
            <a:ext cx="1304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ASUMSI</a:t>
            </a:r>
          </a:p>
        </p:txBody>
      </p:sp>
      <p:sp>
        <p:nvSpPr>
          <p:cNvPr id="23" name="text-96">
            <a:extLst xmlns:a="http://schemas.openxmlformats.org/drawingml/2006/main">
              <a:ext uri="{FF2B5EF4-FFF2-40B4-BE49-F238E27FC236}">
                <a16:creationId xmlns:a16="http://schemas.microsoft.com/office/drawing/2014/main" id="{5401D51D-9688-4142-97B2-1BF836E31F71}"/>
              </a:ext>
            </a:extLst>
          </p:cNvPr>
          <p:cNvSpPr>
            <a:spLocks xmlns:a="http://schemas.openxmlformats.org/drawingml/2006/main" noGrp="1"/>
          </p:cNvSpPr>
          <p:nvPr/>
        </p:nvSpPr>
        <p:spPr>
          <a:xfrm xmlns:a="http://schemas.openxmlformats.org/drawingml/2006/main">
            <a:off x="7219950" y="2343150"/>
            <a:ext cx="4314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27"/>
                </a:solidFill>
                <a:latin typeface="Calibri"/>
                <a:ea typeface="Calibri"/>
                <a:cs typeface="Calibri"/>
              </a:defRPr>
            </a:pPr>
            <a:r>
              <a:rPr sz="1800" b="0">
                <a:solidFill>
                  <a:srgbClr val="162B27"/>
                </a:solidFill>
                <a:latin typeface="Calibri"/>
                <a:ea typeface="Calibri"/>
                <a:cs typeface="Calibri"/>
              </a:rPr>
              <a:t>Buyer butuh ukuran yang lebih kecil.</a:t>
            </a:r>
          </a:p>
        </p:txBody>
      </p:sp>
      <p:sp>
        <p:nvSpPr>
          <p:cNvPr id="24" name="">
            <a:extLst xmlns:a="http://schemas.openxmlformats.org/drawingml/2006/main">
              <a:ext uri="{FF2B5EF4-FFF2-40B4-BE49-F238E27FC236}">
                <a16:creationId xmlns:a16="http://schemas.microsoft.com/office/drawing/2014/main" id="{E8614C09-BFC6-4C5F-9032-62DAB10F9283}"/>
              </a:ext>
            </a:extLst>
          </p:cNvPr>
          <p:cNvSpPr>
            <a:spLocks xmlns:a="http://schemas.openxmlformats.org/drawingml/2006/main" noGrp="1"/>
          </p:cNvSpPr>
          <p:nvPr/>
        </p:nvSpPr>
        <p:spPr>
          <a:xfrm xmlns:a="http://schemas.openxmlformats.org/drawingml/2006/main">
            <a:off x="5829300" y="2962275"/>
            <a:ext cx="57721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5" name="text-97">
            <a:extLst xmlns:a="http://schemas.openxmlformats.org/drawingml/2006/main">
              <a:ext uri="{FF2B5EF4-FFF2-40B4-BE49-F238E27FC236}">
                <a16:creationId xmlns:a16="http://schemas.microsoft.com/office/drawing/2014/main" id="{FD9BC4A7-8243-4637-ACCD-D1623036D427}"/>
              </a:ext>
            </a:extLst>
          </p:cNvPr>
          <p:cNvSpPr>
            <a:spLocks xmlns:a="http://schemas.openxmlformats.org/drawingml/2006/main" noGrp="1"/>
          </p:cNvSpPr>
          <p:nvPr/>
        </p:nvSpPr>
        <p:spPr>
          <a:xfrm xmlns:a="http://schemas.openxmlformats.org/drawingml/2006/main">
            <a:off x="5829300" y="3095625"/>
            <a:ext cx="1304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UJI</a:t>
            </a:r>
          </a:p>
        </p:txBody>
      </p:sp>
      <p:sp>
        <p:nvSpPr>
          <p:cNvPr id="26" name="text-98">
            <a:extLst xmlns:a="http://schemas.openxmlformats.org/drawingml/2006/main">
              <a:ext uri="{FF2B5EF4-FFF2-40B4-BE49-F238E27FC236}">
                <a16:creationId xmlns:a16="http://schemas.microsoft.com/office/drawing/2014/main" id="{0A035544-DC5B-4330-8A7A-A7E1018BAE77}"/>
              </a:ext>
            </a:extLst>
          </p:cNvPr>
          <p:cNvSpPr>
            <a:spLocks xmlns:a="http://schemas.openxmlformats.org/drawingml/2006/main" noGrp="1"/>
          </p:cNvSpPr>
          <p:nvPr/>
        </p:nvSpPr>
        <p:spPr>
          <a:xfrm xmlns:a="http://schemas.openxmlformats.org/drawingml/2006/main">
            <a:off x="7219950" y="3067050"/>
            <a:ext cx="4314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27"/>
                </a:solidFill>
                <a:latin typeface="Calibri"/>
                <a:ea typeface="Calibri"/>
                <a:cs typeface="Calibri"/>
              </a:defRPr>
            </a:pPr>
            <a:r>
              <a:rPr sz="1800" b="0">
                <a:solidFill>
                  <a:srgbClr val="162B27"/>
                </a:solidFill>
                <a:latin typeface="Calibri"/>
                <a:ea typeface="Calibri"/>
                <a:cs typeface="Calibri"/>
              </a:rPr>
              <a:t>Tunjukkan dua alternatif ukuran + harga.</a:t>
            </a:r>
          </a:p>
        </p:txBody>
      </p:sp>
      <p:sp>
        <p:nvSpPr>
          <p:cNvPr id="27" name="">
            <a:extLst xmlns:a="http://schemas.openxmlformats.org/drawingml/2006/main">
              <a:ext uri="{FF2B5EF4-FFF2-40B4-BE49-F238E27FC236}">
                <a16:creationId xmlns:a16="http://schemas.microsoft.com/office/drawing/2014/main" id="{FD088DC2-81F2-4B00-816E-5C58914785C9}"/>
              </a:ext>
            </a:extLst>
          </p:cNvPr>
          <p:cNvSpPr>
            <a:spLocks xmlns:a="http://schemas.openxmlformats.org/drawingml/2006/main" noGrp="1"/>
          </p:cNvSpPr>
          <p:nvPr/>
        </p:nvSpPr>
        <p:spPr>
          <a:xfrm xmlns:a="http://schemas.openxmlformats.org/drawingml/2006/main">
            <a:off x="5829300" y="3686175"/>
            <a:ext cx="57721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8" name="text-99">
            <a:extLst xmlns:a="http://schemas.openxmlformats.org/drawingml/2006/main">
              <a:ext uri="{FF2B5EF4-FFF2-40B4-BE49-F238E27FC236}">
                <a16:creationId xmlns:a16="http://schemas.microsoft.com/office/drawing/2014/main" id="{48905501-1199-44AF-8A89-8A6E24626B5F}"/>
              </a:ext>
            </a:extLst>
          </p:cNvPr>
          <p:cNvSpPr>
            <a:spLocks xmlns:a="http://schemas.openxmlformats.org/drawingml/2006/main" noGrp="1"/>
          </p:cNvSpPr>
          <p:nvPr/>
        </p:nvSpPr>
        <p:spPr>
          <a:xfrm xmlns:a="http://schemas.openxmlformats.org/drawingml/2006/main">
            <a:off x="5829300" y="3819525"/>
            <a:ext cx="1304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UKUR</a:t>
            </a:r>
          </a:p>
        </p:txBody>
      </p:sp>
      <p:sp>
        <p:nvSpPr>
          <p:cNvPr id="29" name="text-100">
            <a:extLst xmlns:a="http://schemas.openxmlformats.org/drawingml/2006/main">
              <a:ext uri="{FF2B5EF4-FFF2-40B4-BE49-F238E27FC236}">
                <a16:creationId xmlns:a16="http://schemas.microsoft.com/office/drawing/2014/main" id="{67F7AF23-2277-43CE-A9CD-9E39E4107633}"/>
              </a:ext>
            </a:extLst>
          </p:cNvPr>
          <p:cNvSpPr>
            <a:spLocks xmlns:a="http://schemas.openxmlformats.org/drawingml/2006/main" noGrp="1"/>
          </p:cNvSpPr>
          <p:nvPr/>
        </p:nvSpPr>
        <p:spPr>
          <a:xfrm xmlns:a="http://schemas.openxmlformats.org/drawingml/2006/main">
            <a:off x="7219950" y="3790950"/>
            <a:ext cx="4314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27"/>
                </a:solidFill>
                <a:latin typeface="Calibri"/>
                <a:ea typeface="Calibri"/>
                <a:cs typeface="Calibri"/>
              </a:defRPr>
            </a:pPr>
            <a:r>
              <a:rPr sz="1800" b="0">
                <a:solidFill>
                  <a:srgbClr val="162B27"/>
                </a:solidFill>
                <a:latin typeface="Calibri"/>
                <a:ea typeface="Calibri"/>
                <a:cs typeface="Calibri"/>
              </a:rPr>
              <a:t>Pilihan, alasan, dan tindak lanjut buyer.</a:t>
            </a:r>
          </a:p>
        </p:txBody>
      </p:sp>
      <p:sp>
        <p:nvSpPr>
          <p:cNvPr id="30" name="">
            <a:extLst xmlns:a="http://schemas.openxmlformats.org/drawingml/2006/main">
              <a:ext uri="{FF2B5EF4-FFF2-40B4-BE49-F238E27FC236}">
                <a16:creationId xmlns:a16="http://schemas.microsoft.com/office/drawing/2014/main" id="{5B3CE939-F93E-4BE9-B8AD-142D5E99F66B}"/>
              </a:ext>
            </a:extLst>
          </p:cNvPr>
          <p:cNvSpPr>
            <a:spLocks xmlns:a="http://schemas.openxmlformats.org/drawingml/2006/main" noGrp="1"/>
          </p:cNvSpPr>
          <p:nvPr/>
        </p:nvSpPr>
        <p:spPr>
          <a:xfrm xmlns:a="http://schemas.openxmlformats.org/drawingml/2006/main">
            <a:off x="5829300" y="4410075"/>
            <a:ext cx="577215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31" name="text-101">
            <a:extLst xmlns:a="http://schemas.openxmlformats.org/drawingml/2006/main">
              <a:ext uri="{FF2B5EF4-FFF2-40B4-BE49-F238E27FC236}">
                <a16:creationId xmlns:a16="http://schemas.microsoft.com/office/drawing/2014/main" id="{048E20FF-714B-4B94-89F6-A04D0B6A18D1}"/>
              </a:ext>
            </a:extLst>
          </p:cNvPr>
          <p:cNvSpPr>
            <a:spLocks xmlns:a="http://schemas.openxmlformats.org/drawingml/2006/main" noGrp="1"/>
          </p:cNvSpPr>
          <p:nvPr/>
        </p:nvSpPr>
        <p:spPr>
          <a:xfrm xmlns:a="http://schemas.openxmlformats.org/drawingml/2006/main">
            <a:off x="5829300" y="4543425"/>
            <a:ext cx="1304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PUTUSKAN</a:t>
            </a:r>
          </a:p>
        </p:txBody>
      </p:sp>
      <p:sp>
        <p:nvSpPr>
          <p:cNvPr id="32" name="text-102">
            <a:extLst xmlns:a="http://schemas.openxmlformats.org/drawingml/2006/main">
              <a:ext uri="{FF2B5EF4-FFF2-40B4-BE49-F238E27FC236}">
                <a16:creationId xmlns:a16="http://schemas.microsoft.com/office/drawing/2014/main" id="{D4CFC7D8-8A05-4AE2-B4DF-5DBBF703F12D}"/>
              </a:ext>
            </a:extLst>
          </p:cNvPr>
          <p:cNvSpPr>
            <a:spLocks xmlns:a="http://schemas.openxmlformats.org/drawingml/2006/main" noGrp="1"/>
          </p:cNvSpPr>
          <p:nvPr/>
        </p:nvSpPr>
        <p:spPr>
          <a:xfrm xmlns:a="http://schemas.openxmlformats.org/drawingml/2006/main">
            <a:off x="7219950" y="4514850"/>
            <a:ext cx="4314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Lanjut, ubah spesifikasi, atau hentikan uji.</a:t>
            </a:r>
          </a:p>
        </p:txBody>
      </p:sp>
    </p:spTree>
    <p:extLst>
      <p:ext uri="{BB962C8B-B14F-4D97-AF65-F5344CB8AC3E}">
        <p14:creationId xmlns:p14="http://schemas.microsoft.com/office/powerpoint/2010/main" val="8620466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fd9a915e04345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7429C6-0253-4D0F-890E-632C5746997E}"/>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15069a7b4474391"/>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03">
            <a:extLst xmlns:a="http://schemas.openxmlformats.org/drawingml/2006/main">
              <a:ext uri="{FF2B5EF4-FFF2-40B4-BE49-F238E27FC236}">
                <a16:creationId xmlns:a16="http://schemas.microsoft.com/office/drawing/2014/main" id="{1E7E8BD1-1FE7-468D-BD7D-9EBD4E023596}"/>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Kesiapan ekspor terlihat dari bukti yang bisa ditunjukkan</a:t>
            </a:r>
          </a:p>
        </p:txBody>
      </p:sp>
      <p:sp>
        <p:nvSpPr>
          <p:cNvPr id="5" name="text-104">
            <a:extLst xmlns:a="http://schemas.openxmlformats.org/drawingml/2006/main">
              <a:ext uri="{FF2B5EF4-FFF2-40B4-BE49-F238E27FC236}">
                <a16:creationId xmlns:a16="http://schemas.microsoft.com/office/drawing/2014/main" id="{18C1897C-007F-4697-A0F3-A2828E22EE5C}"/>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Sebelum menjanjikan pesanan, periksa kapasitas, mutu, dan jadwal secara bersamaan.</a:t>
            </a:r>
          </a:p>
        </p:txBody>
      </p:sp>
      <p:sp>
        <p:nvSpPr>
          <p:cNvPr id="6" name="text-105">
            <a:extLst xmlns:a="http://schemas.openxmlformats.org/drawingml/2006/main">
              <a:ext uri="{FF2B5EF4-FFF2-40B4-BE49-F238E27FC236}">
                <a16:creationId xmlns:a16="http://schemas.microsoft.com/office/drawing/2014/main" id="{4224A0EF-E87D-4531-A99A-4A4774F15931}"/>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06">
            <a:extLst xmlns:a="http://schemas.openxmlformats.org/drawingml/2006/main">
              <a:ext uri="{FF2B5EF4-FFF2-40B4-BE49-F238E27FC236}">
                <a16:creationId xmlns:a16="http://schemas.microsoft.com/office/drawing/2014/main" id="{1686DBEB-10C6-48C2-84DE-F092CE71179C}"/>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07">
            <a:extLst xmlns:a="http://schemas.openxmlformats.org/drawingml/2006/main">
              <a:ext uri="{FF2B5EF4-FFF2-40B4-BE49-F238E27FC236}">
                <a16:creationId xmlns:a16="http://schemas.microsoft.com/office/drawing/2014/main" id="{7E80C0FF-5914-4163-B862-FCC4A434A7BC}"/>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07</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d4e9288ff1340e8"/>
          <a:stretch xmlns:a="http://schemas.openxmlformats.org/drawingml/2006/main"/>
        </p:blipFill>
        <p:spPr>
          <a:xfrm xmlns:a="http://schemas.openxmlformats.org/drawingml/2006/main">
            <a:off x="459581" y="1981200"/>
            <a:ext cx="3614738" cy="2409825"/>
          </a:xfrm>
          <a:prstGeom xmlns:a="http://schemas.openxmlformats.org/drawingml/2006/main" prst="rect">
            <a:avLst/>
          </a:prstGeom>
        </p:spPr>
      </p:pic>
      <p:sp>
        <p:nvSpPr>
          <p:cNvPr id="10" name="text-108">
            <a:extLst xmlns:a="http://schemas.openxmlformats.org/drawingml/2006/main">
              <a:ext uri="{FF2B5EF4-FFF2-40B4-BE49-F238E27FC236}">
                <a16:creationId xmlns:a16="http://schemas.microsoft.com/office/drawing/2014/main" id="{2C9DCE2E-3519-4049-AB97-BE2A8862AAE0}"/>
              </a:ext>
            </a:extLst>
          </p:cNvPr>
          <p:cNvSpPr>
            <a:spLocks xmlns:a="http://schemas.openxmlformats.org/drawingml/2006/main" noGrp="1"/>
          </p:cNvSpPr>
          <p:nvPr/>
        </p:nvSpPr>
        <p:spPr>
          <a:xfrm xmlns:a="http://schemas.openxmlformats.org/drawingml/2006/main">
            <a:off x="457200" y="4438650"/>
            <a:ext cx="3638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Ilustrasi AI untuk kasus fiktif.</a:t>
            </a:r>
          </a:p>
        </p:txBody>
      </p:sp>
      <p:sp>
        <p:nvSpPr>
          <p:cNvPr id="11" name="text-109">
            <a:extLst xmlns:a="http://schemas.openxmlformats.org/drawingml/2006/main">
              <a:ext uri="{FF2B5EF4-FFF2-40B4-BE49-F238E27FC236}">
                <a16:creationId xmlns:a16="http://schemas.microsoft.com/office/drawing/2014/main" id="{D3783A5B-C26D-45CD-857F-7C1227B63AC9}"/>
              </a:ext>
            </a:extLst>
          </p:cNvPr>
          <p:cNvSpPr>
            <a:spLocks xmlns:a="http://schemas.openxmlformats.org/drawingml/2006/main" noGrp="1"/>
          </p:cNvSpPr>
          <p:nvPr/>
        </p:nvSpPr>
        <p:spPr>
          <a:xfrm xmlns:a="http://schemas.openxmlformats.org/drawingml/2006/main">
            <a:off x="457200" y="4752975"/>
            <a:ext cx="3543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“Siap” berarti</a:t>
            </a:r>
          </a:p>
          <a:p xmlns:a="http://schemas.openxmlformats.org/drawingml/2006/main">
            <a:pPr>
              <a:defRPr sz="2325" b="1">
                <a:solidFill>
                  <a:srgbClr val="087958"/>
                </a:solidFill>
                <a:latin typeface="Calibri"/>
                <a:ea typeface="Calibri"/>
                <a:cs typeface="Calibri"/>
              </a:defRPr>
            </a:pPr>
            <a:r>
              <a:rPr sz="2325" b="1">
                <a:solidFill>
                  <a:srgbClr val="087958"/>
                </a:solidFill>
                <a:latin typeface="Calibri"/>
                <a:ea typeface="Calibri"/>
                <a:cs typeface="Calibri"/>
              </a:rPr>
              <a:t>ada bukti kerja.</a:t>
            </a:r>
          </a:p>
        </p:txBody>
      </p:sp>
      <p:sp>
        <p:nvSpPr>
          <p:cNvPr id="12" name="text-110">
            <a:extLst xmlns:a="http://schemas.openxmlformats.org/drawingml/2006/main">
              <a:ext uri="{FF2B5EF4-FFF2-40B4-BE49-F238E27FC236}">
                <a16:creationId xmlns:a16="http://schemas.microsoft.com/office/drawing/2014/main" id="{990A7EDA-018F-4D3B-B109-D68D06AF43CE}"/>
              </a:ext>
            </a:extLst>
          </p:cNvPr>
          <p:cNvSpPr>
            <a:spLocks xmlns:a="http://schemas.openxmlformats.org/drawingml/2006/main" noGrp="1"/>
          </p:cNvSpPr>
          <p:nvPr/>
        </p:nvSpPr>
        <p:spPr>
          <a:xfrm xmlns:a="http://schemas.openxmlformats.org/drawingml/2006/main">
            <a:off x="4514850"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PEMERIKSAAN</a:t>
            </a:r>
          </a:p>
        </p:txBody>
      </p:sp>
      <p:sp>
        <p:nvSpPr>
          <p:cNvPr id="13" name="text-111">
            <a:extLst xmlns:a="http://schemas.openxmlformats.org/drawingml/2006/main">
              <a:ext uri="{FF2B5EF4-FFF2-40B4-BE49-F238E27FC236}">
                <a16:creationId xmlns:a16="http://schemas.microsoft.com/office/drawing/2014/main" id="{243CBCB0-B9BB-47C5-9755-D5A8B6CF00FF}"/>
              </a:ext>
            </a:extLst>
          </p:cNvPr>
          <p:cNvSpPr>
            <a:spLocks xmlns:a="http://schemas.openxmlformats.org/drawingml/2006/main" noGrp="1"/>
          </p:cNvSpPr>
          <p:nvPr/>
        </p:nvSpPr>
        <p:spPr>
          <a:xfrm xmlns:a="http://schemas.openxmlformats.org/drawingml/2006/main">
            <a:off x="7658100" y="1943100"/>
            <a:ext cx="398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BUKTI YANG DICARI</a:t>
            </a:r>
          </a:p>
        </p:txBody>
      </p:sp>
      <p:sp>
        <p:nvSpPr>
          <p:cNvPr id="14" name="">
            <a:extLst xmlns:a="http://schemas.openxmlformats.org/drawingml/2006/main">
              <a:ext uri="{FF2B5EF4-FFF2-40B4-BE49-F238E27FC236}">
                <a16:creationId xmlns:a16="http://schemas.microsoft.com/office/drawing/2014/main" id="{FF0E47D8-F26E-427C-B628-F94391FCF4B1}"/>
              </a:ext>
            </a:extLst>
          </p:cNvPr>
          <p:cNvSpPr>
            <a:spLocks xmlns:a="http://schemas.openxmlformats.org/drawingml/2006/main" noGrp="1"/>
          </p:cNvSpPr>
          <p:nvPr/>
        </p:nvSpPr>
        <p:spPr>
          <a:xfrm xmlns:a="http://schemas.openxmlformats.org/drawingml/2006/main">
            <a:off x="4514850" y="2447925"/>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5" name="text-112">
            <a:extLst xmlns:a="http://schemas.openxmlformats.org/drawingml/2006/main">
              <a:ext uri="{FF2B5EF4-FFF2-40B4-BE49-F238E27FC236}">
                <a16:creationId xmlns:a16="http://schemas.microsoft.com/office/drawing/2014/main" id="{4700827B-18F0-4834-905B-B48C320B920C}"/>
              </a:ext>
            </a:extLst>
          </p:cNvPr>
          <p:cNvSpPr>
            <a:spLocks xmlns:a="http://schemas.openxmlformats.org/drawingml/2006/main" noGrp="1"/>
          </p:cNvSpPr>
          <p:nvPr/>
        </p:nvSpPr>
        <p:spPr>
          <a:xfrm xmlns:a="http://schemas.openxmlformats.org/drawingml/2006/main">
            <a:off x="4600575" y="2495550"/>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01</a:t>
            </a:r>
          </a:p>
        </p:txBody>
      </p:sp>
      <p:sp>
        <p:nvSpPr>
          <p:cNvPr id="16" name="text-113">
            <a:extLst xmlns:a="http://schemas.openxmlformats.org/drawingml/2006/main">
              <a:ext uri="{FF2B5EF4-FFF2-40B4-BE49-F238E27FC236}">
                <a16:creationId xmlns:a16="http://schemas.microsoft.com/office/drawing/2014/main" id="{C3A0FF7E-13E8-4ACD-B69D-87175EE0E683}"/>
              </a:ext>
            </a:extLst>
          </p:cNvPr>
          <p:cNvSpPr>
            <a:spLocks xmlns:a="http://schemas.openxmlformats.org/drawingml/2006/main" noGrp="1"/>
          </p:cNvSpPr>
          <p:nvPr/>
        </p:nvSpPr>
        <p:spPr>
          <a:xfrm xmlns:a="http://schemas.openxmlformats.org/drawingml/2006/main">
            <a:off x="4953000" y="2447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62B27"/>
                </a:solidFill>
                <a:latin typeface="Calibri"/>
                <a:ea typeface="Calibri"/>
                <a:cs typeface="Calibri"/>
              </a:defRPr>
            </a:pPr>
            <a:r>
              <a:rPr sz="2025" b="1">
                <a:solidFill>
                  <a:srgbClr val="162B27"/>
                </a:solidFill>
                <a:latin typeface="Calibri"/>
                <a:ea typeface="Calibri"/>
                <a:cs typeface="Calibri"/>
              </a:rPr>
              <a:t>Kapasitas</a:t>
            </a:r>
          </a:p>
        </p:txBody>
      </p:sp>
      <p:sp>
        <p:nvSpPr>
          <p:cNvPr id="17" name="text-114">
            <a:extLst xmlns:a="http://schemas.openxmlformats.org/drawingml/2006/main">
              <a:ext uri="{FF2B5EF4-FFF2-40B4-BE49-F238E27FC236}">
                <a16:creationId xmlns:a16="http://schemas.microsoft.com/office/drawing/2014/main" id="{70CBAF84-9FB0-43B9-8CAB-9AA4CFF1934F}"/>
              </a:ext>
            </a:extLst>
          </p:cNvPr>
          <p:cNvSpPr>
            <a:spLocks xmlns:a="http://schemas.openxmlformats.org/drawingml/2006/main" noGrp="1"/>
          </p:cNvSpPr>
          <p:nvPr/>
        </p:nvSpPr>
        <p:spPr>
          <a:xfrm xmlns:a="http://schemas.openxmlformats.org/drawingml/2006/main">
            <a:off x="4953000" y="2838450"/>
            <a:ext cx="249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300 unit tersedia; buyer minta 500.</a:t>
            </a:r>
          </a:p>
        </p:txBody>
      </p:sp>
      <p:sp>
        <p:nvSpPr>
          <p:cNvPr id="18" name="text-115">
            <a:extLst xmlns:a="http://schemas.openxmlformats.org/drawingml/2006/main">
              <a:ext uri="{FF2B5EF4-FFF2-40B4-BE49-F238E27FC236}">
                <a16:creationId xmlns:a16="http://schemas.microsoft.com/office/drawing/2014/main" id="{0E190C10-24C8-46D9-8B96-B90E656337C6}"/>
              </a:ext>
            </a:extLst>
          </p:cNvPr>
          <p:cNvSpPr>
            <a:spLocks xmlns:a="http://schemas.openxmlformats.org/drawingml/2006/main" noGrp="1"/>
          </p:cNvSpPr>
          <p:nvPr/>
        </p:nvSpPr>
        <p:spPr>
          <a:xfrm xmlns:a="http://schemas.openxmlformats.org/drawingml/2006/main">
            <a:off x="7658100" y="2524125"/>
            <a:ext cx="385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Rencana kapasitas + gap 200 unit</a:t>
            </a:r>
          </a:p>
        </p:txBody>
      </p:sp>
      <p:sp>
        <p:nvSpPr>
          <p:cNvPr id="19" name="">
            <a:extLst xmlns:a="http://schemas.openxmlformats.org/drawingml/2006/main">
              <a:ext uri="{FF2B5EF4-FFF2-40B4-BE49-F238E27FC236}">
                <a16:creationId xmlns:a16="http://schemas.microsoft.com/office/drawing/2014/main" id="{C51171E2-4515-469D-AE6D-DBEFBEC4C6F0}"/>
              </a:ext>
            </a:extLst>
          </p:cNvPr>
          <p:cNvSpPr>
            <a:spLocks xmlns:a="http://schemas.openxmlformats.org/drawingml/2006/main" noGrp="1"/>
          </p:cNvSpPr>
          <p:nvPr/>
        </p:nvSpPr>
        <p:spPr>
          <a:xfrm xmlns:a="http://schemas.openxmlformats.org/drawingml/2006/main">
            <a:off x="4514850" y="3324225"/>
            <a:ext cx="7086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
            <a:extLst xmlns:a="http://schemas.openxmlformats.org/drawingml/2006/main">
              <a:ext uri="{FF2B5EF4-FFF2-40B4-BE49-F238E27FC236}">
                <a16:creationId xmlns:a16="http://schemas.microsoft.com/office/drawing/2014/main" id="{8E94270B-DFB3-4A61-BBB5-EDD44DD22FAF}"/>
              </a:ext>
            </a:extLst>
          </p:cNvPr>
          <p:cNvSpPr>
            <a:spLocks xmlns:a="http://schemas.openxmlformats.org/drawingml/2006/main" noGrp="1"/>
          </p:cNvSpPr>
          <p:nvPr/>
        </p:nvSpPr>
        <p:spPr>
          <a:xfrm xmlns:a="http://schemas.openxmlformats.org/drawingml/2006/main">
            <a:off x="4514850" y="3448050"/>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1" name="text-116">
            <a:extLst xmlns:a="http://schemas.openxmlformats.org/drawingml/2006/main">
              <a:ext uri="{FF2B5EF4-FFF2-40B4-BE49-F238E27FC236}">
                <a16:creationId xmlns:a16="http://schemas.microsoft.com/office/drawing/2014/main" id="{20B73FEE-CC6D-4868-9D58-2415735FE453}"/>
              </a:ext>
            </a:extLst>
          </p:cNvPr>
          <p:cNvSpPr>
            <a:spLocks xmlns:a="http://schemas.openxmlformats.org/drawingml/2006/main" noGrp="1"/>
          </p:cNvSpPr>
          <p:nvPr/>
        </p:nvSpPr>
        <p:spPr>
          <a:xfrm xmlns:a="http://schemas.openxmlformats.org/drawingml/2006/main">
            <a:off x="4600575" y="3495675"/>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02</a:t>
            </a:r>
          </a:p>
        </p:txBody>
      </p:sp>
      <p:sp>
        <p:nvSpPr>
          <p:cNvPr id="22" name="text-117">
            <a:extLst xmlns:a="http://schemas.openxmlformats.org/drawingml/2006/main">
              <a:ext uri="{FF2B5EF4-FFF2-40B4-BE49-F238E27FC236}">
                <a16:creationId xmlns:a16="http://schemas.microsoft.com/office/drawing/2014/main" id="{08BBDD7D-FF82-41A0-939C-31D10ED0517D}"/>
              </a:ext>
            </a:extLst>
          </p:cNvPr>
          <p:cNvSpPr>
            <a:spLocks xmlns:a="http://schemas.openxmlformats.org/drawingml/2006/main" noGrp="1"/>
          </p:cNvSpPr>
          <p:nvPr/>
        </p:nvSpPr>
        <p:spPr>
          <a:xfrm xmlns:a="http://schemas.openxmlformats.org/drawingml/2006/main">
            <a:off x="4953000" y="34480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62B27"/>
                </a:solidFill>
                <a:latin typeface="Calibri"/>
                <a:ea typeface="Calibri"/>
                <a:cs typeface="Calibri"/>
              </a:defRPr>
            </a:pPr>
            <a:r>
              <a:rPr sz="2025" b="1">
                <a:solidFill>
                  <a:srgbClr val="162B27"/>
                </a:solidFill>
                <a:latin typeface="Calibri"/>
                <a:ea typeface="Calibri"/>
                <a:cs typeface="Calibri"/>
              </a:rPr>
              <a:t>Mutu</a:t>
            </a:r>
          </a:p>
        </p:txBody>
      </p:sp>
      <p:sp>
        <p:nvSpPr>
          <p:cNvPr id="23" name="text-118">
            <a:extLst xmlns:a="http://schemas.openxmlformats.org/drawingml/2006/main">
              <a:ext uri="{FF2B5EF4-FFF2-40B4-BE49-F238E27FC236}">
                <a16:creationId xmlns:a16="http://schemas.microsoft.com/office/drawing/2014/main" id="{441E6B12-1ABC-4D8D-9CA9-F629B7304291}"/>
              </a:ext>
            </a:extLst>
          </p:cNvPr>
          <p:cNvSpPr>
            <a:spLocks xmlns:a="http://schemas.openxmlformats.org/drawingml/2006/main" noGrp="1"/>
          </p:cNvSpPr>
          <p:nvPr/>
        </p:nvSpPr>
        <p:spPr>
          <a:xfrm xmlns:a="http://schemas.openxmlformats.org/drawingml/2006/main">
            <a:off x="4953000" y="3838575"/>
            <a:ext cx="249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Sampel bagus belum cukup.</a:t>
            </a:r>
          </a:p>
        </p:txBody>
      </p:sp>
      <p:sp>
        <p:nvSpPr>
          <p:cNvPr id="24" name="text-119">
            <a:extLst xmlns:a="http://schemas.openxmlformats.org/drawingml/2006/main">
              <a:ext uri="{FF2B5EF4-FFF2-40B4-BE49-F238E27FC236}">
                <a16:creationId xmlns:a16="http://schemas.microsoft.com/office/drawing/2014/main" id="{93EF566E-5FA9-495F-99D2-534FFE8AB7A3}"/>
              </a:ext>
            </a:extLst>
          </p:cNvPr>
          <p:cNvSpPr>
            <a:spLocks xmlns:a="http://schemas.openxmlformats.org/drawingml/2006/main" noGrp="1"/>
          </p:cNvSpPr>
          <p:nvPr/>
        </p:nvSpPr>
        <p:spPr>
          <a:xfrm xmlns:a="http://schemas.openxmlformats.org/drawingml/2006/main">
            <a:off x="7658100" y="3524250"/>
            <a:ext cx="385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Spesifikasi + cek hasil tiap batch</a:t>
            </a:r>
          </a:p>
        </p:txBody>
      </p:sp>
      <p:sp>
        <p:nvSpPr>
          <p:cNvPr id="25" name="">
            <a:extLst xmlns:a="http://schemas.openxmlformats.org/drawingml/2006/main">
              <a:ext uri="{FF2B5EF4-FFF2-40B4-BE49-F238E27FC236}">
                <a16:creationId xmlns:a16="http://schemas.microsoft.com/office/drawing/2014/main" id="{2424FFFC-C9F2-4BA4-8A8F-1C98B89BE043}"/>
              </a:ext>
            </a:extLst>
          </p:cNvPr>
          <p:cNvSpPr>
            <a:spLocks xmlns:a="http://schemas.openxmlformats.org/drawingml/2006/main" noGrp="1"/>
          </p:cNvSpPr>
          <p:nvPr/>
        </p:nvSpPr>
        <p:spPr>
          <a:xfrm xmlns:a="http://schemas.openxmlformats.org/drawingml/2006/main">
            <a:off x="4514850" y="4324350"/>
            <a:ext cx="7086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6" name="">
            <a:extLst xmlns:a="http://schemas.openxmlformats.org/drawingml/2006/main">
              <a:ext uri="{FF2B5EF4-FFF2-40B4-BE49-F238E27FC236}">
                <a16:creationId xmlns:a16="http://schemas.microsoft.com/office/drawing/2014/main" id="{832E5A9A-D37E-4421-9DFD-283FC4847669}"/>
              </a:ext>
            </a:extLst>
          </p:cNvPr>
          <p:cNvSpPr>
            <a:spLocks xmlns:a="http://schemas.openxmlformats.org/drawingml/2006/main" noGrp="1"/>
          </p:cNvSpPr>
          <p:nvPr/>
        </p:nvSpPr>
        <p:spPr>
          <a:xfrm xmlns:a="http://schemas.openxmlformats.org/drawingml/2006/main">
            <a:off x="4514850" y="4448175"/>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7" name="text-120">
            <a:extLst xmlns:a="http://schemas.openxmlformats.org/drawingml/2006/main">
              <a:ext uri="{FF2B5EF4-FFF2-40B4-BE49-F238E27FC236}">
                <a16:creationId xmlns:a16="http://schemas.microsoft.com/office/drawing/2014/main" id="{0E7CE2EF-02A8-4E45-B8A2-D7C521602B06}"/>
              </a:ext>
            </a:extLst>
          </p:cNvPr>
          <p:cNvSpPr>
            <a:spLocks xmlns:a="http://schemas.openxmlformats.org/drawingml/2006/main" noGrp="1"/>
          </p:cNvSpPr>
          <p:nvPr/>
        </p:nvSpPr>
        <p:spPr>
          <a:xfrm xmlns:a="http://schemas.openxmlformats.org/drawingml/2006/main">
            <a:off x="4600575" y="4495800"/>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03</a:t>
            </a:r>
          </a:p>
        </p:txBody>
      </p:sp>
      <p:sp>
        <p:nvSpPr>
          <p:cNvPr id="28" name="text-121">
            <a:extLst xmlns:a="http://schemas.openxmlformats.org/drawingml/2006/main">
              <a:ext uri="{FF2B5EF4-FFF2-40B4-BE49-F238E27FC236}">
                <a16:creationId xmlns:a16="http://schemas.microsoft.com/office/drawing/2014/main" id="{72E6088D-C2B7-430C-978B-52032F8EC0D1}"/>
              </a:ext>
            </a:extLst>
          </p:cNvPr>
          <p:cNvSpPr>
            <a:spLocks xmlns:a="http://schemas.openxmlformats.org/drawingml/2006/main" noGrp="1"/>
          </p:cNvSpPr>
          <p:nvPr/>
        </p:nvSpPr>
        <p:spPr>
          <a:xfrm xmlns:a="http://schemas.openxmlformats.org/drawingml/2006/main">
            <a:off x="4953000" y="44481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62B27"/>
                </a:solidFill>
                <a:latin typeface="Calibri"/>
                <a:ea typeface="Calibri"/>
                <a:cs typeface="Calibri"/>
              </a:defRPr>
            </a:pPr>
            <a:r>
              <a:rPr sz="2025" b="1">
                <a:solidFill>
                  <a:srgbClr val="162B27"/>
                </a:solidFill>
                <a:latin typeface="Calibri"/>
                <a:ea typeface="Calibri"/>
                <a:cs typeface="Calibri"/>
              </a:rPr>
              <a:t>Jadwal</a:t>
            </a:r>
          </a:p>
        </p:txBody>
      </p:sp>
      <p:sp>
        <p:nvSpPr>
          <p:cNvPr id="29" name="text-122">
            <a:extLst xmlns:a="http://schemas.openxmlformats.org/drawingml/2006/main">
              <a:ext uri="{FF2B5EF4-FFF2-40B4-BE49-F238E27FC236}">
                <a16:creationId xmlns:a16="http://schemas.microsoft.com/office/drawing/2014/main" id="{55F47C84-AC20-409E-813A-BB4EEE6BF2F4}"/>
              </a:ext>
            </a:extLst>
          </p:cNvPr>
          <p:cNvSpPr>
            <a:spLocks xmlns:a="http://schemas.openxmlformats.org/drawingml/2006/main" noGrp="1"/>
          </p:cNvSpPr>
          <p:nvPr/>
        </p:nvSpPr>
        <p:spPr>
          <a:xfrm xmlns:a="http://schemas.openxmlformats.org/drawingml/2006/main">
            <a:off x="4953000" y="4838700"/>
            <a:ext cx="249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Tenggat buyer 30 hari.</a:t>
            </a:r>
          </a:p>
        </p:txBody>
      </p:sp>
      <p:sp>
        <p:nvSpPr>
          <p:cNvPr id="30" name="text-123">
            <a:extLst xmlns:a="http://schemas.openxmlformats.org/drawingml/2006/main">
              <a:ext uri="{FF2B5EF4-FFF2-40B4-BE49-F238E27FC236}">
                <a16:creationId xmlns:a16="http://schemas.microsoft.com/office/drawing/2014/main" id="{057F27EF-3758-4B4B-886A-9C625E226205}"/>
              </a:ext>
            </a:extLst>
          </p:cNvPr>
          <p:cNvSpPr>
            <a:spLocks xmlns:a="http://schemas.openxmlformats.org/drawingml/2006/main" noGrp="1"/>
          </p:cNvSpPr>
          <p:nvPr/>
        </p:nvSpPr>
        <p:spPr>
          <a:xfrm xmlns:a="http://schemas.openxmlformats.org/drawingml/2006/main">
            <a:off x="7658100" y="4524375"/>
            <a:ext cx="385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Produksi, kemasan, kirim + buffer</a:t>
            </a:r>
          </a:p>
        </p:txBody>
      </p:sp>
      <p:sp>
        <p:nvSpPr>
          <p:cNvPr id="31" name="">
            <a:extLst xmlns:a="http://schemas.openxmlformats.org/drawingml/2006/main">
              <a:ext uri="{FF2B5EF4-FFF2-40B4-BE49-F238E27FC236}">
                <a16:creationId xmlns:a16="http://schemas.microsoft.com/office/drawing/2014/main" id="{DE3D0C2A-9544-4645-8398-81FA181CABB8}"/>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32" name="text-124">
            <a:extLst xmlns:a="http://schemas.openxmlformats.org/drawingml/2006/main">
              <a:ext uri="{FF2B5EF4-FFF2-40B4-BE49-F238E27FC236}">
                <a16:creationId xmlns:a16="http://schemas.microsoft.com/office/drawing/2014/main" id="{FBE2798B-C319-416A-9246-59B8C968DC6D}"/>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Satu jawaban “belum tahu” menjadi pekerjaan sebelum memberi komitmen.</a:t>
            </a:r>
          </a:p>
        </p:txBody>
      </p:sp>
    </p:spTree>
    <p:extLst>
      <p:ext uri="{BB962C8B-B14F-4D97-AF65-F5344CB8AC3E}">
        <p14:creationId xmlns:p14="http://schemas.microsoft.com/office/powerpoint/2010/main" val="21366463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5c5ac39b5564a0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9DE147-B054-4095-A7BE-B3AECE013AE1}"/>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6919f31c90b4aeb"/>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25">
            <a:extLst xmlns:a="http://schemas.openxmlformats.org/drawingml/2006/main">
              <a:ext uri="{FF2B5EF4-FFF2-40B4-BE49-F238E27FC236}">
                <a16:creationId xmlns:a16="http://schemas.microsoft.com/office/drawing/2014/main" id="{ADE4D7F6-9BFD-44F3-B681-D460E7B814D1}"/>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Order bisa untung, tetapi uangnya belum tentu siap dipakai</a:t>
            </a:r>
          </a:p>
        </p:txBody>
      </p:sp>
      <p:sp>
        <p:nvSpPr>
          <p:cNvPr id="5" name="text-126">
            <a:extLst xmlns:a="http://schemas.openxmlformats.org/drawingml/2006/main">
              <a:ext uri="{FF2B5EF4-FFF2-40B4-BE49-F238E27FC236}">
                <a16:creationId xmlns:a16="http://schemas.microsoft.com/office/drawing/2014/main" id="{61F01C8C-C859-4FAA-BA06-63278ADCFFA2}"/>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Pada contoh ini, buyer membayar setelah menerima barang. Kas keluar lebih dulu.</a:t>
            </a:r>
          </a:p>
        </p:txBody>
      </p:sp>
      <p:sp>
        <p:nvSpPr>
          <p:cNvPr id="6" name="text-127">
            <a:extLst xmlns:a="http://schemas.openxmlformats.org/drawingml/2006/main">
              <a:ext uri="{FF2B5EF4-FFF2-40B4-BE49-F238E27FC236}">
                <a16:creationId xmlns:a16="http://schemas.microsoft.com/office/drawing/2014/main" id="{ABCE422F-CA55-4B1E-BB01-4FCCD960D981}"/>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h.24; International Trade Administration, Methods of Payment.</a:t>
            </a:r>
          </a:p>
        </p:txBody>
      </p:sp>
      <p:sp>
        <p:nvSpPr>
          <p:cNvPr id="7" name="text-128">
            <a:extLst xmlns:a="http://schemas.openxmlformats.org/drawingml/2006/main">
              <a:ext uri="{FF2B5EF4-FFF2-40B4-BE49-F238E27FC236}">
                <a16:creationId xmlns:a16="http://schemas.microsoft.com/office/drawing/2014/main" id="{C17A0177-54C3-4D41-8181-9CC03D1B4951}"/>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29">
            <a:extLst xmlns:a="http://schemas.openxmlformats.org/drawingml/2006/main">
              <a:ext uri="{FF2B5EF4-FFF2-40B4-BE49-F238E27FC236}">
                <a16:creationId xmlns:a16="http://schemas.microsoft.com/office/drawing/2014/main" id="{BAC033B9-0953-4812-905F-38D5F4F9FC18}"/>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08</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289609de83f499e"/>
          <a:stretch xmlns:a="http://schemas.openxmlformats.org/drawingml/2006/main"/>
        </p:blipFill>
        <p:spPr>
          <a:xfrm xmlns:a="http://schemas.openxmlformats.org/drawingml/2006/main">
            <a:off x="457200" y="1905000"/>
            <a:ext cx="7143750" cy="2381250"/>
          </a:xfrm>
          <a:prstGeom xmlns:a="http://schemas.openxmlformats.org/drawingml/2006/main" prst="rect">
            <a:avLst/>
          </a:prstGeom>
        </p:spPr>
      </p:pic>
      <p:sp>
        <p:nvSpPr>
          <p:cNvPr id="10" name="text-130">
            <a:extLst xmlns:a="http://schemas.openxmlformats.org/drawingml/2006/main">
              <a:ext uri="{FF2B5EF4-FFF2-40B4-BE49-F238E27FC236}">
                <a16:creationId xmlns:a16="http://schemas.microsoft.com/office/drawing/2014/main" id="{E04C31F3-25F1-4397-8E3E-DD2B6CC3479C}"/>
              </a:ext>
            </a:extLst>
          </p:cNvPr>
          <p:cNvSpPr>
            <a:spLocks xmlns:a="http://schemas.openxmlformats.org/drawingml/2006/main" noGrp="1"/>
          </p:cNvSpPr>
          <p:nvPr/>
        </p:nvSpPr>
        <p:spPr>
          <a:xfrm xmlns:a="http://schemas.openxmlformats.org/drawingml/2006/main">
            <a:off x="457200" y="43243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BAHAN BAKU</a:t>
            </a:r>
          </a:p>
        </p:txBody>
      </p:sp>
      <p:sp>
        <p:nvSpPr>
          <p:cNvPr id="11" name="">
            <a:extLst xmlns:a="http://schemas.openxmlformats.org/drawingml/2006/main">
              <a:ext uri="{FF2B5EF4-FFF2-40B4-BE49-F238E27FC236}">
                <a16:creationId xmlns:a16="http://schemas.microsoft.com/office/drawing/2014/main" id="{DC8F4412-895F-4FC2-BE71-36EA3FD157CC}"/>
              </a:ext>
            </a:extLst>
          </p:cNvPr>
          <p:cNvSpPr>
            <a:spLocks xmlns:a="http://schemas.openxmlformats.org/drawingml/2006/main" noGrp="1"/>
          </p:cNvSpPr>
          <p:nvPr/>
        </p:nvSpPr>
        <p:spPr>
          <a:xfrm xmlns:a="http://schemas.openxmlformats.org/drawingml/2006/main">
            <a:off x="495300" y="4705350"/>
            <a:ext cx="152400" cy="1524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2" name="">
            <a:extLst xmlns:a="http://schemas.openxmlformats.org/drawingml/2006/main">
              <a:ext uri="{FF2B5EF4-FFF2-40B4-BE49-F238E27FC236}">
                <a16:creationId xmlns:a16="http://schemas.microsoft.com/office/drawing/2014/main" id="{2CAD3FFF-1EA4-48D9-8A41-702B5B0F0BA7}"/>
              </a:ext>
            </a:extLst>
          </p:cNvPr>
          <p:cNvSpPr>
            <a:spLocks xmlns:a="http://schemas.openxmlformats.org/drawingml/2006/main" noGrp="1"/>
          </p:cNvSpPr>
          <p:nvPr/>
        </p:nvSpPr>
        <p:spPr>
          <a:xfrm xmlns:a="http://schemas.openxmlformats.org/drawingml/2006/main" rot="0">
            <a:off x="790575" y="4752975"/>
            <a:ext cx="1381125" cy="762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3" name="text-131">
            <a:extLst xmlns:a="http://schemas.openxmlformats.org/drawingml/2006/main">
              <a:ext uri="{FF2B5EF4-FFF2-40B4-BE49-F238E27FC236}">
                <a16:creationId xmlns:a16="http://schemas.microsoft.com/office/drawing/2014/main" id="{19490BC1-5406-4072-B086-70FDC9B60A4C}"/>
              </a:ext>
            </a:extLst>
          </p:cNvPr>
          <p:cNvSpPr>
            <a:spLocks xmlns:a="http://schemas.openxmlformats.org/drawingml/2006/main" noGrp="1"/>
          </p:cNvSpPr>
          <p:nvPr/>
        </p:nvSpPr>
        <p:spPr>
          <a:xfrm xmlns:a="http://schemas.openxmlformats.org/drawingml/2006/main">
            <a:off x="457200" y="4953000"/>
            <a:ext cx="1762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B6C65"/>
                </a:solidFill>
                <a:latin typeface="Calibri"/>
                <a:ea typeface="Calibri"/>
                <a:cs typeface="Calibri"/>
              </a:defRPr>
            </a:pPr>
            <a:r>
              <a:rPr sz="1425" b="0">
                <a:solidFill>
                  <a:srgbClr val="5B6C65"/>
                </a:solidFill>
                <a:latin typeface="Calibri"/>
                <a:ea typeface="Calibri"/>
                <a:cs typeface="Calibri"/>
              </a:rPr>
              <a:t>Bayar pemasok</a:t>
            </a:r>
          </a:p>
        </p:txBody>
      </p:sp>
      <p:sp>
        <p:nvSpPr>
          <p:cNvPr id="14" name="text-132">
            <a:extLst xmlns:a="http://schemas.openxmlformats.org/drawingml/2006/main">
              <a:ext uri="{FF2B5EF4-FFF2-40B4-BE49-F238E27FC236}">
                <a16:creationId xmlns:a16="http://schemas.microsoft.com/office/drawing/2014/main" id="{2A35542F-B827-4506-A21A-5A3E206D9C8D}"/>
              </a:ext>
            </a:extLst>
          </p:cNvPr>
          <p:cNvSpPr>
            <a:spLocks xmlns:a="http://schemas.openxmlformats.org/drawingml/2006/main" noGrp="1"/>
          </p:cNvSpPr>
          <p:nvPr/>
        </p:nvSpPr>
        <p:spPr>
          <a:xfrm xmlns:a="http://schemas.openxmlformats.org/drawingml/2006/main">
            <a:off x="2286000" y="43243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PRODUKSI</a:t>
            </a:r>
          </a:p>
        </p:txBody>
      </p:sp>
      <p:sp>
        <p:nvSpPr>
          <p:cNvPr id="15" name="">
            <a:extLst xmlns:a="http://schemas.openxmlformats.org/drawingml/2006/main">
              <a:ext uri="{FF2B5EF4-FFF2-40B4-BE49-F238E27FC236}">
                <a16:creationId xmlns:a16="http://schemas.microsoft.com/office/drawing/2014/main" id="{8ED3B22D-FE6D-4B34-A41C-5E8C16AF8E1A}"/>
              </a:ext>
            </a:extLst>
          </p:cNvPr>
          <p:cNvSpPr>
            <a:spLocks xmlns:a="http://schemas.openxmlformats.org/drawingml/2006/main" noGrp="1"/>
          </p:cNvSpPr>
          <p:nvPr/>
        </p:nvSpPr>
        <p:spPr>
          <a:xfrm xmlns:a="http://schemas.openxmlformats.org/drawingml/2006/main">
            <a:off x="2324100" y="4705350"/>
            <a:ext cx="152400" cy="1524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6" name="">
            <a:extLst xmlns:a="http://schemas.openxmlformats.org/drawingml/2006/main">
              <a:ext uri="{FF2B5EF4-FFF2-40B4-BE49-F238E27FC236}">
                <a16:creationId xmlns:a16="http://schemas.microsoft.com/office/drawing/2014/main" id="{49A78201-EF28-44B8-B2BB-28C4516B3946}"/>
              </a:ext>
            </a:extLst>
          </p:cNvPr>
          <p:cNvSpPr>
            <a:spLocks xmlns:a="http://schemas.openxmlformats.org/drawingml/2006/main" noGrp="1"/>
          </p:cNvSpPr>
          <p:nvPr/>
        </p:nvSpPr>
        <p:spPr>
          <a:xfrm xmlns:a="http://schemas.openxmlformats.org/drawingml/2006/main" rot="0">
            <a:off x="2619375" y="4752975"/>
            <a:ext cx="1381125" cy="762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7" name="text-133">
            <a:extLst xmlns:a="http://schemas.openxmlformats.org/drawingml/2006/main">
              <a:ext uri="{FF2B5EF4-FFF2-40B4-BE49-F238E27FC236}">
                <a16:creationId xmlns:a16="http://schemas.microsoft.com/office/drawing/2014/main" id="{DD70ABBC-5FE0-4836-A16C-E4BBB4B3010B}"/>
              </a:ext>
            </a:extLst>
          </p:cNvPr>
          <p:cNvSpPr>
            <a:spLocks xmlns:a="http://schemas.openxmlformats.org/drawingml/2006/main" noGrp="1"/>
          </p:cNvSpPr>
          <p:nvPr/>
        </p:nvSpPr>
        <p:spPr>
          <a:xfrm xmlns:a="http://schemas.openxmlformats.org/drawingml/2006/main">
            <a:off x="2286000" y="4953000"/>
            <a:ext cx="1762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B6C65"/>
                </a:solidFill>
                <a:latin typeface="Calibri"/>
                <a:ea typeface="Calibri"/>
                <a:cs typeface="Calibri"/>
              </a:defRPr>
            </a:pPr>
            <a:r>
              <a:rPr sz="1425" b="0">
                <a:solidFill>
                  <a:srgbClr val="5B6C65"/>
                </a:solidFill>
                <a:latin typeface="Calibri"/>
                <a:ea typeface="Calibri"/>
                <a:cs typeface="Calibri"/>
              </a:rPr>
              <a:t>Upah + kemasan</a:t>
            </a:r>
          </a:p>
        </p:txBody>
      </p:sp>
      <p:sp>
        <p:nvSpPr>
          <p:cNvPr id="18" name="text-134">
            <a:extLst xmlns:a="http://schemas.openxmlformats.org/drawingml/2006/main">
              <a:ext uri="{FF2B5EF4-FFF2-40B4-BE49-F238E27FC236}">
                <a16:creationId xmlns:a16="http://schemas.microsoft.com/office/drawing/2014/main" id="{38169FFA-3C3B-4603-B1D4-9E30D26B1442}"/>
              </a:ext>
            </a:extLst>
          </p:cNvPr>
          <p:cNvSpPr>
            <a:spLocks xmlns:a="http://schemas.openxmlformats.org/drawingml/2006/main" noGrp="1"/>
          </p:cNvSpPr>
          <p:nvPr/>
        </p:nvSpPr>
        <p:spPr>
          <a:xfrm xmlns:a="http://schemas.openxmlformats.org/drawingml/2006/main">
            <a:off x="4114800" y="43243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PENGIRIMAN</a:t>
            </a:r>
          </a:p>
        </p:txBody>
      </p:sp>
      <p:sp>
        <p:nvSpPr>
          <p:cNvPr id="19" name="">
            <a:extLst xmlns:a="http://schemas.openxmlformats.org/drawingml/2006/main">
              <a:ext uri="{FF2B5EF4-FFF2-40B4-BE49-F238E27FC236}">
                <a16:creationId xmlns:a16="http://schemas.microsoft.com/office/drawing/2014/main" id="{A1F8D00A-7A86-4CA7-A1C5-C224AB4D88BD}"/>
              </a:ext>
            </a:extLst>
          </p:cNvPr>
          <p:cNvSpPr>
            <a:spLocks xmlns:a="http://schemas.openxmlformats.org/drawingml/2006/main" noGrp="1"/>
          </p:cNvSpPr>
          <p:nvPr/>
        </p:nvSpPr>
        <p:spPr>
          <a:xfrm xmlns:a="http://schemas.openxmlformats.org/drawingml/2006/main">
            <a:off x="4152900" y="4705350"/>
            <a:ext cx="152400" cy="1524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0" name="">
            <a:extLst xmlns:a="http://schemas.openxmlformats.org/drawingml/2006/main">
              <a:ext uri="{FF2B5EF4-FFF2-40B4-BE49-F238E27FC236}">
                <a16:creationId xmlns:a16="http://schemas.microsoft.com/office/drawing/2014/main" id="{6F9173D5-FF4E-4D13-B76A-C09446B017D0}"/>
              </a:ext>
            </a:extLst>
          </p:cNvPr>
          <p:cNvSpPr>
            <a:spLocks xmlns:a="http://schemas.openxmlformats.org/drawingml/2006/main" noGrp="1"/>
          </p:cNvSpPr>
          <p:nvPr/>
        </p:nvSpPr>
        <p:spPr>
          <a:xfrm xmlns:a="http://schemas.openxmlformats.org/drawingml/2006/main" rot="0">
            <a:off x="4448175" y="4752975"/>
            <a:ext cx="1381125" cy="762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1" name="text-135">
            <a:extLst xmlns:a="http://schemas.openxmlformats.org/drawingml/2006/main">
              <a:ext uri="{FF2B5EF4-FFF2-40B4-BE49-F238E27FC236}">
                <a16:creationId xmlns:a16="http://schemas.microsoft.com/office/drawing/2014/main" id="{1A632784-DD96-43B5-BFF1-08DD334D5C29}"/>
              </a:ext>
            </a:extLst>
          </p:cNvPr>
          <p:cNvSpPr>
            <a:spLocks xmlns:a="http://schemas.openxmlformats.org/drawingml/2006/main" noGrp="1"/>
          </p:cNvSpPr>
          <p:nvPr/>
        </p:nvSpPr>
        <p:spPr>
          <a:xfrm xmlns:a="http://schemas.openxmlformats.org/drawingml/2006/main">
            <a:off x="4114800" y="4953000"/>
            <a:ext cx="1762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B6C65"/>
                </a:solidFill>
                <a:latin typeface="Calibri"/>
                <a:ea typeface="Calibri"/>
                <a:cs typeface="Calibri"/>
              </a:defRPr>
            </a:pPr>
            <a:r>
              <a:rPr sz="1425" b="0">
                <a:solidFill>
                  <a:srgbClr val="5B6C65"/>
                </a:solidFill>
                <a:latin typeface="Calibri"/>
                <a:ea typeface="Calibri"/>
                <a:cs typeface="Calibri"/>
              </a:rPr>
              <a:t>Biaya sesuai kontrak</a:t>
            </a:r>
          </a:p>
        </p:txBody>
      </p:sp>
      <p:sp>
        <p:nvSpPr>
          <p:cNvPr id="22" name="text-136">
            <a:extLst xmlns:a="http://schemas.openxmlformats.org/drawingml/2006/main">
              <a:ext uri="{FF2B5EF4-FFF2-40B4-BE49-F238E27FC236}">
                <a16:creationId xmlns:a16="http://schemas.microsoft.com/office/drawing/2014/main" id="{D0717B51-F334-4527-8C3C-6406E9B08A33}"/>
              </a:ext>
            </a:extLst>
          </p:cNvPr>
          <p:cNvSpPr>
            <a:spLocks xmlns:a="http://schemas.openxmlformats.org/drawingml/2006/main" noGrp="1"/>
          </p:cNvSpPr>
          <p:nvPr/>
        </p:nvSpPr>
        <p:spPr>
          <a:xfrm xmlns:a="http://schemas.openxmlformats.org/drawingml/2006/main">
            <a:off x="5943600" y="43243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PEMBAYARAN</a:t>
            </a:r>
          </a:p>
        </p:txBody>
      </p:sp>
      <p:sp>
        <p:nvSpPr>
          <p:cNvPr id="23" name="">
            <a:extLst xmlns:a="http://schemas.openxmlformats.org/drawingml/2006/main">
              <a:ext uri="{FF2B5EF4-FFF2-40B4-BE49-F238E27FC236}">
                <a16:creationId xmlns:a16="http://schemas.microsoft.com/office/drawing/2014/main" id="{99989AA2-2200-4AF4-B456-9B106A216C87}"/>
              </a:ext>
            </a:extLst>
          </p:cNvPr>
          <p:cNvSpPr>
            <a:spLocks xmlns:a="http://schemas.openxmlformats.org/drawingml/2006/main" noGrp="1"/>
          </p:cNvSpPr>
          <p:nvPr/>
        </p:nvSpPr>
        <p:spPr>
          <a:xfrm xmlns:a="http://schemas.openxmlformats.org/drawingml/2006/main">
            <a:off x="5981700" y="4705350"/>
            <a:ext cx="152400" cy="152400"/>
          </a:xfrm>
          <a:prstGeom xmlns:a="http://schemas.openxmlformats.org/drawingml/2006/main" prst="ellipse">
            <a:avLst/>
          </a:prstGeom>
          <a:solidFill xmlns:a="http://schemas.openxmlformats.org/drawingml/2006/main">
            <a:srgbClr val="002B28"/>
          </a:solidFill>
          <a:ln xmlns:a="http://schemas.openxmlformats.org/drawingml/2006/main" w="19050">
            <a:solidFill>
              <a:srgbClr val="087958"/>
            </a:solidFill>
          </a:ln>
        </p:spPr>
      </p:sp>
      <p:sp>
        <p:nvSpPr>
          <p:cNvPr id="24" name="text-137">
            <a:extLst xmlns:a="http://schemas.openxmlformats.org/drawingml/2006/main">
              <a:ext uri="{FF2B5EF4-FFF2-40B4-BE49-F238E27FC236}">
                <a16:creationId xmlns:a16="http://schemas.microsoft.com/office/drawing/2014/main" id="{7893940E-1783-4798-B519-9380333E1FFC}"/>
              </a:ext>
            </a:extLst>
          </p:cNvPr>
          <p:cNvSpPr>
            <a:spLocks xmlns:a="http://schemas.openxmlformats.org/drawingml/2006/main" noGrp="1"/>
          </p:cNvSpPr>
          <p:nvPr/>
        </p:nvSpPr>
        <p:spPr>
          <a:xfrm xmlns:a="http://schemas.openxmlformats.org/drawingml/2006/main">
            <a:off x="5943600" y="4953000"/>
            <a:ext cx="1762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B6C65"/>
                </a:solidFill>
                <a:latin typeface="Calibri"/>
                <a:ea typeface="Calibri"/>
                <a:cs typeface="Calibri"/>
              </a:defRPr>
            </a:pPr>
            <a:r>
              <a:rPr sz="1425" b="0">
                <a:solidFill>
                  <a:srgbClr val="5B6C65"/>
                </a:solidFill>
                <a:latin typeface="Calibri"/>
                <a:ea typeface="Calibri"/>
                <a:cs typeface="Calibri"/>
              </a:rPr>
              <a:t>Dana dari buyer</a:t>
            </a:r>
          </a:p>
        </p:txBody>
      </p:sp>
      <p:sp>
        <p:nvSpPr>
          <p:cNvPr id="25" name="">
            <a:extLst xmlns:a="http://schemas.openxmlformats.org/drawingml/2006/main">
              <a:ext uri="{FF2B5EF4-FFF2-40B4-BE49-F238E27FC236}">
                <a16:creationId xmlns:a16="http://schemas.microsoft.com/office/drawing/2014/main" id="{A153079B-6B2F-44A5-966E-C956D6D2CCBE}"/>
              </a:ext>
            </a:extLst>
          </p:cNvPr>
          <p:cNvSpPr>
            <a:spLocks xmlns:a="http://schemas.openxmlformats.org/drawingml/2006/main" noGrp="1"/>
          </p:cNvSpPr>
          <p:nvPr/>
        </p:nvSpPr>
        <p:spPr>
          <a:xfrm xmlns:a="http://schemas.openxmlformats.org/drawingml/2006/main">
            <a:off x="457200" y="5467350"/>
            <a:ext cx="7143750" cy="390525"/>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26" name="text-138">
            <a:extLst xmlns:a="http://schemas.openxmlformats.org/drawingml/2006/main">
              <a:ext uri="{FF2B5EF4-FFF2-40B4-BE49-F238E27FC236}">
                <a16:creationId xmlns:a16="http://schemas.microsoft.com/office/drawing/2014/main" id="{E25BDCCA-989A-4354-A8A9-053CB7E916EB}"/>
              </a:ext>
            </a:extLst>
          </p:cNvPr>
          <p:cNvSpPr>
            <a:spLocks xmlns:a="http://schemas.openxmlformats.org/drawingml/2006/main" noGrp="1"/>
          </p:cNvSpPr>
          <p:nvPr/>
        </p:nvSpPr>
        <p:spPr>
          <a:xfrm xmlns:a="http://schemas.openxmlformats.org/drawingml/2006/main">
            <a:off x="609600" y="5553075"/>
            <a:ext cx="6810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958"/>
                </a:solidFill>
                <a:latin typeface="Calibri"/>
                <a:ea typeface="Calibri"/>
                <a:cs typeface="Calibri"/>
              </a:defRPr>
            </a:pPr>
            <a:r>
              <a:rPr sz="1725" b="1">
                <a:solidFill>
                  <a:srgbClr val="087958"/>
                </a:solidFill>
                <a:latin typeface="Calibri"/>
                <a:ea typeface="Calibri"/>
                <a:cs typeface="Calibri"/>
              </a:rPr>
              <a:t>Modal kerja menutup jeda sebelum pembayaran masuk.</a:t>
            </a:r>
          </a:p>
        </p:txBody>
      </p:sp>
      <p:sp>
        <p:nvSpPr>
          <p:cNvPr id="27" name="">
            <a:extLst xmlns:a="http://schemas.openxmlformats.org/drawingml/2006/main">
              <a:ext uri="{FF2B5EF4-FFF2-40B4-BE49-F238E27FC236}">
                <a16:creationId xmlns:a16="http://schemas.microsoft.com/office/drawing/2014/main" id="{09046245-7323-45C5-909B-4071D5B1AEA4}"/>
              </a:ext>
            </a:extLst>
          </p:cNvPr>
          <p:cNvSpPr>
            <a:spLocks xmlns:a="http://schemas.openxmlformats.org/drawingml/2006/main" noGrp="1"/>
          </p:cNvSpPr>
          <p:nvPr/>
        </p:nvSpPr>
        <p:spPr>
          <a:xfrm xmlns:a="http://schemas.openxmlformats.org/drawingml/2006/main">
            <a:off x="7953375" y="1971675"/>
            <a:ext cx="0" cy="3771900"/>
          </a:xfrm>
          <a:prstGeom xmlns:a="http://schemas.openxmlformats.org/drawingml/2006/main" prst="line">
            <a:avLst/>
          </a:prstGeom>
          <a:ln xmlns:a="http://schemas.openxmlformats.org/drawingml/2006/main" w="9525">
            <a:solidFill>
              <a:srgbClr val="D7E7DF"/>
            </a:solidFill>
          </a:ln>
        </p:spPr>
      </p:sp>
      <p:sp>
        <p:nvSpPr>
          <p:cNvPr id="28" name="text-139">
            <a:extLst xmlns:a="http://schemas.openxmlformats.org/drawingml/2006/main">
              <a:ext uri="{FF2B5EF4-FFF2-40B4-BE49-F238E27FC236}">
                <a16:creationId xmlns:a16="http://schemas.microsoft.com/office/drawing/2014/main" id="{435AFC4B-320E-4B57-BB80-DAAFE5CBFB8D}"/>
              </a:ext>
            </a:extLst>
          </p:cNvPr>
          <p:cNvSpPr>
            <a:spLocks xmlns:a="http://schemas.openxmlformats.org/drawingml/2006/main" noGrp="1"/>
          </p:cNvSpPr>
          <p:nvPr/>
        </p:nvSpPr>
        <p:spPr>
          <a:xfrm xmlns:a="http://schemas.openxmlformats.org/drawingml/2006/main">
            <a:off x="8315325" y="197167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LABA ORDER</a:t>
            </a:r>
          </a:p>
        </p:txBody>
      </p:sp>
      <p:sp>
        <p:nvSpPr>
          <p:cNvPr id="29" name="text-140">
            <a:extLst xmlns:a="http://schemas.openxmlformats.org/drawingml/2006/main">
              <a:ext uri="{FF2B5EF4-FFF2-40B4-BE49-F238E27FC236}">
                <a16:creationId xmlns:a16="http://schemas.microsoft.com/office/drawing/2014/main" id="{24259423-87E6-473F-9E0E-12B3D4F8ADA5}"/>
              </a:ext>
            </a:extLst>
          </p:cNvPr>
          <p:cNvSpPr>
            <a:spLocks xmlns:a="http://schemas.openxmlformats.org/drawingml/2006/main" noGrp="1"/>
          </p:cNvSpPr>
          <p:nvPr/>
        </p:nvSpPr>
        <p:spPr>
          <a:xfrm xmlns:a="http://schemas.openxmlformats.org/drawingml/2006/main">
            <a:off x="8315325" y="2295525"/>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Pendapatan dikurangi</a:t>
            </a:r>
          </a:p>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seluruh biaya.</a:t>
            </a:r>
          </a:p>
        </p:txBody>
      </p:sp>
      <p:sp>
        <p:nvSpPr>
          <p:cNvPr id="30" name="text-141">
            <a:extLst xmlns:a="http://schemas.openxmlformats.org/drawingml/2006/main">
              <a:ext uri="{FF2B5EF4-FFF2-40B4-BE49-F238E27FC236}">
                <a16:creationId xmlns:a16="http://schemas.microsoft.com/office/drawing/2014/main" id="{411015FF-9C15-459A-A0F9-774E947E145C}"/>
              </a:ext>
            </a:extLst>
          </p:cNvPr>
          <p:cNvSpPr>
            <a:spLocks xmlns:a="http://schemas.openxmlformats.org/drawingml/2006/main" noGrp="1"/>
          </p:cNvSpPr>
          <p:nvPr/>
        </p:nvSpPr>
        <p:spPr>
          <a:xfrm xmlns:a="http://schemas.openxmlformats.org/drawingml/2006/main">
            <a:off x="8315325" y="3086100"/>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KEBUTUHAN KAS</a:t>
            </a:r>
          </a:p>
        </p:txBody>
      </p:sp>
      <p:sp>
        <p:nvSpPr>
          <p:cNvPr id="31" name="text-142">
            <a:extLst xmlns:a="http://schemas.openxmlformats.org/drawingml/2006/main">
              <a:ext uri="{FF2B5EF4-FFF2-40B4-BE49-F238E27FC236}">
                <a16:creationId xmlns:a16="http://schemas.microsoft.com/office/drawing/2014/main" id="{9E2CE821-8D67-4F0D-83FA-D815DB595BE1}"/>
              </a:ext>
            </a:extLst>
          </p:cNvPr>
          <p:cNvSpPr>
            <a:spLocks xmlns:a="http://schemas.openxmlformats.org/drawingml/2006/main" noGrp="1"/>
          </p:cNvSpPr>
          <p:nvPr/>
        </p:nvSpPr>
        <p:spPr>
          <a:xfrm xmlns:a="http://schemas.openxmlformats.org/drawingml/2006/main">
            <a:off x="8315325" y="3409950"/>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Dana yang dibutuhkan</a:t>
            </a:r>
          </a:p>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sebelum buyer membayar.</a:t>
            </a:r>
          </a:p>
        </p:txBody>
      </p:sp>
      <p:sp>
        <p:nvSpPr>
          <p:cNvPr id="32" name="">
            <a:extLst xmlns:a="http://schemas.openxmlformats.org/drawingml/2006/main">
              <a:ext uri="{FF2B5EF4-FFF2-40B4-BE49-F238E27FC236}">
                <a16:creationId xmlns:a16="http://schemas.microsoft.com/office/drawing/2014/main" id="{38E0BF79-7C39-447F-86E6-D3CA8A02F35F}"/>
              </a:ext>
            </a:extLst>
          </p:cNvPr>
          <p:cNvSpPr>
            <a:spLocks xmlns:a="http://schemas.openxmlformats.org/drawingml/2006/main" noGrp="1"/>
          </p:cNvSpPr>
          <p:nvPr/>
        </p:nvSpPr>
        <p:spPr>
          <a:xfrm xmlns:a="http://schemas.openxmlformats.org/drawingml/2006/main">
            <a:off x="8315325" y="4276725"/>
            <a:ext cx="3286125"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33" name="text-143">
            <a:extLst xmlns:a="http://schemas.openxmlformats.org/drawingml/2006/main">
              <a:ext uri="{FF2B5EF4-FFF2-40B4-BE49-F238E27FC236}">
                <a16:creationId xmlns:a16="http://schemas.microsoft.com/office/drawing/2014/main" id="{63F9928F-B12D-4224-97D7-AF9EA6BF3CC8}"/>
              </a:ext>
            </a:extLst>
          </p:cNvPr>
          <p:cNvSpPr>
            <a:spLocks xmlns:a="http://schemas.openxmlformats.org/drawingml/2006/main" noGrp="1"/>
          </p:cNvSpPr>
          <p:nvPr/>
        </p:nvSpPr>
        <p:spPr>
          <a:xfrm xmlns:a="http://schemas.openxmlformats.org/drawingml/2006/main">
            <a:off x="8315325" y="4457700"/>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BAHAN NEGOSIASI</a:t>
            </a:r>
          </a:p>
        </p:txBody>
      </p:sp>
      <p:sp>
        <p:nvSpPr>
          <p:cNvPr id="34" name="text-144">
            <a:extLst xmlns:a="http://schemas.openxmlformats.org/drawingml/2006/main">
              <a:ext uri="{FF2B5EF4-FFF2-40B4-BE49-F238E27FC236}">
                <a16:creationId xmlns:a16="http://schemas.microsoft.com/office/drawing/2014/main" id="{396AA79B-0555-4F66-B0CE-3B801C0AFF7F}"/>
              </a:ext>
            </a:extLst>
          </p:cNvPr>
          <p:cNvSpPr>
            <a:spLocks xmlns:a="http://schemas.openxmlformats.org/drawingml/2006/main" noGrp="1"/>
          </p:cNvSpPr>
          <p:nvPr/>
        </p:nvSpPr>
        <p:spPr>
          <a:xfrm xmlns:a="http://schemas.openxmlformats.org/drawingml/2006/main">
            <a:off x="8315325" y="4810125"/>
            <a:ext cx="3286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Termin pembayaran</a:t>
            </a:r>
          </a:p>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Volume bertahap</a:t>
            </a:r>
          </a:p>
          <a:p xmlns:a="http://schemas.openxmlformats.org/drawingml/2006/main">
            <a:pPr>
              <a:defRPr sz="1650" b="0">
                <a:solidFill>
                  <a:srgbClr val="5B6C65"/>
                </a:solidFill>
                <a:latin typeface="Calibri"/>
                <a:ea typeface="Calibri"/>
                <a:cs typeface="Calibri"/>
              </a:defRPr>
            </a:pPr>
            <a:r>
              <a:rPr sz="1650" b="0">
                <a:solidFill>
                  <a:srgbClr val="5B6C65"/>
                </a:solidFill>
                <a:latin typeface="Calibri"/>
                <a:ea typeface="Calibri"/>
                <a:cs typeface="Calibri"/>
              </a:rPr>
              <a:t>Jadwal bayar pemasok</a:t>
            </a:r>
          </a:p>
        </p:txBody>
      </p:sp>
    </p:spTree>
    <p:extLst>
      <p:ext uri="{BB962C8B-B14F-4D97-AF65-F5344CB8AC3E}">
        <p14:creationId xmlns:p14="http://schemas.microsoft.com/office/powerpoint/2010/main" val="369405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a599c87fb9b453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706B31-B40F-4F8F-9DAD-087995EE1138}"/>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fe4c402c86a4fa8"/>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45">
            <a:extLst xmlns:a="http://schemas.openxmlformats.org/drawingml/2006/main">
              <a:ext uri="{FF2B5EF4-FFF2-40B4-BE49-F238E27FC236}">
                <a16:creationId xmlns:a16="http://schemas.microsoft.com/office/drawing/2014/main" id="{C9F7B34E-D8EE-4BBA-9A9B-12B74391FCCF}"/>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Risiko lebih mudah dikelola ketika batasnya ditentukan di awal</a:t>
            </a:r>
          </a:p>
        </p:txBody>
      </p:sp>
      <p:sp>
        <p:nvSpPr>
          <p:cNvPr id="5" name="text-146">
            <a:extLst xmlns:a="http://schemas.openxmlformats.org/drawingml/2006/main">
              <a:ext uri="{FF2B5EF4-FFF2-40B4-BE49-F238E27FC236}">
                <a16:creationId xmlns:a16="http://schemas.microsoft.com/office/drawing/2014/main" id="{43127A84-993B-4CEB-A179-FB493E50C056}"/>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Founder perlu tahu apa yang bisa gagal, dampaknya, dan tindakan pencegahannya.</a:t>
            </a:r>
          </a:p>
        </p:txBody>
      </p:sp>
      <p:sp>
        <p:nvSpPr>
          <p:cNvPr id="6" name="text-147">
            <a:extLst xmlns:a="http://schemas.openxmlformats.org/drawingml/2006/main">
              <a:ext uri="{FF2B5EF4-FFF2-40B4-BE49-F238E27FC236}">
                <a16:creationId xmlns:a16="http://schemas.microsoft.com/office/drawing/2014/main" id="{5BB0E5ED-D310-438B-AEF8-566C7A66D4A8}"/>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48">
            <a:extLst xmlns:a="http://schemas.openxmlformats.org/drawingml/2006/main">
              <a:ext uri="{FF2B5EF4-FFF2-40B4-BE49-F238E27FC236}">
                <a16:creationId xmlns:a16="http://schemas.microsoft.com/office/drawing/2014/main" id="{2E9DC312-7021-44C8-B7F7-909F4D832E86}"/>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49">
            <a:extLst xmlns:a="http://schemas.openxmlformats.org/drawingml/2006/main">
              <a:ext uri="{FF2B5EF4-FFF2-40B4-BE49-F238E27FC236}">
                <a16:creationId xmlns:a16="http://schemas.microsoft.com/office/drawing/2014/main" id="{5C4D2227-98E6-4EDD-9EAE-36628D0083BA}"/>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09</a:t>
            </a:r>
          </a:p>
        </p:txBody>
      </p:sp>
      <p:sp>
        <p:nvSpPr>
          <p:cNvPr id="9" name="text-150">
            <a:extLst xmlns:a="http://schemas.openxmlformats.org/drawingml/2006/main">
              <a:ext uri="{FF2B5EF4-FFF2-40B4-BE49-F238E27FC236}">
                <a16:creationId xmlns:a16="http://schemas.microsoft.com/office/drawing/2014/main" id="{F00E0CD9-8971-46A8-825B-6FD348E585EE}"/>
              </a:ext>
            </a:extLst>
          </p:cNvPr>
          <p:cNvSpPr>
            <a:spLocks xmlns:a="http://schemas.openxmlformats.org/drawingml/2006/main" noGrp="1"/>
          </p:cNvSpPr>
          <p:nvPr/>
        </p:nvSpPr>
        <p:spPr>
          <a:xfrm xmlns:a="http://schemas.openxmlformats.org/drawingml/2006/main">
            <a:off x="457200" y="1924050"/>
            <a:ext cx="2905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PEMICU</a:t>
            </a:r>
          </a:p>
        </p:txBody>
      </p:sp>
      <p:sp>
        <p:nvSpPr>
          <p:cNvPr id="10" name="text-151">
            <a:extLst xmlns:a="http://schemas.openxmlformats.org/drawingml/2006/main">
              <a:ext uri="{FF2B5EF4-FFF2-40B4-BE49-F238E27FC236}">
                <a16:creationId xmlns:a16="http://schemas.microsoft.com/office/drawing/2014/main" id="{361A8B15-79BB-4A01-830A-4945F61A42D5}"/>
              </a:ext>
            </a:extLst>
          </p:cNvPr>
          <p:cNvSpPr>
            <a:spLocks xmlns:a="http://schemas.openxmlformats.org/drawingml/2006/main" noGrp="1"/>
          </p:cNvSpPr>
          <p:nvPr/>
        </p:nvSpPr>
        <p:spPr>
          <a:xfrm xmlns:a="http://schemas.openxmlformats.org/drawingml/2006/main">
            <a:off x="4191000" y="1924050"/>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DAMPAK KE BISNIS</a:t>
            </a:r>
          </a:p>
        </p:txBody>
      </p:sp>
      <p:sp>
        <p:nvSpPr>
          <p:cNvPr id="11" name="text-152">
            <a:extLst xmlns:a="http://schemas.openxmlformats.org/drawingml/2006/main">
              <a:ext uri="{FF2B5EF4-FFF2-40B4-BE49-F238E27FC236}">
                <a16:creationId xmlns:a16="http://schemas.microsoft.com/office/drawing/2014/main" id="{B5F3ECC2-83D8-4B63-817E-6406EEAD516C}"/>
              </a:ext>
            </a:extLst>
          </p:cNvPr>
          <p:cNvSpPr>
            <a:spLocks xmlns:a="http://schemas.openxmlformats.org/drawingml/2006/main" noGrp="1"/>
          </p:cNvSpPr>
          <p:nvPr/>
        </p:nvSpPr>
        <p:spPr>
          <a:xfrm xmlns:a="http://schemas.openxmlformats.org/drawingml/2006/main">
            <a:off x="7953375" y="1924050"/>
            <a:ext cx="3743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KONTROL SEBELUM DEAL</a:t>
            </a:r>
          </a:p>
        </p:txBody>
      </p:sp>
      <p:sp>
        <p:nvSpPr>
          <p:cNvPr id="12" name="">
            <a:extLst xmlns:a="http://schemas.openxmlformats.org/drawingml/2006/main">
              <a:ext uri="{FF2B5EF4-FFF2-40B4-BE49-F238E27FC236}">
                <a16:creationId xmlns:a16="http://schemas.microsoft.com/office/drawing/2014/main" id="{B1297E48-8F5E-4C59-859C-30B880E6BF9C}"/>
              </a:ext>
            </a:extLst>
          </p:cNvPr>
          <p:cNvSpPr>
            <a:spLocks xmlns:a="http://schemas.openxmlformats.org/drawingml/2006/main" noGrp="1"/>
          </p:cNvSpPr>
          <p:nvPr/>
        </p:nvSpPr>
        <p:spPr>
          <a:xfrm xmlns:a="http://schemas.openxmlformats.org/drawingml/2006/main">
            <a:off x="457200" y="2419350"/>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13" name="text-153">
            <a:extLst xmlns:a="http://schemas.openxmlformats.org/drawingml/2006/main">
              <a:ext uri="{FF2B5EF4-FFF2-40B4-BE49-F238E27FC236}">
                <a16:creationId xmlns:a16="http://schemas.microsoft.com/office/drawing/2014/main" id="{46809F6A-6588-4B6F-B175-A636336CEEE8}"/>
              </a:ext>
            </a:extLst>
          </p:cNvPr>
          <p:cNvSpPr>
            <a:spLocks xmlns:a="http://schemas.openxmlformats.org/drawingml/2006/main" noGrp="1"/>
          </p:cNvSpPr>
          <p:nvPr/>
        </p:nvSpPr>
        <p:spPr>
          <a:xfrm xmlns:a="http://schemas.openxmlformats.org/drawingml/2006/main">
            <a:off x="542925" y="2466975"/>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1</a:t>
            </a:r>
          </a:p>
        </p:txBody>
      </p:sp>
      <p:sp>
        <p:nvSpPr>
          <p:cNvPr id="14" name="text-154">
            <a:extLst xmlns:a="http://schemas.openxmlformats.org/drawingml/2006/main">
              <a:ext uri="{FF2B5EF4-FFF2-40B4-BE49-F238E27FC236}">
                <a16:creationId xmlns:a16="http://schemas.microsoft.com/office/drawing/2014/main" id="{E93552EA-AB9F-4978-92F1-D0E27DF0F371}"/>
              </a:ext>
            </a:extLst>
          </p:cNvPr>
          <p:cNvSpPr>
            <a:spLocks xmlns:a="http://schemas.openxmlformats.org/drawingml/2006/main" noGrp="1"/>
          </p:cNvSpPr>
          <p:nvPr/>
        </p:nvSpPr>
        <p:spPr>
          <a:xfrm xmlns:a="http://schemas.openxmlformats.org/drawingml/2006/main">
            <a:off x="895350" y="2419350"/>
            <a:ext cx="266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62B27"/>
                </a:solidFill>
                <a:latin typeface="Calibri"/>
                <a:ea typeface="Calibri"/>
                <a:cs typeface="Calibri"/>
              </a:defRPr>
            </a:pPr>
            <a:r>
              <a:rPr sz="1875" b="1">
                <a:solidFill>
                  <a:srgbClr val="162B27"/>
                </a:solidFill>
                <a:latin typeface="Calibri"/>
                <a:ea typeface="Calibri"/>
                <a:cs typeface="Calibri"/>
              </a:rPr>
              <a:t>Buyer telat bayar</a:t>
            </a:r>
          </a:p>
        </p:txBody>
      </p:sp>
      <p:sp>
        <p:nvSpPr>
          <p:cNvPr id="15" name="">
            <a:extLst xmlns:a="http://schemas.openxmlformats.org/drawingml/2006/main">
              <a:ext uri="{FF2B5EF4-FFF2-40B4-BE49-F238E27FC236}">
                <a16:creationId xmlns:a16="http://schemas.microsoft.com/office/drawing/2014/main" id="{83F33F6E-AFD2-44DC-A5AA-663D274A2694}"/>
              </a:ext>
            </a:extLst>
          </p:cNvPr>
          <p:cNvSpPr>
            <a:spLocks xmlns:a="http://schemas.openxmlformats.org/drawingml/2006/main" noGrp="1"/>
          </p:cNvSpPr>
          <p:nvPr/>
        </p:nvSpPr>
        <p:spPr>
          <a:xfrm xmlns:a="http://schemas.openxmlformats.org/drawingml/2006/main" rot="0">
            <a:off x="3619500" y="2533650"/>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6" name="text-155">
            <a:extLst xmlns:a="http://schemas.openxmlformats.org/drawingml/2006/main">
              <a:ext uri="{FF2B5EF4-FFF2-40B4-BE49-F238E27FC236}">
                <a16:creationId xmlns:a16="http://schemas.microsoft.com/office/drawing/2014/main" id="{BE539FFA-8699-4ADF-83EA-EB36FB2D0EE0}"/>
              </a:ext>
            </a:extLst>
          </p:cNvPr>
          <p:cNvSpPr>
            <a:spLocks xmlns:a="http://schemas.openxmlformats.org/drawingml/2006/main" noGrp="1"/>
          </p:cNvSpPr>
          <p:nvPr/>
        </p:nvSpPr>
        <p:spPr>
          <a:xfrm xmlns:a="http://schemas.openxmlformats.org/drawingml/2006/main">
            <a:off x="4191000" y="2419350"/>
            <a:ext cx="3009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Modal kerja tertahan</a:t>
            </a:r>
          </a:p>
        </p:txBody>
      </p:sp>
      <p:sp>
        <p:nvSpPr>
          <p:cNvPr id="17" name="">
            <a:extLst xmlns:a="http://schemas.openxmlformats.org/drawingml/2006/main">
              <a:ext uri="{FF2B5EF4-FFF2-40B4-BE49-F238E27FC236}">
                <a16:creationId xmlns:a16="http://schemas.microsoft.com/office/drawing/2014/main" id="{29B09ECC-D4A1-40DD-8212-A0B4A15F5C5A}"/>
              </a:ext>
            </a:extLst>
          </p:cNvPr>
          <p:cNvSpPr>
            <a:spLocks xmlns:a="http://schemas.openxmlformats.org/drawingml/2006/main" noGrp="1"/>
          </p:cNvSpPr>
          <p:nvPr/>
        </p:nvSpPr>
        <p:spPr>
          <a:xfrm xmlns:a="http://schemas.openxmlformats.org/drawingml/2006/main" rot="0">
            <a:off x="7372350" y="2533650"/>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8" name="text-156">
            <a:extLst xmlns:a="http://schemas.openxmlformats.org/drawingml/2006/main">
              <a:ext uri="{FF2B5EF4-FFF2-40B4-BE49-F238E27FC236}">
                <a16:creationId xmlns:a16="http://schemas.microsoft.com/office/drawing/2014/main" id="{2CF07C0D-AB1A-4B1A-9DF5-6BE63B65A643}"/>
              </a:ext>
            </a:extLst>
          </p:cNvPr>
          <p:cNvSpPr>
            <a:spLocks xmlns:a="http://schemas.openxmlformats.org/drawingml/2006/main" noGrp="1"/>
          </p:cNvSpPr>
          <p:nvPr/>
        </p:nvSpPr>
        <p:spPr>
          <a:xfrm xmlns:a="http://schemas.openxmlformats.org/drawingml/2006/main">
            <a:off x="7953375" y="2419350"/>
            <a:ext cx="3648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Cek buyer + sepakati termin</a:t>
            </a:r>
          </a:p>
        </p:txBody>
      </p:sp>
      <p:sp>
        <p:nvSpPr>
          <p:cNvPr id="19" name="">
            <a:extLst xmlns:a="http://schemas.openxmlformats.org/drawingml/2006/main">
              <a:ext uri="{FF2B5EF4-FFF2-40B4-BE49-F238E27FC236}">
                <a16:creationId xmlns:a16="http://schemas.microsoft.com/office/drawing/2014/main" id="{37E39951-75C4-4F67-9334-B21AEC0DB12B}"/>
              </a:ext>
            </a:extLst>
          </p:cNvPr>
          <p:cNvSpPr>
            <a:spLocks xmlns:a="http://schemas.openxmlformats.org/drawingml/2006/main" noGrp="1"/>
          </p:cNvSpPr>
          <p:nvPr/>
        </p:nvSpPr>
        <p:spPr>
          <a:xfrm xmlns:a="http://schemas.openxmlformats.org/drawingml/2006/main">
            <a:off x="457200" y="31623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0" name="">
            <a:extLst xmlns:a="http://schemas.openxmlformats.org/drawingml/2006/main">
              <a:ext uri="{FF2B5EF4-FFF2-40B4-BE49-F238E27FC236}">
                <a16:creationId xmlns:a16="http://schemas.microsoft.com/office/drawing/2014/main" id="{5A2FF6BC-B02F-476C-BD3F-193FEBC07DCA}"/>
              </a:ext>
            </a:extLst>
          </p:cNvPr>
          <p:cNvSpPr>
            <a:spLocks xmlns:a="http://schemas.openxmlformats.org/drawingml/2006/main" noGrp="1"/>
          </p:cNvSpPr>
          <p:nvPr/>
        </p:nvSpPr>
        <p:spPr>
          <a:xfrm xmlns:a="http://schemas.openxmlformats.org/drawingml/2006/main">
            <a:off x="457200" y="3324225"/>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1" name="text-157">
            <a:extLst xmlns:a="http://schemas.openxmlformats.org/drawingml/2006/main">
              <a:ext uri="{FF2B5EF4-FFF2-40B4-BE49-F238E27FC236}">
                <a16:creationId xmlns:a16="http://schemas.microsoft.com/office/drawing/2014/main" id="{EFA0F467-39E6-400E-A043-3E7962B667B7}"/>
              </a:ext>
            </a:extLst>
          </p:cNvPr>
          <p:cNvSpPr>
            <a:spLocks xmlns:a="http://schemas.openxmlformats.org/drawingml/2006/main" noGrp="1"/>
          </p:cNvSpPr>
          <p:nvPr/>
        </p:nvSpPr>
        <p:spPr>
          <a:xfrm xmlns:a="http://schemas.openxmlformats.org/drawingml/2006/main">
            <a:off x="542925" y="3371850"/>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2</a:t>
            </a:r>
          </a:p>
        </p:txBody>
      </p:sp>
      <p:sp>
        <p:nvSpPr>
          <p:cNvPr id="22" name="text-158">
            <a:extLst xmlns:a="http://schemas.openxmlformats.org/drawingml/2006/main">
              <a:ext uri="{FF2B5EF4-FFF2-40B4-BE49-F238E27FC236}">
                <a16:creationId xmlns:a16="http://schemas.microsoft.com/office/drawing/2014/main" id="{5D83436A-F34E-4464-88D6-3B577DDA1F88}"/>
              </a:ext>
            </a:extLst>
          </p:cNvPr>
          <p:cNvSpPr>
            <a:spLocks xmlns:a="http://schemas.openxmlformats.org/drawingml/2006/main" noGrp="1"/>
          </p:cNvSpPr>
          <p:nvPr/>
        </p:nvSpPr>
        <p:spPr>
          <a:xfrm xmlns:a="http://schemas.openxmlformats.org/drawingml/2006/main">
            <a:off x="895350" y="3324225"/>
            <a:ext cx="266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62B27"/>
                </a:solidFill>
                <a:latin typeface="Calibri"/>
                <a:ea typeface="Calibri"/>
                <a:cs typeface="Calibri"/>
              </a:defRPr>
            </a:pPr>
            <a:r>
              <a:rPr sz="1875" b="1">
                <a:solidFill>
                  <a:srgbClr val="162B27"/>
                </a:solidFill>
                <a:latin typeface="Calibri"/>
                <a:ea typeface="Calibri"/>
                <a:cs typeface="Calibri"/>
              </a:rPr>
              <a:t>Mutu beda dari sampel</a:t>
            </a:r>
          </a:p>
        </p:txBody>
      </p:sp>
      <p:sp>
        <p:nvSpPr>
          <p:cNvPr id="23" name="">
            <a:extLst xmlns:a="http://schemas.openxmlformats.org/drawingml/2006/main">
              <a:ext uri="{FF2B5EF4-FFF2-40B4-BE49-F238E27FC236}">
                <a16:creationId xmlns:a16="http://schemas.microsoft.com/office/drawing/2014/main" id="{8EC302C4-D2B2-45A5-A7B1-0D4ADBDEC472}"/>
              </a:ext>
            </a:extLst>
          </p:cNvPr>
          <p:cNvSpPr>
            <a:spLocks xmlns:a="http://schemas.openxmlformats.org/drawingml/2006/main" noGrp="1"/>
          </p:cNvSpPr>
          <p:nvPr/>
        </p:nvSpPr>
        <p:spPr>
          <a:xfrm xmlns:a="http://schemas.openxmlformats.org/drawingml/2006/main" rot="0">
            <a:off x="3619500" y="3438525"/>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4" name="text-159">
            <a:extLst xmlns:a="http://schemas.openxmlformats.org/drawingml/2006/main">
              <a:ext uri="{FF2B5EF4-FFF2-40B4-BE49-F238E27FC236}">
                <a16:creationId xmlns:a16="http://schemas.microsoft.com/office/drawing/2014/main" id="{D14C0A7C-4B26-4A30-980B-B3B1FBC93D6E}"/>
              </a:ext>
            </a:extLst>
          </p:cNvPr>
          <p:cNvSpPr>
            <a:spLocks xmlns:a="http://schemas.openxmlformats.org/drawingml/2006/main" noGrp="1"/>
          </p:cNvSpPr>
          <p:nvPr/>
        </p:nvSpPr>
        <p:spPr>
          <a:xfrm xmlns:a="http://schemas.openxmlformats.org/drawingml/2006/main">
            <a:off x="4191000" y="3324225"/>
            <a:ext cx="3009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Komplain / barang ditolak</a:t>
            </a:r>
          </a:p>
        </p:txBody>
      </p:sp>
      <p:sp>
        <p:nvSpPr>
          <p:cNvPr id="25" name="">
            <a:extLst xmlns:a="http://schemas.openxmlformats.org/drawingml/2006/main">
              <a:ext uri="{FF2B5EF4-FFF2-40B4-BE49-F238E27FC236}">
                <a16:creationId xmlns:a16="http://schemas.microsoft.com/office/drawing/2014/main" id="{2D5499C8-3804-442C-99F0-7F008CE8FCE7}"/>
              </a:ext>
            </a:extLst>
          </p:cNvPr>
          <p:cNvSpPr>
            <a:spLocks xmlns:a="http://schemas.openxmlformats.org/drawingml/2006/main" noGrp="1"/>
          </p:cNvSpPr>
          <p:nvPr/>
        </p:nvSpPr>
        <p:spPr>
          <a:xfrm xmlns:a="http://schemas.openxmlformats.org/drawingml/2006/main" rot="0">
            <a:off x="7372350" y="3438525"/>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6" name="text-160">
            <a:extLst xmlns:a="http://schemas.openxmlformats.org/drawingml/2006/main">
              <a:ext uri="{FF2B5EF4-FFF2-40B4-BE49-F238E27FC236}">
                <a16:creationId xmlns:a16="http://schemas.microsoft.com/office/drawing/2014/main" id="{9B79990E-54BD-4D6F-82FF-10F6D6586C47}"/>
              </a:ext>
            </a:extLst>
          </p:cNvPr>
          <p:cNvSpPr>
            <a:spLocks xmlns:a="http://schemas.openxmlformats.org/drawingml/2006/main" noGrp="1"/>
          </p:cNvSpPr>
          <p:nvPr/>
        </p:nvSpPr>
        <p:spPr>
          <a:xfrm xmlns:a="http://schemas.openxmlformats.org/drawingml/2006/main">
            <a:off x="7953375" y="3324225"/>
            <a:ext cx="3648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Spesifikasi tertulis + QC</a:t>
            </a:r>
          </a:p>
        </p:txBody>
      </p:sp>
      <p:sp>
        <p:nvSpPr>
          <p:cNvPr id="27" name="">
            <a:extLst xmlns:a="http://schemas.openxmlformats.org/drawingml/2006/main">
              <a:ext uri="{FF2B5EF4-FFF2-40B4-BE49-F238E27FC236}">
                <a16:creationId xmlns:a16="http://schemas.microsoft.com/office/drawing/2014/main" id="{57DE690F-9CF0-4513-833B-158039C4940B}"/>
              </a:ext>
            </a:extLst>
          </p:cNvPr>
          <p:cNvSpPr>
            <a:spLocks xmlns:a="http://schemas.openxmlformats.org/drawingml/2006/main" noGrp="1"/>
          </p:cNvSpPr>
          <p:nvPr/>
        </p:nvSpPr>
        <p:spPr>
          <a:xfrm xmlns:a="http://schemas.openxmlformats.org/drawingml/2006/main">
            <a:off x="457200" y="4067175"/>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8" name="">
            <a:extLst xmlns:a="http://schemas.openxmlformats.org/drawingml/2006/main">
              <a:ext uri="{FF2B5EF4-FFF2-40B4-BE49-F238E27FC236}">
                <a16:creationId xmlns:a16="http://schemas.microsoft.com/office/drawing/2014/main" id="{ED16C9BB-0A2C-4E09-8AA9-EB63AC1569E3}"/>
              </a:ext>
            </a:extLst>
          </p:cNvPr>
          <p:cNvSpPr>
            <a:spLocks xmlns:a="http://schemas.openxmlformats.org/drawingml/2006/main" noGrp="1"/>
          </p:cNvSpPr>
          <p:nvPr/>
        </p:nvSpPr>
        <p:spPr>
          <a:xfrm xmlns:a="http://schemas.openxmlformats.org/drawingml/2006/main">
            <a:off x="457200" y="4229100"/>
            <a:ext cx="304800" cy="304800"/>
          </a:xfrm>
          <a:prstGeom xmlns:a="http://schemas.openxmlformats.org/drawingml/2006/main" prst="ellipse">
            <a:avLst/>
          </a:prstGeom>
          <a:solidFill xmlns:a="http://schemas.openxmlformats.org/drawingml/2006/main">
            <a:srgbClr val="087958"/>
          </a:solidFill>
          <a:ln xmlns:a="http://schemas.openxmlformats.org/drawingml/2006/main" w="19050">
            <a:solidFill>
              <a:srgbClr val="087958"/>
            </a:solidFill>
          </a:ln>
        </p:spPr>
      </p:sp>
      <p:sp>
        <p:nvSpPr>
          <p:cNvPr id="29" name="text-161">
            <a:extLst xmlns:a="http://schemas.openxmlformats.org/drawingml/2006/main">
              <a:ext uri="{FF2B5EF4-FFF2-40B4-BE49-F238E27FC236}">
                <a16:creationId xmlns:a16="http://schemas.microsoft.com/office/drawing/2014/main" id="{A0F17C34-D620-45D3-B951-3095C22526BB}"/>
              </a:ext>
            </a:extLst>
          </p:cNvPr>
          <p:cNvSpPr>
            <a:spLocks xmlns:a="http://schemas.openxmlformats.org/drawingml/2006/main" noGrp="1"/>
          </p:cNvSpPr>
          <p:nvPr/>
        </p:nvSpPr>
        <p:spPr>
          <a:xfrm xmlns:a="http://schemas.openxmlformats.org/drawingml/2006/main">
            <a:off x="542925" y="4276725"/>
            <a:ext cx="266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FFFFFF"/>
                </a:solidFill>
                <a:latin typeface="Calibri"/>
                <a:ea typeface="Calibri"/>
                <a:cs typeface="Calibri"/>
              </a:defRPr>
            </a:pPr>
            <a:r>
              <a:rPr sz="1425" b="1">
                <a:solidFill>
                  <a:srgbClr val="FFFFFF"/>
                </a:solidFill>
                <a:latin typeface="Calibri"/>
                <a:ea typeface="Calibri"/>
                <a:cs typeface="Calibri"/>
              </a:rPr>
              <a:t>3</a:t>
            </a:r>
          </a:p>
        </p:txBody>
      </p:sp>
      <p:sp>
        <p:nvSpPr>
          <p:cNvPr id="30" name="text-162">
            <a:extLst xmlns:a="http://schemas.openxmlformats.org/drawingml/2006/main">
              <a:ext uri="{FF2B5EF4-FFF2-40B4-BE49-F238E27FC236}">
                <a16:creationId xmlns:a16="http://schemas.microsoft.com/office/drawing/2014/main" id="{FFB2C768-273E-4106-87D9-D7DD8CF48E88}"/>
              </a:ext>
            </a:extLst>
          </p:cNvPr>
          <p:cNvSpPr>
            <a:spLocks xmlns:a="http://schemas.openxmlformats.org/drawingml/2006/main" noGrp="1"/>
          </p:cNvSpPr>
          <p:nvPr/>
        </p:nvSpPr>
        <p:spPr>
          <a:xfrm xmlns:a="http://schemas.openxmlformats.org/drawingml/2006/main">
            <a:off x="895350" y="4229100"/>
            <a:ext cx="266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62B27"/>
                </a:solidFill>
                <a:latin typeface="Calibri"/>
                <a:ea typeface="Calibri"/>
                <a:cs typeface="Calibri"/>
              </a:defRPr>
            </a:pPr>
            <a:r>
              <a:rPr sz="1875" b="1">
                <a:solidFill>
                  <a:srgbClr val="162B27"/>
                </a:solidFill>
                <a:latin typeface="Calibri"/>
                <a:ea typeface="Calibri"/>
                <a:cs typeface="Calibri"/>
              </a:rPr>
              <a:t>Produksi meleset</a:t>
            </a:r>
          </a:p>
        </p:txBody>
      </p:sp>
      <p:sp>
        <p:nvSpPr>
          <p:cNvPr id="31" name="">
            <a:extLst xmlns:a="http://schemas.openxmlformats.org/drawingml/2006/main">
              <a:ext uri="{FF2B5EF4-FFF2-40B4-BE49-F238E27FC236}">
                <a16:creationId xmlns:a16="http://schemas.microsoft.com/office/drawing/2014/main" id="{498C40F6-0161-4745-848B-01DAB9F87769}"/>
              </a:ext>
            </a:extLst>
          </p:cNvPr>
          <p:cNvSpPr>
            <a:spLocks xmlns:a="http://schemas.openxmlformats.org/drawingml/2006/main" noGrp="1"/>
          </p:cNvSpPr>
          <p:nvPr/>
        </p:nvSpPr>
        <p:spPr>
          <a:xfrm xmlns:a="http://schemas.openxmlformats.org/drawingml/2006/main" rot="0">
            <a:off x="3619500" y="4343400"/>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32" name="text-163">
            <a:extLst xmlns:a="http://schemas.openxmlformats.org/drawingml/2006/main">
              <a:ext uri="{FF2B5EF4-FFF2-40B4-BE49-F238E27FC236}">
                <a16:creationId xmlns:a16="http://schemas.microsoft.com/office/drawing/2014/main" id="{E4B20F23-B6AD-4210-8483-454E5A8D23A6}"/>
              </a:ext>
            </a:extLst>
          </p:cNvPr>
          <p:cNvSpPr>
            <a:spLocks xmlns:a="http://schemas.openxmlformats.org/drawingml/2006/main" noGrp="1"/>
          </p:cNvSpPr>
          <p:nvPr/>
        </p:nvSpPr>
        <p:spPr>
          <a:xfrm xmlns:a="http://schemas.openxmlformats.org/drawingml/2006/main">
            <a:off x="4191000" y="4229100"/>
            <a:ext cx="3009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B6C65"/>
                </a:solidFill>
                <a:latin typeface="Calibri"/>
                <a:ea typeface="Calibri"/>
                <a:cs typeface="Calibri"/>
              </a:defRPr>
            </a:pPr>
            <a:r>
              <a:rPr sz="1875" b="0">
                <a:solidFill>
                  <a:srgbClr val="5B6C65"/>
                </a:solidFill>
                <a:latin typeface="Calibri"/>
                <a:ea typeface="Calibri"/>
                <a:cs typeface="Calibri"/>
              </a:rPr>
              <a:t>Janji kirim tak terpenuhi</a:t>
            </a:r>
          </a:p>
        </p:txBody>
      </p:sp>
      <p:sp>
        <p:nvSpPr>
          <p:cNvPr id="33" name="">
            <a:extLst xmlns:a="http://schemas.openxmlformats.org/drawingml/2006/main">
              <a:ext uri="{FF2B5EF4-FFF2-40B4-BE49-F238E27FC236}">
                <a16:creationId xmlns:a16="http://schemas.microsoft.com/office/drawing/2014/main" id="{4FEA29D1-DCAF-4270-952D-64A47F7BE637}"/>
              </a:ext>
            </a:extLst>
          </p:cNvPr>
          <p:cNvSpPr>
            <a:spLocks xmlns:a="http://schemas.openxmlformats.org/drawingml/2006/main" noGrp="1"/>
          </p:cNvSpPr>
          <p:nvPr/>
        </p:nvSpPr>
        <p:spPr>
          <a:xfrm xmlns:a="http://schemas.openxmlformats.org/drawingml/2006/main" rot="0">
            <a:off x="7372350" y="4343400"/>
            <a:ext cx="314325" cy="142875"/>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34" name="text-164">
            <a:extLst xmlns:a="http://schemas.openxmlformats.org/drawingml/2006/main">
              <a:ext uri="{FF2B5EF4-FFF2-40B4-BE49-F238E27FC236}">
                <a16:creationId xmlns:a16="http://schemas.microsoft.com/office/drawing/2014/main" id="{7E98E6D5-476D-4051-A14A-29A4E2BB64E9}"/>
              </a:ext>
            </a:extLst>
          </p:cNvPr>
          <p:cNvSpPr>
            <a:spLocks xmlns:a="http://schemas.openxmlformats.org/drawingml/2006/main" noGrp="1"/>
          </p:cNvSpPr>
          <p:nvPr/>
        </p:nvSpPr>
        <p:spPr>
          <a:xfrm xmlns:a="http://schemas.openxmlformats.org/drawingml/2006/main">
            <a:off x="7953375" y="4229100"/>
            <a:ext cx="3648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958"/>
                </a:solidFill>
                <a:latin typeface="Calibri"/>
                <a:ea typeface="Calibri"/>
                <a:cs typeface="Calibri"/>
              </a:defRPr>
            </a:pPr>
            <a:r>
              <a:rPr sz="1875" b="1">
                <a:solidFill>
                  <a:srgbClr val="087958"/>
                </a:solidFill>
                <a:latin typeface="Calibri"/>
                <a:ea typeface="Calibri"/>
                <a:cs typeface="Calibri"/>
              </a:rPr>
              <a:t>Kapasitas nyata + buffer</a:t>
            </a:r>
          </a:p>
        </p:txBody>
      </p:sp>
      <p:sp>
        <p:nvSpPr>
          <p:cNvPr id="35" name="">
            <a:extLst xmlns:a="http://schemas.openxmlformats.org/drawingml/2006/main">
              <a:ext uri="{FF2B5EF4-FFF2-40B4-BE49-F238E27FC236}">
                <a16:creationId xmlns:a16="http://schemas.microsoft.com/office/drawing/2014/main" id="{34E01DA6-D38A-4AC6-A587-8ED317DBE5FE}"/>
              </a:ext>
            </a:extLst>
          </p:cNvPr>
          <p:cNvSpPr>
            <a:spLocks xmlns:a="http://schemas.openxmlformats.org/drawingml/2006/main" noGrp="1"/>
          </p:cNvSpPr>
          <p:nvPr/>
        </p:nvSpPr>
        <p:spPr>
          <a:xfrm xmlns:a="http://schemas.openxmlformats.org/drawingml/2006/main">
            <a:off x="457200" y="5181600"/>
            <a:ext cx="11277600" cy="419100"/>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36" name="text-165">
            <a:extLst xmlns:a="http://schemas.openxmlformats.org/drawingml/2006/main">
              <a:ext uri="{FF2B5EF4-FFF2-40B4-BE49-F238E27FC236}">
                <a16:creationId xmlns:a16="http://schemas.microsoft.com/office/drawing/2014/main" id="{77EB56C6-7D50-4D76-8932-F60A6FE4BFBE}"/>
              </a:ext>
            </a:extLst>
          </p:cNvPr>
          <p:cNvSpPr>
            <a:spLocks xmlns:a="http://schemas.openxmlformats.org/drawingml/2006/main" noGrp="1"/>
          </p:cNvSpPr>
          <p:nvPr/>
        </p:nvSpPr>
        <p:spPr>
          <a:xfrm xmlns:a="http://schemas.openxmlformats.org/drawingml/2006/main">
            <a:off x="619125" y="5286375"/>
            <a:ext cx="1847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BATAS RISIKO</a:t>
            </a:r>
          </a:p>
        </p:txBody>
      </p:sp>
      <p:sp>
        <p:nvSpPr>
          <p:cNvPr id="37" name="text-166">
            <a:extLst xmlns:a="http://schemas.openxmlformats.org/drawingml/2006/main">
              <a:ext uri="{FF2B5EF4-FFF2-40B4-BE49-F238E27FC236}">
                <a16:creationId xmlns:a16="http://schemas.microsoft.com/office/drawing/2014/main" id="{B978ACE9-80AC-4BC0-8B43-06E8DAB0B848}"/>
              </a:ext>
            </a:extLst>
          </p:cNvPr>
          <p:cNvSpPr>
            <a:spLocks xmlns:a="http://schemas.openxmlformats.org/drawingml/2006/main" noGrp="1"/>
          </p:cNvSpPr>
          <p:nvPr/>
        </p:nvSpPr>
        <p:spPr>
          <a:xfrm xmlns:a="http://schemas.openxmlformats.org/drawingml/2006/main">
            <a:off x="2466975" y="5267325"/>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02B28"/>
                </a:solidFill>
                <a:latin typeface="Calibri"/>
                <a:ea typeface="Calibri"/>
                <a:cs typeface="Calibri"/>
              </a:defRPr>
            </a:pPr>
            <a:r>
              <a:rPr sz="1650" b="1">
                <a:solidFill>
                  <a:srgbClr val="002B28"/>
                </a:solidFill>
                <a:latin typeface="Calibri"/>
                <a:ea typeface="Calibri"/>
                <a:cs typeface="Calibri"/>
              </a:rPr>
              <a:t>Tentukan biaya, waktu, dan komitmen maksimum yang sanggup ditanggung.</a:t>
            </a:r>
          </a:p>
        </p:txBody>
      </p:sp>
    </p:spTree>
    <p:extLst>
      <p:ext uri="{BB962C8B-B14F-4D97-AF65-F5344CB8AC3E}">
        <p14:creationId xmlns:p14="http://schemas.microsoft.com/office/powerpoint/2010/main" val="17667112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fa79d8efc1045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B64D0B-9644-4F05-9931-223B867FC819}"/>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b3d656dc2d7422c"/>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67">
            <a:extLst xmlns:a="http://schemas.openxmlformats.org/drawingml/2006/main">
              <a:ext uri="{FF2B5EF4-FFF2-40B4-BE49-F238E27FC236}">
                <a16:creationId xmlns:a16="http://schemas.microsoft.com/office/drawing/2014/main" id="{EC62E940-8028-4F7A-906C-4722EC089FF8}"/>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Tim perlu menutup tiga peran, meski bisa dirangkap</a:t>
            </a:r>
          </a:p>
        </p:txBody>
      </p:sp>
      <p:sp>
        <p:nvSpPr>
          <p:cNvPr id="5" name="text-168">
            <a:extLst xmlns:a="http://schemas.openxmlformats.org/drawingml/2006/main">
              <a:ext uri="{FF2B5EF4-FFF2-40B4-BE49-F238E27FC236}">
                <a16:creationId xmlns:a16="http://schemas.microsoft.com/office/drawing/2014/main" id="{41405D2C-EF54-48D6-A54A-227F2A41F974}"/>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Designer, Showman, dan Enforcer dari modul membantu kita melihat celah peran.</a:t>
            </a:r>
          </a:p>
        </p:txBody>
      </p:sp>
      <p:sp>
        <p:nvSpPr>
          <p:cNvPr id="6" name="text-169">
            <a:extLst xmlns:a="http://schemas.openxmlformats.org/drawingml/2006/main">
              <a:ext uri="{FF2B5EF4-FFF2-40B4-BE49-F238E27FC236}">
                <a16:creationId xmlns:a16="http://schemas.microsoft.com/office/drawing/2014/main" id="{EEB6F779-FD17-4C01-8BEC-A75934D4CDE3}"/>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CEO Masterclass</a:t>
            </a:r>
          </a:p>
        </p:txBody>
      </p:sp>
      <p:sp>
        <p:nvSpPr>
          <p:cNvPr id="7" name="text-170">
            <a:extLst xmlns:a="http://schemas.openxmlformats.org/drawingml/2006/main">
              <a:ext uri="{FF2B5EF4-FFF2-40B4-BE49-F238E27FC236}">
                <a16:creationId xmlns:a16="http://schemas.microsoft.com/office/drawing/2014/main" id="{EDA51C61-5B08-4487-9176-A19C39D90C58}"/>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171">
            <a:extLst xmlns:a="http://schemas.openxmlformats.org/drawingml/2006/main">
              <a:ext uri="{FF2B5EF4-FFF2-40B4-BE49-F238E27FC236}">
                <a16:creationId xmlns:a16="http://schemas.microsoft.com/office/drawing/2014/main" id="{9A7EA8FB-C1D9-4465-8145-09960ACA2E55}"/>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10</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e302f910efa4c87"/>
          <a:stretch xmlns:a="http://schemas.openxmlformats.org/drawingml/2006/main"/>
        </p:blipFill>
        <p:spPr>
          <a:xfrm xmlns:a="http://schemas.openxmlformats.org/drawingml/2006/main">
            <a:off x="1366838" y="1838325"/>
            <a:ext cx="9458325" cy="31527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483E832-CFB2-48B8-AF44-2946D514C259}"/>
              </a:ext>
            </a:extLst>
          </p:cNvPr>
          <p:cNvSpPr>
            <a:spLocks xmlns:a="http://schemas.openxmlformats.org/drawingml/2006/main" noGrp="1"/>
          </p:cNvSpPr>
          <p:nvPr/>
        </p:nvSpPr>
        <p:spPr>
          <a:xfrm xmlns:a="http://schemas.openxmlformats.org/drawingml/2006/main">
            <a:off x="457200" y="4391025"/>
            <a:ext cx="11277600" cy="12192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text-172">
            <a:extLst xmlns:a="http://schemas.openxmlformats.org/drawingml/2006/main">
              <a:ext uri="{FF2B5EF4-FFF2-40B4-BE49-F238E27FC236}">
                <a16:creationId xmlns:a16="http://schemas.microsoft.com/office/drawing/2014/main" id="{FCCA1849-23E3-4A3F-8C85-3D72BF4AAC6F}"/>
              </a:ext>
            </a:extLst>
          </p:cNvPr>
          <p:cNvSpPr>
            <a:spLocks xmlns:a="http://schemas.openxmlformats.org/drawingml/2006/main" noGrp="1"/>
          </p:cNvSpPr>
          <p:nvPr/>
        </p:nvSpPr>
        <p:spPr>
          <a:xfrm xmlns:a="http://schemas.openxmlformats.org/drawingml/2006/main">
            <a:off x="457200" y="4486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THE DESIGNER</a:t>
            </a:r>
          </a:p>
        </p:txBody>
      </p:sp>
      <p:sp>
        <p:nvSpPr>
          <p:cNvPr id="12" name="text-173">
            <a:extLst xmlns:a="http://schemas.openxmlformats.org/drawingml/2006/main">
              <a:ext uri="{FF2B5EF4-FFF2-40B4-BE49-F238E27FC236}">
                <a16:creationId xmlns:a16="http://schemas.microsoft.com/office/drawing/2014/main" id="{CC90D62D-BE90-4703-A51C-17FF3AEB5ECB}"/>
              </a:ext>
            </a:extLst>
          </p:cNvPr>
          <p:cNvSpPr>
            <a:spLocks xmlns:a="http://schemas.openxmlformats.org/drawingml/2006/main" noGrp="1"/>
          </p:cNvSpPr>
          <p:nvPr/>
        </p:nvSpPr>
        <p:spPr>
          <a:xfrm xmlns:a="http://schemas.openxmlformats.org/drawingml/2006/main">
            <a:off x="457200" y="4810125"/>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Produk sesuai kebutuhan</a:t>
            </a:r>
          </a:p>
        </p:txBody>
      </p:sp>
      <p:sp>
        <p:nvSpPr>
          <p:cNvPr id="13" name="text-174">
            <a:extLst xmlns:a="http://schemas.openxmlformats.org/drawingml/2006/main">
              <a:ext uri="{FF2B5EF4-FFF2-40B4-BE49-F238E27FC236}">
                <a16:creationId xmlns:a16="http://schemas.microsoft.com/office/drawing/2014/main" id="{8C1EE676-3805-4B0A-857F-06AECDB9A3A0}"/>
              </a:ext>
            </a:extLst>
          </p:cNvPr>
          <p:cNvSpPr>
            <a:spLocks xmlns:a="http://schemas.openxmlformats.org/drawingml/2006/main" noGrp="1"/>
          </p:cNvSpPr>
          <p:nvPr/>
        </p:nvSpPr>
        <p:spPr>
          <a:xfrm xmlns:a="http://schemas.openxmlformats.org/drawingml/2006/main">
            <a:off x="457200" y="5200650"/>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Output: sampel + spesifikasi</a:t>
            </a:r>
          </a:p>
        </p:txBody>
      </p:sp>
      <p:sp>
        <p:nvSpPr>
          <p:cNvPr id="14" name="text-175">
            <a:extLst xmlns:a="http://schemas.openxmlformats.org/drawingml/2006/main">
              <a:ext uri="{FF2B5EF4-FFF2-40B4-BE49-F238E27FC236}">
                <a16:creationId xmlns:a16="http://schemas.microsoft.com/office/drawing/2014/main" id="{6F139BF9-5949-480B-84EE-50EB1307021D}"/>
              </a:ext>
            </a:extLst>
          </p:cNvPr>
          <p:cNvSpPr>
            <a:spLocks xmlns:a="http://schemas.openxmlformats.org/drawingml/2006/main" noGrp="1"/>
          </p:cNvSpPr>
          <p:nvPr/>
        </p:nvSpPr>
        <p:spPr>
          <a:xfrm xmlns:a="http://schemas.openxmlformats.org/drawingml/2006/main">
            <a:off x="4324350" y="4486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THE SHOWMAN</a:t>
            </a:r>
          </a:p>
        </p:txBody>
      </p:sp>
      <p:sp>
        <p:nvSpPr>
          <p:cNvPr id="15" name="text-176">
            <a:extLst xmlns:a="http://schemas.openxmlformats.org/drawingml/2006/main">
              <a:ext uri="{FF2B5EF4-FFF2-40B4-BE49-F238E27FC236}">
                <a16:creationId xmlns:a16="http://schemas.microsoft.com/office/drawing/2014/main" id="{6BBDAE19-1139-4E51-963E-A2EDAC84F499}"/>
              </a:ext>
            </a:extLst>
          </p:cNvPr>
          <p:cNvSpPr>
            <a:spLocks xmlns:a="http://schemas.openxmlformats.org/drawingml/2006/main" noGrp="1"/>
          </p:cNvSpPr>
          <p:nvPr/>
        </p:nvSpPr>
        <p:spPr>
          <a:xfrm xmlns:a="http://schemas.openxmlformats.org/drawingml/2006/main">
            <a:off x="4324350" y="4810125"/>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Janji ke buyer jelas</a:t>
            </a:r>
          </a:p>
        </p:txBody>
      </p:sp>
      <p:sp>
        <p:nvSpPr>
          <p:cNvPr id="16" name="text-177">
            <a:extLst xmlns:a="http://schemas.openxmlformats.org/drawingml/2006/main">
              <a:ext uri="{FF2B5EF4-FFF2-40B4-BE49-F238E27FC236}">
                <a16:creationId xmlns:a16="http://schemas.microsoft.com/office/drawing/2014/main" id="{ACD0D5FE-ED53-47AB-98C5-C4656E4A2D34}"/>
              </a:ext>
            </a:extLst>
          </p:cNvPr>
          <p:cNvSpPr>
            <a:spLocks xmlns:a="http://schemas.openxmlformats.org/drawingml/2006/main" noGrp="1"/>
          </p:cNvSpPr>
          <p:nvPr/>
        </p:nvSpPr>
        <p:spPr>
          <a:xfrm xmlns:a="http://schemas.openxmlformats.org/drawingml/2006/main">
            <a:off x="4324350" y="5200650"/>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Output: penawaran + kesepakatan</a:t>
            </a:r>
          </a:p>
        </p:txBody>
      </p:sp>
      <p:sp>
        <p:nvSpPr>
          <p:cNvPr id="17" name="text-178">
            <a:extLst xmlns:a="http://schemas.openxmlformats.org/drawingml/2006/main">
              <a:ext uri="{FF2B5EF4-FFF2-40B4-BE49-F238E27FC236}">
                <a16:creationId xmlns:a16="http://schemas.microsoft.com/office/drawing/2014/main" id="{E570BB03-A011-49B8-9589-9AD85C560449}"/>
              </a:ext>
            </a:extLst>
          </p:cNvPr>
          <p:cNvSpPr>
            <a:spLocks xmlns:a="http://schemas.openxmlformats.org/drawingml/2006/main" noGrp="1"/>
          </p:cNvSpPr>
          <p:nvPr/>
        </p:nvSpPr>
        <p:spPr>
          <a:xfrm xmlns:a="http://schemas.openxmlformats.org/drawingml/2006/main">
            <a:off x="8191500" y="4486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THE ENFORCER</a:t>
            </a:r>
          </a:p>
        </p:txBody>
      </p:sp>
      <p:sp>
        <p:nvSpPr>
          <p:cNvPr id="18" name="text-179">
            <a:extLst xmlns:a="http://schemas.openxmlformats.org/drawingml/2006/main">
              <a:ext uri="{FF2B5EF4-FFF2-40B4-BE49-F238E27FC236}">
                <a16:creationId xmlns:a16="http://schemas.microsoft.com/office/drawing/2014/main" id="{9F477C7B-0EC5-42B4-A493-CED29FE969FD}"/>
              </a:ext>
            </a:extLst>
          </p:cNvPr>
          <p:cNvSpPr>
            <a:spLocks xmlns:a="http://schemas.openxmlformats.org/drawingml/2006/main" noGrp="1"/>
          </p:cNvSpPr>
          <p:nvPr/>
        </p:nvSpPr>
        <p:spPr>
          <a:xfrm xmlns:a="http://schemas.openxmlformats.org/drawingml/2006/main">
            <a:off x="8191500" y="4810125"/>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62B27"/>
                </a:solidFill>
                <a:latin typeface="Calibri"/>
                <a:ea typeface="Calibri"/>
                <a:cs typeface="Calibri"/>
              </a:defRPr>
            </a:pPr>
            <a:r>
              <a:rPr sz="1950" b="1">
                <a:solidFill>
                  <a:srgbClr val="162B27"/>
                </a:solidFill>
                <a:latin typeface="Calibri"/>
                <a:ea typeface="Calibri"/>
                <a:cs typeface="Calibri"/>
              </a:rPr>
              <a:t>Eksekusi bisa diandalkan</a:t>
            </a:r>
          </a:p>
        </p:txBody>
      </p:sp>
      <p:sp>
        <p:nvSpPr>
          <p:cNvPr id="19" name="text-180">
            <a:extLst xmlns:a="http://schemas.openxmlformats.org/drawingml/2006/main">
              <a:ext uri="{FF2B5EF4-FFF2-40B4-BE49-F238E27FC236}">
                <a16:creationId xmlns:a16="http://schemas.microsoft.com/office/drawing/2014/main" id="{11BC760B-ED5B-4388-B0CA-7AB72DEA1E74}"/>
              </a:ext>
            </a:extLst>
          </p:cNvPr>
          <p:cNvSpPr>
            <a:spLocks xmlns:a="http://schemas.openxmlformats.org/drawingml/2006/main" noGrp="1"/>
          </p:cNvSpPr>
          <p:nvPr/>
        </p:nvSpPr>
        <p:spPr>
          <a:xfrm xmlns:a="http://schemas.openxmlformats.org/drawingml/2006/main">
            <a:off x="8191500" y="5200650"/>
            <a:ext cx="3514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B6C65"/>
                </a:solidFill>
                <a:latin typeface="Calibri"/>
                <a:ea typeface="Calibri"/>
                <a:cs typeface="Calibri"/>
              </a:defRPr>
            </a:pPr>
            <a:r>
              <a:rPr sz="1575" b="0">
                <a:solidFill>
                  <a:srgbClr val="5B6C65"/>
                </a:solidFill>
                <a:latin typeface="Calibri"/>
                <a:ea typeface="Calibri"/>
                <a:cs typeface="Calibri"/>
              </a:rPr>
              <a:t>Output: jadwal + kontrol kas</a:t>
            </a:r>
          </a:p>
        </p:txBody>
      </p:sp>
      <p:sp>
        <p:nvSpPr>
          <p:cNvPr id="20" name="">
            <a:extLst xmlns:a="http://schemas.openxmlformats.org/drawingml/2006/main">
              <a:ext uri="{FF2B5EF4-FFF2-40B4-BE49-F238E27FC236}">
                <a16:creationId xmlns:a16="http://schemas.microsoft.com/office/drawing/2014/main" id="{51C381F1-19ED-4A82-B7FF-88498E19FADC}"/>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1" name="text-181">
            <a:extLst xmlns:a="http://schemas.openxmlformats.org/drawingml/2006/main">
              <a:ext uri="{FF2B5EF4-FFF2-40B4-BE49-F238E27FC236}">
                <a16:creationId xmlns:a16="http://schemas.microsoft.com/office/drawing/2014/main" id="{9B9B4BBE-391A-4265-A59F-9F632A2744A5}"/>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Founder memastikan janji penjualan sesuai kemampuan tim yang menjalankan.</a:t>
            </a:r>
          </a:p>
        </p:txBody>
      </p:sp>
    </p:spTree>
    <p:extLst>
      <p:ext uri="{BB962C8B-B14F-4D97-AF65-F5344CB8AC3E}">
        <p14:creationId xmlns:p14="http://schemas.microsoft.com/office/powerpoint/2010/main" val="5815556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86a0e736e964f9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7B143AC-B69D-41F4-B318-EDF5BAB394FB}"/>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b8cef62353cc4dca"/>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27" name="text-182">
            <a:extLst xmlns:a="http://schemas.openxmlformats.org/drawingml/2006/main">
              <a:ext uri="{FF2B5EF4-FFF2-40B4-BE49-F238E27FC236}">
                <a16:creationId xmlns:a16="http://schemas.microsoft.com/office/drawing/2014/main" id="{44B8AFD2-69A7-4141-9EE5-694291C20EF2}"/>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Kasus ini paling masuk akal dibawa ke meja negosiasi</a:t>
            </a:r>
          </a:p>
        </p:txBody>
      </p:sp>
      <p:sp>
        <p:nvSpPr>
          <p:cNvPr id="28" name="text-183">
            <a:extLst xmlns:a="http://schemas.openxmlformats.org/drawingml/2006/main">
              <a:ext uri="{FF2B5EF4-FFF2-40B4-BE49-F238E27FC236}">
                <a16:creationId xmlns:a16="http://schemas.microsoft.com/office/drawing/2014/main" id="{61DA8EB3-76AC-4826-8AF2-577F9EF3ECBB}"/>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Kapasitas baru 300 dari 500 unit. Kas dan kemasan juga belum terbukti siap.</a:t>
            </a:r>
          </a:p>
        </p:txBody>
      </p:sp>
      <p:sp>
        <p:nvSpPr>
          <p:cNvPr id="29" name="text-184">
            <a:extLst xmlns:a="http://schemas.openxmlformats.org/drawingml/2006/main">
              <a:ext uri="{FF2B5EF4-FFF2-40B4-BE49-F238E27FC236}">
                <a16:creationId xmlns:a16="http://schemas.microsoft.com/office/drawing/2014/main" id="{868FB59F-5D7C-406B-8E1C-BEA18F947D57}"/>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Kasus dan seluruh angka pada slide ini adalah ilustrasi pembelajaran.</a:t>
            </a:r>
          </a:p>
        </p:txBody>
      </p:sp>
      <p:sp>
        <p:nvSpPr>
          <p:cNvPr id="30" name="text-185">
            <a:extLst xmlns:a="http://schemas.openxmlformats.org/drawingml/2006/main">
              <a:ext uri="{FF2B5EF4-FFF2-40B4-BE49-F238E27FC236}">
                <a16:creationId xmlns:a16="http://schemas.microsoft.com/office/drawing/2014/main" id="{2F25FB4A-13B7-4A4F-ADE1-84CEFE8877F4}"/>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31" name="text-186">
            <a:extLst xmlns:a="http://schemas.openxmlformats.org/drawingml/2006/main">
              <a:ext uri="{FF2B5EF4-FFF2-40B4-BE49-F238E27FC236}">
                <a16:creationId xmlns:a16="http://schemas.microsoft.com/office/drawing/2014/main" id="{BBC2C5C2-4835-44DD-8939-C4E0F9026C56}"/>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11</a:t>
            </a:r>
          </a:p>
        </p:txBody>
      </p:sp>
      <p:sp>
        <p:nvSpPr>
          <p:cNvPr id="32" name="text-187">
            <a:extLst xmlns:a="http://schemas.openxmlformats.org/drawingml/2006/main">
              <a:ext uri="{FF2B5EF4-FFF2-40B4-BE49-F238E27FC236}">
                <a16:creationId xmlns:a16="http://schemas.microsoft.com/office/drawing/2014/main" id="{A4E75983-6399-417D-9968-07225A9D8174}"/>
              </a:ext>
            </a:extLst>
          </p:cNvPr>
          <p:cNvSpPr>
            <a:spLocks xmlns:a="http://schemas.openxmlformats.org/drawingml/2006/main" noGrp="1"/>
          </p:cNvSpPr>
          <p:nvPr/>
        </p:nvSpPr>
        <p:spPr>
          <a:xfrm xmlns:a="http://schemas.openxmlformats.org/drawingml/2006/main">
            <a:off x="457200" y="200025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KAPASITAS DALAM 30 HARI</a:t>
            </a:r>
          </a:p>
        </p:txBody>
      </p:sp>
      <p:graphicFrame>
        <p:nvGraphicFramePr>
          <p:cNvPr id="57" name="Chart"/>
          <p:cNvGraphicFramePr/>
          <p:nvPr/>
        </p:nvGraphicFramePr>
        <p:xfrm>
          <a:off xmlns:a="http://schemas.openxmlformats.org/drawingml/2006/main" x="381000" y="2581275"/>
          <a:ext xmlns:a="http://schemas.openxmlformats.org/drawingml/2006/main" cx="6572250" cy="2190750"/>
        </p:xfrm>
        <a:graphic xmlns:a="http://schemas.openxmlformats.org/drawingml/2006/main">
          <a:graphicData uri="http://schemas.openxmlformats.org/drawingml/2006/chart">
            <c:chart xmlns:r="http://schemas.openxmlformats.org/officeDocument/2006/relationships" xmlns:c="http://schemas.openxmlformats.org/drawingml/2006/chart" r:id="R26de03c169b342df"/>
          </a:graphicData>
        </a:graphic>
      </p:graphicFrame>
      <p:sp>
        <p:nvSpPr>
          <p:cNvPr id="34" name="text-188">
            <a:extLst xmlns:a="http://schemas.openxmlformats.org/drawingml/2006/main">
              <a:ext uri="{FF2B5EF4-FFF2-40B4-BE49-F238E27FC236}">
                <a16:creationId xmlns:a16="http://schemas.microsoft.com/office/drawing/2014/main" id="{13CBFB1B-2360-4593-B339-4F9131726D26}"/>
              </a:ext>
            </a:extLst>
          </p:cNvPr>
          <p:cNvSpPr>
            <a:spLocks xmlns:a="http://schemas.openxmlformats.org/drawingml/2006/main" noGrp="1"/>
          </p:cNvSpPr>
          <p:nvPr/>
        </p:nvSpPr>
        <p:spPr>
          <a:xfrm xmlns:a="http://schemas.openxmlformats.org/drawingml/2006/main">
            <a:off x="457200" y="500062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87958"/>
                </a:solidFill>
                <a:latin typeface="Calibri"/>
                <a:ea typeface="Calibri"/>
                <a:cs typeface="Calibri"/>
              </a:defRPr>
            </a:pPr>
            <a:r>
              <a:rPr sz="3225" b="1">
                <a:solidFill>
                  <a:srgbClr val="087958"/>
                </a:solidFill>
                <a:latin typeface="Calibri"/>
                <a:ea typeface="Calibri"/>
                <a:cs typeface="Calibri"/>
              </a:rPr>
              <a:t>200 unit</a:t>
            </a:r>
          </a:p>
        </p:txBody>
      </p:sp>
      <p:sp>
        <p:nvSpPr>
          <p:cNvPr id="35" name="text-189">
            <a:extLst xmlns:a="http://schemas.openxmlformats.org/drawingml/2006/main">
              <a:ext uri="{FF2B5EF4-FFF2-40B4-BE49-F238E27FC236}">
                <a16:creationId xmlns:a16="http://schemas.microsoft.com/office/drawing/2014/main" id="{9BCD991C-783B-4B4D-BC68-BC276E2823DB}"/>
              </a:ext>
            </a:extLst>
          </p:cNvPr>
          <p:cNvSpPr>
            <a:spLocks xmlns:a="http://schemas.openxmlformats.org/drawingml/2006/main" noGrp="1"/>
          </p:cNvSpPr>
          <p:nvPr/>
        </p:nvSpPr>
        <p:spPr>
          <a:xfrm xmlns:a="http://schemas.openxmlformats.org/drawingml/2006/main">
            <a:off x="2638425" y="51435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gap yang perlu diselesaikan</a:t>
            </a:r>
          </a:p>
        </p:txBody>
      </p:sp>
      <p:sp>
        <p:nvSpPr>
          <p:cNvPr id="36" name="text-190">
            <a:extLst xmlns:a="http://schemas.openxmlformats.org/drawingml/2006/main">
              <a:ext uri="{FF2B5EF4-FFF2-40B4-BE49-F238E27FC236}">
                <a16:creationId xmlns:a16="http://schemas.microsoft.com/office/drawing/2014/main" id="{ECE8F165-2CE3-4E2B-8386-F6A3D96F9526}"/>
              </a:ext>
            </a:extLst>
          </p:cNvPr>
          <p:cNvSpPr>
            <a:spLocks xmlns:a="http://schemas.openxmlformats.org/drawingml/2006/main" noGrp="1"/>
          </p:cNvSpPr>
          <p:nvPr/>
        </p:nvSpPr>
        <p:spPr>
          <a:xfrm xmlns:a="http://schemas.openxmlformats.org/drawingml/2006/main">
            <a:off x="7667625" y="2000250"/>
            <a:ext cx="388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SEBELUM BILANG “YA”</a:t>
            </a:r>
          </a:p>
        </p:txBody>
      </p:sp>
      <p:sp>
        <p:nvSpPr>
          <p:cNvPr id="37" name="text-191">
            <a:extLst xmlns:a="http://schemas.openxmlformats.org/drawingml/2006/main">
              <a:ext uri="{FF2B5EF4-FFF2-40B4-BE49-F238E27FC236}">
                <a16:creationId xmlns:a16="http://schemas.microsoft.com/office/drawing/2014/main" id="{D160C493-6B94-455C-9D47-DE9D6E837A02}"/>
              </a:ext>
            </a:extLst>
          </p:cNvPr>
          <p:cNvSpPr>
            <a:spLocks xmlns:a="http://schemas.openxmlformats.org/drawingml/2006/main" noGrp="1"/>
          </p:cNvSpPr>
          <p:nvPr/>
        </p:nvSpPr>
        <p:spPr>
          <a:xfrm xmlns:a="http://schemas.openxmlformats.org/drawingml/2006/main">
            <a:off x="7667625" y="241935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VOLUME</a:t>
            </a:r>
          </a:p>
        </p:txBody>
      </p:sp>
      <p:sp>
        <p:nvSpPr>
          <p:cNvPr id="38" name="text-192">
            <a:extLst xmlns:a="http://schemas.openxmlformats.org/drawingml/2006/main">
              <a:ext uri="{FF2B5EF4-FFF2-40B4-BE49-F238E27FC236}">
                <a16:creationId xmlns:a16="http://schemas.microsoft.com/office/drawing/2014/main" id="{97B53F56-978A-491D-B806-1181987BF138}"/>
              </a:ext>
            </a:extLst>
          </p:cNvPr>
          <p:cNvSpPr>
            <a:spLocks xmlns:a="http://schemas.openxmlformats.org/drawingml/2006/main" noGrp="1"/>
          </p:cNvSpPr>
          <p:nvPr/>
        </p:nvSpPr>
        <p:spPr>
          <a:xfrm xmlns:a="http://schemas.openxmlformats.org/drawingml/2006/main">
            <a:off x="7667625" y="2724150"/>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Bisa dikurangi / dibagi pengiriman?</a:t>
            </a:r>
          </a:p>
        </p:txBody>
      </p:sp>
      <p:sp>
        <p:nvSpPr>
          <p:cNvPr id="39" name="text-193">
            <a:extLst xmlns:a="http://schemas.openxmlformats.org/drawingml/2006/main">
              <a:ext uri="{FF2B5EF4-FFF2-40B4-BE49-F238E27FC236}">
                <a16:creationId xmlns:a16="http://schemas.microsoft.com/office/drawing/2014/main" id="{A16D10F6-BDB8-40F0-82E2-019ED376D01D}"/>
              </a:ext>
            </a:extLst>
          </p:cNvPr>
          <p:cNvSpPr>
            <a:spLocks xmlns:a="http://schemas.openxmlformats.org/drawingml/2006/main" noGrp="1"/>
          </p:cNvSpPr>
          <p:nvPr/>
        </p:nvSpPr>
        <p:spPr>
          <a:xfrm xmlns:a="http://schemas.openxmlformats.org/drawingml/2006/main">
            <a:off x="7667625" y="3305175"/>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PEMBAYARAN</a:t>
            </a:r>
          </a:p>
        </p:txBody>
      </p:sp>
      <p:sp>
        <p:nvSpPr>
          <p:cNvPr id="40" name="text-194">
            <a:extLst xmlns:a="http://schemas.openxmlformats.org/drawingml/2006/main">
              <a:ext uri="{FF2B5EF4-FFF2-40B4-BE49-F238E27FC236}">
                <a16:creationId xmlns:a16="http://schemas.microsoft.com/office/drawing/2014/main" id="{B2EFB5A4-E50C-459F-99BA-D7D2B01F59D4}"/>
              </a:ext>
            </a:extLst>
          </p:cNvPr>
          <p:cNvSpPr>
            <a:spLocks xmlns:a="http://schemas.openxmlformats.org/drawingml/2006/main" noGrp="1"/>
          </p:cNvSpPr>
          <p:nvPr/>
        </p:nvSpPr>
        <p:spPr>
          <a:xfrm xmlns:a="http://schemas.openxmlformats.org/drawingml/2006/main">
            <a:off x="7667625" y="360997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Bisa diubah agar kas mencukupi?</a:t>
            </a:r>
          </a:p>
        </p:txBody>
      </p:sp>
      <p:sp>
        <p:nvSpPr>
          <p:cNvPr id="41" name="text-195">
            <a:extLst xmlns:a="http://schemas.openxmlformats.org/drawingml/2006/main">
              <a:ext uri="{FF2B5EF4-FFF2-40B4-BE49-F238E27FC236}">
                <a16:creationId xmlns:a16="http://schemas.microsoft.com/office/drawing/2014/main" id="{1787634F-B9CB-4788-A893-55DC4525A7F2}"/>
              </a:ext>
            </a:extLst>
          </p:cNvPr>
          <p:cNvSpPr>
            <a:spLocks xmlns:a="http://schemas.openxmlformats.org/drawingml/2006/main" noGrp="1"/>
          </p:cNvSpPr>
          <p:nvPr/>
        </p:nvSpPr>
        <p:spPr>
          <a:xfrm xmlns:a="http://schemas.openxmlformats.org/drawingml/2006/main">
            <a:off x="7667625" y="4191000"/>
            <a:ext cx="3857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MUTU</a:t>
            </a:r>
          </a:p>
        </p:txBody>
      </p:sp>
      <p:sp>
        <p:nvSpPr>
          <p:cNvPr id="42" name="text-196">
            <a:extLst xmlns:a="http://schemas.openxmlformats.org/drawingml/2006/main">
              <a:ext uri="{FF2B5EF4-FFF2-40B4-BE49-F238E27FC236}">
                <a16:creationId xmlns:a16="http://schemas.microsoft.com/office/drawing/2014/main" id="{83D7E40E-B2B2-46BC-B432-EB9ED84E987A}"/>
              </a:ext>
            </a:extLst>
          </p:cNvPr>
          <p:cNvSpPr>
            <a:spLocks xmlns:a="http://schemas.openxmlformats.org/drawingml/2006/main" noGrp="1"/>
          </p:cNvSpPr>
          <p:nvPr/>
        </p:nvSpPr>
        <p:spPr>
          <a:xfrm xmlns:a="http://schemas.openxmlformats.org/drawingml/2006/main">
            <a:off x="7667625" y="4495800"/>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62B27"/>
                </a:solidFill>
                <a:latin typeface="Calibri"/>
                <a:ea typeface="Calibri"/>
                <a:cs typeface="Calibri"/>
              </a:defRPr>
            </a:pPr>
            <a:r>
              <a:rPr sz="1800" b="1">
                <a:solidFill>
                  <a:srgbClr val="162B27"/>
                </a:solidFill>
                <a:latin typeface="Calibri"/>
                <a:ea typeface="Calibri"/>
                <a:cs typeface="Calibri"/>
              </a:rPr>
              <a:t>Kemasan dan spesifikasi sudah diuji?</a:t>
            </a:r>
          </a:p>
        </p:txBody>
      </p:sp>
      <p:sp>
        <p:nvSpPr>
          <p:cNvPr id="43" name="">
            <a:extLst xmlns:a="http://schemas.openxmlformats.org/drawingml/2006/main">
              <a:ext uri="{FF2B5EF4-FFF2-40B4-BE49-F238E27FC236}">
                <a16:creationId xmlns:a16="http://schemas.microsoft.com/office/drawing/2014/main" id="{54E31359-F3E1-4FD0-A085-2AC53AEDE4E5}"/>
              </a:ext>
            </a:extLst>
          </p:cNvPr>
          <p:cNvSpPr>
            <a:spLocks xmlns:a="http://schemas.openxmlformats.org/drawingml/2006/main" noGrp="1"/>
          </p:cNvSpPr>
          <p:nvPr/>
        </p:nvSpPr>
        <p:spPr>
          <a:xfrm xmlns:a="http://schemas.openxmlformats.org/drawingml/2006/main">
            <a:off x="7667625" y="5162550"/>
            <a:ext cx="4067175" cy="428625"/>
          </a:xfrm>
          <a:prstGeom xmlns:a="http://schemas.openxmlformats.org/drawingml/2006/main" prst="rect">
            <a:avLst/>
          </a:prstGeom>
          <a:solidFill xmlns:a="http://schemas.openxmlformats.org/drawingml/2006/main">
            <a:srgbClr val="EBF4EE"/>
          </a:solidFill>
          <a:ln xmlns:a="http://schemas.openxmlformats.org/drawingml/2006/main" w="0">
            <a:noFill/>
          </a:ln>
        </p:spPr>
      </p:sp>
      <p:sp>
        <p:nvSpPr>
          <p:cNvPr id="44" name="text-197">
            <a:extLst xmlns:a="http://schemas.openxmlformats.org/drawingml/2006/main">
              <a:ext uri="{FF2B5EF4-FFF2-40B4-BE49-F238E27FC236}">
                <a16:creationId xmlns:a16="http://schemas.microsoft.com/office/drawing/2014/main" id="{30B72475-08B8-4F24-8C98-C010F3A01178}"/>
              </a:ext>
            </a:extLst>
          </p:cNvPr>
          <p:cNvSpPr>
            <a:spLocks xmlns:a="http://schemas.openxmlformats.org/drawingml/2006/main" noGrp="1"/>
          </p:cNvSpPr>
          <p:nvPr/>
        </p:nvSpPr>
        <p:spPr>
          <a:xfrm xmlns:a="http://schemas.openxmlformats.org/drawingml/2006/main">
            <a:off x="7820025" y="5257800"/>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Tidak ada jalan aman? Tunda.</a:t>
            </a:r>
          </a:p>
        </p:txBody>
      </p:sp>
      <p:sp>
        <p:nvSpPr>
          <p:cNvPr id="45" name="">
            <a:extLst xmlns:a="http://schemas.openxmlformats.org/drawingml/2006/main">
              <a:ext uri="{FF2B5EF4-FFF2-40B4-BE49-F238E27FC236}">
                <a16:creationId xmlns:a16="http://schemas.microsoft.com/office/drawing/2014/main" id="{2E4FCE6D-CF94-430C-8912-1EF175746A87}"/>
              </a:ext>
            </a:extLst>
          </p:cNvPr>
          <p:cNvSpPr>
            <a:spLocks xmlns:a="http://schemas.openxmlformats.org/drawingml/2006/main" noGrp="1"/>
          </p:cNvSpPr>
          <p:nvPr/>
        </p:nvSpPr>
        <p:spPr>
          <a:xfrm xmlns:a="http://schemas.openxmlformats.org/drawingml/2006/main">
            <a:off x="457200" y="565785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46" name="text-198">
            <a:extLst xmlns:a="http://schemas.openxmlformats.org/drawingml/2006/main">
              <a:ext uri="{FF2B5EF4-FFF2-40B4-BE49-F238E27FC236}">
                <a16:creationId xmlns:a16="http://schemas.microsoft.com/office/drawing/2014/main" id="{5791EA09-72BF-4443-81CD-771BDFC03F6B}"/>
              </a:ext>
            </a:extLst>
          </p:cNvPr>
          <p:cNvSpPr>
            <a:spLocks xmlns:a="http://schemas.openxmlformats.org/drawingml/2006/main" noGrp="1"/>
          </p:cNvSpPr>
          <p:nvPr/>
        </p:nvSpPr>
        <p:spPr>
          <a:xfrm xmlns:a="http://schemas.openxmlformats.org/drawingml/2006/main">
            <a:off x="457200" y="581977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958"/>
                </a:solidFill>
                <a:latin typeface="Calibri"/>
                <a:ea typeface="Calibri"/>
                <a:cs typeface="Calibri"/>
              </a:defRPr>
            </a:pPr>
            <a:r>
              <a:rPr sz="1800" b="1">
                <a:solidFill>
                  <a:srgbClr val="087958"/>
                </a:solidFill>
                <a:latin typeface="Calibri"/>
                <a:ea typeface="Calibri"/>
                <a:cs typeface="Calibri"/>
              </a:rPr>
              <a:t>Apakah jawabanmu berubah dari awal sesi? Jelaskan bukti yang mengubahnya.</a:t>
            </a:r>
          </a:p>
        </p:txBody>
      </p:sp>
    </p:spTree>
    <p:extLst>
      <p:ext uri="{BB962C8B-B14F-4D97-AF65-F5344CB8AC3E}">
        <p14:creationId xmlns:p14="http://schemas.microsoft.com/office/powerpoint/2010/main" val="747243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27084f5c94d4ea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487635-077F-4F2F-A8FA-EAD1E1387F97}"/>
              </a:ext>
            </a:extLst>
          </p:cNvPr>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9e777a6568f4e91"/>
          <a:stretch xmlns:a="http://schemas.openxmlformats.org/drawingml/2006/main"/>
        </p:blipFill>
        <p:spPr>
          <a:xfrm xmlns:a="http://schemas.openxmlformats.org/drawingml/2006/main">
            <a:off x="10477500" y="228686"/>
            <a:ext cx="1257300" cy="471315"/>
          </a:xfrm>
          <a:prstGeom xmlns:a="http://schemas.openxmlformats.org/drawingml/2006/main" prst="rect">
            <a:avLst/>
          </a:prstGeom>
        </p:spPr>
      </p:pic>
      <p:sp>
        <p:nvSpPr>
          <p:cNvPr id="4" name="text-199">
            <a:extLst xmlns:a="http://schemas.openxmlformats.org/drawingml/2006/main">
              <a:ext uri="{FF2B5EF4-FFF2-40B4-BE49-F238E27FC236}">
                <a16:creationId xmlns:a16="http://schemas.microsoft.com/office/drawing/2014/main" id="{E14144A3-BE15-456E-BAA8-E33AEE4E2F22}"/>
              </a:ext>
            </a:extLst>
          </p:cNvPr>
          <p:cNvSpPr>
            <a:spLocks xmlns:a="http://schemas.openxmlformats.org/drawingml/2006/main" noGrp="1"/>
          </p:cNvSpPr>
          <p:nvPr/>
        </p:nvSpPr>
        <p:spPr>
          <a:xfrm xmlns:a="http://schemas.openxmlformats.org/drawingml/2006/main">
            <a:off x="457200" y="342900"/>
            <a:ext cx="9763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2B27"/>
                </a:solidFill>
                <a:latin typeface="Calibri"/>
                <a:ea typeface="Calibri"/>
                <a:cs typeface="Calibri"/>
              </a:defRPr>
            </a:pPr>
            <a:r>
              <a:rPr sz="2550" b="1">
                <a:solidFill>
                  <a:srgbClr val="162B27"/>
                </a:solidFill>
                <a:latin typeface="Calibri"/>
                <a:ea typeface="Calibri"/>
                <a:cs typeface="Calibri"/>
              </a:rPr>
              <a:t>Satu uji kecil menjadi langkah berikutnya setelah sesi ini</a:t>
            </a:r>
          </a:p>
        </p:txBody>
      </p:sp>
      <p:sp>
        <p:nvSpPr>
          <p:cNvPr id="5" name="text-200">
            <a:extLst xmlns:a="http://schemas.openxmlformats.org/drawingml/2006/main">
              <a:ext uri="{FF2B5EF4-FFF2-40B4-BE49-F238E27FC236}">
                <a16:creationId xmlns:a16="http://schemas.microsoft.com/office/drawing/2014/main" id="{20F013AA-5798-4AE9-85A1-F61622B31B2B}"/>
              </a:ext>
            </a:extLst>
          </p:cNvPr>
          <p:cNvSpPr>
            <a:spLocks xmlns:a="http://schemas.openxmlformats.org/drawingml/2006/main" noGrp="1"/>
          </p:cNvSpPr>
          <p:nvPr/>
        </p:nvSpPr>
        <p:spPr>
          <a:xfrm xmlns:a="http://schemas.openxmlformats.org/drawingml/2006/main">
            <a:off x="457200" y="1285875"/>
            <a:ext cx="1120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6C65"/>
                </a:solidFill>
                <a:latin typeface="Calibri"/>
                <a:ea typeface="Calibri"/>
                <a:cs typeface="Calibri"/>
              </a:defRPr>
            </a:pPr>
            <a:r>
              <a:rPr sz="1725" b="0">
                <a:solidFill>
                  <a:srgbClr val="5B6C65"/>
                </a:solidFill>
                <a:latin typeface="Calibri"/>
                <a:ea typeface="Calibri"/>
                <a:cs typeface="Calibri"/>
              </a:rPr>
              <a:t>Pilih satu asumsi paling berisiko dari bisnismu. Tentukan bukti sebelum menambah komitmen.</a:t>
            </a:r>
          </a:p>
        </p:txBody>
      </p:sp>
      <p:sp>
        <p:nvSpPr>
          <p:cNvPr id="6" name="text-201">
            <a:extLst xmlns:a="http://schemas.openxmlformats.org/drawingml/2006/main">
              <a:ext uri="{FF2B5EF4-FFF2-40B4-BE49-F238E27FC236}">
                <a16:creationId xmlns:a16="http://schemas.microsoft.com/office/drawing/2014/main" id="{D03E099C-C689-4A20-88B3-FA08EA78A8C5}"/>
              </a:ext>
            </a:extLst>
          </p:cNvPr>
          <p:cNvSpPr>
            <a:spLocks xmlns:a="http://schemas.openxmlformats.org/drawingml/2006/main" noGrp="1"/>
          </p:cNvSpPr>
          <p:nvPr/>
        </p:nvSpPr>
        <p:spPr>
          <a:xfrm xmlns:a="http://schemas.openxmlformats.org/drawingml/2006/main">
            <a:off x="457200" y="6134100"/>
            <a:ext cx="11191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6C65"/>
                </a:solidFill>
                <a:latin typeface="Calibri"/>
                <a:ea typeface="Calibri"/>
                <a:cs typeface="Calibri"/>
              </a:defRPr>
            </a:pPr>
            <a:r>
              <a:rPr sz="900" b="0">
                <a:solidFill>
                  <a:srgbClr val="5B6C65"/>
                </a:solidFill>
                <a:latin typeface="Calibri"/>
                <a:ea typeface="Calibri"/>
                <a:cs typeface="Calibri"/>
              </a:rPr>
              <a:t>Adaptasi Modul 1 h.27–29; Strategyzer. Contoh rencana, bukan benchmark hasil.</a:t>
            </a:r>
          </a:p>
        </p:txBody>
      </p:sp>
      <p:sp>
        <p:nvSpPr>
          <p:cNvPr id="7" name="text-202">
            <a:extLst xmlns:a="http://schemas.openxmlformats.org/drawingml/2006/main">
              <a:ext uri="{FF2B5EF4-FFF2-40B4-BE49-F238E27FC236}">
                <a16:creationId xmlns:a16="http://schemas.microsoft.com/office/drawing/2014/main" id="{7A26BA8A-F2EF-494C-AC26-DDC7FADE9071}"/>
              </a:ext>
            </a:extLst>
          </p:cNvPr>
          <p:cNvSpPr>
            <a:spLocks xmlns:a="http://schemas.openxmlformats.org/drawingml/2006/main" noGrp="1"/>
          </p:cNvSpPr>
          <p:nvPr/>
        </p:nvSpPr>
        <p:spPr>
          <a:xfrm xmlns:a="http://schemas.openxmlformats.org/drawingml/2006/main">
            <a:off x="457200" y="6534150"/>
            <a:ext cx="571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CMC × BD Ekspor</a:t>
            </a:r>
          </a:p>
        </p:txBody>
      </p:sp>
      <p:sp>
        <p:nvSpPr>
          <p:cNvPr id="8" name="text-203">
            <a:extLst xmlns:a="http://schemas.openxmlformats.org/drawingml/2006/main">
              <a:ext uri="{FF2B5EF4-FFF2-40B4-BE49-F238E27FC236}">
                <a16:creationId xmlns:a16="http://schemas.microsoft.com/office/drawing/2014/main" id="{08F65ECD-EB5A-45E9-A2FF-349AD3F3BD9A}"/>
              </a:ext>
            </a:extLst>
          </p:cNvPr>
          <p:cNvSpPr>
            <a:spLocks xmlns:a="http://schemas.openxmlformats.org/drawingml/2006/main" noGrp="1"/>
          </p:cNvSpPr>
          <p:nvPr/>
        </p:nvSpPr>
        <p:spPr>
          <a:xfrm xmlns:a="http://schemas.openxmlformats.org/drawingml/2006/main">
            <a:off x="11258550" y="65055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Calibri"/>
                <a:ea typeface="Calibri"/>
                <a:cs typeface="Calibri"/>
              </a:defRPr>
            </a:pPr>
            <a:r>
              <a:rPr sz="1275" b="0">
                <a:solidFill>
                  <a:srgbClr val="FFFFFF"/>
                </a:solidFill>
                <a:latin typeface="Calibri"/>
                <a:ea typeface="Calibri"/>
                <a:cs typeface="Calibri"/>
              </a:rPr>
              <a:t>12</a:t>
            </a:r>
          </a:p>
        </p:txBody>
      </p:sp>
      <p:sp>
        <p:nvSpPr>
          <p:cNvPr id="9" name="text-204">
            <a:extLst xmlns:a="http://schemas.openxmlformats.org/drawingml/2006/main">
              <a:ext uri="{FF2B5EF4-FFF2-40B4-BE49-F238E27FC236}">
                <a16:creationId xmlns:a16="http://schemas.microsoft.com/office/drawing/2014/main" id="{D821BA3F-AC44-4E16-A300-807D3B61FE44}"/>
              </a:ext>
            </a:extLst>
          </p:cNvPr>
          <p:cNvSpPr>
            <a:spLocks xmlns:a="http://schemas.openxmlformats.org/drawingml/2006/main" noGrp="1"/>
          </p:cNvSpPr>
          <p:nvPr/>
        </p:nvSpPr>
        <p:spPr>
          <a:xfrm xmlns:a="http://schemas.openxmlformats.org/drawingml/2006/main">
            <a:off x="457200" y="19621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CONTOH RENCANA UJI</a:t>
            </a:r>
          </a:p>
        </p:txBody>
      </p:sp>
      <p:sp>
        <p:nvSpPr>
          <p:cNvPr id="10" name="">
            <a:extLst xmlns:a="http://schemas.openxmlformats.org/drawingml/2006/main">
              <a:ext uri="{FF2B5EF4-FFF2-40B4-BE49-F238E27FC236}">
                <a16:creationId xmlns:a16="http://schemas.microsoft.com/office/drawing/2014/main" id="{2308561A-3014-41A8-B0B1-4BE07B24FE33}"/>
              </a:ext>
            </a:extLst>
          </p:cNvPr>
          <p:cNvSpPr>
            <a:spLocks xmlns:a="http://schemas.openxmlformats.org/drawingml/2006/main" noGrp="1"/>
          </p:cNvSpPr>
          <p:nvPr/>
        </p:nvSpPr>
        <p:spPr>
          <a:xfrm xmlns:a="http://schemas.openxmlformats.org/drawingml/2006/main">
            <a:off x="457200" y="2371725"/>
            <a:ext cx="2590800" cy="57150"/>
          </a:xfrm>
          <a:prstGeom xmlns:a="http://schemas.openxmlformats.org/drawingml/2006/main" prst="rect">
            <a:avLst/>
          </a:prstGeom>
          <a:solidFill xmlns:a="http://schemas.openxmlformats.org/drawingml/2006/main">
            <a:srgbClr val="95BBA9"/>
          </a:solidFill>
          <a:ln xmlns:a="http://schemas.openxmlformats.org/drawingml/2006/main" w="0">
            <a:noFill/>
          </a:ln>
        </p:spPr>
      </p:sp>
      <p:sp>
        <p:nvSpPr>
          <p:cNvPr id="11" name="text-205">
            <a:extLst xmlns:a="http://schemas.openxmlformats.org/drawingml/2006/main">
              <a:ext uri="{FF2B5EF4-FFF2-40B4-BE49-F238E27FC236}">
                <a16:creationId xmlns:a16="http://schemas.microsoft.com/office/drawing/2014/main" id="{B20032D0-48C5-4596-B658-E764EC78CE25}"/>
              </a:ext>
            </a:extLst>
          </p:cNvPr>
          <p:cNvSpPr>
            <a:spLocks xmlns:a="http://schemas.openxmlformats.org/drawingml/2006/main" noGrp="1"/>
          </p:cNvSpPr>
          <p:nvPr/>
        </p:nvSpPr>
        <p:spPr>
          <a:xfrm xmlns:a="http://schemas.openxmlformats.org/drawingml/2006/main">
            <a:off x="457200" y="2590800"/>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ASUMSI</a:t>
            </a:r>
          </a:p>
        </p:txBody>
      </p:sp>
      <p:sp>
        <p:nvSpPr>
          <p:cNvPr id="12" name="text-206">
            <a:extLst xmlns:a="http://schemas.openxmlformats.org/drawingml/2006/main">
              <a:ext uri="{FF2B5EF4-FFF2-40B4-BE49-F238E27FC236}">
                <a16:creationId xmlns:a16="http://schemas.microsoft.com/office/drawing/2014/main" id="{15ECACD6-D2D1-4B1E-93EA-7980412959AB}"/>
              </a:ext>
            </a:extLst>
          </p:cNvPr>
          <p:cNvSpPr>
            <a:spLocks xmlns:a="http://schemas.openxmlformats.org/drawingml/2006/main" noGrp="1"/>
          </p:cNvSpPr>
          <p:nvPr/>
        </p:nvSpPr>
        <p:spPr>
          <a:xfrm xmlns:a="http://schemas.openxmlformats.org/drawingml/2006/main">
            <a:off x="457200" y="3009900"/>
            <a:ext cx="2590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Buyer butuh</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ukuran lebih kecil.</a:t>
            </a:r>
          </a:p>
        </p:txBody>
      </p:sp>
      <p:sp>
        <p:nvSpPr>
          <p:cNvPr id="13" name="">
            <a:extLst xmlns:a="http://schemas.openxmlformats.org/drawingml/2006/main">
              <a:ext uri="{FF2B5EF4-FFF2-40B4-BE49-F238E27FC236}">
                <a16:creationId xmlns:a16="http://schemas.microsoft.com/office/drawing/2014/main" id="{5D1E4366-952F-4538-9025-456A4C236D8E}"/>
              </a:ext>
            </a:extLst>
          </p:cNvPr>
          <p:cNvSpPr>
            <a:spLocks xmlns:a="http://schemas.openxmlformats.org/drawingml/2006/main" noGrp="1"/>
          </p:cNvSpPr>
          <p:nvPr/>
        </p:nvSpPr>
        <p:spPr>
          <a:xfrm xmlns:a="http://schemas.openxmlformats.org/drawingml/2006/main" rot="0">
            <a:off x="3133725" y="3409950"/>
            <a:ext cx="1714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CA8127B-D19A-4477-B603-9F29D59D2380}"/>
              </a:ext>
            </a:extLst>
          </p:cNvPr>
          <p:cNvSpPr>
            <a:spLocks xmlns:a="http://schemas.openxmlformats.org/drawingml/2006/main" noGrp="1"/>
          </p:cNvSpPr>
          <p:nvPr/>
        </p:nvSpPr>
        <p:spPr>
          <a:xfrm xmlns:a="http://schemas.openxmlformats.org/drawingml/2006/main">
            <a:off x="3390900" y="2371725"/>
            <a:ext cx="2600325" cy="57150"/>
          </a:xfrm>
          <a:prstGeom xmlns:a="http://schemas.openxmlformats.org/drawingml/2006/main" prst="rect">
            <a:avLst/>
          </a:prstGeom>
          <a:solidFill xmlns:a="http://schemas.openxmlformats.org/drawingml/2006/main">
            <a:srgbClr val="95BBA9"/>
          </a:solidFill>
          <a:ln xmlns:a="http://schemas.openxmlformats.org/drawingml/2006/main" w="0">
            <a:noFill/>
          </a:ln>
        </p:spPr>
      </p:sp>
      <p:sp>
        <p:nvSpPr>
          <p:cNvPr id="15" name="text-207">
            <a:extLst xmlns:a="http://schemas.openxmlformats.org/drawingml/2006/main">
              <a:ext uri="{FF2B5EF4-FFF2-40B4-BE49-F238E27FC236}">
                <a16:creationId xmlns:a16="http://schemas.microsoft.com/office/drawing/2014/main" id="{C330F30A-FD98-4302-B7A2-9BFE0CF05D28}"/>
              </a:ext>
            </a:extLst>
          </p:cNvPr>
          <p:cNvSpPr>
            <a:spLocks xmlns:a="http://schemas.openxmlformats.org/drawingml/2006/main" noGrp="1"/>
          </p:cNvSpPr>
          <p:nvPr/>
        </p:nvSpPr>
        <p:spPr>
          <a:xfrm xmlns:a="http://schemas.openxmlformats.org/drawingml/2006/main">
            <a:off x="3390900" y="2590800"/>
            <a:ext cx="2600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TINDAKAN</a:t>
            </a:r>
          </a:p>
        </p:txBody>
      </p:sp>
      <p:sp>
        <p:nvSpPr>
          <p:cNvPr id="16" name="text-208">
            <a:extLst xmlns:a="http://schemas.openxmlformats.org/drawingml/2006/main">
              <a:ext uri="{FF2B5EF4-FFF2-40B4-BE49-F238E27FC236}">
                <a16:creationId xmlns:a16="http://schemas.microsoft.com/office/drawing/2014/main" id="{AC89379E-0D90-4C04-84A0-23D60C45CF76}"/>
              </a:ext>
            </a:extLst>
          </p:cNvPr>
          <p:cNvSpPr>
            <a:spLocks xmlns:a="http://schemas.openxmlformats.org/drawingml/2006/main" noGrp="1"/>
          </p:cNvSpPr>
          <p:nvPr/>
        </p:nvSpPr>
        <p:spPr>
          <a:xfrm xmlns:a="http://schemas.openxmlformats.org/drawingml/2006/main">
            <a:off x="3390900" y="3009900"/>
            <a:ext cx="26003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Tunjukkan dua</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alternatif ukuran</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dan harganya.</a:t>
            </a:r>
          </a:p>
        </p:txBody>
      </p:sp>
      <p:sp>
        <p:nvSpPr>
          <p:cNvPr id="17" name="">
            <a:extLst xmlns:a="http://schemas.openxmlformats.org/drawingml/2006/main">
              <a:ext uri="{FF2B5EF4-FFF2-40B4-BE49-F238E27FC236}">
                <a16:creationId xmlns:a16="http://schemas.microsoft.com/office/drawing/2014/main" id="{A42050AA-AAD2-4D86-ACAA-46044C74878C}"/>
              </a:ext>
            </a:extLst>
          </p:cNvPr>
          <p:cNvSpPr>
            <a:spLocks xmlns:a="http://schemas.openxmlformats.org/drawingml/2006/main" noGrp="1"/>
          </p:cNvSpPr>
          <p:nvPr/>
        </p:nvSpPr>
        <p:spPr>
          <a:xfrm xmlns:a="http://schemas.openxmlformats.org/drawingml/2006/main" rot="0">
            <a:off x="6076950" y="3409950"/>
            <a:ext cx="1714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CDDB9F-5482-459F-896F-A6BE4B9BAD46}"/>
              </a:ext>
            </a:extLst>
          </p:cNvPr>
          <p:cNvSpPr>
            <a:spLocks xmlns:a="http://schemas.openxmlformats.org/drawingml/2006/main" noGrp="1"/>
          </p:cNvSpPr>
          <p:nvPr/>
        </p:nvSpPr>
        <p:spPr>
          <a:xfrm xmlns:a="http://schemas.openxmlformats.org/drawingml/2006/main">
            <a:off x="6334125" y="2371725"/>
            <a:ext cx="2600325" cy="57150"/>
          </a:xfrm>
          <a:prstGeom xmlns:a="http://schemas.openxmlformats.org/drawingml/2006/main" prst="rect">
            <a:avLst/>
          </a:prstGeom>
          <a:solidFill xmlns:a="http://schemas.openxmlformats.org/drawingml/2006/main">
            <a:srgbClr val="087958"/>
          </a:solidFill>
          <a:ln xmlns:a="http://schemas.openxmlformats.org/drawingml/2006/main" w="0">
            <a:noFill/>
          </a:ln>
        </p:spPr>
      </p:sp>
      <p:sp>
        <p:nvSpPr>
          <p:cNvPr id="19" name="text-209">
            <a:extLst xmlns:a="http://schemas.openxmlformats.org/drawingml/2006/main">
              <a:ext uri="{FF2B5EF4-FFF2-40B4-BE49-F238E27FC236}">
                <a16:creationId xmlns:a16="http://schemas.microsoft.com/office/drawing/2014/main" id="{97F57A20-3D81-4EC3-BB6C-B56DA4C7521C}"/>
              </a:ext>
            </a:extLst>
          </p:cNvPr>
          <p:cNvSpPr>
            <a:spLocks xmlns:a="http://schemas.openxmlformats.org/drawingml/2006/main" noGrp="1"/>
          </p:cNvSpPr>
          <p:nvPr/>
        </p:nvSpPr>
        <p:spPr>
          <a:xfrm xmlns:a="http://schemas.openxmlformats.org/drawingml/2006/main">
            <a:off x="6334125" y="2590800"/>
            <a:ext cx="2600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BUKTI</a:t>
            </a:r>
          </a:p>
        </p:txBody>
      </p:sp>
      <p:sp>
        <p:nvSpPr>
          <p:cNvPr id="20" name="text-210">
            <a:extLst xmlns:a="http://schemas.openxmlformats.org/drawingml/2006/main">
              <a:ext uri="{FF2B5EF4-FFF2-40B4-BE49-F238E27FC236}">
                <a16:creationId xmlns:a16="http://schemas.microsoft.com/office/drawing/2014/main" id="{FF3CEE0A-066E-4131-B2B2-B656E003D355}"/>
              </a:ext>
            </a:extLst>
          </p:cNvPr>
          <p:cNvSpPr>
            <a:spLocks xmlns:a="http://schemas.openxmlformats.org/drawingml/2006/main" noGrp="1"/>
          </p:cNvSpPr>
          <p:nvPr/>
        </p:nvSpPr>
        <p:spPr>
          <a:xfrm xmlns:a="http://schemas.openxmlformats.org/drawingml/2006/main">
            <a:off x="6334125" y="3009900"/>
            <a:ext cx="26003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Buyer memilih</a:t>
            </a:r>
          </a:p>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spesifikasi dan</a:t>
            </a:r>
          </a:p>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menyetujui next step.</a:t>
            </a:r>
          </a:p>
        </p:txBody>
      </p:sp>
      <p:sp>
        <p:nvSpPr>
          <p:cNvPr id="21" name="">
            <a:extLst xmlns:a="http://schemas.openxmlformats.org/drawingml/2006/main">
              <a:ext uri="{FF2B5EF4-FFF2-40B4-BE49-F238E27FC236}">
                <a16:creationId xmlns:a16="http://schemas.microsoft.com/office/drawing/2014/main" id="{F59925D7-6D8F-4832-9F6D-A620F1161B6C}"/>
              </a:ext>
            </a:extLst>
          </p:cNvPr>
          <p:cNvSpPr>
            <a:spLocks xmlns:a="http://schemas.openxmlformats.org/drawingml/2006/main" noGrp="1"/>
          </p:cNvSpPr>
          <p:nvPr/>
        </p:nvSpPr>
        <p:spPr>
          <a:xfrm xmlns:a="http://schemas.openxmlformats.org/drawingml/2006/main" rot="0">
            <a:off x="9020175" y="3409950"/>
            <a:ext cx="171450" cy="114300"/>
          </a:xfrm>
          <a:prstGeom xmlns:a="http://schemas.openxmlformats.org/drawingml/2006/main" prst="rightArrow">
            <a:avLst/>
          </a:prstGeom>
          <a:solidFill xmlns:a="http://schemas.openxmlformats.org/drawingml/2006/main">
            <a:srgbClr val="95BBA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27547BA-D9A5-4F2E-BB66-B70FD71E130F}"/>
              </a:ext>
            </a:extLst>
          </p:cNvPr>
          <p:cNvSpPr>
            <a:spLocks xmlns:a="http://schemas.openxmlformats.org/drawingml/2006/main" noGrp="1"/>
          </p:cNvSpPr>
          <p:nvPr/>
        </p:nvSpPr>
        <p:spPr>
          <a:xfrm xmlns:a="http://schemas.openxmlformats.org/drawingml/2006/main">
            <a:off x="9277350" y="2371725"/>
            <a:ext cx="2457450" cy="57150"/>
          </a:xfrm>
          <a:prstGeom xmlns:a="http://schemas.openxmlformats.org/drawingml/2006/main" prst="rect">
            <a:avLst/>
          </a:prstGeom>
          <a:solidFill xmlns:a="http://schemas.openxmlformats.org/drawingml/2006/main">
            <a:srgbClr val="95BBA9"/>
          </a:solidFill>
          <a:ln xmlns:a="http://schemas.openxmlformats.org/drawingml/2006/main" w="0">
            <a:noFill/>
          </a:ln>
        </p:spPr>
      </p:sp>
      <p:sp>
        <p:nvSpPr>
          <p:cNvPr id="23" name="text-211">
            <a:extLst xmlns:a="http://schemas.openxmlformats.org/drawingml/2006/main">
              <a:ext uri="{FF2B5EF4-FFF2-40B4-BE49-F238E27FC236}">
                <a16:creationId xmlns:a16="http://schemas.microsoft.com/office/drawing/2014/main" id="{FD933037-6EAC-4C23-8C48-1713D4758F8F}"/>
              </a:ext>
            </a:extLst>
          </p:cNvPr>
          <p:cNvSpPr>
            <a:spLocks xmlns:a="http://schemas.openxmlformats.org/drawingml/2006/main" noGrp="1"/>
          </p:cNvSpPr>
          <p:nvPr/>
        </p:nvSpPr>
        <p:spPr>
          <a:xfrm xmlns:a="http://schemas.openxmlformats.org/drawingml/2006/main">
            <a:off x="9277350" y="2590800"/>
            <a:ext cx="2457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BATAS</a:t>
            </a:r>
          </a:p>
        </p:txBody>
      </p:sp>
      <p:sp>
        <p:nvSpPr>
          <p:cNvPr id="24" name="text-212">
            <a:extLst xmlns:a="http://schemas.openxmlformats.org/drawingml/2006/main">
              <a:ext uri="{FF2B5EF4-FFF2-40B4-BE49-F238E27FC236}">
                <a16:creationId xmlns:a16="http://schemas.microsoft.com/office/drawing/2014/main" id="{24F196A2-2D65-4220-80FC-8AF026509367}"/>
              </a:ext>
            </a:extLst>
          </p:cNvPr>
          <p:cNvSpPr>
            <a:spLocks xmlns:a="http://schemas.openxmlformats.org/drawingml/2006/main" noGrp="1"/>
          </p:cNvSpPr>
          <p:nvPr/>
        </p:nvSpPr>
        <p:spPr>
          <a:xfrm xmlns:a="http://schemas.openxmlformats.org/drawingml/2006/main">
            <a:off x="9277350" y="3009900"/>
            <a:ext cx="24574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Tetapkan biaya</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sampel, tenggat,</a:t>
            </a:r>
          </a:p>
          <a:p xmlns:a="http://schemas.openxmlformats.org/drawingml/2006/main">
            <a:pPr>
              <a:defRPr sz="1950" b="1">
                <a:solidFill>
                  <a:srgbClr val="002B28"/>
                </a:solidFill>
                <a:latin typeface="Calibri"/>
                <a:ea typeface="Calibri"/>
                <a:cs typeface="Calibri"/>
              </a:defRPr>
            </a:pPr>
            <a:r>
              <a:rPr sz="1950" b="1">
                <a:solidFill>
                  <a:srgbClr val="002B28"/>
                </a:solidFill>
                <a:latin typeface="Calibri"/>
                <a:ea typeface="Calibri"/>
                <a:cs typeface="Calibri"/>
              </a:rPr>
              <a:t>dan PIC.</a:t>
            </a:r>
          </a:p>
        </p:txBody>
      </p:sp>
      <p:sp>
        <p:nvSpPr>
          <p:cNvPr id="25" name="">
            <a:extLst xmlns:a="http://schemas.openxmlformats.org/drawingml/2006/main">
              <a:ext uri="{FF2B5EF4-FFF2-40B4-BE49-F238E27FC236}">
                <a16:creationId xmlns:a16="http://schemas.microsoft.com/office/drawing/2014/main" id="{26EEA217-D259-4457-AFAC-CA6269EC2793}"/>
              </a:ext>
            </a:extLst>
          </p:cNvPr>
          <p:cNvSpPr>
            <a:spLocks xmlns:a="http://schemas.openxmlformats.org/drawingml/2006/main" noGrp="1"/>
          </p:cNvSpPr>
          <p:nvPr/>
        </p:nvSpPr>
        <p:spPr>
          <a:xfrm xmlns:a="http://schemas.openxmlformats.org/drawingml/2006/main">
            <a:off x="457200" y="4457700"/>
            <a:ext cx="11277600" cy="0"/>
          </a:xfrm>
          <a:prstGeom xmlns:a="http://schemas.openxmlformats.org/drawingml/2006/main" prst="line">
            <a:avLst/>
          </a:prstGeom>
          <a:noFill xmlns:a="http://schemas.openxmlformats.org/drawingml/2006/main"/>
          <a:ln xmlns:a="http://schemas.openxmlformats.org/drawingml/2006/main" w="9525">
            <a:solidFill>
              <a:srgbClr val="D7E7DF"/>
            </a:solidFill>
          </a:ln>
        </p:spPr>
      </p:sp>
      <p:sp>
        <p:nvSpPr>
          <p:cNvPr id="26" name="text-213">
            <a:extLst xmlns:a="http://schemas.openxmlformats.org/drawingml/2006/main">
              <a:ext uri="{FF2B5EF4-FFF2-40B4-BE49-F238E27FC236}">
                <a16:creationId xmlns:a16="http://schemas.microsoft.com/office/drawing/2014/main" id="{B254ACFA-87A4-4093-A999-E2CA844E71EA}"/>
              </a:ext>
            </a:extLst>
          </p:cNvPr>
          <p:cNvSpPr>
            <a:spLocks xmlns:a="http://schemas.openxmlformats.org/drawingml/2006/main" noGrp="1"/>
          </p:cNvSpPr>
          <p:nvPr/>
        </p:nvSpPr>
        <p:spPr>
          <a:xfrm xmlns:a="http://schemas.openxmlformats.org/drawingml/2006/main">
            <a:off x="457200" y="46863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958"/>
                </a:solidFill>
                <a:latin typeface="Calibri"/>
                <a:ea typeface="Calibri"/>
                <a:cs typeface="Calibri"/>
              </a:defRPr>
            </a:pPr>
            <a:r>
              <a:rPr sz="1350" b="1">
                <a:solidFill>
                  <a:srgbClr val="087958"/>
                </a:solidFill>
                <a:latin typeface="Calibri"/>
                <a:ea typeface="Calibri"/>
                <a:cs typeface="Calibri"/>
              </a:rPr>
              <a:t>KOMITMEN PESERTA</a:t>
            </a:r>
          </a:p>
        </p:txBody>
      </p:sp>
      <p:sp>
        <p:nvSpPr>
          <p:cNvPr id="27" name="text-214">
            <a:extLst xmlns:a="http://schemas.openxmlformats.org/drawingml/2006/main">
              <a:ext uri="{FF2B5EF4-FFF2-40B4-BE49-F238E27FC236}">
                <a16:creationId xmlns:a16="http://schemas.microsoft.com/office/drawing/2014/main" id="{5CA851B1-9122-4FE8-8D4B-9F78F56147F8}"/>
              </a:ext>
            </a:extLst>
          </p:cNvPr>
          <p:cNvSpPr>
            <a:spLocks xmlns:a="http://schemas.openxmlformats.org/drawingml/2006/main" noGrp="1"/>
          </p:cNvSpPr>
          <p:nvPr/>
        </p:nvSpPr>
        <p:spPr>
          <a:xfrm xmlns:a="http://schemas.openxmlformats.org/drawingml/2006/main">
            <a:off x="457200" y="5029200"/>
            <a:ext cx="1127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“Asumsi yang akan saya uji adalah ______.</a:t>
            </a:r>
          </a:p>
          <a:p xmlns:a="http://schemas.openxmlformats.org/drawingml/2006/main">
            <a:pPr>
              <a:defRPr sz="1950" b="1">
                <a:solidFill>
                  <a:srgbClr val="087958"/>
                </a:solidFill>
                <a:latin typeface="Calibri"/>
                <a:ea typeface="Calibri"/>
                <a:cs typeface="Calibri"/>
              </a:defRPr>
            </a:pPr>
            <a:r>
              <a:rPr sz="1950" b="1">
                <a:solidFill>
                  <a:srgbClr val="087958"/>
                </a:solidFill>
                <a:latin typeface="Calibri"/>
                <a:ea typeface="Calibri"/>
                <a:cs typeface="Calibri"/>
              </a:rPr>
              <a:t>Saya akan mencari bukti ______, sebelum ______.”</a:t>
            </a:r>
          </a:p>
        </p:txBody>
      </p:sp>
    </p:spTree>
    <p:extLst>
      <p:ext uri="{BB962C8B-B14F-4D97-AF65-F5344CB8AC3E}">
        <p14:creationId xmlns:p14="http://schemas.microsoft.com/office/powerpoint/2010/main" val="820747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2026-10-06T07:47:01.5220000Z</dcterms:created>
  <dcterms:modified xsi:type="dcterms:W3CDTF">2026-10-06T07:47:01.5220000Z</dcterms:modified>
</coreProperties>
</file>