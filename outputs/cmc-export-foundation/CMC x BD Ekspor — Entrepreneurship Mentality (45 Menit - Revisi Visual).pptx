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a97e26d194c6e" /><Relationship Type="http://schemas.openxmlformats.org/officeDocument/2006/relationships/extended-properties" Target="/docProps/app.xml" Id="Rc4009330942944b6" /><Relationship Type="http://schemas.openxmlformats.org/officeDocument/2006/relationships/officeDocument" Target="/ppt/presentation.xml" Id="R12d3c9c7e3d64f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45a15fc3e4696"/>
  </p:sldMasterIdLst>
  <p:notesMasterIdLst>
    <p:notesMasterId xmlns:r="http://schemas.openxmlformats.org/officeDocument/2006/relationships" r:id="Rb2c33bd436874a17"/>
  </p:notesMasterIdLst>
  <p:sldIdLst>
    <p:sldId xmlns:r="http://schemas.openxmlformats.org/officeDocument/2006/relationships" id="256" r:id="R3e81442c68784d00"/>
    <p:sldId xmlns:r="http://schemas.openxmlformats.org/officeDocument/2006/relationships" id="257" r:id="R43a311bd687f4984"/>
    <p:sldId xmlns:r="http://schemas.openxmlformats.org/officeDocument/2006/relationships" id="258" r:id="Rc0c0c7386cf44608"/>
    <p:sldId xmlns:r="http://schemas.openxmlformats.org/officeDocument/2006/relationships" id="259" r:id="R3fcb9f0042a94f80"/>
    <p:sldId xmlns:r="http://schemas.openxmlformats.org/officeDocument/2006/relationships" id="260" r:id="R6d8aa71e6c6244de"/>
    <p:sldId xmlns:r="http://schemas.openxmlformats.org/officeDocument/2006/relationships" id="261" r:id="Reb20547080d34ae2"/>
    <p:sldId xmlns:r="http://schemas.openxmlformats.org/officeDocument/2006/relationships" id="262" r:id="R9f27871ffae34be4"/>
    <p:sldId xmlns:r="http://schemas.openxmlformats.org/officeDocument/2006/relationships" id="263" r:id="R6ada164436214df0"/>
    <p:sldId xmlns:r="http://schemas.openxmlformats.org/officeDocument/2006/relationships" id="264" r:id="R02abbfe27dbb49e1"/>
    <p:sldId xmlns:r="http://schemas.openxmlformats.org/officeDocument/2006/relationships" id="265" r:id="R67f1a6b7dd5a4f7a"/>
    <p:sldId xmlns:r="http://schemas.openxmlformats.org/officeDocument/2006/relationships" id="266" r:id="R7735986810c84068"/>
    <p:sldId xmlns:r="http://schemas.openxmlformats.org/officeDocument/2006/relationships" id="267" r:id="R57c2ee0d959c466e"/>
    <p:sldId xmlns:r="http://schemas.openxmlformats.org/officeDocument/2006/relationships" id="268" r:id="Rfafcb2e3c7e54cfb"/>
    <p:sldId xmlns:r="http://schemas.openxmlformats.org/officeDocument/2006/relationships" id="269" r:id="R8840b2db5896488b"/>
    <p:sldId xmlns:r="http://schemas.openxmlformats.org/officeDocument/2006/relationships" id="270" r:id="Rdd364ca5e3c74afa"/>
    <p:sldId xmlns:r="http://schemas.openxmlformats.org/officeDocument/2006/relationships" id="271" r:id="R7003e12faa254020"/>
    <p:sldId xmlns:r="http://schemas.openxmlformats.org/officeDocument/2006/relationships" id="272" r:id="R3ab22f5d7e6d472d"/>
    <p:sldId xmlns:r="http://schemas.openxmlformats.org/officeDocument/2006/relationships" id="273" r:id="R2b600fdee2364d53"/>
    <p:sldId xmlns:r="http://schemas.openxmlformats.org/officeDocument/2006/relationships" id="274" r:id="Rb7c98edbe2e14b30"/>
    <p:sldId xmlns:r="http://schemas.openxmlformats.org/officeDocument/2006/relationships" id="275" r:id="Rfc774425d2b94102"/>
    <p:sldId xmlns:r="http://schemas.openxmlformats.org/officeDocument/2006/relationships" id="276" r:id="R04bcbab068334335"/>
    <p:sldId xmlns:r="http://schemas.openxmlformats.org/officeDocument/2006/relationships" id="277" r:id="R88ae3a5fc44a42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55dc7fb784054" /><Relationship Type="http://schemas.openxmlformats.org/officeDocument/2006/relationships/slideMaster" Target="/ppt/slideMasters/slideMaster1.xml" Id="R73545a15fc3e4696" /><Relationship Type="http://schemas.openxmlformats.org/officeDocument/2006/relationships/notesMaster" Target="/ppt/notesMasters/notesMaster1.xml" Id="Rb2c33bd436874a17" /><Relationship Type="http://schemas.openxmlformats.org/officeDocument/2006/relationships/presProps" Target="/ppt/presProps.xml" Id="R0462d08ebb574a1a" /><Relationship Type="http://schemas.openxmlformats.org/officeDocument/2006/relationships/tableStyles" Target="/ppt/tableStyles.xml" Id="R52d0768580bf48e9" /><Relationship Type="http://schemas.openxmlformats.org/officeDocument/2006/relationships/slide" Target="/ppt/slides/slide1.xml" Id="R3e81442c68784d00" /><Relationship Type="http://schemas.openxmlformats.org/officeDocument/2006/relationships/slide" Target="/ppt/slides/slide2.xml" Id="R43a311bd687f4984" /><Relationship Type="http://schemas.openxmlformats.org/officeDocument/2006/relationships/slide" Target="/ppt/slides/slide3.xml" Id="Rc0c0c7386cf44608" /><Relationship Type="http://schemas.openxmlformats.org/officeDocument/2006/relationships/slide" Target="/ppt/slides/slide4.xml" Id="R3fcb9f0042a94f80" /><Relationship Type="http://schemas.openxmlformats.org/officeDocument/2006/relationships/slide" Target="/ppt/slides/slide5.xml" Id="R6d8aa71e6c6244de" /><Relationship Type="http://schemas.openxmlformats.org/officeDocument/2006/relationships/slide" Target="/ppt/slides/slide6.xml" Id="Reb20547080d34ae2" /><Relationship Type="http://schemas.openxmlformats.org/officeDocument/2006/relationships/slide" Target="/ppt/slides/slide7.xml" Id="R9f27871ffae34be4" /><Relationship Type="http://schemas.openxmlformats.org/officeDocument/2006/relationships/slide" Target="/ppt/slides/slide8.xml" Id="R6ada164436214df0" /><Relationship Type="http://schemas.openxmlformats.org/officeDocument/2006/relationships/slide" Target="/ppt/slides/slide9.xml" Id="R02abbfe27dbb49e1" /><Relationship Type="http://schemas.openxmlformats.org/officeDocument/2006/relationships/slide" Target="/ppt/slides/slide10.xml" Id="R67f1a6b7dd5a4f7a" /><Relationship Type="http://schemas.openxmlformats.org/officeDocument/2006/relationships/slide" Target="/ppt/slides/slide11.xml" Id="R7735986810c84068" /><Relationship Type="http://schemas.openxmlformats.org/officeDocument/2006/relationships/slide" Target="/ppt/slides/slide12.xml" Id="R57c2ee0d959c466e" /><Relationship Type="http://schemas.openxmlformats.org/officeDocument/2006/relationships/slide" Target="/ppt/slides/slide13.xml" Id="Rfafcb2e3c7e54cfb" /><Relationship Type="http://schemas.openxmlformats.org/officeDocument/2006/relationships/slide" Target="/ppt/slides/slide14.xml" Id="R8840b2db5896488b" /><Relationship Type="http://schemas.openxmlformats.org/officeDocument/2006/relationships/slide" Target="/ppt/slides/slide15.xml" Id="Rdd364ca5e3c74afa" /><Relationship Type="http://schemas.openxmlformats.org/officeDocument/2006/relationships/slide" Target="/ppt/slides/slide16.xml" Id="R7003e12faa254020" /><Relationship Type="http://schemas.openxmlformats.org/officeDocument/2006/relationships/slide" Target="/ppt/slides/slide17.xml" Id="R3ab22f5d7e6d472d" /><Relationship Type="http://schemas.openxmlformats.org/officeDocument/2006/relationships/slide" Target="/ppt/slides/slide18.xml" Id="R2b600fdee2364d53" /><Relationship Type="http://schemas.openxmlformats.org/officeDocument/2006/relationships/slide" Target="/ppt/slides/slide19.xml" Id="Rb7c98edbe2e14b30" /><Relationship Type="http://schemas.openxmlformats.org/officeDocument/2006/relationships/slide" Target="/ppt/slides/slide20.xml" Id="Rfc774425d2b94102" /><Relationship Type="http://schemas.openxmlformats.org/officeDocument/2006/relationships/slide" Target="/ppt/slides/slide21.xml" Id="R04bcbab068334335" /><Relationship Type="http://schemas.openxmlformats.org/officeDocument/2006/relationships/slide" Target="/ppt/slides/slide22.xml" Id="R88ae3a5fc44a42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950db70cd4c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fa387c05f491d" /><Relationship Type="http://schemas.openxmlformats.org/officeDocument/2006/relationships/notesMaster" Target="/ppt/notesMasters/notesMaster1.xml" Id="R61bc74da41f5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beca77ae24f5f" /><Relationship Type="http://schemas.openxmlformats.org/officeDocument/2006/relationships/notesMaster" Target="/ppt/notesMasters/notesMaster1.xml" Id="Re9c5332dd2194e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335245a2542a4" /><Relationship Type="http://schemas.openxmlformats.org/officeDocument/2006/relationships/notesMaster" Target="/ppt/notesMasters/notesMaster1.xml" Id="Ra27358b9df854f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87ff10e0ad4c27" /><Relationship Type="http://schemas.openxmlformats.org/officeDocument/2006/relationships/notesMaster" Target="/ppt/notesMasters/notesMaster1.xml" Id="Ra78f700065a74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18096f872c4993" /><Relationship Type="http://schemas.openxmlformats.org/officeDocument/2006/relationships/notesMaster" Target="/ppt/notesMasters/notesMaster1.xml" Id="R3778c12ce9f3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e8a038462f42c5" /><Relationship Type="http://schemas.openxmlformats.org/officeDocument/2006/relationships/notesMaster" Target="/ppt/notesMasters/notesMaster1.xml" Id="R5a344368600147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1aae9532f4289" /><Relationship Type="http://schemas.openxmlformats.org/officeDocument/2006/relationships/notesMaster" Target="/ppt/notesMasters/notesMaster1.xml" Id="R8d6d4c970f78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783d9c1144c48" /><Relationship Type="http://schemas.openxmlformats.org/officeDocument/2006/relationships/notesMaster" Target="/ppt/notesMasters/notesMaster1.xml" Id="R18b110157e9141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faca2299044aa8" /><Relationship Type="http://schemas.openxmlformats.org/officeDocument/2006/relationships/notesMaster" Target="/ppt/notesMasters/notesMaster1.xml" Id="R63c80a19833e4b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2c5fcfc5124d67" /><Relationship Type="http://schemas.openxmlformats.org/officeDocument/2006/relationships/notesMaster" Target="/ppt/notesMasters/notesMaster1.xml" Id="Re96137854ced4b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06edeb1d8b40f0" /><Relationship Type="http://schemas.openxmlformats.org/officeDocument/2006/relationships/notesMaster" Target="/ppt/notesMasters/notesMaster1.xml" Id="R965c01feb84a49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4180f822c24588" /><Relationship Type="http://schemas.openxmlformats.org/officeDocument/2006/relationships/notesMaster" Target="/ppt/notesMasters/notesMaster1.xml" Id="R6f6879cee99841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7f0381dd214950" /><Relationship Type="http://schemas.openxmlformats.org/officeDocument/2006/relationships/notesMaster" Target="/ppt/notesMasters/notesMaster1.xml" Id="Rd80887f70dfc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9099a2043940a4" /><Relationship Type="http://schemas.openxmlformats.org/officeDocument/2006/relationships/notesMaster" Target="/ppt/notesMasters/notesMaster1.xml" Id="R4524e9c9d50646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d8b1d7bd01423b" /><Relationship Type="http://schemas.openxmlformats.org/officeDocument/2006/relationships/notesMaster" Target="/ppt/notesMasters/notesMaster1.xml" Id="R598c29e6c8f84d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2e109a47b14f20" /><Relationship Type="http://schemas.openxmlformats.org/officeDocument/2006/relationships/notesMaster" Target="/ppt/notesMasters/notesMaster1.xml" Id="R184c42ba6f9e4a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7c7d984ac24ca9" /><Relationship Type="http://schemas.openxmlformats.org/officeDocument/2006/relationships/notesMaster" Target="/ppt/notesMasters/notesMaster1.xml" Id="R1bde30d3f7fc4c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a613034bb94715" /><Relationship Type="http://schemas.openxmlformats.org/officeDocument/2006/relationships/notesMaster" Target="/ppt/notesMasters/notesMaster1.xml" Id="R31e9d8c6448448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90058329bf437a" /><Relationship Type="http://schemas.openxmlformats.org/officeDocument/2006/relationships/notesMaster" Target="/ppt/notesMasters/notesMaster1.xml" Id="R8ec3f4505cf043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53a223acbe4d2f" /><Relationship Type="http://schemas.openxmlformats.org/officeDocument/2006/relationships/notesMaster" Target="/ppt/notesMasters/notesMaster1.xml" Id="R5c2a477893c341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519b9b31cd4245" /><Relationship Type="http://schemas.openxmlformats.org/officeDocument/2006/relationships/notesMaster" Target="/ppt/notesMasters/notesMaster1.xml" Id="R73947a26cabc4c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a9183e90924605" /><Relationship Type="http://schemas.openxmlformats.org/officeDocument/2006/relationships/notesMaster" Target="/ppt/notesMasters/notesMaster1.xml" Id="Ra9da799014f9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0.5 menit. Target keseluruhan 45 menit materi, termasuk interaksi singkat, di luar Q&amp;A terpisah.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Buka sesi dengan tujuan: peserta mampu menilai peluang ekspor sebelum berkomitmen. Ini sesi business foundation, bukan tutorial dokumen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1–4. Rangkuman CMC × BD Ekspor.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>Jelaskan tiga bagian. Undang peserta memakai bisnisnya sendiri sebagai pembanding. Kita memakai satu kasus fiktif yang diulang sehingga konsep mudah dihubungkan.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4.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Bedakan kemampuan menangkap peluang dan kemampuan mempertimbangkan trade-off. Contoh: order menarik belum tentu layak jika mengganggu order lama. Arahkan peserta ke bukti, bukan sekadar keberanian.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Polling singkat. Catat alasan, jangan beri jawaban final dulu. Seluruh angka dan keadaan kasus adalah asumsi pembelajaran. 30 hari adalah tenggat permintaan, bukan klaim lead time ekspor normal.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Metafora kapal dari modul diterjemahkan menjadi keputusan ekspor. Ini bukan urutan administratif atau tahapan wajib. Tunjukkan bahwa adaptasi dan eksperimen berlangsung berulang.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8–9.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Sepuluh karakter bersumber dari modul. Contoh tindakan adalah adaptasi. Bukan instrumen psikologi atau ciri yang menjamin keberhasilan. Minta satu refleksi singkat.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11.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Sebut satu feedback buyer dan minta peserta mengubah respons defensif menjadi pertanyaan. Tegaskan terbuka terhadap feedback tetap memperhitungkan biaya dan kemampuan.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12.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Why memberi arah tetapi tidak menggantikan bukti permintaan. Hubungkan ke trade-off dari kasus. Contoh sengaja memakai bisnis fiktif yang sama.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20–21.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Tetap memakai passion/talent/profit seperti modul. Tambahkan pemeriksaan buyer, mutu, kapasitas, dan total biaya saat menjelaskan. Diagram bukan data kuantitatif.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17.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Adaptasi alur pengujian Strategyzer. Tidak mengasumsikan harga murah selalu menang. Untuk bisnis berjalan, gunakan percakapan dengan buyer aktual; calon eksportir dapat mulai dari target buyer yang relevan.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6,17,27.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Arketipe adalah lensa peran, bukan label kepribadian tetap. Minta peserta melihat bagian mana yang kosong. Peran dapat diisi owner, karyawan, atau mitra dengan tanggung jawab jelas.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18,9,30.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Kapasitas tersedia harus mempertimbangkan pesanan lain. Produk/pasar tertentu memiliki persyaratan berbeda; minta tim memeriksanya sebelum komitmen. Jangan menebak aturan teknis dari framework ini.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23–25. Rangkuman CMC × BD Ekspor.</a:t>
            </a:r>
          </a:p>
          <a:p xmlns:a="http://schemas.openxmlformats.org/drawingml/2006/main">
            <a:r>
              <a:t>https://www.trade.gov/develop-export-plan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Tanyakan: siapa membiayai bahan dan proses saat pembayaran belum masuk? Pada kasus, belum ada nilai uang sehingga kita tidak mengarang kebutuhan modal atau margin. Alternatif termin harus dinegosiasikan dan risikonya dievaluasi; jangan menganggap uang muka pasti diterima buyer.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23–24. Rangkuman CMC × BD Ekspor.</a:t>
            </a:r>
          </a:p>
          <a:p xmlns:a="http://schemas.openxmlformats.org/drawingml/2006/main">
            <a:r>
              <a:t>https://www.trade.gov/methods-payment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Risiko tidak hilang sepenuhnya. Kontrol mengurangi kemungkinan atau dampak, bukan menjamin hasil. Jika mitigasi tidak terjangkau, ubah syarat atau tunda. Minta peserta menyebut satu batas stop untuk usaha sendiri.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Bandingkan pilihan awal peserta pada slide4. Tanya bukti apa yang mengubah keputusan. Data500/300 hanya menggambarkan gap kapasitas200unit, tidak menetapkan keputusan semua kasus ekspor. Alternatif menambah mitra harus diuji mutu/biaya/jadwalnya.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6,23–25.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Build–Measure–Learn adalah proses berulang. Sampel harus relevan dengan asumsi yang diuji. Lanjutkan hanya jika bukti mendukung; kegagalan uji bisa menghemat komitmen lebih besar.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https://theleanstartup.com/principles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2.5 menit. Target keseluruhan 45 menit materi, termasuk interaksi singkat, di luar Q&amp;A terpisah.</a:t>
            </a:r>
          </a:p>
          <a:p xmlns:a="http://schemas.openxmlformats.org/drawingml/2006/main">
            <a:r>
              <a:t>Patokan lanjut adalah contoh yang perlu disesuaikan dengan bisnis, bukan threshold universal. Langkah komersial dapat berupa permintaan penawaran atau uji sampel yang jelas; itu belum sama dengan kontrak atau pembayaran.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2 menit. Target keseluruhan 45 menit materi, termasuk interaksi singkat, di luar Q&amp;A terpisah.</a:t>
            </a:r>
          </a:p>
          <a:p xmlns:a="http://schemas.openxmlformats.org/drawingml/2006/main">
            <a:r>
              <a:t>Tangga ini ilustrasi kekuatan bukti, bukan conversion funnel dengan probabilitas. Feedback negatif yang spesifik juga berharga. Permintaan penawaran bukan jaminan pembelian. Jangan memproduksi besar hanya berdasarkan pujian atau likes.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27. Rangkuman CMC × BD Ekspor.</a:t>
            </a:r>
          </a:p>
          <a:p xmlns:a="http://schemas.openxmlformats.org/drawingml/2006/main">
            <a:r>
              <a:t>https://www.strategyzer.com/library/roadmap-to-test-your-value-proposition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>Persamaan expertise adalah metafora modul, bukan rumus matematis tervalidasi. Minta peserta menentukan siapa yang dapat memberi masukan pada uji mereka.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28.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1.5 menit. Target keseluruhan 45 menit materi, termasuk interaksi singkat, di luar Q&amp;A terpisah.</a:t>
            </a:r>
          </a:p>
          <a:p xmlns:a="http://schemas.openxmlformats.org/drawingml/2006/main">
            <a:r>
              <a:t>Pertahankan limaP dari modul. Contoh pitch: Kami membantu buyer dekorasi rumah yang butuh ukuran tertentu; kami sedang menguji dua ukuran dengan spesifikasi yang disepakati. Jangan mengarang traction. Kerja sama tidak sama dengan jaminan pasar.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3 menit. Target keseluruhan 45 menit materi, termasuk interaksi singkat, di luar Q&amp;A terpisah.</a:t>
            </a:r>
          </a:p>
          <a:p xmlns:a="http://schemas.openxmlformats.org/drawingml/2006/main">
            <a:r>
              <a:t>Alokasikan1menit menulis,1menit berbagi dengan sebelah,1menit satucontoh dan rangkuman. Calon eksportir dapat menguji kebutuhan targetbuyer, pelakuusaha dapat menguji perubahan spesifikasi/termin. Durasi7hari hanyacontoh dan tidak cocok untuk semua siklus produk.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27–29.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ALOKASI: 1 menit. Target keseluruhan 45 menit materi, termasuk interaksi singkat, di luar Q&amp;A terpisah.</a:t>
            </a:r>
          </a:p>
          <a:p xmlns:a="http://schemas.openxmlformats.org/drawingml/2006/main">
            <a:r>
              <a:t>Tutup dengan kembali ke pilihan awal: terima, negosiasikan, atau tunda. Tekankan bahwa keputusan yang sehat lahir dari bukti dan kemampuan, bukan keberanian saja. BukaQ&amp;Aterpisah jika panitia menyediakan waktu.</a:t>
            </a:r>
          </a:p>
          <a:p xmlns:a="http://schemas.openxmlformats.org/drawingml/2006/main">
            <a:r>
              <a:t>SUMBER UTAMA</a:t>
            </a:r>
          </a:p>
          <a:p xmlns:a="http://schemas.openxmlformats.org/drawingml/2006/main">
            <a:r>
              <a:t>Modul 1 CEO Masterclass, modul-ppt.pdf, halaman 30. Rangkuman CMC × BD Ekspor.</a:t>
            </a:r>
          </a:p>
          <a:p xmlns:a="http://schemas.openxmlformats.org/drawingml/2006/main">
            <a:r>
              <a:t>Kasus dekorasi rotan beserta angka 500/300/30 adalah ilustrasi pembelajaran. Framework tambahan merupakan adaptasi untuk diskusi, bukan skor kesiapan resmi atau aturan regulasi.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cbf42aaaa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dd4bff2a942f1" /><Relationship Type="http://schemas.openxmlformats.org/officeDocument/2006/relationships/slideLayout" Target="/ppt/slideLayouts/slideLayout1.xml" Id="Rf5600e2e172c4f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00e2e172c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6b760ccd94e56" /><Relationship Type="http://schemas.openxmlformats.org/officeDocument/2006/relationships/image" Target="/ppt/media/image.png" Id="Rbdbcbc25cd5e4d94" /><Relationship Type="http://schemas.openxmlformats.org/officeDocument/2006/relationships/image" Target="/ppt/media/image2.png" Id="Rc27edccf4fcf453a" /><Relationship Type="http://schemas.openxmlformats.org/officeDocument/2006/relationships/notesSlide" Target="/ppt/notesSlides/notesSlide1.xml" Id="R9efefa091e15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f06bc76e3492d" /><Relationship Type="http://schemas.openxmlformats.org/officeDocument/2006/relationships/image" Target="/ppt/media/image3.png" Id="Re583588ba6264b50" /><Relationship Type="http://schemas.openxmlformats.org/officeDocument/2006/relationships/image" Target="/ppt/media/image4.png" Id="R9117cd265ae94e8a" /><Relationship Type="http://schemas.openxmlformats.org/officeDocument/2006/relationships/notesSlide" Target="/ppt/notesSlides/notesSlide2.xml" Id="R0fa31d1cd76141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1cf0f109f424f" /><Relationship Type="http://schemas.openxmlformats.org/officeDocument/2006/relationships/image" Target="/ppt/media/image5.png" Id="R64b885bb45964fa5" /><Relationship Type="http://schemas.openxmlformats.org/officeDocument/2006/relationships/image" Target="/ppt/media/image6.png" Id="R5a193e56547d4623" /><Relationship Type="http://schemas.openxmlformats.org/officeDocument/2006/relationships/notesSlide" Target="/ppt/notesSlides/notesSlide3.xml" Id="R0a951f21c934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dbebf75c2416a" /><Relationship Type="http://schemas.openxmlformats.org/officeDocument/2006/relationships/image" Target="/ppt/media/image7.png" Id="R0c6eb23d81aa4b33" /><Relationship Type="http://schemas.openxmlformats.org/officeDocument/2006/relationships/image" Target="/ppt/media/image8.png" Id="Rc9b0dafc6e644f78" /><Relationship Type="http://schemas.openxmlformats.org/officeDocument/2006/relationships/image" Target="/ppt/media/image9.png" Id="Rd531090aa20e4cd9" /><Relationship Type="http://schemas.openxmlformats.org/officeDocument/2006/relationships/notesSlide" Target="/ppt/notesSlides/notesSlide4.xml" Id="R5570f72bafee4d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7e80354b4f24" /><Relationship Type="http://schemas.openxmlformats.org/officeDocument/2006/relationships/image" Target="/ppt/media/image10.png" Id="Re335f7675f1a4834" /><Relationship Type="http://schemas.openxmlformats.org/officeDocument/2006/relationships/image" Target="/ppt/media/image11.png" Id="Ra4e88b205214400d" /><Relationship Type="http://schemas.openxmlformats.org/officeDocument/2006/relationships/notesSlide" Target="/ppt/notesSlides/notesSlide5.xml" Id="R1065cb2d2ac7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aed270fc54c30" /><Relationship Type="http://schemas.openxmlformats.org/officeDocument/2006/relationships/image" Target="/ppt/media/image12.png" Id="R93ec8b3c67c74915" /><Relationship Type="http://schemas.openxmlformats.org/officeDocument/2006/relationships/image" Target="/ppt/media/image13.png" Id="R57947bf2c2714178" /><Relationship Type="http://schemas.openxmlformats.org/officeDocument/2006/relationships/notesSlide" Target="/ppt/notesSlides/notesSlide6.xml" Id="R5db9a86b92bf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0bf071f374e09" /><Relationship Type="http://schemas.openxmlformats.org/officeDocument/2006/relationships/image" Target="/ppt/media/image14.png" Id="R6dd7900a3f8c49cd" /><Relationship Type="http://schemas.openxmlformats.org/officeDocument/2006/relationships/image" Target="/ppt/media/image15.png" Id="R8b7a965e74564297" /><Relationship Type="http://schemas.openxmlformats.org/officeDocument/2006/relationships/notesSlide" Target="/ppt/notesSlides/notesSlide7.xml" Id="R1d4a5cebe5934b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9d60886f74b28" /><Relationship Type="http://schemas.openxmlformats.org/officeDocument/2006/relationships/image" Target="/ppt/media/image16.png" Id="R879391b563fc4e86" /><Relationship Type="http://schemas.openxmlformats.org/officeDocument/2006/relationships/image" Target="/ppt/media/image17.png" Id="R44f46ef5fb3b4632" /><Relationship Type="http://schemas.openxmlformats.org/officeDocument/2006/relationships/notesSlide" Target="/ppt/notesSlides/notesSlide8.xml" Id="Re4b80d7a7e2b49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5a656cd1e4dcb" /><Relationship Type="http://schemas.openxmlformats.org/officeDocument/2006/relationships/image" Target="/ppt/media/image18.png" Id="R405d7ae7efae4f26" /><Relationship Type="http://schemas.openxmlformats.org/officeDocument/2006/relationships/image" Target="/ppt/media/image19.png" Id="Rfb9b6def630c4d40" /><Relationship Type="http://schemas.openxmlformats.org/officeDocument/2006/relationships/notesSlide" Target="/ppt/notesSlides/notesSlide9.xml" Id="R32f710e32fc04f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030c3928f4c1e" /><Relationship Type="http://schemas.openxmlformats.org/officeDocument/2006/relationships/image" Target="/ppt/media/image20.png" Id="R4351cfbf2bc5486f" /><Relationship Type="http://schemas.openxmlformats.org/officeDocument/2006/relationships/image" Target="/ppt/media/image21.png" Id="R704c66c4093f456a" /><Relationship Type="http://schemas.openxmlformats.org/officeDocument/2006/relationships/notesSlide" Target="/ppt/notesSlides/notesSlide10.xml" Id="R167bb331cf2d4d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15e49d92c416d" /><Relationship Type="http://schemas.openxmlformats.org/officeDocument/2006/relationships/image" Target="/ppt/media/image22.png" Id="R448f843efaf14c3c" /><Relationship Type="http://schemas.openxmlformats.org/officeDocument/2006/relationships/image" Target="/ppt/media/image23.png" Id="R7db61022a1714703" /><Relationship Type="http://schemas.openxmlformats.org/officeDocument/2006/relationships/image" Target="/ppt/media/image24.png" Id="Ra56a0d52fa314576" /><Relationship Type="http://schemas.openxmlformats.org/officeDocument/2006/relationships/notesSlide" Target="/ppt/notesSlides/notesSlide11.xml" Id="R1593d11b88944d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5fe59edc4cb5" /><Relationship Type="http://schemas.openxmlformats.org/officeDocument/2006/relationships/image" Target="/ppt/media/image25.png" Id="R49ceeb0951de4da8" /><Relationship Type="http://schemas.openxmlformats.org/officeDocument/2006/relationships/image" Target="/ppt/media/image26.png" Id="R4e4c25c5f1dc4572" /><Relationship Type="http://schemas.openxmlformats.org/officeDocument/2006/relationships/image" Target="/ppt/media/image27.png" Id="R7bf2b282f4244af2" /><Relationship Type="http://schemas.openxmlformats.org/officeDocument/2006/relationships/notesSlide" Target="/ppt/notesSlides/notesSlide12.xml" Id="R8016a7091f9049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f7b68bb294c8b" /><Relationship Type="http://schemas.openxmlformats.org/officeDocument/2006/relationships/image" Target="/ppt/media/image28.png" Id="Ra4aece3eb43d4854" /><Relationship Type="http://schemas.openxmlformats.org/officeDocument/2006/relationships/image" Target="/ppt/media/image29.png" Id="Rb65bd8cfd8aa4374" /><Relationship Type="http://schemas.openxmlformats.org/officeDocument/2006/relationships/image" Target="/ppt/media/image30.png" Id="Raa6cc97195ee4dae" /><Relationship Type="http://schemas.openxmlformats.org/officeDocument/2006/relationships/notesSlide" Target="/ppt/notesSlides/notesSlide13.xml" Id="Re47dc0cae5d244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0417a49584dcc" /><Relationship Type="http://schemas.openxmlformats.org/officeDocument/2006/relationships/image" Target="/ppt/media/image31.png" Id="Rebfd24eb0e21447f" /><Relationship Type="http://schemas.openxmlformats.org/officeDocument/2006/relationships/image" Target="/ppt/media/image32.png" Id="Rf6f2ece43dfa41b9" /><Relationship Type="http://schemas.openxmlformats.org/officeDocument/2006/relationships/notesSlide" Target="/ppt/notesSlides/notesSlide14.xml" Id="Rfbcec1075274413c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9b7fbd3c56848ef"/><Relationship Type="http://schemas.openxmlformats.org/officeDocument/2006/relationships/image" Target="/ppt/media/image33.png" Id="R2b467c81e7b34b46"/><Relationship Type="http://schemas.openxmlformats.org/officeDocument/2006/relationships/image" Target="/ppt/media/image34.png" Id="R8140bda07b5d4d0c"/><Relationship Type="http://schemas.openxmlformats.org/officeDocument/2006/relationships/chart" Target="/ppt/slides/charts/chart2.xml" Id="Ra200243d202e4591"/><Relationship Type="http://schemas.openxmlformats.org/officeDocument/2006/relationships/notesSlide" Target="/ppt/notesSlides/notesSlide15.xml" Id="R5b5680c719dd4fe0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fb53671834523" /><Relationship Type="http://schemas.openxmlformats.org/officeDocument/2006/relationships/image" Target="/ppt/media/image35.png" Id="R07f6ed06b8a2416a" /><Relationship Type="http://schemas.openxmlformats.org/officeDocument/2006/relationships/image" Target="/ppt/media/image36.png" Id="R4bc3950a95c14584" /><Relationship Type="http://schemas.openxmlformats.org/officeDocument/2006/relationships/notesSlide" Target="/ppt/notesSlides/notesSlide16.xml" Id="Rc1906464acd049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75f525d4b4c21" /><Relationship Type="http://schemas.openxmlformats.org/officeDocument/2006/relationships/image" Target="/ppt/media/image37.png" Id="Rd402c418359d4f97" /><Relationship Type="http://schemas.openxmlformats.org/officeDocument/2006/relationships/image" Target="/ppt/media/image38.png" Id="Rb3d7c0c02d9c4e39" /><Relationship Type="http://schemas.openxmlformats.org/officeDocument/2006/relationships/notesSlide" Target="/ppt/notesSlides/notesSlide17.xml" Id="Rae97e64a54d14d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0363c5aea414e" /><Relationship Type="http://schemas.openxmlformats.org/officeDocument/2006/relationships/image" Target="/ppt/media/image39.png" Id="R92766beb011c49a2" /><Relationship Type="http://schemas.openxmlformats.org/officeDocument/2006/relationships/image" Target="/ppt/media/image40.png" Id="Rbf8a8b1e0f7644b4" /><Relationship Type="http://schemas.openxmlformats.org/officeDocument/2006/relationships/notesSlide" Target="/ppt/notesSlides/notesSlide18.xml" Id="Rf0f86648c9c241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cf292975c420c" /><Relationship Type="http://schemas.openxmlformats.org/officeDocument/2006/relationships/image" Target="/ppt/media/image41.png" Id="Rfdc1b46cb78b4d6d" /><Relationship Type="http://schemas.openxmlformats.org/officeDocument/2006/relationships/image" Target="/ppt/media/image42.png" Id="R57e65f9d36ff4e83" /><Relationship Type="http://schemas.openxmlformats.org/officeDocument/2006/relationships/notesSlide" Target="/ppt/notesSlides/notesSlide19.xml" Id="R3bc27f85bf1f44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8c10e51ea4f15" /><Relationship Type="http://schemas.openxmlformats.org/officeDocument/2006/relationships/image" Target="/ppt/media/image43.png" Id="R2cf2691a0dd54a9c" /><Relationship Type="http://schemas.openxmlformats.org/officeDocument/2006/relationships/image" Target="/ppt/media/image44.png" Id="R7b3fe021f6b048d3" /><Relationship Type="http://schemas.openxmlformats.org/officeDocument/2006/relationships/notesSlide" Target="/ppt/notesSlides/notesSlide20.xml" Id="R384e9bf198b14a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e1a8d8900491e" /><Relationship Type="http://schemas.openxmlformats.org/officeDocument/2006/relationships/image" Target="/ppt/media/image45.png" Id="R5c2dc2c5563b430c" /><Relationship Type="http://schemas.openxmlformats.org/officeDocument/2006/relationships/image" Target="/ppt/media/image46.png" Id="R236360f0f116441d" /><Relationship Type="http://schemas.openxmlformats.org/officeDocument/2006/relationships/notesSlide" Target="/ppt/notesSlides/notesSlide21.xml" Id="R8c49f37204d34e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41e703124d68" /><Relationship Type="http://schemas.openxmlformats.org/officeDocument/2006/relationships/image" Target="/ppt/media/image47.png" Id="R1364fe936f734009" /><Relationship Type="http://schemas.openxmlformats.org/officeDocument/2006/relationships/image" Target="/ppt/media/image48.png" Id="R038f6500d3cc4efe" /><Relationship Type="http://schemas.openxmlformats.org/officeDocument/2006/relationships/notesSlide" Target="/ppt/notesSlides/notesSlide22.xml" Id="R25924e80ddb1464f" 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 xmlns:a="http://schemas.openxmlformats.org/drawingml/2006/main">
              <a:srgbClr val="9AB6A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08795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73D34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cbc25cd5e4d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edccf4fcf453a"/>
          <a:stretch xmlns:a="http://schemas.openxmlformats.org/drawingml/2006/main"/>
        </p:blipFill>
        <p:spPr>
          <a:xfrm xmlns:a="http://schemas.openxmlformats.org/drawingml/2006/main">
            <a:off x="457200" y="362075"/>
            <a:ext cx="1828800" cy="685549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10572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Mentality untuk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 Ekspor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B683F34-43DC-47E6-A49E-A5594B1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86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Business Foundation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CADD6F9-5FE7-4722-913B-86D7C4D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864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7DED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C7DED6"/>
                </a:solidFill>
                <a:latin typeface="Calibri"/>
                <a:ea typeface="Calibri"/>
                <a:cs typeface="Calibri"/>
              </a:rPr>
              <a:t>Cara berpikir dan mengambil keputusan sebelum masuk pasar global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3588ba6264b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A0259-C4BF-4461-9562-4157806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7cd265ae94e8a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7CE6A079-7557-480B-BD63-92C16C3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PETA SESI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10A89CF6-03AF-4E0B-89FD-03404C71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Tiga bekal sebelum menjawab peluang ekspor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D0C1B72B-897C-4795-93CA-A66ABF9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F233609D-2270-4F8E-9DB9-B6AE705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C5712412-5460-4F09-A795-B498E4F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7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413646E4-B5A8-47A0-85FF-E1FA890D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menit untuk menguji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cara kita mengambil keputusan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83E3E-B58B-4D89-8E7E-2C37B81D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1" name="text-7">
            <a:extLst xmlns:a="http://schemas.openxmlformats.org/drawingml/2006/main">
              <a:ext uri="{FF2B5EF4-FFF2-40B4-BE49-F238E27FC236}">
                <a16:creationId xmlns:a16="http://schemas.microsoft.com/office/drawing/2014/main" id="{C4E19DD9-86CD-40AF-AB61-9723D5A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73B9E369-4E30-4C3B-98C7-C02F3950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Fondasi founder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0EE56C23-5E0A-4880-8C8D-C9C24A5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Tujuan, growth mindset, dan cara membaca peluang.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61A41-E84D-4290-823D-782921E8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90875"/>
            <a:ext cx="603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5" name="text-10">
            <a:extLst xmlns:a="http://schemas.openxmlformats.org/drawingml/2006/main">
              <a:ext uri="{FF2B5EF4-FFF2-40B4-BE49-F238E27FC236}">
                <a16:creationId xmlns:a16="http://schemas.microsoft.com/office/drawing/2014/main" id="{9FCF5FA4-51E7-4F8F-AC8C-A778EA7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11">
            <a:extLst xmlns:a="http://schemas.openxmlformats.org/drawingml/2006/main">
              <a:ext uri="{FF2B5EF4-FFF2-40B4-BE49-F238E27FC236}">
                <a16:creationId xmlns:a16="http://schemas.microsoft.com/office/drawing/2014/main" id="{45CDD42F-2C4C-4F2C-B58E-8FFBC17A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6232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Kesiapan bisnis</a:t>
            </a:r>
          </a:p>
        </p:txBody>
      </p:sp>
      <p:sp>
        <p:nvSpPr>
          <p:cNvPr id="17" name="text-12">
            <a:extLst xmlns:a="http://schemas.openxmlformats.org/drawingml/2006/main">
              <a:ext uri="{FF2B5EF4-FFF2-40B4-BE49-F238E27FC236}">
                <a16:creationId xmlns:a16="http://schemas.microsoft.com/office/drawing/2014/main" id="{B3258801-ECBA-4BB4-9054-D7DAD29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Buyer, kapasitas, tim, kas, dan batas risiko.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5F3B5-7B8B-4A98-96EF-DDF7C14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91025"/>
            <a:ext cx="603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9" name="text-13">
            <a:extLst xmlns:a="http://schemas.openxmlformats.org/drawingml/2006/main">
              <a:ext uri="{FF2B5EF4-FFF2-40B4-BE49-F238E27FC236}">
                <a16:creationId xmlns:a16="http://schemas.microsoft.com/office/drawing/2014/main" id="{3821CFFF-B22B-4B4C-B466-F974CCA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text-14">
            <a:extLst xmlns:a="http://schemas.openxmlformats.org/drawingml/2006/main">
              <a:ext uri="{FF2B5EF4-FFF2-40B4-BE49-F238E27FC236}">
                <a16:creationId xmlns:a16="http://schemas.microsoft.com/office/drawing/2014/main" id="{259AB8D8-AF4C-4C3A-9C42-B7B4B53A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62475"/>
            <a:ext cx="5895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lewat tindakan</a:t>
            </a:r>
          </a:p>
        </p:txBody>
      </p:sp>
      <p:sp>
        <p:nvSpPr>
          <p:cNvPr id="21" name="text-15">
            <a:extLst xmlns:a="http://schemas.openxmlformats.org/drawingml/2006/main">
              <a:ext uri="{FF2B5EF4-FFF2-40B4-BE49-F238E27FC236}">
                <a16:creationId xmlns:a16="http://schemas.microsoft.com/office/drawing/2014/main" id="{6045E06A-60D7-48BD-93B5-90D7268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67300"/>
            <a:ext cx="5895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 kecil, bukti, lalu keputusan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1F386-DEB8-42BF-A0B9-2FC245C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3" name="text-16">
            <a:extLst xmlns:a="http://schemas.openxmlformats.org/drawingml/2006/main">
              <a:ext uri="{FF2B5EF4-FFF2-40B4-BE49-F238E27FC236}">
                <a16:creationId xmlns:a16="http://schemas.microsoft.com/office/drawing/2014/main" id="{1A7F1212-DAD4-437B-9100-6AE05EF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Bawa satu keputusan dan satu rencana uji untuk bisnismu.</a:t>
            </a:r>
          </a:p>
        </p:txBody>
      </p:sp>
    </p:spTree>
    <p:extLst>
      <p:ext uri="{BB962C8B-B14F-4D97-AF65-F5344CB8AC3E}">
        <p14:creationId xmlns:p14="http://schemas.microsoft.com/office/powerpoint/2010/main" val="1823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885bb45964f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4154D-0C40-441B-BAA8-C282342D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3e56547d462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08353A24-0051-44EE-8F59-DC5FEC26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D2F03A09-8B9E-4E40-B2C4-208E1FF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Peluang yang menarik tetap perlu dibaca konsekuensinya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6DBC1EBC-25EC-4440-82C7-757AE2C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Business acumen membantu founder memilih tindakan yang masuk akal.</a:t>
            </a:r>
          </a:p>
        </p:txBody>
      </p:sp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7BE860C8-0FC8-450F-9913-A4D8023D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C49001E6-D495-4047-A961-507AD88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D1BFD564-4E25-41BB-B818-C65147B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762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Menemukan</a:t>
            </a:r>
          </a:p>
          <a:p xmlns:a="http://schemas.openxmlformats.org/drawingml/2006/main"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D9AF6469-9050-4561-A703-A23F39D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3743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51FD6141-514B-4A4D-B730-DB7DE22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3752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 kebutuhan buyer yang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 kita penuhi?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EA4D5-B90F-42CE-944E-2AEE8AC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333750"/>
            <a:ext cx="11144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76F31E72-4B84-4F99-BB7C-FC4AA7F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62225"/>
            <a:ext cx="48482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Menilai</a:t>
            </a:r>
          </a:p>
          <a:p xmlns:a="http://schemas.openxmlformats.org/drawingml/2006/main"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konsekuensi</a:t>
            </a:r>
          </a:p>
        </p:txBody>
      </p:sp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B55B8397-B37A-4CAD-AFBC-FCB4AE0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24325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8BA7737F-992D-45AD-AD79-30C2B8B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05325"/>
            <a:ext cx="4733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Bagaimana dampaknya ke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kapasitas, kas, dan pilihan kita?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D3C2-CD1F-49EE-A2CF-51D5FE7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7" name="text-28">
            <a:extLst xmlns:a="http://schemas.openxmlformats.org/drawingml/2006/main">
              <a:ext uri="{FF2B5EF4-FFF2-40B4-BE49-F238E27FC236}">
                <a16:creationId xmlns:a16="http://schemas.microsoft.com/office/drawing/2014/main" id="{94717BC6-A5F4-444A-9F66-0264F92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Keputusan akhirnya bisa berupa menerima, mengubah syarat, atau menunda.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eb23d81aa4b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2E5F7-443F-4472-A560-FC5E114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dafc6e644f78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7E0475CA-92FC-47C4-B856-EC7CAB64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KASUS DISKUSI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66337C79-138D-4C13-A5AC-2F89AB01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 order 500 unit. Kapasitas kita baru 300.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7C71257C-8221-42FF-BF0A-58557EA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1E1D8CFF-8C59-4629-8D88-35C71ADE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1090aa20e4cd9"/>
          <a:srcRect xmlns:a="http://schemas.openxmlformats.org/drawingml/2006/main" l="2923" t="0" r="2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895475"/>
            <a:ext cx="5676900" cy="4019550"/>
          </a:xfrm>
          <a:prstGeom xmlns:a="http://schemas.openxmlformats.org/drawingml/2006/main" prst="rect">
            <a:avLst/>
          </a:prstGeom>
        </p:spPr>
      </p:pic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D3C0FC61-44F4-450C-9AF8-14D17BB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1455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3CB3A973-7880-4991-B97A-35A35E1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908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unit diminta buyer</a:t>
            </a:r>
          </a:p>
        </p:txBody>
      </p:sp>
      <p:sp>
        <p:nvSpPr>
          <p:cNvPr id="11" name="text-35">
            <a:extLst xmlns:a="http://schemas.openxmlformats.org/drawingml/2006/main">
              <a:ext uri="{FF2B5EF4-FFF2-40B4-BE49-F238E27FC236}">
                <a16:creationId xmlns:a16="http://schemas.microsoft.com/office/drawing/2014/main" id="{59127875-0933-4106-8299-250BFE9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14550"/>
            <a:ext cx="247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734C9D73-342E-41EC-B00E-B68117D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unit bisa diproduksi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C3671-9E38-421E-BB22-A600CC1A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7FABD806-0A0C-496E-921E-49A67307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543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30 hari</a:t>
            </a:r>
          </a:p>
        </p:txBody>
      </p:sp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BF9EC44B-2130-486E-BBF4-15049DD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5438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Pembayaran setelah barang diterima.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Kemasan ekspor belum pernah diuji.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8644F-9698-47CB-B5C9-FF72532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7" name="text-39">
            <a:extLst xmlns:a="http://schemas.openxmlformats.org/drawingml/2006/main">
              <a:ext uri="{FF2B5EF4-FFF2-40B4-BE49-F238E27FC236}">
                <a16:creationId xmlns:a16="http://schemas.microsoft.com/office/drawing/2014/main" id="{4CF75A08-5906-4D13-909E-542CE03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Terima, negosiasikan, atau tunda? Apa informasi yang masih kurang?</a:t>
            </a:r>
          </a:p>
        </p:txBody>
      </p:sp>
      <p:sp>
        <p:nvSpPr>
          <p:cNvPr id="18" name="text-40">
            <a:extLst xmlns:a="http://schemas.openxmlformats.org/drawingml/2006/main">
              <a:ext uri="{FF2B5EF4-FFF2-40B4-BE49-F238E27FC236}">
                <a16:creationId xmlns:a16="http://schemas.microsoft.com/office/drawing/2014/main" id="{B614B3FF-6E39-4023-B3BD-5923BCB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Kasus dan angka ilustratif. Gambar ilustrasi AI.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5f7675f1a48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D4963-A9F6-4AD7-BD3C-BEC2D2E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88b205214400d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2F5AA268-9B63-4215-A609-9D14EE5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PERJALANAN ENTREPRENEUR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4E955D61-E15E-47B6-ADBD-ECAFA0B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Perjalanan entrepreneur terus bergerak bersama pasar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FDAD0BC7-084C-409D-8F02-6F92D11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Tahapnya bisa berulang saat kebutuhan buyer dan kemampuan bisnis berubah.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254CCB11-B71B-450E-B448-4246F170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95EDDA59-414E-4820-BF8E-9A57CBC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7CF3-A284-4942-9A7D-BFA5639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43350"/>
            <a:ext cx="1011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B6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EF0D6-0AA6-4322-B4CD-06A4A2A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108AE72C-D4CB-4F63-BD8E-B42347F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004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47">
            <a:extLst xmlns:a="http://schemas.openxmlformats.org/drawingml/2006/main">
              <a:ext uri="{FF2B5EF4-FFF2-40B4-BE49-F238E27FC236}">
                <a16:creationId xmlns:a16="http://schemas.microsoft.com/office/drawing/2014/main" id="{E725757F-3BCF-46E1-9E0F-B35025F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Mulai</a:t>
            </a:r>
          </a:p>
        </p:txBody>
      </p:sp>
      <p:sp>
        <p:nvSpPr>
          <p:cNvPr id="13" name="text-48">
            <a:extLst xmlns:a="http://schemas.openxmlformats.org/drawingml/2006/main">
              <a:ext uri="{FF2B5EF4-FFF2-40B4-BE49-F238E27FC236}">
                <a16:creationId xmlns:a16="http://schemas.microsoft.com/office/drawing/2014/main" id="{2EF1375D-0F5E-4307-9B21-7607A12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Buka percakapan</a:t>
            </a:r>
          </a:p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 buyer.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EE0E3-5B15-42EF-9267-5D3467E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AFA394D8-B762-4F7A-9B08-AB15279E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Kebutuhan awal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12427-E246-4FBC-9C31-0F7E736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C64271EC-AD05-4338-AA9E-FCEFDE0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004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51">
            <a:extLst xmlns:a="http://schemas.openxmlformats.org/drawingml/2006/main">
              <a:ext uri="{FF2B5EF4-FFF2-40B4-BE49-F238E27FC236}">
                <a16:creationId xmlns:a16="http://schemas.microsoft.com/office/drawing/2014/main" id="{70E98474-1DD7-47AE-9781-3AC0A51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767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A46F4144-37D9-423D-875D-ECCF6F97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244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Sesuaikan ukuran,</a:t>
            </a:r>
          </a:p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kemasan, penawaran.</a:t>
            </a:r>
          </a:p>
        </p:txBody>
      </p:sp>
      <p:sp>
        <p:nvSpPr>
          <p:cNvPr id="20" name="text-53">
            <a:extLst xmlns:a="http://schemas.openxmlformats.org/drawingml/2006/main">
              <a:ext uri="{FF2B5EF4-FFF2-40B4-BE49-F238E27FC236}">
                <a16:creationId xmlns:a16="http://schemas.microsoft.com/office/drawing/2014/main" id="{E24EA557-4195-4078-847D-F99366A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860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Feedback buyer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CDD57-AAFD-439E-A802-D6C4A54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81475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BE4BF-A09A-42B3-AA50-F55CE4A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23" name="text-54">
            <a:extLst xmlns:a="http://schemas.openxmlformats.org/drawingml/2006/main">
              <a:ext uri="{FF2B5EF4-FFF2-40B4-BE49-F238E27FC236}">
                <a16:creationId xmlns:a16="http://schemas.microsoft.com/office/drawing/2014/main" id="{25BCF151-05EE-458B-AE6F-9CFF8515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004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-55">
            <a:extLst xmlns:a="http://schemas.openxmlformats.org/drawingml/2006/main">
              <a:ext uri="{FF2B5EF4-FFF2-40B4-BE49-F238E27FC236}">
                <a16:creationId xmlns:a16="http://schemas.microsoft.com/office/drawing/2014/main" id="{DC89285D-4222-41BB-BB80-1F89B0F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050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Uji</a:t>
            </a:r>
          </a:p>
        </p:txBody>
      </p:sp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E9467436-921E-43EC-BDF8-BEA34C83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Uji sampel.</a:t>
            </a:r>
          </a:p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Batasi risikonya.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3143E-E65D-44BF-BF74-60C4738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1A3EC5C3-9891-499C-B97A-D49AB26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148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Hasil percobaan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9F04B-DCB7-423F-A8C5-294FB66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29" name="text-58">
            <a:extLst xmlns:a="http://schemas.openxmlformats.org/drawingml/2006/main">
              <a:ext uri="{FF2B5EF4-FFF2-40B4-BE49-F238E27FC236}">
                <a16:creationId xmlns:a16="http://schemas.microsoft.com/office/drawing/2014/main" id="{9EA0885E-C586-4F42-A868-761E43D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-59">
            <a:extLst xmlns:a="http://schemas.openxmlformats.org/drawingml/2006/main">
              <a:ext uri="{FF2B5EF4-FFF2-40B4-BE49-F238E27FC236}">
                <a16:creationId xmlns:a16="http://schemas.microsoft.com/office/drawing/2014/main" id="{75A420E8-45D3-4441-B1B5-225D676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4767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Bangun tim</a:t>
            </a:r>
          </a:p>
        </p:txBody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171C3C54-50D9-4C7F-B590-B785AB2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244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Tutup kebutuhan</a:t>
            </a:r>
          </a:p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 dan kirim.</a:t>
            </a:r>
          </a:p>
        </p:txBody>
      </p:sp>
      <p:sp>
        <p:nvSpPr>
          <p:cNvPr id="32" name="text-61">
            <a:extLst xmlns:a="http://schemas.openxmlformats.org/drawingml/2006/main">
              <a:ext uri="{FF2B5EF4-FFF2-40B4-BE49-F238E27FC236}">
                <a16:creationId xmlns:a16="http://schemas.microsoft.com/office/drawing/2014/main" id="{912DE343-C72D-4030-878E-C2F622F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860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PIC yang jelas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6B0C01-50DA-445D-BF4A-9E2B62E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81475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96191-B3AE-411D-8F00-98C2B21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35" name="text-62">
            <a:extLst xmlns:a="http://schemas.openxmlformats.org/drawingml/2006/main">
              <a:ext uri="{FF2B5EF4-FFF2-40B4-BE49-F238E27FC236}">
                <a16:creationId xmlns:a16="http://schemas.microsoft.com/office/drawing/2014/main" id="{B1CC5C84-3F22-4209-B90A-79B387F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800475"/>
            <a:ext cx="314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-63">
            <a:extLst xmlns:a="http://schemas.openxmlformats.org/drawingml/2006/main">
              <a:ext uri="{FF2B5EF4-FFF2-40B4-BE49-F238E27FC236}">
                <a16:creationId xmlns:a16="http://schemas.microsoft.com/office/drawing/2014/main" id="{555AF747-58E5-4F82-ABCC-5FD6E912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050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Jaga misi</a:t>
            </a:r>
          </a:p>
        </p:txBody>
      </p:sp>
      <p:sp>
        <p:nvSpPr>
          <p:cNvPr id="37" name="text-64">
            <a:extLst xmlns:a="http://schemas.openxmlformats.org/drawingml/2006/main">
              <a:ext uri="{FF2B5EF4-FFF2-40B4-BE49-F238E27FC236}">
                <a16:creationId xmlns:a16="http://schemas.microsoft.com/office/drawing/2014/main" id="{8BD2B662-94F8-4557-A4CD-4BBD35DB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Penuhi janji untuk</a:t>
            </a:r>
          </a:p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pesanan berulang.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47E3A-A9AF-4EDE-B299-F720C49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39" name="text-65">
            <a:extLst xmlns:a="http://schemas.openxmlformats.org/drawingml/2006/main">
              <a:ext uri="{FF2B5EF4-FFF2-40B4-BE49-F238E27FC236}">
                <a16:creationId xmlns:a16="http://schemas.microsoft.com/office/drawing/2014/main" id="{52503B67-34F8-4627-A681-5C9917B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14875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Arah bersama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2BC2C7-621D-47CE-BC5F-7849288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41" name="text-66">
            <a:extLst xmlns:a="http://schemas.openxmlformats.org/drawingml/2006/main">
              <a:ext uri="{FF2B5EF4-FFF2-40B4-BE49-F238E27FC236}">
                <a16:creationId xmlns:a16="http://schemas.microsoft.com/office/drawing/2014/main" id="{033762D6-963B-466A-8B6A-A74DB150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Pertahankan tujuannya. Sesuaikan cara mencapainya.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c8b3c67c749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5EC48-BBE0-4436-9AFA-88D513E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47bf2c2714178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0B9DE2DF-0A75-4749-B3A5-BACCC7A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KARAKTER ENTREPRENEUR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5AEB2363-C4D5-43BF-A3B4-0406434E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Karakter founder terlihat dalam kebiasaan sehari-hari</a:t>
            </a:r>
          </a:p>
        </p:txBody>
      </p:sp>
      <p:sp>
        <p:nvSpPr>
          <p:cNvPr id="6" name="text-69">
            <a:extLst xmlns:a="http://schemas.openxmlformats.org/drawingml/2006/main">
              <a:ext uri="{FF2B5EF4-FFF2-40B4-BE49-F238E27FC236}">
                <a16:creationId xmlns:a16="http://schemas.microsoft.com/office/drawing/2014/main" id="{F5C128B0-97DA-4650-9B5C-6CEE3C1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FAC0809B-91F1-4053-BBA9-83D527C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text-71">
            <a:extLst xmlns:a="http://schemas.openxmlformats.org/drawingml/2006/main">
              <a:ext uri="{FF2B5EF4-FFF2-40B4-BE49-F238E27FC236}">
                <a16:creationId xmlns:a16="http://schemas.microsoft.com/office/drawing/2014/main" id="{C41089A5-6BAD-4D17-A833-04686AF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MEMBACA PELUANG</a:t>
            </a:r>
          </a:p>
        </p:txBody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ACF1887E-D17C-4FC2-B486-3681F79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MENJAGA LANGKAH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0D921-C215-4093-B71B-E8E08D7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DF989-E422-456B-97C6-F51E5C26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73">
            <a:extLst xmlns:a="http://schemas.openxmlformats.org/drawingml/2006/main">
              <a:ext uri="{FF2B5EF4-FFF2-40B4-BE49-F238E27FC236}">
                <a16:creationId xmlns:a16="http://schemas.microsoft.com/office/drawing/2014/main" id="{4A58299C-3F9D-458F-9C92-A3305E6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-74">
            <a:extLst xmlns:a="http://schemas.openxmlformats.org/drawingml/2006/main">
              <a:ext uri="{FF2B5EF4-FFF2-40B4-BE49-F238E27FC236}">
                <a16:creationId xmlns:a16="http://schemas.microsoft.com/office/drawing/2014/main" id="{4A1D1C43-9DAF-41F6-BEDA-E58FA24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4" name="text-75">
            <a:extLst xmlns:a="http://schemas.openxmlformats.org/drawingml/2006/main">
              <a:ext uri="{FF2B5EF4-FFF2-40B4-BE49-F238E27FC236}">
                <a16:creationId xmlns:a16="http://schemas.microsoft.com/office/drawing/2014/main" id="{672C331A-11F1-4924-9169-D46DA83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 alasan buyer.</a:t>
            </a:r>
          </a:p>
        </p:txBody>
      </p:sp>
      <p:sp>
        <p:nvSpPr>
          <p:cNvPr id="15" name="text-76">
            <a:extLst xmlns:a="http://schemas.openxmlformats.org/drawingml/2006/main">
              <a:ext uri="{FF2B5EF4-FFF2-40B4-BE49-F238E27FC236}">
                <a16:creationId xmlns:a16="http://schemas.microsoft.com/office/drawing/2014/main" id="{BB37EE14-8358-49A3-A4FB-8F00FA8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77">
            <a:extLst xmlns:a="http://schemas.openxmlformats.org/drawingml/2006/main">
              <a:ext uri="{FF2B5EF4-FFF2-40B4-BE49-F238E27FC236}">
                <a16:creationId xmlns:a16="http://schemas.microsoft.com/office/drawing/2014/main" id="{52394029-142C-4EBA-A229-57E9DE1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527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17" name="text-78">
            <a:extLst xmlns:a="http://schemas.openxmlformats.org/drawingml/2006/main">
              <a:ext uri="{FF2B5EF4-FFF2-40B4-BE49-F238E27FC236}">
                <a16:creationId xmlns:a16="http://schemas.microsoft.com/office/drawing/2014/main" id="{9FA30C55-5B46-494C-89DE-7A93D61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671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Uji sebelum menambah stok.</a:t>
            </a:r>
          </a:p>
        </p:txBody>
      </p:sp>
      <p:sp>
        <p:nvSpPr>
          <p:cNvPr id="18" name="text-79">
            <a:extLst xmlns:a="http://schemas.openxmlformats.org/drawingml/2006/main">
              <a:ext uri="{FF2B5EF4-FFF2-40B4-BE49-F238E27FC236}">
                <a16:creationId xmlns:a16="http://schemas.microsoft.com/office/drawing/2014/main" id="{40EB1197-315A-4891-BA57-81BBB3D1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-80">
            <a:extLst xmlns:a="http://schemas.openxmlformats.org/drawingml/2006/main">
              <a:ext uri="{FF2B5EF4-FFF2-40B4-BE49-F238E27FC236}">
                <a16:creationId xmlns:a16="http://schemas.microsoft.com/office/drawing/2014/main" id="{12AC0192-0B1C-4ACB-B983-BFA76A7B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20" name="text-81">
            <a:extLst xmlns:a="http://schemas.openxmlformats.org/drawingml/2006/main">
              <a:ext uri="{FF2B5EF4-FFF2-40B4-BE49-F238E27FC236}">
                <a16:creationId xmlns:a16="http://schemas.microsoft.com/office/drawing/2014/main" id="{DFF84D21-1389-4655-878A-2010757B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Ubah cara setelah ada bukti.</a:t>
            </a:r>
          </a:p>
        </p:txBody>
      </p:sp>
      <p:sp>
        <p:nvSpPr>
          <p:cNvPr id="21" name="text-82">
            <a:extLst xmlns:a="http://schemas.openxmlformats.org/drawingml/2006/main">
              <a:ext uri="{FF2B5EF4-FFF2-40B4-BE49-F238E27FC236}">
                <a16:creationId xmlns:a16="http://schemas.microsoft.com/office/drawing/2014/main" id="{A9A5AD39-8129-4F50-9CC3-056D553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83">
            <a:extLst xmlns:a="http://schemas.openxmlformats.org/drawingml/2006/main">
              <a:ext uri="{FF2B5EF4-FFF2-40B4-BE49-F238E27FC236}">
                <a16:creationId xmlns:a16="http://schemas.microsoft.com/office/drawing/2014/main" id="{754E0EA9-D258-4EA4-BE2E-61DE567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00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Keputusan</a:t>
            </a:r>
          </a:p>
        </p:txBody>
      </p: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DF48282B-876C-430B-89E6-1D746F0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langkah dan alasannya.</a:t>
            </a:r>
          </a:p>
        </p:txBody>
      </p:sp>
      <p:sp>
        <p:nvSpPr>
          <p:cNvPr id="24" name="text-85">
            <a:extLst xmlns:a="http://schemas.openxmlformats.org/drawingml/2006/main">
              <a:ext uri="{FF2B5EF4-FFF2-40B4-BE49-F238E27FC236}">
                <a16:creationId xmlns:a16="http://schemas.microsoft.com/office/drawing/2014/main" id="{D0E5D6B5-D83B-40CD-9CAB-62835E5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5" name="text-86">
            <a:extLst xmlns:a="http://schemas.openxmlformats.org/drawingml/2006/main">
              <a:ext uri="{FF2B5EF4-FFF2-40B4-BE49-F238E27FC236}">
                <a16:creationId xmlns:a16="http://schemas.microsoft.com/office/drawing/2014/main" id="{CEC9610D-23B0-45EF-B7A8-A1CC17D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387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6" name="text-87">
            <a:extLst xmlns:a="http://schemas.openxmlformats.org/drawingml/2006/main">
              <a:ext uri="{FF2B5EF4-FFF2-40B4-BE49-F238E27FC236}">
                <a16:creationId xmlns:a16="http://schemas.microsoft.com/office/drawing/2014/main" id="{57E30A05-B2C0-4462-9046-F50E191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530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Akui kemampuan yang kurang.</a:t>
            </a:r>
          </a:p>
        </p:txBody>
      </p:sp>
      <p:sp>
        <p:nvSpPr>
          <p:cNvPr id="27" name="text-88">
            <a:extLst xmlns:a="http://schemas.openxmlformats.org/drawingml/2006/main">
              <a:ext uri="{FF2B5EF4-FFF2-40B4-BE49-F238E27FC236}">
                <a16:creationId xmlns:a16="http://schemas.microsoft.com/office/drawing/2014/main" id="{30A47938-A1B0-40A3-A1B6-1FF9E8A8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ext-89">
            <a:extLst xmlns:a="http://schemas.openxmlformats.org/drawingml/2006/main">
              <a:ext uri="{FF2B5EF4-FFF2-40B4-BE49-F238E27FC236}">
                <a16:creationId xmlns:a16="http://schemas.microsoft.com/office/drawing/2014/main" id="{A1DEAEBB-5D5C-44C0-8650-AB9F824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29" name="text-90">
            <a:extLst xmlns:a="http://schemas.openxmlformats.org/drawingml/2006/main">
              <a:ext uri="{FF2B5EF4-FFF2-40B4-BE49-F238E27FC236}">
                <a16:creationId xmlns:a16="http://schemas.microsoft.com/office/drawing/2014/main" id="{493284EC-3336-4A3E-AAFE-1AE2CEB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Tetapkan batas kerugian.</a:t>
            </a:r>
          </a:p>
        </p:txBody>
      </p:sp>
      <p:sp>
        <p:nvSpPr>
          <p:cNvPr id="30" name="text-91">
            <a:extLst xmlns:a="http://schemas.openxmlformats.org/drawingml/2006/main">
              <a:ext uri="{FF2B5EF4-FFF2-40B4-BE49-F238E27FC236}">
                <a16:creationId xmlns:a16="http://schemas.microsoft.com/office/drawing/2014/main" id="{41C27D14-D559-4D5E-A05B-ECCCC43C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-92">
            <a:extLst xmlns:a="http://schemas.openxmlformats.org/drawingml/2006/main">
              <a:ext uri="{FF2B5EF4-FFF2-40B4-BE49-F238E27FC236}">
                <a16:creationId xmlns:a16="http://schemas.microsoft.com/office/drawing/2014/main" id="{2587B962-AB39-4DC8-882C-344C1673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527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dari gagal</a:t>
            </a:r>
          </a:p>
        </p:txBody>
      </p:sp>
      <p:sp>
        <p:nvSpPr>
          <p:cNvPr id="32" name="text-93">
            <a:extLst xmlns:a="http://schemas.openxmlformats.org/drawingml/2006/main">
              <a:ext uri="{FF2B5EF4-FFF2-40B4-BE49-F238E27FC236}">
                <a16:creationId xmlns:a16="http://schemas.microsoft.com/office/drawing/2014/main" id="{06AE9D2E-9741-4329-9F40-4BBC692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671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Periksa penyebabnya.</a:t>
            </a:r>
          </a:p>
        </p:txBody>
      </p:sp>
      <p:sp>
        <p:nvSpPr>
          <p:cNvPr id="33" name="text-94">
            <a:extLst xmlns:a="http://schemas.openxmlformats.org/drawingml/2006/main">
              <a:ext uri="{FF2B5EF4-FFF2-40B4-BE49-F238E27FC236}">
                <a16:creationId xmlns:a16="http://schemas.microsoft.com/office/drawing/2014/main" id="{7AF81F28-7C06-4ABA-B06A-DDBF3E6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text-95">
            <a:extLst xmlns:a="http://schemas.openxmlformats.org/drawingml/2006/main">
              <a:ext uri="{FF2B5EF4-FFF2-40B4-BE49-F238E27FC236}">
                <a16:creationId xmlns:a16="http://schemas.microsoft.com/office/drawing/2014/main" id="{F8EE5B73-19C1-4729-A3B9-0E0D89F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814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5" name="text-96">
            <a:extLst xmlns:a="http://schemas.openxmlformats.org/drawingml/2006/main">
              <a:ext uri="{FF2B5EF4-FFF2-40B4-BE49-F238E27FC236}">
                <a16:creationId xmlns:a16="http://schemas.microsoft.com/office/drawing/2014/main" id="{9ADC3B2C-6361-49B4-8C62-11F3A80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Tindak lanjuti dengan disiplin.</a:t>
            </a:r>
          </a:p>
        </p:txBody>
      </p:sp>
      <p:sp>
        <p:nvSpPr>
          <p:cNvPr id="36" name="text-97">
            <a:extLst xmlns:a="http://schemas.openxmlformats.org/drawingml/2006/main">
              <a:ext uri="{FF2B5EF4-FFF2-40B4-BE49-F238E27FC236}">
                <a16:creationId xmlns:a16="http://schemas.microsoft.com/office/drawing/2014/main" id="{F9E3F7CA-1EC1-4BCF-B323-2AE6300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7" name="text-98">
            <a:extLst xmlns:a="http://schemas.openxmlformats.org/drawingml/2006/main">
              <a:ext uri="{FF2B5EF4-FFF2-40B4-BE49-F238E27FC236}">
                <a16:creationId xmlns:a16="http://schemas.microsoft.com/office/drawing/2014/main" id="{9B06995D-323E-412F-9FB8-E4909F7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00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Inovasi</a:t>
            </a:r>
          </a:p>
        </p:txBody>
      </p:sp>
      <p:sp>
        <p:nvSpPr>
          <p:cNvPr id="38" name="text-99">
            <a:extLst xmlns:a="http://schemas.openxmlformats.org/drawingml/2006/main">
              <a:ext uri="{FF2B5EF4-FFF2-40B4-BE49-F238E27FC236}">
                <a16:creationId xmlns:a16="http://schemas.microsoft.com/office/drawing/2014/main" id="{DC25178C-377B-494A-91DB-50319FE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244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cara lain memenuhi kebutuhan.</a:t>
            </a:r>
          </a:p>
        </p:txBody>
      </p:sp>
      <p:sp>
        <p:nvSpPr>
          <p:cNvPr id="39" name="text-100">
            <a:extLst xmlns:a="http://schemas.openxmlformats.org/drawingml/2006/main">
              <a:ext uri="{FF2B5EF4-FFF2-40B4-BE49-F238E27FC236}">
                <a16:creationId xmlns:a16="http://schemas.microsoft.com/office/drawing/2014/main" id="{F95725F8-BADB-4906-AC4E-348A62F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387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-101">
            <a:extLst xmlns:a="http://schemas.openxmlformats.org/drawingml/2006/main">
              <a:ext uri="{FF2B5EF4-FFF2-40B4-BE49-F238E27FC236}">
                <a16:creationId xmlns:a16="http://schemas.microsoft.com/office/drawing/2014/main" id="{BB6CF8B3-F6DE-464B-A7B7-1ACC7BD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387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1" name="text-102">
            <a:extLst xmlns:a="http://schemas.openxmlformats.org/drawingml/2006/main">
              <a:ext uri="{FF2B5EF4-FFF2-40B4-BE49-F238E27FC236}">
                <a16:creationId xmlns:a16="http://schemas.microsoft.com/office/drawing/2014/main" id="{92022655-AAEE-4ADE-8226-7875EDE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5305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Jaga hubungan dan reputasi.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CF25C5-3D0C-4468-80F4-4151DF2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43" name="text-103">
            <a:extLst xmlns:a="http://schemas.openxmlformats.org/drawingml/2006/main">
              <a:ext uri="{FF2B5EF4-FFF2-40B4-BE49-F238E27FC236}">
                <a16:creationId xmlns:a16="http://schemas.microsoft.com/office/drawing/2014/main" id="{8C3526FB-1E5E-4641-BF3E-F5B7B952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 satu kebiasaan yang paling perlu kamu perbaiki minggu ini.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7900a3f8c49c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a965e74564297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46CB8A51-E1F5-4CA3-942C-C7D86AFA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D444D744-7BCA-46A7-9323-1E2CA9CB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Masukan buyer membuka pilihan baru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37845C81-07F8-4B97-A5AC-8734B50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16A0A28A-12A7-45A8-92B5-7CEA47FC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32432383-6D88-45C3-8A07-6DC303D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110394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“Ukurannya belum cocok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 toko kami.”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9490-B873-466B-8C1F-40E87CFD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</p:sp>
      <p:sp>
        <p:nvSpPr>
          <p:cNvPr id="9" name="text-109">
            <a:extLst xmlns:a="http://schemas.openxmlformats.org/drawingml/2006/main">
              <a:ext uri="{FF2B5EF4-FFF2-40B4-BE49-F238E27FC236}">
                <a16:creationId xmlns:a16="http://schemas.microsoft.com/office/drawing/2014/main" id="{32CEDC6A-F23B-4E52-AF40-14028DC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4295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RESPONS YANG MENUTUP</a:t>
            </a:r>
          </a:p>
        </p:txBody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3D228D78-65D8-4FD7-A8CE-8B3F770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“Buyer nggak paham.”</a:t>
            </a:r>
          </a:p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“Pasar ini nggak cocok.”</a:t>
            </a:r>
          </a:p>
          <a:p xmlns:a="http://schemas.openxmlformats.org/drawingml/2006/main"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“Tim kita nggak bisa.”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C568B-2D32-4202-A0DA-F6F21DE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4638675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DBC6"/>
          </a:solidFill>
          <a:ln xmlns:a="http://schemas.openxmlformats.org/drawingml/2006/main" w="0">
            <a:noFill/>
          </a:ln>
        </p:spPr>
      </p:sp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EF08F659-804D-40ED-B0A8-36D9FB40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RESPONS YANG MEMBUKA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CD2524C7-ED8A-4556-A53C-5FAE447D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4819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“Ukuran apa yang dicari?”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“Apa yang perlu kita ubah?”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“Skill atau mitra apa yang kurang?”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27FBA-1181-4266-98A4-BECCA40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</p:sp>
      <p:sp>
        <p:nvSpPr>
          <p:cNvPr id="15" name="text-113">
            <a:extLst xmlns:a="http://schemas.openxmlformats.org/drawingml/2006/main">
              <a:ext uri="{FF2B5EF4-FFF2-40B4-BE49-F238E27FC236}">
                <a16:creationId xmlns:a16="http://schemas.microsoft.com/office/drawing/2014/main" id="{8249465E-E7EA-4955-BE6B-214C93B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Terbuka pada feedback, sambil tetap memeriksa kelayakannya.</a:t>
            </a: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391b563fc4e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B7A3F-A4D7-444C-8142-3E6BB1F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46ef5fb3b4632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A1AC8748-C249-45F8-914C-26AB701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BISNIS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188A454E-3EDB-4CE8-BBA2-12C4358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Golden Circle menjaga arah saat peluang datang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208E1028-12FB-47B1-A7FF-6B46C1BF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025CC2F-482C-4A6C-8B9A-C56F110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52A24-6BBD-415D-988C-381AA85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3476625" cy="3476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6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6CB1-E29B-4370-B72A-1CABC572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447925" cy="2447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888D3-8584-442F-8F02-3284C5D3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1266825" cy="1266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9525">
            <a:solidFill>
              <a:srgbClr val="087958"/>
            </a:solidFill>
          </a:ln>
        </p:spPr>
      </p:sp>
      <p:sp>
        <p:nvSpPr>
          <p:cNvPr id="11" name="text-118">
            <a:extLst xmlns:a="http://schemas.openxmlformats.org/drawingml/2006/main">
              <a:ext uri="{FF2B5EF4-FFF2-40B4-BE49-F238E27FC236}">
                <a16:creationId xmlns:a16="http://schemas.microsoft.com/office/drawing/2014/main" id="{51E05C53-10C3-4009-8BDC-52FC7EC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0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2" name="text-119">
            <a:extLst xmlns:a="http://schemas.openxmlformats.org/drawingml/2006/main">
              <a:ext uri="{FF2B5EF4-FFF2-40B4-BE49-F238E27FC236}">
                <a16:creationId xmlns:a16="http://schemas.microsoft.com/office/drawing/2014/main" id="{8289028C-22F2-4B4A-82F5-93AC9AD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14625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3" name="text-120">
            <a:extLst xmlns:a="http://schemas.openxmlformats.org/drawingml/2006/main">
              <a:ext uri="{FF2B5EF4-FFF2-40B4-BE49-F238E27FC236}">
                <a16:creationId xmlns:a16="http://schemas.microsoft.com/office/drawing/2014/main" id="{3EB8FFA2-7555-401F-9DA5-209F487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00450"/>
            <a:ext cx="1019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4" name="text-121">
            <a:extLst xmlns:a="http://schemas.openxmlformats.org/drawingml/2006/main">
              <a:ext uri="{FF2B5EF4-FFF2-40B4-BE49-F238E27FC236}">
                <a16:creationId xmlns:a16="http://schemas.microsoft.com/office/drawing/2014/main" id="{5D127D59-201E-4F7D-89B5-56212F1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CONTOH USAHA DEKORASI RUMAH</a:t>
            </a:r>
          </a:p>
        </p:txBody>
      </p:sp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C7608D9F-48B6-42F2-9056-91A49B4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05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C269A289-5DC9-46D4-A076-35D8CBE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Pesanan berulang untuk pengrajin lokal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BEC12-33EA-425D-A2E4-6698039D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EA61D144-E553-44F8-AB3B-477A7E7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F730860D-7CFD-438F-BF51-7BC1424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konsisten dan komunikasi terbuka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737BB-DC80-4466-AAC1-B57DD71F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1" name="text-126">
            <a:extLst xmlns:a="http://schemas.openxmlformats.org/drawingml/2006/main">
              <a:ext uri="{FF2B5EF4-FFF2-40B4-BE49-F238E27FC236}">
                <a16:creationId xmlns:a16="http://schemas.microsoft.com/office/drawing/2014/main" id="{B61C40D0-3807-4210-89DF-F77E203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624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2" name="text-127">
            <a:extLst xmlns:a="http://schemas.openxmlformats.org/drawingml/2006/main">
              <a:ext uri="{FF2B5EF4-FFF2-40B4-BE49-F238E27FC236}">
                <a16:creationId xmlns:a16="http://schemas.microsoft.com/office/drawing/2014/main" id="{61195B13-FF7F-4E1A-9993-6857908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62475"/>
            <a:ext cx="537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 sesuai kebutuhan buyer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33844-8228-4B07-BC10-2828526E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4" name="text-128">
            <a:extLst xmlns:a="http://schemas.openxmlformats.org/drawingml/2006/main">
              <a:ext uri="{FF2B5EF4-FFF2-40B4-BE49-F238E27FC236}">
                <a16:creationId xmlns:a16="http://schemas.microsoft.com/office/drawing/2014/main" id="{1A3D1A79-D311-4F19-9B6D-93EA4831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jangka panjang membantu kita menetapkan batas saat mengejar order.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7ae7efae4f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48494-1E0D-4045-9F8A-4042BD0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b6def630c4d40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29">
            <a:extLst xmlns:a="http://schemas.openxmlformats.org/drawingml/2006/main">
              <a:ext uri="{FF2B5EF4-FFF2-40B4-BE49-F238E27FC236}">
                <a16:creationId xmlns:a16="http://schemas.microsoft.com/office/drawing/2014/main" id="{6749493F-E569-45F4-BACD-C0EAAD78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 · TALENT · PROFIT</a:t>
            </a:r>
          </a:p>
        </p:txBody>
      </p:sp>
      <p:sp>
        <p:nvSpPr>
          <p:cNvPr id="5" name="text-130">
            <a:extLst xmlns:a="http://schemas.openxmlformats.org/drawingml/2006/main">
              <a:ext uri="{FF2B5EF4-FFF2-40B4-BE49-F238E27FC236}">
                <a16:creationId xmlns:a16="http://schemas.microsoft.com/office/drawing/2014/main" id="{BB79AFF0-EB68-458F-AC46-60AB396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Sweet Spot mempertemukan minat, kemampuan, dan hasil</a:t>
            </a:r>
          </a:p>
        </p:txBody>
      </p:sp>
      <p:sp>
        <p:nvSpPr>
          <p:cNvPr id="6" name="text-131">
            <a:extLst xmlns:a="http://schemas.openxmlformats.org/drawingml/2006/main">
              <a:ext uri="{FF2B5EF4-FFF2-40B4-BE49-F238E27FC236}">
                <a16:creationId xmlns:a16="http://schemas.microsoft.com/office/drawing/2014/main" id="{F2D53574-C5D0-47C7-80B2-9BCE23BB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D8136502-B74F-43EF-B66F-401FE537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5370-94F7-48BB-9B67-BB0D4D0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B6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18D39-9DEF-44D7-96B7-CA9C873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52625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B294B-ED59-41B1-AA3C-581E01A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76600"/>
            <a:ext cx="2600325" cy="2600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D34"/>
            </a:solidFill>
          </a:ln>
        </p:spPr>
      </p:sp>
      <p:sp>
        <p:nvSpPr>
          <p:cNvPr id="11" name="text-133">
            <a:extLst xmlns:a="http://schemas.openxmlformats.org/drawingml/2006/main">
              <a:ext uri="{FF2B5EF4-FFF2-40B4-BE49-F238E27FC236}">
                <a16:creationId xmlns:a16="http://schemas.microsoft.com/office/drawing/2014/main" id="{C17AB27C-E9C2-4390-8264-E08EF13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2" name="text-134">
            <a:extLst xmlns:a="http://schemas.openxmlformats.org/drawingml/2006/main">
              <a:ext uri="{FF2B5EF4-FFF2-40B4-BE49-F238E27FC236}">
                <a16:creationId xmlns:a16="http://schemas.microsoft.com/office/drawing/2014/main" id="{0010911D-6351-474E-A1FF-2A78EEA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suka</a:t>
            </a:r>
          </a:p>
        </p:txBody>
      </p:sp>
      <p:sp>
        <p:nvSpPr>
          <p:cNvPr id="13" name="text-135">
            <a:extLst xmlns:a="http://schemas.openxmlformats.org/drawingml/2006/main">
              <a:ext uri="{FF2B5EF4-FFF2-40B4-BE49-F238E27FC236}">
                <a16:creationId xmlns:a16="http://schemas.microsoft.com/office/drawing/2014/main" id="{935AE18C-630C-4DD7-8BB0-64AC9823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1647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4" name="text-136">
            <a:extLst xmlns:a="http://schemas.openxmlformats.org/drawingml/2006/main">
              <a:ext uri="{FF2B5EF4-FFF2-40B4-BE49-F238E27FC236}">
                <a16:creationId xmlns:a16="http://schemas.microsoft.com/office/drawing/2014/main" id="{B16224C1-AE9E-4A22-897F-12721397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623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kuasai</a:t>
            </a:r>
          </a:p>
        </p:txBody>
      </p:sp>
      <p:sp>
        <p:nvSpPr>
          <p:cNvPr id="15" name="text-137">
            <a:extLst xmlns:a="http://schemas.openxmlformats.org/drawingml/2006/main">
              <a:ext uri="{FF2B5EF4-FFF2-40B4-BE49-F238E27FC236}">
                <a16:creationId xmlns:a16="http://schemas.microsoft.com/office/drawing/2014/main" id="{71F19C02-5460-4168-8F1D-209135F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7720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6" name="text-138">
            <a:extLst xmlns:a="http://schemas.openxmlformats.org/drawingml/2006/main">
              <a:ext uri="{FF2B5EF4-FFF2-40B4-BE49-F238E27FC236}">
                <a16:creationId xmlns:a16="http://schemas.microsoft.com/office/drawing/2014/main" id="{8A971430-D4C6-47FB-9BA7-757E6AAE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229225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Menghasilkan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B95CE-5466-473E-8137-36B886C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81375"/>
            <a:ext cx="561975" cy="561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solidFill>
              <a:srgbClr val="087958"/>
            </a:solidFill>
          </a:ln>
        </p:spPr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AB47785C-85CE-4879-B70F-0AE61B2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433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63BB646D-DA09-4FF9-B490-A0C37FD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95525"/>
            <a:ext cx="503872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Cocok buat kita.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Relevan bagi buyer.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Layak buat bisnis.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BECFE-3FC3-47C8-8A26-4F73E4F1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91000"/>
            <a:ext cx="503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1" name="text-141">
            <a:extLst xmlns:a="http://schemas.openxmlformats.org/drawingml/2006/main">
              <a:ext uri="{FF2B5EF4-FFF2-40B4-BE49-F238E27FC236}">
                <a16:creationId xmlns:a16="http://schemas.microsoft.com/office/drawing/2014/main" id="{4F10E203-CE29-4BA9-9831-125820B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43425"/>
            <a:ext cx="503872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Periksa kebutuhan buyer, mutu,</a:t>
            </a:r>
          </a:p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kapasitas, dan total biaya</a:t>
            </a:r>
          </a:p>
          <a:p xmlns:a="http://schemas.openxmlformats.org/drawingml/2006/main"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 berkomitmen.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1cfbf2bc5486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02DA5-87D8-40BB-A2B9-D6D1AAD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c66c4093f456a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62ADAC16-4981-4E4A-B116-2DDD35C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MEMAHAMI BUYER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462116CC-4E42-4202-BA97-7EA6FC9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Pertanyaan yang tepat memperjelas kebutuhan buyer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F5AB0629-5A2B-4E0D-87B5-5C6B76C9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B7891960-6221-4B1E-9B54-389EF39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E8C18E3A-5AC5-4B4F-9C52-23BD114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552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“Produk ini</a:t>
            </a:r>
          </a:p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akan dipakai</a:t>
            </a:r>
          </a:p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 apa?”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258FBCCF-2ED5-4847-AFDD-7362C11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4552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Mulai dari konteks.</a:t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Dengarkan sebelum menawarkan.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6CCC3-1792-475D-884D-E414ABE0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57400"/>
            <a:ext cx="0" cy="353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FB38FCD8-E2F1-470D-B4D0-5890AB7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A36B5120-D0BD-4009-8835-9E7E920D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Siapa pemakai akhirnya?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5ACEBDC9-F1FA-4DC2-A430-15A9A66D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masalah dan konteks penggunaan.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F1E6B497-164F-493F-B0E0-5C7FA1BF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D6EF14C6-1010-4ACE-BA47-97520E1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9092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bahan, kemasan?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B718230C-6E88-43FE-A14B-5131824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contoh dan prioritas yang konkret.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08738AFD-5234-4F1C-A4C6-2CA4572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05325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HARGA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EFAF500B-7E76-4235-8EE8-C0075D0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2917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 dan volume yang masuk?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8504FFA1-8B9C-42C2-89EB-54B5440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5276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Cocokkan permintaan dengan biaya kita.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E52B4-8E17-4413-8A53-3269687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E3CF59A3-D98C-43A0-86E4-94C92D7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Catat jawaban buyer. Bagian yang belum jelas tetap jadi pertanyaan.</a:t>
            </a:r>
          </a:p>
        </p:txBody>
      </p:sp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07AE7430-CC50-4BFB-ACE1-FED0000C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Adaptasi Strategyzer. Referensi lengkap di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f843efaf14c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8A95F-F833-49F9-B13E-9483F78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61022a171470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B3B70A42-A902-4A22-88D3-8B63590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 · SHOWMAN · ENFORCER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883F368E-AA98-4AF7-A892-721F131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Tim perlu menutup tiga peran agar janji bisa dipenuhi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BE144A0B-9416-412D-947A-888FDB63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Peran boleh dirangkap. Tanggung jawabnya tetap harus jelas.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E7D16A58-4BBC-4811-B6C9-10D02319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BFC022E6-C8B5-4AD9-B8DF-43470585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a0d52fa314576"/>
          <a:stretch xmlns:a="http://schemas.openxmlformats.org/drawingml/2006/main"/>
        </p:blipFill>
        <p:spPr>
          <a:xfrm xmlns:a="http://schemas.openxmlformats.org/drawingml/2006/main">
            <a:off x="1952625" y="2371725"/>
            <a:ext cx="8286750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text-164">
            <a:extLst xmlns:a="http://schemas.openxmlformats.org/drawingml/2006/main">
              <a:ext uri="{FF2B5EF4-FFF2-40B4-BE49-F238E27FC236}">
                <a16:creationId xmlns:a16="http://schemas.microsoft.com/office/drawing/2014/main" id="{9135CFEF-A295-4A20-8FD8-D756142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</a:t>
            </a:r>
          </a:p>
        </p:txBody>
      </p:sp>
      <p:sp>
        <p:nvSpPr>
          <p:cNvPr id="11" name="text-165">
            <a:extLst xmlns:a="http://schemas.openxmlformats.org/drawingml/2006/main">
              <a:ext uri="{FF2B5EF4-FFF2-40B4-BE49-F238E27FC236}">
                <a16:creationId xmlns:a16="http://schemas.microsoft.com/office/drawing/2014/main" id="{C7D906AD-DAF7-4613-AF33-D951295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0547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Sampel + spesifikasi</a:t>
            </a:r>
          </a:p>
        </p:txBody>
      </p:sp>
      <p:sp>
        <p:nvSpPr>
          <p:cNvPr id="12" name="text-166">
            <a:extLst xmlns:a="http://schemas.openxmlformats.org/drawingml/2006/main">
              <a:ext uri="{FF2B5EF4-FFF2-40B4-BE49-F238E27FC236}">
                <a16:creationId xmlns:a16="http://schemas.microsoft.com/office/drawing/2014/main" id="{B4F20B5D-5C24-4138-8D04-00FC753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340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Showman</a:t>
            </a:r>
          </a:p>
        </p:txBody>
      </p:sp>
      <p:sp>
        <p:nvSpPr>
          <p:cNvPr id="13" name="text-167">
            <a:extLst xmlns:a="http://schemas.openxmlformats.org/drawingml/2006/main">
              <a:ext uri="{FF2B5EF4-FFF2-40B4-BE49-F238E27FC236}">
                <a16:creationId xmlns:a16="http://schemas.microsoft.com/office/drawing/2014/main" id="{F23205D3-DF10-4F78-9864-1F7EAD0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0547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Penawaran + kesepakatan</a:t>
            </a:r>
          </a:p>
        </p:txBody>
      </p:sp>
      <p:sp>
        <p:nvSpPr>
          <p:cNvPr id="14" name="text-168">
            <a:extLst xmlns:a="http://schemas.openxmlformats.org/drawingml/2006/main">
              <a:ext uri="{FF2B5EF4-FFF2-40B4-BE49-F238E27FC236}">
                <a16:creationId xmlns:a16="http://schemas.microsoft.com/office/drawing/2014/main" id="{76A047EE-302F-49C4-A961-05A9FAD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33400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Enforcer</a:t>
            </a:r>
          </a:p>
        </p:txBody>
      </p:sp>
      <p:sp>
        <p:nvSpPr>
          <p:cNvPr id="15" name="text-169">
            <a:extLst xmlns:a="http://schemas.openxmlformats.org/drawingml/2006/main">
              <a:ext uri="{FF2B5EF4-FFF2-40B4-BE49-F238E27FC236}">
                <a16:creationId xmlns:a16="http://schemas.microsoft.com/office/drawing/2014/main" id="{53563FD2-AFAF-4BD0-AB68-C911F76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0547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Jadwal + kontrol kas</a:t>
            </a:r>
          </a:p>
        </p:txBody>
      </p:sp>
      <p:sp>
        <p:nvSpPr>
          <p:cNvPr id="16" name="text-170">
            <a:extLst xmlns:a="http://schemas.openxmlformats.org/drawingml/2006/main">
              <a:ext uri="{FF2B5EF4-FFF2-40B4-BE49-F238E27FC236}">
                <a16:creationId xmlns:a16="http://schemas.microsoft.com/office/drawing/2014/main" id="{CD364624-3E0F-40A2-BA41-91B1AA15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Modul 1 CMC. Ilustrasi AI, bukan tokoh riil.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eeb0951de4da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5AEB1-5DB8-49F7-8B18-BA0D9C6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c25c5f1dc4572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E4D8C6E7-D243-4CD4-9387-89954421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KESIAPAN BISNIS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8896F697-1202-4FD2-BF2A-C25E23D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Kesiapan ekspor terlihat dari kemampuan memenuhi janji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39F0B0EE-0767-41FD-A71E-CD085455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74">
            <a:extLst xmlns:a="http://schemas.openxmlformats.org/drawingml/2006/main">
              <a:ext uri="{FF2B5EF4-FFF2-40B4-BE49-F238E27FC236}">
                <a16:creationId xmlns:a16="http://schemas.microsoft.com/office/drawing/2014/main" id="{4682E681-BFB8-404F-B8F7-B36E1B9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2b282f4244af2"/>
          <a:srcRect xmlns:a="http://schemas.openxmlformats.org/drawingml/2006/main" l="3555" t="0" r="3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43100"/>
            <a:ext cx="5600700" cy="4019550"/>
          </a:xfrm>
          <a:prstGeom xmlns:a="http://schemas.openxmlformats.org/drawingml/2006/main" prst="rect">
            <a:avLst/>
          </a:prstGeom>
        </p:spPr>
      </p:pic>
      <p:sp>
        <p:nvSpPr>
          <p:cNvPr id="9" name="text-175">
            <a:extLst xmlns:a="http://schemas.openxmlformats.org/drawingml/2006/main">
              <a:ext uri="{FF2B5EF4-FFF2-40B4-BE49-F238E27FC236}">
                <a16:creationId xmlns:a16="http://schemas.microsoft.com/office/drawing/2014/main" id="{22F598A4-60F6-4BE0-BC6E-512F489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19300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-176">
            <a:extLst xmlns:a="http://schemas.openxmlformats.org/drawingml/2006/main">
              <a:ext uri="{FF2B5EF4-FFF2-40B4-BE49-F238E27FC236}">
                <a16:creationId xmlns:a16="http://schemas.microsoft.com/office/drawing/2014/main" id="{9EE5B0D5-F224-4C37-BC13-2D0A07F2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1" name="text-177">
            <a:extLst xmlns:a="http://schemas.openxmlformats.org/drawingml/2006/main">
              <a:ext uri="{FF2B5EF4-FFF2-40B4-BE49-F238E27FC236}">
                <a16:creationId xmlns:a16="http://schemas.microsoft.com/office/drawing/2014/main" id="{80549607-FF64-40B3-AAE0-F3551B8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9825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 unit benar-benar bisa selesai?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8270C-33D9-4ED8-9B80-60A340D9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9875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3" name="text-178">
            <a:extLst xmlns:a="http://schemas.openxmlformats.org/drawingml/2006/main">
              <a:ext uri="{FF2B5EF4-FFF2-40B4-BE49-F238E27FC236}">
                <a16:creationId xmlns:a16="http://schemas.microsoft.com/office/drawing/2014/main" id="{D2D54403-7171-4EE1-902A-1F313DCE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24175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-179">
            <a:extLst xmlns:a="http://schemas.openxmlformats.org/drawingml/2006/main">
              <a:ext uri="{FF2B5EF4-FFF2-40B4-BE49-F238E27FC236}">
                <a16:creationId xmlns:a16="http://schemas.microsoft.com/office/drawing/2014/main" id="{BE47B3C7-EDAC-4E07-B146-55617C4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24175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C39B7D64-CA96-4D92-BE7C-89A3A23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 produksi sama dengan sampel?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FC18A-F143-4DD1-981C-2089752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7" name="text-181">
            <a:extLst xmlns:a="http://schemas.openxmlformats.org/drawingml/2006/main">
              <a:ext uri="{FF2B5EF4-FFF2-40B4-BE49-F238E27FC236}">
                <a16:creationId xmlns:a16="http://schemas.microsoft.com/office/drawing/2014/main" id="{30B26CD1-93A0-4C23-9DA5-8EB716AF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29050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text-182">
            <a:extLst xmlns:a="http://schemas.openxmlformats.org/drawingml/2006/main">
              <a:ext uri="{FF2B5EF4-FFF2-40B4-BE49-F238E27FC236}">
                <a16:creationId xmlns:a16="http://schemas.microsoft.com/office/drawing/2014/main" id="{DEC5E970-160A-4C99-878F-22187A6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2905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Jadwal</a:t>
            </a:r>
          </a:p>
        </p:txBody>
      </p:sp>
      <p:sp>
        <p:nvSpPr>
          <p:cNvPr id="19" name="text-183">
            <a:extLst xmlns:a="http://schemas.openxmlformats.org/drawingml/2006/main">
              <a:ext uri="{FF2B5EF4-FFF2-40B4-BE49-F238E27FC236}">
                <a16:creationId xmlns:a16="http://schemas.microsoft.com/office/drawing/2014/main" id="{57B75997-2AFC-4B13-8B67-7CF5B3F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9575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 bahan, produksi, kirim selaras?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58BCB-BDB4-4C2C-AFC9-8C6A675C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1" name="text-184">
            <a:extLst xmlns:a="http://schemas.openxmlformats.org/drawingml/2006/main">
              <a:ext uri="{FF2B5EF4-FFF2-40B4-BE49-F238E27FC236}">
                <a16:creationId xmlns:a16="http://schemas.microsoft.com/office/drawing/2014/main" id="{C0CD8223-F85F-4B7F-875F-B8A710C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33925"/>
            <a:ext cx="581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185">
            <a:extLst xmlns:a="http://schemas.openxmlformats.org/drawingml/2006/main">
              <a:ext uri="{FF2B5EF4-FFF2-40B4-BE49-F238E27FC236}">
                <a16:creationId xmlns:a16="http://schemas.microsoft.com/office/drawing/2014/main" id="{8F34546D-2F7F-43C7-AA46-80100EC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3" name="text-186">
            <a:extLst xmlns:a="http://schemas.openxmlformats.org/drawingml/2006/main">
              <a:ext uri="{FF2B5EF4-FFF2-40B4-BE49-F238E27FC236}">
                <a16:creationId xmlns:a16="http://schemas.microsoft.com/office/drawing/2014/main" id="{3B4B4DD9-9C37-4F29-8115-3886D21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24450"/>
            <a:ext cx="4629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Spesifikasi dan syarat pasar sudah dicek?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E3496-D79E-47FD-9366-C077C1E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5" name="text-187">
            <a:extLst xmlns:a="http://schemas.openxmlformats.org/drawingml/2006/main">
              <a:ext uri="{FF2B5EF4-FFF2-40B4-BE49-F238E27FC236}">
                <a16:creationId xmlns:a16="http://schemas.microsoft.com/office/drawing/2014/main" id="{9EDE1162-6DDF-4737-BD77-48B92A5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Janji mengikuti bukti yang kita punya, bukan kapasitas yang baru diharapkan.</a:t>
            </a:r>
          </a:p>
        </p:txBody>
      </p:sp>
      <p:sp>
        <p:nvSpPr>
          <p:cNvPr id="26" name="text-188">
            <a:extLst xmlns:a="http://schemas.openxmlformats.org/drawingml/2006/main">
              <a:ext uri="{FF2B5EF4-FFF2-40B4-BE49-F238E27FC236}">
                <a16:creationId xmlns:a16="http://schemas.microsoft.com/office/drawing/2014/main" id="{3783FBDE-7618-4B5A-83D9-15E9672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Modul 1 CMC dan ITA Export Plan. Foto ilustrasi AI.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ece3eb43d48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2867-ED98-4E27-9E0F-54ED034A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d8cfd8aa437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7DEC0570-612F-48E4-BB91-F412DC8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LABA DAN KAS</a:t>
            </a:r>
          </a:p>
        </p:txBody>
      </p:sp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CE2CE9FE-2B1D-472D-924B-A97C6F06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Uang keluar lebih dulu, pembayaran bisa datang belakangan</a:t>
            </a:r>
          </a:p>
        </p:txBody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5657B48E-57D1-48FD-B1F0-93363E52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Laba menjawab untung atau rugi. Kas menjawab apakah prosesnya bisa dibiayai.</a:t>
            </a:r>
          </a:p>
        </p:txBody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E263E91E-25B2-4D4C-A59A-06D31E6A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 xmlns:a="http://schemas.openxmlformats.org/drawingml/2006/main">
              <a:ext uri="{FF2B5EF4-FFF2-40B4-BE49-F238E27FC236}">
                <a16:creationId xmlns:a16="http://schemas.microsoft.com/office/drawing/2014/main" id="{C7E49169-C4F9-411A-8AF3-D7FC3E1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cc97195ee4dae"/>
          <a:stretch xmlns:a="http://schemas.openxmlformats.org/drawingml/2006/main"/>
        </p:blipFill>
        <p:spPr>
          <a:xfrm xmlns:a="http://schemas.openxmlformats.org/drawingml/2006/main">
            <a:off x="1566863" y="2371725"/>
            <a:ext cx="9058275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CA24-FDBE-44A9-9BC7-00F84D7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334000"/>
            <a:ext cx="700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B6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F83E0-48C1-46DA-BADF-7A0DA9E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194">
            <a:extLst xmlns:a="http://schemas.openxmlformats.org/drawingml/2006/main">
              <a:ext uri="{FF2B5EF4-FFF2-40B4-BE49-F238E27FC236}">
                <a16:creationId xmlns:a16="http://schemas.microsoft.com/office/drawing/2014/main" id="{818D27D6-5A36-4A93-8A94-BFD24E4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</a:t>
            </a:r>
          </a:p>
        </p:txBody>
      </p:sp>
      <p:sp>
        <p:nvSpPr>
          <p:cNvPr id="13" name="text-195">
            <a:extLst xmlns:a="http://schemas.openxmlformats.org/drawingml/2006/main">
              <a:ext uri="{FF2B5EF4-FFF2-40B4-BE49-F238E27FC236}">
                <a16:creationId xmlns:a16="http://schemas.microsoft.com/office/drawing/2014/main" id="{719D8E53-67F3-4879-9B37-C2A3614B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24632-B4C6-4898-B098-BBF88F4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5" name="text-196">
            <a:extLst xmlns:a="http://schemas.openxmlformats.org/drawingml/2006/main">
              <a:ext uri="{FF2B5EF4-FFF2-40B4-BE49-F238E27FC236}">
                <a16:creationId xmlns:a16="http://schemas.microsoft.com/office/drawing/2014/main" id="{F96C5A49-6795-49CA-BF78-C8EAB43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626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6" name="text-197">
            <a:extLst xmlns:a="http://schemas.openxmlformats.org/drawingml/2006/main">
              <a:ext uri="{FF2B5EF4-FFF2-40B4-BE49-F238E27FC236}">
                <a16:creationId xmlns:a16="http://schemas.microsoft.com/office/drawing/2014/main" id="{4C37918E-2F24-4EE8-BF83-DA20DAD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9055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DF8F5-95E3-4615-AFE1-A3B00F9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8" name="text-198">
            <a:extLst xmlns:a="http://schemas.openxmlformats.org/drawingml/2006/main">
              <a:ext uri="{FF2B5EF4-FFF2-40B4-BE49-F238E27FC236}">
                <a16:creationId xmlns:a16="http://schemas.microsoft.com/office/drawing/2014/main" id="{368ADEA8-1981-4ABB-9178-B7BA6A3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626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Pengiriman</a:t>
            </a:r>
          </a:p>
        </p:txBody>
      </p:sp>
      <p:sp>
        <p:nvSpPr>
          <p:cNvPr id="19" name="text-199">
            <a:extLst xmlns:a="http://schemas.openxmlformats.org/drawingml/2006/main">
              <a:ext uri="{FF2B5EF4-FFF2-40B4-BE49-F238E27FC236}">
                <a16:creationId xmlns:a16="http://schemas.microsoft.com/office/drawing/2014/main" id="{F4C214DE-988C-43D8-A9FF-08B21CD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055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keluar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72B78-0C82-4600-A2C2-F907B9C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48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21" name="text-200">
            <a:extLst xmlns:a="http://schemas.openxmlformats.org/drawingml/2006/main">
              <a:ext uri="{FF2B5EF4-FFF2-40B4-BE49-F238E27FC236}">
                <a16:creationId xmlns:a16="http://schemas.microsoft.com/office/drawing/2014/main" id="{41DB9E31-1D8E-49C0-88BA-B10F892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626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membayar</a:t>
            </a:r>
          </a:p>
        </p:txBody>
      </p:sp>
      <p:sp>
        <p:nvSpPr>
          <p:cNvPr id="22" name="text-201">
            <a:extLst xmlns:a="http://schemas.openxmlformats.org/drawingml/2006/main">
              <a:ext uri="{FF2B5EF4-FFF2-40B4-BE49-F238E27FC236}">
                <a16:creationId xmlns:a16="http://schemas.microsoft.com/office/drawing/2014/main" id="{9FAC34AA-667F-4DAA-A801-4FA0F0C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905500"/>
            <a:ext cx="2266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Kas masuk</a:t>
            </a:r>
          </a:p>
        </p:txBody>
      </p:sp>
      <p:sp>
        <p:nvSpPr>
          <p:cNvPr id="23" name="text-202">
            <a:extLst xmlns:a="http://schemas.openxmlformats.org/drawingml/2006/main">
              <a:ext uri="{FF2B5EF4-FFF2-40B4-BE49-F238E27FC236}">
                <a16:creationId xmlns:a16="http://schemas.microsoft.com/office/drawing/2014/main" id="{7B49B44C-4500-450C-9A8B-4DC8DFB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Contoh: pembayaran setelah barang diterima. ITA Methods of Payment. Ilustrasi AI.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d24eb0e2144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4042-866C-4FC0-A955-A111452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2ece43dfa41b9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03">
            <a:extLst xmlns:a="http://schemas.openxmlformats.org/drawingml/2006/main">
              <a:ext uri="{FF2B5EF4-FFF2-40B4-BE49-F238E27FC236}">
                <a16:creationId xmlns:a16="http://schemas.microsoft.com/office/drawing/2014/main" id="{DCA90635-7830-43CB-9533-FD3BD7F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RISIKO DAN KONTROL</a:t>
            </a:r>
          </a:p>
        </p:txBody>
      </p:sp>
      <p:sp>
        <p:nvSpPr>
          <p:cNvPr id="5" name="text-204">
            <a:extLst xmlns:a="http://schemas.openxmlformats.org/drawingml/2006/main">
              <a:ext uri="{FF2B5EF4-FFF2-40B4-BE49-F238E27FC236}">
                <a16:creationId xmlns:a16="http://schemas.microsoft.com/office/drawing/2014/main" id="{6FF36618-AFF5-483D-9260-62BBA45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Batas risiko membantu founder menentukan kapan berhenti</a:t>
            </a:r>
          </a:p>
        </p:txBody>
      </p:sp>
      <p:sp>
        <p:nvSpPr>
          <p:cNvPr id="6" name="text-205">
            <a:extLst xmlns:a="http://schemas.openxmlformats.org/drawingml/2006/main">
              <a:ext uri="{FF2B5EF4-FFF2-40B4-BE49-F238E27FC236}">
                <a16:creationId xmlns:a16="http://schemas.microsoft.com/office/drawing/2014/main" id="{5760372D-AE03-495C-938A-956CB643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06">
            <a:extLst xmlns:a="http://schemas.openxmlformats.org/drawingml/2006/main">
              <a:ext uri="{FF2B5EF4-FFF2-40B4-BE49-F238E27FC236}">
                <a16:creationId xmlns:a16="http://schemas.microsoft.com/office/drawing/2014/main" id="{C318D9B3-AF8E-4B12-880C-46A9301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text-207">
            <a:extLst xmlns:a="http://schemas.openxmlformats.org/drawingml/2006/main">
              <a:ext uri="{FF2B5EF4-FFF2-40B4-BE49-F238E27FC236}">
                <a16:creationId xmlns:a16="http://schemas.microsoft.com/office/drawing/2014/main" id="{805DE989-44E0-4A17-A0DD-B318D545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PEMICU</a:t>
            </a:r>
          </a:p>
        </p:txBody>
      </p:sp>
      <p:sp>
        <p:nvSpPr>
          <p:cNvPr id="9" name="text-208">
            <a:extLst xmlns:a="http://schemas.openxmlformats.org/drawingml/2006/main">
              <a:ext uri="{FF2B5EF4-FFF2-40B4-BE49-F238E27FC236}">
                <a16:creationId xmlns:a16="http://schemas.microsoft.com/office/drawing/2014/main" id="{6CB6B513-CF16-47AC-B672-4566B80D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DAMPAK</a:t>
            </a:r>
          </a:p>
        </p:txBody>
      </p:sp>
      <p:sp>
        <p:nvSpPr>
          <p:cNvPr id="10" name="text-209">
            <a:extLst xmlns:a="http://schemas.openxmlformats.org/drawingml/2006/main">
              <a:ext uri="{FF2B5EF4-FFF2-40B4-BE49-F238E27FC236}">
                <a16:creationId xmlns:a16="http://schemas.microsoft.com/office/drawing/2014/main" id="{BAA4A120-2C17-496D-A5E6-21766F8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8597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KONTROL SEBELUM DEAL</a:t>
            </a:r>
          </a:p>
        </p:txBody>
      </p:sp>
      <p:sp>
        <p:nvSpPr>
          <p:cNvPr id="11" name="text-210">
            <a:extLst xmlns:a="http://schemas.openxmlformats.org/drawingml/2006/main">
              <a:ext uri="{FF2B5EF4-FFF2-40B4-BE49-F238E27FC236}">
                <a16:creationId xmlns:a16="http://schemas.microsoft.com/office/drawing/2014/main" id="{76AD9CC3-B626-43F7-85DD-B962982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E5C80-9ACA-4AD2-9418-DC710C13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29622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3" name="text-211">
            <a:extLst xmlns:a="http://schemas.openxmlformats.org/drawingml/2006/main">
              <a:ext uri="{FF2B5EF4-FFF2-40B4-BE49-F238E27FC236}">
                <a16:creationId xmlns:a16="http://schemas.microsoft.com/office/drawing/2014/main" id="{3CA52AF2-ADE9-449E-8DF1-C6968CB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 tertahan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D1D8D-BB63-445B-8AF9-3B360087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9622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5" name="text-212">
            <a:extLst xmlns:a="http://schemas.openxmlformats.org/drawingml/2006/main">
              <a:ext uri="{FF2B5EF4-FFF2-40B4-BE49-F238E27FC236}">
                <a16:creationId xmlns:a16="http://schemas.microsoft.com/office/drawing/2014/main" id="{2D181917-962C-476A-B54E-E452F3F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90825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E34FA-D5FB-4DF7-BC8F-23EB0BF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7" name="text-213">
            <a:extLst xmlns:a="http://schemas.openxmlformats.org/drawingml/2006/main">
              <a:ext uri="{FF2B5EF4-FFF2-40B4-BE49-F238E27FC236}">
                <a16:creationId xmlns:a16="http://schemas.microsoft.com/office/drawing/2014/main" id="{E2FB1959-9B45-4D13-A41B-CC969CC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berbeda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A29F9-7791-45B8-BAD2-6E6C4DD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39147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9" name="text-214">
            <a:extLst xmlns:a="http://schemas.openxmlformats.org/drawingml/2006/main">
              <a:ext uri="{FF2B5EF4-FFF2-40B4-BE49-F238E27FC236}">
                <a16:creationId xmlns:a16="http://schemas.microsoft.com/office/drawing/2014/main" id="{ED08D44E-515C-429C-8F5F-2E28FF83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Komplain / penolakan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9032B-0FA7-4F20-9A44-6E88F3F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9147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21" name="text-215">
            <a:extLst xmlns:a="http://schemas.openxmlformats.org/drawingml/2006/main">
              <a:ext uri="{FF2B5EF4-FFF2-40B4-BE49-F238E27FC236}">
                <a16:creationId xmlns:a16="http://schemas.microsoft.com/office/drawing/2014/main" id="{C04A7AB2-9704-41B7-A882-B39AC00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E2C69-1774-4C0D-8B4C-7C544F3B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3" name="text-216">
            <a:extLst xmlns:a="http://schemas.openxmlformats.org/drawingml/2006/main">
              <a:ext uri="{FF2B5EF4-FFF2-40B4-BE49-F238E27FC236}">
                <a16:creationId xmlns:a16="http://schemas.microsoft.com/office/drawing/2014/main" id="{4975B7B9-623E-466D-93E7-C8A002D0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 meleset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2D8F8-D73A-4373-916D-42C9373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48672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25" name="text-217">
            <a:extLst xmlns:a="http://schemas.openxmlformats.org/drawingml/2006/main">
              <a:ext uri="{FF2B5EF4-FFF2-40B4-BE49-F238E27FC236}">
                <a16:creationId xmlns:a16="http://schemas.microsoft.com/office/drawing/2014/main" id="{3C8548D5-7CE9-441C-BE82-0BD9D6C7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 kirim terganggu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BB681-3A85-4FA1-BA9D-8A86D74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867275"/>
            <a:ext cx="542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27" name="text-218">
            <a:extLst xmlns:a="http://schemas.openxmlformats.org/drawingml/2006/main">
              <a:ext uri="{FF2B5EF4-FFF2-40B4-BE49-F238E27FC236}">
                <a16:creationId xmlns:a16="http://schemas.microsoft.com/office/drawing/2014/main" id="{8BBD3342-7E4C-43C3-A5CC-27C27817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95825"/>
            <a:ext cx="329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nyata + 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19882-3DF8-4BD9-BC1A-253EA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9" name="text-219">
            <a:extLst xmlns:a="http://schemas.openxmlformats.org/drawingml/2006/main">
              <a:ext uri="{FF2B5EF4-FFF2-40B4-BE49-F238E27FC236}">
                <a16:creationId xmlns:a16="http://schemas.microsoft.com/office/drawing/2014/main" id="{383F8F69-4B17-4650-AF6D-6861AA6B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Tentukan batas biaya, waktu, dan komitmen yang sanggup ditanggung.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67c81e7b34b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DC7450-BBEA-42E2-A847-49391AB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0bda07b5d4d0c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29" name="text-220">
            <a:extLst xmlns:a="http://schemas.openxmlformats.org/drawingml/2006/main">
              <a:ext uri="{FF2B5EF4-FFF2-40B4-BE49-F238E27FC236}">
                <a16:creationId xmlns:a16="http://schemas.microsoft.com/office/drawing/2014/main" id="{271ACE84-FFE6-431B-ADA4-3BF07BF3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KEPUTUSAN KASUS</a:t>
            </a:r>
          </a:p>
        </p:txBody>
      </p:sp>
      <p:sp>
        <p:nvSpPr>
          <p:cNvPr id="30" name="text-221">
            <a:extLst xmlns:a="http://schemas.openxmlformats.org/drawingml/2006/main">
              <a:ext uri="{FF2B5EF4-FFF2-40B4-BE49-F238E27FC236}">
                <a16:creationId xmlns:a16="http://schemas.microsoft.com/office/drawing/2014/main" id="{23D8E698-E896-440A-809F-2BF3BFC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Kasus ini perlu negosiasi sebelum kita bilang “ya”</a:t>
            </a:r>
          </a:p>
        </p:txBody>
      </p:sp>
      <p:sp>
        <p:nvSpPr>
          <p:cNvPr id="31" name="text-222">
            <a:extLst xmlns:a="http://schemas.openxmlformats.org/drawingml/2006/main">
              <a:ext uri="{FF2B5EF4-FFF2-40B4-BE49-F238E27FC236}">
                <a16:creationId xmlns:a16="http://schemas.microsoft.com/office/drawing/2014/main" id="{45CC0249-00C3-49E3-B7B5-B2532D28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 belum cukup. Kas dan kemasan juga belum terbukti siap.</a:t>
            </a:r>
          </a:p>
        </p:txBody>
      </p:sp>
      <p:sp>
        <p:nvSpPr>
          <p:cNvPr id="32" name="text-223">
            <a:extLst xmlns:a="http://schemas.openxmlformats.org/drawingml/2006/main">
              <a:ext uri="{FF2B5EF4-FFF2-40B4-BE49-F238E27FC236}">
                <a16:creationId xmlns:a16="http://schemas.microsoft.com/office/drawing/2014/main" id="{2058EFE9-5C00-4E3E-997A-D508D67C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33" name="text-224">
            <a:extLst xmlns:a="http://schemas.openxmlformats.org/drawingml/2006/main">
              <a:ext uri="{FF2B5EF4-FFF2-40B4-BE49-F238E27FC236}">
                <a16:creationId xmlns:a16="http://schemas.microsoft.com/office/drawing/2014/main" id="{2865D8EF-0E41-4D8C-A46A-AAA5FCA5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4" name="text-225">
            <a:extLst xmlns:a="http://schemas.openxmlformats.org/drawingml/2006/main">
              <a:ext uri="{FF2B5EF4-FFF2-40B4-BE49-F238E27FC236}">
                <a16:creationId xmlns:a16="http://schemas.microsoft.com/office/drawing/2014/main" id="{71365BCD-D63A-42B5-94AF-34E31C5A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85775" y="2790825"/>
          <a:ext xmlns:a="http://schemas.openxmlformats.org/drawingml/2006/main" cx="6858000" cy="2390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00243d202e4591"/>
          </a:graphicData>
        </a:graphic>
      </p:graphicFrame>
      <p:sp>
        <p:nvSpPr>
          <p:cNvPr id="36" name="text-226">
            <a:extLst xmlns:a="http://schemas.openxmlformats.org/drawingml/2006/main">
              <a:ext uri="{FF2B5EF4-FFF2-40B4-BE49-F238E27FC236}">
                <a16:creationId xmlns:a16="http://schemas.microsoft.com/office/drawing/2014/main" id="{4DF9F48C-BCFB-4BE1-8036-4C02DCD2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3038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37" name="text-227">
            <a:extLst xmlns:a="http://schemas.openxmlformats.org/drawingml/2006/main">
              <a:ext uri="{FF2B5EF4-FFF2-40B4-BE49-F238E27FC236}">
                <a16:creationId xmlns:a16="http://schemas.microsoft.com/office/drawing/2014/main" id="{A7DACB8A-F071-4F71-A0B1-E7132F9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gap kapasitas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412CB7-9842-4709-AC1C-4027D40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24100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39" name="text-228">
            <a:extLst xmlns:a="http://schemas.openxmlformats.org/drawingml/2006/main">
              <a:ext uri="{FF2B5EF4-FFF2-40B4-BE49-F238E27FC236}">
                <a16:creationId xmlns:a16="http://schemas.microsoft.com/office/drawing/2014/main" id="{764A7BE7-2F43-4AE8-BBBB-A4073A9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 YANG BISA DIUBAH</a:t>
            </a:r>
          </a:p>
        </p:txBody>
      </p:sp>
      <p:sp>
        <p:nvSpPr>
          <p:cNvPr id="40" name="text-229">
            <a:extLst xmlns:a="http://schemas.openxmlformats.org/drawingml/2006/main">
              <a:ext uri="{FF2B5EF4-FFF2-40B4-BE49-F238E27FC236}">
                <a16:creationId xmlns:a16="http://schemas.microsoft.com/office/drawing/2014/main" id="{4B5D4F9A-7609-4C17-A307-3A651FA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2892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41" name="text-230">
            <a:extLst xmlns:a="http://schemas.openxmlformats.org/drawingml/2006/main">
              <a:ext uri="{FF2B5EF4-FFF2-40B4-BE49-F238E27FC236}">
                <a16:creationId xmlns:a16="http://schemas.microsoft.com/office/drawing/2014/main" id="{388BC4AB-D670-438F-B234-D29D75B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1945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Kurangi / bagi pengiriman?</a:t>
            </a:r>
          </a:p>
        </p:txBody>
      </p:sp>
      <p:sp>
        <p:nvSpPr>
          <p:cNvPr id="42" name="text-231">
            <a:extLst xmlns:a="http://schemas.openxmlformats.org/drawingml/2006/main">
              <a:ext uri="{FF2B5EF4-FFF2-40B4-BE49-F238E27FC236}">
                <a16:creationId xmlns:a16="http://schemas.microsoft.com/office/drawing/2014/main" id="{00176669-E538-4643-B654-FAA37DA9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7190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43" name="text-232">
            <a:extLst xmlns:a="http://schemas.openxmlformats.org/drawingml/2006/main">
              <a:ext uri="{FF2B5EF4-FFF2-40B4-BE49-F238E27FC236}">
                <a16:creationId xmlns:a16="http://schemas.microsoft.com/office/drawing/2014/main" id="{C36CAD83-2E7B-4D96-B7E1-64212223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6242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Ubah termin agar kas cukup?</a:t>
            </a:r>
          </a:p>
        </p:txBody>
      </p:sp>
      <p:sp>
        <p:nvSpPr>
          <p:cNvPr id="44" name="text-233">
            <a:extLst xmlns:a="http://schemas.openxmlformats.org/drawingml/2006/main">
              <a:ext uri="{FF2B5EF4-FFF2-40B4-BE49-F238E27FC236}">
                <a16:creationId xmlns:a16="http://schemas.microsoft.com/office/drawing/2014/main" id="{07CA6CB2-D021-48E4-AB8E-3631B67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148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Mutu</a:t>
            </a:r>
          </a:p>
        </p:txBody>
      </p:sp>
      <p:sp>
        <p:nvSpPr>
          <p:cNvPr id="45" name="text-234">
            <a:extLst xmlns:a="http://schemas.openxmlformats.org/drawingml/2006/main">
              <a:ext uri="{FF2B5EF4-FFF2-40B4-BE49-F238E27FC236}">
                <a16:creationId xmlns:a16="http://schemas.microsoft.com/office/drawing/2014/main" id="{581ECCE4-3D2E-4DAD-8421-45F871B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054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Uji kemasan dan spesifikasi?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4FF1E5-BBB1-4375-A0A0-86E680A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47" name="text-235">
            <a:extLst xmlns:a="http://schemas.openxmlformats.org/drawingml/2006/main">
              <a:ext uri="{FF2B5EF4-FFF2-40B4-BE49-F238E27FC236}">
                <a16:creationId xmlns:a16="http://schemas.microsoft.com/office/drawing/2014/main" id="{BF81CFB0-56B5-4116-8B89-D8AA7686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syaratnya tidak bisa dibuat layak, tunda dulu.</a:t>
            </a:r>
          </a:p>
        </p:txBody>
      </p:sp>
      <p:sp>
        <p:nvSpPr>
          <p:cNvPr id="48" name="text-236">
            <a:extLst xmlns:a="http://schemas.openxmlformats.org/drawingml/2006/main">
              <a:ext uri="{FF2B5EF4-FFF2-40B4-BE49-F238E27FC236}">
                <a16:creationId xmlns:a16="http://schemas.microsoft.com/office/drawing/2014/main" id="{CB43386F-87BD-46C3-A4AB-B929632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Angka dan skenario kasus ilustratif.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6ed06b8a2416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B904F-2B87-4BE5-AEA9-700FA60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3950a95c1458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37">
            <a:extLst xmlns:a="http://schemas.openxmlformats.org/drawingml/2006/main">
              <a:ext uri="{FF2B5EF4-FFF2-40B4-BE49-F238E27FC236}">
                <a16:creationId xmlns:a16="http://schemas.microsoft.com/office/drawing/2014/main" id="{F9617905-4902-421D-BD6D-C0D4A13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5" name="text-238">
            <a:extLst xmlns:a="http://schemas.openxmlformats.org/drawingml/2006/main">
              <a:ext uri="{FF2B5EF4-FFF2-40B4-BE49-F238E27FC236}">
                <a16:creationId xmlns:a16="http://schemas.microsoft.com/office/drawing/2014/main" id="{66046230-C181-4FF3-A0AB-A33D734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Build–Measure–Learn memperkecil ketidakpastian</a:t>
            </a:r>
          </a:p>
        </p:txBody>
      </p:sp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26DFBEE3-E6A6-4BBD-A397-DFD3868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C48DEB85-9491-4B12-A467-6251F61F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7516F-BA18-4170-A501-5B698540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95500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9525">
            <a:solidFill>
              <a:srgbClr val="087958"/>
            </a:solidFill>
          </a:ln>
        </p:spPr>
      </p:sp>
      <p:sp>
        <p:nvSpPr>
          <p:cNvPr id="9" name="text-241">
            <a:extLst xmlns:a="http://schemas.openxmlformats.org/drawingml/2006/main">
              <a:ext uri="{FF2B5EF4-FFF2-40B4-BE49-F238E27FC236}">
                <a16:creationId xmlns:a16="http://schemas.microsoft.com/office/drawing/2014/main" id="{2A122B18-F15D-4F2C-85A1-CC02148B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19375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0" name="text-242">
            <a:extLst xmlns:a="http://schemas.openxmlformats.org/drawingml/2006/main">
              <a:ext uri="{FF2B5EF4-FFF2-40B4-BE49-F238E27FC236}">
                <a16:creationId xmlns:a16="http://schemas.microsoft.com/office/drawing/2014/main" id="{39E52AC6-C9EE-415C-96BE-5229BBE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F5CAC-5A27-40CF-9587-F25F1F5A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38600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5116B176-264E-44A4-8262-3A3A291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43425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-244">
            <a:extLst xmlns:a="http://schemas.openxmlformats.org/drawingml/2006/main">
              <a:ext uri="{FF2B5EF4-FFF2-40B4-BE49-F238E27FC236}">
                <a16:creationId xmlns:a16="http://schemas.microsoft.com/office/drawing/2014/main" id="{153D3B30-7473-4A5C-901C-08693989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72050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46C95-CB54-4641-9D78-D2A3851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38600"/>
            <a:ext cx="1666875" cy="1666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958"/>
            </a:solidFill>
          </a:ln>
        </p:spPr>
      </p:sp>
      <p:sp>
        <p:nvSpPr>
          <p:cNvPr id="15" name="text-245">
            <a:extLst xmlns:a="http://schemas.openxmlformats.org/drawingml/2006/main">
              <a:ext uri="{FF2B5EF4-FFF2-40B4-BE49-F238E27FC236}">
                <a16:creationId xmlns:a16="http://schemas.microsoft.com/office/drawing/2014/main" id="{CF864050-9793-487E-A1AD-B299960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43425"/>
            <a:ext cx="1323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6" name="text-246">
            <a:extLst xmlns:a="http://schemas.openxmlformats.org/drawingml/2006/main">
              <a:ext uri="{FF2B5EF4-FFF2-40B4-BE49-F238E27FC236}">
                <a16:creationId xmlns:a16="http://schemas.microsoft.com/office/drawing/2014/main" id="{AAF1F21E-C4AA-4648-A3F5-68B0ADE4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720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B3711-E33C-4525-A848-A21DCA6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20000">
            <a:off x="6038850" y="3781425"/>
            <a:ext cx="790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478EC-4A62-4433-9D8F-20E4912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8650" y="4781550"/>
            <a:ext cx="1600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A59A9-6A4C-4E79-8708-7B7B28F3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00000">
            <a:off x="3810000" y="3743325"/>
            <a:ext cx="790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958"/>
          </a:solidFill>
          <a:ln xmlns:a="http://schemas.openxmlformats.org/drawingml/2006/main" w="0">
            <a:noFill/>
          </a:ln>
        </p:spPr>
      </p:sp>
      <p:sp>
        <p:nvSpPr>
          <p:cNvPr id="20" name="text-247">
            <a:extLst xmlns:a="http://schemas.openxmlformats.org/drawingml/2006/main">
              <a:ext uri="{FF2B5EF4-FFF2-40B4-BE49-F238E27FC236}">
                <a16:creationId xmlns:a16="http://schemas.microsoft.com/office/drawing/2014/main" id="{0E7F1647-1586-4AE6-939B-1BBDB97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574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 pilihan</a:t>
            </a:r>
          </a:p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</a:p>
        </p:txBody>
      </p:sp>
      <p:sp>
        <p:nvSpPr>
          <p:cNvPr id="21" name="text-248">
            <a:extLst xmlns:a="http://schemas.openxmlformats.org/drawingml/2006/main">
              <a:ext uri="{FF2B5EF4-FFF2-40B4-BE49-F238E27FC236}">
                <a16:creationId xmlns:a16="http://schemas.microsoft.com/office/drawing/2014/main" id="{646C27DB-F84C-4752-88B1-E58FE47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95675"/>
            <a:ext cx="31527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Buat perubahan</a:t>
            </a:r>
          </a:p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yang bisa diuji.</a:t>
            </a:r>
          </a:p>
        </p:txBody>
      </p:sp>
      <p:sp>
        <p:nvSpPr>
          <p:cNvPr id="22" name="text-249">
            <a:extLst xmlns:a="http://schemas.openxmlformats.org/drawingml/2006/main">
              <a:ext uri="{FF2B5EF4-FFF2-40B4-BE49-F238E27FC236}">
                <a16:creationId xmlns:a16="http://schemas.microsoft.com/office/drawing/2014/main" id="{1F0C1500-78F5-45EC-ADE0-18149CE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19475"/>
            <a:ext cx="28860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Pilihan, keberatan,</a:t>
            </a:r>
          </a:p>
          <a:p xmlns:a="http://schemas.openxmlformats.org/drawingml/2006/main">
            <a:pPr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harga</a:t>
            </a:r>
          </a:p>
        </p:txBody>
      </p:sp>
      <p:sp>
        <p:nvSpPr>
          <p:cNvPr id="23" name="text-250">
            <a:extLst xmlns:a="http://schemas.openxmlformats.org/drawingml/2006/main">
              <a:ext uri="{FF2B5EF4-FFF2-40B4-BE49-F238E27FC236}">
                <a16:creationId xmlns:a16="http://schemas.microsoft.com/office/drawing/2014/main" id="{50D5FBEF-988E-42FD-95F7-BA549F43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8860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apa yang</a:t>
            </a:r>
          </a:p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benar-benar terjadi.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B9DAD-B4AC-44F9-A218-24A206B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5" name="text-251">
            <a:extLst xmlns:a="http://schemas.openxmlformats.org/drawingml/2006/main">
              <a:ext uri="{FF2B5EF4-FFF2-40B4-BE49-F238E27FC236}">
                <a16:creationId xmlns:a16="http://schemas.microsoft.com/office/drawing/2014/main" id="{FB427510-CB5A-42C3-8CE3-009D597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Hasil uji menentukan apakah kita lanjut, ubah, atau hentikan percobaan.</a:t>
            </a:r>
          </a:p>
        </p:txBody>
      </p:sp>
      <p:sp>
        <p:nvSpPr>
          <p:cNvPr id="26" name="text-252">
            <a:extLst xmlns:a="http://schemas.openxmlformats.org/drawingml/2006/main">
              <a:ext uri="{FF2B5EF4-FFF2-40B4-BE49-F238E27FC236}">
                <a16:creationId xmlns:a16="http://schemas.microsoft.com/office/drawing/2014/main" id="{F49F30C0-A5A0-437C-A9FF-D2022636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Modul 1 CMC dan The Lean Startup.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2c418359d4f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1D46-B411-4E7F-9721-CBCCF88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7c0c02d9c4e39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53">
            <a:extLst xmlns:a="http://schemas.openxmlformats.org/drawingml/2006/main">
              <a:ext uri="{FF2B5EF4-FFF2-40B4-BE49-F238E27FC236}">
                <a16:creationId xmlns:a16="http://schemas.microsoft.com/office/drawing/2014/main" id="{BC77E510-4825-4955-B1B2-57BC4C7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RENCANA EKSPERIMEN</a:t>
            </a:r>
          </a:p>
        </p:txBody>
      </p:sp>
      <p:sp>
        <p:nvSpPr>
          <p:cNvPr id="5" name="text-254">
            <a:extLst xmlns:a="http://schemas.openxmlformats.org/drawingml/2006/main">
              <a:ext uri="{FF2B5EF4-FFF2-40B4-BE49-F238E27FC236}">
                <a16:creationId xmlns:a16="http://schemas.microsoft.com/office/drawing/2014/main" id="{B77EBCDF-147E-48BD-9B7C-1D47774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Patokan berhasil perlu jelas sebelum uji dimulai</a:t>
            </a:r>
          </a:p>
        </p:txBody>
      </p:sp>
      <p:sp>
        <p:nvSpPr>
          <p:cNvPr id="6" name="text-255">
            <a:extLst xmlns:a="http://schemas.openxmlformats.org/drawingml/2006/main">
              <a:ext uri="{FF2B5EF4-FFF2-40B4-BE49-F238E27FC236}">
                <a16:creationId xmlns:a16="http://schemas.microsoft.com/office/drawing/2014/main" id="{BEB91E1A-74B0-48F9-8B6C-FB89E05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56">
            <a:extLst xmlns:a="http://schemas.openxmlformats.org/drawingml/2006/main">
              <a:ext uri="{FF2B5EF4-FFF2-40B4-BE49-F238E27FC236}">
                <a16:creationId xmlns:a16="http://schemas.microsoft.com/office/drawing/2014/main" id="{16663445-A3EF-49AC-AFF1-E70B1FC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8" name="text-257">
            <a:extLst xmlns:a="http://schemas.openxmlformats.org/drawingml/2006/main">
              <a:ext uri="{FF2B5EF4-FFF2-40B4-BE49-F238E27FC236}">
                <a16:creationId xmlns:a16="http://schemas.microsoft.com/office/drawing/2014/main" id="{D39B0D4E-05E4-45D2-B104-D0AE75D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ASUMSI KASUS</a:t>
            </a:r>
          </a:p>
        </p:txBody>
      </p:sp>
      <p:sp>
        <p:nvSpPr>
          <p:cNvPr id="9" name="text-258">
            <a:extLst xmlns:a="http://schemas.openxmlformats.org/drawingml/2006/main">
              <a:ext uri="{FF2B5EF4-FFF2-40B4-BE49-F238E27FC236}">
                <a16:creationId xmlns:a16="http://schemas.microsoft.com/office/drawing/2014/main" id="{8C57AA7F-3FBF-41EF-8118-4DDAB92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648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“Ukuran lebih kecil</a:t>
            </a:r>
          </a:p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 cocok</a:t>
            </a:r>
          </a:p>
          <a:p xmlns:a="http://schemas.openxmlformats.org/drawingml/2006/main"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 buyer.”</a:t>
            </a:r>
          </a:p>
        </p:txBody>
      </p:sp>
      <p:sp>
        <p:nvSpPr>
          <p:cNvPr id="10" name="text-259">
            <a:extLst xmlns:a="http://schemas.openxmlformats.org/drawingml/2006/main">
              <a:ext uri="{FF2B5EF4-FFF2-40B4-BE49-F238E27FC236}">
                <a16:creationId xmlns:a16="http://schemas.microsoft.com/office/drawing/2014/main" id="{A557440A-538A-41A0-9CF4-447BF14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648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Tetapkan batas biaya sampel,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tenggat, dan PIC sebelum mulai.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D4BF9-4C81-4E5E-80E8-9E0E5E5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76450"/>
            <a:ext cx="0" cy="3590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2" name="text-260">
            <a:extLst xmlns:a="http://schemas.openxmlformats.org/drawingml/2006/main">
              <a:ext uri="{FF2B5EF4-FFF2-40B4-BE49-F238E27FC236}">
                <a16:creationId xmlns:a16="http://schemas.microsoft.com/office/drawing/2014/main" id="{D2E5DFDF-358D-45FA-BE33-236A097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6692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TINDAKAN</a:t>
            </a:r>
          </a:p>
        </p:txBody>
      </p:sp>
      <p:sp>
        <p:nvSpPr>
          <p:cNvPr id="13" name="text-261">
            <a:extLst xmlns:a="http://schemas.openxmlformats.org/drawingml/2006/main">
              <a:ext uri="{FF2B5EF4-FFF2-40B4-BE49-F238E27FC236}">
                <a16:creationId xmlns:a16="http://schemas.microsoft.com/office/drawing/2014/main" id="{8CE60FE9-E77F-4B64-BB47-1DE1E91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384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Tunjukkan dua ukuran, spesifikasi, dan harga.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B01F-4D42-4F30-8EBA-3EAF202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6230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5" name="text-262">
            <a:extLst xmlns:a="http://schemas.openxmlformats.org/drawingml/2006/main">
              <a:ext uri="{FF2B5EF4-FFF2-40B4-BE49-F238E27FC236}">
                <a16:creationId xmlns:a16="http://schemas.microsoft.com/office/drawing/2014/main" id="{E3DB5FD4-0385-4092-A3D1-127DE7C6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0517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BUKTI</a:t>
            </a:r>
          </a:p>
        </p:txBody>
      </p:sp>
      <p:sp>
        <p:nvSpPr>
          <p:cNvPr id="16" name="text-263">
            <a:extLst xmlns:a="http://schemas.openxmlformats.org/drawingml/2006/main">
              <a:ext uri="{FF2B5EF4-FFF2-40B4-BE49-F238E27FC236}">
                <a16:creationId xmlns:a16="http://schemas.microsoft.com/office/drawing/2014/main" id="{0821216C-DFCC-46A2-AACB-7BB1B058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65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 ukuran, alasan, keberatan, next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21B63-AD8D-422C-90B2-758BD64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8" name="text-264">
            <a:extLst xmlns:a="http://schemas.openxmlformats.org/drawingml/2006/main">
              <a:ext uri="{FF2B5EF4-FFF2-40B4-BE49-F238E27FC236}">
                <a16:creationId xmlns:a16="http://schemas.microsoft.com/office/drawing/2014/main" id="{7238ABF8-8380-4EE5-9A02-697A9558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PATOKAN LANJUT</a:t>
            </a:r>
          </a:p>
        </p:txBody>
      </p:sp>
      <p:sp>
        <p:nvSpPr>
          <p:cNvPr id="19" name="text-265">
            <a:extLst xmlns:a="http://schemas.openxmlformats.org/drawingml/2006/main">
              <a:ext uri="{FF2B5EF4-FFF2-40B4-BE49-F238E27FC236}">
                <a16:creationId xmlns:a16="http://schemas.microsoft.com/office/drawing/2014/main" id="{A7FB62DE-757D-4355-BDDB-82B695E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149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Spesifikasi disepakati dan ada langkah komersial berikutnya.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6E7B0-4E58-463E-9A2C-C2B3DD55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1" name="text-266">
            <a:extLst xmlns:a="http://schemas.openxmlformats.org/drawingml/2006/main">
              <a:ext uri="{FF2B5EF4-FFF2-40B4-BE49-F238E27FC236}">
                <a16:creationId xmlns:a16="http://schemas.microsoft.com/office/drawing/2014/main" id="{10345F26-1C87-4661-9A4C-910AB1B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bukti belum cukup, perbaiki ujinya sebelum menambah komitmen.</a:t>
            </a:r>
          </a:p>
        </p:txBody>
      </p:sp>
      <p:sp>
        <p:nvSpPr>
          <p:cNvPr id="22" name="text-267">
            <a:extLst xmlns:a="http://schemas.openxmlformats.org/drawingml/2006/main">
              <a:ext uri="{FF2B5EF4-FFF2-40B4-BE49-F238E27FC236}">
                <a16:creationId xmlns:a16="http://schemas.microsoft.com/office/drawing/2014/main" id="{D4A674F2-0F38-4457-95A8-7055CDE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 rencana uji. Modul 1 CMC dan Strategyzer.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6beb011c49a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19C7D-380A-4668-B1FC-75667A8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8b1e0f7644b4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68">
            <a:extLst xmlns:a="http://schemas.openxmlformats.org/drawingml/2006/main">
              <a:ext uri="{FF2B5EF4-FFF2-40B4-BE49-F238E27FC236}">
                <a16:creationId xmlns:a16="http://schemas.microsoft.com/office/drawing/2014/main" id="{77B56204-3542-47A9-B0E9-91915EE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 BUKTI</a:t>
            </a:r>
          </a:p>
        </p:txBody>
      </p:sp>
      <p:sp>
        <p:nvSpPr>
          <p:cNvPr id="5" name="text-269">
            <a:extLst xmlns:a="http://schemas.openxmlformats.org/drawingml/2006/main">
              <a:ext uri="{FF2B5EF4-FFF2-40B4-BE49-F238E27FC236}">
                <a16:creationId xmlns:a16="http://schemas.microsoft.com/office/drawing/2014/main" id="{F19F2506-5ADE-4B99-ACD2-5560FC9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Respons buyer makin berguna saat komitmennya konkret</a:t>
            </a:r>
          </a:p>
        </p:txBody>
      </p:sp>
      <p:sp>
        <p:nvSpPr>
          <p:cNvPr id="6" name="text-270">
            <a:extLst xmlns:a="http://schemas.openxmlformats.org/drawingml/2006/main">
              <a:ext uri="{FF2B5EF4-FFF2-40B4-BE49-F238E27FC236}">
                <a16:creationId xmlns:a16="http://schemas.microsoft.com/office/drawing/2014/main" id="{3CC33D9B-AB29-434B-A7B0-98097CB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Pujian, feedback, dan permintaan penawaran memberi bukti yang berbeda.</a:t>
            </a:r>
          </a:p>
        </p:txBody>
      </p:sp>
      <p:sp>
        <p:nvSpPr>
          <p:cNvPr id="7" name="text-271">
            <a:extLst xmlns:a="http://schemas.openxmlformats.org/drawingml/2006/main">
              <a:ext uri="{FF2B5EF4-FFF2-40B4-BE49-F238E27FC236}">
                <a16:creationId xmlns:a16="http://schemas.microsoft.com/office/drawing/2014/main" id="{889C4CAE-01BD-4051-B834-B0113FD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AD53A0A2-B939-4CCA-BE91-FA295F0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0998C-F586-45DC-B6E7-FA93554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50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</p:sp>
      <p:sp>
        <p:nvSpPr>
          <p:cNvPr id="10" name="text-273">
            <a:extLst xmlns:a="http://schemas.openxmlformats.org/drawingml/2006/main">
              <a:ext uri="{FF2B5EF4-FFF2-40B4-BE49-F238E27FC236}">
                <a16:creationId xmlns:a16="http://schemas.microsoft.com/office/drawing/2014/main" id="{36AFE36E-F22E-4365-ACEE-8BF94E0E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274">
            <a:extLst xmlns:a="http://schemas.openxmlformats.org/drawingml/2006/main">
              <a:ext uri="{FF2B5EF4-FFF2-40B4-BE49-F238E27FC236}">
                <a16:creationId xmlns:a16="http://schemas.microsoft.com/office/drawing/2014/main" id="{297E47DD-B990-4001-BD28-DF01A11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2543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5D1D2-1BB4-4B1F-8FFE-31F2787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3385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F5049-09FB-4C5C-97DE-B1B1B408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33850"/>
            <a:ext cx="250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</p:sp>
      <p:sp>
        <p:nvSpPr>
          <p:cNvPr id="14" name="text-275">
            <a:extLst xmlns:a="http://schemas.openxmlformats.org/drawingml/2006/main">
              <a:ext uri="{FF2B5EF4-FFF2-40B4-BE49-F238E27FC236}">
                <a16:creationId xmlns:a16="http://schemas.microsoft.com/office/drawing/2014/main" id="{40E406F9-1209-45FD-BF89-DA25043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5" name="text-276">
            <a:extLst xmlns:a="http://schemas.openxmlformats.org/drawingml/2006/main">
              <a:ext uri="{FF2B5EF4-FFF2-40B4-BE49-F238E27FC236}">
                <a16:creationId xmlns:a16="http://schemas.microsoft.com/office/drawing/2014/main" id="{51A60006-4AA4-431C-89E1-144289E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543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konteks penggunaan.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FA800-6274-4372-AC9B-1613B7D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A33F8-AF0A-47A8-A276-5109DD53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250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AB6A5"/>
            </a:solidFill>
          </a:ln>
        </p:spPr>
      </p:sp>
      <p:sp>
        <p:nvSpPr>
          <p:cNvPr id="18" name="text-277">
            <a:extLst xmlns:a="http://schemas.openxmlformats.org/drawingml/2006/main">
              <a:ext uri="{FF2B5EF4-FFF2-40B4-BE49-F238E27FC236}">
                <a16:creationId xmlns:a16="http://schemas.microsoft.com/office/drawing/2014/main" id="{701E7FA6-409B-45E4-80C7-E05D350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19" name="text-278">
            <a:extLst xmlns:a="http://schemas.openxmlformats.org/drawingml/2006/main">
              <a:ext uri="{FF2B5EF4-FFF2-40B4-BE49-F238E27FC236}">
                <a16:creationId xmlns:a16="http://schemas.microsoft.com/office/drawing/2014/main" id="{E2C3AD21-D490-49B9-B478-E041CFD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2543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Penilaian spesifik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atas produk yang diuji.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89DC6-E643-47A8-9477-21F4F7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D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69BF0-7FE7-484E-94E2-5FCBF656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505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87958"/>
            </a:solidFill>
          </a:ln>
        </p:spPr>
      </p:sp>
      <p:sp>
        <p:nvSpPr>
          <p:cNvPr id="22" name="text-279">
            <a:extLst xmlns:a="http://schemas.openxmlformats.org/drawingml/2006/main">
              <a:ext uri="{FF2B5EF4-FFF2-40B4-BE49-F238E27FC236}">
                <a16:creationId xmlns:a16="http://schemas.microsoft.com/office/drawing/2014/main" id="{FA31C773-F8C4-4EEA-A0DB-DE1DB0B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3" name="text-280">
            <a:extLst xmlns:a="http://schemas.openxmlformats.org/drawingml/2006/main">
              <a:ext uri="{FF2B5EF4-FFF2-40B4-BE49-F238E27FC236}">
                <a16:creationId xmlns:a16="http://schemas.microsoft.com/office/drawing/2014/main" id="{EF7FC345-FE80-4D32-9A39-F294442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543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Penawaran atau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komitmen lanjutan.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AF6882-7539-41A5-BDBB-8C17AAAC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5" name="text-281">
            <a:extLst xmlns:a="http://schemas.openxmlformats.org/drawingml/2006/main">
              <a:ext uri="{FF2B5EF4-FFF2-40B4-BE49-F238E27FC236}">
                <a16:creationId xmlns:a16="http://schemas.microsoft.com/office/drawing/2014/main" id="{AB62CB69-338B-4803-987B-347DAC7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Respons positif belum sama dengan order. Pastikan next step-nya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1b46cb78b4d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FABC0-1B3E-45F0-AA3C-C0D6CB3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65f9d36ff4e8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82">
            <a:extLst xmlns:a="http://schemas.openxmlformats.org/drawingml/2006/main">
              <a:ext uri="{FF2B5EF4-FFF2-40B4-BE49-F238E27FC236}">
                <a16:creationId xmlns:a16="http://schemas.microsoft.com/office/drawing/2014/main" id="{93779F16-9F5B-4D67-9ABE-E0C8C6F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 FOUNDER</a:t>
            </a:r>
          </a:p>
        </p:txBody>
      </p:sp>
      <p:sp>
        <p:nvSpPr>
          <p:cNvPr id="5" name="text-283">
            <a:extLst xmlns:a="http://schemas.openxmlformats.org/drawingml/2006/main">
              <a:ext uri="{FF2B5EF4-FFF2-40B4-BE49-F238E27FC236}">
                <a16:creationId xmlns:a16="http://schemas.microsoft.com/office/drawing/2014/main" id="{068E359B-2A69-46FF-9922-C2FB845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Keahlian tumbuh ketika pengalaman diolah jadi perbaikan</a:t>
            </a:r>
          </a:p>
        </p:txBody>
      </p:sp>
      <p:sp>
        <p:nvSpPr>
          <p:cNvPr id="6" name="text-284">
            <a:extLst xmlns:a="http://schemas.openxmlformats.org/drawingml/2006/main">
              <a:ext uri="{FF2B5EF4-FFF2-40B4-BE49-F238E27FC236}">
                <a16:creationId xmlns:a16="http://schemas.microsoft.com/office/drawing/2014/main" id="{4E9F0CAC-C407-4C6C-A518-A79BC705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85">
            <a:extLst xmlns:a="http://schemas.openxmlformats.org/drawingml/2006/main">
              <a:ext uri="{FF2B5EF4-FFF2-40B4-BE49-F238E27FC236}">
                <a16:creationId xmlns:a16="http://schemas.microsoft.com/office/drawing/2014/main" id="{77393F5D-DBA2-451C-B1FD-8E0D715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91021DD7-40E1-44BC-88DF-0DCA5D7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6577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tantangan.</a:t>
            </a:r>
          </a:p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masukan.</a:t>
            </a:r>
          </a:p>
          <a:p xmlns:a="http://schemas.openxmlformats.org/drawingml/2006/main"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 perbaikan.</a:t>
            </a:r>
          </a:p>
        </p:txBody>
      </p:sp>
      <p:sp>
        <p:nvSpPr>
          <p:cNvPr id="9" name="text-287">
            <a:extLst xmlns:a="http://schemas.openxmlformats.org/drawingml/2006/main">
              <a:ext uri="{FF2B5EF4-FFF2-40B4-BE49-F238E27FC236}">
                <a16:creationId xmlns:a16="http://schemas.microsoft.com/office/drawing/2014/main" id="{E3B5752E-CAD4-4405-B163-0097A180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524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Ulangi dengan cara</a:t>
            </a:r>
          </a:p>
          <a:p xmlns:a="http://schemas.openxmlformats.org/drawingml/2006/main"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makin baik.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228AF-EA8F-4C2F-A77B-8485742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B6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85F4F-B762-407A-96BD-AECD9C14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12" name="text-288">
            <a:extLst xmlns:a="http://schemas.openxmlformats.org/drawingml/2006/main">
              <a:ext uri="{FF2B5EF4-FFF2-40B4-BE49-F238E27FC236}">
                <a16:creationId xmlns:a16="http://schemas.microsoft.com/office/drawing/2014/main" id="{407D9D39-55E8-4997-8400-A0E1880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3" name="text-289">
            <a:extLst xmlns:a="http://schemas.openxmlformats.org/drawingml/2006/main">
              <a:ext uri="{FF2B5EF4-FFF2-40B4-BE49-F238E27FC236}">
                <a16:creationId xmlns:a16="http://schemas.microsoft.com/office/drawing/2014/main" id="{6FE8FE3C-D567-4D9B-AC1C-D9542D4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tantangan yang relevan.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ADA85-3D3A-4B73-8337-7B76430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15" name="text-290">
            <a:extLst xmlns:a="http://schemas.openxmlformats.org/drawingml/2006/main">
              <a:ext uri="{FF2B5EF4-FFF2-40B4-BE49-F238E27FC236}">
                <a16:creationId xmlns:a16="http://schemas.microsoft.com/office/drawing/2014/main" id="{473449BE-5CB3-41F5-8B38-1814757F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6" name="text-291">
            <a:extLst xmlns:a="http://schemas.openxmlformats.org/drawingml/2006/main">
              <a:ext uri="{FF2B5EF4-FFF2-40B4-BE49-F238E27FC236}">
                <a16:creationId xmlns:a16="http://schemas.microsoft.com/office/drawing/2014/main" id="{C385D474-5131-43D1-B358-1BD2FF03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masukan orang yang tepat.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5017-CD9A-4518-AEA2-119D505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18" name="text-292">
            <a:extLst xmlns:a="http://schemas.openxmlformats.org/drawingml/2006/main">
              <a:ext uri="{FF2B5EF4-FFF2-40B4-BE49-F238E27FC236}">
                <a16:creationId xmlns:a16="http://schemas.microsoft.com/office/drawing/2014/main" id="{67E07C87-EAB7-47C7-8168-475F885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9" name="text-293">
            <a:extLst xmlns:a="http://schemas.openxmlformats.org/drawingml/2006/main">
              <a:ext uri="{FF2B5EF4-FFF2-40B4-BE49-F238E27FC236}">
                <a16:creationId xmlns:a16="http://schemas.microsoft.com/office/drawing/2014/main" id="{43A7E553-1A09-4E4A-9205-512BD7E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perubahan dan hasil uji.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B486B-6D8D-4113-8C74-E4DE0356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81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958"/>
            </a:solidFill>
          </a:ln>
        </p:spPr>
      </p:sp>
      <p:sp>
        <p:nvSpPr>
          <p:cNvPr id="21" name="text-294">
            <a:extLst xmlns:a="http://schemas.openxmlformats.org/drawingml/2006/main">
              <a:ext uri="{FF2B5EF4-FFF2-40B4-BE49-F238E27FC236}">
                <a16:creationId xmlns:a16="http://schemas.microsoft.com/office/drawing/2014/main" id="{0104C913-B0DD-4C98-BD21-017B690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2" name="text-295">
            <a:extLst xmlns:a="http://schemas.openxmlformats.org/drawingml/2006/main">
              <a:ext uri="{FF2B5EF4-FFF2-40B4-BE49-F238E27FC236}">
                <a16:creationId xmlns:a16="http://schemas.microsoft.com/office/drawing/2014/main" id="{79C072B3-B6D9-458E-A0DA-456CCB1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6732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Teruskan dengan disiplin.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32E95-CEF5-4C75-AD22-4F807F5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24" name="text-296">
            <a:extLst xmlns:a="http://schemas.openxmlformats.org/drawingml/2006/main">
              <a:ext uri="{FF2B5EF4-FFF2-40B4-BE49-F238E27FC236}">
                <a16:creationId xmlns:a16="http://schemas.microsoft.com/office/drawing/2014/main" id="{AFDA880D-D23A-4367-BF1A-BEB9B9DC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Kegigihan menjadi lebih berguna ketika feedback ikut mengubah cara kita bekerja.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691a0dd54a9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4C11-F46D-4792-B3BF-C81E88C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fe021f6b048d3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297">
            <a:extLst xmlns:a="http://schemas.openxmlformats.org/drawingml/2006/main">
              <a:ext uri="{FF2B5EF4-FFF2-40B4-BE49-F238E27FC236}">
                <a16:creationId xmlns:a16="http://schemas.microsoft.com/office/drawing/2014/main" id="{1797BD3C-0F97-4A98-9090-41C3F77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LIMA P DARI MODUL CMC</a:t>
            </a:r>
          </a:p>
        </p:txBody>
      </p:sp>
      <p:sp>
        <p:nvSpPr>
          <p:cNvPr id="5" name="text-298">
            <a:extLst xmlns:a="http://schemas.openxmlformats.org/drawingml/2006/main">
              <a:ext uri="{FF2B5EF4-FFF2-40B4-BE49-F238E27FC236}">
                <a16:creationId xmlns:a16="http://schemas.microsoft.com/office/drawing/2014/main" id="{AA7D0150-E8FE-4DD1-B2DF-96921C79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Pitch yang kuat menghubungkan kebutuhan dengan bukti</a:t>
            </a:r>
          </a:p>
        </p:txBody>
      </p:sp>
      <p:sp>
        <p:nvSpPr>
          <p:cNvPr id="6" name="text-299">
            <a:extLst xmlns:a="http://schemas.openxmlformats.org/drawingml/2006/main">
              <a:ext uri="{FF2B5EF4-FFF2-40B4-BE49-F238E27FC236}">
                <a16:creationId xmlns:a16="http://schemas.microsoft.com/office/drawing/2014/main" id="{BBBA825D-4515-473F-BAC3-AA39C5E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00">
            <a:extLst xmlns:a="http://schemas.openxmlformats.org/drawingml/2006/main">
              <a:ext uri="{FF2B5EF4-FFF2-40B4-BE49-F238E27FC236}">
                <a16:creationId xmlns:a16="http://schemas.microsoft.com/office/drawing/2014/main" id="{6ECE0651-7341-42BC-A45A-3C879814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text-301">
            <a:extLst xmlns:a="http://schemas.openxmlformats.org/drawingml/2006/main">
              <a:ext uri="{FF2B5EF4-FFF2-40B4-BE49-F238E27FC236}">
                <a16:creationId xmlns:a16="http://schemas.microsoft.com/office/drawing/2014/main" id="{8A2C9700-DFC6-4FE6-BA82-B5B0341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10394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“Kami membantu buyer dekorasi rumah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membutuhkan ukuran tertentu.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ini, kami menguji dua ukuran</a:t>
            </a:r>
          </a:p>
          <a:p xmlns:a="http://schemas.openxmlformats.org/drawingml/2006/main"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 spesifikasi yang disepakati.”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A92C-78B0-4E3B-953F-4541CE1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D4"/>
            </a:solidFill>
          </a:ln>
        </p:spPr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DE3170B4-7B70-4666-9C34-256A0C27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5010382F-34F2-4FFC-9288-161F429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2105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 yang jelas</a:t>
            </a:r>
          </a:p>
        </p:txBody>
      </p:sp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3F33CE86-EE86-45D2-922A-CE9BC3D0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9585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3" name="text-305">
            <a:extLst xmlns:a="http://schemas.openxmlformats.org/drawingml/2006/main">
              <a:ext uri="{FF2B5EF4-FFF2-40B4-BE49-F238E27FC236}">
                <a16:creationId xmlns:a16="http://schemas.microsoft.com/office/drawing/2014/main" id="{24772126-AC66-4CF1-891F-8618133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76850"/>
            <a:ext cx="2105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Proses terlacak</a:t>
            </a:r>
          </a:p>
        </p:txBody>
      </p:sp>
      <p:sp>
        <p:nvSpPr>
          <p:cNvPr id="14" name="text-306">
            <a:extLst xmlns:a="http://schemas.openxmlformats.org/drawingml/2006/main">
              <a:ext uri="{FF2B5EF4-FFF2-40B4-BE49-F238E27FC236}">
                <a16:creationId xmlns:a16="http://schemas.microsoft.com/office/drawing/2014/main" id="{77D9781F-6FE5-464E-8F6D-EECF8F66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9585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text-307">
            <a:extLst xmlns:a="http://schemas.openxmlformats.org/drawingml/2006/main">
              <a:ext uri="{FF2B5EF4-FFF2-40B4-BE49-F238E27FC236}">
                <a16:creationId xmlns:a16="http://schemas.microsoft.com/office/drawing/2014/main" id="{40307F2D-5465-41FE-87DB-8EB54E9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76850"/>
            <a:ext cx="2105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Mutu terlihat</a:t>
            </a:r>
          </a:p>
        </p:txBody>
      </p:sp>
      <p:sp>
        <p:nvSpPr>
          <p:cNvPr id="16" name="text-308">
            <a:extLst xmlns:a="http://schemas.openxmlformats.org/drawingml/2006/main">
              <a:ext uri="{FF2B5EF4-FFF2-40B4-BE49-F238E27FC236}">
                <a16:creationId xmlns:a16="http://schemas.microsoft.com/office/drawing/2014/main" id="{45BCDE9E-1DAC-443A-85DB-9312499A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9585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7" name="text-309">
            <a:extLst xmlns:a="http://schemas.openxmlformats.org/drawingml/2006/main">
              <a:ext uri="{FF2B5EF4-FFF2-40B4-BE49-F238E27FC236}">
                <a16:creationId xmlns:a16="http://schemas.microsoft.com/office/drawing/2014/main" id="{CE49214F-927A-47D9-AF78-E0CDAF9B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2105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Klaim terbukti</a:t>
            </a:r>
          </a:p>
        </p:txBody>
      </p:sp>
      <p:sp>
        <p:nvSpPr>
          <p:cNvPr id="18" name="text-310">
            <a:extLst xmlns:a="http://schemas.openxmlformats.org/drawingml/2006/main">
              <a:ext uri="{FF2B5EF4-FFF2-40B4-BE49-F238E27FC236}">
                <a16:creationId xmlns:a16="http://schemas.microsoft.com/office/drawing/2014/main" id="{7D3756AE-1EC1-4BD9-93DE-8323699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95850"/>
            <a:ext cx="2105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19" name="text-311">
            <a:extLst xmlns:a="http://schemas.openxmlformats.org/drawingml/2006/main">
              <a:ext uri="{FF2B5EF4-FFF2-40B4-BE49-F238E27FC236}">
                <a16:creationId xmlns:a16="http://schemas.microsoft.com/office/drawing/2014/main" id="{CFC48726-12C1-47A5-B2A0-14812EA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76850"/>
            <a:ext cx="2105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mitra jelas</a:t>
            </a:r>
          </a:p>
        </p:txBody>
      </p:sp>
      <p:sp>
        <p:nvSpPr>
          <p:cNvPr id="20" name="text-312">
            <a:extLst xmlns:a="http://schemas.openxmlformats.org/drawingml/2006/main">
              <a:ext uri="{FF2B5EF4-FFF2-40B4-BE49-F238E27FC236}">
                <a16:creationId xmlns:a16="http://schemas.microsoft.com/office/drawing/2014/main" id="{D7358149-A9E5-49ED-A181-4873743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 pitch ilustratif. Five P dari Modul 1 CMC. Jangan mengarang traction.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dc2c5563b43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4ECC-6B98-4EDA-BA98-5F3AF71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59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360f0f116441d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4" name="text-313">
            <a:extLst xmlns:a="http://schemas.openxmlformats.org/drawingml/2006/main">
              <a:ext uri="{FF2B5EF4-FFF2-40B4-BE49-F238E27FC236}">
                <a16:creationId xmlns:a16="http://schemas.microsoft.com/office/drawing/2014/main" id="{1C6BB4A7-E4F8-41B0-93D3-6F9A1FC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LATIHAN PESERTA</a:t>
            </a:r>
          </a:p>
        </p:txBody>
      </p:sp>
      <p:sp>
        <p:nvSpPr>
          <p:cNvPr id="5" name="text-314">
            <a:extLst xmlns:a="http://schemas.openxmlformats.org/drawingml/2006/main">
              <a:ext uri="{FF2B5EF4-FFF2-40B4-BE49-F238E27FC236}">
                <a16:creationId xmlns:a16="http://schemas.microsoft.com/office/drawing/2014/main" id="{8E95CFE0-71BE-4D28-BA52-85CD1B2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Satu asumsi penting, satu rencana uji minggu ini</a:t>
            </a:r>
          </a:p>
        </p:txBody>
      </p:sp>
      <p:sp>
        <p:nvSpPr>
          <p:cNvPr id="6" name="text-315">
            <a:extLst xmlns:a="http://schemas.openxmlformats.org/drawingml/2006/main">
              <a:ext uri="{FF2B5EF4-FFF2-40B4-BE49-F238E27FC236}">
                <a16:creationId xmlns:a16="http://schemas.microsoft.com/office/drawing/2014/main" id="{6BA068B0-D340-4BBD-96CF-7914C50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Tulis rencana untuk bisnismu. Bagikan dengan peserta di sebelahmu.</a:t>
            </a:r>
          </a:p>
        </p:txBody>
      </p:sp>
      <p:sp>
        <p:nvSpPr>
          <p:cNvPr id="7" name="text-316">
            <a:extLst xmlns:a="http://schemas.openxmlformats.org/drawingml/2006/main">
              <a:ext uri="{FF2B5EF4-FFF2-40B4-BE49-F238E27FC236}">
                <a16:creationId xmlns:a16="http://schemas.microsoft.com/office/drawing/2014/main" id="{35DD66B4-285B-45A9-92C3-7C738D40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317">
            <a:extLst xmlns:a="http://schemas.openxmlformats.org/drawingml/2006/main">
              <a:ext uri="{FF2B5EF4-FFF2-40B4-BE49-F238E27FC236}">
                <a16:creationId xmlns:a16="http://schemas.microsoft.com/office/drawing/2014/main" id="{72784381-F77F-45C1-A46B-28CEC8D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9" name="text-318">
            <a:extLst xmlns:a="http://schemas.openxmlformats.org/drawingml/2006/main">
              <a:ext uri="{FF2B5EF4-FFF2-40B4-BE49-F238E27FC236}">
                <a16:creationId xmlns:a16="http://schemas.microsoft.com/office/drawing/2014/main" id="{CEB62C75-8BD7-4DEA-9F36-5A65152D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1–2</a:t>
            </a:r>
          </a:p>
        </p:txBody>
      </p:sp>
      <p:sp>
        <p:nvSpPr>
          <p:cNvPr id="10" name="text-319">
            <a:extLst xmlns:a="http://schemas.openxmlformats.org/drawingml/2006/main">
              <a:ext uri="{FF2B5EF4-FFF2-40B4-BE49-F238E27FC236}">
                <a16:creationId xmlns:a16="http://schemas.microsoft.com/office/drawing/2014/main" id="{CEF599EA-BE78-4011-A19D-401AA28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asumsi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32ACE-12A0-4EED-A373-DF779C08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2876550"/>
            <a:ext cx="5238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2" name="text-320">
            <a:extLst xmlns:a="http://schemas.openxmlformats.org/drawingml/2006/main">
              <a:ext uri="{FF2B5EF4-FFF2-40B4-BE49-F238E27FC236}">
                <a16:creationId xmlns:a16="http://schemas.microsoft.com/office/drawing/2014/main" id="{6C4A3B13-E170-419F-BB3D-03993345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3–5</a:t>
            </a:r>
          </a:p>
        </p:txBody>
      </p:sp>
      <p:sp>
        <p:nvSpPr>
          <p:cNvPr id="13" name="text-321">
            <a:extLst xmlns:a="http://schemas.openxmlformats.org/drawingml/2006/main">
              <a:ext uri="{FF2B5EF4-FFF2-40B4-BE49-F238E27FC236}">
                <a16:creationId xmlns:a16="http://schemas.microsoft.com/office/drawing/2014/main" id="{9674EFE6-2843-44E1-A635-B89DAFF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Jalankan uji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DFBAD-F900-4629-B575-78E2938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876550"/>
            <a:ext cx="5238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noFill/>
          </a:ln>
        </p:spPr>
      </p:sp>
      <p:sp>
        <p:nvSpPr>
          <p:cNvPr id="15" name="text-322">
            <a:extLst xmlns:a="http://schemas.openxmlformats.org/drawingml/2006/main">
              <a:ext uri="{FF2B5EF4-FFF2-40B4-BE49-F238E27FC236}">
                <a16:creationId xmlns:a16="http://schemas.microsoft.com/office/drawing/2014/main" id="{BF8DD0C9-11CF-4C2C-A974-DD6CDDD8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HARI 6–7</a:t>
            </a:r>
          </a:p>
        </p:txBody>
      </p:sp>
      <p:sp>
        <p:nvSpPr>
          <p:cNvPr id="16" name="text-323">
            <a:extLst xmlns:a="http://schemas.openxmlformats.org/drawingml/2006/main">
              <a:ext uri="{FF2B5EF4-FFF2-40B4-BE49-F238E27FC236}">
                <a16:creationId xmlns:a16="http://schemas.microsoft.com/office/drawing/2014/main" id="{FFA27749-D7FD-416B-9F95-B5EA7FF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3533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Tinjau bukti</a:t>
            </a:r>
          </a:p>
        </p:txBody>
      </p:sp>
      <p:sp>
        <p:nvSpPr>
          <p:cNvPr id="17" name="text-324">
            <a:extLst xmlns:a="http://schemas.openxmlformats.org/drawingml/2006/main">
              <a:ext uri="{FF2B5EF4-FFF2-40B4-BE49-F238E27FC236}">
                <a16:creationId xmlns:a16="http://schemas.microsoft.com/office/drawing/2014/main" id="{97B80318-4535-4567-AF3A-4BBBA764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Saya akan menguji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F4014-474F-444E-9EAC-00DA13F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529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</p:sp>
      <p:sp>
        <p:nvSpPr>
          <p:cNvPr id="19" name="text-325">
            <a:extLst xmlns:a="http://schemas.openxmlformats.org/drawingml/2006/main">
              <a:ext uri="{FF2B5EF4-FFF2-40B4-BE49-F238E27FC236}">
                <a16:creationId xmlns:a16="http://schemas.microsoft.com/office/drawing/2014/main" id="{0223A21F-E382-495A-8C96-80354290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 mencari bukti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222D5-8F74-42CA-9E8A-9645896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196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</p:sp>
      <p:sp>
        <p:nvSpPr>
          <p:cNvPr id="21" name="text-326">
            <a:extLst xmlns:a="http://schemas.openxmlformats.org/drawingml/2006/main">
              <a:ext uri="{FF2B5EF4-FFF2-40B4-BE49-F238E27FC236}">
                <a16:creationId xmlns:a16="http://schemas.microsoft.com/office/drawing/2014/main" id="{2F68F976-D1D7-4D7C-8049-1220FA7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Batas biaya / waktu saya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6EDC7-CCD8-4859-A146-51C86462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864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B6A5"/>
            </a:solidFill>
          </a:ln>
        </p:spPr>
      </p:sp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7A54BE9D-223A-46F5-AD62-C6DF470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 rencana 7 hari, sesuaikan dengan siklus bisnis.</a:t>
            </a:r>
          </a:p>
        </p:txBody>
      </p:sp>
    </p:spTree>
    <p:extLst>
      <p:ext uri="{BB962C8B-B14F-4D97-AF65-F5344CB8AC3E}">
        <p14:creationId xmlns:p14="http://schemas.microsoft.com/office/powerpoint/2010/main" val="12095614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2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4fe936f73400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f6500d3cc4efe"/>
          <a:stretch xmlns:a="http://schemas.openxmlformats.org/drawingml/2006/main"/>
        </p:blipFill>
        <p:spPr>
          <a:xfrm xmlns:a="http://schemas.openxmlformats.org/drawingml/2006/main">
            <a:off x="10591800" y="245339"/>
            <a:ext cx="1028700" cy="385621"/>
          </a:xfrm>
          <a:prstGeom xmlns:a="http://schemas.openxmlformats.org/drawingml/2006/main" prst="rect">
            <a:avLst/>
          </a:prstGeom>
        </p:spPr>
      </p:pic>
      <p:sp>
        <p:nvSpPr>
          <p:cNvPr id="3" name="text-328">
            <a:extLst xmlns:a="http://schemas.openxmlformats.org/drawingml/2006/main">
              <a:ext uri="{FF2B5EF4-FFF2-40B4-BE49-F238E27FC236}">
                <a16:creationId xmlns:a16="http://schemas.microsoft.com/office/drawing/2014/main" id="{4474AD1F-227D-4DA7-BC99-5B424ED7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KEPUTUSAN FOUNDER</a:t>
            </a:r>
          </a:p>
        </p:txBody>
      </p:sp>
      <p:sp>
        <p:nvSpPr>
          <p:cNvPr id="4" name="text-329">
            <a:extLst xmlns:a="http://schemas.openxmlformats.org/drawingml/2006/main">
              <a:ext uri="{FF2B5EF4-FFF2-40B4-BE49-F238E27FC236}">
                <a16:creationId xmlns:a16="http://schemas.microsoft.com/office/drawing/2014/main" id="{9E8D328B-9E43-4891-8FEE-0C9B188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 maju, menyesuaikan, atau menunda?</a:t>
            </a:r>
          </a:p>
        </p:txBody>
      </p:sp>
      <p:sp>
        <p:nvSpPr>
          <p:cNvPr id="5" name="text-330">
            <a:extLst xmlns:a="http://schemas.openxmlformats.org/drawingml/2006/main">
              <a:ext uri="{FF2B5EF4-FFF2-40B4-BE49-F238E27FC236}">
                <a16:creationId xmlns:a16="http://schemas.microsoft.com/office/drawing/2014/main" id="{28300A45-0AFA-4AAD-98F3-5FED615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579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331">
            <a:extLst xmlns:a="http://schemas.openxmlformats.org/drawingml/2006/main">
              <a:ext uri="{FF2B5EF4-FFF2-40B4-BE49-F238E27FC236}">
                <a16:creationId xmlns:a16="http://schemas.microsoft.com/office/drawing/2014/main" id="{4005D8A1-6C7C-4E65-82D6-D66CF6E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6389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7" name="text-332">
            <a:extLst xmlns:a="http://schemas.openxmlformats.org/drawingml/2006/main">
              <a:ext uri="{FF2B5EF4-FFF2-40B4-BE49-F238E27FC236}">
                <a16:creationId xmlns:a16="http://schemas.microsoft.com/office/drawing/2014/main" id="{F47948C9-5528-46D5-92B0-3EEEB01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0906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Peluangnya jelas.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Kemampuannya terbukti.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Risikonya sanggup ditanggung.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F456-1C3C-42A6-A812-DA98282F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</p:sp>
      <p:sp>
        <p:nvSpPr>
          <p:cNvPr id="9" name="text-333">
            <a:extLst xmlns:a="http://schemas.openxmlformats.org/drawingml/2006/main">
              <a:ext uri="{FF2B5EF4-FFF2-40B4-BE49-F238E27FC236}">
                <a16:creationId xmlns:a16="http://schemas.microsoft.com/office/drawing/2014/main" id="{66835267-22B9-4FE4-A4D2-0CC3642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06965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Sebelum berkomitmen, cek kebutuhan buyer,</a:t>
            </a:r>
          </a:p>
          <a:p xmlns:a="http://schemas.openxmlformats.org/drawingml/2006/main"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kesiapan bisnis, dan bukti dari uji berikutnya.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FD9BB-AFE9-4617-9415-BCA731D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7766A"/>
            </a:solidFill>
          </a:ln>
        </p:spPr>
      </p:sp>
      <p:sp>
        <p:nvSpPr>
          <p:cNvPr id="11" name="text-334">
            <a:extLst xmlns:a="http://schemas.openxmlformats.org/drawingml/2006/main">
              <a:ext uri="{FF2B5EF4-FFF2-40B4-BE49-F238E27FC236}">
                <a16:creationId xmlns:a16="http://schemas.microsoft.com/office/drawing/2014/main" id="{638B3BD6-6638-4A01-8CF4-4B94236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Apa satu langkah yang akan kamu lakukan setelah sesi ini?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2026-10-06T14:12:18.9530000Z</dcterms:created>
  <dcterms:modified xsi:type="dcterms:W3CDTF">2026-10-06T14:12:18.9530000Z</dcterms:modified>
</coreProperties>
</file>