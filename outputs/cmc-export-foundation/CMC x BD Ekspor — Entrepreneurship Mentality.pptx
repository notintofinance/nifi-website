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6f455e558341bd" /><Relationship Type="http://schemas.openxmlformats.org/officeDocument/2006/relationships/extended-properties" Target="/docProps/app.xml" Id="Ra67591c8abeb471f" /><Relationship Type="http://schemas.openxmlformats.org/officeDocument/2006/relationships/officeDocument" Target="/ppt/presentation.xml" Id="R7d10350c0b77425d" /></Relationships>
</file>

<file path=ppt/presentation.xml><?xml version="1.0" encoding="utf-8"?>
<p:presentation xmlns:p="http://schemas.openxmlformats.org/presentationml/2006/main">
  <p:sldMasterIdLst>
    <p:sldMasterId xmlns:r="http://schemas.openxmlformats.org/officeDocument/2006/relationships" id="2147483648" r:id="R448077e26a6247db"/>
  </p:sldMasterIdLst>
  <p:notesMasterIdLst>
    <p:notesMasterId xmlns:r="http://schemas.openxmlformats.org/officeDocument/2006/relationships" r:id="R280fdb89345d407f"/>
  </p:notesMasterIdLst>
  <p:sldIdLst>
    <p:sldId xmlns:r="http://schemas.openxmlformats.org/officeDocument/2006/relationships" id="256" r:id="R15d50551a7e345d9"/>
    <p:sldId xmlns:r="http://schemas.openxmlformats.org/officeDocument/2006/relationships" id="257" r:id="R860931fe6fb64950"/>
    <p:sldId xmlns:r="http://schemas.openxmlformats.org/officeDocument/2006/relationships" id="258" r:id="Rd7a569bf2afe4bc6"/>
    <p:sldId xmlns:r="http://schemas.openxmlformats.org/officeDocument/2006/relationships" id="259" r:id="R36e9f917577b4f6c"/>
    <p:sldId xmlns:r="http://schemas.openxmlformats.org/officeDocument/2006/relationships" id="260" r:id="R2d8fa6bd0d4849e3"/>
    <p:sldId xmlns:r="http://schemas.openxmlformats.org/officeDocument/2006/relationships" id="261" r:id="R3503316f2d9148fb"/>
    <p:sldId xmlns:r="http://schemas.openxmlformats.org/officeDocument/2006/relationships" id="262" r:id="R9efd396a777440bf"/>
    <p:sldId xmlns:r="http://schemas.openxmlformats.org/officeDocument/2006/relationships" id="263" r:id="Ra4b5e4013f8d4a27"/>
    <p:sldId xmlns:r="http://schemas.openxmlformats.org/officeDocument/2006/relationships" id="264" r:id="Rb40d0b0d68b040cd"/>
    <p:sldId xmlns:r="http://schemas.openxmlformats.org/officeDocument/2006/relationships" id="265" r:id="R77f6f3ec36b94f6c"/>
    <p:sldId xmlns:r="http://schemas.openxmlformats.org/officeDocument/2006/relationships" id="266" r:id="R0ac825db1e474c67"/>
    <p:sldId xmlns:r="http://schemas.openxmlformats.org/officeDocument/2006/relationships" id="267" r:id="Re292abaa5cce4a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abf60663014517" /><Relationship Type="http://schemas.openxmlformats.org/officeDocument/2006/relationships/slideMaster" Target="/ppt/slideMasters/slideMaster1.xml" Id="R448077e26a6247db" /><Relationship Type="http://schemas.openxmlformats.org/officeDocument/2006/relationships/notesMaster" Target="/ppt/notesMasters/notesMaster1.xml" Id="R280fdb89345d407f" /><Relationship Type="http://schemas.openxmlformats.org/officeDocument/2006/relationships/presProps" Target="/ppt/presProps.xml" Id="R0f32ee09affb4e19" /><Relationship Type="http://schemas.openxmlformats.org/officeDocument/2006/relationships/tableStyles" Target="/ppt/tableStyles.xml" Id="R5fd6ed1c4c2e4c4f" /><Relationship Type="http://schemas.openxmlformats.org/officeDocument/2006/relationships/slide" Target="/ppt/slides/slide1.xml" Id="R15d50551a7e345d9" /><Relationship Type="http://schemas.openxmlformats.org/officeDocument/2006/relationships/slide" Target="/ppt/slides/slide2.xml" Id="R860931fe6fb64950" /><Relationship Type="http://schemas.openxmlformats.org/officeDocument/2006/relationships/slide" Target="/ppt/slides/slide3.xml" Id="Rd7a569bf2afe4bc6" /><Relationship Type="http://schemas.openxmlformats.org/officeDocument/2006/relationships/slide" Target="/ppt/slides/slide4.xml" Id="R36e9f917577b4f6c" /><Relationship Type="http://schemas.openxmlformats.org/officeDocument/2006/relationships/slide" Target="/ppt/slides/slide5.xml" Id="R2d8fa6bd0d4849e3" /><Relationship Type="http://schemas.openxmlformats.org/officeDocument/2006/relationships/slide" Target="/ppt/slides/slide6.xml" Id="R3503316f2d9148fb" /><Relationship Type="http://schemas.openxmlformats.org/officeDocument/2006/relationships/slide" Target="/ppt/slides/slide7.xml" Id="R9efd396a777440bf" /><Relationship Type="http://schemas.openxmlformats.org/officeDocument/2006/relationships/slide" Target="/ppt/slides/slide8.xml" Id="Ra4b5e4013f8d4a27" /><Relationship Type="http://schemas.openxmlformats.org/officeDocument/2006/relationships/slide" Target="/ppt/slides/slide9.xml" Id="Rb40d0b0d68b040cd" /><Relationship Type="http://schemas.openxmlformats.org/officeDocument/2006/relationships/slide" Target="/ppt/slides/slide10.xml" Id="R77f6f3ec36b94f6c" /><Relationship Type="http://schemas.openxmlformats.org/officeDocument/2006/relationships/slide" Target="/ppt/slides/slide11.xml" Id="R0ac825db1e474c67" /><Relationship Type="http://schemas.openxmlformats.org/officeDocument/2006/relationships/slide" Target="/ppt/slides/slide12.xml" Id="Re292abaa5cce4a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ed7b10d29c48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2c8f3e20b04e81" /><Relationship Type="http://schemas.openxmlformats.org/officeDocument/2006/relationships/notesMaster" Target="/ppt/notesMasters/notesMaster1.xml" Id="R253e435e415949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80f487ce0047ae" /><Relationship Type="http://schemas.openxmlformats.org/officeDocument/2006/relationships/notesMaster" Target="/ppt/notesMasters/notesMaster1.xml" Id="R800a5c139a7545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c35452c4cc4e2b" /><Relationship Type="http://schemas.openxmlformats.org/officeDocument/2006/relationships/notesMaster" Target="/ppt/notesMasters/notesMaster1.xml" Id="R8c020a170d344c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7f07204a224ae9" /><Relationship Type="http://schemas.openxmlformats.org/officeDocument/2006/relationships/notesMaster" Target="/ppt/notesMasters/notesMaster1.xml" Id="R18da2f65555049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977b29f88245c9" /><Relationship Type="http://schemas.openxmlformats.org/officeDocument/2006/relationships/notesMaster" Target="/ppt/notesMasters/notesMaster1.xml" Id="Rb35093279f4143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28d6c940fb48b4" /><Relationship Type="http://schemas.openxmlformats.org/officeDocument/2006/relationships/notesMaster" Target="/ppt/notesMasters/notesMaster1.xml" Id="R5ca7650d40b94c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29fa23f23a4b6c" /><Relationship Type="http://schemas.openxmlformats.org/officeDocument/2006/relationships/notesMaster" Target="/ppt/notesMasters/notesMaster1.xml" Id="R7d2fd80e268a49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bdf7f0b7a2433a" /><Relationship Type="http://schemas.openxmlformats.org/officeDocument/2006/relationships/notesMaster" Target="/ppt/notesMasters/notesMaster1.xml" Id="R44194240b42d43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65fd98f43b4a54" /><Relationship Type="http://schemas.openxmlformats.org/officeDocument/2006/relationships/notesMaster" Target="/ppt/notesMasters/notesMaster1.xml" Id="R7c78244b221043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c74ea316504a4c" /><Relationship Type="http://schemas.openxmlformats.org/officeDocument/2006/relationships/notesMaster" Target="/ppt/notesMasters/notesMaster1.xml" Id="R690a16fcfc5d4b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e568a5f2ea4315" /><Relationship Type="http://schemas.openxmlformats.org/officeDocument/2006/relationships/notesMaster" Target="/ppt/notesMasters/notesMaster1.xml" Id="R5c3c1a904fdf43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486cb3ca924b1f" /><Relationship Type="http://schemas.openxmlformats.org/officeDocument/2006/relationships/notesMaster" Target="/ppt/notesMasters/notesMaster1.xml" Id="R16cd74b3fa054d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 menit.</a:t>
            </a:r>
          </a:p>
          <a:p xmlns:a="http://schemas.openxmlformats.org/drawingml/2006/main">
            <a:r>
              <a:t/>
            </a:r>
          </a:p>
          <a:p xmlns:a="http://schemas.openxmlformats.org/drawingml/2006/main">
            <a:r>
              <a:t>Buka dengan pengalaman sederhana: banyak orang ingin ekspor ketika mendengar ada buyer. Sesi ini membantu peserta memutuskan peluang mana yang layak dikejar dan apa yang perlu diuji lebih dulu. Audiens campuran calon eksportir dan pelaku usaha. Total alokasi materi 34 menit; tambah 5–10 menit Q&amp;A. Untuk slot 30 menit, pendekkan diskusi slide 2 dan 11 serta gunakan pertanyaan sisanya sebagai refleksi mandiri.</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2 menit.</a:t>
            </a:r>
          </a:p>
          <a:p xmlns:a="http://schemas.openxmlformats.org/drawingml/2006/main">
            <a:r>
              <a:t/>
            </a:r>
          </a:p>
          <a:p xmlns:a="http://schemas.openxmlformats.org/drawingml/2006/main">
            <a:r>
              <a:t>Minta peserta angkat tangan: langsung terima, cari detail dulu, atau tolak? Ambil satu jawaban singkat. Perkenalkan usaha dekorasi rumah sebagai kasus fiktif yang akan muncul lagi. Tidak perlu menentukan negara tujuan karena sesi membahas pola pikir; standar dan persyaratan teknis harus dicek untuk produk serta pasar tertentu. Business acumen pada modul berarti memahami situasi dan mengambil keputusan bisnis berdasarkan informasi. Jangan menyamakan inquiry dengan pesanan pasti.</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https://www.trade.gov/exporter-assessments-0</a:t>
            </a:r>
          </a:p>
          <a:p xmlns:a="http://schemas.openxmlformats.org/drawingml/2006/main">
            <a:r>
              <a:t>https://www.kemendag.go.id/index.php/berita/pojok-media/umkm-bisa-ekspor-catat-transaksi-rp404-miliar-pada-triwulan-i-2026</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
            </a:r>
          </a:p>
          <a:p xmlns:a="http://schemas.openxmlformats.org/drawingml/2006/main">
            <a:r>
              <a:t>Adaptasi Golden Circle dari Modul PPT halaman 20–21. Ini alat refleksi tujuan, bukan janji bahwa cerita Why otomatis membuat buyer membeli. Gunakan contoh: kita ingin mengembangkan pesanan berulang untuk pengrajin; cara mewujudkannya melalui mutu dan komunikasi yang dapat dipercaya; produknya dekorasi rumah. Tanyakan: selain menambah omzet, apa alasan ekspor penting bagi bisnis Anda? Tujuan ini membantu menentukan trade-off, misalnya menolak volume yang melampaui kemampuan.</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
            </a:r>
          </a:p>
          <a:p xmlns:a="http://schemas.openxmlformats.org/drawingml/2006/main">
            <a:r>
              <a:t>Konsep sweet spot berasal dari Modul PPT halaman 17: passion, talent, profit. Tiga pertanyaan di slide adalah adaptasi bisnis ekspor, bukan definisi asli Ikigai. Tambahkan kebutuhan pasar supaya fokus tidak berhenti pada apa yang disukai founder. Dalam kasus dekorasi, tanyakan ukuran, fungsi, finishing, volume dan kemasan yang dibutuhkan buyer. Kemampuan memenuhi permintaan perlu diuji. Perhitungan biaya mengikuti tanggung jawab transaksi yang disepakati; tidak semua biaya otomatis menjadi beban eksportir.</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https://www.trade.gov/exporter-assessments-0</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
            </a:r>
          </a:p>
          <a:p xmlns:a="http://schemas.openxmlformats.org/drawingml/2006/main">
            <a:r>
              <a:t>Sumber konsep: fixed vs growth mindset, Modul PPT halaman 12. Dialog adalah ilustrasi, bukan kutipan buyer nyata. Perubahan satu sampel tidak selalu berarti seluruh produk harus berubah. Bedakan masukan satu buyer dan pola yang berulang dari segmen yang tepat. Tanya peserta: apa respons spontan Anda saat produk ditolak? Lanjutkan dengan: informasi apa yang belum Anda tanyakan? Sikap terbuka tetap memerlukan penilaian biaya dan kesesuaian bisnis.</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
            </a:r>
          </a:p>
          <a:p xmlns:a="http://schemas.openxmlformats.org/drawingml/2006/main">
            <a:r>
              <a:t>Build–Measure–Learn dari Modul PPT halaman 27 dan metodologi asli Lean Startup. Terapkan pada kasus: kirim sampel sesuai hipotesis kebutuhan, catat ukuran/kemasan/harga yang ditanggapi, lalu putuskan apa yang diubah. Tindak lanjut buyer lebih berguna daripada pujian umum, tetapi persetujuan sampel tetap belum menjamin order atau pembayaran. Eksperimen perlu batas biaya dan waktu yang sanggup ditanggung. Sampel dan pengiriman percobaan tetap mengikuti persyaratan yang berlaku.</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https://theleanstartup.com/principles</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
            </a:r>
          </a:p>
          <a:p xmlns:a="http://schemas.openxmlformats.org/drawingml/2006/main">
            <a:r>
              <a:t>Modul halaman 9 membahas kelincahan, tim dan adaptasi; halaman 25 membahas risiko. Kemendag menekankan kesiapan produk, kualitas dan kapasitas yang konsisten. Arahkan peserta memeriksa kapasitas nyata, bukan kapasitas maksimal mesin atau total pemasok yang belum dikonfirmasi. Mutu tidak berhenti pada contoh terbaik; harus mampu diulang. Timeline harus memakai tanggal dan definisi yang jelas: selesai produksi, siap kirim, atau tiba. Syarat negara tujuan/produk tetap diperiksa sebelum transaksi.</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https://www.kemendag.go.id/index.php/berita/pojok-media/umkm-bisa-ekspor-catat-transaksi-rp404-miliar-pada-triwulan-i-2026</a:t>
            </a:r>
          </a:p>
          <a:p xmlns:a="http://schemas.openxmlformats.org/drawingml/2006/main">
            <a:r>
              <a:t>https://www.trade.gov/exporter-assessments-0</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
            </a:r>
          </a:p>
          <a:p xmlns:a="http://schemas.openxmlformats.org/drawingml/2006/main">
            <a:r>
              <a:t>Diagram adalah urutan ilustratif tanpa skala waktu. Tidak semua transaksi ekspor dibayar setelah penerimaan; waktu pembayaran mengikuti metode dan kontrak yang disepakati. Prinsip modul halaman 24: bedakan profit dan cash flow serta pahami kebutuhan keuangan. Trade.gov menjelaskan pilihan pembayaran memiliki risiko dan dampak arus kas berbeda. Tanyakan: kalau pelunasan terlambat, apakah gaji dan pesanan lain tetap bisa berjalan? Diskusikan uang muka atau tahapan pembayaran sebagai opsi negosiasi, bukan jaminan tersedia atau aman. Materi tidak menetapkan metode pembayaran tertentu.</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https://www.trade.gov/methods-payment</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
            </a:r>
          </a:p>
          <a:p xmlns:a="http://schemas.openxmlformats.org/drawingml/2006/main">
            <a:r>
              <a:t>Adaptasi manajemen risiko pada Modul PPT halaman 25. Ini daftar pemicu diskusi, bukan daftar lengkap risiko ekspor. Cek buyer artinya mencari bukti identitas usaha, kredibilitas dan kemampuan memenuhi transaksi melalui proses yang relevan; identitas saja tidak menghilangkan risiko pembayaran. Tambahkan risiko lain dari peserta, misalnya pemasok, kurs atau permintaan pasar, jika relevan. Tanyakan: satu risiko apa yang paling mengancam bisnis Anda, dan siapa yang harus menanganinya? Kontrak, dokumen dan persyaratan teknis harus diperiksa sesuai produk dan pasar.</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https://www.trade.gov/exporter-assessments-0</a:t>
            </a:r>
          </a:p>
          <a:p xmlns:a="http://schemas.openxmlformats.org/drawingml/2006/main">
            <a:r>
              <a:t>https://www.trade.gov/methods-payment</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2 menit.</a:t>
            </a:r>
          </a:p>
          <a:p xmlns:a="http://schemas.openxmlformats.org/drawingml/2006/main">
            <a:r>
              <a:t/>
            </a:r>
          </a:p>
          <a:p xmlns:a="http://schemas.openxmlformats.org/drawingml/2006/main">
            <a:r>
              <a:t>Modul halaman 9 membahas kru yang tepat; halaman 18 mengenalkan Designer, Showman dan Enforcer. Gunakan arketipe sebagai alat refleksi peran, bukan tes kepribadian atau syarat sukses. Tim kecil bisa merangkap peran dan memakai mitra ahli. Tetap perlu satu pemilik yang memastikan kebutuhan buyer diterjemahkan menjadi pekerjaan dan batas tanggung jawab. Pengiriman dapat melibatkan mitra, tetapi koordinasi dan janji ke buyer tetap harus memiliki penanggung jawab internal.</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5 menit.</a:t>
            </a:r>
          </a:p>
          <a:p xmlns:a="http://schemas.openxmlformats.org/drawingml/2006/main">
            <a:r>
              <a:t/>
            </a:r>
          </a:p>
          <a:p xmlns:a="http://schemas.openxmlformats.org/drawingml/2006/main">
            <a:r>
              <a:t>Alokasikan 1 menit berpikir, 2 menit mengambil jawaban, 2 menit membahas. Semua angka ilustratif. Informasi ini belum cukup untuk langsung menerima order sesuai syarat awal: ada gap kapasitas 200 unit, risiko kas dan kemasan belum diuji. Arah pembahasan: negosiasikan order percobaan atau pengiriman bertahap, waktu yang realistis, dan syarat bayar yang dapat ditanggung. Pastikan kemasan dan spesifikasi terbukti sebelum pengiriman. Tidak ada kewajiban memilih satu volume atau besaran uang muka tertentu. Jika buyer tidak bersedia dan risikonya tetap melebihi kemampuan, tunda atau tolak. Respons yang dinilai adalah kualitas alasan dan bukti, bukan keberanian menerima pesanan. Untuk slot 30 menit, gunakan 3 menit.</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
            </a:r>
          </a:p>
          <a:p xmlns:a="http://schemas.openxmlformats.org/drawingml/2006/main">
            <a:r>
              <a:t>Minta peserta menulis rencana mereka sendiri; kalimat pada slide hanya contoh. Calon eksportir dapat mulai dari wawancara kebutuhan buyer. Pelaku usaha yang sudah berjalan dapat menguji satu asumsi, misalnya segmen buyer, spesifikasi, atau pola repeat order. Minta satu orang membacakan: apa yang diuji, langkahnya, buktinya, dan batas waktu/biaya. Penutup: kemajuan datang dari bukti yang mengubah keputusan. Rangkuman mentalitas modul: punya tujuan, terbuka pada pembelajaran, sadar risiko, dan bergerak iteratif. Sediakan 5–10 menit Q&amp;A bila durasi acara memungkinkan.</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https://theleanstartup.com/principles</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767339c81246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12f62441594566" /><Relationship Type="http://schemas.openxmlformats.org/officeDocument/2006/relationships/slideLayout" Target="/ppt/slideLayouts/slideLayout1.xml" Id="R7bfe505e27e84f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e505e27e84fa0"/>
  </p:sldLayoutIdLst>
  <p:txStyles>
    <p:titleStyle>
      <a:lvl1pPr xmlns:a="http://schemas.openxmlformats.org/drawingml/2006/main" algn="l">
        <a:lnSpc>
          <a:spcPct val="90000"/>
        </a:lnSpc>
        <a:spcBef>
          <a:spcPts val="0"/>
        </a:spcBef>
        <a:buNone/>
        <a:defRPr sz="4400">
          <a:solidFill>
            <a:schemeClr val="tx1"/>
          </a:solidFill>
          <a:latin typeface="Calibri"/>
          <a:ea typeface="Calibri"/>
          <a:cs typeface="Calibri"/>
        </a:defRPr>
      </a:lvl1pPr>
    </p:titleStyle>
    <p:bodyStyle>
      <a:lvl1pPr xmlns:a="http://schemas.openxmlformats.org/drawingml/2006/main" marL="228600" indent="-228600" algn="l">
        <a:lnSpc>
          <a:spcPct val="90000"/>
        </a:lnSpc>
        <a:spcBef>
          <a:spcPts val="1000"/>
        </a:spcBef>
        <a:buChar char="•"/>
        <a:defRPr sz="2800">
          <a:solidFill>
            <a:schemeClr val="tx1"/>
          </a:solidFill>
          <a:latin typeface="Calibri"/>
          <a:ea typeface="Calibri"/>
          <a:cs typeface="Calibri"/>
        </a:defRPr>
      </a:lvl1pPr>
      <a:lvl2pPr xmlns:a="http://schemas.openxmlformats.org/drawingml/2006/main" marL="685800" indent="-228600" algn="l">
        <a:lnSpc>
          <a:spcPct val="90000"/>
        </a:lnSpc>
        <a:spcBef>
          <a:spcPts val="500"/>
        </a:spcBef>
        <a:buChar char="•"/>
        <a:defRPr sz="2400">
          <a:solidFill>
            <a:schemeClr val="tx1"/>
          </a:solidFill>
          <a:latin typeface="Calibri"/>
          <a:ea typeface="Calibri"/>
          <a:cs typeface="Calibri"/>
        </a:defRPr>
      </a:lvl2pPr>
      <a:lvl3pPr xmlns:a="http://schemas.openxmlformats.org/drawingml/2006/main" marL="1143000" indent="-228600" algn="l">
        <a:lnSpc>
          <a:spcPct val="90000"/>
        </a:lnSpc>
        <a:spcBef>
          <a:spcPts val="500"/>
        </a:spcBef>
        <a:buChar char="•"/>
        <a:defRPr sz="2000">
          <a:solidFill>
            <a:schemeClr val="tx1"/>
          </a:solidFill>
          <a:latin typeface="Calibri"/>
          <a:ea typeface="Calibri"/>
          <a:cs typeface="Calibri"/>
        </a:defRPr>
      </a:lvl3pPr>
      <a:lvl4pPr xmlns:a="http://schemas.openxmlformats.org/drawingml/2006/main" marL="1600200" indent="-228600" algn="l">
        <a:lnSpc>
          <a:spcPct val="90000"/>
        </a:lnSpc>
        <a:spcBef>
          <a:spcPts val="500"/>
        </a:spcBef>
        <a:buChar char="•"/>
        <a:defRPr sz="1800">
          <a:solidFill>
            <a:schemeClr val="tx1"/>
          </a:solidFill>
          <a:latin typeface="Calibri"/>
          <a:ea typeface="Calibri"/>
          <a:cs typeface="Calibri"/>
        </a:defRPr>
      </a:lvl4pPr>
      <a:lvl5pPr xmlns:a="http://schemas.openxmlformats.org/drawingml/2006/main" marL="2057400" indent="-228600" algn="l">
        <a:lnSpc>
          <a:spcPct val="90000"/>
        </a:lnSpc>
        <a:spcBef>
          <a:spcPts val="500"/>
        </a:spcBef>
        <a:buChar char="•"/>
        <a:defRPr sz="1800">
          <a:solidFill>
            <a:schemeClr val="tx1"/>
          </a:solidFill>
          <a:latin typeface="Calibri"/>
          <a:ea typeface="Calibri"/>
          <a:cs typeface="Calibri"/>
        </a:defRPr>
      </a:lvl5pPr>
      <a:lvl6pPr xmlns:a="http://schemas.openxmlformats.org/drawingml/2006/main" marL="2514600" indent="-228600" algn="l">
        <a:lnSpc>
          <a:spcPct val="90000"/>
        </a:lnSpc>
        <a:spcBef>
          <a:spcPts val="500"/>
        </a:spcBef>
        <a:buChar char="•"/>
        <a:defRPr sz="1800">
          <a:solidFill>
            <a:schemeClr val="tx1"/>
          </a:solidFill>
          <a:latin typeface="Calibri"/>
          <a:ea typeface="Calibri"/>
          <a:cs typeface="Calibri"/>
        </a:defRPr>
      </a:lvl6pPr>
      <a:lvl7pPr xmlns:a="http://schemas.openxmlformats.org/drawingml/2006/main" marL="2971800" indent="-228600" algn="l">
        <a:lnSpc>
          <a:spcPct val="90000"/>
        </a:lnSpc>
        <a:spcBef>
          <a:spcPts val="500"/>
        </a:spcBef>
        <a:buChar char="•"/>
        <a:defRPr sz="1800">
          <a:solidFill>
            <a:schemeClr val="tx1"/>
          </a:solidFill>
          <a:latin typeface="Calibri"/>
          <a:ea typeface="Calibri"/>
          <a:cs typeface="Calibri"/>
        </a:defRPr>
      </a:lvl7pPr>
      <a:lvl8pPr xmlns:a="http://schemas.openxmlformats.org/drawingml/2006/main" marL="3429000" indent="-228600" algn="l">
        <a:lnSpc>
          <a:spcPct val="90000"/>
        </a:lnSpc>
        <a:spcBef>
          <a:spcPts val="500"/>
        </a:spcBef>
        <a:buChar char="•"/>
        <a:defRPr sz="1800">
          <a:solidFill>
            <a:schemeClr val="tx1"/>
          </a:solidFill>
          <a:latin typeface="Calibri"/>
          <a:ea typeface="Calibri"/>
          <a:cs typeface="Calibri"/>
        </a:defRPr>
      </a:lvl8pPr>
      <a:lvl9pPr xmlns:a="http://schemas.openxmlformats.org/drawingml/2006/main" marL="3886200" indent="-228600" algn="l">
        <a:lnSpc>
          <a:spcPct val="90000"/>
        </a:lnSpc>
        <a:spcBef>
          <a:spcPts val="500"/>
        </a:spcBef>
        <a:buChar char="•"/>
        <a:defRPr sz="1800">
          <a:solidFill>
            <a:schemeClr val="tx1"/>
          </a:solidFill>
          <a:latin typeface="Calibri"/>
          <a:ea typeface="Calibri"/>
          <a:cs typeface="Calibri"/>
        </a:defRPr>
      </a:lvl9pPr>
    </p:bodyStyle>
    <p:otherStyle>
      <a:lvl1pPr xmlns:a="http://schemas.openxmlformats.org/drawingml/2006/main" marL="0" algn="l">
        <a:buNone/>
        <a:defRPr sz="1800">
          <a:solidFill>
            <a:schemeClr val="tx1"/>
          </a:solidFill>
          <a:latin typeface="Calibri"/>
          <a:ea typeface="Calibri"/>
          <a:cs typeface="Calibri"/>
        </a:defRPr>
      </a:lvl1pPr>
      <a:lvl2pPr xmlns:a="http://schemas.openxmlformats.org/drawingml/2006/main" marL="457200" algn="l">
        <a:buNone/>
        <a:defRPr sz="1800">
          <a:solidFill>
            <a:schemeClr val="tx1"/>
          </a:solidFill>
          <a:latin typeface="Calibri"/>
          <a:ea typeface="Calibri"/>
          <a:cs typeface="Calibri"/>
        </a:defRPr>
      </a:lvl2pPr>
      <a:lvl3pPr xmlns:a="http://schemas.openxmlformats.org/drawingml/2006/main" marL="914400" algn="l">
        <a:buNone/>
        <a:defRPr sz="1800">
          <a:solidFill>
            <a:schemeClr val="tx1"/>
          </a:solidFill>
          <a:latin typeface="Calibri"/>
          <a:ea typeface="Calibri"/>
          <a:cs typeface="Calibri"/>
        </a:defRPr>
      </a:lvl3pPr>
      <a:lvl4pPr xmlns:a="http://schemas.openxmlformats.org/drawingml/2006/main" marL="1371600" algn="l">
        <a:buNone/>
        <a:defRPr sz="1800">
          <a:solidFill>
            <a:schemeClr val="tx1"/>
          </a:solidFill>
          <a:latin typeface="Calibri"/>
          <a:ea typeface="Calibri"/>
          <a:cs typeface="Calibri"/>
        </a:defRPr>
      </a:lvl4pPr>
      <a:lvl5pPr xmlns:a="http://schemas.openxmlformats.org/drawingml/2006/main" marL="1828800" algn="l">
        <a:buNone/>
        <a:defRPr sz="1800">
          <a:solidFill>
            <a:schemeClr val="tx1"/>
          </a:solidFill>
          <a:latin typeface="Calibri"/>
          <a:ea typeface="Calibri"/>
          <a:cs typeface="Calibri"/>
        </a:defRPr>
      </a:lvl5pPr>
      <a:lvl6pPr xmlns:a="http://schemas.openxmlformats.org/drawingml/2006/main" marL="2286000" algn="l">
        <a:buNone/>
        <a:defRPr sz="1800">
          <a:solidFill>
            <a:schemeClr val="tx1"/>
          </a:solidFill>
          <a:latin typeface="Calibri"/>
          <a:ea typeface="Calibri"/>
          <a:cs typeface="Calibri"/>
        </a:defRPr>
      </a:lvl6pPr>
      <a:lvl7pPr xmlns:a="http://schemas.openxmlformats.org/drawingml/2006/main" marL="2743200" algn="l">
        <a:buNone/>
        <a:defRPr sz="1800">
          <a:solidFill>
            <a:schemeClr val="tx1"/>
          </a:solidFill>
          <a:latin typeface="Calibri"/>
          <a:ea typeface="Calibri"/>
          <a:cs typeface="Calibri"/>
        </a:defRPr>
      </a:lvl7pPr>
      <a:lvl8pPr xmlns:a="http://schemas.openxmlformats.org/drawingml/2006/main" marL="3200400" algn="l">
        <a:buNone/>
        <a:defRPr sz="1800">
          <a:solidFill>
            <a:schemeClr val="tx1"/>
          </a:solidFill>
          <a:latin typeface="Calibri"/>
          <a:ea typeface="Calibri"/>
          <a:cs typeface="Calibri"/>
        </a:defRPr>
      </a:lvl8pPr>
      <a:lvl9pPr xmlns:a="http://schemas.openxmlformats.org/drawingml/2006/main" marL="3657600" algn="l">
        <a:buNone/>
        <a:defRPr sz="1800">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a7e3c16dc84139" /><Relationship Type="http://schemas.openxmlformats.org/officeDocument/2006/relationships/image" Target="/ppt/media/image.png" Id="R374ee7887a8849e4" /><Relationship Type="http://schemas.openxmlformats.org/officeDocument/2006/relationships/image" Target="/ppt/media/image2.png" Id="R9065d6a4e42541c3" /><Relationship Type="http://schemas.openxmlformats.org/officeDocument/2006/relationships/notesSlide" Target="/ppt/notesSlides/notesSlide1.xml" Id="Rd81693ce8a9b48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09bfdb3c4a408b" /><Relationship Type="http://schemas.openxmlformats.org/officeDocument/2006/relationships/image" Target="/ppt/media/image3.png" Id="R05b85ee174ee4962" /><Relationship Type="http://schemas.openxmlformats.org/officeDocument/2006/relationships/image" Target="/ppt/media/image4.png" Id="Ra9da710ac13843fe" /><Relationship Type="http://schemas.openxmlformats.org/officeDocument/2006/relationships/notesSlide" Target="/ppt/notesSlides/notesSlide2.xml" Id="Rd9a16f6b64f046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bda282cd1640c3" /><Relationship Type="http://schemas.openxmlformats.org/officeDocument/2006/relationships/image" Target="/ppt/media/image5.png" Id="Rb288b693d8ff452f" /><Relationship Type="http://schemas.openxmlformats.org/officeDocument/2006/relationships/image" Target="/ppt/media/image6.png" Id="R31d39635b6c243b7" /><Relationship Type="http://schemas.openxmlformats.org/officeDocument/2006/relationships/notesSlide" Target="/ppt/notesSlides/notesSlide3.xml" Id="Rd524da2b877048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ccba776c144817" /><Relationship Type="http://schemas.openxmlformats.org/officeDocument/2006/relationships/image" Target="/ppt/media/image7.png" Id="Re3b052c6a1774ac8" /><Relationship Type="http://schemas.openxmlformats.org/officeDocument/2006/relationships/image" Target="/ppt/media/image8.png" Id="Rd1b27beb09a24278" /><Relationship Type="http://schemas.openxmlformats.org/officeDocument/2006/relationships/notesSlide" Target="/ppt/notesSlides/notesSlide4.xml" Id="R18e52e4614af4a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fd5625264e4ae2" /><Relationship Type="http://schemas.openxmlformats.org/officeDocument/2006/relationships/image" Target="/ppt/media/image9.png" Id="R9a79923cd9454f08" /><Relationship Type="http://schemas.openxmlformats.org/officeDocument/2006/relationships/image" Target="/ppt/media/image10.png" Id="Rd8dd395f1ebd4f9f" /><Relationship Type="http://schemas.openxmlformats.org/officeDocument/2006/relationships/notesSlide" Target="/ppt/notesSlides/notesSlide5.xml" Id="R04247976485f45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ef90c1cf6744c4" /><Relationship Type="http://schemas.openxmlformats.org/officeDocument/2006/relationships/image" Target="/ppt/media/image11.png" Id="R43c5ebd703994959" /><Relationship Type="http://schemas.openxmlformats.org/officeDocument/2006/relationships/image" Target="/ppt/media/image12.png" Id="R12bc1de79b5843c0" /><Relationship Type="http://schemas.openxmlformats.org/officeDocument/2006/relationships/notesSlide" Target="/ppt/notesSlides/notesSlide6.xml" Id="R189d8100ab0640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75d7116eea456f" /><Relationship Type="http://schemas.openxmlformats.org/officeDocument/2006/relationships/image" Target="/ppt/media/image13.png" Id="Rbe38e0b40fba4448" /><Relationship Type="http://schemas.openxmlformats.org/officeDocument/2006/relationships/image" Target="/ppt/media/image14.png" Id="R2b8d7f2d07154806" /><Relationship Type="http://schemas.openxmlformats.org/officeDocument/2006/relationships/notesSlide" Target="/ppt/notesSlides/notesSlide7.xml" Id="Rdbbbb1c3d9d943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dd541f004844a6" /><Relationship Type="http://schemas.openxmlformats.org/officeDocument/2006/relationships/image" Target="/ppt/media/image15.png" Id="Rb33000babaeb4aaa" /><Relationship Type="http://schemas.openxmlformats.org/officeDocument/2006/relationships/image" Target="/ppt/media/image16.png" Id="R5d344cde90664e27" /><Relationship Type="http://schemas.openxmlformats.org/officeDocument/2006/relationships/notesSlide" Target="/ppt/notesSlides/notesSlide8.xml" Id="R22aa7d64848144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cb9f3e033f4536" /><Relationship Type="http://schemas.openxmlformats.org/officeDocument/2006/relationships/image" Target="/ppt/media/image17.png" Id="Re8b09af584c04dfd" /><Relationship Type="http://schemas.openxmlformats.org/officeDocument/2006/relationships/image" Target="/ppt/media/image18.png" Id="R631539a80ced4ed7" /><Relationship Type="http://schemas.openxmlformats.org/officeDocument/2006/relationships/notesSlide" Target="/ppt/notesSlides/notesSlide9.xml" Id="R58218c1a78d849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034bd83f6f4bcf" /><Relationship Type="http://schemas.openxmlformats.org/officeDocument/2006/relationships/image" Target="/ppt/media/image19.png" Id="R9f7ab45930f0459f" /><Relationship Type="http://schemas.openxmlformats.org/officeDocument/2006/relationships/image" Target="/ppt/media/image20.png" Id="Re1bcd9c3d0364c77" /><Relationship Type="http://schemas.openxmlformats.org/officeDocument/2006/relationships/notesSlide" Target="/ppt/notesSlides/notesSlide10.xml" Id="R4b933a3cda9f40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e5d8e7e25045fd" /><Relationship Type="http://schemas.openxmlformats.org/officeDocument/2006/relationships/image" Target="/ppt/media/image21.png" Id="Rf15ee72f8b954399" /><Relationship Type="http://schemas.openxmlformats.org/officeDocument/2006/relationships/image" Target="/ppt/media/image22.png" Id="Rcea2f4a7d7e442ac" /><Relationship Type="http://schemas.openxmlformats.org/officeDocument/2006/relationships/notesSlide" Target="/ppt/notesSlides/notesSlide11.xml" Id="Racb5afca156942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f042c8d21ec40e5" /><Relationship Type="http://schemas.openxmlformats.org/officeDocument/2006/relationships/image" Target="/ppt/media/image23.png" Id="R6f5083269b814ef2" /><Relationship Type="http://schemas.openxmlformats.org/officeDocument/2006/relationships/image" Target="/ppt/media/image24.png" Id="R9919c0b9b16b43bb" /><Relationship Type="http://schemas.openxmlformats.org/officeDocument/2006/relationships/notesSlide" Target="/ppt/notesSlides/notesSlide12.xml" Id="R3842184edfae438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74ee7887a8849e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065d6a4e42541c3"/>
          <a:stretch xmlns:a="http://schemas.openxmlformats.org/drawingml/2006/main"/>
        </p:blipFill>
        <p:spPr>
          <a:xfrm xmlns:a="http://schemas.openxmlformats.org/drawingml/2006/main">
            <a:off x="457200" y="362075"/>
            <a:ext cx="1828800" cy="685549"/>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1326722A-C17E-4ACA-9942-56A603A9B70A}"/>
              </a:ext>
            </a:extLst>
          </p:cNvPr>
          <p:cNvSpPr>
            <a:spLocks xmlns:a="http://schemas.openxmlformats.org/drawingml/2006/main" noGrp="1"/>
          </p:cNvSpPr>
          <p:nvPr/>
        </p:nvSpPr>
        <p:spPr>
          <a:xfrm xmlns:a="http://schemas.openxmlformats.org/drawingml/2006/main">
            <a:off x="457200" y="16954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A8CEC0"/>
                </a:solidFill>
                <a:latin typeface="Calibri"/>
                <a:ea typeface="Calibri"/>
                <a:cs typeface="Calibri"/>
              </a:defRPr>
            </a:pPr>
            <a:r>
              <a:rPr sz="1575" b="1">
                <a:solidFill>
                  <a:srgbClr val="A8CEC0"/>
                </a:solidFill>
                <a:latin typeface="Calibri"/>
                <a:ea typeface="Calibri"/>
                <a:cs typeface="Calibri"/>
              </a:rPr>
              <a:t>CMC × BD EKSPOR</a:t>
            </a:r>
          </a:p>
        </p:txBody>
      </p:sp>
      <p:sp>
        <p:nvSpPr>
          <p:cNvPr id="4" name="text-2">
            <a:extLst xmlns:a="http://schemas.openxmlformats.org/drawingml/2006/main">
              <a:ext uri="{FF2B5EF4-FFF2-40B4-BE49-F238E27FC236}">
                <a16:creationId xmlns:a16="http://schemas.microsoft.com/office/drawing/2014/main" id="{FB808919-D572-42A6-802A-E90C5762B358}"/>
              </a:ext>
            </a:extLst>
          </p:cNvPr>
          <p:cNvSpPr>
            <a:spLocks xmlns:a="http://schemas.openxmlformats.org/drawingml/2006/main" noGrp="1"/>
          </p:cNvSpPr>
          <p:nvPr/>
        </p:nvSpPr>
        <p:spPr>
          <a:xfrm xmlns:a="http://schemas.openxmlformats.org/drawingml/2006/main">
            <a:off x="457200" y="2276475"/>
            <a:ext cx="105727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100" b="1">
                <a:solidFill>
                  <a:srgbClr val="FFFFFF"/>
                </a:solidFill>
                <a:latin typeface="Calibri"/>
                <a:ea typeface="Calibri"/>
                <a:cs typeface="Calibri"/>
              </a:defRPr>
            </a:pPr>
            <a:r>
              <a:rPr sz="5100" b="1">
                <a:solidFill>
                  <a:srgbClr val="FFFFFF"/>
                </a:solidFill>
                <a:latin typeface="Calibri"/>
                <a:ea typeface="Calibri"/>
                <a:cs typeface="Calibri"/>
              </a:rPr>
              <a:t>Entrepreneurship</a:t>
            </a:r>
          </a:p>
          <a:p xmlns:a="http://schemas.openxmlformats.org/drawingml/2006/main">
            <a:pPr>
              <a:defRPr sz="5100" b="1">
                <a:solidFill>
                  <a:srgbClr val="FFFFFF"/>
                </a:solidFill>
                <a:latin typeface="Calibri"/>
                <a:ea typeface="Calibri"/>
                <a:cs typeface="Calibri"/>
              </a:defRPr>
            </a:pPr>
            <a:r>
              <a:rPr sz="5100" b="1">
                <a:solidFill>
                  <a:srgbClr val="FFFFFF"/>
                </a:solidFill>
                <a:latin typeface="Calibri"/>
                <a:ea typeface="Calibri"/>
                <a:cs typeface="Calibri"/>
              </a:rPr>
              <a:t>Mentality untuk</a:t>
            </a:r>
          </a:p>
          <a:p xmlns:a="http://schemas.openxmlformats.org/drawingml/2006/main">
            <a:pPr>
              <a:defRPr sz="5100" b="1">
                <a:solidFill>
                  <a:srgbClr val="FFFFFF"/>
                </a:solidFill>
                <a:latin typeface="Calibri"/>
                <a:ea typeface="Calibri"/>
                <a:cs typeface="Calibri"/>
              </a:defRPr>
            </a:pPr>
            <a:r>
              <a:rPr sz="5100" b="1">
                <a:solidFill>
                  <a:srgbClr val="FFFFFF"/>
                </a:solidFill>
                <a:latin typeface="Calibri"/>
                <a:ea typeface="Calibri"/>
                <a:cs typeface="Calibri"/>
              </a:rPr>
              <a:t>Bisnis Ekspor</a:t>
            </a:r>
          </a:p>
        </p:txBody>
      </p:sp>
      <p:sp>
        <p:nvSpPr>
          <p:cNvPr id="5" name="text-3">
            <a:extLst xmlns:a="http://schemas.openxmlformats.org/drawingml/2006/main">
              <a:ext uri="{FF2B5EF4-FFF2-40B4-BE49-F238E27FC236}">
                <a16:creationId xmlns:a16="http://schemas.microsoft.com/office/drawing/2014/main" id="{7B70FE07-FD94-4795-B377-A8F21BD0466B}"/>
              </a:ext>
            </a:extLst>
          </p:cNvPr>
          <p:cNvSpPr>
            <a:spLocks xmlns:a="http://schemas.openxmlformats.org/drawingml/2006/main" noGrp="1"/>
          </p:cNvSpPr>
          <p:nvPr/>
        </p:nvSpPr>
        <p:spPr>
          <a:xfrm xmlns:a="http://schemas.openxmlformats.org/drawingml/2006/main">
            <a:off x="485775" y="5086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Calibri"/>
                <a:ea typeface="Calibri"/>
                <a:cs typeface="Calibri"/>
              </a:defRPr>
            </a:pPr>
            <a:r>
              <a:rPr sz="2250" b="0">
                <a:solidFill>
                  <a:srgbClr val="FFFFFF"/>
                </a:solidFill>
                <a:latin typeface="Calibri"/>
                <a:ea typeface="Calibri"/>
                <a:cs typeface="Calibri"/>
              </a:rPr>
              <a:t>Business Foundation</a:t>
            </a:r>
          </a:p>
        </p:txBody>
      </p:sp>
      <p:sp>
        <p:nvSpPr>
          <p:cNvPr id="6" name="text-4">
            <a:extLst xmlns:a="http://schemas.openxmlformats.org/drawingml/2006/main">
              <a:ext uri="{FF2B5EF4-FFF2-40B4-BE49-F238E27FC236}">
                <a16:creationId xmlns:a16="http://schemas.microsoft.com/office/drawing/2014/main" id="{69AE4B3C-3638-4B7E-8409-7C9797F852F0}"/>
              </a:ext>
            </a:extLst>
          </p:cNvPr>
          <p:cNvSpPr>
            <a:spLocks xmlns:a="http://schemas.openxmlformats.org/drawingml/2006/main" noGrp="1"/>
          </p:cNvSpPr>
          <p:nvPr/>
        </p:nvSpPr>
        <p:spPr>
          <a:xfrm xmlns:a="http://schemas.openxmlformats.org/drawingml/2006/main">
            <a:off x="485775" y="56864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C7DED6"/>
                </a:solidFill>
                <a:latin typeface="Calibri"/>
                <a:ea typeface="Calibri"/>
                <a:cs typeface="Calibri"/>
              </a:defRPr>
            </a:pPr>
            <a:r>
              <a:rPr sz="1875" b="0">
                <a:solidFill>
                  <a:srgbClr val="C7DED6"/>
                </a:solidFill>
                <a:latin typeface="Calibri"/>
                <a:ea typeface="Calibri"/>
                <a:cs typeface="Calibri"/>
              </a:rPr>
              <a:t>Cara berpikir dan mengambil keputusan sebelum masuk pasar global</a:t>
            </a:r>
          </a:p>
        </p:txBody>
      </p:sp>
    </p:spTree>
    <p:extLst>
      <p:ext uri="{BB962C8B-B14F-4D97-AF65-F5344CB8AC3E}">
        <p14:creationId xmlns:p14="http://schemas.microsoft.com/office/powerpoint/2010/main" val="3088981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5b85ee174ee496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93DC00C-E554-4E37-9942-DEEA6C4F7428}"/>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9da710ac13843fe"/>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5">
            <a:extLst xmlns:a="http://schemas.openxmlformats.org/drawingml/2006/main">
              <a:ext uri="{FF2B5EF4-FFF2-40B4-BE49-F238E27FC236}">
                <a16:creationId xmlns:a16="http://schemas.microsoft.com/office/drawing/2014/main" id="{F0E0A6C8-0AC9-4D15-AB59-5A204E9276BB}"/>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Punya produk bagus belum cukup untuk siap ekspor</a:t>
            </a:r>
          </a:p>
        </p:txBody>
      </p:sp>
      <p:sp>
        <p:nvSpPr>
          <p:cNvPr id="5" name="text-6">
            <a:extLst xmlns:a="http://schemas.openxmlformats.org/drawingml/2006/main">
              <a:ext uri="{FF2B5EF4-FFF2-40B4-BE49-F238E27FC236}">
                <a16:creationId xmlns:a16="http://schemas.microsoft.com/office/drawing/2014/main" id="{5166EF53-5C5E-41FE-9E13-E0DB001E5ABA}"/>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Produk adalah awal. Kesiapan founder terlihat saat harus membuat komitmen.</a:t>
            </a:r>
          </a:p>
        </p:txBody>
      </p:sp>
      <p:sp>
        <p:nvSpPr>
          <p:cNvPr id="6" name="text-7">
            <a:extLst xmlns:a="http://schemas.openxmlformats.org/drawingml/2006/main">
              <a:ext uri="{FF2B5EF4-FFF2-40B4-BE49-F238E27FC236}">
                <a16:creationId xmlns:a16="http://schemas.microsoft.com/office/drawing/2014/main" id="{5A5B72D3-E39A-4B00-853D-C31D0AC1A047}"/>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8">
            <a:extLst xmlns:a="http://schemas.openxmlformats.org/drawingml/2006/main">
              <a:ext uri="{FF2B5EF4-FFF2-40B4-BE49-F238E27FC236}">
                <a16:creationId xmlns:a16="http://schemas.microsoft.com/office/drawing/2014/main" id="{6E295742-B5BD-45C7-822D-FE8BEDE05BBC}"/>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9">
            <a:extLst xmlns:a="http://schemas.openxmlformats.org/drawingml/2006/main">
              <a:ext uri="{FF2B5EF4-FFF2-40B4-BE49-F238E27FC236}">
                <a16:creationId xmlns:a16="http://schemas.microsoft.com/office/drawing/2014/main" id="{BC602014-7257-4668-A727-2B8C81E15216}"/>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02</a:t>
            </a:r>
          </a:p>
        </p:txBody>
      </p:sp>
      <p:sp>
        <p:nvSpPr>
          <p:cNvPr id="9" name="text-10">
            <a:extLst xmlns:a="http://schemas.openxmlformats.org/drawingml/2006/main">
              <a:ext uri="{FF2B5EF4-FFF2-40B4-BE49-F238E27FC236}">
                <a16:creationId xmlns:a16="http://schemas.microsoft.com/office/drawing/2014/main" id="{479332E7-CFC1-4585-AC56-F8A30F5AF21D}"/>
              </a:ext>
            </a:extLst>
          </p:cNvPr>
          <p:cNvSpPr>
            <a:spLocks xmlns:a="http://schemas.openxmlformats.org/drawingml/2006/main" noGrp="1"/>
          </p:cNvSpPr>
          <p:nvPr/>
        </p:nvSpPr>
        <p:spPr>
          <a:xfrm xmlns:a="http://schemas.openxmlformats.org/drawingml/2006/main">
            <a:off x="457200" y="2276475"/>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BAYANGKAN SITUASI INI</a:t>
            </a:r>
          </a:p>
        </p:txBody>
      </p:sp>
      <p:sp>
        <p:nvSpPr>
          <p:cNvPr id="10" name="text-11">
            <a:extLst xmlns:a="http://schemas.openxmlformats.org/drawingml/2006/main">
              <a:ext uri="{FF2B5EF4-FFF2-40B4-BE49-F238E27FC236}">
                <a16:creationId xmlns:a16="http://schemas.microsoft.com/office/drawing/2014/main" id="{2A4ADF77-0F82-4925-888A-B46F52B111BB}"/>
              </a:ext>
            </a:extLst>
          </p:cNvPr>
          <p:cNvSpPr>
            <a:spLocks xmlns:a="http://schemas.openxmlformats.org/drawingml/2006/main" noGrp="1"/>
          </p:cNvSpPr>
          <p:nvPr/>
        </p:nvSpPr>
        <p:spPr>
          <a:xfrm xmlns:a="http://schemas.openxmlformats.org/drawingml/2006/main">
            <a:off x="457200" y="2800350"/>
            <a:ext cx="704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002B28"/>
                </a:solidFill>
                <a:latin typeface="Calibri"/>
                <a:ea typeface="Calibri"/>
                <a:cs typeface="Calibri"/>
              </a:defRPr>
            </a:pPr>
            <a:r>
              <a:rPr sz="3375" b="1">
                <a:solidFill>
                  <a:srgbClr val="002B28"/>
                </a:solidFill>
                <a:latin typeface="Calibri"/>
                <a:ea typeface="Calibri"/>
                <a:cs typeface="Calibri"/>
              </a:rPr>
              <a:t>“Kalau besok ada buyer</a:t>
            </a:r>
          </a:p>
          <a:p xmlns:a="http://schemas.openxmlformats.org/drawingml/2006/main">
            <a:pPr>
              <a:defRPr sz="3375" b="1">
                <a:solidFill>
                  <a:srgbClr val="002B28"/>
                </a:solidFill>
                <a:latin typeface="Calibri"/>
                <a:ea typeface="Calibri"/>
                <a:cs typeface="Calibri"/>
              </a:defRPr>
            </a:pPr>
            <a:r>
              <a:rPr sz="3375" b="1">
                <a:solidFill>
                  <a:srgbClr val="002B28"/>
                </a:solidFill>
                <a:latin typeface="Calibri"/>
                <a:ea typeface="Calibri"/>
                <a:cs typeface="Calibri"/>
              </a:rPr>
              <a:t>minta pesanan besar,</a:t>
            </a:r>
          </a:p>
          <a:p xmlns:a="http://schemas.openxmlformats.org/drawingml/2006/main">
            <a:pPr>
              <a:defRPr sz="3375" b="1">
                <a:solidFill>
                  <a:srgbClr val="002B28"/>
                </a:solidFill>
                <a:latin typeface="Calibri"/>
                <a:ea typeface="Calibri"/>
                <a:cs typeface="Calibri"/>
              </a:defRPr>
            </a:pPr>
            <a:r>
              <a:rPr sz="3375" b="1">
                <a:solidFill>
                  <a:srgbClr val="002B28"/>
                </a:solidFill>
                <a:latin typeface="Calibri"/>
                <a:ea typeface="Calibri"/>
                <a:cs typeface="Calibri"/>
              </a:rPr>
              <a:t>apa langsung kita ambil?”</a:t>
            </a:r>
          </a:p>
        </p:txBody>
      </p:sp>
      <p:sp>
        <p:nvSpPr>
          <p:cNvPr id="11" name="">
            <a:extLst xmlns:a="http://schemas.openxmlformats.org/drawingml/2006/main">
              <a:ext uri="{FF2B5EF4-FFF2-40B4-BE49-F238E27FC236}">
                <a16:creationId xmlns:a16="http://schemas.microsoft.com/office/drawing/2014/main" id="{17394F7F-92B0-45DD-B269-A5AEEDBDB752}"/>
              </a:ext>
            </a:extLst>
          </p:cNvPr>
          <p:cNvSpPr>
            <a:spLocks xmlns:a="http://schemas.openxmlformats.org/drawingml/2006/main" noGrp="1"/>
          </p:cNvSpPr>
          <p:nvPr/>
        </p:nvSpPr>
        <p:spPr>
          <a:xfrm xmlns:a="http://schemas.openxmlformats.org/drawingml/2006/main">
            <a:off x="8020050" y="2266950"/>
            <a:ext cx="3467100" cy="0"/>
          </a:xfrm>
          <a:prstGeom xmlns:a="http://schemas.openxmlformats.org/drawingml/2006/main" prst="line">
            <a:avLst/>
          </a:prstGeom>
          <a:noFill xmlns:a="http://schemas.openxmlformats.org/drawingml/2006/main"/>
          <a:ln xmlns:a="http://schemas.openxmlformats.org/drawingml/2006/main" w="28575">
            <a:solidFill>
              <a:srgbClr val="087958"/>
            </a:solidFill>
          </a:ln>
        </p:spPr>
      </p:sp>
      <p:sp>
        <p:nvSpPr>
          <p:cNvPr id="12" name="text-12">
            <a:extLst xmlns:a="http://schemas.openxmlformats.org/drawingml/2006/main">
              <a:ext uri="{FF2B5EF4-FFF2-40B4-BE49-F238E27FC236}">
                <a16:creationId xmlns:a16="http://schemas.microsoft.com/office/drawing/2014/main" id="{74707C40-6880-4851-83B2-E9FBF5DD0295}"/>
              </a:ext>
            </a:extLst>
          </p:cNvPr>
          <p:cNvSpPr>
            <a:spLocks xmlns:a="http://schemas.openxmlformats.org/drawingml/2006/main" noGrp="1"/>
          </p:cNvSpPr>
          <p:nvPr/>
        </p:nvSpPr>
        <p:spPr>
          <a:xfrm xmlns:a="http://schemas.openxmlformats.org/drawingml/2006/main">
            <a:off x="8020050" y="2476500"/>
            <a:ext cx="34004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958"/>
                </a:solidFill>
                <a:latin typeface="Calibri"/>
                <a:ea typeface="Calibri"/>
                <a:cs typeface="Calibri"/>
              </a:defRPr>
            </a:pPr>
            <a:r>
              <a:rPr sz="2100" b="1">
                <a:solidFill>
                  <a:srgbClr val="087958"/>
                </a:solidFill>
                <a:latin typeface="Calibri"/>
                <a:ea typeface="Calibri"/>
                <a:cs typeface="Calibri"/>
              </a:rPr>
              <a:t>Satu kasus untuk kita bahas</a:t>
            </a:r>
          </a:p>
        </p:txBody>
      </p:sp>
      <p:sp>
        <p:nvSpPr>
          <p:cNvPr id="13" name="text-13">
            <a:extLst xmlns:a="http://schemas.openxmlformats.org/drawingml/2006/main">
              <a:ext uri="{FF2B5EF4-FFF2-40B4-BE49-F238E27FC236}">
                <a16:creationId xmlns:a16="http://schemas.microsoft.com/office/drawing/2014/main" id="{EB9105AD-5333-4695-9411-F4332B729B0D}"/>
              </a:ext>
            </a:extLst>
          </p:cNvPr>
          <p:cNvSpPr>
            <a:spLocks xmlns:a="http://schemas.openxmlformats.org/drawingml/2006/main" noGrp="1"/>
          </p:cNvSpPr>
          <p:nvPr/>
        </p:nvSpPr>
        <p:spPr>
          <a:xfrm xmlns:a="http://schemas.openxmlformats.org/drawingml/2006/main">
            <a:off x="8020050" y="3324225"/>
            <a:ext cx="3429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Usaha dekorasi rumah Indonesia mulai menawarkan produk ke buyer luar negeri.</a:t>
            </a:r>
          </a:p>
        </p:txBody>
      </p:sp>
      <p:sp>
        <p:nvSpPr>
          <p:cNvPr id="14" name="">
            <a:extLst xmlns:a="http://schemas.openxmlformats.org/drawingml/2006/main">
              <a:ext uri="{FF2B5EF4-FFF2-40B4-BE49-F238E27FC236}">
                <a16:creationId xmlns:a16="http://schemas.microsoft.com/office/drawing/2014/main" id="{0E0A0C5C-FD48-478F-B20E-EFBFA2F0A37F}"/>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5" name="text-14">
            <a:extLst xmlns:a="http://schemas.openxmlformats.org/drawingml/2006/main">
              <a:ext uri="{FF2B5EF4-FFF2-40B4-BE49-F238E27FC236}">
                <a16:creationId xmlns:a16="http://schemas.microsoft.com/office/drawing/2014/main" id="{B4210490-0AFF-481B-A7C7-23ADCBB19AB4}"/>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Keputusan pertama: cek apa yang sudah terbukti dan apa yang masih kita asumsikan.</a:t>
            </a:r>
          </a:p>
        </p:txBody>
      </p:sp>
    </p:spTree>
    <p:extLst>
      <p:ext uri="{BB962C8B-B14F-4D97-AF65-F5344CB8AC3E}">
        <p14:creationId xmlns:p14="http://schemas.microsoft.com/office/powerpoint/2010/main" val="19433726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288b693d8ff452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68F7ED-37D9-4ED9-B254-1884FB274A0E}"/>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1d39635b6c243b7"/>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5">
            <a:extLst xmlns:a="http://schemas.openxmlformats.org/drawingml/2006/main">
              <a:ext uri="{FF2B5EF4-FFF2-40B4-BE49-F238E27FC236}">
                <a16:creationId xmlns:a16="http://schemas.microsoft.com/office/drawing/2014/main" id="{37565B98-F33B-4820-911B-F4E9CF5F4437}"/>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Founder perlu tahu kenapa ekspor layak dikejar</a:t>
            </a:r>
          </a:p>
        </p:txBody>
      </p:sp>
      <p:sp>
        <p:nvSpPr>
          <p:cNvPr id="5" name="text-16">
            <a:extLst xmlns:a="http://schemas.openxmlformats.org/drawingml/2006/main">
              <a:ext uri="{FF2B5EF4-FFF2-40B4-BE49-F238E27FC236}">
                <a16:creationId xmlns:a16="http://schemas.microsoft.com/office/drawing/2014/main" id="{904739C7-1F9A-443E-8F3A-6CE752F71100}"/>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Tujuan yang jelas membantu kita memilih buyer dan peluang yang masuk akal.</a:t>
            </a:r>
          </a:p>
        </p:txBody>
      </p:sp>
      <p:sp>
        <p:nvSpPr>
          <p:cNvPr id="6" name="text-17">
            <a:extLst xmlns:a="http://schemas.openxmlformats.org/drawingml/2006/main">
              <a:ext uri="{FF2B5EF4-FFF2-40B4-BE49-F238E27FC236}">
                <a16:creationId xmlns:a16="http://schemas.microsoft.com/office/drawing/2014/main" id="{C469C53A-AD32-425A-9B52-81E542FA80EC}"/>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8">
            <a:extLst xmlns:a="http://schemas.openxmlformats.org/drawingml/2006/main">
              <a:ext uri="{FF2B5EF4-FFF2-40B4-BE49-F238E27FC236}">
                <a16:creationId xmlns:a16="http://schemas.microsoft.com/office/drawing/2014/main" id="{F4577367-758C-4335-94A2-2579A53636B1}"/>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9">
            <a:extLst xmlns:a="http://schemas.openxmlformats.org/drawingml/2006/main">
              <a:ext uri="{FF2B5EF4-FFF2-40B4-BE49-F238E27FC236}">
                <a16:creationId xmlns:a16="http://schemas.microsoft.com/office/drawing/2014/main" id="{061D839A-D287-4636-968B-8B4AFD6038C7}"/>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89D45A9-BF2A-42B4-85D3-D44658B3A5BC}"/>
              </a:ext>
            </a:extLst>
          </p:cNvPr>
          <p:cNvSpPr>
            <a:spLocks xmlns:a="http://schemas.openxmlformats.org/drawingml/2006/main" noGrp="1"/>
          </p:cNvSpPr>
          <p:nvPr/>
        </p:nvSpPr>
        <p:spPr>
          <a:xfrm xmlns:a="http://schemas.openxmlformats.org/drawingml/2006/main">
            <a:off x="781050" y="2133600"/>
            <a:ext cx="3086100" cy="3086100"/>
          </a:xfrm>
          <a:prstGeom xmlns:a="http://schemas.openxmlformats.org/drawingml/2006/main" prst="ellipse">
            <a:avLst/>
          </a:prstGeom>
          <a:noFill xmlns:a="http://schemas.openxmlformats.org/drawingml/2006/main"/>
          <a:ln xmlns:a="http://schemas.openxmlformats.org/drawingml/2006/main" w="19050">
            <a:solidFill>
              <a:srgbClr val="087958"/>
            </a:solidFill>
          </a:ln>
        </p:spPr>
      </p:sp>
      <p:sp>
        <p:nvSpPr>
          <p:cNvPr id="10" name="">
            <a:extLst xmlns:a="http://schemas.openxmlformats.org/drawingml/2006/main">
              <a:ext uri="{FF2B5EF4-FFF2-40B4-BE49-F238E27FC236}">
                <a16:creationId xmlns:a16="http://schemas.microsoft.com/office/drawing/2014/main" id="{D085E9DA-DF04-4806-BF04-B1A83133B4A3}"/>
              </a:ext>
            </a:extLst>
          </p:cNvPr>
          <p:cNvSpPr>
            <a:spLocks xmlns:a="http://schemas.openxmlformats.org/drawingml/2006/main" noGrp="1"/>
          </p:cNvSpPr>
          <p:nvPr/>
        </p:nvSpPr>
        <p:spPr>
          <a:xfrm xmlns:a="http://schemas.openxmlformats.org/drawingml/2006/main">
            <a:off x="1190625" y="2543175"/>
            <a:ext cx="2266950" cy="2266950"/>
          </a:xfrm>
          <a:prstGeom xmlns:a="http://schemas.openxmlformats.org/drawingml/2006/main" prst="ellipse">
            <a:avLst/>
          </a:prstGeom>
          <a:solidFill xmlns:a="http://schemas.openxmlformats.org/drawingml/2006/main">
            <a:srgbClr val="EBF4EE"/>
          </a:solidFill>
          <a:ln xmlns:a="http://schemas.openxmlformats.org/drawingml/2006/main" w="19050">
            <a:solidFill>
              <a:srgbClr val="087958"/>
            </a:solidFill>
          </a:ln>
        </p:spPr>
      </p:sp>
      <p:sp>
        <p:nvSpPr>
          <p:cNvPr id="11" name="">
            <a:extLst xmlns:a="http://schemas.openxmlformats.org/drawingml/2006/main">
              <a:ext uri="{FF2B5EF4-FFF2-40B4-BE49-F238E27FC236}">
                <a16:creationId xmlns:a16="http://schemas.microsoft.com/office/drawing/2014/main" id="{44987E8C-5697-400C-BD20-677A26328A48}"/>
              </a:ext>
            </a:extLst>
          </p:cNvPr>
          <p:cNvSpPr>
            <a:spLocks xmlns:a="http://schemas.openxmlformats.org/drawingml/2006/main" noGrp="1"/>
          </p:cNvSpPr>
          <p:nvPr/>
        </p:nvSpPr>
        <p:spPr>
          <a:xfrm xmlns:a="http://schemas.openxmlformats.org/drawingml/2006/main">
            <a:off x="1676400" y="3028950"/>
            <a:ext cx="1295400" cy="12954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2" name="text-20">
            <a:extLst xmlns:a="http://schemas.openxmlformats.org/drawingml/2006/main">
              <a:ext uri="{FF2B5EF4-FFF2-40B4-BE49-F238E27FC236}">
                <a16:creationId xmlns:a16="http://schemas.microsoft.com/office/drawing/2014/main" id="{D3C863AB-888F-4E4E-8501-86E782AEE973}"/>
              </a:ext>
            </a:extLst>
          </p:cNvPr>
          <p:cNvSpPr>
            <a:spLocks xmlns:a="http://schemas.openxmlformats.org/drawingml/2006/main" noGrp="1"/>
          </p:cNvSpPr>
          <p:nvPr/>
        </p:nvSpPr>
        <p:spPr>
          <a:xfrm xmlns:a="http://schemas.openxmlformats.org/drawingml/2006/main">
            <a:off x="1828800" y="3486150"/>
            <a:ext cx="1038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Calibri"/>
                <a:ea typeface="Calibri"/>
                <a:cs typeface="Calibri"/>
              </a:defRPr>
            </a:pPr>
            <a:r>
              <a:rPr sz="2250" b="1">
                <a:solidFill>
                  <a:srgbClr val="FFFFFF"/>
                </a:solidFill>
                <a:latin typeface="Calibri"/>
                <a:ea typeface="Calibri"/>
                <a:cs typeface="Calibri"/>
              </a:rPr>
              <a:t>WHY</a:t>
            </a:r>
          </a:p>
        </p:txBody>
      </p:sp>
      <p:sp>
        <p:nvSpPr>
          <p:cNvPr id="13" name="text-21">
            <a:extLst xmlns:a="http://schemas.openxmlformats.org/drawingml/2006/main">
              <a:ext uri="{FF2B5EF4-FFF2-40B4-BE49-F238E27FC236}">
                <a16:creationId xmlns:a16="http://schemas.microsoft.com/office/drawing/2014/main" id="{B3336A0D-E4DB-4AA6-883E-874D10CE3158}"/>
              </a:ext>
            </a:extLst>
          </p:cNvPr>
          <p:cNvSpPr>
            <a:spLocks xmlns:a="http://schemas.openxmlformats.org/drawingml/2006/main" noGrp="1"/>
          </p:cNvSpPr>
          <p:nvPr/>
        </p:nvSpPr>
        <p:spPr>
          <a:xfrm xmlns:a="http://schemas.openxmlformats.org/drawingml/2006/main">
            <a:off x="2047875" y="268605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87958"/>
                </a:solidFill>
                <a:latin typeface="Calibri"/>
                <a:ea typeface="Calibri"/>
                <a:cs typeface="Calibri"/>
              </a:defRPr>
            </a:pPr>
            <a:r>
              <a:rPr sz="1725" b="1">
                <a:solidFill>
                  <a:srgbClr val="087958"/>
                </a:solidFill>
                <a:latin typeface="Calibri"/>
                <a:ea typeface="Calibri"/>
                <a:cs typeface="Calibri"/>
              </a:rPr>
              <a:t>HOW</a:t>
            </a:r>
          </a:p>
        </p:txBody>
      </p:sp>
      <p:sp>
        <p:nvSpPr>
          <p:cNvPr id="14" name="text-22">
            <a:extLst xmlns:a="http://schemas.openxmlformats.org/drawingml/2006/main">
              <a:ext uri="{FF2B5EF4-FFF2-40B4-BE49-F238E27FC236}">
                <a16:creationId xmlns:a16="http://schemas.microsoft.com/office/drawing/2014/main" id="{8F6DFAE3-1F41-4623-B893-EB48580CFA12}"/>
              </a:ext>
            </a:extLst>
          </p:cNvPr>
          <p:cNvSpPr>
            <a:spLocks xmlns:a="http://schemas.openxmlformats.org/drawingml/2006/main" noGrp="1"/>
          </p:cNvSpPr>
          <p:nvPr/>
        </p:nvSpPr>
        <p:spPr>
          <a:xfrm xmlns:a="http://schemas.openxmlformats.org/drawingml/2006/main">
            <a:off x="1876425" y="2238375"/>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B28"/>
                </a:solidFill>
                <a:latin typeface="Calibri"/>
                <a:ea typeface="Calibri"/>
                <a:cs typeface="Calibri"/>
              </a:defRPr>
            </a:pPr>
            <a:r>
              <a:rPr sz="1725" b="1">
                <a:solidFill>
                  <a:srgbClr val="002B28"/>
                </a:solidFill>
                <a:latin typeface="Calibri"/>
                <a:ea typeface="Calibri"/>
                <a:cs typeface="Calibri"/>
              </a:rPr>
              <a:t>WHAT</a:t>
            </a:r>
          </a:p>
        </p:txBody>
      </p:sp>
      <p:sp>
        <p:nvSpPr>
          <p:cNvPr id="15" name="text-23">
            <a:extLst xmlns:a="http://schemas.openxmlformats.org/drawingml/2006/main">
              <a:ext uri="{FF2B5EF4-FFF2-40B4-BE49-F238E27FC236}">
                <a16:creationId xmlns:a16="http://schemas.microsoft.com/office/drawing/2014/main" id="{530AD156-57BA-4844-A1A8-DE264818C3D7}"/>
              </a:ext>
            </a:extLst>
          </p:cNvPr>
          <p:cNvSpPr>
            <a:spLocks xmlns:a="http://schemas.openxmlformats.org/drawingml/2006/main" noGrp="1"/>
          </p:cNvSpPr>
          <p:nvPr/>
        </p:nvSpPr>
        <p:spPr>
          <a:xfrm xmlns:a="http://schemas.openxmlformats.org/drawingml/2006/main">
            <a:off x="4543425" y="21526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WHY</a:t>
            </a:r>
          </a:p>
        </p:txBody>
      </p:sp>
      <p:sp>
        <p:nvSpPr>
          <p:cNvPr id="16" name="text-24">
            <a:extLst xmlns:a="http://schemas.openxmlformats.org/drawingml/2006/main">
              <a:ext uri="{FF2B5EF4-FFF2-40B4-BE49-F238E27FC236}">
                <a16:creationId xmlns:a16="http://schemas.microsoft.com/office/drawing/2014/main" id="{12237DC0-BB68-4830-BF55-2F30E86DBB1A}"/>
              </a:ext>
            </a:extLst>
          </p:cNvPr>
          <p:cNvSpPr>
            <a:spLocks xmlns:a="http://schemas.openxmlformats.org/drawingml/2006/main" noGrp="1"/>
          </p:cNvSpPr>
          <p:nvPr/>
        </p:nvSpPr>
        <p:spPr>
          <a:xfrm xmlns:a="http://schemas.openxmlformats.org/drawingml/2006/main">
            <a:off x="5753100" y="2114550"/>
            <a:ext cx="556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62B27"/>
                </a:solidFill>
                <a:latin typeface="Calibri"/>
                <a:ea typeface="Calibri"/>
                <a:cs typeface="Calibri"/>
              </a:defRPr>
            </a:pPr>
            <a:r>
              <a:rPr sz="2175" b="1">
                <a:solidFill>
                  <a:srgbClr val="162B27"/>
                </a:solidFill>
                <a:latin typeface="Calibri"/>
                <a:ea typeface="Calibri"/>
                <a:cs typeface="Calibri"/>
              </a:rPr>
              <a:t>Nilai yang ingin dibawa</a:t>
            </a:r>
          </a:p>
        </p:txBody>
      </p:sp>
      <p:sp>
        <p:nvSpPr>
          <p:cNvPr id="17" name="text-25">
            <a:extLst xmlns:a="http://schemas.openxmlformats.org/drawingml/2006/main">
              <a:ext uri="{FF2B5EF4-FFF2-40B4-BE49-F238E27FC236}">
                <a16:creationId xmlns:a16="http://schemas.microsoft.com/office/drawing/2014/main" id="{AB77A185-F994-4048-B5BE-E995B86EEA0B}"/>
              </a:ext>
            </a:extLst>
          </p:cNvPr>
          <p:cNvSpPr>
            <a:spLocks xmlns:a="http://schemas.openxmlformats.org/drawingml/2006/main" noGrp="1"/>
          </p:cNvSpPr>
          <p:nvPr/>
        </p:nvSpPr>
        <p:spPr>
          <a:xfrm xmlns:a="http://schemas.openxmlformats.org/drawingml/2006/main">
            <a:off x="5753100" y="2514600"/>
            <a:ext cx="5562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Membantu pengrajin lokal mendapat pesanan berulang.</a:t>
            </a:r>
          </a:p>
        </p:txBody>
      </p:sp>
      <p:sp>
        <p:nvSpPr>
          <p:cNvPr id="18" name="">
            <a:extLst xmlns:a="http://schemas.openxmlformats.org/drawingml/2006/main">
              <a:ext uri="{FF2B5EF4-FFF2-40B4-BE49-F238E27FC236}">
                <a16:creationId xmlns:a16="http://schemas.microsoft.com/office/drawing/2014/main" id="{04D04E7C-E77B-4E90-A426-D116472B291C}"/>
              </a:ext>
            </a:extLst>
          </p:cNvPr>
          <p:cNvSpPr>
            <a:spLocks xmlns:a="http://schemas.openxmlformats.org/drawingml/2006/main" noGrp="1"/>
          </p:cNvSpPr>
          <p:nvPr/>
        </p:nvSpPr>
        <p:spPr>
          <a:xfrm xmlns:a="http://schemas.openxmlformats.org/drawingml/2006/main">
            <a:off x="4543425" y="3086100"/>
            <a:ext cx="6943725"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9" name="text-26">
            <a:extLst xmlns:a="http://schemas.openxmlformats.org/drawingml/2006/main">
              <a:ext uri="{FF2B5EF4-FFF2-40B4-BE49-F238E27FC236}">
                <a16:creationId xmlns:a16="http://schemas.microsoft.com/office/drawing/2014/main" id="{08ED2AB2-1577-4E5E-B1A8-FEC8689F3526}"/>
              </a:ext>
            </a:extLst>
          </p:cNvPr>
          <p:cNvSpPr>
            <a:spLocks xmlns:a="http://schemas.openxmlformats.org/drawingml/2006/main" noGrp="1"/>
          </p:cNvSpPr>
          <p:nvPr/>
        </p:nvSpPr>
        <p:spPr>
          <a:xfrm xmlns:a="http://schemas.openxmlformats.org/drawingml/2006/main">
            <a:off x="4543425" y="3228975"/>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HOW</a:t>
            </a:r>
          </a:p>
        </p:txBody>
      </p:sp>
      <p:sp>
        <p:nvSpPr>
          <p:cNvPr id="20" name="text-27">
            <a:extLst xmlns:a="http://schemas.openxmlformats.org/drawingml/2006/main">
              <a:ext uri="{FF2B5EF4-FFF2-40B4-BE49-F238E27FC236}">
                <a16:creationId xmlns:a16="http://schemas.microsoft.com/office/drawing/2014/main" id="{8B0EA36B-7594-421E-92A6-D360EB32A5EC}"/>
              </a:ext>
            </a:extLst>
          </p:cNvPr>
          <p:cNvSpPr>
            <a:spLocks xmlns:a="http://schemas.openxmlformats.org/drawingml/2006/main" noGrp="1"/>
          </p:cNvSpPr>
          <p:nvPr/>
        </p:nvSpPr>
        <p:spPr>
          <a:xfrm xmlns:a="http://schemas.openxmlformats.org/drawingml/2006/main">
            <a:off x="5753100" y="3190875"/>
            <a:ext cx="556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62B27"/>
                </a:solidFill>
                <a:latin typeface="Calibri"/>
                <a:ea typeface="Calibri"/>
                <a:cs typeface="Calibri"/>
              </a:defRPr>
            </a:pPr>
            <a:r>
              <a:rPr sz="2175" b="1">
                <a:solidFill>
                  <a:srgbClr val="162B27"/>
                </a:solidFill>
                <a:latin typeface="Calibri"/>
                <a:ea typeface="Calibri"/>
                <a:cs typeface="Calibri"/>
              </a:rPr>
              <a:t>Cara kita memenuhi janji</a:t>
            </a:r>
          </a:p>
        </p:txBody>
      </p:sp>
      <p:sp>
        <p:nvSpPr>
          <p:cNvPr id="21" name="text-28">
            <a:extLst xmlns:a="http://schemas.openxmlformats.org/drawingml/2006/main">
              <a:ext uri="{FF2B5EF4-FFF2-40B4-BE49-F238E27FC236}">
                <a16:creationId xmlns:a16="http://schemas.microsoft.com/office/drawing/2014/main" id="{655690BD-362C-4AE4-8904-C1D9A9D7F83B}"/>
              </a:ext>
            </a:extLst>
          </p:cNvPr>
          <p:cNvSpPr>
            <a:spLocks xmlns:a="http://schemas.openxmlformats.org/drawingml/2006/main" noGrp="1"/>
          </p:cNvSpPr>
          <p:nvPr/>
        </p:nvSpPr>
        <p:spPr>
          <a:xfrm xmlns:a="http://schemas.openxmlformats.org/drawingml/2006/main">
            <a:off x="5753100" y="3590925"/>
            <a:ext cx="5562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Mutu konsisten, kapasitas jelas, komunikasi terbuka.</a:t>
            </a:r>
          </a:p>
        </p:txBody>
      </p:sp>
      <p:sp>
        <p:nvSpPr>
          <p:cNvPr id="22" name="">
            <a:extLst xmlns:a="http://schemas.openxmlformats.org/drawingml/2006/main">
              <a:ext uri="{FF2B5EF4-FFF2-40B4-BE49-F238E27FC236}">
                <a16:creationId xmlns:a16="http://schemas.microsoft.com/office/drawing/2014/main" id="{269B70D1-EFAC-4499-ACD5-AB3CC5C8E033}"/>
              </a:ext>
            </a:extLst>
          </p:cNvPr>
          <p:cNvSpPr>
            <a:spLocks xmlns:a="http://schemas.openxmlformats.org/drawingml/2006/main" noGrp="1"/>
          </p:cNvSpPr>
          <p:nvPr/>
        </p:nvSpPr>
        <p:spPr>
          <a:xfrm xmlns:a="http://schemas.openxmlformats.org/drawingml/2006/main">
            <a:off x="4543425" y="4162425"/>
            <a:ext cx="6943725"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3" name="text-29">
            <a:extLst xmlns:a="http://schemas.openxmlformats.org/drawingml/2006/main">
              <a:ext uri="{FF2B5EF4-FFF2-40B4-BE49-F238E27FC236}">
                <a16:creationId xmlns:a16="http://schemas.microsoft.com/office/drawing/2014/main" id="{104176CF-65DC-42EE-B39A-AEE1263A57D4}"/>
              </a:ext>
            </a:extLst>
          </p:cNvPr>
          <p:cNvSpPr>
            <a:spLocks xmlns:a="http://schemas.openxmlformats.org/drawingml/2006/main" noGrp="1"/>
          </p:cNvSpPr>
          <p:nvPr/>
        </p:nvSpPr>
        <p:spPr>
          <a:xfrm xmlns:a="http://schemas.openxmlformats.org/drawingml/2006/main">
            <a:off x="4543425" y="430530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WHAT</a:t>
            </a:r>
          </a:p>
        </p:txBody>
      </p:sp>
      <p:sp>
        <p:nvSpPr>
          <p:cNvPr id="24" name="text-30">
            <a:extLst xmlns:a="http://schemas.openxmlformats.org/drawingml/2006/main">
              <a:ext uri="{FF2B5EF4-FFF2-40B4-BE49-F238E27FC236}">
                <a16:creationId xmlns:a16="http://schemas.microsoft.com/office/drawing/2014/main" id="{611A357E-2515-4751-880F-E5CB39D733B6}"/>
              </a:ext>
            </a:extLst>
          </p:cNvPr>
          <p:cNvSpPr>
            <a:spLocks xmlns:a="http://schemas.openxmlformats.org/drawingml/2006/main" noGrp="1"/>
          </p:cNvSpPr>
          <p:nvPr/>
        </p:nvSpPr>
        <p:spPr>
          <a:xfrm xmlns:a="http://schemas.openxmlformats.org/drawingml/2006/main">
            <a:off x="5753100" y="4267200"/>
            <a:ext cx="556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62B27"/>
                </a:solidFill>
                <a:latin typeface="Calibri"/>
                <a:ea typeface="Calibri"/>
                <a:cs typeface="Calibri"/>
              </a:defRPr>
            </a:pPr>
            <a:r>
              <a:rPr sz="2175" b="1">
                <a:solidFill>
                  <a:srgbClr val="162B27"/>
                </a:solidFill>
                <a:latin typeface="Calibri"/>
                <a:ea typeface="Calibri"/>
                <a:cs typeface="Calibri"/>
              </a:rPr>
              <a:t>Produk yang kita tawarkan</a:t>
            </a:r>
          </a:p>
        </p:txBody>
      </p:sp>
      <p:sp>
        <p:nvSpPr>
          <p:cNvPr id="25" name="text-31">
            <a:extLst xmlns:a="http://schemas.openxmlformats.org/drawingml/2006/main">
              <a:ext uri="{FF2B5EF4-FFF2-40B4-BE49-F238E27FC236}">
                <a16:creationId xmlns:a16="http://schemas.microsoft.com/office/drawing/2014/main" id="{81509631-387C-408B-B8CD-0896D5EC8BD7}"/>
              </a:ext>
            </a:extLst>
          </p:cNvPr>
          <p:cNvSpPr>
            <a:spLocks xmlns:a="http://schemas.openxmlformats.org/drawingml/2006/main" noGrp="1"/>
          </p:cNvSpPr>
          <p:nvPr/>
        </p:nvSpPr>
        <p:spPr>
          <a:xfrm xmlns:a="http://schemas.openxmlformats.org/drawingml/2006/main">
            <a:off x="5753100" y="4667250"/>
            <a:ext cx="5562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Dekorasi rumah dengan spesifikasi yang disepakati.</a:t>
            </a:r>
          </a:p>
        </p:txBody>
      </p:sp>
      <p:sp>
        <p:nvSpPr>
          <p:cNvPr id="26" name="">
            <a:extLst xmlns:a="http://schemas.openxmlformats.org/drawingml/2006/main">
              <a:ext uri="{FF2B5EF4-FFF2-40B4-BE49-F238E27FC236}">
                <a16:creationId xmlns:a16="http://schemas.microsoft.com/office/drawing/2014/main" id="{938D56F5-4788-43B2-8A0B-3C6681FE2CFB}"/>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7" name="text-32">
            <a:extLst xmlns:a="http://schemas.openxmlformats.org/drawingml/2006/main">
              <a:ext uri="{FF2B5EF4-FFF2-40B4-BE49-F238E27FC236}">
                <a16:creationId xmlns:a16="http://schemas.microsoft.com/office/drawing/2014/main" id="{1F778004-9981-4AF8-9A01-1BD183595335}"/>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Cerita asal produk perlu ditopang kemampuan memenuhi kebutuhan buyer.</a:t>
            </a:r>
          </a:p>
        </p:txBody>
      </p:sp>
    </p:spTree>
    <p:extLst>
      <p:ext uri="{BB962C8B-B14F-4D97-AF65-F5344CB8AC3E}">
        <p14:creationId xmlns:p14="http://schemas.microsoft.com/office/powerpoint/2010/main" val="13935448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3b052c6a1774ac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5C3029-B586-4C7F-B5B5-F14522CE417D}"/>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1b27beb09a24278"/>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33">
            <a:extLst xmlns:a="http://schemas.openxmlformats.org/drawingml/2006/main">
              <a:ext uri="{FF2B5EF4-FFF2-40B4-BE49-F238E27FC236}">
                <a16:creationId xmlns:a16="http://schemas.microsoft.com/office/drawing/2014/main" id="{55957A3F-EC90-4D2D-8ECE-0D7455631242}"/>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Produk yang kita kuasai harus menjawab kebutuhan buyer</a:t>
            </a:r>
          </a:p>
        </p:txBody>
      </p:sp>
      <p:sp>
        <p:nvSpPr>
          <p:cNvPr id="5" name="text-34">
            <a:extLst xmlns:a="http://schemas.openxmlformats.org/drawingml/2006/main">
              <a:ext uri="{FF2B5EF4-FFF2-40B4-BE49-F238E27FC236}">
                <a16:creationId xmlns:a16="http://schemas.microsoft.com/office/drawing/2014/main" id="{86E92611-1CD5-4EC8-AB4E-01836DE4F647}"/>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Sweet spot ekspor muncul ketika produk dibutuhkan dan bisnis mampu memenuhinya.</a:t>
            </a:r>
          </a:p>
        </p:txBody>
      </p:sp>
      <p:sp>
        <p:nvSpPr>
          <p:cNvPr id="6" name="text-35">
            <a:extLst xmlns:a="http://schemas.openxmlformats.org/drawingml/2006/main">
              <a:ext uri="{FF2B5EF4-FFF2-40B4-BE49-F238E27FC236}">
                <a16:creationId xmlns:a16="http://schemas.microsoft.com/office/drawing/2014/main" id="{D9657015-1C0D-47A2-9798-DB76E4EA0AD7}"/>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36">
            <a:extLst xmlns:a="http://schemas.openxmlformats.org/drawingml/2006/main">
              <a:ext uri="{FF2B5EF4-FFF2-40B4-BE49-F238E27FC236}">
                <a16:creationId xmlns:a16="http://schemas.microsoft.com/office/drawing/2014/main" id="{38F2200F-3797-414B-93B2-0526AC70CF3F}"/>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37">
            <a:extLst xmlns:a="http://schemas.openxmlformats.org/drawingml/2006/main">
              <a:ext uri="{FF2B5EF4-FFF2-40B4-BE49-F238E27FC236}">
                <a16:creationId xmlns:a16="http://schemas.microsoft.com/office/drawing/2014/main" id="{666BBA29-738D-413B-9BE3-54C22D17F136}"/>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04</a:t>
            </a:r>
          </a:p>
        </p:txBody>
      </p:sp>
      <p:sp>
        <p:nvSpPr>
          <p:cNvPr id="9" name="text-38">
            <a:extLst xmlns:a="http://schemas.openxmlformats.org/drawingml/2006/main">
              <a:ext uri="{FF2B5EF4-FFF2-40B4-BE49-F238E27FC236}">
                <a16:creationId xmlns:a16="http://schemas.microsoft.com/office/drawing/2014/main" id="{876A182F-F462-44A6-94E5-7732832003ED}"/>
              </a:ext>
            </a:extLst>
          </p:cNvPr>
          <p:cNvSpPr>
            <a:spLocks xmlns:a="http://schemas.openxmlformats.org/drawingml/2006/main" noGrp="1"/>
          </p:cNvSpPr>
          <p:nvPr/>
        </p:nvSpPr>
        <p:spPr>
          <a:xfrm xmlns:a="http://schemas.openxmlformats.org/drawingml/2006/main">
            <a:off x="457200" y="22764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01</a:t>
            </a:r>
          </a:p>
        </p:txBody>
      </p:sp>
      <p:sp>
        <p:nvSpPr>
          <p:cNvPr id="10" name="text-39">
            <a:extLst xmlns:a="http://schemas.openxmlformats.org/drawingml/2006/main">
              <a:ext uri="{FF2B5EF4-FFF2-40B4-BE49-F238E27FC236}">
                <a16:creationId xmlns:a16="http://schemas.microsoft.com/office/drawing/2014/main" id="{612EFBE6-7E7F-42F4-A19D-855AA88263A5}"/>
              </a:ext>
            </a:extLst>
          </p:cNvPr>
          <p:cNvSpPr>
            <a:spLocks xmlns:a="http://schemas.openxmlformats.org/drawingml/2006/main" noGrp="1"/>
          </p:cNvSpPr>
          <p:nvPr/>
        </p:nvSpPr>
        <p:spPr>
          <a:xfrm xmlns:a="http://schemas.openxmlformats.org/drawingml/2006/main">
            <a:off x="457200" y="26479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087958"/>
                </a:solidFill>
                <a:latin typeface="Calibri"/>
                <a:ea typeface="Calibri"/>
                <a:cs typeface="Calibri"/>
              </a:defRPr>
            </a:pPr>
            <a:r>
              <a:rPr sz="2775" b="1">
                <a:solidFill>
                  <a:srgbClr val="087958"/>
                </a:solidFill>
                <a:latin typeface="Calibri"/>
                <a:ea typeface="Calibri"/>
                <a:cs typeface="Calibri"/>
              </a:rPr>
              <a:t>Kita mampu</a:t>
            </a:r>
          </a:p>
        </p:txBody>
      </p:sp>
      <p:sp>
        <p:nvSpPr>
          <p:cNvPr id="11" name="text-40">
            <a:extLst xmlns:a="http://schemas.openxmlformats.org/drawingml/2006/main">
              <a:ext uri="{FF2B5EF4-FFF2-40B4-BE49-F238E27FC236}">
                <a16:creationId xmlns:a16="http://schemas.microsoft.com/office/drawing/2014/main" id="{68091F48-6F4F-4EE2-A9C8-24A0E71259DA}"/>
              </a:ext>
            </a:extLst>
          </p:cNvPr>
          <p:cNvSpPr>
            <a:spLocks xmlns:a="http://schemas.openxmlformats.org/drawingml/2006/main" noGrp="1"/>
          </p:cNvSpPr>
          <p:nvPr/>
        </p:nvSpPr>
        <p:spPr>
          <a:xfrm xmlns:a="http://schemas.openxmlformats.org/drawingml/2006/main">
            <a:off x="457200" y="3333750"/>
            <a:ext cx="331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Produk dan kualitas apa</a:t>
            </a:r>
          </a:p>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yang sudah kita kuasai?</a:t>
            </a:r>
          </a:p>
        </p:txBody>
      </p:sp>
      <p:sp>
        <p:nvSpPr>
          <p:cNvPr id="12" name="">
            <a:extLst xmlns:a="http://schemas.openxmlformats.org/drawingml/2006/main">
              <a:ext uri="{FF2B5EF4-FFF2-40B4-BE49-F238E27FC236}">
                <a16:creationId xmlns:a16="http://schemas.microsoft.com/office/drawing/2014/main" id="{710FC5E5-BC2B-45D0-AC9B-5D4F955BA623}"/>
              </a:ext>
            </a:extLst>
          </p:cNvPr>
          <p:cNvSpPr>
            <a:spLocks xmlns:a="http://schemas.openxmlformats.org/drawingml/2006/main" noGrp="1"/>
          </p:cNvSpPr>
          <p:nvPr/>
        </p:nvSpPr>
        <p:spPr>
          <a:xfrm xmlns:a="http://schemas.openxmlformats.org/drawingml/2006/main">
            <a:off x="457200" y="4552950"/>
            <a:ext cx="3381375" cy="0"/>
          </a:xfrm>
          <a:prstGeom xmlns:a="http://schemas.openxmlformats.org/drawingml/2006/main" prst="line">
            <a:avLst/>
          </a:prstGeom>
          <a:noFill xmlns:a="http://schemas.openxmlformats.org/drawingml/2006/main"/>
          <a:ln xmlns:a="http://schemas.openxmlformats.org/drawingml/2006/main" w="28575">
            <a:solidFill>
              <a:srgbClr val="087958"/>
            </a:solidFill>
          </a:ln>
        </p:spPr>
      </p:sp>
      <p:sp>
        <p:nvSpPr>
          <p:cNvPr id="13" name="text-41">
            <a:extLst xmlns:a="http://schemas.openxmlformats.org/drawingml/2006/main">
              <a:ext uri="{FF2B5EF4-FFF2-40B4-BE49-F238E27FC236}">
                <a16:creationId xmlns:a16="http://schemas.microsoft.com/office/drawing/2014/main" id="{9EE16A9C-1C66-4839-9756-4153A90BB15F}"/>
              </a:ext>
            </a:extLst>
          </p:cNvPr>
          <p:cNvSpPr>
            <a:spLocks xmlns:a="http://schemas.openxmlformats.org/drawingml/2006/main" noGrp="1"/>
          </p:cNvSpPr>
          <p:nvPr/>
        </p:nvSpPr>
        <p:spPr>
          <a:xfrm xmlns:a="http://schemas.openxmlformats.org/drawingml/2006/main">
            <a:off x="4362450" y="22764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02</a:t>
            </a:r>
          </a:p>
        </p:txBody>
      </p:sp>
      <p:sp>
        <p:nvSpPr>
          <p:cNvPr id="14" name="text-42">
            <a:extLst xmlns:a="http://schemas.openxmlformats.org/drawingml/2006/main">
              <a:ext uri="{FF2B5EF4-FFF2-40B4-BE49-F238E27FC236}">
                <a16:creationId xmlns:a16="http://schemas.microsoft.com/office/drawing/2014/main" id="{814288A6-0B8E-4BE8-95B1-6A38E42712CD}"/>
              </a:ext>
            </a:extLst>
          </p:cNvPr>
          <p:cNvSpPr>
            <a:spLocks xmlns:a="http://schemas.openxmlformats.org/drawingml/2006/main" noGrp="1"/>
          </p:cNvSpPr>
          <p:nvPr/>
        </p:nvSpPr>
        <p:spPr>
          <a:xfrm xmlns:a="http://schemas.openxmlformats.org/drawingml/2006/main">
            <a:off x="4362450" y="26479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087958"/>
                </a:solidFill>
                <a:latin typeface="Calibri"/>
                <a:ea typeface="Calibri"/>
                <a:cs typeface="Calibri"/>
              </a:defRPr>
            </a:pPr>
            <a:r>
              <a:rPr sz="2775" b="1">
                <a:solidFill>
                  <a:srgbClr val="087958"/>
                </a:solidFill>
                <a:latin typeface="Calibri"/>
                <a:ea typeface="Calibri"/>
                <a:cs typeface="Calibri"/>
              </a:rPr>
              <a:t>Buyer butuh</a:t>
            </a:r>
          </a:p>
        </p:txBody>
      </p:sp>
      <p:sp>
        <p:nvSpPr>
          <p:cNvPr id="15" name="text-43">
            <a:extLst xmlns:a="http://schemas.openxmlformats.org/drawingml/2006/main">
              <a:ext uri="{FF2B5EF4-FFF2-40B4-BE49-F238E27FC236}">
                <a16:creationId xmlns:a16="http://schemas.microsoft.com/office/drawing/2014/main" id="{5EB5AFBA-85DF-4760-AE6E-0AD950676ECD}"/>
              </a:ext>
            </a:extLst>
          </p:cNvPr>
          <p:cNvSpPr>
            <a:spLocks xmlns:a="http://schemas.openxmlformats.org/drawingml/2006/main" noGrp="1"/>
          </p:cNvSpPr>
          <p:nvPr/>
        </p:nvSpPr>
        <p:spPr>
          <a:xfrm xmlns:a="http://schemas.openxmlformats.org/drawingml/2006/main">
            <a:off x="4362450" y="3333750"/>
            <a:ext cx="331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Siapa yang membeli,</a:t>
            </a:r>
          </a:p>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untuk kebutuhan apa?</a:t>
            </a:r>
          </a:p>
        </p:txBody>
      </p:sp>
      <p:sp>
        <p:nvSpPr>
          <p:cNvPr id="16" name="">
            <a:extLst xmlns:a="http://schemas.openxmlformats.org/drawingml/2006/main">
              <a:ext uri="{FF2B5EF4-FFF2-40B4-BE49-F238E27FC236}">
                <a16:creationId xmlns:a16="http://schemas.microsoft.com/office/drawing/2014/main" id="{8E640C34-E00C-43ED-96B6-234CB97D2B40}"/>
              </a:ext>
            </a:extLst>
          </p:cNvPr>
          <p:cNvSpPr>
            <a:spLocks xmlns:a="http://schemas.openxmlformats.org/drawingml/2006/main" noGrp="1"/>
          </p:cNvSpPr>
          <p:nvPr/>
        </p:nvSpPr>
        <p:spPr>
          <a:xfrm xmlns:a="http://schemas.openxmlformats.org/drawingml/2006/main">
            <a:off x="4362450" y="4552950"/>
            <a:ext cx="3381375" cy="0"/>
          </a:xfrm>
          <a:prstGeom xmlns:a="http://schemas.openxmlformats.org/drawingml/2006/main" prst="line">
            <a:avLst/>
          </a:prstGeom>
          <a:noFill xmlns:a="http://schemas.openxmlformats.org/drawingml/2006/main"/>
          <a:ln xmlns:a="http://schemas.openxmlformats.org/drawingml/2006/main" w="28575">
            <a:solidFill>
              <a:srgbClr val="087958"/>
            </a:solidFill>
          </a:ln>
        </p:spPr>
      </p:sp>
      <p:sp>
        <p:nvSpPr>
          <p:cNvPr id="17" name="text-44">
            <a:extLst xmlns:a="http://schemas.openxmlformats.org/drawingml/2006/main">
              <a:ext uri="{FF2B5EF4-FFF2-40B4-BE49-F238E27FC236}">
                <a16:creationId xmlns:a16="http://schemas.microsoft.com/office/drawing/2014/main" id="{81295E3E-D34A-4EAA-9090-B7D607ACED5F}"/>
              </a:ext>
            </a:extLst>
          </p:cNvPr>
          <p:cNvSpPr>
            <a:spLocks xmlns:a="http://schemas.openxmlformats.org/drawingml/2006/main" noGrp="1"/>
          </p:cNvSpPr>
          <p:nvPr/>
        </p:nvSpPr>
        <p:spPr>
          <a:xfrm xmlns:a="http://schemas.openxmlformats.org/drawingml/2006/main">
            <a:off x="8267700" y="22764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03</a:t>
            </a:r>
          </a:p>
        </p:txBody>
      </p:sp>
      <p:sp>
        <p:nvSpPr>
          <p:cNvPr id="18" name="text-45">
            <a:extLst xmlns:a="http://schemas.openxmlformats.org/drawingml/2006/main">
              <a:ext uri="{FF2B5EF4-FFF2-40B4-BE49-F238E27FC236}">
                <a16:creationId xmlns:a16="http://schemas.microsoft.com/office/drawing/2014/main" id="{565C4D1D-E48B-4524-ABD5-CE9567380E12}"/>
              </a:ext>
            </a:extLst>
          </p:cNvPr>
          <p:cNvSpPr>
            <a:spLocks xmlns:a="http://schemas.openxmlformats.org/drawingml/2006/main" noGrp="1"/>
          </p:cNvSpPr>
          <p:nvPr/>
        </p:nvSpPr>
        <p:spPr>
          <a:xfrm xmlns:a="http://schemas.openxmlformats.org/drawingml/2006/main">
            <a:off x="8267700" y="26479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087958"/>
                </a:solidFill>
                <a:latin typeface="Calibri"/>
                <a:ea typeface="Calibri"/>
                <a:cs typeface="Calibri"/>
              </a:defRPr>
            </a:pPr>
            <a:r>
              <a:rPr sz="2775" b="1">
                <a:solidFill>
                  <a:srgbClr val="087958"/>
                </a:solidFill>
                <a:latin typeface="Calibri"/>
                <a:ea typeface="Calibri"/>
                <a:cs typeface="Calibri"/>
              </a:rPr>
              <a:t>Bisnis untung</a:t>
            </a:r>
          </a:p>
        </p:txBody>
      </p:sp>
      <p:sp>
        <p:nvSpPr>
          <p:cNvPr id="19" name="text-46">
            <a:extLst xmlns:a="http://schemas.openxmlformats.org/drawingml/2006/main">
              <a:ext uri="{FF2B5EF4-FFF2-40B4-BE49-F238E27FC236}">
                <a16:creationId xmlns:a16="http://schemas.microsoft.com/office/drawing/2014/main" id="{0116318F-AF39-47ED-AC01-C836FD368532}"/>
              </a:ext>
            </a:extLst>
          </p:cNvPr>
          <p:cNvSpPr>
            <a:spLocks xmlns:a="http://schemas.openxmlformats.org/drawingml/2006/main" noGrp="1"/>
          </p:cNvSpPr>
          <p:nvPr/>
        </p:nvSpPr>
        <p:spPr>
          <a:xfrm xmlns:a="http://schemas.openxmlformats.org/drawingml/2006/main">
            <a:off x="8267700" y="3333750"/>
            <a:ext cx="331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Setelah seluruh biaya,</a:t>
            </a:r>
          </a:p>
          <a:p xmlns:a="http://schemas.openxmlformats.org/drawingml/2006/main">
            <a:pPr>
              <a:defRPr sz="2025" b="0">
                <a:solidFill>
                  <a:srgbClr val="162B27"/>
                </a:solidFill>
                <a:latin typeface="Calibri"/>
                <a:ea typeface="Calibri"/>
                <a:cs typeface="Calibri"/>
              </a:defRPr>
            </a:pPr>
            <a:r>
              <a:rPr sz="2025" b="0">
                <a:solidFill>
                  <a:srgbClr val="162B27"/>
                </a:solidFill>
                <a:latin typeface="Calibri"/>
                <a:ea typeface="Calibri"/>
                <a:cs typeface="Calibri"/>
              </a:rPr>
              <a:t>apakah masih masuk akal?</a:t>
            </a:r>
          </a:p>
        </p:txBody>
      </p:sp>
      <p:sp>
        <p:nvSpPr>
          <p:cNvPr id="20" name="">
            <a:extLst xmlns:a="http://schemas.openxmlformats.org/drawingml/2006/main">
              <a:ext uri="{FF2B5EF4-FFF2-40B4-BE49-F238E27FC236}">
                <a16:creationId xmlns:a16="http://schemas.microsoft.com/office/drawing/2014/main" id="{5031517F-5345-40B6-915F-011CECBAE6B7}"/>
              </a:ext>
            </a:extLst>
          </p:cNvPr>
          <p:cNvSpPr>
            <a:spLocks xmlns:a="http://schemas.openxmlformats.org/drawingml/2006/main" noGrp="1"/>
          </p:cNvSpPr>
          <p:nvPr/>
        </p:nvSpPr>
        <p:spPr>
          <a:xfrm xmlns:a="http://schemas.openxmlformats.org/drawingml/2006/main">
            <a:off x="8267700" y="4552950"/>
            <a:ext cx="3381375" cy="0"/>
          </a:xfrm>
          <a:prstGeom xmlns:a="http://schemas.openxmlformats.org/drawingml/2006/main" prst="line">
            <a:avLst/>
          </a:prstGeom>
          <a:noFill xmlns:a="http://schemas.openxmlformats.org/drawingml/2006/main"/>
          <a:ln xmlns:a="http://schemas.openxmlformats.org/drawingml/2006/main" w="28575">
            <a:solidFill>
              <a:srgbClr val="087958"/>
            </a:solidFill>
          </a:ln>
        </p:spPr>
      </p:sp>
      <p:sp>
        <p:nvSpPr>
          <p:cNvPr id="21" name="text-47">
            <a:extLst xmlns:a="http://schemas.openxmlformats.org/drawingml/2006/main">
              <a:ext uri="{FF2B5EF4-FFF2-40B4-BE49-F238E27FC236}">
                <a16:creationId xmlns:a16="http://schemas.microsoft.com/office/drawing/2014/main" id="{658FE580-B9BD-4ECD-B88C-A0B2361D6849}"/>
              </a:ext>
            </a:extLst>
          </p:cNvPr>
          <p:cNvSpPr>
            <a:spLocks xmlns:a="http://schemas.openxmlformats.org/drawingml/2006/main" noGrp="1"/>
          </p:cNvSpPr>
          <p:nvPr/>
        </p:nvSpPr>
        <p:spPr>
          <a:xfrm xmlns:a="http://schemas.openxmlformats.org/drawingml/2006/main">
            <a:off x="457200" y="48101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Contoh</a:t>
            </a:r>
          </a:p>
        </p:txBody>
      </p:sp>
      <p:sp>
        <p:nvSpPr>
          <p:cNvPr id="22" name="text-48">
            <a:extLst xmlns:a="http://schemas.openxmlformats.org/drawingml/2006/main">
              <a:ext uri="{FF2B5EF4-FFF2-40B4-BE49-F238E27FC236}">
                <a16:creationId xmlns:a16="http://schemas.microsoft.com/office/drawing/2014/main" id="{EFE8F78F-751F-499F-B11F-527D80DCFAF7}"/>
              </a:ext>
            </a:extLst>
          </p:cNvPr>
          <p:cNvSpPr>
            <a:spLocks xmlns:a="http://schemas.openxmlformats.org/drawingml/2006/main" noGrp="1"/>
          </p:cNvSpPr>
          <p:nvPr/>
        </p:nvSpPr>
        <p:spPr>
          <a:xfrm xmlns:a="http://schemas.openxmlformats.org/drawingml/2006/main">
            <a:off x="2066925" y="4791075"/>
            <a:ext cx="9191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B27"/>
                </a:solidFill>
                <a:latin typeface="Calibri"/>
                <a:ea typeface="Calibri"/>
                <a:cs typeface="Calibri"/>
              </a:defRPr>
            </a:pPr>
            <a:r>
              <a:rPr sz="1950" b="0">
                <a:solidFill>
                  <a:srgbClr val="162B27"/>
                </a:solidFill>
                <a:latin typeface="Calibri"/>
                <a:ea typeface="Calibri"/>
                <a:cs typeface="Calibri"/>
              </a:rPr>
              <a:t>Keranjang bagus belum tentu cocok jika buyer butuh ukuran, finishing, atau kemasan berbeda.</a:t>
            </a:r>
          </a:p>
        </p:txBody>
      </p:sp>
      <p:sp>
        <p:nvSpPr>
          <p:cNvPr id="23" name="">
            <a:extLst xmlns:a="http://schemas.openxmlformats.org/drawingml/2006/main">
              <a:ext uri="{FF2B5EF4-FFF2-40B4-BE49-F238E27FC236}">
                <a16:creationId xmlns:a16="http://schemas.microsoft.com/office/drawing/2014/main" id="{63A491FF-393F-44E6-ABA6-96D1CF5165FA}"/>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4" name="text-49">
            <a:extLst xmlns:a="http://schemas.openxmlformats.org/drawingml/2006/main">
              <a:ext uri="{FF2B5EF4-FFF2-40B4-BE49-F238E27FC236}">
                <a16:creationId xmlns:a16="http://schemas.microsoft.com/office/drawing/2014/main" id="{9E4D2187-5343-475A-8A7A-96B9F7249C00}"/>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Pertanyaan awalnya: buyer mana yang paling cocok dengan kemampuan kita hari ini?</a:t>
            </a:r>
          </a:p>
        </p:txBody>
      </p:sp>
    </p:spTree>
    <p:extLst>
      <p:ext uri="{BB962C8B-B14F-4D97-AF65-F5344CB8AC3E}">
        <p14:creationId xmlns:p14="http://schemas.microsoft.com/office/powerpoint/2010/main" val="334992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a79923cd9454f0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A728639-BC00-4DE5-87DC-C9D3FF9222AC}"/>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8dd395f1ebd4f9f"/>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50">
            <a:extLst xmlns:a="http://schemas.openxmlformats.org/drawingml/2006/main">
              <a:ext uri="{FF2B5EF4-FFF2-40B4-BE49-F238E27FC236}">
                <a16:creationId xmlns:a16="http://schemas.microsoft.com/office/drawing/2014/main" id="{98F88DA1-359E-4EE2-8BCA-87982F69AFB6}"/>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Penolakan buyer bisa menjadi bahan memperbaiki bisnis</a:t>
            </a:r>
          </a:p>
        </p:txBody>
      </p:sp>
      <p:sp>
        <p:nvSpPr>
          <p:cNvPr id="5" name="text-51">
            <a:extLst xmlns:a="http://schemas.openxmlformats.org/drawingml/2006/main">
              <a:ext uri="{FF2B5EF4-FFF2-40B4-BE49-F238E27FC236}">
                <a16:creationId xmlns:a16="http://schemas.microsoft.com/office/drawing/2014/main" id="{D3FB5CBB-DCDD-405A-8727-4CFA83EF0113}"/>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Growth mindset terlihat dari pertanyaan yang kita ajukan setelah mendapat masukan.</a:t>
            </a:r>
          </a:p>
        </p:txBody>
      </p:sp>
      <p:sp>
        <p:nvSpPr>
          <p:cNvPr id="6" name="text-52">
            <a:extLst xmlns:a="http://schemas.openxmlformats.org/drawingml/2006/main">
              <a:ext uri="{FF2B5EF4-FFF2-40B4-BE49-F238E27FC236}">
                <a16:creationId xmlns:a16="http://schemas.microsoft.com/office/drawing/2014/main" id="{02152587-865E-4355-8632-712961993213}"/>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53">
            <a:extLst xmlns:a="http://schemas.openxmlformats.org/drawingml/2006/main">
              <a:ext uri="{FF2B5EF4-FFF2-40B4-BE49-F238E27FC236}">
                <a16:creationId xmlns:a16="http://schemas.microsoft.com/office/drawing/2014/main" id="{EE1D7CED-18F7-407C-B43A-5CA148601A52}"/>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54">
            <a:extLst xmlns:a="http://schemas.openxmlformats.org/drawingml/2006/main">
              <a:ext uri="{FF2B5EF4-FFF2-40B4-BE49-F238E27FC236}">
                <a16:creationId xmlns:a16="http://schemas.microsoft.com/office/drawing/2014/main" id="{3457B9D5-75AD-4C37-A62E-35B39D3B99F1}"/>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05</a:t>
            </a:r>
          </a:p>
        </p:txBody>
      </p:sp>
      <p:sp>
        <p:nvSpPr>
          <p:cNvPr id="9" name="">
            <a:extLst xmlns:a="http://schemas.openxmlformats.org/drawingml/2006/main">
              <a:ext uri="{FF2B5EF4-FFF2-40B4-BE49-F238E27FC236}">
                <a16:creationId xmlns:a16="http://schemas.microsoft.com/office/drawing/2014/main" id="{80D31710-C75A-458D-B7F1-2AC28521C004}"/>
              </a:ext>
            </a:extLst>
          </p:cNvPr>
          <p:cNvSpPr>
            <a:spLocks xmlns:a="http://schemas.openxmlformats.org/drawingml/2006/main" noGrp="1"/>
          </p:cNvSpPr>
          <p:nvPr/>
        </p:nvSpPr>
        <p:spPr>
          <a:xfrm xmlns:a="http://schemas.openxmlformats.org/drawingml/2006/main">
            <a:off x="457200" y="2209800"/>
            <a:ext cx="11277600" cy="581025"/>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10" name="text-55">
            <a:extLst xmlns:a="http://schemas.openxmlformats.org/drawingml/2006/main">
              <a:ext uri="{FF2B5EF4-FFF2-40B4-BE49-F238E27FC236}">
                <a16:creationId xmlns:a16="http://schemas.microsoft.com/office/drawing/2014/main" id="{9E8AA2D8-B81B-48BD-8AD1-C66B5A42FC5E}"/>
              </a:ext>
            </a:extLst>
          </p:cNvPr>
          <p:cNvSpPr>
            <a:spLocks xmlns:a="http://schemas.openxmlformats.org/drawingml/2006/main" noGrp="1"/>
          </p:cNvSpPr>
          <p:nvPr/>
        </p:nvSpPr>
        <p:spPr>
          <a:xfrm xmlns:a="http://schemas.openxmlformats.org/drawingml/2006/main">
            <a:off x="638175" y="2352675"/>
            <a:ext cx="108680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Buyer: “Desainnya menarik, tapi ukurannya belum cocok untuk toko kami.”</a:t>
            </a:r>
          </a:p>
        </p:txBody>
      </p:sp>
      <p:sp>
        <p:nvSpPr>
          <p:cNvPr id="11" name="text-56">
            <a:extLst xmlns:a="http://schemas.openxmlformats.org/drawingml/2006/main">
              <a:ext uri="{FF2B5EF4-FFF2-40B4-BE49-F238E27FC236}">
                <a16:creationId xmlns:a16="http://schemas.microsoft.com/office/drawing/2014/main" id="{8C31FA67-7B13-4B58-838E-CE3692D826F4}"/>
              </a:ext>
            </a:extLst>
          </p:cNvPr>
          <p:cNvSpPr>
            <a:spLocks xmlns:a="http://schemas.openxmlformats.org/drawingml/2006/main" noGrp="1"/>
          </p:cNvSpPr>
          <p:nvPr/>
        </p:nvSpPr>
        <p:spPr>
          <a:xfrm xmlns:a="http://schemas.openxmlformats.org/drawingml/2006/main">
            <a:off x="457200" y="3171825"/>
            <a:ext cx="4848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RESPONS DEFENSIF</a:t>
            </a:r>
          </a:p>
        </p:txBody>
      </p:sp>
      <p:sp>
        <p:nvSpPr>
          <p:cNvPr id="12" name="text-57">
            <a:extLst xmlns:a="http://schemas.openxmlformats.org/drawingml/2006/main">
              <a:ext uri="{FF2B5EF4-FFF2-40B4-BE49-F238E27FC236}">
                <a16:creationId xmlns:a16="http://schemas.microsoft.com/office/drawing/2014/main" id="{3635A021-76BC-4D58-A35C-30D38D3E0C47}"/>
              </a:ext>
            </a:extLst>
          </p:cNvPr>
          <p:cNvSpPr>
            <a:spLocks xmlns:a="http://schemas.openxmlformats.org/drawingml/2006/main" noGrp="1"/>
          </p:cNvSpPr>
          <p:nvPr/>
        </p:nvSpPr>
        <p:spPr>
          <a:xfrm xmlns:a="http://schemas.openxmlformats.org/drawingml/2006/main">
            <a:off x="6191250" y="3171825"/>
            <a:ext cx="554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RESPONS YANG MEMBUKA PEMBELAJARAN</a:t>
            </a:r>
          </a:p>
        </p:txBody>
      </p:sp>
      <p:sp>
        <p:nvSpPr>
          <p:cNvPr id="13" name="text-58">
            <a:extLst xmlns:a="http://schemas.openxmlformats.org/drawingml/2006/main">
              <a:ext uri="{FF2B5EF4-FFF2-40B4-BE49-F238E27FC236}">
                <a16:creationId xmlns:a16="http://schemas.microsoft.com/office/drawing/2014/main" id="{D9EBB4E0-6F20-4DA8-95F7-04A3EA14FCAD}"/>
              </a:ext>
            </a:extLst>
          </p:cNvPr>
          <p:cNvSpPr>
            <a:spLocks xmlns:a="http://schemas.openxmlformats.org/drawingml/2006/main" noGrp="1"/>
          </p:cNvSpPr>
          <p:nvPr/>
        </p:nvSpPr>
        <p:spPr>
          <a:xfrm xmlns:a="http://schemas.openxmlformats.org/drawingml/2006/main">
            <a:off x="457200" y="3667125"/>
            <a:ext cx="48958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5B6C65"/>
                </a:solidFill>
                <a:latin typeface="Calibri"/>
                <a:ea typeface="Calibri"/>
                <a:cs typeface="Calibri"/>
              </a:defRPr>
            </a:pPr>
            <a:r>
              <a:rPr sz="2700" b="1">
                <a:solidFill>
                  <a:srgbClr val="5B6C65"/>
                </a:solidFill>
                <a:latin typeface="Calibri"/>
                <a:ea typeface="Calibri"/>
                <a:cs typeface="Calibri"/>
              </a:rPr>
              <a:t>“Mereka nggak paham</a:t>
            </a:r>
          </a:p>
          <a:p xmlns:a="http://schemas.openxmlformats.org/drawingml/2006/main">
            <a:pPr>
              <a:defRPr sz="2700" b="1">
                <a:solidFill>
                  <a:srgbClr val="5B6C65"/>
                </a:solidFill>
                <a:latin typeface="Calibri"/>
                <a:ea typeface="Calibri"/>
                <a:cs typeface="Calibri"/>
              </a:defRPr>
            </a:pPr>
            <a:r>
              <a:rPr sz="2700" b="1">
                <a:solidFill>
                  <a:srgbClr val="5B6C65"/>
                </a:solidFill>
                <a:latin typeface="Calibri"/>
                <a:ea typeface="Calibri"/>
                <a:cs typeface="Calibri"/>
              </a:rPr>
              <a:t>produk kita.”</a:t>
            </a:r>
          </a:p>
        </p:txBody>
      </p:sp>
      <p:sp>
        <p:nvSpPr>
          <p:cNvPr id="14" name="text-59">
            <a:extLst xmlns:a="http://schemas.openxmlformats.org/drawingml/2006/main">
              <a:ext uri="{FF2B5EF4-FFF2-40B4-BE49-F238E27FC236}">
                <a16:creationId xmlns:a16="http://schemas.microsoft.com/office/drawing/2014/main" id="{DD209DD7-DBB8-46A6-BAC9-AA786C3E774B}"/>
              </a:ext>
            </a:extLst>
          </p:cNvPr>
          <p:cNvSpPr>
            <a:spLocks xmlns:a="http://schemas.openxmlformats.org/drawingml/2006/main" noGrp="1"/>
          </p:cNvSpPr>
          <p:nvPr/>
        </p:nvSpPr>
        <p:spPr>
          <a:xfrm xmlns:a="http://schemas.openxmlformats.org/drawingml/2006/main">
            <a:off x="6191250" y="3667125"/>
            <a:ext cx="55054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087958"/>
                </a:solidFill>
                <a:latin typeface="Calibri"/>
                <a:ea typeface="Calibri"/>
                <a:cs typeface="Calibri"/>
              </a:defRPr>
            </a:pPr>
            <a:r>
              <a:rPr sz="2550" b="1">
                <a:solidFill>
                  <a:srgbClr val="087958"/>
                </a:solidFill>
                <a:latin typeface="Calibri"/>
                <a:ea typeface="Calibri"/>
                <a:cs typeface="Calibri"/>
              </a:rPr>
              <a:t>“Ukuran seperti apa yang</a:t>
            </a:r>
          </a:p>
          <a:p xmlns:a="http://schemas.openxmlformats.org/drawingml/2006/main">
            <a:pPr>
              <a:defRPr sz="2550" b="1">
                <a:solidFill>
                  <a:srgbClr val="087958"/>
                </a:solidFill>
                <a:latin typeface="Calibri"/>
                <a:ea typeface="Calibri"/>
                <a:cs typeface="Calibri"/>
              </a:defRPr>
            </a:pPr>
            <a:r>
              <a:rPr sz="2550" b="1">
                <a:solidFill>
                  <a:srgbClr val="087958"/>
                </a:solidFill>
                <a:latin typeface="Calibri"/>
                <a:ea typeface="Calibri"/>
                <a:cs typeface="Calibri"/>
              </a:rPr>
              <a:t>paling sering dicari pelanggan?”</a:t>
            </a:r>
          </a:p>
        </p:txBody>
      </p:sp>
      <p:sp>
        <p:nvSpPr>
          <p:cNvPr id="15" name="text-60">
            <a:extLst xmlns:a="http://schemas.openxmlformats.org/drawingml/2006/main">
              <a:ext uri="{FF2B5EF4-FFF2-40B4-BE49-F238E27FC236}">
                <a16:creationId xmlns:a16="http://schemas.microsoft.com/office/drawing/2014/main" id="{4288FF9C-D5B9-4FEC-8662-C2B9E8E61F19}"/>
              </a:ext>
            </a:extLst>
          </p:cNvPr>
          <p:cNvSpPr>
            <a:spLocks xmlns:a="http://schemas.openxmlformats.org/drawingml/2006/main" noGrp="1"/>
          </p:cNvSpPr>
          <p:nvPr/>
        </p:nvSpPr>
        <p:spPr>
          <a:xfrm xmlns:a="http://schemas.openxmlformats.org/drawingml/2006/main">
            <a:off x="457200" y="4914900"/>
            <a:ext cx="4943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Pembicaraan berhenti.</a:t>
            </a:r>
          </a:p>
        </p:txBody>
      </p:sp>
      <p:sp>
        <p:nvSpPr>
          <p:cNvPr id="16" name="text-61">
            <a:extLst xmlns:a="http://schemas.openxmlformats.org/drawingml/2006/main">
              <a:ext uri="{FF2B5EF4-FFF2-40B4-BE49-F238E27FC236}">
                <a16:creationId xmlns:a16="http://schemas.microsoft.com/office/drawing/2014/main" id="{A5D345E0-7347-48A8-BFF6-D11E680C5215}"/>
              </a:ext>
            </a:extLst>
          </p:cNvPr>
          <p:cNvSpPr>
            <a:spLocks xmlns:a="http://schemas.openxmlformats.org/drawingml/2006/main" noGrp="1"/>
          </p:cNvSpPr>
          <p:nvPr/>
        </p:nvSpPr>
        <p:spPr>
          <a:xfrm xmlns:a="http://schemas.openxmlformats.org/drawingml/2006/main">
            <a:off x="6191250" y="491490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62B27"/>
                </a:solidFill>
                <a:latin typeface="Calibri"/>
                <a:ea typeface="Calibri"/>
                <a:cs typeface="Calibri"/>
              </a:defRPr>
            </a:pPr>
            <a:r>
              <a:rPr sz="1875" b="0">
                <a:solidFill>
                  <a:srgbClr val="162B27"/>
                </a:solidFill>
                <a:latin typeface="Calibri"/>
                <a:ea typeface="Calibri"/>
                <a:cs typeface="Calibri"/>
              </a:rPr>
              <a:t>Kita mendapat petunjuk untuk uji berikutnya.</a:t>
            </a:r>
          </a:p>
        </p:txBody>
      </p:sp>
      <p:sp>
        <p:nvSpPr>
          <p:cNvPr id="17" name="">
            <a:extLst xmlns:a="http://schemas.openxmlformats.org/drawingml/2006/main">
              <a:ext uri="{FF2B5EF4-FFF2-40B4-BE49-F238E27FC236}">
                <a16:creationId xmlns:a16="http://schemas.microsoft.com/office/drawing/2014/main" id="{62E0559E-11D4-45D7-A764-EA12F8A64602}"/>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8" name="text-62">
            <a:extLst xmlns:a="http://schemas.openxmlformats.org/drawingml/2006/main">
              <a:ext uri="{FF2B5EF4-FFF2-40B4-BE49-F238E27FC236}">
                <a16:creationId xmlns:a16="http://schemas.microsoft.com/office/drawing/2014/main" id="{5F66E688-5843-4A58-8789-87024A3F10CE}"/>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Masukan buyer perlu dicatat, dicari polanya, lalu diuji.</a:t>
            </a:r>
          </a:p>
        </p:txBody>
      </p:sp>
    </p:spTree>
    <p:extLst>
      <p:ext uri="{BB962C8B-B14F-4D97-AF65-F5344CB8AC3E}">
        <p14:creationId xmlns:p14="http://schemas.microsoft.com/office/powerpoint/2010/main" val="5540323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3c5ebd70399495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AC54A59-C4FA-4E21-85DE-9907E173E5D6}"/>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2bc1de79b5843c0"/>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63">
            <a:extLst xmlns:a="http://schemas.openxmlformats.org/drawingml/2006/main">
              <a:ext uri="{FF2B5EF4-FFF2-40B4-BE49-F238E27FC236}">
                <a16:creationId xmlns:a16="http://schemas.microsoft.com/office/drawing/2014/main" id="{53C52EA9-706F-4069-AB2B-830ABD6ED755}"/>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Keyakinan terhadap produk perlu diuji lewat respons pasar</a:t>
            </a:r>
          </a:p>
        </p:txBody>
      </p:sp>
      <p:sp>
        <p:nvSpPr>
          <p:cNvPr id="5" name="text-64">
            <a:extLst xmlns:a="http://schemas.openxmlformats.org/drawingml/2006/main">
              <a:ext uri="{FF2B5EF4-FFF2-40B4-BE49-F238E27FC236}">
                <a16:creationId xmlns:a16="http://schemas.microsoft.com/office/drawing/2014/main" id="{A8869A00-5E9C-4E5F-BD27-CF6AF4B502CA}"/>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Eksperimen kecil membantu kita belajar sebelum menambah stok atau kapasitas.</a:t>
            </a:r>
          </a:p>
        </p:txBody>
      </p:sp>
      <p:sp>
        <p:nvSpPr>
          <p:cNvPr id="6" name="text-65">
            <a:extLst xmlns:a="http://schemas.openxmlformats.org/drawingml/2006/main">
              <a:ext uri="{FF2B5EF4-FFF2-40B4-BE49-F238E27FC236}">
                <a16:creationId xmlns:a16="http://schemas.microsoft.com/office/drawing/2014/main" id="{668C6063-95A2-42DD-9072-EC4270F76FC3}"/>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66">
            <a:extLst xmlns:a="http://schemas.openxmlformats.org/drawingml/2006/main">
              <a:ext uri="{FF2B5EF4-FFF2-40B4-BE49-F238E27FC236}">
                <a16:creationId xmlns:a16="http://schemas.microsoft.com/office/drawing/2014/main" id="{A03A9935-FECF-4E7C-AF2D-C753003B0962}"/>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67">
            <a:extLst xmlns:a="http://schemas.openxmlformats.org/drawingml/2006/main">
              <a:ext uri="{FF2B5EF4-FFF2-40B4-BE49-F238E27FC236}">
                <a16:creationId xmlns:a16="http://schemas.microsoft.com/office/drawing/2014/main" id="{E0DE6A43-D005-4E2A-88C8-84A1DF350950}"/>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06</a:t>
            </a:r>
          </a:p>
        </p:txBody>
      </p:sp>
      <p:sp>
        <p:nvSpPr>
          <p:cNvPr id="9" name="text-68">
            <a:extLst xmlns:a="http://schemas.openxmlformats.org/drawingml/2006/main">
              <a:ext uri="{FF2B5EF4-FFF2-40B4-BE49-F238E27FC236}">
                <a16:creationId xmlns:a16="http://schemas.microsoft.com/office/drawing/2014/main" id="{33CEE05E-467F-48B5-B080-638CC3D78D62}"/>
              </a:ext>
            </a:extLst>
          </p:cNvPr>
          <p:cNvSpPr>
            <a:spLocks xmlns:a="http://schemas.openxmlformats.org/drawingml/2006/main" noGrp="1"/>
          </p:cNvSpPr>
          <p:nvPr/>
        </p:nvSpPr>
        <p:spPr>
          <a:xfrm xmlns:a="http://schemas.openxmlformats.org/drawingml/2006/main">
            <a:off x="457200" y="237172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87958"/>
                </a:solidFill>
                <a:latin typeface="Calibri"/>
                <a:ea typeface="Calibri"/>
                <a:cs typeface="Calibri"/>
              </a:defRPr>
            </a:pPr>
            <a:r>
              <a:rPr sz="3150" b="1">
                <a:solidFill>
                  <a:srgbClr val="087958"/>
                </a:solidFill>
                <a:latin typeface="Calibri"/>
                <a:ea typeface="Calibri"/>
                <a:cs typeface="Calibri"/>
              </a:rPr>
              <a:t>01</a:t>
            </a:r>
          </a:p>
        </p:txBody>
      </p:sp>
      <p:sp>
        <p:nvSpPr>
          <p:cNvPr id="10" name="text-69">
            <a:extLst xmlns:a="http://schemas.openxmlformats.org/drawingml/2006/main">
              <a:ext uri="{FF2B5EF4-FFF2-40B4-BE49-F238E27FC236}">
                <a16:creationId xmlns:a16="http://schemas.microsoft.com/office/drawing/2014/main" id="{0D49C60E-C422-4A95-9F21-030CDD4B7049}"/>
              </a:ext>
            </a:extLst>
          </p:cNvPr>
          <p:cNvSpPr>
            <a:spLocks xmlns:a="http://schemas.openxmlformats.org/drawingml/2006/main" noGrp="1"/>
          </p:cNvSpPr>
          <p:nvPr/>
        </p:nvSpPr>
        <p:spPr>
          <a:xfrm xmlns:a="http://schemas.openxmlformats.org/drawingml/2006/main">
            <a:off x="457200" y="30289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2B28"/>
                </a:solidFill>
                <a:latin typeface="Calibri"/>
                <a:ea typeface="Calibri"/>
                <a:cs typeface="Calibri"/>
              </a:defRPr>
            </a:pPr>
            <a:r>
              <a:rPr sz="2250" b="1">
                <a:solidFill>
                  <a:srgbClr val="002B28"/>
                </a:solidFill>
                <a:latin typeface="Calibri"/>
                <a:ea typeface="Calibri"/>
                <a:cs typeface="Calibri"/>
              </a:rPr>
              <a:t>BUILD</a:t>
            </a:r>
          </a:p>
        </p:txBody>
      </p:sp>
      <p:sp>
        <p:nvSpPr>
          <p:cNvPr id="11" name="text-70">
            <a:extLst xmlns:a="http://schemas.openxmlformats.org/drawingml/2006/main">
              <a:ext uri="{FF2B5EF4-FFF2-40B4-BE49-F238E27FC236}">
                <a16:creationId xmlns:a16="http://schemas.microsoft.com/office/drawing/2014/main" id="{DB292B3F-580B-4F40-95A2-260BED60C1A1}"/>
              </a:ext>
            </a:extLst>
          </p:cNvPr>
          <p:cNvSpPr>
            <a:spLocks xmlns:a="http://schemas.openxmlformats.org/drawingml/2006/main" noGrp="1"/>
          </p:cNvSpPr>
          <p:nvPr/>
        </p:nvSpPr>
        <p:spPr>
          <a:xfrm xmlns:a="http://schemas.openxmlformats.org/drawingml/2006/main">
            <a:off x="457200" y="3581400"/>
            <a:ext cx="314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Siapkan sampel dan</a:t>
            </a:r>
          </a:p>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penawaran yang jelas.</a:t>
            </a:r>
          </a:p>
        </p:txBody>
      </p:sp>
      <p:sp>
        <p:nvSpPr>
          <p:cNvPr id="12" name="text-71">
            <a:extLst xmlns:a="http://schemas.openxmlformats.org/drawingml/2006/main">
              <a:ext uri="{FF2B5EF4-FFF2-40B4-BE49-F238E27FC236}">
                <a16:creationId xmlns:a16="http://schemas.microsoft.com/office/drawing/2014/main" id="{7474FF19-4F8F-43F1-8680-26B8337E93E9}"/>
              </a:ext>
            </a:extLst>
          </p:cNvPr>
          <p:cNvSpPr>
            <a:spLocks xmlns:a="http://schemas.openxmlformats.org/drawingml/2006/main" noGrp="1"/>
          </p:cNvSpPr>
          <p:nvPr/>
        </p:nvSpPr>
        <p:spPr>
          <a:xfrm xmlns:a="http://schemas.openxmlformats.org/drawingml/2006/main">
            <a:off x="4533900" y="237172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87958"/>
                </a:solidFill>
                <a:latin typeface="Calibri"/>
                <a:ea typeface="Calibri"/>
                <a:cs typeface="Calibri"/>
              </a:defRPr>
            </a:pPr>
            <a:r>
              <a:rPr sz="3150" b="1">
                <a:solidFill>
                  <a:srgbClr val="087958"/>
                </a:solidFill>
                <a:latin typeface="Calibri"/>
                <a:ea typeface="Calibri"/>
                <a:cs typeface="Calibri"/>
              </a:rPr>
              <a:t>02</a:t>
            </a:r>
          </a:p>
        </p:txBody>
      </p:sp>
      <p:sp>
        <p:nvSpPr>
          <p:cNvPr id="13" name="text-72">
            <a:extLst xmlns:a="http://schemas.openxmlformats.org/drawingml/2006/main">
              <a:ext uri="{FF2B5EF4-FFF2-40B4-BE49-F238E27FC236}">
                <a16:creationId xmlns:a16="http://schemas.microsoft.com/office/drawing/2014/main" id="{8A399340-D5CD-48FD-B5BB-A4D43015F57D}"/>
              </a:ext>
            </a:extLst>
          </p:cNvPr>
          <p:cNvSpPr>
            <a:spLocks xmlns:a="http://schemas.openxmlformats.org/drawingml/2006/main" noGrp="1"/>
          </p:cNvSpPr>
          <p:nvPr/>
        </p:nvSpPr>
        <p:spPr>
          <a:xfrm xmlns:a="http://schemas.openxmlformats.org/drawingml/2006/main">
            <a:off x="4533900" y="30289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2B28"/>
                </a:solidFill>
                <a:latin typeface="Calibri"/>
                <a:ea typeface="Calibri"/>
                <a:cs typeface="Calibri"/>
              </a:defRPr>
            </a:pPr>
            <a:r>
              <a:rPr sz="2250" b="1">
                <a:solidFill>
                  <a:srgbClr val="002B28"/>
                </a:solidFill>
                <a:latin typeface="Calibri"/>
                <a:ea typeface="Calibri"/>
                <a:cs typeface="Calibri"/>
              </a:rPr>
              <a:t>MEASURE</a:t>
            </a:r>
          </a:p>
        </p:txBody>
      </p:sp>
      <p:sp>
        <p:nvSpPr>
          <p:cNvPr id="14" name="text-73">
            <a:extLst xmlns:a="http://schemas.openxmlformats.org/drawingml/2006/main">
              <a:ext uri="{FF2B5EF4-FFF2-40B4-BE49-F238E27FC236}">
                <a16:creationId xmlns:a16="http://schemas.microsoft.com/office/drawing/2014/main" id="{C6633AF6-FEC6-4B67-A36F-FF592017D2CC}"/>
              </a:ext>
            </a:extLst>
          </p:cNvPr>
          <p:cNvSpPr>
            <a:spLocks xmlns:a="http://schemas.openxmlformats.org/drawingml/2006/main" noGrp="1"/>
          </p:cNvSpPr>
          <p:nvPr/>
        </p:nvSpPr>
        <p:spPr>
          <a:xfrm xmlns:a="http://schemas.openxmlformats.org/drawingml/2006/main">
            <a:off x="4533900" y="3581400"/>
            <a:ext cx="314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Catat masukan dan</a:t>
            </a:r>
          </a:p>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tindak lanjut buyer.</a:t>
            </a:r>
          </a:p>
        </p:txBody>
      </p:sp>
      <p:sp>
        <p:nvSpPr>
          <p:cNvPr id="15" name="text-74">
            <a:extLst xmlns:a="http://schemas.openxmlformats.org/drawingml/2006/main">
              <a:ext uri="{FF2B5EF4-FFF2-40B4-BE49-F238E27FC236}">
                <a16:creationId xmlns:a16="http://schemas.microsoft.com/office/drawing/2014/main" id="{43D12B1B-DA46-4F31-A6DA-E6C2A0B9DCA3}"/>
              </a:ext>
            </a:extLst>
          </p:cNvPr>
          <p:cNvSpPr>
            <a:spLocks xmlns:a="http://schemas.openxmlformats.org/drawingml/2006/main" noGrp="1"/>
          </p:cNvSpPr>
          <p:nvPr/>
        </p:nvSpPr>
        <p:spPr>
          <a:xfrm xmlns:a="http://schemas.openxmlformats.org/drawingml/2006/main">
            <a:off x="8610600" y="237172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87958"/>
                </a:solidFill>
                <a:latin typeface="Calibri"/>
                <a:ea typeface="Calibri"/>
                <a:cs typeface="Calibri"/>
              </a:defRPr>
            </a:pPr>
            <a:r>
              <a:rPr sz="3150" b="1">
                <a:solidFill>
                  <a:srgbClr val="087958"/>
                </a:solidFill>
                <a:latin typeface="Calibri"/>
                <a:ea typeface="Calibri"/>
                <a:cs typeface="Calibri"/>
              </a:rPr>
              <a:t>03</a:t>
            </a:r>
          </a:p>
        </p:txBody>
      </p:sp>
      <p:sp>
        <p:nvSpPr>
          <p:cNvPr id="16" name="text-75">
            <a:extLst xmlns:a="http://schemas.openxmlformats.org/drawingml/2006/main">
              <a:ext uri="{FF2B5EF4-FFF2-40B4-BE49-F238E27FC236}">
                <a16:creationId xmlns:a16="http://schemas.microsoft.com/office/drawing/2014/main" id="{885C429C-5663-4A72-AE34-B63D677CF9B9}"/>
              </a:ext>
            </a:extLst>
          </p:cNvPr>
          <p:cNvSpPr>
            <a:spLocks xmlns:a="http://schemas.openxmlformats.org/drawingml/2006/main" noGrp="1"/>
          </p:cNvSpPr>
          <p:nvPr/>
        </p:nvSpPr>
        <p:spPr>
          <a:xfrm xmlns:a="http://schemas.openxmlformats.org/drawingml/2006/main">
            <a:off x="8610600" y="3028950"/>
            <a:ext cx="3124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2B28"/>
                </a:solidFill>
                <a:latin typeface="Calibri"/>
                <a:ea typeface="Calibri"/>
                <a:cs typeface="Calibri"/>
              </a:defRPr>
            </a:pPr>
            <a:r>
              <a:rPr sz="2250" b="1">
                <a:solidFill>
                  <a:srgbClr val="002B28"/>
                </a:solidFill>
                <a:latin typeface="Calibri"/>
                <a:ea typeface="Calibri"/>
                <a:cs typeface="Calibri"/>
              </a:rPr>
              <a:t>LEARN</a:t>
            </a:r>
          </a:p>
        </p:txBody>
      </p:sp>
      <p:sp>
        <p:nvSpPr>
          <p:cNvPr id="17" name="text-76">
            <a:extLst xmlns:a="http://schemas.openxmlformats.org/drawingml/2006/main">
              <a:ext uri="{FF2B5EF4-FFF2-40B4-BE49-F238E27FC236}">
                <a16:creationId xmlns:a16="http://schemas.microsoft.com/office/drawing/2014/main" id="{FC20A2C9-FD69-4E72-B040-DDAEFB3D55E7}"/>
              </a:ext>
            </a:extLst>
          </p:cNvPr>
          <p:cNvSpPr>
            <a:spLocks xmlns:a="http://schemas.openxmlformats.org/drawingml/2006/main" noGrp="1"/>
          </p:cNvSpPr>
          <p:nvPr/>
        </p:nvSpPr>
        <p:spPr>
          <a:xfrm xmlns:a="http://schemas.openxmlformats.org/drawingml/2006/main">
            <a:off x="8610600" y="3581400"/>
            <a:ext cx="31242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Perbaiki produk, harga,</a:t>
            </a:r>
          </a:p>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atau target buyer.</a:t>
            </a:r>
          </a:p>
        </p:txBody>
      </p:sp>
      <p:sp>
        <p:nvSpPr>
          <p:cNvPr id="18" name="text-77">
            <a:extLst xmlns:a="http://schemas.openxmlformats.org/drawingml/2006/main">
              <a:ext uri="{FF2B5EF4-FFF2-40B4-BE49-F238E27FC236}">
                <a16:creationId xmlns:a16="http://schemas.microsoft.com/office/drawing/2014/main" id="{FC68E8EC-8411-4E7E-9AD5-8D7C746503B9}"/>
              </a:ext>
            </a:extLst>
          </p:cNvPr>
          <p:cNvSpPr>
            <a:spLocks xmlns:a="http://schemas.openxmlformats.org/drawingml/2006/main" noGrp="1"/>
          </p:cNvSpPr>
          <p:nvPr/>
        </p:nvSpPr>
        <p:spPr>
          <a:xfrm xmlns:a="http://schemas.openxmlformats.org/drawingml/2006/main">
            <a:off x="3705225" y="3267075"/>
            <a:ext cx="5810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087958"/>
                </a:solidFill>
                <a:latin typeface="Calibri"/>
                <a:ea typeface="Calibri"/>
                <a:cs typeface="Calibri"/>
              </a:defRPr>
            </a:pPr>
            <a:r>
              <a:rPr sz="3675" b="1">
                <a:solidFill>
                  <a:srgbClr val="087958"/>
                </a:solidFill>
                <a:latin typeface="Calibri"/>
                <a:ea typeface="Calibri"/>
                <a:cs typeface="Calibri"/>
              </a:rPr>
              <a:t>→</a:t>
            </a:r>
          </a:p>
        </p:txBody>
      </p:sp>
      <p:sp>
        <p:nvSpPr>
          <p:cNvPr id="19" name="text-78">
            <a:extLst xmlns:a="http://schemas.openxmlformats.org/drawingml/2006/main">
              <a:ext uri="{FF2B5EF4-FFF2-40B4-BE49-F238E27FC236}">
                <a16:creationId xmlns:a16="http://schemas.microsoft.com/office/drawing/2014/main" id="{AE27BCD5-B174-46D6-9318-13DA503B1F90}"/>
              </a:ext>
            </a:extLst>
          </p:cNvPr>
          <p:cNvSpPr>
            <a:spLocks xmlns:a="http://schemas.openxmlformats.org/drawingml/2006/main" noGrp="1"/>
          </p:cNvSpPr>
          <p:nvPr/>
        </p:nvSpPr>
        <p:spPr>
          <a:xfrm xmlns:a="http://schemas.openxmlformats.org/drawingml/2006/main">
            <a:off x="7781925" y="3267075"/>
            <a:ext cx="5810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087958"/>
                </a:solidFill>
                <a:latin typeface="Calibri"/>
                <a:ea typeface="Calibri"/>
                <a:cs typeface="Calibri"/>
              </a:defRPr>
            </a:pPr>
            <a:r>
              <a:rPr sz="3675" b="1">
                <a:solidFill>
                  <a:srgbClr val="087958"/>
                </a:solidFill>
                <a:latin typeface="Calibri"/>
                <a:ea typeface="Calibri"/>
                <a:cs typeface="Calibri"/>
              </a:rPr>
              <a:t>→</a:t>
            </a:r>
          </a:p>
        </p:txBody>
      </p:sp>
      <p:sp>
        <p:nvSpPr>
          <p:cNvPr id="20" name="">
            <a:extLst xmlns:a="http://schemas.openxmlformats.org/drawingml/2006/main">
              <a:ext uri="{FF2B5EF4-FFF2-40B4-BE49-F238E27FC236}">
                <a16:creationId xmlns:a16="http://schemas.microsoft.com/office/drawing/2014/main" id="{B9FC7C99-6F7D-4C06-9602-FA7069DA8E6B}"/>
              </a:ext>
            </a:extLst>
          </p:cNvPr>
          <p:cNvSpPr>
            <a:spLocks xmlns:a="http://schemas.openxmlformats.org/drawingml/2006/main" noGrp="1"/>
          </p:cNvSpPr>
          <p:nvPr/>
        </p:nvSpPr>
        <p:spPr>
          <a:xfrm xmlns:a="http://schemas.openxmlformats.org/drawingml/2006/main">
            <a:off x="457200" y="4972050"/>
            <a:ext cx="11277600" cy="0"/>
          </a:xfrm>
          <a:prstGeom xmlns:a="http://schemas.openxmlformats.org/drawingml/2006/main" prst="line">
            <a:avLst/>
          </a:prstGeom>
          <a:noFill xmlns:a="http://schemas.openxmlformats.org/drawingml/2006/main"/>
          <a:ln xmlns:a="http://schemas.openxmlformats.org/drawingml/2006/main" w="19050">
            <a:solidFill>
              <a:srgbClr val="087958"/>
            </a:solidFill>
          </a:ln>
        </p:spPr>
      </p:sp>
      <p:sp>
        <p:nvSpPr>
          <p:cNvPr id="21" name="text-79">
            <a:extLst xmlns:a="http://schemas.openxmlformats.org/drawingml/2006/main">
              <a:ext uri="{FF2B5EF4-FFF2-40B4-BE49-F238E27FC236}">
                <a16:creationId xmlns:a16="http://schemas.microsoft.com/office/drawing/2014/main" id="{DAA64F2A-5067-4BF6-932E-5A073649E844}"/>
              </a:ext>
            </a:extLst>
          </p:cNvPr>
          <p:cNvSpPr>
            <a:spLocks xmlns:a="http://schemas.openxmlformats.org/drawingml/2006/main" noGrp="1"/>
          </p:cNvSpPr>
          <p:nvPr/>
        </p:nvSpPr>
        <p:spPr>
          <a:xfrm xmlns:a="http://schemas.openxmlformats.org/drawingml/2006/main">
            <a:off x="457200" y="5172075"/>
            <a:ext cx="11229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Ulangi dengan bukti baru sebelum membuat komitmen yang lebih besar.</a:t>
            </a:r>
          </a:p>
        </p:txBody>
      </p:sp>
      <p:sp>
        <p:nvSpPr>
          <p:cNvPr id="22" name="text-80">
            <a:extLst xmlns:a="http://schemas.openxmlformats.org/drawingml/2006/main">
              <a:ext uri="{FF2B5EF4-FFF2-40B4-BE49-F238E27FC236}">
                <a16:creationId xmlns:a16="http://schemas.microsoft.com/office/drawing/2014/main" id="{53625CB3-F49B-4CF7-9046-2B269EA8090E}"/>
              </a:ext>
            </a:extLst>
          </p:cNvPr>
          <p:cNvSpPr>
            <a:spLocks xmlns:a="http://schemas.openxmlformats.org/drawingml/2006/main" noGrp="1"/>
          </p:cNvSpPr>
          <p:nvPr/>
        </p:nvSpPr>
        <p:spPr>
          <a:xfrm xmlns:a="http://schemas.openxmlformats.org/drawingml/2006/main">
            <a:off x="457200" y="57531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Contoh bukti: spesifikasi disepakati, sampel disetujui, atau buyer meminta penawaran lanjutan.</a:t>
            </a:r>
          </a:p>
        </p:txBody>
      </p:sp>
    </p:spTree>
    <p:extLst>
      <p:ext uri="{BB962C8B-B14F-4D97-AF65-F5344CB8AC3E}">
        <p14:creationId xmlns:p14="http://schemas.microsoft.com/office/powerpoint/2010/main" val="1540828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e38e0b40fba444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316063-1C06-4F9D-A24F-04780D6A79B9}"/>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b8d7f2d07154806"/>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81">
            <a:extLst xmlns:a="http://schemas.openxmlformats.org/drawingml/2006/main">
              <a:ext uri="{FF2B5EF4-FFF2-40B4-BE49-F238E27FC236}">
                <a16:creationId xmlns:a16="http://schemas.microsoft.com/office/drawing/2014/main" id="{ECBB0BBE-2A1A-40B3-8E1C-E593AAC2783C}"/>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Pesanan besar perlu diimbangi kemampuan memenuhi janji</a:t>
            </a:r>
          </a:p>
        </p:txBody>
      </p:sp>
      <p:sp>
        <p:nvSpPr>
          <p:cNvPr id="5" name="text-82">
            <a:extLst xmlns:a="http://schemas.openxmlformats.org/drawingml/2006/main">
              <a:ext uri="{FF2B5EF4-FFF2-40B4-BE49-F238E27FC236}">
                <a16:creationId xmlns:a16="http://schemas.microsoft.com/office/drawing/2014/main" id="{96BE801D-502E-4304-8BB1-239EA8B5679C}"/>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Minat buyer baru menjadi peluang yang sehat kalau kita sanggup mengerjakannya.</a:t>
            </a:r>
          </a:p>
        </p:txBody>
      </p:sp>
      <p:sp>
        <p:nvSpPr>
          <p:cNvPr id="6" name="text-83">
            <a:extLst xmlns:a="http://schemas.openxmlformats.org/drawingml/2006/main">
              <a:ext uri="{FF2B5EF4-FFF2-40B4-BE49-F238E27FC236}">
                <a16:creationId xmlns:a16="http://schemas.microsoft.com/office/drawing/2014/main" id="{77000242-3925-4276-89C1-E295CA3E0696}"/>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84">
            <a:extLst xmlns:a="http://schemas.openxmlformats.org/drawingml/2006/main">
              <a:ext uri="{FF2B5EF4-FFF2-40B4-BE49-F238E27FC236}">
                <a16:creationId xmlns:a16="http://schemas.microsoft.com/office/drawing/2014/main" id="{394E7288-A38F-49FC-9947-F93CD8EB0BCE}"/>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85">
            <a:extLst xmlns:a="http://schemas.openxmlformats.org/drawingml/2006/main">
              <a:ext uri="{FF2B5EF4-FFF2-40B4-BE49-F238E27FC236}">
                <a16:creationId xmlns:a16="http://schemas.microsoft.com/office/drawing/2014/main" id="{9557A3F9-C3F4-4CF8-BDEF-1B608C30C371}"/>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07</a:t>
            </a:r>
          </a:p>
        </p:txBody>
      </p:sp>
      <p:sp>
        <p:nvSpPr>
          <p:cNvPr id="9" name="text-86">
            <a:extLst xmlns:a="http://schemas.openxmlformats.org/drawingml/2006/main">
              <a:ext uri="{FF2B5EF4-FFF2-40B4-BE49-F238E27FC236}">
                <a16:creationId xmlns:a16="http://schemas.microsoft.com/office/drawing/2014/main" id="{C6AF8B25-3360-47D6-983F-F0DD75B0A8D3}"/>
              </a:ext>
            </a:extLst>
          </p:cNvPr>
          <p:cNvSpPr>
            <a:spLocks xmlns:a="http://schemas.openxmlformats.org/drawingml/2006/main" noGrp="1"/>
          </p:cNvSpPr>
          <p:nvPr/>
        </p:nvSpPr>
        <p:spPr>
          <a:xfrm xmlns:a="http://schemas.openxmlformats.org/drawingml/2006/main">
            <a:off x="457200" y="2276475"/>
            <a:ext cx="2152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KAPASITAS</a:t>
            </a:r>
          </a:p>
        </p:txBody>
      </p:sp>
      <p:sp>
        <p:nvSpPr>
          <p:cNvPr id="10" name="text-87">
            <a:extLst xmlns:a="http://schemas.openxmlformats.org/drawingml/2006/main">
              <a:ext uri="{FF2B5EF4-FFF2-40B4-BE49-F238E27FC236}">
                <a16:creationId xmlns:a16="http://schemas.microsoft.com/office/drawing/2014/main" id="{01E2255D-E168-4AC8-956C-0B6FD5AEB23E}"/>
              </a:ext>
            </a:extLst>
          </p:cNvPr>
          <p:cNvSpPr>
            <a:spLocks xmlns:a="http://schemas.openxmlformats.org/drawingml/2006/main" noGrp="1"/>
          </p:cNvSpPr>
          <p:nvPr/>
        </p:nvSpPr>
        <p:spPr>
          <a:xfrm xmlns:a="http://schemas.openxmlformats.org/drawingml/2006/main">
            <a:off x="2905125" y="2209800"/>
            <a:ext cx="8524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62B27"/>
                </a:solidFill>
                <a:latin typeface="Calibri"/>
                <a:ea typeface="Calibri"/>
                <a:cs typeface="Calibri"/>
              </a:defRPr>
            </a:pPr>
            <a:r>
              <a:rPr sz="2250" b="1">
                <a:solidFill>
                  <a:srgbClr val="162B27"/>
                </a:solidFill>
                <a:latin typeface="Calibri"/>
                <a:ea typeface="Calibri"/>
                <a:cs typeface="Calibri"/>
              </a:rPr>
              <a:t>Berapa yang benar-benar bisa diproduksi?</a:t>
            </a:r>
          </a:p>
        </p:txBody>
      </p:sp>
      <p:sp>
        <p:nvSpPr>
          <p:cNvPr id="11" name="text-88">
            <a:extLst xmlns:a="http://schemas.openxmlformats.org/drawingml/2006/main">
              <a:ext uri="{FF2B5EF4-FFF2-40B4-BE49-F238E27FC236}">
                <a16:creationId xmlns:a16="http://schemas.microsoft.com/office/drawing/2014/main" id="{3D78530D-3D52-44EF-935A-031E2F776AA1}"/>
              </a:ext>
            </a:extLst>
          </p:cNvPr>
          <p:cNvSpPr>
            <a:spLocks xmlns:a="http://schemas.openxmlformats.org/drawingml/2006/main" noGrp="1"/>
          </p:cNvSpPr>
          <p:nvPr/>
        </p:nvSpPr>
        <p:spPr>
          <a:xfrm xmlns:a="http://schemas.openxmlformats.org/drawingml/2006/main">
            <a:off x="2905125" y="2638425"/>
            <a:ext cx="852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Hitung kapasitas setelah komitmen ke pelanggan lain.</a:t>
            </a:r>
          </a:p>
        </p:txBody>
      </p:sp>
      <p:sp>
        <p:nvSpPr>
          <p:cNvPr id="12" name="">
            <a:extLst xmlns:a="http://schemas.openxmlformats.org/drawingml/2006/main">
              <a:ext uri="{FF2B5EF4-FFF2-40B4-BE49-F238E27FC236}">
                <a16:creationId xmlns:a16="http://schemas.microsoft.com/office/drawing/2014/main" id="{C6FD47F4-C297-497C-B570-EEE113B37BBF}"/>
              </a:ext>
            </a:extLst>
          </p:cNvPr>
          <p:cNvSpPr>
            <a:spLocks xmlns:a="http://schemas.openxmlformats.org/drawingml/2006/main" noGrp="1"/>
          </p:cNvSpPr>
          <p:nvPr/>
        </p:nvSpPr>
        <p:spPr>
          <a:xfrm xmlns:a="http://schemas.openxmlformats.org/drawingml/2006/main">
            <a:off x="457200" y="312420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3" name="text-89">
            <a:extLst xmlns:a="http://schemas.openxmlformats.org/drawingml/2006/main">
              <a:ext uri="{FF2B5EF4-FFF2-40B4-BE49-F238E27FC236}">
                <a16:creationId xmlns:a16="http://schemas.microsoft.com/office/drawing/2014/main" id="{D403FAD0-1659-4EF6-824D-8FDA90BF0579}"/>
              </a:ext>
            </a:extLst>
          </p:cNvPr>
          <p:cNvSpPr>
            <a:spLocks xmlns:a="http://schemas.openxmlformats.org/drawingml/2006/main" noGrp="1"/>
          </p:cNvSpPr>
          <p:nvPr/>
        </p:nvSpPr>
        <p:spPr>
          <a:xfrm xmlns:a="http://schemas.openxmlformats.org/drawingml/2006/main">
            <a:off x="457200" y="3333750"/>
            <a:ext cx="2152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KUALITAS</a:t>
            </a:r>
          </a:p>
        </p:txBody>
      </p:sp>
      <p:sp>
        <p:nvSpPr>
          <p:cNvPr id="14" name="text-90">
            <a:extLst xmlns:a="http://schemas.openxmlformats.org/drawingml/2006/main">
              <a:ext uri="{FF2B5EF4-FFF2-40B4-BE49-F238E27FC236}">
                <a16:creationId xmlns:a16="http://schemas.microsoft.com/office/drawing/2014/main" id="{B395CDEE-618E-41A6-B314-B7A38A008653}"/>
              </a:ext>
            </a:extLst>
          </p:cNvPr>
          <p:cNvSpPr>
            <a:spLocks xmlns:a="http://schemas.openxmlformats.org/drawingml/2006/main" noGrp="1"/>
          </p:cNvSpPr>
          <p:nvPr/>
        </p:nvSpPr>
        <p:spPr>
          <a:xfrm xmlns:a="http://schemas.openxmlformats.org/drawingml/2006/main">
            <a:off x="2905125" y="3267075"/>
            <a:ext cx="8524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62B27"/>
                </a:solidFill>
                <a:latin typeface="Calibri"/>
                <a:ea typeface="Calibri"/>
                <a:cs typeface="Calibri"/>
              </a:defRPr>
            </a:pPr>
            <a:r>
              <a:rPr sz="2250" b="1">
                <a:solidFill>
                  <a:srgbClr val="162B27"/>
                </a:solidFill>
                <a:latin typeface="Calibri"/>
                <a:ea typeface="Calibri"/>
                <a:cs typeface="Calibri"/>
              </a:rPr>
              <a:t>Apakah hasilnya konsisten dengan sampel?</a:t>
            </a:r>
          </a:p>
        </p:txBody>
      </p:sp>
      <p:sp>
        <p:nvSpPr>
          <p:cNvPr id="15" name="text-91">
            <a:extLst xmlns:a="http://schemas.openxmlformats.org/drawingml/2006/main">
              <a:ext uri="{FF2B5EF4-FFF2-40B4-BE49-F238E27FC236}">
                <a16:creationId xmlns:a16="http://schemas.microsoft.com/office/drawing/2014/main" id="{1C84508F-21E5-4592-9691-09DA8D6EB06C}"/>
              </a:ext>
            </a:extLst>
          </p:cNvPr>
          <p:cNvSpPr>
            <a:spLocks xmlns:a="http://schemas.openxmlformats.org/drawingml/2006/main" noGrp="1"/>
          </p:cNvSpPr>
          <p:nvPr/>
        </p:nvSpPr>
        <p:spPr>
          <a:xfrm xmlns:a="http://schemas.openxmlformats.org/drawingml/2006/main">
            <a:off x="2905125" y="3695700"/>
            <a:ext cx="852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Sepakati spesifikasi dan cara pemeriksaan mutu.</a:t>
            </a:r>
          </a:p>
        </p:txBody>
      </p:sp>
      <p:sp>
        <p:nvSpPr>
          <p:cNvPr id="16" name="">
            <a:extLst xmlns:a="http://schemas.openxmlformats.org/drawingml/2006/main">
              <a:ext uri="{FF2B5EF4-FFF2-40B4-BE49-F238E27FC236}">
                <a16:creationId xmlns:a16="http://schemas.microsoft.com/office/drawing/2014/main" id="{03B874B5-9562-4A44-9D44-1B5AA8720592}"/>
              </a:ext>
            </a:extLst>
          </p:cNvPr>
          <p:cNvSpPr>
            <a:spLocks xmlns:a="http://schemas.openxmlformats.org/drawingml/2006/main" noGrp="1"/>
          </p:cNvSpPr>
          <p:nvPr/>
        </p:nvSpPr>
        <p:spPr>
          <a:xfrm xmlns:a="http://schemas.openxmlformats.org/drawingml/2006/main">
            <a:off x="457200" y="4181475"/>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7" name="text-92">
            <a:extLst xmlns:a="http://schemas.openxmlformats.org/drawingml/2006/main">
              <a:ext uri="{FF2B5EF4-FFF2-40B4-BE49-F238E27FC236}">
                <a16:creationId xmlns:a16="http://schemas.microsoft.com/office/drawing/2014/main" id="{F411A649-A890-46E0-BC1B-BD95C8725B23}"/>
              </a:ext>
            </a:extLst>
          </p:cNvPr>
          <p:cNvSpPr>
            <a:spLocks xmlns:a="http://schemas.openxmlformats.org/drawingml/2006/main" noGrp="1"/>
          </p:cNvSpPr>
          <p:nvPr/>
        </p:nvSpPr>
        <p:spPr>
          <a:xfrm xmlns:a="http://schemas.openxmlformats.org/drawingml/2006/main">
            <a:off x="457200" y="4391025"/>
            <a:ext cx="2152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WAKTU</a:t>
            </a:r>
          </a:p>
        </p:txBody>
      </p:sp>
      <p:sp>
        <p:nvSpPr>
          <p:cNvPr id="18" name="text-93">
            <a:extLst xmlns:a="http://schemas.openxmlformats.org/drawingml/2006/main">
              <a:ext uri="{FF2B5EF4-FFF2-40B4-BE49-F238E27FC236}">
                <a16:creationId xmlns:a16="http://schemas.microsoft.com/office/drawing/2014/main" id="{57E77173-E877-45F9-A362-60BA19AA306C}"/>
              </a:ext>
            </a:extLst>
          </p:cNvPr>
          <p:cNvSpPr>
            <a:spLocks xmlns:a="http://schemas.openxmlformats.org/drawingml/2006/main" noGrp="1"/>
          </p:cNvSpPr>
          <p:nvPr/>
        </p:nvSpPr>
        <p:spPr>
          <a:xfrm xmlns:a="http://schemas.openxmlformats.org/drawingml/2006/main">
            <a:off x="2905125" y="4324350"/>
            <a:ext cx="8524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62B27"/>
                </a:solidFill>
                <a:latin typeface="Calibri"/>
                <a:ea typeface="Calibri"/>
                <a:cs typeface="Calibri"/>
              </a:defRPr>
            </a:pPr>
            <a:r>
              <a:rPr sz="2250" b="1">
                <a:solidFill>
                  <a:srgbClr val="162B27"/>
                </a:solidFill>
                <a:latin typeface="Calibri"/>
                <a:ea typeface="Calibri"/>
                <a:cs typeface="Calibri"/>
              </a:rPr>
              <a:t>Apakah jadwalnya realistis?</a:t>
            </a:r>
          </a:p>
        </p:txBody>
      </p:sp>
      <p:sp>
        <p:nvSpPr>
          <p:cNvPr id="19" name="text-94">
            <a:extLst xmlns:a="http://schemas.openxmlformats.org/drawingml/2006/main">
              <a:ext uri="{FF2B5EF4-FFF2-40B4-BE49-F238E27FC236}">
                <a16:creationId xmlns:a16="http://schemas.microsoft.com/office/drawing/2014/main" id="{F1F7088A-85AD-4099-9D86-D713E64A9D50}"/>
              </a:ext>
            </a:extLst>
          </p:cNvPr>
          <p:cNvSpPr>
            <a:spLocks xmlns:a="http://schemas.openxmlformats.org/drawingml/2006/main" noGrp="1"/>
          </p:cNvSpPr>
          <p:nvPr/>
        </p:nvSpPr>
        <p:spPr>
          <a:xfrm xmlns:a="http://schemas.openxmlformats.org/drawingml/2006/main">
            <a:off x="2905125" y="4752975"/>
            <a:ext cx="852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Cek produksi, dokumen, dan kesiapan pengiriman.</a:t>
            </a:r>
          </a:p>
        </p:txBody>
      </p:sp>
      <p:sp>
        <p:nvSpPr>
          <p:cNvPr id="20" name="">
            <a:extLst xmlns:a="http://schemas.openxmlformats.org/drawingml/2006/main">
              <a:ext uri="{FF2B5EF4-FFF2-40B4-BE49-F238E27FC236}">
                <a16:creationId xmlns:a16="http://schemas.microsoft.com/office/drawing/2014/main" id="{14CACEEF-6514-4D5A-9DFC-A4035F72B392}"/>
              </a:ext>
            </a:extLst>
          </p:cNvPr>
          <p:cNvSpPr>
            <a:spLocks xmlns:a="http://schemas.openxmlformats.org/drawingml/2006/main" noGrp="1"/>
          </p:cNvSpPr>
          <p:nvPr/>
        </p:nvSpPr>
        <p:spPr>
          <a:xfrm xmlns:a="http://schemas.openxmlformats.org/drawingml/2006/main">
            <a:off x="457200" y="52387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1" name="">
            <a:extLst xmlns:a="http://schemas.openxmlformats.org/drawingml/2006/main">
              <a:ext uri="{FF2B5EF4-FFF2-40B4-BE49-F238E27FC236}">
                <a16:creationId xmlns:a16="http://schemas.microsoft.com/office/drawing/2014/main" id="{C3830557-C269-430F-9DB1-C31BF85F2E41}"/>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2" name="text-95">
            <a:extLst xmlns:a="http://schemas.openxmlformats.org/drawingml/2006/main">
              <a:ext uri="{FF2B5EF4-FFF2-40B4-BE49-F238E27FC236}">
                <a16:creationId xmlns:a16="http://schemas.microsoft.com/office/drawing/2014/main" id="{4BA4C117-0951-4F0E-A889-DA6A8833023C}"/>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Kapasitas yang terukur lebih berguna daripada janji “nanti pasti bisa”.</a:t>
            </a:r>
          </a:p>
        </p:txBody>
      </p:sp>
    </p:spTree>
    <p:extLst>
      <p:ext uri="{BB962C8B-B14F-4D97-AF65-F5344CB8AC3E}">
        <p14:creationId xmlns:p14="http://schemas.microsoft.com/office/powerpoint/2010/main" val="4343748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33000babaeb4aa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003B0D-8B5C-4696-9E8E-C6C69B24527B}"/>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d344cde90664e27"/>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96">
            <a:extLst xmlns:a="http://schemas.openxmlformats.org/drawingml/2006/main">
              <a:ext uri="{FF2B5EF4-FFF2-40B4-BE49-F238E27FC236}">
                <a16:creationId xmlns:a16="http://schemas.microsoft.com/office/drawing/2014/main" id="{9571F570-4EAB-468D-B9C1-B942FADF0F8C}"/>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Pesanan yang untung tetap bisa menekan arus kas</a:t>
            </a:r>
          </a:p>
        </p:txBody>
      </p:sp>
      <p:sp>
        <p:nvSpPr>
          <p:cNvPr id="5" name="text-97">
            <a:extLst xmlns:a="http://schemas.openxmlformats.org/drawingml/2006/main">
              <a:ext uri="{FF2B5EF4-FFF2-40B4-BE49-F238E27FC236}">
                <a16:creationId xmlns:a16="http://schemas.microsoft.com/office/drawing/2014/main" id="{2F20A245-AEDF-410E-AB17-49082C75D6D0}"/>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Dalam ilustrasi ini, buyer membayar setelah barang diterima.</a:t>
            </a:r>
          </a:p>
        </p:txBody>
      </p:sp>
      <p:sp>
        <p:nvSpPr>
          <p:cNvPr id="6" name="text-98">
            <a:extLst xmlns:a="http://schemas.openxmlformats.org/drawingml/2006/main">
              <a:ext uri="{FF2B5EF4-FFF2-40B4-BE49-F238E27FC236}">
                <a16:creationId xmlns:a16="http://schemas.microsoft.com/office/drawing/2014/main" id="{6DA69C8D-2401-4F39-863D-4D25FD58BB6C}"/>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99">
            <a:extLst xmlns:a="http://schemas.openxmlformats.org/drawingml/2006/main">
              <a:ext uri="{FF2B5EF4-FFF2-40B4-BE49-F238E27FC236}">
                <a16:creationId xmlns:a16="http://schemas.microsoft.com/office/drawing/2014/main" id="{5FA20D28-522F-465D-AF52-81E3B20FAF05}"/>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00">
            <a:extLst xmlns:a="http://schemas.openxmlformats.org/drawingml/2006/main">
              <a:ext uri="{FF2B5EF4-FFF2-40B4-BE49-F238E27FC236}">
                <a16:creationId xmlns:a16="http://schemas.microsoft.com/office/drawing/2014/main" id="{D7015A78-A0DE-42D4-9E72-BD9A93CFD635}"/>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08</a:t>
            </a:r>
          </a:p>
        </p:txBody>
      </p:sp>
      <p:sp>
        <p:nvSpPr>
          <p:cNvPr id="9" name="">
            <a:extLst xmlns:a="http://schemas.openxmlformats.org/drawingml/2006/main">
              <a:ext uri="{FF2B5EF4-FFF2-40B4-BE49-F238E27FC236}">
                <a16:creationId xmlns:a16="http://schemas.microsoft.com/office/drawing/2014/main" id="{E37F51D8-BDE7-4FFD-BEB3-4CC6B3143E1F}"/>
              </a:ext>
            </a:extLst>
          </p:cNvPr>
          <p:cNvSpPr>
            <a:spLocks xmlns:a="http://schemas.openxmlformats.org/drawingml/2006/main" noGrp="1"/>
          </p:cNvSpPr>
          <p:nvPr/>
        </p:nvSpPr>
        <p:spPr>
          <a:xfrm xmlns:a="http://schemas.openxmlformats.org/drawingml/2006/main">
            <a:off x="628650" y="3124200"/>
            <a:ext cx="10648950" cy="0"/>
          </a:xfrm>
          <a:prstGeom xmlns:a="http://schemas.openxmlformats.org/drawingml/2006/main" prst="line">
            <a:avLst/>
          </a:prstGeom>
          <a:noFill xmlns:a="http://schemas.openxmlformats.org/drawingml/2006/main"/>
          <a:ln xmlns:a="http://schemas.openxmlformats.org/drawingml/2006/main" w="38100">
            <a:solidFill>
              <a:srgbClr val="95BBA9"/>
            </a:solidFill>
          </a:ln>
        </p:spPr>
      </p:sp>
      <p:sp>
        <p:nvSpPr>
          <p:cNvPr id="10" name="">
            <a:extLst xmlns:a="http://schemas.openxmlformats.org/drawingml/2006/main">
              <a:ext uri="{FF2B5EF4-FFF2-40B4-BE49-F238E27FC236}">
                <a16:creationId xmlns:a16="http://schemas.microsoft.com/office/drawing/2014/main" id="{5E0E6C0F-C869-495B-9BB7-1D5BFE68049E}"/>
              </a:ext>
            </a:extLst>
          </p:cNvPr>
          <p:cNvSpPr>
            <a:spLocks xmlns:a="http://schemas.openxmlformats.org/drawingml/2006/main" noGrp="1"/>
          </p:cNvSpPr>
          <p:nvPr/>
        </p:nvSpPr>
        <p:spPr>
          <a:xfrm xmlns:a="http://schemas.openxmlformats.org/drawingml/2006/main">
            <a:off x="457200" y="2990850"/>
            <a:ext cx="276225" cy="276225"/>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1" name="text-101">
            <a:extLst xmlns:a="http://schemas.openxmlformats.org/drawingml/2006/main">
              <a:ext uri="{FF2B5EF4-FFF2-40B4-BE49-F238E27FC236}">
                <a16:creationId xmlns:a16="http://schemas.microsoft.com/office/drawing/2014/main" id="{36632731-7E02-4031-9342-47CDAD987DE3}"/>
              </a:ext>
            </a:extLst>
          </p:cNvPr>
          <p:cNvSpPr>
            <a:spLocks xmlns:a="http://schemas.openxmlformats.org/drawingml/2006/main" noGrp="1"/>
          </p:cNvSpPr>
          <p:nvPr/>
        </p:nvSpPr>
        <p:spPr>
          <a:xfrm xmlns:a="http://schemas.openxmlformats.org/drawingml/2006/main">
            <a:off x="457200" y="2266950"/>
            <a:ext cx="2524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87958"/>
                </a:solidFill>
                <a:latin typeface="Calibri"/>
                <a:ea typeface="Calibri"/>
                <a:cs typeface="Calibri"/>
              </a:defRPr>
            </a:pPr>
            <a:r>
              <a:rPr sz="2325" b="1">
                <a:solidFill>
                  <a:srgbClr val="087958"/>
                </a:solidFill>
                <a:latin typeface="Calibri"/>
                <a:ea typeface="Calibri"/>
                <a:cs typeface="Calibri"/>
              </a:rPr>
              <a:t>Bahan baku</a:t>
            </a:r>
          </a:p>
        </p:txBody>
      </p:sp>
      <p:sp>
        <p:nvSpPr>
          <p:cNvPr id="12" name="text-102">
            <a:extLst xmlns:a="http://schemas.openxmlformats.org/drawingml/2006/main">
              <a:ext uri="{FF2B5EF4-FFF2-40B4-BE49-F238E27FC236}">
                <a16:creationId xmlns:a16="http://schemas.microsoft.com/office/drawing/2014/main" id="{70B9806D-0AA2-440B-9517-3C5F9C418C36}"/>
              </a:ext>
            </a:extLst>
          </p:cNvPr>
          <p:cNvSpPr>
            <a:spLocks xmlns:a="http://schemas.openxmlformats.org/drawingml/2006/main" noGrp="1"/>
          </p:cNvSpPr>
          <p:nvPr/>
        </p:nvSpPr>
        <p:spPr>
          <a:xfrm xmlns:a="http://schemas.openxmlformats.org/drawingml/2006/main">
            <a:off x="457200" y="3495675"/>
            <a:ext cx="25812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Bayar pemasok</a:t>
            </a:r>
          </a:p>
        </p:txBody>
      </p:sp>
      <p:sp>
        <p:nvSpPr>
          <p:cNvPr id="13" name="">
            <a:extLst xmlns:a="http://schemas.openxmlformats.org/drawingml/2006/main">
              <a:ext uri="{FF2B5EF4-FFF2-40B4-BE49-F238E27FC236}">
                <a16:creationId xmlns:a16="http://schemas.microsoft.com/office/drawing/2014/main" id="{6308205C-3D3C-4CCF-9D44-56F9582DF452}"/>
              </a:ext>
            </a:extLst>
          </p:cNvPr>
          <p:cNvSpPr>
            <a:spLocks xmlns:a="http://schemas.openxmlformats.org/drawingml/2006/main" noGrp="1"/>
          </p:cNvSpPr>
          <p:nvPr/>
        </p:nvSpPr>
        <p:spPr>
          <a:xfrm xmlns:a="http://schemas.openxmlformats.org/drawingml/2006/main">
            <a:off x="3333750" y="2990850"/>
            <a:ext cx="276225" cy="276225"/>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4" name="text-103">
            <a:extLst xmlns:a="http://schemas.openxmlformats.org/drawingml/2006/main">
              <a:ext uri="{FF2B5EF4-FFF2-40B4-BE49-F238E27FC236}">
                <a16:creationId xmlns:a16="http://schemas.microsoft.com/office/drawing/2014/main" id="{5B36EE00-A674-4E9D-9D23-6B2CE521C419}"/>
              </a:ext>
            </a:extLst>
          </p:cNvPr>
          <p:cNvSpPr>
            <a:spLocks xmlns:a="http://schemas.openxmlformats.org/drawingml/2006/main" noGrp="1"/>
          </p:cNvSpPr>
          <p:nvPr/>
        </p:nvSpPr>
        <p:spPr>
          <a:xfrm xmlns:a="http://schemas.openxmlformats.org/drawingml/2006/main">
            <a:off x="3333750" y="2266950"/>
            <a:ext cx="2524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87958"/>
                </a:solidFill>
                <a:latin typeface="Calibri"/>
                <a:ea typeface="Calibri"/>
                <a:cs typeface="Calibri"/>
              </a:defRPr>
            </a:pPr>
            <a:r>
              <a:rPr sz="2325" b="1">
                <a:solidFill>
                  <a:srgbClr val="087958"/>
                </a:solidFill>
                <a:latin typeface="Calibri"/>
                <a:ea typeface="Calibri"/>
                <a:cs typeface="Calibri"/>
              </a:rPr>
              <a:t>Produksi</a:t>
            </a:r>
          </a:p>
        </p:txBody>
      </p:sp>
      <p:sp>
        <p:nvSpPr>
          <p:cNvPr id="15" name="text-104">
            <a:extLst xmlns:a="http://schemas.openxmlformats.org/drawingml/2006/main">
              <a:ext uri="{FF2B5EF4-FFF2-40B4-BE49-F238E27FC236}">
                <a16:creationId xmlns:a16="http://schemas.microsoft.com/office/drawing/2014/main" id="{20047C83-C2A2-48C5-9CC5-63BF2ADCB367}"/>
              </a:ext>
            </a:extLst>
          </p:cNvPr>
          <p:cNvSpPr>
            <a:spLocks xmlns:a="http://schemas.openxmlformats.org/drawingml/2006/main" noGrp="1"/>
          </p:cNvSpPr>
          <p:nvPr/>
        </p:nvSpPr>
        <p:spPr>
          <a:xfrm xmlns:a="http://schemas.openxmlformats.org/drawingml/2006/main">
            <a:off x="3333750" y="3495675"/>
            <a:ext cx="25812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Upah dan kemasan</a:t>
            </a:r>
          </a:p>
        </p:txBody>
      </p:sp>
      <p:sp>
        <p:nvSpPr>
          <p:cNvPr id="16" name="">
            <a:extLst xmlns:a="http://schemas.openxmlformats.org/drawingml/2006/main">
              <a:ext uri="{FF2B5EF4-FFF2-40B4-BE49-F238E27FC236}">
                <a16:creationId xmlns:a16="http://schemas.microsoft.com/office/drawing/2014/main" id="{45A61BAE-FA6F-4539-B44D-A82FA5ED6B32}"/>
              </a:ext>
            </a:extLst>
          </p:cNvPr>
          <p:cNvSpPr>
            <a:spLocks xmlns:a="http://schemas.openxmlformats.org/drawingml/2006/main" noGrp="1"/>
          </p:cNvSpPr>
          <p:nvPr/>
        </p:nvSpPr>
        <p:spPr>
          <a:xfrm xmlns:a="http://schemas.openxmlformats.org/drawingml/2006/main">
            <a:off x="6210300" y="2990850"/>
            <a:ext cx="276225" cy="276225"/>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7" name="text-105">
            <a:extLst xmlns:a="http://schemas.openxmlformats.org/drawingml/2006/main">
              <a:ext uri="{FF2B5EF4-FFF2-40B4-BE49-F238E27FC236}">
                <a16:creationId xmlns:a16="http://schemas.microsoft.com/office/drawing/2014/main" id="{97ADF2B6-6F6F-4B88-B010-40F5EF89AF78}"/>
              </a:ext>
            </a:extLst>
          </p:cNvPr>
          <p:cNvSpPr>
            <a:spLocks xmlns:a="http://schemas.openxmlformats.org/drawingml/2006/main" noGrp="1"/>
          </p:cNvSpPr>
          <p:nvPr/>
        </p:nvSpPr>
        <p:spPr>
          <a:xfrm xmlns:a="http://schemas.openxmlformats.org/drawingml/2006/main">
            <a:off x="6210300" y="2266950"/>
            <a:ext cx="2524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87958"/>
                </a:solidFill>
                <a:latin typeface="Calibri"/>
                <a:ea typeface="Calibri"/>
                <a:cs typeface="Calibri"/>
              </a:defRPr>
            </a:pPr>
            <a:r>
              <a:rPr sz="2325" b="1">
                <a:solidFill>
                  <a:srgbClr val="087958"/>
                </a:solidFill>
                <a:latin typeface="Calibri"/>
                <a:ea typeface="Calibri"/>
                <a:cs typeface="Calibri"/>
              </a:rPr>
              <a:t>Pengiriman</a:t>
            </a:r>
          </a:p>
        </p:txBody>
      </p:sp>
      <p:sp>
        <p:nvSpPr>
          <p:cNvPr id="18" name="text-106">
            <a:extLst xmlns:a="http://schemas.openxmlformats.org/drawingml/2006/main">
              <a:ext uri="{FF2B5EF4-FFF2-40B4-BE49-F238E27FC236}">
                <a16:creationId xmlns:a16="http://schemas.microsoft.com/office/drawing/2014/main" id="{9FA272BB-DAFE-491B-9DBB-D8D9D85610D3}"/>
              </a:ext>
            </a:extLst>
          </p:cNvPr>
          <p:cNvSpPr>
            <a:spLocks xmlns:a="http://schemas.openxmlformats.org/drawingml/2006/main" noGrp="1"/>
          </p:cNvSpPr>
          <p:nvPr/>
        </p:nvSpPr>
        <p:spPr>
          <a:xfrm xmlns:a="http://schemas.openxmlformats.org/drawingml/2006/main">
            <a:off x="6210300" y="3495675"/>
            <a:ext cx="25812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Biaya sesuai kontrak</a:t>
            </a:r>
          </a:p>
        </p:txBody>
      </p:sp>
      <p:sp>
        <p:nvSpPr>
          <p:cNvPr id="19" name="">
            <a:extLst xmlns:a="http://schemas.openxmlformats.org/drawingml/2006/main">
              <a:ext uri="{FF2B5EF4-FFF2-40B4-BE49-F238E27FC236}">
                <a16:creationId xmlns:a16="http://schemas.microsoft.com/office/drawing/2014/main" id="{C349C328-38F0-41CD-845F-CF0D91DDA2C2}"/>
              </a:ext>
            </a:extLst>
          </p:cNvPr>
          <p:cNvSpPr>
            <a:spLocks xmlns:a="http://schemas.openxmlformats.org/drawingml/2006/main" noGrp="1"/>
          </p:cNvSpPr>
          <p:nvPr/>
        </p:nvSpPr>
        <p:spPr>
          <a:xfrm xmlns:a="http://schemas.openxmlformats.org/drawingml/2006/main">
            <a:off x="9086850" y="2990850"/>
            <a:ext cx="276225" cy="276225"/>
          </a:xfrm>
          <a:prstGeom xmlns:a="http://schemas.openxmlformats.org/drawingml/2006/main" prst="ellipse">
            <a:avLst/>
          </a:prstGeom>
          <a:solidFill xmlns:a="http://schemas.openxmlformats.org/drawingml/2006/main">
            <a:srgbClr val="002B28"/>
          </a:solidFill>
          <a:ln xmlns:a="http://schemas.openxmlformats.org/drawingml/2006/main" w="19050">
            <a:solidFill>
              <a:srgbClr val="087958"/>
            </a:solidFill>
          </a:ln>
        </p:spPr>
      </p:sp>
      <p:sp>
        <p:nvSpPr>
          <p:cNvPr id="20" name="text-107">
            <a:extLst xmlns:a="http://schemas.openxmlformats.org/drawingml/2006/main">
              <a:ext uri="{FF2B5EF4-FFF2-40B4-BE49-F238E27FC236}">
                <a16:creationId xmlns:a16="http://schemas.microsoft.com/office/drawing/2014/main" id="{E820112B-DB23-4089-AC1B-76A3CF255B6A}"/>
              </a:ext>
            </a:extLst>
          </p:cNvPr>
          <p:cNvSpPr>
            <a:spLocks xmlns:a="http://schemas.openxmlformats.org/drawingml/2006/main" noGrp="1"/>
          </p:cNvSpPr>
          <p:nvPr/>
        </p:nvSpPr>
        <p:spPr>
          <a:xfrm xmlns:a="http://schemas.openxmlformats.org/drawingml/2006/main">
            <a:off x="9086850" y="2266950"/>
            <a:ext cx="2524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2B28"/>
                </a:solidFill>
                <a:latin typeface="Calibri"/>
                <a:ea typeface="Calibri"/>
                <a:cs typeface="Calibri"/>
              </a:defRPr>
            </a:pPr>
            <a:r>
              <a:rPr sz="2325" b="1">
                <a:solidFill>
                  <a:srgbClr val="002B28"/>
                </a:solidFill>
                <a:latin typeface="Calibri"/>
                <a:ea typeface="Calibri"/>
                <a:cs typeface="Calibri"/>
              </a:rPr>
              <a:t>Pembayaran</a:t>
            </a:r>
          </a:p>
        </p:txBody>
      </p:sp>
      <p:sp>
        <p:nvSpPr>
          <p:cNvPr id="21" name="text-108">
            <a:extLst xmlns:a="http://schemas.openxmlformats.org/drawingml/2006/main">
              <a:ext uri="{FF2B5EF4-FFF2-40B4-BE49-F238E27FC236}">
                <a16:creationId xmlns:a16="http://schemas.microsoft.com/office/drawing/2014/main" id="{21993169-6FE2-4539-A95B-1A65A2DD3BD1}"/>
              </a:ext>
            </a:extLst>
          </p:cNvPr>
          <p:cNvSpPr>
            <a:spLocks xmlns:a="http://schemas.openxmlformats.org/drawingml/2006/main" noGrp="1"/>
          </p:cNvSpPr>
          <p:nvPr/>
        </p:nvSpPr>
        <p:spPr>
          <a:xfrm xmlns:a="http://schemas.openxmlformats.org/drawingml/2006/main">
            <a:off x="9086850" y="3495675"/>
            <a:ext cx="25812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Uang dari buyer</a:t>
            </a:r>
          </a:p>
        </p:txBody>
      </p:sp>
      <p:sp>
        <p:nvSpPr>
          <p:cNvPr id="22" name="">
            <a:extLst xmlns:a="http://schemas.openxmlformats.org/drawingml/2006/main">
              <a:ext uri="{FF2B5EF4-FFF2-40B4-BE49-F238E27FC236}">
                <a16:creationId xmlns:a16="http://schemas.microsoft.com/office/drawing/2014/main" id="{0FFE9A1B-5651-44AF-904C-182FFDA7DF61}"/>
              </a:ext>
            </a:extLst>
          </p:cNvPr>
          <p:cNvSpPr>
            <a:spLocks xmlns:a="http://schemas.openxmlformats.org/drawingml/2006/main" noGrp="1"/>
          </p:cNvSpPr>
          <p:nvPr/>
        </p:nvSpPr>
        <p:spPr>
          <a:xfrm xmlns:a="http://schemas.openxmlformats.org/drawingml/2006/main">
            <a:off x="457200" y="4410075"/>
            <a:ext cx="8105775" cy="609600"/>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23" name="text-109">
            <a:extLst xmlns:a="http://schemas.openxmlformats.org/drawingml/2006/main">
              <a:ext uri="{FF2B5EF4-FFF2-40B4-BE49-F238E27FC236}">
                <a16:creationId xmlns:a16="http://schemas.microsoft.com/office/drawing/2014/main" id="{E297B0D9-41EF-4410-BE94-47408D6372BF}"/>
              </a:ext>
            </a:extLst>
          </p:cNvPr>
          <p:cNvSpPr>
            <a:spLocks xmlns:a="http://schemas.openxmlformats.org/drawingml/2006/main" noGrp="1"/>
          </p:cNvSpPr>
          <p:nvPr/>
        </p:nvSpPr>
        <p:spPr>
          <a:xfrm xmlns:a="http://schemas.openxmlformats.org/drawingml/2006/main">
            <a:off x="647700" y="4572000"/>
            <a:ext cx="773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958"/>
                </a:solidFill>
                <a:latin typeface="Calibri"/>
                <a:ea typeface="Calibri"/>
                <a:cs typeface="Calibri"/>
              </a:defRPr>
            </a:pPr>
            <a:r>
              <a:rPr sz="2025" b="1">
                <a:solidFill>
                  <a:srgbClr val="087958"/>
                </a:solidFill>
                <a:latin typeface="Calibri"/>
                <a:ea typeface="Calibri"/>
                <a:cs typeface="Calibri"/>
              </a:rPr>
              <a:t>Modal kerja perlu tersedia selama uang belum kembali.</a:t>
            </a:r>
          </a:p>
        </p:txBody>
      </p:sp>
      <p:sp>
        <p:nvSpPr>
          <p:cNvPr id="24" name="text-110">
            <a:extLst xmlns:a="http://schemas.openxmlformats.org/drawingml/2006/main">
              <a:ext uri="{FF2B5EF4-FFF2-40B4-BE49-F238E27FC236}">
                <a16:creationId xmlns:a16="http://schemas.microsoft.com/office/drawing/2014/main" id="{4059E920-331D-4036-82D0-21BC1AF89363}"/>
              </a:ext>
            </a:extLst>
          </p:cNvPr>
          <p:cNvSpPr>
            <a:spLocks xmlns:a="http://schemas.openxmlformats.org/drawingml/2006/main" noGrp="1"/>
          </p:cNvSpPr>
          <p:nvPr/>
        </p:nvSpPr>
        <p:spPr>
          <a:xfrm xmlns:a="http://schemas.openxmlformats.org/drawingml/2006/main">
            <a:off x="9086850" y="4552950"/>
            <a:ext cx="25431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2B28"/>
                </a:solidFill>
                <a:latin typeface="Calibri"/>
                <a:ea typeface="Calibri"/>
                <a:cs typeface="Calibri"/>
              </a:defRPr>
            </a:pPr>
            <a:r>
              <a:rPr sz="2025" b="1">
                <a:solidFill>
                  <a:srgbClr val="002B28"/>
                </a:solidFill>
                <a:latin typeface="Calibri"/>
                <a:ea typeface="Calibri"/>
                <a:cs typeface="Calibri"/>
              </a:rPr>
              <a:t>Kapan masuk?</a:t>
            </a:r>
          </a:p>
        </p:txBody>
      </p:sp>
      <p:sp>
        <p:nvSpPr>
          <p:cNvPr id="25" name="">
            <a:extLst xmlns:a="http://schemas.openxmlformats.org/drawingml/2006/main">
              <a:ext uri="{FF2B5EF4-FFF2-40B4-BE49-F238E27FC236}">
                <a16:creationId xmlns:a16="http://schemas.microsoft.com/office/drawing/2014/main" id="{7897DE11-37DD-4A25-8F92-45B8F43EB9C5}"/>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6" name="text-111">
            <a:extLst xmlns:a="http://schemas.openxmlformats.org/drawingml/2006/main">
              <a:ext uri="{FF2B5EF4-FFF2-40B4-BE49-F238E27FC236}">
                <a16:creationId xmlns:a16="http://schemas.microsoft.com/office/drawing/2014/main" id="{5A478B79-A32B-4635-A1FB-61409B0604F5}"/>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Sebelum menerima order, cek kapan uang keluar dan kapan benar-benar masuk.</a:t>
            </a:r>
          </a:p>
        </p:txBody>
      </p:sp>
    </p:spTree>
    <p:extLst>
      <p:ext uri="{BB962C8B-B14F-4D97-AF65-F5344CB8AC3E}">
        <p14:creationId xmlns:p14="http://schemas.microsoft.com/office/powerpoint/2010/main" val="17333788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8b09af584c04df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2615D5-9AFB-47F0-82B9-1A7F2C8B079D}"/>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31539a80ced4ed7"/>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12">
            <a:extLst xmlns:a="http://schemas.openxmlformats.org/drawingml/2006/main">
              <a:ext uri="{FF2B5EF4-FFF2-40B4-BE49-F238E27FC236}">
                <a16:creationId xmlns:a16="http://schemas.microsoft.com/office/drawing/2014/main" id="{7A33DB65-BFE7-4BFA-8F0A-F06A04F0CE77}"/>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Risiko perlu dibatasi sebelum kita menerima pesanan</a:t>
            </a:r>
          </a:p>
        </p:txBody>
      </p:sp>
      <p:sp>
        <p:nvSpPr>
          <p:cNvPr id="5" name="text-113">
            <a:extLst xmlns:a="http://schemas.openxmlformats.org/drawingml/2006/main">
              <a:ext uri="{FF2B5EF4-FFF2-40B4-BE49-F238E27FC236}">
                <a16:creationId xmlns:a16="http://schemas.microsoft.com/office/drawing/2014/main" id="{BEA9C48C-2F34-4658-AF4A-BBFBFEC41246}"/>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Pilih risiko yang paling mungkin mengganggu transaksi, lalu siapkan responsnya.</a:t>
            </a:r>
          </a:p>
        </p:txBody>
      </p:sp>
      <p:sp>
        <p:nvSpPr>
          <p:cNvPr id="6" name="text-114">
            <a:extLst xmlns:a="http://schemas.openxmlformats.org/drawingml/2006/main">
              <a:ext uri="{FF2B5EF4-FFF2-40B4-BE49-F238E27FC236}">
                <a16:creationId xmlns:a16="http://schemas.microsoft.com/office/drawing/2014/main" id="{3315A3A7-F8CD-40B6-8C46-266150DD31FD}"/>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15">
            <a:extLst xmlns:a="http://schemas.openxmlformats.org/drawingml/2006/main">
              <a:ext uri="{FF2B5EF4-FFF2-40B4-BE49-F238E27FC236}">
                <a16:creationId xmlns:a16="http://schemas.microsoft.com/office/drawing/2014/main" id="{3CDB4B40-5210-4CA9-8873-58BA6C7EF42F}"/>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16">
            <a:extLst xmlns:a="http://schemas.openxmlformats.org/drawingml/2006/main">
              <a:ext uri="{FF2B5EF4-FFF2-40B4-BE49-F238E27FC236}">
                <a16:creationId xmlns:a16="http://schemas.microsoft.com/office/drawing/2014/main" id="{D20F3DD7-A635-4B67-B0CF-E89919C50B48}"/>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09</a:t>
            </a:r>
          </a:p>
        </p:txBody>
      </p:sp>
      <p:graphicFrame>
        <p:nvGraphicFramePr>
          <p:cNvPr id="20" name=""/>
          <p:cNvGraphicFramePr/>
          <p:nvPr/>
        </p:nvGraphicFramePr>
        <p:xfrm>
          <a:off xmlns:a="http://schemas.openxmlformats.org/drawingml/2006/main" x="457200" y="2295525"/>
          <a:ext xmlns:a="http://schemas.openxmlformats.org/drawingml/2006/main" cx="11277600" cy="2876550"/>
        </p:xfrm>
        <a:graphic xmlns:a="http://schemas.openxmlformats.org/drawingml/2006/main">
          <a:graphicData uri="http://schemas.openxmlformats.org/drawingml/2006/table">
            <a:tbl>
              <a:tblPr/>
              <a:tblGrid>
                <a:gridCol w="3333750"/>
                <a:gridCol w="2857500"/>
                <a:gridCol w="5086350"/>
              </a:tblGrid>
              <a:tr h="590550">
                <a:tc>
                  <a:txBody>
                    <a:bodyPr lIns="142875" tIns="123825" rIns="142875" bIns="85725"/>
                    <a:lstStyle/>
                    <a:p>
                      <a:r>
                        <a:rPr sz="1875" b="1">
                          <a:solidFill>
                            <a:srgbClr val="FFFFFF"/>
                          </a:solidFill>
                          <a:latin typeface="Calibri"/>
                          <a:ea typeface="Calibri"/>
                          <a:cs typeface="Calibri"/>
                        </a:rPr>
                        <a:t>Kalau ini terjadi…</a:t>
                      </a:r>
                    </a:p>
                  </a:txBody>
                  <a:tcPr marL="91440" marR="91440" marT="45720" marB="45720">
                    <a:solidFill>
                      <a:srgbClr val="087958"/>
                    </a:solidFill>
                  </a:tcPr>
                </a:tc>
                <a:tc>
                  <a:txBody>
                    <a:bodyPr lIns="142875" tIns="123825" rIns="142875" bIns="85725"/>
                    <a:lstStyle/>
                    <a:p>
                      <a:r>
                        <a:rPr sz="1875" b="1">
                          <a:solidFill>
                            <a:srgbClr val="FFFFFF"/>
                          </a:solidFill>
                          <a:latin typeface="Calibri"/>
                          <a:ea typeface="Calibri"/>
                          <a:cs typeface="Calibri"/>
                        </a:rPr>
                        <a:t>Apa dampaknya?</a:t>
                      </a:r>
                    </a:p>
                  </a:txBody>
                  <a:tcPr marL="91440" marR="91440" marT="45720" marB="45720">
                    <a:solidFill>
                      <a:srgbClr val="087958"/>
                    </a:solidFill>
                  </a:tcPr>
                </a:tc>
                <a:tc>
                  <a:txBody>
                    <a:bodyPr lIns="142875" tIns="123825" rIns="142875" bIns="85725"/>
                    <a:lstStyle/>
                    <a:p>
                      <a:r>
                        <a:rPr sz="1875" b="1">
                          <a:solidFill>
                            <a:srgbClr val="FFFFFF"/>
                          </a:solidFill>
                          <a:latin typeface="Calibri"/>
                          <a:ea typeface="Calibri"/>
                          <a:cs typeface="Calibri"/>
                        </a:rPr>
                        <a:t>Apa yang disiapkan?</a:t>
                      </a:r>
                    </a:p>
                  </a:txBody>
                  <a:tcPr marL="91440" marR="91440" marT="45720" marB="45720">
                    <a:solidFill>
                      <a:srgbClr val="087958"/>
                    </a:solidFill>
                  </a:tcPr>
                </a:tc>
              </a:tr>
              <a:tr h="762000">
                <a:tc>
                  <a:txBody>
                    <a:bodyPr lIns="142875" tIns="123825" rIns="142875" bIns="85725"/>
                    <a:lstStyle/>
                    <a:p>
                      <a:r>
                        <a:rPr sz="1875" b="0">
                          <a:solidFill>
                            <a:srgbClr val="162B27"/>
                          </a:solidFill>
                          <a:latin typeface="Calibri"/>
                          <a:ea typeface="Calibri"/>
                          <a:cs typeface="Calibri"/>
                        </a:rPr>
                        <a:t>Buyer terlambat bayar</a:t>
                      </a:r>
                    </a:p>
                  </a:txBody>
                  <a:tcPr marL="91440" marR="91440" marT="45720" marB="45720">
                    <a:solidFill>
                      <a:srgbClr val="EBF4EE"/>
                    </a:solidFill>
                  </a:tcPr>
                </a:tc>
                <a:tc>
                  <a:txBody>
                    <a:bodyPr lIns="142875" tIns="123825" rIns="142875" bIns="85725"/>
                    <a:lstStyle/>
                    <a:p>
                      <a:r>
                        <a:rPr sz="1875" b="0">
                          <a:solidFill>
                            <a:srgbClr val="162B27"/>
                          </a:solidFill>
                          <a:latin typeface="Calibri"/>
                          <a:ea typeface="Calibri"/>
                          <a:cs typeface="Calibri"/>
                        </a:rPr>
                        <a:t>Modal tertahan</a:t>
                      </a:r>
                    </a:p>
                  </a:txBody>
                  <a:tcPr marL="91440" marR="91440" marT="45720" marB="45720">
                    <a:solidFill>
                      <a:srgbClr val="EBF4EE"/>
                    </a:solidFill>
                  </a:tcPr>
                </a:tc>
                <a:tc>
                  <a:txBody>
                    <a:bodyPr lIns="142875" tIns="123825" rIns="142875" bIns="85725"/>
                    <a:lstStyle/>
                    <a:p>
                      <a:r>
                        <a:rPr sz="1875" b="0">
                          <a:solidFill>
                            <a:srgbClr val="162B27"/>
                          </a:solidFill>
                          <a:latin typeface="Calibri"/>
                          <a:ea typeface="Calibri"/>
                          <a:cs typeface="Calibri"/>
                        </a:rPr>
                        <a:t>Cek buyer dan sepakati syarat bayar</a:t>
                      </a:r>
                    </a:p>
                  </a:txBody>
                  <a:tcPr marL="91440" marR="91440" marT="45720" marB="45720">
                    <a:solidFill>
                      <a:srgbClr val="EBF4EE"/>
                    </a:solidFill>
                  </a:tcPr>
                </a:tc>
              </a:tr>
              <a:tr h="762000">
                <a:tc>
                  <a:txBody>
                    <a:bodyPr lIns="142875" tIns="123825" rIns="142875" bIns="85725"/>
                    <a:lstStyle/>
                    <a:p>
                      <a:r>
                        <a:rPr sz="1875" b="0">
                          <a:solidFill>
                            <a:srgbClr val="162B27"/>
                          </a:solidFill>
                          <a:latin typeface="Calibri"/>
                          <a:ea typeface="Calibri"/>
                          <a:cs typeface="Calibri"/>
                        </a:rPr>
                        <a:t>Hasil berbeda dari sampel</a:t>
                      </a:r>
                    </a:p>
                  </a:txBody>
                  <a:tcPr marL="91440" marR="91440" marT="45720" marB="45720">
                    <a:solidFill>
                      <a:srgbClr val="FFFFFF"/>
                    </a:solidFill>
                  </a:tcPr>
                </a:tc>
                <a:tc>
                  <a:txBody>
                    <a:bodyPr lIns="142875" tIns="123825" rIns="142875" bIns="85725"/>
                    <a:lstStyle/>
                    <a:p>
                      <a:r>
                        <a:rPr sz="1875" b="0">
                          <a:solidFill>
                            <a:srgbClr val="162B27"/>
                          </a:solidFill>
                          <a:latin typeface="Calibri"/>
                          <a:ea typeface="Calibri"/>
                          <a:cs typeface="Calibri"/>
                        </a:rPr>
                        <a:t>Barang bisa ditolak</a:t>
                      </a:r>
                    </a:p>
                  </a:txBody>
                  <a:tcPr marL="91440" marR="91440" marT="45720" marB="45720">
                    <a:solidFill>
                      <a:srgbClr val="FFFFFF"/>
                    </a:solidFill>
                  </a:tcPr>
                </a:tc>
                <a:tc>
                  <a:txBody>
                    <a:bodyPr lIns="142875" tIns="123825" rIns="142875" bIns="85725"/>
                    <a:lstStyle/>
                    <a:p>
                      <a:r>
                        <a:rPr sz="1875" b="0">
                          <a:solidFill>
                            <a:srgbClr val="162B27"/>
                          </a:solidFill>
                          <a:latin typeface="Calibri"/>
                          <a:ea typeface="Calibri"/>
                          <a:cs typeface="Calibri"/>
                        </a:rPr>
                        <a:t>Spesifikasi tertulis dan pemeriksaan mutu</a:t>
                      </a:r>
                    </a:p>
                  </a:txBody>
                  <a:tcPr marL="91440" marR="91440" marT="45720" marB="45720">
                    <a:solidFill>
                      <a:srgbClr val="FFFFFF"/>
                    </a:solidFill>
                  </a:tcPr>
                </a:tc>
              </a:tr>
              <a:tr h="762000">
                <a:tc>
                  <a:txBody>
                    <a:bodyPr lIns="142875" tIns="123825" rIns="142875" bIns="85725"/>
                    <a:lstStyle/>
                    <a:p>
                      <a:r>
                        <a:rPr sz="1875" b="0">
                          <a:solidFill>
                            <a:srgbClr val="162B27"/>
                          </a:solidFill>
                          <a:latin typeface="Calibri"/>
                          <a:ea typeface="Calibri"/>
                          <a:cs typeface="Calibri"/>
                        </a:rPr>
                        <a:t>Produksi terlambat</a:t>
                      </a:r>
                    </a:p>
                  </a:txBody>
                  <a:tcPr marL="91440" marR="91440" marT="45720" marB="45720">
                    <a:solidFill>
                      <a:srgbClr val="EBF4EE"/>
                    </a:solidFill>
                  </a:tcPr>
                </a:tc>
                <a:tc>
                  <a:txBody>
                    <a:bodyPr lIns="142875" tIns="123825" rIns="142875" bIns="85725"/>
                    <a:lstStyle/>
                    <a:p>
                      <a:r>
                        <a:rPr sz="1875" b="0">
                          <a:solidFill>
                            <a:srgbClr val="162B27"/>
                          </a:solidFill>
                          <a:latin typeface="Calibri"/>
                          <a:ea typeface="Calibri"/>
                          <a:cs typeface="Calibri"/>
                        </a:rPr>
                        <a:t>Komitmen kirim meleset</a:t>
                      </a:r>
                    </a:p>
                  </a:txBody>
                  <a:tcPr marL="91440" marR="91440" marT="45720" marB="45720">
                    <a:solidFill>
                      <a:srgbClr val="EBF4EE"/>
                    </a:solidFill>
                  </a:tcPr>
                </a:tc>
                <a:tc>
                  <a:txBody>
                    <a:bodyPr lIns="142875" tIns="123825" rIns="142875" bIns="85725"/>
                    <a:lstStyle/>
                    <a:p>
                      <a:r>
                        <a:rPr sz="1875" b="0">
                          <a:solidFill>
                            <a:srgbClr val="162B27"/>
                          </a:solidFill>
                          <a:latin typeface="Calibri"/>
                          <a:ea typeface="Calibri"/>
                          <a:cs typeface="Calibri"/>
                        </a:rPr>
                        <a:t>Cek kapasitas dan beri ruang waktu</a:t>
                      </a:r>
                    </a:p>
                  </a:txBody>
                  <a:tcPr marL="91440" marR="91440" marT="45720" marB="45720">
                    <a:solidFill>
                      <a:srgbClr val="EBF4EE"/>
                    </a:solidFill>
                  </a:tcPr>
                </a:tc>
              </a:tr>
            </a:tbl>
          </a:graphicData>
        </a:graphic>
      </p:graphicFrame>
      <p:sp>
        <p:nvSpPr>
          <p:cNvPr id="10" name="">
            <a:extLst xmlns:a="http://schemas.openxmlformats.org/drawingml/2006/main">
              <a:ext uri="{FF2B5EF4-FFF2-40B4-BE49-F238E27FC236}">
                <a16:creationId xmlns:a16="http://schemas.microsoft.com/office/drawing/2014/main" id="{ACC5EB69-FF92-4C47-A55B-33A2773D4384}"/>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1" name="text-117">
            <a:extLst xmlns:a="http://schemas.openxmlformats.org/drawingml/2006/main">
              <a:ext uri="{FF2B5EF4-FFF2-40B4-BE49-F238E27FC236}">
                <a16:creationId xmlns:a16="http://schemas.microsoft.com/office/drawing/2014/main" id="{69C176E2-4BAB-43B4-B67B-DB416232F893}"/>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Kalau risikonya belum sanggup ditanggung, ubah syaratnya atau tunda dulu.</a:t>
            </a:r>
          </a:p>
        </p:txBody>
      </p:sp>
    </p:spTree>
    <p:extLst>
      <p:ext uri="{BB962C8B-B14F-4D97-AF65-F5344CB8AC3E}">
        <p14:creationId xmlns:p14="http://schemas.microsoft.com/office/powerpoint/2010/main" val="8681913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f7ab45930f0459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EB2A5-34B5-4D52-9E7D-88BD1D8C7DE5}"/>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1bcd9c3d0364c77"/>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18">
            <a:extLst xmlns:a="http://schemas.openxmlformats.org/drawingml/2006/main">
              <a:ext uri="{FF2B5EF4-FFF2-40B4-BE49-F238E27FC236}">
                <a16:creationId xmlns:a16="http://schemas.microsoft.com/office/drawing/2014/main" id="{467B8730-19DF-46BC-BC44-B3F6A6C9CD72}"/>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Setiap tanggung jawab perlu pemilik yang jelas</a:t>
            </a:r>
          </a:p>
        </p:txBody>
      </p:sp>
      <p:sp>
        <p:nvSpPr>
          <p:cNvPr id="5" name="text-119">
            <a:extLst xmlns:a="http://schemas.openxmlformats.org/drawingml/2006/main">
              <a:ext uri="{FF2B5EF4-FFF2-40B4-BE49-F238E27FC236}">
                <a16:creationId xmlns:a16="http://schemas.microsoft.com/office/drawing/2014/main" id="{EFE7AF52-F222-40C2-8303-67506E63530B}"/>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Peran boleh dirangkap, tetapi pemilik keputusan harus jelas.</a:t>
            </a:r>
          </a:p>
        </p:txBody>
      </p:sp>
      <p:sp>
        <p:nvSpPr>
          <p:cNvPr id="6" name="text-120">
            <a:extLst xmlns:a="http://schemas.openxmlformats.org/drawingml/2006/main">
              <a:ext uri="{FF2B5EF4-FFF2-40B4-BE49-F238E27FC236}">
                <a16:creationId xmlns:a16="http://schemas.microsoft.com/office/drawing/2014/main" id="{D038A077-CC0D-4432-B672-482E11BC11DA}"/>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21">
            <a:extLst xmlns:a="http://schemas.openxmlformats.org/drawingml/2006/main">
              <a:ext uri="{FF2B5EF4-FFF2-40B4-BE49-F238E27FC236}">
                <a16:creationId xmlns:a16="http://schemas.microsoft.com/office/drawing/2014/main" id="{26B02B5F-18C7-4F9A-8E4A-E8458D3105BB}"/>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22">
            <a:extLst xmlns:a="http://schemas.openxmlformats.org/drawingml/2006/main">
              <a:ext uri="{FF2B5EF4-FFF2-40B4-BE49-F238E27FC236}">
                <a16:creationId xmlns:a16="http://schemas.microsoft.com/office/drawing/2014/main" id="{413AADA3-2D4D-42AA-BD8F-971F980F2C53}"/>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10</a:t>
            </a:r>
          </a:p>
        </p:txBody>
      </p:sp>
      <p:sp>
        <p:nvSpPr>
          <p:cNvPr id="9" name="text-123">
            <a:extLst xmlns:a="http://schemas.openxmlformats.org/drawingml/2006/main">
              <a:ext uri="{FF2B5EF4-FFF2-40B4-BE49-F238E27FC236}">
                <a16:creationId xmlns:a16="http://schemas.microsoft.com/office/drawing/2014/main" id="{46EA4E66-88A5-428E-9877-AA62C6B7891F}"/>
              </a:ext>
            </a:extLst>
          </p:cNvPr>
          <p:cNvSpPr>
            <a:spLocks xmlns:a="http://schemas.openxmlformats.org/drawingml/2006/main" noGrp="1"/>
          </p:cNvSpPr>
          <p:nvPr/>
        </p:nvSpPr>
        <p:spPr>
          <a:xfrm xmlns:a="http://schemas.openxmlformats.org/drawingml/2006/main">
            <a:off x="457200" y="2238375"/>
            <a:ext cx="2543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FOUNDER</a:t>
            </a:r>
          </a:p>
        </p:txBody>
      </p:sp>
      <p:sp>
        <p:nvSpPr>
          <p:cNvPr id="10" name="text-124">
            <a:extLst xmlns:a="http://schemas.openxmlformats.org/drawingml/2006/main">
              <a:ext uri="{FF2B5EF4-FFF2-40B4-BE49-F238E27FC236}">
                <a16:creationId xmlns:a16="http://schemas.microsoft.com/office/drawing/2014/main" id="{B9EDDFB0-22A8-40B0-87D9-10D8838B9668}"/>
              </a:ext>
            </a:extLst>
          </p:cNvPr>
          <p:cNvSpPr>
            <a:spLocks xmlns:a="http://schemas.openxmlformats.org/drawingml/2006/main" noGrp="1"/>
          </p:cNvSpPr>
          <p:nvPr/>
        </p:nvSpPr>
        <p:spPr>
          <a:xfrm xmlns:a="http://schemas.openxmlformats.org/drawingml/2006/main">
            <a:off x="457200" y="2724150"/>
            <a:ext cx="34004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087958"/>
                </a:solidFill>
                <a:latin typeface="Calibri"/>
                <a:ea typeface="Calibri"/>
                <a:cs typeface="Calibri"/>
              </a:defRPr>
            </a:pPr>
            <a:r>
              <a:rPr sz="2700" b="1">
                <a:solidFill>
                  <a:srgbClr val="087958"/>
                </a:solidFill>
                <a:latin typeface="Calibri"/>
                <a:ea typeface="Calibri"/>
                <a:cs typeface="Calibri"/>
              </a:rPr>
              <a:t>Menentukan janji</a:t>
            </a:r>
          </a:p>
          <a:p xmlns:a="http://schemas.openxmlformats.org/drawingml/2006/main">
            <a:pPr>
              <a:defRPr sz="2700" b="1">
                <a:solidFill>
                  <a:srgbClr val="087958"/>
                </a:solidFill>
                <a:latin typeface="Calibri"/>
                <a:ea typeface="Calibri"/>
                <a:cs typeface="Calibri"/>
              </a:defRPr>
            </a:pPr>
            <a:r>
              <a:rPr sz="2700" b="1">
                <a:solidFill>
                  <a:srgbClr val="087958"/>
                </a:solidFill>
                <a:latin typeface="Calibri"/>
                <a:ea typeface="Calibri"/>
                <a:cs typeface="Calibri"/>
              </a:rPr>
              <a:t>yang bisa dipenuhi.</a:t>
            </a:r>
          </a:p>
        </p:txBody>
      </p:sp>
      <p:sp>
        <p:nvSpPr>
          <p:cNvPr id="11" name="text-125">
            <a:extLst xmlns:a="http://schemas.openxmlformats.org/drawingml/2006/main">
              <a:ext uri="{FF2B5EF4-FFF2-40B4-BE49-F238E27FC236}">
                <a16:creationId xmlns:a16="http://schemas.microsoft.com/office/drawing/2014/main" id="{3EC7A71D-5DD7-436A-ABB5-E9700F4CBB5B}"/>
              </a:ext>
            </a:extLst>
          </p:cNvPr>
          <p:cNvSpPr>
            <a:spLocks xmlns:a="http://schemas.openxmlformats.org/drawingml/2006/main" noGrp="1"/>
          </p:cNvSpPr>
          <p:nvPr/>
        </p:nvSpPr>
        <p:spPr>
          <a:xfrm xmlns:a="http://schemas.openxmlformats.org/drawingml/2006/main">
            <a:off x="4810125" y="2247900"/>
            <a:ext cx="662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62B27"/>
                </a:solidFill>
                <a:latin typeface="Calibri"/>
                <a:ea typeface="Calibri"/>
                <a:cs typeface="Calibri"/>
              </a:defRPr>
            </a:pPr>
            <a:r>
              <a:rPr sz="2250" b="1">
                <a:solidFill>
                  <a:srgbClr val="162B27"/>
                </a:solidFill>
                <a:latin typeface="Calibri"/>
                <a:ea typeface="Calibri"/>
                <a:cs typeface="Calibri"/>
              </a:rPr>
              <a:t>Produk &amp; kualitas</a:t>
            </a:r>
          </a:p>
        </p:txBody>
      </p:sp>
      <p:sp>
        <p:nvSpPr>
          <p:cNvPr id="12" name="text-126">
            <a:extLst xmlns:a="http://schemas.openxmlformats.org/drawingml/2006/main">
              <a:ext uri="{FF2B5EF4-FFF2-40B4-BE49-F238E27FC236}">
                <a16:creationId xmlns:a16="http://schemas.microsoft.com/office/drawing/2014/main" id="{995865BB-EAB0-408E-822E-3C478A782883}"/>
              </a:ext>
            </a:extLst>
          </p:cNvPr>
          <p:cNvSpPr>
            <a:spLocks xmlns:a="http://schemas.openxmlformats.org/drawingml/2006/main" noGrp="1"/>
          </p:cNvSpPr>
          <p:nvPr/>
        </p:nvSpPr>
        <p:spPr>
          <a:xfrm xmlns:a="http://schemas.openxmlformats.org/drawingml/2006/main">
            <a:off x="4810125" y="2686050"/>
            <a:ext cx="6629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Menjaga hasil sesuai spesifikasi.</a:t>
            </a:r>
          </a:p>
        </p:txBody>
      </p:sp>
      <p:sp>
        <p:nvSpPr>
          <p:cNvPr id="13" name="">
            <a:extLst xmlns:a="http://schemas.openxmlformats.org/drawingml/2006/main">
              <a:ext uri="{FF2B5EF4-FFF2-40B4-BE49-F238E27FC236}">
                <a16:creationId xmlns:a16="http://schemas.microsoft.com/office/drawing/2014/main" id="{D5C50A5C-87BC-4B24-9CB1-83818ED8A213}"/>
              </a:ext>
            </a:extLst>
          </p:cNvPr>
          <p:cNvSpPr>
            <a:spLocks xmlns:a="http://schemas.openxmlformats.org/drawingml/2006/main" noGrp="1"/>
          </p:cNvSpPr>
          <p:nvPr/>
        </p:nvSpPr>
        <p:spPr>
          <a:xfrm xmlns:a="http://schemas.openxmlformats.org/drawingml/2006/main">
            <a:off x="4810125" y="3143250"/>
            <a:ext cx="6734175"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4" name="text-127">
            <a:extLst xmlns:a="http://schemas.openxmlformats.org/drawingml/2006/main">
              <a:ext uri="{FF2B5EF4-FFF2-40B4-BE49-F238E27FC236}">
                <a16:creationId xmlns:a16="http://schemas.microsoft.com/office/drawing/2014/main" id="{DDC2476D-CEE0-4387-A0C9-FDFF7DC8D671}"/>
              </a:ext>
            </a:extLst>
          </p:cNvPr>
          <p:cNvSpPr>
            <a:spLocks xmlns:a="http://schemas.openxmlformats.org/drawingml/2006/main" noGrp="1"/>
          </p:cNvSpPr>
          <p:nvPr/>
        </p:nvSpPr>
        <p:spPr>
          <a:xfrm xmlns:a="http://schemas.openxmlformats.org/drawingml/2006/main">
            <a:off x="4810125" y="3257550"/>
            <a:ext cx="662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62B27"/>
                </a:solidFill>
                <a:latin typeface="Calibri"/>
                <a:ea typeface="Calibri"/>
                <a:cs typeface="Calibri"/>
              </a:defRPr>
            </a:pPr>
            <a:r>
              <a:rPr sz="2250" b="1">
                <a:solidFill>
                  <a:srgbClr val="162B27"/>
                </a:solidFill>
                <a:latin typeface="Calibri"/>
                <a:ea typeface="Calibri"/>
                <a:cs typeface="Calibri"/>
              </a:rPr>
              <a:t>Buyer &amp; komunikasi</a:t>
            </a:r>
          </a:p>
        </p:txBody>
      </p:sp>
      <p:sp>
        <p:nvSpPr>
          <p:cNvPr id="15" name="text-128">
            <a:extLst xmlns:a="http://schemas.openxmlformats.org/drawingml/2006/main">
              <a:ext uri="{FF2B5EF4-FFF2-40B4-BE49-F238E27FC236}">
                <a16:creationId xmlns:a16="http://schemas.microsoft.com/office/drawing/2014/main" id="{20FE0F40-3867-4B8A-B09F-DA60ECB3CFDD}"/>
              </a:ext>
            </a:extLst>
          </p:cNvPr>
          <p:cNvSpPr>
            <a:spLocks xmlns:a="http://schemas.openxmlformats.org/drawingml/2006/main" noGrp="1"/>
          </p:cNvSpPr>
          <p:nvPr/>
        </p:nvSpPr>
        <p:spPr>
          <a:xfrm xmlns:a="http://schemas.openxmlformats.org/drawingml/2006/main">
            <a:off x="4810125" y="3695700"/>
            <a:ext cx="6629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Mencatat kebutuhan dan menyepakati penawaran.</a:t>
            </a:r>
          </a:p>
        </p:txBody>
      </p:sp>
      <p:sp>
        <p:nvSpPr>
          <p:cNvPr id="16" name="">
            <a:extLst xmlns:a="http://schemas.openxmlformats.org/drawingml/2006/main">
              <a:ext uri="{FF2B5EF4-FFF2-40B4-BE49-F238E27FC236}">
                <a16:creationId xmlns:a16="http://schemas.microsoft.com/office/drawing/2014/main" id="{9676922C-3798-419B-A58A-ACFA6E3F952D}"/>
              </a:ext>
            </a:extLst>
          </p:cNvPr>
          <p:cNvSpPr>
            <a:spLocks xmlns:a="http://schemas.openxmlformats.org/drawingml/2006/main" noGrp="1"/>
          </p:cNvSpPr>
          <p:nvPr/>
        </p:nvSpPr>
        <p:spPr>
          <a:xfrm xmlns:a="http://schemas.openxmlformats.org/drawingml/2006/main">
            <a:off x="4810125" y="4152900"/>
            <a:ext cx="6734175"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7" name="text-129">
            <a:extLst xmlns:a="http://schemas.openxmlformats.org/drawingml/2006/main">
              <a:ext uri="{FF2B5EF4-FFF2-40B4-BE49-F238E27FC236}">
                <a16:creationId xmlns:a16="http://schemas.microsoft.com/office/drawing/2014/main" id="{4862853E-6361-4FD5-8EB7-DFB2CE479174}"/>
              </a:ext>
            </a:extLst>
          </p:cNvPr>
          <p:cNvSpPr>
            <a:spLocks xmlns:a="http://schemas.openxmlformats.org/drawingml/2006/main" noGrp="1"/>
          </p:cNvSpPr>
          <p:nvPr/>
        </p:nvSpPr>
        <p:spPr>
          <a:xfrm xmlns:a="http://schemas.openxmlformats.org/drawingml/2006/main">
            <a:off x="4810125" y="4267200"/>
            <a:ext cx="662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62B27"/>
                </a:solidFill>
                <a:latin typeface="Calibri"/>
                <a:ea typeface="Calibri"/>
                <a:cs typeface="Calibri"/>
              </a:defRPr>
            </a:pPr>
            <a:r>
              <a:rPr sz="2250" b="1">
                <a:solidFill>
                  <a:srgbClr val="162B27"/>
                </a:solidFill>
                <a:latin typeface="Calibri"/>
                <a:ea typeface="Calibri"/>
                <a:cs typeface="Calibri"/>
              </a:rPr>
              <a:t>Operasional &amp; keuangan</a:t>
            </a:r>
          </a:p>
        </p:txBody>
      </p:sp>
      <p:sp>
        <p:nvSpPr>
          <p:cNvPr id="18" name="text-130">
            <a:extLst xmlns:a="http://schemas.openxmlformats.org/drawingml/2006/main">
              <a:ext uri="{FF2B5EF4-FFF2-40B4-BE49-F238E27FC236}">
                <a16:creationId xmlns:a16="http://schemas.microsoft.com/office/drawing/2014/main" id="{91FCF246-260F-4B5B-AD3B-D5EF6AE43F21}"/>
              </a:ext>
            </a:extLst>
          </p:cNvPr>
          <p:cNvSpPr>
            <a:spLocks xmlns:a="http://schemas.openxmlformats.org/drawingml/2006/main" noGrp="1"/>
          </p:cNvSpPr>
          <p:nvPr/>
        </p:nvSpPr>
        <p:spPr>
          <a:xfrm xmlns:a="http://schemas.openxmlformats.org/drawingml/2006/main">
            <a:off x="4810125" y="4705350"/>
            <a:ext cx="6629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Menjaga jadwal, dokumen, dan kesiapan kas.</a:t>
            </a:r>
          </a:p>
        </p:txBody>
      </p:sp>
      <p:sp>
        <p:nvSpPr>
          <p:cNvPr id="19" name="">
            <a:extLst xmlns:a="http://schemas.openxmlformats.org/drawingml/2006/main">
              <a:ext uri="{FF2B5EF4-FFF2-40B4-BE49-F238E27FC236}">
                <a16:creationId xmlns:a16="http://schemas.microsoft.com/office/drawing/2014/main" id="{A39B27FC-CCF2-4BD2-A9BC-FB31D5B19266}"/>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0" name="text-131">
            <a:extLst xmlns:a="http://schemas.openxmlformats.org/drawingml/2006/main">
              <a:ext uri="{FF2B5EF4-FFF2-40B4-BE49-F238E27FC236}">
                <a16:creationId xmlns:a16="http://schemas.microsoft.com/office/drawing/2014/main" id="{3C9FA96F-CA34-49C3-8F04-95FCA3451B17}"/>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Janji ke buyer harus sesuai dengan kemampuan orang yang menjalankannya.</a:t>
            </a:r>
          </a:p>
        </p:txBody>
      </p:sp>
    </p:spTree>
    <p:extLst>
      <p:ext uri="{BB962C8B-B14F-4D97-AF65-F5344CB8AC3E}">
        <p14:creationId xmlns:p14="http://schemas.microsoft.com/office/powerpoint/2010/main" val="9571619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15ee72f8b95439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18195C7-4882-4F70-BCA5-F4CB58E6F9A3}"/>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ea2f4a7d7e442ac"/>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32">
            <a:extLst xmlns:a="http://schemas.openxmlformats.org/drawingml/2006/main">
              <a:ext uri="{FF2B5EF4-FFF2-40B4-BE49-F238E27FC236}">
                <a16:creationId xmlns:a16="http://schemas.microsoft.com/office/drawing/2014/main" id="{FA475C4C-AF26-47F5-A277-70D0B56A3B7D}"/>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Terima, negosiasikan, atau tunda? Keputusan perlu bukti</a:t>
            </a:r>
          </a:p>
        </p:txBody>
      </p:sp>
      <p:sp>
        <p:nvSpPr>
          <p:cNvPr id="5" name="text-133">
            <a:extLst xmlns:a="http://schemas.openxmlformats.org/drawingml/2006/main">
              <a:ext uri="{FF2B5EF4-FFF2-40B4-BE49-F238E27FC236}">
                <a16:creationId xmlns:a16="http://schemas.microsoft.com/office/drawing/2014/main" id="{F5C51251-145A-44B7-A426-9A0C54446294}"/>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Kasus ilustratif: buyer tertarik dengan produk dekorasi rumah kita.</a:t>
            </a:r>
          </a:p>
        </p:txBody>
      </p:sp>
      <p:sp>
        <p:nvSpPr>
          <p:cNvPr id="6" name="text-134">
            <a:extLst xmlns:a="http://schemas.openxmlformats.org/drawingml/2006/main">
              <a:ext uri="{FF2B5EF4-FFF2-40B4-BE49-F238E27FC236}">
                <a16:creationId xmlns:a16="http://schemas.microsoft.com/office/drawing/2014/main" id="{744030A6-B494-4970-8CF0-C154C65D0E54}"/>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Kasus dan seluruh angka pada slide ini adalah ilustrasi pembelajaran.</a:t>
            </a:r>
          </a:p>
        </p:txBody>
      </p:sp>
      <p:sp>
        <p:nvSpPr>
          <p:cNvPr id="7" name="text-135">
            <a:extLst xmlns:a="http://schemas.openxmlformats.org/drawingml/2006/main">
              <a:ext uri="{FF2B5EF4-FFF2-40B4-BE49-F238E27FC236}">
                <a16:creationId xmlns:a16="http://schemas.microsoft.com/office/drawing/2014/main" id="{298F36CE-B89F-4C79-894C-CD88A9E9FBD8}"/>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36">
            <a:extLst xmlns:a="http://schemas.openxmlformats.org/drawingml/2006/main">
              <a:ext uri="{FF2B5EF4-FFF2-40B4-BE49-F238E27FC236}">
                <a16:creationId xmlns:a16="http://schemas.microsoft.com/office/drawing/2014/main" id="{7B185530-C798-40AA-83C8-13E49D94261E}"/>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11</a:t>
            </a:r>
          </a:p>
        </p:txBody>
      </p:sp>
      <p:sp>
        <p:nvSpPr>
          <p:cNvPr id="9" name="text-137">
            <a:extLst xmlns:a="http://schemas.openxmlformats.org/drawingml/2006/main">
              <a:ext uri="{FF2B5EF4-FFF2-40B4-BE49-F238E27FC236}">
                <a16:creationId xmlns:a16="http://schemas.microsoft.com/office/drawing/2014/main" id="{ADCE6AB0-755C-4E38-8291-387D074B4323}"/>
              </a:ext>
            </a:extLst>
          </p:cNvPr>
          <p:cNvSpPr>
            <a:spLocks xmlns:a="http://schemas.openxmlformats.org/drawingml/2006/main" noGrp="1"/>
          </p:cNvSpPr>
          <p:nvPr/>
        </p:nvSpPr>
        <p:spPr>
          <a:xfrm xmlns:a="http://schemas.openxmlformats.org/drawingml/2006/main">
            <a:off x="457200" y="2276475"/>
            <a:ext cx="4019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087958"/>
                </a:solidFill>
                <a:latin typeface="Calibri"/>
                <a:ea typeface="Calibri"/>
                <a:cs typeface="Calibri"/>
              </a:defRPr>
            </a:pPr>
            <a:r>
              <a:rPr sz="4275" b="1">
                <a:solidFill>
                  <a:srgbClr val="087958"/>
                </a:solidFill>
                <a:latin typeface="Calibri"/>
                <a:ea typeface="Calibri"/>
                <a:cs typeface="Calibri"/>
              </a:rPr>
              <a:t>500 unit</a:t>
            </a:r>
          </a:p>
        </p:txBody>
      </p:sp>
      <p:sp>
        <p:nvSpPr>
          <p:cNvPr id="10" name="text-138">
            <a:extLst xmlns:a="http://schemas.openxmlformats.org/drawingml/2006/main">
              <a:ext uri="{FF2B5EF4-FFF2-40B4-BE49-F238E27FC236}">
                <a16:creationId xmlns:a16="http://schemas.microsoft.com/office/drawing/2014/main" id="{0088433C-8A37-47E0-8FFD-51DD2616D24C}"/>
              </a:ext>
            </a:extLst>
          </p:cNvPr>
          <p:cNvSpPr>
            <a:spLocks xmlns:a="http://schemas.openxmlformats.org/drawingml/2006/main" noGrp="1"/>
          </p:cNvSpPr>
          <p:nvPr/>
        </p:nvSpPr>
        <p:spPr>
          <a:xfrm xmlns:a="http://schemas.openxmlformats.org/drawingml/2006/main">
            <a:off x="457200" y="3067050"/>
            <a:ext cx="4086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62B27"/>
                </a:solidFill>
                <a:latin typeface="Calibri"/>
                <a:ea typeface="Calibri"/>
                <a:cs typeface="Calibri"/>
              </a:defRPr>
            </a:pPr>
            <a:r>
              <a:rPr sz="1875" b="0">
                <a:solidFill>
                  <a:srgbClr val="162B27"/>
                </a:solidFill>
                <a:latin typeface="Calibri"/>
                <a:ea typeface="Calibri"/>
                <a:cs typeface="Calibri"/>
              </a:rPr>
              <a:t>pesanan yang diminta buyer</a:t>
            </a:r>
          </a:p>
        </p:txBody>
      </p:sp>
      <p:sp>
        <p:nvSpPr>
          <p:cNvPr id="11" name="text-139">
            <a:extLst xmlns:a="http://schemas.openxmlformats.org/drawingml/2006/main">
              <a:ext uri="{FF2B5EF4-FFF2-40B4-BE49-F238E27FC236}">
                <a16:creationId xmlns:a16="http://schemas.microsoft.com/office/drawing/2014/main" id="{144A5E84-C7AF-46D5-83D4-E6CF78312967}"/>
              </a:ext>
            </a:extLst>
          </p:cNvPr>
          <p:cNvSpPr>
            <a:spLocks xmlns:a="http://schemas.openxmlformats.org/drawingml/2006/main" noGrp="1"/>
          </p:cNvSpPr>
          <p:nvPr/>
        </p:nvSpPr>
        <p:spPr>
          <a:xfrm xmlns:a="http://schemas.openxmlformats.org/drawingml/2006/main">
            <a:off x="457200" y="3762375"/>
            <a:ext cx="4019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087958"/>
                </a:solidFill>
                <a:latin typeface="Calibri"/>
                <a:ea typeface="Calibri"/>
                <a:cs typeface="Calibri"/>
              </a:defRPr>
            </a:pPr>
            <a:r>
              <a:rPr sz="4275" b="1">
                <a:solidFill>
                  <a:srgbClr val="087958"/>
                </a:solidFill>
                <a:latin typeface="Calibri"/>
                <a:ea typeface="Calibri"/>
                <a:cs typeface="Calibri"/>
              </a:rPr>
              <a:t>30 hari</a:t>
            </a:r>
          </a:p>
        </p:txBody>
      </p:sp>
      <p:sp>
        <p:nvSpPr>
          <p:cNvPr id="12" name="text-140">
            <a:extLst xmlns:a="http://schemas.openxmlformats.org/drawingml/2006/main">
              <a:ext uri="{FF2B5EF4-FFF2-40B4-BE49-F238E27FC236}">
                <a16:creationId xmlns:a16="http://schemas.microsoft.com/office/drawing/2014/main" id="{C7C5028C-14A7-4694-9C17-3562816B0BF0}"/>
              </a:ext>
            </a:extLst>
          </p:cNvPr>
          <p:cNvSpPr>
            <a:spLocks xmlns:a="http://schemas.openxmlformats.org/drawingml/2006/main" noGrp="1"/>
          </p:cNvSpPr>
          <p:nvPr/>
        </p:nvSpPr>
        <p:spPr>
          <a:xfrm xmlns:a="http://schemas.openxmlformats.org/drawingml/2006/main">
            <a:off x="457200" y="4552950"/>
            <a:ext cx="4086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62B27"/>
                </a:solidFill>
                <a:latin typeface="Calibri"/>
                <a:ea typeface="Calibri"/>
                <a:cs typeface="Calibri"/>
              </a:defRPr>
            </a:pPr>
            <a:r>
              <a:rPr sz="1875" b="0">
                <a:solidFill>
                  <a:srgbClr val="162B27"/>
                </a:solidFill>
                <a:latin typeface="Calibri"/>
                <a:ea typeface="Calibri"/>
                <a:cs typeface="Calibri"/>
              </a:rPr>
              <a:t>batas waktu siap kirim</a:t>
            </a:r>
          </a:p>
        </p:txBody>
      </p:sp>
      <p:sp>
        <p:nvSpPr>
          <p:cNvPr id="13" name="text-141">
            <a:extLst xmlns:a="http://schemas.openxmlformats.org/drawingml/2006/main">
              <a:ext uri="{FF2B5EF4-FFF2-40B4-BE49-F238E27FC236}">
                <a16:creationId xmlns:a16="http://schemas.microsoft.com/office/drawing/2014/main" id="{F90F8455-2B43-429A-A6BC-7956C8C3899B}"/>
              </a:ext>
            </a:extLst>
          </p:cNvPr>
          <p:cNvSpPr>
            <a:spLocks xmlns:a="http://schemas.openxmlformats.org/drawingml/2006/main" noGrp="1"/>
          </p:cNvSpPr>
          <p:nvPr/>
        </p:nvSpPr>
        <p:spPr>
          <a:xfrm xmlns:a="http://schemas.openxmlformats.org/drawingml/2006/main">
            <a:off x="5257800" y="2305050"/>
            <a:ext cx="628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KONDISI BISNIS SAAT INI</a:t>
            </a:r>
          </a:p>
        </p:txBody>
      </p:sp>
      <p:sp>
        <p:nvSpPr>
          <p:cNvPr id="14" name="text-142">
            <a:extLst xmlns:a="http://schemas.openxmlformats.org/drawingml/2006/main">
              <a:ext uri="{FF2B5EF4-FFF2-40B4-BE49-F238E27FC236}">
                <a16:creationId xmlns:a16="http://schemas.microsoft.com/office/drawing/2014/main" id="{CFD1CA16-C07F-4AAA-92AA-8D9679F3EFE5}"/>
              </a:ext>
            </a:extLst>
          </p:cNvPr>
          <p:cNvSpPr>
            <a:spLocks xmlns:a="http://schemas.openxmlformats.org/drawingml/2006/main" noGrp="1"/>
          </p:cNvSpPr>
          <p:nvPr/>
        </p:nvSpPr>
        <p:spPr>
          <a:xfrm xmlns:a="http://schemas.openxmlformats.org/drawingml/2006/main">
            <a:off x="5257800" y="2743200"/>
            <a:ext cx="61531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62B27"/>
                </a:solidFill>
                <a:latin typeface="Calibri"/>
                <a:ea typeface="Calibri"/>
                <a:cs typeface="Calibri"/>
              </a:defRPr>
            </a:pPr>
            <a:r>
              <a:rPr sz="2175" b="0">
                <a:solidFill>
                  <a:srgbClr val="162B27"/>
                </a:solidFill>
                <a:latin typeface="Calibri"/>
                <a:ea typeface="Calibri"/>
                <a:cs typeface="Calibri"/>
              </a:rPr>
              <a:t>Kapasitas tersedia: 300 unit / 30 hari.</a:t>
            </a:r>
          </a:p>
          <a:p xmlns:a="http://schemas.openxmlformats.org/drawingml/2006/main">
            <a:pPr>
              <a:defRPr sz="2175" b="0">
                <a:solidFill>
                  <a:srgbClr val="162B27"/>
                </a:solidFill>
                <a:latin typeface="Calibri"/>
                <a:ea typeface="Calibri"/>
                <a:cs typeface="Calibri"/>
              </a:defRPr>
            </a:pPr>
            <a:r>
              <a:rPr sz="2175" b="0">
                <a:solidFill>
                  <a:srgbClr val="162B27"/>
                </a:solidFill>
                <a:latin typeface="Calibri"/>
                <a:ea typeface="Calibri"/>
                <a:cs typeface="Calibri"/>
              </a:rPr>
              <a:t>Buyer meminta bayar setelah barang diterima.</a:t>
            </a:r>
          </a:p>
          <a:p xmlns:a="http://schemas.openxmlformats.org/drawingml/2006/main">
            <a:pPr>
              <a:defRPr sz="2175" b="0">
                <a:solidFill>
                  <a:srgbClr val="162B27"/>
                </a:solidFill>
                <a:latin typeface="Calibri"/>
                <a:ea typeface="Calibri"/>
                <a:cs typeface="Calibri"/>
              </a:defRPr>
            </a:pPr>
            <a:r>
              <a:rPr sz="2175" b="0">
                <a:solidFill>
                  <a:srgbClr val="162B27"/>
                </a:solidFill>
                <a:latin typeface="Calibri"/>
                <a:ea typeface="Calibri"/>
                <a:cs typeface="Calibri"/>
              </a:rPr>
              <a:t>Kemasan ekspor belum diuji.</a:t>
            </a:r>
          </a:p>
        </p:txBody>
      </p:sp>
      <p:sp>
        <p:nvSpPr>
          <p:cNvPr id="15" name="text-143">
            <a:extLst xmlns:a="http://schemas.openxmlformats.org/drawingml/2006/main">
              <a:ext uri="{FF2B5EF4-FFF2-40B4-BE49-F238E27FC236}">
                <a16:creationId xmlns:a16="http://schemas.microsoft.com/office/drawing/2014/main" id="{4BEE128B-5ED1-4862-A485-636A65E57829}"/>
              </a:ext>
            </a:extLst>
          </p:cNvPr>
          <p:cNvSpPr>
            <a:spLocks xmlns:a="http://schemas.openxmlformats.org/drawingml/2006/main" noGrp="1"/>
          </p:cNvSpPr>
          <p:nvPr/>
        </p:nvSpPr>
        <p:spPr>
          <a:xfrm xmlns:a="http://schemas.openxmlformats.org/drawingml/2006/main">
            <a:off x="5257800" y="4695825"/>
            <a:ext cx="61531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958"/>
                </a:solidFill>
                <a:latin typeface="Calibri"/>
                <a:ea typeface="Calibri"/>
                <a:cs typeface="Calibri"/>
              </a:defRPr>
            </a:pPr>
            <a:r>
              <a:rPr sz="2250" b="1">
                <a:solidFill>
                  <a:srgbClr val="087958"/>
                </a:solidFill>
                <a:latin typeface="Calibri"/>
                <a:ea typeface="Calibri"/>
                <a:cs typeface="Calibri"/>
              </a:rPr>
              <a:t>Apa yang perlu dinegosiasikan</a:t>
            </a:r>
          </a:p>
          <a:p xmlns:a="http://schemas.openxmlformats.org/drawingml/2006/main">
            <a:pPr>
              <a:defRPr sz="2250" b="1">
                <a:solidFill>
                  <a:srgbClr val="087958"/>
                </a:solidFill>
                <a:latin typeface="Calibri"/>
                <a:ea typeface="Calibri"/>
                <a:cs typeface="Calibri"/>
              </a:defRPr>
            </a:pPr>
            <a:r>
              <a:rPr sz="2250" b="1">
                <a:solidFill>
                  <a:srgbClr val="087958"/>
                </a:solidFill>
                <a:latin typeface="Calibri"/>
                <a:ea typeface="Calibri"/>
                <a:cs typeface="Calibri"/>
              </a:rPr>
              <a:t>sebelum kita bilang “ya”?</a:t>
            </a:r>
          </a:p>
        </p:txBody>
      </p:sp>
      <p:sp>
        <p:nvSpPr>
          <p:cNvPr id="16" name="">
            <a:extLst xmlns:a="http://schemas.openxmlformats.org/drawingml/2006/main">
              <a:ext uri="{FF2B5EF4-FFF2-40B4-BE49-F238E27FC236}">
                <a16:creationId xmlns:a16="http://schemas.microsoft.com/office/drawing/2014/main" id="{CA156473-6F79-4BBE-B175-BF792D543D88}"/>
              </a:ext>
            </a:extLst>
          </p:cNvPr>
          <p:cNvSpPr>
            <a:spLocks xmlns:a="http://schemas.openxmlformats.org/drawingml/2006/main" noGrp="1"/>
          </p:cNvSpPr>
          <p:nvPr/>
        </p:nvSpPr>
        <p:spPr>
          <a:xfrm xmlns:a="http://schemas.openxmlformats.org/drawingml/2006/main">
            <a:off x="457200" y="55435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7" name="text-144">
            <a:extLst xmlns:a="http://schemas.openxmlformats.org/drawingml/2006/main">
              <a:ext uri="{FF2B5EF4-FFF2-40B4-BE49-F238E27FC236}">
                <a16:creationId xmlns:a16="http://schemas.microsoft.com/office/drawing/2014/main" id="{5562703F-8869-4C30-8069-3E014BA3F42F}"/>
              </a:ext>
            </a:extLst>
          </p:cNvPr>
          <p:cNvSpPr>
            <a:spLocks xmlns:a="http://schemas.openxmlformats.org/drawingml/2006/main" noGrp="1"/>
          </p:cNvSpPr>
          <p:nvPr/>
        </p:nvSpPr>
        <p:spPr>
          <a:xfrm xmlns:a="http://schemas.openxmlformats.org/drawingml/2006/main">
            <a:off x="457200" y="574357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Diskusi singkat: sebutkan keputusanmu dan bukti yang kamu butuhkan.</a:t>
            </a:r>
          </a:p>
        </p:txBody>
      </p:sp>
    </p:spTree>
    <p:extLst>
      <p:ext uri="{BB962C8B-B14F-4D97-AF65-F5344CB8AC3E}">
        <p14:creationId xmlns:p14="http://schemas.microsoft.com/office/powerpoint/2010/main" val="14496373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f5083269b814ef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6C583D-8A1B-4C51-B9B8-2B21653A07C1}"/>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919c0b9b16b43bb"/>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45">
            <a:extLst xmlns:a="http://schemas.openxmlformats.org/drawingml/2006/main">
              <a:ext uri="{FF2B5EF4-FFF2-40B4-BE49-F238E27FC236}">
                <a16:creationId xmlns:a16="http://schemas.microsoft.com/office/drawing/2014/main" id="{382A31B9-8859-45C3-8DD5-D2C902036EF7}"/>
              </a:ext>
            </a:extLst>
          </p:cNvPr>
          <p:cNvSpPr>
            <a:spLocks xmlns:a="http://schemas.openxmlformats.org/drawingml/2006/main" noGrp="1"/>
          </p:cNvSpPr>
          <p:nvPr/>
        </p:nvSpPr>
        <p:spPr>
          <a:xfrm xmlns:a="http://schemas.openxmlformats.org/drawingml/2006/main">
            <a:off x="457200" y="390525"/>
            <a:ext cx="976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62B27"/>
                </a:solidFill>
                <a:latin typeface="Calibri"/>
                <a:ea typeface="Calibri"/>
                <a:cs typeface="Calibri"/>
              </a:defRPr>
            </a:pPr>
            <a:r>
              <a:rPr sz="2700" b="1">
                <a:solidFill>
                  <a:srgbClr val="162B27"/>
                </a:solidFill>
                <a:latin typeface="Calibri"/>
                <a:ea typeface="Calibri"/>
                <a:cs typeface="Calibri"/>
              </a:rPr>
              <a:t>Satu eksperimen kecil untuk mulai menguji peluang ekspor</a:t>
            </a:r>
          </a:p>
        </p:txBody>
      </p:sp>
      <p:sp>
        <p:nvSpPr>
          <p:cNvPr id="5" name="text-146">
            <a:extLst xmlns:a="http://schemas.openxmlformats.org/drawingml/2006/main">
              <a:ext uri="{FF2B5EF4-FFF2-40B4-BE49-F238E27FC236}">
                <a16:creationId xmlns:a16="http://schemas.microsoft.com/office/drawing/2014/main" id="{97FCCA79-B3C6-4E44-8FC7-B440AA0DBEB3}"/>
              </a:ext>
            </a:extLst>
          </p:cNvPr>
          <p:cNvSpPr>
            <a:spLocks xmlns:a="http://schemas.openxmlformats.org/drawingml/2006/main" noGrp="1"/>
          </p:cNvSpPr>
          <p:nvPr/>
        </p:nvSpPr>
        <p:spPr>
          <a:xfrm xmlns:a="http://schemas.openxmlformats.org/drawingml/2006/main">
            <a:off x="457200" y="1419225"/>
            <a:ext cx="1120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6C65"/>
                </a:solidFill>
                <a:latin typeface="Calibri"/>
                <a:ea typeface="Calibri"/>
                <a:cs typeface="Calibri"/>
              </a:defRPr>
            </a:pPr>
            <a:r>
              <a:rPr sz="1800" b="0">
                <a:solidFill>
                  <a:srgbClr val="5B6C65"/>
                </a:solidFill>
                <a:latin typeface="Calibri"/>
                <a:ea typeface="Calibri"/>
                <a:cs typeface="Calibri"/>
              </a:rPr>
              <a:t>Tulis satu langkah untuk mengurangi ketidakpastian di bisnis ekspormu.</a:t>
            </a:r>
          </a:p>
        </p:txBody>
      </p:sp>
      <p:sp>
        <p:nvSpPr>
          <p:cNvPr id="6" name="text-147">
            <a:extLst xmlns:a="http://schemas.openxmlformats.org/drawingml/2006/main">
              <a:ext uri="{FF2B5EF4-FFF2-40B4-BE49-F238E27FC236}">
                <a16:creationId xmlns:a16="http://schemas.microsoft.com/office/drawing/2014/main" id="{3AEF680F-CC67-4123-8CF5-6896F269A566}"/>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48">
            <a:extLst xmlns:a="http://schemas.openxmlformats.org/drawingml/2006/main">
              <a:ext uri="{FF2B5EF4-FFF2-40B4-BE49-F238E27FC236}">
                <a16:creationId xmlns:a16="http://schemas.microsoft.com/office/drawing/2014/main" id="{1CB9F1CB-F232-4607-B79D-3F03AA521D90}"/>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49">
            <a:extLst xmlns:a="http://schemas.openxmlformats.org/drawingml/2006/main">
              <a:ext uri="{FF2B5EF4-FFF2-40B4-BE49-F238E27FC236}">
                <a16:creationId xmlns:a16="http://schemas.microsoft.com/office/drawing/2014/main" id="{CB8860E1-8924-44C5-9E62-FCA798A6836F}"/>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12</a:t>
            </a:r>
          </a:p>
        </p:txBody>
      </p:sp>
      <p:sp>
        <p:nvSpPr>
          <p:cNvPr id="9" name="text-150">
            <a:extLst xmlns:a="http://schemas.openxmlformats.org/drawingml/2006/main">
              <a:ext uri="{FF2B5EF4-FFF2-40B4-BE49-F238E27FC236}">
                <a16:creationId xmlns:a16="http://schemas.microsoft.com/office/drawing/2014/main" id="{D6B826F2-77DE-410D-B58B-0EEE8FA05DC2}"/>
              </a:ext>
            </a:extLst>
          </p:cNvPr>
          <p:cNvSpPr>
            <a:spLocks xmlns:a="http://schemas.openxmlformats.org/drawingml/2006/main" noGrp="1"/>
          </p:cNvSpPr>
          <p:nvPr/>
        </p:nvSpPr>
        <p:spPr>
          <a:xfrm xmlns:a="http://schemas.openxmlformats.org/drawingml/2006/main">
            <a:off x="457200" y="2219325"/>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958"/>
                </a:solidFill>
                <a:latin typeface="Calibri"/>
                <a:ea typeface="Calibri"/>
                <a:cs typeface="Calibri"/>
              </a:defRPr>
            </a:pPr>
            <a:r>
              <a:rPr sz="2025" b="1">
                <a:solidFill>
                  <a:srgbClr val="087958"/>
                </a:solidFill>
                <a:latin typeface="Calibri"/>
                <a:ea typeface="Calibri"/>
                <a:cs typeface="Calibri"/>
              </a:rPr>
              <a:t>Yang ingin saya uji</a:t>
            </a:r>
          </a:p>
        </p:txBody>
      </p:sp>
      <p:sp>
        <p:nvSpPr>
          <p:cNvPr id="10" name="text-151">
            <a:extLst xmlns:a="http://schemas.openxmlformats.org/drawingml/2006/main">
              <a:ext uri="{FF2B5EF4-FFF2-40B4-BE49-F238E27FC236}">
                <a16:creationId xmlns:a16="http://schemas.microsoft.com/office/drawing/2014/main" id="{77D9C7A2-6CA1-43DA-B554-2B36002E3283}"/>
              </a:ext>
            </a:extLst>
          </p:cNvPr>
          <p:cNvSpPr>
            <a:spLocks xmlns:a="http://schemas.openxmlformats.org/drawingml/2006/main" noGrp="1"/>
          </p:cNvSpPr>
          <p:nvPr/>
        </p:nvSpPr>
        <p:spPr>
          <a:xfrm xmlns:a="http://schemas.openxmlformats.org/drawingml/2006/main">
            <a:off x="3638550" y="2219325"/>
            <a:ext cx="7924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B27"/>
                </a:solidFill>
                <a:latin typeface="Calibri"/>
                <a:ea typeface="Calibri"/>
                <a:cs typeface="Calibri"/>
              </a:defRPr>
            </a:pPr>
            <a:r>
              <a:rPr sz="1950" b="0">
                <a:solidFill>
                  <a:srgbClr val="162B27"/>
                </a:solidFill>
                <a:latin typeface="Calibri"/>
                <a:ea typeface="Calibri"/>
                <a:cs typeface="Calibri"/>
              </a:rPr>
              <a:t>Apakah buyer yang saya tuju membutuhkan produk ini?</a:t>
            </a:r>
          </a:p>
        </p:txBody>
      </p:sp>
      <p:sp>
        <p:nvSpPr>
          <p:cNvPr id="11" name="">
            <a:extLst xmlns:a="http://schemas.openxmlformats.org/drawingml/2006/main">
              <a:ext uri="{FF2B5EF4-FFF2-40B4-BE49-F238E27FC236}">
                <a16:creationId xmlns:a16="http://schemas.microsoft.com/office/drawing/2014/main" id="{35D21060-3F0A-4CEB-A21C-E1F29448EC6E}"/>
              </a:ext>
            </a:extLst>
          </p:cNvPr>
          <p:cNvSpPr>
            <a:spLocks xmlns:a="http://schemas.openxmlformats.org/drawingml/2006/main" noGrp="1"/>
          </p:cNvSpPr>
          <p:nvPr/>
        </p:nvSpPr>
        <p:spPr>
          <a:xfrm xmlns:a="http://schemas.openxmlformats.org/drawingml/2006/main">
            <a:off x="457200" y="2867025"/>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2" name="text-152">
            <a:extLst xmlns:a="http://schemas.openxmlformats.org/drawingml/2006/main">
              <a:ext uri="{FF2B5EF4-FFF2-40B4-BE49-F238E27FC236}">
                <a16:creationId xmlns:a16="http://schemas.microsoft.com/office/drawing/2014/main" id="{356FFF95-232C-406D-AF31-B3C8216A4F17}"/>
              </a:ext>
            </a:extLst>
          </p:cNvPr>
          <p:cNvSpPr>
            <a:spLocks xmlns:a="http://schemas.openxmlformats.org/drawingml/2006/main" noGrp="1"/>
          </p:cNvSpPr>
          <p:nvPr/>
        </p:nvSpPr>
        <p:spPr>
          <a:xfrm xmlns:a="http://schemas.openxmlformats.org/drawingml/2006/main">
            <a:off x="457200" y="29718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958"/>
                </a:solidFill>
                <a:latin typeface="Calibri"/>
                <a:ea typeface="Calibri"/>
                <a:cs typeface="Calibri"/>
              </a:defRPr>
            </a:pPr>
            <a:r>
              <a:rPr sz="2025" b="1">
                <a:solidFill>
                  <a:srgbClr val="087958"/>
                </a:solidFill>
                <a:latin typeface="Calibri"/>
                <a:ea typeface="Calibri"/>
                <a:cs typeface="Calibri"/>
              </a:rPr>
              <a:t>Langkah saya</a:t>
            </a:r>
          </a:p>
        </p:txBody>
      </p:sp>
      <p:sp>
        <p:nvSpPr>
          <p:cNvPr id="13" name="text-153">
            <a:extLst xmlns:a="http://schemas.openxmlformats.org/drawingml/2006/main">
              <a:ext uri="{FF2B5EF4-FFF2-40B4-BE49-F238E27FC236}">
                <a16:creationId xmlns:a16="http://schemas.microsoft.com/office/drawing/2014/main" id="{942BD565-27F0-43DF-96EC-9AD5E996B432}"/>
              </a:ext>
            </a:extLst>
          </p:cNvPr>
          <p:cNvSpPr>
            <a:spLocks xmlns:a="http://schemas.openxmlformats.org/drawingml/2006/main" noGrp="1"/>
          </p:cNvSpPr>
          <p:nvPr/>
        </p:nvSpPr>
        <p:spPr>
          <a:xfrm xmlns:a="http://schemas.openxmlformats.org/drawingml/2006/main">
            <a:off x="3638550" y="2971800"/>
            <a:ext cx="7924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B27"/>
                </a:solidFill>
                <a:latin typeface="Calibri"/>
                <a:ea typeface="Calibri"/>
                <a:cs typeface="Calibri"/>
              </a:defRPr>
            </a:pPr>
            <a:r>
              <a:rPr sz="1950" b="0">
                <a:solidFill>
                  <a:srgbClr val="162B27"/>
                </a:solidFill>
                <a:latin typeface="Calibri"/>
                <a:ea typeface="Calibri"/>
                <a:cs typeface="Calibri"/>
              </a:rPr>
              <a:t>Ajak buyer berdiskusi dan tunjukkan sampel yang relevan.</a:t>
            </a:r>
          </a:p>
        </p:txBody>
      </p:sp>
      <p:sp>
        <p:nvSpPr>
          <p:cNvPr id="14" name="">
            <a:extLst xmlns:a="http://schemas.openxmlformats.org/drawingml/2006/main">
              <a:ext uri="{FF2B5EF4-FFF2-40B4-BE49-F238E27FC236}">
                <a16:creationId xmlns:a16="http://schemas.microsoft.com/office/drawing/2014/main" id="{0EC0F6BF-9E86-4A21-BDD4-3809DC0BF62F}"/>
              </a:ext>
            </a:extLst>
          </p:cNvPr>
          <p:cNvSpPr>
            <a:spLocks xmlns:a="http://schemas.openxmlformats.org/drawingml/2006/main" noGrp="1"/>
          </p:cNvSpPr>
          <p:nvPr/>
        </p:nvSpPr>
        <p:spPr>
          <a:xfrm xmlns:a="http://schemas.openxmlformats.org/drawingml/2006/main">
            <a:off x="457200" y="361950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5" name="text-154">
            <a:extLst xmlns:a="http://schemas.openxmlformats.org/drawingml/2006/main">
              <a:ext uri="{FF2B5EF4-FFF2-40B4-BE49-F238E27FC236}">
                <a16:creationId xmlns:a16="http://schemas.microsoft.com/office/drawing/2014/main" id="{35683883-C991-47CF-A859-47AAF128F2F6}"/>
              </a:ext>
            </a:extLst>
          </p:cNvPr>
          <p:cNvSpPr>
            <a:spLocks xmlns:a="http://schemas.openxmlformats.org/drawingml/2006/main" noGrp="1"/>
          </p:cNvSpPr>
          <p:nvPr/>
        </p:nvSpPr>
        <p:spPr>
          <a:xfrm xmlns:a="http://schemas.openxmlformats.org/drawingml/2006/main">
            <a:off x="457200" y="3724275"/>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958"/>
                </a:solidFill>
                <a:latin typeface="Calibri"/>
                <a:ea typeface="Calibri"/>
                <a:cs typeface="Calibri"/>
              </a:defRPr>
            </a:pPr>
            <a:r>
              <a:rPr sz="2025" b="1">
                <a:solidFill>
                  <a:srgbClr val="087958"/>
                </a:solidFill>
                <a:latin typeface="Calibri"/>
                <a:ea typeface="Calibri"/>
                <a:cs typeface="Calibri"/>
              </a:rPr>
              <a:t>Bukti yang dicari</a:t>
            </a:r>
          </a:p>
        </p:txBody>
      </p:sp>
      <p:sp>
        <p:nvSpPr>
          <p:cNvPr id="16" name="text-155">
            <a:extLst xmlns:a="http://schemas.openxmlformats.org/drawingml/2006/main">
              <a:ext uri="{FF2B5EF4-FFF2-40B4-BE49-F238E27FC236}">
                <a16:creationId xmlns:a16="http://schemas.microsoft.com/office/drawing/2014/main" id="{F584F32D-7DED-48F0-9568-74D9F5E50503}"/>
              </a:ext>
            </a:extLst>
          </p:cNvPr>
          <p:cNvSpPr>
            <a:spLocks xmlns:a="http://schemas.openxmlformats.org/drawingml/2006/main" noGrp="1"/>
          </p:cNvSpPr>
          <p:nvPr/>
        </p:nvSpPr>
        <p:spPr>
          <a:xfrm xmlns:a="http://schemas.openxmlformats.org/drawingml/2006/main">
            <a:off x="3638550" y="3724275"/>
            <a:ext cx="7924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B27"/>
                </a:solidFill>
                <a:latin typeface="Calibri"/>
                <a:ea typeface="Calibri"/>
                <a:cs typeface="Calibri"/>
              </a:defRPr>
            </a:pPr>
            <a:r>
              <a:rPr sz="1950" b="0">
                <a:solidFill>
                  <a:srgbClr val="162B27"/>
                </a:solidFill>
                <a:latin typeface="Calibri"/>
                <a:ea typeface="Calibri"/>
                <a:cs typeface="Calibri"/>
              </a:rPr>
              <a:t>Masukan spesifik dan kesediaan melanjutkan pembicaraan.</a:t>
            </a:r>
          </a:p>
        </p:txBody>
      </p:sp>
      <p:sp>
        <p:nvSpPr>
          <p:cNvPr id="17" name="">
            <a:extLst xmlns:a="http://schemas.openxmlformats.org/drawingml/2006/main">
              <a:ext uri="{FF2B5EF4-FFF2-40B4-BE49-F238E27FC236}">
                <a16:creationId xmlns:a16="http://schemas.microsoft.com/office/drawing/2014/main" id="{8FEA082E-29AD-413C-A041-B1F962F5A58B}"/>
              </a:ext>
            </a:extLst>
          </p:cNvPr>
          <p:cNvSpPr>
            <a:spLocks xmlns:a="http://schemas.openxmlformats.org/drawingml/2006/main" noGrp="1"/>
          </p:cNvSpPr>
          <p:nvPr/>
        </p:nvSpPr>
        <p:spPr>
          <a:xfrm xmlns:a="http://schemas.openxmlformats.org/drawingml/2006/main">
            <a:off x="457200" y="4371975"/>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8" name="text-156">
            <a:extLst xmlns:a="http://schemas.openxmlformats.org/drawingml/2006/main">
              <a:ext uri="{FF2B5EF4-FFF2-40B4-BE49-F238E27FC236}">
                <a16:creationId xmlns:a16="http://schemas.microsoft.com/office/drawing/2014/main" id="{D2510FF3-AF3B-4A07-8C8D-C0AF098933F0}"/>
              </a:ext>
            </a:extLst>
          </p:cNvPr>
          <p:cNvSpPr>
            <a:spLocks xmlns:a="http://schemas.openxmlformats.org/drawingml/2006/main" noGrp="1"/>
          </p:cNvSpPr>
          <p:nvPr/>
        </p:nvSpPr>
        <p:spPr>
          <a:xfrm xmlns:a="http://schemas.openxmlformats.org/drawingml/2006/main">
            <a:off x="457200" y="447675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958"/>
                </a:solidFill>
                <a:latin typeface="Calibri"/>
                <a:ea typeface="Calibri"/>
                <a:cs typeface="Calibri"/>
              </a:defRPr>
            </a:pPr>
            <a:r>
              <a:rPr sz="2025" b="1">
                <a:solidFill>
                  <a:srgbClr val="087958"/>
                </a:solidFill>
                <a:latin typeface="Calibri"/>
                <a:ea typeface="Calibri"/>
                <a:cs typeface="Calibri"/>
              </a:rPr>
              <a:t>Batas saya</a:t>
            </a:r>
          </a:p>
        </p:txBody>
      </p:sp>
      <p:sp>
        <p:nvSpPr>
          <p:cNvPr id="19" name="text-157">
            <a:extLst xmlns:a="http://schemas.openxmlformats.org/drawingml/2006/main">
              <a:ext uri="{FF2B5EF4-FFF2-40B4-BE49-F238E27FC236}">
                <a16:creationId xmlns:a16="http://schemas.microsoft.com/office/drawing/2014/main" id="{D0D76DA9-0AA4-4C70-9286-8AC92C9E8688}"/>
              </a:ext>
            </a:extLst>
          </p:cNvPr>
          <p:cNvSpPr>
            <a:spLocks xmlns:a="http://schemas.openxmlformats.org/drawingml/2006/main" noGrp="1"/>
          </p:cNvSpPr>
          <p:nvPr/>
        </p:nvSpPr>
        <p:spPr>
          <a:xfrm xmlns:a="http://schemas.openxmlformats.org/drawingml/2006/main">
            <a:off x="3638550" y="4476750"/>
            <a:ext cx="7924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B27"/>
                </a:solidFill>
                <a:latin typeface="Calibri"/>
                <a:ea typeface="Calibri"/>
                <a:cs typeface="Calibri"/>
              </a:defRPr>
            </a:pPr>
            <a:r>
              <a:rPr sz="1950" b="0">
                <a:solidFill>
                  <a:srgbClr val="162B27"/>
                </a:solidFill>
                <a:latin typeface="Calibri"/>
                <a:ea typeface="Calibri"/>
                <a:cs typeface="Calibri"/>
              </a:rPr>
              <a:t>Tentukan tenggat serta biaya yang sanggup saya tanggung.</a:t>
            </a:r>
          </a:p>
        </p:txBody>
      </p:sp>
      <p:sp>
        <p:nvSpPr>
          <p:cNvPr id="20" name="">
            <a:extLst xmlns:a="http://schemas.openxmlformats.org/drawingml/2006/main">
              <a:ext uri="{FF2B5EF4-FFF2-40B4-BE49-F238E27FC236}">
                <a16:creationId xmlns:a16="http://schemas.microsoft.com/office/drawing/2014/main" id="{7F6B8B2F-B2D5-4A33-A6D2-213D2FDFCC05}"/>
              </a:ext>
            </a:extLst>
          </p:cNvPr>
          <p:cNvSpPr>
            <a:spLocks xmlns:a="http://schemas.openxmlformats.org/drawingml/2006/main" noGrp="1"/>
          </p:cNvSpPr>
          <p:nvPr/>
        </p:nvSpPr>
        <p:spPr>
          <a:xfrm xmlns:a="http://schemas.openxmlformats.org/drawingml/2006/main">
            <a:off x="457200" y="51244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1" name="text-158">
            <a:extLst xmlns:a="http://schemas.openxmlformats.org/drawingml/2006/main">
              <a:ext uri="{FF2B5EF4-FFF2-40B4-BE49-F238E27FC236}">
                <a16:creationId xmlns:a16="http://schemas.microsoft.com/office/drawing/2014/main" id="{2ADD4A13-3F57-46FD-ABAB-9F5FBAD3538D}"/>
              </a:ext>
            </a:extLst>
          </p:cNvPr>
          <p:cNvSpPr>
            <a:spLocks xmlns:a="http://schemas.openxmlformats.org/drawingml/2006/main" noGrp="1"/>
          </p:cNvSpPr>
          <p:nvPr/>
        </p:nvSpPr>
        <p:spPr>
          <a:xfrm xmlns:a="http://schemas.openxmlformats.org/drawingml/2006/main">
            <a:off x="457200" y="573405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2B28"/>
                </a:solidFill>
                <a:latin typeface="Calibri"/>
                <a:ea typeface="Calibri"/>
                <a:cs typeface="Calibri"/>
              </a:defRPr>
            </a:pPr>
            <a:r>
              <a:rPr sz="2100" b="1">
                <a:solidFill>
                  <a:srgbClr val="002B28"/>
                </a:solidFill>
                <a:latin typeface="Calibri"/>
                <a:ea typeface="Calibri"/>
                <a:cs typeface="Calibri"/>
              </a:rPr>
              <a:t>Siap belajar. Tahu batas. Berani mengambil langkah berikutnya.</a:t>
            </a:r>
          </a:p>
        </p:txBody>
      </p:sp>
    </p:spTree>
    <p:extLst>
      <p:ext uri="{BB962C8B-B14F-4D97-AF65-F5344CB8AC3E}">
        <p14:creationId xmlns:p14="http://schemas.microsoft.com/office/powerpoint/2010/main" val="18606561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2026-10-06T06:47:18.9570000Z</dcterms:created>
  <dcterms:modified xsi:type="dcterms:W3CDTF">2026-10-06T06:47:18.9570000Z</dcterms:modified>
</coreProperties>
</file>