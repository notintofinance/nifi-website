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74"/>
  </p:normalViewPr>
  <p:slideViewPr>
    <p:cSldViewPr snapToGrid="0">
      <p:cViewPr>
        <p:scale>
          <a:sx n="116" d="100"/>
          <a:sy n="116" d="100"/>
        </p:scale>
        <p:origin x="520"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Unit</c:v>
          </c:tx>
          <c:spPr>
            <a:solidFill>
              <a:srgbClr val="9AB6A5"/>
            </a:solidFill>
          </c:spPr>
          <c:invertIfNegative val="1"/>
          <c:dPt>
            <c:idx val="1"/>
            <c:invertIfNegative val="0"/>
            <c:bubble3D val="0"/>
            <c:spPr>
              <a:solidFill>
                <a:srgbClr val="087958"/>
              </a:solidFill>
            </c:spPr>
            <c:extLst>
              <c:ext xmlns:c16="http://schemas.microsoft.com/office/drawing/2014/chart" uri="{C3380CC4-5D6E-409C-BE32-E72D297353CC}">
                <c16:uniqueId val="{00000001-9E73-6D4F-BE33-68795B6FE2D7}"/>
              </c:ext>
            </c:extLst>
          </c:dPt>
          <c:dLbls>
            <c:spPr>
              <a:noFill/>
              <a:ln>
                <a:noFill/>
              </a:ln>
              <a:effectLst/>
            </c:spPr>
            <c:txPr>
              <a:bodyPr anchorCtr="1"/>
              <a:lstStyle/>
              <a:p>
                <a:pPr>
                  <a:defRPr sz="2100" b="1">
                    <a:solidFill>
                      <a:srgbClr val="173D34"/>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Pesanan buyer</c:v>
                </c:pt>
                <c:pt idx="1">
                  <c:v>Kapasitas tersedia</c:v>
                </c:pt>
              </c:strCache>
            </c:strRef>
          </c:cat>
          <c:val>
            <c:numRef>
              <c:f>'Chart Data'!$B$2:$B$3</c:f>
              <c:numCache>
                <c:formatCode>General</c:formatCode>
                <c:ptCount val="2"/>
                <c:pt idx="0">
                  <c:v>500</c:v>
                </c:pt>
                <c:pt idx="1">
                  <c:v>300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E73-6D4F-BE33-68795B6FE2D7}"/>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650">
                <a:solidFill>
                  <a:srgbClr val="5B7169"/>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600"/>
          <c:min val="0"/>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00">
                <a:solidFill>
                  <a:srgbClr val="5B7169"/>
                </a:solidFill>
                <a:latin typeface="Calibri"/>
                <a:ea typeface="Calibri"/>
                <a:cs typeface="Calibri"/>
              </a:defRPr>
            </a:pPr>
            <a:endParaRPr lang="en-US"/>
          </a:p>
        </c:txPr>
        <c:crossAx val="48650112"/>
        <c:crosses val="autoZero"/>
        <c:crossBetween val="between"/>
        <c:majorUnit val="200"/>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0,5 menit. Total materi 45 menit sudah termasuk interaksi singkat. Q&amp;A di luar itu.</a:t>
            </a:r>
          </a:p>
          <a:p>
            <a:endParaRPr/>
          </a:p>
          <a:p>
            <a:r>
              <a:t>Buka dengan tujuan sesi: setelah ini peserta bisa menilai peluang ekspor sebelum commit. Tegaskan ini sesi business foundation, bukan tutorial dokumen ekspor.</a:t>
            </a:r>
          </a:p>
          <a:p>
            <a:endParaRPr/>
          </a:p>
          <a:p>
            <a:r>
              <a:t>Sumber</a:t>
            </a:r>
          </a:p>
          <a:p>
            <a:r>
              <a:t>Modul 1 CEO Masterclass, modul-ppt.pdf, halaman 1–4. Rangkuman CMC × BD Ekspor.</a:t>
            </a:r>
          </a:p>
          <a:p>
            <a:endParaRP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Bedakan kemampuan melihat peluang dengan kemampuan menimbang trade-off. Contohnya, order besar belum tentu layak kalau mengganggu order yang sudah jalan. Arahkan peserta untuk melihat bukti, bukan cuma berani.</a:t>
            </a:r>
          </a:p>
          <a:p>
            <a:r>
              <a:t>Sumber</a:t>
            </a:r>
          </a:p>
          <a:p>
            <a:r>
              <a:t>Modul 1 CEO Masterclass, modul-ppt.pdf, halaman 6.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Lakukan polling singkat. Catat alasan peserta, jangan kasih jawaban dulu. Semua angka di kasus ini asumsi untuk latihan. 30 hari adalah deadline dari buyer, bukan lead time ekspor yang normal.</a:t>
            </a:r>
          </a:p>
          <a:p>
            <a:r>
              <a:t>Sumber</a:t>
            </a:r>
          </a:p>
          <a:p>
            <a:r>
              <a:t>Modul 1 CEO Masterclass, modul-ppt.pdf, halaman 6, 23–25.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Slide ini menerjemahkan metafora kapal di modul ke keputusan ekspor. Tahapannya bukan urutan wajib atau prosedur administrasi. Tekankan bahwa adaptasi dan tes bisa terjadi berulang kali.</a:t>
            </a:r>
          </a:p>
          <a:p>
            <a:r>
              <a:t>Sumber</a:t>
            </a:r>
          </a:p>
          <a:p>
            <a:r>
              <a:t>Modul 1 CEO Masterclass, modul-ppt.pdf, halaman 8–9.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Sepuluh karakter ini dari modul, sedangkan contoh tindakannya adaptasi kita. Ini bukan tes psikologi dan bukan jaminan sukses. Minta peserta refleksi singkat: kebiasaan mana yang paling perlu diperbaiki?</a:t>
            </a:r>
          </a:p>
          <a:p>
            <a:r>
              <a:t>Sumber</a:t>
            </a:r>
          </a:p>
          <a:p>
            <a:r>
              <a:t>Modul 1 CEO Masterclass, modul-ppt.pdf, halaman 11.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2,5 menit.</a:t>
            </a:r>
          </a:p>
          <a:p>
            <a:r>
              <a:t>Bacakan feedback buyer di slide, lalu minta peserta mengubah respons defensif jadi pertanyaan. Tegaskan bahwa terbuka pada feedback tetap harus memperhitungkan biaya dan kemampuan.</a:t>
            </a:r>
          </a:p>
          <a:p>
            <a:r>
              <a:t>Sumber</a:t>
            </a:r>
          </a:p>
          <a:p>
            <a:r>
              <a:t>Modul 1 CEO Masterclass, modul-ppt.pdf, halaman 12.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WHY memberi arah, tapi tidak menggantikan bukti bahwa permintaannya ada. Hubungkan ke trade-off di kasus. Contohnya sengaja memakai bisnis fiktif yang sama.</a:t>
            </a:r>
          </a:p>
          <a:p>
            <a:r>
              <a:t>Sumber</a:t>
            </a:r>
          </a:p>
          <a:p>
            <a:r>
              <a:t>Modul 1 CEO Masterclass, modul-ppt.pdf, halaman 20–21.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Tetap pakai passion, talent, dan profit seperti di modul. Saat menjelaskan, tambahkan pengecekan buyer, kualitas, kapasitas, dan total biaya. Diagram ini bukan data kuantitatif.</a:t>
            </a:r>
          </a:p>
          <a:p>
            <a:r>
              <a:t>Sumber</a:t>
            </a:r>
          </a:p>
          <a:p>
            <a:r>
              <a:t>Modul 1 CEO Masterclass, modul-ppt.pdf, halaman 17.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Diadaptasi dari alur testing Strategyzer. Jangan berasumsi harga murah selalu menang. Untuk bisnis yang sudah jalan, pakai obrolan dengan buyer yang ada. Calon eksportir bisa mulai dari target buyer yang relevan.</a:t>
            </a:r>
          </a:p>
          <a:p>
            <a:r>
              <a:t>Sumber</a:t>
            </a:r>
          </a:p>
          <a:p>
            <a:r>
              <a:t>Modul 1 CEO Masterclass, modul-ppt.pdf, halaman 6, 17, 27. Rangkuman CMC × BD Ekspor.</a:t>
            </a:r>
          </a:p>
          <a:p>
            <a:r>
              <a:t>https://www.strategyzer.com/library/roadmap-to-test-your-value-proposition</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Tiga peran ini cara melihat pembagian kerja, bukan label kepribadian. Minta peserta cek peran mana yang masih kosong di timnya. Peran bisa dipegang owner, karyawan, atau mitra, asal tanggung jawabnya jelas.</a:t>
            </a:r>
          </a:p>
          <a:p>
            <a:r>
              <a:t>Sumber</a:t>
            </a:r>
          </a:p>
          <a:p>
            <a:r>
              <a:t>Modul 1 CEO Masterclass, modul-ppt.pdf, halaman 18, 9, 30.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2,5 menit.</a:t>
            </a:r>
          </a:p>
          <a:p>
            <a:r>
              <a:t>Hitung kapasitas dengan memperhitungkan order lain yang sedang jalan. Tiap produk dan negara tujuan punya persyaratan berbeda, jadi minta tim mengeceknya sebelum commit. Jangan menebak aturan teknis dari framework ini.</a:t>
            </a:r>
          </a:p>
          <a:p>
            <a:r>
              <a:t>Sumber</a:t>
            </a:r>
          </a:p>
          <a:p>
            <a:r>
              <a:t>Modul 1 CEO Masterclass, modul-ppt.pdf, halaman 23–25. Rangkuman CMC × BD Ekspor.</a:t>
            </a:r>
          </a:p>
          <a:p>
            <a:r>
              <a:t>https://www.trade.gov/develop-export-plan</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3 menit.</a:t>
            </a:r>
          </a:p>
          <a:p>
            <a:r>
              <a:t>Tanyakan ke peserta: siapa yang membiayai bahan dan produksi selama pembayaran belum masuk? Kasus ini sengaja tidak memakai nilai rupiah, jadi jangan mengarang kebutuhan modal atau margin. Opsi termin harus dinegosiasikan dan risikonya dihitung. Jangan anggap buyer pasti mau bayar DP.</a:t>
            </a:r>
          </a:p>
          <a:p>
            <a:r>
              <a:t>Sumber</a:t>
            </a:r>
          </a:p>
          <a:p>
            <a:r>
              <a:t>Modul 1 CEO Masterclass, modul-ppt.pdf, halaman 23–24. Rangkuman CMC × BD Ekspor.</a:t>
            </a:r>
          </a:p>
          <a:p>
            <a:r>
              <a:t>https://www.trade.gov/methods-payment</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2,5 menit.</a:t>
            </a:r>
          </a:p>
          <a:p>
            <a:r>
              <a:t>Risiko tidak bisa hilang sepenuhnya. Kontrol hanya mengurangi peluang terjadinya atau dampaknya, bukan menjamin hasil. Kalau biaya pencegahannya tidak terjangkau, ubah syarat atau tunda. Minta peserta menyebut satu batas stop untuk bisnisnya sendiri.</a:t>
            </a:r>
          </a:p>
          <a:p>
            <a:r>
              <a:t>Sumber</a:t>
            </a:r>
          </a:p>
          <a:p>
            <a:r>
              <a:t>Modul 1 CEO Masterclass, modul-ppt.pdf, halaman 25.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3 menit.</a:t>
            </a:r>
          </a:p>
          <a:p>
            <a:r>
              <a:t>Bandingkan dengan pilihan awal peserta di slide 4. Tanyakan bukti apa yang membuat keputusan mereka berubah. Data 500/300 hanya menunjukkan gap kapasitas 200 unit, bukan aturan untuk semua kasus ekspor. Kalau mau menambah partner produksi, kualitas, biaya, dan jadwalnya tetap harus dites.</a:t>
            </a:r>
          </a:p>
          <a:p>
            <a:r>
              <a:t>Sumber</a:t>
            </a:r>
          </a:p>
          <a:p>
            <a:r>
              <a:t>Modul 1 CEO Masterclass, modul-ppt.pdf, halaman 6, 23–25.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2,5 menit.</a:t>
            </a:r>
          </a:p>
          <a:p>
            <a:r>
              <a:t>Build-Measure-Learn itu siklus yang berulang. Sampel harus relevan dengan asumsi yang dites. Lanjut hanya kalau buktinya mendukung. Tes yang gagal justru bisa menyelamatkan kita dari komitmen yang lebih besar.</a:t>
            </a:r>
          </a:p>
          <a:p>
            <a:r>
              <a:t>Sumber</a:t>
            </a:r>
          </a:p>
          <a:p>
            <a:r>
              <a:t>Modul 1 CEO Masterclass, modul-ppt.pdf, halaman 27. Rangkuman CMC × BD Ekspor.</a:t>
            </a:r>
          </a:p>
          <a:p>
            <a:r>
              <a:t>https://theleanstartup.com/principles</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2,5 menit.</a:t>
            </a:r>
          </a:p>
          <a:p>
            <a:r>
              <a:t>Target lanjut di slide ini hanya contoh, sesuaikan dengan bisnis masing-masing. Langkah komersial bisa berupa permintaan penawaran atau tes sampel yang jelas, tapi itu belum sama dengan kontrak atau pembayaran.</a:t>
            </a:r>
          </a:p>
          <a:p>
            <a:r>
              <a:t>Sumber</a:t>
            </a:r>
          </a:p>
          <a:p>
            <a:r>
              <a:t>Modul 1 CEO Masterclass, modul-ppt.pdf, halaman 27. Rangkuman CMC × BD Ekspor.</a:t>
            </a:r>
          </a:p>
          <a:p>
            <a:r>
              <a:t>https://www.strategyzer.com/library/roadmap-to-test-your-value-proposition</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2 menit.</a:t>
            </a:r>
          </a:p>
          <a:p>
            <a:r>
              <a:t>Tangga ini menggambarkan kekuatan bukti, bukan conversion funnel dengan probabilitas. Feedback negatif yang spesifik juga berharga. Permintaan penawaran belum menjamin pembelian. Jangan produksi besar hanya karena dapat pujian atau likes.</a:t>
            </a:r>
          </a:p>
          <a:p>
            <a:r>
              <a:t>Sumber</a:t>
            </a:r>
          </a:p>
          <a:p>
            <a:r>
              <a:t>Modul 1 CEO Masterclass, modul-ppt.pdf, halaman 27. Rangkuman CMC × BD Ekspor.</a:t>
            </a:r>
          </a:p>
          <a:p>
            <a:r>
              <a:t>https://www.strategyzer.com/library/roadmap-to-test-your-value-proposition</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1,5 menit.</a:t>
            </a:r>
          </a:p>
          <a:p>
            <a:r>
              <a:t>Persamaan expertise di modul itu metafora, bukan rumus yang sudah divalidasi. Minta peserta menyebut siapa yang bisa kasih masukan untuk tes mereka.</a:t>
            </a:r>
          </a:p>
          <a:p>
            <a:r>
              <a:t>Sumber</a:t>
            </a:r>
          </a:p>
          <a:p>
            <a:r>
              <a:t>Modul 1 CEO Masterclass, modul-ppt.pdf, halaman 28.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1,5 menit.</a:t>
            </a:r>
          </a:p>
          <a:p>
            <a:r>
              <a:t>Tetap pakai 5P dari modul. Contoh pitch: "Kami bantu buyer dekorasi rumah yang butuh ukuran khusus. Sekarang kami sedang tes dua ukuran dengan spek yang sudah disepakati." Jangan melebih-lebihkan traction. Punya partner belum berarti pasarnya pasti ada.</a:t>
            </a:r>
          </a:p>
          <a:p>
            <a:r>
              <a:t>Sumber</a:t>
            </a:r>
          </a:p>
          <a:p>
            <a:r>
              <a:t>Modul 1 CEO Masterclass, modul-ppt.pdf, halaman 29.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Durasi: 1 menit.</a:t>
            </a:r>
          </a:p>
          <a:p>
            <a:r>
              <a:t>Tutup dengan kembali ke pilihan awal: terima, nego, atau tunda. Tekankan bahwa keputusan yang sehat datang dari bukti dan kemampuan, bukan cuma keberanian. Buka Q&amp;A kalau panitia menyediakan waktu.</a:t>
            </a:r>
          </a:p>
          <a:p>
            <a:r>
              <a:t>Sumber</a:t>
            </a:r>
          </a:p>
          <a:p>
            <a:r>
              <a:t>Modul 1 CEO Masterclass, modul-ppt.pdf, halaman 30. Rangkuman CMC × BD Ekspor.</a:t>
            </a:r>
          </a:p>
          <a:p>
            <a:r>
              <a:t>Catatan: kasus rotan dan angka 500/300/30 hanya ilustrasi. Framework tambahan dipakai sebagai bahan diskusi, bukan skor kesiapan resmi atau aturan regulasi.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Calibri"/>
          <a:ea typeface="Calibri"/>
          <a:cs typeface="Calibri"/>
        </a:defRPr>
      </a:lvl1pPr>
    </p:titleStyle>
    <p:bodyStyle>
      <a:lvl1pPr marL="228600" indent="-228600" algn="l">
        <a:lnSpc>
          <a:spcPct val="90000"/>
        </a:lnSpc>
        <a:spcBef>
          <a:spcPts val="1000"/>
        </a:spcBef>
        <a:buChar char="•"/>
        <a:defRPr sz="2800">
          <a:solidFill>
            <a:schemeClr val="tx1"/>
          </a:solidFill>
          <a:latin typeface="Calibri"/>
          <a:ea typeface="Calibri"/>
          <a:cs typeface="Calibri"/>
        </a:defRPr>
      </a:lvl1pPr>
      <a:lvl2pPr marL="685800" indent="-228600" algn="l">
        <a:lnSpc>
          <a:spcPct val="90000"/>
        </a:lnSpc>
        <a:spcBef>
          <a:spcPts val="500"/>
        </a:spcBef>
        <a:buChar char="•"/>
        <a:defRPr sz="2400">
          <a:solidFill>
            <a:schemeClr val="tx1"/>
          </a:solidFill>
          <a:latin typeface="Calibri"/>
          <a:ea typeface="Calibri"/>
          <a:cs typeface="Calibri"/>
        </a:defRPr>
      </a:lvl2pPr>
      <a:lvl3pPr marL="1143000" indent="-228600" algn="l">
        <a:lnSpc>
          <a:spcPct val="90000"/>
        </a:lnSpc>
        <a:spcBef>
          <a:spcPts val="500"/>
        </a:spcBef>
        <a:buChar char="•"/>
        <a:defRPr sz="2000">
          <a:solidFill>
            <a:schemeClr val="tx1"/>
          </a:solidFill>
          <a:latin typeface="Calibri"/>
          <a:ea typeface="Calibri"/>
          <a:cs typeface="Calibri"/>
        </a:defRPr>
      </a:lvl3pPr>
      <a:lvl4pPr marL="1600200" indent="-228600" algn="l">
        <a:lnSpc>
          <a:spcPct val="90000"/>
        </a:lnSpc>
        <a:spcBef>
          <a:spcPts val="500"/>
        </a:spcBef>
        <a:buChar char="•"/>
        <a:defRPr sz="1800">
          <a:solidFill>
            <a:schemeClr val="tx1"/>
          </a:solidFill>
          <a:latin typeface="Calibri"/>
          <a:ea typeface="Calibri"/>
          <a:cs typeface="Calibri"/>
        </a:defRPr>
      </a:lvl4pPr>
      <a:lvl5pPr marL="2057400" indent="-228600" algn="l">
        <a:lnSpc>
          <a:spcPct val="90000"/>
        </a:lnSpc>
        <a:spcBef>
          <a:spcPts val="500"/>
        </a:spcBef>
        <a:buChar char="•"/>
        <a:defRPr sz="1800">
          <a:solidFill>
            <a:schemeClr val="tx1"/>
          </a:solidFill>
          <a:latin typeface="Calibri"/>
          <a:ea typeface="Calibri"/>
          <a:cs typeface="Calibri"/>
        </a:defRPr>
      </a:lvl5pPr>
      <a:lvl6pPr marL="2514600" indent="-228600" algn="l">
        <a:lnSpc>
          <a:spcPct val="90000"/>
        </a:lnSpc>
        <a:spcBef>
          <a:spcPts val="500"/>
        </a:spcBef>
        <a:buChar char="•"/>
        <a:defRPr sz="1800">
          <a:solidFill>
            <a:schemeClr val="tx1"/>
          </a:solidFill>
          <a:latin typeface="Calibri"/>
          <a:ea typeface="Calibri"/>
          <a:cs typeface="Calibri"/>
        </a:defRPr>
      </a:lvl6pPr>
      <a:lvl7pPr marL="2971800" indent="-228600" algn="l">
        <a:lnSpc>
          <a:spcPct val="90000"/>
        </a:lnSpc>
        <a:spcBef>
          <a:spcPts val="500"/>
        </a:spcBef>
        <a:buChar char="•"/>
        <a:defRPr sz="1800">
          <a:solidFill>
            <a:schemeClr val="tx1"/>
          </a:solidFill>
          <a:latin typeface="Calibri"/>
          <a:ea typeface="Calibri"/>
          <a:cs typeface="Calibri"/>
        </a:defRPr>
      </a:lvl7pPr>
      <a:lvl8pPr marL="3429000" indent="-228600" algn="l">
        <a:lnSpc>
          <a:spcPct val="90000"/>
        </a:lnSpc>
        <a:spcBef>
          <a:spcPts val="500"/>
        </a:spcBef>
        <a:buChar char="•"/>
        <a:defRPr sz="1800">
          <a:solidFill>
            <a:schemeClr val="tx1"/>
          </a:solidFill>
          <a:latin typeface="Calibri"/>
          <a:ea typeface="Calibri"/>
          <a:cs typeface="Calibri"/>
        </a:defRPr>
      </a:lvl8pPr>
      <a:lvl9pPr marL="3886200" indent="-228600" algn="l">
        <a:lnSpc>
          <a:spcPct val="90000"/>
        </a:lnSpc>
        <a:spcBef>
          <a:spcPts val="500"/>
        </a:spcBef>
        <a:buChar char="•"/>
        <a:defRPr sz="1800">
          <a:solidFill>
            <a:schemeClr val="tx1"/>
          </a:solidFill>
          <a:latin typeface="Calibri"/>
          <a:ea typeface="Calibri"/>
          <a:cs typeface="Calibri"/>
        </a:defRPr>
      </a:lvl9pPr>
    </p:bodyStyle>
    <p:otherStyle>
      <a:lvl1pPr marL="0" algn="l">
        <a:buNone/>
        <a:defRPr sz="1800">
          <a:solidFill>
            <a:schemeClr val="tx1"/>
          </a:solidFill>
          <a:latin typeface="Calibri"/>
          <a:ea typeface="Calibri"/>
          <a:cs typeface="Calibri"/>
        </a:defRPr>
      </a:lvl1pPr>
      <a:lvl2pPr marL="457200" algn="l">
        <a:buNone/>
        <a:defRPr sz="1800">
          <a:solidFill>
            <a:schemeClr val="tx1"/>
          </a:solidFill>
          <a:latin typeface="Calibri"/>
          <a:ea typeface="Calibri"/>
          <a:cs typeface="Calibri"/>
        </a:defRPr>
      </a:lvl2pPr>
      <a:lvl3pPr marL="914400" algn="l">
        <a:buNone/>
        <a:defRPr sz="1800">
          <a:solidFill>
            <a:schemeClr val="tx1"/>
          </a:solidFill>
          <a:latin typeface="Calibri"/>
          <a:ea typeface="Calibri"/>
          <a:cs typeface="Calibri"/>
        </a:defRPr>
      </a:lvl3pPr>
      <a:lvl4pPr marL="1371600" algn="l">
        <a:buNone/>
        <a:defRPr sz="1800">
          <a:solidFill>
            <a:schemeClr val="tx1"/>
          </a:solidFill>
          <a:latin typeface="Calibri"/>
          <a:ea typeface="Calibri"/>
          <a:cs typeface="Calibri"/>
        </a:defRPr>
      </a:lvl4pPr>
      <a:lvl5pPr marL="1828800" algn="l">
        <a:buNone/>
        <a:defRPr sz="1800">
          <a:solidFill>
            <a:schemeClr val="tx1"/>
          </a:solidFill>
          <a:latin typeface="Calibri"/>
          <a:ea typeface="Calibri"/>
          <a:cs typeface="Calibri"/>
        </a:defRPr>
      </a:lvl5pPr>
      <a:lvl6pPr marL="2286000" algn="l">
        <a:buNone/>
        <a:defRPr sz="1800">
          <a:solidFill>
            <a:schemeClr val="tx1"/>
          </a:solidFill>
          <a:latin typeface="Calibri"/>
          <a:ea typeface="Calibri"/>
          <a:cs typeface="Calibri"/>
        </a:defRPr>
      </a:lvl6pPr>
      <a:lvl7pPr marL="2743200" algn="l">
        <a:buNone/>
        <a:defRPr sz="1800">
          <a:solidFill>
            <a:schemeClr val="tx1"/>
          </a:solidFill>
          <a:latin typeface="Calibri"/>
          <a:ea typeface="Calibri"/>
          <a:cs typeface="Calibri"/>
        </a:defRPr>
      </a:lvl7pPr>
      <a:lvl8pPr marL="3200400" algn="l">
        <a:buNone/>
        <a:defRPr sz="1800">
          <a:solidFill>
            <a:schemeClr val="tx1"/>
          </a:solidFill>
          <a:latin typeface="Calibri"/>
          <a:ea typeface="Calibri"/>
          <a:cs typeface="Calibri"/>
        </a:defRPr>
      </a:lvl8pPr>
      <a:lvl9pPr marL="3657600" algn="l">
        <a:buNone/>
        <a:defRPr sz="1800">
          <a:solidFill>
            <a:schemeClr val="tx1"/>
          </a:solidFill>
          <a:latin typeface="Calibri"/>
          <a:ea typeface="Calibri"/>
          <a:cs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457200" y="362075"/>
            <a:ext cx="1828800" cy="685549"/>
          </a:xfrm>
          <a:prstGeom prst="rect">
            <a:avLst/>
          </a:prstGeom>
        </p:spPr>
      </p:pic>
      <p:sp>
        <p:nvSpPr>
          <p:cNvPr id="3" name="text-1">
            <a:extLst>
              <a:ext uri="{FF2B5EF4-FFF2-40B4-BE49-F238E27FC236}">
                <a16:creationId xmlns:a16="http://schemas.microsoft.com/office/drawing/2014/main" id="{C26D6F87-587C-4189-9214-99978CD7B3A6}"/>
              </a:ext>
            </a:extLst>
          </p:cNvPr>
          <p:cNvSpPr>
            <a:spLocks noGrp="1"/>
          </p:cNvSpPr>
          <p:nvPr/>
        </p:nvSpPr>
        <p:spPr>
          <a:xfrm>
            <a:off x="457200" y="1695450"/>
            <a:ext cx="8572500" cy="285750"/>
          </a:xfrm>
          <a:prstGeom prst="rect">
            <a:avLst/>
          </a:prstGeom>
          <a:noFill/>
          <a:ln w="0">
            <a:noFill/>
          </a:ln>
        </p:spPr>
        <p:txBody>
          <a:bodyPr wrap="square" lIns="0" tIns="0" rIns="0" bIns="0" anchor="t">
            <a:noAutofit/>
          </a:bodyPr>
          <a:lstStyle/>
          <a:p>
            <a:pPr>
              <a:buNone/>
              <a:defRPr sz="1575" b="1">
                <a:solidFill>
                  <a:srgbClr val="A8CEC0"/>
                </a:solidFill>
                <a:latin typeface="Calibri"/>
                <a:ea typeface="Calibri"/>
                <a:cs typeface="Calibri"/>
              </a:defRPr>
            </a:pPr>
            <a:r>
              <a:rPr sz="1575" b="1">
                <a:solidFill>
                  <a:srgbClr val="A8CEC0"/>
                </a:solidFill>
                <a:latin typeface="Calibri"/>
                <a:ea typeface="Calibri"/>
                <a:cs typeface="Calibri"/>
              </a:rPr>
              <a:t>CMC × BD EKSPOR</a:t>
            </a:r>
          </a:p>
        </p:txBody>
      </p:sp>
      <p:sp>
        <p:nvSpPr>
          <p:cNvPr id="4" name="text-2">
            <a:extLst>
              <a:ext uri="{FF2B5EF4-FFF2-40B4-BE49-F238E27FC236}">
                <a16:creationId xmlns:a16="http://schemas.microsoft.com/office/drawing/2014/main" id="{62ABBA6C-CE67-4A06-8335-71355CC96436}"/>
              </a:ext>
            </a:extLst>
          </p:cNvPr>
          <p:cNvSpPr>
            <a:spLocks noGrp="1"/>
          </p:cNvSpPr>
          <p:nvPr/>
        </p:nvSpPr>
        <p:spPr>
          <a:xfrm>
            <a:off x="457200" y="2276475"/>
            <a:ext cx="10572750" cy="2400300"/>
          </a:xfrm>
          <a:prstGeom prst="rect">
            <a:avLst/>
          </a:prstGeom>
          <a:noFill/>
          <a:ln w="0">
            <a:noFill/>
          </a:ln>
        </p:spPr>
        <p:txBody>
          <a:bodyPr wrap="square" lIns="0" tIns="0" rIns="0" bIns="0" anchor="t">
            <a:noAutofit/>
          </a:bodyPr>
          <a:lstStyle/>
          <a:p>
            <a:pPr>
              <a:buNone/>
              <a:defRPr sz="5100" b="1">
                <a:solidFill>
                  <a:srgbClr val="FFFFFF"/>
                </a:solidFill>
                <a:latin typeface="Calibri"/>
                <a:ea typeface="Calibri"/>
                <a:cs typeface="Calibri"/>
              </a:defRPr>
            </a:pPr>
            <a:r>
              <a:rPr sz="5100" b="1">
                <a:solidFill>
                  <a:srgbClr val="FFFFFF"/>
                </a:solidFill>
                <a:latin typeface="Calibri"/>
                <a:ea typeface="Calibri"/>
                <a:cs typeface="Calibri"/>
              </a:rPr>
              <a:t>Entrepreneurship</a:t>
            </a:r>
          </a:p>
          <a:p>
            <a:pPr>
              <a:buNone/>
              <a:defRPr sz="5100" b="1">
                <a:solidFill>
                  <a:srgbClr val="FFFFFF"/>
                </a:solidFill>
                <a:latin typeface="Calibri"/>
                <a:ea typeface="Calibri"/>
                <a:cs typeface="Calibri"/>
              </a:defRPr>
            </a:pPr>
            <a:r>
              <a:rPr sz="5100" b="1">
                <a:solidFill>
                  <a:srgbClr val="FFFFFF"/>
                </a:solidFill>
                <a:latin typeface="Calibri"/>
                <a:ea typeface="Calibri"/>
                <a:cs typeface="Calibri"/>
              </a:rPr>
              <a:t>Mentality untuk</a:t>
            </a:r>
          </a:p>
          <a:p>
            <a:pPr>
              <a:buNone/>
              <a:defRPr sz="5100" b="1">
                <a:solidFill>
                  <a:srgbClr val="FFFFFF"/>
                </a:solidFill>
                <a:latin typeface="Calibri"/>
                <a:ea typeface="Calibri"/>
                <a:cs typeface="Calibri"/>
              </a:defRPr>
            </a:pPr>
            <a:r>
              <a:rPr sz="5100" b="1">
                <a:solidFill>
                  <a:srgbClr val="FFFFFF"/>
                </a:solidFill>
                <a:latin typeface="Calibri"/>
                <a:ea typeface="Calibri"/>
                <a:cs typeface="Calibri"/>
              </a:rPr>
              <a:t>Bisnis Ekspor</a:t>
            </a:r>
          </a:p>
        </p:txBody>
      </p:sp>
      <p:sp>
        <p:nvSpPr>
          <p:cNvPr id="5" name="text-3">
            <a:extLst>
              <a:ext uri="{FF2B5EF4-FFF2-40B4-BE49-F238E27FC236}">
                <a16:creationId xmlns:a16="http://schemas.microsoft.com/office/drawing/2014/main" id="{0B683F34-43DC-47E6-A49E-A5594B10B223}"/>
              </a:ext>
            </a:extLst>
          </p:cNvPr>
          <p:cNvSpPr>
            <a:spLocks noGrp="1"/>
          </p:cNvSpPr>
          <p:nvPr/>
        </p:nvSpPr>
        <p:spPr>
          <a:xfrm>
            <a:off x="457200" y="5086350"/>
            <a:ext cx="9715500" cy="400050"/>
          </a:xfrm>
          <a:prstGeom prst="rect">
            <a:avLst/>
          </a:prstGeom>
          <a:noFill/>
          <a:ln w="0">
            <a:noFill/>
          </a:ln>
        </p:spPr>
        <p:txBody>
          <a:bodyPr wrap="square" lIns="0" tIns="0" rIns="0" bIns="0" anchor="t">
            <a:noAutofit/>
          </a:bodyPr>
          <a:lstStyle/>
          <a:p>
            <a:pPr>
              <a:buNone/>
              <a:defRPr sz="2250" b="0">
                <a:solidFill>
                  <a:srgbClr val="FFFFFF"/>
                </a:solidFill>
                <a:latin typeface="Calibri"/>
                <a:ea typeface="Calibri"/>
                <a:cs typeface="Calibri"/>
              </a:defRPr>
            </a:pPr>
            <a:r>
              <a:rPr sz="2250" b="0">
                <a:solidFill>
                  <a:srgbClr val="FFFFFF"/>
                </a:solidFill>
                <a:latin typeface="Calibri"/>
                <a:ea typeface="Calibri"/>
                <a:cs typeface="Calibri"/>
              </a:rPr>
              <a:t>Business Foundation</a:t>
            </a:r>
          </a:p>
        </p:txBody>
      </p:sp>
      <p:sp>
        <p:nvSpPr>
          <p:cNvPr id="6" name="text-4">
            <a:extLst>
              <a:ext uri="{FF2B5EF4-FFF2-40B4-BE49-F238E27FC236}">
                <a16:creationId xmlns:a16="http://schemas.microsoft.com/office/drawing/2014/main" id="{CCADD6F9-5FE7-4722-913B-86D7C4DA54ED}"/>
              </a:ext>
            </a:extLst>
          </p:cNvPr>
          <p:cNvSpPr>
            <a:spLocks noGrp="1"/>
          </p:cNvSpPr>
          <p:nvPr/>
        </p:nvSpPr>
        <p:spPr>
          <a:xfrm>
            <a:off x="457200" y="5686425"/>
            <a:ext cx="10287000" cy="647700"/>
          </a:xfrm>
          <a:prstGeom prst="rect">
            <a:avLst/>
          </a:prstGeom>
          <a:noFill/>
          <a:ln w="0">
            <a:noFill/>
          </a:ln>
        </p:spPr>
        <p:txBody>
          <a:bodyPr wrap="square" lIns="0" tIns="0" rIns="0" bIns="0" anchor="t">
            <a:noAutofit/>
          </a:bodyPr>
          <a:lstStyle/>
          <a:p>
            <a:pPr>
              <a:buNone/>
              <a:defRPr sz="1875" b="0">
                <a:solidFill>
                  <a:srgbClr val="C7DED6"/>
                </a:solidFill>
                <a:latin typeface="Calibri"/>
                <a:ea typeface="Calibri"/>
                <a:cs typeface="Calibri"/>
              </a:defRPr>
            </a:pPr>
            <a:r>
              <a:rPr sz="1875" b="0">
                <a:solidFill>
                  <a:srgbClr val="C7DED6"/>
                </a:solidFill>
                <a:latin typeface="Calibri"/>
                <a:ea typeface="Calibri"/>
                <a:cs typeface="Calibri"/>
              </a:rPr>
              <a:t>Cara founder berpikir dan ambil keputusan sebelum masuk pasar ekspor</a:t>
            </a:r>
          </a:p>
        </p:txBody>
      </p:sp>
    </p:spTree>
    <p:extLst>
      <p:ext uri="{BB962C8B-B14F-4D97-AF65-F5344CB8AC3E}">
        <p14:creationId xmlns:p14="http://schemas.microsoft.com/office/powerpoint/2010/main" val="1264300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A44154D-0C40-441B-BAA8-C282342DC935}"/>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0" name="Picture 19"/>
          <p:cNvPicPr>
            <a:picLocks noChangeAspect="1"/>
          </p:cNvPicPr>
          <p:nvPr/>
        </p:nvPicPr>
        <p:blipFill>
          <a:blip r:embed="rId4"/>
          <a:stretch/>
        </p:blipFill>
        <p:spPr>
          <a:xfrm>
            <a:off x="10591800" y="245339"/>
            <a:ext cx="1028700" cy="385621"/>
          </a:xfrm>
          <a:prstGeom prst="rect">
            <a:avLst/>
          </a:prstGeom>
        </p:spPr>
      </p:pic>
      <p:sp>
        <p:nvSpPr>
          <p:cNvPr id="4" name="text-17">
            <a:extLst>
              <a:ext uri="{FF2B5EF4-FFF2-40B4-BE49-F238E27FC236}">
                <a16:creationId xmlns:a16="http://schemas.microsoft.com/office/drawing/2014/main" id="{08353A24-0051-44EE-8F59-DC5FEC26B876}"/>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BUSINESS ACUMEN</a:t>
            </a:r>
          </a:p>
        </p:txBody>
      </p:sp>
      <p:sp>
        <p:nvSpPr>
          <p:cNvPr id="5" name="text-18">
            <a:extLst>
              <a:ext uri="{FF2B5EF4-FFF2-40B4-BE49-F238E27FC236}">
                <a16:creationId xmlns:a16="http://schemas.microsoft.com/office/drawing/2014/main" id="{D2F03A09-8B9E-4E40-B2C4-208E1FFCEF36}"/>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Order yang menarik belum tentu order yang tepat</a:t>
            </a:r>
          </a:p>
        </p:txBody>
      </p:sp>
      <p:sp>
        <p:nvSpPr>
          <p:cNvPr id="6" name="text-19">
            <a:extLst>
              <a:ext uri="{FF2B5EF4-FFF2-40B4-BE49-F238E27FC236}">
                <a16:creationId xmlns:a16="http://schemas.microsoft.com/office/drawing/2014/main" id="{6DBC1EBC-25EC-4440-82C7-757AE2C216E0}"/>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Business acumen membantu founder menimbang trade-off sebelum bilang “ya”.</a:t>
            </a:r>
          </a:p>
        </p:txBody>
      </p:sp>
      <p:sp>
        <p:nvSpPr>
          <p:cNvPr id="7" name="text-20">
            <a:extLst>
              <a:ext uri="{FF2B5EF4-FFF2-40B4-BE49-F238E27FC236}">
                <a16:creationId xmlns:a16="http://schemas.microsoft.com/office/drawing/2014/main" id="{7BE860C8-0FC8-450F-9913-A4D8023D5FA0}"/>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8" name="text-21">
            <a:extLst>
              <a:ext uri="{FF2B5EF4-FFF2-40B4-BE49-F238E27FC236}">
                <a16:creationId xmlns:a16="http://schemas.microsoft.com/office/drawing/2014/main" id="{C49001E6-D495-4047-A961-507AD884F818}"/>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03</a:t>
            </a:r>
          </a:p>
        </p:txBody>
      </p:sp>
      <p:sp>
        <p:nvSpPr>
          <p:cNvPr id="9" name="text-22">
            <a:extLst>
              <a:ext uri="{FF2B5EF4-FFF2-40B4-BE49-F238E27FC236}">
                <a16:creationId xmlns:a16="http://schemas.microsoft.com/office/drawing/2014/main" id="{D1BFD564-4E25-41BB-B818-C65147BFFD6E}"/>
              </a:ext>
            </a:extLst>
          </p:cNvPr>
          <p:cNvSpPr>
            <a:spLocks noGrp="1"/>
          </p:cNvSpPr>
          <p:nvPr/>
        </p:nvSpPr>
        <p:spPr>
          <a:xfrm>
            <a:off x="571500" y="2379345"/>
            <a:ext cx="3762375" cy="1190625"/>
          </a:xfrm>
          <a:prstGeom prst="rect">
            <a:avLst/>
          </a:prstGeom>
          <a:noFill/>
          <a:ln w="0">
            <a:noFill/>
          </a:ln>
        </p:spPr>
        <p:txBody>
          <a:bodyPr wrap="square" lIns="0" tIns="0" rIns="0" bIns="0" anchor="t">
            <a:noAutofit/>
          </a:bodyPr>
          <a:lstStyle/>
          <a:p>
            <a:pPr>
              <a:defRPr sz="3600" b="1">
                <a:solidFill>
                  <a:srgbClr val="087958"/>
                </a:solidFill>
                <a:latin typeface="Calibri"/>
                <a:ea typeface="Calibri"/>
                <a:cs typeface="Calibri"/>
              </a:defRPr>
            </a:pPr>
            <a:r>
              <a:rPr sz="3600" b="1">
                <a:solidFill>
                  <a:srgbClr val="087958"/>
                </a:solidFill>
                <a:latin typeface="Calibri"/>
                <a:ea typeface="Calibri"/>
                <a:cs typeface="Calibri"/>
              </a:rPr>
              <a:t>Lihat</a:t>
            </a:r>
          </a:p>
          <a:p>
            <a:pPr>
              <a:defRPr sz="3600" b="1">
                <a:solidFill>
                  <a:srgbClr val="087958"/>
                </a:solidFill>
                <a:latin typeface="Calibri"/>
                <a:ea typeface="Calibri"/>
                <a:cs typeface="Calibri"/>
              </a:defRPr>
            </a:pPr>
            <a:r>
              <a:rPr sz="3600" b="1">
                <a:solidFill>
                  <a:srgbClr val="087958"/>
                </a:solidFill>
                <a:latin typeface="Calibri"/>
                <a:ea typeface="Calibri"/>
                <a:cs typeface="Calibri"/>
              </a:rPr>
              <a:t>peluangnya</a:t>
            </a:r>
          </a:p>
        </p:txBody>
      </p:sp>
      <p:sp>
        <p:nvSpPr>
          <p:cNvPr id="10" name="text-23">
            <a:extLst>
              <a:ext uri="{FF2B5EF4-FFF2-40B4-BE49-F238E27FC236}">
                <a16:creationId xmlns:a16="http://schemas.microsoft.com/office/drawing/2014/main" id="{D9AF6469-9050-4561-A703-A23F39D6A050}"/>
              </a:ext>
            </a:extLst>
          </p:cNvPr>
          <p:cNvSpPr>
            <a:spLocks noGrp="1"/>
          </p:cNvSpPr>
          <p:nvPr/>
        </p:nvSpPr>
        <p:spPr>
          <a:xfrm>
            <a:off x="571500" y="3941445"/>
            <a:ext cx="3743325"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ENTREPRENEURSHIP</a:t>
            </a:r>
          </a:p>
        </p:txBody>
      </p:sp>
      <p:sp>
        <p:nvSpPr>
          <p:cNvPr id="11" name="text-24">
            <a:extLst>
              <a:ext uri="{FF2B5EF4-FFF2-40B4-BE49-F238E27FC236}">
                <a16:creationId xmlns:a16="http://schemas.microsoft.com/office/drawing/2014/main" id="{51FD6141-514B-4A4D-B730-DB7DE22020CA}"/>
              </a:ext>
            </a:extLst>
          </p:cNvPr>
          <p:cNvSpPr>
            <a:spLocks noGrp="1"/>
          </p:cNvSpPr>
          <p:nvPr/>
        </p:nvSpPr>
        <p:spPr>
          <a:xfrm>
            <a:off x="571500" y="4322445"/>
            <a:ext cx="3752850" cy="771525"/>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a:solidFill>
                  <a:srgbClr val="173D34"/>
                </a:solidFill>
                <a:latin typeface="Calibri"/>
                <a:ea typeface="Calibri"/>
                <a:cs typeface="Calibri"/>
              </a:rPr>
              <a:t>Kebutuhan buyer apa</a:t>
            </a:r>
          </a:p>
          <a:p>
            <a:pPr>
              <a:defRPr sz="2100" b="0">
                <a:solidFill>
                  <a:srgbClr val="173D34"/>
                </a:solidFill>
                <a:latin typeface="Calibri"/>
                <a:ea typeface="Calibri"/>
                <a:cs typeface="Calibri"/>
              </a:defRPr>
            </a:pPr>
            <a:r>
              <a:rPr sz="2100" b="0">
                <a:solidFill>
                  <a:srgbClr val="173D34"/>
                </a:solidFill>
                <a:latin typeface="Calibri"/>
                <a:ea typeface="Calibri"/>
                <a:cs typeface="Calibri"/>
              </a:rPr>
              <a:t>yang bisa kita isi?</a:t>
            </a:r>
          </a:p>
        </p:txBody>
      </p:sp>
      <p:sp>
        <p:nvSpPr>
          <p:cNvPr id="12" name="Right Arrow 11">
            <a:extLst>
              <a:ext uri="{FF2B5EF4-FFF2-40B4-BE49-F238E27FC236}">
                <a16:creationId xmlns:a16="http://schemas.microsoft.com/office/drawing/2014/main" id="{1C0EA4D5-B90F-42CE-944E-2AEE8AC594BC}"/>
              </a:ext>
            </a:extLst>
          </p:cNvPr>
          <p:cNvSpPr>
            <a:spLocks noGrp="1"/>
          </p:cNvSpPr>
          <p:nvPr/>
        </p:nvSpPr>
        <p:spPr>
          <a:xfrm>
            <a:off x="4221442" y="2819438"/>
            <a:ext cx="1114425" cy="238125"/>
          </a:xfrm>
          <a:prstGeom prst="rightArrow">
            <a:avLst/>
          </a:prstGeom>
          <a:solidFill>
            <a:srgbClr val="9AB6A5"/>
          </a:solidFill>
          <a:ln w="0">
            <a:noFill/>
          </a:ln>
        </p:spPr>
        <p:txBody>
          <a:bodyPr/>
          <a:lstStyle/>
          <a:p>
            <a:endParaRPr/>
          </a:p>
        </p:txBody>
      </p:sp>
      <p:sp>
        <p:nvSpPr>
          <p:cNvPr id="13" name="text-25">
            <a:extLst>
              <a:ext uri="{FF2B5EF4-FFF2-40B4-BE49-F238E27FC236}">
                <a16:creationId xmlns:a16="http://schemas.microsoft.com/office/drawing/2014/main" id="{76F31E72-4B84-4F99-BB7C-FC4AA7FE59C1}"/>
              </a:ext>
            </a:extLst>
          </p:cNvPr>
          <p:cNvSpPr>
            <a:spLocks noGrp="1"/>
          </p:cNvSpPr>
          <p:nvPr/>
        </p:nvSpPr>
        <p:spPr>
          <a:xfrm>
            <a:off x="6667805" y="2379345"/>
            <a:ext cx="4952390" cy="1190625"/>
          </a:xfrm>
          <a:prstGeom prst="rect">
            <a:avLst/>
          </a:prstGeom>
          <a:noFill/>
          <a:ln w="0">
            <a:noFill/>
          </a:ln>
        </p:spPr>
        <p:txBody>
          <a:bodyPr wrap="square" lIns="0" tIns="0" rIns="0" bIns="0" anchor="t">
            <a:noAutofit/>
          </a:bodyPr>
          <a:lstStyle/>
          <a:p>
            <a:pPr>
              <a:defRPr sz="3600" b="1">
                <a:solidFill>
                  <a:srgbClr val="173D34"/>
                </a:solidFill>
                <a:latin typeface="Calibri"/>
                <a:ea typeface="Calibri"/>
                <a:cs typeface="Calibri"/>
              </a:defRPr>
            </a:pPr>
            <a:r>
              <a:rPr sz="3600" b="1">
                <a:solidFill>
                  <a:srgbClr val="173D34"/>
                </a:solidFill>
                <a:latin typeface="Calibri"/>
                <a:ea typeface="Calibri"/>
                <a:cs typeface="Calibri"/>
              </a:rPr>
              <a:t>Hitung</a:t>
            </a:r>
          </a:p>
          <a:p>
            <a:pPr>
              <a:defRPr sz="3600" b="1">
                <a:solidFill>
                  <a:srgbClr val="173D34"/>
                </a:solidFill>
                <a:latin typeface="Calibri"/>
                <a:ea typeface="Calibri"/>
                <a:cs typeface="Calibri"/>
              </a:defRPr>
            </a:pPr>
            <a:r>
              <a:rPr sz="3600" b="1">
                <a:solidFill>
                  <a:srgbClr val="173D34"/>
                </a:solidFill>
                <a:latin typeface="Calibri"/>
                <a:ea typeface="Calibri"/>
                <a:cs typeface="Calibri"/>
              </a:rPr>
              <a:t>dampaknya</a:t>
            </a:r>
          </a:p>
        </p:txBody>
      </p:sp>
      <p:sp>
        <p:nvSpPr>
          <p:cNvPr id="14" name="text-26">
            <a:extLst>
              <a:ext uri="{FF2B5EF4-FFF2-40B4-BE49-F238E27FC236}">
                <a16:creationId xmlns:a16="http://schemas.microsoft.com/office/drawing/2014/main" id="{B55B8397-B37A-4CAD-AFBC-FCB4AE05F654}"/>
              </a:ext>
            </a:extLst>
          </p:cNvPr>
          <p:cNvSpPr>
            <a:spLocks noGrp="1"/>
          </p:cNvSpPr>
          <p:nvPr/>
        </p:nvSpPr>
        <p:spPr>
          <a:xfrm>
            <a:off x="6667805" y="3941445"/>
            <a:ext cx="495239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BUSINESS ACUMEN</a:t>
            </a:r>
          </a:p>
        </p:txBody>
      </p:sp>
      <p:sp>
        <p:nvSpPr>
          <p:cNvPr id="15" name="text-27">
            <a:extLst>
              <a:ext uri="{FF2B5EF4-FFF2-40B4-BE49-F238E27FC236}">
                <a16:creationId xmlns:a16="http://schemas.microsoft.com/office/drawing/2014/main" id="{8BA7737F-992D-45AD-AD79-30C2B8B2AAA8}"/>
              </a:ext>
            </a:extLst>
          </p:cNvPr>
          <p:cNvSpPr>
            <a:spLocks noGrp="1"/>
          </p:cNvSpPr>
          <p:nvPr/>
        </p:nvSpPr>
        <p:spPr>
          <a:xfrm>
            <a:off x="6667805" y="4322445"/>
            <a:ext cx="4952390" cy="771525"/>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a:solidFill>
                  <a:srgbClr val="173D34"/>
                </a:solidFill>
                <a:latin typeface="Calibri"/>
                <a:ea typeface="Calibri"/>
                <a:cs typeface="Calibri"/>
              </a:rPr>
              <a:t>Apa efeknya ke kapasitas,</a:t>
            </a:r>
          </a:p>
          <a:p>
            <a:pPr>
              <a:defRPr sz="2100" b="0">
                <a:solidFill>
                  <a:srgbClr val="173D34"/>
                </a:solidFill>
                <a:latin typeface="Calibri"/>
                <a:ea typeface="Calibri"/>
                <a:cs typeface="Calibri"/>
              </a:defRPr>
            </a:pPr>
            <a:r>
              <a:rPr sz="2100" b="0">
                <a:solidFill>
                  <a:srgbClr val="173D34"/>
                </a:solidFill>
                <a:latin typeface="Calibri"/>
                <a:ea typeface="Calibri"/>
                <a:cs typeface="Calibri"/>
              </a:rPr>
              <a:t>cash flow, dan order lain?</a:t>
            </a:r>
          </a:p>
        </p:txBody>
      </p:sp>
      <p:sp>
        <p:nvSpPr>
          <p:cNvPr id="16" name="Straight Connector 15">
            <a:extLst>
              <a:ext uri="{FF2B5EF4-FFF2-40B4-BE49-F238E27FC236}">
                <a16:creationId xmlns:a16="http://schemas.microsoft.com/office/drawing/2014/main" id="{EAB9D3C2-CD1F-49EE-A2CF-51D5FE7890B6}"/>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17" name="text-28">
            <a:extLst>
              <a:ext uri="{FF2B5EF4-FFF2-40B4-BE49-F238E27FC236}">
                <a16:creationId xmlns:a16="http://schemas.microsoft.com/office/drawing/2014/main" id="{94717BC6-A5F4-444A-9F66-0264F92D054D}"/>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Pilihannya bukan cuma terima atau tolak. Syaratnya juga bisa dinegosiasikan.</a:t>
            </a:r>
          </a:p>
        </p:txBody>
      </p:sp>
    </p:spTree>
    <p:extLst>
      <p:ext uri="{BB962C8B-B14F-4D97-AF65-F5344CB8AC3E}">
        <p14:creationId xmlns:p14="http://schemas.microsoft.com/office/powerpoint/2010/main" val="692505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AD2E5F7-443F-4472-A560-FC5E11453A90}"/>
              </a:ext>
            </a:extLst>
          </p:cNvPr>
          <p:cNvSpPr>
            <a:spLocks noGrp="1"/>
          </p:cNvSpPr>
          <p:nvPr/>
        </p:nvSpPr>
        <p:spPr>
          <a:xfrm>
            <a:off x="0" y="0"/>
            <a:ext cx="12192000" cy="6591300"/>
          </a:xfrm>
          <a:prstGeom prst="rect">
            <a:avLst/>
          </a:prstGeom>
          <a:solidFill>
            <a:srgbClr val="FFFFFF"/>
          </a:solidFill>
          <a:ln w="0">
            <a:solidFill>
              <a:schemeClr val="tx1"/>
            </a:solidFill>
          </a:ln>
          <a:effectLst>
            <a:softEdge rad="0"/>
          </a:effectLst>
        </p:spPr>
        <p:txBody>
          <a:bodyPr/>
          <a:lstStyle/>
          <a:p>
            <a:endParaRPr/>
          </a:p>
        </p:txBody>
      </p:sp>
      <p:pic>
        <p:nvPicPr>
          <p:cNvPr id="21" name="Picture 20"/>
          <p:cNvPicPr>
            <a:picLocks noChangeAspect="1"/>
          </p:cNvPicPr>
          <p:nvPr/>
        </p:nvPicPr>
        <p:blipFill>
          <a:blip r:embed="rId4"/>
          <a:stretch/>
        </p:blipFill>
        <p:spPr>
          <a:xfrm>
            <a:off x="10591800" y="245339"/>
            <a:ext cx="1028700" cy="385621"/>
          </a:xfrm>
          <a:prstGeom prst="rect">
            <a:avLst/>
          </a:prstGeom>
        </p:spPr>
      </p:pic>
      <p:sp>
        <p:nvSpPr>
          <p:cNvPr id="4" name="text-29">
            <a:extLst>
              <a:ext uri="{FF2B5EF4-FFF2-40B4-BE49-F238E27FC236}">
                <a16:creationId xmlns:a16="http://schemas.microsoft.com/office/drawing/2014/main" id="{7E0475CA-92FC-47C4-B856-EC7CAB64352F}"/>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STUDI KASUS</a:t>
            </a:r>
          </a:p>
        </p:txBody>
      </p:sp>
      <p:sp>
        <p:nvSpPr>
          <p:cNvPr id="5" name="text-30">
            <a:extLst>
              <a:ext uri="{FF2B5EF4-FFF2-40B4-BE49-F238E27FC236}">
                <a16:creationId xmlns:a16="http://schemas.microsoft.com/office/drawing/2014/main" id="{66337C79-138D-4C13-A5AC-2F89AB01EFDB}"/>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Buyer minta 500 unit, kita baru sanggup 300</a:t>
            </a:r>
          </a:p>
        </p:txBody>
      </p:sp>
      <p:sp>
        <p:nvSpPr>
          <p:cNvPr id="6" name="text-31">
            <a:extLst>
              <a:ext uri="{FF2B5EF4-FFF2-40B4-BE49-F238E27FC236}">
                <a16:creationId xmlns:a16="http://schemas.microsoft.com/office/drawing/2014/main" id="{7C71257C-8221-42FF-BF0A-58557EA3434F}"/>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32">
            <a:extLst>
              <a:ext uri="{FF2B5EF4-FFF2-40B4-BE49-F238E27FC236}">
                <a16:creationId xmlns:a16="http://schemas.microsoft.com/office/drawing/2014/main" id="{1E1D8CFF-8C59-4629-8D88-35C71ADEB35D}"/>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04</a:t>
            </a:r>
          </a:p>
        </p:txBody>
      </p:sp>
      <p:pic>
        <p:nvPicPr>
          <p:cNvPr id="26" name="Picture 25"/>
          <p:cNvPicPr>
            <a:picLocks noChangeAspect="1"/>
          </p:cNvPicPr>
          <p:nvPr/>
        </p:nvPicPr>
        <p:blipFill>
          <a:blip r:embed="rId5"/>
          <a:srcRect t="2570" b="2570"/>
          <a:stretch>
            <a:fillRect/>
          </a:stretch>
        </p:blipFill>
        <p:spPr>
          <a:xfrm>
            <a:off x="571500" y="2103120"/>
            <a:ext cx="5067605" cy="3566159"/>
          </a:xfrm>
          <a:prstGeom prst="rect">
            <a:avLst/>
          </a:prstGeom>
          <a:ln w="41275">
            <a:solidFill>
              <a:schemeClr val="tx1"/>
            </a:solidFill>
          </a:ln>
          <a:effectLst>
            <a:softEdge rad="0"/>
          </a:effectLst>
        </p:spPr>
      </p:pic>
      <p:sp>
        <p:nvSpPr>
          <p:cNvPr id="9" name="text-33">
            <a:extLst>
              <a:ext uri="{FF2B5EF4-FFF2-40B4-BE49-F238E27FC236}">
                <a16:creationId xmlns:a16="http://schemas.microsoft.com/office/drawing/2014/main" id="{D3C0FC61-44F4-450C-9AF8-14D17BBF12D7}"/>
              </a:ext>
            </a:extLst>
          </p:cNvPr>
          <p:cNvSpPr>
            <a:spLocks noGrp="1"/>
          </p:cNvSpPr>
          <p:nvPr/>
        </p:nvSpPr>
        <p:spPr>
          <a:xfrm>
            <a:off x="6219749" y="2114550"/>
            <a:ext cx="2609850" cy="809625"/>
          </a:xfrm>
          <a:prstGeom prst="rect">
            <a:avLst/>
          </a:prstGeom>
          <a:noFill/>
          <a:ln w="0">
            <a:noFill/>
          </a:ln>
        </p:spPr>
        <p:txBody>
          <a:bodyPr wrap="square" lIns="0" tIns="0" rIns="0" bIns="0" anchor="t">
            <a:noAutofit/>
          </a:bodyPr>
          <a:lstStyle/>
          <a:p>
            <a:pPr>
              <a:defRPr sz="5100" b="1">
                <a:solidFill>
                  <a:srgbClr val="173D34"/>
                </a:solidFill>
                <a:latin typeface="Calibri"/>
                <a:ea typeface="Calibri"/>
                <a:cs typeface="Calibri"/>
              </a:defRPr>
            </a:pPr>
            <a:r>
              <a:rPr sz="5100" b="1">
                <a:solidFill>
                  <a:srgbClr val="173D34"/>
                </a:solidFill>
                <a:latin typeface="Calibri"/>
                <a:ea typeface="Calibri"/>
                <a:cs typeface="Calibri"/>
              </a:rPr>
              <a:t>500</a:t>
            </a:r>
          </a:p>
        </p:txBody>
      </p:sp>
      <p:sp>
        <p:nvSpPr>
          <p:cNvPr id="10" name="text-34">
            <a:extLst>
              <a:ext uri="{FF2B5EF4-FFF2-40B4-BE49-F238E27FC236}">
                <a16:creationId xmlns:a16="http://schemas.microsoft.com/office/drawing/2014/main" id="{3CB3A973-7880-4991-B97A-35A35E140D46}"/>
              </a:ext>
            </a:extLst>
          </p:cNvPr>
          <p:cNvSpPr>
            <a:spLocks noGrp="1"/>
          </p:cNvSpPr>
          <p:nvPr/>
        </p:nvSpPr>
        <p:spPr>
          <a:xfrm>
            <a:off x="6219749" y="2990850"/>
            <a:ext cx="2552700" cy="304800"/>
          </a:xfrm>
          <a:prstGeom prst="rect">
            <a:avLst/>
          </a:prstGeom>
          <a:noFill/>
          <a:ln w="0">
            <a:noFill/>
          </a:ln>
        </p:spPr>
        <p:txBody>
          <a:bodyPr wrap="square" lIns="0" tIns="0" rIns="0" bIns="0" anchor="t">
            <a:noAutofit/>
          </a:bodyPr>
          <a:lstStyle/>
          <a:p>
            <a:pPr>
              <a:defRPr sz="1800" b="0">
                <a:solidFill>
                  <a:srgbClr val="173D34"/>
                </a:solidFill>
                <a:latin typeface="Calibri"/>
                <a:ea typeface="Calibri"/>
                <a:cs typeface="Calibri"/>
              </a:defRPr>
            </a:pPr>
            <a:r>
              <a:rPr sz="1800" b="0">
                <a:solidFill>
                  <a:srgbClr val="173D34"/>
                </a:solidFill>
                <a:latin typeface="Calibri"/>
                <a:ea typeface="Calibri"/>
                <a:cs typeface="Calibri"/>
              </a:rPr>
              <a:t>unit diminta buyer</a:t>
            </a:r>
          </a:p>
        </p:txBody>
      </p:sp>
      <p:sp>
        <p:nvSpPr>
          <p:cNvPr id="11" name="text-35">
            <a:extLst>
              <a:ext uri="{FF2B5EF4-FFF2-40B4-BE49-F238E27FC236}">
                <a16:creationId xmlns:a16="http://schemas.microsoft.com/office/drawing/2014/main" id="{59127875-0933-4106-8299-250BFE964A0A}"/>
              </a:ext>
            </a:extLst>
          </p:cNvPr>
          <p:cNvSpPr>
            <a:spLocks noGrp="1"/>
          </p:cNvSpPr>
          <p:nvPr/>
        </p:nvSpPr>
        <p:spPr>
          <a:xfrm>
            <a:off x="9182405" y="2114550"/>
            <a:ext cx="2476500" cy="809625"/>
          </a:xfrm>
          <a:prstGeom prst="rect">
            <a:avLst/>
          </a:prstGeom>
          <a:noFill/>
          <a:ln w="0">
            <a:noFill/>
          </a:ln>
        </p:spPr>
        <p:txBody>
          <a:bodyPr wrap="square" lIns="0" tIns="0" rIns="0" bIns="0" anchor="t">
            <a:noAutofit/>
          </a:bodyPr>
          <a:lstStyle/>
          <a:p>
            <a:pPr>
              <a:defRPr sz="5100" b="1">
                <a:solidFill>
                  <a:srgbClr val="087958"/>
                </a:solidFill>
                <a:latin typeface="Calibri"/>
                <a:ea typeface="Calibri"/>
                <a:cs typeface="Calibri"/>
              </a:defRPr>
            </a:pPr>
            <a:r>
              <a:rPr sz="5100" b="1">
                <a:solidFill>
                  <a:srgbClr val="087958"/>
                </a:solidFill>
                <a:latin typeface="Calibri"/>
                <a:ea typeface="Calibri"/>
                <a:cs typeface="Calibri"/>
              </a:rPr>
              <a:t>300</a:t>
            </a:r>
          </a:p>
        </p:txBody>
      </p:sp>
      <p:sp>
        <p:nvSpPr>
          <p:cNvPr id="12" name="text-36">
            <a:extLst>
              <a:ext uri="{FF2B5EF4-FFF2-40B4-BE49-F238E27FC236}">
                <a16:creationId xmlns:a16="http://schemas.microsoft.com/office/drawing/2014/main" id="{734C9D73-342E-41EC-B00E-B68117DAB30F}"/>
              </a:ext>
            </a:extLst>
          </p:cNvPr>
          <p:cNvSpPr>
            <a:spLocks noGrp="1"/>
          </p:cNvSpPr>
          <p:nvPr/>
        </p:nvSpPr>
        <p:spPr>
          <a:xfrm>
            <a:off x="9182405" y="2990850"/>
            <a:ext cx="2533650" cy="571500"/>
          </a:xfrm>
          <a:prstGeom prst="rect">
            <a:avLst/>
          </a:prstGeom>
          <a:noFill/>
          <a:ln w="0">
            <a:noFill/>
          </a:ln>
        </p:spPr>
        <p:txBody>
          <a:bodyPr wrap="square" lIns="0" tIns="0" rIns="0" bIns="0" anchor="t">
            <a:noAutofit/>
          </a:bodyPr>
          <a:lstStyle/>
          <a:p>
            <a:pPr>
              <a:defRPr sz="1800" b="0">
                <a:solidFill>
                  <a:srgbClr val="173D34"/>
                </a:solidFill>
                <a:latin typeface="Calibri"/>
                <a:ea typeface="Calibri"/>
                <a:cs typeface="Calibri"/>
              </a:defRPr>
            </a:pPr>
            <a:r>
              <a:rPr sz="1800" b="0">
                <a:solidFill>
                  <a:srgbClr val="173D34"/>
                </a:solidFill>
                <a:latin typeface="Calibri"/>
                <a:ea typeface="Calibri"/>
                <a:cs typeface="Calibri"/>
              </a:rPr>
              <a:t>unit kapasitas kita</a:t>
            </a:r>
          </a:p>
        </p:txBody>
      </p:sp>
      <p:sp>
        <p:nvSpPr>
          <p:cNvPr id="13" name="Straight Connector 12">
            <a:extLst>
              <a:ext uri="{FF2B5EF4-FFF2-40B4-BE49-F238E27FC236}">
                <a16:creationId xmlns:a16="http://schemas.microsoft.com/office/drawing/2014/main" id="{158C3671-9E38-421E-BB22-A600CC1A2F7C}"/>
              </a:ext>
            </a:extLst>
          </p:cNvPr>
          <p:cNvSpPr>
            <a:spLocks noGrp="1"/>
          </p:cNvSpPr>
          <p:nvPr/>
        </p:nvSpPr>
        <p:spPr>
          <a:xfrm>
            <a:off x="6219749" y="3733800"/>
            <a:ext cx="5400446" cy="0"/>
          </a:xfrm>
          <a:prstGeom prst="line">
            <a:avLst/>
          </a:prstGeom>
          <a:noFill/>
          <a:ln w="9525">
            <a:solidFill>
              <a:srgbClr val="CEDDD4"/>
            </a:solidFill>
          </a:ln>
        </p:spPr>
        <p:txBody>
          <a:bodyPr/>
          <a:lstStyle/>
          <a:p>
            <a:endParaRPr/>
          </a:p>
        </p:txBody>
      </p:sp>
      <p:sp>
        <p:nvSpPr>
          <p:cNvPr id="14" name="text-37">
            <a:extLst>
              <a:ext uri="{FF2B5EF4-FFF2-40B4-BE49-F238E27FC236}">
                <a16:creationId xmlns:a16="http://schemas.microsoft.com/office/drawing/2014/main" id="{7FABD806-0A0C-496E-921E-49A673078C7C}"/>
              </a:ext>
            </a:extLst>
          </p:cNvPr>
          <p:cNvSpPr>
            <a:spLocks noGrp="1"/>
          </p:cNvSpPr>
          <p:nvPr/>
        </p:nvSpPr>
        <p:spPr>
          <a:xfrm>
            <a:off x="6219749" y="4010025"/>
            <a:ext cx="5400446" cy="609600"/>
          </a:xfrm>
          <a:prstGeom prst="rect">
            <a:avLst/>
          </a:prstGeom>
          <a:noFill/>
          <a:ln w="0">
            <a:noFill/>
          </a:ln>
        </p:spPr>
        <p:txBody>
          <a:bodyPr wrap="square" lIns="0" tIns="0" rIns="0" bIns="0" anchor="t">
            <a:noAutofit/>
          </a:bodyPr>
          <a:lstStyle/>
          <a:p>
            <a:pPr>
              <a:defRPr sz="3375" b="1">
                <a:solidFill>
                  <a:srgbClr val="173D34"/>
                </a:solidFill>
                <a:latin typeface="Calibri"/>
                <a:ea typeface="Calibri"/>
                <a:cs typeface="Calibri"/>
              </a:defRPr>
            </a:pPr>
            <a:r>
              <a:rPr sz="3375" b="1">
                <a:solidFill>
                  <a:srgbClr val="173D34"/>
                </a:solidFill>
                <a:latin typeface="Calibri"/>
                <a:ea typeface="Calibri"/>
                <a:cs typeface="Calibri"/>
              </a:rPr>
              <a:t>Deadline 30 hari</a:t>
            </a:r>
          </a:p>
        </p:txBody>
      </p:sp>
      <p:sp>
        <p:nvSpPr>
          <p:cNvPr id="15" name="text-38">
            <a:extLst>
              <a:ext uri="{FF2B5EF4-FFF2-40B4-BE49-F238E27FC236}">
                <a16:creationId xmlns:a16="http://schemas.microsoft.com/office/drawing/2014/main" id="{BF9EC44B-2130-486E-BBF4-15049DDD9B26}"/>
              </a:ext>
            </a:extLst>
          </p:cNvPr>
          <p:cNvSpPr>
            <a:spLocks noGrp="1"/>
          </p:cNvSpPr>
          <p:nvPr/>
        </p:nvSpPr>
        <p:spPr>
          <a:xfrm>
            <a:off x="6219749" y="4838700"/>
            <a:ext cx="5400446" cy="809625"/>
          </a:xfrm>
          <a:prstGeom prst="rect">
            <a:avLst/>
          </a:prstGeom>
          <a:noFill/>
          <a:ln w="0">
            <a:noFill/>
          </a:ln>
        </p:spPr>
        <p:txBody>
          <a:bodyPr wrap="square" lIns="0" tIns="0" rIns="0" bIns="0" anchor="t">
            <a:noAutofit/>
          </a:bodyPr>
          <a:lstStyle/>
          <a:p>
            <a:pPr>
              <a:defRPr sz="2025" b="0">
                <a:solidFill>
                  <a:srgbClr val="173D34"/>
                </a:solidFill>
                <a:latin typeface="Calibri"/>
                <a:ea typeface="Calibri"/>
                <a:cs typeface="Calibri"/>
              </a:defRPr>
            </a:pPr>
            <a:r>
              <a:rPr sz="2025" b="0" dirty="0">
                <a:solidFill>
                  <a:srgbClr val="173D34"/>
                </a:solidFill>
                <a:latin typeface="Calibri"/>
                <a:ea typeface="Calibri"/>
                <a:cs typeface="Calibri"/>
              </a:rPr>
              <a:t>Buyer </a:t>
            </a:r>
            <a:r>
              <a:rPr lang="en-US" sz="2025" b="0" dirty="0" err="1">
                <a:solidFill>
                  <a:srgbClr val="173D34"/>
                </a:solidFill>
                <a:latin typeface="Calibri"/>
                <a:ea typeface="Calibri"/>
                <a:cs typeface="Calibri"/>
              </a:rPr>
              <a:t>baru</a:t>
            </a:r>
            <a:r>
              <a:rPr lang="en-US" sz="2025" b="0" dirty="0">
                <a:solidFill>
                  <a:srgbClr val="173D34"/>
                </a:solidFill>
                <a:latin typeface="Calibri"/>
                <a:ea typeface="Calibri"/>
                <a:cs typeface="Calibri"/>
              </a:rPr>
              <a:t> </a:t>
            </a:r>
            <a:r>
              <a:rPr lang="en-US" sz="2025" b="0" dirty="0" err="1">
                <a:solidFill>
                  <a:srgbClr val="173D34"/>
                </a:solidFill>
                <a:latin typeface="Calibri"/>
                <a:ea typeface="Calibri"/>
                <a:cs typeface="Calibri"/>
              </a:rPr>
              <a:t>mau</a:t>
            </a:r>
            <a:r>
              <a:rPr lang="en-US" sz="2025" b="0" dirty="0">
                <a:solidFill>
                  <a:srgbClr val="173D34"/>
                </a:solidFill>
                <a:latin typeface="Calibri"/>
                <a:ea typeface="Calibri"/>
                <a:cs typeface="Calibri"/>
              </a:rPr>
              <a:t> </a:t>
            </a:r>
            <a:r>
              <a:rPr sz="2025" b="0" dirty="0" err="1">
                <a:solidFill>
                  <a:srgbClr val="173D34"/>
                </a:solidFill>
                <a:latin typeface="Calibri"/>
                <a:ea typeface="Calibri"/>
                <a:cs typeface="Calibri"/>
              </a:rPr>
              <a:t>bayar</a:t>
            </a:r>
            <a:r>
              <a:rPr sz="2025" b="0" dirty="0">
                <a:solidFill>
                  <a:srgbClr val="173D34"/>
                </a:solidFill>
                <a:latin typeface="Calibri"/>
                <a:ea typeface="Calibri"/>
                <a:cs typeface="Calibri"/>
              </a:rPr>
              <a:t> </a:t>
            </a:r>
            <a:r>
              <a:rPr sz="2025" b="0" dirty="0" err="1">
                <a:solidFill>
                  <a:srgbClr val="173D34"/>
                </a:solidFill>
                <a:latin typeface="Calibri"/>
                <a:ea typeface="Calibri"/>
                <a:cs typeface="Calibri"/>
              </a:rPr>
              <a:t>setelah</a:t>
            </a:r>
            <a:r>
              <a:rPr sz="2025" b="0" dirty="0">
                <a:solidFill>
                  <a:srgbClr val="173D34"/>
                </a:solidFill>
                <a:latin typeface="Calibri"/>
                <a:ea typeface="Calibri"/>
                <a:cs typeface="Calibri"/>
              </a:rPr>
              <a:t> </a:t>
            </a:r>
            <a:r>
              <a:rPr sz="2025" b="0" dirty="0" err="1">
                <a:solidFill>
                  <a:srgbClr val="173D34"/>
                </a:solidFill>
                <a:latin typeface="Calibri"/>
                <a:ea typeface="Calibri"/>
                <a:cs typeface="Calibri"/>
              </a:rPr>
              <a:t>barang</a:t>
            </a:r>
            <a:r>
              <a:rPr sz="2025" b="0" dirty="0">
                <a:solidFill>
                  <a:srgbClr val="173D34"/>
                </a:solidFill>
                <a:latin typeface="Calibri"/>
                <a:ea typeface="Calibri"/>
                <a:cs typeface="Calibri"/>
              </a:rPr>
              <a:t> </a:t>
            </a:r>
            <a:r>
              <a:rPr sz="2025" b="0" dirty="0" err="1">
                <a:solidFill>
                  <a:srgbClr val="173D34"/>
                </a:solidFill>
                <a:latin typeface="Calibri"/>
                <a:ea typeface="Calibri"/>
                <a:cs typeface="Calibri"/>
              </a:rPr>
              <a:t>sampai</a:t>
            </a:r>
            <a:r>
              <a:rPr sz="2025" b="0" dirty="0">
                <a:solidFill>
                  <a:srgbClr val="173D34"/>
                </a:solidFill>
                <a:latin typeface="Calibri"/>
                <a:ea typeface="Calibri"/>
                <a:cs typeface="Calibri"/>
              </a:rPr>
              <a:t>.</a:t>
            </a:r>
          </a:p>
          <a:p>
            <a:pPr>
              <a:defRPr sz="2025" b="0">
                <a:solidFill>
                  <a:srgbClr val="173D34"/>
                </a:solidFill>
                <a:latin typeface="Calibri"/>
                <a:ea typeface="Calibri"/>
                <a:cs typeface="Calibri"/>
              </a:defRPr>
            </a:pPr>
            <a:r>
              <a:rPr sz="2025" b="0" dirty="0">
                <a:solidFill>
                  <a:srgbClr val="173D34"/>
                </a:solidFill>
                <a:latin typeface="Calibri"/>
                <a:ea typeface="Calibri"/>
                <a:cs typeface="Calibri"/>
              </a:rPr>
              <a:t>Packaging </a:t>
            </a:r>
            <a:r>
              <a:rPr sz="2025" b="0" dirty="0" err="1">
                <a:solidFill>
                  <a:srgbClr val="173D34"/>
                </a:solidFill>
                <a:latin typeface="Calibri"/>
                <a:ea typeface="Calibri"/>
                <a:cs typeface="Calibri"/>
              </a:rPr>
              <a:t>ekspor</a:t>
            </a:r>
            <a:r>
              <a:rPr sz="2025" b="0" dirty="0">
                <a:solidFill>
                  <a:srgbClr val="173D34"/>
                </a:solidFill>
                <a:latin typeface="Calibri"/>
                <a:ea typeface="Calibri"/>
                <a:cs typeface="Calibri"/>
              </a:rPr>
              <a:t> </a:t>
            </a:r>
            <a:r>
              <a:rPr sz="2025" b="0" dirty="0" err="1">
                <a:solidFill>
                  <a:srgbClr val="173D34"/>
                </a:solidFill>
                <a:latin typeface="Calibri"/>
                <a:ea typeface="Calibri"/>
                <a:cs typeface="Calibri"/>
              </a:rPr>
              <a:t>belum</a:t>
            </a:r>
            <a:r>
              <a:rPr sz="2025" b="0" dirty="0">
                <a:solidFill>
                  <a:srgbClr val="173D34"/>
                </a:solidFill>
                <a:latin typeface="Calibri"/>
                <a:ea typeface="Calibri"/>
                <a:cs typeface="Calibri"/>
              </a:rPr>
              <a:t> </a:t>
            </a:r>
            <a:r>
              <a:rPr sz="2025" b="0" dirty="0" err="1">
                <a:solidFill>
                  <a:srgbClr val="173D34"/>
                </a:solidFill>
                <a:latin typeface="Calibri"/>
                <a:ea typeface="Calibri"/>
                <a:cs typeface="Calibri"/>
              </a:rPr>
              <a:t>pernah</a:t>
            </a:r>
            <a:r>
              <a:rPr lang="en-US" sz="2025" b="0" dirty="0">
                <a:solidFill>
                  <a:srgbClr val="173D34"/>
                </a:solidFill>
                <a:latin typeface="Calibri"/>
                <a:ea typeface="Calibri"/>
                <a:cs typeface="Calibri"/>
              </a:rPr>
              <a:t> </a:t>
            </a:r>
            <a:r>
              <a:rPr lang="en-US" sz="2025" b="0" dirty="0" err="1">
                <a:solidFill>
                  <a:srgbClr val="173D34"/>
                </a:solidFill>
                <a:latin typeface="Calibri"/>
                <a:ea typeface="Calibri"/>
                <a:cs typeface="Calibri"/>
              </a:rPr>
              <a:t>kita</a:t>
            </a:r>
            <a:r>
              <a:rPr lang="en-US" sz="2025" b="0" dirty="0">
                <a:solidFill>
                  <a:srgbClr val="173D34"/>
                </a:solidFill>
                <a:latin typeface="Calibri"/>
                <a:ea typeface="Calibri"/>
                <a:cs typeface="Calibri"/>
              </a:rPr>
              <a:t> testing</a:t>
            </a:r>
            <a:r>
              <a:rPr sz="2025" b="0" dirty="0">
                <a:solidFill>
                  <a:srgbClr val="173D34"/>
                </a:solidFill>
                <a:latin typeface="Calibri"/>
                <a:ea typeface="Calibri"/>
                <a:cs typeface="Calibri"/>
              </a:rPr>
              <a:t>.</a:t>
            </a:r>
          </a:p>
        </p:txBody>
      </p:sp>
      <p:sp>
        <p:nvSpPr>
          <p:cNvPr id="16" name="Straight Connector 15">
            <a:extLst>
              <a:ext uri="{FF2B5EF4-FFF2-40B4-BE49-F238E27FC236}">
                <a16:creationId xmlns:a16="http://schemas.microsoft.com/office/drawing/2014/main" id="{1D58644F-9698-47CB-B5C9-FF72532F8462}"/>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17" name="text-39">
            <a:extLst>
              <a:ext uri="{FF2B5EF4-FFF2-40B4-BE49-F238E27FC236}">
                <a16:creationId xmlns:a16="http://schemas.microsoft.com/office/drawing/2014/main" id="{4CF75A08-5906-4D13-909E-542CE0304538}"/>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dirty="0" err="1">
                <a:solidFill>
                  <a:srgbClr val="087958"/>
                </a:solidFill>
                <a:latin typeface="Calibri"/>
                <a:ea typeface="Calibri"/>
                <a:cs typeface="Calibri"/>
              </a:rPr>
              <a:t>Kamu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pilih</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terima</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nego</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atau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tunda</a:t>
            </a:r>
            <a:r>
              <a:rPr sz="1725" b="1" dirty="0">
                <a:solidFill>
                  <a:srgbClr val="087958"/>
                </a:solidFill>
                <a:latin typeface="Calibri"/>
                <a:ea typeface="Calibri"/>
                <a:cs typeface="Calibri"/>
              </a:rPr>
              <a:t>? Data </a:t>
            </a:r>
            <a:r>
              <a:rPr sz="1725" b="1" dirty="0" err="1">
                <a:solidFill>
                  <a:srgbClr val="087958"/>
                </a:solidFill>
                <a:latin typeface="Calibri"/>
                <a:ea typeface="Calibri"/>
                <a:cs typeface="Calibri"/>
              </a:rPr>
              <a:t>apa</a:t>
            </a:r>
            <a:r>
              <a:rPr sz="1725" b="1" dirty="0">
                <a:solidFill>
                  <a:srgbClr val="087958"/>
                </a:solidFill>
                <a:latin typeface="Calibri"/>
                <a:ea typeface="Calibri"/>
                <a:cs typeface="Calibri"/>
              </a:rPr>
              <a:t> yang </a:t>
            </a:r>
            <a:r>
              <a:rPr sz="1725" b="1" dirty="0" err="1">
                <a:solidFill>
                  <a:srgbClr val="087958"/>
                </a:solidFill>
                <a:latin typeface="Calibri"/>
                <a:ea typeface="Calibri"/>
                <a:cs typeface="Calibri"/>
              </a:rPr>
              <a:t>masih</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kurang</a:t>
            </a:r>
            <a:r>
              <a:rPr sz="1725" b="1" dirty="0">
                <a:solidFill>
                  <a:srgbClr val="087958"/>
                </a:solidFill>
                <a:latin typeface="Calibri"/>
                <a:ea typeface="Calibri"/>
                <a:cs typeface="Calibri"/>
              </a:rPr>
              <a:t>?</a:t>
            </a:r>
          </a:p>
        </p:txBody>
      </p:sp>
      <p:sp>
        <p:nvSpPr>
          <p:cNvPr id="18" name="text-40">
            <a:extLst>
              <a:ext uri="{FF2B5EF4-FFF2-40B4-BE49-F238E27FC236}">
                <a16:creationId xmlns:a16="http://schemas.microsoft.com/office/drawing/2014/main" id="{B614B3FF-6E39-4023-B3BD-5923BCB973D3}"/>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Kasus dan angka hanya ilustrasi. Gambar dibuat dengan AI.</a:t>
            </a:r>
          </a:p>
        </p:txBody>
      </p:sp>
    </p:spTree>
    <p:extLst>
      <p:ext uri="{BB962C8B-B14F-4D97-AF65-F5344CB8AC3E}">
        <p14:creationId xmlns:p14="http://schemas.microsoft.com/office/powerpoint/2010/main" val="1188795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Picture 41"/>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A2D4963-A9F6-4AD7-BD3C-BEC2D2E120D3}"/>
              </a:ext>
            </a:extLst>
          </p:cNvPr>
          <p:cNvSpPr>
            <a:spLocks noGrp="1"/>
          </p:cNvSpPr>
          <p:nvPr/>
        </p:nvSpPr>
        <p:spPr>
          <a:xfrm>
            <a:off x="0" y="288734"/>
            <a:ext cx="12192000" cy="6591300"/>
          </a:xfrm>
          <a:prstGeom prst="rect">
            <a:avLst/>
          </a:prstGeom>
          <a:solidFill>
            <a:srgbClr val="FFFFFF"/>
          </a:solidFill>
          <a:ln w="0">
            <a:noFill/>
          </a:ln>
        </p:spPr>
        <p:txBody>
          <a:bodyPr/>
          <a:lstStyle/>
          <a:p>
            <a:endParaRPr/>
          </a:p>
        </p:txBody>
      </p:sp>
      <p:pic>
        <p:nvPicPr>
          <p:cNvPr id="44" name="Picture 43"/>
          <p:cNvPicPr>
            <a:picLocks noChangeAspect="1"/>
          </p:cNvPicPr>
          <p:nvPr/>
        </p:nvPicPr>
        <p:blipFill>
          <a:blip r:embed="rId4"/>
          <a:stretch/>
        </p:blipFill>
        <p:spPr>
          <a:xfrm>
            <a:off x="10591800" y="245339"/>
            <a:ext cx="1028700" cy="385621"/>
          </a:xfrm>
          <a:prstGeom prst="rect">
            <a:avLst/>
          </a:prstGeom>
        </p:spPr>
      </p:pic>
      <p:sp>
        <p:nvSpPr>
          <p:cNvPr id="4" name="text-41">
            <a:extLst>
              <a:ext uri="{FF2B5EF4-FFF2-40B4-BE49-F238E27FC236}">
                <a16:creationId xmlns:a16="http://schemas.microsoft.com/office/drawing/2014/main" id="{2F5AA268-9B63-4215-A609-9D14EE53BBA6}"/>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ENTREPRENEUR JOURNEY</a:t>
            </a:r>
          </a:p>
        </p:txBody>
      </p:sp>
      <p:sp>
        <p:nvSpPr>
          <p:cNvPr id="5" name="text-42">
            <a:extLst>
              <a:ext uri="{FF2B5EF4-FFF2-40B4-BE49-F238E27FC236}">
                <a16:creationId xmlns:a16="http://schemas.microsoft.com/office/drawing/2014/main" id="{4E955D61-E15E-47B6-ADBD-ECAFA0B11D89}"/>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lang="en-US" sz="2925" b="1" dirty="0" err="1">
                <a:solidFill>
                  <a:srgbClr val="173D34"/>
                </a:solidFill>
                <a:latin typeface="Calibri"/>
                <a:ea typeface="Calibri"/>
                <a:cs typeface="Calibri"/>
              </a:rPr>
              <a:t>Bisnis</a:t>
            </a:r>
            <a:r>
              <a:rPr lang="en-US" sz="2925" b="1" dirty="0">
                <a:solidFill>
                  <a:srgbClr val="173D34"/>
                </a:solidFill>
                <a:latin typeface="Calibri"/>
                <a:ea typeface="Calibri"/>
                <a:cs typeface="Calibri"/>
              </a:rPr>
              <a:t> </a:t>
            </a:r>
            <a:r>
              <a:rPr sz="2925" b="1" dirty="0" err="1">
                <a:solidFill>
                  <a:srgbClr val="173D34"/>
                </a:solidFill>
                <a:latin typeface="Calibri"/>
                <a:ea typeface="Calibri"/>
                <a:cs typeface="Calibri"/>
              </a:rPr>
              <a:t>bisa</a:t>
            </a:r>
            <a:r>
              <a:rPr sz="2925" b="1" dirty="0">
                <a:solidFill>
                  <a:srgbClr val="173D34"/>
                </a:solidFill>
                <a:latin typeface="Calibri"/>
                <a:ea typeface="Calibri"/>
                <a:cs typeface="Calibri"/>
              </a:rPr>
              <a:t> </a:t>
            </a:r>
            <a:r>
              <a:rPr lang="en-US" sz="2925" b="1" dirty="0" err="1">
                <a:solidFill>
                  <a:srgbClr val="173D34"/>
                </a:solidFill>
                <a:latin typeface="Calibri"/>
                <a:ea typeface="Calibri"/>
                <a:cs typeface="Calibri"/>
              </a:rPr>
              <a:t>kapan</a:t>
            </a:r>
            <a:r>
              <a:rPr lang="en-US" sz="2925" b="1" dirty="0">
                <a:solidFill>
                  <a:srgbClr val="173D34"/>
                </a:solidFill>
                <a:latin typeface="Calibri"/>
                <a:ea typeface="Calibri"/>
                <a:cs typeface="Calibri"/>
              </a:rPr>
              <a:t>-pun </a:t>
            </a:r>
            <a:r>
              <a:rPr sz="2925" b="1" dirty="0" err="1">
                <a:solidFill>
                  <a:srgbClr val="173D34"/>
                </a:solidFill>
                <a:latin typeface="Calibri"/>
                <a:ea typeface="Calibri"/>
                <a:cs typeface="Calibri"/>
              </a:rPr>
              <a:t>berubah</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mengikuti</a:t>
            </a:r>
            <a:r>
              <a:rPr sz="2925" b="1" dirty="0">
                <a:solidFill>
                  <a:srgbClr val="173D34"/>
                </a:solidFill>
                <a:latin typeface="Calibri"/>
                <a:ea typeface="Calibri"/>
                <a:cs typeface="Calibri"/>
              </a:rPr>
              <a:t> </a:t>
            </a:r>
            <a:r>
              <a:rPr lang="en-US" sz="2925" b="1" dirty="0" err="1">
                <a:solidFill>
                  <a:srgbClr val="173D34"/>
                </a:solidFill>
                <a:latin typeface="Calibri"/>
                <a:ea typeface="Calibri"/>
                <a:cs typeface="Calibri"/>
              </a:rPr>
              <a:t>kebutuhan</a:t>
            </a:r>
            <a:r>
              <a:rPr lang="en-US" sz="2925" b="1" dirty="0">
                <a:solidFill>
                  <a:srgbClr val="173D34"/>
                </a:solidFill>
                <a:latin typeface="Calibri"/>
                <a:ea typeface="Calibri"/>
                <a:cs typeface="Calibri"/>
              </a:rPr>
              <a:t> market</a:t>
            </a:r>
            <a:endParaRPr sz="2925" b="1" dirty="0">
              <a:solidFill>
                <a:srgbClr val="173D34"/>
              </a:solidFill>
              <a:latin typeface="Calibri"/>
              <a:ea typeface="Calibri"/>
              <a:cs typeface="Calibri"/>
            </a:endParaRPr>
          </a:p>
        </p:txBody>
      </p:sp>
      <p:sp>
        <p:nvSpPr>
          <p:cNvPr id="6" name="text-43">
            <a:extLst>
              <a:ext uri="{FF2B5EF4-FFF2-40B4-BE49-F238E27FC236}">
                <a16:creationId xmlns:a16="http://schemas.microsoft.com/office/drawing/2014/main" id="{FDAD0BC7-084C-409D-8F02-6F92D11843E2}"/>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lang="en-US" sz="1800" b="0" dirty="0">
                <a:solidFill>
                  <a:srgbClr val="5B7169"/>
                </a:solidFill>
                <a:latin typeface="Calibri"/>
                <a:ea typeface="Calibri"/>
                <a:cs typeface="Calibri"/>
              </a:rPr>
              <a:t>Hal</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ini</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bisa</a:t>
            </a:r>
            <a:r>
              <a:rPr sz="1800" b="0" dirty="0">
                <a:solidFill>
                  <a:srgbClr val="5B7169"/>
                </a:solidFill>
                <a:latin typeface="Calibri"/>
                <a:ea typeface="Calibri"/>
                <a:cs typeface="Calibri"/>
              </a:rPr>
              <a:t> </a:t>
            </a:r>
            <a:r>
              <a:rPr lang="en-US" sz="1800" b="0" dirty="0" err="1">
                <a:solidFill>
                  <a:srgbClr val="5B7169"/>
                </a:solidFill>
                <a:latin typeface="Calibri"/>
                <a:ea typeface="Calibri"/>
                <a:cs typeface="Calibri"/>
              </a:rPr>
              <a:t>berubah</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tiap</a:t>
            </a:r>
            <a:r>
              <a:rPr sz="1800" b="0" dirty="0">
                <a:solidFill>
                  <a:srgbClr val="5B7169"/>
                </a:solidFill>
                <a:latin typeface="Calibri"/>
                <a:ea typeface="Calibri"/>
                <a:cs typeface="Calibri"/>
              </a:rPr>
              <a:t> kali </a:t>
            </a:r>
            <a:r>
              <a:rPr sz="1800" b="0" dirty="0" err="1">
                <a:solidFill>
                  <a:srgbClr val="5B7169"/>
                </a:solidFill>
                <a:latin typeface="Calibri"/>
                <a:ea typeface="Calibri"/>
                <a:cs typeface="Calibri"/>
              </a:rPr>
              <a:t>kebutuhan</a:t>
            </a:r>
            <a:r>
              <a:rPr sz="1800" b="0" dirty="0">
                <a:solidFill>
                  <a:srgbClr val="5B7169"/>
                </a:solidFill>
                <a:latin typeface="Calibri"/>
                <a:ea typeface="Calibri"/>
                <a:cs typeface="Calibri"/>
              </a:rPr>
              <a:t> buyer </a:t>
            </a:r>
            <a:r>
              <a:rPr sz="1800" b="0" dirty="0" err="1">
                <a:solidFill>
                  <a:srgbClr val="5B7169"/>
                </a:solidFill>
                <a:latin typeface="Calibri"/>
                <a:ea typeface="Calibri"/>
                <a:cs typeface="Calibri"/>
              </a:rPr>
              <a:t>atau</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kemampuan</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kita</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berubah</a:t>
            </a:r>
            <a:r>
              <a:rPr lang="en-US" dirty="0">
                <a:solidFill>
                  <a:srgbClr val="5B7169"/>
                </a:solidFill>
                <a:latin typeface="Calibri"/>
                <a:ea typeface="Calibri"/>
                <a:cs typeface="Calibri"/>
              </a:rPr>
              <a:t>, </a:t>
            </a:r>
            <a:r>
              <a:rPr lang="en-US" dirty="0" err="1">
                <a:solidFill>
                  <a:srgbClr val="5B7169"/>
                </a:solidFill>
                <a:latin typeface="Calibri"/>
                <a:ea typeface="Calibri"/>
                <a:cs typeface="Calibri"/>
              </a:rPr>
              <a:t>disitulah</a:t>
            </a:r>
            <a:r>
              <a:rPr lang="en-US" dirty="0">
                <a:solidFill>
                  <a:srgbClr val="5B7169"/>
                </a:solidFill>
                <a:latin typeface="Calibri"/>
                <a:ea typeface="Calibri"/>
                <a:cs typeface="Calibri"/>
              </a:rPr>
              <a:t> </a:t>
            </a:r>
            <a:r>
              <a:rPr lang="en-US" dirty="0" err="1">
                <a:solidFill>
                  <a:srgbClr val="5B7169"/>
                </a:solidFill>
                <a:latin typeface="Calibri"/>
                <a:ea typeface="Calibri"/>
                <a:cs typeface="Calibri"/>
              </a:rPr>
              <a:t>peran</a:t>
            </a:r>
            <a:r>
              <a:rPr lang="en-US" dirty="0">
                <a:solidFill>
                  <a:srgbClr val="5B7169"/>
                </a:solidFill>
                <a:latin typeface="Calibri"/>
                <a:ea typeface="Calibri"/>
                <a:cs typeface="Calibri"/>
              </a:rPr>
              <a:t> </a:t>
            </a:r>
            <a:r>
              <a:rPr lang="en-US" dirty="0" err="1">
                <a:solidFill>
                  <a:srgbClr val="5B7169"/>
                </a:solidFill>
                <a:latin typeface="Calibri"/>
                <a:ea typeface="Calibri"/>
                <a:cs typeface="Calibri"/>
              </a:rPr>
              <a:t>adaptasi</a:t>
            </a:r>
            <a:r>
              <a:rPr lang="en-US" dirty="0">
                <a:solidFill>
                  <a:srgbClr val="5B7169"/>
                </a:solidFill>
                <a:latin typeface="Calibri"/>
                <a:ea typeface="Calibri"/>
                <a:cs typeface="Calibri"/>
              </a:rPr>
              <a:t> </a:t>
            </a:r>
            <a:r>
              <a:rPr lang="en-US" dirty="0" err="1">
                <a:solidFill>
                  <a:srgbClr val="5B7169"/>
                </a:solidFill>
                <a:latin typeface="Calibri"/>
                <a:ea typeface="Calibri"/>
                <a:cs typeface="Calibri"/>
              </a:rPr>
              <a:t>penting</a:t>
            </a:r>
            <a:r>
              <a:rPr lang="en-US" dirty="0">
                <a:solidFill>
                  <a:srgbClr val="5B7169"/>
                </a:solidFill>
                <a:latin typeface="Calibri"/>
                <a:ea typeface="Calibri"/>
                <a:cs typeface="Calibri"/>
              </a:rPr>
              <a:t>.</a:t>
            </a:r>
            <a:endParaRPr sz="1800" b="0" dirty="0">
              <a:solidFill>
                <a:srgbClr val="5B7169"/>
              </a:solidFill>
              <a:latin typeface="Calibri"/>
              <a:ea typeface="Calibri"/>
              <a:cs typeface="Calibri"/>
            </a:endParaRPr>
          </a:p>
        </p:txBody>
      </p:sp>
      <p:sp>
        <p:nvSpPr>
          <p:cNvPr id="7" name="text-44">
            <a:extLst>
              <a:ext uri="{FF2B5EF4-FFF2-40B4-BE49-F238E27FC236}">
                <a16:creationId xmlns:a16="http://schemas.microsoft.com/office/drawing/2014/main" id="{254CCB11-B71B-450E-B448-4246F17038CB}"/>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8" name="text-45">
            <a:extLst>
              <a:ext uri="{FF2B5EF4-FFF2-40B4-BE49-F238E27FC236}">
                <a16:creationId xmlns:a16="http://schemas.microsoft.com/office/drawing/2014/main" id="{95EDDA59-414E-4820-BF8E-9A57CBC683FA}"/>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05</a:t>
            </a:r>
          </a:p>
        </p:txBody>
      </p:sp>
      <p:sp>
        <p:nvSpPr>
          <p:cNvPr id="9" name="Straight Connector 8">
            <a:extLst>
              <a:ext uri="{FF2B5EF4-FFF2-40B4-BE49-F238E27FC236}">
                <a16:creationId xmlns:a16="http://schemas.microsoft.com/office/drawing/2014/main" id="{526D7CF3-A284-4942-9A7D-BFA56395789C}"/>
              </a:ext>
            </a:extLst>
          </p:cNvPr>
          <p:cNvSpPr>
            <a:spLocks noGrp="1"/>
          </p:cNvSpPr>
          <p:nvPr/>
        </p:nvSpPr>
        <p:spPr>
          <a:xfrm>
            <a:off x="1103681" y="3776472"/>
            <a:ext cx="9985248" cy="0"/>
          </a:xfrm>
          <a:prstGeom prst="line">
            <a:avLst/>
          </a:prstGeom>
          <a:noFill/>
          <a:ln w="38100">
            <a:solidFill>
              <a:srgbClr val="9AB6A5"/>
            </a:solidFill>
          </a:ln>
        </p:spPr>
        <p:txBody>
          <a:bodyPr/>
          <a:lstStyle/>
          <a:p>
            <a:endParaRPr/>
          </a:p>
        </p:txBody>
      </p:sp>
      <p:sp>
        <p:nvSpPr>
          <p:cNvPr id="10" name="Oval 9">
            <a:extLst>
              <a:ext uri="{FF2B5EF4-FFF2-40B4-BE49-F238E27FC236}">
                <a16:creationId xmlns:a16="http://schemas.microsoft.com/office/drawing/2014/main" id="{110EF0D6-0AA6-4322-B4CD-06A4A2A209D0}"/>
              </a:ext>
            </a:extLst>
          </p:cNvPr>
          <p:cNvSpPr>
            <a:spLocks noGrp="1"/>
          </p:cNvSpPr>
          <p:nvPr/>
        </p:nvSpPr>
        <p:spPr>
          <a:xfrm>
            <a:off x="1304483" y="3538362"/>
            <a:ext cx="476250" cy="476250"/>
          </a:xfrm>
          <a:prstGeom prst="ellipse">
            <a:avLst/>
          </a:prstGeom>
          <a:solidFill>
            <a:srgbClr val="FFFFFF"/>
          </a:solidFill>
          <a:ln w="28575">
            <a:solidFill>
              <a:srgbClr val="087958"/>
            </a:solidFill>
          </a:ln>
        </p:spPr>
        <p:txBody>
          <a:bodyPr/>
          <a:lstStyle/>
          <a:p>
            <a:endParaRPr/>
          </a:p>
        </p:txBody>
      </p:sp>
      <p:sp>
        <p:nvSpPr>
          <p:cNvPr id="11" name="text-46">
            <a:extLst>
              <a:ext uri="{FF2B5EF4-FFF2-40B4-BE49-F238E27FC236}">
                <a16:creationId xmlns:a16="http://schemas.microsoft.com/office/drawing/2014/main" id="{108AE72C-D4CB-4F63-BD8E-B42347F492C0}"/>
              </a:ext>
            </a:extLst>
          </p:cNvPr>
          <p:cNvSpPr>
            <a:spLocks noGrp="1"/>
          </p:cNvSpPr>
          <p:nvPr/>
        </p:nvSpPr>
        <p:spPr>
          <a:xfrm>
            <a:off x="1304483" y="3538362"/>
            <a:ext cx="476220" cy="476220"/>
          </a:xfrm>
          <a:prstGeom prst="rect">
            <a:avLst/>
          </a:prstGeom>
          <a:noFill/>
          <a:ln w="0">
            <a:noFill/>
          </a:ln>
        </p:spPr>
        <p:txBody>
          <a:bodyPr wrap="square" lIns="0" tIns="0" rIns="0" bIns="0" anchor="ctr">
            <a:noAutofit/>
          </a:bodyPr>
          <a:lstStyle/>
          <a:p>
            <a:pPr algn="ctr">
              <a:defRPr sz="1800" b="1">
                <a:solidFill>
                  <a:srgbClr val="087958"/>
                </a:solidFill>
                <a:latin typeface="Calibri"/>
                <a:ea typeface="Calibri"/>
                <a:cs typeface="Calibri"/>
              </a:defRPr>
            </a:pPr>
            <a:r>
              <a:rPr sz="1800" b="1">
                <a:solidFill>
                  <a:srgbClr val="087958"/>
                </a:solidFill>
                <a:latin typeface="Calibri"/>
                <a:ea typeface="Calibri"/>
                <a:cs typeface="Calibri"/>
              </a:rPr>
              <a:t>1</a:t>
            </a:r>
          </a:p>
        </p:txBody>
      </p:sp>
      <p:sp>
        <p:nvSpPr>
          <p:cNvPr id="12" name="text-47">
            <a:extLst>
              <a:ext uri="{FF2B5EF4-FFF2-40B4-BE49-F238E27FC236}">
                <a16:creationId xmlns:a16="http://schemas.microsoft.com/office/drawing/2014/main" id="{E725757F-3BCF-46E1-9E0F-B35025F441ED}"/>
              </a:ext>
            </a:extLst>
          </p:cNvPr>
          <p:cNvSpPr>
            <a:spLocks noGrp="1"/>
          </p:cNvSpPr>
          <p:nvPr/>
        </p:nvSpPr>
        <p:spPr>
          <a:xfrm>
            <a:off x="445313" y="2249058"/>
            <a:ext cx="2194560" cy="381000"/>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Mulai</a:t>
            </a:r>
          </a:p>
        </p:txBody>
      </p:sp>
      <p:sp>
        <p:nvSpPr>
          <p:cNvPr id="13" name="text-48">
            <a:extLst>
              <a:ext uri="{FF2B5EF4-FFF2-40B4-BE49-F238E27FC236}">
                <a16:creationId xmlns:a16="http://schemas.microsoft.com/office/drawing/2014/main" id="{2EF1375D-0F5E-4307-9B21-7607A1231DB2}"/>
              </a:ext>
            </a:extLst>
          </p:cNvPr>
          <p:cNvSpPr>
            <a:spLocks noGrp="1"/>
          </p:cNvSpPr>
          <p:nvPr/>
        </p:nvSpPr>
        <p:spPr>
          <a:xfrm>
            <a:off x="445313" y="2697114"/>
            <a:ext cx="2194560" cy="557784"/>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Buka obrolan</a:t>
            </a:r>
          </a:p>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dengan buyer.</a:t>
            </a:r>
          </a:p>
        </p:txBody>
      </p:sp>
      <p:sp>
        <p:nvSpPr>
          <p:cNvPr id="14" name="Straight Connector 13">
            <a:extLst>
              <a:ext uri="{FF2B5EF4-FFF2-40B4-BE49-F238E27FC236}">
                <a16:creationId xmlns:a16="http://schemas.microsoft.com/office/drawing/2014/main" id="{093EE0E3-5B15-42EF-9267-5D3467E1A9E4}"/>
              </a:ext>
            </a:extLst>
          </p:cNvPr>
          <p:cNvSpPr>
            <a:spLocks noGrp="1"/>
          </p:cNvSpPr>
          <p:nvPr/>
        </p:nvSpPr>
        <p:spPr>
          <a:xfrm>
            <a:off x="1542593" y="3318906"/>
            <a:ext cx="0" cy="219456"/>
          </a:xfrm>
          <a:prstGeom prst="line">
            <a:avLst/>
          </a:prstGeom>
          <a:noFill/>
          <a:ln w="9525">
            <a:solidFill>
              <a:srgbClr val="CEDDD4"/>
            </a:solidFill>
          </a:ln>
        </p:spPr>
        <p:txBody>
          <a:bodyPr/>
          <a:lstStyle/>
          <a:p>
            <a:endParaRPr/>
          </a:p>
        </p:txBody>
      </p:sp>
      <p:sp>
        <p:nvSpPr>
          <p:cNvPr id="15" name="text-49">
            <a:extLst>
              <a:ext uri="{FF2B5EF4-FFF2-40B4-BE49-F238E27FC236}">
                <a16:creationId xmlns:a16="http://schemas.microsoft.com/office/drawing/2014/main" id="{AFA394D8-B762-4F7A-9B08-AB15279EC32E}"/>
              </a:ext>
            </a:extLst>
          </p:cNvPr>
          <p:cNvSpPr>
            <a:spLocks noGrp="1"/>
          </p:cNvSpPr>
          <p:nvPr/>
        </p:nvSpPr>
        <p:spPr>
          <a:xfrm>
            <a:off x="445313" y="4122910"/>
            <a:ext cx="2194560" cy="266700"/>
          </a:xfrm>
          <a:prstGeom prst="rect">
            <a:avLst/>
          </a:prstGeom>
          <a:noFill/>
          <a:ln w="0">
            <a:noFill/>
          </a:ln>
        </p:spPr>
        <p:txBody>
          <a:bodyPr wrap="square" lIns="0" tIns="0" rIns="0" bIns="0" anchor="t">
            <a:noAutofit/>
          </a:bodyPr>
          <a:lstStyle/>
          <a:p>
            <a:pPr algn="ctr">
              <a:defRPr sz="1275" b="1">
                <a:solidFill>
                  <a:srgbClr val="5B7169"/>
                </a:solidFill>
                <a:latin typeface="Calibri"/>
                <a:ea typeface="Calibri"/>
                <a:cs typeface="Calibri"/>
              </a:defRPr>
            </a:pPr>
            <a:r>
              <a:rPr sz="1275" b="1">
                <a:solidFill>
                  <a:srgbClr val="5B7169"/>
                </a:solidFill>
                <a:latin typeface="Calibri"/>
                <a:ea typeface="Calibri"/>
                <a:cs typeface="Calibri"/>
              </a:rPr>
              <a:t>Cari tahu kebutuhannya</a:t>
            </a:r>
          </a:p>
        </p:txBody>
      </p:sp>
      <p:sp>
        <p:nvSpPr>
          <p:cNvPr id="16" name="Oval 15">
            <a:extLst>
              <a:ext uri="{FF2B5EF4-FFF2-40B4-BE49-F238E27FC236}">
                <a16:creationId xmlns:a16="http://schemas.microsoft.com/office/drawing/2014/main" id="{52B12427-E246-4FBC-9C31-0F7E73618B04}"/>
              </a:ext>
            </a:extLst>
          </p:cNvPr>
          <p:cNvSpPr>
            <a:spLocks noGrp="1"/>
          </p:cNvSpPr>
          <p:nvPr/>
        </p:nvSpPr>
        <p:spPr>
          <a:xfrm>
            <a:off x="3581339" y="3538362"/>
            <a:ext cx="476250" cy="476250"/>
          </a:xfrm>
          <a:prstGeom prst="ellipse">
            <a:avLst/>
          </a:prstGeom>
          <a:solidFill>
            <a:srgbClr val="FFFFFF"/>
          </a:solidFill>
          <a:ln w="28575">
            <a:solidFill>
              <a:srgbClr val="087958"/>
            </a:solidFill>
          </a:ln>
        </p:spPr>
        <p:txBody>
          <a:bodyPr/>
          <a:lstStyle/>
          <a:p>
            <a:endParaRPr/>
          </a:p>
        </p:txBody>
      </p:sp>
      <p:sp>
        <p:nvSpPr>
          <p:cNvPr id="17" name="text-50">
            <a:extLst>
              <a:ext uri="{FF2B5EF4-FFF2-40B4-BE49-F238E27FC236}">
                <a16:creationId xmlns:a16="http://schemas.microsoft.com/office/drawing/2014/main" id="{C64271EC-AD05-4338-AA9E-FCEFDE0B23C0}"/>
              </a:ext>
            </a:extLst>
          </p:cNvPr>
          <p:cNvSpPr>
            <a:spLocks noGrp="1"/>
          </p:cNvSpPr>
          <p:nvPr/>
        </p:nvSpPr>
        <p:spPr>
          <a:xfrm>
            <a:off x="3581339" y="3538362"/>
            <a:ext cx="476220" cy="476220"/>
          </a:xfrm>
          <a:prstGeom prst="rect">
            <a:avLst/>
          </a:prstGeom>
          <a:noFill/>
          <a:ln w="0">
            <a:noFill/>
          </a:ln>
        </p:spPr>
        <p:txBody>
          <a:bodyPr wrap="square" lIns="0" tIns="0" rIns="0" bIns="0" anchor="ctr">
            <a:noAutofit/>
          </a:bodyPr>
          <a:lstStyle/>
          <a:p>
            <a:pPr algn="ctr">
              <a:defRPr sz="1800" b="1">
                <a:solidFill>
                  <a:srgbClr val="087958"/>
                </a:solidFill>
                <a:latin typeface="Calibri"/>
                <a:ea typeface="Calibri"/>
                <a:cs typeface="Calibri"/>
              </a:defRPr>
            </a:pPr>
            <a:r>
              <a:rPr sz="1800" b="1">
                <a:solidFill>
                  <a:srgbClr val="087958"/>
                </a:solidFill>
                <a:latin typeface="Calibri"/>
                <a:ea typeface="Calibri"/>
                <a:cs typeface="Calibri"/>
              </a:rPr>
              <a:t>2</a:t>
            </a:r>
          </a:p>
        </p:txBody>
      </p:sp>
      <p:sp>
        <p:nvSpPr>
          <p:cNvPr id="18" name="text-51">
            <a:extLst>
              <a:ext uri="{FF2B5EF4-FFF2-40B4-BE49-F238E27FC236}">
                <a16:creationId xmlns:a16="http://schemas.microsoft.com/office/drawing/2014/main" id="{70E98474-1DD7-47AE-9781-3AC0A514BA1E}"/>
              </a:ext>
            </a:extLst>
          </p:cNvPr>
          <p:cNvSpPr>
            <a:spLocks noGrp="1"/>
          </p:cNvSpPr>
          <p:nvPr/>
        </p:nvSpPr>
        <p:spPr>
          <a:xfrm>
            <a:off x="2722169" y="4242325"/>
            <a:ext cx="2194560" cy="381000"/>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Adaptasi</a:t>
            </a:r>
          </a:p>
        </p:txBody>
      </p:sp>
      <p:sp>
        <p:nvSpPr>
          <p:cNvPr id="19" name="text-52">
            <a:extLst>
              <a:ext uri="{FF2B5EF4-FFF2-40B4-BE49-F238E27FC236}">
                <a16:creationId xmlns:a16="http://schemas.microsoft.com/office/drawing/2014/main" id="{A46F4144-37D9-423D-875D-ECCF6F975972}"/>
              </a:ext>
            </a:extLst>
          </p:cNvPr>
          <p:cNvSpPr>
            <a:spLocks noGrp="1"/>
          </p:cNvSpPr>
          <p:nvPr/>
        </p:nvSpPr>
        <p:spPr>
          <a:xfrm>
            <a:off x="2722169" y="4690381"/>
            <a:ext cx="2194560" cy="666750"/>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Sesuaikan ukuran,</a:t>
            </a:r>
          </a:p>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packaging, harga.</a:t>
            </a:r>
          </a:p>
        </p:txBody>
      </p:sp>
      <p:sp>
        <p:nvSpPr>
          <p:cNvPr id="20" name="text-53">
            <a:extLst>
              <a:ext uri="{FF2B5EF4-FFF2-40B4-BE49-F238E27FC236}">
                <a16:creationId xmlns:a16="http://schemas.microsoft.com/office/drawing/2014/main" id="{E24EA557-4195-4078-847D-F99366A573A3}"/>
              </a:ext>
            </a:extLst>
          </p:cNvPr>
          <p:cNvSpPr>
            <a:spLocks noGrp="1"/>
          </p:cNvSpPr>
          <p:nvPr/>
        </p:nvSpPr>
        <p:spPr>
          <a:xfrm>
            <a:off x="2722169" y="3204082"/>
            <a:ext cx="2194560" cy="266700"/>
          </a:xfrm>
          <a:prstGeom prst="rect">
            <a:avLst/>
          </a:prstGeom>
          <a:noFill/>
          <a:ln w="0">
            <a:noFill/>
          </a:ln>
        </p:spPr>
        <p:txBody>
          <a:bodyPr wrap="square" lIns="0" tIns="0" rIns="0" bIns="0" anchor="t">
            <a:noAutofit/>
          </a:bodyPr>
          <a:lstStyle/>
          <a:p>
            <a:pPr algn="ctr">
              <a:defRPr sz="1275" b="1">
                <a:solidFill>
                  <a:srgbClr val="5B7169"/>
                </a:solidFill>
                <a:latin typeface="Calibri"/>
                <a:ea typeface="Calibri"/>
                <a:cs typeface="Calibri"/>
              </a:defRPr>
            </a:pPr>
            <a:r>
              <a:rPr sz="1275" b="1">
                <a:solidFill>
                  <a:srgbClr val="5B7169"/>
                </a:solidFill>
                <a:latin typeface="Calibri"/>
                <a:ea typeface="Calibri"/>
                <a:cs typeface="Calibri"/>
              </a:rPr>
              <a:t>Feedback buyer</a:t>
            </a:r>
          </a:p>
        </p:txBody>
      </p:sp>
      <p:sp>
        <p:nvSpPr>
          <p:cNvPr id="21" name="Straight Connector 20">
            <a:extLst>
              <a:ext uri="{FF2B5EF4-FFF2-40B4-BE49-F238E27FC236}">
                <a16:creationId xmlns:a16="http://schemas.microsoft.com/office/drawing/2014/main" id="{A98CDD57-AAFD-439E-A802-D6C4A54B1DA5}"/>
              </a:ext>
            </a:extLst>
          </p:cNvPr>
          <p:cNvSpPr>
            <a:spLocks noGrp="1"/>
          </p:cNvSpPr>
          <p:nvPr/>
        </p:nvSpPr>
        <p:spPr>
          <a:xfrm>
            <a:off x="3819449" y="4014582"/>
            <a:ext cx="0" cy="219456"/>
          </a:xfrm>
          <a:prstGeom prst="line">
            <a:avLst/>
          </a:prstGeom>
          <a:noFill/>
          <a:ln w="9525">
            <a:solidFill>
              <a:srgbClr val="CEDDD4"/>
            </a:solidFill>
          </a:ln>
        </p:spPr>
        <p:txBody>
          <a:bodyPr/>
          <a:lstStyle/>
          <a:p>
            <a:endParaRPr/>
          </a:p>
        </p:txBody>
      </p:sp>
      <p:sp>
        <p:nvSpPr>
          <p:cNvPr id="22" name="Oval 21">
            <a:extLst>
              <a:ext uri="{FF2B5EF4-FFF2-40B4-BE49-F238E27FC236}">
                <a16:creationId xmlns:a16="http://schemas.microsoft.com/office/drawing/2014/main" id="{95DBE4BF-A09A-42B3-AA50-F55CE4A53846}"/>
              </a:ext>
            </a:extLst>
          </p:cNvPr>
          <p:cNvSpPr>
            <a:spLocks noGrp="1"/>
          </p:cNvSpPr>
          <p:nvPr/>
        </p:nvSpPr>
        <p:spPr>
          <a:xfrm>
            <a:off x="5858195" y="3538362"/>
            <a:ext cx="476250" cy="476250"/>
          </a:xfrm>
          <a:prstGeom prst="ellipse">
            <a:avLst/>
          </a:prstGeom>
          <a:solidFill>
            <a:srgbClr val="FFFFFF"/>
          </a:solidFill>
          <a:ln w="28575">
            <a:solidFill>
              <a:srgbClr val="087958"/>
            </a:solidFill>
          </a:ln>
        </p:spPr>
        <p:txBody>
          <a:bodyPr/>
          <a:lstStyle/>
          <a:p>
            <a:endParaRPr/>
          </a:p>
        </p:txBody>
      </p:sp>
      <p:sp>
        <p:nvSpPr>
          <p:cNvPr id="23" name="text-54">
            <a:extLst>
              <a:ext uri="{FF2B5EF4-FFF2-40B4-BE49-F238E27FC236}">
                <a16:creationId xmlns:a16="http://schemas.microsoft.com/office/drawing/2014/main" id="{25BCF151-05EE-458B-AE6F-9CFF85151D51}"/>
              </a:ext>
            </a:extLst>
          </p:cNvPr>
          <p:cNvSpPr>
            <a:spLocks noGrp="1"/>
          </p:cNvSpPr>
          <p:nvPr/>
        </p:nvSpPr>
        <p:spPr>
          <a:xfrm>
            <a:off x="5858195" y="3538362"/>
            <a:ext cx="476220" cy="476220"/>
          </a:xfrm>
          <a:prstGeom prst="rect">
            <a:avLst/>
          </a:prstGeom>
          <a:noFill/>
          <a:ln w="0">
            <a:noFill/>
          </a:ln>
        </p:spPr>
        <p:txBody>
          <a:bodyPr wrap="square" lIns="0" tIns="0" rIns="0" bIns="0" anchor="ctr">
            <a:noAutofit/>
          </a:bodyPr>
          <a:lstStyle/>
          <a:p>
            <a:pPr algn="ctr">
              <a:defRPr sz="1800" b="1">
                <a:solidFill>
                  <a:srgbClr val="087958"/>
                </a:solidFill>
                <a:latin typeface="Calibri"/>
                <a:ea typeface="Calibri"/>
                <a:cs typeface="Calibri"/>
              </a:defRPr>
            </a:pPr>
            <a:r>
              <a:rPr sz="1800" b="1">
                <a:solidFill>
                  <a:srgbClr val="087958"/>
                </a:solidFill>
                <a:latin typeface="Calibri"/>
                <a:ea typeface="Calibri"/>
                <a:cs typeface="Calibri"/>
              </a:rPr>
              <a:t>3</a:t>
            </a:r>
          </a:p>
        </p:txBody>
      </p:sp>
      <p:sp>
        <p:nvSpPr>
          <p:cNvPr id="24" name="text-55">
            <a:extLst>
              <a:ext uri="{FF2B5EF4-FFF2-40B4-BE49-F238E27FC236}">
                <a16:creationId xmlns:a16="http://schemas.microsoft.com/office/drawing/2014/main" id="{DC89285D-4222-41BB-BB80-1F89B0F61032}"/>
              </a:ext>
            </a:extLst>
          </p:cNvPr>
          <p:cNvSpPr>
            <a:spLocks noGrp="1"/>
          </p:cNvSpPr>
          <p:nvPr/>
        </p:nvSpPr>
        <p:spPr>
          <a:xfrm>
            <a:off x="4999025" y="2249058"/>
            <a:ext cx="2194560" cy="381000"/>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Tes</a:t>
            </a:r>
          </a:p>
        </p:txBody>
      </p:sp>
      <p:sp>
        <p:nvSpPr>
          <p:cNvPr id="25" name="text-56">
            <a:extLst>
              <a:ext uri="{FF2B5EF4-FFF2-40B4-BE49-F238E27FC236}">
                <a16:creationId xmlns:a16="http://schemas.microsoft.com/office/drawing/2014/main" id="{E9467436-921E-43EC-BDF8-BEA34C835E1F}"/>
              </a:ext>
            </a:extLst>
          </p:cNvPr>
          <p:cNvSpPr>
            <a:spLocks noGrp="1"/>
          </p:cNvSpPr>
          <p:nvPr/>
        </p:nvSpPr>
        <p:spPr>
          <a:xfrm>
            <a:off x="4999025" y="2697114"/>
            <a:ext cx="2194560" cy="557784"/>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dirty="0" err="1">
                <a:solidFill>
                  <a:srgbClr val="173D34"/>
                </a:solidFill>
                <a:latin typeface="Calibri"/>
                <a:ea typeface="Calibri"/>
                <a:cs typeface="Calibri"/>
              </a:rPr>
              <a:t>Tes</a:t>
            </a:r>
            <a:r>
              <a:rPr sz="1800" b="0" dirty="0">
                <a:solidFill>
                  <a:srgbClr val="173D34"/>
                </a:solidFill>
                <a:latin typeface="Calibri"/>
                <a:ea typeface="Calibri"/>
                <a:cs typeface="Calibri"/>
              </a:rPr>
              <a:t> </a:t>
            </a:r>
            <a:r>
              <a:rPr sz="1800" b="0" dirty="0" err="1">
                <a:solidFill>
                  <a:srgbClr val="173D34"/>
                </a:solidFill>
                <a:latin typeface="Calibri"/>
                <a:ea typeface="Calibri"/>
                <a:cs typeface="Calibri"/>
              </a:rPr>
              <a:t>pakai</a:t>
            </a:r>
            <a:r>
              <a:rPr sz="1800" b="0" dirty="0">
                <a:solidFill>
                  <a:srgbClr val="173D34"/>
                </a:solidFill>
                <a:latin typeface="Calibri"/>
                <a:ea typeface="Calibri"/>
                <a:cs typeface="Calibri"/>
              </a:rPr>
              <a:t> </a:t>
            </a:r>
            <a:r>
              <a:rPr lang="en-US" sz="1800" b="0" dirty="0">
                <a:solidFill>
                  <a:srgbClr val="173D34"/>
                </a:solidFill>
                <a:latin typeface="Calibri"/>
                <a:ea typeface="Calibri"/>
                <a:cs typeface="Calibri"/>
              </a:rPr>
              <a:t>sample</a:t>
            </a:r>
            <a:r>
              <a:rPr sz="1800" b="0" dirty="0">
                <a:solidFill>
                  <a:srgbClr val="173D34"/>
                </a:solidFill>
                <a:latin typeface="Calibri"/>
                <a:ea typeface="Calibri"/>
                <a:cs typeface="Calibri"/>
              </a:rPr>
              <a:t>,</a:t>
            </a:r>
          </a:p>
          <a:p>
            <a:pPr algn="ctr">
              <a:defRPr sz="1800" b="0">
                <a:solidFill>
                  <a:srgbClr val="173D34"/>
                </a:solidFill>
                <a:latin typeface="Calibri"/>
                <a:ea typeface="Calibri"/>
                <a:cs typeface="Calibri"/>
              </a:defRPr>
            </a:pPr>
            <a:r>
              <a:rPr lang="en-US" sz="1800" b="0" dirty="0">
                <a:solidFill>
                  <a:srgbClr val="173D34"/>
                </a:solidFill>
                <a:latin typeface="Calibri"/>
                <a:ea typeface="Calibri"/>
                <a:cs typeface="Calibri"/>
              </a:rPr>
              <a:t>Jaga </a:t>
            </a:r>
            <a:r>
              <a:rPr sz="1800" b="0" dirty="0" err="1">
                <a:solidFill>
                  <a:srgbClr val="173D34"/>
                </a:solidFill>
                <a:latin typeface="Calibri"/>
                <a:ea typeface="Calibri"/>
                <a:cs typeface="Calibri"/>
              </a:rPr>
              <a:t>risiko</a:t>
            </a:r>
            <a:r>
              <a:rPr sz="1800" b="0" dirty="0">
                <a:solidFill>
                  <a:srgbClr val="173D34"/>
                </a:solidFill>
                <a:latin typeface="Calibri"/>
                <a:ea typeface="Calibri"/>
                <a:cs typeface="Calibri"/>
              </a:rPr>
              <a:t> </a:t>
            </a:r>
            <a:r>
              <a:rPr sz="1800" b="0" dirty="0" err="1">
                <a:solidFill>
                  <a:srgbClr val="173D34"/>
                </a:solidFill>
                <a:latin typeface="Calibri"/>
                <a:ea typeface="Calibri"/>
                <a:cs typeface="Calibri"/>
              </a:rPr>
              <a:t>tetap</a:t>
            </a:r>
            <a:r>
              <a:rPr sz="1800" b="0" dirty="0">
                <a:solidFill>
                  <a:srgbClr val="173D34"/>
                </a:solidFill>
                <a:latin typeface="Calibri"/>
                <a:ea typeface="Calibri"/>
                <a:cs typeface="Calibri"/>
              </a:rPr>
              <a:t> </a:t>
            </a:r>
            <a:r>
              <a:rPr sz="1800" b="0" dirty="0" err="1">
                <a:solidFill>
                  <a:srgbClr val="173D34"/>
                </a:solidFill>
                <a:latin typeface="Calibri"/>
                <a:ea typeface="Calibri"/>
                <a:cs typeface="Calibri"/>
              </a:rPr>
              <a:t>kecil</a:t>
            </a:r>
            <a:r>
              <a:rPr sz="1800" b="0" dirty="0">
                <a:solidFill>
                  <a:srgbClr val="173D34"/>
                </a:solidFill>
                <a:latin typeface="Calibri"/>
                <a:ea typeface="Calibri"/>
                <a:cs typeface="Calibri"/>
              </a:rPr>
              <a:t>.</a:t>
            </a:r>
          </a:p>
        </p:txBody>
      </p:sp>
      <p:sp>
        <p:nvSpPr>
          <p:cNvPr id="26" name="Straight Connector 25">
            <a:extLst>
              <a:ext uri="{FF2B5EF4-FFF2-40B4-BE49-F238E27FC236}">
                <a16:creationId xmlns:a16="http://schemas.microsoft.com/office/drawing/2014/main" id="{00D3143E-E65D-44BF-BF74-60C473889890}"/>
              </a:ext>
            </a:extLst>
          </p:cNvPr>
          <p:cNvSpPr>
            <a:spLocks noGrp="1"/>
          </p:cNvSpPr>
          <p:nvPr/>
        </p:nvSpPr>
        <p:spPr>
          <a:xfrm>
            <a:off x="6096305" y="3318906"/>
            <a:ext cx="0" cy="219456"/>
          </a:xfrm>
          <a:prstGeom prst="line">
            <a:avLst/>
          </a:prstGeom>
          <a:noFill/>
          <a:ln w="9525">
            <a:solidFill>
              <a:srgbClr val="CEDDD4"/>
            </a:solidFill>
          </a:ln>
        </p:spPr>
        <p:txBody>
          <a:bodyPr/>
          <a:lstStyle/>
          <a:p>
            <a:endParaRPr/>
          </a:p>
        </p:txBody>
      </p:sp>
      <p:sp>
        <p:nvSpPr>
          <p:cNvPr id="27" name="text-57">
            <a:extLst>
              <a:ext uri="{FF2B5EF4-FFF2-40B4-BE49-F238E27FC236}">
                <a16:creationId xmlns:a16="http://schemas.microsoft.com/office/drawing/2014/main" id="{1A3EC5C3-9891-499C-B97A-D49AB26F081F}"/>
              </a:ext>
            </a:extLst>
          </p:cNvPr>
          <p:cNvSpPr>
            <a:spLocks noGrp="1"/>
          </p:cNvSpPr>
          <p:nvPr/>
        </p:nvSpPr>
        <p:spPr>
          <a:xfrm>
            <a:off x="4999025" y="4122910"/>
            <a:ext cx="2194560" cy="266700"/>
          </a:xfrm>
          <a:prstGeom prst="rect">
            <a:avLst/>
          </a:prstGeom>
          <a:noFill/>
          <a:ln w="0">
            <a:noFill/>
          </a:ln>
        </p:spPr>
        <p:txBody>
          <a:bodyPr wrap="square" lIns="0" tIns="0" rIns="0" bIns="0" anchor="t">
            <a:noAutofit/>
          </a:bodyPr>
          <a:lstStyle/>
          <a:p>
            <a:pPr algn="ctr">
              <a:defRPr sz="1275" b="1">
                <a:solidFill>
                  <a:srgbClr val="5B7169"/>
                </a:solidFill>
                <a:latin typeface="Calibri"/>
                <a:ea typeface="Calibri"/>
                <a:cs typeface="Calibri"/>
              </a:defRPr>
            </a:pPr>
            <a:r>
              <a:rPr sz="1275" b="1">
                <a:solidFill>
                  <a:srgbClr val="5B7169"/>
                </a:solidFill>
                <a:latin typeface="Calibri"/>
                <a:ea typeface="Calibri"/>
                <a:cs typeface="Calibri"/>
              </a:rPr>
              <a:t>Hasil tes</a:t>
            </a:r>
          </a:p>
        </p:txBody>
      </p:sp>
      <p:sp>
        <p:nvSpPr>
          <p:cNvPr id="28" name="Oval 27">
            <a:extLst>
              <a:ext uri="{FF2B5EF4-FFF2-40B4-BE49-F238E27FC236}">
                <a16:creationId xmlns:a16="http://schemas.microsoft.com/office/drawing/2014/main" id="{7299F04B-DCB7-423F-A8C5-294FB66F4FC4}"/>
              </a:ext>
            </a:extLst>
          </p:cNvPr>
          <p:cNvSpPr>
            <a:spLocks noGrp="1"/>
          </p:cNvSpPr>
          <p:nvPr/>
        </p:nvSpPr>
        <p:spPr>
          <a:xfrm>
            <a:off x="8135051" y="3538362"/>
            <a:ext cx="476250" cy="476250"/>
          </a:xfrm>
          <a:prstGeom prst="ellipse">
            <a:avLst/>
          </a:prstGeom>
          <a:solidFill>
            <a:srgbClr val="FFFFFF"/>
          </a:solidFill>
          <a:ln w="28575">
            <a:solidFill>
              <a:srgbClr val="087958"/>
            </a:solidFill>
          </a:ln>
        </p:spPr>
        <p:txBody>
          <a:bodyPr/>
          <a:lstStyle/>
          <a:p>
            <a:endParaRPr/>
          </a:p>
        </p:txBody>
      </p:sp>
      <p:sp>
        <p:nvSpPr>
          <p:cNvPr id="29" name="text-58">
            <a:extLst>
              <a:ext uri="{FF2B5EF4-FFF2-40B4-BE49-F238E27FC236}">
                <a16:creationId xmlns:a16="http://schemas.microsoft.com/office/drawing/2014/main" id="{9EA0885E-C586-4F42-A868-761E43D968FC}"/>
              </a:ext>
            </a:extLst>
          </p:cNvPr>
          <p:cNvSpPr>
            <a:spLocks noGrp="1"/>
          </p:cNvSpPr>
          <p:nvPr/>
        </p:nvSpPr>
        <p:spPr>
          <a:xfrm>
            <a:off x="8135051" y="3538362"/>
            <a:ext cx="476220" cy="476220"/>
          </a:xfrm>
          <a:prstGeom prst="rect">
            <a:avLst/>
          </a:prstGeom>
          <a:noFill/>
          <a:ln w="0">
            <a:noFill/>
          </a:ln>
        </p:spPr>
        <p:txBody>
          <a:bodyPr wrap="square" lIns="0" tIns="0" rIns="0" bIns="0" anchor="ctr">
            <a:noAutofit/>
          </a:bodyPr>
          <a:lstStyle/>
          <a:p>
            <a:pPr algn="ctr">
              <a:defRPr sz="1800" b="1">
                <a:solidFill>
                  <a:srgbClr val="087958"/>
                </a:solidFill>
                <a:latin typeface="Calibri"/>
                <a:ea typeface="Calibri"/>
                <a:cs typeface="Calibri"/>
              </a:defRPr>
            </a:pPr>
            <a:r>
              <a:rPr sz="1800" b="1">
                <a:solidFill>
                  <a:srgbClr val="087958"/>
                </a:solidFill>
                <a:latin typeface="Calibri"/>
                <a:ea typeface="Calibri"/>
                <a:cs typeface="Calibri"/>
              </a:rPr>
              <a:t>4</a:t>
            </a:r>
          </a:p>
        </p:txBody>
      </p:sp>
      <p:sp>
        <p:nvSpPr>
          <p:cNvPr id="30" name="text-59">
            <a:extLst>
              <a:ext uri="{FF2B5EF4-FFF2-40B4-BE49-F238E27FC236}">
                <a16:creationId xmlns:a16="http://schemas.microsoft.com/office/drawing/2014/main" id="{75A420E8-45D3-4441-B1B5-225D67633760}"/>
              </a:ext>
            </a:extLst>
          </p:cNvPr>
          <p:cNvSpPr>
            <a:spLocks noGrp="1"/>
          </p:cNvSpPr>
          <p:nvPr/>
        </p:nvSpPr>
        <p:spPr>
          <a:xfrm>
            <a:off x="7275881" y="4242325"/>
            <a:ext cx="2194560" cy="381000"/>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Bangun tim</a:t>
            </a:r>
          </a:p>
        </p:txBody>
      </p:sp>
      <p:sp>
        <p:nvSpPr>
          <p:cNvPr id="31" name="text-60">
            <a:extLst>
              <a:ext uri="{FF2B5EF4-FFF2-40B4-BE49-F238E27FC236}">
                <a16:creationId xmlns:a16="http://schemas.microsoft.com/office/drawing/2014/main" id="{171C3C54-50D9-4C7F-B590-B785AB2A28C1}"/>
              </a:ext>
            </a:extLst>
          </p:cNvPr>
          <p:cNvSpPr>
            <a:spLocks noGrp="1"/>
          </p:cNvSpPr>
          <p:nvPr/>
        </p:nvSpPr>
        <p:spPr>
          <a:xfrm>
            <a:off x="7275881" y="4690381"/>
            <a:ext cx="2194560" cy="666750"/>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dirty="0">
                <a:solidFill>
                  <a:srgbClr val="173D34"/>
                </a:solidFill>
                <a:latin typeface="Calibri"/>
                <a:ea typeface="Calibri"/>
                <a:cs typeface="Calibri"/>
              </a:rPr>
              <a:t>Isi orang di </a:t>
            </a:r>
            <a:r>
              <a:rPr sz="1800" b="0" dirty="0" err="1">
                <a:solidFill>
                  <a:srgbClr val="173D34"/>
                </a:solidFill>
                <a:latin typeface="Calibri"/>
                <a:ea typeface="Calibri"/>
                <a:cs typeface="Calibri"/>
              </a:rPr>
              <a:t>bagian</a:t>
            </a:r>
            <a:endParaRPr sz="1800" b="0" dirty="0">
              <a:solidFill>
                <a:srgbClr val="173D34"/>
              </a:solidFill>
              <a:latin typeface="Calibri"/>
              <a:ea typeface="Calibri"/>
              <a:cs typeface="Calibri"/>
            </a:endParaRPr>
          </a:p>
          <a:p>
            <a:pPr algn="ctr">
              <a:defRPr sz="1800" b="0">
                <a:solidFill>
                  <a:srgbClr val="173D34"/>
                </a:solidFill>
                <a:latin typeface="Calibri"/>
                <a:ea typeface="Calibri"/>
                <a:cs typeface="Calibri"/>
              </a:defRPr>
            </a:pPr>
            <a:r>
              <a:rPr sz="1800" b="0" dirty="0" err="1">
                <a:solidFill>
                  <a:srgbClr val="173D34"/>
                </a:solidFill>
                <a:latin typeface="Calibri"/>
                <a:ea typeface="Calibri"/>
                <a:cs typeface="Calibri"/>
              </a:rPr>
              <a:t>produksi</a:t>
            </a:r>
            <a:r>
              <a:rPr sz="1800" b="0" dirty="0">
                <a:solidFill>
                  <a:srgbClr val="173D34"/>
                </a:solidFill>
                <a:latin typeface="Calibri"/>
                <a:ea typeface="Calibri"/>
                <a:cs typeface="Calibri"/>
              </a:rPr>
              <a:t> &amp; shipping.</a:t>
            </a:r>
          </a:p>
        </p:txBody>
      </p:sp>
      <p:sp>
        <p:nvSpPr>
          <p:cNvPr id="32" name="text-61">
            <a:extLst>
              <a:ext uri="{FF2B5EF4-FFF2-40B4-BE49-F238E27FC236}">
                <a16:creationId xmlns:a16="http://schemas.microsoft.com/office/drawing/2014/main" id="{912DE343-C72D-4030-878E-C2F622F876EC}"/>
              </a:ext>
            </a:extLst>
          </p:cNvPr>
          <p:cNvSpPr>
            <a:spLocks noGrp="1"/>
          </p:cNvSpPr>
          <p:nvPr/>
        </p:nvSpPr>
        <p:spPr>
          <a:xfrm>
            <a:off x="7275881" y="3204082"/>
            <a:ext cx="2194560" cy="266700"/>
          </a:xfrm>
          <a:prstGeom prst="rect">
            <a:avLst/>
          </a:prstGeom>
          <a:noFill/>
          <a:ln w="0">
            <a:noFill/>
          </a:ln>
        </p:spPr>
        <p:txBody>
          <a:bodyPr wrap="square" lIns="0" tIns="0" rIns="0" bIns="0" anchor="t">
            <a:noAutofit/>
          </a:bodyPr>
          <a:lstStyle/>
          <a:p>
            <a:pPr algn="ctr">
              <a:defRPr sz="1275" b="1">
                <a:solidFill>
                  <a:srgbClr val="5B7169"/>
                </a:solidFill>
                <a:latin typeface="Calibri"/>
                <a:ea typeface="Calibri"/>
                <a:cs typeface="Calibri"/>
              </a:defRPr>
            </a:pPr>
            <a:r>
              <a:rPr sz="1275" b="1">
                <a:solidFill>
                  <a:srgbClr val="5B7169"/>
                </a:solidFill>
                <a:latin typeface="Calibri"/>
                <a:ea typeface="Calibri"/>
                <a:cs typeface="Calibri"/>
              </a:rPr>
              <a:t>PIC yang jelas</a:t>
            </a:r>
          </a:p>
        </p:txBody>
      </p:sp>
      <p:sp>
        <p:nvSpPr>
          <p:cNvPr id="33" name="Straight Connector 32">
            <a:extLst>
              <a:ext uri="{FF2B5EF4-FFF2-40B4-BE49-F238E27FC236}">
                <a16:creationId xmlns:a16="http://schemas.microsoft.com/office/drawing/2014/main" id="{B16B0C01-50DA-445D-BF4A-9E2B62EE2C8F}"/>
              </a:ext>
            </a:extLst>
          </p:cNvPr>
          <p:cNvSpPr>
            <a:spLocks noGrp="1"/>
          </p:cNvSpPr>
          <p:nvPr/>
        </p:nvSpPr>
        <p:spPr>
          <a:xfrm>
            <a:off x="8373161" y="4014582"/>
            <a:ext cx="0" cy="219456"/>
          </a:xfrm>
          <a:prstGeom prst="line">
            <a:avLst/>
          </a:prstGeom>
          <a:noFill/>
          <a:ln w="9525">
            <a:solidFill>
              <a:srgbClr val="CEDDD4"/>
            </a:solidFill>
          </a:ln>
        </p:spPr>
        <p:txBody>
          <a:bodyPr/>
          <a:lstStyle/>
          <a:p>
            <a:endParaRPr/>
          </a:p>
        </p:txBody>
      </p:sp>
      <p:sp>
        <p:nvSpPr>
          <p:cNvPr id="34" name="Oval 33">
            <a:extLst>
              <a:ext uri="{FF2B5EF4-FFF2-40B4-BE49-F238E27FC236}">
                <a16:creationId xmlns:a16="http://schemas.microsoft.com/office/drawing/2014/main" id="{88796191-B3AE-411D-8F00-98C2B21E763D}"/>
              </a:ext>
            </a:extLst>
          </p:cNvPr>
          <p:cNvSpPr>
            <a:spLocks noGrp="1"/>
          </p:cNvSpPr>
          <p:nvPr/>
        </p:nvSpPr>
        <p:spPr>
          <a:xfrm>
            <a:off x="10411907" y="3538362"/>
            <a:ext cx="476250" cy="476250"/>
          </a:xfrm>
          <a:prstGeom prst="ellipse">
            <a:avLst/>
          </a:prstGeom>
          <a:solidFill>
            <a:srgbClr val="087958"/>
          </a:solidFill>
          <a:ln w="28575">
            <a:solidFill>
              <a:srgbClr val="087958"/>
            </a:solidFill>
          </a:ln>
        </p:spPr>
        <p:txBody>
          <a:bodyPr/>
          <a:lstStyle/>
          <a:p>
            <a:endParaRPr/>
          </a:p>
        </p:txBody>
      </p:sp>
      <p:sp>
        <p:nvSpPr>
          <p:cNvPr id="35" name="text-62">
            <a:extLst>
              <a:ext uri="{FF2B5EF4-FFF2-40B4-BE49-F238E27FC236}">
                <a16:creationId xmlns:a16="http://schemas.microsoft.com/office/drawing/2014/main" id="{B1CC5C84-3F22-4209-B90A-79B387FEAA4B}"/>
              </a:ext>
            </a:extLst>
          </p:cNvPr>
          <p:cNvSpPr>
            <a:spLocks noGrp="1"/>
          </p:cNvSpPr>
          <p:nvPr/>
        </p:nvSpPr>
        <p:spPr>
          <a:xfrm>
            <a:off x="10411907" y="3538362"/>
            <a:ext cx="476220" cy="476220"/>
          </a:xfrm>
          <a:prstGeom prst="rect">
            <a:avLst/>
          </a:prstGeom>
          <a:noFill/>
          <a:ln w="0">
            <a:noFill/>
          </a:ln>
        </p:spPr>
        <p:txBody>
          <a:bodyPr wrap="square" lIns="0" tIns="0" rIns="0" bIns="0"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5</a:t>
            </a:r>
          </a:p>
        </p:txBody>
      </p:sp>
      <p:sp>
        <p:nvSpPr>
          <p:cNvPr id="36" name="text-63">
            <a:extLst>
              <a:ext uri="{FF2B5EF4-FFF2-40B4-BE49-F238E27FC236}">
                <a16:creationId xmlns:a16="http://schemas.microsoft.com/office/drawing/2014/main" id="{555AF747-58E5-4F82-ABCC-5FD6E912C81A}"/>
              </a:ext>
            </a:extLst>
          </p:cNvPr>
          <p:cNvSpPr>
            <a:spLocks noGrp="1"/>
          </p:cNvSpPr>
          <p:nvPr/>
        </p:nvSpPr>
        <p:spPr>
          <a:xfrm>
            <a:off x="9552737" y="2249058"/>
            <a:ext cx="2194560" cy="381000"/>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dirty="0">
                <a:solidFill>
                  <a:srgbClr val="087958"/>
                </a:solidFill>
                <a:latin typeface="Calibri"/>
                <a:ea typeface="Calibri"/>
                <a:cs typeface="Calibri"/>
              </a:rPr>
              <a:t>Jaga </a:t>
            </a:r>
            <a:r>
              <a:rPr sz="2250" b="1" dirty="0" err="1">
                <a:solidFill>
                  <a:srgbClr val="087958"/>
                </a:solidFill>
                <a:latin typeface="Calibri"/>
                <a:ea typeface="Calibri"/>
                <a:cs typeface="Calibri"/>
              </a:rPr>
              <a:t>misi</a:t>
            </a:r>
            <a:endParaRPr sz="2250" b="1" dirty="0">
              <a:solidFill>
                <a:srgbClr val="087958"/>
              </a:solidFill>
              <a:latin typeface="Calibri"/>
              <a:ea typeface="Calibri"/>
              <a:cs typeface="Calibri"/>
            </a:endParaRPr>
          </a:p>
        </p:txBody>
      </p:sp>
      <p:sp>
        <p:nvSpPr>
          <p:cNvPr id="37" name="text-64">
            <a:extLst>
              <a:ext uri="{FF2B5EF4-FFF2-40B4-BE49-F238E27FC236}">
                <a16:creationId xmlns:a16="http://schemas.microsoft.com/office/drawing/2014/main" id="{8BD2B662-94F8-4557-A4CD-4BBD35DBAFC5}"/>
              </a:ext>
            </a:extLst>
          </p:cNvPr>
          <p:cNvSpPr>
            <a:spLocks noGrp="1"/>
          </p:cNvSpPr>
          <p:nvPr/>
        </p:nvSpPr>
        <p:spPr>
          <a:xfrm>
            <a:off x="9552737" y="2697114"/>
            <a:ext cx="2194560" cy="557784"/>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dirty="0">
                <a:solidFill>
                  <a:srgbClr val="173D34"/>
                </a:solidFill>
                <a:latin typeface="Calibri"/>
                <a:ea typeface="Calibri"/>
                <a:cs typeface="Calibri"/>
              </a:rPr>
              <a:t>Deliver </a:t>
            </a:r>
            <a:r>
              <a:rPr sz="1800" b="0" dirty="0" err="1">
                <a:solidFill>
                  <a:srgbClr val="173D34"/>
                </a:solidFill>
                <a:latin typeface="Calibri"/>
                <a:ea typeface="Calibri"/>
                <a:cs typeface="Calibri"/>
              </a:rPr>
              <a:t>sesuai</a:t>
            </a:r>
            <a:r>
              <a:rPr sz="1800" b="0" dirty="0">
                <a:solidFill>
                  <a:srgbClr val="173D34"/>
                </a:solidFill>
                <a:latin typeface="Calibri"/>
                <a:ea typeface="Calibri"/>
                <a:cs typeface="Calibri"/>
              </a:rPr>
              <a:t> </a:t>
            </a:r>
            <a:r>
              <a:rPr sz="1800" b="0" dirty="0" err="1">
                <a:solidFill>
                  <a:srgbClr val="173D34"/>
                </a:solidFill>
                <a:latin typeface="Calibri"/>
                <a:ea typeface="Calibri"/>
                <a:cs typeface="Calibri"/>
              </a:rPr>
              <a:t>janji</a:t>
            </a:r>
            <a:endParaRPr sz="1800" b="0" dirty="0">
              <a:solidFill>
                <a:srgbClr val="173D34"/>
              </a:solidFill>
              <a:latin typeface="Calibri"/>
              <a:ea typeface="Calibri"/>
              <a:cs typeface="Calibri"/>
            </a:endParaRPr>
          </a:p>
          <a:p>
            <a:pPr algn="ctr">
              <a:defRPr sz="1800" b="0">
                <a:solidFill>
                  <a:srgbClr val="173D34"/>
                </a:solidFill>
                <a:latin typeface="Calibri"/>
                <a:ea typeface="Calibri"/>
                <a:cs typeface="Calibri"/>
              </a:defRPr>
            </a:pPr>
            <a:r>
              <a:rPr sz="1800" b="0" dirty="0" err="1">
                <a:solidFill>
                  <a:srgbClr val="173D34"/>
                </a:solidFill>
                <a:latin typeface="Calibri"/>
                <a:ea typeface="Calibri"/>
                <a:cs typeface="Calibri"/>
              </a:rPr>
              <a:t>supaya</a:t>
            </a:r>
            <a:r>
              <a:rPr sz="1800" b="0" dirty="0">
                <a:solidFill>
                  <a:srgbClr val="173D34"/>
                </a:solidFill>
                <a:latin typeface="Calibri"/>
                <a:ea typeface="Calibri"/>
                <a:cs typeface="Calibri"/>
              </a:rPr>
              <a:t> repeat order.</a:t>
            </a:r>
          </a:p>
        </p:txBody>
      </p:sp>
      <p:sp>
        <p:nvSpPr>
          <p:cNvPr id="38" name="Straight Connector 37">
            <a:extLst>
              <a:ext uri="{FF2B5EF4-FFF2-40B4-BE49-F238E27FC236}">
                <a16:creationId xmlns:a16="http://schemas.microsoft.com/office/drawing/2014/main" id="{37347E3A-A9AF-4EDE-B299-F720C49812C9}"/>
              </a:ext>
            </a:extLst>
          </p:cNvPr>
          <p:cNvSpPr>
            <a:spLocks noGrp="1"/>
          </p:cNvSpPr>
          <p:nvPr/>
        </p:nvSpPr>
        <p:spPr>
          <a:xfrm>
            <a:off x="10650017" y="3318906"/>
            <a:ext cx="0" cy="219456"/>
          </a:xfrm>
          <a:prstGeom prst="line">
            <a:avLst/>
          </a:prstGeom>
          <a:noFill/>
          <a:ln w="9525">
            <a:solidFill>
              <a:srgbClr val="CEDDD4"/>
            </a:solidFill>
          </a:ln>
        </p:spPr>
        <p:txBody>
          <a:bodyPr/>
          <a:lstStyle/>
          <a:p>
            <a:endParaRPr/>
          </a:p>
        </p:txBody>
      </p:sp>
      <p:sp>
        <p:nvSpPr>
          <p:cNvPr id="39" name="text-65">
            <a:extLst>
              <a:ext uri="{FF2B5EF4-FFF2-40B4-BE49-F238E27FC236}">
                <a16:creationId xmlns:a16="http://schemas.microsoft.com/office/drawing/2014/main" id="{52503B67-34F8-4627-A681-5C9917B97788}"/>
              </a:ext>
            </a:extLst>
          </p:cNvPr>
          <p:cNvSpPr>
            <a:spLocks noGrp="1"/>
          </p:cNvSpPr>
          <p:nvPr/>
        </p:nvSpPr>
        <p:spPr>
          <a:xfrm>
            <a:off x="9552737" y="4122910"/>
            <a:ext cx="2194560" cy="266700"/>
          </a:xfrm>
          <a:prstGeom prst="rect">
            <a:avLst/>
          </a:prstGeom>
          <a:noFill/>
          <a:ln w="0">
            <a:noFill/>
          </a:ln>
        </p:spPr>
        <p:txBody>
          <a:bodyPr wrap="square" lIns="0" tIns="0" rIns="0" bIns="0" anchor="t">
            <a:noAutofit/>
          </a:bodyPr>
          <a:lstStyle/>
          <a:p>
            <a:pPr algn="ctr">
              <a:defRPr sz="1275" b="1">
                <a:solidFill>
                  <a:srgbClr val="5B7169"/>
                </a:solidFill>
                <a:latin typeface="Calibri"/>
                <a:ea typeface="Calibri"/>
                <a:cs typeface="Calibri"/>
              </a:defRPr>
            </a:pPr>
            <a:r>
              <a:rPr sz="1275" b="1">
                <a:solidFill>
                  <a:srgbClr val="5B7169"/>
                </a:solidFill>
                <a:latin typeface="Calibri"/>
                <a:ea typeface="Calibri"/>
                <a:cs typeface="Calibri"/>
              </a:rPr>
              <a:t>Arah yang sama</a:t>
            </a:r>
          </a:p>
        </p:txBody>
      </p:sp>
      <p:sp>
        <p:nvSpPr>
          <p:cNvPr id="40" name="Straight Connector 39">
            <a:extLst>
              <a:ext uri="{FF2B5EF4-FFF2-40B4-BE49-F238E27FC236}">
                <a16:creationId xmlns:a16="http://schemas.microsoft.com/office/drawing/2014/main" id="{5C2BC2C7-621D-47CE-BC5F-784928826823}"/>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41" name="text-66">
            <a:extLst>
              <a:ext uri="{FF2B5EF4-FFF2-40B4-BE49-F238E27FC236}">
                <a16:creationId xmlns:a16="http://schemas.microsoft.com/office/drawing/2014/main" id="{033762D6-963B-466A-8B6A-A74DB150C1D1}"/>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Tujuannya tetap, caranya yang menyesuaikan.</a:t>
            </a:r>
          </a:p>
        </p:txBody>
      </p:sp>
    </p:spTree>
    <p:extLst>
      <p:ext uri="{BB962C8B-B14F-4D97-AF65-F5344CB8AC3E}">
        <p14:creationId xmlns:p14="http://schemas.microsoft.com/office/powerpoint/2010/main" val="788888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4" name="Picture 43"/>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C5EC48-BBE0-4436-9AFA-88D513E441D8}"/>
              </a:ext>
            </a:extLst>
          </p:cNvPr>
          <p:cNvSpPr>
            <a:spLocks noGrp="1"/>
          </p:cNvSpPr>
          <p:nvPr/>
        </p:nvSpPr>
        <p:spPr>
          <a:xfrm>
            <a:off x="0" y="2639"/>
            <a:ext cx="12192000" cy="6591300"/>
          </a:xfrm>
          <a:prstGeom prst="rect">
            <a:avLst/>
          </a:prstGeom>
          <a:solidFill>
            <a:srgbClr val="FFFFFF"/>
          </a:solidFill>
          <a:ln w="0">
            <a:noFill/>
          </a:ln>
        </p:spPr>
        <p:txBody>
          <a:bodyPr/>
          <a:lstStyle/>
          <a:p>
            <a:endParaRPr/>
          </a:p>
        </p:txBody>
      </p:sp>
      <p:pic>
        <p:nvPicPr>
          <p:cNvPr id="46" name="Picture 45"/>
          <p:cNvPicPr>
            <a:picLocks noChangeAspect="1"/>
          </p:cNvPicPr>
          <p:nvPr/>
        </p:nvPicPr>
        <p:blipFill>
          <a:blip r:embed="rId4"/>
          <a:stretch/>
        </p:blipFill>
        <p:spPr>
          <a:xfrm>
            <a:off x="10591800" y="245339"/>
            <a:ext cx="1028700" cy="385621"/>
          </a:xfrm>
          <a:prstGeom prst="rect">
            <a:avLst/>
          </a:prstGeom>
        </p:spPr>
      </p:pic>
      <p:sp>
        <p:nvSpPr>
          <p:cNvPr id="4" name="text-67">
            <a:extLst>
              <a:ext uri="{FF2B5EF4-FFF2-40B4-BE49-F238E27FC236}">
                <a16:creationId xmlns:a16="http://schemas.microsoft.com/office/drawing/2014/main" id="{0B9DE2DF-0A75-4749-B3A5-BACCC7A26DB8}"/>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KARAKTER ENTREPRENEUR</a:t>
            </a:r>
          </a:p>
        </p:txBody>
      </p:sp>
      <p:sp>
        <p:nvSpPr>
          <p:cNvPr id="5" name="text-68">
            <a:extLst>
              <a:ext uri="{FF2B5EF4-FFF2-40B4-BE49-F238E27FC236}">
                <a16:creationId xmlns:a16="http://schemas.microsoft.com/office/drawing/2014/main" id="{5AEB2363-C4D5-43BF-A3B4-0406434E32E5}"/>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Karakter founder kelihatan dari kebiasaannya sehari-hari</a:t>
            </a:r>
          </a:p>
        </p:txBody>
      </p:sp>
      <p:sp>
        <p:nvSpPr>
          <p:cNvPr id="6" name="text-69">
            <a:extLst>
              <a:ext uri="{FF2B5EF4-FFF2-40B4-BE49-F238E27FC236}">
                <a16:creationId xmlns:a16="http://schemas.microsoft.com/office/drawing/2014/main" id="{F5C128B0-97DA-4650-9B5C-6CEE3C1BCF2D}"/>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70">
            <a:extLst>
              <a:ext uri="{FF2B5EF4-FFF2-40B4-BE49-F238E27FC236}">
                <a16:creationId xmlns:a16="http://schemas.microsoft.com/office/drawing/2014/main" id="{FAC0809B-91F1-4053-BBA9-83D527C651DE}"/>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06</a:t>
            </a:r>
          </a:p>
        </p:txBody>
      </p:sp>
      <p:sp>
        <p:nvSpPr>
          <p:cNvPr id="8" name="text-71">
            <a:extLst>
              <a:ext uri="{FF2B5EF4-FFF2-40B4-BE49-F238E27FC236}">
                <a16:creationId xmlns:a16="http://schemas.microsoft.com/office/drawing/2014/main" id="{C41089A5-6BAD-4D17-A833-04686AF617C3}"/>
              </a:ext>
            </a:extLst>
          </p:cNvPr>
          <p:cNvSpPr>
            <a:spLocks noGrp="1"/>
          </p:cNvSpPr>
          <p:nvPr/>
        </p:nvSpPr>
        <p:spPr>
          <a:xfrm>
            <a:off x="571195" y="1549170"/>
            <a:ext cx="495239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dirty="0">
                <a:solidFill>
                  <a:srgbClr val="087958"/>
                </a:solidFill>
                <a:latin typeface="Calibri"/>
                <a:ea typeface="Calibri"/>
                <a:cs typeface="Calibri"/>
              </a:rPr>
              <a:t>SAAT MELIHAT PELUANG</a:t>
            </a:r>
          </a:p>
        </p:txBody>
      </p:sp>
      <p:sp>
        <p:nvSpPr>
          <p:cNvPr id="9" name="text-72">
            <a:extLst>
              <a:ext uri="{FF2B5EF4-FFF2-40B4-BE49-F238E27FC236}">
                <a16:creationId xmlns:a16="http://schemas.microsoft.com/office/drawing/2014/main" id="{ACF1887E-D17C-4FC2-B486-3681F79A7CCA}"/>
              </a:ext>
            </a:extLst>
          </p:cNvPr>
          <p:cNvSpPr>
            <a:spLocks noGrp="1"/>
          </p:cNvSpPr>
          <p:nvPr/>
        </p:nvSpPr>
        <p:spPr>
          <a:xfrm>
            <a:off x="6667195" y="1549170"/>
            <a:ext cx="4953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SAAT EKSEKUSI</a:t>
            </a:r>
          </a:p>
        </p:txBody>
      </p:sp>
      <p:sp>
        <p:nvSpPr>
          <p:cNvPr id="10" name="Straight Connector 9">
            <a:extLst>
              <a:ext uri="{FF2B5EF4-FFF2-40B4-BE49-F238E27FC236}">
                <a16:creationId xmlns:a16="http://schemas.microsoft.com/office/drawing/2014/main" id="{CE50D921-C215-4093-B71B-E8E08D758AB8}"/>
              </a:ext>
            </a:extLst>
          </p:cNvPr>
          <p:cNvSpPr>
            <a:spLocks noGrp="1"/>
          </p:cNvSpPr>
          <p:nvPr/>
        </p:nvSpPr>
        <p:spPr>
          <a:xfrm>
            <a:off x="571195" y="1920645"/>
            <a:ext cx="4952390" cy="0"/>
          </a:xfrm>
          <a:prstGeom prst="line">
            <a:avLst/>
          </a:prstGeom>
          <a:noFill/>
          <a:ln w="19050">
            <a:solidFill>
              <a:srgbClr val="087958"/>
            </a:solidFill>
          </a:ln>
        </p:spPr>
        <p:txBody>
          <a:bodyPr/>
          <a:lstStyle/>
          <a:p>
            <a:endParaRPr/>
          </a:p>
        </p:txBody>
      </p:sp>
      <p:sp>
        <p:nvSpPr>
          <p:cNvPr id="11" name="Straight Connector 10">
            <a:extLst>
              <a:ext uri="{FF2B5EF4-FFF2-40B4-BE49-F238E27FC236}">
                <a16:creationId xmlns:a16="http://schemas.microsoft.com/office/drawing/2014/main" id="{524DF989-E422-456B-97C6-F51E5C26C838}"/>
              </a:ext>
            </a:extLst>
          </p:cNvPr>
          <p:cNvSpPr>
            <a:spLocks noGrp="1"/>
          </p:cNvSpPr>
          <p:nvPr/>
        </p:nvSpPr>
        <p:spPr>
          <a:xfrm>
            <a:off x="6667195" y="1920645"/>
            <a:ext cx="4953000" cy="0"/>
          </a:xfrm>
          <a:prstGeom prst="line">
            <a:avLst/>
          </a:prstGeom>
          <a:noFill/>
          <a:ln w="19050">
            <a:solidFill>
              <a:srgbClr val="087958"/>
            </a:solidFill>
          </a:ln>
        </p:spPr>
        <p:txBody>
          <a:bodyPr/>
          <a:lstStyle/>
          <a:p>
            <a:endParaRPr/>
          </a:p>
        </p:txBody>
      </p:sp>
      <p:sp>
        <p:nvSpPr>
          <p:cNvPr id="12" name="text-73">
            <a:extLst>
              <a:ext uri="{FF2B5EF4-FFF2-40B4-BE49-F238E27FC236}">
                <a16:creationId xmlns:a16="http://schemas.microsoft.com/office/drawing/2014/main" id="{4A58299C-3F9D-458F-9C92-A3305E6EEBA8}"/>
              </a:ext>
            </a:extLst>
          </p:cNvPr>
          <p:cNvSpPr>
            <a:spLocks noGrp="1"/>
          </p:cNvSpPr>
          <p:nvPr/>
        </p:nvSpPr>
        <p:spPr>
          <a:xfrm>
            <a:off x="571195" y="218486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01</a:t>
            </a:r>
          </a:p>
        </p:txBody>
      </p:sp>
      <p:sp>
        <p:nvSpPr>
          <p:cNvPr id="13" name="text-74">
            <a:extLst>
              <a:ext uri="{FF2B5EF4-FFF2-40B4-BE49-F238E27FC236}">
                <a16:creationId xmlns:a16="http://schemas.microsoft.com/office/drawing/2014/main" id="{4A1D1C43-9DAF-41F6-BEDA-E58FA242D529}"/>
              </a:ext>
            </a:extLst>
          </p:cNvPr>
          <p:cNvSpPr>
            <a:spLocks noGrp="1"/>
          </p:cNvSpPr>
          <p:nvPr/>
        </p:nvSpPr>
        <p:spPr>
          <a:xfrm>
            <a:off x="1190320" y="21492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Rasa ingin tahu</a:t>
            </a:r>
          </a:p>
        </p:txBody>
      </p:sp>
      <p:sp>
        <p:nvSpPr>
          <p:cNvPr id="14" name="text-75">
            <a:extLst>
              <a:ext uri="{FF2B5EF4-FFF2-40B4-BE49-F238E27FC236}">
                <a16:creationId xmlns:a16="http://schemas.microsoft.com/office/drawing/2014/main" id="{672C331A-11F1-4924-9169-D46DA83336C4}"/>
              </a:ext>
            </a:extLst>
          </p:cNvPr>
          <p:cNvSpPr>
            <a:spLocks noGrp="1"/>
          </p:cNvSpPr>
          <p:nvPr/>
        </p:nvSpPr>
        <p:spPr>
          <a:xfrm>
            <a:off x="1190320" y="24635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lang="en-ID" sz="1725" b="0" dirty="0">
                <a:solidFill>
                  <a:srgbClr val="5B7169"/>
                </a:solidFill>
                <a:latin typeface="Calibri"/>
                <a:ea typeface="Calibri"/>
                <a:cs typeface="Calibri"/>
              </a:rPr>
              <a:t>Tanya </a:t>
            </a:r>
            <a:r>
              <a:rPr lang="en-ID" sz="1725" b="0" dirty="0" err="1">
                <a:solidFill>
                  <a:srgbClr val="5B7169"/>
                </a:solidFill>
                <a:latin typeface="Calibri"/>
                <a:ea typeface="Calibri"/>
                <a:cs typeface="Calibri"/>
              </a:rPr>
              <a:t>kenapa</a:t>
            </a:r>
            <a:r>
              <a:rPr lang="en-ID" sz="1725" b="0" dirty="0">
                <a:solidFill>
                  <a:srgbClr val="5B7169"/>
                </a:solidFill>
                <a:latin typeface="Calibri"/>
                <a:ea typeface="Calibri"/>
                <a:cs typeface="Calibri"/>
              </a:rPr>
              <a:t> buyer </a:t>
            </a:r>
            <a:r>
              <a:rPr lang="en-ID" sz="1725" b="0" dirty="0" err="1">
                <a:solidFill>
                  <a:srgbClr val="5B7169"/>
                </a:solidFill>
                <a:latin typeface="Calibri"/>
                <a:ea typeface="Calibri"/>
                <a:cs typeface="Calibri"/>
              </a:rPr>
              <a:t>butuh</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barang</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tersebut</a:t>
            </a:r>
            <a:r>
              <a:rPr lang="en-ID" sz="1725" dirty="0">
                <a:solidFill>
                  <a:srgbClr val="5B7169"/>
                </a:solidFill>
                <a:latin typeface="Calibri"/>
                <a:ea typeface="Calibri"/>
                <a:cs typeface="Calibri"/>
              </a:rPr>
              <a:t>?</a:t>
            </a:r>
            <a:endParaRPr sz="1725" b="0" dirty="0">
              <a:solidFill>
                <a:srgbClr val="5B7169"/>
              </a:solidFill>
              <a:latin typeface="Calibri"/>
              <a:ea typeface="Calibri"/>
              <a:cs typeface="Calibri"/>
            </a:endParaRPr>
          </a:p>
        </p:txBody>
      </p:sp>
      <p:sp>
        <p:nvSpPr>
          <p:cNvPr id="15" name="text-76">
            <a:extLst>
              <a:ext uri="{FF2B5EF4-FFF2-40B4-BE49-F238E27FC236}">
                <a16:creationId xmlns:a16="http://schemas.microsoft.com/office/drawing/2014/main" id="{BB37EE14-8358-49A3-A4FB-8F00FA8F08E5}"/>
              </a:ext>
            </a:extLst>
          </p:cNvPr>
          <p:cNvSpPr>
            <a:spLocks noGrp="1"/>
          </p:cNvSpPr>
          <p:nvPr/>
        </p:nvSpPr>
        <p:spPr>
          <a:xfrm>
            <a:off x="571195" y="281351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02</a:t>
            </a:r>
          </a:p>
        </p:txBody>
      </p:sp>
      <p:sp>
        <p:nvSpPr>
          <p:cNvPr id="16" name="text-77">
            <a:extLst>
              <a:ext uri="{FF2B5EF4-FFF2-40B4-BE49-F238E27FC236}">
                <a16:creationId xmlns:a16="http://schemas.microsoft.com/office/drawing/2014/main" id="{52394029-142C-4EBA-A229-57E9DE142E8E}"/>
              </a:ext>
            </a:extLst>
          </p:cNvPr>
          <p:cNvSpPr>
            <a:spLocks noGrp="1"/>
          </p:cNvSpPr>
          <p:nvPr/>
        </p:nvSpPr>
        <p:spPr>
          <a:xfrm>
            <a:off x="1190320" y="277789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Eksperimen</a:t>
            </a:r>
          </a:p>
        </p:txBody>
      </p:sp>
      <p:sp>
        <p:nvSpPr>
          <p:cNvPr id="17" name="text-78">
            <a:extLst>
              <a:ext uri="{FF2B5EF4-FFF2-40B4-BE49-F238E27FC236}">
                <a16:creationId xmlns:a16="http://schemas.microsoft.com/office/drawing/2014/main" id="{9FA30C55-5B46-494C-89DE-7A93D6189642}"/>
              </a:ext>
            </a:extLst>
          </p:cNvPr>
          <p:cNvSpPr>
            <a:spLocks noGrp="1"/>
          </p:cNvSpPr>
          <p:nvPr/>
        </p:nvSpPr>
        <p:spPr>
          <a:xfrm>
            <a:off x="1190320" y="3092220"/>
            <a:ext cx="4769500"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lang="en-US" sz="1725" b="0" dirty="0" err="1">
                <a:solidFill>
                  <a:srgbClr val="5B7169"/>
                </a:solidFill>
                <a:latin typeface="Calibri"/>
                <a:ea typeface="Calibri"/>
                <a:cs typeface="Calibri"/>
              </a:rPr>
              <a:t>Lakukan</a:t>
            </a:r>
            <a:r>
              <a:rPr lang="en-US" sz="1725" b="0" dirty="0">
                <a:solidFill>
                  <a:srgbClr val="5B7169"/>
                </a:solidFill>
                <a:latin typeface="Calibri"/>
                <a:ea typeface="Calibri"/>
                <a:cs typeface="Calibri"/>
              </a:rPr>
              <a:t> market test </a:t>
            </a:r>
            <a:r>
              <a:rPr lang="en-US" sz="1725" b="0" dirty="0" err="1">
                <a:solidFill>
                  <a:srgbClr val="5B7169"/>
                </a:solidFill>
                <a:latin typeface="Calibri"/>
                <a:ea typeface="Calibri"/>
                <a:cs typeface="Calibri"/>
              </a:rPr>
              <a:t>sebelum</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menambah</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stok</a:t>
            </a:r>
            <a:r>
              <a:rPr lang="en-US" sz="1725" b="0" dirty="0">
                <a:solidFill>
                  <a:srgbClr val="5B7169"/>
                </a:solidFill>
                <a:latin typeface="Calibri"/>
                <a:ea typeface="Calibri"/>
                <a:cs typeface="Calibri"/>
              </a:rPr>
              <a:t>.</a:t>
            </a:r>
            <a:endParaRPr sz="1725" b="0" dirty="0">
              <a:solidFill>
                <a:srgbClr val="5B7169"/>
              </a:solidFill>
              <a:latin typeface="Calibri"/>
              <a:ea typeface="Calibri"/>
              <a:cs typeface="Calibri"/>
            </a:endParaRPr>
          </a:p>
        </p:txBody>
      </p:sp>
      <p:sp>
        <p:nvSpPr>
          <p:cNvPr id="18" name="text-79">
            <a:extLst>
              <a:ext uri="{FF2B5EF4-FFF2-40B4-BE49-F238E27FC236}">
                <a16:creationId xmlns:a16="http://schemas.microsoft.com/office/drawing/2014/main" id="{40EB1197-315A-4891-BA57-81BBB3D178D1}"/>
              </a:ext>
            </a:extLst>
          </p:cNvPr>
          <p:cNvSpPr>
            <a:spLocks noGrp="1"/>
          </p:cNvSpPr>
          <p:nvPr/>
        </p:nvSpPr>
        <p:spPr>
          <a:xfrm>
            <a:off x="571195" y="3442169"/>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03</a:t>
            </a:r>
          </a:p>
        </p:txBody>
      </p:sp>
      <p:sp>
        <p:nvSpPr>
          <p:cNvPr id="19" name="text-80">
            <a:extLst>
              <a:ext uri="{FF2B5EF4-FFF2-40B4-BE49-F238E27FC236}">
                <a16:creationId xmlns:a16="http://schemas.microsoft.com/office/drawing/2014/main" id="{12AC0192-0B1C-4ACB-B983-BFA76A7BC1FD}"/>
              </a:ext>
            </a:extLst>
          </p:cNvPr>
          <p:cNvSpPr>
            <a:spLocks noGrp="1"/>
          </p:cNvSpPr>
          <p:nvPr/>
        </p:nvSpPr>
        <p:spPr>
          <a:xfrm>
            <a:off x="1190320" y="34065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Adaptasi</a:t>
            </a:r>
          </a:p>
        </p:txBody>
      </p:sp>
      <p:sp>
        <p:nvSpPr>
          <p:cNvPr id="20" name="text-81">
            <a:extLst>
              <a:ext uri="{FF2B5EF4-FFF2-40B4-BE49-F238E27FC236}">
                <a16:creationId xmlns:a16="http://schemas.microsoft.com/office/drawing/2014/main" id="{DFF84D21-1389-4655-878A-2010757BEF59}"/>
              </a:ext>
            </a:extLst>
          </p:cNvPr>
          <p:cNvSpPr>
            <a:spLocks noGrp="1"/>
          </p:cNvSpPr>
          <p:nvPr/>
        </p:nvSpPr>
        <p:spPr>
          <a:xfrm>
            <a:off x="1190320" y="37208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lang="en-US" sz="1725" b="0" dirty="0" err="1">
                <a:solidFill>
                  <a:srgbClr val="5B7169"/>
                </a:solidFill>
                <a:latin typeface="Calibri"/>
                <a:ea typeface="Calibri"/>
                <a:cs typeface="Calibri"/>
              </a:rPr>
              <a:t>Jangan</a:t>
            </a:r>
            <a:r>
              <a:rPr lang="en-US" sz="1725" b="0" dirty="0">
                <a:solidFill>
                  <a:srgbClr val="5B7169"/>
                </a:solidFill>
                <a:latin typeface="Calibri"/>
                <a:ea typeface="Calibri"/>
                <a:cs typeface="Calibri"/>
              </a:rPr>
              <a:t> denial </a:t>
            </a:r>
            <a:r>
              <a:rPr lang="en-US" sz="1725" b="0" dirty="0" err="1">
                <a:solidFill>
                  <a:srgbClr val="5B7169"/>
                </a:solidFill>
                <a:latin typeface="Calibri"/>
                <a:ea typeface="Calibri"/>
                <a:cs typeface="Calibri"/>
              </a:rPr>
              <a:t>jika</a:t>
            </a:r>
            <a:r>
              <a:rPr lang="en-US" sz="1725" b="0" dirty="0">
                <a:solidFill>
                  <a:srgbClr val="5B7169"/>
                </a:solidFill>
                <a:latin typeface="Calibri"/>
                <a:ea typeface="Calibri"/>
                <a:cs typeface="Calibri"/>
              </a:rPr>
              <a:t> data &amp; </a:t>
            </a:r>
            <a:r>
              <a:rPr lang="en-US" sz="1725" b="0" dirty="0" err="1">
                <a:solidFill>
                  <a:srgbClr val="5B7169"/>
                </a:solidFill>
                <a:latin typeface="Calibri"/>
                <a:ea typeface="Calibri"/>
                <a:cs typeface="Calibri"/>
              </a:rPr>
              <a:t>fakta</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berkata</a:t>
            </a:r>
            <a:r>
              <a:rPr lang="en-US" sz="1725" b="0" dirty="0">
                <a:solidFill>
                  <a:srgbClr val="5B7169"/>
                </a:solidFill>
                <a:latin typeface="Calibri"/>
                <a:ea typeface="Calibri"/>
                <a:cs typeface="Calibri"/>
              </a:rPr>
              <a:t> lain.</a:t>
            </a:r>
            <a:endParaRPr sz="1725" b="0" dirty="0">
              <a:solidFill>
                <a:srgbClr val="5B7169"/>
              </a:solidFill>
              <a:latin typeface="Calibri"/>
              <a:ea typeface="Calibri"/>
              <a:cs typeface="Calibri"/>
            </a:endParaRPr>
          </a:p>
        </p:txBody>
      </p:sp>
      <p:sp>
        <p:nvSpPr>
          <p:cNvPr id="21" name="text-82">
            <a:extLst>
              <a:ext uri="{FF2B5EF4-FFF2-40B4-BE49-F238E27FC236}">
                <a16:creationId xmlns:a16="http://schemas.microsoft.com/office/drawing/2014/main" id="{A9A5AD39-8129-4F50-9CC3-056D553A819A}"/>
              </a:ext>
            </a:extLst>
          </p:cNvPr>
          <p:cNvSpPr>
            <a:spLocks noGrp="1"/>
          </p:cNvSpPr>
          <p:nvPr/>
        </p:nvSpPr>
        <p:spPr>
          <a:xfrm>
            <a:off x="571195" y="407081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04</a:t>
            </a:r>
          </a:p>
        </p:txBody>
      </p:sp>
      <p:sp>
        <p:nvSpPr>
          <p:cNvPr id="22" name="text-83">
            <a:extLst>
              <a:ext uri="{FF2B5EF4-FFF2-40B4-BE49-F238E27FC236}">
                <a16:creationId xmlns:a16="http://schemas.microsoft.com/office/drawing/2014/main" id="{754E0EA9-D258-4EA4-BE2E-61DE5676F040}"/>
              </a:ext>
            </a:extLst>
          </p:cNvPr>
          <p:cNvSpPr>
            <a:spLocks noGrp="1"/>
          </p:cNvSpPr>
          <p:nvPr/>
        </p:nvSpPr>
        <p:spPr>
          <a:xfrm>
            <a:off x="1190320" y="403519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Keputusan</a:t>
            </a:r>
          </a:p>
        </p:txBody>
      </p:sp>
      <p:sp>
        <p:nvSpPr>
          <p:cNvPr id="23" name="text-84">
            <a:extLst>
              <a:ext uri="{FF2B5EF4-FFF2-40B4-BE49-F238E27FC236}">
                <a16:creationId xmlns:a16="http://schemas.microsoft.com/office/drawing/2014/main" id="{DF48282B-876C-430B-89E6-1D746F07C5EB}"/>
              </a:ext>
            </a:extLst>
          </p:cNvPr>
          <p:cNvSpPr>
            <a:spLocks noGrp="1"/>
          </p:cNvSpPr>
          <p:nvPr/>
        </p:nvSpPr>
        <p:spPr>
          <a:xfrm>
            <a:off x="1190320" y="4349520"/>
            <a:ext cx="4516112"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lang="en-ID" sz="1725" b="0" dirty="0" err="1">
                <a:solidFill>
                  <a:srgbClr val="5B7169"/>
                </a:solidFill>
                <a:latin typeface="Calibri"/>
                <a:ea typeface="Calibri"/>
                <a:cs typeface="Calibri"/>
              </a:rPr>
              <a:t>Selalu</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ada</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alasan</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disetiap</a:t>
            </a:r>
            <a:r>
              <a:rPr lang="en-ID" sz="1725" b="0" dirty="0">
                <a:solidFill>
                  <a:srgbClr val="5B7169"/>
                </a:solidFill>
                <a:latin typeface="Calibri"/>
                <a:ea typeface="Calibri"/>
                <a:cs typeface="Calibri"/>
              </a:rPr>
              <a:t> </a:t>
            </a:r>
            <a:r>
              <a:rPr lang="en-ID" sz="1725" b="0" dirty="0" err="1">
                <a:solidFill>
                  <a:srgbClr val="5B7169"/>
                </a:solidFill>
                <a:latin typeface="Calibri"/>
                <a:ea typeface="Calibri"/>
                <a:cs typeface="Calibri"/>
              </a:rPr>
              <a:t>keputusan</a:t>
            </a:r>
            <a:r>
              <a:rPr lang="en-ID" sz="1725" b="0" dirty="0">
                <a:solidFill>
                  <a:srgbClr val="5B7169"/>
                </a:solidFill>
                <a:latin typeface="Calibri"/>
                <a:ea typeface="Calibri"/>
                <a:cs typeface="Calibri"/>
              </a:rPr>
              <a:t> yang </a:t>
            </a:r>
            <a:r>
              <a:rPr lang="en-ID" sz="1725" b="0" dirty="0" err="1">
                <a:solidFill>
                  <a:srgbClr val="5B7169"/>
                </a:solidFill>
                <a:latin typeface="Calibri"/>
                <a:ea typeface="Calibri"/>
                <a:cs typeface="Calibri"/>
              </a:rPr>
              <a:t>diambil</a:t>
            </a:r>
            <a:r>
              <a:rPr lang="en-ID" sz="1725" b="0" dirty="0">
                <a:solidFill>
                  <a:srgbClr val="5B7169"/>
                </a:solidFill>
                <a:latin typeface="Calibri"/>
                <a:ea typeface="Calibri"/>
                <a:cs typeface="Calibri"/>
              </a:rPr>
              <a:t>.</a:t>
            </a:r>
            <a:endParaRPr sz="1725" b="0" dirty="0">
              <a:solidFill>
                <a:srgbClr val="5B7169"/>
              </a:solidFill>
              <a:latin typeface="Calibri"/>
              <a:ea typeface="Calibri"/>
              <a:cs typeface="Calibri"/>
            </a:endParaRPr>
          </a:p>
        </p:txBody>
      </p:sp>
      <p:sp>
        <p:nvSpPr>
          <p:cNvPr id="24" name="text-85">
            <a:extLst>
              <a:ext uri="{FF2B5EF4-FFF2-40B4-BE49-F238E27FC236}">
                <a16:creationId xmlns:a16="http://schemas.microsoft.com/office/drawing/2014/main" id="{D0E5D6B5-D83B-40CD-9CAB-62835E575756}"/>
              </a:ext>
            </a:extLst>
          </p:cNvPr>
          <p:cNvSpPr>
            <a:spLocks noGrp="1"/>
          </p:cNvSpPr>
          <p:nvPr/>
        </p:nvSpPr>
        <p:spPr>
          <a:xfrm>
            <a:off x="571195" y="469946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05</a:t>
            </a:r>
          </a:p>
        </p:txBody>
      </p:sp>
      <p:sp>
        <p:nvSpPr>
          <p:cNvPr id="25" name="text-86">
            <a:extLst>
              <a:ext uri="{FF2B5EF4-FFF2-40B4-BE49-F238E27FC236}">
                <a16:creationId xmlns:a16="http://schemas.microsoft.com/office/drawing/2014/main" id="{CEC9610D-23B0-45EF-B7A8-A1CC17DC1604}"/>
              </a:ext>
            </a:extLst>
          </p:cNvPr>
          <p:cNvSpPr>
            <a:spLocks noGrp="1"/>
          </p:cNvSpPr>
          <p:nvPr/>
        </p:nvSpPr>
        <p:spPr>
          <a:xfrm>
            <a:off x="1190320" y="46638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Kesadaran diri</a:t>
            </a:r>
          </a:p>
        </p:txBody>
      </p:sp>
      <p:sp>
        <p:nvSpPr>
          <p:cNvPr id="26" name="text-87">
            <a:extLst>
              <a:ext uri="{FF2B5EF4-FFF2-40B4-BE49-F238E27FC236}">
                <a16:creationId xmlns:a16="http://schemas.microsoft.com/office/drawing/2014/main" id="{57E30A05-B2C0-4462-9046-F50E19187775}"/>
              </a:ext>
            </a:extLst>
          </p:cNvPr>
          <p:cNvSpPr>
            <a:spLocks noGrp="1"/>
          </p:cNvSpPr>
          <p:nvPr/>
        </p:nvSpPr>
        <p:spPr>
          <a:xfrm>
            <a:off x="1190320" y="49781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sz="1725" b="0" dirty="0" err="1">
                <a:solidFill>
                  <a:srgbClr val="5B7169"/>
                </a:solidFill>
                <a:latin typeface="Calibri"/>
                <a:ea typeface="Calibri"/>
                <a:cs typeface="Calibri"/>
              </a:rPr>
              <a:t>Jujur</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soal</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apa</a:t>
            </a:r>
            <a:r>
              <a:rPr sz="1725" b="0" dirty="0">
                <a:solidFill>
                  <a:srgbClr val="5B7169"/>
                </a:solidFill>
                <a:latin typeface="Calibri"/>
                <a:ea typeface="Calibri"/>
                <a:cs typeface="Calibri"/>
              </a:rPr>
              <a:t> yang </a:t>
            </a:r>
            <a:r>
              <a:rPr sz="1725" b="0" dirty="0" err="1">
                <a:solidFill>
                  <a:srgbClr val="5B7169"/>
                </a:solidFill>
                <a:latin typeface="Calibri"/>
                <a:ea typeface="Calibri"/>
                <a:cs typeface="Calibri"/>
              </a:rPr>
              <a:t>belum</a:t>
            </a:r>
            <a:r>
              <a:rPr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diluar</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kapasitas</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kita</a:t>
            </a:r>
            <a:r>
              <a:rPr sz="1725" b="0" dirty="0">
                <a:solidFill>
                  <a:srgbClr val="5B7169"/>
                </a:solidFill>
                <a:latin typeface="Calibri"/>
                <a:ea typeface="Calibri"/>
                <a:cs typeface="Calibri"/>
              </a:rPr>
              <a:t>.</a:t>
            </a:r>
          </a:p>
        </p:txBody>
      </p:sp>
      <p:sp>
        <p:nvSpPr>
          <p:cNvPr id="27" name="text-88">
            <a:extLst>
              <a:ext uri="{FF2B5EF4-FFF2-40B4-BE49-F238E27FC236}">
                <a16:creationId xmlns:a16="http://schemas.microsoft.com/office/drawing/2014/main" id="{30A47938-A1B0-40A3-A1B6-1FF9E8A86916}"/>
              </a:ext>
            </a:extLst>
          </p:cNvPr>
          <p:cNvSpPr>
            <a:spLocks noGrp="1"/>
          </p:cNvSpPr>
          <p:nvPr/>
        </p:nvSpPr>
        <p:spPr>
          <a:xfrm>
            <a:off x="6667195" y="218486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06</a:t>
            </a:r>
          </a:p>
        </p:txBody>
      </p:sp>
      <p:sp>
        <p:nvSpPr>
          <p:cNvPr id="28" name="text-89">
            <a:extLst>
              <a:ext uri="{FF2B5EF4-FFF2-40B4-BE49-F238E27FC236}">
                <a16:creationId xmlns:a16="http://schemas.microsoft.com/office/drawing/2014/main" id="{A1DEAEBB-5D5C-44C0-8650-AB9F8242D9F5}"/>
              </a:ext>
            </a:extLst>
          </p:cNvPr>
          <p:cNvSpPr>
            <a:spLocks noGrp="1"/>
          </p:cNvSpPr>
          <p:nvPr/>
        </p:nvSpPr>
        <p:spPr>
          <a:xfrm>
            <a:off x="7286320" y="21492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Toleransi risiko</a:t>
            </a:r>
          </a:p>
        </p:txBody>
      </p:sp>
      <p:sp>
        <p:nvSpPr>
          <p:cNvPr id="29" name="text-90">
            <a:extLst>
              <a:ext uri="{FF2B5EF4-FFF2-40B4-BE49-F238E27FC236}">
                <a16:creationId xmlns:a16="http://schemas.microsoft.com/office/drawing/2014/main" id="{493284EC-3336-4A3E-AAFE-1AE2CEBC99CF}"/>
              </a:ext>
            </a:extLst>
          </p:cNvPr>
          <p:cNvSpPr>
            <a:spLocks noGrp="1"/>
          </p:cNvSpPr>
          <p:nvPr/>
        </p:nvSpPr>
        <p:spPr>
          <a:xfrm>
            <a:off x="7286320" y="24635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sz="1725" b="0" dirty="0" err="1">
                <a:solidFill>
                  <a:srgbClr val="5B7169"/>
                </a:solidFill>
                <a:latin typeface="Calibri"/>
                <a:ea typeface="Calibri"/>
                <a:cs typeface="Calibri"/>
              </a:rPr>
              <a:t>Tahu</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kapasitas</a:t>
            </a:r>
            <a:r>
              <a:rPr lang="en-US" sz="1725" b="0" dirty="0">
                <a:solidFill>
                  <a:srgbClr val="5B7169"/>
                </a:solidFill>
                <a:latin typeface="Calibri"/>
                <a:ea typeface="Calibri"/>
                <a:cs typeface="Calibri"/>
              </a:rPr>
              <a:t> &amp;</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batas</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rugi</a:t>
            </a:r>
            <a:r>
              <a:rPr sz="1725" b="0" dirty="0">
                <a:solidFill>
                  <a:srgbClr val="5B7169"/>
                </a:solidFill>
                <a:latin typeface="Calibri"/>
                <a:ea typeface="Calibri"/>
                <a:cs typeface="Calibri"/>
              </a:rPr>
              <a:t> yang </a:t>
            </a:r>
            <a:r>
              <a:rPr sz="1725" b="0" dirty="0" err="1">
                <a:solidFill>
                  <a:srgbClr val="5B7169"/>
                </a:solidFill>
                <a:latin typeface="Calibri"/>
                <a:ea typeface="Calibri"/>
                <a:cs typeface="Calibri"/>
              </a:rPr>
              <a:t>masih</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aman</a:t>
            </a:r>
            <a:r>
              <a:rPr sz="1725" b="0" dirty="0">
                <a:solidFill>
                  <a:srgbClr val="5B7169"/>
                </a:solidFill>
                <a:latin typeface="Calibri"/>
                <a:ea typeface="Calibri"/>
                <a:cs typeface="Calibri"/>
              </a:rPr>
              <a:t>.</a:t>
            </a:r>
          </a:p>
        </p:txBody>
      </p:sp>
      <p:sp>
        <p:nvSpPr>
          <p:cNvPr id="30" name="text-91">
            <a:extLst>
              <a:ext uri="{FF2B5EF4-FFF2-40B4-BE49-F238E27FC236}">
                <a16:creationId xmlns:a16="http://schemas.microsoft.com/office/drawing/2014/main" id="{41C27D14-D559-4D5E-A05B-ECCCC43C90CF}"/>
              </a:ext>
            </a:extLst>
          </p:cNvPr>
          <p:cNvSpPr>
            <a:spLocks noGrp="1"/>
          </p:cNvSpPr>
          <p:nvPr/>
        </p:nvSpPr>
        <p:spPr>
          <a:xfrm>
            <a:off x="6667195" y="281351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07</a:t>
            </a:r>
          </a:p>
        </p:txBody>
      </p:sp>
      <p:sp>
        <p:nvSpPr>
          <p:cNvPr id="31" name="text-92">
            <a:extLst>
              <a:ext uri="{FF2B5EF4-FFF2-40B4-BE49-F238E27FC236}">
                <a16:creationId xmlns:a16="http://schemas.microsoft.com/office/drawing/2014/main" id="{2587B962-AB39-4DC8-882C-344C1673C6D1}"/>
              </a:ext>
            </a:extLst>
          </p:cNvPr>
          <p:cNvSpPr>
            <a:spLocks noGrp="1"/>
          </p:cNvSpPr>
          <p:nvPr/>
        </p:nvSpPr>
        <p:spPr>
          <a:xfrm>
            <a:off x="7286320" y="277789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Belajar dari gagal</a:t>
            </a:r>
          </a:p>
        </p:txBody>
      </p:sp>
      <p:sp>
        <p:nvSpPr>
          <p:cNvPr id="32" name="text-93">
            <a:extLst>
              <a:ext uri="{FF2B5EF4-FFF2-40B4-BE49-F238E27FC236}">
                <a16:creationId xmlns:a16="http://schemas.microsoft.com/office/drawing/2014/main" id="{06AE9D2E-9741-4329-9F40-4BBC692F4CE8}"/>
              </a:ext>
            </a:extLst>
          </p:cNvPr>
          <p:cNvSpPr>
            <a:spLocks noGrp="1"/>
          </p:cNvSpPr>
          <p:nvPr/>
        </p:nvSpPr>
        <p:spPr>
          <a:xfrm>
            <a:off x="7286320" y="309222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sz="1725" b="0" dirty="0">
                <a:solidFill>
                  <a:srgbClr val="5B7169"/>
                </a:solidFill>
                <a:latin typeface="Calibri"/>
                <a:ea typeface="Calibri"/>
                <a:cs typeface="Calibri"/>
              </a:rPr>
              <a:t>Cari </a:t>
            </a:r>
            <a:r>
              <a:rPr sz="1725" b="0" dirty="0" err="1">
                <a:solidFill>
                  <a:srgbClr val="5B7169"/>
                </a:solidFill>
                <a:latin typeface="Calibri"/>
                <a:ea typeface="Calibri"/>
                <a:cs typeface="Calibri"/>
              </a:rPr>
              <a:t>akar</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masalah</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dari</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kegagalan</a:t>
            </a:r>
            <a:r>
              <a:rPr lang="en-US" sz="1725" b="0" dirty="0">
                <a:solidFill>
                  <a:srgbClr val="5B7169"/>
                </a:solidFill>
                <a:latin typeface="Calibri"/>
                <a:ea typeface="Calibri"/>
                <a:cs typeface="Calibri"/>
              </a:rPr>
              <a:t> dan </a:t>
            </a:r>
            <a:r>
              <a:rPr lang="en-US" sz="1725" b="0" dirty="0" err="1">
                <a:solidFill>
                  <a:srgbClr val="5B7169"/>
                </a:solidFill>
                <a:latin typeface="Calibri"/>
                <a:ea typeface="Calibri"/>
                <a:cs typeface="Calibri"/>
              </a:rPr>
              <a:t>belajar</a:t>
            </a:r>
            <a:endParaRPr sz="1725" b="0" dirty="0">
              <a:solidFill>
                <a:srgbClr val="5B7169"/>
              </a:solidFill>
              <a:latin typeface="Calibri"/>
              <a:ea typeface="Calibri"/>
              <a:cs typeface="Calibri"/>
            </a:endParaRPr>
          </a:p>
        </p:txBody>
      </p:sp>
      <p:sp>
        <p:nvSpPr>
          <p:cNvPr id="33" name="text-94">
            <a:extLst>
              <a:ext uri="{FF2B5EF4-FFF2-40B4-BE49-F238E27FC236}">
                <a16:creationId xmlns:a16="http://schemas.microsoft.com/office/drawing/2014/main" id="{7AF81F28-7C06-4ABA-B06A-DDBF3E63B38B}"/>
              </a:ext>
            </a:extLst>
          </p:cNvPr>
          <p:cNvSpPr>
            <a:spLocks noGrp="1"/>
          </p:cNvSpPr>
          <p:nvPr/>
        </p:nvSpPr>
        <p:spPr>
          <a:xfrm>
            <a:off x="6667195" y="3442169"/>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08</a:t>
            </a:r>
          </a:p>
        </p:txBody>
      </p:sp>
      <p:sp>
        <p:nvSpPr>
          <p:cNvPr id="34" name="text-95">
            <a:extLst>
              <a:ext uri="{FF2B5EF4-FFF2-40B4-BE49-F238E27FC236}">
                <a16:creationId xmlns:a16="http://schemas.microsoft.com/office/drawing/2014/main" id="{F8EE5B73-19C1-4729-A3B9-0E0D89F17791}"/>
              </a:ext>
            </a:extLst>
          </p:cNvPr>
          <p:cNvSpPr>
            <a:spLocks noGrp="1"/>
          </p:cNvSpPr>
          <p:nvPr/>
        </p:nvSpPr>
        <p:spPr>
          <a:xfrm>
            <a:off x="7286320" y="34065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Kegigihan</a:t>
            </a:r>
          </a:p>
        </p:txBody>
      </p:sp>
      <p:sp>
        <p:nvSpPr>
          <p:cNvPr id="35" name="text-96">
            <a:extLst>
              <a:ext uri="{FF2B5EF4-FFF2-40B4-BE49-F238E27FC236}">
                <a16:creationId xmlns:a16="http://schemas.microsoft.com/office/drawing/2014/main" id="{9ADC3B2C-6361-49B4-8C62-11F3A8037FD6}"/>
              </a:ext>
            </a:extLst>
          </p:cNvPr>
          <p:cNvSpPr>
            <a:spLocks noGrp="1"/>
          </p:cNvSpPr>
          <p:nvPr/>
        </p:nvSpPr>
        <p:spPr>
          <a:xfrm>
            <a:off x="7286320" y="37208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sz="1725" b="0" dirty="0">
                <a:solidFill>
                  <a:srgbClr val="5B7169"/>
                </a:solidFill>
                <a:latin typeface="Calibri"/>
                <a:ea typeface="Calibri"/>
                <a:cs typeface="Calibri"/>
              </a:rPr>
              <a:t>Follow up </a:t>
            </a:r>
            <a:r>
              <a:rPr lang="en-US" sz="1725" b="0" dirty="0">
                <a:solidFill>
                  <a:srgbClr val="5B7169"/>
                </a:solidFill>
                <a:latin typeface="Calibri"/>
                <a:ea typeface="Calibri"/>
                <a:cs typeface="Calibri"/>
              </a:rPr>
              <a:t>buyer </a:t>
            </a:r>
            <a:r>
              <a:rPr sz="1725" b="0" dirty="0" err="1">
                <a:solidFill>
                  <a:srgbClr val="5B7169"/>
                </a:solidFill>
                <a:latin typeface="Calibri"/>
                <a:ea typeface="Calibri"/>
                <a:cs typeface="Calibri"/>
              </a:rPr>
              <a:t>sampai</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tuntas</a:t>
            </a:r>
            <a:r>
              <a:rPr sz="1725" b="0" dirty="0">
                <a:solidFill>
                  <a:srgbClr val="5B7169"/>
                </a:solidFill>
                <a:latin typeface="Calibri"/>
                <a:ea typeface="Calibri"/>
                <a:cs typeface="Calibri"/>
              </a:rPr>
              <a:t>.</a:t>
            </a:r>
          </a:p>
        </p:txBody>
      </p:sp>
      <p:sp>
        <p:nvSpPr>
          <p:cNvPr id="36" name="text-97">
            <a:extLst>
              <a:ext uri="{FF2B5EF4-FFF2-40B4-BE49-F238E27FC236}">
                <a16:creationId xmlns:a16="http://schemas.microsoft.com/office/drawing/2014/main" id="{F9E3F7CA-1EC1-4BCF-B323-2AE6300D7D2C}"/>
              </a:ext>
            </a:extLst>
          </p:cNvPr>
          <p:cNvSpPr>
            <a:spLocks noGrp="1"/>
          </p:cNvSpPr>
          <p:nvPr/>
        </p:nvSpPr>
        <p:spPr>
          <a:xfrm>
            <a:off x="6667195" y="407081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09</a:t>
            </a:r>
          </a:p>
        </p:txBody>
      </p:sp>
      <p:sp>
        <p:nvSpPr>
          <p:cNvPr id="37" name="text-98">
            <a:extLst>
              <a:ext uri="{FF2B5EF4-FFF2-40B4-BE49-F238E27FC236}">
                <a16:creationId xmlns:a16="http://schemas.microsoft.com/office/drawing/2014/main" id="{9B06995D-323E-412F-9FB8-E4909F792D0E}"/>
              </a:ext>
            </a:extLst>
          </p:cNvPr>
          <p:cNvSpPr>
            <a:spLocks noGrp="1"/>
          </p:cNvSpPr>
          <p:nvPr/>
        </p:nvSpPr>
        <p:spPr>
          <a:xfrm>
            <a:off x="7286320" y="403519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Inovasi</a:t>
            </a:r>
          </a:p>
        </p:txBody>
      </p:sp>
      <p:sp>
        <p:nvSpPr>
          <p:cNvPr id="38" name="text-99">
            <a:extLst>
              <a:ext uri="{FF2B5EF4-FFF2-40B4-BE49-F238E27FC236}">
                <a16:creationId xmlns:a16="http://schemas.microsoft.com/office/drawing/2014/main" id="{DC25178C-377B-494A-91DB-50319FE7AA45}"/>
              </a:ext>
            </a:extLst>
          </p:cNvPr>
          <p:cNvSpPr>
            <a:spLocks noGrp="1"/>
          </p:cNvSpPr>
          <p:nvPr/>
        </p:nvSpPr>
        <p:spPr>
          <a:xfrm>
            <a:off x="7286320" y="4349520"/>
            <a:ext cx="4516112"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sz="1725" b="0" dirty="0">
                <a:solidFill>
                  <a:srgbClr val="5B7169"/>
                </a:solidFill>
                <a:latin typeface="Calibri"/>
                <a:ea typeface="Calibri"/>
                <a:cs typeface="Calibri"/>
              </a:rPr>
              <a:t>Cari </a:t>
            </a:r>
            <a:r>
              <a:rPr sz="1725" b="0" dirty="0" err="1">
                <a:solidFill>
                  <a:srgbClr val="5B7169"/>
                </a:solidFill>
                <a:latin typeface="Calibri"/>
                <a:ea typeface="Calibri"/>
                <a:cs typeface="Calibri"/>
              </a:rPr>
              <a:t>cara</a:t>
            </a:r>
            <a:r>
              <a:rPr sz="1725" b="0" dirty="0">
                <a:solidFill>
                  <a:srgbClr val="5B7169"/>
                </a:solidFill>
                <a:latin typeface="Calibri"/>
                <a:ea typeface="Calibri"/>
                <a:cs typeface="Calibri"/>
              </a:rPr>
              <a:t> lain </a:t>
            </a:r>
            <a:r>
              <a:rPr sz="1725" b="0" dirty="0" err="1">
                <a:solidFill>
                  <a:srgbClr val="5B7169"/>
                </a:solidFill>
                <a:latin typeface="Calibri"/>
                <a:ea typeface="Calibri"/>
                <a:cs typeface="Calibri"/>
              </a:rPr>
              <a:t>ka</a:t>
            </a:r>
            <a:r>
              <a:rPr lang="en-US" sz="1725" b="0" dirty="0" err="1">
                <a:solidFill>
                  <a:srgbClr val="5B7169"/>
                </a:solidFill>
                <a:latin typeface="Calibri"/>
                <a:ea typeface="Calibri"/>
                <a:cs typeface="Calibri"/>
              </a:rPr>
              <a:t>l</a:t>
            </a:r>
            <a:r>
              <a:rPr lang="en-ID" sz="1725" b="0" dirty="0">
                <a:solidFill>
                  <a:srgbClr val="5B7169"/>
                </a:solidFill>
                <a:latin typeface="Calibri"/>
                <a:ea typeface="Calibri"/>
                <a:cs typeface="Calibri"/>
              </a:rPr>
              <a:t>au</a:t>
            </a:r>
            <a:r>
              <a:rPr lang="en-US" sz="1725" b="0" dirty="0">
                <a:solidFill>
                  <a:srgbClr val="5B7169"/>
                </a:solidFill>
                <a:latin typeface="Calibri"/>
                <a:ea typeface="Calibri"/>
                <a:cs typeface="Calibri"/>
              </a:rPr>
              <a:t> deadlock </a:t>
            </a:r>
            <a:r>
              <a:rPr lang="en-US" sz="1725" b="0" dirty="0" err="1">
                <a:solidFill>
                  <a:srgbClr val="5B7169"/>
                </a:solidFill>
                <a:latin typeface="Calibri"/>
                <a:ea typeface="Calibri"/>
                <a:cs typeface="Calibri"/>
              </a:rPr>
              <a:t>dengan</a:t>
            </a:r>
            <a:r>
              <a:rPr sz="1725" b="0" dirty="0">
                <a:solidFill>
                  <a:srgbClr val="5B7169"/>
                </a:solidFill>
                <a:latin typeface="Calibri"/>
                <a:ea typeface="Calibri"/>
                <a:cs typeface="Calibri"/>
              </a:rPr>
              <a:t> </a:t>
            </a:r>
            <a:r>
              <a:rPr lang="en-US" sz="1725" b="0" dirty="0">
                <a:solidFill>
                  <a:srgbClr val="5B7169"/>
                </a:solidFill>
                <a:latin typeface="Calibri"/>
                <a:ea typeface="Calibri"/>
                <a:cs typeface="Calibri"/>
              </a:rPr>
              <a:t>strategi</a:t>
            </a:r>
            <a:r>
              <a:rPr sz="1725" b="0" dirty="0">
                <a:solidFill>
                  <a:srgbClr val="5B7169"/>
                </a:solidFill>
                <a:latin typeface="Calibri"/>
                <a:ea typeface="Calibri"/>
                <a:cs typeface="Calibri"/>
              </a:rPr>
              <a:t> lam</a:t>
            </a:r>
            <a:r>
              <a:rPr lang="en-US" sz="1725" b="0" dirty="0">
                <a:solidFill>
                  <a:srgbClr val="5B7169"/>
                </a:solidFill>
                <a:latin typeface="Calibri"/>
                <a:ea typeface="Calibri"/>
                <a:cs typeface="Calibri"/>
              </a:rPr>
              <a:t>a</a:t>
            </a:r>
            <a:r>
              <a:rPr sz="1725" b="0" dirty="0">
                <a:solidFill>
                  <a:srgbClr val="5B7169"/>
                </a:solidFill>
                <a:latin typeface="Calibri"/>
                <a:ea typeface="Calibri"/>
                <a:cs typeface="Calibri"/>
              </a:rPr>
              <a:t>.</a:t>
            </a:r>
          </a:p>
        </p:txBody>
      </p:sp>
      <p:sp>
        <p:nvSpPr>
          <p:cNvPr id="39" name="text-100">
            <a:extLst>
              <a:ext uri="{FF2B5EF4-FFF2-40B4-BE49-F238E27FC236}">
                <a16:creationId xmlns:a16="http://schemas.microsoft.com/office/drawing/2014/main" id="{F95725F8-BADB-4906-AC4E-348A62F7FFC9}"/>
              </a:ext>
            </a:extLst>
          </p:cNvPr>
          <p:cNvSpPr>
            <a:spLocks noGrp="1"/>
          </p:cNvSpPr>
          <p:nvPr/>
        </p:nvSpPr>
        <p:spPr>
          <a:xfrm>
            <a:off x="6667195" y="4699468"/>
            <a:ext cx="523875" cy="323850"/>
          </a:xfrm>
          <a:prstGeom prst="rect">
            <a:avLst/>
          </a:prstGeom>
          <a:noFill/>
          <a:ln w="0">
            <a:noFill/>
          </a:ln>
        </p:spPr>
        <p:txBody>
          <a:bodyPr wrap="square" lIns="0" tIns="0" rIns="0" bIns="0" anchor="t">
            <a:noAutofit/>
          </a:bodyPr>
          <a:lstStyle/>
          <a:p>
            <a:pPr>
              <a:defRPr sz="1650" b="1">
                <a:solidFill>
                  <a:srgbClr val="9AB6A5"/>
                </a:solidFill>
                <a:latin typeface="Calibri"/>
                <a:ea typeface="Calibri"/>
                <a:cs typeface="Calibri"/>
              </a:defRPr>
            </a:pPr>
            <a:r>
              <a:rPr sz="1650" b="1">
                <a:solidFill>
                  <a:srgbClr val="9AB6A5"/>
                </a:solidFill>
                <a:latin typeface="Calibri"/>
                <a:ea typeface="Calibri"/>
                <a:cs typeface="Calibri"/>
              </a:rPr>
              <a:t>10</a:t>
            </a:r>
          </a:p>
        </p:txBody>
      </p:sp>
      <p:sp>
        <p:nvSpPr>
          <p:cNvPr id="40" name="text-101">
            <a:extLst>
              <a:ext uri="{FF2B5EF4-FFF2-40B4-BE49-F238E27FC236}">
                <a16:creationId xmlns:a16="http://schemas.microsoft.com/office/drawing/2014/main" id="{BB6CF8B3-F6DE-464B-A7B7-1ACC7BD26123}"/>
              </a:ext>
            </a:extLst>
          </p:cNvPr>
          <p:cNvSpPr>
            <a:spLocks noGrp="1"/>
          </p:cNvSpPr>
          <p:nvPr/>
        </p:nvSpPr>
        <p:spPr>
          <a:xfrm>
            <a:off x="7286320" y="4663845"/>
            <a:ext cx="4333875" cy="323850"/>
          </a:xfrm>
          <a:prstGeom prst="rect">
            <a:avLst/>
          </a:prstGeom>
          <a:noFill/>
          <a:ln w="0">
            <a:noFill/>
          </a:ln>
        </p:spPr>
        <p:txBody>
          <a:bodyPr wrap="square" lIns="0" tIns="0" rIns="0" bIns="0" anchor="t">
            <a:noAutofit/>
          </a:bodyPr>
          <a:lstStyle/>
          <a:p>
            <a:pPr>
              <a:defRPr sz="1950" b="1">
                <a:solidFill>
                  <a:srgbClr val="173D34"/>
                </a:solidFill>
                <a:latin typeface="Calibri"/>
                <a:ea typeface="Calibri"/>
                <a:cs typeface="Calibri"/>
              </a:defRPr>
            </a:pPr>
            <a:r>
              <a:rPr sz="1950" b="1">
                <a:solidFill>
                  <a:srgbClr val="173D34"/>
                </a:solidFill>
                <a:latin typeface="Calibri"/>
                <a:ea typeface="Calibri"/>
                <a:cs typeface="Calibri"/>
              </a:rPr>
              <a:t>Fokus jangka panjang</a:t>
            </a:r>
          </a:p>
        </p:txBody>
      </p:sp>
      <p:sp>
        <p:nvSpPr>
          <p:cNvPr id="41" name="text-102">
            <a:extLst>
              <a:ext uri="{FF2B5EF4-FFF2-40B4-BE49-F238E27FC236}">
                <a16:creationId xmlns:a16="http://schemas.microsoft.com/office/drawing/2014/main" id="{92022655-AAEE-4ADE-8226-7875EDE9CE4B}"/>
              </a:ext>
            </a:extLst>
          </p:cNvPr>
          <p:cNvSpPr>
            <a:spLocks noGrp="1"/>
          </p:cNvSpPr>
          <p:nvPr/>
        </p:nvSpPr>
        <p:spPr>
          <a:xfrm>
            <a:off x="7286320" y="4978170"/>
            <a:ext cx="4333875" cy="295275"/>
          </a:xfrm>
          <a:prstGeom prst="rect">
            <a:avLst/>
          </a:prstGeom>
          <a:noFill/>
          <a:ln w="0">
            <a:noFill/>
          </a:ln>
        </p:spPr>
        <p:txBody>
          <a:bodyPr wrap="square" lIns="0" tIns="0" rIns="0" bIns="0" anchor="t">
            <a:noAutofit/>
          </a:bodyPr>
          <a:lstStyle/>
          <a:p>
            <a:pPr>
              <a:defRPr sz="1725" b="0">
                <a:solidFill>
                  <a:srgbClr val="5B7169"/>
                </a:solidFill>
                <a:latin typeface="Calibri"/>
                <a:ea typeface="Calibri"/>
                <a:cs typeface="Calibri"/>
              </a:defRPr>
            </a:pPr>
            <a:r>
              <a:rPr lang="en-US" sz="1725" b="0" dirty="0">
                <a:solidFill>
                  <a:srgbClr val="5B7169"/>
                </a:solidFill>
                <a:latin typeface="Calibri"/>
                <a:ea typeface="Calibri"/>
                <a:cs typeface="Calibri"/>
              </a:rPr>
              <a:t>Hal </a:t>
            </a:r>
            <a:r>
              <a:rPr lang="en-US" sz="1725" b="0" dirty="0" err="1">
                <a:solidFill>
                  <a:srgbClr val="5B7169"/>
                </a:solidFill>
                <a:latin typeface="Calibri"/>
                <a:ea typeface="Calibri"/>
                <a:cs typeface="Calibri"/>
              </a:rPr>
              <a:t>terpenting</a:t>
            </a:r>
            <a:r>
              <a:rPr lang="en-US" sz="1725" b="0" dirty="0">
                <a:solidFill>
                  <a:srgbClr val="5B7169"/>
                </a:solidFill>
                <a:latin typeface="Calibri"/>
                <a:ea typeface="Calibri"/>
                <a:cs typeface="Calibri"/>
              </a:rPr>
              <a:t> </a:t>
            </a:r>
            <a:r>
              <a:rPr lang="en-US" sz="1725" b="0" dirty="0" err="1">
                <a:solidFill>
                  <a:srgbClr val="5B7169"/>
                </a:solidFill>
                <a:latin typeface="Calibri"/>
                <a:ea typeface="Calibri"/>
                <a:cs typeface="Calibri"/>
              </a:rPr>
              <a:t>adalah</a:t>
            </a:r>
            <a:r>
              <a:rPr lang="en-US" sz="1725" b="0" dirty="0">
                <a:solidFill>
                  <a:srgbClr val="5B7169"/>
                </a:solidFill>
                <a:latin typeface="Calibri"/>
                <a:ea typeface="Calibri"/>
                <a:cs typeface="Calibri"/>
              </a:rPr>
              <a:t> jaga</a:t>
            </a:r>
            <a:r>
              <a:rPr sz="1725" b="0" dirty="0">
                <a:solidFill>
                  <a:srgbClr val="5B7169"/>
                </a:solidFill>
                <a:latin typeface="Calibri"/>
                <a:ea typeface="Calibri"/>
                <a:cs typeface="Calibri"/>
              </a:rPr>
              <a:t> </a:t>
            </a:r>
            <a:r>
              <a:rPr sz="1725" b="0" dirty="0" err="1">
                <a:solidFill>
                  <a:srgbClr val="5B7169"/>
                </a:solidFill>
                <a:latin typeface="Calibri"/>
                <a:ea typeface="Calibri"/>
                <a:cs typeface="Calibri"/>
              </a:rPr>
              <a:t>relasi</a:t>
            </a:r>
            <a:r>
              <a:rPr sz="1725" b="0" dirty="0">
                <a:solidFill>
                  <a:srgbClr val="5B7169"/>
                </a:solidFill>
                <a:latin typeface="Calibri"/>
                <a:ea typeface="Calibri"/>
                <a:cs typeface="Calibri"/>
              </a:rPr>
              <a:t> dan </a:t>
            </a:r>
            <a:r>
              <a:rPr sz="1725" b="0" dirty="0" err="1">
                <a:solidFill>
                  <a:srgbClr val="5B7169"/>
                </a:solidFill>
                <a:latin typeface="Calibri"/>
                <a:ea typeface="Calibri"/>
                <a:cs typeface="Calibri"/>
              </a:rPr>
              <a:t>reputasi</a:t>
            </a:r>
            <a:r>
              <a:rPr sz="1725" b="0" dirty="0">
                <a:solidFill>
                  <a:srgbClr val="5B7169"/>
                </a:solidFill>
                <a:latin typeface="Calibri"/>
                <a:ea typeface="Calibri"/>
                <a:cs typeface="Calibri"/>
              </a:rPr>
              <a:t>.</a:t>
            </a:r>
          </a:p>
        </p:txBody>
      </p:sp>
      <p:sp>
        <p:nvSpPr>
          <p:cNvPr id="42" name="Straight Connector 41">
            <a:extLst>
              <a:ext uri="{FF2B5EF4-FFF2-40B4-BE49-F238E27FC236}">
                <a16:creationId xmlns:a16="http://schemas.microsoft.com/office/drawing/2014/main" id="{5ECF25C5-3D0C-4468-80F4-4151DF211297}"/>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43" name="text-103">
            <a:extLst>
              <a:ext uri="{FF2B5EF4-FFF2-40B4-BE49-F238E27FC236}">
                <a16:creationId xmlns:a16="http://schemas.microsoft.com/office/drawing/2014/main" id="{8C3526FB-1E5E-4641-BF3E-F5B7B9527607}"/>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dirty="0" err="1">
                <a:solidFill>
                  <a:srgbClr val="087958"/>
                </a:solidFill>
                <a:latin typeface="Calibri"/>
                <a:ea typeface="Calibri"/>
                <a:cs typeface="Calibri"/>
              </a:rPr>
              <a:t>Coba</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pilih</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satu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kebiasaan</a:t>
            </a:r>
            <a:r>
              <a:rPr sz="1725" b="1" dirty="0">
                <a:solidFill>
                  <a:srgbClr val="087958"/>
                </a:solidFill>
                <a:latin typeface="Calibri"/>
                <a:ea typeface="Calibri"/>
                <a:cs typeface="Calibri"/>
              </a:rPr>
              <a:t> yang </a:t>
            </a:r>
            <a:r>
              <a:rPr sz="1725" b="1" dirty="0" err="1">
                <a:solidFill>
                  <a:srgbClr val="087958"/>
                </a:solidFill>
                <a:latin typeface="Calibri"/>
                <a:ea typeface="Calibri"/>
                <a:cs typeface="Calibri"/>
              </a:rPr>
              <a:t>mau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kamu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perbaiki</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minggu</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ini</a:t>
            </a:r>
            <a:r>
              <a:rPr sz="1725" b="1" dirty="0">
                <a:solidFill>
                  <a:srgbClr val="087958"/>
                </a:solidFill>
                <a:latin typeface="Calibri"/>
                <a:ea typeface="Calibri"/>
                <a:cs typeface="Calibri"/>
              </a:rPr>
              <a:t>.</a:t>
            </a:r>
          </a:p>
        </p:txBody>
      </p:sp>
    </p:spTree>
    <p:extLst>
      <p:ext uri="{BB962C8B-B14F-4D97-AF65-F5344CB8AC3E}">
        <p14:creationId xmlns:p14="http://schemas.microsoft.com/office/powerpoint/2010/main" val="862046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D28"/>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0" y="0"/>
            <a:ext cx="12192000" cy="6858000"/>
          </a:xfrm>
          <a:prstGeom prst="rect">
            <a:avLst/>
          </a:prstGeom>
        </p:spPr>
      </p:pic>
      <p:pic>
        <p:nvPicPr>
          <p:cNvPr id="17" name="Picture 16"/>
          <p:cNvPicPr>
            <a:picLocks noChangeAspect="1"/>
          </p:cNvPicPr>
          <p:nvPr/>
        </p:nvPicPr>
        <p:blipFill>
          <a:blip r:embed="rId4"/>
          <a:stretch/>
        </p:blipFill>
        <p:spPr>
          <a:xfrm>
            <a:off x="10591800" y="245339"/>
            <a:ext cx="1028700" cy="385621"/>
          </a:xfrm>
          <a:prstGeom prst="rect">
            <a:avLst/>
          </a:prstGeom>
        </p:spPr>
      </p:pic>
      <p:sp>
        <p:nvSpPr>
          <p:cNvPr id="3" name="text-104">
            <a:extLst>
              <a:ext uri="{FF2B5EF4-FFF2-40B4-BE49-F238E27FC236}">
                <a16:creationId xmlns:a16="http://schemas.microsoft.com/office/drawing/2014/main" id="{46CB8A51-E1F5-4CA3-942C-C7D86AFAC0D3}"/>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B9DBC6"/>
                </a:solidFill>
                <a:latin typeface="Calibri"/>
                <a:ea typeface="Calibri"/>
                <a:cs typeface="Calibri"/>
              </a:defRPr>
            </a:pPr>
            <a:r>
              <a:rPr sz="1275" b="1">
                <a:solidFill>
                  <a:srgbClr val="B9DBC6"/>
                </a:solidFill>
                <a:latin typeface="Calibri"/>
                <a:ea typeface="Calibri"/>
                <a:cs typeface="Calibri"/>
              </a:rPr>
              <a:t>GROWTH MINDSET</a:t>
            </a:r>
          </a:p>
        </p:txBody>
      </p:sp>
      <p:sp>
        <p:nvSpPr>
          <p:cNvPr id="4" name="text-105">
            <a:extLst>
              <a:ext uri="{FF2B5EF4-FFF2-40B4-BE49-F238E27FC236}">
                <a16:creationId xmlns:a16="http://schemas.microsoft.com/office/drawing/2014/main" id="{D444D744-7BCA-46A7-9323-1E2CA9CB34F5}"/>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FFFFFF"/>
                </a:solidFill>
                <a:latin typeface="Calibri"/>
                <a:ea typeface="Calibri"/>
                <a:cs typeface="Calibri"/>
              </a:defRPr>
            </a:pPr>
            <a:r>
              <a:rPr sz="2925" b="1" dirty="0">
                <a:solidFill>
                  <a:srgbClr val="FFFFFF"/>
                </a:solidFill>
                <a:latin typeface="Calibri"/>
                <a:ea typeface="Calibri"/>
                <a:cs typeface="Calibri"/>
              </a:rPr>
              <a:t>Feedback buyer </a:t>
            </a:r>
            <a:r>
              <a:rPr sz="2925" b="1" dirty="0" err="1">
                <a:solidFill>
                  <a:srgbClr val="FFFFFF"/>
                </a:solidFill>
                <a:latin typeface="Calibri"/>
                <a:ea typeface="Calibri"/>
                <a:cs typeface="Calibri"/>
              </a:rPr>
              <a:t>bisa</a:t>
            </a:r>
            <a:r>
              <a:rPr sz="2925" b="1" dirty="0">
                <a:solidFill>
                  <a:srgbClr val="FFFFFF"/>
                </a:solidFill>
                <a:latin typeface="Calibri"/>
                <a:ea typeface="Calibri"/>
                <a:cs typeface="Calibri"/>
              </a:rPr>
              <a:t> </a:t>
            </a:r>
            <a:r>
              <a:rPr sz="2925" b="1" dirty="0" err="1">
                <a:solidFill>
                  <a:srgbClr val="FFFFFF"/>
                </a:solidFill>
                <a:latin typeface="Calibri"/>
                <a:ea typeface="Calibri"/>
                <a:cs typeface="Calibri"/>
              </a:rPr>
              <a:t>membuka</a:t>
            </a:r>
            <a:r>
              <a:rPr sz="2925" b="1" dirty="0">
                <a:solidFill>
                  <a:srgbClr val="FFFFFF"/>
                </a:solidFill>
                <a:latin typeface="Calibri"/>
                <a:ea typeface="Calibri"/>
                <a:cs typeface="Calibri"/>
              </a:rPr>
              <a:t> </a:t>
            </a:r>
            <a:r>
              <a:rPr sz="2925" b="1" dirty="0" err="1">
                <a:solidFill>
                  <a:srgbClr val="FFFFFF"/>
                </a:solidFill>
                <a:latin typeface="Calibri"/>
                <a:ea typeface="Calibri"/>
                <a:cs typeface="Calibri"/>
              </a:rPr>
              <a:t>peluang</a:t>
            </a:r>
            <a:r>
              <a:rPr sz="2925" b="1" dirty="0">
                <a:solidFill>
                  <a:srgbClr val="FFFFFF"/>
                </a:solidFill>
                <a:latin typeface="Calibri"/>
                <a:ea typeface="Calibri"/>
                <a:cs typeface="Calibri"/>
              </a:rPr>
              <a:t> </a:t>
            </a:r>
            <a:r>
              <a:rPr sz="2925" b="1" dirty="0" err="1">
                <a:solidFill>
                  <a:srgbClr val="FFFFFF"/>
                </a:solidFill>
                <a:latin typeface="Calibri"/>
                <a:ea typeface="Calibri"/>
                <a:cs typeface="Calibri"/>
              </a:rPr>
              <a:t>baru</a:t>
            </a:r>
            <a:r>
              <a:rPr lang="en-US" sz="2925" b="1" dirty="0">
                <a:solidFill>
                  <a:srgbClr val="FFFFFF"/>
                </a:solidFill>
                <a:latin typeface="Calibri"/>
                <a:ea typeface="Calibri"/>
                <a:cs typeface="Calibri"/>
              </a:rPr>
              <a:t> </a:t>
            </a:r>
            <a:r>
              <a:rPr lang="en-US" sz="2925" b="1" dirty="0" err="1">
                <a:solidFill>
                  <a:srgbClr val="FFFFFF"/>
                </a:solidFill>
                <a:latin typeface="Calibri"/>
                <a:ea typeface="Calibri"/>
                <a:cs typeface="Calibri"/>
              </a:rPr>
              <a:t>untuk</a:t>
            </a:r>
            <a:r>
              <a:rPr lang="en-US" sz="2925" b="1" dirty="0">
                <a:solidFill>
                  <a:srgbClr val="FFFFFF"/>
                </a:solidFill>
                <a:latin typeface="Calibri"/>
                <a:ea typeface="Calibri"/>
                <a:cs typeface="Calibri"/>
              </a:rPr>
              <a:t> </a:t>
            </a:r>
            <a:r>
              <a:rPr lang="en-US" sz="2925" b="1" dirty="0" err="1">
                <a:solidFill>
                  <a:srgbClr val="FFFFFF"/>
                </a:solidFill>
                <a:latin typeface="Calibri"/>
                <a:ea typeface="Calibri"/>
                <a:cs typeface="Calibri"/>
              </a:rPr>
              <a:t>bisnis</a:t>
            </a:r>
            <a:r>
              <a:rPr lang="en-US" sz="2925" b="1" dirty="0">
                <a:solidFill>
                  <a:srgbClr val="FFFFFF"/>
                </a:solidFill>
                <a:latin typeface="Calibri"/>
                <a:ea typeface="Calibri"/>
                <a:cs typeface="Calibri"/>
              </a:rPr>
              <a:t> </a:t>
            </a:r>
            <a:r>
              <a:rPr lang="en-US" sz="2925" b="1" dirty="0" err="1">
                <a:solidFill>
                  <a:srgbClr val="FFFFFF"/>
                </a:solidFill>
                <a:latin typeface="Calibri"/>
                <a:ea typeface="Calibri"/>
                <a:cs typeface="Calibri"/>
              </a:rPr>
              <a:t>kita</a:t>
            </a:r>
            <a:endParaRPr sz="2925" b="1" dirty="0">
              <a:solidFill>
                <a:srgbClr val="FFFFFF"/>
              </a:solidFill>
              <a:latin typeface="Calibri"/>
              <a:ea typeface="Calibri"/>
              <a:cs typeface="Calibri"/>
            </a:endParaRPr>
          </a:p>
        </p:txBody>
      </p:sp>
      <p:sp>
        <p:nvSpPr>
          <p:cNvPr id="5" name="text-106">
            <a:extLst>
              <a:ext uri="{FF2B5EF4-FFF2-40B4-BE49-F238E27FC236}">
                <a16:creationId xmlns:a16="http://schemas.microsoft.com/office/drawing/2014/main" id="{37845C81-07F8-4B97-A5AC-8734B507AA96}"/>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6" name="text-107">
            <a:extLst>
              <a:ext uri="{FF2B5EF4-FFF2-40B4-BE49-F238E27FC236}">
                <a16:creationId xmlns:a16="http://schemas.microsoft.com/office/drawing/2014/main" id="{16A0A28A-12A7-45A8-92B5-7CEA47FCD038}"/>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07</a:t>
            </a:r>
          </a:p>
        </p:txBody>
      </p:sp>
      <p:sp>
        <p:nvSpPr>
          <p:cNvPr id="7" name="text-108">
            <a:extLst>
              <a:ext uri="{FF2B5EF4-FFF2-40B4-BE49-F238E27FC236}">
                <a16:creationId xmlns:a16="http://schemas.microsoft.com/office/drawing/2014/main" id="{32432383-6D88-45C3-8A07-6DC303D24CFC}"/>
              </a:ext>
            </a:extLst>
          </p:cNvPr>
          <p:cNvSpPr>
            <a:spLocks noGrp="1"/>
          </p:cNvSpPr>
          <p:nvPr/>
        </p:nvSpPr>
        <p:spPr>
          <a:xfrm>
            <a:off x="571500" y="2066925"/>
            <a:ext cx="11039475" cy="1104900"/>
          </a:xfrm>
          <a:prstGeom prst="rect">
            <a:avLst/>
          </a:prstGeom>
          <a:noFill/>
          <a:ln w="0">
            <a:noFill/>
          </a:ln>
        </p:spPr>
        <p:txBody>
          <a:bodyPr wrap="square" lIns="0" tIns="0" rIns="0" bIns="0" anchor="t">
            <a:noAutofit/>
          </a:bodyPr>
          <a:lstStyle/>
          <a:p>
            <a:pPr>
              <a:defRPr sz="3900" b="1">
                <a:solidFill>
                  <a:srgbClr val="FFFFFF"/>
                </a:solidFill>
                <a:latin typeface="Calibri"/>
                <a:ea typeface="Calibri"/>
                <a:cs typeface="Calibri"/>
              </a:defRPr>
            </a:pPr>
            <a:r>
              <a:rPr sz="3900" b="1" dirty="0">
                <a:solidFill>
                  <a:srgbClr val="FFFFFF"/>
                </a:solidFill>
                <a:latin typeface="Calibri"/>
                <a:ea typeface="Calibri"/>
                <a:cs typeface="Calibri"/>
              </a:rPr>
              <a:t>“</a:t>
            </a:r>
            <a:r>
              <a:rPr sz="3900" b="1" dirty="0" err="1">
                <a:solidFill>
                  <a:srgbClr val="FFFFFF"/>
                </a:solidFill>
                <a:latin typeface="Calibri"/>
                <a:ea typeface="Calibri"/>
                <a:cs typeface="Calibri"/>
              </a:rPr>
              <a:t>Ukurannya</a:t>
            </a:r>
            <a:r>
              <a:rPr sz="3900" b="1" dirty="0">
                <a:solidFill>
                  <a:srgbClr val="FFFFFF"/>
                </a:solidFill>
                <a:latin typeface="Calibri"/>
                <a:ea typeface="Calibri"/>
                <a:cs typeface="Calibri"/>
              </a:rPr>
              <a:t> </a:t>
            </a:r>
            <a:r>
              <a:rPr sz="3900" b="1" dirty="0" err="1">
                <a:solidFill>
                  <a:srgbClr val="FFFFFF"/>
                </a:solidFill>
                <a:latin typeface="Calibri"/>
                <a:ea typeface="Calibri"/>
                <a:cs typeface="Calibri"/>
              </a:rPr>
              <a:t>belum</a:t>
            </a:r>
            <a:r>
              <a:rPr sz="3900" b="1" dirty="0">
                <a:solidFill>
                  <a:srgbClr val="FFFFFF"/>
                </a:solidFill>
                <a:latin typeface="Calibri"/>
                <a:ea typeface="Calibri"/>
                <a:cs typeface="Calibri"/>
              </a:rPr>
              <a:t> </a:t>
            </a:r>
            <a:r>
              <a:rPr sz="3900" b="1" dirty="0" err="1">
                <a:solidFill>
                  <a:srgbClr val="FFFFFF"/>
                </a:solidFill>
                <a:latin typeface="Calibri"/>
                <a:ea typeface="Calibri"/>
                <a:cs typeface="Calibri"/>
              </a:rPr>
              <a:t>cocok</a:t>
            </a:r>
            <a:endParaRPr sz="3900" b="1" dirty="0">
              <a:solidFill>
                <a:srgbClr val="FFFFFF"/>
              </a:solidFill>
              <a:latin typeface="Calibri"/>
              <a:ea typeface="Calibri"/>
              <a:cs typeface="Calibri"/>
            </a:endParaRPr>
          </a:p>
          <a:p>
            <a:pPr>
              <a:defRPr sz="3900" b="1">
                <a:solidFill>
                  <a:srgbClr val="FFFFFF"/>
                </a:solidFill>
                <a:latin typeface="Calibri"/>
                <a:ea typeface="Calibri"/>
                <a:cs typeface="Calibri"/>
              </a:defRPr>
            </a:pPr>
            <a:r>
              <a:rPr sz="3900" b="1" dirty="0" err="1">
                <a:solidFill>
                  <a:srgbClr val="FFFFFF"/>
                </a:solidFill>
                <a:latin typeface="Calibri"/>
                <a:ea typeface="Calibri"/>
                <a:cs typeface="Calibri"/>
              </a:rPr>
              <a:t>untuk</a:t>
            </a:r>
            <a:r>
              <a:rPr sz="3900" b="1" dirty="0">
                <a:solidFill>
                  <a:srgbClr val="FFFFFF"/>
                </a:solidFill>
                <a:latin typeface="Calibri"/>
                <a:ea typeface="Calibri"/>
                <a:cs typeface="Calibri"/>
              </a:rPr>
              <a:t> </a:t>
            </a:r>
            <a:r>
              <a:rPr sz="3900" b="1" dirty="0" err="1">
                <a:solidFill>
                  <a:srgbClr val="FFFFFF"/>
                </a:solidFill>
                <a:latin typeface="Calibri"/>
                <a:ea typeface="Calibri"/>
                <a:cs typeface="Calibri"/>
              </a:rPr>
              <a:t>toko</a:t>
            </a:r>
            <a:r>
              <a:rPr sz="3900" b="1" dirty="0">
                <a:solidFill>
                  <a:srgbClr val="FFFFFF"/>
                </a:solidFill>
                <a:latin typeface="Calibri"/>
                <a:ea typeface="Calibri"/>
                <a:cs typeface="Calibri"/>
              </a:rPr>
              <a:t> kami.”</a:t>
            </a:r>
          </a:p>
        </p:txBody>
      </p:sp>
      <p:sp>
        <p:nvSpPr>
          <p:cNvPr id="9" name="text-109">
            <a:extLst>
              <a:ext uri="{FF2B5EF4-FFF2-40B4-BE49-F238E27FC236}">
                <a16:creationId xmlns:a16="http://schemas.microsoft.com/office/drawing/2014/main" id="{32CEDC6A-F23B-4E52-AF40-14028DC13DA5}"/>
              </a:ext>
            </a:extLst>
          </p:cNvPr>
          <p:cNvSpPr>
            <a:spLocks noGrp="1"/>
          </p:cNvSpPr>
          <p:nvPr/>
        </p:nvSpPr>
        <p:spPr>
          <a:xfrm>
            <a:off x="571500" y="3914775"/>
            <a:ext cx="4295775" cy="266700"/>
          </a:xfrm>
          <a:prstGeom prst="rect">
            <a:avLst/>
          </a:prstGeom>
          <a:noFill/>
          <a:ln w="0">
            <a:noFill/>
          </a:ln>
        </p:spPr>
        <p:txBody>
          <a:bodyPr wrap="square" lIns="0" tIns="0" rIns="0" bIns="0" anchor="t">
            <a:noAutofit/>
          </a:bodyPr>
          <a:lstStyle/>
          <a:p>
            <a:pPr>
              <a:defRPr sz="1275" b="1">
                <a:solidFill>
                  <a:srgbClr val="B9DBC6"/>
                </a:solidFill>
                <a:latin typeface="Calibri"/>
                <a:ea typeface="Calibri"/>
                <a:cs typeface="Calibri"/>
              </a:defRPr>
            </a:pPr>
            <a:r>
              <a:rPr sz="1275" b="1">
                <a:solidFill>
                  <a:srgbClr val="B9DBC6"/>
                </a:solidFill>
                <a:latin typeface="Calibri"/>
                <a:ea typeface="Calibri"/>
                <a:cs typeface="Calibri"/>
              </a:rPr>
              <a:t>FIXED MINDSET</a:t>
            </a:r>
          </a:p>
        </p:txBody>
      </p:sp>
      <p:sp>
        <p:nvSpPr>
          <p:cNvPr id="10" name="text-110">
            <a:extLst>
              <a:ext uri="{FF2B5EF4-FFF2-40B4-BE49-F238E27FC236}">
                <a16:creationId xmlns:a16="http://schemas.microsoft.com/office/drawing/2014/main" id="{3D228D78-65D8-4FD7-A8CE-8B3F770A841B}"/>
              </a:ext>
            </a:extLst>
          </p:cNvPr>
          <p:cNvSpPr>
            <a:spLocks noGrp="1"/>
          </p:cNvSpPr>
          <p:nvPr/>
        </p:nvSpPr>
        <p:spPr>
          <a:xfrm>
            <a:off x="571500" y="4362450"/>
            <a:ext cx="4619625" cy="1143000"/>
          </a:xfrm>
          <a:prstGeom prst="rect">
            <a:avLst/>
          </a:prstGeom>
          <a:noFill/>
          <a:ln w="0">
            <a:noFill/>
          </a:ln>
        </p:spPr>
        <p:txBody>
          <a:bodyPr wrap="square" lIns="0" tIns="0" rIns="0" bIns="0" anchor="t">
            <a:noAutofit/>
          </a:bodyPr>
          <a:lstStyle/>
          <a:p>
            <a:pPr>
              <a:defRPr sz="2175" b="0">
                <a:solidFill>
                  <a:srgbClr val="B2C4BD"/>
                </a:solidFill>
                <a:latin typeface="Calibri"/>
                <a:ea typeface="Calibri"/>
                <a:cs typeface="Calibri"/>
              </a:defRPr>
            </a:pPr>
            <a:r>
              <a:rPr sz="2175" b="0" dirty="0">
                <a:solidFill>
                  <a:srgbClr val="B2C4BD"/>
                </a:solidFill>
                <a:latin typeface="Calibri"/>
                <a:ea typeface="Calibri"/>
                <a:cs typeface="Calibri"/>
              </a:rPr>
              <a:t>“</a:t>
            </a:r>
            <a:r>
              <a:rPr lang="en-US" sz="2175" b="0" dirty="0">
                <a:solidFill>
                  <a:srgbClr val="B2C4BD"/>
                </a:solidFill>
                <a:latin typeface="Calibri"/>
                <a:ea typeface="Calibri"/>
                <a:cs typeface="Calibri"/>
              </a:rPr>
              <a:t>Ah </a:t>
            </a:r>
            <a:r>
              <a:rPr lang="en-US" sz="2175" b="0" dirty="0" err="1">
                <a:solidFill>
                  <a:srgbClr val="B2C4BD"/>
                </a:solidFill>
                <a:latin typeface="Calibri"/>
                <a:ea typeface="Calibri"/>
                <a:cs typeface="Calibri"/>
              </a:rPr>
              <a:t>buyernya</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nggak</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paham</a:t>
            </a:r>
            <a:r>
              <a:rPr lang="en-US" sz="2175" b="0" dirty="0">
                <a:solidFill>
                  <a:srgbClr val="B2C4BD"/>
                </a:solidFill>
                <a:latin typeface="Calibri"/>
                <a:ea typeface="Calibri"/>
                <a:cs typeface="Calibri"/>
              </a:rPr>
              <a:t> </a:t>
            </a:r>
            <a:r>
              <a:rPr lang="en-US" sz="2175" b="0" dirty="0" err="1">
                <a:solidFill>
                  <a:srgbClr val="B2C4BD"/>
                </a:solidFill>
                <a:latin typeface="Calibri"/>
                <a:ea typeface="Calibri"/>
                <a:cs typeface="Calibri"/>
              </a:rPr>
              <a:t>produk</a:t>
            </a:r>
            <a:r>
              <a:rPr lang="en-US" sz="2175" dirty="0">
                <a:solidFill>
                  <a:srgbClr val="B2C4BD"/>
                </a:solidFill>
                <a:latin typeface="Calibri"/>
                <a:ea typeface="Calibri"/>
                <a:cs typeface="Calibri"/>
              </a:rPr>
              <a:t>!</a:t>
            </a:r>
            <a:r>
              <a:rPr sz="2175" b="0" dirty="0">
                <a:solidFill>
                  <a:srgbClr val="B2C4BD"/>
                </a:solidFill>
                <a:latin typeface="Calibri"/>
                <a:ea typeface="Calibri"/>
                <a:cs typeface="Calibri"/>
              </a:rPr>
              <a:t>”</a:t>
            </a:r>
          </a:p>
          <a:p>
            <a:pPr>
              <a:defRPr sz="2175" b="0">
                <a:solidFill>
                  <a:srgbClr val="B2C4BD"/>
                </a:solidFill>
                <a:latin typeface="Calibri"/>
                <a:ea typeface="Calibri"/>
                <a:cs typeface="Calibri"/>
              </a:defRPr>
            </a:pPr>
            <a:r>
              <a:rPr sz="2175" b="0" dirty="0">
                <a:solidFill>
                  <a:srgbClr val="B2C4BD"/>
                </a:solidFill>
                <a:latin typeface="Calibri"/>
                <a:ea typeface="Calibri"/>
                <a:cs typeface="Calibri"/>
              </a:rPr>
              <a:t>“</a:t>
            </a:r>
            <a:r>
              <a:rPr lang="en-US" sz="2175" b="0" dirty="0" err="1">
                <a:solidFill>
                  <a:srgbClr val="B2C4BD"/>
                </a:solidFill>
                <a:latin typeface="Calibri"/>
                <a:ea typeface="Calibri"/>
                <a:cs typeface="Calibri"/>
              </a:rPr>
              <a:t>Inimah</a:t>
            </a:r>
            <a:r>
              <a:rPr lang="en-US" sz="2175" b="0" dirty="0">
                <a:solidFill>
                  <a:srgbClr val="B2C4BD"/>
                </a:solidFill>
                <a:latin typeface="Calibri"/>
                <a:ea typeface="Calibri"/>
                <a:cs typeface="Calibri"/>
              </a:rPr>
              <a:t> </a:t>
            </a:r>
            <a:r>
              <a:rPr lang="en-US" sz="2175" b="0" dirty="0" err="1">
                <a:solidFill>
                  <a:srgbClr val="B2C4BD"/>
                </a:solidFill>
                <a:latin typeface="Calibri"/>
                <a:ea typeface="Calibri"/>
                <a:cs typeface="Calibri"/>
              </a:rPr>
              <a:t>pasarnya</a:t>
            </a:r>
            <a:r>
              <a:rPr sz="2175" b="0" dirty="0">
                <a:solidFill>
                  <a:srgbClr val="B2C4BD"/>
                </a:solidFill>
                <a:latin typeface="Calibri"/>
                <a:ea typeface="Calibri"/>
                <a:cs typeface="Calibri"/>
              </a:rPr>
              <a:t> </a:t>
            </a:r>
            <a:r>
              <a:rPr lang="en-US" sz="2175" b="0" dirty="0">
                <a:solidFill>
                  <a:srgbClr val="B2C4BD"/>
                </a:solidFill>
                <a:latin typeface="Calibri"/>
                <a:ea typeface="Calibri"/>
                <a:cs typeface="Calibri"/>
              </a:rPr>
              <a:t>yang </a:t>
            </a:r>
            <a:r>
              <a:rPr lang="en-US" sz="2175" b="0" dirty="0" err="1">
                <a:solidFill>
                  <a:srgbClr val="B2C4BD"/>
                </a:solidFill>
                <a:latin typeface="Calibri"/>
                <a:ea typeface="Calibri"/>
                <a:cs typeface="Calibri"/>
              </a:rPr>
              <a:t>n</a:t>
            </a:r>
            <a:r>
              <a:rPr sz="2175" b="0" dirty="0" err="1">
                <a:solidFill>
                  <a:srgbClr val="B2C4BD"/>
                </a:solidFill>
                <a:latin typeface="Calibri"/>
                <a:ea typeface="Calibri"/>
                <a:cs typeface="Calibri"/>
              </a:rPr>
              <a:t>ggak</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cocok</a:t>
            </a:r>
            <a:r>
              <a:rPr sz="2175" b="0" dirty="0">
                <a:solidFill>
                  <a:srgbClr val="B2C4BD"/>
                </a:solidFill>
                <a:latin typeface="Calibri"/>
                <a:ea typeface="Calibri"/>
                <a:cs typeface="Calibri"/>
              </a:rPr>
              <a:t>.”</a:t>
            </a:r>
          </a:p>
          <a:p>
            <a:pPr>
              <a:defRPr sz="2175" b="0">
                <a:solidFill>
                  <a:srgbClr val="B2C4BD"/>
                </a:solidFill>
                <a:latin typeface="Calibri"/>
                <a:ea typeface="Calibri"/>
                <a:cs typeface="Calibri"/>
              </a:defRPr>
            </a:pPr>
            <a:r>
              <a:rPr sz="2175" b="0" dirty="0">
                <a:solidFill>
                  <a:srgbClr val="B2C4BD"/>
                </a:solidFill>
                <a:latin typeface="Calibri"/>
                <a:ea typeface="Calibri"/>
                <a:cs typeface="Calibri"/>
              </a:rPr>
              <a:t>“</a:t>
            </a:r>
            <a:r>
              <a:rPr lang="en-US" sz="2175" b="0" dirty="0" err="1">
                <a:solidFill>
                  <a:srgbClr val="B2C4BD"/>
                </a:solidFill>
                <a:latin typeface="Calibri"/>
                <a:ea typeface="Calibri"/>
                <a:cs typeface="Calibri"/>
              </a:rPr>
              <a:t>Kayaknya</a:t>
            </a:r>
            <a:r>
              <a:rPr lang="en-US" sz="2175" b="0" dirty="0">
                <a:solidFill>
                  <a:srgbClr val="B2C4BD"/>
                </a:solidFill>
                <a:latin typeface="Calibri"/>
                <a:ea typeface="Calibri"/>
                <a:cs typeface="Calibri"/>
              </a:rPr>
              <a:t> team</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kita</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nggak</a:t>
            </a:r>
            <a:r>
              <a:rPr sz="2175" b="0" dirty="0">
                <a:solidFill>
                  <a:srgbClr val="B2C4BD"/>
                </a:solidFill>
                <a:latin typeface="Calibri"/>
                <a:ea typeface="Calibri"/>
                <a:cs typeface="Calibri"/>
              </a:rPr>
              <a:t> </a:t>
            </a:r>
            <a:r>
              <a:rPr sz="2175" b="0" dirty="0" err="1">
                <a:solidFill>
                  <a:srgbClr val="B2C4BD"/>
                </a:solidFill>
                <a:latin typeface="Calibri"/>
                <a:ea typeface="Calibri"/>
                <a:cs typeface="Calibri"/>
              </a:rPr>
              <a:t>bisa</a:t>
            </a:r>
            <a:r>
              <a:rPr lang="en-US" sz="2175" b="0" dirty="0">
                <a:solidFill>
                  <a:srgbClr val="B2C4BD"/>
                </a:solidFill>
                <a:latin typeface="Calibri"/>
                <a:ea typeface="Calibri"/>
                <a:cs typeface="Calibri"/>
              </a:rPr>
              <a:t> </a:t>
            </a:r>
            <a:r>
              <a:rPr lang="en-US" sz="2175" b="0" dirty="0" err="1">
                <a:solidFill>
                  <a:srgbClr val="B2C4BD"/>
                </a:solidFill>
                <a:latin typeface="Calibri"/>
                <a:ea typeface="Calibri"/>
                <a:cs typeface="Calibri"/>
              </a:rPr>
              <a:t>deh</a:t>
            </a:r>
            <a:r>
              <a:rPr sz="2175" b="0" dirty="0">
                <a:solidFill>
                  <a:srgbClr val="B2C4BD"/>
                </a:solidFill>
                <a:latin typeface="Calibri"/>
                <a:ea typeface="Calibri"/>
                <a:cs typeface="Calibri"/>
              </a:rPr>
              <a:t>.”</a:t>
            </a:r>
          </a:p>
        </p:txBody>
      </p:sp>
      <p:sp>
        <p:nvSpPr>
          <p:cNvPr id="11" name="Right Arrow 10">
            <a:extLst>
              <a:ext uri="{FF2B5EF4-FFF2-40B4-BE49-F238E27FC236}">
                <a16:creationId xmlns:a16="http://schemas.microsoft.com/office/drawing/2014/main" id="{2CAC568B-2D32-4202-A0DA-F6F21DEEF84B}"/>
              </a:ext>
            </a:extLst>
          </p:cNvPr>
          <p:cNvSpPr>
            <a:spLocks noGrp="1"/>
          </p:cNvSpPr>
          <p:nvPr/>
        </p:nvSpPr>
        <p:spPr>
          <a:xfrm>
            <a:off x="5334000" y="4724400"/>
            <a:ext cx="714375" cy="190500"/>
          </a:xfrm>
          <a:prstGeom prst="rightArrow">
            <a:avLst/>
          </a:prstGeom>
          <a:solidFill>
            <a:srgbClr val="B9DBC6"/>
          </a:solidFill>
          <a:ln w="0">
            <a:noFill/>
          </a:ln>
        </p:spPr>
        <p:txBody>
          <a:bodyPr/>
          <a:lstStyle/>
          <a:p>
            <a:endParaRPr/>
          </a:p>
        </p:txBody>
      </p:sp>
      <p:sp>
        <p:nvSpPr>
          <p:cNvPr id="12" name="text-111">
            <a:extLst>
              <a:ext uri="{FF2B5EF4-FFF2-40B4-BE49-F238E27FC236}">
                <a16:creationId xmlns:a16="http://schemas.microsoft.com/office/drawing/2014/main" id="{EF08F659-804D-40ED-B0A8-36D9FB40C653}"/>
              </a:ext>
            </a:extLst>
          </p:cNvPr>
          <p:cNvSpPr>
            <a:spLocks noGrp="1"/>
          </p:cNvSpPr>
          <p:nvPr/>
        </p:nvSpPr>
        <p:spPr>
          <a:xfrm>
            <a:off x="6667805" y="3914775"/>
            <a:ext cx="4952390" cy="266700"/>
          </a:xfrm>
          <a:prstGeom prst="rect">
            <a:avLst/>
          </a:prstGeom>
          <a:noFill/>
          <a:ln w="0">
            <a:noFill/>
          </a:ln>
        </p:spPr>
        <p:txBody>
          <a:bodyPr wrap="square" lIns="0" tIns="0" rIns="0" bIns="0" anchor="t">
            <a:noAutofit/>
          </a:bodyPr>
          <a:lstStyle/>
          <a:p>
            <a:pPr>
              <a:defRPr sz="1275" b="1">
                <a:solidFill>
                  <a:srgbClr val="B9DBC6"/>
                </a:solidFill>
                <a:latin typeface="Calibri"/>
                <a:ea typeface="Calibri"/>
                <a:cs typeface="Calibri"/>
              </a:defRPr>
            </a:pPr>
            <a:r>
              <a:rPr sz="1275" b="1">
                <a:solidFill>
                  <a:srgbClr val="B9DBC6"/>
                </a:solidFill>
                <a:latin typeface="Calibri"/>
                <a:ea typeface="Calibri"/>
                <a:cs typeface="Calibri"/>
              </a:rPr>
              <a:t>GROWTH MINDSET</a:t>
            </a:r>
          </a:p>
        </p:txBody>
      </p:sp>
      <p:sp>
        <p:nvSpPr>
          <p:cNvPr id="13" name="text-112">
            <a:extLst>
              <a:ext uri="{FF2B5EF4-FFF2-40B4-BE49-F238E27FC236}">
                <a16:creationId xmlns:a16="http://schemas.microsoft.com/office/drawing/2014/main" id="{CD2524C7-ED8A-4556-A53C-5FAE447D319A}"/>
              </a:ext>
            </a:extLst>
          </p:cNvPr>
          <p:cNvSpPr>
            <a:spLocks noGrp="1"/>
          </p:cNvSpPr>
          <p:nvPr/>
        </p:nvSpPr>
        <p:spPr>
          <a:xfrm>
            <a:off x="6667805" y="4362450"/>
            <a:ext cx="4952390" cy="1143000"/>
          </a:xfrm>
          <a:prstGeom prst="rect">
            <a:avLst/>
          </a:prstGeom>
          <a:noFill/>
          <a:ln w="0">
            <a:noFill/>
          </a:ln>
        </p:spPr>
        <p:txBody>
          <a:bodyPr wrap="square" lIns="0" tIns="0" rIns="0" bIns="0" anchor="t">
            <a:noAutofit/>
          </a:bodyPr>
          <a:lstStyle/>
          <a:p>
            <a:pPr>
              <a:defRPr sz="2175" b="1">
                <a:solidFill>
                  <a:srgbClr val="FFFFFF"/>
                </a:solidFill>
                <a:latin typeface="Calibri"/>
                <a:ea typeface="Calibri"/>
                <a:cs typeface="Calibri"/>
              </a:defRPr>
            </a:pPr>
            <a:r>
              <a:rPr sz="2175" b="1" dirty="0">
                <a:solidFill>
                  <a:srgbClr val="FFFFFF"/>
                </a:solidFill>
                <a:latin typeface="Calibri"/>
                <a:ea typeface="Calibri"/>
                <a:cs typeface="Calibri"/>
              </a:rPr>
              <a:t>“</a:t>
            </a:r>
            <a:r>
              <a:rPr sz="2175" b="1" dirty="0" err="1">
                <a:solidFill>
                  <a:srgbClr val="FFFFFF"/>
                </a:solidFill>
                <a:latin typeface="Calibri"/>
                <a:ea typeface="Calibri"/>
                <a:cs typeface="Calibri"/>
              </a:rPr>
              <a:t>Ukuran</a:t>
            </a:r>
            <a:r>
              <a:rPr sz="2175" b="1" dirty="0">
                <a:solidFill>
                  <a:srgbClr val="FFFFFF"/>
                </a:solidFill>
                <a:latin typeface="Calibri"/>
                <a:ea typeface="Calibri"/>
                <a:cs typeface="Calibri"/>
              </a:rPr>
              <a:t> </a:t>
            </a:r>
            <a:r>
              <a:rPr sz="2175" b="1" dirty="0" err="1">
                <a:solidFill>
                  <a:srgbClr val="FFFFFF"/>
                </a:solidFill>
                <a:latin typeface="Calibri"/>
                <a:ea typeface="Calibri"/>
                <a:cs typeface="Calibri"/>
              </a:rPr>
              <a:t>berapa</a:t>
            </a:r>
            <a:r>
              <a:rPr sz="2175" b="1" dirty="0">
                <a:solidFill>
                  <a:srgbClr val="FFFFFF"/>
                </a:solidFill>
                <a:latin typeface="Calibri"/>
                <a:ea typeface="Calibri"/>
                <a:cs typeface="Calibri"/>
              </a:rPr>
              <a:t> yang </a:t>
            </a:r>
            <a:r>
              <a:rPr sz="2175" b="1" dirty="0" err="1">
                <a:solidFill>
                  <a:srgbClr val="FFFFFF"/>
                </a:solidFill>
                <a:latin typeface="Calibri"/>
                <a:ea typeface="Calibri"/>
                <a:cs typeface="Calibri"/>
              </a:rPr>
              <a:t>dicari</a:t>
            </a:r>
            <a:r>
              <a:rPr lang="en-US" sz="2175" b="1" dirty="0">
                <a:solidFill>
                  <a:srgbClr val="FFFFFF"/>
                </a:solidFill>
                <a:latin typeface="Calibri"/>
                <a:ea typeface="Calibri"/>
                <a:cs typeface="Calibri"/>
              </a:rPr>
              <a:t> buyer</a:t>
            </a:r>
            <a:r>
              <a:rPr sz="2175" b="1" dirty="0">
                <a:solidFill>
                  <a:srgbClr val="FFFFFF"/>
                </a:solidFill>
                <a:latin typeface="Calibri"/>
                <a:ea typeface="Calibri"/>
                <a:cs typeface="Calibri"/>
              </a:rPr>
              <a:t>?”</a:t>
            </a:r>
          </a:p>
          <a:p>
            <a:pPr>
              <a:defRPr sz="2175" b="1">
                <a:solidFill>
                  <a:srgbClr val="FFFFFF"/>
                </a:solidFill>
                <a:latin typeface="Calibri"/>
                <a:ea typeface="Calibri"/>
                <a:cs typeface="Calibri"/>
              </a:defRPr>
            </a:pPr>
            <a:r>
              <a:rPr sz="2175" b="1" dirty="0">
                <a:solidFill>
                  <a:srgbClr val="FFFFFF"/>
                </a:solidFill>
                <a:latin typeface="Calibri"/>
                <a:ea typeface="Calibri"/>
                <a:cs typeface="Calibri"/>
              </a:rPr>
              <a:t>“</a:t>
            </a:r>
            <a:r>
              <a:rPr sz="2175" b="1" dirty="0" err="1">
                <a:solidFill>
                  <a:srgbClr val="FFFFFF"/>
                </a:solidFill>
                <a:latin typeface="Calibri"/>
                <a:ea typeface="Calibri"/>
                <a:cs typeface="Calibri"/>
              </a:rPr>
              <a:t>Apa</a:t>
            </a:r>
            <a:r>
              <a:rPr sz="2175" b="1" dirty="0">
                <a:solidFill>
                  <a:srgbClr val="FFFFFF"/>
                </a:solidFill>
                <a:latin typeface="Calibri"/>
                <a:ea typeface="Calibri"/>
                <a:cs typeface="Calibri"/>
              </a:rPr>
              <a:t> yang </a:t>
            </a:r>
            <a:r>
              <a:rPr sz="2175" b="1" dirty="0" err="1">
                <a:solidFill>
                  <a:srgbClr val="FFFFFF"/>
                </a:solidFill>
                <a:latin typeface="Calibri"/>
                <a:ea typeface="Calibri"/>
                <a:cs typeface="Calibri"/>
              </a:rPr>
              <a:t>bisa</a:t>
            </a:r>
            <a:r>
              <a:rPr sz="2175" b="1" dirty="0">
                <a:solidFill>
                  <a:srgbClr val="FFFFFF"/>
                </a:solidFill>
                <a:latin typeface="Calibri"/>
                <a:ea typeface="Calibri"/>
                <a:cs typeface="Calibri"/>
              </a:rPr>
              <a:t> </a:t>
            </a:r>
            <a:r>
              <a:rPr sz="2175" b="1" dirty="0" err="1">
                <a:solidFill>
                  <a:srgbClr val="FFFFFF"/>
                </a:solidFill>
                <a:latin typeface="Calibri"/>
                <a:ea typeface="Calibri"/>
                <a:cs typeface="Calibri"/>
              </a:rPr>
              <a:t>kita</a:t>
            </a:r>
            <a:r>
              <a:rPr sz="2175" b="1" dirty="0">
                <a:solidFill>
                  <a:srgbClr val="FFFFFF"/>
                </a:solidFill>
                <a:latin typeface="Calibri"/>
                <a:ea typeface="Calibri"/>
                <a:cs typeface="Calibri"/>
              </a:rPr>
              <a:t> </a:t>
            </a:r>
            <a:r>
              <a:rPr sz="2175" b="1" dirty="0" err="1">
                <a:solidFill>
                  <a:srgbClr val="FFFFFF"/>
                </a:solidFill>
                <a:latin typeface="Calibri"/>
                <a:ea typeface="Calibri"/>
                <a:cs typeface="Calibri"/>
              </a:rPr>
              <a:t>ubah</a:t>
            </a:r>
            <a:r>
              <a:rPr lang="en-US" sz="2175" b="1" dirty="0">
                <a:solidFill>
                  <a:srgbClr val="FFFFFF"/>
                </a:solidFill>
                <a:latin typeface="Calibri"/>
                <a:ea typeface="Calibri"/>
                <a:cs typeface="Calibri"/>
              </a:rPr>
              <a:t> di </a:t>
            </a:r>
            <a:r>
              <a:rPr lang="en-US" sz="2175" b="1" dirty="0" err="1">
                <a:solidFill>
                  <a:srgbClr val="FFFFFF"/>
                </a:solidFill>
                <a:latin typeface="Calibri"/>
                <a:ea typeface="Calibri"/>
                <a:cs typeface="Calibri"/>
              </a:rPr>
              <a:t>produk</a:t>
            </a:r>
            <a:r>
              <a:rPr lang="en-US" sz="2175" b="1" dirty="0">
                <a:solidFill>
                  <a:srgbClr val="FFFFFF"/>
                </a:solidFill>
                <a:latin typeface="Calibri"/>
                <a:ea typeface="Calibri"/>
                <a:cs typeface="Calibri"/>
              </a:rPr>
              <a:t> </a:t>
            </a:r>
            <a:r>
              <a:rPr lang="en-US" sz="2175" b="1" dirty="0" err="1">
                <a:solidFill>
                  <a:srgbClr val="FFFFFF"/>
                </a:solidFill>
                <a:latin typeface="Calibri"/>
                <a:ea typeface="Calibri"/>
                <a:cs typeface="Calibri"/>
              </a:rPr>
              <a:t>kita</a:t>
            </a:r>
            <a:r>
              <a:rPr sz="2175" b="1" dirty="0">
                <a:solidFill>
                  <a:srgbClr val="FFFFFF"/>
                </a:solidFill>
                <a:latin typeface="Calibri"/>
                <a:ea typeface="Calibri"/>
                <a:cs typeface="Calibri"/>
              </a:rPr>
              <a:t>?”</a:t>
            </a:r>
          </a:p>
          <a:p>
            <a:pPr>
              <a:defRPr sz="2175" b="1">
                <a:solidFill>
                  <a:srgbClr val="FFFFFF"/>
                </a:solidFill>
                <a:latin typeface="Calibri"/>
                <a:ea typeface="Calibri"/>
                <a:cs typeface="Calibri"/>
              </a:defRPr>
            </a:pPr>
            <a:r>
              <a:rPr sz="2175" b="1" dirty="0">
                <a:solidFill>
                  <a:srgbClr val="FFFFFF"/>
                </a:solidFill>
                <a:latin typeface="Calibri"/>
                <a:ea typeface="Calibri"/>
                <a:cs typeface="Calibri"/>
              </a:rPr>
              <a:t>“Kita </a:t>
            </a:r>
            <a:r>
              <a:rPr sz="2175" b="1" dirty="0" err="1">
                <a:solidFill>
                  <a:srgbClr val="FFFFFF"/>
                </a:solidFill>
                <a:latin typeface="Calibri"/>
                <a:ea typeface="Calibri"/>
                <a:cs typeface="Calibri"/>
              </a:rPr>
              <a:t>perlu</a:t>
            </a:r>
            <a:r>
              <a:rPr sz="2175" b="1" dirty="0">
                <a:solidFill>
                  <a:srgbClr val="FFFFFF"/>
                </a:solidFill>
                <a:latin typeface="Calibri"/>
                <a:ea typeface="Calibri"/>
                <a:cs typeface="Calibri"/>
              </a:rPr>
              <a:t> skill </a:t>
            </a:r>
            <a:r>
              <a:rPr sz="2175" b="1" dirty="0" err="1">
                <a:solidFill>
                  <a:srgbClr val="FFFFFF"/>
                </a:solidFill>
                <a:latin typeface="Calibri"/>
                <a:ea typeface="Calibri"/>
                <a:cs typeface="Calibri"/>
              </a:rPr>
              <a:t>atau</a:t>
            </a:r>
            <a:r>
              <a:rPr sz="2175" b="1" dirty="0">
                <a:solidFill>
                  <a:srgbClr val="FFFFFF"/>
                </a:solidFill>
                <a:latin typeface="Calibri"/>
                <a:ea typeface="Calibri"/>
                <a:cs typeface="Calibri"/>
              </a:rPr>
              <a:t> partner </a:t>
            </a:r>
            <a:r>
              <a:rPr lang="en-US" sz="2175" b="1" dirty="0" err="1">
                <a:solidFill>
                  <a:srgbClr val="FFFFFF"/>
                </a:solidFill>
                <a:latin typeface="Calibri"/>
                <a:ea typeface="Calibri"/>
                <a:cs typeface="Calibri"/>
              </a:rPr>
              <a:t>seperti</a:t>
            </a:r>
            <a:r>
              <a:rPr lang="en-US" sz="2175" b="1" dirty="0">
                <a:solidFill>
                  <a:srgbClr val="FFFFFF"/>
                </a:solidFill>
                <a:latin typeface="Calibri"/>
                <a:ea typeface="Calibri"/>
                <a:cs typeface="Calibri"/>
              </a:rPr>
              <a:t> </a:t>
            </a:r>
            <a:r>
              <a:rPr sz="2175" b="1" dirty="0" err="1">
                <a:solidFill>
                  <a:srgbClr val="FFFFFF"/>
                </a:solidFill>
                <a:latin typeface="Calibri"/>
                <a:ea typeface="Calibri"/>
                <a:cs typeface="Calibri"/>
              </a:rPr>
              <a:t>apa</a:t>
            </a:r>
            <a:r>
              <a:rPr sz="2175" b="1" dirty="0">
                <a:solidFill>
                  <a:srgbClr val="FFFFFF"/>
                </a:solidFill>
                <a:latin typeface="Calibri"/>
                <a:ea typeface="Calibri"/>
                <a:cs typeface="Calibri"/>
              </a:rPr>
              <a:t>?”</a:t>
            </a:r>
          </a:p>
        </p:txBody>
      </p:sp>
      <p:sp>
        <p:nvSpPr>
          <p:cNvPr id="14" name="Straight Connector 13">
            <a:extLst>
              <a:ext uri="{FF2B5EF4-FFF2-40B4-BE49-F238E27FC236}">
                <a16:creationId xmlns:a16="http://schemas.microsoft.com/office/drawing/2014/main" id="{EB827FBA-1181-4266-98A4-BECCA405EE43}"/>
              </a:ext>
            </a:extLst>
          </p:cNvPr>
          <p:cNvSpPr>
            <a:spLocks noGrp="1"/>
          </p:cNvSpPr>
          <p:nvPr/>
        </p:nvSpPr>
        <p:spPr>
          <a:xfrm>
            <a:off x="571500" y="5924550"/>
            <a:ext cx="11049000" cy="0"/>
          </a:xfrm>
          <a:prstGeom prst="line">
            <a:avLst/>
          </a:prstGeom>
          <a:noFill/>
          <a:ln w="9525">
            <a:solidFill>
              <a:srgbClr val="47766A"/>
            </a:solidFill>
          </a:ln>
        </p:spPr>
        <p:txBody>
          <a:bodyPr/>
          <a:lstStyle/>
          <a:p>
            <a:endParaRPr/>
          </a:p>
        </p:txBody>
      </p:sp>
      <p:sp>
        <p:nvSpPr>
          <p:cNvPr id="15" name="text-113">
            <a:extLst>
              <a:ext uri="{FF2B5EF4-FFF2-40B4-BE49-F238E27FC236}">
                <a16:creationId xmlns:a16="http://schemas.microsoft.com/office/drawing/2014/main" id="{8249465E-E7EA-4955-BE6B-214C93BDBFE5}"/>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B9DBC6"/>
                </a:solidFill>
                <a:latin typeface="Calibri"/>
                <a:ea typeface="Calibri"/>
                <a:cs typeface="Calibri"/>
              </a:defRPr>
            </a:pPr>
            <a:r>
              <a:rPr sz="1725" b="1" dirty="0" err="1">
                <a:solidFill>
                  <a:srgbClr val="B9DBC6"/>
                </a:solidFill>
                <a:latin typeface="Calibri"/>
                <a:ea typeface="Calibri"/>
                <a:cs typeface="Calibri"/>
              </a:rPr>
              <a:t>Terima</a:t>
            </a:r>
            <a:r>
              <a:rPr sz="1725" b="1" dirty="0">
                <a:solidFill>
                  <a:srgbClr val="B9DBC6"/>
                </a:solidFill>
                <a:latin typeface="Calibri"/>
                <a:ea typeface="Calibri"/>
                <a:cs typeface="Calibri"/>
              </a:rPr>
              <a:t> feedback-</a:t>
            </a:r>
            <a:r>
              <a:rPr sz="1725" b="1" dirty="0" err="1">
                <a:solidFill>
                  <a:srgbClr val="B9DBC6"/>
                </a:solidFill>
                <a:latin typeface="Calibri"/>
                <a:ea typeface="Calibri"/>
                <a:cs typeface="Calibri"/>
              </a:rPr>
              <a:t>nya</a:t>
            </a:r>
            <a:r>
              <a:rPr sz="1725" b="1" dirty="0">
                <a:solidFill>
                  <a:srgbClr val="B9DBC6"/>
                </a:solidFill>
                <a:latin typeface="Calibri"/>
                <a:ea typeface="Calibri"/>
                <a:cs typeface="Calibri"/>
              </a:rPr>
              <a:t>, </a:t>
            </a:r>
            <a:r>
              <a:rPr sz="1725" b="1" dirty="0" err="1">
                <a:solidFill>
                  <a:srgbClr val="B9DBC6"/>
                </a:solidFill>
                <a:latin typeface="Calibri"/>
                <a:ea typeface="Calibri"/>
                <a:cs typeface="Calibri"/>
              </a:rPr>
              <a:t>lalu</a:t>
            </a:r>
            <a:r>
              <a:rPr sz="1725" b="1" dirty="0">
                <a:solidFill>
                  <a:srgbClr val="B9DBC6"/>
                </a:solidFill>
                <a:latin typeface="Calibri"/>
                <a:ea typeface="Calibri"/>
                <a:cs typeface="Calibri"/>
              </a:rPr>
              <a:t> </a:t>
            </a:r>
            <a:r>
              <a:rPr lang="en-US" sz="1725" b="1" dirty="0" err="1">
                <a:solidFill>
                  <a:srgbClr val="B9DBC6"/>
                </a:solidFill>
                <a:latin typeface="Calibri"/>
                <a:ea typeface="Calibri"/>
                <a:cs typeface="Calibri"/>
              </a:rPr>
              <a:t>kita</a:t>
            </a:r>
            <a:r>
              <a:rPr lang="en-US" sz="1725" b="1" dirty="0">
                <a:solidFill>
                  <a:srgbClr val="B9DBC6"/>
                </a:solidFill>
                <a:latin typeface="Calibri"/>
                <a:ea typeface="Calibri"/>
                <a:cs typeface="Calibri"/>
              </a:rPr>
              <a:t> </a:t>
            </a:r>
            <a:r>
              <a:rPr lang="en-US" sz="1725" b="1" dirty="0" err="1">
                <a:solidFill>
                  <a:srgbClr val="B9DBC6"/>
                </a:solidFill>
                <a:latin typeface="Calibri"/>
                <a:ea typeface="Calibri"/>
                <a:cs typeface="Calibri"/>
              </a:rPr>
              <a:t>kalkulasi</a:t>
            </a:r>
            <a:r>
              <a:rPr lang="en-US" sz="1725" b="1" dirty="0">
                <a:solidFill>
                  <a:srgbClr val="B9DBC6"/>
                </a:solidFill>
                <a:latin typeface="Calibri"/>
                <a:ea typeface="Calibri"/>
                <a:cs typeface="Calibri"/>
              </a:rPr>
              <a:t> </a:t>
            </a:r>
            <a:r>
              <a:rPr lang="en-US" sz="1725" b="1" dirty="0" err="1">
                <a:solidFill>
                  <a:srgbClr val="B9DBC6"/>
                </a:solidFill>
                <a:latin typeface="Calibri"/>
                <a:ea typeface="Calibri"/>
                <a:cs typeface="Calibri"/>
              </a:rPr>
              <a:t>terlebih</a:t>
            </a:r>
            <a:r>
              <a:rPr sz="1725" b="1" dirty="0">
                <a:solidFill>
                  <a:srgbClr val="B9DBC6"/>
                </a:solidFill>
                <a:latin typeface="Calibri"/>
                <a:ea typeface="Calibri"/>
                <a:cs typeface="Calibri"/>
              </a:rPr>
              <a:t> </a:t>
            </a:r>
            <a:r>
              <a:rPr sz="1725" b="1" dirty="0" err="1">
                <a:solidFill>
                  <a:srgbClr val="B9DBC6"/>
                </a:solidFill>
                <a:latin typeface="Calibri"/>
                <a:ea typeface="Calibri"/>
                <a:cs typeface="Calibri"/>
              </a:rPr>
              <a:t>dulu</a:t>
            </a:r>
            <a:r>
              <a:rPr sz="1725" b="1" dirty="0">
                <a:solidFill>
                  <a:srgbClr val="B9DBC6"/>
                </a:solidFill>
                <a:latin typeface="Calibri"/>
                <a:ea typeface="Calibri"/>
                <a:cs typeface="Calibri"/>
              </a:rPr>
              <a:t> </a:t>
            </a:r>
            <a:r>
              <a:rPr sz="1725" b="1" dirty="0" err="1">
                <a:solidFill>
                  <a:srgbClr val="B9DBC6"/>
                </a:solidFill>
                <a:latin typeface="Calibri"/>
                <a:ea typeface="Calibri"/>
                <a:cs typeface="Calibri"/>
              </a:rPr>
              <a:t>apakah</a:t>
            </a:r>
            <a:r>
              <a:rPr sz="1725" b="1" dirty="0">
                <a:solidFill>
                  <a:srgbClr val="B9DBC6"/>
                </a:solidFill>
                <a:latin typeface="Calibri"/>
                <a:ea typeface="Calibri"/>
                <a:cs typeface="Calibri"/>
              </a:rPr>
              <a:t> </a:t>
            </a:r>
            <a:r>
              <a:rPr sz="1725" b="1" dirty="0" err="1">
                <a:solidFill>
                  <a:srgbClr val="B9DBC6"/>
                </a:solidFill>
                <a:latin typeface="Calibri"/>
                <a:ea typeface="Calibri"/>
                <a:cs typeface="Calibri"/>
              </a:rPr>
              <a:t>layak</a:t>
            </a:r>
            <a:r>
              <a:rPr lang="en-US" sz="1725" b="1" dirty="0">
                <a:solidFill>
                  <a:srgbClr val="B9DBC6"/>
                </a:solidFill>
                <a:latin typeface="Calibri"/>
                <a:ea typeface="Calibri"/>
                <a:cs typeface="Calibri"/>
              </a:rPr>
              <a:t> </a:t>
            </a:r>
            <a:r>
              <a:rPr lang="en-US" sz="1725" b="1" dirty="0" err="1">
                <a:solidFill>
                  <a:srgbClr val="B9DBC6"/>
                </a:solidFill>
                <a:latin typeface="Calibri"/>
                <a:ea typeface="Calibri"/>
                <a:cs typeface="Calibri"/>
              </a:rPr>
              <a:t>untuk</a:t>
            </a:r>
            <a:r>
              <a:rPr sz="1725" b="1" dirty="0">
                <a:solidFill>
                  <a:srgbClr val="B9DBC6"/>
                </a:solidFill>
                <a:latin typeface="Calibri"/>
                <a:ea typeface="Calibri"/>
                <a:cs typeface="Calibri"/>
              </a:rPr>
              <a:t> </a:t>
            </a:r>
            <a:r>
              <a:rPr sz="1725" b="1" dirty="0" err="1">
                <a:solidFill>
                  <a:srgbClr val="B9DBC6"/>
                </a:solidFill>
                <a:latin typeface="Calibri"/>
                <a:ea typeface="Calibri"/>
                <a:cs typeface="Calibri"/>
              </a:rPr>
              <a:t>dijalankan</a:t>
            </a:r>
            <a:r>
              <a:rPr sz="1725" b="1" dirty="0">
                <a:solidFill>
                  <a:srgbClr val="B9DBC6"/>
                </a:solidFill>
                <a:latin typeface="Calibri"/>
                <a:ea typeface="Calibri"/>
                <a:cs typeface="Calibri"/>
              </a:rPr>
              <a:t>.</a:t>
            </a:r>
          </a:p>
        </p:txBody>
      </p:sp>
    </p:spTree>
    <p:extLst>
      <p:ext uri="{BB962C8B-B14F-4D97-AF65-F5344CB8AC3E}">
        <p14:creationId xmlns:p14="http://schemas.microsoft.com/office/powerpoint/2010/main" val="213664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C5B7A3F-A4D7-444C-8142-3E6BB1FABB29}"/>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7" name="Picture 26"/>
          <p:cNvPicPr>
            <a:picLocks noChangeAspect="1"/>
          </p:cNvPicPr>
          <p:nvPr/>
        </p:nvPicPr>
        <p:blipFill>
          <a:blip r:embed="rId4"/>
          <a:stretch/>
        </p:blipFill>
        <p:spPr>
          <a:xfrm>
            <a:off x="10591800" y="245339"/>
            <a:ext cx="1028700" cy="385621"/>
          </a:xfrm>
          <a:prstGeom prst="rect">
            <a:avLst/>
          </a:prstGeom>
        </p:spPr>
      </p:pic>
      <p:sp>
        <p:nvSpPr>
          <p:cNvPr id="4" name="text-114">
            <a:extLst>
              <a:ext uri="{FF2B5EF4-FFF2-40B4-BE49-F238E27FC236}">
                <a16:creationId xmlns:a16="http://schemas.microsoft.com/office/drawing/2014/main" id="{A1AC8748-C249-45F8-914C-26AB70142B3D}"/>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TUJUAN BISNIS</a:t>
            </a:r>
          </a:p>
        </p:txBody>
      </p:sp>
      <p:sp>
        <p:nvSpPr>
          <p:cNvPr id="5" name="text-115">
            <a:extLst>
              <a:ext uri="{FF2B5EF4-FFF2-40B4-BE49-F238E27FC236}">
                <a16:creationId xmlns:a16="http://schemas.microsoft.com/office/drawing/2014/main" id="{188A454E-3EDB-4CE8-BBA2-12C4358C375B}"/>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dirty="0">
                <a:solidFill>
                  <a:srgbClr val="173D34"/>
                </a:solidFill>
                <a:latin typeface="Calibri"/>
                <a:ea typeface="Calibri"/>
                <a:cs typeface="Calibri"/>
              </a:rPr>
              <a:t>Golden Circle </a:t>
            </a:r>
            <a:r>
              <a:rPr lang="en-US" sz="2925" b="1" dirty="0">
                <a:solidFill>
                  <a:srgbClr val="173D34"/>
                </a:solidFill>
                <a:latin typeface="Calibri"/>
                <a:ea typeface="Calibri"/>
                <a:cs typeface="Calibri"/>
              </a:rPr>
              <a:t>yang </a:t>
            </a:r>
            <a:r>
              <a:rPr lang="en-US" sz="2925" b="1" dirty="0" err="1">
                <a:solidFill>
                  <a:srgbClr val="173D34"/>
                </a:solidFill>
                <a:latin typeface="Calibri"/>
                <a:ea typeface="Calibri"/>
                <a:cs typeface="Calibri"/>
              </a:rPr>
              <a:t>dapat</a:t>
            </a:r>
            <a:r>
              <a:rPr lang="en-US" sz="2925" b="1" dirty="0">
                <a:solidFill>
                  <a:srgbClr val="173D34"/>
                </a:solidFill>
                <a:latin typeface="Calibri"/>
                <a:ea typeface="Calibri"/>
                <a:cs typeface="Calibri"/>
              </a:rPr>
              <a:t> </a:t>
            </a:r>
            <a:r>
              <a:rPr lang="en-US" sz="2925" b="1" dirty="0" err="1">
                <a:solidFill>
                  <a:srgbClr val="173D34"/>
                </a:solidFill>
                <a:latin typeface="Calibri"/>
                <a:ea typeface="Calibri"/>
                <a:cs typeface="Calibri"/>
              </a:rPr>
              <a:t>mem</a:t>
            </a:r>
            <a:r>
              <a:rPr sz="2925" b="1" dirty="0" err="1">
                <a:solidFill>
                  <a:srgbClr val="173D34"/>
                </a:solidFill>
                <a:latin typeface="Calibri"/>
                <a:ea typeface="Calibri"/>
                <a:cs typeface="Calibri"/>
              </a:rPr>
              <a:t>bantu</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kita</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tetap</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fokus</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saat</a:t>
            </a:r>
            <a:r>
              <a:rPr sz="2925" b="1" dirty="0">
                <a:solidFill>
                  <a:srgbClr val="173D34"/>
                </a:solidFill>
                <a:latin typeface="Calibri"/>
                <a:ea typeface="Calibri"/>
                <a:cs typeface="Calibri"/>
              </a:rPr>
              <a:t> order </a:t>
            </a:r>
            <a:r>
              <a:rPr sz="2925" b="1" dirty="0" err="1">
                <a:solidFill>
                  <a:srgbClr val="173D34"/>
                </a:solidFill>
                <a:latin typeface="Calibri"/>
                <a:ea typeface="Calibri"/>
                <a:cs typeface="Calibri"/>
              </a:rPr>
              <a:t>datang</a:t>
            </a:r>
            <a:endParaRPr sz="2925" b="1" dirty="0">
              <a:solidFill>
                <a:srgbClr val="173D34"/>
              </a:solidFill>
              <a:latin typeface="Calibri"/>
              <a:ea typeface="Calibri"/>
              <a:cs typeface="Calibri"/>
            </a:endParaRPr>
          </a:p>
        </p:txBody>
      </p:sp>
      <p:sp>
        <p:nvSpPr>
          <p:cNvPr id="6" name="text-116">
            <a:extLst>
              <a:ext uri="{FF2B5EF4-FFF2-40B4-BE49-F238E27FC236}">
                <a16:creationId xmlns:a16="http://schemas.microsoft.com/office/drawing/2014/main" id="{208E1028-12FB-47B1-A7FF-6B46C1BF6ADD}"/>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117">
            <a:extLst>
              <a:ext uri="{FF2B5EF4-FFF2-40B4-BE49-F238E27FC236}">
                <a16:creationId xmlns:a16="http://schemas.microsoft.com/office/drawing/2014/main" id="{D025CC2F-482C-4A6C-8B9A-C56F110970B3}"/>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08</a:t>
            </a:r>
          </a:p>
        </p:txBody>
      </p:sp>
      <p:sp>
        <p:nvSpPr>
          <p:cNvPr id="8" name="Oval 7">
            <a:extLst>
              <a:ext uri="{FF2B5EF4-FFF2-40B4-BE49-F238E27FC236}">
                <a16:creationId xmlns:a16="http://schemas.microsoft.com/office/drawing/2014/main" id="{49452A24-6BBD-415D-988C-381AA85D3A85}"/>
              </a:ext>
            </a:extLst>
          </p:cNvPr>
          <p:cNvSpPr>
            <a:spLocks noGrp="1"/>
          </p:cNvSpPr>
          <p:nvPr/>
        </p:nvSpPr>
        <p:spPr>
          <a:xfrm>
            <a:off x="571500" y="1965960"/>
            <a:ext cx="3476625" cy="3476625"/>
          </a:xfrm>
          <a:prstGeom prst="ellipse">
            <a:avLst/>
          </a:prstGeom>
          <a:noFill/>
          <a:ln w="19050">
            <a:solidFill>
              <a:srgbClr val="9AB6A5"/>
            </a:solidFill>
          </a:ln>
        </p:spPr>
        <p:txBody>
          <a:bodyPr/>
          <a:lstStyle/>
          <a:p>
            <a:endParaRPr/>
          </a:p>
        </p:txBody>
      </p:sp>
      <p:sp>
        <p:nvSpPr>
          <p:cNvPr id="9" name="Oval 8">
            <a:extLst>
              <a:ext uri="{FF2B5EF4-FFF2-40B4-BE49-F238E27FC236}">
                <a16:creationId xmlns:a16="http://schemas.microsoft.com/office/drawing/2014/main" id="{17FC6CB1-E29B-4370-B72A-1CABC5723075}"/>
              </a:ext>
            </a:extLst>
          </p:cNvPr>
          <p:cNvSpPr>
            <a:spLocks noGrp="1"/>
          </p:cNvSpPr>
          <p:nvPr/>
        </p:nvSpPr>
        <p:spPr>
          <a:xfrm>
            <a:off x="1085850" y="2480310"/>
            <a:ext cx="2447925" cy="2447925"/>
          </a:xfrm>
          <a:prstGeom prst="ellipse">
            <a:avLst/>
          </a:prstGeom>
          <a:solidFill>
            <a:srgbClr val="EDF4EF"/>
          </a:solidFill>
          <a:ln w="19050">
            <a:solidFill>
              <a:srgbClr val="087958"/>
            </a:solidFill>
          </a:ln>
        </p:spPr>
        <p:txBody>
          <a:bodyPr/>
          <a:lstStyle/>
          <a:p>
            <a:endParaRPr/>
          </a:p>
        </p:txBody>
      </p:sp>
      <p:sp>
        <p:nvSpPr>
          <p:cNvPr id="10" name="Oval 9">
            <a:extLst>
              <a:ext uri="{FF2B5EF4-FFF2-40B4-BE49-F238E27FC236}">
                <a16:creationId xmlns:a16="http://schemas.microsoft.com/office/drawing/2014/main" id="{867888D3-8584-442F-8F02-3284C5D37E3F}"/>
              </a:ext>
            </a:extLst>
          </p:cNvPr>
          <p:cNvSpPr>
            <a:spLocks noGrp="1"/>
          </p:cNvSpPr>
          <p:nvPr/>
        </p:nvSpPr>
        <p:spPr>
          <a:xfrm>
            <a:off x="1676552" y="3071012"/>
            <a:ext cx="1266825" cy="1266825"/>
          </a:xfrm>
          <a:prstGeom prst="ellipse">
            <a:avLst/>
          </a:prstGeom>
          <a:solidFill>
            <a:srgbClr val="087958"/>
          </a:solidFill>
          <a:ln w="9525">
            <a:solidFill>
              <a:srgbClr val="087958"/>
            </a:solidFill>
          </a:ln>
        </p:spPr>
        <p:txBody>
          <a:bodyPr/>
          <a:lstStyle/>
          <a:p>
            <a:endParaRPr/>
          </a:p>
        </p:txBody>
      </p:sp>
      <p:sp>
        <p:nvSpPr>
          <p:cNvPr id="11" name="text-118">
            <a:extLst>
              <a:ext uri="{FF2B5EF4-FFF2-40B4-BE49-F238E27FC236}">
                <a16:creationId xmlns:a16="http://schemas.microsoft.com/office/drawing/2014/main" id="{51E05C53-10C3-4009-8BDC-52FC7ECDB5D4}"/>
              </a:ext>
            </a:extLst>
          </p:cNvPr>
          <p:cNvSpPr>
            <a:spLocks noGrp="1"/>
          </p:cNvSpPr>
          <p:nvPr/>
        </p:nvSpPr>
        <p:spPr>
          <a:xfrm>
            <a:off x="1578254" y="2077164"/>
            <a:ext cx="1463040" cy="342900"/>
          </a:xfrm>
          <a:prstGeom prst="rect">
            <a:avLst/>
          </a:prstGeom>
          <a:noFill/>
          <a:ln w="0">
            <a:noFill/>
          </a:ln>
        </p:spPr>
        <p:txBody>
          <a:bodyPr wrap="square" lIns="0" tIns="0" rIns="0" bIns="0" anchor="t">
            <a:noAutofit/>
          </a:bodyPr>
          <a:lstStyle/>
          <a:p>
            <a:pPr algn="ctr">
              <a:defRPr sz="1875" b="1">
                <a:solidFill>
                  <a:srgbClr val="173D34"/>
                </a:solidFill>
                <a:latin typeface="Calibri"/>
                <a:ea typeface="Calibri"/>
                <a:cs typeface="Calibri"/>
              </a:defRPr>
            </a:pPr>
            <a:r>
              <a:rPr sz="1875" b="1">
                <a:solidFill>
                  <a:srgbClr val="173D34"/>
                </a:solidFill>
                <a:latin typeface="Calibri"/>
                <a:ea typeface="Calibri"/>
                <a:cs typeface="Calibri"/>
              </a:rPr>
              <a:t>WHAT</a:t>
            </a:r>
          </a:p>
        </p:txBody>
      </p:sp>
      <p:sp>
        <p:nvSpPr>
          <p:cNvPr id="12" name="text-119">
            <a:extLst>
              <a:ext uri="{FF2B5EF4-FFF2-40B4-BE49-F238E27FC236}">
                <a16:creationId xmlns:a16="http://schemas.microsoft.com/office/drawing/2014/main" id="{8289028C-22F2-4B4A-82F5-93AC9AD0CA43}"/>
              </a:ext>
            </a:extLst>
          </p:cNvPr>
          <p:cNvSpPr>
            <a:spLocks noGrp="1"/>
          </p:cNvSpPr>
          <p:nvPr/>
        </p:nvSpPr>
        <p:spPr>
          <a:xfrm>
            <a:off x="1578254" y="2629691"/>
            <a:ext cx="1463040" cy="323850"/>
          </a:xfrm>
          <a:prstGeom prst="rect">
            <a:avLst/>
          </a:prstGeom>
          <a:noFill/>
          <a:ln w="0">
            <a:noFill/>
          </a:ln>
        </p:spPr>
        <p:txBody>
          <a:bodyPr wrap="square" lIns="0" tIns="0" rIns="0" bIns="0" anchor="t">
            <a:noAutofit/>
          </a:bodyPr>
          <a:lstStyle/>
          <a:p>
            <a:pPr algn="ctr">
              <a:defRPr sz="1875" b="1">
                <a:solidFill>
                  <a:srgbClr val="087958"/>
                </a:solidFill>
                <a:latin typeface="Calibri"/>
                <a:ea typeface="Calibri"/>
                <a:cs typeface="Calibri"/>
              </a:defRPr>
            </a:pPr>
            <a:r>
              <a:rPr sz="1875" b="1">
                <a:solidFill>
                  <a:srgbClr val="087958"/>
                </a:solidFill>
                <a:latin typeface="Calibri"/>
                <a:ea typeface="Calibri"/>
                <a:cs typeface="Calibri"/>
              </a:rPr>
              <a:t>HOW</a:t>
            </a:r>
          </a:p>
        </p:txBody>
      </p:sp>
      <p:sp>
        <p:nvSpPr>
          <p:cNvPr id="13" name="text-120">
            <a:extLst>
              <a:ext uri="{FF2B5EF4-FFF2-40B4-BE49-F238E27FC236}">
                <a16:creationId xmlns:a16="http://schemas.microsoft.com/office/drawing/2014/main" id="{3EB8FFA2-7555-401F-9DA5-209F487316EF}"/>
              </a:ext>
            </a:extLst>
          </p:cNvPr>
          <p:cNvSpPr>
            <a:spLocks noGrp="1"/>
          </p:cNvSpPr>
          <p:nvPr/>
        </p:nvSpPr>
        <p:spPr>
          <a:xfrm>
            <a:off x="1578254" y="3517392"/>
            <a:ext cx="1463040" cy="409575"/>
          </a:xfrm>
          <a:prstGeom prst="rect">
            <a:avLst/>
          </a:prstGeom>
          <a:noFill/>
          <a:ln w="0">
            <a:noFill/>
          </a:ln>
        </p:spPr>
        <p:txBody>
          <a:bodyPr wrap="square" lIns="0" tIns="0" rIns="0" bIns="0" anchor="t">
            <a:noAutofit/>
          </a:bodyPr>
          <a:lstStyle/>
          <a:p>
            <a:pPr algn="ctr">
              <a:defRPr sz="2400" b="1">
                <a:solidFill>
                  <a:srgbClr val="FFFFFF"/>
                </a:solidFill>
                <a:latin typeface="Calibri"/>
                <a:ea typeface="Calibri"/>
                <a:cs typeface="Calibri"/>
              </a:defRPr>
            </a:pPr>
            <a:r>
              <a:rPr sz="2400" b="1" dirty="0">
                <a:solidFill>
                  <a:srgbClr val="FFFFFF"/>
                </a:solidFill>
                <a:latin typeface="Calibri"/>
                <a:ea typeface="Calibri"/>
                <a:cs typeface="Calibri"/>
              </a:rPr>
              <a:t>WHY</a:t>
            </a:r>
          </a:p>
        </p:txBody>
      </p:sp>
      <p:sp>
        <p:nvSpPr>
          <p:cNvPr id="14" name="text-121">
            <a:extLst>
              <a:ext uri="{FF2B5EF4-FFF2-40B4-BE49-F238E27FC236}">
                <a16:creationId xmlns:a16="http://schemas.microsoft.com/office/drawing/2014/main" id="{5D127D59-201E-4F7D-89B5-56212F1F0281}"/>
              </a:ext>
            </a:extLst>
          </p:cNvPr>
          <p:cNvSpPr>
            <a:spLocks noGrp="1"/>
          </p:cNvSpPr>
          <p:nvPr/>
        </p:nvSpPr>
        <p:spPr>
          <a:xfrm>
            <a:off x="5048250" y="2103120"/>
            <a:ext cx="65722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CONTOH: BISNIS DEKORASI RUMAH</a:t>
            </a:r>
          </a:p>
        </p:txBody>
      </p:sp>
      <p:sp>
        <p:nvSpPr>
          <p:cNvPr id="15" name="text-122">
            <a:extLst>
              <a:ext uri="{FF2B5EF4-FFF2-40B4-BE49-F238E27FC236}">
                <a16:creationId xmlns:a16="http://schemas.microsoft.com/office/drawing/2014/main" id="{C7608D9F-48B6-42F2-9056-91A49B4CF110}"/>
              </a:ext>
            </a:extLst>
          </p:cNvPr>
          <p:cNvSpPr>
            <a:spLocks noGrp="1"/>
          </p:cNvSpPr>
          <p:nvPr/>
        </p:nvSpPr>
        <p:spPr>
          <a:xfrm>
            <a:off x="5048250" y="2768727"/>
            <a:ext cx="952500" cy="314325"/>
          </a:xfrm>
          <a:prstGeom prst="rect">
            <a:avLst/>
          </a:prstGeom>
          <a:noFill/>
          <a:ln w="0">
            <a:noFill/>
          </a:ln>
        </p:spPr>
        <p:txBody>
          <a:bodyPr wrap="square" lIns="0" tIns="0" rIns="0" bIns="0" anchor="t">
            <a:noAutofit/>
          </a:bodyPr>
          <a:lstStyle/>
          <a:p>
            <a:pPr>
              <a:defRPr sz="1650" b="1">
                <a:solidFill>
                  <a:srgbClr val="087958"/>
                </a:solidFill>
                <a:latin typeface="Calibri"/>
                <a:ea typeface="Calibri"/>
                <a:cs typeface="Calibri"/>
              </a:defRPr>
            </a:pPr>
            <a:r>
              <a:rPr sz="1650" b="1">
                <a:solidFill>
                  <a:srgbClr val="087958"/>
                </a:solidFill>
                <a:latin typeface="Calibri"/>
                <a:ea typeface="Calibri"/>
                <a:cs typeface="Calibri"/>
              </a:rPr>
              <a:t>WHY</a:t>
            </a:r>
          </a:p>
        </p:txBody>
      </p:sp>
      <p:sp>
        <p:nvSpPr>
          <p:cNvPr id="16" name="text-123">
            <a:extLst>
              <a:ext uri="{FF2B5EF4-FFF2-40B4-BE49-F238E27FC236}">
                <a16:creationId xmlns:a16="http://schemas.microsoft.com/office/drawing/2014/main" id="{C269A289-5DC9-46D4-A076-35D8CBEFD128}"/>
              </a:ext>
            </a:extLst>
          </p:cNvPr>
          <p:cNvSpPr>
            <a:spLocks noGrp="1"/>
          </p:cNvSpPr>
          <p:nvPr/>
        </p:nvSpPr>
        <p:spPr>
          <a:xfrm>
            <a:off x="6248400" y="2697480"/>
            <a:ext cx="5372100" cy="69532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dirty="0" err="1">
                <a:solidFill>
                  <a:srgbClr val="173D34"/>
                </a:solidFill>
                <a:latin typeface="Calibri"/>
                <a:ea typeface="Calibri"/>
                <a:cs typeface="Calibri"/>
              </a:rPr>
              <a:t>Pengrajin</a:t>
            </a:r>
            <a:r>
              <a:rPr sz="2250" b="1" dirty="0">
                <a:solidFill>
                  <a:srgbClr val="173D34"/>
                </a:solidFill>
                <a:latin typeface="Calibri"/>
                <a:ea typeface="Calibri"/>
                <a:cs typeface="Calibri"/>
              </a:rPr>
              <a:t> </a:t>
            </a:r>
            <a:r>
              <a:rPr sz="2250" b="1" dirty="0" err="1">
                <a:solidFill>
                  <a:srgbClr val="173D34"/>
                </a:solidFill>
                <a:latin typeface="Calibri"/>
                <a:ea typeface="Calibri"/>
                <a:cs typeface="Calibri"/>
              </a:rPr>
              <a:t>lokal</a:t>
            </a:r>
            <a:r>
              <a:rPr sz="2250" b="1" dirty="0">
                <a:solidFill>
                  <a:srgbClr val="173D34"/>
                </a:solidFill>
                <a:latin typeface="Calibri"/>
                <a:ea typeface="Calibri"/>
                <a:cs typeface="Calibri"/>
              </a:rPr>
              <a:t> </a:t>
            </a:r>
            <a:r>
              <a:rPr sz="2250" b="1" dirty="0" err="1">
                <a:solidFill>
                  <a:srgbClr val="173D34"/>
                </a:solidFill>
                <a:latin typeface="Calibri"/>
                <a:ea typeface="Calibri"/>
                <a:cs typeface="Calibri"/>
              </a:rPr>
              <a:t>dapat</a:t>
            </a:r>
            <a:r>
              <a:rPr sz="2250" b="1" dirty="0">
                <a:solidFill>
                  <a:srgbClr val="173D34"/>
                </a:solidFill>
                <a:latin typeface="Calibri"/>
                <a:ea typeface="Calibri"/>
                <a:cs typeface="Calibri"/>
              </a:rPr>
              <a:t> order yang </a:t>
            </a:r>
            <a:r>
              <a:rPr sz="2250" b="1" dirty="0" err="1">
                <a:solidFill>
                  <a:srgbClr val="173D34"/>
                </a:solidFill>
                <a:latin typeface="Calibri"/>
                <a:ea typeface="Calibri"/>
                <a:cs typeface="Calibri"/>
              </a:rPr>
              <a:t>rutin</a:t>
            </a:r>
            <a:endParaRPr sz="2250" b="1" dirty="0">
              <a:solidFill>
                <a:srgbClr val="173D34"/>
              </a:solidFill>
              <a:latin typeface="Calibri"/>
              <a:ea typeface="Calibri"/>
              <a:cs typeface="Calibri"/>
            </a:endParaRPr>
          </a:p>
        </p:txBody>
      </p:sp>
      <p:sp>
        <p:nvSpPr>
          <p:cNvPr id="17" name="Straight Connector 16">
            <a:extLst>
              <a:ext uri="{FF2B5EF4-FFF2-40B4-BE49-F238E27FC236}">
                <a16:creationId xmlns:a16="http://schemas.microsoft.com/office/drawing/2014/main" id="{298BEC12-33EA-425D-A2E4-6698039D77F4}"/>
              </a:ext>
            </a:extLst>
          </p:cNvPr>
          <p:cNvSpPr>
            <a:spLocks noGrp="1"/>
          </p:cNvSpPr>
          <p:nvPr/>
        </p:nvSpPr>
        <p:spPr>
          <a:xfrm>
            <a:off x="5048402" y="3429000"/>
            <a:ext cx="6571793" cy="0"/>
          </a:xfrm>
          <a:prstGeom prst="line">
            <a:avLst/>
          </a:prstGeom>
          <a:noFill/>
          <a:ln w="9525">
            <a:solidFill>
              <a:srgbClr val="CEDDD4"/>
            </a:solidFill>
          </a:ln>
        </p:spPr>
        <p:txBody>
          <a:bodyPr/>
          <a:lstStyle/>
          <a:p>
            <a:endParaRPr/>
          </a:p>
        </p:txBody>
      </p:sp>
      <p:sp>
        <p:nvSpPr>
          <p:cNvPr id="18" name="text-124">
            <a:extLst>
              <a:ext uri="{FF2B5EF4-FFF2-40B4-BE49-F238E27FC236}">
                <a16:creationId xmlns:a16="http://schemas.microsoft.com/office/drawing/2014/main" id="{EA61D144-E553-44F8-AB3B-477A7E7AD522}"/>
              </a:ext>
            </a:extLst>
          </p:cNvPr>
          <p:cNvSpPr>
            <a:spLocks noGrp="1"/>
          </p:cNvSpPr>
          <p:nvPr/>
        </p:nvSpPr>
        <p:spPr>
          <a:xfrm>
            <a:off x="5048250" y="3820287"/>
            <a:ext cx="952500" cy="314325"/>
          </a:xfrm>
          <a:prstGeom prst="rect">
            <a:avLst/>
          </a:prstGeom>
          <a:noFill/>
          <a:ln w="0">
            <a:noFill/>
          </a:ln>
        </p:spPr>
        <p:txBody>
          <a:bodyPr wrap="square" lIns="0" tIns="0" rIns="0" bIns="0" anchor="t">
            <a:noAutofit/>
          </a:bodyPr>
          <a:lstStyle/>
          <a:p>
            <a:pPr>
              <a:defRPr sz="1650" b="1">
                <a:solidFill>
                  <a:srgbClr val="087958"/>
                </a:solidFill>
                <a:latin typeface="Calibri"/>
                <a:ea typeface="Calibri"/>
                <a:cs typeface="Calibri"/>
              </a:defRPr>
            </a:pPr>
            <a:r>
              <a:rPr sz="1650" b="1">
                <a:solidFill>
                  <a:srgbClr val="087958"/>
                </a:solidFill>
                <a:latin typeface="Calibri"/>
                <a:ea typeface="Calibri"/>
                <a:cs typeface="Calibri"/>
              </a:rPr>
              <a:t>HOW</a:t>
            </a:r>
          </a:p>
        </p:txBody>
      </p:sp>
      <p:sp>
        <p:nvSpPr>
          <p:cNvPr id="19" name="text-125">
            <a:extLst>
              <a:ext uri="{FF2B5EF4-FFF2-40B4-BE49-F238E27FC236}">
                <a16:creationId xmlns:a16="http://schemas.microsoft.com/office/drawing/2014/main" id="{F730860D-7CFD-438F-BF51-7BC1424BF2A8}"/>
              </a:ext>
            </a:extLst>
          </p:cNvPr>
          <p:cNvSpPr>
            <a:spLocks noGrp="1"/>
          </p:cNvSpPr>
          <p:nvPr/>
        </p:nvSpPr>
        <p:spPr>
          <a:xfrm>
            <a:off x="6248400" y="3749040"/>
            <a:ext cx="5372100" cy="69532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dirty="0" err="1">
                <a:solidFill>
                  <a:srgbClr val="173D34"/>
                </a:solidFill>
                <a:latin typeface="Calibri"/>
                <a:ea typeface="Calibri"/>
                <a:cs typeface="Calibri"/>
              </a:rPr>
              <a:t>Kualitas</a:t>
            </a:r>
            <a:r>
              <a:rPr sz="2250" b="1" dirty="0">
                <a:solidFill>
                  <a:srgbClr val="173D34"/>
                </a:solidFill>
                <a:latin typeface="Calibri"/>
                <a:ea typeface="Calibri"/>
                <a:cs typeface="Calibri"/>
              </a:rPr>
              <a:t> </a:t>
            </a:r>
            <a:r>
              <a:rPr sz="2250" b="1" dirty="0" err="1">
                <a:solidFill>
                  <a:srgbClr val="173D34"/>
                </a:solidFill>
                <a:latin typeface="Calibri"/>
                <a:ea typeface="Calibri"/>
                <a:cs typeface="Calibri"/>
              </a:rPr>
              <a:t>stabil</a:t>
            </a:r>
            <a:r>
              <a:rPr sz="2250" b="1" dirty="0">
                <a:solidFill>
                  <a:srgbClr val="173D34"/>
                </a:solidFill>
                <a:latin typeface="Calibri"/>
                <a:ea typeface="Calibri"/>
                <a:cs typeface="Calibri"/>
              </a:rPr>
              <a:t> dan </a:t>
            </a:r>
            <a:r>
              <a:rPr sz="2250" b="1" dirty="0" err="1">
                <a:solidFill>
                  <a:srgbClr val="173D34"/>
                </a:solidFill>
                <a:latin typeface="Calibri"/>
                <a:ea typeface="Calibri"/>
                <a:cs typeface="Calibri"/>
              </a:rPr>
              <a:t>komunikasi</a:t>
            </a:r>
            <a:r>
              <a:rPr sz="2250" b="1" dirty="0">
                <a:solidFill>
                  <a:srgbClr val="173D34"/>
                </a:solidFill>
                <a:latin typeface="Calibri"/>
                <a:ea typeface="Calibri"/>
                <a:cs typeface="Calibri"/>
              </a:rPr>
              <a:t> </a:t>
            </a:r>
            <a:r>
              <a:rPr sz="2250" b="1" dirty="0" err="1">
                <a:solidFill>
                  <a:srgbClr val="173D34"/>
                </a:solidFill>
                <a:latin typeface="Calibri"/>
                <a:ea typeface="Calibri"/>
                <a:cs typeface="Calibri"/>
              </a:rPr>
              <a:t>terbuka</a:t>
            </a:r>
            <a:endParaRPr sz="2250" b="1" dirty="0">
              <a:solidFill>
                <a:srgbClr val="173D34"/>
              </a:solidFill>
              <a:latin typeface="Calibri"/>
              <a:ea typeface="Calibri"/>
              <a:cs typeface="Calibri"/>
            </a:endParaRPr>
          </a:p>
        </p:txBody>
      </p:sp>
      <p:sp>
        <p:nvSpPr>
          <p:cNvPr id="20" name="Straight Connector 19">
            <a:extLst>
              <a:ext uri="{FF2B5EF4-FFF2-40B4-BE49-F238E27FC236}">
                <a16:creationId xmlns:a16="http://schemas.microsoft.com/office/drawing/2014/main" id="{0F1737BB-DC80-4466-AAC1-B57DD71F7CFB}"/>
              </a:ext>
            </a:extLst>
          </p:cNvPr>
          <p:cNvSpPr>
            <a:spLocks noGrp="1"/>
          </p:cNvSpPr>
          <p:nvPr/>
        </p:nvSpPr>
        <p:spPr>
          <a:xfrm>
            <a:off x="5048402" y="4480560"/>
            <a:ext cx="6571793" cy="0"/>
          </a:xfrm>
          <a:prstGeom prst="line">
            <a:avLst/>
          </a:prstGeom>
          <a:noFill/>
          <a:ln w="9525">
            <a:solidFill>
              <a:srgbClr val="CEDDD4"/>
            </a:solidFill>
          </a:ln>
        </p:spPr>
        <p:txBody>
          <a:bodyPr/>
          <a:lstStyle/>
          <a:p>
            <a:endParaRPr/>
          </a:p>
        </p:txBody>
      </p:sp>
      <p:sp>
        <p:nvSpPr>
          <p:cNvPr id="21" name="text-126">
            <a:extLst>
              <a:ext uri="{FF2B5EF4-FFF2-40B4-BE49-F238E27FC236}">
                <a16:creationId xmlns:a16="http://schemas.microsoft.com/office/drawing/2014/main" id="{B61C40D0-3807-4210-89DF-F77E20340470}"/>
              </a:ext>
            </a:extLst>
          </p:cNvPr>
          <p:cNvSpPr>
            <a:spLocks noGrp="1"/>
          </p:cNvSpPr>
          <p:nvPr/>
        </p:nvSpPr>
        <p:spPr>
          <a:xfrm>
            <a:off x="5048250" y="4871847"/>
            <a:ext cx="952500" cy="314325"/>
          </a:xfrm>
          <a:prstGeom prst="rect">
            <a:avLst/>
          </a:prstGeom>
          <a:noFill/>
          <a:ln w="0">
            <a:noFill/>
          </a:ln>
        </p:spPr>
        <p:txBody>
          <a:bodyPr wrap="square" lIns="0" tIns="0" rIns="0" bIns="0" anchor="t">
            <a:noAutofit/>
          </a:bodyPr>
          <a:lstStyle/>
          <a:p>
            <a:pPr>
              <a:defRPr sz="1650" b="1">
                <a:solidFill>
                  <a:srgbClr val="087958"/>
                </a:solidFill>
                <a:latin typeface="Calibri"/>
                <a:ea typeface="Calibri"/>
                <a:cs typeface="Calibri"/>
              </a:defRPr>
            </a:pPr>
            <a:r>
              <a:rPr sz="1650" b="1">
                <a:solidFill>
                  <a:srgbClr val="087958"/>
                </a:solidFill>
                <a:latin typeface="Calibri"/>
                <a:ea typeface="Calibri"/>
                <a:cs typeface="Calibri"/>
              </a:rPr>
              <a:t>WHAT</a:t>
            </a:r>
          </a:p>
        </p:txBody>
      </p:sp>
      <p:sp>
        <p:nvSpPr>
          <p:cNvPr id="22" name="text-127">
            <a:extLst>
              <a:ext uri="{FF2B5EF4-FFF2-40B4-BE49-F238E27FC236}">
                <a16:creationId xmlns:a16="http://schemas.microsoft.com/office/drawing/2014/main" id="{61195B13-FF7F-4E1A-9993-685790815141}"/>
              </a:ext>
            </a:extLst>
          </p:cNvPr>
          <p:cNvSpPr>
            <a:spLocks noGrp="1"/>
          </p:cNvSpPr>
          <p:nvPr/>
        </p:nvSpPr>
        <p:spPr>
          <a:xfrm>
            <a:off x="6248400" y="4800600"/>
            <a:ext cx="5372100" cy="69532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dirty="0" err="1">
                <a:solidFill>
                  <a:srgbClr val="173D34"/>
                </a:solidFill>
                <a:latin typeface="Calibri"/>
                <a:ea typeface="Calibri"/>
                <a:cs typeface="Calibri"/>
              </a:rPr>
              <a:t>Produk</a:t>
            </a:r>
            <a:r>
              <a:rPr sz="2250" b="1" dirty="0">
                <a:solidFill>
                  <a:srgbClr val="173D34"/>
                </a:solidFill>
                <a:latin typeface="Calibri"/>
                <a:ea typeface="Calibri"/>
                <a:cs typeface="Calibri"/>
              </a:rPr>
              <a:t> yang pas </a:t>
            </a:r>
            <a:r>
              <a:rPr sz="2250" b="1" dirty="0" err="1">
                <a:solidFill>
                  <a:srgbClr val="173D34"/>
                </a:solidFill>
                <a:latin typeface="Calibri"/>
                <a:ea typeface="Calibri"/>
                <a:cs typeface="Calibri"/>
              </a:rPr>
              <a:t>dengan</a:t>
            </a:r>
            <a:r>
              <a:rPr sz="2250" b="1" dirty="0">
                <a:solidFill>
                  <a:srgbClr val="173D34"/>
                </a:solidFill>
                <a:latin typeface="Calibri"/>
                <a:ea typeface="Calibri"/>
                <a:cs typeface="Calibri"/>
              </a:rPr>
              <a:t> </a:t>
            </a:r>
            <a:r>
              <a:rPr sz="2250" b="1" dirty="0" err="1">
                <a:solidFill>
                  <a:srgbClr val="173D34"/>
                </a:solidFill>
                <a:latin typeface="Calibri"/>
                <a:ea typeface="Calibri"/>
                <a:cs typeface="Calibri"/>
              </a:rPr>
              <a:t>kebutuhan</a:t>
            </a:r>
            <a:r>
              <a:rPr sz="2250" b="1" dirty="0">
                <a:solidFill>
                  <a:srgbClr val="173D34"/>
                </a:solidFill>
                <a:latin typeface="Calibri"/>
                <a:ea typeface="Calibri"/>
                <a:cs typeface="Calibri"/>
              </a:rPr>
              <a:t> buyer</a:t>
            </a:r>
          </a:p>
        </p:txBody>
      </p:sp>
      <p:sp>
        <p:nvSpPr>
          <p:cNvPr id="23" name="Straight Connector 22">
            <a:extLst>
              <a:ext uri="{FF2B5EF4-FFF2-40B4-BE49-F238E27FC236}">
                <a16:creationId xmlns:a16="http://schemas.microsoft.com/office/drawing/2014/main" id="{69C33844-8228-4B07-BC10-2828526E9C15}"/>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4" name="text-128">
            <a:extLst>
              <a:ext uri="{FF2B5EF4-FFF2-40B4-BE49-F238E27FC236}">
                <a16:creationId xmlns:a16="http://schemas.microsoft.com/office/drawing/2014/main" id="{1A3D1A79-D311-4F19-9B6D-93EA483191E7}"/>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Kalau WHY-nya jelas, lebih mudah menolak order yang tidak sejalan.</a:t>
            </a:r>
          </a:p>
        </p:txBody>
      </p:sp>
    </p:spTree>
    <p:extLst>
      <p:ext uri="{BB962C8B-B14F-4D97-AF65-F5344CB8AC3E}">
        <p14:creationId xmlns:p14="http://schemas.microsoft.com/office/powerpoint/2010/main" val="36940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EF48494-1E0D-4045-9F8A-4042BD018408}"/>
              </a:ext>
            </a:extLst>
          </p:cNvPr>
          <p:cNvSpPr>
            <a:spLocks noGrp="1"/>
          </p:cNvSpPr>
          <p:nvPr/>
        </p:nvSpPr>
        <p:spPr>
          <a:xfrm>
            <a:off x="0" y="21361"/>
            <a:ext cx="12192000" cy="6591300"/>
          </a:xfrm>
          <a:prstGeom prst="rect">
            <a:avLst/>
          </a:prstGeom>
          <a:solidFill>
            <a:srgbClr val="FFFFFF"/>
          </a:solidFill>
          <a:ln w="0">
            <a:noFill/>
          </a:ln>
        </p:spPr>
        <p:txBody>
          <a:bodyPr/>
          <a:lstStyle/>
          <a:p>
            <a:endParaRPr/>
          </a:p>
        </p:txBody>
      </p:sp>
      <p:pic>
        <p:nvPicPr>
          <p:cNvPr id="24" name="Picture 23"/>
          <p:cNvPicPr>
            <a:picLocks noChangeAspect="1"/>
          </p:cNvPicPr>
          <p:nvPr/>
        </p:nvPicPr>
        <p:blipFill>
          <a:blip r:embed="rId4"/>
          <a:stretch/>
        </p:blipFill>
        <p:spPr>
          <a:xfrm>
            <a:off x="10591800" y="245339"/>
            <a:ext cx="1028700" cy="385621"/>
          </a:xfrm>
          <a:prstGeom prst="rect">
            <a:avLst/>
          </a:prstGeom>
        </p:spPr>
      </p:pic>
      <p:sp>
        <p:nvSpPr>
          <p:cNvPr id="4" name="text-129">
            <a:extLst>
              <a:ext uri="{FF2B5EF4-FFF2-40B4-BE49-F238E27FC236}">
                <a16:creationId xmlns:a16="http://schemas.microsoft.com/office/drawing/2014/main" id="{6749493F-E569-45F4-BACD-C0EAAD783C73}"/>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SWEET SPOT</a:t>
            </a:r>
          </a:p>
        </p:txBody>
      </p:sp>
      <p:sp>
        <p:nvSpPr>
          <p:cNvPr id="5" name="text-130">
            <a:extLst>
              <a:ext uri="{FF2B5EF4-FFF2-40B4-BE49-F238E27FC236}">
                <a16:creationId xmlns:a16="http://schemas.microsoft.com/office/drawing/2014/main" id="{BB79AFF0-EB68-458F-AC46-60AB396C25C0}"/>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dirty="0">
                <a:solidFill>
                  <a:srgbClr val="173D34"/>
                </a:solidFill>
                <a:latin typeface="Calibri"/>
                <a:ea typeface="Calibri"/>
                <a:cs typeface="Calibri"/>
              </a:rPr>
              <a:t>Cari </a:t>
            </a:r>
            <a:r>
              <a:rPr sz="2925" b="1" dirty="0" err="1">
                <a:solidFill>
                  <a:srgbClr val="173D34"/>
                </a:solidFill>
                <a:latin typeface="Calibri"/>
                <a:ea typeface="Calibri"/>
                <a:cs typeface="Calibri"/>
              </a:rPr>
              <a:t>titik</a:t>
            </a:r>
            <a:r>
              <a:rPr sz="2925" b="1" dirty="0">
                <a:solidFill>
                  <a:srgbClr val="173D34"/>
                </a:solidFill>
                <a:latin typeface="Calibri"/>
                <a:ea typeface="Calibri"/>
                <a:cs typeface="Calibri"/>
              </a:rPr>
              <a:t> </a:t>
            </a:r>
            <a:r>
              <a:rPr lang="en-US" sz="2925" b="1" dirty="0" err="1">
                <a:solidFill>
                  <a:srgbClr val="173D34"/>
                </a:solidFill>
                <a:latin typeface="Calibri"/>
                <a:ea typeface="Calibri"/>
                <a:cs typeface="Calibri"/>
              </a:rPr>
              <a:t>temu</a:t>
            </a:r>
            <a:r>
              <a:rPr sz="2925" b="1" dirty="0">
                <a:solidFill>
                  <a:srgbClr val="173D34"/>
                </a:solidFill>
                <a:latin typeface="Calibri"/>
                <a:ea typeface="Calibri"/>
                <a:cs typeface="Calibri"/>
              </a:rPr>
              <a:t> </a:t>
            </a:r>
            <a:r>
              <a:rPr sz="2925" b="1" dirty="0" err="1">
                <a:solidFill>
                  <a:srgbClr val="173D34"/>
                </a:solidFill>
                <a:latin typeface="Calibri"/>
                <a:ea typeface="Calibri"/>
                <a:cs typeface="Calibri"/>
              </a:rPr>
              <a:t>antara</a:t>
            </a:r>
            <a:r>
              <a:rPr sz="2925" b="1" dirty="0">
                <a:solidFill>
                  <a:srgbClr val="173D34"/>
                </a:solidFill>
                <a:latin typeface="Calibri"/>
                <a:ea typeface="Calibri"/>
                <a:cs typeface="Calibri"/>
              </a:rPr>
              <a:t> passion, talent, dan profit</a:t>
            </a:r>
            <a:r>
              <a:rPr lang="en-US" sz="2925" b="1" dirty="0">
                <a:solidFill>
                  <a:srgbClr val="173D34"/>
                </a:solidFill>
                <a:latin typeface="Calibri"/>
                <a:ea typeface="Calibri"/>
                <a:cs typeface="Calibri"/>
              </a:rPr>
              <a:t>ability</a:t>
            </a:r>
            <a:endParaRPr sz="2925" b="1" dirty="0">
              <a:solidFill>
                <a:srgbClr val="173D34"/>
              </a:solidFill>
              <a:latin typeface="Calibri"/>
              <a:ea typeface="Calibri"/>
              <a:cs typeface="Calibri"/>
            </a:endParaRPr>
          </a:p>
        </p:txBody>
      </p:sp>
      <p:sp>
        <p:nvSpPr>
          <p:cNvPr id="6" name="text-131">
            <a:extLst>
              <a:ext uri="{FF2B5EF4-FFF2-40B4-BE49-F238E27FC236}">
                <a16:creationId xmlns:a16="http://schemas.microsoft.com/office/drawing/2014/main" id="{F2D53574-C5D0-47C7-80B2-9BCE23BB6321}"/>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132">
            <a:extLst>
              <a:ext uri="{FF2B5EF4-FFF2-40B4-BE49-F238E27FC236}">
                <a16:creationId xmlns:a16="http://schemas.microsoft.com/office/drawing/2014/main" id="{D8136502-B74F-43EF-B66F-401FE537B866}"/>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09</a:t>
            </a:r>
          </a:p>
        </p:txBody>
      </p:sp>
      <p:sp>
        <p:nvSpPr>
          <p:cNvPr id="8" name="Oval 7">
            <a:extLst>
              <a:ext uri="{FF2B5EF4-FFF2-40B4-BE49-F238E27FC236}">
                <a16:creationId xmlns:a16="http://schemas.microsoft.com/office/drawing/2014/main" id="{6D225370-94F7-48BB-9B67-BB0D4D0A6193}"/>
              </a:ext>
            </a:extLst>
          </p:cNvPr>
          <p:cNvSpPr>
            <a:spLocks noGrp="1"/>
          </p:cNvSpPr>
          <p:nvPr/>
        </p:nvSpPr>
        <p:spPr>
          <a:xfrm>
            <a:off x="561975" y="1952625"/>
            <a:ext cx="2600325" cy="2600325"/>
          </a:xfrm>
          <a:prstGeom prst="ellipse">
            <a:avLst/>
          </a:prstGeom>
          <a:noFill/>
          <a:ln w="19050">
            <a:solidFill>
              <a:srgbClr val="9AB6A5"/>
            </a:solidFill>
          </a:ln>
        </p:spPr>
        <p:txBody>
          <a:bodyPr/>
          <a:lstStyle/>
          <a:p>
            <a:endParaRPr/>
          </a:p>
        </p:txBody>
      </p:sp>
      <p:sp>
        <p:nvSpPr>
          <p:cNvPr id="9" name="Oval 8">
            <a:extLst>
              <a:ext uri="{FF2B5EF4-FFF2-40B4-BE49-F238E27FC236}">
                <a16:creationId xmlns:a16="http://schemas.microsoft.com/office/drawing/2014/main" id="{25E18D39-9DEF-44D7-96B7-CA9C87377F81}"/>
              </a:ext>
            </a:extLst>
          </p:cNvPr>
          <p:cNvSpPr>
            <a:spLocks noGrp="1"/>
          </p:cNvSpPr>
          <p:nvPr/>
        </p:nvSpPr>
        <p:spPr>
          <a:xfrm>
            <a:off x="2695575" y="1952625"/>
            <a:ext cx="2600325" cy="2600325"/>
          </a:xfrm>
          <a:prstGeom prst="ellipse">
            <a:avLst/>
          </a:prstGeom>
          <a:noFill/>
          <a:ln w="19050">
            <a:solidFill>
              <a:srgbClr val="087958"/>
            </a:solidFill>
          </a:ln>
        </p:spPr>
        <p:txBody>
          <a:bodyPr/>
          <a:lstStyle/>
          <a:p>
            <a:endParaRPr/>
          </a:p>
        </p:txBody>
      </p:sp>
      <p:sp>
        <p:nvSpPr>
          <p:cNvPr id="10" name="Oval 9">
            <a:extLst>
              <a:ext uri="{FF2B5EF4-FFF2-40B4-BE49-F238E27FC236}">
                <a16:creationId xmlns:a16="http://schemas.microsoft.com/office/drawing/2014/main" id="{4E5B294B-ED59-41B1-AA3C-581E01AA5E88}"/>
              </a:ext>
            </a:extLst>
          </p:cNvPr>
          <p:cNvSpPr>
            <a:spLocks noGrp="1"/>
          </p:cNvSpPr>
          <p:nvPr/>
        </p:nvSpPr>
        <p:spPr>
          <a:xfrm>
            <a:off x="1628775" y="3276600"/>
            <a:ext cx="2600325" cy="2600325"/>
          </a:xfrm>
          <a:prstGeom prst="ellipse">
            <a:avLst/>
          </a:prstGeom>
          <a:noFill/>
          <a:ln w="19050">
            <a:solidFill>
              <a:srgbClr val="173D34"/>
            </a:solidFill>
          </a:ln>
        </p:spPr>
        <p:txBody>
          <a:bodyPr/>
          <a:lstStyle/>
          <a:p>
            <a:endParaRPr/>
          </a:p>
        </p:txBody>
      </p:sp>
      <p:sp>
        <p:nvSpPr>
          <p:cNvPr id="11" name="text-133">
            <a:extLst>
              <a:ext uri="{FF2B5EF4-FFF2-40B4-BE49-F238E27FC236}">
                <a16:creationId xmlns:a16="http://schemas.microsoft.com/office/drawing/2014/main" id="{C17AB27C-E9C2-4390-8264-E08EF13AEB07}"/>
              </a:ext>
            </a:extLst>
          </p:cNvPr>
          <p:cNvSpPr>
            <a:spLocks noGrp="1"/>
          </p:cNvSpPr>
          <p:nvPr/>
        </p:nvSpPr>
        <p:spPr>
          <a:xfrm>
            <a:off x="402336" y="2596896"/>
            <a:ext cx="2194560" cy="352425"/>
          </a:xfrm>
          <a:prstGeom prst="rect">
            <a:avLst/>
          </a:prstGeom>
          <a:noFill/>
          <a:ln w="0">
            <a:noFill/>
          </a:ln>
        </p:spPr>
        <p:txBody>
          <a:bodyPr wrap="square" lIns="0" tIns="0" rIns="0" bIns="0" anchor="t">
            <a:noAutofit/>
          </a:bodyPr>
          <a:lstStyle/>
          <a:p>
            <a:pPr algn="ctr">
              <a:defRPr sz="2175" b="1">
                <a:solidFill>
                  <a:srgbClr val="087958"/>
                </a:solidFill>
                <a:latin typeface="Calibri"/>
                <a:ea typeface="Calibri"/>
                <a:cs typeface="Calibri"/>
              </a:defRPr>
            </a:pPr>
            <a:r>
              <a:rPr sz="2175" b="1">
                <a:solidFill>
                  <a:srgbClr val="087958"/>
                </a:solidFill>
                <a:latin typeface="Calibri"/>
                <a:ea typeface="Calibri"/>
                <a:cs typeface="Calibri"/>
              </a:rPr>
              <a:t>PASSION</a:t>
            </a:r>
          </a:p>
        </p:txBody>
      </p:sp>
      <p:sp>
        <p:nvSpPr>
          <p:cNvPr id="12" name="text-134">
            <a:extLst>
              <a:ext uri="{FF2B5EF4-FFF2-40B4-BE49-F238E27FC236}">
                <a16:creationId xmlns:a16="http://schemas.microsoft.com/office/drawing/2014/main" id="{0010911D-6351-474E-A1FF-2A78EEAE51E0}"/>
              </a:ext>
            </a:extLst>
          </p:cNvPr>
          <p:cNvSpPr>
            <a:spLocks noGrp="1"/>
          </p:cNvSpPr>
          <p:nvPr/>
        </p:nvSpPr>
        <p:spPr>
          <a:xfrm>
            <a:off x="402336" y="3054096"/>
            <a:ext cx="2194560" cy="304800"/>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Yang kita suka</a:t>
            </a:r>
          </a:p>
        </p:txBody>
      </p:sp>
      <p:sp>
        <p:nvSpPr>
          <p:cNvPr id="13" name="text-135">
            <a:extLst>
              <a:ext uri="{FF2B5EF4-FFF2-40B4-BE49-F238E27FC236}">
                <a16:creationId xmlns:a16="http://schemas.microsoft.com/office/drawing/2014/main" id="{935AE18C-630C-4DD7-8BB0-64AC98234922}"/>
              </a:ext>
            </a:extLst>
          </p:cNvPr>
          <p:cNvSpPr>
            <a:spLocks noGrp="1"/>
          </p:cNvSpPr>
          <p:nvPr/>
        </p:nvSpPr>
        <p:spPr>
          <a:xfrm>
            <a:off x="3264408" y="2596896"/>
            <a:ext cx="2194560" cy="352425"/>
          </a:xfrm>
          <a:prstGeom prst="rect">
            <a:avLst/>
          </a:prstGeom>
          <a:noFill/>
          <a:ln w="0">
            <a:noFill/>
          </a:ln>
        </p:spPr>
        <p:txBody>
          <a:bodyPr wrap="square" lIns="0" tIns="0" rIns="0" bIns="0" anchor="t">
            <a:noAutofit/>
          </a:bodyPr>
          <a:lstStyle/>
          <a:p>
            <a:pPr algn="ctr">
              <a:defRPr sz="2175" b="1">
                <a:solidFill>
                  <a:srgbClr val="087958"/>
                </a:solidFill>
                <a:latin typeface="Calibri"/>
                <a:ea typeface="Calibri"/>
                <a:cs typeface="Calibri"/>
              </a:defRPr>
            </a:pPr>
            <a:r>
              <a:rPr sz="2175" b="1">
                <a:solidFill>
                  <a:srgbClr val="087958"/>
                </a:solidFill>
                <a:latin typeface="Calibri"/>
                <a:ea typeface="Calibri"/>
                <a:cs typeface="Calibri"/>
              </a:rPr>
              <a:t>TALENT</a:t>
            </a:r>
          </a:p>
        </p:txBody>
      </p:sp>
      <p:sp>
        <p:nvSpPr>
          <p:cNvPr id="14" name="text-136">
            <a:extLst>
              <a:ext uri="{FF2B5EF4-FFF2-40B4-BE49-F238E27FC236}">
                <a16:creationId xmlns:a16="http://schemas.microsoft.com/office/drawing/2014/main" id="{B16224C1-AE9E-4A22-897F-127213972EB7}"/>
              </a:ext>
            </a:extLst>
          </p:cNvPr>
          <p:cNvSpPr>
            <a:spLocks noGrp="1"/>
          </p:cNvSpPr>
          <p:nvPr/>
        </p:nvSpPr>
        <p:spPr>
          <a:xfrm>
            <a:off x="3264408" y="3054096"/>
            <a:ext cx="2194560" cy="304800"/>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Yang kita kuasai</a:t>
            </a:r>
          </a:p>
        </p:txBody>
      </p:sp>
      <p:sp>
        <p:nvSpPr>
          <p:cNvPr id="15" name="text-137">
            <a:extLst>
              <a:ext uri="{FF2B5EF4-FFF2-40B4-BE49-F238E27FC236}">
                <a16:creationId xmlns:a16="http://schemas.microsoft.com/office/drawing/2014/main" id="{71F19C02-5460-4168-8F1D-209135F1E8F9}"/>
              </a:ext>
            </a:extLst>
          </p:cNvPr>
          <p:cNvSpPr>
            <a:spLocks noGrp="1"/>
          </p:cNvSpPr>
          <p:nvPr/>
        </p:nvSpPr>
        <p:spPr>
          <a:xfrm>
            <a:off x="1831543" y="4745736"/>
            <a:ext cx="2194560" cy="352425"/>
          </a:xfrm>
          <a:prstGeom prst="rect">
            <a:avLst/>
          </a:prstGeom>
          <a:noFill/>
          <a:ln w="0">
            <a:noFill/>
          </a:ln>
        </p:spPr>
        <p:txBody>
          <a:bodyPr wrap="square" lIns="0" tIns="0" rIns="0" bIns="0" anchor="t">
            <a:noAutofit/>
          </a:bodyPr>
          <a:lstStyle/>
          <a:p>
            <a:pPr algn="ctr">
              <a:defRPr sz="2175" b="1">
                <a:solidFill>
                  <a:srgbClr val="173D34"/>
                </a:solidFill>
                <a:latin typeface="Calibri"/>
                <a:ea typeface="Calibri"/>
                <a:cs typeface="Calibri"/>
              </a:defRPr>
            </a:pPr>
            <a:r>
              <a:rPr sz="2175" b="1">
                <a:solidFill>
                  <a:srgbClr val="173D34"/>
                </a:solidFill>
                <a:latin typeface="Calibri"/>
                <a:ea typeface="Calibri"/>
                <a:cs typeface="Calibri"/>
              </a:rPr>
              <a:t>PROFIT</a:t>
            </a:r>
          </a:p>
        </p:txBody>
      </p:sp>
      <p:sp>
        <p:nvSpPr>
          <p:cNvPr id="16" name="text-138">
            <a:extLst>
              <a:ext uri="{FF2B5EF4-FFF2-40B4-BE49-F238E27FC236}">
                <a16:creationId xmlns:a16="http://schemas.microsoft.com/office/drawing/2014/main" id="{8A971430-D4C6-47FB-9BA7-757E6AAE73F8}"/>
              </a:ext>
            </a:extLst>
          </p:cNvPr>
          <p:cNvSpPr>
            <a:spLocks noGrp="1"/>
          </p:cNvSpPr>
          <p:nvPr/>
        </p:nvSpPr>
        <p:spPr>
          <a:xfrm>
            <a:off x="1831543" y="5202936"/>
            <a:ext cx="2194560" cy="304800"/>
          </a:xfrm>
          <a:prstGeom prst="rect">
            <a:avLst/>
          </a:prstGeom>
          <a:noFill/>
          <a:ln w="0">
            <a:noFill/>
          </a:ln>
        </p:spPr>
        <p:txBody>
          <a:bodyPr wrap="square" lIns="0" tIns="0" rIns="0" bIns="0" anchor="t">
            <a:noAutofit/>
          </a:bodyPr>
          <a:lstStyle/>
          <a:p>
            <a:pPr algn="ctr">
              <a:defRPr sz="1800" b="0">
                <a:solidFill>
                  <a:srgbClr val="173D34"/>
                </a:solidFill>
                <a:latin typeface="Calibri"/>
                <a:ea typeface="Calibri"/>
                <a:cs typeface="Calibri"/>
              </a:defRPr>
            </a:pPr>
            <a:r>
              <a:rPr sz="1800" b="0">
                <a:solidFill>
                  <a:srgbClr val="173D34"/>
                </a:solidFill>
                <a:latin typeface="Calibri"/>
                <a:ea typeface="Calibri"/>
                <a:cs typeface="Calibri"/>
              </a:rPr>
              <a:t>Yang menghasilkan</a:t>
            </a:r>
          </a:p>
        </p:txBody>
      </p:sp>
      <p:sp>
        <p:nvSpPr>
          <p:cNvPr id="17" name="Oval 16">
            <a:extLst>
              <a:ext uri="{FF2B5EF4-FFF2-40B4-BE49-F238E27FC236}">
                <a16:creationId xmlns:a16="http://schemas.microsoft.com/office/drawing/2014/main" id="{08AB95CE-5466-473E-8137-36B886C318C6}"/>
              </a:ext>
            </a:extLst>
          </p:cNvPr>
          <p:cNvSpPr>
            <a:spLocks noGrp="1"/>
          </p:cNvSpPr>
          <p:nvPr/>
        </p:nvSpPr>
        <p:spPr>
          <a:xfrm>
            <a:off x="2647950" y="3381375"/>
            <a:ext cx="561975" cy="561975"/>
          </a:xfrm>
          <a:prstGeom prst="ellipse">
            <a:avLst/>
          </a:prstGeom>
          <a:solidFill>
            <a:srgbClr val="087958"/>
          </a:solidFill>
          <a:ln w="0">
            <a:solidFill>
              <a:srgbClr val="087958"/>
            </a:solidFill>
          </a:ln>
        </p:spPr>
        <p:txBody>
          <a:bodyPr/>
          <a:lstStyle/>
          <a:p>
            <a:endParaRPr/>
          </a:p>
        </p:txBody>
      </p:sp>
      <p:sp>
        <p:nvSpPr>
          <p:cNvPr id="18" name="text-139">
            <a:extLst>
              <a:ext uri="{FF2B5EF4-FFF2-40B4-BE49-F238E27FC236}">
                <a16:creationId xmlns:a16="http://schemas.microsoft.com/office/drawing/2014/main" id="{AB47785C-85CE-4879-B70F-0AE61B278662}"/>
              </a:ext>
            </a:extLst>
          </p:cNvPr>
          <p:cNvSpPr>
            <a:spLocks noGrp="1"/>
          </p:cNvSpPr>
          <p:nvPr/>
        </p:nvSpPr>
        <p:spPr>
          <a:xfrm>
            <a:off x="2647950" y="3381375"/>
            <a:ext cx="561975" cy="561975"/>
          </a:xfrm>
          <a:prstGeom prst="rect">
            <a:avLst/>
          </a:prstGeom>
          <a:noFill/>
          <a:ln w="0">
            <a:noFill/>
          </a:ln>
        </p:spPr>
        <p:txBody>
          <a:bodyPr wrap="square" lIns="0" tIns="0" rIns="0" bIns="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FIT</a:t>
            </a:r>
          </a:p>
        </p:txBody>
      </p:sp>
      <p:sp>
        <p:nvSpPr>
          <p:cNvPr id="19" name="text-140">
            <a:extLst>
              <a:ext uri="{FF2B5EF4-FFF2-40B4-BE49-F238E27FC236}">
                <a16:creationId xmlns:a16="http://schemas.microsoft.com/office/drawing/2014/main" id="{63BB646D-DA09-4FF9-B490-A0C37FDFDFBB}"/>
              </a:ext>
            </a:extLst>
          </p:cNvPr>
          <p:cNvSpPr>
            <a:spLocks noGrp="1"/>
          </p:cNvSpPr>
          <p:nvPr/>
        </p:nvSpPr>
        <p:spPr>
          <a:xfrm>
            <a:off x="6667805" y="2295525"/>
            <a:ext cx="4952390" cy="1438275"/>
          </a:xfrm>
          <a:prstGeom prst="rect">
            <a:avLst/>
          </a:prstGeom>
          <a:noFill/>
          <a:ln w="0">
            <a:noFill/>
          </a:ln>
        </p:spPr>
        <p:txBody>
          <a:bodyPr wrap="square" lIns="0" tIns="0" rIns="0" bIns="0" anchor="t">
            <a:noAutofit/>
          </a:bodyPr>
          <a:lstStyle/>
          <a:p>
            <a:pPr>
              <a:defRPr sz="2925" b="1">
                <a:solidFill>
                  <a:srgbClr val="087958"/>
                </a:solidFill>
                <a:latin typeface="Calibri"/>
                <a:ea typeface="Calibri"/>
                <a:cs typeface="Calibri"/>
              </a:defRPr>
            </a:pPr>
            <a:r>
              <a:rPr sz="2925" b="1" dirty="0">
                <a:solidFill>
                  <a:srgbClr val="087958"/>
                </a:solidFill>
                <a:latin typeface="Calibri"/>
                <a:ea typeface="Calibri"/>
                <a:cs typeface="Calibri"/>
              </a:rPr>
              <a:t>Kita </a:t>
            </a:r>
            <a:r>
              <a:rPr sz="2925" b="1" dirty="0" err="1">
                <a:solidFill>
                  <a:srgbClr val="087958"/>
                </a:solidFill>
                <a:latin typeface="Calibri"/>
                <a:ea typeface="Calibri"/>
                <a:cs typeface="Calibri"/>
              </a:rPr>
              <a:t>senang</a:t>
            </a:r>
            <a:r>
              <a:rPr sz="2925" b="1" dirty="0">
                <a:solidFill>
                  <a:srgbClr val="087958"/>
                </a:solidFill>
                <a:latin typeface="Calibri"/>
                <a:ea typeface="Calibri"/>
                <a:cs typeface="Calibri"/>
              </a:rPr>
              <a:t> </a:t>
            </a:r>
            <a:r>
              <a:rPr sz="2925" b="1" dirty="0" err="1">
                <a:solidFill>
                  <a:srgbClr val="087958"/>
                </a:solidFill>
                <a:latin typeface="Calibri"/>
                <a:ea typeface="Calibri"/>
                <a:cs typeface="Calibri"/>
              </a:rPr>
              <a:t>mengerjakannya</a:t>
            </a:r>
            <a:r>
              <a:rPr sz="2925" b="1" dirty="0">
                <a:solidFill>
                  <a:srgbClr val="087958"/>
                </a:solidFill>
                <a:latin typeface="Calibri"/>
                <a:ea typeface="Calibri"/>
                <a:cs typeface="Calibri"/>
              </a:rPr>
              <a:t>,</a:t>
            </a:r>
          </a:p>
          <a:p>
            <a:pPr>
              <a:defRPr sz="2925" b="1">
                <a:solidFill>
                  <a:srgbClr val="087958"/>
                </a:solidFill>
                <a:latin typeface="Calibri"/>
                <a:ea typeface="Calibri"/>
                <a:cs typeface="Calibri"/>
              </a:defRPr>
            </a:pPr>
            <a:r>
              <a:rPr lang="en-US" sz="2925" b="1" dirty="0">
                <a:solidFill>
                  <a:srgbClr val="087958"/>
                </a:solidFill>
                <a:latin typeface="Calibri"/>
                <a:ea typeface="Calibri"/>
                <a:cs typeface="Calibri"/>
              </a:rPr>
              <a:t>B</a:t>
            </a:r>
            <a:r>
              <a:rPr sz="2925" b="1" dirty="0">
                <a:solidFill>
                  <a:srgbClr val="087958"/>
                </a:solidFill>
                <a:latin typeface="Calibri"/>
                <a:ea typeface="Calibri"/>
                <a:cs typeface="Calibri"/>
              </a:rPr>
              <a:t>uyer </a:t>
            </a:r>
            <a:r>
              <a:rPr sz="2925" b="1" dirty="0" err="1">
                <a:solidFill>
                  <a:srgbClr val="087958"/>
                </a:solidFill>
                <a:latin typeface="Calibri"/>
                <a:ea typeface="Calibri"/>
                <a:cs typeface="Calibri"/>
              </a:rPr>
              <a:t>butuh</a:t>
            </a:r>
            <a:r>
              <a:rPr lang="en-US" sz="2925" b="1" dirty="0">
                <a:solidFill>
                  <a:srgbClr val="087958"/>
                </a:solidFill>
                <a:latin typeface="Calibri"/>
                <a:ea typeface="Calibri"/>
                <a:cs typeface="Calibri"/>
              </a:rPr>
              <a:t> </a:t>
            </a:r>
            <a:r>
              <a:rPr lang="en-US" sz="2925" b="1" dirty="0" err="1">
                <a:solidFill>
                  <a:srgbClr val="087958"/>
                </a:solidFill>
                <a:latin typeface="Calibri"/>
                <a:ea typeface="Calibri"/>
                <a:cs typeface="Calibri"/>
              </a:rPr>
              <a:t>barang</a:t>
            </a:r>
            <a:r>
              <a:rPr lang="en-US" sz="2925" b="1" dirty="0">
                <a:solidFill>
                  <a:srgbClr val="087958"/>
                </a:solidFill>
                <a:latin typeface="Calibri"/>
                <a:ea typeface="Calibri"/>
                <a:cs typeface="Calibri"/>
              </a:rPr>
              <a:t> </a:t>
            </a:r>
            <a:r>
              <a:rPr lang="en-US" sz="2925" b="1" dirty="0" err="1">
                <a:solidFill>
                  <a:srgbClr val="087958"/>
                </a:solidFill>
                <a:latin typeface="Calibri"/>
                <a:ea typeface="Calibri"/>
                <a:cs typeface="Calibri"/>
              </a:rPr>
              <a:t>kita</a:t>
            </a:r>
            <a:r>
              <a:rPr sz="2925" b="1" dirty="0">
                <a:solidFill>
                  <a:srgbClr val="087958"/>
                </a:solidFill>
                <a:latin typeface="Calibri"/>
                <a:ea typeface="Calibri"/>
                <a:cs typeface="Calibri"/>
              </a:rPr>
              <a:t>,</a:t>
            </a:r>
          </a:p>
          <a:p>
            <a:pPr>
              <a:defRPr sz="2925" b="1">
                <a:solidFill>
                  <a:srgbClr val="087958"/>
                </a:solidFill>
                <a:latin typeface="Calibri"/>
                <a:ea typeface="Calibri"/>
                <a:cs typeface="Calibri"/>
              </a:defRPr>
            </a:pPr>
            <a:r>
              <a:rPr lang="en-US" sz="2925" b="1" dirty="0">
                <a:solidFill>
                  <a:srgbClr val="087958"/>
                </a:solidFill>
                <a:latin typeface="Calibri"/>
                <a:ea typeface="Calibri"/>
                <a:cs typeface="Calibri"/>
              </a:rPr>
              <a:t>Profitability </a:t>
            </a:r>
            <a:r>
              <a:rPr sz="2925" b="1" dirty="0" err="1">
                <a:solidFill>
                  <a:srgbClr val="087958"/>
                </a:solidFill>
                <a:latin typeface="Calibri"/>
                <a:ea typeface="Calibri"/>
                <a:cs typeface="Calibri"/>
              </a:rPr>
              <a:t>masuk</a:t>
            </a:r>
            <a:r>
              <a:rPr sz="2925" b="1" dirty="0">
                <a:solidFill>
                  <a:srgbClr val="087958"/>
                </a:solidFill>
                <a:latin typeface="Calibri"/>
                <a:ea typeface="Calibri"/>
                <a:cs typeface="Calibri"/>
              </a:rPr>
              <a:t>.</a:t>
            </a:r>
          </a:p>
        </p:txBody>
      </p:sp>
      <p:sp>
        <p:nvSpPr>
          <p:cNvPr id="20" name="Straight Connector 19">
            <a:extLst>
              <a:ext uri="{FF2B5EF4-FFF2-40B4-BE49-F238E27FC236}">
                <a16:creationId xmlns:a16="http://schemas.microsoft.com/office/drawing/2014/main" id="{A93BECFE-3FC3-47C8-8A26-4F73E4F1F750}"/>
              </a:ext>
            </a:extLst>
          </p:cNvPr>
          <p:cNvSpPr>
            <a:spLocks noGrp="1"/>
          </p:cNvSpPr>
          <p:nvPr/>
        </p:nvSpPr>
        <p:spPr>
          <a:xfrm>
            <a:off x="6667805" y="4191000"/>
            <a:ext cx="4952390" cy="0"/>
          </a:xfrm>
          <a:prstGeom prst="line">
            <a:avLst/>
          </a:prstGeom>
          <a:noFill/>
          <a:ln w="9525">
            <a:solidFill>
              <a:srgbClr val="CEDDD4"/>
            </a:solidFill>
          </a:ln>
        </p:spPr>
        <p:txBody>
          <a:bodyPr/>
          <a:lstStyle/>
          <a:p>
            <a:endParaRPr/>
          </a:p>
        </p:txBody>
      </p:sp>
      <p:sp>
        <p:nvSpPr>
          <p:cNvPr id="21" name="text-141">
            <a:extLst>
              <a:ext uri="{FF2B5EF4-FFF2-40B4-BE49-F238E27FC236}">
                <a16:creationId xmlns:a16="http://schemas.microsoft.com/office/drawing/2014/main" id="{4F10E203-CE29-4BA9-9831-125820B24B3F}"/>
              </a:ext>
            </a:extLst>
          </p:cNvPr>
          <p:cNvSpPr>
            <a:spLocks noGrp="1"/>
          </p:cNvSpPr>
          <p:nvPr/>
        </p:nvSpPr>
        <p:spPr>
          <a:xfrm>
            <a:off x="6667805" y="4543425"/>
            <a:ext cx="4952390" cy="1133475"/>
          </a:xfrm>
          <a:prstGeom prst="rect">
            <a:avLst/>
          </a:prstGeom>
          <a:noFill/>
          <a:ln w="0">
            <a:noFill/>
          </a:ln>
        </p:spPr>
        <p:txBody>
          <a:bodyPr wrap="square" lIns="0" tIns="0" rIns="0" bIns="0" anchor="t">
            <a:noAutofit/>
          </a:bodyPr>
          <a:lstStyle/>
          <a:p>
            <a:pPr>
              <a:defRPr sz="2175" b="0">
                <a:solidFill>
                  <a:srgbClr val="173D34"/>
                </a:solidFill>
                <a:latin typeface="Calibri"/>
                <a:ea typeface="Calibri"/>
                <a:cs typeface="Calibri"/>
              </a:defRPr>
            </a:pPr>
            <a:r>
              <a:rPr sz="2175" b="0" dirty="0" err="1">
                <a:solidFill>
                  <a:srgbClr val="173D34"/>
                </a:solidFill>
                <a:latin typeface="Calibri"/>
                <a:ea typeface="Calibri"/>
                <a:cs typeface="Calibri"/>
              </a:rPr>
              <a:t>Sebelum</a:t>
            </a:r>
            <a:r>
              <a:rPr sz="2175" b="0" dirty="0">
                <a:solidFill>
                  <a:srgbClr val="173D34"/>
                </a:solidFill>
                <a:latin typeface="Calibri"/>
                <a:ea typeface="Calibri"/>
                <a:cs typeface="Calibri"/>
              </a:rPr>
              <a:t> commit, </a:t>
            </a:r>
            <a:r>
              <a:rPr sz="2175" b="0" dirty="0" err="1">
                <a:solidFill>
                  <a:srgbClr val="173D34"/>
                </a:solidFill>
                <a:latin typeface="Calibri"/>
                <a:ea typeface="Calibri"/>
                <a:cs typeface="Calibri"/>
              </a:rPr>
              <a:t>cek</a:t>
            </a:r>
            <a:r>
              <a:rPr sz="2175" b="0" dirty="0">
                <a:solidFill>
                  <a:srgbClr val="173D34"/>
                </a:solidFill>
                <a:latin typeface="Calibri"/>
                <a:ea typeface="Calibri"/>
                <a:cs typeface="Calibri"/>
              </a:rPr>
              <a:t> </a:t>
            </a:r>
            <a:r>
              <a:rPr sz="2175" b="0" dirty="0" err="1">
                <a:solidFill>
                  <a:srgbClr val="173D34"/>
                </a:solidFill>
                <a:latin typeface="Calibri"/>
                <a:ea typeface="Calibri"/>
                <a:cs typeface="Calibri"/>
              </a:rPr>
              <a:t>dulu</a:t>
            </a:r>
            <a:r>
              <a:rPr lang="en-US" sz="2175" dirty="0">
                <a:solidFill>
                  <a:srgbClr val="173D34"/>
                </a:solidFill>
                <a:latin typeface="Calibri"/>
                <a:ea typeface="Calibri"/>
                <a:cs typeface="Calibri"/>
              </a:rPr>
              <a:t> </a:t>
            </a:r>
            <a:r>
              <a:rPr lang="en-US" sz="2175" dirty="0" err="1">
                <a:solidFill>
                  <a:srgbClr val="173D34"/>
                </a:solidFill>
                <a:latin typeface="Calibri"/>
                <a:ea typeface="Calibri"/>
                <a:cs typeface="Calibri"/>
              </a:rPr>
              <a:t>antara</a:t>
            </a:r>
            <a:r>
              <a:rPr lang="en-US" sz="2175" dirty="0">
                <a:solidFill>
                  <a:srgbClr val="173D34"/>
                </a:solidFill>
                <a:latin typeface="Calibri"/>
                <a:ea typeface="Calibri"/>
                <a:cs typeface="Calibri"/>
              </a:rPr>
              <a:t> </a:t>
            </a:r>
            <a:r>
              <a:rPr sz="2175" b="0" dirty="0" err="1">
                <a:solidFill>
                  <a:srgbClr val="173D34"/>
                </a:solidFill>
                <a:latin typeface="Calibri"/>
                <a:ea typeface="Calibri"/>
                <a:cs typeface="Calibri"/>
              </a:rPr>
              <a:t>kebutuhan</a:t>
            </a:r>
            <a:r>
              <a:rPr sz="2175" b="0" dirty="0">
                <a:solidFill>
                  <a:srgbClr val="173D34"/>
                </a:solidFill>
                <a:latin typeface="Calibri"/>
                <a:ea typeface="Calibri"/>
                <a:cs typeface="Calibri"/>
              </a:rPr>
              <a:t> buyer, </a:t>
            </a:r>
            <a:r>
              <a:rPr sz="2175" b="0" dirty="0" err="1">
                <a:solidFill>
                  <a:srgbClr val="173D34"/>
                </a:solidFill>
                <a:latin typeface="Calibri"/>
                <a:ea typeface="Calibri"/>
                <a:cs typeface="Calibri"/>
              </a:rPr>
              <a:t>kualitas</a:t>
            </a:r>
            <a:r>
              <a:rPr sz="2175" b="0" dirty="0">
                <a:solidFill>
                  <a:srgbClr val="173D34"/>
                </a:solidFill>
                <a:latin typeface="Calibri"/>
                <a:ea typeface="Calibri"/>
                <a:cs typeface="Calibri"/>
              </a:rPr>
              <a:t>,</a:t>
            </a:r>
            <a:r>
              <a:rPr lang="en-US" sz="2175" b="0" dirty="0">
                <a:solidFill>
                  <a:srgbClr val="173D34"/>
                </a:solidFill>
                <a:latin typeface="Calibri"/>
                <a:ea typeface="Calibri"/>
                <a:cs typeface="Calibri"/>
              </a:rPr>
              <a:t> </a:t>
            </a:r>
            <a:r>
              <a:rPr sz="2175" b="0" dirty="0" err="1">
                <a:solidFill>
                  <a:srgbClr val="173D34"/>
                </a:solidFill>
                <a:latin typeface="Calibri"/>
                <a:ea typeface="Calibri"/>
                <a:cs typeface="Calibri"/>
              </a:rPr>
              <a:t>kapasitas</a:t>
            </a:r>
            <a:r>
              <a:rPr lang="en-US" sz="2175" b="0" dirty="0">
                <a:solidFill>
                  <a:srgbClr val="173D34"/>
                </a:solidFill>
                <a:latin typeface="Calibri"/>
                <a:ea typeface="Calibri"/>
                <a:cs typeface="Calibri"/>
              </a:rPr>
              <a:t> </a:t>
            </a:r>
            <a:r>
              <a:rPr lang="en-US" sz="2175" b="0" dirty="0" err="1">
                <a:solidFill>
                  <a:srgbClr val="173D34"/>
                </a:solidFill>
                <a:latin typeface="Calibri"/>
                <a:ea typeface="Calibri"/>
                <a:cs typeface="Calibri"/>
              </a:rPr>
              <a:t>produksi</a:t>
            </a:r>
            <a:r>
              <a:rPr lang="en-US" sz="2175" b="0" dirty="0">
                <a:solidFill>
                  <a:srgbClr val="173D34"/>
                </a:solidFill>
                <a:latin typeface="Calibri"/>
                <a:ea typeface="Calibri"/>
                <a:cs typeface="Calibri"/>
              </a:rPr>
              <a:t> </a:t>
            </a:r>
            <a:r>
              <a:rPr lang="en-US" sz="2175" b="0" dirty="0" err="1">
                <a:solidFill>
                  <a:srgbClr val="173D34"/>
                </a:solidFill>
                <a:latin typeface="Calibri"/>
                <a:ea typeface="Calibri"/>
                <a:cs typeface="Calibri"/>
              </a:rPr>
              <a:t>kita</a:t>
            </a:r>
            <a:r>
              <a:rPr sz="2175" b="0" dirty="0">
                <a:solidFill>
                  <a:srgbClr val="173D34"/>
                </a:solidFill>
                <a:latin typeface="Calibri"/>
                <a:ea typeface="Calibri"/>
                <a:cs typeface="Calibri"/>
              </a:rPr>
              <a:t>, dan total </a:t>
            </a:r>
            <a:r>
              <a:rPr sz="2175" b="0" dirty="0" err="1">
                <a:solidFill>
                  <a:srgbClr val="173D34"/>
                </a:solidFill>
                <a:latin typeface="Calibri"/>
                <a:ea typeface="Calibri"/>
                <a:cs typeface="Calibri"/>
              </a:rPr>
              <a:t>biayanya</a:t>
            </a:r>
            <a:r>
              <a:rPr sz="2175" b="0" dirty="0">
                <a:solidFill>
                  <a:srgbClr val="173D34"/>
                </a:solidFill>
                <a:latin typeface="Calibri"/>
                <a:ea typeface="Calibri"/>
                <a:cs typeface="Calibri"/>
              </a:rPr>
              <a:t>.</a:t>
            </a:r>
          </a:p>
        </p:txBody>
      </p:sp>
    </p:spTree>
    <p:extLst>
      <p:ext uri="{BB962C8B-B14F-4D97-AF65-F5344CB8AC3E}">
        <p14:creationId xmlns:p14="http://schemas.microsoft.com/office/powerpoint/2010/main" val="1766711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B302DA5-87D8-40BB-A2B9-D6D1AAD00F2E}"/>
              </a:ext>
            </a:extLst>
          </p:cNvPr>
          <p:cNvSpPr>
            <a:spLocks noGrp="1"/>
          </p:cNvSpPr>
          <p:nvPr/>
        </p:nvSpPr>
        <p:spPr>
          <a:xfrm>
            <a:off x="0" y="21361"/>
            <a:ext cx="12192000" cy="6591300"/>
          </a:xfrm>
          <a:prstGeom prst="rect">
            <a:avLst/>
          </a:prstGeom>
          <a:solidFill>
            <a:srgbClr val="FFFFFF"/>
          </a:solidFill>
          <a:ln w="0">
            <a:noFill/>
          </a:ln>
        </p:spPr>
        <p:txBody>
          <a:bodyPr/>
          <a:lstStyle/>
          <a:p>
            <a:endParaRPr/>
          </a:p>
        </p:txBody>
      </p:sp>
      <p:pic>
        <p:nvPicPr>
          <p:cNvPr id="25" name="Picture 24"/>
          <p:cNvPicPr>
            <a:picLocks noChangeAspect="1"/>
          </p:cNvPicPr>
          <p:nvPr/>
        </p:nvPicPr>
        <p:blipFill>
          <a:blip r:embed="rId4"/>
          <a:stretch/>
        </p:blipFill>
        <p:spPr>
          <a:xfrm>
            <a:off x="10591800" y="245339"/>
            <a:ext cx="1028700" cy="385621"/>
          </a:xfrm>
          <a:prstGeom prst="rect">
            <a:avLst/>
          </a:prstGeom>
        </p:spPr>
      </p:pic>
      <p:sp>
        <p:nvSpPr>
          <p:cNvPr id="4" name="text-142">
            <a:extLst>
              <a:ext uri="{FF2B5EF4-FFF2-40B4-BE49-F238E27FC236}">
                <a16:creationId xmlns:a16="http://schemas.microsoft.com/office/drawing/2014/main" id="{62ADAC16-4981-4E4A-B116-2DDD35CB92A6}"/>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MEMAHAMI BUYER</a:t>
            </a:r>
          </a:p>
        </p:txBody>
      </p:sp>
      <p:sp>
        <p:nvSpPr>
          <p:cNvPr id="5" name="text-143">
            <a:extLst>
              <a:ext uri="{FF2B5EF4-FFF2-40B4-BE49-F238E27FC236}">
                <a16:creationId xmlns:a16="http://schemas.microsoft.com/office/drawing/2014/main" id="{462116CC-4E42-4202-BA97-7EA6FC942E58}"/>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Gali kebutuhan buyer lewat pertanyaan yang tepat</a:t>
            </a:r>
          </a:p>
        </p:txBody>
      </p:sp>
      <p:sp>
        <p:nvSpPr>
          <p:cNvPr id="6" name="text-144">
            <a:extLst>
              <a:ext uri="{FF2B5EF4-FFF2-40B4-BE49-F238E27FC236}">
                <a16:creationId xmlns:a16="http://schemas.microsoft.com/office/drawing/2014/main" id="{F5AB0629-5A2B-4E0D-87B5-5C6B76C95EA2}"/>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145">
            <a:extLst>
              <a:ext uri="{FF2B5EF4-FFF2-40B4-BE49-F238E27FC236}">
                <a16:creationId xmlns:a16="http://schemas.microsoft.com/office/drawing/2014/main" id="{B7891960-6221-4B1E-9B54-389EF39FDB61}"/>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10</a:t>
            </a:r>
          </a:p>
        </p:txBody>
      </p:sp>
      <p:sp>
        <p:nvSpPr>
          <p:cNvPr id="8" name="text-146">
            <a:extLst>
              <a:ext uri="{FF2B5EF4-FFF2-40B4-BE49-F238E27FC236}">
                <a16:creationId xmlns:a16="http://schemas.microsoft.com/office/drawing/2014/main" id="{E8C18E3A-5AC5-4B4F-9C52-23BD11456577}"/>
              </a:ext>
            </a:extLst>
          </p:cNvPr>
          <p:cNvSpPr>
            <a:spLocks noGrp="1"/>
          </p:cNvSpPr>
          <p:nvPr/>
        </p:nvSpPr>
        <p:spPr>
          <a:xfrm>
            <a:off x="571500" y="1968703"/>
            <a:ext cx="4552950" cy="1326947"/>
          </a:xfrm>
          <a:prstGeom prst="rect">
            <a:avLst/>
          </a:prstGeom>
          <a:noFill/>
          <a:ln w="0">
            <a:noFill/>
          </a:ln>
        </p:spPr>
        <p:txBody>
          <a:bodyPr wrap="square" lIns="0" tIns="0" rIns="0" bIns="0" anchor="t">
            <a:noAutofit/>
          </a:bodyPr>
          <a:lstStyle/>
          <a:p>
            <a:pPr>
              <a:defRPr sz="3675" b="1">
                <a:solidFill>
                  <a:srgbClr val="087958"/>
                </a:solidFill>
                <a:latin typeface="Calibri"/>
                <a:ea typeface="Calibri"/>
                <a:cs typeface="Calibri"/>
              </a:defRPr>
            </a:pPr>
            <a:r>
              <a:rPr sz="3675" b="1" dirty="0">
                <a:solidFill>
                  <a:srgbClr val="087958"/>
                </a:solidFill>
                <a:latin typeface="Calibri"/>
                <a:ea typeface="Calibri"/>
                <a:cs typeface="Calibri"/>
              </a:rPr>
              <a:t>“</a:t>
            </a:r>
            <a:r>
              <a:rPr sz="3675" b="1" dirty="0" err="1">
                <a:solidFill>
                  <a:srgbClr val="087958"/>
                </a:solidFill>
                <a:latin typeface="Calibri"/>
                <a:ea typeface="Calibri"/>
                <a:cs typeface="Calibri"/>
              </a:rPr>
              <a:t>Produk</a:t>
            </a:r>
            <a:r>
              <a:rPr sz="3675" b="1" dirty="0">
                <a:solidFill>
                  <a:srgbClr val="087958"/>
                </a:solidFill>
                <a:latin typeface="Calibri"/>
                <a:ea typeface="Calibri"/>
                <a:cs typeface="Calibri"/>
              </a:rPr>
              <a:t> </a:t>
            </a:r>
            <a:r>
              <a:rPr sz="3675" b="1" dirty="0" err="1">
                <a:solidFill>
                  <a:srgbClr val="087958"/>
                </a:solidFill>
                <a:latin typeface="Calibri"/>
                <a:ea typeface="Calibri"/>
                <a:cs typeface="Calibri"/>
              </a:rPr>
              <a:t>ini</a:t>
            </a:r>
            <a:r>
              <a:rPr lang="en-US" sz="3675" b="1" dirty="0">
                <a:solidFill>
                  <a:srgbClr val="087958"/>
                </a:solidFill>
                <a:latin typeface="Calibri"/>
                <a:ea typeface="Calibri"/>
                <a:cs typeface="Calibri"/>
              </a:rPr>
              <a:t> </a:t>
            </a:r>
            <a:r>
              <a:rPr sz="3675" b="1" dirty="0" err="1">
                <a:solidFill>
                  <a:srgbClr val="087958"/>
                </a:solidFill>
                <a:latin typeface="Calibri"/>
                <a:ea typeface="Calibri"/>
                <a:cs typeface="Calibri"/>
              </a:rPr>
              <a:t>akan</a:t>
            </a:r>
            <a:r>
              <a:rPr lang="en-US" sz="3675" b="1" dirty="0">
                <a:solidFill>
                  <a:srgbClr val="087958"/>
                </a:solidFill>
                <a:latin typeface="Calibri"/>
                <a:ea typeface="Calibri"/>
                <a:cs typeface="Calibri"/>
              </a:rPr>
              <a:t> buyer </a:t>
            </a:r>
            <a:r>
              <a:rPr sz="3675" b="1" dirty="0" err="1">
                <a:solidFill>
                  <a:srgbClr val="087958"/>
                </a:solidFill>
                <a:latin typeface="Calibri"/>
                <a:ea typeface="Calibri"/>
                <a:cs typeface="Calibri"/>
              </a:rPr>
              <a:t>pakai</a:t>
            </a:r>
            <a:r>
              <a:rPr lang="en-US" sz="3675" b="1" dirty="0">
                <a:solidFill>
                  <a:srgbClr val="087958"/>
                </a:solidFill>
                <a:latin typeface="Calibri"/>
                <a:ea typeface="Calibri"/>
                <a:cs typeface="Calibri"/>
              </a:rPr>
              <a:t> </a:t>
            </a:r>
            <a:r>
              <a:rPr sz="3675" b="1" dirty="0" err="1">
                <a:solidFill>
                  <a:srgbClr val="087958"/>
                </a:solidFill>
                <a:latin typeface="Calibri"/>
                <a:ea typeface="Calibri"/>
                <a:cs typeface="Calibri"/>
              </a:rPr>
              <a:t>untuk</a:t>
            </a:r>
            <a:r>
              <a:rPr sz="3675" b="1" dirty="0">
                <a:solidFill>
                  <a:srgbClr val="087958"/>
                </a:solidFill>
                <a:latin typeface="Calibri"/>
                <a:ea typeface="Calibri"/>
                <a:cs typeface="Calibri"/>
              </a:rPr>
              <a:t> </a:t>
            </a:r>
            <a:r>
              <a:rPr sz="3675" b="1" dirty="0" err="1">
                <a:solidFill>
                  <a:srgbClr val="087958"/>
                </a:solidFill>
                <a:latin typeface="Calibri"/>
                <a:ea typeface="Calibri"/>
                <a:cs typeface="Calibri"/>
              </a:rPr>
              <a:t>apa</a:t>
            </a:r>
            <a:r>
              <a:rPr sz="3675" b="1" dirty="0">
                <a:solidFill>
                  <a:srgbClr val="087958"/>
                </a:solidFill>
                <a:latin typeface="Calibri"/>
                <a:ea typeface="Calibri"/>
                <a:cs typeface="Calibri"/>
              </a:rPr>
              <a:t>?”</a:t>
            </a:r>
          </a:p>
        </p:txBody>
      </p:sp>
      <p:sp>
        <p:nvSpPr>
          <p:cNvPr id="9" name="text-147">
            <a:extLst>
              <a:ext uri="{FF2B5EF4-FFF2-40B4-BE49-F238E27FC236}">
                <a16:creationId xmlns:a16="http://schemas.microsoft.com/office/drawing/2014/main" id="{258FBCCF-2ED5-4847-AFDD-7362C114515E}"/>
              </a:ext>
            </a:extLst>
          </p:cNvPr>
          <p:cNvSpPr>
            <a:spLocks noGrp="1"/>
          </p:cNvSpPr>
          <p:nvPr/>
        </p:nvSpPr>
        <p:spPr>
          <a:xfrm>
            <a:off x="571500" y="4416628"/>
            <a:ext cx="4552950" cy="771525"/>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dirty="0" err="1">
                <a:solidFill>
                  <a:srgbClr val="173D34"/>
                </a:solidFill>
                <a:latin typeface="Calibri"/>
                <a:ea typeface="Calibri"/>
                <a:cs typeface="Calibri"/>
              </a:rPr>
              <a:t>Pahami</a:t>
            </a:r>
            <a:r>
              <a:rPr sz="2100" b="0" dirty="0">
                <a:solidFill>
                  <a:srgbClr val="173D34"/>
                </a:solidFill>
                <a:latin typeface="Calibri"/>
                <a:ea typeface="Calibri"/>
                <a:cs typeface="Calibri"/>
              </a:rPr>
              <a:t> </a:t>
            </a:r>
            <a:r>
              <a:rPr sz="2100" b="0" dirty="0" err="1">
                <a:solidFill>
                  <a:srgbClr val="173D34"/>
                </a:solidFill>
                <a:latin typeface="Calibri"/>
                <a:ea typeface="Calibri"/>
                <a:cs typeface="Calibri"/>
              </a:rPr>
              <a:t>konteks</a:t>
            </a:r>
            <a:r>
              <a:rPr lang="en-US" sz="2100" b="0" dirty="0">
                <a:solidFill>
                  <a:srgbClr val="173D34"/>
                </a:solidFill>
                <a:latin typeface="Calibri"/>
                <a:ea typeface="Calibri"/>
                <a:cs typeface="Calibri"/>
              </a:rPr>
              <a:t> yang </a:t>
            </a:r>
            <a:r>
              <a:rPr lang="en-US" sz="2100" b="0" dirty="0" err="1">
                <a:solidFill>
                  <a:srgbClr val="173D34"/>
                </a:solidFill>
                <a:latin typeface="Calibri"/>
                <a:ea typeface="Calibri"/>
                <a:cs typeface="Calibri"/>
              </a:rPr>
              <a:t>dibutuhkan</a:t>
            </a:r>
            <a:r>
              <a:rPr sz="2100" b="0" dirty="0">
                <a:solidFill>
                  <a:srgbClr val="173D34"/>
                </a:solidFill>
                <a:latin typeface="Calibri"/>
                <a:ea typeface="Calibri"/>
                <a:cs typeface="Calibri"/>
              </a:rPr>
              <a:t> </a:t>
            </a:r>
            <a:r>
              <a:rPr lang="en-US" sz="2100" b="0" dirty="0">
                <a:solidFill>
                  <a:srgbClr val="173D34"/>
                </a:solidFill>
                <a:latin typeface="Calibri"/>
                <a:ea typeface="Calibri"/>
                <a:cs typeface="Calibri"/>
              </a:rPr>
              <a:t>oleh buyer </a:t>
            </a:r>
            <a:r>
              <a:rPr lang="en-US" sz="2100" b="0" dirty="0" err="1">
                <a:solidFill>
                  <a:srgbClr val="173D34"/>
                </a:solidFill>
                <a:latin typeface="Calibri"/>
                <a:ea typeface="Calibri"/>
                <a:cs typeface="Calibri"/>
              </a:rPr>
              <a:t>terkebih</a:t>
            </a:r>
            <a:r>
              <a:rPr lang="en-US" sz="2100" b="0" dirty="0">
                <a:solidFill>
                  <a:srgbClr val="173D34"/>
                </a:solidFill>
                <a:latin typeface="Calibri"/>
                <a:ea typeface="Calibri"/>
                <a:cs typeface="Calibri"/>
              </a:rPr>
              <a:t> </a:t>
            </a:r>
            <a:r>
              <a:rPr lang="en-US" sz="2100" dirty="0" err="1">
                <a:solidFill>
                  <a:srgbClr val="173D34"/>
                </a:solidFill>
                <a:latin typeface="Calibri"/>
                <a:ea typeface="Calibri"/>
                <a:cs typeface="Calibri"/>
              </a:rPr>
              <a:t>dah</a:t>
            </a:r>
            <a:r>
              <a:rPr sz="2100" b="0" dirty="0" err="1">
                <a:solidFill>
                  <a:srgbClr val="173D34"/>
                </a:solidFill>
                <a:latin typeface="Calibri"/>
                <a:ea typeface="Calibri"/>
                <a:cs typeface="Calibri"/>
              </a:rPr>
              <a:t>ulu</a:t>
            </a:r>
            <a:r>
              <a:rPr sz="2100" b="0" dirty="0">
                <a:solidFill>
                  <a:srgbClr val="173D34"/>
                </a:solidFill>
                <a:latin typeface="Calibri"/>
                <a:ea typeface="Calibri"/>
                <a:cs typeface="Calibri"/>
              </a:rPr>
              <a:t>,</a:t>
            </a:r>
            <a:r>
              <a:rPr lang="en-US" sz="2100" b="0" dirty="0">
                <a:solidFill>
                  <a:srgbClr val="173D34"/>
                </a:solidFill>
                <a:latin typeface="Calibri"/>
                <a:ea typeface="Calibri"/>
                <a:cs typeface="Calibri"/>
              </a:rPr>
              <a:t> </a:t>
            </a:r>
            <a:r>
              <a:rPr sz="2100" b="0" dirty="0" err="1">
                <a:solidFill>
                  <a:srgbClr val="173D34"/>
                </a:solidFill>
                <a:latin typeface="Calibri"/>
                <a:ea typeface="Calibri"/>
                <a:cs typeface="Calibri"/>
              </a:rPr>
              <a:t>baru</a:t>
            </a:r>
            <a:r>
              <a:rPr sz="2100" b="0" dirty="0">
                <a:solidFill>
                  <a:srgbClr val="173D34"/>
                </a:solidFill>
                <a:latin typeface="Calibri"/>
                <a:ea typeface="Calibri"/>
                <a:cs typeface="Calibri"/>
              </a:rPr>
              <a:t> </a:t>
            </a:r>
            <a:r>
              <a:rPr sz="2100" b="0" dirty="0" err="1">
                <a:solidFill>
                  <a:srgbClr val="173D34"/>
                </a:solidFill>
                <a:latin typeface="Calibri"/>
                <a:ea typeface="Calibri"/>
                <a:cs typeface="Calibri"/>
              </a:rPr>
              <a:t>tawarkan</a:t>
            </a:r>
            <a:r>
              <a:rPr sz="2100" b="0" dirty="0">
                <a:solidFill>
                  <a:srgbClr val="173D34"/>
                </a:solidFill>
                <a:latin typeface="Calibri"/>
                <a:ea typeface="Calibri"/>
                <a:cs typeface="Calibri"/>
              </a:rPr>
              <a:t> </a:t>
            </a:r>
            <a:r>
              <a:rPr sz="2100" b="0" dirty="0" err="1">
                <a:solidFill>
                  <a:srgbClr val="173D34"/>
                </a:solidFill>
                <a:latin typeface="Calibri"/>
                <a:ea typeface="Calibri"/>
                <a:cs typeface="Calibri"/>
              </a:rPr>
              <a:t>produk</a:t>
            </a:r>
            <a:r>
              <a:rPr lang="en-US" sz="2100" b="0" dirty="0">
                <a:solidFill>
                  <a:srgbClr val="173D34"/>
                </a:solidFill>
                <a:latin typeface="Calibri"/>
                <a:ea typeface="Calibri"/>
                <a:cs typeface="Calibri"/>
              </a:rPr>
              <a:t> </a:t>
            </a:r>
            <a:r>
              <a:rPr lang="en-US" sz="2100" b="0" dirty="0" err="1">
                <a:solidFill>
                  <a:srgbClr val="173D34"/>
                </a:solidFill>
                <a:latin typeface="Calibri"/>
                <a:ea typeface="Calibri"/>
                <a:cs typeface="Calibri"/>
              </a:rPr>
              <a:t>kita</a:t>
            </a:r>
            <a:r>
              <a:rPr sz="2100" b="0" dirty="0">
                <a:solidFill>
                  <a:srgbClr val="173D34"/>
                </a:solidFill>
                <a:latin typeface="Calibri"/>
                <a:ea typeface="Calibri"/>
                <a:cs typeface="Calibri"/>
              </a:rPr>
              <a:t>.</a:t>
            </a:r>
          </a:p>
        </p:txBody>
      </p:sp>
      <p:sp>
        <p:nvSpPr>
          <p:cNvPr id="10" name="Straight Connector 9">
            <a:extLst>
              <a:ext uri="{FF2B5EF4-FFF2-40B4-BE49-F238E27FC236}">
                <a16:creationId xmlns:a16="http://schemas.microsoft.com/office/drawing/2014/main" id="{F4B6CCC3-1792-475D-884D-E414ABE07224}"/>
              </a:ext>
            </a:extLst>
          </p:cNvPr>
          <p:cNvSpPr>
            <a:spLocks noGrp="1"/>
          </p:cNvSpPr>
          <p:nvPr/>
        </p:nvSpPr>
        <p:spPr>
          <a:xfrm>
            <a:off x="5734050" y="2057400"/>
            <a:ext cx="0" cy="3520440"/>
          </a:xfrm>
          <a:prstGeom prst="line">
            <a:avLst/>
          </a:prstGeom>
          <a:noFill/>
          <a:ln w="9525">
            <a:solidFill>
              <a:srgbClr val="CEDDD4"/>
            </a:solidFill>
          </a:ln>
        </p:spPr>
        <p:txBody>
          <a:bodyPr/>
          <a:lstStyle/>
          <a:p>
            <a:endParaRPr/>
          </a:p>
        </p:txBody>
      </p:sp>
      <p:sp>
        <p:nvSpPr>
          <p:cNvPr id="11" name="text-148">
            <a:extLst>
              <a:ext uri="{FF2B5EF4-FFF2-40B4-BE49-F238E27FC236}">
                <a16:creationId xmlns:a16="http://schemas.microsoft.com/office/drawing/2014/main" id="{FB38FCD8-E2F1-470D-B4D0-5890AB77620B}"/>
              </a:ext>
            </a:extLst>
          </p:cNvPr>
          <p:cNvSpPr>
            <a:spLocks noGrp="1"/>
          </p:cNvSpPr>
          <p:nvPr/>
        </p:nvSpPr>
        <p:spPr>
          <a:xfrm>
            <a:off x="6343650" y="2057400"/>
            <a:ext cx="52768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KEBUTUHAN</a:t>
            </a:r>
          </a:p>
        </p:txBody>
      </p:sp>
      <p:sp>
        <p:nvSpPr>
          <p:cNvPr id="12" name="text-149">
            <a:extLst>
              <a:ext uri="{FF2B5EF4-FFF2-40B4-BE49-F238E27FC236}">
                <a16:creationId xmlns:a16="http://schemas.microsoft.com/office/drawing/2014/main" id="{A36B5120-D0BD-4009-8835-9E7E920DF8D6}"/>
              </a:ext>
            </a:extLst>
          </p:cNvPr>
          <p:cNvSpPr>
            <a:spLocks noGrp="1"/>
          </p:cNvSpPr>
          <p:nvPr/>
        </p:nvSpPr>
        <p:spPr>
          <a:xfrm>
            <a:off x="6343650" y="2381250"/>
            <a:ext cx="5276850" cy="40957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a:solidFill>
                  <a:srgbClr val="173D34"/>
                </a:solidFill>
                <a:latin typeface="Calibri"/>
                <a:ea typeface="Calibri"/>
                <a:cs typeface="Calibri"/>
              </a:rPr>
              <a:t>Siapa end user-nya?</a:t>
            </a:r>
          </a:p>
        </p:txBody>
      </p:sp>
      <p:sp>
        <p:nvSpPr>
          <p:cNvPr id="13" name="text-150">
            <a:extLst>
              <a:ext uri="{FF2B5EF4-FFF2-40B4-BE49-F238E27FC236}">
                <a16:creationId xmlns:a16="http://schemas.microsoft.com/office/drawing/2014/main" id="{5ACEBDC9-F1FA-4DC2-A430-15A9A66DA72A}"/>
              </a:ext>
            </a:extLst>
          </p:cNvPr>
          <p:cNvSpPr>
            <a:spLocks noGrp="1"/>
          </p:cNvSpPr>
          <p:nvPr/>
        </p:nvSpPr>
        <p:spPr>
          <a:xfrm>
            <a:off x="6343650" y="2828925"/>
            <a:ext cx="5276850" cy="447675"/>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Cari tahu masalah dan cara mereka memakainya.</a:t>
            </a:r>
          </a:p>
        </p:txBody>
      </p:sp>
      <p:sp>
        <p:nvSpPr>
          <p:cNvPr id="14" name="text-151">
            <a:extLst>
              <a:ext uri="{FF2B5EF4-FFF2-40B4-BE49-F238E27FC236}">
                <a16:creationId xmlns:a16="http://schemas.microsoft.com/office/drawing/2014/main" id="{F1E6B497-164F-493F-B0E0-5C7FA1BFC7F0}"/>
              </a:ext>
            </a:extLst>
          </p:cNvPr>
          <p:cNvSpPr>
            <a:spLocks noGrp="1"/>
          </p:cNvSpPr>
          <p:nvPr/>
        </p:nvSpPr>
        <p:spPr>
          <a:xfrm>
            <a:off x="6343650" y="3295650"/>
            <a:ext cx="52768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SPESIFIKASI</a:t>
            </a:r>
          </a:p>
        </p:txBody>
      </p:sp>
      <p:sp>
        <p:nvSpPr>
          <p:cNvPr id="15" name="text-152">
            <a:extLst>
              <a:ext uri="{FF2B5EF4-FFF2-40B4-BE49-F238E27FC236}">
                <a16:creationId xmlns:a16="http://schemas.microsoft.com/office/drawing/2014/main" id="{D6EF14C6-1010-4ACE-BA47-97520E197FBB}"/>
              </a:ext>
            </a:extLst>
          </p:cNvPr>
          <p:cNvSpPr>
            <a:spLocks noGrp="1"/>
          </p:cNvSpPr>
          <p:nvPr/>
        </p:nvSpPr>
        <p:spPr>
          <a:xfrm>
            <a:off x="6343650" y="3619500"/>
            <a:ext cx="5276850" cy="40957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a:solidFill>
                  <a:srgbClr val="173D34"/>
                </a:solidFill>
                <a:latin typeface="Calibri"/>
                <a:ea typeface="Calibri"/>
                <a:cs typeface="Calibri"/>
              </a:rPr>
              <a:t>Ukuran, material, packaging?</a:t>
            </a:r>
          </a:p>
        </p:txBody>
      </p:sp>
      <p:sp>
        <p:nvSpPr>
          <p:cNvPr id="16" name="text-153">
            <a:extLst>
              <a:ext uri="{FF2B5EF4-FFF2-40B4-BE49-F238E27FC236}">
                <a16:creationId xmlns:a16="http://schemas.microsoft.com/office/drawing/2014/main" id="{B718230C-6E88-43FE-A14B-5131824CE788}"/>
              </a:ext>
            </a:extLst>
          </p:cNvPr>
          <p:cNvSpPr>
            <a:spLocks noGrp="1"/>
          </p:cNvSpPr>
          <p:nvPr/>
        </p:nvSpPr>
        <p:spPr>
          <a:xfrm>
            <a:off x="6343650" y="4067175"/>
            <a:ext cx="5276850" cy="447675"/>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dirty="0">
                <a:solidFill>
                  <a:srgbClr val="5B7169"/>
                </a:solidFill>
                <a:latin typeface="Calibri"/>
                <a:ea typeface="Calibri"/>
                <a:cs typeface="Calibri"/>
              </a:rPr>
              <a:t>Minta </a:t>
            </a:r>
            <a:r>
              <a:rPr sz="1800" b="0" dirty="0" err="1">
                <a:solidFill>
                  <a:srgbClr val="5B7169"/>
                </a:solidFill>
                <a:latin typeface="Calibri"/>
                <a:ea typeface="Calibri"/>
                <a:cs typeface="Calibri"/>
              </a:rPr>
              <a:t>contoh</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tanya</a:t>
            </a:r>
            <a:r>
              <a:rPr sz="1800" b="0" dirty="0">
                <a:solidFill>
                  <a:srgbClr val="5B7169"/>
                </a:solidFill>
                <a:latin typeface="Calibri"/>
                <a:ea typeface="Calibri"/>
                <a:cs typeface="Calibri"/>
              </a:rPr>
              <a:t> mana yang </a:t>
            </a:r>
            <a:r>
              <a:rPr lang="en-US" sz="1800" b="0" dirty="0" err="1">
                <a:solidFill>
                  <a:srgbClr val="5B7169"/>
                </a:solidFill>
                <a:latin typeface="Calibri"/>
                <a:ea typeface="Calibri"/>
                <a:cs typeface="Calibri"/>
              </a:rPr>
              <a:t>jadi</a:t>
            </a:r>
            <a:r>
              <a:rPr lang="en-US" sz="1800" b="0" dirty="0">
                <a:solidFill>
                  <a:srgbClr val="5B7169"/>
                </a:solidFill>
                <a:latin typeface="Calibri"/>
                <a:ea typeface="Calibri"/>
                <a:cs typeface="Calibri"/>
              </a:rPr>
              <a:t> </a:t>
            </a:r>
            <a:r>
              <a:rPr sz="1800" b="0" dirty="0" err="1">
                <a:solidFill>
                  <a:srgbClr val="5B7169"/>
                </a:solidFill>
                <a:latin typeface="Calibri"/>
                <a:ea typeface="Calibri"/>
                <a:cs typeface="Calibri"/>
              </a:rPr>
              <a:t>prioritas</a:t>
            </a:r>
            <a:r>
              <a:rPr lang="en-US" sz="1800" b="0" dirty="0">
                <a:solidFill>
                  <a:srgbClr val="5B7169"/>
                </a:solidFill>
                <a:latin typeface="Calibri"/>
                <a:ea typeface="Calibri"/>
                <a:cs typeface="Calibri"/>
              </a:rPr>
              <a:t> buyer</a:t>
            </a:r>
            <a:r>
              <a:rPr sz="1800" b="0" dirty="0">
                <a:solidFill>
                  <a:srgbClr val="5B7169"/>
                </a:solidFill>
                <a:latin typeface="Calibri"/>
                <a:ea typeface="Calibri"/>
                <a:cs typeface="Calibri"/>
              </a:rPr>
              <a:t>.</a:t>
            </a:r>
          </a:p>
        </p:txBody>
      </p:sp>
      <p:sp>
        <p:nvSpPr>
          <p:cNvPr id="17" name="text-154">
            <a:extLst>
              <a:ext uri="{FF2B5EF4-FFF2-40B4-BE49-F238E27FC236}">
                <a16:creationId xmlns:a16="http://schemas.microsoft.com/office/drawing/2014/main" id="{08738AFD-5234-4F1C-A4C6-2CA457208196}"/>
              </a:ext>
            </a:extLst>
          </p:cNvPr>
          <p:cNvSpPr>
            <a:spLocks noGrp="1"/>
          </p:cNvSpPr>
          <p:nvPr/>
        </p:nvSpPr>
        <p:spPr>
          <a:xfrm>
            <a:off x="6343650" y="4533900"/>
            <a:ext cx="52768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HARGA</a:t>
            </a:r>
          </a:p>
        </p:txBody>
      </p:sp>
      <p:sp>
        <p:nvSpPr>
          <p:cNvPr id="18" name="text-155">
            <a:extLst>
              <a:ext uri="{FF2B5EF4-FFF2-40B4-BE49-F238E27FC236}">
                <a16:creationId xmlns:a16="http://schemas.microsoft.com/office/drawing/2014/main" id="{EFAF500B-7E76-4235-8EE8-C0075D00C283}"/>
              </a:ext>
            </a:extLst>
          </p:cNvPr>
          <p:cNvSpPr>
            <a:spLocks noGrp="1"/>
          </p:cNvSpPr>
          <p:nvPr/>
        </p:nvSpPr>
        <p:spPr>
          <a:xfrm>
            <a:off x="6343650" y="4857750"/>
            <a:ext cx="5276850" cy="409575"/>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dirty="0">
                <a:solidFill>
                  <a:srgbClr val="173D34"/>
                </a:solidFill>
                <a:latin typeface="Calibri"/>
                <a:ea typeface="Calibri"/>
                <a:cs typeface="Calibri"/>
              </a:rPr>
              <a:t>Harga dan volume </a:t>
            </a:r>
            <a:r>
              <a:rPr sz="2250" b="1" dirty="0" err="1">
                <a:solidFill>
                  <a:srgbClr val="173D34"/>
                </a:solidFill>
                <a:latin typeface="Calibri"/>
                <a:ea typeface="Calibri"/>
                <a:cs typeface="Calibri"/>
              </a:rPr>
              <a:t>berapa</a:t>
            </a:r>
            <a:r>
              <a:rPr sz="2250" b="1" dirty="0">
                <a:solidFill>
                  <a:srgbClr val="173D34"/>
                </a:solidFill>
                <a:latin typeface="Calibri"/>
                <a:ea typeface="Calibri"/>
                <a:cs typeface="Calibri"/>
              </a:rPr>
              <a:t> yang </a:t>
            </a:r>
            <a:r>
              <a:rPr sz="2250" b="1" dirty="0" err="1">
                <a:solidFill>
                  <a:srgbClr val="173D34"/>
                </a:solidFill>
                <a:latin typeface="Calibri"/>
                <a:ea typeface="Calibri"/>
                <a:cs typeface="Calibri"/>
              </a:rPr>
              <a:t>masuk</a:t>
            </a:r>
            <a:r>
              <a:rPr sz="2250" b="1" dirty="0">
                <a:solidFill>
                  <a:srgbClr val="173D34"/>
                </a:solidFill>
                <a:latin typeface="Calibri"/>
                <a:ea typeface="Calibri"/>
                <a:cs typeface="Calibri"/>
              </a:rPr>
              <a:t>?</a:t>
            </a:r>
          </a:p>
        </p:txBody>
      </p:sp>
      <p:sp>
        <p:nvSpPr>
          <p:cNvPr id="19" name="text-156">
            <a:extLst>
              <a:ext uri="{FF2B5EF4-FFF2-40B4-BE49-F238E27FC236}">
                <a16:creationId xmlns:a16="http://schemas.microsoft.com/office/drawing/2014/main" id="{8504FFA1-8B9C-42C2-89EB-54B544035090}"/>
              </a:ext>
            </a:extLst>
          </p:cNvPr>
          <p:cNvSpPr>
            <a:spLocks noGrp="1"/>
          </p:cNvSpPr>
          <p:nvPr/>
        </p:nvSpPr>
        <p:spPr>
          <a:xfrm>
            <a:off x="6343650" y="5305425"/>
            <a:ext cx="5276850" cy="447675"/>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dirty="0" err="1">
                <a:solidFill>
                  <a:srgbClr val="5B7169"/>
                </a:solidFill>
                <a:latin typeface="Calibri"/>
                <a:ea typeface="Calibri"/>
                <a:cs typeface="Calibri"/>
              </a:rPr>
              <a:t>Bandingkan</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dengan</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biaya</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produksi</a:t>
            </a:r>
            <a:r>
              <a:rPr sz="1800" b="0" dirty="0">
                <a:solidFill>
                  <a:srgbClr val="5B7169"/>
                </a:solidFill>
                <a:latin typeface="Calibri"/>
                <a:ea typeface="Calibri"/>
                <a:cs typeface="Calibri"/>
              </a:rPr>
              <a:t> </a:t>
            </a:r>
            <a:r>
              <a:rPr sz="1800" b="0" dirty="0" err="1">
                <a:solidFill>
                  <a:srgbClr val="5B7169"/>
                </a:solidFill>
                <a:latin typeface="Calibri"/>
                <a:ea typeface="Calibri"/>
                <a:cs typeface="Calibri"/>
              </a:rPr>
              <a:t>kita</a:t>
            </a:r>
            <a:r>
              <a:rPr sz="1800" b="0" dirty="0">
                <a:solidFill>
                  <a:srgbClr val="5B7169"/>
                </a:solidFill>
                <a:latin typeface="Calibri"/>
                <a:ea typeface="Calibri"/>
                <a:cs typeface="Calibri"/>
              </a:rPr>
              <a:t>.</a:t>
            </a:r>
          </a:p>
        </p:txBody>
      </p:sp>
      <p:sp>
        <p:nvSpPr>
          <p:cNvPr id="20" name="Straight Connector 19">
            <a:extLst>
              <a:ext uri="{FF2B5EF4-FFF2-40B4-BE49-F238E27FC236}">
                <a16:creationId xmlns:a16="http://schemas.microsoft.com/office/drawing/2014/main" id="{05CE52B4-8E17-4413-8A53-3269687B0BE4}"/>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1" name="text-157">
            <a:extLst>
              <a:ext uri="{FF2B5EF4-FFF2-40B4-BE49-F238E27FC236}">
                <a16:creationId xmlns:a16="http://schemas.microsoft.com/office/drawing/2014/main" id="{E3CF59A3-D98C-43A0-86E4-94C92D7CFDB1}"/>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dirty="0" err="1">
                <a:solidFill>
                  <a:srgbClr val="087958"/>
                </a:solidFill>
                <a:latin typeface="Calibri"/>
                <a:ea typeface="Calibri"/>
                <a:cs typeface="Calibri"/>
              </a:rPr>
              <a:t>Catat</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semua</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jawaban</a:t>
            </a:r>
            <a:r>
              <a:rPr sz="1725" b="1" dirty="0">
                <a:solidFill>
                  <a:srgbClr val="087958"/>
                </a:solidFill>
                <a:latin typeface="Calibri"/>
                <a:ea typeface="Calibri"/>
                <a:cs typeface="Calibri"/>
              </a:rPr>
              <a:t> buyer. Yang </a:t>
            </a:r>
            <a:r>
              <a:rPr sz="1725" b="1" dirty="0" err="1">
                <a:solidFill>
                  <a:srgbClr val="087958"/>
                </a:solidFill>
                <a:latin typeface="Calibri"/>
                <a:ea typeface="Calibri"/>
                <a:cs typeface="Calibri"/>
              </a:rPr>
              <a:t>belum</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jelas</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tanyakan</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lagi</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dengan</a:t>
            </a:r>
            <a:r>
              <a:rPr lang="en-US"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melakukan</a:t>
            </a:r>
            <a:r>
              <a:rPr sz="1725" b="1" dirty="0">
                <a:solidFill>
                  <a:srgbClr val="087958"/>
                </a:solidFill>
                <a:latin typeface="Calibri"/>
                <a:ea typeface="Calibri"/>
                <a:cs typeface="Calibri"/>
              </a:rPr>
              <a:t> follow up.</a:t>
            </a:r>
          </a:p>
        </p:txBody>
      </p:sp>
      <p:sp>
        <p:nvSpPr>
          <p:cNvPr id="22" name="text-158">
            <a:extLst>
              <a:ext uri="{FF2B5EF4-FFF2-40B4-BE49-F238E27FC236}">
                <a16:creationId xmlns:a16="http://schemas.microsoft.com/office/drawing/2014/main" id="{07AE7430-CC50-4BFB-ACE1-FED0000CF6A0}"/>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Diadaptasi dari Strategyzer. Referensi lengkap ada di speaker notes.</a:t>
            </a:r>
          </a:p>
        </p:txBody>
      </p:sp>
    </p:spTree>
    <p:extLst>
      <p:ext uri="{BB962C8B-B14F-4D97-AF65-F5344CB8AC3E}">
        <p14:creationId xmlns:p14="http://schemas.microsoft.com/office/powerpoint/2010/main" val="581555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968A95F-F833-49F9-B13E-9483F785DBAE}"/>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19" name="Picture 18"/>
          <p:cNvPicPr>
            <a:picLocks noChangeAspect="1"/>
          </p:cNvPicPr>
          <p:nvPr/>
        </p:nvPicPr>
        <p:blipFill>
          <a:blip r:embed="rId4"/>
          <a:stretch/>
        </p:blipFill>
        <p:spPr>
          <a:xfrm>
            <a:off x="10591800" y="245339"/>
            <a:ext cx="1028700" cy="385621"/>
          </a:xfrm>
          <a:prstGeom prst="rect">
            <a:avLst/>
          </a:prstGeom>
        </p:spPr>
      </p:pic>
      <p:sp>
        <p:nvSpPr>
          <p:cNvPr id="4" name="text-159">
            <a:extLst>
              <a:ext uri="{FF2B5EF4-FFF2-40B4-BE49-F238E27FC236}">
                <a16:creationId xmlns:a16="http://schemas.microsoft.com/office/drawing/2014/main" id="{B3B70A42-A902-4A22-88D3-8B635909B752}"/>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DESIGNER · SHOWMAN · ENFORCER</a:t>
            </a:r>
          </a:p>
        </p:txBody>
      </p:sp>
      <p:sp>
        <p:nvSpPr>
          <p:cNvPr id="5" name="text-160">
            <a:extLst>
              <a:ext uri="{FF2B5EF4-FFF2-40B4-BE49-F238E27FC236}">
                <a16:creationId xmlns:a16="http://schemas.microsoft.com/office/drawing/2014/main" id="{883F368E-AA98-4AF7-A892-721F131BF5E1}"/>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Tiga peran ini harus ada supaya janji ke buyer terpenuhi</a:t>
            </a:r>
          </a:p>
        </p:txBody>
      </p:sp>
      <p:sp>
        <p:nvSpPr>
          <p:cNvPr id="6" name="text-161">
            <a:extLst>
              <a:ext uri="{FF2B5EF4-FFF2-40B4-BE49-F238E27FC236}">
                <a16:creationId xmlns:a16="http://schemas.microsoft.com/office/drawing/2014/main" id="{BE144A0B-9416-412D-947A-888FDB6385DF}"/>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Satu orang boleh pegang lebih dari satu peran, asal jelas siapa yang tanggung jawab.</a:t>
            </a:r>
          </a:p>
        </p:txBody>
      </p:sp>
      <p:sp>
        <p:nvSpPr>
          <p:cNvPr id="7" name="text-162">
            <a:extLst>
              <a:ext uri="{FF2B5EF4-FFF2-40B4-BE49-F238E27FC236}">
                <a16:creationId xmlns:a16="http://schemas.microsoft.com/office/drawing/2014/main" id="{E7D16A58-4BBC-4811-B6C9-10D023193FB0}"/>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8" name="text-163">
            <a:extLst>
              <a:ext uri="{FF2B5EF4-FFF2-40B4-BE49-F238E27FC236}">
                <a16:creationId xmlns:a16="http://schemas.microsoft.com/office/drawing/2014/main" id="{BFC022E6-C8B5-4AD9-B8DF-43470585ADDF}"/>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11</a:t>
            </a:r>
          </a:p>
        </p:txBody>
      </p:sp>
      <p:pic>
        <p:nvPicPr>
          <p:cNvPr id="25" name="Picture 24"/>
          <p:cNvPicPr>
            <a:picLocks noChangeAspect="1"/>
          </p:cNvPicPr>
          <p:nvPr/>
        </p:nvPicPr>
        <p:blipFill>
          <a:blip r:embed="rId5"/>
          <a:stretch/>
        </p:blipFill>
        <p:spPr>
          <a:xfrm>
            <a:off x="1952625" y="2240280"/>
            <a:ext cx="8286750" cy="2762250"/>
          </a:xfrm>
          <a:prstGeom prst="rect">
            <a:avLst/>
          </a:prstGeom>
        </p:spPr>
      </p:pic>
      <p:sp>
        <p:nvSpPr>
          <p:cNvPr id="10" name="text-164">
            <a:extLst>
              <a:ext uri="{FF2B5EF4-FFF2-40B4-BE49-F238E27FC236}">
                <a16:creationId xmlns:a16="http://schemas.microsoft.com/office/drawing/2014/main" id="{9135CFEF-A295-4A20-8FD8-D756142B2FC2}"/>
              </a:ext>
            </a:extLst>
          </p:cNvPr>
          <p:cNvSpPr>
            <a:spLocks noGrp="1"/>
          </p:cNvSpPr>
          <p:nvPr/>
        </p:nvSpPr>
        <p:spPr>
          <a:xfrm>
            <a:off x="1843430" y="5192049"/>
            <a:ext cx="2743200" cy="361950"/>
          </a:xfrm>
          <a:prstGeom prst="rect">
            <a:avLst/>
          </a:prstGeom>
          <a:noFill/>
          <a:ln w="0">
            <a:noFill/>
          </a:ln>
        </p:spPr>
        <p:txBody>
          <a:bodyPr wrap="square" lIns="0" tIns="0" rIns="0" bIns="0" anchor="t">
            <a:noAutofit/>
          </a:bodyPr>
          <a:lstStyle/>
          <a:p>
            <a:pPr algn="ctr">
              <a:defRPr sz="2175" b="1">
                <a:solidFill>
                  <a:srgbClr val="087958"/>
                </a:solidFill>
                <a:latin typeface="Calibri"/>
                <a:ea typeface="Calibri"/>
                <a:cs typeface="Calibri"/>
              </a:defRPr>
            </a:pPr>
            <a:r>
              <a:rPr sz="2175" b="1">
                <a:solidFill>
                  <a:srgbClr val="087958"/>
                </a:solidFill>
                <a:latin typeface="Calibri"/>
                <a:ea typeface="Calibri"/>
                <a:cs typeface="Calibri"/>
              </a:rPr>
              <a:t>Designer</a:t>
            </a:r>
          </a:p>
        </p:txBody>
      </p:sp>
      <p:sp>
        <p:nvSpPr>
          <p:cNvPr id="11" name="text-165">
            <a:extLst>
              <a:ext uri="{FF2B5EF4-FFF2-40B4-BE49-F238E27FC236}">
                <a16:creationId xmlns:a16="http://schemas.microsoft.com/office/drawing/2014/main" id="{C7D906AD-DAF7-4613-AF33-D95129581F1B}"/>
              </a:ext>
            </a:extLst>
          </p:cNvPr>
          <p:cNvSpPr>
            <a:spLocks noGrp="1"/>
          </p:cNvSpPr>
          <p:nvPr/>
        </p:nvSpPr>
        <p:spPr>
          <a:xfrm>
            <a:off x="1843430" y="5564210"/>
            <a:ext cx="2743200" cy="619125"/>
          </a:xfrm>
          <a:prstGeom prst="rect">
            <a:avLst/>
          </a:prstGeom>
          <a:noFill/>
          <a:ln w="0">
            <a:noFill/>
          </a:ln>
        </p:spPr>
        <p:txBody>
          <a:bodyPr wrap="square" lIns="0" tIns="0" rIns="0" bIns="0" anchor="t">
            <a:noAutofit/>
          </a:bodyPr>
          <a:lstStyle/>
          <a:p>
            <a:pPr algn="ctr">
              <a:defRPr sz="1725" b="0">
                <a:solidFill>
                  <a:srgbClr val="173D34"/>
                </a:solidFill>
                <a:latin typeface="Calibri"/>
                <a:ea typeface="Calibri"/>
                <a:cs typeface="Calibri"/>
              </a:defRPr>
            </a:pPr>
            <a:r>
              <a:rPr sz="1725" b="0">
                <a:solidFill>
                  <a:srgbClr val="173D34"/>
                </a:solidFill>
                <a:latin typeface="Calibri"/>
                <a:ea typeface="Calibri"/>
                <a:cs typeface="Calibri"/>
              </a:rPr>
              <a:t>Urus sampel &amp; spesifikasi</a:t>
            </a:r>
          </a:p>
        </p:txBody>
      </p:sp>
      <p:sp>
        <p:nvSpPr>
          <p:cNvPr id="12" name="text-166">
            <a:extLst>
              <a:ext uri="{FF2B5EF4-FFF2-40B4-BE49-F238E27FC236}">
                <a16:creationId xmlns:a16="http://schemas.microsoft.com/office/drawing/2014/main" id="{B4F20B5D-5C24-4138-8D04-00FC75360060}"/>
              </a:ext>
            </a:extLst>
          </p:cNvPr>
          <p:cNvSpPr>
            <a:spLocks noGrp="1"/>
          </p:cNvSpPr>
          <p:nvPr/>
        </p:nvSpPr>
        <p:spPr>
          <a:xfrm>
            <a:off x="4751222" y="5192049"/>
            <a:ext cx="2743200" cy="361950"/>
          </a:xfrm>
          <a:prstGeom prst="rect">
            <a:avLst/>
          </a:prstGeom>
          <a:noFill/>
          <a:ln w="0">
            <a:noFill/>
          </a:ln>
        </p:spPr>
        <p:txBody>
          <a:bodyPr wrap="square" lIns="0" tIns="0" rIns="0" bIns="0" anchor="t">
            <a:noAutofit/>
          </a:bodyPr>
          <a:lstStyle/>
          <a:p>
            <a:pPr algn="ctr">
              <a:defRPr sz="2175" b="1">
                <a:solidFill>
                  <a:srgbClr val="087958"/>
                </a:solidFill>
                <a:latin typeface="Calibri"/>
                <a:ea typeface="Calibri"/>
                <a:cs typeface="Calibri"/>
              </a:defRPr>
            </a:pPr>
            <a:r>
              <a:rPr sz="2175" b="1">
                <a:solidFill>
                  <a:srgbClr val="087958"/>
                </a:solidFill>
                <a:latin typeface="Calibri"/>
                <a:ea typeface="Calibri"/>
                <a:cs typeface="Calibri"/>
              </a:rPr>
              <a:t>Showman</a:t>
            </a:r>
          </a:p>
        </p:txBody>
      </p:sp>
      <p:sp>
        <p:nvSpPr>
          <p:cNvPr id="13" name="text-167">
            <a:extLst>
              <a:ext uri="{FF2B5EF4-FFF2-40B4-BE49-F238E27FC236}">
                <a16:creationId xmlns:a16="http://schemas.microsoft.com/office/drawing/2014/main" id="{F23205D3-DF10-4F78-9864-1F7EAD04A653}"/>
              </a:ext>
            </a:extLst>
          </p:cNvPr>
          <p:cNvSpPr>
            <a:spLocks noGrp="1"/>
          </p:cNvSpPr>
          <p:nvPr/>
        </p:nvSpPr>
        <p:spPr>
          <a:xfrm>
            <a:off x="4751222" y="5564210"/>
            <a:ext cx="2743200" cy="619125"/>
          </a:xfrm>
          <a:prstGeom prst="rect">
            <a:avLst/>
          </a:prstGeom>
          <a:noFill/>
          <a:ln w="0">
            <a:noFill/>
          </a:ln>
        </p:spPr>
        <p:txBody>
          <a:bodyPr wrap="square" lIns="0" tIns="0" rIns="0" bIns="0" anchor="t">
            <a:noAutofit/>
          </a:bodyPr>
          <a:lstStyle/>
          <a:p>
            <a:pPr algn="ctr">
              <a:defRPr sz="1725" b="0">
                <a:solidFill>
                  <a:srgbClr val="173D34"/>
                </a:solidFill>
                <a:latin typeface="Calibri"/>
                <a:ea typeface="Calibri"/>
                <a:cs typeface="Calibri"/>
              </a:defRPr>
            </a:pPr>
            <a:r>
              <a:rPr sz="1725" b="0">
                <a:solidFill>
                  <a:srgbClr val="173D34"/>
                </a:solidFill>
                <a:latin typeface="Calibri"/>
                <a:ea typeface="Calibri"/>
                <a:cs typeface="Calibri"/>
              </a:rPr>
              <a:t>Pegang penawaran &amp; deal</a:t>
            </a:r>
          </a:p>
        </p:txBody>
      </p:sp>
      <p:sp>
        <p:nvSpPr>
          <p:cNvPr id="14" name="text-168">
            <a:extLst>
              <a:ext uri="{FF2B5EF4-FFF2-40B4-BE49-F238E27FC236}">
                <a16:creationId xmlns:a16="http://schemas.microsoft.com/office/drawing/2014/main" id="{76A047EE-302F-49C4-A961-05A9FAD7BACB}"/>
              </a:ext>
            </a:extLst>
          </p:cNvPr>
          <p:cNvSpPr>
            <a:spLocks noGrp="1"/>
          </p:cNvSpPr>
          <p:nvPr/>
        </p:nvSpPr>
        <p:spPr>
          <a:xfrm>
            <a:off x="7687361" y="5192049"/>
            <a:ext cx="2743200" cy="361950"/>
          </a:xfrm>
          <a:prstGeom prst="rect">
            <a:avLst/>
          </a:prstGeom>
          <a:noFill/>
          <a:ln w="0">
            <a:noFill/>
          </a:ln>
        </p:spPr>
        <p:txBody>
          <a:bodyPr wrap="square" lIns="0" tIns="0" rIns="0" bIns="0" anchor="t">
            <a:noAutofit/>
          </a:bodyPr>
          <a:lstStyle/>
          <a:p>
            <a:pPr algn="ctr">
              <a:defRPr sz="2175" b="1">
                <a:solidFill>
                  <a:srgbClr val="087958"/>
                </a:solidFill>
                <a:latin typeface="Calibri"/>
                <a:ea typeface="Calibri"/>
                <a:cs typeface="Calibri"/>
              </a:defRPr>
            </a:pPr>
            <a:r>
              <a:rPr sz="2175" b="1">
                <a:solidFill>
                  <a:srgbClr val="087958"/>
                </a:solidFill>
                <a:latin typeface="Calibri"/>
                <a:ea typeface="Calibri"/>
                <a:cs typeface="Calibri"/>
              </a:rPr>
              <a:t>Enforcer</a:t>
            </a:r>
          </a:p>
        </p:txBody>
      </p:sp>
      <p:sp>
        <p:nvSpPr>
          <p:cNvPr id="15" name="text-169">
            <a:extLst>
              <a:ext uri="{FF2B5EF4-FFF2-40B4-BE49-F238E27FC236}">
                <a16:creationId xmlns:a16="http://schemas.microsoft.com/office/drawing/2014/main" id="{53563FD2-AFAF-4BD0-AB68-C911F7609E47}"/>
              </a:ext>
            </a:extLst>
          </p:cNvPr>
          <p:cNvSpPr>
            <a:spLocks noGrp="1"/>
          </p:cNvSpPr>
          <p:nvPr/>
        </p:nvSpPr>
        <p:spPr>
          <a:xfrm>
            <a:off x="7687361" y="5564210"/>
            <a:ext cx="2743200" cy="619125"/>
          </a:xfrm>
          <a:prstGeom prst="rect">
            <a:avLst/>
          </a:prstGeom>
          <a:noFill/>
          <a:ln w="0">
            <a:noFill/>
          </a:ln>
        </p:spPr>
        <p:txBody>
          <a:bodyPr wrap="square" lIns="0" tIns="0" rIns="0" bIns="0" anchor="t">
            <a:noAutofit/>
          </a:bodyPr>
          <a:lstStyle/>
          <a:p>
            <a:pPr algn="ctr">
              <a:defRPr sz="1725" b="0">
                <a:solidFill>
                  <a:srgbClr val="173D34"/>
                </a:solidFill>
                <a:latin typeface="Calibri"/>
                <a:ea typeface="Calibri"/>
                <a:cs typeface="Calibri"/>
              </a:defRPr>
            </a:pPr>
            <a:r>
              <a:rPr sz="1725" b="0">
                <a:solidFill>
                  <a:srgbClr val="173D34"/>
                </a:solidFill>
                <a:latin typeface="Calibri"/>
                <a:ea typeface="Calibri"/>
                <a:cs typeface="Calibri"/>
              </a:rPr>
              <a:t>Jaga jadwal &amp; cash flow</a:t>
            </a:r>
          </a:p>
        </p:txBody>
      </p:sp>
      <p:sp>
        <p:nvSpPr>
          <p:cNvPr id="16" name="text-170">
            <a:extLst>
              <a:ext uri="{FF2B5EF4-FFF2-40B4-BE49-F238E27FC236}">
                <a16:creationId xmlns:a16="http://schemas.microsoft.com/office/drawing/2014/main" id="{CD364624-3E0F-40A2-BA41-91B1AA153755}"/>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Sumber: Modul 1 CMC. Ilustrasi dibuat dengan AI, bukan tokoh asli.</a:t>
            </a:r>
          </a:p>
        </p:txBody>
      </p:sp>
    </p:spTree>
    <p:extLst>
      <p:ext uri="{BB962C8B-B14F-4D97-AF65-F5344CB8AC3E}">
        <p14:creationId xmlns:p14="http://schemas.microsoft.com/office/powerpoint/2010/main" val="747243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Picture 26"/>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2D5AEB1-5DB8-49F7-8B18-BA0D9C6FCFD1}"/>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9" name="Picture 28"/>
          <p:cNvPicPr>
            <a:picLocks noChangeAspect="1"/>
          </p:cNvPicPr>
          <p:nvPr/>
        </p:nvPicPr>
        <p:blipFill>
          <a:blip r:embed="rId4"/>
          <a:stretch/>
        </p:blipFill>
        <p:spPr>
          <a:xfrm>
            <a:off x="10591800" y="245339"/>
            <a:ext cx="1028700" cy="385621"/>
          </a:xfrm>
          <a:prstGeom prst="rect">
            <a:avLst/>
          </a:prstGeom>
        </p:spPr>
      </p:pic>
      <p:sp>
        <p:nvSpPr>
          <p:cNvPr id="4" name="text-171">
            <a:extLst>
              <a:ext uri="{FF2B5EF4-FFF2-40B4-BE49-F238E27FC236}">
                <a16:creationId xmlns:a16="http://schemas.microsoft.com/office/drawing/2014/main" id="{E4D8C6E7-D243-4CD4-9387-8995442116B2}"/>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EXPORT READINESS</a:t>
            </a:r>
          </a:p>
        </p:txBody>
      </p:sp>
      <p:sp>
        <p:nvSpPr>
          <p:cNvPr id="5" name="text-172">
            <a:extLst>
              <a:ext uri="{FF2B5EF4-FFF2-40B4-BE49-F238E27FC236}">
                <a16:creationId xmlns:a16="http://schemas.microsoft.com/office/drawing/2014/main" id="{8896F697-1202-4FD2-BF2A-C25E23D152BC}"/>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Siap ekspor artinya sanggup menepati janji ke buyer</a:t>
            </a:r>
          </a:p>
        </p:txBody>
      </p:sp>
      <p:sp>
        <p:nvSpPr>
          <p:cNvPr id="6" name="text-173">
            <a:extLst>
              <a:ext uri="{FF2B5EF4-FFF2-40B4-BE49-F238E27FC236}">
                <a16:creationId xmlns:a16="http://schemas.microsoft.com/office/drawing/2014/main" id="{39F0B0EE-0767-41FD-A71E-CD085455A20B}"/>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174">
            <a:extLst>
              <a:ext uri="{FF2B5EF4-FFF2-40B4-BE49-F238E27FC236}">
                <a16:creationId xmlns:a16="http://schemas.microsoft.com/office/drawing/2014/main" id="{4682E681-BFB8-404F-B8F7-B36E1B9D3B39}"/>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12</a:t>
            </a:r>
          </a:p>
        </p:txBody>
      </p:sp>
      <p:pic>
        <p:nvPicPr>
          <p:cNvPr id="34" name="Picture 33"/>
          <p:cNvPicPr>
            <a:picLocks noChangeAspect="1"/>
          </p:cNvPicPr>
          <p:nvPr/>
        </p:nvPicPr>
        <p:blipFill>
          <a:blip r:embed="rId5"/>
          <a:srcRect t="2570" b="2570"/>
          <a:stretch>
            <a:fillRect/>
          </a:stretch>
        </p:blipFill>
        <p:spPr>
          <a:xfrm>
            <a:off x="571500" y="1816684"/>
            <a:ext cx="5067605" cy="3566160"/>
          </a:xfrm>
          <a:prstGeom prst="rect">
            <a:avLst/>
          </a:prstGeom>
          <a:ln w="38100">
            <a:solidFill>
              <a:schemeClr val="tx1"/>
            </a:solidFill>
          </a:ln>
        </p:spPr>
      </p:pic>
      <p:sp>
        <p:nvSpPr>
          <p:cNvPr id="9" name="text-175">
            <a:extLst>
              <a:ext uri="{FF2B5EF4-FFF2-40B4-BE49-F238E27FC236}">
                <a16:creationId xmlns:a16="http://schemas.microsoft.com/office/drawing/2014/main" id="{22F598A4-60F6-4BE0-BC6E-512F48913CE3}"/>
              </a:ext>
            </a:extLst>
          </p:cNvPr>
          <p:cNvSpPr>
            <a:spLocks noGrp="1"/>
          </p:cNvSpPr>
          <p:nvPr/>
        </p:nvSpPr>
        <p:spPr>
          <a:xfrm>
            <a:off x="6219825" y="1879739"/>
            <a:ext cx="581025" cy="352425"/>
          </a:xfrm>
          <a:prstGeom prst="rect">
            <a:avLst/>
          </a:prstGeom>
          <a:noFill/>
          <a:ln w="0">
            <a:noFill/>
          </a:ln>
        </p:spPr>
        <p:txBody>
          <a:bodyPr wrap="square" lIns="0" tIns="0" rIns="0" bIns="0" anchor="t">
            <a:noAutofit/>
          </a:bodyPr>
          <a:lstStyle/>
          <a:p>
            <a:pPr>
              <a:defRPr sz="1875" b="1">
                <a:solidFill>
                  <a:srgbClr val="9AB6A5"/>
                </a:solidFill>
                <a:latin typeface="Calibri"/>
                <a:ea typeface="Calibri"/>
                <a:cs typeface="Calibri"/>
              </a:defRPr>
            </a:pPr>
            <a:r>
              <a:rPr sz="1875" b="1">
                <a:solidFill>
                  <a:srgbClr val="9AB6A5"/>
                </a:solidFill>
                <a:latin typeface="Calibri"/>
                <a:ea typeface="Calibri"/>
                <a:cs typeface="Calibri"/>
              </a:rPr>
              <a:t>01</a:t>
            </a:r>
          </a:p>
        </p:txBody>
      </p:sp>
      <p:sp>
        <p:nvSpPr>
          <p:cNvPr id="10" name="text-176">
            <a:extLst>
              <a:ext uri="{FF2B5EF4-FFF2-40B4-BE49-F238E27FC236}">
                <a16:creationId xmlns:a16="http://schemas.microsoft.com/office/drawing/2014/main" id="{9EE5B0D5-F224-4C37-BC13-2D0A07F28018}"/>
              </a:ext>
            </a:extLst>
          </p:cNvPr>
          <p:cNvSpPr>
            <a:spLocks noGrp="1"/>
          </p:cNvSpPr>
          <p:nvPr/>
        </p:nvSpPr>
        <p:spPr>
          <a:xfrm>
            <a:off x="6800850" y="1811769"/>
            <a:ext cx="4629150" cy="34290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Kapasitas</a:t>
            </a:r>
          </a:p>
        </p:txBody>
      </p:sp>
      <p:sp>
        <p:nvSpPr>
          <p:cNvPr id="11" name="text-177">
            <a:extLst>
              <a:ext uri="{FF2B5EF4-FFF2-40B4-BE49-F238E27FC236}">
                <a16:creationId xmlns:a16="http://schemas.microsoft.com/office/drawing/2014/main" id="{80549607-FF64-40B3-AAE0-F3551B8D41DA}"/>
              </a:ext>
            </a:extLst>
          </p:cNvPr>
          <p:cNvSpPr>
            <a:spLocks noGrp="1"/>
          </p:cNvSpPr>
          <p:nvPr/>
        </p:nvSpPr>
        <p:spPr>
          <a:xfrm>
            <a:off x="6800850" y="2202218"/>
            <a:ext cx="4629150" cy="542925"/>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dirty="0" err="1">
                <a:solidFill>
                  <a:srgbClr val="173D34"/>
                </a:solidFill>
                <a:latin typeface="Calibri"/>
                <a:ea typeface="Calibri"/>
                <a:cs typeface="Calibri"/>
              </a:rPr>
              <a:t>Berapa</a:t>
            </a:r>
            <a:r>
              <a:rPr sz="1875" b="0" dirty="0">
                <a:solidFill>
                  <a:srgbClr val="173D34"/>
                </a:solidFill>
                <a:latin typeface="Calibri"/>
                <a:ea typeface="Calibri"/>
                <a:cs typeface="Calibri"/>
              </a:rPr>
              <a:t> unit yang </a:t>
            </a:r>
            <a:r>
              <a:rPr sz="1875" b="0" dirty="0" err="1">
                <a:solidFill>
                  <a:srgbClr val="173D34"/>
                </a:solidFill>
                <a:latin typeface="Calibri"/>
                <a:ea typeface="Calibri"/>
                <a:cs typeface="Calibri"/>
              </a:rPr>
              <a:t>realistis</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bisa</a:t>
            </a:r>
            <a:r>
              <a:rPr sz="1875" b="0" dirty="0">
                <a:solidFill>
                  <a:srgbClr val="173D34"/>
                </a:solidFill>
                <a:latin typeface="Calibri"/>
                <a:ea typeface="Calibri"/>
                <a:cs typeface="Calibri"/>
              </a:rPr>
              <a:t> </a:t>
            </a:r>
            <a:r>
              <a:rPr lang="en-US" sz="1875" b="0" dirty="0" err="1">
                <a:solidFill>
                  <a:srgbClr val="173D34"/>
                </a:solidFill>
                <a:latin typeface="Calibri"/>
                <a:ea typeface="Calibri"/>
                <a:cs typeface="Calibri"/>
              </a:rPr>
              <a:t>kita</a:t>
            </a:r>
            <a:r>
              <a:rPr lang="en-US" sz="1875" b="0" dirty="0">
                <a:solidFill>
                  <a:srgbClr val="173D34"/>
                </a:solidFill>
                <a:latin typeface="Calibri"/>
                <a:ea typeface="Calibri"/>
                <a:cs typeface="Calibri"/>
              </a:rPr>
              <a:t> </a:t>
            </a:r>
            <a:r>
              <a:rPr lang="en-US" sz="1875" b="0" dirty="0" err="1">
                <a:solidFill>
                  <a:srgbClr val="173D34"/>
                </a:solidFill>
                <a:latin typeface="Calibri"/>
                <a:ea typeface="Calibri"/>
                <a:cs typeface="Calibri"/>
              </a:rPr>
              <a:t>produksi</a:t>
            </a:r>
            <a:r>
              <a:rPr sz="1875" b="0" dirty="0">
                <a:solidFill>
                  <a:srgbClr val="173D34"/>
                </a:solidFill>
                <a:latin typeface="Calibri"/>
                <a:ea typeface="Calibri"/>
                <a:cs typeface="Calibri"/>
              </a:rPr>
              <a:t>?</a:t>
            </a:r>
          </a:p>
        </p:txBody>
      </p:sp>
      <p:sp>
        <p:nvSpPr>
          <p:cNvPr id="12" name="Straight Connector 11">
            <a:extLst>
              <a:ext uri="{FF2B5EF4-FFF2-40B4-BE49-F238E27FC236}">
                <a16:creationId xmlns:a16="http://schemas.microsoft.com/office/drawing/2014/main" id="{A958270C-33D9-4ED8-9B80-60A340D9B11E}"/>
              </a:ext>
            </a:extLst>
          </p:cNvPr>
          <p:cNvSpPr>
            <a:spLocks noGrp="1"/>
          </p:cNvSpPr>
          <p:nvPr/>
        </p:nvSpPr>
        <p:spPr>
          <a:xfrm>
            <a:off x="6800850" y="2671305"/>
            <a:ext cx="4629150" cy="0"/>
          </a:xfrm>
          <a:prstGeom prst="line">
            <a:avLst/>
          </a:prstGeom>
          <a:noFill/>
          <a:ln w="9525">
            <a:solidFill>
              <a:srgbClr val="CEDDD4"/>
            </a:solidFill>
          </a:ln>
        </p:spPr>
        <p:txBody>
          <a:bodyPr/>
          <a:lstStyle/>
          <a:p>
            <a:endParaRPr/>
          </a:p>
        </p:txBody>
      </p:sp>
      <p:sp>
        <p:nvSpPr>
          <p:cNvPr id="13" name="text-178">
            <a:extLst>
              <a:ext uri="{FF2B5EF4-FFF2-40B4-BE49-F238E27FC236}">
                <a16:creationId xmlns:a16="http://schemas.microsoft.com/office/drawing/2014/main" id="{D2D54403-7171-4EE1-902A-1F313DCE472F}"/>
              </a:ext>
            </a:extLst>
          </p:cNvPr>
          <p:cNvSpPr>
            <a:spLocks noGrp="1"/>
          </p:cNvSpPr>
          <p:nvPr/>
        </p:nvSpPr>
        <p:spPr>
          <a:xfrm>
            <a:off x="6219825" y="2839859"/>
            <a:ext cx="581025" cy="352425"/>
          </a:xfrm>
          <a:prstGeom prst="rect">
            <a:avLst/>
          </a:prstGeom>
          <a:noFill/>
          <a:ln w="0">
            <a:noFill/>
          </a:ln>
        </p:spPr>
        <p:txBody>
          <a:bodyPr wrap="square" lIns="0" tIns="0" rIns="0" bIns="0" anchor="t">
            <a:noAutofit/>
          </a:bodyPr>
          <a:lstStyle/>
          <a:p>
            <a:pPr>
              <a:defRPr sz="1875" b="1">
                <a:solidFill>
                  <a:srgbClr val="9AB6A5"/>
                </a:solidFill>
                <a:latin typeface="Calibri"/>
                <a:ea typeface="Calibri"/>
                <a:cs typeface="Calibri"/>
              </a:defRPr>
            </a:pPr>
            <a:r>
              <a:rPr sz="1875" b="1">
                <a:solidFill>
                  <a:srgbClr val="9AB6A5"/>
                </a:solidFill>
                <a:latin typeface="Calibri"/>
                <a:ea typeface="Calibri"/>
                <a:cs typeface="Calibri"/>
              </a:rPr>
              <a:t>02</a:t>
            </a:r>
          </a:p>
        </p:txBody>
      </p:sp>
      <p:sp>
        <p:nvSpPr>
          <p:cNvPr id="14" name="text-179">
            <a:extLst>
              <a:ext uri="{FF2B5EF4-FFF2-40B4-BE49-F238E27FC236}">
                <a16:creationId xmlns:a16="http://schemas.microsoft.com/office/drawing/2014/main" id="{BE47B3C7-EDAC-4E07-B146-55617C47C904}"/>
              </a:ext>
            </a:extLst>
          </p:cNvPr>
          <p:cNvSpPr>
            <a:spLocks noGrp="1"/>
          </p:cNvSpPr>
          <p:nvPr/>
        </p:nvSpPr>
        <p:spPr>
          <a:xfrm>
            <a:off x="6800850" y="2771889"/>
            <a:ext cx="4629150" cy="34290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Kualitas</a:t>
            </a:r>
          </a:p>
        </p:txBody>
      </p:sp>
      <p:sp>
        <p:nvSpPr>
          <p:cNvPr id="15" name="text-180">
            <a:extLst>
              <a:ext uri="{FF2B5EF4-FFF2-40B4-BE49-F238E27FC236}">
                <a16:creationId xmlns:a16="http://schemas.microsoft.com/office/drawing/2014/main" id="{C39B7D64-CA96-4D92-BE7C-89A3A232D029}"/>
              </a:ext>
            </a:extLst>
          </p:cNvPr>
          <p:cNvSpPr>
            <a:spLocks noGrp="1"/>
          </p:cNvSpPr>
          <p:nvPr/>
        </p:nvSpPr>
        <p:spPr>
          <a:xfrm>
            <a:off x="6800849" y="3162338"/>
            <a:ext cx="5067605" cy="542925"/>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dirty="0">
                <a:solidFill>
                  <a:srgbClr val="173D34"/>
                </a:solidFill>
                <a:latin typeface="Calibri"/>
                <a:ea typeface="Calibri"/>
                <a:cs typeface="Calibri"/>
              </a:rPr>
              <a:t>Hasil </a:t>
            </a:r>
            <a:r>
              <a:rPr sz="1875" b="0" dirty="0" err="1">
                <a:solidFill>
                  <a:srgbClr val="173D34"/>
                </a:solidFill>
                <a:latin typeface="Calibri"/>
                <a:ea typeface="Calibri"/>
                <a:cs typeface="Calibri"/>
              </a:rPr>
              <a:t>produksi</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massal</a:t>
            </a:r>
            <a:r>
              <a:rPr sz="1875" b="0" dirty="0">
                <a:solidFill>
                  <a:srgbClr val="173D34"/>
                </a:solidFill>
                <a:latin typeface="Calibri"/>
                <a:ea typeface="Calibri"/>
                <a:cs typeface="Calibri"/>
              </a:rPr>
              <a:t> </a:t>
            </a:r>
            <a:r>
              <a:rPr lang="en-US" sz="1875" b="0" dirty="0" err="1">
                <a:solidFill>
                  <a:srgbClr val="173D34"/>
                </a:solidFill>
                <a:latin typeface="Calibri"/>
                <a:ea typeface="Calibri"/>
                <a:cs typeface="Calibri"/>
              </a:rPr>
              <a:t>apakah</a:t>
            </a:r>
            <a:r>
              <a:rPr lang="en-US" sz="1875" b="0" dirty="0">
                <a:solidFill>
                  <a:srgbClr val="173D34"/>
                </a:solidFill>
                <a:latin typeface="Calibri"/>
                <a:ea typeface="Calibri"/>
                <a:cs typeface="Calibri"/>
              </a:rPr>
              <a:t> </a:t>
            </a:r>
            <a:r>
              <a:rPr sz="1875" b="0" dirty="0" err="1">
                <a:solidFill>
                  <a:srgbClr val="173D34"/>
                </a:solidFill>
                <a:latin typeface="Calibri"/>
                <a:ea typeface="Calibri"/>
                <a:cs typeface="Calibri"/>
              </a:rPr>
              <a:t>sama</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dengan</a:t>
            </a:r>
            <a:r>
              <a:rPr sz="1875" b="0" dirty="0">
                <a:solidFill>
                  <a:srgbClr val="173D34"/>
                </a:solidFill>
                <a:latin typeface="Calibri"/>
                <a:ea typeface="Calibri"/>
                <a:cs typeface="Calibri"/>
              </a:rPr>
              <a:t> samp</a:t>
            </a:r>
            <a:r>
              <a:rPr lang="en-US" sz="1875" b="0" dirty="0">
                <a:solidFill>
                  <a:srgbClr val="173D34"/>
                </a:solidFill>
                <a:latin typeface="Calibri"/>
                <a:ea typeface="Calibri"/>
                <a:cs typeface="Calibri"/>
              </a:rPr>
              <a:t>le</a:t>
            </a:r>
            <a:r>
              <a:rPr sz="1875" b="0" dirty="0">
                <a:solidFill>
                  <a:srgbClr val="173D34"/>
                </a:solidFill>
                <a:latin typeface="Calibri"/>
                <a:ea typeface="Calibri"/>
                <a:cs typeface="Calibri"/>
              </a:rPr>
              <a:t>?</a:t>
            </a:r>
          </a:p>
        </p:txBody>
      </p:sp>
      <p:sp>
        <p:nvSpPr>
          <p:cNvPr id="16" name="Straight Connector 15">
            <a:extLst>
              <a:ext uri="{FF2B5EF4-FFF2-40B4-BE49-F238E27FC236}">
                <a16:creationId xmlns:a16="http://schemas.microsoft.com/office/drawing/2014/main" id="{521FC18A-F143-4DD1-981C-20897524B976}"/>
              </a:ext>
            </a:extLst>
          </p:cNvPr>
          <p:cNvSpPr>
            <a:spLocks noGrp="1"/>
          </p:cNvSpPr>
          <p:nvPr/>
        </p:nvSpPr>
        <p:spPr>
          <a:xfrm>
            <a:off x="6800850" y="3631425"/>
            <a:ext cx="4629150" cy="0"/>
          </a:xfrm>
          <a:prstGeom prst="line">
            <a:avLst/>
          </a:prstGeom>
          <a:noFill/>
          <a:ln w="9525">
            <a:solidFill>
              <a:srgbClr val="CEDDD4"/>
            </a:solidFill>
          </a:ln>
        </p:spPr>
        <p:txBody>
          <a:bodyPr/>
          <a:lstStyle/>
          <a:p>
            <a:endParaRPr/>
          </a:p>
        </p:txBody>
      </p:sp>
      <p:sp>
        <p:nvSpPr>
          <p:cNvPr id="17" name="text-181">
            <a:extLst>
              <a:ext uri="{FF2B5EF4-FFF2-40B4-BE49-F238E27FC236}">
                <a16:creationId xmlns:a16="http://schemas.microsoft.com/office/drawing/2014/main" id="{30B26CD1-93A0-4C23-9DA5-8EB716AF6446}"/>
              </a:ext>
            </a:extLst>
          </p:cNvPr>
          <p:cNvSpPr>
            <a:spLocks noGrp="1"/>
          </p:cNvSpPr>
          <p:nvPr/>
        </p:nvSpPr>
        <p:spPr>
          <a:xfrm>
            <a:off x="6219825" y="3799980"/>
            <a:ext cx="581025" cy="352425"/>
          </a:xfrm>
          <a:prstGeom prst="rect">
            <a:avLst/>
          </a:prstGeom>
          <a:noFill/>
          <a:ln w="0">
            <a:noFill/>
          </a:ln>
        </p:spPr>
        <p:txBody>
          <a:bodyPr wrap="square" lIns="0" tIns="0" rIns="0" bIns="0" anchor="t">
            <a:noAutofit/>
          </a:bodyPr>
          <a:lstStyle/>
          <a:p>
            <a:pPr>
              <a:defRPr sz="1875" b="1">
                <a:solidFill>
                  <a:srgbClr val="9AB6A5"/>
                </a:solidFill>
                <a:latin typeface="Calibri"/>
                <a:ea typeface="Calibri"/>
                <a:cs typeface="Calibri"/>
              </a:defRPr>
            </a:pPr>
            <a:r>
              <a:rPr sz="1875" b="1">
                <a:solidFill>
                  <a:srgbClr val="9AB6A5"/>
                </a:solidFill>
                <a:latin typeface="Calibri"/>
                <a:ea typeface="Calibri"/>
                <a:cs typeface="Calibri"/>
              </a:rPr>
              <a:t>03</a:t>
            </a:r>
          </a:p>
        </p:txBody>
      </p:sp>
      <p:sp>
        <p:nvSpPr>
          <p:cNvPr id="18" name="text-182">
            <a:extLst>
              <a:ext uri="{FF2B5EF4-FFF2-40B4-BE49-F238E27FC236}">
                <a16:creationId xmlns:a16="http://schemas.microsoft.com/office/drawing/2014/main" id="{DEC5E970-160A-4C99-878F-22187A6B0915}"/>
              </a:ext>
            </a:extLst>
          </p:cNvPr>
          <p:cNvSpPr>
            <a:spLocks noGrp="1"/>
          </p:cNvSpPr>
          <p:nvPr/>
        </p:nvSpPr>
        <p:spPr>
          <a:xfrm>
            <a:off x="6800850" y="3732009"/>
            <a:ext cx="4629150" cy="34290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Timeline</a:t>
            </a:r>
          </a:p>
        </p:txBody>
      </p:sp>
      <p:sp>
        <p:nvSpPr>
          <p:cNvPr id="19" name="text-183">
            <a:extLst>
              <a:ext uri="{FF2B5EF4-FFF2-40B4-BE49-F238E27FC236}">
                <a16:creationId xmlns:a16="http://schemas.microsoft.com/office/drawing/2014/main" id="{57B75997-2AFC-4B13-8B67-7CF5B3F5FD5E}"/>
              </a:ext>
            </a:extLst>
          </p:cNvPr>
          <p:cNvSpPr>
            <a:spLocks noGrp="1"/>
          </p:cNvSpPr>
          <p:nvPr/>
        </p:nvSpPr>
        <p:spPr>
          <a:xfrm>
            <a:off x="6800850" y="4122458"/>
            <a:ext cx="4629150" cy="542925"/>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dirty="0" err="1">
                <a:solidFill>
                  <a:srgbClr val="173D34"/>
                </a:solidFill>
                <a:latin typeface="Calibri"/>
                <a:ea typeface="Calibri"/>
                <a:cs typeface="Calibri"/>
              </a:rPr>
              <a:t>Bahan</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produksi</a:t>
            </a:r>
            <a:r>
              <a:rPr sz="1875" b="0" dirty="0">
                <a:solidFill>
                  <a:srgbClr val="173D34"/>
                </a:solidFill>
                <a:latin typeface="Calibri"/>
                <a:ea typeface="Calibri"/>
                <a:cs typeface="Calibri"/>
              </a:rPr>
              <a:t>, dan shipping </a:t>
            </a:r>
            <a:r>
              <a:rPr lang="en-US" sz="1875" b="0" dirty="0" err="1">
                <a:solidFill>
                  <a:srgbClr val="173D34"/>
                </a:solidFill>
                <a:latin typeface="Calibri"/>
                <a:ea typeface="Calibri"/>
                <a:cs typeface="Calibri"/>
              </a:rPr>
              <a:t>bisa</a:t>
            </a:r>
            <a:r>
              <a:rPr lang="en-US" sz="1875" b="0" dirty="0">
                <a:solidFill>
                  <a:srgbClr val="173D34"/>
                </a:solidFill>
                <a:latin typeface="Calibri"/>
                <a:ea typeface="Calibri"/>
                <a:cs typeface="Calibri"/>
              </a:rPr>
              <a:t> </a:t>
            </a:r>
            <a:r>
              <a:rPr sz="1875" b="0" dirty="0">
                <a:solidFill>
                  <a:srgbClr val="173D34"/>
                </a:solidFill>
                <a:latin typeface="Calibri"/>
                <a:ea typeface="Calibri"/>
                <a:cs typeface="Calibri"/>
              </a:rPr>
              <a:t>on time?</a:t>
            </a:r>
          </a:p>
        </p:txBody>
      </p:sp>
      <p:sp>
        <p:nvSpPr>
          <p:cNvPr id="20" name="Straight Connector 19">
            <a:extLst>
              <a:ext uri="{FF2B5EF4-FFF2-40B4-BE49-F238E27FC236}">
                <a16:creationId xmlns:a16="http://schemas.microsoft.com/office/drawing/2014/main" id="{DCB58BCB-BDB4-4C2C-AFC9-8C6A675C61CD}"/>
              </a:ext>
            </a:extLst>
          </p:cNvPr>
          <p:cNvSpPr>
            <a:spLocks noGrp="1"/>
          </p:cNvSpPr>
          <p:nvPr/>
        </p:nvSpPr>
        <p:spPr>
          <a:xfrm>
            <a:off x="6800850" y="4591545"/>
            <a:ext cx="4629150" cy="0"/>
          </a:xfrm>
          <a:prstGeom prst="line">
            <a:avLst/>
          </a:prstGeom>
          <a:noFill/>
          <a:ln w="9525">
            <a:solidFill>
              <a:srgbClr val="CEDDD4"/>
            </a:solidFill>
          </a:ln>
        </p:spPr>
        <p:txBody>
          <a:bodyPr/>
          <a:lstStyle/>
          <a:p>
            <a:endParaRPr/>
          </a:p>
        </p:txBody>
      </p:sp>
      <p:sp>
        <p:nvSpPr>
          <p:cNvPr id="21" name="text-184">
            <a:extLst>
              <a:ext uri="{FF2B5EF4-FFF2-40B4-BE49-F238E27FC236}">
                <a16:creationId xmlns:a16="http://schemas.microsoft.com/office/drawing/2014/main" id="{C0CD8223-F85F-4B7F-875F-B8A710C8AC4B}"/>
              </a:ext>
            </a:extLst>
          </p:cNvPr>
          <p:cNvSpPr>
            <a:spLocks noGrp="1"/>
          </p:cNvSpPr>
          <p:nvPr/>
        </p:nvSpPr>
        <p:spPr>
          <a:xfrm>
            <a:off x="6219825" y="4760100"/>
            <a:ext cx="581025" cy="352425"/>
          </a:xfrm>
          <a:prstGeom prst="rect">
            <a:avLst/>
          </a:prstGeom>
          <a:noFill/>
          <a:ln w="0">
            <a:noFill/>
          </a:ln>
        </p:spPr>
        <p:txBody>
          <a:bodyPr wrap="square" lIns="0" tIns="0" rIns="0" bIns="0" anchor="t">
            <a:noAutofit/>
          </a:bodyPr>
          <a:lstStyle/>
          <a:p>
            <a:pPr>
              <a:defRPr sz="1875" b="1">
                <a:solidFill>
                  <a:srgbClr val="9AB6A5"/>
                </a:solidFill>
                <a:latin typeface="Calibri"/>
                <a:ea typeface="Calibri"/>
                <a:cs typeface="Calibri"/>
              </a:defRPr>
            </a:pPr>
            <a:r>
              <a:rPr sz="1875" b="1">
                <a:solidFill>
                  <a:srgbClr val="9AB6A5"/>
                </a:solidFill>
                <a:latin typeface="Calibri"/>
                <a:ea typeface="Calibri"/>
                <a:cs typeface="Calibri"/>
              </a:rPr>
              <a:t>04</a:t>
            </a:r>
          </a:p>
        </p:txBody>
      </p:sp>
      <p:sp>
        <p:nvSpPr>
          <p:cNvPr id="22" name="text-185">
            <a:extLst>
              <a:ext uri="{FF2B5EF4-FFF2-40B4-BE49-F238E27FC236}">
                <a16:creationId xmlns:a16="http://schemas.microsoft.com/office/drawing/2014/main" id="{8F34546D-2F7F-43C7-AA46-80100EC8DC0E}"/>
              </a:ext>
            </a:extLst>
          </p:cNvPr>
          <p:cNvSpPr>
            <a:spLocks noGrp="1"/>
          </p:cNvSpPr>
          <p:nvPr/>
        </p:nvSpPr>
        <p:spPr>
          <a:xfrm>
            <a:off x="6800850" y="4692129"/>
            <a:ext cx="4629150" cy="34290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Kebutuhan buyer</a:t>
            </a:r>
          </a:p>
        </p:txBody>
      </p:sp>
      <p:sp>
        <p:nvSpPr>
          <p:cNvPr id="23" name="text-186">
            <a:extLst>
              <a:ext uri="{FF2B5EF4-FFF2-40B4-BE49-F238E27FC236}">
                <a16:creationId xmlns:a16="http://schemas.microsoft.com/office/drawing/2014/main" id="{3B4B4DD9-9C37-4F29-8115-3886D21F3F11}"/>
              </a:ext>
            </a:extLst>
          </p:cNvPr>
          <p:cNvSpPr>
            <a:spLocks noGrp="1"/>
          </p:cNvSpPr>
          <p:nvPr/>
        </p:nvSpPr>
        <p:spPr>
          <a:xfrm>
            <a:off x="6800850" y="5082578"/>
            <a:ext cx="4840766" cy="542925"/>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dirty="0" err="1">
                <a:solidFill>
                  <a:srgbClr val="173D34"/>
                </a:solidFill>
                <a:latin typeface="Calibri"/>
                <a:ea typeface="Calibri"/>
                <a:cs typeface="Calibri"/>
              </a:rPr>
              <a:t>Spe</a:t>
            </a:r>
            <a:r>
              <a:rPr lang="en-US" sz="1875" dirty="0" err="1">
                <a:solidFill>
                  <a:srgbClr val="173D34"/>
                </a:solidFill>
                <a:latin typeface="Calibri"/>
                <a:ea typeface="Calibri"/>
                <a:cs typeface="Calibri"/>
              </a:rPr>
              <a:t>sifikasi</a:t>
            </a:r>
            <a:r>
              <a:rPr sz="1875" b="0" dirty="0">
                <a:solidFill>
                  <a:srgbClr val="173D34"/>
                </a:solidFill>
                <a:latin typeface="Calibri"/>
                <a:ea typeface="Calibri"/>
                <a:cs typeface="Calibri"/>
              </a:rPr>
              <a:t> dan </a:t>
            </a:r>
            <a:r>
              <a:rPr sz="1875" b="0" dirty="0" err="1">
                <a:solidFill>
                  <a:srgbClr val="173D34"/>
                </a:solidFill>
                <a:latin typeface="Calibri"/>
                <a:ea typeface="Calibri"/>
                <a:cs typeface="Calibri"/>
              </a:rPr>
              <a:t>aturan</a:t>
            </a:r>
            <a:r>
              <a:rPr sz="1875" b="0" dirty="0">
                <a:solidFill>
                  <a:srgbClr val="173D34"/>
                </a:solidFill>
                <a:latin typeface="Calibri"/>
                <a:ea typeface="Calibri"/>
                <a:cs typeface="Calibri"/>
              </a:rPr>
              <a:t> negara </a:t>
            </a:r>
            <a:r>
              <a:rPr sz="1875" b="0" dirty="0" err="1">
                <a:solidFill>
                  <a:srgbClr val="173D34"/>
                </a:solidFill>
                <a:latin typeface="Calibri"/>
                <a:ea typeface="Calibri"/>
                <a:cs typeface="Calibri"/>
              </a:rPr>
              <a:t>tujuan</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sudah</a:t>
            </a:r>
            <a:r>
              <a:rPr sz="1875" b="0" dirty="0">
                <a:solidFill>
                  <a:srgbClr val="173D34"/>
                </a:solidFill>
                <a:latin typeface="Calibri"/>
                <a:ea typeface="Calibri"/>
                <a:cs typeface="Calibri"/>
              </a:rPr>
              <a:t> </a:t>
            </a:r>
            <a:r>
              <a:rPr sz="1875" b="0" dirty="0" err="1">
                <a:solidFill>
                  <a:srgbClr val="173D34"/>
                </a:solidFill>
                <a:latin typeface="Calibri"/>
                <a:ea typeface="Calibri"/>
                <a:cs typeface="Calibri"/>
              </a:rPr>
              <a:t>dicek</a:t>
            </a:r>
            <a:r>
              <a:rPr sz="1875" b="0" dirty="0">
                <a:solidFill>
                  <a:srgbClr val="173D34"/>
                </a:solidFill>
                <a:latin typeface="Calibri"/>
                <a:ea typeface="Calibri"/>
                <a:cs typeface="Calibri"/>
              </a:rPr>
              <a:t>?</a:t>
            </a:r>
          </a:p>
        </p:txBody>
      </p:sp>
      <p:sp>
        <p:nvSpPr>
          <p:cNvPr id="24" name="Straight Connector 23">
            <a:extLst>
              <a:ext uri="{FF2B5EF4-FFF2-40B4-BE49-F238E27FC236}">
                <a16:creationId xmlns:a16="http://schemas.microsoft.com/office/drawing/2014/main" id="{D11E3496-D79E-47FD-9366-C077C1EE7CAB}"/>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5" name="text-187">
            <a:extLst>
              <a:ext uri="{FF2B5EF4-FFF2-40B4-BE49-F238E27FC236}">
                <a16:creationId xmlns:a16="http://schemas.microsoft.com/office/drawing/2014/main" id="{9EDE1162-6DDF-4737-BD77-48B92A57CB5C}"/>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dirty="0" err="1">
                <a:solidFill>
                  <a:srgbClr val="087958"/>
                </a:solidFill>
                <a:latin typeface="Calibri"/>
                <a:ea typeface="Calibri"/>
                <a:cs typeface="Calibri"/>
              </a:rPr>
              <a:t>Janjikan</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apa</a:t>
            </a:r>
            <a:r>
              <a:rPr lang="en-US" sz="1725" b="1" dirty="0">
                <a:solidFill>
                  <a:srgbClr val="087958"/>
                </a:solidFill>
                <a:latin typeface="Calibri"/>
                <a:ea typeface="Calibri"/>
                <a:cs typeface="Calibri"/>
              </a:rPr>
              <a:t> </a:t>
            </a:r>
            <a:r>
              <a:rPr sz="1725" b="1" dirty="0">
                <a:solidFill>
                  <a:srgbClr val="087958"/>
                </a:solidFill>
                <a:latin typeface="Calibri"/>
                <a:ea typeface="Calibri"/>
                <a:cs typeface="Calibri"/>
              </a:rPr>
              <a:t>yang </a:t>
            </a:r>
            <a:r>
              <a:rPr sz="1725" b="1" dirty="0" err="1">
                <a:solidFill>
                  <a:srgbClr val="087958"/>
                </a:solidFill>
                <a:latin typeface="Calibri"/>
                <a:ea typeface="Calibri"/>
                <a:cs typeface="Calibri"/>
              </a:rPr>
              <a:t>sudah</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terbukti</a:t>
            </a:r>
            <a:r>
              <a:rPr sz="1725" b="1" dirty="0">
                <a:solidFill>
                  <a:srgbClr val="087958"/>
                </a:solidFill>
                <a:latin typeface="Calibri"/>
                <a:ea typeface="Calibri"/>
                <a:cs typeface="Calibri"/>
              </a:rPr>
              <a:t> </a:t>
            </a:r>
            <a:r>
              <a:rPr sz="1725" b="1" dirty="0" err="1">
                <a:solidFill>
                  <a:srgbClr val="087958"/>
                </a:solidFill>
                <a:latin typeface="Calibri"/>
                <a:ea typeface="Calibri"/>
                <a:cs typeface="Calibri"/>
              </a:rPr>
              <a:t>bisa</a:t>
            </a:r>
            <a:r>
              <a:rPr lang="en-US"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kita</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kerjakan</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jangan</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sesuatu</a:t>
            </a:r>
            <a:r>
              <a:rPr lang="en-US" sz="1725" b="1" dirty="0">
                <a:solidFill>
                  <a:srgbClr val="087958"/>
                </a:solidFill>
                <a:latin typeface="Calibri"/>
                <a:ea typeface="Calibri"/>
                <a:cs typeface="Calibri"/>
              </a:rPr>
              <a:t> </a:t>
            </a:r>
            <a:r>
              <a:rPr sz="1725" b="1" dirty="0">
                <a:solidFill>
                  <a:srgbClr val="087958"/>
                </a:solidFill>
                <a:latin typeface="Calibri"/>
                <a:ea typeface="Calibri"/>
                <a:cs typeface="Calibri"/>
              </a:rPr>
              <a:t>yang </a:t>
            </a:r>
            <a:r>
              <a:rPr sz="1725" b="1" dirty="0" err="1">
                <a:solidFill>
                  <a:srgbClr val="087958"/>
                </a:solidFill>
                <a:latin typeface="Calibri"/>
                <a:ea typeface="Calibri"/>
                <a:cs typeface="Calibri"/>
              </a:rPr>
              <a:t>masih</a:t>
            </a:r>
            <a:r>
              <a:rPr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dalam</a:t>
            </a:r>
            <a:r>
              <a:rPr lang="en-US"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tahap</a:t>
            </a:r>
            <a:r>
              <a:rPr lang="en-US" sz="1725" b="1" dirty="0">
                <a:solidFill>
                  <a:srgbClr val="087958"/>
                </a:solidFill>
                <a:latin typeface="Calibri"/>
                <a:ea typeface="Calibri"/>
                <a:cs typeface="Calibri"/>
              </a:rPr>
              <a:t> </a:t>
            </a:r>
            <a:r>
              <a:rPr lang="en-US" sz="1725" b="1" dirty="0" err="1">
                <a:solidFill>
                  <a:srgbClr val="087958"/>
                </a:solidFill>
                <a:latin typeface="Calibri"/>
                <a:ea typeface="Calibri"/>
                <a:cs typeface="Calibri"/>
              </a:rPr>
              <a:t>pengembangan</a:t>
            </a:r>
            <a:r>
              <a:rPr sz="1725" b="1" dirty="0">
                <a:solidFill>
                  <a:srgbClr val="087958"/>
                </a:solidFill>
                <a:latin typeface="Calibri"/>
                <a:ea typeface="Calibri"/>
                <a:cs typeface="Calibri"/>
              </a:rPr>
              <a:t>.</a:t>
            </a:r>
          </a:p>
        </p:txBody>
      </p:sp>
      <p:sp>
        <p:nvSpPr>
          <p:cNvPr id="26" name="text-188">
            <a:extLst>
              <a:ext uri="{FF2B5EF4-FFF2-40B4-BE49-F238E27FC236}">
                <a16:creationId xmlns:a16="http://schemas.microsoft.com/office/drawing/2014/main" id="{3783FBDE-7618-4B5A-83D9-15E96725982A}"/>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Sumber: Modul 1 CMC dan ITA Export Plan. Foto dibuat dengan AI.</a:t>
            </a:r>
          </a:p>
        </p:txBody>
      </p:sp>
    </p:spTree>
    <p:extLst>
      <p:ext uri="{BB962C8B-B14F-4D97-AF65-F5344CB8AC3E}">
        <p14:creationId xmlns:p14="http://schemas.microsoft.com/office/powerpoint/2010/main" val="820747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04D2867-ED98-4E27-9E0F-54ED034A9142}"/>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6" name="Picture 25"/>
          <p:cNvPicPr>
            <a:picLocks noChangeAspect="1"/>
          </p:cNvPicPr>
          <p:nvPr/>
        </p:nvPicPr>
        <p:blipFill>
          <a:blip r:embed="rId4"/>
          <a:stretch/>
        </p:blipFill>
        <p:spPr>
          <a:xfrm>
            <a:off x="10591800" y="245339"/>
            <a:ext cx="1028700" cy="385621"/>
          </a:xfrm>
          <a:prstGeom prst="rect">
            <a:avLst/>
          </a:prstGeom>
        </p:spPr>
      </p:pic>
      <p:sp>
        <p:nvSpPr>
          <p:cNvPr id="4" name="text-189">
            <a:extLst>
              <a:ext uri="{FF2B5EF4-FFF2-40B4-BE49-F238E27FC236}">
                <a16:creationId xmlns:a16="http://schemas.microsoft.com/office/drawing/2014/main" id="{7DEC0570-612F-48E4-BB91-F412DC898F4D}"/>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PROFIT VS CASH FLOW</a:t>
            </a:r>
          </a:p>
        </p:txBody>
      </p:sp>
      <p:sp>
        <p:nvSpPr>
          <p:cNvPr id="5" name="text-190">
            <a:extLst>
              <a:ext uri="{FF2B5EF4-FFF2-40B4-BE49-F238E27FC236}">
                <a16:creationId xmlns:a16="http://schemas.microsoft.com/office/drawing/2014/main" id="{CE2CE9FE-2B1D-472D-924B-A97C6F06A198}"/>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Uang keluar duluan, pembayaran buyer datang belakangan</a:t>
            </a:r>
          </a:p>
        </p:txBody>
      </p:sp>
      <p:sp>
        <p:nvSpPr>
          <p:cNvPr id="6" name="text-191">
            <a:extLst>
              <a:ext uri="{FF2B5EF4-FFF2-40B4-BE49-F238E27FC236}">
                <a16:creationId xmlns:a16="http://schemas.microsoft.com/office/drawing/2014/main" id="{5657B48E-57D1-48FD-B1F0-93363E523405}"/>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Untung di atas kertas belum cukup. Kasnya harus kuat sampai buyer bayar.</a:t>
            </a:r>
          </a:p>
        </p:txBody>
      </p:sp>
      <p:sp>
        <p:nvSpPr>
          <p:cNvPr id="7" name="text-192">
            <a:extLst>
              <a:ext uri="{FF2B5EF4-FFF2-40B4-BE49-F238E27FC236}">
                <a16:creationId xmlns:a16="http://schemas.microsoft.com/office/drawing/2014/main" id="{E263E91E-25B2-4D4C-A59A-06D31E6A57C4}"/>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8" name="text-193">
            <a:extLst>
              <a:ext uri="{FF2B5EF4-FFF2-40B4-BE49-F238E27FC236}">
                <a16:creationId xmlns:a16="http://schemas.microsoft.com/office/drawing/2014/main" id="{C7E49169-C4F9-411A-8AF3-D7FC3E183E34}"/>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13</a:t>
            </a:r>
          </a:p>
        </p:txBody>
      </p:sp>
      <p:pic>
        <p:nvPicPr>
          <p:cNvPr id="32" name="Picture 31"/>
          <p:cNvPicPr>
            <a:picLocks noChangeAspect="1"/>
          </p:cNvPicPr>
          <p:nvPr/>
        </p:nvPicPr>
        <p:blipFill>
          <a:blip r:embed="rId5"/>
          <a:stretch/>
        </p:blipFill>
        <p:spPr>
          <a:xfrm>
            <a:off x="1566863" y="2060829"/>
            <a:ext cx="9058275" cy="3019425"/>
          </a:xfrm>
          <a:prstGeom prst="rect">
            <a:avLst/>
          </a:prstGeom>
        </p:spPr>
      </p:pic>
      <p:sp>
        <p:nvSpPr>
          <p:cNvPr id="10" name="Straight Connector 9">
            <a:extLst>
              <a:ext uri="{FF2B5EF4-FFF2-40B4-BE49-F238E27FC236}">
                <a16:creationId xmlns:a16="http://schemas.microsoft.com/office/drawing/2014/main" id="{105ECA24-FDBE-44A9-9BC7-00F84D75FFD4}"/>
              </a:ext>
            </a:extLst>
          </p:cNvPr>
          <p:cNvSpPr>
            <a:spLocks noGrp="1"/>
          </p:cNvSpPr>
          <p:nvPr/>
        </p:nvSpPr>
        <p:spPr>
          <a:xfrm>
            <a:off x="2743200" y="5023104"/>
            <a:ext cx="6972300" cy="0"/>
          </a:xfrm>
          <a:prstGeom prst="line">
            <a:avLst/>
          </a:prstGeom>
          <a:noFill/>
          <a:ln w="28575">
            <a:solidFill>
              <a:srgbClr val="9AB6A5"/>
            </a:solidFill>
          </a:ln>
        </p:spPr>
        <p:txBody>
          <a:bodyPr/>
          <a:lstStyle/>
          <a:p>
            <a:endParaRPr/>
          </a:p>
        </p:txBody>
      </p:sp>
      <p:sp>
        <p:nvSpPr>
          <p:cNvPr id="11" name="Oval 10">
            <a:extLst>
              <a:ext uri="{FF2B5EF4-FFF2-40B4-BE49-F238E27FC236}">
                <a16:creationId xmlns:a16="http://schemas.microsoft.com/office/drawing/2014/main" id="{361F83E0-48C1-46DA-BADF-7A0DA9E63B29}"/>
              </a:ext>
            </a:extLst>
          </p:cNvPr>
          <p:cNvSpPr>
            <a:spLocks noGrp="1"/>
          </p:cNvSpPr>
          <p:nvPr/>
        </p:nvSpPr>
        <p:spPr>
          <a:xfrm>
            <a:off x="2657475" y="4937379"/>
            <a:ext cx="171450" cy="171450"/>
          </a:xfrm>
          <a:prstGeom prst="ellipse">
            <a:avLst/>
          </a:prstGeom>
          <a:solidFill>
            <a:srgbClr val="FFFFFF"/>
          </a:solidFill>
          <a:ln w="19050">
            <a:solidFill>
              <a:srgbClr val="087958"/>
            </a:solidFill>
          </a:ln>
        </p:spPr>
        <p:txBody>
          <a:bodyPr/>
          <a:lstStyle/>
          <a:p>
            <a:endParaRPr/>
          </a:p>
        </p:txBody>
      </p:sp>
      <p:sp>
        <p:nvSpPr>
          <p:cNvPr id="12" name="text-194">
            <a:extLst>
              <a:ext uri="{FF2B5EF4-FFF2-40B4-BE49-F238E27FC236}">
                <a16:creationId xmlns:a16="http://schemas.microsoft.com/office/drawing/2014/main" id="{818D27D6-5A36-4A93-8A94-BFD24E4706E1}"/>
              </a:ext>
            </a:extLst>
          </p:cNvPr>
          <p:cNvSpPr>
            <a:spLocks noGrp="1"/>
          </p:cNvSpPr>
          <p:nvPr/>
        </p:nvSpPr>
        <p:spPr>
          <a:xfrm>
            <a:off x="1609344" y="5251704"/>
            <a:ext cx="2267712" cy="333375"/>
          </a:xfrm>
          <a:prstGeom prst="rect">
            <a:avLst/>
          </a:prstGeom>
          <a:noFill/>
          <a:ln w="0">
            <a:noFill/>
          </a:ln>
        </p:spPr>
        <p:txBody>
          <a:bodyPr wrap="square" lIns="0" tIns="0" rIns="0" bIns="0" anchor="t">
            <a:noAutofit/>
          </a:bodyPr>
          <a:lstStyle/>
          <a:p>
            <a:pPr algn="ctr">
              <a:defRPr sz="1875" b="1">
                <a:solidFill>
                  <a:srgbClr val="173D34"/>
                </a:solidFill>
                <a:latin typeface="Calibri"/>
                <a:ea typeface="Calibri"/>
                <a:cs typeface="Calibri"/>
              </a:defRPr>
            </a:pPr>
            <a:r>
              <a:rPr sz="1875" b="1">
                <a:solidFill>
                  <a:srgbClr val="173D34"/>
                </a:solidFill>
                <a:latin typeface="Calibri"/>
                <a:ea typeface="Calibri"/>
                <a:cs typeface="Calibri"/>
              </a:rPr>
              <a:t>Bahan baku</a:t>
            </a:r>
          </a:p>
        </p:txBody>
      </p:sp>
      <p:sp>
        <p:nvSpPr>
          <p:cNvPr id="13" name="text-195">
            <a:extLst>
              <a:ext uri="{FF2B5EF4-FFF2-40B4-BE49-F238E27FC236}">
                <a16:creationId xmlns:a16="http://schemas.microsoft.com/office/drawing/2014/main" id="{719D8E53-67F3-4879-9B37-C2A3614B3CCD}"/>
              </a:ext>
            </a:extLst>
          </p:cNvPr>
          <p:cNvSpPr>
            <a:spLocks noGrp="1"/>
          </p:cNvSpPr>
          <p:nvPr/>
        </p:nvSpPr>
        <p:spPr>
          <a:xfrm>
            <a:off x="1609344" y="5594604"/>
            <a:ext cx="2267712" cy="295275"/>
          </a:xfrm>
          <a:prstGeom prst="rect">
            <a:avLst/>
          </a:prstGeom>
          <a:noFill/>
          <a:ln w="0">
            <a:noFill/>
          </a:ln>
        </p:spPr>
        <p:txBody>
          <a:bodyPr wrap="square" lIns="0" tIns="0" rIns="0" bIns="0" anchor="t">
            <a:noAutofit/>
          </a:bodyPr>
          <a:lstStyle/>
          <a:p>
            <a:pPr algn="ctr">
              <a:defRPr sz="1725" b="0">
                <a:solidFill>
                  <a:srgbClr val="5B7169"/>
                </a:solidFill>
                <a:latin typeface="Calibri"/>
                <a:ea typeface="Calibri"/>
                <a:cs typeface="Calibri"/>
              </a:defRPr>
            </a:pPr>
            <a:r>
              <a:rPr sz="1725" b="0">
                <a:solidFill>
                  <a:srgbClr val="5B7169"/>
                </a:solidFill>
                <a:latin typeface="Calibri"/>
                <a:ea typeface="Calibri"/>
                <a:cs typeface="Calibri"/>
              </a:rPr>
              <a:t>Uang keluar</a:t>
            </a:r>
          </a:p>
        </p:txBody>
      </p:sp>
      <p:sp>
        <p:nvSpPr>
          <p:cNvPr id="14" name="Oval 13">
            <a:extLst>
              <a:ext uri="{FF2B5EF4-FFF2-40B4-BE49-F238E27FC236}">
                <a16:creationId xmlns:a16="http://schemas.microsoft.com/office/drawing/2014/main" id="{94524632-B4C6-4898-B098-BBF88F443CDB}"/>
              </a:ext>
            </a:extLst>
          </p:cNvPr>
          <p:cNvSpPr>
            <a:spLocks noGrp="1"/>
          </p:cNvSpPr>
          <p:nvPr/>
        </p:nvSpPr>
        <p:spPr>
          <a:xfrm>
            <a:off x="4981575" y="4937379"/>
            <a:ext cx="171450" cy="171450"/>
          </a:xfrm>
          <a:prstGeom prst="ellipse">
            <a:avLst/>
          </a:prstGeom>
          <a:solidFill>
            <a:srgbClr val="FFFFFF"/>
          </a:solidFill>
          <a:ln w="19050">
            <a:solidFill>
              <a:srgbClr val="087958"/>
            </a:solidFill>
          </a:ln>
        </p:spPr>
        <p:txBody>
          <a:bodyPr/>
          <a:lstStyle/>
          <a:p>
            <a:endParaRPr/>
          </a:p>
        </p:txBody>
      </p:sp>
      <p:sp>
        <p:nvSpPr>
          <p:cNvPr id="15" name="text-196">
            <a:extLst>
              <a:ext uri="{FF2B5EF4-FFF2-40B4-BE49-F238E27FC236}">
                <a16:creationId xmlns:a16="http://schemas.microsoft.com/office/drawing/2014/main" id="{F96C5A49-6795-49CA-BF78-C8EAB43C1014}"/>
              </a:ext>
            </a:extLst>
          </p:cNvPr>
          <p:cNvSpPr>
            <a:spLocks noGrp="1"/>
          </p:cNvSpPr>
          <p:nvPr/>
        </p:nvSpPr>
        <p:spPr>
          <a:xfrm>
            <a:off x="3933444" y="5251704"/>
            <a:ext cx="2267712" cy="333375"/>
          </a:xfrm>
          <a:prstGeom prst="rect">
            <a:avLst/>
          </a:prstGeom>
          <a:noFill/>
          <a:ln w="0">
            <a:noFill/>
          </a:ln>
        </p:spPr>
        <p:txBody>
          <a:bodyPr wrap="square" lIns="0" tIns="0" rIns="0" bIns="0" anchor="t">
            <a:noAutofit/>
          </a:bodyPr>
          <a:lstStyle/>
          <a:p>
            <a:pPr algn="ctr">
              <a:defRPr sz="1875" b="1">
                <a:solidFill>
                  <a:srgbClr val="173D34"/>
                </a:solidFill>
                <a:latin typeface="Calibri"/>
                <a:ea typeface="Calibri"/>
                <a:cs typeface="Calibri"/>
              </a:defRPr>
            </a:pPr>
            <a:r>
              <a:rPr sz="1875" b="1">
                <a:solidFill>
                  <a:srgbClr val="173D34"/>
                </a:solidFill>
                <a:latin typeface="Calibri"/>
                <a:ea typeface="Calibri"/>
                <a:cs typeface="Calibri"/>
              </a:rPr>
              <a:t>Produksi</a:t>
            </a:r>
          </a:p>
        </p:txBody>
      </p:sp>
      <p:sp>
        <p:nvSpPr>
          <p:cNvPr id="16" name="text-197">
            <a:extLst>
              <a:ext uri="{FF2B5EF4-FFF2-40B4-BE49-F238E27FC236}">
                <a16:creationId xmlns:a16="http://schemas.microsoft.com/office/drawing/2014/main" id="{4C37918E-2F24-4EE8-BF83-DA20DAD20151}"/>
              </a:ext>
            </a:extLst>
          </p:cNvPr>
          <p:cNvSpPr>
            <a:spLocks noGrp="1"/>
          </p:cNvSpPr>
          <p:nvPr/>
        </p:nvSpPr>
        <p:spPr>
          <a:xfrm>
            <a:off x="3933444" y="5594604"/>
            <a:ext cx="2267712" cy="295275"/>
          </a:xfrm>
          <a:prstGeom prst="rect">
            <a:avLst/>
          </a:prstGeom>
          <a:noFill/>
          <a:ln w="0">
            <a:noFill/>
          </a:ln>
        </p:spPr>
        <p:txBody>
          <a:bodyPr wrap="square" lIns="0" tIns="0" rIns="0" bIns="0" anchor="t">
            <a:noAutofit/>
          </a:bodyPr>
          <a:lstStyle/>
          <a:p>
            <a:pPr algn="ctr">
              <a:defRPr sz="1725" b="0">
                <a:solidFill>
                  <a:srgbClr val="5B7169"/>
                </a:solidFill>
                <a:latin typeface="Calibri"/>
                <a:ea typeface="Calibri"/>
                <a:cs typeface="Calibri"/>
              </a:defRPr>
            </a:pPr>
            <a:r>
              <a:rPr sz="1725" b="0">
                <a:solidFill>
                  <a:srgbClr val="5B7169"/>
                </a:solidFill>
                <a:latin typeface="Calibri"/>
                <a:ea typeface="Calibri"/>
                <a:cs typeface="Calibri"/>
              </a:rPr>
              <a:t>Uang keluar</a:t>
            </a:r>
          </a:p>
        </p:txBody>
      </p:sp>
      <p:sp>
        <p:nvSpPr>
          <p:cNvPr id="17" name="Oval 16">
            <a:extLst>
              <a:ext uri="{FF2B5EF4-FFF2-40B4-BE49-F238E27FC236}">
                <a16:creationId xmlns:a16="http://schemas.microsoft.com/office/drawing/2014/main" id="{E75DF8F5-95E3-4615-AFE1-A3B00F94790B}"/>
              </a:ext>
            </a:extLst>
          </p:cNvPr>
          <p:cNvSpPr>
            <a:spLocks noGrp="1"/>
          </p:cNvSpPr>
          <p:nvPr/>
        </p:nvSpPr>
        <p:spPr>
          <a:xfrm>
            <a:off x="7305675" y="4937379"/>
            <a:ext cx="171450" cy="171450"/>
          </a:xfrm>
          <a:prstGeom prst="ellipse">
            <a:avLst/>
          </a:prstGeom>
          <a:solidFill>
            <a:srgbClr val="FFFFFF"/>
          </a:solidFill>
          <a:ln w="19050">
            <a:solidFill>
              <a:srgbClr val="087958"/>
            </a:solidFill>
          </a:ln>
        </p:spPr>
        <p:txBody>
          <a:bodyPr/>
          <a:lstStyle/>
          <a:p>
            <a:endParaRPr/>
          </a:p>
        </p:txBody>
      </p:sp>
      <p:sp>
        <p:nvSpPr>
          <p:cNvPr id="18" name="text-198">
            <a:extLst>
              <a:ext uri="{FF2B5EF4-FFF2-40B4-BE49-F238E27FC236}">
                <a16:creationId xmlns:a16="http://schemas.microsoft.com/office/drawing/2014/main" id="{368ADEA8-1981-4ABB-9178-B7BA6A397C8E}"/>
              </a:ext>
            </a:extLst>
          </p:cNvPr>
          <p:cNvSpPr>
            <a:spLocks noGrp="1"/>
          </p:cNvSpPr>
          <p:nvPr/>
        </p:nvSpPr>
        <p:spPr>
          <a:xfrm>
            <a:off x="6257544" y="5251704"/>
            <a:ext cx="2267712" cy="333375"/>
          </a:xfrm>
          <a:prstGeom prst="rect">
            <a:avLst/>
          </a:prstGeom>
          <a:noFill/>
          <a:ln w="0">
            <a:noFill/>
          </a:ln>
        </p:spPr>
        <p:txBody>
          <a:bodyPr wrap="square" lIns="0" tIns="0" rIns="0" bIns="0" anchor="t">
            <a:noAutofit/>
          </a:bodyPr>
          <a:lstStyle/>
          <a:p>
            <a:pPr algn="ctr">
              <a:defRPr sz="1875" b="1">
                <a:solidFill>
                  <a:srgbClr val="173D34"/>
                </a:solidFill>
                <a:latin typeface="Calibri"/>
                <a:ea typeface="Calibri"/>
                <a:cs typeface="Calibri"/>
              </a:defRPr>
            </a:pPr>
            <a:r>
              <a:rPr sz="1875" b="1">
                <a:solidFill>
                  <a:srgbClr val="173D34"/>
                </a:solidFill>
                <a:latin typeface="Calibri"/>
                <a:ea typeface="Calibri"/>
                <a:cs typeface="Calibri"/>
              </a:rPr>
              <a:t>Shipping</a:t>
            </a:r>
          </a:p>
        </p:txBody>
      </p:sp>
      <p:sp>
        <p:nvSpPr>
          <p:cNvPr id="19" name="text-199">
            <a:extLst>
              <a:ext uri="{FF2B5EF4-FFF2-40B4-BE49-F238E27FC236}">
                <a16:creationId xmlns:a16="http://schemas.microsoft.com/office/drawing/2014/main" id="{F4C214DE-988C-43D8-A9FF-08B21CDF5CFA}"/>
              </a:ext>
            </a:extLst>
          </p:cNvPr>
          <p:cNvSpPr>
            <a:spLocks noGrp="1"/>
          </p:cNvSpPr>
          <p:nvPr/>
        </p:nvSpPr>
        <p:spPr>
          <a:xfrm>
            <a:off x="6257544" y="5594604"/>
            <a:ext cx="2267712" cy="295275"/>
          </a:xfrm>
          <a:prstGeom prst="rect">
            <a:avLst/>
          </a:prstGeom>
          <a:noFill/>
          <a:ln w="0">
            <a:noFill/>
          </a:ln>
        </p:spPr>
        <p:txBody>
          <a:bodyPr wrap="square" lIns="0" tIns="0" rIns="0" bIns="0" anchor="t">
            <a:noAutofit/>
          </a:bodyPr>
          <a:lstStyle/>
          <a:p>
            <a:pPr algn="ctr">
              <a:defRPr sz="1725" b="0">
                <a:solidFill>
                  <a:srgbClr val="5B7169"/>
                </a:solidFill>
                <a:latin typeface="Calibri"/>
                <a:ea typeface="Calibri"/>
                <a:cs typeface="Calibri"/>
              </a:defRPr>
            </a:pPr>
            <a:r>
              <a:rPr sz="1725" b="0">
                <a:solidFill>
                  <a:srgbClr val="5B7169"/>
                </a:solidFill>
                <a:latin typeface="Calibri"/>
                <a:ea typeface="Calibri"/>
                <a:cs typeface="Calibri"/>
              </a:rPr>
              <a:t>Uang keluar</a:t>
            </a:r>
          </a:p>
        </p:txBody>
      </p:sp>
      <p:sp>
        <p:nvSpPr>
          <p:cNvPr id="20" name="Oval 19">
            <a:extLst>
              <a:ext uri="{FF2B5EF4-FFF2-40B4-BE49-F238E27FC236}">
                <a16:creationId xmlns:a16="http://schemas.microsoft.com/office/drawing/2014/main" id="{DAF72B78-0C82-4600-A2C2-F907B9CE023E}"/>
              </a:ext>
            </a:extLst>
          </p:cNvPr>
          <p:cNvSpPr>
            <a:spLocks noGrp="1"/>
          </p:cNvSpPr>
          <p:nvPr/>
        </p:nvSpPr>
        <p:spPr>
          <a:xfrm>
            <a:off x="9629775" y="4937379"/>
            <a:ext cx="171450" cy="171450"/>
          </a:xfrm>
          <a:prstGeom prst="ellipse">
            <a:avLst/>
          </a:prstGeom>
          <a:solidFill>
            <a:srgbClr val="087958"/>
          </a:solidFill>
          <a:ln w="19050">
            <a:solidFill>
              <a:srgbClr val="087958"/>
            </a:solidFill>
          </a:ln>
        </p:spPr>
        <p:txBody>
          <a:bodyPr/>
          <a:lstStyle/>
          <a:p>
            <a:endParaRPr/>
          </a:p>
        </p:txBody>
      </p:sp>
      <p:sp>
        <p:nvSpPr>
          <p:cNvPr id="21" name="text-200">
            <a:extLst>
              <a:ext uri="{FF2B5EF4-FFF2-40B4-BE49-F238E27FC236}">
                <a16:creationId xmlns:a16="http://schemas.microsoft.com/office/drawing/2014/main" id="{41DB9E31-1D8E-49C0-88BA-B10F892B209B}"/>
              </a:ext>
            </a:extLst>
          </p:cNvPr>
          <p:cNvSpPr>
            <a:spLocks noGrp="1"/>
          </p:cNvSpPr>
          <p:nvPr/>
        </p:nvSpPr>
        <p:spPr>
          <a:xfrm>
            <a:off x="8581644" y="5251704"/>
            <a:ext cx="2267712" cy="333375"/>
          </a:xfrm>
          <a:prstGeom prst="rect">
            <a:avLst/>
          </a:prstGeom>
          <a:noFill/>
          <a:ln w="0">
            <a:noFill/>
          </a:ln>
        </p:spPr>
        <p:txBody>
          <a:bodyPr wrap="square" lIns="0" tIns="0" rIns="0" bIns="0" anchor="t">
            <a:noAutofit/>
          </a:bodyPr>
          <a:lstStyle/>
          <a:p>
            <a:pPr algn="ctr">
              <a:defRPr sz="1875" b="1">
                <a:solidFill>
                  <a:srgbClr val="087958"/>
                </a:solidFill>
                <a:latin typeface="Calibri"/>
                <a:ea typeface="Calibri"/>
                <a:cs typeface="Calibri"/>
              </a:defRPr>
            </a:pPr>
            <a:r>
              <a:rPr sz="1875" b="1">
                <a:solidFill>
                  <a:srgbClr val="087958"/>
                </a:solidFill>
                <a:latin typeface="Calibri"/>
                <a:ea typeface="Calibri"/>
                <a:cs typeface="Calibri"/>
              </a:rPr>
              <a:t>Buyer bayar</a:t>
            </a:r>
          </a:p>
        </p:txBody>
      </p:sp>
      <p:sp>
        <p:nvSpPr>
          <p:cNvPr id="22" name="text-201">
            <a:extLst>
              <a:ext uri="{FF2B5EF4-FFF2-40B4-BE49-F238E27FC236}">
                <a16:creationId xmlns:a16="http://schemas.microsoft.com/office/drawing/2014/main" id="{9FAC34AA-667F-4DAA-A801-4FA0F0CE8A20}"/>
              </a:ext>
            </a:extLst>
          </p:cNvPr>
          <p:cNvSpPr>
            <a:spLocks noGrp="1"/>
          </p:cNvSpPr>
          <p:nvPr/>
        </p:nvSpPr>
        <p:spPr>
          <a:xfrm>
            <a:off x="8581644" y="5594604"/>
            <a:ext cx="2267712" cy="295275"/>
          </a:xfrm>
          <a:prstGeom prst="rect">
            <a:avLst/>
          </a:prstGeom>
          <a:noFill/>
          <a:ln w="0">
            <a:noFill/>
          </a:ln>
        </p:spPr>
        <p:txBody>
          <a:bodyPr wrap="square" lIns="0" tIns="0" rIns="0" bIns="0" anchor="t">
            <a:noAutofit/>
          </a:bodyPr>
          <a:lstStyle/>
          <a:p>
            <a:pPr algn="ctr">
              <a:defRPr sz="1725" b="0">
                <a:solidFill>
                  <a:srgbClr val="5B7169"/>
                </a:solidFill>
                <a:latin typeface="Calibri"/>
                <a:ea typeface="Calibri"/>
                <a:cs typeface="Calibri"/>
              </a:defRPr>
            </a:pPr>
            <a:r>
              <a:rPr sz="1725" b="0">
                <a:solidFill>
                  <a:srgbClr val="5B7169"/>
                </a:solidFill>
                <a:latin typeface="Calibri"/>
                <a:ea typeface="Calibri"/>
                <a:cs typeface="Calibri"/>
              </a:rPr>
              <a:t>Uang masuk</a:t>
            </a:r>
          </a:p>
        </p:txBody>
      </p:sp>
      <p:sp>
        <p:nvSpPr>
          <p:cNvPr id="23" name="text-202">
            <a:extLst>
              <a:ext uri="{FF2B5EF4-FFF2-40B4-BE49-F238E27FC236}">
                <a16:creationId xmlns:a16="http://schemas.microsoft.com/office/drawing/2014/main" id="{7B49B44C-4500-450C-9A8B-4DC8DFB47899}"/>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Contoh skema bayar setelah barang diterima. Sumber: ITA Methods of Payment. Ilustrasi AI.</a:t>
            </a:r>
          </a:p>
        </p:txBody>
      </p:sp>
    </p:spTree>
    <p:extLst>
      <p:ext uri="{BB962C8B-B14F-4D97-AF65-F5344CB8AC3E}">
        <p14:creationId xmlns:p14="http://schemas.microsoft.com/office/powerpoint/2010/main" val="769929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Picture 29"/>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AC44042-866C-4FC0-A955-A11145268806}"/>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32" name="Picture 31"/>
          <p:cNvPicPr>
            <a:picLocks noChangeAspect="1"/>
          </p:cNvPicPr>
          <p:nvPr/>
        </p:nvPicPr>
        <p:blipFill>
          <a:blip r:embed="rId4"/>
          <a:stretch/>
        </p:blipFill>
        <p:spPr>
          <a:xfrm>
            <a:off x="10591800" y="245339"/>
            <a:ext cx="1028700" cy="385621"/>
          </a:xfrm>
          <a:prstGeom prst="rect">
            <a:avLst/>
          </a:prstGeom>
        </p:spPr>
      </p:pic>
      <p:sp>
        <p:nvSpPr>
          <p:cNvPr id="4" name="text-203">
            <a:extLst>
              <a:ext uri="{FF2B5EF4-FFF2-40B4-BE49-F238E27FC236}">
                <a16:creationId xmlns:a16="http://schemas.microsoft.com/office/drawing/2014/main" id="{DCA90635-7830-43CB-9533-FD3BD7F0DCBF}"/>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MANAJEMEN RISIKO</a:t>
            </a:r>
          </a:p>
        </p:txBody>
      </p:sp>
      <p:sp>
        <p:nvSpPr>
          <p:cNvPr id="5" name="text-204">
            <a:extLst>
              <a:ext uri="{FF2B5EF4-FFF2-40B4-BE49-F238E27FC236}">
                <a16:creationId xmlns:a16="http://schemas.microsoft.com/office/drawing/2014/main" id="{6FF36618-AFF5-483D-9260-62BBA457AF69}"/>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Tentukan kapan harus stop sebelum deal ditandatangani</a:t>
            </a:r>
          </a:p>
        </p:txBody>
      </p:sp>
      <p:sp>
        <p:nvSpPr>
          <p:cNvPr id="6" name="text-205">
            <a:extLst>
              <a:ext uri="{FF2B5EF4-FFF2-40B4-BE49-F238E27FC236}">
                <a16:creationId xmlns:a16="http://schemas.microsoft.com/office/drawing/2014/main" id="{5760372D-AE03-495C-938A-956CB643E2E4}"/>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206">
            <a:extLst>
              <a:ext uri="{FF2B5EF4-FFF2-40B4-BE49-F238E27FC236}">
                <a16:creationId xmlns:a16="http://schemas.microsoft.com/office/drawing/2014/main" id="{C318D9B3-AF8E-4B12-880C-46A93016729E}"/>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14</a:t>
            </a:r>
          </a:p>
        </p:txBody>
      </p:sp>
      <p:sp>
        <p:nvSpPr>
          <p:cNvPr id="8" name="text-207">
            <a:extLst>
              <a:ext uri="{FF2B5EF4-FFF2-40B4-BE49-F238E27FC236}">
                <a16:creationId xmlns:a16="http://schemas.microsoft.com/office/drawing/2014/main" id="{805DE989-44E0-4A17-A0DD-B318D545E361}"/>
              </a:ext>
            </a:extLst>
          </p:cNvPr>
          <p:cNvSpPr>
            <a:spLocks noGrp="1"/>
          </p:cNvSpPr>
          <p:nvPr/>
        </p:nvSpPr>
        <p:spPr>
          <a:xfrm>
            <a:off x="571500" y="2148840"/>
            <a:ext cx="28194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RISIKO</a:t>
            </a:r>
          </a:p>
        </p:txBody>
      </p:sp>
      <p:sp>
        <p:nvSpPr>
          <p:cNvPr id="9" name="text-208">
            <a:extLst>
              <a:ext uri="{FF2B5EF4-FFF2-40B4-BE49-F238E27FC236}">
                <a16:creationId xmlns:a16="http://schemas.microsoft.com/office/drawing/2014/main" id="{6CB6B513-CF16-47AC-B672-4566B80DAF84}"/>
              </a:ext>
            </a:extLst>
          </p:cNvPr>
          <p:cNvSpPr>
            <a:spLocks noGrp="1"/>
          </p:cNvSpPr>
          <p:nvPr/>
        </p:nvSpPr>
        <p:spPr>
          <a:xfrm>
            <a:off x="4457700" y="2148840"/>
            <a:ext cx="28575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DAMPAK</a:t>
            </a:r>
          </a:p>
        </p:txBody>
      </p:sp>
      <p:sp>
        <p:nvSpPr>
          <p:cNvPr id="10" name="text-209">
            <a:extLst>
              <a:ext uri="{FF2B5EF4-FFF2-40B4-BE49-F238E27FC236}">
                <a16:creationId xmlns:a16="http://schemas.microsoft.com/office/drawing/2014/main" id="{BAA4A120-2C17-496D-A5E6-21766F879CEB}"/>
              </a:ext>
            </a:extLst>
          </p:cNvPr>
          <p:cNvSpPr>
            <a:spLocks noGrp="1"/>
          </p:cNvSpPr>
          <p:nvPr/>
        </p:nvSpPr>
        <p:spPr>
          <a:xfrm>
            <a:off x="8324850" y="2148840"/>
            <a:ext cx="32956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CARA MENCEGAHNYA</a:t>
            </a:r>
          </a:p>
        </p:txBody>
      </p:sp>
      <p:sp>
        <p:nvSpPr>
          <p:cNvPr id="11" name="text-210">
            <a:extLst>
              <a:ext uri="{FF2B5EF4-FFF2-40B4-BE49-F238E27FC236}">
                <a16:creationId xmlns:a16="http://schemas.microsoft.com/office/drawing/2014/main" id="{76AD9CC3-B626-43F7-85DD-B962982E06BC}"/>
              </a:ext>
            </a:extLst>
          </p:cNvPr>
          <p:cNvSpPr>
            <a:spLocks noGrp="1"/>
          </p:cNvSpPr>
          <p:nvPr/>
        </p:nvSpPr>
        <p:spPr>
          <a:xfrm>
            <a:off x="571500" y="2880360"/>
            <a:ext cx="3028950" cy="609600"/>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Buyer telat bayar</a:t>
            </a:r>
          </a:p>
        </p:txBody>
      </p:sp>
      <p:sp>
        <p:nvSpPr>
          <p:cNvPr id="12" name="Right Arrow 11">
            <a:extLst>
              <a:ext uri="{FF2B5EF4-FFF2-40B4-BE49-F238E27FC236}">
                <a16:creationId xmlns:a16="http://schemas.microsoft.com/office/drawing/2014/main" id="{E59E5C80-9ACA-4AD2-9418-DC710C1389E6}"/>
              </a:ext>
            </a:extLst>
          </p:cNvPr>
          <p:cNvSpPr>
            <a:spLocks noGrp="1"/>
          </p:cNvSpPr>
          <p:nvPr/>
        </p:nvSpPr>
        <p:spPr>
          <a:xfrm>
            <a:off x="3685946" y="2981935"/>
            <a:ext cx="542925" cy="123825"/>
          </a:xfrm>
          <a:prstGeom prst="rightArrow">
            <a:avLst/>
          </a:prstGeom>
          <a:solidFill>
            <a:srgbClr val="9AB6A5"/>
          </a:solidFill>
          <a:ln w="0">
            <a:noFill/>
          </a:ln>
        </p:spPr>
        <p:txBody>
          <a:bodyPr/>
          <a:lstStyle/>
          <a:p>
            <a:endParaRPr/>
          </a:p>
        </p:txBody>
      </p:sp>
      <p:sp>
        <p:nvSpPr>
          <p:cNvPr id="13" name="text-211">
            <a:extLst>
              <a:ext uri="{FF2B5EF4-FFF2-40B4-BE49-F238E27FC236}">
                <a16:creationId xmlns:a16="http://schemas.microsoft.com/office/drawing/2014/main" id="{3CA52AF2-ADE9-449E-8DF1-C6968CBCECF1}"/>
              </a:ext>
            </a:extLst>
          </p:cNvPr>
          <p:cNvSpPr>
            <a:spLocks noGrp="1"/>
          </p:cNvSpPr>
          <p:nvPr/>
        </p:nvSpPr>
        <p:spPr>
          <a:xfrm>
            <a:off x="4457700" y="2889266"/>
            <a:ext cx="2857500" cy="628650"/>
          </a:xfrm>
          <a:prstGeom prst="rect">
            <a:avLst/>
          </a:prstGeom>
          <a:noFill/>
          <a:ln w="0">
            <a:noFill/>
          </a:ln>
        </p:spPr>
        <p:txBody>
          <a:bodyPr wrap="square" lIns="0" tIns="0" rIns="0" bIns="0" anchor="t">
            <a:noAutofit/>
          </a:bodyPr>
          <a:lstStyle/>
          <a:p>
            <a:pPr>
              <a:defRPr sz="2025" b="0">
                <a:solidFill>
                  <a:srgbClr val="173D34"/>
                </a:solidFill>
                <a:latin typeface="Calibri"/>
                <a:ea typeface="Calibri"/>
                <a:cs typeface="Calibri"/>
              </a:defRPr>
            </a:pPr>
            <a:r>
              <a:rPr sz="2025" b="0">
                <a:solidFill>
                  <a:srgbClr val="173D34"/>
                </a:solidFill>
                <a:latin typeface="Calibri"/>
                <a:ea typeface="Calibri"/>
                <a:cs typeface="Calibri"/>
              </a:rPr>
              <a:t>Cash flow seret</a:t>
            </a:r>
          </a:p>
        </p:txBody>
      </p:sp>
      <p:sp>
        <p:nvSpPr>
          <p:cNvPr id="14" name="Right Arrow 13">
            <a:extLst>
              <a:ext uri="{FF2B5EF4-FFF2-40B4-BE49-F238E27FC236}">
                <a16:creationId xmlns:a16="http://schemas.microsoft.com/office/drawing/2014/main" id="{19ED1D8D-BB63-445B-8AF9-3B3600875BD5}"/>
              </a:ext>
            </a:extLst>
          </p:cNvPr>
          <p:cNvSpPr>
            <a:spLocks noGrp="1"/>
          </p:cNvSpPr>
          <p:nvPr/>
        </p:nvSpPr>
        <p:spPr>
          <a:xfrm>
            <a:off x="7552944" y="2981935"/>
            <a:ext cx="542925" cy="123825"/>
          </a:xfrm>
          <a:prstGeom prst="rightArrow">
            <a:avLst/>
          </a:prstGeom>
          <a:solidFill>
            <a:srgbClr val="9AB6A5"/>
          </a:solidFill>
          <a:ln w="0">
            <a:noFill/>
          </a:ln>
        </p:spPr>
        <p:txBody>
          <a:bodyPr/>
          <a:lstStyle/>
          <a:p>
            <a:endParaRPr/>
          </a:p>
        </p:txBody>
      </p:sp>
      <p:sp>
        <p:nvSpPr>
          <p:cNvPr id="15" name="text-212">
            <a:extLst>
              <a:ext uri="{FF2B5EF4-FFF2-40B4-BE49-F238E27FC236}">
                <a16:creationId xmlns:a16="http://schemas.microsoft.com/office/drawing/2014/main" id="{2D181917-962C-476A-B54E-E452F3F3BC11}"/>
              </a:ext>
            </a:extLst>
          </p:cNvPr>
          <p:cNvSpPr>
            <a:spLocks noGrp="1"/>
          </p:cNvSpPr>
          <p:nvPr/>
        </p:nvSpPr>
        <p:spPr>
          <a:xfrm>
            <a:off x="8324850" y="2889266"/>
            <a:ext cx="3295650" cy="695325"/>
          </a:xfrm>
          <a:prstGeom prst="rect">
            <a:avLst/>
          </a:prstGeom>
          <a:noFill/>
          <a:ln w="0">
            <a:noFill/>
          </a:ln>
        </p:spPr>
        <p:txBody>
          <a:bodyPr wrap="square" lIns="0" tIns="0" rIns="0" bIns="0" anchor="t">
            <a:noAutofit/>
          </a:bodyPr>
          <a:lstStyle/>
          <a:p>
            <a:pPr>
              <a:defRPr sz="2025" b="1">
                <a:solidFill>
                  <a:srgbClr val="087958"/>
                </a:solidFill>
                <a:latin typeface="Calibri"/>
                <a:ea typeface="Calibri"/>
                <a:cs typeface="Calibri"/>
              </a:defRPr>
            </a:pPr>
            <a:r>
              <a:rPr sz="2025" b="1">
                <a:solidFill>
                  <a:srgbClr val="087958"/>
                </a:solidFill>
                <a:latin typeface="Calibri"/>
                <a:ea typeface="Calibri"/>
                <a:cs typeface="Calibri"/>
              </a:rPr>
              <a:t>Cek buyer + sepakati termin</a:t>
            </a:r>
          </a:p>
        </p:txBody>
      </p:sp>
      <p:sp>
        <p:nvSpPr>
          <p:cNvPr id="16" name="Straight Connector 15">
            <a:extLst>
              <a:ext uri="{FF2B5EF4-FFF2-40B4-BE49-F238E27FC236}">
                <a16:creationId xmlns:a16="http://schemas.microsoft.com/office/drawing/2014/main" id="{DBBE34FA-D5FB-4DF7-BC8F-23EB0BF85E06}"/>
              </a:ext>
            </a:extLst>
          </p:cNvPr>
          <p:cNvSpPr>
            <a:spLocks noGrp="1"/>
          </p:cNvSpPr>
          <p:nvPr/>
        </p:nvSpPr>
        <p:spPr>
          <a:xfrm>
            <a:off x="571500" y="3555187"/>
            <a:ext cx="11049000" cy="0"/>
          </a:xfrm>
          <a:prstGeom prst="line">
            <a:avLst/>
          </a:prstGeom>
          <a:noFill/>
          <a:ln w="9525">
            <a:solidFill>
              <a:srgbClr val="CEDDD4"/>
            </a:solidFill>
          </a:ln>
        </p:spPr>
        <p:txBody>
          <a:bodyPr/>
          <a:lstStyle/>
          <a:p>
            <a:endParaRPr/>
          </a:p>
        </p:txBody>
      </p:sp>
      <p:sp>
        <p:nvSpPr>
          <p:cNvPr id="17" name="text-213">
            <a:extLst>
              <a:ext uri="{FF2B5EF4-FFF2-40B4-BE49-F238E27FC236}">
                <a16:creationId xmlns:a16="http://schemas.microsoft.com/office/drawing/2014/main" id="{E2FB1959-9B45-4D13-A41B-CC969CCD595D}"/>
              </a:ext>
            </a:extLst>
          </p:cNvPr>
          <p:cNvSpPr>
            <a:spLocks noGrp="1"/>
          </p:cNvSpPr>
          <p:nvPr/>
        </p:nvSpPr>
        <p:spPr>
          <a:xfrm>
            <a:off x="571500" y="3840480"/>
            <a:ext cx="3028950" cy="609600"/>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Kualitas meleset</a:t>
            </a:r>
          </a:p>
        </p:txBody>
      </p:sp>
      <p:sp>
        <p:nvSpPr>
          <p:cNvPr id="18" name="Right Arrow 17">
            <a:extLst>
              <a:ext uri="{FF2B5EF4-FFF2-40B4-BE49-F238E27FC236}">
                <a16:creationId xmlns:a16="http://schemas.microsoft.com/office/drawing/2014/main" id="{BAEA29F9-7791-45B8-BAD2-6E6C4DDE3689}"/>
              </a:ext>
            </a:extLst>
          </p:cNvPr>
          <p:cNvSpPr>
            <a:spLocks noGrp="1"/>
          </p:cNvSpPr>
          <p:nvPr/>
        </p:nvSpPr>
        <p:spPr>
          <a:xfrm>
            <a:off x="3685946" y="3942055"/>
            <a:ext cx="542925" cy="123825"/>
          </a:xfrm>
          <a:prstGeom prst="rightArrow">
            <a:avLst/>
          </a:prstGeom>
          <a:solidFill>
            <a:srgbClr val="9AB6A5"/>
          </a:solidFill>
          <a:ln w="0">
            <a:noFill/>
          </a:ln>
        </p:spPr>
        <p:txBody>
          <a:bodyPr/>
          <a:lstStyle/>
          <a:p>
            <a:endParaRPr/>
          </a:p>
        </p:txBody>
      </p:sp>
      <p:sp>
        <p:nvSpPr>
          <p:cNvPr id="19" name="text-214">
            <a:extLst>
              <a:ext uri="{FF2B5EF4-FFF2-40B4-BE49-F238E27FC236}">
                <a16:creationId xmlns:a16="http://schemas.microsoft.com/office/drawing/2014/main" id="{ED08D44E-515C-429C-8F5F-2E28FF83C210}"/>
              </a:ext>
            </a:extLst>
          </p:cNvPr>
          <p:cNvSpPr>
            <a:spLocks noGrp="1"/>
          </p:cNvSpPr>
          <p:nvPr/>
        </p:nvSpPr>
        <p:spPr>
          <a:xfrm>
            <a:off x="4457700" y="3849386"/>
            <a:ext cx="2857500" cy="628650"/>
          </a:xfrm>
          <a:prstGeom prst="rect">
            <a:avLst/>
          </a:prstGeom>
          <a:noFill/>
          <a:ln w="0">
            <a:noFill/>
          </a:ln>
        </p:spPr>
        <p:txBody>
          <a:bodyPr wrap="square" lIns="0" tIns="0" rIns="0" bIns="0" anchor="t">
            <a:noAutofit/>
          </a:bodyPr>
          <a:lstStyle/>
          <a:p>
            <a:pPr>
              <a:defRPr sz="2025" b="0">
                <a:solidFill>
                  <a:srgbClr val="173D34"/>
                </a:solidFill>
                <a:latin typeface="Calibri"/>
                <a:ea typeface="Calibri"/>
                <a:cs typeface="Calibri"/>
              </a:defRPr>
            </a:pPr>
            <a:r>
              <a:rPr sz="2025" b="0">
                <a:solidFill>
                  <a:srgbClr val="173D34"/>
                </a:solidFill>
                <a:latin typeface="Calibri"/>
                <a:ea typeface="Calibri"/>
                <a:cs typeface="Calibri"/>
              </a:rPr>
              <a:t>Komplain atau retur</a:t>
            </a:r>
          </a:p>
        </p:txBody>
      </p:sp>
      <p:sp>
        <p:nvSpPr>
          <p:cNvPr id="20" name="Right Arrow 19">
            <a:extLst>
              <a:ext uri="{FF2B5EF4-FFF2-40B4-BE49-F238E27FC236}">
                <a16:creationId xmlns:a16="http://schemas.microsoft.com/office/drawing/2014/main" id="{7E59032B-0FA7-4F20-9A44-6E88F3F20C82}"/>
              </a:ext>
            </a:extLst>
          </p:cNvPr>
          <p:cNvSpPr>
            <a:spLocks noGrp="1"/>
          </p:cNvSpPr>
          <p:nvPr/>
        </p:nvSpPr>
        <p:spPr>
          <a:xfrm>
            <a:off x="7552944" y="3942055"/>
            <a:ext cx="542925" cy="123825"/>
          </a:xfrm>
          <a:prstGeom prst="rightArrow">
            <a:avLst/>
          </a:prstGeom>
          <a:solidFill>
            <a:srgbClr val="9AB6A5"/>
          </a:solidFill>
          <a:ln w="0">
            <a:noFill/>
          </a:ln>
        </p:spPr>
        <p:txBody>
          <a:bodyPr/>
          <a:lstStyle/>
          <a:p>
            <a:endParaRPr/>
          </a:p>
        </p:txBody>
      </p:sp>
      <p:sp>
        <p:nvSpPr>
          <p:cNvPr id="21" name="text-215">
            <a:extLst>
              <a:ext uri="{FF2B5EF4-FFF2-40B4-BE49-F238E27FC236}">
                <a16:creationId xmlns:a16="http://schemas.microsoft.com/office/drawing/2014/main" id="{C04A7AB2-9704-41B7-A882-B39AC0015841}"/>
              </a:ext>
            </a:extLst>
          </p:cNvPr>
          <p:cNvSpPr>
            <a:spLocks noGrp="1"/>
          </p:cNvSpPr>
          <p:nvPr/>
        </p:nvSpPr>
        <p:spPr>
          <a:xfrm>
            <a:off x="8324850" y="3849386"/>
            <a:ext cx="3295650" cy="695325"/>
          </a:xfrm>
          <a:prstGeom prst="rect">
            <a:avLst/>
          </a:prstGeom>
          <a:noFill/>
          <a:ln w="0">
            <a:noFill/>
          </a:ln>
        </p:spPr>
        <p:txBody>
          <a:bodyPr wrap="square" lIns="0" tIns="0" rIns="0" bIns="0" anchor="t">
            <a:noAutofit/>
          </a:bodyPr>
          <a:lstStyle/>
          <a:p>
            <a:pPr>
              <a:defRPr sz="2025" b="1">
                <a:solidFill>
                  <a:srgbClr val="087958"/>
                </a:solidFill>
                <a:latin typeface="Calibri"/>
                <a:ea typeface="Calibri"/>
                <a:cs typeface="Calibri"/>
              </a:defRPr>
            </a:pPr>
            <a:r>
              <a:rPr sz="2025" b="1">
                <a:solidFill>
                  <a:srgbClr val="087958"/>
                </a:solidFill>
                <a:latin typeface="Calibri"/>
                <a:ea typeface="Calibri"/>
                <a:cs typeface="Calibri"/>
              </a:rPr>
              <a:t>Spesifikasi tertulis + QC</a:t>
            </a:r>
          </a:p>
        </p:txBody>
      </p:sp>
      <p:sp>
        <p:nvSpPr>
          <p:cNvPr id="22" name="Straight Connector 21">
            <a:extLst>
              <a:ext uri="{FF2B5EF4-FFF2-40B4-BE49-F238E27FC236}">
                <a16:creationId xmlns:a16="http://schemas.microsoft.com/office/drawing/2014/main" id="{273E2C69-1774-4C0D-8B4C-7C544F3B651B}"/>
              </a:ext>
            </a:extLst>
          </p:cNvPr>
          <p:cNvSpPr>
            <a:spLocks noGrp="1"/>
          </p:cNvSpPr>
          <p:nvPr/>
        </p:nvSpPr>
        <p:spPr>
          <a:xfrm>
            <a:off x="571500" y="4515307"/>
            <a:ext cx="11049000" cy="0"/>
          </a:xfrm>
          <a:prstGeom prst="line">
            <a:avLst/>
          </a:prstGeom>
          <a:noFill/>
          <a:ln w="9525">
            <a:solidFill>
              <a:srgbClr val="CEDDD4"/>
            </a:solidFill>
          </a:ln>
        </p:spPr>
        <p:txBody>
          <a:bodyPr/>
          <a:lstStyle/>
          <a:p>
            <a:endParaRPr/>
          </a:p>
        </p:txBody>
      </p:sp>
      <p:sp>
        <p:nvSpPr>
          <p:cNvPr id="23" name="text-216">
            <a:extLst>
              <a:ext uri="{FF2B5EF4-FFF2-40B4-BE49-F238E27FC236}">
                <a16:creationId xmlns:a16="http://schemas.microsoft.com/office/drawing/2014/main" id="{4975B7B9-623E-466D-93E7-C8A002D0C691}"/>
              </a:ext>
            </a:extLst>
          </p:cNvPr>
          <p:cNvSpPr>
            <a:spLocks noGrp="1"/>
          </p:cNvSpPr>
          <p:nvPr/>
        </p:nvSpPr>
        <p:spPr>
          <a:xfrm>
            <a:off x="571500" y="4800600"/>
            <a:ext cx="3028950" cy="609600"/>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Produksi molor</a:t>
            </a:r>
          </a:p>
        </p:txBody>
      </p:sp>
      <p:sp>
        <p:nvSpPr>
          <p:cNvPr id="24" name="Right Arrow 23">
            <a:extLst>
              <a:ext uri="{FF2B5EF4-FFF2-40B4-BE49-F238E27FC236}">
                <a16:creationId xmlns:a16="http://schemas.microsoft.com/office/drawing/2014/main" id="{C762D8F8-D73A-4373-916D-42C9373DAB9D}"/>
              </a:ext>
            </a:extLst>
          </p:cNvPr>
          <p:cNvSpPr>
            <a:spLocks noGrp="1"/>
          </p:cNvSpPr>
          <p:nvPr/>
        </p:nvSpPr>
        <p:spPr>
          <a:xfrm>
            <a:off x="3685946" y="4902175"/>
            <a:ext cx="542925" cy="123825"/>
          </a:xfrm>
          <a:prstGeom prst="rightArrow">
            <a:avLst/>
          </a:prstGeom>
          <a:solidFill>
            <a:srgbClr val="9AB6A5"/>
          </a:solidFill>
          <a:ln w="0">
            <a:noFill/>
          </a:ln>
        </p:spPr>
        <p:txBody>
          <a:bodyPr/>
          <a:lstStyle/>
          <a:p>
            <a:endParaRPr/>
          </a:p>
        </p:txBody>
      </p:sp>
      <p:sp>
        <p:nvSpPr>
          <p:cNvPr id="25" name="text-217">
            <a:extLst>
              <a:ext uri="{FF2B5EF4-FFF2-40B4-BE49-F238E27FC236}">
                <a16:creationId xmlns:a16="http://schemas.microsoft.com/office/drawing/2014/main" id="{3C8548D5-7CE9-441C-BE82-0BD9D6C78205}"/>
              </a:ext>
            </a:extLst>
          </p:cNvPr>
          <p:cNvSpPr>
            <a:spLocks noGrp="1"/>
          </p:cNvSpPr>
          <p:nvPr/>
        </p:nvSpPr>
        <p:spPr>
          <a:xfrm>
            <a:off x="4457700" y="4809506"/>
            <a:ext cx="2857500" cy="628650"/>
          </a:xfrm>
          <a:prstGeom prst="rect">
            <a:avLst/>
          </a:prstGeom>
          <a:noFill/>
          <a:ln w="0">
            <a:noFill/>
          </a:ln>
        </p:spPr>
        <p:txBody>
          <a:bodyPr wrap="square" lIns="0" tIns="0" rIns="0" bIns="0" anchor="t">
            <a:noAutofit/>
          </a:bodyPr>
          <a:lstStyle/>
          <a:p>
            <a:pPr>
              <a:defRPr sz="2025" b="0">
                <a:solidFill>
                  <a:srgbClr val="173D34"/>
                </a:solidFill>
                <a:latin typeface="Calibri"/>
                <a:ea typeface="Calibri"/>
                <a:cs typeface="Calibri"/>
              </a:defRPr>
            </a:pPr>
            <a:r>
              <a:rPr sz="2025" b="0">
                <a:solidFill>
                  <a:srgbClr val="173D34"/>
                </a:solidFill>
                <a:latin typeface="Calibri"/>
                <a:ea typeface="Calibri"/>
                <a:cs typeface="Calibri"/>
              </a:rPr>
              <a:t>Pengiriman telat</a:t>
            </a:r>
          </a:p>
        </p:txBody>
      </p:sp>
      <p:sp>
        <p:nvSpPr>
          <p:cNvPr id="26" name="Right Arrow 25">
            <a:extLst>
              <a:ext uri="{FF2B5EF4-FFF2-40B4-BE49-F238E27FC236}">
                <a16:creationId xmlns:a16="http://schemas.microsoft.com/office/drawing/2014/main" id="{C63BB681-3A85-4FA1-BA9D-8A86D747AA63}"/>
              </a:ext>
            </a:extLst>
          </p:cNvPr>
          <p:cNvSpPr>
            <a:spLocks noGrp="1"/>
          </p:cNvSpPr>
          <p:nvPr/>
        </p:nvSpPr>
        <p:spPr>
          <a:xfrm>
            <a:off x="7552944" y="4902175"/>
            <a:ext cx="542925" cy="123825"/>
          </a:xfrm>
          <a:prstGeom prst="rightArrow">
            <a:avLst/>
          </a:prstGeom>
          <a:solidFill>
            <a:srgbClr val="9AB6A5"/>
          </a:solidFill>
          <a:ln w="0">
            <a:noFill/>
          </a:ln>
        </p:spPr>
        <p:txBody>
          <a:bodyPr/>
          <a:lstStyle/>
          <a:p>
            <a:endParaRPr/>
          </a:p>
        </p:txBody>
      </p:sp>
      <p:sp>
        <p:nvSpPr>
          <p:cNvPr id="27" name="text-218">
            <a:extLst>
              <a:ext uri="{FF2B5EF4-FFF2-40B4-BE49-F238E27FC236}">
                <a16:creationId xmlns:a16="http://schemas.microsoft.com/office/drawing/2014/main" id="{8BBD3342-7E4C-43C3-A5CC-27C27817D494}"/>
              </a:ext>
            </a:extLst>
          </p:cNvPr>
          <p:cNvSpPr>
            <a:spLocks noGrp="1"/>
          </p:cNvSpPr>
          <p:nvPr/>
        </p:nvSpPr>
        <p:spPr>
          <a:xfrm>
            <a:off x="8324850" y="4809506"/>
            <a:ext cx="3295650" cy="695325"/>
          </a:xfrm>
          <a:prstGeom prst="rect">
            <a:avLst/>
          </a:prstGeom>
          <a:noFill/>
          <a:ln w="0">
            <a:noFill/>
          </a:ln>
        </p:spPr>
        <p:txBody>
          <a:bodyPr wrap="square" lIns="0" tIns="0" rIns="0" bIns="0" anchor="t">
            <a:noAutofit/>
          </a:bodyPr>
          <a:lstStyle/>
          <a:p>
            <a:pPr>
              <a:defRPr sz="2025" b="1">
                <a:solidFill>
                  <a:srgbClr val="087958"/>
                </a:solidFill>
                <a:latin typeface="Calibri"/>
                <a:ea typeface="Calibri"/>
                <a:cs typeface="Calibri"/>
              </a:defRPr>
            </a:pPr>
            <a:r>
              <a:rPr sz="2025" b="1">
                <a:solidFill>
                  <a:srgbClr val="087958"/>
                </a:solidFill>
                <a:latin typeface="Calibri"/>
                <a:ea typeface="Calibri"/>
                <a:cs typeface="Calibri"/>
              </a:rPr>
              <a:t>Kapasitas nyata + buffer</a:t>
            </a:r>
          </a:p>
        </p:txBody>
      </p:sp>
      <p:sp>
        <p:nvSpPr>
          <p:cNvPr id="28" name="Straight Connector 27">
            <a:extLst>
              <a:ext uri="{FF2B5EF4-FFF2-40B4-BE49-F238E27FC236}">
                <a16:creationId xmlns:a16="http://schemas.microsoft.com/office/drawing/2014/main" id="{9DA19882-3DF8-4BD9-BC1A-253EA1EB79ED}"/>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9" name="text-219">
            <a:extLst>
              <a:ext uri="{FF2B5EF4-FFF2-40B4-BE49-F238E27FC236}">
                <a16:creationId xmlns:a16="http://schemas.microsoft.com/office/drawing/2014/main" id="{383F8F69-4B17-4650-AF6D-6861AA6B3DA4}"/>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Tetapkan dari awal batas biaya dan waktu yang masih sanggup kita tanggung.</a:t>
            </a:r>
          </a:p>
        </p:txBody>
      </p:sp>
    </p:spTree>
    <p:extLst>
      <p:ext uri="{BB962C8B-B14F-4D97-AF65-F5344CB8AC3E}">
        <p14:creationId xmlns:p14="http://schemas.microsoft.com/office/powerpoint/2010/main" val="1567727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 name="Picture 49"/>
          <p:cNvPicPr>
            <a:picLocks noChangeAspect="1"/>
          </p:cNvPicPr>
          <p:nvPr/>
        </p:nvPicPr>
        <p:blipFill>
          <a:blip r:embed="rId3"/>
          <a:stretch/>
        </p:blipFill>
        <p:spPr>
          <a:xfrm>
            <a:off x="0" y="0"/>
            <a:ext cx="12192000" cy="6858000"/>
          </a:xfrm>
          <a:prstGeom prst="rect">
            <a:avLst/>
          </a:prstGeom>
        </p:spPr>
      </p:pic>
      <p:sp>
        <p:nvSpPr>
          <p:cNvPr id="27" name="Rectangle 26">
            <a:extLst>
              <a:ext uri="{FF2B5EF4-FFF2-40B4-BE49-F238E27FC236}">
                <a16:creationId xmlns:a16="http://schemas.microsoft.com/office/drawing/2014/main" id="{57DC7450-BBEA-42E2-A847-49391ABE1965}"/>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52" name="Picture 51"/>
          <p:cNvPicPr>
            <a:picLocks noChangeAspect="1"/>
          </p:cNvPicPr>
          <p:nvPr/>
        </p:nvPicPr>
        <p:blipFill>
          <a:blip r:embed="rId4"/>
          <a:stretch/>
        </p:blipFill>
        <p:spPr>
          <a:xfrm>
            <a:off x="10591800" y="245339"/>
            <a:ext cx="1028700" cy="385621"/>
          </a:xfrm>
          <a:prstGeom prst="rect">
            <a:avLst/>
          </a:prstGeom>
        </p:spPr>
      </p:pic>
      <p:sp>
        <p:nvSpPr>
          <p:cNvPr id="29" name="text-220">
            <a:extLst>
              <a:ext uri="{FF2B5EF4-FFF2-40B4-BE49-F238E27FC236}">
                <a16:creationId xmlns:a16="http://schemas.microsoft.com/office/drawing/2014/main" id="{271ACE84-FFE6-431B-ADA4-3BF07BF3E292}"/>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KEMBALI KE KASUS</a:t>
            </a:r>
          </a:p>
        </p:txBody>
      </p:sp>
      <p:sp>
        <p:nvSpPr>
          <p:cNvPr id="30" name="text-221">
            <a:extLst>
              <a:ext uri="{FF2B5EF4-FFF2-40B4-BE49-F238E27FC236}">
                <a16:creationId xmlns:a16="http://schemas.microsoft.com/office/drawing/2014/main" id="{23D8E698-E896-440A-809F-2BF3BFC9FFBD}"/>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Untuk kasus ini, nego dulu sebelum bilang “ya”</a:t>
            </a:r>
          </a:p>
        </p:txBody>
      </p:sp>
      <p:sp>
        <p:nvSpPr>
          <p:cNvPr id="31" name="text-222">
            <a:extLst>
              <a:ext uri="{FF2B5EF4-FFF2-40B4-BE49-F238E27FC236}">
                <a16:creationId xmlns:a16="http://schemas.microsoft.com/office/drawing/2014/main" id="{45CC0249-00C3-49E3-B7B5-B2532D280D77}"/>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Kapasitasnya kurang, sementara kas dan packaging-nya juga belum teruji.</a:t>
            </a:r>
          </a:p>
        </p:txBody>
      </p:sp>
      <p:sp>
        <p:nvSpPr>
          <p:cNvPr id="32" name="text-223">
            <a:extLst>
              <a:ext uri="{FF2B5EF4-FFF2-40B4-BE49-F238E27FC236}">
                <a16:creationId xmlns:a16="http://schemas.microsoft.com/office/drawing/2014/main" id="{2058EFE9-5C00-4E3E-997A-D508D67C79D3}"/>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33" name="text-224">
            <a:extLst>
              <a:ext uri="{FF2B5EF4-FFF2-40B4-BE49-F238E27FC236}">
                <a16:creationId xmlns:a16="http://schemas.microsoft.com/office/drawing/2014/main" id="{2865D8EF-0E41-4D8C-A46A-AAA5FCA501A2}"/>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15</a:t>
            </a:r>
          </a:p>
        </p:txBody>
      </p:sp>
      <p:sp>
        <p:nvSpPr>
          <p:cNvPr id="34" name="text-225">
            <a:extLst>
              <a:ext uri="{FF2B5EF4-FFF2-40B4-BE49-F238E27FC236}">
                <a16:creationId xmlns:a16="http://schemas.microsoft.com/office/drawing/2014/main" id="{71365BCD-D63A-42B5-94AF-34E31C5AFBC0}"/>
              </a:ext>
            </a:extLst>
          </p:cNvPr>
          <p:cNvSpPr>
            <a:spLocks noGrp="1"/>
          </p:cNvSpPr>
          <p:nvPr/>
        </p:nvSpPr>
        <p:spPr>
          <a:xfrm>
            <a:off x="571500" y="1965960"/>
            <a:ext cx="691515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KAPASITAS DALAM 30 HARI · UNIT</a:t>
            </a:r>
          </a:p>
        </p:txBody>
      </p:sp>
      <p:graphicFrame>
        <p:nvGraphicFramePr>
          <p:cNvPr id="59" name="Chart"/>
          <p:cNvGraphicFramePr/>
          <p:nvPr/>
        </p:nvGraphicFramePr>
        <p:xfrm>
          <a:off x="485775" y="2470785"/>
          <a:ext cx="6858000" cy="2390775"/>
        </p:xfrm>
        <a:graphic>
          <a:graphicData uri="http://schemas.openxmlformats.org/drawingml/2006/chart">
            <c:chart xmlns:c="http://schemas.openxmlformats.org/drawingml/2006/chart" xmlns:r="http://schemas.openxmlformats.org/officeDocument/2006/relationships" r:id="rId5"/>
          </a:graphicData>
        </a:graphic>
      </p:graphicFrame>
      <p:sp>
        <p:nvSpPr>
          <p:cNvPr id="36" name="text-226">
            <a:extLst>
              <a:ext uri="{FF2B5EF4-FFF2-40B4-BE49-F238E27FC236}">
                <a16:creationId xmlns:a16="http://schemas.microsoft.com/office/drawing/2014/main" id="{4DF9F48C-BCFB-4BE1-8036-4C02DCD2C213}"/>
              </a:ext>
            </a:extLst>
          </p:cNvPr>
          <p:cNvSpPr>
            <a:spLocks noGrp="1"/>
          </p:cNvSpPr>
          <p:nvPr/>
        </p:nvSpPr>
        <p:spPr>
          <a:xfrm>
            <a:off x="571500" y="4928235"/>
            <a:ext cx="3038475" cy="628650"/>
          </a:xfrm>
          <a:prstGeom prst="rect">
            <a:avLst/>
          </a:prstGeom>
          <a:noFill/>
          <a:ln w="0">
            <a:noFill/>
          </a:ln>
        </p:spPr>
        <p:txBody>
          <a:bodyPr wrap="square" lIns="0" tIns="0" rIns="0" bIns="0" anchor="t">
            <a:noAutofit/>
          </a:bodyPr>
          <a:lstStyle/>
          <a:p>
            <a:pPr>
              <a:defRPr sz="3675" b="1">
                <a:solidFill>
                  <a:srgbClr val="087958"/>
                </a:solidFill>
                <a:latin typeface="Calibri"/>
                <a:ea typeface="Calibri"/>
                <a:cs typeface="Calibri"/>
              </a:defRPr>
            </a:pPr>
            <a:r>
              <a:rPr sz="3675" b="1">
                <a:solidFill>
                  <a:srgbClr val="087958"/>
                </a:solidFill>
                <a:latin typeface="Calibri"/>
                <a:ea typeface="Calibri"/>
                <a:cs typeface="Calibri"/>
              </a:rPr>
              <a:t>200 unit</a:t>
            </a:r>
          </a:p>
        </p:txBody>
      </p:sp>
      <p:sp>
        <p:nvSpPr>
          <p:cNvPr id="37" name="text-227">
            <a:extLst>
              <a:ext uri="{FF2B5EF4-FFF2-40B4-BE49-F238E27FC236}">
                <a16:creationId xmlns:a16="http://schemas.microsoft.com/office/drawing/2014/main" id="{A7DACB8A-F071-4F71-A0B1-E7132F9DF224}"/>
              </a:ext>
            </a:extLst>
          </p:cNvPr>
          <p:cNvSpPr>
            <a:spLocks noGrp="1"/>
          </p:cNvSpPr>
          <p:nvPr/>
        </p:nvSpPr>
        <p:spPr>
          <a:xfrm>
            <a:off x="2354580" y="5133070"/>
            <a:ext cx="3200400" cy="323850"/>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kekurangan kapasitas</a:t>
            </a:r>
          </a:p>
        </p:txBody>
      </p:sp>
      <p:sp>
        <p:nvSpPr>
          <p:cNvPr id="38" name="Straight Connector 37">
            <a:extLst>
              <a:ext uri="{FF2B5EF4-FFF2-40B4-BE49-F238E27FC236}">
                <a16:creationId xmlns:a16="http://schemas.microsoft.com/office/drawing/2014/main" id="{B8412CB7-9842-4709-AC1C-4027D4031927}"/>
              </a:ext>
            </a:extLst>
          </p:cNvPr>
          <p:cNvSpPr>
            <a:spLocks noGrp="1"/>
          </p:cNvSpPr>
          <p:nvPr/>
        </p:nvSpPr>
        <p:spPr>
          <a:xfrm>
            <a:off x="7705725" y="2004060"/>
            <a:ext cx="0" cy="3324225"/>
          </a:xfrm>
          <a:prstGeom prst="line">
            <a:avLst/>
          </a:prstGeom>
          <a:noFill/>
          <a:ln w="9525">
            <a:solidFill>
              <a:srgbClr val="CEDDD4"/>
            </a:solidFill>
          </a:ln>
        </p:spPr>
        <p:txBody>
          <a:bodyPr/>
          <a:lstStyle/>
          <a:p>
            <a:endParaRPr/>
          </a:p>
        </p:txBody>
      </p:sp>
      <p:sp>
        <p:nvSpPr>
          <p:cNvPr id="39" name="text-228">
            <a:extLst>
              <a:ext uri="{FF2B5EF4-FFF2-40B4-BE49-F238E27FC236}">
                <a16:creationId xmlns:a16="http://schemas.microsoft.com/office/drawing/2014/main" id="{764A7BE7-2F43-4AE8-BBBB-A4073A9587C1}"/>
              </a:ext>
            </a:extLst>
          </p:cNvPr>
          <p:cNvSpPr>
            <a:spLocks noGrp="1"/>
          </p:cNvSpPr>
          <p:nvPr/>
        </p:nvSpPr>
        <p:spPr>
          <a:xfrm>
            <a:off x="8239125" y="1965960"/>
            <a:ext cx="3381375"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YANG BISA DINEGO</a:t>
            </a:r>
          </a:p>
        </p:txBody>
      </p:sp>
      <p:sp>
        <p:nvSpPr>
          <p:cNvPr id="40" name="text-229">
            <a:extLst>
              <a:ext uri="{FF2B5EF4-FFF2-40B4-BE49-F238E27FC236}">
                <a16:creationId xmlns:a16="http://schemas.microsoft.com/office/drawing/2014/main" id="{4B5D4F9A-7609-4C17-A307-3A651FA34F03}"/>
              </a:ext>
            </a:extLst>
          </p:cNvPr>
          <p:cNvSpPr>
            <a:spLocks noGrp="1"/>
          </p:cNvSpPr>
          <p:nvPr/>
        </p:nvSpPr>
        <p:spPr>
          <a:xfrm>
            <a:off x="8239125" y="2508885"/>
            <a:ext cx="3381375" cy="314325"/>
          </a:xfrm>
          <a:prstGeom prst="rect">
            <a:avLst/>
          </a:prstGeom>
          <a:noFill/>
          <a:ln w="0">
            <a:noFill/>
          </a:ln>
        </p:spPr>
        <p:txBody>
          <a:bodyPr wrap="square" lIns="0" tIns="0" rIns="0" bIns="0" anchor="t">
            <a:noAutofit/>
          </a:bodyPr>
          <a:lstStyle/>
          <a:p>
            <a:pPr>
              <a:defRPr sz="1875" b="1">
                <a:solidFill>
                  <a:srgbClr val="087958"/>
                </a:solidFill>
                <a:latin typeface="Calibri"/>
                <a:ea typeface="Calibri"/>
                <a:cs typeface="Calibri"/>
              </a:defRPr>
            </a:pPr>
            <a:r>
              <a:rPr sz="1875" b="1">
                <a:solidFill>
                  <a:srgbClr val="087958"/>
                </a:solidFill>
                <a:latin typeface="Calibri"/>
                <a:ea typeface="Calibri"/>
                <a:cs typeface="Calibri"/>
              </a:rPr>
              <a:t>Volume</a:t>
            </a:r>
          </a:p>
        </p:txBody>
      </p:sp>
      <p:sp>
        <p:nvSpPr>
          <p:cNvPr id="41" name="text-230">
            <a:extLst>
              <a:ext uri="{FF2B5EF4-FFF2-40B4-BE49-F238E27FC236}">
                <a16:creationId xmlns:a16="http://schemas.microsoft.com/office/drawing/2014/main" id="{388BC4AB-D670-438F-B234-D29D75B0B186}"/>
              </a:ext>
            </a:extLst>
          </p:cNvPr>
          <p:cNvSpPr>
            <a:spLocks noGrp="1"/>
          </p:cNvSpPr>
          <p:nvPr/>
        </p:nvSpPr>
        <p:spPr>
          <a:xfrm>
            <a:off x="8239125" y="2899410"/>
            <a:ext cx="3381375" cy="552450"/>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Kurangi atau kirim bertahap?</a:t>
            </a:r>
          </a:p>
        </p:txBody>
      </p:sp>
      <p:sp>
        <p:nvSpPr>
          <p:cNvPr id="42" name="text-231">
            <a:extLst>
              <a:ext uri="{FF2B5EF4-FFF2-40B4-BE49-F238E27FC236}">
                <a16:creationId xmlns:a16="http://schemas.microsoft.com/office/drawing/2014/main" id="{00176669-E538-4643-B654-FAA37DA93D7D}"/>
              </a:ext>
            </a:extLst>
          </p:cNvPr>
          <p:cNvSpPr>
            <a:spLocks noGrp="1"/>
          </p:cNvSpPr>
          <p:nvPr/>
        </p:nvSpPr>
        <p:spPr>
          <a:xfrm>
            <a:off x="8239125" y="3451860"/>
            <a:ext cx="3381375" cy="314325"/>
          </a:xfrm>
          <a:prstGeom prst="rect">
            <a:avLst/>
          </a:prstGeom>
          <a:noFill/>
          <a:ln w="0">
            <a:noFill/>
          </a:ln>
        </p:spPr>
        <p:txBody>
          <a:bodyPr wrap="square" lIns="0" tIns="0" rIns="0" bIns="0" anchor="t">
            <a:noAutofit/>
          </a:bodyPr>
          <a:lstStyle/>
          <a:p>
            <a:pPr>
              <a:defRPr sz="1875" b="1">
                <a:solidFill>
                  <a:srgbClr val="087958"/>
                </a:solidFill>
                <a:latin typeface="Calibri"/>
                <a:ea typeface="Calibri"/>
                <a:cs typeface="Calibri"/>
              </a:defRPr>
            </a:pPr>
            <a:r>
              <a:rPr sz="1875" b="1">
                <a:solidFill>
                  <a:srgbClr val="087958"/>
                </a:solidFill>
                <a:latin typeface="Calibri"/>
                <a:ea typeface="Calibri"/>
                <a:cs typeface="Calibri"/>
              </a:rPr>
              <a:t>Pembayaran</a:t>
            </a:r>
          </a:p>
        </p:txBody>
      </p:sp>
      <p:sp>
        <p:nvSpPr>
          <p:cNvPr id="43" name="text-232">
            <a:extLst>
              <a:ext uri="{FF2B5EF4-FFF2-40B4-BE49-F238E27FC236}">
                <a16:creationId xmlns:a16="http://schemas.microsoft.com/office/drawing/2014/main" id="{C36CAD83-2E7B-4D96-B7E1-64212223EC04}"/>
              </a:ext>
            </a:extLst>
          </p:cNvPr>
          <p:cNvSpPr>
            <a:spLocks noGrp="1"/>
          </p:cNvSpPr>
          <p:nvPr/>
        </p:nvSpPr>
        <p:spPr>
          <a:xfrm>
            <a:off x="8239125" y="3842385"/>
            <a:ext cx="3381375" cy="552450"/>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Ubah termin supaya kas cukup?</a:t>
            </a:r>
          </a:p>
        </p:txBody>
      </p:sp>
      <p:sp>
        <p:nvSpPr>
          <p:cNvPr id="44" name="text-233">
            <a:extLst>
              <a:ext uri="{FF2B5EF4-FFF2-40B4-BE49-F238E27FC236}">
                <a16:creationId xmlns:a16="http://schemas.microsoft.com/office/drawing/2014/main" id="{07CA6CB2-D021-48E4-AB8E-3631B6792C5B}"/>
              </a:ext>
            </a:extLst>
          </p:cNvPr>
          <p:cNvSpPr>
            <a:spLocks noGrp="1"/>
          </p:cNvSpPr>
          <p:nvPr/>
        </p:nvSpPr>
        <p:spPr>
          <a:xfrm>
            <a:off x="8239125" y="4394835"/>
            <a:ext cx="3381375" cy="314325"/>
          </a:xfrm>
          <a:prstGeom prst="rect">
            <a:avLst/>
          </a:prstGeom>
          <a:noFill/>
          <a:ln w="0">
            <a:noFill/>
          </a:ln>
        </p:spPr>
        <p:txBody>
          <a:bodyPr wrap="square" lIns="0" tIns="0" rIns="0" bIns="0" anchor="t">
            <a:noAutofit/>
          </a:bodyPr>
          <a:lstStyle/>
          <a:p>
            <a:pPr>
              <a:defRPr sz="1875" b="1">
                <a:solidFill>
                  <a:srgbClr val="087958"/>
                </a:solidFill>
                <a:latin typeface="Calibri"/>
                <a:ea typeface="Calibri"/>
                <a:cs typeface="Calibri"/>
              </a:defRPr>
            </a:pPr>
            <a:r>
              <a:rPr sz="1875" b="1">
                <a:solidFill>
                  <a:srgbClr val="087958"/>
                </a:solidFill>
                <a:latin typeface="Calibri"/>
                <a:ea typeface="Calibri"/>
                <a:cs typeface="Calibri"/>
              </a:rPr>
              <a:t>Kualitas</a:t>
            </a:r>
          </a:p>
        </p:txBody>
      </p:sp>
      <p:sp>
        <p:nvSpPr>
          <p:cNvPr id="45" name="text-234">
            <a:extLst>
              <a:ext uri="{FF2B5EF4-FFF2-40B4-BE49-F238E27FC236}">
                <a16:creationId xmlns:a16="http://schemas.microsoft.com/office/drawing/2014/main" id="{581ECCE4-3D2E-4DAD-8421-45F871B65E23}"/>
              </a:ext>
            </a:extLst>
          </p:cNvPr>
          <p:cNvSpPr>
            <a:spLocks noGrp="1"/>
          </p:cNvSpPr>
          <p:nvPr/>
        </p:nvSpPr>
        <p:spPr>
          <a:xfrm>
            <a:off x="8239125" y="4785360"/>
            <a:ext cx="3381375" cy="552450"/>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Tes packaging dan spek dulu?</a:t>
            </a:r>
          </a:p>
        </p:txBody>
      </p:sp>
      <p:sp>
        <p:nvSpPr>
          <p:cNvPr id="46" name="Straight Connector 45">
            <a:extLst>
              <a:ext uri="{FF2B5EF4-FFF2-40B4-BE49-F238E27FC236}">
                <a16:creationId xmlns:a16="http://schemas.microsoft.com/office/drawing/2014/main" id="{474FF1E5-BBB1-4375-A0A0-86E680A9D572}"/>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47" name="text-235">
            <a:extLst>
              <a:ext uri="{FF2B5EF4-FFF2-40B4-BE49-F238E27FC236}">
                <a16:creationId xmlns:a16="http://schemas.microsoft.com/office/drawing/2014/main" id="{BF81CFB0-56B5-4116-8B89-D8AA7686AE38}"/>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Kalau syaratnya tetap tidak masuk akal, lebih baik tunda dulu.</a:t>
            </a:r>
          </a:p>
        </p:txBody>
      </p:sp>
      <p:sp>
        <p:nvSpPr>
          <p:cNvPr id="48" name="text-236">
            <a:extLst>
              <a:ext uri="{FF2B5EF4-FFF2-40B4-BE49-F238E27FC236}">
                <a16:creationId xmlns:a16="http://schemas.microsoft.com/office/drawing/2014/main" id="{CB43386F-87BD-46C3-A4AB-B92963272DDD}"/>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Angka dan skenario hanya ilustrasi.</a:t>
            </a:r>
          </a:p>
        </p:txBody>
      </p:sp>
    </p:spTree>
    <p:extLst>
      <p:ext uri="{BB962C8B-B14F-4D97-AF65-F5344CB8AC3E}">
        <p14:creationId xmlns:p14="http://schemas.microsoft.com/office/powerpoint/2010/main" val="183844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Picture 26"/>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1EB904F-2B87-4BE5-AEA9-700FA603F6CC}"/>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9" name="Picture 28"/>
          <p:cNvPicPr>
            <a:picLocks noChangeAspect="1"/>
          </p:cNvPicPr>
          <p:nvPr/>
        </p:nvPicPr>
        <p:blipFill>
          <a:blip r:embed="rId4"/>
          <a:stretch/>
        </p:blipFill>
        <p:spPr>
          <a:xfrm>
            <a:off x="10591800" y="245339"/>
            <a:ext cx="1028700" cy="385621"/>
          </a:xfrm>
          <a:prstGeom prst="rect">
            <a:avLst/>
          </a:prstGeom>
        </p:spPr>
      </p:pic>
      <p:sp>
        <p:nvSpPr>
          <p:cNvPr id="4" name="text-237">
            <a:extLst>
              <a:ext uri="{FF2B5EF4-FFF2-40B4-BE49-F238E27FC236}">
                <a16:creationId xmlns:a16="http://schemas.microsoft.com/office/drawing/2014/main" id="{F9617905-4902-421D-BD6D-C0D4A1319D27}"/>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EKSPERIMEN</a:t>
            </a:r>
          </a:p>
        </p:txBody>
      </p:sp>
      <p:sp>
        <p:nvSpPr>
          <p:cNvPr id="5" name="text-238">
            <a:extLst>
              <a:ext uri="{FF2B5EF4-FFF2-40B4-BE49-F238E27FC236}">
                <a16:creationId xmlns:a16="http://schemas.microsoft.com/office/drawing/2014/main" id="{66046230-C181-4FF3-A0AB-A33D73412D72}"/>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Pakai Build-Measure-Learn supaya tidak menebak-nebak</a:t>
            </a:r>
          </a:p>
        </p:txBody>
      </p:sp>
      <p:sp>
        <p:nvSpPr>
          <p:cNvPr id="6" name="text-239">
            <a:extLst>
              <a:ext uri="{FF2B5EF4-FFF2-40B4-BE49-F238E27FC236}">
                <a16:creationId xmlns:a16="http://schemas.microsoft.com/office/drawing/2014/main" id="{26DFBEE3-E6A6-4BBD-A397-DFD386898841}"/>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240">
            <a:extLst>
              <a:ext uri="{FF2B5EF4-FFF2-40B4-BE49-F238E27FC236}">
                <a16:creationId xmlns:a16="http://schemas.microsoft.com/office/drawing/2014/main" id="{C48DEB85-9491-4B12-A467-6251F61FDBA4}"/>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16</a:t>
            </a:r>
          </a:p>
        </p:txBody>
      </p:sp>
      <p:sp>
        <p:nvSpPr>
          <p:cNvPr id="8" name="Oval 7">
            <a:extLst>
              <a:ext uri="{FF2B5EF4-FFF2-40B4-BE49-F238E27FC236}">
                <a16:creationId xmlns:a16="http://schemas.microsoft.com/office/drawing/2014/main" id="{4917516F-BA18-4170-A501-5B69854058F1}"/>
              </a:ext>
            </a:extLst>
          </p:cNvPr>
          <p:cNvSpPr>
            <a:spLocks noGrp="1"/>
          </p:cNvSpPr>
          <p:nvPr/>
        </p:nvSpPr>
        <p:spPr>
          <a:xfrm>
            <a:off x="5262829" y="2092604"/>
            <a:ext cx="1666875" cy="1666875"/>
          </a:xfrm>
          <a:prstGeom prst="ellipse">
            <a:avLst/>
          </a:prstGeom>
          <a:solidFill>
            <a:srgbClr val="087958"/>
          </a:solidFill>
          <a:ln w="9525">
            <a:solidFill>
              <a:srgbClr val="087958"/>
            </a:solidFill>
          </a:ln>
        </p:spPr>
        <p:txBody>
          <a:bodyPr/>
          <a:lstStyle/>
          <a:p>
            <a:endParaRPr/>
          </a:p>
        </p:txBody>
      </p:sp>
      <p:sp>
        <p:nvSpPr>
          <p:cNvPr id="9" name="text-241">
            <a:extLst>
              <a:ext uri="{FF2B5EF4-FFF2-40B4-BE49-F238E27FC236}">
                <a16:creationId xmlns:a16="http://schemas.microsoft.com/office/drawing/2014/main" id="{2A122B18-F15D-4F2C-85A1-CC02148B1C26}"/>
              </a:ext>
            </a:extLst>
          </p:cNvPr>
          <p:cNvSpPr>
            <a:spLocks noGrp="1"/>
          </p:cNvSpPr>
          <p:nvPr/>
        </p:nvSpPr>
        <p:spPr>
          <a:xfrm>
            <a:off x="5262829" y="2567202"/>
            <a:ext cx="1666951" cy="371475"/>
          </a:xfrm>
          <a:prstGeom prst="rect">
            <a:avLst/>
          </a:prstGeom>
          <a:noFill/>
          <a:ln w="0">
            <a:noFill/>
          </a:ln>
        </p:spPr>
        <p:txBody>
          <a:bodyPr wrap="square" lIns="0" tIns="0" rIns="0" bIns="0" anchor="t">
            <a:noAutofit/>
          </a:bodyPr>
          <a:lstStyle/>
          <a:p>
            <a:pPr algn="ctr">
              <a:defRPr sz="2250" b="1">
                <a:solidFill>
                  <a:srgbClr val="FFFFFF"/>
                </a:solidFill>
                <a:latin typeface="Calibri"/>
                <a:ea typeface="Calibri"/>
                <a:cs typeface="Calibri"/>
              </a:defRPr>
            </a:pPr>
            <a:r>
              <a:rPr sz="2250" b="1">
                <a:solidFill>
                  <a:srgbClr val="FFFFFF"/>
                </a:solidFill>
                <a:latin typeface="Calibri"/>
                <a:ea typeface="Calibri"/>
                <a:cs typeface="Calibri"/>
              </a:rPr>
              <a:t>BUILD</a:t>
            </a:r>
          </a:p>
        </p:txBody>
      </p:sp>
      <p:sp>
        <p:nvSpPr>
          <p:cNvPr id="10" name="text-242">
            <a:extLst>
              <a:ext uri="{FF2B5EF4-FFF2-40B4-BE49-F238E27FC236}">
                <a16:creationId xmlns:a16="http://schemas.microsoft.com/office/drawing/2014/main" id="{39E52AC6-C9EE-415C-96BE-5229BBEEBBAC}"/>
              </a:ext>
            </a:extLst>
          </p:cNvPr>
          <p:cNvSpPr>
            <a:spLocks noGrp="1"/>
          </p:cNvSpPr>
          <p:nvPr/>
        </p:nvSpPr>
        <p:spPr>
          <a:xfrm>
            <a:off x="5262829" y="2996970"/>
            <a:ext cx="1666951" cy="342900"/>
          </a:xfrm>
          <a:prstGeom prst="rect">
            <a:avLst/>
          </a:prstGeom>
          <a:noFill/>
          <a:ln w="0">
            <a:noFill/>
          </a:ln>
        </p:spPr>
        <p:txBody>
          <a:bodyPr wrap="square" lIns="0" tIns="0" rIns="0" bIns="0" anchor="t">
            <a:noAutofit/>
          </a:bodyPr>
          <a:lstStyle/>
          <a:p>
            <a:pPr algn="ctr">
              <a:defRPr sz="1725" b="0">
                <a:solidFill>
                  <a:srgbClr val="FFFFFF"/>
                </a:solidFill>
                <a:latin typeface="Calibri"/>
                <a:ea typeface="Calibri"/>
                <a:cs typeface="Calibri"/>
              </a:defRPr>
            </a:pPr>
            <a:r>
              <a:rPr sz="1725" b="0">
                <a:solidFill>
                  <a:srgbClr val="FFFFFF"/>
                </a:solidFill>
                <a:latin typeface="Calibri"/>
                <a:ea typeface="Calibri"/>
                <a:cs typeface="Calibri"/>
              </a:rPr>
              <a:t>Buat sampel</a:t>
            </a:r>
          </a:p>
        </p:txBody>
      </p:sp>
      <p:sp>
        <p:nvSpPr>
          <p:cNvPr id="11" name="Oval 10">
            <a:extLst>
              <a:ext uri="{FF2B5EF4-FFF2-40B4-BE49-F238E27FC236}">
                <a16:creationId xmlns:a16="http://schemas.microsoft.com/office/drawing/2014/main" id="{1C6F5CAC-5A27-40CF-9587-F25F1F5A8C52}"/>
              </a:ext>
            </a:extLst>
          </p:cNvPr>
          <p:cNvSpPr>
            <a:spLocks noGrp="1"/>
          </p:cNvSpPr>
          <p:nvPr/>
        </p:nvSpPr>
        <p:spPr>
          <a:xfrm>
            <a:off x="7183069" y="4012844"/>
            <a:ext cx="1666875" cy="1666875"/>
          </a:xfrm>
          <a:prstGeom prst="ellipse">
            <a:avLst/>
          </a:prstGeom>
          <a:solidFill>
            <a:srgbClr val="EDF4EF"/>
          </a:solidFill>
          <a:ln w="19050">
            <a:solidFill>
              <a:srgbClr val="087958"/>
            </a:solidFill>
          </a:ln>
        </p:spPr>
        <p:txBody>
          <a:bodyPr/>
          <a:lstStyle/>
          <a:p>
            <a:endParaRPr/>
          </a:p>
        </p:txBody>
      </p:sp>
      <p:sp>
        <p:nvSpPr>
          <p:cNvPr id="12" name="text-243">
            <a:extLst>
              <a:ext uri="{FF2B5EF4-FFF2-40B4-BE49-F238E27FC236}">
                <a16:creationId xmlns:a16="http://schemas.microsoft.com/office/drawing/2014/main" id="{5116B176-264E-44A4-8262-3A3A2915B78E}"/>
              </a:ext>
            </a:extLst>
          </p:cNvPr>
          <p:cNvSpPr>
            <a:spLocks noGrp="1"/>
          </p:cNvSpPr>
          <p:nvPr/>
        </p:nvSpPr>
        <p:spPr>
          <a:xfrm>
            <a:off x="7183069" y="4487442"/>
            <a:ext cx="1666951" cy="371475"/>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MEASURE</a:t>
            </a:r>
          </a:p>
        </p:txBody>
      </p:sp>
      <p:sp>
        <p:nvSpPr>
          <p:cNvPr id="13" name="text-244">
            <a:extLst>
              <a:ext uri="{FF2B5EF4-FFF2-40B4-BE49-F238E27FC236}">
                <a16:creationId xmlns:a16="http://schemas.microsoft.com/office/drawing/2014/main" id="{153D3B30-7473-4A5C-901C-086939897AEB}"/>
              </a:ext>
            </a:extLst>
          </p:cNvPr>
          <p:cNvSpPr>
            <a:spLocks noGrp="1"/>
          </p:cNvSpPr>
          <p:nvPr/>
        </p:nvSpPr>
        <p:spPr>
          <a:xfrm>
            <a:off x="7183069" y="4917210"/>
            <a:ext cx="1666951" cy="342900"/>
          </a:xfrm>
          <a:prstGeom prst="rect">
            <a:avLst/>
          </a:prstGeom>
          <a:noFill/>
          <a:ln w="0">
            <a:noFill/>
          </a:ln>
        </p:spPr>
        <p:txBody>
          <a:bodyPr wrap="square" lIns="0" tIns="0" rIns="0" bIns="0" anchor="t">
            <a:noAutofit/>
          </a:bodyPr>
          <a:lstStyle/>
          <a:p>
            <a:pPr algn="ctr">
              <a:defRPr sz="1725" b="0">
                <a:solidFill>
                  <a:srgbClr val="173D34"/>
                </a:solidFill>
                <a:latin typeface="Calibri"/>
                <a:ea typeface="Calibri"/>
                <a:cs typeface="Calibri"/>
              </a:defRPr>
            </a:pPr>
            <a:r>
              <a:rPr sz="1725" b="0">
                <a:solidFill>
                  <a:srgbClr val="173D34"/>
                </a:solidFill>
                <a:latin typeface="Calibri"/>
                <a:ea typeface="Calibri"/>
                <a:cs typeface="Calibri"/>
              </a:rPr>
              <a:t>Catat respons</a:t>
            </a:r>
          </a:p>
        </p:txBody>
      </p:sp>
      <p:sp>
        <p:nvSpPr>
          <p:cNvPr id="14" name="Oval 13">
            <a:extLst>
              <a:ext uri="{FF2B5EF4-FFF2-40B4-BE49-F238E27FC236}">
                <a16:creationId xmlns:a16="http://schemas.microsoft.com/office/drawing/2014/main" id="{E2A46C95-CB54-4641-9D78-D2A3851BDC8A}"/>
              </a:ext>
            </a:extLst>
          </p:cNvPr>
          <p:cNvSpPr>
            <a:spLocks noGrp="1"/>
          </p:cNvSpPr>
          <p:nvPr/>
        </p:nvSpPr>
        <p:spPr>
          <a:xfrm>
            <a:off x="3342589" y="4012844"/>
            <a:ext cx="1666875" cy="1666875"/>
          </a:xfrm>
          <a:prstGeom prst="ellipse">
            <a:avLst/>
          </a:prstGeom>
          <a:noFill/>
          <a:ln w="19050">
            <a:solidFill>
              <a:srgbClr val="087958"/>
            </a:solidFill>
          </a:ln>
        </p:spPr>
        <p:txBody>
          <a:bodyPr/>
          <a:lstStyle/>
          <a:p>
            <a:endParaRPr/>
          </a:p>
        </p:txBody>
      </p:sp>
      <p:sp>
        <p:nvSpPr>
          <p:cNvPr id="15" name="text-245">
            <a:extLst>
              <a:ext uri="{FF2B5EF4-FFF2-40B4-BE49-F238E27FC236}">
                <a16:creationId xmlns:a16="http://schemas.microsoft.com/office/drawing/2014/main" id="{CF864050-9793-487E-A1AD-B299960D2167}"/>
              </a:ext>
            </a:extLst>
          </p:cNvPr>
          <p:cNvSpPr>
            <a:spLocks noGrp="1"/>
          </p:cNvSpPr>
          <p:nvPr/>
        </p:nvSpPr>
        <p:spPr>
          <a:xfrm>
            <a:off x="3342589" y="4487442"/>
            <a:ext cx="1666951" cy="371475"/>
          </a:xfrm>
          <a:prstGeom prst="rect">
            <a:avLst/>
          </a:prstGeom>
          <a:noFill/>
          <a:ln w="0">
            <a:noFill/>
          </a:ln>
        </p:spPr>
        <p:txBody>
          <a:bodyPr wrap="square" lIns="0" tIns="0" rIns="0" bIns="0" anchor="t">
            <a:noAutofit/>
          </a:bodyPr>
          <a:lstStyle/>
          <a:p>
            <a:pPr algn="ctr">
              <a:defRPr sz="2250" b="1">
                <a:solidFill>
                  <a:srgbClr val="087958"/>
                </a:solidFill>
                <a:latin typeface="Calibri"/>
                <a:ea typeface="Calibri"/>
                <a:cs typeface="Calibri"/>
              </a:defRPr>
            </a:pPr>
            <a:r>
              <a:rPr sz="2250" b="1">
                <a:solidFill>
                  <a:srgbClr val="087958"/>
                </a:solidFill>
                <a:latin typeface="Calibri"/>
                <a:ea typeface="Calibri"/>
                <a:cs typeface="Calibri"/>
              </a:rPr>
              <a:t>LEARN</a:t>
            </a:r>
          </a:p>
        </p:txBody>
      </p:sp>
      <p:sp>
        <p:nvSpPr>
          <p:cNvPr id="16" name="text-246">
            <a:extLst>
              <a:ext uri="{FF2B5EF4-FFF2-40B4-BE49-F238E27FC236}">
                <a16:creationId xmlns:a16="http://schemas.microsoft.com/office/drawing/2014/main" id="{AAF1F21E-C4AA-4648-A3F5-68B0ADE41384}"/>
              </a:ext>
            </a:extLst>
          </p:cNvPr>
          <p:cNvSpPr>
            <a:spLocks noGrp="1"/>
          </p:cNvSpPr>
          <p:nvPr/>
        </p:nvSpPr>
        <p:spPr>
          <a:xfrm>
            <a:off x="3342589" y="4917210"/>
            <a:ext cx="1666951" cy="342900"/>
          </a:xfrm>
          <a:prstGeom prst="rect">
            <a:avLst/>
          </a:prstGeom>
          <a:noFill/>
          <a:ln w="0">
            <a:noFill/>
          </a:ln>
        </p:spPr>
        <p:txBody>
          <a:bodyPr wrap="square" lIns="0" tIns="0" rIns="0" bIns="0" anchor="t">
            <a:noAutofit/>
          </a:bodyPr>
          <a:lstStyle/>
          <a:p>
            <a:pPr algn="ctr">
              <a:defRPr sz="1725" b="0">
                <a:solidFill>
                  <a:srgbClr val="173D34"/>
                </a:solidFill>
                <a:latin typeface="Calibri"/>
                <a:ea typeface="Calibri"/>
                <a:cs typeface="Calibri"/>
              </a:defRPr>
            </a:pPr>
            <a:r>
              <a:rPr sz="1725" b="0">
                <a:solidFill>
                  <a:srgbClr val="173D34"/>
                </a:solidFill>
                <a:latin typeface="Calibri"/>
                <a:ea typeface="Calibri"/>
                <a:cs typeface="Calibri"/>
              </a:rPr>
              <a:t>Pilih langkah</a:t>
            </a:r>
          </a:p>
        </p:txBody>
      </p:sp>
      <p:sp>
        <p:nvSpPr>
          <p:cNvPr id="17" name="Right Arrow 16">
            <a:extLst>
              <a:ext uri="{FF2B5EF4-FFF2-40B4-BE49-F238E27FC236}">
                <a16:creationId xmlns:a16="http://schemas.microsoft.com/office/drawing/2014/main" id="{FB7B3711-E33C-4525-A848-A21DCA621BE5}"/>
              </a:ext>
            </a:extLst>
          </p:cNvPr>
          <p:cNvSpPr>
            <a:spLocks noGrp="1"/>
          </p:cNvSpPr>
          <p:nvPr/>
        </p:nvSpPr>
        <p:spPr>
          <a:xfrm rot="2700000">
            <a:off x="6660947" y="3800475"/>
            <a:ext cx="790956" cy="171450"/>
          </a:xfrm>
          <a:prstGeom prst="rightArrow">
            <a:avLst/>
          </a:prstGeom>
          <a:solidFill>
            <a:srgbClr val="087958"/>
          </a:solidFill>
          <a:ln w="0">
            <a:noFill/>
          </a:ln>
        </p:spPr>
        <p:txBody>
          <a:bodyPr/>
          <a:lstStyle/>
          <a:p>
            <a:endParaRPr/>
          </a:p>
        </p:txBody>
      </p:sp>
      <p:sp>
        <p:nvSpPr>
          <p:cNvPr id="18" name="Right Arrow 17">
            <a:extLst>
              <a:ext uri="{FF2B5EF4-FFF2-40B4-BE49-F238E27FC236}">
                <a16:creationId xmlns:a16="http://schemas.microsoft.com/office/drawing/2014/main" id="{E34478EC-4A62-4433-9D8F-20E49121AB1D}"/>
              </a:ext>
            </a:extLst>
          </p:cNvPr>
          <p:cNvSpPr>
            <a:spLocks noGrp="1"/>
          </p:cNvSpPr>
          <p:nvPr/>
        </p:nvSpPr>
        <p:spPr>
          <a:xfrm rot="10800000">
            <a:off x="5296205" y="4760595"/>
            <a:ext cx="1600200" cy="171450"/>
          </a:xfrm>
          <a:prstGeom prst="rightArrow">
            <a:avLst/>
          </a:prstGeom>
          <a:solidFill>
            <a:srgbClr val="087958"/>
          </a:solidFill>
          <a:ln w="0">
            <a:noFill/>
          </a:ln>
        </p:spPr>
        <p:txBody>
          <a:bodyPr/>
          <a:lstStyle/>
          <a:p>
            <a:endParaRPr/>
          </a:p>
        </p:txBody>
      </p:sp>
      <p:sp>
        <p:nvSpPr>
          <p:cNvPr id="19" name="Right Arrow 18">
            <a:extLst>
              <a:ext uri="{FF2B5EF4-FFF2-40B4-BE49-F238E27FC236}">
                <a16:creationId xmlns:a16="http://schemas.microsoft.com/office/drawing/2014/main" id="{388A59A9-6A4C-4E79-8708-7B7B28F31DA5}"/>
              </a:ext>
            </a:extLst>
          </p:cNvPr>
          <p:cNvSpPr>
            <a:spLocks noGrp="1"/>
          </p:cNvSpPr>
          <p:nvPr/>
        </p:nvSpPr>
        <p:spPr>
          <a:xfrm rot="18900000">
            <a:off x="4740707" y="3800475"/>
            <a:ext cx="790956" cy="171450"/>
          </a:xfrm>
          <a:prstGeom prst="rightArrow">
            <a:avLst/>
          </a:prstGeom>
          <a:solidFill>
            <a:srgbClr val="087958"/>
          </a:solidFill>
          <a:ln w="0">
            <a:noFill/>
          </a:ln>
        </p:spPr>
        <p:txBody>
          <a:bodyPr/>
          <a:lstStyle/>
          <a:p>
            <a:endParaRPr/>
          </a:p>
        </p:txBody>
      </p:sp>
      <p:sp>
        <p:nvSpPr>
          <p:cNvPr id="20" name="text-247">
            <a:extLst>
              <a:ext uri="{FF2B5EF4-FFF2-40B4-BE49-F238E27FC236}">
                <a16:creationId xmlns:a16="http://schemas.microsoft.com/office/drawing/2014/main" id="{0E7F1647-1586-4AE6-939B-1BBDB9750B82}"/>
              </a:ext>
            </a:extLst>
          </p:cNvPr>
          <p:cNvSpPr>
            <a:spLocks noGrp="1"/>
          </p:cNvSpPr>
          <p:nvPr/>
        </p:nvSpPr>
        <p:spPr>
          <a:xfrm>
            <a:off x="571500" y="3157133"/>
            <a:ext cx="2926080" cy="697230"/>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a:solidFill>
                  <a:srgbClr val="173D34"/>
                </a:solidFill>
                <a:latin typeface="Calibri"/>
                <a:ea typeface="Calibri"/>
                <a:cs typeface="Calibri"/>
              </a:rPr>
              <a:t>Contoh: dua</a:t>
            </a:r>
          </a:p>
          <a:p>
            <a:pPr>
              <a:defRPr sz="2250" b="1">
                <a:solidFill>
                  <a:srgbClr val="173D34"/>
                </a:solidFill>
                <a:latin typeface="Calibri"/>
                <a:ea typeface="Calibri"/>
                <a:cs typeface="Calibri"/>
              </a:defRPr>
            </a:pPr>
            <a:r>
              <a:rPr sz="2250" b="1">
                <a:solidFill>
                  <a:srgbClr val="173D34"/>
                </a:solidFill>
                <a:latin typeface="Calibri"/>
                <a:ea typeface="Calibri"/>
                <a:cs typeface="Calibri"/>
              </a:rPr>
              <a:t>pilihan ukuran</a:t>
            </a:r>
          </a:p>
        </p:txBody>
      </p:sp>
      <p:sp>
        <p:nvSpPr>
          <p:cNvPr id="21" name="text-248">
            <a:extLst>
              <a:ext uri="{FF2B5EF4-FFF2-40B4-BE49-F238E27FC236}">
                <a16:creationId xmlns:a16="http://schemas.microsoft.com/office/drawing/2014/main" id="{646C27DB-F84C-4752-88B1-E58FE478F789}"/>
              </a:ext>
            </a:extLst>
          </p:cNvPr>
          <p:cNvSpPr>
            <a:spLocks noGrp="1"/>
          </p:cNvSpPr>
          <p:nvPr/>
        </p:nvSpPr>
        <p:spPr>
          <a:xfrm>
            <a:off x="571500" y="4018955"/>
            <a:ext cx="2926080" cy="676275"/>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Bikin perubahan kecil</a:t>
            </a:r>
          </a:p>
          <a:p>
            <a:pPr>
              <a:defRPr sz="1875" b="0">
                <a:solidFill>
                  <a:srgbClr val="5B7169"/>
                </a:solidFill>
                <a:latin typeface="Calibri"/>
                <a:ea typeface="Calibri"/>
                <a:cs typeface="Calibri"/>
              </a:defRPr>
            </a:pPr>
            <a:r>
              <a:rPr sz="1875" b="0">
                <a:solidFill>
                  <a:srgbClr val="5B7169"/>
                </a:solidFill>
                <a:latin typeface="Calibri"/>
                <a:ea typeface="Calibri"/>
                <a:cs typeface="Calibri"/>
              </a:rPr>
              <a:t>yang bisa dites.</a:t>
            </a:r>
          </a:p>
        </p:txBody>
      </p:sp>
      <p:sp>
        <p:nvSpPr>
          <p:cNvPr id="22" name="text-249">
            <a:extLst>
              <a:ext uri="{FF2B5EF4-FFF2-40B4-BE49-F238E27FC236}">
                <a16:creationId xmlns:a16="http://schemas.microsoft.com/office/drawing/2014/main" id="{1F0C1500-78F5-45EC-ADE0-18149CEEF95A}"/>
              </a:ext>
            </a:extLst>
          </p:cNvPr>
          <p:cNvSpPr>
            <a:spLocks noGrp="1"/>
          </p:cNvSpPr>
          <p:nvPr/>
        </p:nvSpPr>
        <p:spPr>
          <a:xfrm>
            <a:off x="9189720" y="3157133"/>
            <a:ext cx="2430475" cy="697230"/>
          </a:xfrm>
          <a:prstGeom prst="rect">
            <a:avLst/>
          </a:prstGeom>
          <a:noFill/>
          <a:ln w="0">
            <a:noFill/>
          </a:ln>
        </p:spPr>
        <p:txBody>
          <a:bodyPr wrap="square" lIns="0" tIns="0" rIns="0" bIns="0" anchor="t">
            <a:noAutofit/>
          </a:bodyPr>
          <a:lstStyle/>
          <a:p>
            <a:pPr>
              <a:defRPr sz="2250" b="1">
                <a:solidFill>
                  <a:srgbClr val="173D34"/>
                </a:solidFill>
                <a:latin typeface="Calibri"/>
                <a:ea typeface="Calibri"/>
                <a:cs typeface="Calibri"/>
              </a:defRPr>
            </a:pPr>
            <a:r>
              <a:rPr sz="2250" b="1">
                <a:solidFill>
                  <a:srgbClr val="173D34"/>
                </a:solidFill>
                <a:latin typeface="Calibri"/>
                <a:ea typeface="Calibri"/>
                <a:cs typeface="Calibri"/>
              </a:rPr>
              <a:t>Pilihan buyer,</a:t>
            </a:r>
          </a:p>
          <a:p>
            <a:pPr>
              <a:defRPr sz="2250" b="1">
                <a:solidFill>
                  <a:srgbClr val="173D34"/>
                </a:solidFill>
                <a:latin typeface="Calibri"/>
                <a:ea typeface="Calibri"/>
                <a:cs typeface="Calibri"/>
              </a:defRPr>
            </a:pPr>
            <a:r>
              <a:rPr sz="2250" b="1">
                <a:solidFill>
                  <a:srgbClr val="173D34"/>
                </a:solidFill>
                <a:latin typeface="Calibri"/>
                <a:ea typeface="Calibri"/>
                <a:cs typeface="Calibri"/>
              </a:rPr>
              <a:t>keberatan, harga</a:t>
            </a:r>
          </a:p>
        </p:txBody>
      </p:sp>
      <p:sp>
        <p:nvSpPr>
          <p:cNvPr id="23" name="text-250">
            <a:extLst>
              <a:ext uri="{FF2B5EF4-FFF2-40B4-BE49-F238E27FC236}">
                <a16:creationId xmlns:a16="http://schemas.microsoft.com/office/drawing/2014/main" id="{50D5FBEF-988E-42FD-95F7-BA549F437A41}"/>
              </a:ext>
            </a:extLst>
          </p:cNvPr>
          <p:cNvSpPr>
            <a:spLocks noGrp="1"/>
          </p:cNvSpPr>
          <p:nvPr/>
        </p:nvSpPr>
        <p:spPr>
          <a:xfrm>
            <a:off x="9189720" y="4018955"/>
            <a:ext cx="2430475" cy="752475"/>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Catat apa yang</a:t>
            </a:r>
          </a:p>
          <a:p>
            <a:pPr>
              <a:defRPr sz="1875" b="0">
                <a:solidFill>
                  <a:srgbClr val="5B7169"/>
                </a:solidFill>
                <a:latin typeface="Calibri"/>
                <a:ea typeface="Calibri"/>
                <a:cs typeface="Calibri"/>
              </a:defRPr>
            </a:pPr>
            <a:r>
              <a:rPr sz="1875" b="0">
                <a:solidFill>
                  <a:srgbClr val="5B7169"/>
                </a:solidFill>
                <a:latin typeface="Calibri"/>
                <a:ea typeface="Calibri"/>
                <a:cs typeface="Calibri"/>
              </a:rPr>
              <a:t>benar-benar terjadi.</a:t>
            </a:r>
          </a:p>
        </p:txBody>
      </p:sp>
      <p:sp>
        <p:nvSpPr>
          <p:cNvPr id="24" name="Straight Connector 23">
            <a:extLst>
              <a:ext uri="{FF2B5EF4-FFF2-40B4-BE49-F238E27FC236}">
                <a16:creationId xmlns:a16="http://schemas.microsoft.com/office/drawing/2014/main" id="{F05B9DAD-B4AC-44F9-A218-24A206B07E77}"/>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5" name="text-251">
            <a:extLst>
              <a:ext uri="{FF2B5EF4-FFF2-40B4-BE49-F238E27FC236}">
                <a16:creationId xmlns:a16="http://schemas.microsoft.com/office/drawing/2014/main" id="{FB427510-CB5A-42C3-8CE3-009D597D5061}"/>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Dari hasil tes, putuskan: lanjut, ubah, atau stop.</a:t>
            </a:r>
          </a:p>
        </p:txBody>
      </p:sp>
      <p:sp>
        <p:nvSpPr>
          <p:cNvPr id="26" name="text-252">
            <a:extLst>
              <a:ext uri="{FF2B5EF4-FFF2-40B4-BE49-F238E27FC236}">
                <a16:creationId xmlns:a16="http://schemas.microsoft.com/office/drawing/2014/main" id="{F49F30C0-A5A0-437C-A9FF-D202263635E1}"/>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Sumber: Modul 1 CMC dan The Lean Startup.</a:t>
            </a:r>
          </a:p>
        </p:txBody>
      </p:sp>
    </p:spTree>
    <p:extLst>
      <p:ext uri="{BB962C8B-B14F-4D97-AF65-F5344CB8AC3E}">
        <p14:creationId xmlns:p14="http://schemas.microsoft.com/office/powerpoint/2010/main" val="1961640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E761D46-B411-4E7F-9721-CBCCF88DA4A2}"/>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5" name="Picture 24"/>
          <p:cNvPicPr>
            <a:picLocks noChangeAspect="1"/>
          </p:cNvPicPr>
          <p:nvPr/>
        </p:nvPicPr>
        <p:blipFill>
          <a:blip r:embed="rId4"/>
          <a:stretch/>
        </p:blipFill>
        <p:spPr>
          <a:xfrm>
            <a:off x="10591800" y="245339"/>
            <a:ext cx="1028700" cy="385621"/>
          </a:xfrm>
          <a:prstGeom prst="rect">
            <a:avLst/>
          </a:prstGeom>
        </p:spPr>
      </p:pic>
      <p:sp>
        <p:nvSpPr>
          <p:cNvPr id="4" name="text-253">
            <a:extLst>
              <a:ext uri="{FF2B5EF4-FFF2-40B4-BE49-F238E27FC236}">
                <a16:creationId xmlns:a16="http://schemas.microsoft.com/office/drawing/2014/main" id="{BC77E510-4825-4955-B1B2-57BC4C729C12}"/>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RENCANA TES</a:t>
            </a:r>
          </a:p>
        </p:txBody>
      </p:sp>
      <p:sp>
        <p:nvSpPr>
          <p:cNvPr id="5" name="text-254">
            <a:extLst>
              <a:ext uri="{FF2B5EF4-FFF2-40B4-BE49-F238E27FC236}">
                <a16:creationId xmlns:a16="http://schemas.microsoft.com/office/drawing/2014/main" id="{B77EBCDF-147E-48BD-9B7C-1D47774AB39E}"/>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Sepakati target sukses sebelum tes dimulai</a:t>
            </a:r>
          </a:p>
        </p:txBody>
      </p:sp>
      <p:sp>
        <p:nvSpPr>
          <p:cNvPr id="6" name="text-255">
            <a:extLst>
              <a:ext uri="{FF2B5EF4-FFF2-40B4-BE49-F238E27FC236}">
                <a16:creationId xmlns:a16="http://schemas.microsoft.com/office/drawing/2014/main" id="{BEB91E1A-74B0-48F9-8B6C-FB89E05ECD7A}"/>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256">
            <a:extLst>
              <a:ext uri="{FF2B5EF4-FFF2-40B4-BE49-F238E27FC236}">
                <a16:creationId xmlns:a16="http://schemas.microsoft.com/office/drawing/2014/main" id="{16663445-A3EF-49AC-AFF1-E70B1FC6248C}"/>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17</a:t>
            </a:r>
          </a:p>
        </p:txBody>
      </p:sp>
      <p:sp>
        <p:nvSpPr>
          <p:cNvPr id="8" name="text-257">
            <a:extLst>
              <a:ext uri="{FF2B5EF4-FFF2-40B4-BE49-F238E27FC236}">
                <a16:creationId xmlns:a16="http://schemas.microsoft.com/office/drawing/2014/main" id="{D39B0D4E-05E4-45D2-B104-D0AE75D78A0E}"/>
              </a:ext>
            </a:extLst>
          </p:cNvPr>
          <p:cNvSpPr>
            <a:spLocks noGrp="1"/>
          </p:cNvSpPr>
          <p:nvPr/>
        </p:nvSpPr>
        <p:spPr>
          <a:xfrm>
            <a:off x="571500" y="2066925"/>
            <a:ext cx="42291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ASUMSI YANG DITES</a:t>
            </a:r>
          </a:p>
        </p:txBody>
      </p:sp>
      <p:sp>
        <p:nvSpPr>
          <p:cNvPr id="9" name="text-258">
            <a:extLst>
              <a:ext uri="{FF2B5EF4-FFF2-40B4-BE49-F238E27FC236}">
                <a16:creationId xmlns:a16="http://schemas.microsoft.com/office/drawing/2014/main" id="{8C57AA7F-3FBF-41EF-8118-4DDAB9220B77}"/>
              </a:ext>
            </a:extLst>
          </p:cNvPr>
          <p:cNvSpPr>
            <a:spLocks noGrp="1"/>
          </p:cNvSpPr>
          <p:nvPr/>
        </p:nvSpPr>
        <p:spPr>
          <a:xfrm>
            <a:off x="571500" y="2571750"/>
            <a:ext cx="4648200" cy="1571625"/>
          </a:xfrm>
          <a:prstGeom prst="rect">
            <a:avLst/>
          </a:prstGeom>
          <a:noFill/>
          <a:ln w="0">
            <a:noFill/>
          </a:ln>
        </p:spPr>
        <p:txBody>
          <a:bodyPr wrap="square" lIns="0" tIns="0" rIns="0" bIns="0" anchor="t">
            <a:noAutofit/>
          </a:bodyPr>
          <a:lstStyle/>
          <a:p>
            <a:pPr>
              <a:defRPr sz="3225" b="1">
                <a:solidFill>
                  <a:srgbClr val="087958"/>
                </a:solidFill>
                <a:latin typeface="Calibri"/>
                <a:ea typeface="Calibri"/>
                <a:cs typeface="Calibri"/>
              </a:defRPr>
            </a:pPr>
            <a:r>
              <a:rPr sz="3225" b="1">
                <a:solidFill>
                  <a:srgbClr val="087958"/>
                </a:solidFill>
                <a:latin typeface="Calibri"/>
                <a:ea typeface="Calibri"/>
                <a:cs typeface="Calibri"/>
              </a:rPr>
              <a:t>“Ukuran lebih kecil</a:t>
            </a:r>
          </a:p>
          <a:p>
            <a:pPr>
              <a:defRPr sz="3225" b="1">
                <a:solidFill>
                  <a:srgbClr val="087958"/>
                </a:solidFill>
                <a:latin typeface="Calibri"/>
                <a:ea typeface="Calibri"/>
                <a:cs typeface="Calibri"/>
              </a:defRPr>
            </a:pPr>
            <a:r>
              <a:rPr sz="3225" b="1">
                <a:solidFill>
                  <a:srgbClr val="087958"/>
                </a:solidFill>
                <a:latin typeface="Calibri"/>
                <a:ea typeface="Calibri"/>
                <a:cs typeface="Calibri"/>
              </a:rPr>
              <a:t>lebih cocok</a:t>
            </a:r>
          </a:p>
          <a:p>
            <a:pPr>
              <a:defRPr sz="3225" b="1">
                <a:solidFill>
                  <a:srgbClr val="087958"/>
                </a:solidFill>
                <a:latin typeface="Calibri"/>
                <a:ea typeface="Calibri"/>
                <a:cs typeface="Calibri"/>
              </a:defRPr>
            </a:pPr>
            <a:r>
              <a:rPr sz="3225" b="1">
                <a:solidFill>
                  <a:srgbClr val="087958"/>
                </a:solidFill>
                <a:latin typeface="Calibri"/>
                <a:ea typeface="Calibri"/>
                <a:cs typeface="Calibri"/>
              </a:rPr>
              <a:t>untuk buyer.”</a:t>
            </a:r>
          </a:p>
        </p:txBody>
      </p:sp>
      <p:sp>
        <p:nvSpPr>
          <p:cNvPr id="10" name="text-259">
            <a:extLst>
              <a:ext uri="{FF2B5EF4-FFF2-40B4-BE49-F238E27FC236}">
                <a16:creationId xmlns:a16="http://schemas.microsoft.com/office/drawing/2014/main" id="{A557440A-538A-41A0-9CF4-447BF1495AD3}"/>
              </a:ext>
            </a:extLst>
          </p:cNvPr>
          <p:cNvSpPr>
            <a:spLocks noGrp="1"/>
          </p:cNvSpPr>
          <p:nvPr/>
        </p:nvSpPr>
        <p:spPr>
          <a:xfrm>
            <a:off x="571500" y="4935426"/>
            <a:ext cx="4648200" cy="923925"/>
          </a:xfrm>
          <a:prstGeom prst="rect">
            <a:avLst/>
          </a:prstGeom>
          <a:noFill/>
          <a:ln w="0">
            <a:noFill/>
          </a:ln>
        </p:spPr>
        <p:txBody>
          <a:bodyPr wrap="square" lIns="0" tIns="0" rIns="0" bIns="0" anchor="t">
            <a:noAutofit/>
          </a:bodyPr>
          <a:lstStyle/>
          <a:p>
            <a:pPr>
              <a:defRPr sz="2025" b="0">
                <a:solidFill>
                  <a:srgbClr val="173D34"/>
                </a:solidFill>
                <a:latin typeface="Calibri"/>
                <a:ea typeface="Calibri"/>
                <a:cs typeface="Calibri"/>
              </a:defRPr>
            </a:pPr>
            <a:r>
              <a:rPr sz="2025" b="0">
                <a:solidFill>
                  <a:srgbClr val="173D34"/>
                </a:solidFill>
                <a:latin typeface="Calibri"/>
                <a:ea typeface="Calibri"/>
                <a:cs typeface="Calibri"/>
              </a:rPr>
              <a:t>Tentukan budget sampel,</a:t>
            </a:r>
          </a:p>
          <a:p>
            <a:pPr>
              <a:defRPr sz="2025" b="0">
                <a:solidFill>
                  <a:srgbClr val="173D34"/>
                </a:solidFill>
                <a:latin typeface="Calibri"/>
                <a:ea typeface="Calibri"/>
                <a:cs typeface="Calibri"/>
              </a:defRPr>
            </a:pPr>
            <a:r>
              <a:rPr sz="2025" b="0">
                <a:solidFill>
                  <a:srgbClr val="173D34"/>
                </a:solidFill>
                <a:latin typeface="Calibri"/>
                <a:ea typeface="Calibri"/>
                <a:cs typeface="Calibri"/>
              </a:rPr>
              <a:t>deadline, dan PIC sebelum mulai.</a:t>
            </a:r>
          </a:p>
        </p:txBody>
      </p:sp>
      <p:sp>
        <p:nvSpPr>
          <p:cNvPr id="11" name="Straight Connector 10">
            <a:extLst>
              <a:ext uri="{FF2B5EF4-FFF2-40B4-BE49-F238E27FC236}">
                <a16:creationId xmlns:a16="http://schemas.microsoft.com/office/drawing/2014/main" id="{15ED4BF9-4C81-4E5E-80E8-9E0E5E590768}"/>
              </a:ext>
            </a:extLst>
          </p:cNvPr>
          <p:cNvSpPr>
            <a:spLocks noGrp="1"/>
          </p:cNvSpPr>
          <p:nvPr/>
        </p:nvSpPr>
        <p:spPr>
          <a:xfrm>
            <a:off x="5819775" y="2066544"/>
            <a:ext cx="0" cy="3493008"/>
          </a:xfrm>
          <a:prstGeom prst="line">
            <a:avLst/>
          </a:prstGeom>
          <a:noFill/>
          <a:ln w="9525">
            <a:solidFill>
              <a:srgbClr val="CEDDD4"/>
            </a:solidFill>
          </a:ln>
        </p:spPr>
        <p:txBody>
          <a:bodyPr/>
          <a:lstStyle/>
          <a:p>
            <a:endParaRPr/>
          </a:p>
        </p:txBody>
      </p:sp>
      <p:sp>
        <p:nvSpPr>
          <p:cNvPr id="12" name="text-260">
            <a:extLst>
              <a:ext uri="{FF2B5EF4-FFF2-40B4-BE49-F238E27FC236}">
                <a16:creationId xmlns:a16="http://schemas.microsoft.com/office/drawing/2014/main" id="{D2E5DFDF-358D-45FA-BE33-236A097FBAF8}"/>
              </a:ext>
            </a:extLst>
          </p:cNvPr>
          <p:cNvSpPr>
            <a:spLocks noGrp="1"/>
          </p:cNvSpPr>
          <p:nvPr/>
        </p:nvSpPr>
        <p:spPr>
          <a:xfrm>
            <a:off x="6429375" y="2066544"/>
            <a:ext cx="5191125"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YANG DILAKUKAN</a:t>
            </a:r>
          </a:p>
        </p:txBody>
      </p:sp>
      <p:sp>
        <p:nvSpPr>
          <p:cNvPr id="13" name="text-261">
            <a:extLst>
              <a:ext uri="{FF2B5EF4-FFF2-40B4-BE49-F238E27FC236}">
                <a16:creationId xmlns:a16="http://schemas.microsoft.com/office/drawing/2014/main" id="{8CE60FE9-E77F-4B64-BB47-1DE1E91FC202}"/>
              </a:ext>
            </a:extLst>
          </p:cNvPr>
          <p:cNvSpPr>
            <a:spLocks noGrp="1"/>
          </p:cNvSpPr>
          <p:nvPr/>
        </p:nvSpPr>
        <p:spPr>
          <a:xfrm>
            <a:off x="6429375" y="2438705"/>
            <a:ext cx="5191125" cy="762000"/>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a:solidFill>
                  <a:srgbClr val="173D34"/>
                </a:solidFill>
                <a:latin typeface="Calibri"/>
                <a:ea typeface="Calibri"/>
                <a:cs typeface="Calibri"/>
              </a:rPr>
              <a:t>Tawarkan dua ukuran, lengkap spek dan harga.</a:t>
            </a:r>
          </a:p>
        </p:txBody>
      </p:sp>
      <p:sp>
        <p:nvSpPr>
          <p:cNvPr id="14" name="Straight Connector 13">
            <a:extLst>
              <a:ext uri="{FF2B5EF4-FFF2-40B4-BE49-F238E27FC236}">
                <a16:creationId xmlns:a16="http://schemas.microsoft.com/office/drawing/2014/main" id="{EC7AB01F-4D42-4F30-8EBA-3EAF2027E5B8}"/>
              </a:ext>
            </a:extLst>
          </p:cNvPr>
          <p:cNvSpPr>
            <a:spLocks noGrp="1"/>
          </p:cNvSpPr>
          <p:nvPr/>
        </p:nvSpPr>
        <p:spPr>
          <a:xfrm>
            <a:off x="6429375" y="3051353"/>
            <a:ext cx="5191125" cy="0"/>
          </a:xfrm>
          <a:prstGeom prst="line">
            <a:avLst/>
          </a:prstGeom>
          <a:noFill/>
          <a:ln w="9525">
            <a:solidFill>
              <a:srgbClr val="CEDDD4"/>
            </a:solidFill>
          </a:ln>
        </p:spPr>
        <p:txBody>
          <a:bodyPr/>
          <a:lstStyle/>
          <a:p>
            <a:endParaRPr/>
          </a:p>
        </p:txBody>
      </p:sp>
      <p:sp>
        <p:nvSpPr>
          <p:cNvPr id="15" name="text-262">
            <a:extLst>
              <a:ext uri="{FF2B5EF4-FFF2-40B4-BE49-F238E27FC236}">
                <a16:creationId xmlns:a16="http://schemas.microsoft.com/office/drawing/2014/main" id="{E3DB5FD4-0385-4092-A3D1-127DE7C6B452}"/>
              </a:ext>
            </a:extLst>
          </p:cNvPr>
          <p:cNvSpPr>
            <a:spLocks noGrp="1"/>
          </p:cNvSpPr>
          <p:nvPr/>
        </p:nvSpPr>
        <p:spPr>
          <a:xfrm>
            <a:off x="6429375" y="3304642"/>
            <a:ext cx="5191125"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YANG DICATAT</a:t>
            </a:r>
          </a:p>
        </p:txBody>
      </p:sp>
      <p:sp>
        <p:nvSpPr>
          <p:cNvPr id="16" name="text-263">
            <a:extLst>
              <a:ext uri="{FF2B5EF4-FFF2-40B4-BE49-F238E27FC236}">
                <a16:creationId xmlns:a16="http://schemas.microsoft.com/office/drawing/2014/main" id="{0821216C-DFCC-46A2-AACB-7BB1B05809CD}"/>
              </a:ext>
            </a:extLst>
          </p:cNvPr>
          <p:cNvSpPr>
            <a:spLocks noGrp="1"/>
          </p:cNvSpPr>
          <p:nvPr/>
        </p:nvSpPr>
        <p:spPr>
          <a:xfrm>
            <a:off x="6429375" y="3676802"/>
            <a:ext cx="5191125" cy="762000"/>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a:solidFill>
                  <a:srgbClr val="173D34"/>
                </a:solidFill>
                <a:latin typeface="Calibri"/>
                <a:ea typeface="Calibri"/>
                <a:cs typeface="Calibri"/>
              </a:rPr>
              <a:t>Pilihan ukuran, alasan, keberatan, next step.</a:t>
            </a:r>
          </a:p>
        </p:txBody>
      </p:sp>
      <p:sp>
        <p:nvSpPr>
          <p:cNvPr id="17" name="Straight Connector 16">
            <a:extLst>
              <a:ext uri="{FF2B5EF4-FFF2-40B4-BE49-F238E27FC236}">
                <a16:creationId xmlns:a16="http://schemas.microsoft.com/office/drawing/2014/main" id="{7CF21B63-AD8D-422C-90B2-758BD6479729}"/>
              </a:ext>
            </a:extLst>
          </p:cNvPr>
          <p:cNvSpPr>
            <a:spLocks noGrp="1"/>
          </p:cNvSpPr>
          <p:nvPr/>
        </p:nvSpPr>
        <p:spPr>
          <a:xfrm>
            <a:off x="6429375" y="4289450"/>
            <a:ext cx="5191125" cy="0"/>
          </a:xfrm>
          <a:prstGeom prst="line">
            <a:avLst/>
          </a:prstGeom>
          <a:noFill/>
          <a:ln w="9525">
            <a:solidFill>
              <a:srgbClr val="CEDDD4"/>
            </a:solidFill>
          </a:ln>
        </p:spPr>
        <p:txBody>
          <a:bodyPr/>
          <a:lstStyle/>
          <a:p>
            <a:endParaRPr/>
          </a:p>
        </p:txBody>
      </p:sp>
      <p:sp>
        <p:nvSpPr>
          <p:cNvPr id="18" name="text-264">
            <a:extLst>
              <a:ext uri="{FF2B5EF4-FFF2-40B4-BE49-F238E27FC236}">
                <a16:creationId xmlns:a16="http://schemas.microsoft.com/office/drawing/2014/main" id="{7238ABF8-8380-4EE5-9A02-697A9558D794}"/>
              </a:ext>
            </a:extLst>
          </p:cNvPr>
          <p:cNvSpPr>
            <a:spLocks noGrp="1"/>
          </p:cNvSpPr>
          <p:nvPr/>
        </p:nvSpPr>
        <p:spPr>
          <a:xfrm>
            <a:off x="6429375" y="4542739"/>
            <a:ext cx="5191125"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LANJUT KALAU</a:t>
            </a:r>
          </a:p>
        </p:txBody>
      </p:sp>
      <p:sp>
        <p:nvSpPr>
          <p:cNvPr id="19" name="text-265">
            <a:extLst>
              <a:ext uri="{FF2B5EF4-FFF2-40B4-BE49-F238E27FC236}">
                <a16:creationId xmlns:a16="http://schemas.microsoft.com/office/drawing/2014/main" id="{A7FB62DE-757D-4355-BDDB-82B695EC2EFF}"/>
              </a:ext>
            </a:extLst>
          </p:cNvPr>
          <p:cNvSpPr>
            <a:spLocks noGrp="1"/>
          </p:cNvSpPr>
          <p:nvPr/>
        </p:nvSpPr>
        <p:spPr>
          <a:xfrm>
            <a:off x="6429375" y="4914900"/>
            <a:ext cx="5191125" cy="762000"/>
          </a:xfrm>
          <a:prstGeom prst="rect">
            <a:avLst/>
          </a:prstGeom>
          <a:noFill/>
          <a:ln w="0">
            <a:noFill/>
          </a:ln>
        </p:spPr>
        <p:txBody>
          <a:bodyPr wrap="square" lIns="0" tIns="0" rIns="0" bIns="0" anchor="t">
            <a:noAutofit/>
          </a:bodyPr>
          <a:lstStyle/>
          <a:p>
            <a:pPr>
              <a:defRPr sz="2100" b="0">
                <a:solidFill>
                  <a:srgbClr val="173D34"/>
                </a:solidFill>
                <a:latin typeface="Calibri"/>
                <a:ea typeface="Calibri"/>
                <a:cs typeface="Calibri"/>
              </a:defRPr>
            </a:pPr>
            <a:r>
              <a:rPr sz="2100" b="0">
                <a:solidFill>
                  <a:srgbClr val="173D34"/>
                </a:solidFill>
                <a:latin typeface="Calibri"/>
                <a:ea typeface="Calibri"/>
                <a:cs typeface="Calibri"/>
              </a:rPr>
              <a:t>Spek sudah disepakati dan buyer mau lanjut ke tahap berikutnya.</a:t>
            </a:r>
          </a:p>
        </p:txBody>
      </p:sp>
      <p:sp>
        <p:nvSpPr>
          <p:cNvPr id="20" name="Straight Connector 19">
            <a:extLst>
              <a:ext uri="{FF2B5EF4-FFF2-40B4-BE49-F238E27FC236}">
                <a16:creationId xmlns:a16="http://schemas.microsoft.com/office/drawing/2014/main" id="{16E6E7B0-4E58-463E-9A2C-C2B3DD554956}"/>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1" name="text-266">
            <a:extLst>
              <a:ext uri="{FF2B5EF4-FFF2-40B4-BE49-F238E27FC236}">
                <a16:creationId xmlns:a16="http://schemas.microsoft.com/office/drawing/2014/main" id="{10345F26-1C87-4661-9A4C-910AB1B13FD8}"/>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Kalau buktinya belum cukup, perbaiki tesnya dulu sebelum menambah komitmen.</a:t>
            </a:r>
          </a:p>
        </p:txBody>
      </p:sp>
      <p:sp>
        <p:nvSpPr>
          <p:cNvPr id="22" name="text-267">
            <a:extLst>
              <a:ext uri="{FF2B5EF4-FFF2-40B4-BE49-F238E27FC236}">
                <a16:creationId xmlns:a16="http://schemas.microsoft.com/office/drawing/2014/main" id="{D4A674F2-0F38-4457-95A8-7055CDEF2485}"/>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Contoh rencana tes. Sumber: Modul 1 CMC dan Strategyzer.</a:t>
            </a:r>
          </a:p>
        </p:txBody>
      </p:sp>
    </p:spTree>
    <p:extLst>
      <p:ext uri="{BB962C8B-B14F-4D97-AF65-F5344CB8AC3E}">
        <p14:creationId xmlns:p14="http://schemas.microsoft.com/office/powerpoint/2010/main" val="1946379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D119C7D-380A-4668-B1FC-75667A870955}"/>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8" name="Picture 27"/>
          <p:cNvPicPr>
            <a:picLocks noChangeAspect="1"/>
          </p:cNvPicPr>
          <p:nvPr/>
        </p:nvPicPr>
        <p:blipFill>
          <a:blip r:embed="rId4"/>
          <a:stretch/>
        </p:blipFill>
        <p:spPr>
          <a:xfrm>
            <a:off x="10591800" y="245339"/>
            <a:ext cx="1028700" cy="385621"/>
          </a:xfrm>
          <a:prstGeom prst="rect">
            <a:avLst/>
          </a:prstGeom>
        </p:spPr>
      </p:pic>
      <p:sp>
        <p:nvSpPr>
          <p:cNvPr id="4" name="text-268">
            <a:extLst>
              <a:ext uri="{FF2B5EF4-FFF2-40B4-BE49-F238E27FC236}">
                <a16:creationId xmlns:a16="http://schemas.microsoft.com/office/drawing/2014/main" id="{77B56204-3542-47A9-B0E9-91915EE145DD}"/>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SEBERAPA KUAT BUKTINYA</a:t>
            </a:r>
          </a:p>
        </p:txBody>
      </p:sp>
      <p:sp>
        <p:nvSpPr>
          <p:cNvPr id="5" name="text-269">
            <a:extLst>
              <a:ext uri="{FF2B5EF4-FFF2-40B4-BE49-F238E27FC236}">
                <a16:creationId xmlns:a16="http://schemas.microsoft.com/office/drawing/2014/main" id="{F19F2506-5ADE-4B99-ACD2-5560FC99EFEC}"/>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Makin konkret komitmen buyer, makin kuat buktinya</a:t>
            </a:r>
          </a:p>
        </p:txBody>
      </p:sp>
      <p:sp>
        <p:nvSpPr>
          <p:cNvPr id="6" name="text-270">
            <a:extLst>
              <a:ext uri="{FF2B5EF4-FFF2-40B4-BE49-F238E27FC236}">
                <a16:creationId xmlns:a16="http://schemas.microsoft.com/office/drawing/2014/main" id="{3CC33D9B-AB29-434B-A7B0-98097CBF69A9}"/>
              </a:ext>
            </a:extLst>
          </p:cNvPr>
          <p:cNvSpPr>
            <a:spLocks noGrp="1"/>
          </p:cNvSpPr>
          <p:nvPr/>
        </p:nvSpPr>
        <p:spPr>
          <a:xfrm>
            <a:off x="571500" y="1307592"/>
            <a:ext cx="11049000" cy="365760"/>
          </a:xfrm>
          <a:prstGeom prst="rect">
            <a:avLst/>
          </a:prstGeom>
          <a:noFill/>
          <a:ln w="0">
            <a:noFill/>
          </a:ln>
        </p:spPr>
        <p:txBody>
          <a:bodyPr wrap="square" lIns="0" tIns="0" rIns="0" bIns="0" anchor="t">
            <a:noAutofit/>
          </a:bodyPr>
          <a:lstStyle/>
          <a:p>
            <a:pPr>
              <a:defRPr sz="1800" b="0">
                <a:solidFill>
                  <a:srgbClr val="5B7169"/>
                </a:solidFill>
                <a:latin typeface="Calibri"/>
                <a:ea typeface="Calibri"/>
                <a:cs typeface="Calibri"/>
              </a:defRPr>
            </a:pPr>
            <a:r>
              <a:rPr sz="1800" b="0">
                <a:solidFill>
                  <a:srgbClr val="5B7169"/>
                </a:solidFill>
                <a:latin typeface="Calibri"/>
                <a:ea typeface="Calibri"/>
                <a:cs typeface="Calibri"/>
              </a:rPr>
              <a:t>Pujian, feedback, dan permintaan penawaran punya bobot bukti yang beda-beda.</a:t>
            </a:r>
          </a:p>
        </p:txBody>
      </p:sp>
      <p:sp>
        <p:nvSpPr>
          <p:cNvPr id="7" name="text-271">
            <a:extLst>
              <a:ext uri="{FF2B5EF4-FFF2-40B4-BE49-F238E27FC236}">
                <a16:creationId xmlns:a16="http://schemas.microsoft.com/office/drawing/2014/main" id="{889C4CAE-01BD-4051-B834-B0113FDB50AF}"/>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8" name="text-272">
            <a:extLst>
              <a:ext uri="{FF2B5EF4-FFF2-40B4-BE49-F238E27FC236}">
                <a16:creationId xmlns:a16="http://schemas.microsoft.com/office/drawing/2014/main" id="{AD53A0A2-B939-4CCA-BE91-FA295F0B86F5}"/>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18</a:t>
            </a:r>
          </a:p>
        </p:txBody>
      </p:sp>
      <p:sp>
        <p:nvSpPr>
          <p:cNvPr id="9" name="Straight Connector 8">
            <a:extLst>
              <a:ext uri="{FF2B5EF4-FFF2-40B4-BE49-F238E27FC236}">
                <a16:creationId xmlns:a16="http://schemas.microsoft.com/office/drawing/2014/main" id="{9750998C-F586-45DC-B6E7-FA93554873B6}"/>
              </a:ext>
            </a:extLst>
          </p:cNvPr>
          <p:cNvSpPr>
            <a:spLocks noGrp="1"/>
          </p:cNvSpPr>
          <p:nvPr/>
        </p:nvSpPr>
        <p:spPr>
          <a:xfrm>
            <a:off x="571500" y="4810125"/>
            <a:ext cx="2498141" cy="0"/>
          </a:xfrm>
          <a:prstGeom prst="line">
            <a:avLst/>
          </a:prstGeom>
          <a:noFill/>
          <a:ln w="47625">
            <a:solidFill>
              <a:srgbClr val="9AB6A5"/>
            </a:solidFill>
          </a:ln>
        </p:spPr>
        <p:txBody>
          <a:bodyPr/>
          <a:lstStyle/>
          <a:p>
            <a:endParaRPr/>
          </a:p>
        </p:txBody>
      </p:sp>
      <p:sp>
        <p:nvSpPr>
          <p:cNvPr id="10" name="text-273">
            <a:extLst>
              <a:ext uri="{FF2B5EF4-FFF2-40B4-BE49-F238E27FC236}">
                <a16:creationId xmlns:a16="http://schemas.microsoft.com/office/drawing/2014/main" id="{36AFE36E-F22E-4365-ACEE-8BF94E0E9B92}"/>
              </a:ext>
            </a:extLst>
          </p:cNvPr>
          <p:cNvSpPr>
            <a:spLocks noGrp="1"/>
          </p:cNvSpPr>
          <p:nvPr/>
        </p:nvSpPr>
        <p:spPr>
          <a:xfrm>
            <a:off x="571500" y="4257675"/>
            <a:ext cx="2498141" cy="55245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Pujian</a:t>
            </a:r>
          </a:p>
        </p:txBody>
      </p:sp>
      <p:sp>
        <p:nvSpPr>
          <p:cNvPr id="11" name="text-274">
            <a:extLst>
              <a:ext uri="{FF2B5EF4-FFF2-40B4-BE49-F238E27FC236}">
                <a16:creationId xmlns:a16="http://schemas.microsoft.com/office/drawing/2014/main" id="{297E47DD-B990-4001-BD28-DF01A113A5AF}"/>
              </a:ext>
            </a:extLst>
          </p:cNvPr>
          <p:cNvSpPr>
            <a:spLocks noGrp="1"/>
          </p:cNvSpPr>
          <p:nvPr/>
        </p:nvSpPr>
        <p:spPr>
          <a:xfrm>
            <a:off x="571500" y="5057775"/>
            <a:ext cx="2498141" cy="895350"/>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a:solidFill>
                  <a:srgbClr val="173D34"/>
                </a:solidFill>
                <a:latin typeface="Calibri"/>
                <a:ea typeface="Calibri"/>
                <a:cs typeface="Calibri"/>
              </a:rPr>
              <a:t>“Bagus produknya.”</a:t>
            </a:r>
          </a:p>
        </p:txBody>
      </p:sp>
      <p:sp>
        <p:nvSpPr>
          <p:cNvPr id="12" name="Straight Connector 11">
            <a:extLst>
              <a:ext uri="{FF2B5EF4-FFF2-40B4-BE49-F238E27FC236}">
                <a16:creationId xmlns:a16="http://schemas.microsoft.com/office/drawing/2014/main" id="{0565D1D2-1BB4-4B1F-8FFE-31F2787937A3}"/>
              </a:ext>
            </a:extLst>
          </p:cNvPr>
          <p:cNvSpPr>
            <a:spLocks noGrp="1"/>
          </p:cNvSpPr>
          <p:nvPr/>
        </p:nvSpPr>
        <p:spPr>
          <a:xfrm>
            <a:off x="3245663" y="4133850"/>
            <a:ext cx="0" cy="676275"/>
          </a:xfrm>
          <a:prstGeom prst="line">
            <a:avLst/>
          </a:prstGeom>
          <a:noFill/>
          <a:ln w="19050">
            <a:solidFill>
              <a:srgbClr val="CEDDD4"/>
            </a:solidFill>
          </a:ln>
        </p:spPr>
        <p:txBody>
          <a:bodyPr/>
          <a:lstStyle/>
          <a:p>
            <a:endParaRPr/>
          </a:p>
        </p:txBody>
      </p:sp>
      <p:sp>
        <p:nvSpPr>
          <p:cNvPr id="13" name="Straight Connector 12">
            <a:extLst>
              <a:ext uri="{FF2B5EF4-FFF2-40B4-BE49-F238E27FC236}">
                <a16:creationId xmlns:a16="http://schemas.microsoft.com/office/drawing/2014/main" id="{4E7F5049-09FB-4C5C-97DE-B1B1B4084A17}"/>
              </a:ext>
            </a:extLst>
          </p:cNvPr>
          <p:cNvSpPr>
            <a:spLocks noGrp="1"/>
          </p:cNvSpPr>
          <p:nvPr/>
        </p:nvSpPr>
        <p:spPr>
          <a:xfrm>
            <a:off x="3421685" y="4133850"/>
            <a:ext cx="2498141" cy="0"/>
          </a:xfrm>
          <a:prstGeom prst="line">
            <a:avLst/>
          </a:prstGeom>
          <a:noFill/>
          <a:ln w="47625">
            <a:solidFill>
              <a:srgbClr val="9AB6A5"/>
            </a:solidFill>
          </a:ln>
        </p:spPr>
        <p:txBody>
          <a:bodyPr/>
          <a:lstStyle/>
          <a:p>
            <a:endParaRPr/>
          </a:p>
        </p:txBody>
      </p:sp>
      <p:sp>
        <p:nvSpPr>
          <p:cNvPr id="14" name="text-275">
            <a:extLst>
              <a:ext uri="{FF2B5EF4-FFF2-40B4-BE49-F238E27FC236}">
                <a16:creationId xmlns:a16="http://schemas.microsoft.com/office/drawing/2014/main" id="{40E406F9-1209-45FD-BF89-DA250435193D}"/>
              </a:ext>
            </a:extLst>
          </p:cNvPr>
          <p:cNvSpPr>
            <a:spLocks noGrp="1"/>
          </p:cNvSpPr>
          <p:nvPr/>
        </p:nvSpPr>
        <p:spPr>
          <a:xfrm>
            <a:off x="3421685" y="3581400"/>
            <a:ext cx="2498141" cy="55245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Kebutuhan jelas</a:t>
            </a:r>
          </a:p>
        </p:txBody>
      </p:sp>
      <p:sp>
        <p:nvSpPr>
          <p:cNvPr id="15" name="text-276">
            <a:extLst>
              <a:ext uri="{FF2B5EF4-FFF2-40B4-BE49-F238E27FC236}">
                <a16:creationId xmlns:a16="http://schemas.microsoft.com/office/drawing/2014/main" id="{51A60006-4AA4-431C-89E1-144289E4740E}"/>
              </a:ext>
            </a:extLst>
          </p:cNvPr>
          <p:cNvSpPr>
            <a:spLocks noGrp="1"/>
          </p:cNvSpPr>
          <p:nvPr/>
        </p:nvSpPr>
        <p:spPr>
          <a:xfrm>
            <a:off x="3421685" y="4381500"/>
            <a:ext cx="2498141" cy="895350"/>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a:solidFill>
                  <a:srgbClr val="173D34"/>
                </a:solidFill>
                <a:latin typeface="Calibri"/>
                <a:ea typeface="Calibri"/>
                <a:cs typeface="Calibri"/>
              </a:rPr>
              <a:t>Ukuran, volume,</a:t>
            </a:r>
          </a:p>
          <a:p>
            <a:pPr>
              <a:defRPr sz="1875" b="0">
                <a:solidFill>
                  <a:srgbClr val="173D34"/>
                </a:solidFill>
                <a:latin typeface="Calibri"/>
                <a:ea typeface="Calibri"/>
                <a:cs typeface="Calibri"/>
              </a:defRPr>
            </a:pPr>
            <a:r>
              <a:rPr sz="1875" b="0">
                <a:solidFill>
                  <a:srgbClr val="173D34"/>
                </a:solidFill>
                <a:latin typeface="Calibri"/>
                <a:ea typeface="Calibri"/>
                <a:cs typeface="Calibri"/>
              </a:rPr>
              <a:t>dan kegunaannya.</a:t>
            </a:r>
          </a:p>
        </p:txBody>
      </p:sp>
      <p:sp>
        <p:nvSpPr>
          <p:cNvPr id="16" name="Straight Connector 15">
            <a:extLst>
              <a:ext uri="{FF2B5EF4-FFF2-40B4-BE49-F238E27FC236}">
                <a16:creationId xmlns:a16="http://schemas.microsoft.com/office/drawing/2014/main" id="{12AFA800-6274-4372-AC9B-1613B7D8952A}"/>
              </a:ext>
            </a:extLst>
          </p:cNvPr>
          <p:cNvSpPr>
            <a:spLocks noGrp="1"/>
          </p:cNvSpPr>
          <p:nvPr/>
        </p:nvSpPr>
        <p:spPr>
          <a:xfrm>
            <a:off x="6095848" y="3457575"/>
            <a:ext cx="0" cy="676275"/>
          </a:xfrm>
          <a:prstGeom prst="line">
            <a:avLst/>
          </a:prstGeom>
          <a:noFill/>
          <a:ln w="19050">
            <a:solidFill>
              <a:srgbClr val="CEDDD4"/>
            </a:solidFill>
          </a:ln>
        </p:spPr>
        <p:txBody>
          <a:bodyPr/>
          <a:lstStyle/>
          <a:p>
            <a:endParaRPr/>
          </a:p>
        </p:txBody>
      </p:sp>
      <p:sp>
        <p:nvSpPr>
          <p:cNvPr id="17" name="Straight Connector 16">
            <a:extLst>
              <a:ext uri="{FF2B5EF4-FFF2-40B4-BE49-F238E27FC236}">
                <a16:creationId xmlns:a16="http://schemas.microsoft.com/office/drawing/2014/main" id="{5A7A33F8-AF0A-47A8-A276-5109DD53250A}"/>
              </a:ext>
            </a:extLst>
          </p:cNvPr>
          <p:cNvSpPr>
            <a:spLocks noGrp="1"/>
          </p:cNvSpPr>
          <p:nvPr/>
        </p:nvSpPr>
        <p:spPr>
          <a:xfrm>
            <a:off x="6271870" y="3457575"/>
            <a:ext cx="2498141" cy="0"/>
          </a:xfrm>
          <a:prstGeom prst="line">
            <a:avLst/>
          </a:prstGeom>
          <a:noFill/>
          <a:ln w="47625">
            <a:solidFill>
              <a:srgbClr val="9AB6A5"/>
            </a:solidFill>
          </a:ln>
        </p:spPr>
        <p:txBody>
          <a:bodyPr/>
          <a:lstStyle/>
          <a:p>
            <a:endParaRPr/>
          </a:p>
        </p:txBody>
      </p:sp>
      <p:sp>
        <p:nvSpPr>
          <p:cNvPr id="18" name="text-277">
            <a:extLst>
              <a:ext uri="{FF2B5EF4-FFF2-40B4-BE49-F238E27FC236}">
                <a16:creationId xmlns:a16="http://schemas.microsoft.com/office/drawing/2014/main" id="{701E7FA6-409B-45E4-80C7-E05D350BAAF9}"/>
              </a:ext>
            </a:extLst>
          </p:cNvPr>
          <p:cNvSpPr>
            <a:spLocks noGrp="1"/>
          </p:cNvSpPr>
          <p:nvPr/>
        </p:nvSpPr>
        <p:spPr>
          <a:xfrm>
            <a:off x="6271870" y="2905125"/>
            <a:ext cx="2498141" cy="55245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Feedback sampel</a:t>
            </a:r>
          </a:p>
        </p:txBody>
      </p:sp>
      <p:sp>
        <p:nvSpPr>
          <p:cNvPr id="19" name="text-278">
            <a:extLst>
              <a:ext uri="{FF2B5EF4-FFF2-40B4-BE49-F238E27FC236}">
                <a16:creationId xmlns:a16="http://schemas.microsoft.com/office/drawing/2014/main" id="{E2C3AD21-D490-49B9-B478-E041CFDF50B0}"/>
              </a:ext>
            </a:extLst>
          </p:cNvPr>
          <p:cNvSpPr>
            <a:spLocks noGrp="1"/>
          </p:cNvSpPr>
          <p:nvPr/>
        </p:nvSpPr>
        <p:spPr>
          <a:xfrm>
            <a:off x="6271870" y="3705225"/>
            <a:ext cx="2498141" cy="895350"/>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a:solidFill>
                  <a:srgbClr val="173D34"/>
                </a:solidFill>
                <a:latin typeface="Calibri"/>
                <a:ea typeface="Calibri"/>
                <a:cs typeface="Calibri"/>
              </a:rPr>
              <a:t>Komentar spesifik</a:t>
            </a:r>
          </a:p>
          <a:p>
            <a:pPr>
              <a:defRPr sz="1875" b="0">
                <a:solidFill>
                  <a:srgbClr val="173D34"/>
                </a:solidFill>
                <a:latin typeface="Calibri"/>
                <a:ea typeface="Calibri"/>
                <a:cs typeface="Calibri"/>
              </a:defRPr>
            </a:pPr>
            <a:r>
              <a:rPr sz="1875" b="0">
                <a:solidFill>
                  <a:srgbClr val="173D34"/>
                </a:solidFill>
                <a:latin typeface="Calibri"/>
                <a:ea typeface="Calibri"/>
                <a:cs typeface="Calibri"/>
              </a:rPr>
              <a:t>tentang sampel kita.</a:t>
            </a:r>
          </a:p>
        </p:txBody>
      </p:sp>
      <p:sp>
        <p:nvSpPr>
          <p:cNvPr id="20" name="Straight Connector 19">
            <a:extLst>
              <a:ext uri="{FF2B5EF4-FFF2-40B4-BE49-F238E27FC236}">
                <a16:creationId xmlns:a16="http://schemas.microsoft.com/office/drawing/2014/main" id="{77089DC6-E643-47A8-9477-21F4F7C74063}"/>
              </a:ext>
            </a:extLst>
          </p:cNvPr>
          <p:cNvSpPr>
            <a:spLocks noGrp="1"/>
          </p:cNvSpPr>
          <p:nvPr/>
        </p:nvSpPr>
        <p:spPr>
          <a:xfrm>
            <a:off x="8946032" y="2781300"/>
            <a:ext cx="0" cy="676275"/>
          </a:xfrm>
          <a:prstGeom prst="line">
            <a:avLst/>
          </a:prstGeom>
          <a:noFill/>
          <a:ln w="19050">
            <a:solidFill>
              <a:srgbClr val="CEDDD4"/>
            </a:solidFill>
          </a:ln>
        </p:spPr>
        <p:txBody>
          <a:bodyPr/>
          <a:lstStyle/>
          <a:p>
            <a:endParaRPr/>
          </a:p>
        </p:txBody>
      </p:sp>
      <p:sp>
        <p:nvSpPr>
          <p:cNvPr id="21" name="Straight Connector 20">
            <a:extLst>
              <a:ext uri="{FF2B5EF4-FFF2-40B4-BE49-F238E27FC236}">
                <a16:creationId xmlns:a16="http://schemas.microsoft.com/office/drawing/2014/main" id="{7EE69BF0-7FE7-484E-94E2-5FCBF656DCD8}"/>
              </a:ext>
            </a:extLst>
          </p:cNvPr>
          <p:cNvSpPr>
            <a:spLocks noGrp="1"/>
          </p:cNvSpPr>
          <p:nvPr/>
        </p:nvSpPr>
        <p:spPr>
          <a:xfrm>
            <a:off x="9122054" y="2781300"/>
            <a:ext cx="2498141" cy="0"/>
          </a:xfrm>
          <a:prstGeom prst="line">
            <a:avLst/>
          </a:prstGeom>
          <a:noFill/>
          <a:ln w="47625">
            <a:solidFill>
              <a:srgbClr val="087958"/>
            </a:solidFill>
          </a:ln>
        </p:spPr>
        <p:txBody>
          <a:bodyPr/>
          <a:lstStyle/>
          <a:p>
            <a:endParaRPr/>
          </a:p>
        </p:txBody>
      </p:sp>
      <p:sp>
        <p:nvSpPr>
          <p:cNvPr id="22" name="text-279">
            <a:extLst>
              <a:ext uri="{FF2B5EF4-FFF2-40B4-BE49-F238E27FC236}">
                <a16:creationId xmlns:a16="http://schemas.microsoft.com/office/drawing/2014/main" id="{FA31C773-F8C4-4EEA-A0DB-DE1DB0B61DC7}"/>
              </a:ext>
            </a:extLst>
          </p:cNvPr>
          <p:cNvSpPr>
            <a:spLocks noGrp="1"/>
          </p:cNvSpPr>
          <p:nvPr/>
        </p:nvSpPr>
        <p:spPr>
          <a:xfrm>
            <a:off x="9122054" y="2228850"/>
            <a:ext cx="2498141" cy="552450"/>
          </a:xfrm>
          <a:prstGeom prst="rect">
            <a:avLst/>
          </a:prstGeom>
          <a:noFill/>
          <a:ln w="0">
            <a:noFill/>
          </a:ln>
        </p:spPr>
        <p:txBody>
          <a:bodyPr wrap="square" lIns="0" tIns="0" rIns="0" bIns="0" anchor="t">
            <a:noAutofit/>
          </a:bodyPr>
          <a:lstStyle/>
          <a:p>
            <a:pPr>
              <a:defRPr sz="2175" b="1">
                <a:solidFill>
                  <a:srgbClr val="087958"/>
                </a:solidFill>
                <a:latin typeface="Calibri"/>
                <a:ea typeface="Calibri"/>
                <a:cs typeface="Calibri"/>
              </a:defRPr>
            </a:pPr>
            <a:r>
              <a:rPr sz="2175" b="1">
                <a:solidFill>
                  <a:srgbClr val="087958"/>
                </a:solidFill>
                <a:latin typeface="Calibri"/>
                <a:ea typeface="Calibri"/>
                <a:cs typeface="Calibri"/>
              </a:rPr>
              <a:t>Langkah komersial</a:t>
            </a:r>
          </a:p>
        </p:txBody>
      </p:sp>
      <p:sp>
        <p:nvSpPr>
          <p:cNvPr id="23" name="text-280">
            <a:extLst>
              <a:ext uri="{FF2B5EF4-FFF2-40B4-BE49-F238E27FC236}">
                <a16:creationId xmlns:a16="http://schemas.microsoft.com/office/drawing/2014/main" id="{EF7FC345-FE80-4D32-9A39-F294442C37C0}"/>
              </a:ext>
            </a:extLst>
          </p:cNvPr>
          <p:cNvSpPr>
            <a:spLocks noGrp="1"/>
          </p:cNvSpPr>
          <p:nvPr/>
        </p:nvSpPr>
        <p:spPr>
          <a:xfrm>
            <a:off x="9122054" y="3028950"/>
            <a:ext cx="2498141" cy="895350"/>
          </a:xfrm>
          <a:prstGeom prst="rect">
            <a:avLst/>
          </a:prstGeom>
          <a:noFill/>
          <a:ln w="0">
            <a:noFill/>
          </a:ln>
        </p:spPr>
        <p:txBody>
          <a:bodyPr wrap="square" lIns="0" tIns="0" rIns="0" bIns="0" anchor="t">
            <a:noAutofit/>
          </a:bodyPr>
          <a:lstStyle/>
          <a:p>
            <a:pPr>
              <a:defRPr sz="1875" b="0">
                <a:solidFill>
                  <a:srgbClr val="173D34"/>
                </a:solidFill>
                <a:latin typeface="Calibri"/>
                <a:ea typeface="Calibri"/>
                <a:cs typeface="Calibri"/>
              </a:defRPr>
            </a:pPr>
            <a:r>
              <a:rPr sz="1875" b="0">
                <a:solidFill>
                  <a:srgbClr val="173D34"/>
                </a:solidFill>
                <a:latin typeface="Calibri"/>
                <a:ea typeface="Calibri"/>
                <a:cs typeface="Calibri"/>
              </a:rPr>
              <a:t>Minta penawaran</a:t>
            </a:r>
          </a:p>
          <a:p>
            <a:pPr>
              <a:defRPr sz="1875" b="0">
                <a:solidFill>
                  <a:srgbClr val="173D34"/>
                </a:solidFill>
                <a:latin typeface="Calibri"/>
                <a:ea typeface="Calibri"/>
                <a:cs typeface="Calibri"/>
              </a:defRPr>
            </a:pPr>
            <a:r>
              <a:rPr sz="1875" b="0">
                <a:solidFill>
                  <a:srgbClr val="173D34"/>
                </a:solidFill>
                <a:latin typeface="Calibri"/>
                <a:ea typeface="Calibri"/>
                <a:cs typeface="Calibri"/>
              </a:rPr>
              <a:t>atau lanjut order.</a:t>
            </a:r>
          </a:p>
        </p:txBody>
      </p:sp>
      <p:sp>
        <p:nvSpPr>
          <p:cNvPr id="24" name="Straight Connector 23">
            <a:extLst>
              <a:ext uri="{FF2B5EF4-FFF2-40B4-BE49-F238E27FC236}">
                <a16:creationId xmlns:a16="http://schemas.microsoft.com/office/drawing/2014/main" id="{67AF6882-7539-41A5-BDBB-8C17AAACD05A}"/>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5" name="text-281">
            <a:extLst>
              <a:ext uri="{FF2B5EF4-FFF2-40B4-BE49-F238E27FC236}">
                <a16:creationId xmlns:a16="http://schemas.microsoft.com/office/drawing/2014/main" id="{AB62CB69-338B-4803-987B-347DAC71B43E}"/>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Respons positif belum tentu jadi order. Pastikan ada next step yang jelas.</a:t>
            </a:r>
          </a:p>
        </p:txBody>
      </p:sp>
    </p:spTree>
    <p:extLst>
      <p:ext uri="{BB962C8B-B14F-4D97-AF65-F5344CB8AC3E}">
        <p14:creationId xmlns:p14="http://schemas.microsoft.com/office/powerpoint/2010/main" val="1336273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65FABC0-1B3E-45F0-AA3C-C0D6CB3E532C}"/>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7" name="Picture 26"/>
          <p:cNvPicPr>
            <a:picLocks noChangeAspect="1"/>
          </p:cNvPicPr>
          <p:nvPr/>
        </p:nvPicPr>
        <p:blipFill>
          <a:blip r:embed="rId4"/>
          <a:stretch/>
        </p:blipFill>
        <p:spPr>
          <a:xfrm>
            <a:off x="10591800" y="245339"/>
            <a:ext cx="1028700" cy="385621"/>
          </a:xfrm>
          <a:prstGeom prst="rect">
            <a:avLst/>
          </a:prstGeom>
        </p:spPr>
      </p:pic>
      <p:sp>
        <p:nvSpPr>
          <p:cNvPr id="4" name="text-282">
            <a:extLst>
              <a:ext uri="{FF2B5EF4-FFF2-40B4-BE49-F238E27FC236}">
                <a16:creationId xmlns:a16="http://schemas.microsoft.com/office/drawing/2014/main" id="{93779F16-9F5B-4D67-9ABE-E0C8C6FAC585}"/>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PENGEMBANGAN FOUNDER</a:t>
            </a:r>
          </a:p>
        </p:txBody>
      </p:sp>
      <p:sp>
        <p:nvSpPr>
          <p:cNvPr id="5" name="text-283">
            <a:extLst>
              <a:ext uri="{FF2B5EF4-FFF2-40B4-BE49-F238E27FC236}">
                <a16:creationId xmlns:a16="http://schemas.microsoft.com/office/drawing/2014/main" id="{068E359B-2A69-46FF-9922-C2FB845E24B6}"/>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Pengalaman baru jadi skill kalau dievaluasi</a:t>
            </a:r>
          </a:p>
        </p:txBody>
      </p:sp>
      <p:sp>
        <p:nvSpPr>
          <p:cNvPr id="6" name="text-284">
            <a:extLst>
              <a:ext uri="{FF2B5EF4-FFF2-40B4-BE49-F238E27FC236}">
                <a16:creationId xmlns:a16="http://schemas.microsoft.com/office/drawing/2014/main" id="{4E9F0CAC-C407-4C6C-A518-A79BC705EF9A}"/>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285">
            <a:extLst>
              <a:ext uri="{FF2B5EF4-FFF2-40B4-BE49-F238E27FC236}">
                <a16:creationId xmlns:a16="http://schemas.microsoft.com/office/drawing/2014/main" id="{77393F5D-DBA2-451C-B1FD-8E0D71542520}"/>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19</a:t>
            </a:r>
          </a:p>
        </p:txBody>
      </p:sp>
      <p:sp>
        <p:nvSpPr>
          <p:cNvPr id="8" name="text-286">
            <a:extLst>
              <a:ext uri="{FF2B5EF4-FFF2-40B4-BE49-F238E27FC236}">
                <a16:creationId xmlns:a16="http://schemas.microsoft.com/office/drawing/2014/main" id="{91021DD7-40E1-44BC-88DF-0DCA5D74D9A1}"/>
              </a:ext>
            </a:extLst>
          </p:cNvPr>
          <p:cNvSpPr>
            <a:spLocks noGrp="1"/>
          </p:cNvSpPr>
          <p:nvPr/>
        </p:nvSpPr>
        <p:spPr>
          <a:xfrm>
            <a:off x="571500" y="2431237"/>
            <a:ext cx="4657725" cy="1609725"/>
          </a:xfrm>
          <a:prstGeom prst="rect">
            <a:avLst/>
          </a:prstGeom>
          <a:noFill/>
          <a:ln w="0">
            <a:noFill/>
          </a:ln>
        </p:spPr>
        <p:txBody>
          <a:bodyPr wrap="square" lIns="0" tIns="0" rIns="0" bIns="0" anchor="t">
            <a:noAutofit/>
          </a:bodyPr>
          <a:lstStyle/>
          <a:p>
            <a:pPr>
              <a:defRPr sz="3150" b="1">
                <a:solidFill>
                  <a:srgbClr val="087958"/>
                </a:solidFill>
                <a:latin typeface="Calibri"/>
                <a:ea typeface="Calibri"/>
                <a:cs typeface="Calibri"/>
              </a:defRPr>
            </a:pPr>
            <a:r>
              <a:rPr sz="3150" b="1">
                <a:solidFill>
                  <a:srgbClr val="087958"/>
                </a:solidFill>
                <a:latin typeface="Calibri"/>
                <a:ea typeface="Calibri"/>
                <a:cs typeface="Calibri"/>
              </a:rPr>
              <a:t>Ambil satu tantangan,</a:t>
            </a:r>
          </a:p>
          <a:p>
            <a:pPr>
              <a:defRPr sz="3150" b="1">
                <a:solidFill>
                  <a:srgbClr val="087958"/>
                </a:solidFill>
                <a:latin typeface="Calibri"/>
                <a:ea typeface="Calibri"/>
                <a:cs typeface="Calibri"/>
              </a:defRPr>
            </a:pPr>
            <a:r>
              <a:rPr sz="3150" b="1">
                <a:solidFill>
                  <a:srgbClr val="087958"/>
                </a:solidFill>
                <a:latin typeface="Calibri"/>
                <a:ea typeface="Calibri"/>
                <a:cs typeface="Calibri"/>
              </a:rPr>
              <a:t>minta masukan,</a:t>
            </a:r>
          </a:p>
          <a:p>
            <a:pPr>
              <a:defRPr sz="3150" b="1">
                <a:solidFill>
                  <a:srgbClr val="087958"/>
                </a:solidFill>
                <a:latin typeface="Calibri"/>
                <a:ea typeface="Calibri"/>
                <a:cs typeface="Calibri"/>
              </a:defRPr>
            </a:pPr>
            <a:r>
              <a:rPr sz="3150" b="1">
                <a:solidFill>
                  <a:srgbClr val="087958"/>
                </a:solidFill>
                <a:latin typeface="Calibri"/>
                <a:ea typeface="Calibri"/>
                <a:cs typeface="Calibri"/>
              </a:rPr>
              <a:t>lalu perbaiki.</a:t>
            </a:r>
          </a:p>
        </p:txBody>
      </p:sp>
      <p:sp>
        <p:nvSpPr>
          <p:cNvPr id="9" name="text-287">
            <a:extLst>
              <a:ext uri="{FF2B5EF4-FFF2-40B4-BE49-F238E27FC236}">
                <a16:creationId xmlns:a16="http://schemas.microsoft.com/office/drawing/2014/main" id="{E3B5752E-CAD4-4405-B163-0097A1800100}"/>
              </a:ext>
            </a:extLst>
          </p:cNvPr>
          <p:cNvSpPr>
            <a:spLocks noGrp="1"/>
          </p:cNvSpPr>
          <p:nvPr/>
        </p:nvSpPr>
        <p:spPr>
          <a:xfrm>
            <a:off x="571500" y="4526737"/>
            <a:ext cx="4524375" cy="838200"/>
          </a:xfrm>
          <a:prstGeom prst="rect">
            <a:avLst/>
          </a:prstGeom>
          <a:noFill/>
          <a:ln w="0">
            <a:noFill/>
          </a:ln>
        </p:spPr>
        <p:txBody>
          <a:bodyPr wrap="square" lIns="0" tIns="0" rIns="0" bIns="0" anchor="t">
            <a:noAutofit/>
          </a:bodyPr>
          <a:lstStyle/>
          <a:p>
            <a:pPr>
              <a:defRPr sz="2325" b="0">
                <a:solidFill>
                  <a:srgbClr val="173D34"/>
                </a:solidFill>
                <a:latin typeface="Calibri"/>
                <a:ea typeface="Calibri"/>
                <a:cs typeface="Calibri"/>
              </a:defRPr>
            </a:pPr>
            <a:r>
              <a:rPr sz="2325" b="0">
                <a:solidFill>
                  <a:srgbClr val="173D34"/>
                </a:solidFill>
                <a:latin typeface="Calibri"/>
                <a:ea typeface="Calibri"/>
                <a:cs typeface="Calibri"/>
              </a:rPr>
              <a:t>Ulangi terus sampai</a:t>
            </a:r>
          </a:p>
          <a:p>
            <a:pPr>
              <a:defRPr sz="2325" b="0">
                <a:solidFill>
                  <a:srgbClr val="173D34"/>
                </a:solidFill>
                <a:latin typeface="Calibri"/>
                <a:ea typeface="Calibri"/>
                <a:cs typeface="Calibri"/>
              </a:defRPr>
            </a:pPr>
            <a:r>
              <a:rPr sz="2325" b="0">
                <a:solidFill>
                  <a:srgbClr val="173D34"/>
                </a:solidFill>
                <a:latin typeface="Calibri"/>
                <a:ea typeface="Calibri"/>
                <a:cs typeface="Calibri"/>
              </a:rPr>
              <a:t>hasilnya makin baik.</a:t>
            </a:r>
          </a:p>
        </p:txBody>
      </p:sp>
      <p:sp>
        <p:nvSpPr>
          <p:cNvPr id="10" name="Straight Connector 9">
            <a:extLst>
              <a:ext uri="{FF2B5EF4-FFF2-40B4-BE49-F238E27FC236}">
                <a16:creationId xmlns:a16="http://schemas.microsoft.com/office/drawing/2014/main" id="{E63228AF-EA8F-4C2F-A77B-8485742427A6}"/>
              </a:ext>
            </a:extLst>
          </p:cNvPr>
          <p:cNvSpPr>
            <a:spLocks noGrp="1"/>
          </p:cNvSpPr>
          <p:nvPr/>
        </p:nvSpPr>
        <p:spPr>
          <a:xfrm>
            <a:off x="6238875" y="2306612"/>
            <a:ext cx="0" cy="2714625"/>
          </a:xfrm>
          <a:prstGeom prst="line">
            <a:avLst/>
          </a:prstGeom>
          <a:noFill/>
          <a:ln w="28575">
            <a:solidFill>
              <a:srgbClr val="9AB6A5"/>
            </a:solidFill>
          </a:ln>
        </p:spPr>
        <p:txBody>
          <a:bodyPr/>
          <a:lstStyle/>
          <a:p>
            <a:endParaRPr/>
          </a:p>
        </p:txBody>
      </p:sp>
      <p:sp>
        <p:nvSpPr>
          <p:cNvPr id="11" name="Oval 10">
            <a:extLst>
              <a:ext uri="{FF2B5EF4-FFF2-40B4-BE49-F238E27FC236}">
                <a16:creationId xmlns:a16="http://schemas.microsoft.com/office/drawing/2014/main" id="{A6E85F4F-B762-407A-96BD-AECD9C142C5F}"/>
              </a:ext>
            </a:extLst>
          </p:cNvPr>
          <p:cNvSpPr>
            <a:spLocks noGrp="1"/>
          </p:cNvSpPr>
          <p:nvPr/>
        </p:nvSpPr>
        <p:spPr>
          <a:xfrm>
            <a:off x="6153150" y="2220887"/>
            <a:ext cx="171450" cy="171450"/>
          </a:xfrm>
          <a:prstGeom prst="ellipse">
            <a:avLst/>
          </a:prstGeom>
          <a:solidFill>
            <a:srgbClr val="FFFFFF"/>
          </a:solidFill>
          <a:ln w="28575">
            <a:solidFill>
              <a:srgbClr val="087958"/>
            </a:solidFill>
          </a:ln>
        </p:spPr>
        <p:txBody>
          <a:bodyPr/>
          <a:lstStyle/>
          <a:p>
            <a:endParaRPr/>
          </a:p>
        </p:txBody>
      </p:sp>
      <p:sp>
        <p:nvSpPr>
          <p:cNvPr id="12" name="text-288">
            <a:extLst>
              <a:ext uri="{FF2B5EF4-FFF2-40B4-BE49-F238E27FC236}">
                <a16:creationId xmlns:a16="http://schemas.microsoft.com/office/drawing/2014/main" id="{407D9D39-55E8-4997-8400-A0E1880F7AA3}"/>
              </a:ext>
            </a:extLst>
          </p:cNvPr>
          <p:cNvSpPr>
            <a:spLocks noGrp="1"/>
          </p:cNvSpPr>
          <p:nvPr/>
        </p:nvSpPr>
        <p:spPr>
          <a:xfrm>
            <a:off x="6762750" y="2143125"/>
            <a:ext cx="4857750" cy="333375"/>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Challenge</a:t>
            </a:r>
          </a:p>
        </p:txBody>
      </p:sp>
      <p:sp>
        <p:nvSpPr>
          <p:cNvPr id="13" name="text-289">
            <a:extLst>
              <a:ext uri="{FF2B5EF4-FFF2-40B4-BE49-F238E27FC236}">
                <a16:creationId xmlns:a16="http://schemas.microsoft.com/office/drawing/2014/main" id="{6FE8FE3C-D567-4D9B-AC1C-D9542D4D144F}"/>
              </a:ext>
            </a:extLst>
          </p:cNvPr>
          <p:cNvSpPr>
            <a:spLocks noGrp="1"/>
          </p:cNvSpPr>
          <p:nvPr/>
        </p:nvSpPr>
        <p:spPr>
          <a:xfrm>
            <a:off x="6762750" y="2552700"/>
            <a:ext cx="4857750" cy="438150"/>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Pilih masalah yang paling relevan.</a:t>
            </a:r>
          </a:p>
        </p:txBody>
      </p:sp>
      <p:sp>
        <p:nvSpPr>
          <p:cNvPr id="14" name="Oval 13">
            <a:extLst>
              <a:ext uri="{FF2B5EF4-FFF2-40B4-BE49-F238E27FC236}">
                <a16:creationId xmlns:a16="http://schemas.microsoft.com/office/drawing/2014/main" id="{1ACADA85-3D3A-4B73-8337-7B764305AB3E}"/>
              </a:ext>
            </a:extLst>
          </p:cNvPr>
          <p:cNvSpPr>
            <a:spLocks noGrp="1"/>
          </p:cNvSpPr>
          <p:nvPr/>
        </p:nvSpPr>
        <p:spPr>
          <a:xfrm>
            <a:off x="6153150" y="3125762"/>
            <a:ext cx="171450" cy="171450"/>
          </a:xfrm>
          <a:prstGeom prst="ellipse">
            <a:avLst/>
          </a:prstGeom>
          <a:solidFill>
            <a:srgbClr val="FFFFFF"/>
          </a:solidFill>
          <a:ln w="28575">
            <a:solidFill>
              <a:srgbClr val="087958"/>
            </a:solidFill>
          </a:ln>
        </p:spPr>
        <p:txBody>
          <a:bodyPr/>
          <a:lstStyle/>
          <a:p>
            <a:endParaRPr/>
          </a:p>
        </p:txBody>
      </p:sp>
      <p:sp>
        <p:nvSpPr>
          <p:cNvPr id="15" name="text-290">
            <a:extLst>
              <a:ext uri="{FF2B5EF4-FFF2-40B4-BE49-F238E27FC236}">
                <a16:creationId xmlns:a16="http://schemas.microsoft.com/office/drawing/2014/main" id="{473449BE-5CB3-41F5-8B38-1814757F6D6B}"/>
              </a:ext>
            </a:extLst>
          </p:cNvPr>
          <p:cNvSpPr>
            <a:spLocks noGrp="1"/>
          </p:cNvSpPr>
          <p:nvPr/>
        </p:nvSpPr>
        <p:spPr>
          <a:xfrm>
            <a:off x="6762750" y="3048000"/>
            <a:ext cx="4857750" cy="333375"/>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Coaching</a:t>
            </a:r>
          </a:p>
        </p:txBody>
      </p:sp>
      <p:sp>
        <p:nvSpPr>
          <p:cNvPr id="16" name="text-291">
            <a:extLst>
              <a:ext uri="{FF2B5EF4-FFF2-40B4-BE49-F238E27FC236}">
                <a16:creationId xmlns:a16="http://schemas.microsoft.com/office/drawing/2014/main" id="{C385D474-5131-43D1-B358-1BD2FF03E855}"/>
              </a:ext>
            </a:extLst>
          </p:cNvPr>
          <p:cNvSpPr>
            <a:spLocks noGrp="1"/>
          </p:cNvSpPr>
          <p:nvPr/>
        </p:nvSpPr>
        <p:spPr>
          <a:xfrm>
            <a:off x="6762750" y="3457575"/>
            <a:ext cx="4857750" cy="438150"/>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Minta masukan dari orang yang tepat.</a:t>
            </a:r>
          </a:p>
        </p:txBody>
      </p:sp>
      <p:sp>
        <p:nvSpPr>
          <p:cNvPr id="17" name="Oval 16">
            <a:extLst>
              <a:ext uri="{FF2B5EF4-FFF2-40B4-BE49-F238E27FC236}">
                <a16:creationId xmlns:a16="http://schemas.microsoft.com/office/drawing/2014/main" id="{ACA55017-CD9A-4518-AEA2-119D505F041C}"/>
              </a:ext>
            </a:extLst>
          </p:cNvPr>
          <p:cNvSpPr>
            <a:spLocks noGrp="1"/>
          </p:cNvSpPr>
          <p:nvPr/>
        </p:nvSpPr>
        <p:spPr>
          <a:xfrm>
            <a:off x="6153150" y="4030637"/>
            <a:ext cx="171450" cy="171450"/>
          </a:xfrm>
          <a:prstGeom prst="ellipse">
            <a:avLst/>
          </a:prstGeom>
          <a:solidFill>
            <a:srgbClr val="FFFFFF"/>
          </a:solidFill>
          <a:ln w="28575">
            <a:solidFill>
              <a:srgbClr val="087958"/>
            </a:solidFill>
          </a:ln>
        </p:spPr>
        <p:txBody>
          <a:bodyPr/>
          <a:lstStyle/>
          <a:p>
            <a:endParaRPr/>
          </a:p>
        </p:txBody>
      </p:sp>
      <p:sp>
        <p:nvSpPr>
          <p:cNvPr id="18" name="text-292">
            <a:extLst>
              <a:ext uri="{FF2B5EF4-FFF2-40B4-BE49-F238E27FC236}">
                <a16:creationId xmlns:a16="http://schemas.microsoft.com/office/drawing/2014/main" id="{67E07C87-EAB7-47C7-8168-475F8850DB68}"/>
              </a:ext>
            </a:extLst>
          </p:cNvPr>
          <p:cNvSpPr>
            <a:spLocks noGrp="1"/>
          </p:cNvSpPr>
          <p:nvPr/>
        </p:nvSpPr>
        <p:spPr>
          <a:xfrm>
            <a:off x="6762750" y="3952875"/>
            <a:ext cx="4857750" cy="333375"/>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Progress</a:t>
            </a:r>
          </a:p>
        </p:txBody>
      </p:sp>
      <p:sp>
        <p:nvSpPr>
          <p:cNvPr id="19" name="text-293">
            <a:extLst>
              <a:ext uri="{FF2B5EF4-FFF2-40B4-BE49-F238E27FC236}">
                <a16:creationId xmlns:a16="http://schemas.microsoft.com/office/drawing/2014/main" id="{43A7E553-1A09-4E4A-9205-512BD7EF8E73}"/>
              </a:ext>
            </a:extLst>
          </p:cNvPr>
          <p:cNvSpPr>
            <a:spLocks noGrp="1"/>
          </p:cNvSpPr>
          <p:nvPr/>
        </p:nvSpPr>
        <p:spPr>
          <a:xfrm>
            <a:off x="6762750" y="4362450"/>
            <a:ext cx="4857750" cy="438150"/>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Catat apa yang berubah dan hasilnya.</a:t>
            </a:r>
          </a:p>
        </p:txBody>
      </p:sp>
      <p:sp>
        <p:nvSpPr>
          <p:cNvPr id="20" name="Oval 19">
            <a:extLst>
              <a:ext uri="{FF2B5EF4-FFF2-40B4-BE49-F238E27FC236}">
                <a16:creationId xmlns:a16="http://schemas.microsoft.com/office/drawing/2014/main" id="{44EB486B-6D8D-4113-8C74-E4DE03567210}"/>
              </a:ext>
            </a:extLst>
          </p:cNvPr>
          <p:cNvSpPr>
            <a:spLocks noGrp="1"/>
          </p:cNvSpPr>
          <p:nvPr/>
        </p:nvSpPr>
        <p:spPr>
          <a:xfrm>
            <a:off x="6153150" y="4935512"/>
            <a:ext cx="171450" cy="171450"/>
          </a:xfrm>
          <a:prstGeom prst="ellipse">
            <a:avLst/>
          </a:prstGeom>
          <a:solidFill>
            <a:srgbClr val="FFFFFF"/>
          </a:solidFill>
          <a:ln w="28575">
            <a:solidFill>
              <a:srgbClr val="087958"/>
            </a:solidFill>
          </a:ln>
        </p:spPr>
        <p:txBody>
          <a:bodyPr/>
          <a:lstStyle/>
          <a:p>
            <a:endParaRPr/>
          </a:p>
        </p:txBody>
      </p:sp>
      <p:sp>
        <p:nvSpPr>
          <p:cNvPr id="21" name="text-294">
            <a:extLst>
              <a:ext uri="{FF2B5EF4-FFF2-40B4-BE49-F238E27FC236}">
                <a16:creationId xmlns:a16="http://schemas.microsoft.com/office/drawing/2014/main" id="{0104C913-B0DD-4C98-BD21-017B6903082F}"/>
              </a:ext>
            </a:extLst>
          </p:cNvPr>
          <p:cNvSpPr>
            <a:spLocks noGrp="1"/>
          </p:cNvSpPr>
          <p:nvPr/>
        </p:nvSpPr>
        <p:spPr>
          <a:xfrm>
            <a:off x="6762750" y="4857750"/>
            <a:ext cx="4857750" cy="333375"/>
          </a:xfrm>
          <a:prstGeom prst="rect">
            <a:avLst/>
          </a:prstGeom>
          <a:noFill/>
          <a:ln w="0">
            <a:noFill/>
          </a:ln>
        </p:spPr>
        <p:txBody>
          <a:bodyPr wrap="square" lIns="0" tIns="0" rIns="0" bIns="0" anchor="t">
            <a:noAutofit/>
          </a:bodyPr>
          <a:lstStyle/>
          <a:p>
            <a:pPr>
              <a:defRPr sz="2100" b="1">
                <a:solidFill>
                  <a:srgbClr val="173D34"/>
                </a:solidFill>
                <a:latin typeface="Calibri"/>
                <a:ea typeface="Calibri"/>
                <a:cs typeface="Calibri"/>
              </a:defRPr>
            </a:pPr>
            <a:r>
              <a:rPr sz="2100" b="1">
                <a:solidFill>
                  <a:srgbClr val="173D34"/>
                </a:solidFill>
                <a:latin typeface="Calibri"/>
                <a:ea typeface="Calibri"/>
                <a:cs typeface="Calibri"/>
              </a:rPr>
              <a:t>Perseverance</a:t>
            </a:r>
          </a:p>
        </p:txBody>
      </p:sp>
      <p:sp>
        <p:nvSpPr>
          <p:cNvPr id="22" name="text-295">
            <a:extLst>
              <a:ext uri="{FF2B5EF4-FFF2-40B4-BE49-F238E27FC236}">
                <a16:creationId xmlns:a16="http://schemas.microsoft.com/office/drawing/2014/main" id="{79C072B3-B6D9-458E-A0DA-456CCB1D28BC}"/>
              </a:ext>
            </a:extLst>
          </p:cNvPr>
          <p:cNvSpPr>
            <a:spLocks noGrp="1"/>
          </p:cNvSpPr>
          <p:nvPr/>
        </p:nvSpPr>
        <p:spPr>
          <a:xfrm>
            <a:off x="6762750" y="5267325"/>
            <a:ext cx="4857750" cy="438150"/>
          </a:xfrm>
          <a:prstGeom prst="rect">
            <a:avLst/>
          </a:prstGeom>
          <a:noFill/>
          <a:ln w="0">
            <a:noFill/>
          </a:ln>
        </p:spPr>
        <p:txBody>
          <a:bodyPr wrap="square" lIns="0" tIns="0" rIns="0" bIns="0" anchor="t">
            <a:noAutofit/>
          </a:bodyPr>
          <a:lstStyle/>
          <a:p>
            <a:pPr>
              <a:defRPr sz="1875" b="0">
                <a:solidFill>
                  <a:srgbClr val="5B7169"/>
                </a:solidFill>
                <a:latin typeface="Calibri"/>
                <a:ea typeface="Calibri"/>
                <a:cs typeface="Calibri"/>
              </a:defRPr>
            </a:pPr>
            <a:r>
              <a:rPr sz="1875" b="0">
                <a:solidFill>
                  <a:srgbClr val="5B7169"/>
                </a:solidFill>
                <a:latin typeface="Calibri"/>
                <a:ea typeface="Calibri"/>
                <a:cs typeface="Calibri"/>
              </a:rPr>
              <a:t>Konsisten, jangan berhenti di tengah.</a:t>
            </a:r>
          </a:p>
        </p:txBody>
      </p:sp>
      <p:sp>
        <p:nvSpPr>
          <p:cNvPr id="23" name="Straight Connector 22">
            <a:extLst>
              <a:ext uri="{FF2B5EF4-FFF2-40B4-BE49-F238E27FC236}">
                <a16:creationId xmlns:a16="http://schemas.microsoft.com/office/drawing/2014/main" id="{2AA32E95-CEF5-4C75-AD22-4F807F56FC8D}"/>
              </a:ext>
            </a:extLst>
          </p:cNvPr>
          <p:cNvSpPr>
            <a:spLocks noGrp="1"/>
          </p:cNvSpPr>
          <p:nvPr/>
        </p:nvSpPr>
        <p:spPr>
          <a:xfrm>
            <a:off x="571500" y="5924550"/>
            <a:ext cx="11049000" cy="0"/>
          </a:xfrm>
          <a:prstGeom prst="line">
            <a:avLst/>
          </a:prstGeom>
          <a:noFill/>
          <a:ln w="9525">
            <a:solidFill>
              <a:srgbClr val="CEDDD4"/>
            </a:solidFill>
          </a:ln>
        </p:spPr>
        <p:txBody>
          <a:bodyPr/>
          <a:lstStyle/>
          <a:p>
            <a:endParaRPr/>
          </a:p>
        </p:txBody>
      </p:sp>
      <p:sp>
        <p:nvSpPr>
          <p:cNvPr id="24" name="text-296">
            <a:extLst>
              <a:ext uri="{FF2B5EF4-FFF2-40B4-BE49-F238E27FC236}">
                <a16:creationId xmlns:a16="http://schemas.microsoft.com/office/drawing/2014/main" id="{AFDA880D-D23A-4367-BF1A-BEB9B9DCB2E4}"/>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087958"/>
                </a:solidFill>
                <a:latin typeface="Calibri"/>
                <a:ea typeface="Calibri"/>
                <a:cs typeface="Calibri"/>
              </a:defRPr>
            </a:pPr>
            <a:r>
              <a:rPr sz="1725" b="1">
                <a:solidFill>
                  <a:srgbClr val="087958"/>
                </a:solidFill>
                <a:latin typeface="Calibri"/>
                <a:ea typeface="Calibri"/>
                <a:cs typeface="Calibri"/>
              </a:rPr>
              <a:t>Gigih saja tidak cukup. Feedback-nya juga harus dipakai untuk mengubah cara kerja.</a:t>
            </a:r>
          </a:p>
        </p:txBody>
      </p:sp>
    </p:spTree>
    <p:extLst>
      <p:ext uri="{BB962C8B-B14F-4D97-AF65-F5344CB8AC3E}">
        <p14:creationId xmlns:p14="http://schemas.microsoft.com/office/powerpoint/2010/main" val="1878809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0DC4C11-F46D-4792-B3BF-C81E88C8B988}"/>
              </a:ext>
            </a:extLst>
          </p:cNvPr>
          <p:cNvSpPr>
            <a:spLocks noGrp="1"/>
          </p:cNvSpPr>
          <p:nvPr/>
        </p:nvSpPr>
        <p:spPr>
          <a:xfrm>
            <a:off x="0" y="0"/>
            <a:ext cx="12192000" cy="6591300"/>
          </a:xfrm>
          <a:prstGeom prst="rect">
            <a:avLst/>
          </a:prstGeom>
          <a:solidFill>
            <a:srgbClr val="FFFFFF"/>
          </a:solidFill>
          <a:ln w="0">
            <a:noFill/>
          </a:ln>
        </p:spPr>
        <p:txBody>
          <a:bodyPr/>
          <a:lstStyle/>
          <a:p>
            <a:endParaRPr/>
          </a:p>
        </p:txBody>
      </p:sp>
      <p:pic>
        <p:nvPicPr>
          <p:cNvPr id="23" name="Picture 22"/>
          <p:cNvPicPr>
            <a:picLocks noChangeAspect="1"/>
          </p:cNvPicPr>
          <p:nvPr/>
        </p:nvPicPr>
        <p:blipFill>
          <a:blip r:embed="rId4"/>
          <a:stretch/>
        </p:blipFill>
        <p:spPr>
          <a:xfrm>
            <a:off x="10591800" y="245339"/>
            <a:ext cx="1028700" cy="385621"/>
          </a:xfrm>
          <a:prstGeom prst="rect">
            <a:avLst/>
          </a:prstGeom>
        </p:spPr>
      </p:pic>
      <p:sp>
        <p:nvSpPr>
          <p:cNvPr id="4" name="text-297">
            <a:extLst>
              <a:ext uri="{FF2B5EF4-FFF2-40B4-BE49-F238E27FC236}">
                <a16:creationId xmlns:a16="http://schemas.microsoft.com/office/drawing/2014/main" id="{1797BD3C-0F97-4A98-9090-41C3F770FD1A}"/>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5P DARI MODUL CMC</a:t>
            </a:r>
          </a:p>
        </p:txBody>
      </p:sp>
      <p:sp>
        <p:nvSpPr>
          <p:cNvPr id="5" name="text-298">
            <a:extLst>
              <a:ext uri="{FF2B5EF4-FFF2-40B4-BE49-F238E27FC236}">
                <a16:creationId xmlns:a16="http://schemas.microsoft.com/office/drawing/2014/main" id="{AA7D0150-E8FE-4DD1-B2DF-96921C791B04}"/>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173D34"/>
                </a:solidFill>
                <a:latin typeface="Calibri"/>
                <a:ea typeface="Calibri"/>
                <a:cs typeface="Calibri"/>
              </a:defRPr>
            </a:pPr>
            <a:r>
              <a:rPr sz="2925" b="1">
                <a:solidFill>
                  <a:srgbClr val="173D34"/>
                </a:solidFill>
                <a:latin typeface="Calibri"/>
                <a:ea typeface="Calibri"/>
                <a:cs typeface="Calibri"/>
              </a:rPr>
              <a:t>Pitch yang kuat bicara soal kebutuhan buyer dan buktinya</a:t>
            </a:r>
          </a:p>
        </p:txBody>
      </p:sp>
      <p:sp>
        <p:nvSpPr>
          <p:cNvPr id="6" name="text-299">
            <a:extLst>
              <a:ext uri="{FF2B5EF4-FFF2-40B4-BE49-F238E27FC236}">
                <a16:creationId xmlns:a16="http://schemas.microsoft.com/office/drawing/2014/main" id="{BBBA825D-4515-473F-BAC3-AA39C5E98A0A}"/>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7" name="text-300">
            <a:extLst>
              <a:ext uri="{FF2B5EF4-FFF2-40B4-BE49-F238E27FC236}">
                <a16:creationId xmlns:a16="http://schemas.microsoft.com/office/drawing/2014/main" id="{6ECE0651-7341-42BC-A45A-3C8798148E66}"/>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20</a:t>
            </a:r>
          </a:p>
        </p:txBody>
      </p:sp>
      <p:sp>
        <p:nvSpPr>
          <p:cNvPr id="8" name="text-301">
            <a:extLst>
              <a:ext uri="{FF2B5EF4-FFF2-40B4-BE49-F238E27FC236}">
                <a16:creationId xmlns:a16="http://schemas.microsoft.com/office/drawing/2014/main" id="{8A2C9700-DFC6-4FE6-BA82-B5B0341E1194}"/>
              </a:ext>
            </a:extLst>
          </p:cNvPr>
          <p:cNvSpPr>
            <a:spLocks noGrp="1"/>
          </p:cNvSpPr>
          <p:nvPr/>
        </p:nvSpPr>
        <p:spPr>
          <a:xfrm>
            <a:off x="571500" y="2162175"/>
            <a:ext cx="11039475" cy="1943100"/>
          </a:xfrm>
          <a:prstGeom prst="rect">
            <a:avLst/>
          </a:prstGeom>
          <a:noFill/>
          <a:ln w="0">
            <a:noFill/>
          </a:ln>
        </p:spPr>
        <p:txBody>
          <a:bodyPr wrap="square" lIns="0" tIns="0" rIns="0" bIns="0" anchor="t">
            <a:noAutofit/>
          </a:bodyPr>
          <a:lstStyle/>
          <a:p>
            <a:pPr>
              <a:defRPr sz="2925" b="1">
                <a:solidFill>
                  <a:srgbClr val="087958"/>
                </a:solidFill>
                <a:latin typeface="Calibri"/>
                <a:ea typeface="Calibri"/>
                <a:cs typeface="Calibri"/>
              </a:defRPr>
            </a:pPr>
            <a:r>
              <a:rPr sz="2925" b="1">
                <a:solidFill>
                  <a:srgbClr val="087958"/>
                </a:solidFill>
                <a:latin typeface="Calibri"/>
                <a:ea typeface="Calibri"/>
                <a:cs typeface="Calibri"/>
              </a:rPr>
              <a:t>“Kami bantu buyer dekorasi rumah</a:t>
            </a:r>
          </a:p>
          <a:p>
            <a:pPr>
              <a:defRPr sz="2925" b="1">
                <a:solidFill>
                  <a:srgbClr val="087958"/>
                </a:solidFill>
                <a:latin typeface="Calibri"/>
                <a:ea typeface="Calibri"/>
                <a:cs typeface="Calibri"/>
              </a:defRPr>
            </a:pPr>
            <a:r>
              <a:rPr sz="2925" b="1">
                <a:solidFill>
                  <a:srgbClr val="087958"/>
                </a:solidFill>
                <a:latin typeface="Calibri"/>
                <a:ea typeface="Calibri"/>
                <a:cs typeface="Calibri"/>
              </a:rPr>
              <a:t>yang butuh ukuran khusus.</a:t>
            </a:r>
          </a:p>
          <a:p>
            <a:pPr>
              <a:defRPr sz="2925" b="1">
                <a:solidFill>
                  <a:srgbClr val="087958"/>
                </a:solidFill>
                <a:latin typeface="Calibri"/>
                <a:ea typeface="Calibri"/>
                <a:cs typeface="Calibri"/>
              </a:defRPr>
            </a:pPr>
            <a:r>
              <a:rPr sz="2925" b="1">
                <a:solidFill>
                  <a:srgbClr val="087958"/>
                </a:solidFill>
                <a:latin typeface="Calibri"/>
                <a:ea typeface="Calibri"/>
                <a:cs typeface="Calibri"/>
              </a:rPr>
              <a:t>Sekarang kami sedang tes dua ukuran</a:t>
            </a:r>
          </a:p>
          <a:p>
            <a:pPr>
              <a:defRPr sz="2925" b="1">
                <a:solidFill>
                  <a:srgbClr val="087958"/>
                </a:solidFill>
                <a:latin typeface="Calibri"/>
                <a:ea typeface="Calibri"/>
                <a:cs typeface="Calibri"/>
              </a:defRPr>
            </a:pPr>
            <a:r>
              <a:rPr sz="2925" b="1">
                <a:solidFill>
                  <a:srgbClr val="087958"/>
                </a:solidFill>
                <a:latin typeface="Calibri"/>
                <a:ea typeface="Calibri"/>
                <a:cs typeface="Calibri"/>
              </a:rPr>
              <a:t>dengan spek yang sudah disepakati.”</a:t>
            </a:r>
          </a:p>
        </p:txBody>
      </p:sp>
      <p:sp>
        <p:nvSpPr>
          <p:cNvPr id="9" name="Straight Connector 8">
            <a:extLst>
              <a:ext uri="{FF2B5EF4-FFF2-40B4-BE49-F238E27FC236}">
                <a16:creationId xmlns:a16="http://schemas.microsoft.com/office/drawing/2014/main" id="{FA96A92C-78B0-4E3B-953F-4541CE188E21}"/>
              </a:ext>
            </a:extLst>
          </p:cNvPr>
          <p:cNvSpPr>
            <a:spLocks noGrp="1"/>
          </p:cNvSpPr>
          <p:nvPr/>
        </p:nvSpPr>
        <p:spPr>
          <a:xfrm>
            <a:off x="571500" y="4562475"/>
            <a:ext cx="11049000" cy="0"/>
          </a:xfrm>
          <a:prstGeom prst="line">
            <a:avLst/>
          </a:prstGeom>
          <a:noFill/>
          <a:ln w="9525">
            <a:solidFill>
              <a:srgbClr val="CEDDD4"/>
            </a:solidFill>
          </a:ln>
        </p:spPr>
        <p:txBody>
          <a:bodyPr/>
          <a:lstStyle/>
          <a:p>
            <a:endParaRPr/>
          </a:p>
        </p:txBody>
      </p:sp>
      <p:sp>
        <p:nvSpPr>
          <p:cNvPr id="10" name="text-302">
            <a:extLst>
              <a:ext uri="{FF2B5EF4-FFF2-40B4-BE49-F238E27FC236}">
                <a16:creationId xmlns:a16="http://schemas.microsoft.com/office/drawing/2014/main" id="{DE3170B4-7B70-4666-9C34-256A0C271673}"/>
              </a:ext>
            </a:extLst>
          </p:cNvPr>
          <p:cNvSpPr>
            <a:spLocks noGrp="1"/>
          </p:cNvSpPr>
          <p:nvPr/>
        </p:nvSpPr>
        <p:spPr>
          <a:xfrm>
            <a:off x="571500" y="4895850"/>
            <a:ext cx="2100011"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PITCH</a:t>
            </a:r>
          </a:p>
        </p:txBody>
      </p:sp>
      <p:sp>
        <p:nvSpPr>
          <p:cNvPr id="11" name="text-303">
            <a:extLst>
              <a:ext uri="{FF2B5EF4-FFF2-40B4-BE49-F238E27FC236}">
                <a16:creationId xmlns:a16="http://schemas.microsoft.com/office/drawing/2014/main" id="{5010382F-34F2-4FFC-9288-161F4297B15D}"/>
              </a:ext>
            </a:extLst>
          </p:cNvPr>
          <p:cNvSpPr>
            <a:spLocks noGrp="1"/>
          </p:cNvSpPr>
          <p:nvPr/>
        </p:nvSpPr>
        <p:spPr>
          <a:xfrm>
            <a:off x="571500" y="5276850"/>
            <a:ext cx="2100011" cy="657225"/>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Value yang jelas</a:t>
            </a:r>
          </a:p>
        </p:txBody>
      </p:sp>
      <p:sp>
        <p:nvSpPr>
          <p:cNvPr id="12" name="text-304">
            <a:extLst>
              <a:ext uri="{FF2B5EF4-FFF2-40B4-BE49-F238E27FC236}">
                <a16:creationId xmlns:a16="http://schemas.microsoft.com/office/drawing/2014/main" id="{3F33CE86-EE86-45D2-922A-CE9BC3D0204E}"/>
              </a:ext>
            </a:extLst>
          </p:cNvPr>
          <p:cNvSpPr>
            <a:spLocks noGrp="1"/>
          </p:cNvSpPr>
          <p:nvPr/>
        </p:nvSpPr>
        <p:spPr>
          <a:xfrm>
            <a:off x="2781239" y="4895850"/>
            <a:ext cx="2100011"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PUBLISH</a:t>
            </a:r>
          </a:p>
        </p:txBody>
      </p:sp>
      <p:sp>
        <p:nvSpPr>
          <p:cNvPr id="13" name="text-305">
            <a:extLst>
              <a:ext uri="{FF2B5EF4-FFF2-40B4-BE49-F238E27FC236}">
                <a16:creationId xmlns:a16="http://schemas.microsoft.com/office/drawing/2014/main" id="{24772126-AC66-4CF1-891F-86181336A98B}"/>
              </a:ext>
            </a:extLst>
          </p:cNvPr>
          <p:cNvSpPr>
            <a:spLocks noGrp="1"/>
          </p:cNvSpPr>
          <p:nvPr/>
        </p:nvSpPr>
        <p:spPr>
          <a:xfrm>
            <a:off x="2781239" y="5276850"/>
            <a:ext cx="2100011" cy="657225"/>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Progres terlihat</a:t>
            </a:r>
          </a:p>
        </p:txBody>
      </p:sp>
      <p:sp>
        <p:nvSpPr>
          <p:cNvPr id="14" name="text-306">
            <a:extLst>
              <a:ext uri="{FF2B5EF4-FFF2-40B4-BE49-F238E27FC236}">
                <a16:creationId xmlns:a16="http://schemas.microsoft.com/office/drawing/2014/main" id="{77D9781F-6FE5-464E-8F6D-EECF8F66A42B}"/>
              </a:ext>
            </a:extLst>
          </p:cNvPr>
          <p:cNvSpPr>
            <a:spLocks noGrp="1"/>
          </p:cNvSpPr>
          <p:nvPr/>
        </p:nvSpPr>
        <p:spPr>
          <a:xfrm>
            <a:off x="4990978" y="4895850"/>
            <a:ext cx="2100011"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PRODUCTS</a:t>
            </a:r>
          </a:p>
        </p:txBody>
      </p:sp>
      <p:sp>
        <p:nvSpPr>
          <p:cNvPr id="15" name="text-307">
            <a:extLst>
              <a:ext uri="{FF2B5EF4-FFF2-40B4-BE49-F238E27FC236}">
                <a16:creationId xmlns:a16="http://schemas.microsoft.com/office/drawing/2014/main" id="{40307F2D-5465-41FE-87DB-8EB54E97C4BD}"/>
              </a:ext>
            </a:extLst>
          </p:cNvPr>
          <p:cNvSpPr>
            <a:spLocks noGrp="1"/>
          </p:cNvSpPr>
          <p:nvPr/>
        </p:nvSpPr>
        <p:spPr>
          <a:xfrm>
            <a:off x="4990978" y="5276850"/>
            <a:ext cx="2100011" cy="657225"/>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Kualitas terbukti</a:t>
            </a:r>
          </a:p>
        </p:txBody>
      </p:sp>
      <p:sp>
        <p:nvSpPr>
          <p:cNvPr id="16" name="text-308">
            <a:extLst>
              <a:ext uri="{FF2B5EF4-FFF2-40B4-BE49-F238E27FC236}">
                <a16:creationId xmlns:a16="http://schemas.microsoft.com/office/drawing/2014/main" id="{45BCDE9E-1DAC-443A-85DB-9312499A9321}"/>
              </a:ext>
            </a:extLst>
          </p:cNvPr>
          <p:cNvSpPr>
            <a:spLocks noGrp="1"/>
          </p:cNvSpPr>
          <p:nvPr/>
        </p:nvSpPr>
        <p:spPr>
          <a:xfrm>
            <a:off x="7200717" y="4895850"/>
            <a:ext cx="2100011"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PROFILE</a:t>
            </a:r>
          </a:p>
        </p:txBody>
      </p:sp>
      <p:sp>
        <p:nvSpPr>
          <p:cNvPr id="17" name="text-309">
            <a:extLst>
              <a:ext uri="{FF2B5EF4-FFF2-40B4-BE49-F238E27FC236}">
                <a16:creationId xmlns:a16="http://schemas.microsoft.com/office/drawing/2014/main" id="{CE49214F-927A-47D9-AF78-E0CDAF9BC294}"/>
              </a:ext>
            </a:extLst>
          </p:cNvPr>
          <p:cNvSpPr>
            <a:spLocks noGrp="1"/>
          </p:cNvSpPr>
          <p:nvPr/>
        </p:nvSpPr>
        <p:spPr>
          <a:xfrm>
            <a:off x="7200717" y="5276850"/>
            <a:ext cx="2100011" cy="657225"/>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Klaim bisa dicek</a:t>
            </a:r>
          </a:p>
        </p:txBody>
      </p:sp>
      <p:sp>
        <p:nvSpPr>
          <p:cNvPr id="18" name="text-310">
            <a:extLst>
              <a:ext uri="{FF2B5EF4-FFF2-40B4-BE49-F238E27FC236}">
                <a16:creationId xmlns:a16="http://schemas.microsoft.com/office/drawing/2014/main" id="{7D3756AE-1EC1-4BD9-93DE-8323699632D0}"/>
              </a:ext>
            </a:extLst>
          </p:cNvPr>
          <p:cNvSpPr>
            <a:spLocks noGrp="1"/>
          </p:cNvSpPr>
          <p:nvPr/>
        </p:nvSpPr>
        <p:spPr>
          <a:xfrm>
            <a:off x="9410456" y="4895850"/>
            <a:ext cx="2100011" cy="266700"/>
          </a:xfrm>
          <a:prstGeom prst="rect">
            <a:avLst/>
          </a:prstGeom>
          <a:noFill/>
          <a:ln w="0">
            <a:noFill/>
          </a:ln>
        </p:spPr>
        <p:txBody>
          <a:bodyPr wrap="square" lIns="0" tIns="0" rIns="0" bIns="0" anchor="t">
            <a:noAutofit/>
          </a:bodyPr>
          <a:lstStyle/>
          <a:p>
            <a:pPr>
              <a:defRPr sz="1275" b="1">
                <a:solidFill>
                  <a:srgbClr val="087958"/>
                </a:solidFill>
                <a:latin typeface="Calibri"/>
                <a:ea typeface="Calibri"/>
                <a:cs typeface="Calibri"/>
              </a:defRPr>
            </a:pPr>
            <a:r>
              <a:rPr sz="1275" b="1">
                <a:solidFill>
                  <a:srgbClr val="087958"/>
                </a:solidFill>
                <a:latin typeface="Calibri"/>
                <a:ea typeface="Calibri"/>
                <a:cs typeface="Calibri"/>
              </a:rPr>
              <a:t>PARTNERSHIPS</a:t>
            </a:r>
          </a:p>
        </p:txBody>
      </p:sp>
      <p:sp>
        <p:nvSpPr>
          <p:cNvPr id="19" name="text-311">
            <a:extLst>
              <a:ext uri="{FF2B5EF4-FFF2-40B4-BE49-F238E27FC236}">
                <a16:creationId xmlns:a16="http://schemas.microsoft.com/office/drawing/2014/main" id="{CFC48726-12C1-47A5-B2A0-14812EA073A7}"/>
              </a:ext>
            </a:extLst>
          </p:cNvPr>
          <p:cNvSpPr>
            <a:spLocks noGrp="1"/>
          </p:cNvSpPr>
          <p:nvPr/>
        </p:nvSpPr>
        <p:spPr>
          <a:xfrm>
            <a:off x="9410456" y="5276850"/>
            <a:ext cx="2100011" cy="657225"/>
          </a:xfrm>
          <a:prstGeom prst="rect">
            <a:avLst/>
          </a:prstGeom>
          <a:noFill/>
          <a:ln w="0">
            <a:noFill/>
          </a:ln>
        </p:spPr>
        <p:txBody>
          <a:bodyPr wrap="square" lIns="0" tIns="0" rIns="0" bIns="0" anchor="t">
            <a:noAutofit/>
          </a:bodyPr>
          <a:lstStyle/>
          <a:p>
            <a:pPr>
              <a:defRPr sz="1950" b="0">
                <a:solidFill>
                  <a:srgbClr val="173D34"/>
                </a:solidFill>
                <a:latin typeface="Calibri"/>
                <a:ea typeface="Calibri"/>
                <a:cs typeface="Calibri"/>
              </a:defRPr>
            </a:pPr>
            <a:r>
              <a:rPr sz="1950" b="0">
                <a:solidFill>
                  <a:srgbClr val="173D34"/>
                </a:solidFill>
                <a:latin typeface="Calibri"/>
                <a:ea typeface="Calibri"/>
                <a:cs typeface="Calibri"/>
              </a:rPr>
              <a:t>Peran mitra jelas</a:t>
            </a:r>
          </a:p>
        </p:txBody>
      </p:sp>
      <p:sp>
        <p:nvSpPr>
          <p:cNvPr id="20" name="text-312">
            <a:extLst>
              <a:ext uri="{FF2B5EF4-FFF2-40B4-BE49-F238E27FC236}">
                <a16:creationId xmlns:a16="http://schemas.microsoft.com/office/drawing/2014/main" id="{D7358149-A9E5-49ED-A181-487374358592}"/>
              </a:ext>
            </a:extLst>
          </p:cNvPr>
          <p:cNvSpPr>
            <a:spLocks noGrp="1"/>
          </p:cNvSpPr>
          <p:nvPr/>
        </p:nvSpPr>
        <p:spPr>
          <a:xfrm>
            <a:off x="1920240" y="6590995"/>
            <a:ext cx="8138160" cy="267005"/>
          </a:xfrm>
          <a:prstGeom prst="rect">
            <a:avLst/>
          </a:prstGeom>
          <a:noFill/>
          <a:ln w="0">
            <a:noFill/>
          </a:ln>
        </p:spPr>
        <p:txBody>
          <a:bodyPr wrap="square" lIns="0" tIns="0" rIns="0" bIns="0" anchor="ctr">
            <a:noAutofit/>
          </a:bodyPr>
          <a:lstStyle/>
          <a:p>
            <a:pPr>
              <a:defRPr sz="800" b="0">
                <a:solidFill>
                  <a:srgbClr val="B2C4BD"/>
                </a:solidFill>
                <a:latin typeface="Calibri"/>
                <a:ea typeface="Calibri"/>
                <a:cs typeface="Calibri"/>
              </a:defRPr>
            </a:pPr>
            <a:r>
              <a:rPr sz="800" b="0">
                <a:solidFill>
                  <a:srgbClr val="B2C4BD"/>
                </a:solidFill>
                <a:latin typeface="Calibri"/>
                <a:ea typeface="Calibri"/>
                <a:cs typeface="Calibri"/>
              </a:rPr>
              <a:t>Contoh pitch hanya ilustrasi. 5P dari Modul 1 CMC. Jangan melebih-lebihkan traction.</a:t>
            </a:r>
          </a:p>
        </p:txBody>
      </p:sp>
    </p:spTree>
    <p:extLst>
      <p:ext uri="{BB962C8B-B14F-4D97-AF65-F5344CB8AC3E}">
        <p14:creationId xmlns:p14="http://schemas.microsoft.com/office/powerpoint/2010/main" val="244067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D28"/>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0" y="0"/>
            <a:ext cx="12192000" cy="6858000"/>
          </a:xfrm>
          <a:prstGeom prst="rect">
            <a:avLst/>
          </a:prstGeom>
        </p:spPr>
      </p:pic>
      <p:pic>
        <p:nvPicPr>
          <p:cNvPr id="13" name="Picture 12"/>
          <p:cNvPicPr>
            <a:picLocks noChangeAspect="1"/>
          </p:cNvPicPr>
          <p:nvPr/>
        </p:nvPicPr>
        <p:blipFill>
          <a:blip r:embed="rId4"/>
          <a:stretch/>
        </p:blipFill>
        <p:spPr>
          <a:xfrm>
            <a:off x="10591800" y="245339"/>
            <a:ext cx="1028700" cy="385621"/>
          </a:xfrm>
          <a:prstGeom prst="rect">
            <a:avLst/>
          </a:prstGeom>
        </p:spPr>
      </p:pic>
      <p:sp>
        <p:nvSpPr>
          <p:cNvPr id="3" name="text-328">
            <a:extLst>
              <a:ext uri="{FF2B5EF4-FFF2-40B4-BE49-F238E27FC236}">
                <a16:creationId xmlns:a16="http://schemas.microsoft.com/office/drawing/2014/main" id="{4474AD1F-227D-4DA7-BC99-5B424ED7CB63}"/>
              </a:ext>
            </a:extLst>
          </p:cNvPr>
          <p:cNvSpPr>
            <a:spLocks noGrp="1"/>
          </p:cNvSpPr>
          <p:nvPr/>
        </p:nvSpPr>
        <p:spPr>
          <a:xfrm>
            <a:off x="571500" y="338738"/>
            <a:ext cx="9525000" cy="266700"/>
          </a:xfrm>
          <a:prstGeom prst="rect">
            <a:avLst/>
          </a:prstGeom>
          <a:noFill/>
          <a:ln w="0">
            <a:noFill/>
          </a:ln>
        </p:spPr>
        <p:txBody>
          <a:bodyPr wrap="square" lIns="0" tIns="0" rIns="0" bIns="0" anchor="t">
            <a:noAutofit/>
          </a:bodyPr>
          <a:lstStyle/>
          <a:p>
            <a:pPr>
              <a:defRPr sz="1275" b="1">
                <a:solidFill>
                  <a:srgbClr val="B9DBC6"/>
                </a:solidFill>
                <a:latin typeface="Calibri"/>
                <a:ea typeface="Calibri"/>
                <a:cs typeface="Calibri"/>
              </a:defRPr>
            </a:pPr>
            <a:r>
              <a:rPr sz="1275" b="1">
                <a:solidFill>
                  <a:srgbClr val="B9DBC6"/>
                </a:solidFill>
                <a:latin typeface="Calibri"/>
                <a:ea typeface="Calibri"/>
                <a:cs typeface="Calibri"/>
              </a:rPr>
              <a:t>PENUTUP</a:t>
            </a:r>
          </a:p>
        </p:txBody>
      </p:sp>
      <p:sp>
        <p:nvSpPr>
          <p:cNvPr id="4" name="text-329">
            <a:extLst>
              <a:ext uri="{FF2B5EF4-FFF2-40B4-BE49-F238E27FC236}">
                <a16:creationId xmlns:a16="http://schemas.microsoft.com/office/drawing/2014/main" id="{9E8D328B-9E43-4891-8FEE-0C9B18821C42}"/>
              </a:ext>
            </a:extLst>
          </p:cNvPr>
          <p:cNvSpPr>
            <a:spLocks noGrp="1"/>
          </p:cNvSpPr>
          <p:nvPr/>
        </p:nvSpPr>
        <p:spPr>
          <a:xfrm>
            <a:off x="571500" y="733425"/>
            <a:ext cx="11049000" cy="548640"/>
          </a:xfrm>
          <a:prstGeom prst="rect">
            <a:avLst/>
          </a:prstGeom>
          <a:noFill/>
          <a:ln w="0">
            <a:noFill/>
          </a:ln>
        </p:spPr>
        <p:txBody>
          <a:bodyPr wrap="square" lIns="0" tIns="0" rIns="0" bIns="0" anchor="t">
            <a:noAutofit/>
          </a:bodyPr>
          <a:lstStyle/>
          <a:p>
            <a:pPr>
              <a:defRPr sz="2925" b="1">
                <a:solidFill>
                  <a:srgbClr val="FFFFFF"/>
                </a:solidFill>
                <a:latin typeface="Calibri"/>
                <a:ea typeface="Calibri"/>
                <a:cs typeface="Calibri"/>
              </a:defRPr>
            </a:pPr>
            <a:r>
              <a:rPr sz="2925" b="1">
                <a:solidFill>
                  <a:srgbClr val="FFFFFF"/>
                </a:solidFill>
                <a:latin typeface="Calibri"/>
                <a:ea typeface="Calibri"/>
                <a:cs typeface="Calibri"/>
              </a:rPr>
              <a:t>Jadi, kapan maju, kapan nego, kapan tunda?</a:t>
            </a:r>
          </a:p>
        </p:txBody>
      </p:sp>
      <p:sp>
        <p:nvSpPr>
          <p:cNvPr id="5" name="text-330">
            <a:extLst>
              <a:ext uri="{FF2B5EF4-FFF2-40B4-BE49-F238E27FC236}">
                <a16:creationId xmlns:a16="http://schemas.microsoft.com/office/drawing/2014/main" id="{28300A45-0AFA-4AAD-98F3-5FED61566400}"/>
              </a:ext>
            </a:extLst>
          </p:cNvPr>
          <p:cNvSpPr>
            <a:spLocks noGrp="1"/>
          </p:cNvSpPr>
          <p:nvPr/>
        </p:nvSpPr>
        <p:spPr>
          <a:xfrm>
            <a:off x="571500" y="6590995"/>
            <a:ext cx="1463040" cy="267005"/>
          </a:xfrm>
          <a:prstGeom prst="rect">
            <a:avLst/>
          </a:prstGeom>
          <a:noFill/>
          <a:ln w="0">
            <a:noFill/>
          </a:ln>
        </p:spPr>
        <p:txBody>
          <a:bodyPr wrap="square" lIns="0" tIns="0" rIns="0" bIns="0" anchor="ctr">
            <a:noAutofit/>
          </a:bodyPr>
          <a:lstStyle/>
          <a:p>
            <a:pPr>
              <a:defRPr sz="900" b="0">
                <a:solidFill>
                  <a:srgbClr val="FFFFFF"/>
                </a:solidFill>
                <a:latin typeface="Calibri"/>
                <a:ea typeface="Calibri"/>
                <a:cs typeface="Calibri"/>
              </a:defRPr>
            </a:pPr>
            <a:r>
              <a:rPr sz="900" b="0">
                <a:solidFill>
                  <a:srgbClr val="FFFFFF"/>
                </a:solidFill>
                <a:latin typeface="Calibri"/>
                <a:ea typeface="Calibri"/>
                <a:cs typeface="Calibri"/>
              </a:rPr>
              <a:t>CMC × BD Ekspor</a:t>
            </a:r>
          </a:p>
        </p:txBody>
      </p:sp>
      <p:sp>
        <p:nvSpPr>
          <p:cNvPr id="6" name="text-331">
            <a:extLst>
              <a:ext uri="{FF2B5EF4-FFF2-40B4-BE49-F238E27FC236}">
                <a16:creationId xmlns:a16="http://schemas.microsoft.com/office/drawing/2014/main" id="{4005D8A1-6C7C-4E65-82D6-D66CF6E0258E}"/>
              </a:ext>
            </a:extLst>
          </p:cNvPr>
          <p:cNvSpPr>
            <a:spLocks noGrp="1"/>
          </p:cNvSpPr>
          <p:nvPr/>
        </p:nvSpPr>
        <p:spPr>
          <a:xfrm>
            <a:off x="10248595" y="6590995"/>
            <a:ext cx="1371600" cy="267005"/>
          </a:xfrm>
          <a:prstGeom prst="rect">
            <a:avLst/>
          </a:prstGeom>
          <a:noFill/>
          <a:ln w="0">
            <a:noFill/>
          </a:ln>
        </p:spPr>
        <p:txBody>
          <a:bodyPr wrap="square" lIns="0" tIns="0" rIns="0" bIns="0" anchor="ctr">
            <a:noAutofit/>
          </a:bodyPr>
          <a:lstStyle/>
          <a:p>
            <a:pPr algn="r">
              <a:defRPr sz="1050" b="0">
                <a:solidFill>
                  <a:srgbClr val="FFFFFF"/>
                </a:solidFill>
                <a:latin typeface="Calibri"/>
                <a:ea typeface="Calibri"/>
                <a:cs typeface="Calibri"/>
              </a:defRPr>
            </a:pPr>
            <a:r>
              <a:rPr sz="1050" b="0">
                <a:solidFill>
                  <a:srgbClr val="FFFFFF"/>
                </a:solidFill>
                <a:latin typeface="Calibri"/>
                <a:ea typeface="Calibri"/>
                <a:cs typeface="Calibri"/>
              </a:rPr>
              <a:t>22</a:t>
            </a:r>
          </a:p>
        </p:txBody>
      </p:sp>
      <p:sp>
        <p:nvSpPr>
          <p:cNvPr id="7" name="text-332">
            <a:extLst>
              <a:ext uri="{FF2B5EF4-FFF2-40B4-BE49-F238E27FC236}">
                <a16:creationId xmlns:a16="http://schemas.microsoft.com/office/drawing/2014/main" id="{F47948C9-5528-46D5-92B0-3EEEB01C4147}"/>
              </a:ext>
            </a:extLst>
          </p:cNvPr>
          <p:cNvSpPr>
            <a:spLocks noGrp="1"/>
          </p:cNvSpPr>
          <p:nvPr/>
        </p:nvSpPr>
        <p:spPr>
          <a:xfrm>
            <a:off x="571500" y="2219325"/>
            <a:ext cx="10906125" cy="1857375"/>
          </a:xfrm>
          <a:prstGeom prst="rect">
            <a:avLst/>
          </a:prstGeom>
          <a:noFill/>
          <a:ln w="0">
            <a:noFill/>
          </a:ln>
        </p:spPr>
        <p:txBody>
          <a:bodyPr wrap="square" lIns="0" tIns="0" rIns="0" bIns="0" anchor="t">
            <a:noAutofit/>
          </a:bodyPr>
          <a:lstStyle/>
          <a:p>
            <a:pPr>
              <a:defRPr sz="3600" b="1">
                <a:solidFill>
                  <a:srgbClr val="FFFFFF"/>
                </a:solidFill>
                <a:latin typeface="Calibri"/>
                <a:ea typeface="Calibri"/>
                <a:cs typeface="Calibri"/>
              </a:defRPr>
            </a:pPr>
            <a:r>
              <a:rPr sz="3600" b="1">
                <a:solidFill>
                  <a:srgbClr val="FFFFFF"/>
                </a:solidFill>
                <a:latin typeface="Calibri"/>
                <a:ea typeface="Calibri"/>
                <a:cs typeface="Calibri"/>
              </a:rPr>
              <a:t>Maju kalau peluangnya jelas,</a:t>
            </a:r>
          </a:p>
          <a:p>
            <a:pPr>
              <a:defRPr sz="3600" b="1">
                <a:solidFill>
                  <a:srgbClr val="FFFFFF"/>
                </a:solidFill>
                <a:latin typeface="Calibri"/>
                <a:ea typeface="Calibri"/>
                <a:cs typeface="Calibri"/>
              </a:defRPr>
            </a:pPr>
            <a:r>
              <a:rPr sz="3600" b="1">
                <a:solidFill>
                  <a:srgbClr val="FFFFFF"/>
                </a:solidFill>
                <a:latin typeface="Calibri"/>
                <a:ea typeface="Calibri"/>
                <a:cs typeface="Calibri"/>
              </a:rPr>
              <a:t>kita terbukti sanggup deliver,</a:t>
            </a:r>
          </a:p>
          <a:p>
            <a:pPr>
              <a:defRPr sz="3600" b="1">
                <a:solidFill>
                  <a:srgbClr val="FFFFFF"/>
                </a:solidFill>
                <a:latin typeface="Calibri"/>
                <a:ea typeface="Calibri"/>
                <a:cs typeface="Calibri"/>
              </a:defRPr>
            </a:pPr>
            <a:r>
              <a:rPr sz="3600" b="1">
                <a:solidFill>
                  <a:srgbClr val="FFFFFF"/>
                </a:solidFill>
                <a:latin typeface="Calibri"/>
                <a:ea typeface="Calibri"/>
                <a:cs typeface="Calibri"/>
              </a:rPr>
              <a:t>dan risikonya masih bisa ditanggung.</a:t>
            </a:r>
          </a:p>
        </p:txBody>
      </p:sp>
      <p:sp>
        <p:nvSpPr>
          <p:cNvPr id="8" name="Straight Connector 7">
            <a:extLst>
              <a:ext uri="{FF2B5EF4-FFF2-40B4-BE49-F238E27FC236}">
                <a16:creationId xmlns:a16="http://schemas.microsoft.com/office/drawing/2014/main" id="{5FD4F456-1C3C-42A6-A812-DA98282F66AE}"/>
              </a:ext>
            </a:extLst>
          </p:cNvPr>
          <p:cNvSpPr>
            <a:spLocks noGrp="1"/>
          </p:cNvSpPr>
          <p:nvPr/>
        </p:nvSpPr>
        <p:spPr>
          <a:xfrm>
            <a:off x="571500" y="4400650"/>
            <a:ext cx="11049000" cy="0"/>
          </a:xfrm>
          <a:prstGeom prst="line">
            <a:avLst/>
          </a:prstGeom>
          <a:noFill/>
          <a:ln w="9525">
            <a:solidFill>
              <a:srgbClr val="47766A"/>
            </a:solidFill>
          </a:ln>
        </p:spPr>
        <p:txBody>
          <a:bodyPr/>
          <a:lstStyle/>
          <a:p>
            <a:endParaRPr/>
          </a:p>
        </p:txBody>
      </p:sp>
      <p:sp>
        <p:nvSpPr>
          <p:cNvPr id="9" name="text-333">
            <a:extLst>
              <a:ext uri="{FF2B5EF4-FFF2-40B4-BE49-F238E27FC236}">
                <a16:creationId xmlns:a16="http://schemas.microsoft.com/office/drawing/2014/main" id="{66835267-22B9-4FE4-A4D2-0CC3642800BA}"/>
              </a:ext>
            </a:extLst>
          </p:cNvPr>
          <p:cNvSpPr>
            <a:spLocks noGrp="1"/>
          </p:cNvSpPr>
          <p:nvPr/>
        </p:nvSpPr>
        <p:spPr>
          <a:xfrm>
            <a:off x="571500" y="4838700"/>
            <a:ext cx="10696575" cy="847725"/>
          </a:xfrm>
          <a:prstGeom prst="rect">
            <a:avLst/>
          </a:prstGeom>
          <a:noFill/>
          <a:ln w="0">
            <a:noFill/>
          </a:ln>
        </p:spPr>
        <p:txBody>
          <a:bodyPr wrap="square" lIns="0" tIns="0" rIns="0" bIns="0" anchor="t">
            <a:noAutofit/>
          </a:bodyPr>
          <a:lstStyle/>
          <a:p>
            <a:pPr>
              <a:defRPr sz="2325" b="0">
                <a:solidFill>
                  <a:srgbClr val="B9DBC6"/>
                </a:solidFill>
                <a:latin typeface="Calibri"/>
                <a:ea typeface="Calibri"/>
                <a:cs typeface="Calibri"/>
              </a:defRPr>
            </a:pPr>
            <a:r>
              <a:rPr sz="2325" b="0">
                <a:solidFill>
                  <a:srgbClr val="B9DBC6"/>
                </a:solidFill>
                <a:latin typeface="Calibri"/>
                <a:ea typeface="Calibri"/>
                <a:cs typeface="Calibri"/>
              </a:rPr>
              <a:t>Sebelum commit, cek lagi kebutuhan buyer,</a:t>
            </a:r>
          </a:p>
          <a:p>
            <a:pPr>
              <a:defRPr sz="2325" b="0">
                <a:solidFill>
                  <a:srgbClr val="B9DBC6"/>
                </a:solidFill>
                <a:latin typeface="Calibri"/>
                <a:ea typeface="Calibri"/>
                <a:cs typeface="Calibri"/>
              </a:defRPr>
            </a:pPr>
            <a:r>
              <a:rPr sz="2325" b="0">
                <a:solidFill>
                  <a:srgbClr val="B9DBC6"/>
                </a:solidFill>
                <a:latin typeface="Calibri"/>
                <a:ea typeface="Calibri"/>
                <a:cs typeface="Calibri"/>
              </a:rPr>
              <a:t>kesiapan tim kita, dan hasil tes berikutnya.</a:t>
            </a:r>
          </a:p>
        </p:txBody>
      </p:sp>
      <p:sp>
        <p:nvSpPr>
          <p:cNvPr id="10" name="Straight Connector 9">
            <a:extLst>
              <a:ext uri="{FF2B5EF4-FFF2-40B4-BE49-F238E27FC236}">
                <a16:creationId xmlns:a16="http://schemas.microsoft.com/office/drawing/2014/main" id="{747FD9BB-AFE9-4617-9415-BCA731DEE44D}"/>
              </a:ext>
            </a:extLst>
          </p:cNvPr>
          <p:cNvSpPr>
            <a:spLocks noGrp="1"/>
          </p:cNvSpPr>
          <p:nvPr/>
        </p:nvSpPr>
        <p:spPr>
          <a:xfrm>
            <a:off x="571500" y="5924550"/>
            <a:ext cx="11049000" cy="0"/>
          </a:xfrm>
          <a:prstGeom prst="line">
            <a:avLst/>
          </a:prstGeom>
          <a:noFill/>
          <a:ln w="9525">
            <a:solidFill>
              <a:srgbClr val="47766A"/>
            </a:solidFill>
          </a:ln>
        </p:spPr>
        <p:txBody>
          <a:bodyPr/>
          <a:lstStyle/>
          <a:p>
            <a:endParaRPr/>
          </a:p>
        </p:txBody>
      </p:sp>
      <p:sp>
        <p:nvSpPr>
          <p:cNvPr id="11" name="text-334">
            <a:extLst>
              <a:ext uri="{FF2B5EF4-FFF2-40B4-BE49-F238E27FC236}">
                <a16:creationId xmlns:a16="http://schemas.microsoft.com/office/drawing/2014/main" id="{638B3BD6-6638-4A01-8CF4-4B94236001E8}"/>
              </a:ext>
            </a:extLst>
          </p:cNvPr>
          <p:cNvSpPr>
            <a:spLocks noGrp="1"/>
          </p:cNvSpPr>
          <p:nvPr/>
        </p:nvSpPr>
        <p:spPr>
          <a:xfrm>
            <a:off x="571500" y="6057900"/>
            <a:ext cx="11049000" cy="381000"/>
          </a:xfrm>
          <a:prstGeom prst="rect">
            <a:avLst/>
          </a:prstGeom>
          <a:noFill/>
          <a:ln w="0">
            <a:noFill/>
          </a:ln>
        </p:spPr>
        <p:txBody>
          <a:bodyPr wrap="square" lIns="0" tIns="0" rIns="0" bIns="0" anchor="t">
            <a:noAutofit/>
          </a:bodyPr>
          <a:lstStyle/>
          <a:p>
            <a:pPr>
              <a:defRPr sz="1725" b="1">
                <a:solidFill>
                  <a:srgbClr val="B9DBC6"/>
                </a:solidFill>
                <a:latin typeface="Calibri"/>
                <a:ea typeface="Calibri"/>
                <a:cs typeface="Calibri"/>
              </a:defRPr>
            </a:pPr>
            <a:r>
              <a:rPr sz="1725" b="1">
                <a:solidFill>
                  <a:srgbClr val="B9DBC6"/>
                </a:solidFill>
                <a:latin typeface="Calibri"/>
                <a:ea typeface="Calibri"/>
                <a:cs typeface="Calibri"/>
              </a:rPr>
              <a:t>Habis sesi ini, satu hal apa yang mau kamu coba duluan?</a:t>
            </a:r>
          </a:p>
        </p:txBody>
      </p:sp>
    </p:spTree>
    <p:extLst>
      <p:ext uri="{BB962C8B-B14F-4D97-AF65-F5344CB8AC3E}">
        <p14:creationId xmlns:p14="http://schemas.microsoft.com/office/powerpoint/2010/main" val="8056417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3285</Words>
  <Application>Microsoft Macintosh PowerPoint</Application>
  <DocSecurity>0</DocSecurity>
  <PresentationFormat>Widescreen</PresentationFormat>
  <Paragraphs>454</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Office User</cp:lastModifiedBy>
  <cp:revision>1</cp:revision>
  <dcterms:created xsi:type="dcterms:W3CDTF">2026-10-06T14:12:18Z</dcterms:created>
  <dcterms:modified xsi:type="dcterms:W3CDTF">2026-10-06T16:37:41Z</dcterms:modified>
</cp:coreProperties>
</file>