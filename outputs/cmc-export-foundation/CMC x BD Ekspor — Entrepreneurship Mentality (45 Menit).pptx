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cc0e6ec950497b" /><Relationship Type="http://schemas.openxmlformats.org/officeDocument/2006/relationships/extended-properties" Target="/docProps/app.xml" Id="R736dfcf8d06f427a" /><Relationship Type="http://schemas.openxmlformats.org/officeDocument/2006/relationships/officeDocument" Target="/ppt/presentation.xml" Id="Racbf8d95f6d643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64afc259b4504"/>
  </p:sldMasterIdLst>
  <p:notesMasterIdLst>
    <p:notesMasterId xmlns:r="http://schemas.openxmlformats.org/officeDocument/2006/relationships" r:id="R9c9e1984ba144c1b"/>
  </p:notesMasterIdLst>
  <p:sldIdLst>
    <p:sldId xmlns:r="http://schemas.openxmlformats.org/officeDocument/2006/relationships" id="256" r:id="R2d4dac871afa43a6"/>
    <p:sldId xmlns:r="http://schemas.openxmlformats.org/officeDocument/2006/relationships" id="257" r:id="Rb7782018a3be4b26"/>
    <p:sldId xmlns:r="http://schemas.openxmlformats.org/officeDocument/2006/relationships" id="258" r:id="R9f952bee7cb34678"/>
    <p:sldId xmlns:r="http://schemas.openxmlformats.org/officeDocument/2006/relationships" id="259" r:id="Rea1ab3c9ae9e4892"/>
    <p:sldId xmlns:r="http://schemas.openxmlformats.org/officeDocument/2006/relationships" id="260" r:id="R722ce87b3d76483f"/>
    <p:sldId xmlns:r="http://schemas.openxmlformats.org/officeDocument/2006/relationships" id="261" r:id="R9592cd578ad34b4b"/>
    <p:sldId xmlns:r="http://schemas.openxmlformats.org/officeDocument/2006/relationships" id="262" r:id="R3885683c4f5a4161"/>
    <p:sldId xmlns:r="http://schemas.openxmlformats.org/officeDocument/2006/relationships" id="263" r:id="R7e47c4506fb04b79"/>
    <p:sldId xmlns:r="http://schemas.openxmlformats.org/officeDocument/2006/relationships" id="264" r:id="R824a714eaeaa4d83"/>
    <p:sldId xmlns:r="http://schemas.openxmlformats.org/officeDocument/2006/relationships" id="265" r:id="R600c1784beb1413e"/>
    <p:sldId xmlns:r="http://schemas.openxmlformats.org/officeDocument/2006/relationships" id="266" r:id="Rddf872b798a04b4c"/>
    <p:sldId xmlns:r="http://schemas.openxmlformats.org/officeDocument/2006/relationships" id="267" r:id="Rc74e6c448ee14b8a"/>
    <p:sldId xmlns:r="http://schemas.openxmlformats.org/officeDocument/2006/relationships" id="268" r:id="Rb152935e38eb43aa"/>
    <p:sldId xmlns:r="http://schemas.openxmlformats.org/officeDocument/2006/relationships" id="269" r:id="R7cf6620743754958"/>
    <p:sldId xmlns:r="http://schemas.openxmlformats.org/officeDocument/2006/relationships" id="270" r:id="Rb94f442fe2194aaf"/>
    <p:sldId xmlns:r="http://schemas.openxmlformats.org/officeDocument/2006/relationships" id="271" r:id="R0e65dc7651b9446b"/>
    <p:sldId xmlns:r="http://schemas.openxmlformats.org/officeDocument/2006/relationships" id="272" r:id="R36417b2a8fa642c5"/>
    <p:sldId xmlns:r="http://schemas.openxmlformats.org/officeDocument/2006/relationships" id="273" r:id="R876f1fe9aa7349a2"/>
    <p:sldId xmlns:r="http://schemas.openxmlformats.org/officeDocument/2006/relationships" id="274" r:id="R8bd03db6a5354592"/>
    <p:sldId xmlns:r="http://schemas.openxmlformats.org/officeDocument/2006/relationships" id="275" r:id="R97d926d478ca4988"/>
    <p:sldId xmlns:r="http://schemas.openxmlformats.org/officeDocument/2006/relationships" id="276" r:id="Rd486c18e8e5e4388"/>
    <p:sldId xmlns:r="http://schemas.openxmlformats.org/officeDocument/2006/relationships" id="277" r:id="R0639987d004947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242ab16a7d426e" /><Relationship Type="http://schemas.openxmlformats.org/officeDocument/2006/relationships/slideMaster" Target="/ppt/slideMasters/slideMaster1.xml" Id="Rd9a64afc259b4504" /><Relationship Type="http://schemas.openxmlformats.org/officeDocument/2006/relationships/notesMaster" Target="/ppt/notesMasters/notesMaster1.xml" Id="R9c9e1984ba144c1b" /><Relationship Type="http://schemas.openxmlformats.org/officeDocument/2006/relationships/presProps" Target="/ppt/presProps.xml" Id="Rcacdabf144e5454d" /><Relationship Type="http://schemas.openxmlformats.org/officeDocument/2006/relationships/tableStyles" Target="/ppt/tableStyles.xml" Id="Rd47e77ff97384ed2" /><Relationship Type="http://schemas.openxmlformats.org/officeDocument/2006/relationships/slide" Target="/ppt/slides/slide1.xml" Id="R2d4dac871afa43a6" /><Relationship Type="http://schemas.openxmlformats.org/officeDocument/2006/relationships/slide" Target="/ppt/slides/slide2.xml" Id="Rb7782018a3be4b26" /><Relationship Type="http://schemas.openxmlformats.org/officeDocument/2006/relationships/slide" Target="/ppt/slides/slide3.xml" Id="R9f952bee7cb34678" /><Relationship Type="http://schemas.openxmlformats.org/officeDocument/2006/relationships/slide" Target="/ppt/slides/slide4.xml" Id="Rea1ab3c9ae9e4892" /><Relationship Type="http://schemas.openxmlformats.org/officeDocument/2006/relationships/slide" Target="/ppt/slides/slide5.xml" Id="R722ce87b3d76483f" /><Relationship Type="http://schemas.openxmlformats.org/officeDocument/2006/relationships/slide" Target="/ppt/slides/slide6.xml" Id="R9592cd578ad34b4b" /><Relationship Type="http://schemas.openxmlformats.org/officeDocument/2006/relationships/slide" Target="/ppt/slides/slide7.xml" Id="R3885683c4f5a4161" /><Relationship Type="http://schemas.openxmlformats.org/officeDocument/2006/relationships/slide" Target="/ppt/slides/slide8.xml" Id="R7e47c4506fb04b79" /><Relationship Type="http://schemas.openxmlformats.org/officeDocument/2006/relationships/slide" Target="/ppt/slides/slide9.xml" Id="R824a714eaeaa4d83" /><Relationship Type="http://schemas.openxmlformats.org/officeDocument/2006/relationships/slide" Target="/ppt/slides/slide10.xml" Id="R600c1784beb1413e" /><Relationship Type="http://schemas.openxmlformats.org/officeDocument/2006/relationships/slide" Target="/ppt/slides/slide11.xml" Id="Rddf872b798a04b4c" /><Relationship Type="http://schemas.openxmlformats.org/officeDocument/2006/relationships/slide" Target="/ppt/slides/slide12.xml" Id="Rc74e6c448ee14b8a" /><Relationship Type="http://schemas.openxmlformats.org/officeDocument/2006/relationships/slide" Target="/ppt/slides/slide13.xml" Id="Rb152935e38eb43aa" /><Relationship Type="http://schemas.openxmlformats.org/officeDocument/2006/relationships/slide" Target="/ppt/slides/slide14.xml" Id="R7cf6620743754958" /><Relationship Type="http://schemas.openxmlformats.org/officeDocument/2006/relationships/slide" Target="/ppt/slides/slide15.xml" Id="Rb94f442fe2194aaf" /><Relationship Type="http://schemas.openxmlformats.org/officeDocument/2006/relationships/slide" Target="/ppt/slides/slide16.xml" Id="R0e65dc7651b9446b" /><Relationship Type="http://schemas.openxmlformats.org/officeDocument/2006/relationships/slide" Target="/ppt/slides/slide17.xml" Id="R36417b2a8fa642c5" /><Relationship Type="http://schemas.openxmlformats.org/officeDocument/2006/relationships/slide" Target="/ppt/slides/slide18.xml" Id="R876f1fe9aa7349a2" /><Relationship Type="http://schemas.openxmlformats.org/officeDocument/2006/relationships/slide" Target="/ppt/slides/slide19.xml" Id="R8bd03db6a5354592" /><Relationship Type="http://schemas.openxmlformats.org/officeDocument/2006/relationships/slide" Target="/ppt/slides/slide20.xml" Id="R97d926d478ca4988" /><Relationship Type="http://schemas.openxmlformats.org/officeDocument/2006/relationships/slide" Target="/ppt/slides/slide21.xml" Id="Rd486c18e8e5e4388" /><Relationship Type="http://schemas.openxmlformats.org/officeDocument/2006/relationships/slide" Target="/ppt/slides/slide22.xml" Id="R0639987d0049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2b702efab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2e9e4aafc4787" /><Relationship Type="http://schemas.openxmlformats.org/officeDocument/2006/relationships/notesMaster" Target="/ppt/notesMasters/notesMaster1.xml" Id="R2e60057140844a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75d3dab954fdd" /><Relationship Type="http://schemas.openxmlformats.org/officeDocument/2006/relationships/notesMaster" Target="/ppt/notesMasters/notesMaster1.xml" Id="R1bdbfc099b8d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445bfb53d4fb1" /><Relationship Type="http://schemas.openxmlformats.org/officeDocument/2006/relationships/notesMaster" Target="/ppt/notesMasters/notesMaster1.xml" Id="Rdc995b524ea7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2ef9d52f0f44ab" /><Relationship Type="http://schemas.openxmlformats.org/officeDocument/2006/relationships/notesMaster" Target="/ppt/notesMasters/notesMaster1.xml" Id="Rf694be1c371b49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db2018a3d46b7" /><Relationship Type="http://schemas.openxmlformats.org/officeDocument/2006/relationships/notesMaster" Target="/ppt/notesMasters/notesMaster1.xml" Id="R9e675fb14260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39105d84a42b8" /><Relationship Type="http://schemas.openxmlformats.org/officeDocument/2006/relationships/notesMaster" Target="/ppt/notesMasters/notesMaster1.xml" Id="R5fdf06f4243347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65e49b650147b3" /><Relationship Type="http://schemas.openxmlformats.org/officeDocument/2006/relationships/notesMaster" Target="/ppt/notesMasters/notesMaster1.xml" Id="Ra479fca4bafb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b44164d804450e" /><Relationship Type="http://schemas.openxmlformats.org/officeDocument/2006/relationships/notesMaster" Target="/ppt/notesMasters/notesMaster1.xml" Id="R113afd27c64d44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295505bf414679" /><Relationship Type="http://schemas.openxmlformats.org/officeDocument/2006/relationships/notesMaster" Target="/ppt/notesMasters/notesMaster1.xml" Id="R42b0a124efa742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6022b6f8934bff" /><Relationship Type="http://schemas.openxmlformats.org/officeDocument/2006/relationships/notesMaster" Target="/ppt/notesMasters/notesMaster1.xml" Id="R5bde53c5876f48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652b78d4b049c2" /><Relationship Type="http://schemas.openxmlformats.org/officeDocument/2006/relationships/notesMaster" Target="/ppt/notesMasters/notesMaster1.xml" Id="Ra6b67d23b6c140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e56eb3ccb34547" /><Relationship Type="http://schemas.openxmlformats.org/officeDocument/2006/relationships/notesMaster" Target="/ppt/notesMasters/notesMaster1.xml" Id="Rcdd9c29f2bfe41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3f1035166e4f88" /><Relationship Type="http://schemas.openxmlformats.org/officeDocument/2006/relationships/notesMaster" Target="/ppt/notesMasters/notesMaster1.xml" Id="R885b08cb405146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3aad6c7b014a68" /><Relationship Type="http://schemas.openxmlformats.org/officeDocument/2006/relationships/notesMaster" Target="/ppt/notesMasters/notesMaster1.xml" Id="R1ef592393ac344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fbb6468ce04ee9" /><Relationship Type="http://schemas.openxmlformats.org/officeDocument/2006/relationships/notesMaster" Target="/ppt/notesMasters/notesMaster1.xml" Id="Rf6f9b1f7167e40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d0cf8cd0604a59" /><Relationship Type="http://schemas.openxmlformats.org/officeDocument/2006/relationships/notesMaster" Target="/ppt/notesMasters/notesMaster1.xml" Id="Re3f266f63faf48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24dd68f8c74c44" /><Relationship Type="http://schemas.openxmlformats.org/officeDocument/2006/relationships/notesMaster" Target="/ppt/notesMasters/notesMaster1.xml" Id="R84bb0d454a54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9bbfddf57f4962" /><Relationship Type="http://schemas.openxmlformats.org/officeDocument/2006/relationships/notesMaster" Target="/ppt/notesMasters/notesMaster1.xml" Id="Raf322afff9ca4a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1e7b3471574f5e" /><Relationship Type="http://schemas.openxmlformats.org/officeDocument/2006/relationships/notesMaster" Target="/ppt/notesMasters/notesMaster1.xml" Id="Rc1c55d8aab0543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d3ea3ca052436d" /><Relationship Type="http://schemas.openxmlformats.org/officeDocument/2006/relationships/notesMaster" Target="/ppt/notesMasters/notesMaster1.xml" Id="R3f4438639a3040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03c35c8b53481d" /><Relationship Type="http://schemas.openxmlformats.org/officeDocument/2006/relationships/notesMaster" Target="/ppt/notesMasters/notesMaster1.xml" Id="R4df682d93a3440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746d90c27c4355" /><Relationship Type="http://schemas.openxmlformats.org/officeDocument/2006/relationships/notesMaster" Target="/ppt/notesMasters/notesMaster1.xml" Id="Redef7439e22444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0.5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Buka sesi dengan tujuan: peserta mampu menilai peluang ekspor sebelum berkomitmen. Ini sesi business foundation, bukan tutorial dokumen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1–4.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Jelaskan tiga bagian. Undang peserta memakai bisnisnya sendiri sebagai pembanding. Kita memakai satu kasus fiktif yang diulang sehingga konsep mudah dihubungkan.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4.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Bedakan kemampuan menangkap peluang dan kemampuan mempertimbangkan trade-off. Contoh: order menarik belum tentu layak jika mengganggu order lama. Arahkan peserta ke bukti, bukan sekadar keberanian.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Polling singkat. Catat alasan, jangan beri jawaban final dulu. Seluruh angka dan keadaan kasus adalah asumsi pembelajaran. 30 hari adalah tenggat permintaan, bukan klaim lead time ekspor normal.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Metafora kapal dari modul diterjemahkan menjadi keputusan ekspor. Ini bukan urutan administratif atau tahapan wajib. Tunjukkan bahwa adaptasi dan eksperimen berlangsung berulang.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8–9.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Sepuluh karakter bersumber dari modul. Contoh tindakan adalah adaptasi. Bukan instrumen psikologi atau ciri yang menjamin keberhasilan. Minta satu refleksi singkat.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11.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Sebut satu feedback buyer dan minta peserta mengubah respons defensif menjadi pertanyaan. Tegaskan terbuka terhadap feedback tetap memperhitungkan biaya dan kemampuan.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12.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memberi arah tetapi tidak menggantikan bukti permintaan. Hubungkan ke trade-off dari kasus. Contoh sengaja memakai bisnis fiktif yang sama.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20–21.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Tetap memakai passion/talent/profit seperti modul. Tambahkan pemeriksaan buyer, mutu, kapasitas, dan total biaya saat menjelaskan. Diagram bukan data kuantitatif.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17.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Adaptasi alur pengujian Strategyzer. Tidak mengasumsikan harga murah selalu menang. Untuk bisnis berjalan, gunakan percakapan dengan buyer aktual; calon eksportir dapat mulai dari target buyer yang relevan.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6,17,27.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Arketipe adalah lensa peran, bukan label kepribadian tetap. Minta peserta melihat bagian mana yang kosong. Peran dapat diisi owner, karyawan, atau mitra dengan tanggung jawab jelas.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18,9,30.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Kapasitas tersedia harus mempertimbangkan pesanan lain. Produk/pasar tertentu memiliki persyaratan berbeda; minta tim memeriksanya sebelum komitmen. Jangan menebak aturan teknis dari framework ini.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23–25. Rangkuman CMC × BD Ekspor.</a:t>
            </a:r>
          </a:p>
          <a:p xmlns:a="http://schemas.openxmlformats.org/drawingml/2006/main">
            <a:r>
              <a:t>https://www.trade.gov/develop-export-plan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Tanyakan: siapa membiayai bahan dan proses saat pembayaran belum masuk? Pada kasus, belum ada nilai uang sehingga kita tidak mengarang kebutuhan modal atau margin. Alternatif termin harus dinegosiasikan dan risikonya dievaluasi; jangan menganggap uang muka pasti diterima buyer.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23–24. Rangkuman CMC × BD Ekspor.</a:t>
            </a:r>
          </a:p>
          <a:p xmlns:a="http://schemas.openxmlformats.org/drawingml/2006/main">
            <a:r>
              <a:t>https://www.trade.gov/methods-payment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Risiko tidak hilang sepenuhnya. Kontrol mengurangi kemungkinan atau dampak, bukan menjamin hasil. Jika mitigasi tidak terjangkau, ubah syarat atau tunda. Minta peserta menyebut satu batas stop untuk usaha sendiri.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25.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Bandingkan pilihan awal peserta pada slide4. Tanya bukti apa yang mengubah keputusan. Data500/300 hanya menggambarkan gap kapasitas200unit, tidak menetapkan keputusan semua kasus ekspor. Alternatif menambah mitra harus diuji mutu/biaya/jadwalnya.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Build–Measure–Learn adalah proses berulang. Sampel harus relevan dengan asumsi yang diuji. Lanjutkan hanya jika bukti mendukung; kegagalan uji bisa menghemat komitmen lebih besar.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https://theleanstartup.com/principles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Patokan lanjut adalah contoh yang perlu disesuaikan dengan bisnis, bukan threshold universal. Langkah komersial dapat berupa permintaan penawaran atau uji sampel yang jelas; itu belum sama dengan kontrak atau pembayaran.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Tangga ini ilustrasi kekuatan bukti, bukan conversion funnel dengan probabilitas. Feedback negatif yang spesifik juga berharga. Permintaan penawaran bukan jaminan pembelian. Jangan memproduksi besar hanya berdasarkan pujian atau likes.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Persamaan expertise adalah metafora modul, bukan rumus matematis tervalidasi. Minta peserta menentukan siapa yang dapat memberi masukan pada uji mereka.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28.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Pertahankan limaP dari modul. Contoh pitch: Kami membantu buyer dekorasi rumah yang butuh ukuran tertentu; kami sedang menguji dua ukuran dengan spesifikasi yang disepakati. Jangan mengarang traction. Kerja sama tidak sama dengan jaminan pasar.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29.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Alokasikan1menit menulis,1menit berbagi dengan sebelah,1menit satucontoh dan rangkuman. Calon eksportir dapat menguji kebutuhan targetbuyer, pelakuusaha dapat menguji perubahan spesifikasi/termin. Durasi7hari hanyacontoh dan tidak cocok untuk semua siklus produk.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27–29.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Tutup dengan kembali ke pilihan awal: terima, negosiasikan, atau tunda. Tekankan bahwa keputusan yang sehat lahir dari bukti dan kemampuan, bukan keberanian saja. BukaQ&amp;Aterpisah jika panitia menyediakan waktu.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30.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fe4907d2b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94ef50be54fc7" /><Relationship Type="http://schemas.openxmlformats.org/officeDocument/2006/relationships/slideLayout" Target="/ppt/slideLayouts/slideLayout1.xml" Id="Rb3cff405167b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ff405167b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135fbba734efe" /><Relationship Type="http://schemas.openxmlformats.org/officeDocument/2006/relationships/image" Target="/ppt/media/image.png" Id="R3163876f9e0c440d" /><Relationship Type="http://schemas.openxmlformats.org/officeDocument/2006/relationships/image" Target="/ppt/media/image2.png" Id="R0108b8a70eab44ef" /><Relationship Type="http://schemas.openxmlformats.org/officeDocument/2006/relationships/notesSlide" Target="/ppt/notesSlides/notesSlide1.xml" Id="Rdcebcbcac30a4a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77d263be44fb9" /><Relationship Type="http://schemas.openxmlformats.org/officeDocument/2006/relationships/image" Target="/ppt/media/image3.png" Id="Rd4c8ac249929411d" /><Relationship Type="http://schemas.openxmlformats.org/officeDocument/2006/relationships/image" Target="/ppt/media/image4.png" Id="R93f2c462021642ae" /><Relationship Type="http://schemas.openxmlformats.org/officeDocument/2006/relationships/image" Target="/ppt/media/image5.png" Id="Re070e1b29f0e4341" /><Relationship Type="http://schemas.openxmlformats.org/officeDocument/2006/relationships/image" Target="/ppt/media/image6.png" Id="Rdfa697fbc64b40f6" /><Relationship Type="http://schemas.openxmlformats.org/officeDocument/2006/relationships/image" Target="/ppt/media/image7.png" Id="R7632c3768fbc455b" /><Relationship Type="http://schemas.openxmlformats.org/officeDocument/2006/relationships/notesSlide" Target="/ppt/notesSlides/notesSlide2.xml" Id="Rc641aedb3e8a4e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c79d9791c44b0" /><Relationship Type="http://schemas.openxmlformats.org/officeDocument/2006/relationships/image" Target="/ppt/media/image8.png" Id="R3170b46a942b4353" /><Relationship Type="http://schemas.openxmlformats.org/officeDocument/2006/relationships/image" Target="/ppt/media/image9.png" Id="R403a0169a1e84445" /><Relationship Type="http://schemas.openxmlformats.org/officeDocument/2006/relationships/image" Target="/ppt/media/image10.png" Id="R09dd315633214986" /><Relationship Type="http://schemas.openxmlformats.org/officeDocument/2006/relationships/image" Target="/ppt/media/image11.png" Id="R2d0cbf1f3a424e77" /><Relationship Type="http://schemas.openxmlformats.org/officeDocument/2006/relationships/image" Target="/ppt/media/image12.png" Id="R6573436d6e8f452e" /><Relationship Type="http://schemas.openxmlformats.org/officeDocument/2006/relationships/notesSlide" Target="/ppt/notesSlides/notesSlide3.xml" Id="R977c9f32510344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78c89fb564eb7" /><Relationship Type="http://schemas.openxmlformats.org/officeDocument/2006/relationships/image" Target="/ppt/media/image13.png" Id="Rc867284e9faf4aaa" /><Relationship Type="http://schemas.openxmlformats.org/officeDocument/2006/relationships/image" Target="/ppt/media/image14.png" Id="Rcfdc621959d0470a" /><Relationship Type="http://schemas.openxmlformats.org/officeDocument/2006/relationships/image" Target="/ppt/media/image15.png" Id="R3cb124ca455a4e10" /><Relationship Type="http://schemas.openxmlformats.org/officeDocument/2006/relationships/notesSlide" Target="/ppt/notesSlides/notesSlide4.xml" Id="R558da5f8583b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d00afe8d44545" /><Relationship Type="http://schemas.openxmlformats.org/officeDocument/2006/relationships/image" Target="/ppt/media/image16.png" Id="Rb3ec18561ac74d16" /><Relationship Type="http://schemas.openxmlformats.org/officeDocument/2006/relationships/image" Target="/ppt/media/image17.png" Id="Ra73cd6b1f0554671" /><Relationship Type="http://schemas.openxmlformats.org/officeDocument/2006/relationships/notesSlide" Target="/ppt/notesSlides/notesSlide5.xml" Id="Rbba5194a752248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42514c2f4960" /><Relationship Type="http://schemas.openxmlformats.org/officeDocument/2006/relationships/image" Target="/ppt/media/image18.png" Id="R5c1d6cd1930341ff" /><Relationship Type="http://schemas.openxmlformats.org/officeDocument/2006/relationships/image" Target="/ppt/media/image19.png" Id="R02ce050285b5430b" /><Relationship Type="http://schemas.openxmlformats.org/officeDocument/2006/relationships/image" Target="/ppt/media/image20.png" Id="R7bcdc3c06bb040fb" /><Relationship Type="http://schemas.openxmlformats.org/officeDocument/2006/relationships/image" Target="/ppt/media/image21.png" Id="R8eee4d086e8f4632" /><Relationship Type="http://schemas.openxmlformats.org/officeDocument/2006/relationships/image" Target="/ppt/media/image22.png" Id="R9fd3be0387944fba" /><Relationship Type="http://schemas.openxmlformats.org/officeDocument/2006/relationships/image" Target="/ppt/media/image23.png" Id="Rf65be6d13be34b81" /><Relationship Type="http://schemas.openxmlformats.org/officeDocument/2006/relationships/image" Target="/ppt/media/image24.png" Id="Rc2c59de395274bf6" /><Relationship Type="http://schemas.openxmlformats.org/officeDocument/2006/relationships/image" Target="/ppt/media/image25.png" Id="R7f7725adf91f43be" /><Relationship Type="http://schemas.openxmlformats.org/officeDocument/2006/relationships/image" Target="/ppt/media/image26.png" Id="Ra0530d923deb420c" /><Relationship Type="http://schemas.openxmlformats.org/officeDocument/2006/relationships/image" Target="/ppt/media/image27.png" Id="R5a31ac0113b74bde" /><Relationship Type="http://schemas.openxmlformats.org/officeDocument/2006/relationships/image" Target="/ppt/media/image28.png" Id="R4aebb7fec7664d57" /><Relationship Type="http://schemas.openxmlformats.org/officeDocument/2006/relationships/image" Target="/ppt/media/image29.png" Id="Rc7f79ed2a1a546b3" /><Relationship Type="http://schemas.openxmlformats.org/officeDocument/2006/relationships/notesSlide" Target="/ppt/notesSlides/notesSlide6.xml" Id="Rac7020ca1720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da28a9a640bd" /><Relationship Type="http://schemas.openxmlformats.org/officeDocument/2006/relationships/image" Target="/ppt/media/image30.png" Id="R3e8b9bafcc3944af" /><Relationship Type="http://schemas.openxmlformats.org/officeDocument/2006/relationships/image" Target="/ppt/media/image31.png" Id="R1dd58c08feee4b32" /><Relationship Type="http://schemas.openxmlformats.org/officeDocument/2006/relationships/image" Target="/ppt/media/image32.png" Id="R4182c09baaca4059" /><Relationship Type="http://schemas.openxmlformats.org/officeDocument/2006/relationships/image" Target="/ppt/media/image33.png" Id="Rffd9e8caac5b40df" /><Relationship Type="http://schemas.openxmlformats.org/officeDocument/2006/relationships/notesSlide" Target="/ppt/notesSlides/notesSlide7.xml" Id="Rb9d0c31029bb48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b568ff0394a23" /><Relationship Type="http://schemas.openxmlformats.org/officeDocument/2006/relationships/image" Target="/ppt/media/image34.png" Id="R9cd413e2e77f41de" /><Relationship Type="http://schemas.openxmlformats.org/officeDocument/2006/relationships/image" Target="/ppt/media/image35.png" Id="Re4aac1e6cfeb4d63" /><Relationship Type="http://schemas.openxmlformats.org/officeDocument/2006/relationships/notesSlide" Target="/ppt/notesSlides/notesSlide8.xml" Id="Reb04829f02ef4d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89e56a8384fe9" /><Relationship Type="http://schemas.openxmlformats.org/officeDocument/2006/relationships/image" Target="/ppt/media/image36.png" Id="Rcf97de855fb74fe7" /><Relationship Type="http://schemas.openxmlformats.org/officeDocument/2006/relationships/image" Target="/ppt/media/image37.png" Id="R4a9b811100d441d6" /><Relationship Type="http://schemas.openxmlformats.org/officeDocument/2006/relationships/notesSlide" Target="/ppt/notesSlides/notesSlide9.xml" Id="Ra16daf5d2c7d4e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1fb4973344fc" /><Relationship Type="http://schemas.openxmlformats.org/officeDocument/2006/relationships/image" Target="/ppt/media/image38.png" Id="R1fd7465d36ad46c6" /><Relationship Type="http://schemas.openxmlformats.org/officeDocument/2006/relationships/image" Target="/ppt/media/image39.png" Id="R539343e80ba54c4b" /><Relationship Type="http://schemas.openxmlformats.org/officeDocument/2006/relationships/image" Target="/ppt/media/image40.png" Id="R15171772ae104b38" /><Relationship Type="http://schemas.openxmlformats.org/officeDocument/2006/relationships/image" Target="/ppt/media/image41.png" Id="R7671972e44024c5c" /><Relationship Type="http://schemas.openxmlformats.org/officeDocument/2006/relationships/image" Target="/ppt/media/image42.png" Id="R3cf1b18bdfcd44e3" /><Relationship Type="http://schemas.openxmlformats.org/officeDocument/2006/relationships/notesSlide" Target="/ppt/notesSlides/notesSlide10.xml" Id="R5c2cb4f115f2429c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ddf661b2380487a"/><Relationship Type="http://schemas.openxmlformats.org/officeDocument/2006/relationships/image" Target="/ppt/media/image43.png" Id="R49e5c74c5f3745d7"/><Relationship Type="http://schemas.openxmlformats.org/officeDocument/2006/relationships/image" Target="/ppt/media/image44.png" Id="Rd4f8f27b07464fe4"/><Relationship Type="http://schemas.openxmlformats.org/officeDocument/2006/relationships/image" Target="/ppt/media/image45.png" Id="R1c4c8941843b43d8"/><Relationship Type="http://schemas.openxmlformats.org/officeDocument/2006/relationships/image" Target="/ppt/media/image46.png" Id="R3dc92269305544bd"/><Relationship Type="http://schemas.openxmlformats.org/officeDocument/2006/relationships/image" Target="/ppt/media/image47.png" Id="R9e4b5fc69b664f6c"/><Relationship Type="http://schemas.openxmlformats.org/officeDocument/2006/relationships/notesSlide" Target="/ppt/notesSlides/notesSlide11.xml" Id="R28c50bd8746947b5"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b91bcac9e45c4" /><Relationship Type="http://schemas.openxmlformats.org/officeDocument/2006/relationships/image" Target="/ppt/media/image48.png" Id="R1389246d1ae84799" /><Relationship Type="http://schemas.openxmlformats.org/officeDocument/2006/relationships/image" Target="/ppt/media/image49.png" Id="R1894b928342e4cf1" /><Relationship Type="http://schemas.openxmlformats.org/officeDocument/2006/relationships/image" Target="/ppt/media/image50.png" Id="Ra9bc3eb3d5fb4671" /><Relationship Type="http://schemas.openxmlformats.org/officeDocument/2006/relationships/notesSlide" Target="/ppt/notesSlides/notesSlide12.xml" Id="R9c8ce1b46f4945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406e60ffd4a4b" /><Relationship Type="http://schemas.openxmlformats.org/officeDocument/2006/relationships/image" Target="/ppt/media/image51.png" Id="Rb3f6ef6ce23a4f8e" /><Relationship Type="http://schemas.openxmlformats.org/officeDocument/2006/relationships/image" Target="/ppt/media/image52.png" Id="Rb36e06d2e4e04116" /><Relationship Type="http://schemas.openxmlformats.org/officeDocument/2006/relationships/notesSlide" Target="/ppt/notesSlides/notesSlide13.xml" Id="R29bc01a7ffb647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1c387c72b401c" /><Relationship Type="http://schemas.openxmlformats.org/officeDocument/2006/relationships/image" Target="/ppt/media/image53.png" Id="R2173d97952ae4dc8" /><Relationship Type="http://schemas.openxmlformats.org/officeDocument/2006/relationships/image" Target="/ppt/media/image54.png" Id="R2de4628c9d204f14" /><Relationship Type="http://schemas.openxmlformats.org/officeDocument/2006/relationships/notesSlide" Target="/ppt/notesSlides/notesSlide14.xml" Id="R1ad7bef7e5014d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b085df9db411a" /><Relationship Type="http://schemas.openxmlformats.org/officeDocument/2006/relationships/image" Target="/ppt/media/image55.png" Id="R9f536a4061ce4c39" /><Relationship Type="http://schemas.openxmlformats.org/officeDocument/2006/relationships/image" Target="/ppt/media/image56.png" Id="R2e9bbfaa454c40b0" /><Relationship Type="http://schemas.openxmlformats.org/officeDocument/2006/relationships/chart" Target="/ppt/slides/charts/chart2.xml" Id="R806325a75d2a435a" /><Relationship Type="http://schemas.openxmlformats.org/officeDocument/2006/relationships/notesSlide" Target="/ppt/notesSlides/notesSlide15.xml" Id="R0c4ffb8740f549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25109a0b4ca4" /><Relationship Type="http://schemas.openxmlformats.org/officeDocument/2006/relationships/image" Target="/ppt/media/image57.png" Id="R53c046df4e444652" /><Relationship Type="http://schemas.openxmlformats.org/officeDocument/2006/relationships/image" Target="/ppt/media/image58.png" Id="R85351861c6514f24" /><Relationship Type="http://schemas.openxmlformats.org/officeDocument/2006/relationships/notesSlide" Target="/ppt/notesSlides/notesSlide16.xml" Id="R8a297a6a88454e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24e3fa009431a" /><Relationship Type="http://schemas.openxmlformats.org/officeDocument/2006/relationships/image" Target="/ppt/media/image59.png" Id="R3729cb5625994e26" /><Relationship Type="http://schemas.openxmlformats.org/officeDocument/2006/relationships/image" Target="/ppt/media/image60.png" Id="R9d2c8e0fac304c7d" /><Relationship Type="http://schemas.openxmlformats.org/officeDocument/2006/relationships/notesSlide" Target="/ppt/notesSlides/notesSlide17.xml" Id="R70858cac1a624b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0139814a34acb" /><Relationship Type="http://schemas.openxmlformats.org/officeDocument/2006/relationships/image" Target="/ppt/media/image61.png" Id="R151d04d497e54676" /><Relationship Type="http://schemas.openxmlformats.org/officeDocument/2006/relationships/image" Target="/ppt/media/image62.png" Id="Rdd6e473f07e74dff" /><Relationship Type="http://schemas.openxmlformats.org/officeDocument/2006/relationships/notesSlide" Target="/ppt/notesSlides/notesSlide18.xml" Id="R777d2f8a70e04d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a29173aa34477" /><Relationship Type="http://schemas.openxmlformats.org/officeDocument/2006/relationships/image" Target="/ppt/media/image63.png" Id="R96f5d429ac8b4624" /><Relationship Type="http://schemas.openxmlformats.org/officeDocument/2006/relationships/image" Target="/ppt/media/image64.png" Id="R85b0b6d6561947b9" /><Relationship Type="http://schemas.openxmlformats.org/officeDocument/2006/relationships/image" Target="/ppt/media/image65.png" Id="R8836337a5a1a40c9" /><Relationship Type="http://schemas.openxmlformats.org/officeDocument/2006/relationships/image" Target="/ppt/media/image66.png" Id="R27414a31f54c4ec7" /><Relationship Type="http://schemas.openxmlformats.org/officeDocument/2006/relationships/image" Target="/ppt/media/image67.png" Id="Rbcbdea7066b141a6" /><Relationship Type="http://schemas.openxmlformats.org/officeDocument/2006/relationships/image" Target="/ppt/media/image68.png" Id="Rdaa9e523fd964871" /><Relationship Type="http://schemas.openxmlformats.org/officeDocument/2006/relationships/notesSlide" Target="/ppt/notesSlides/notesSlide19.xml" Id="R36cc944af35b41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1329693eb4abb" /><Relationship Type="http://schemas.openxmlformats.org/officeDocument/2006/relationships/image" Target="/ppt/media/image69.png" Id="R4d4c063a2fc5464e" /><Relationship Type="http://schemas.openxmlformats.org/officeDocument/2006/relationships/image" Target="/ppt/media/image70.png" Id="Ra402c32f7a02444f" /><Relationship Type="http://schemas.openxmlformats.org/officeDocument/2006/relationships/notesSlide" Target="/ppt/notesSlides/notesSlide20.xml" Id="Rfaeadac4859042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21bec2c9c4d3c" /><Relationship Type="http://schemas.openxmlformats.org/officeDocument/2006/relationships/image" Target="/ppt/media/image71.png" Id="R61a2089b28874eb2" /><Relationship Type="http://schemas.openxmlformats.org/officeDocument/2006/relationships/image" Target="/ppt/media/image72.png" Id="R90df2d9349ce4ee1" /><Relationship Type="http://schemas.openxmlformats.org/officeDocument/2006/relationships/notesSlide" Target="/ppt/notesSlides/notesSlide21.xml" Id="R40480aa5f7cf43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9dedd549046f3" /><Relationship Type="http://schemas.openxmlformats.org/officeDocument/2006/relationships/image" Target="/ppt/media/image73.png" Id="Ra322adb9e06e437a" /><Relationship Type="http://schemas.openxmlformats.org/officeDocument/2006/relationships/image" Target="/ppt/media/image74.png" Id="R4e57c52465744a25" /><Relationship Type="http://schemas.openxmlformats.org/officeDocument/2006/relationships/notesSlide" Target="/ppt/notesSlides/notesSlide22.xml" Id="Rffcd00d27a8f4db7" 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 xmlns:a="http://schemas.openxmlformats.org/drawingml/2006/main">
              <a:srgbClr val="95BBA9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8795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002B28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3876f9e0c440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8b8a70eab44ef"/>
          <a:stretch xmlns:a="http://schemas.openxmlformats.org/drawingml/2006/main"/>
        </p:blipFill>
        <p:spPr>
          <a:xfrm xmlns:a="http://schemas.openxmlformats.org/drawingml/2006/main">
            <a:off x="457200" y="362075"/>
            <a:ext cx="1828800" cy="685549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10572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Mentality untuk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 Ekspor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B683F34-43DC-47E6-A49E-A5594B1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86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Foundation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CADD6F9-5FE7-4722-913B-86D7C4D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864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7DED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C7DED6"/>
                </a:solidFill>
                <a:latin typeface="Calibri"/>
                <a:ea typeface="Calibri"/>
                <a:cs typeface="Calibri"/>
              </a:rPr>
              <a:t>Cara berpikir dan mengambil keputusan sebelum masuk pasar global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ac249929411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13931-F417-439E-A479-A3384C1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2c462021642ae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1513D116-8CEE-48D4-B5A2-3D76D5DE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Entrepreneurship Mentality untuk Bisnis Ekspor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501BE1F5-CD77-4301-882B-D34646B5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Tiga bekal untuk menilai peluang dan mengambil keputusan dengan lebih tenang.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28CF5708-EDA4-4020-945E-039C84BF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773FC271-00BD-4554-AFB0-69B8675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5687638E-35B9-4B29-B39A-CD20C66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016C5-2ED1-4013-A197-7D8CC05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D25689C7-6A9E-465B-884C-2A484953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7642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Fondasi founder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0e1b29f0e4341"/>
          <a:stretch xmlns:a="http://schemas.openxmlformats.org/drawingml/2006/main"/>
        </p:blipFill>
        <p:spPr>
          <a:xfrm xmlns:a="http://schemas.openxmlformats.org/drawingml/2006/main">
            <a:off x="1781175" y="2390775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1E74BFDB-AEC0-4C23-B495-696DBE98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337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Kenali tujuan dan cara berpikir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3A1197F6-B14D-4E5B-B500-D947C9FA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3623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Business acumen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Growth mindset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Golden Circle + Sweet Spot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4638-4ECA-4EAB-849D-6D22D69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D7465-CD47-4C05-AB99-8A11F8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022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6" name="text-9">
            <a:extLst xmlns:a="http://schemas.openxmlformats.org/drawingml/2006/main">
              <a:ext uri="{FF2B5EF4-FFF2-40B4-BE49-F238E27FC236}">
                <a16:creationId xmlns:a16="http://schemas.microsoft.com/office/drawing/2014/main" id="{9036101A-E007-4C89-AC1B-C4F5A022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7642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Kesiapan bisnis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697fbc64b40f6"/>
          <a:stretch xmlns:a="http://schemas.openxmlformats.org/drawingml/2006/main"/>
        </p:blipFill>
        <p:spPr>
          <a:xfrm xmlns:a="http://schemas.openxmlformats.org/drawingml/2006/main">
            <a:off x="5667375" y="2390775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728CD7F4-6F79-464E-BC32-6D830B2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337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Periksa kemampuan memenuhi janji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54FF52E9-035C-41ED-BB5A-DC6C76DC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62450"/>
            <a:ext cx="33623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Kebutuhan buyer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Tim dan kapasitas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 + batas risiko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3DE73-FB4E-4656-AF4F-FE754B1E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9DFB0-117B-4801-8FB4-35603A0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022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2C6E549A-45D2-421D-8667-976EE2F6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7642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Belajar lewat tindakan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2c3768fbc455b"/>
          <a:stretch xmlns:a="http://schemas.openxmlformats.org/drawingml/2006/main"/>
        </p:blipFill>
        <p:spPr>
          <a:xfrm xmlns:a="http://schemas.openxmlformats.org/drawingml/2006/main">
            <a:off x="9553575" y="2390775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24" name="text-13">
            <a:extLst xmlns:a="http://schemas.openxmlformats.org/drawingml/2006/main">
              <a:ext uri="{FF2B5EF4-FFF2-40B4-BE49-F238E27FC236}">
                <a16:creationId xmlns:a16="http://schemas.microsoft.com/office/drawing/2014/main" id="{D7C26333-AA81-488A-872A-B4CB043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337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Uji sebelum menambah komitmen</a:t>
            </a:r>
          </a:p>
        </p:txBody>
      </p:sp>
      <p:sp>
        <p:nvSpPr>
          <p:cNvPr id="25" name="text-14">
            <a:extLst xmlns:a="http://schemas.openxmlformats.org/drawingml/2006/main">
              <a:ext uri="{FF2B5EF4-FFF2-40B4-BE49-F238E27FC236}">
                <a16:creationId xmlns:a16="http://schemas.microsoft.com/office/drawing/2014/main" id="{113F96A7-5E02-4411-8835-C293A9F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33623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Build–Measure–Learn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Bukti dari pasar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Rencana uji + 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776F8-C159-40DD-94F7-CE3990D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7" name="text-15">
            <a:extLst xmlns:a="http://schemas.openxmlformats.org/drawingml/2006/main">
              <a:ext uri="{FF2B5EF4-FFF2-40B4-BE49-F238E27FC236}">
                <a16:creationId xmlns:a16="http://schemas.microsoft.com/office/drawing/2014/main" id="{B90681CE-0BC8-4330-AA81-E59C090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 akhir sesi, kamu punya satu keputusan dan satu uji untuk bisnismu.</a:t>
            </a:r>
          </a:p>
        </p:txBody>
      </p:sp>
    </p:spTree>
    <p:extLst>
      <p:ext uri="{BB962C8B-B14F-4D97-AF65-F5344CB8AC3E}">
        <p14:creationId xmlns:p14="http://schemas.microsoft.com/office/powerpoint/2010/main" val="1823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0b46a942b435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7F526-D090-4AE2-94A3-87E4890C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a0169a1e84445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408CFFE3-1802-4090-895C-B5A0C85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Business Acumen Membantu Founder Membaca Peluang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EF1699D9-E9D3-435B-8C43-1455809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Entrepreneurship membuka peluang. Business acumen membantu menilai konsekuensinya.</a:t>
            </a:r>
          </a:p>
        </p:txBody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E9632D3C-39CB-46C3-83FE-3059ACF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6310AE5-D19C-4F3C-AA87-90D6D4A9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FA03993D-52E7-4B3B-A9F2-7F31404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19D71-87A5-4B6A-A9E0-9682858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46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2B2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71EEE-B461-4B27-8139-FB0141B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24025"/>
            <a:ext cx="546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2B28"/>
          </a:solidFill>
          <a:ln xmlns:a="http://schemas.openxmlformats.org/drawingml/2006/main" w="0">
            <a:noFill/>
          </a:ln>
        </p:spPr>
      </p:sp>
      <p:sp>
        <p:nvSpPr>
          <p:cNvPr id="11" name="text-21">
            <a:extLst xmlns:a="http://schemas.openxmlformats.org/drawingml/2006/main">
              <a:ext uri="{FF2B5EF4-FFF2-40B4-BE49-F238E27FC236}">
                <a16:creationId xmlns:a16="http://schemas.microsoft.com/office/drawing/2014/main" id="{57182527-416F-4FAF-B962-3C95931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500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4D401854-2785-4042-B23B-E2994291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00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Menemukan dan mengembangkan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 usaha baru.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AFFFE08D-9FB7-41E4-914E-21CCF2D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05000"/>
            <a:ext cx="500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4" name="text-24">
            <a:extLst xmlns:a="http://schemas.openxmlformats.org/drawingml/2006/main">
              <a:ext uri="{FF2B5EF4-FFF2-40B4-BE49-F238E27FC236}">
                <a16:creationId xmlns:a16="http://schemas.microsoft.com/office/drawing/2014/main" id="{95C0D6E8-C8BA-4EC7-8B34-23197D18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86000"/>
            <a:ext cx="500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Memahami kondisi bisnis untuk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membuat keputusan yang masuk akal.</a:t>
            </a:r>
          </a:p>
        </p:txBody>
      </p:sp>
      <p:sp>
        <p:nvSpPr>
          <p:cNvPr id="15" name="text-25">
            <a:extLst xmlns:a="http://schemas.openxmlformats.org/drawingml/2006/main">
              <a:ext uri="{FF2B5EF4-FFF2-40B4-BE49-F238E27FC236}">
                <a16:creationId xmlns:a16="http://schemas.microsoft.com/office/drawing/2014/main" id="{0D338E71-9CE4-4283-ACD1-69DAA62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Saat ada buyer, founder perlu membaca: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d315633214986"/>
          <a:stretch xmlns:a="http://schemas.openxmlformats.org/drawingml/2006/main"/>
        </p:blipFill>
        <p:spPr>
          <a:xfrm xmlns:a="http://schemas.openxmlformats.org/drawingml/2006/main">
            <a:off x="1905000" y="37242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B5BF9-C926-4A73-90C3-47BADF53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311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344BF91A-0DB5-4720-8D42-0FE7F63C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005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ED621D04-D579-4078-A65C-77E9026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006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Masalah apa yang ingin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diselesaikan buyer?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cbf1f3a424e77"/>
          <a:stretch xmlns:a="http://schemas.openxmlformats.org/drawingml/2006/main"/>
        </p:blipFill>
        <p:spPr>
          <a:xfrm xmlns:a="http://schemas.openxmlformats.org/drawingml/2006/main">
            <a:off x="5791200" y="37242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4D00B-27DA-4DE7-98E4-B245F8F4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67225"/>
            <a:ext cx="311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2" name="text-28">
            <a:extLst xmlns:a="http://schemas.openxmlformats.org/drawingml/2006/main">
              <a:ext uri="{FF2B5EF4-FFF2-40B4-BE49-F238E27FC236}">
                <a16:creationId xmlns:a16="http://schemas.microsoft.com/office/drawing/2014/main" id="{4A6C5936-2CBC-4912-8982-69961673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005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Konsekuensi</a:t>
            </a:r>
          </a:p>
        </p:txBody>
      </p:sp>
      <p:sp>
        <p:nvSpPr>
          <p:cNvPr id="23" name="text-29">
            <a:extLst xmlns:a="http://schemas.openxmlformats.org/drawingml/2006/main">
              <a:ext uri="{FF2B5EF4-FFF2-40B4-BE49-F238E27FC236}">
                <a16:creationId xmlns:a16="http://schemas.microsoft.com/office/drawing/2014/main" id="{9FFE7B4E-A2DB-4C14-A52E-13E4941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006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 dampaknya ke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kapasitas dan kas?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3436d6e8f452e"/>
          <a:stretch xmlns:a="http://schemas.openxmlformats.org/drawingml/2006/main"/>
        </p:blipFill>
        <p:spPr>
          <a:xfrm xmlns:a="http://schemas.openxmlformats.org/drawingml/2006/main">
            <a:off x="9677400" y="37242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5A30B-73F1-439E-9C8D-0D33665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67225"/>
            <a:ext cx="311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6" name="text-30">
            <a:extLst xmlns:a="http://schemas.openxmlformats.org/drawingml/2006/main">
              <a:ext uri="{FF2B5EF4-FFF2-40B4-BE49-F238E27FC236}">
                <a16:creationId xmlns:a16="http://schemas.microsoft.com/office/drawing/2014/main" id="{1BA3218B-95E4-4EE2-B8F9-E1EF3A83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005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Pilihan tindakan</a:t>
            </a:r>
          </a:p>
        </p:txBody>
      </p:sp>
      <p:sp>
        <p:nvSpPr>
          <p:cNvPr id="27" name="text-31">
            <a:extLst xmlns:a="http://schemas.openxmlformats.org/drawingml/2006/main">
              <a:ext uri="{FF2B5EF4-FFF2-40B4-BE49-F238E27FC236}">
                <a16:creationId xmlns:a16="http://schemas.microsoft.com/office/drawing/2014/main" id="{CCC5449D-38E1-4C1B-889A-DB8503A2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006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Terima, ubah syarat,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atau tunda dulu?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7284e9faf4aa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39964-D40C-4BB3-938A-FC761519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c621959d0470a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08A512A8-60C9-471E-8924-3858232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Kasus Awal: Buyer Meminta Lebih Besar dari Kapasitas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C8D78C30-B267-48DE-80B2-8F2DC13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Sebelum membahas framework, tentukan dulu respons awalmu.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95B00F38-E331-4136-A7D0-5DEF726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03E31E98-C6A7-4B8F-9D72-BD40F5A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6">
            <a:extLst xmlns:a="http://schemas.openxmlformats.org/drawingml/2006/main">
              <a:ext uri="{FF2B5EF4-FFF2-40B4-BE49-F238E27FC236}">
                <a16:creationId xmlns:a16="http://schemas.microsoft.com/office/drawing/2014/main" id="{4E18E505-DF52-4363-9092-77C52B65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124ca455a4e10"/>
          <a:stretch xmlns:a="http://schemas.openxmlformats.org/drawingml/2006/main"/>
        </p:blipFill>
        <p:spPr>
          <a:xfrm xmlns:a="http://schemas.openxmlformats.org/drawingml/2006/main">
            <a:off x="400050" y="1735138"/>
            <a:ext cx="4667250" cy="3111500"/>
          </a:xfrm>
          <a:prstGeom xmlns:a="http://schemas.openxmlformats.org/drawingml/2006/main" prst="rect">
            <a:avLst/>
          </a:prstGeom>
        </p:spPr>
      </p:pic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8C4D5FD0-FF0E-4DC2-BE33-E06AFE0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Ilustrasi AI untuk kasus fiktif.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E8ABB-4EAC-444F-8E9A-EBEE38D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33550"/>
            <a:ext cx="6362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2" name="text-38">
            <a:extLst xmlns:a="http://schemas.openxmlformats.org/drawingml/2006/main">
              <a:ext uri="{FF2B5EF4-FFF2-40B4-BE49-F238E27FC236}">
                <a16:creationId xmlns:a16="http://schemas.microsoft.com/office/drawing/2014/main" id="{CC8EF6AF-C023-41F5-A39F-6E9AA6BF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9750"/>
            <a:ext cx="613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Usaha dekorasi rumah berbahan rotan</a:t>
            </a:r>
          </a:p>
        </p:txBody>
      </p:sp>
      <p:sp>
        <p:nvSpPr>
          <p:cNvPr id="13" name="text-39">
            <a:extLst xmlns:a="http://schemas.openxmlformats.org/drawingml/2006/main">
              <a:ext uri="{FF2B5EF4-FFF2-40B4-BE49-F238E27FC236}">
                <a16:creationId xmlns:a16="http://schemas.microsoft.com/office/drawing/2014/main" id="{AA12EC68-241D-4645-9C59-3E1EBEB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03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4" name="text-40">
            <a:extLst xmlns:a="http://schemas.openxmlformats.org/drawingml/2006/main">
              <a:ext uri="{FF2B5EF4-FFF2-40B4-BE49-F238E27FC236}">
                <a16:creationId xmlns:a16="http://schemas.microsoft.com/office/drawing/2014/main" id="{D10E839F-CB81-458A-9919-A5A3FFD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unit diminta</a:t>
            </a:r>
          </a:p>
        </p:txBody>
      </p:sp>
      <p:sp>
        <p:nvSpPr>
          <p:cNvPr id="15" name="text-41">
            <a:extLst xmlns:a="http://schemas.openxmlformats.org/drawingml/2006/main">
              <a:ext uri="{FF2B5EF4-FFF2-40B4-BE49-F238E27FC236}">
                <a16:creationId xmlns:a16="http://schemas.microsoft.com/office/drawing/2014/main" id="{7883D27C-0071-4137-A501-F0519097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6" name="text-42">
            <a:extLst xmlns:a="http://schemas.openxmlformats.org/drawingml/2006/main">
              <a:ext uri="{FF2B5EF4-FFF2-40B4-BE49-F238E27FC236}">
                <a16:creationId xmlns:a16="http://schemas.microsoft.com/office/drawing/2014/main" id="{6760F597-3E79-4314-98FC-00ECF866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337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unit kapasitas</a:t>
            </a:r>
          </a:p>
        </p:txBody>
      </p:sp>
      <p:sp>
        <p:nvSpPr>
          <p:cNvPr id="17" name="text-43">
            <a:extLst xmlns:a="http://schemas.openxmlformats.org/drawingml/2006/main">
              <a:ext uri="{FF2B5EF4-FFF2-40B4-BE49-F238E27FC236}">
                <a16:creationId xmlns:a16="http://schemas.microsoft.com/office/drawing/2014/main" id="{018016B3-6251-4CE4-B17F-21C4BCEC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003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57CC18F5-BBF9-47D5-B2FE-B73FA29C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337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hari tenggat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4DAA5-E2D7-4E0C-9CC1-DD3D2986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0" name="text-45">
            <a:extLst xmlns:a="http://schemas.openxmlformats.org/drawingml/2006/main">
              <a:ext uri="{FF2B5EF4-FFF2-40B4-BE49-F238E27FC236}">
                <a16:creationId xmlns:a16="http://schemas.microsoft.com/office/drawing/2014/main" id="{1EC8A7EE-E342-4A4E-9BE1-7EFCD81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6362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Bayar setelah barang diterima.</a:t>
            </a:r>
          </a:p>
          <a:p xmlns:a="http://schemas.openxmlformats.org/drawingml/2006/main">
            <a:pPr>
              <a:defRPr sz="2100" b="1">
                <a:solidFill>
                  <a:srgbClr val="002B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B28"/>
                </a:solidFill>
                <a:latin typeface="Calibri"/>
                <a:ea typeface="Calibri"/>
                <a:cs typeface="Calibri"/>
              </a:rPr>
              <a:t>Kemasan ekspor belum pernah diuji.</a:t>
            </a:r>
          </a:p>
        </p:txBody>
      </p:sp>
      <p:sp>
        <p:nvSpPr>
          <p:cNvPr id="21" name="text-46">
            <a:extLst xmlns:a="http://schemas.openxmlformats.org/drawingml/2006/main">
              <a:ext uri="{FF2B5EF4-FFF2-40B4-BE49-F238E27FC236}">
                <a16:creationId xmlns:a16="http://schemas.microsoft.com/office/drawing/2014/main" id="{957E32E3-162E-426D-B6FB-3866663D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362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     NEGOSIASIKAN     TUNDA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ABB61-036B-470C-8423-924ECA8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CCDFAF55-0932-4F83-8525-384873C5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Pilih satu. Informasi apa yang paling kamu butuhkan sebelum menjawab buyer?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c18561ac74d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C68F9-F772-4567-A62A-27836CD0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cd6b1f0554671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5E0C64A5-BBEE-4A36-8A04-C8970B5D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Lima Tahap Perjalanan Entrepreneur dalam Konteks Ekspor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B6BB897C-761A-46A0-8CFF-8713238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Adaptasi perjalanan entrepreneur: keberanian perlu diikuti pembelajaran dan koordinasi.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08AB89FD-5741-46AC-A74F-8404888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30FDBDB0-1C2C-45A7-84E3-D996F5C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52">
            <a:extLst xmlns:a="http://schemas.openxmlformats.org/drawingml/2006/main">
              <a:ext uri="{FF2B5EF4-FFF2-40B4-BE49-F238E27FC236}">
                <a16:creationId xmlns:a16="http://schemas.microsoft.com/office/drawing/2014/main" id="{72085E29-B26C-4083-9355-F98D12E5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0F282-5336-4B32-AE79-9CBB818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EA14D9D7-62EF-4A6C-867B-C815E26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Berani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memulai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F3E56-9D31-4879-A448-8FA1BDEC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2DB19693-2190-478C-B2CE-902E93C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E51D312F-AA32-4FBE-99C8-5180B064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09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Menghubungi buyer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dan membuka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percakapan.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1B2F5-5819-493A-9AFD-2FC4D35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5" name="text-56">
            <a:extLst xmlns:a="http://schemas.openxmlformats.org/drawingml/2006/main">
              <a:ext uri="{FF2B5EF4-FFF2-40B4-BE49-F238E27FC236}">
                <a16:creationId xmlns:a16="http://schemas.microsoft.com/office/drawing/2014/main" id="{1321E089-A940-40C6-A056-E544EDC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Bukti: kebutuhan awal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CB855-90F5-48B3-AC99-661EC4C4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981325"/>
            <a:ext cx="933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74611-388D-42B0-BF10-D747D62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8" name="text-57">
            <a:extLst xmlns:a="http://schemas.openxmlformats.org/drawingml/2006/main">
              <a:ext uri="{FF2B5EF4-FFF2-40B4-BE49-F238E27FC236}">
                <a16:creationId xmlns:a16="http://schemas.microsoft.com/office/drawing/2014/main" id="{920C262F-10CD-4576-AE8A-D2A4DB5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97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Beradaptasi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dengan pasar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B0EE0-9747-49F3-A443-B8C3A04F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0" name="text-58">
            <a:extLst xmlns:a="http://schemas.openxmlformats.org/drawingml/2006/main">
              <a:ext uri="{FF2B5EF4-FFF2-40B4-BE49-F238E27FC236}">
                <a16:creationId xmlns:a16="http://schemas.microsoft.com/office/drawing/2014/main" id="{3DD559C3-7727-4707-B203-DAA43FCF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337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text-59">
            <a:extLst xmlns:a="http://schemas.openxmlformats.org/drawingml/2006/main">
              <a:ext uri="{FF2B5EF4-FFF2-40B4-BE49-F238E27FC236}">
                <a16:creationId xmlns:a16="http://schemas.microsoft.com/office/drawing/2014/main" id="{D4B06E51-3C73-40DC-B518-4C5AD8B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2009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Menyesuaikan ukuran,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kemasan, atau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cara menawarkan.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5629C-4253-4CBD-9E7C-DC80313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3" name="text-60">
            <a:extLst xmlns:a="http://schemas.openxmlformats.org/drawingml/2006/main">
              <a:ext uri="{FF2B5EF4-FFF2-40B4-BE49-F238E27FC236}">
                <a16:creationId xmlns:a16="http://schemas.microsoft.com/office/drawing/2014/main" id="{3F44C3AF-9B61-4EF6-98A3-D20E4D6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863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Bukti: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B1ADF-89F1-420A-AEA9-25CF90D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2981325"/>
            <a:ext cx="933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749ED-4BC3-4ED1-84C2-EF452CEE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33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6" name="text-61">
            <a:extLst xmlns:a="http://schemas.openxmlformats.org/drawingml/2006/main">
              <a:ext uri="{FF2B5EF4-FFF2-40B4-BE49-F238E27FC236}">
                <a16:creationId xmlns:a16="http://schemas.microsoft.com/office/drawing/2014/main" id="{1A97702D-E709-4B59-BEE3-41FD814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97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Menguji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secara lincah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796A4F-FDBA-4748-ADFD-8BD386B9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8" name="text-62">
            <a:extLst xmlns:a="http://schemas.openxmlformats.org/drawingml/2006/main">
              <a:ext uri="{FF2B5EF4-FFF2-40B4-BE49-F238E27FC236}">
                <a16:creationId xmlns:a16="http://schemas.microsoft.com/office/drawing/2014/main" id="{77220848-5037-4F68-98A9-A50C1B9A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337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text-63">
            <a:extLst xmlns:a="http://schemas.openxmlformats.org/drawingml/2006/main">
              <a:ext uri="{FF2B5EF4-FFF2-40B4-BE49-F238E27FC236}">
                <a16:creationId xmlns:a16="http://schemas.microsoft.com/office/drawing/2014/main" id="{1A70CA2A-1052-481A-930A-0D784CBC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2009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Mulai dari sampel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atau percobaan yang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risikonya terbatas.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86138-3533-4498-9E91-91395B0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1" name="text-64">
            <a:extLst xmlns:a="http://schemas.openxmlformats.org/drawingml/2006/main">
              <a:ext uri="{FF2B5EF4-FFF2-40B4-BE49-F238E27FC236}">
                <a16:creationId xmlns:a16="http://schemas.microsoft.com/office/drawing/2014/main" id="{5E1C82EA-E369-446B-A83D-A735BD7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863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Bukti: hasil uji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6F7C7-0A5E-4D3F-9BBF-D4AF197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2981325"/>
            <a:ext cx="933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C14EC-6F20-45DA-BCD7-370CCA0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33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4" name="text-65">
            <a:extLst xmlns:a="http://schemas.openxmlformats.org/drawingml/2006/main">
              <a:ext uri="{FF2B5EF4-FFF2-40B4-BE49-F238E27FC236}">
                <a16:creationId xmlns:a16="http://schemas.microsoft.com/office/drawing/2014/main" id="{EEE1104F-A668-4938-8202-19692F16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97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Memilih tim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 mitra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677802-A265-4F1E-BAD9-5289787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36" name="text-66">
            <a:extLst xmlns:a="http://schemas.openxmlformats.org/drawingml/2006/main">
              <a:ext uri="{FF2B5EF4-FFF2-40B4-BE49-F238E27FC236}">
                <a16:creationId xmlns:a16="http://schemas.microsoft.com/office/drawing/2014/main" id="{FDEF688F-B5CD-49E2-BE74-AA256723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337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-67">
            <a:extLst xmlns:a="http://schemas.openxmlformats.org/drawingml/2006/main">
              <a:ext uri="{FF2B5EF4-FFF2-40B4-BE49-F238E27FC236}">
                <a16:creationId xmlns:a16="http://schemas.microsoft.com/office/drawing/2014/main" id="{78C5C088-8689-442A-AE9F-C7ED9A5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2009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Menutup kebutuhan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produksi, komunikasi,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dan pengiriman.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212A0-C78B-4C6F-A51B-7806EE72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9" name="text-68">
            <a:extLst xmlns:a="http://schemas.openxmlformats.org/drawingml/2006/main">
              <a:ext uri="{FF2B5EF4-FFF2-40B4-BE49-F238E27FC236}">
                <a16:creationId xmlns:a16="http://schemas.microsoft.com/office/drawing/2014/main" id="{FDF9C465-FF2D-47EB-BC40-6C678DF3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Bukti: PIC jelas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869310-8DE6-42FE-9B84-81C4517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2981325"/>
            <a:ext cx="933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5846E8-3D31-4DB2-B6B6-40C7DDC2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33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42" name="text-69">
            <a:extLst xmlns:a="http://schemas.openxmlformats.org/drawingml/2006/main">
              <a:ext uri="{FF2B5EF4-FFF2-40B4-BE49-F238E27FC236}">
                <a16:creationId xmlns:a16="http://schemas.microsoft.com/office/drawing/2014/main" id="{5156806E-2711-402E-8668-5319AC5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97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Menjaga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misi bersama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0D2AD9-A6DB-4B7F-827B-0D028BA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44" name="text-70">
            <a:extLst xmlns:a="http://schemas.openxmlformats.org/drawingml/2006/main">
              <a:ext uri="{FF2B5EF4-FFF2-40B4-BE49-F238E27FC236}">
                <a16:creationId xmlns:a16="http://schemas.microsoft.com/office/drawing/2014/main" id="{E404F6ED-8CD9-4A83-9D97-53459A8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9337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5" name="text-71">
            <a:extLst xmlns:a="http://schemas.openxmlformats.org/drawingml/2006/main">
              <a:ext uri="{FF2B5EF4-FFF2-40B4-BE49-F238E27FC236}">
                <a16:creationId xmlns:a16="http://schemas.microsoft.com/office/drawing/2014/main" id="{E0291D0F-FE8A-4CE5-A345-8888E1ED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2009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Mengejar pesanan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berulang melalui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janji yang terpenuhi.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BB7BB2-A5BC-460F-9F6A-7D82E1B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49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47" name="text-72">
            <a:extLst xmlns:a="http://schemas.openxmlformats.org/drawingml/2006/main">
              <a:ext uri="{FF2B5EF4-FFF2-40B4-BE49-F238E27FC236}">
                <a16:creationId xmlns:a16="http://schemas.microsoft.com/office/drawing/2014/main" id="{66122F7F-5313-4AB6-94A8-E8B77DE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863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Bukti: arah bersama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891AA8-2985-47CB-B56E-1AD40476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49" name="text-73">
            <a:extLst xmlns:a="http://schemas.openxmlformats.org/drawingml/2006/main">
              <a:ext uri="{FF2B5EF4-FFF2-40B4-BE49-F238E27FC236}">
                <a16:creationId xmlns:a16="http://schemas.microsoft.com/office/drawing/2014/main" id="{B2736876-B04D-49E9-A522-25C8977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ini bisa berulang. Pertahankan tujuan, sesuaikan cara mencapainya.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d6cd1930341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530FE-990C-4AD3-947F-BFAD33CF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e050285b5430b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10E85645-C598-4E6D-B879-1FF2BDBA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Karakter Founder Terlihat dari Kebiasaan Sehari-hari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2B88CDB1-E0F3-4D45-BCAB-9871E4C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Sepuluh karakter dari modul dapat dilatih melalui tindakan yang bisa diamati.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F9174A70-C7EB-4BC5-BDE4-3C2A33E0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9CB6A6A2-20B7-4C3F-B179-E33ED51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20FA094A-FCB0-40FF-99B7-F197E50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dc3c06bb040fb"/>
          <a:stretch xmlns:a="http://schemas.openxmlformats.org/drawingml/2006/main"/>
        </p:blipFill>
        <p:spPr>
          <a:xfrm xmlns:a="http://schemas.openxmlformats.org/drawingml/2006/main">
            <a:off x="400050" y="1752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22B67046-D39D-451B-864B-0741B88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733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0318F611-96DE-4EE0-B495-4A3E789A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66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Tanya alasan di balik permintaan buyer.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88AE5-EF45-4B46-A62D-5C637C96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19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4d086e8f4632"/>
          <a:stretch xmlns:a="http://schemas.openxmlformats.org/drawingml/2006/main"/>
        </p:blipFill>
        <p:spPr>
          <a:xfrm xmlns:a="http://schemas.openxmlformats.org/drawingml/2006/main">
            <a:off x="400050" y="2514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-81">
            <a:extLst xmlns:a="http://schemas.openxmlformats.org/drawingml/2006/main">
              <a:ext uri="{FF2B5EF4-FFF2-40B4-BE49-F238E27FC236}">
                <a16:creationId xmlns:a16="http://schemas.microsoft.com/office/drawing/2014/main" id="{9AF43707-F179-4BAB-B554-2CCA1CEE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95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Mau bereksperimen</a:t>
            </a:r>
          </a:p>
        </p:txBody>
      </p:sp>
      <p:sp>
        <p:nvSpPr>
          <p:cNvPr id="15" name="text-82">
            <a:extLst xmlns:a="http://schemas.openxmlformats.org/drawingml/2006/main">
              <a:ext uri="{FF2B5EF4-FFF2-40B4-BE49-F238E27FC236}">
                <a16:creationId xmlns:a16="http://schemas.microsoft.com/office/drawing/2014/main" id="{101D0BC4-2401-4DA4-8E92-194E944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28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Uji sampel sebelum menambah stok.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9E6EB-4E76-4BCF-9295-7408891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81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3be0387944fba"/>
          <a:stretch xmlns:a="http://schemas.openxmlformats.org/drawingml/2006/main"/>
        </p:blipFill>
        <p:spPr>
          <a:xfrm xmlns:a="http://schemas.openxmlformats.org/drawingml/2006/main">
            <a:off x="40005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-83">
            <a:extLst xmlns:a="http://schemas.openxmlformats.org/drawingml/2006/main">
              <a:ext uri="{FF2B5EF4-FFF2-40B4-BE49-F238E27FC236}">
                <a16:creationId xmlns:a16="http://schemas.microsoft.com/office/drawing/2014/main" id="{1F23CEED-F330-4AEF-B328-0F3AE1B4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57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Mampu beradaptasi</a:t>
            </a:r>
          </a:p>
        </p:txBody>
      </p:sp>
      <p:sp>
        <p:nvSpPr>
          <p:cNvPr id="19" name="text-84">
            <a:extLst xmlns:a="http://schemas.openxmlformats.org/drawingml/2006/main">
              <a:ext uri="{FF2B5EF4-FFF2-40B4-BE49-F238E27FC236}">
                <a16:creationId xmlns:a16="http://schemas.microsoft.com/office/drawing/2014/main" id="{B8FB28F3-8BE4-4D0A-96E7-CD8B7976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90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Ubah pendekatan setelah ada bukti.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CA598-6434-42E0-96BB-8DBD57F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43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be6d13be34b81"/>
          <a:stretch xmlns:a="http://schemas.openxmlformats.org/drawingml/2006/main"/>
        </p:blipFill>
        <p:spPr>
          <a:xfrm xmlns:a="http://schemas.openxmlformats.org/drawingml/2006/main">
            <a:off x="400050" y="4038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" name="text-85">
            <a:extLst xmlns:a="http://schemas.openxmlformats.org/drawingml/2006/main">
              <a:ext uri="{FF2B5EF4-FFF2-40B4-BE49-F238E27FC236}">
                <a16:creationId xmlns:a16="http://schemas.microsoft.com/office/drawing/2014/main" id="{F4F26E28-10BB-4025-9A3C-ABE355F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9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Tegas mengambil keputusan</a:t>
            </a:r>
          </a:p>
        </p:txBody>
      </p:sp>
      <p:sp>
        <p:nvSpPr>
          <p:cNvPr id="23" name="text-86">
            <a:extLst xmlns:a="http://schemas.openxmlformats.org/drawingml/2006/main">
              <a:ext uri="{FF2B5EF4-FFF2-40B4-BE49-F238E27FC236}">
                <a16:creationId xmlns:a16="http://schemas.microsoft.com/office/drawing/2014/main" id="{BD190633-2DF1-47D7-9143-8496FC5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52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Pilih langkah, jelaskan alasannya.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A0F48-44EB-4108-9A14-CDE44020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05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59de395274bf6"/>
          <a:stretch xmlns:a="http://schemas.openxmlformats.org/drawingml/2006/main"/>
        </p:blipFill>
        <p:spPr>
          <a:xfrm xmlns:a="http://schemas.openxmlformats.org/drawingml/2006/main">
            <a:off x="400050" y="4800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-87">
            <a:extLst xmlns:a="http://schemas.openxmlformats.org/drawingml/2006/main">
              <a:ext uri="{FF2B5EF4-FFF2-40B4-BE49-F238E27FC236}">
                <a16:creationId xmlns:a16="http://schemas.microsoft.com/office/drawing/2014/main" id="{ADD7273B-2E80-48CC-B799-DB58441E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81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7" name="text-88">
            <a:extLst xmlns:a="http://schemas.openxmlformats.org/drawingml/2006/main">
              <a:ext uri="{FF2B5EF4-FFF2-40B4-BE49-F238E27FC236}">
                <a16:creationId xmlns:a16="http://schemas.microsoft.com/office/drawing/2014/main" id="{52014F23-9043-4385-9D4D-8FB33BDF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14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Akui kemampuan yang belum dimiliki.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725adf91f43be"/>
          <a:stretch xmlns:a="http://schemas.openxmlformats.org/drawingml/2006/main"/>
        </p:blipFill>
        <p:spPr>
          <a:xfrm xmlns:a="http://schemas.openxmlformats.org/drawingml/2006/main">
            <a:off x="6324600" y="1752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9" name="text-89">
            <a:extLst xmlns:a="http://schemas.openxmlformats.org/drawingml/2006/main">
              <a:ext uri="{FF2B5EF4-FFF2-40B4-BE49-F238E27FC236}">
                <a16:creationId xmlns:a16="http://schemas.microsoft.com/office/drawing/2014/main" id="{BC69855C-9860-4479-B4FB-09C9C52C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733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30" name="text-90">
            <a:extLst xmlns:a="http://schemas.openxmlformats.org/drawingml/2006/main">
              <a:ext uri="{FF2B5EF4-FFF2-40B4-BE49-F238E27FC236}">
                <a16:creationId xmlns:a16="http://schemas.microsoft.com/office/drawing/2014/main" id="{A931BFE9-47A5-4977-A88A-85629BD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66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Tentukan kerugian yang masih sanggup.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A0F22-777E-4F61-BF79-7338DB4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19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30d923deb420c"/>
          <a:stretch xmlns:a="http://schemas.openxmlformats.org/drawingml/2006/main"/>
        </p:blipFill>
        <p:spPr>
          <a:xfrm xmlns:a="http://schemas.openxmlformats.org/drawingml/2006/main">
            <a:off x="6324600" y="2514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3" name="text-91">
            <a:extLst xmlns:a="http://schemas.openxmlformats.org/drawingml/2006/main">
              <a:ext uri="{FF2B5EF4-FFF2-40B4-BE49-F238E27FC236}">
                <a16:creationId xmlns:a16="http://schemas.microsoft.com/office/drawing/2014/main" id="{D1B6DA3F-20BB-4BEC-8DED-14C5783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95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Belajar dari kegagalan</a:t>
            </a:r>
          </a:p>
        </p:txBody>
      </p:sp>
      <p:sp>
        <p:nvSpPr>
          <p:cNvPr id="34" name="text-92">
            <a:extLst xmlns:a="http://schemas.openxmlformats.org/drawingml/2006/main">
              <a:ext uri="{FF2B5EF4-FFF2-40B4-BE49-F238E27FC236}">
                <a16:creationId xmlns:a16="http://schemas.microsoft.com/office/drawing/2014/main" id="{36702B58-AC33-4446-A88A-A9DF114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28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Catat penyebab, perbaiki uji berikutnya.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943067-6E07-42DB-9AD3-B42D95D0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81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1ac0113b74bde"/>
          <a:stretch xmlns:a="http://schemas.openxmlformats.org/drawingml/2006/main"/>
        </p:blipFill>
        <p:spPr>
          <a:xfrm xmlns:a="http://schemas.openxmlformats.org/drawingml/2006/main">
            <a:off x="632460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7" name="text-93">
            <a:extLst xmlns:a="http://schemas.openxmlformats.org/drawingml/2006/main">
              <a:ext uri="{FF2B5EF4-FFF2-40B4-BE49-F238E27FC236}">
                <a16:creationId xmlns:a16="http://schemas.microsoft.com/office/drawing/2014/main" id="{6694E7B6-5DDE-449E-B867-0A44018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57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8" name="text-94">
            <a:extLst xmlns:a="http://schemas.openxmlformats.org/drawingml/2006/main">
              <a:ext uri="{FF2B5EF4-FFF2-40B4-BE49-F238E27FC236}">
                <a16:creationId xmlns:a16="http://schemas.microsoft.com/office/drawing/2014/main" id="{5B3348B3-2518-45CE-B043-7354368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90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Tindak lanjuti secara disiplin.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93BEC6-21C7-4966-9B4C-F9050DD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43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bb7fec7664d57"/>
          <a:stretch xmlns:a="http://schemas.openxmlformats.org/drawingml/2006/main"/>
        </p:blipFill>
        <p:spPr>
          <a:xfrm xmlns:a="http://schemas.openxmlformats.org/drawingml/2006/main">
            <a:off x="6324600" y="4038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1" name="text-95">
            <a:extLst xmlns:a="http://schemas.openxmlformats.org/drawingml/2006/main">
              <a:ext uri="{FF2B5EF4-FFF2-40B4-BE49-F238E27FC236}">
                <a16:creationId xmlns:a16="http://schemas.microsoft.com/office/drawing/2014/main" id="{D303F034-C7F9-413A-BD5D-916871B0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Pemikiran inovatif</a:t>
            </a:r>
          </a:p>
        </p:txBody>
      </p:sp>
      <p:sp>
        <p:nvSpPr>
          <p:cNvPr id="42" name="text-96">
            <a:extLst xmlns:a="http://schemas.openxmlformats.org/drawingml/2006/main">
              <a:ext uri="{FF2B5EF4-FFF2-40B4-BE49-F238E27FC236}">
                <a16:creationId xmlns:a16="http://schemas.microsoft.com/office/drawing/2014/main" id="{213B3E54-86C5-423C-9454-9CDB05A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52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Cari cara lain memenuhi kebutuhan.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6FEC90-EC0B-4A6B-A7DD-F373772F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053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79ed2a1a546b3"/>
          <a:stretch xmlns:a="http://schemas.openxmlformats.org/drawingml/2006/main"/>
        </p:blipFill>
        <p:spPr>
          <a:xfrm xmlns:a="http://schemas.openxmlformats.org/drawingml/2006/main">
            <a:off x="6324600" y="4800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5" name="text-97">
            <a:extLst xmlns:a="http://schemas.openxmlformats.org/drawingml/2006/main">
              <a:ext uri="{FF2B5EF4-FFF2-40B4-BE49-F238E27FC236}">
                <a16:creationId xmlns:a16="http://schemas.microsoft.com/office/drawing/2014/main" id="{5E7C34AC-EA95-431B-B998-85F1708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81550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6" name="text-98">
            <a:extLst xmlns:a="http://schemas.openxmlformats.org/drawingml/2006/main">
              <a:ext uri="{FF2B5EF4-FFF2-40B4-BE49-F238E27FC236}">
                <a16:creationId xmlns:a16="http://schemas.microsoft.com/office/drawing/2014/main" id="{1AB0BD61-46A7-4D07-9CD2-4863D81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14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Jaga hubungan dan reputasi.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01CCBA-ADAD-4D9F-8419-ED02DBA8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48" name="text-99">
            <a:extLst xmlns:a="http://schemas.openxmlformats.org/drawingml/2006/main">
              <a:ext uri="{FF2B5EF4-FFF2-40B4-BE49-F238E27FC236}">
                <a16:creationId xmlns:a16="http://schemas.microsoft.com/office/drawing/2014/main" id="{60AB08AA-118A-41EC-91CC-6BC9A11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Pilih satu kebiasaan yang paling perlu kamu perbaiki minggu ini.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9bafcc3944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1C124-783E-4B5C-935E-58F93CE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8c08feee4b32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D0559F40-12D9-49CE-9F6C-E0CB5E64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Pola Pikir Berkembang Mengubah Masukan Menjadi Tindakan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01308F7A-85DC-443D-A0D0-688F960C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Buyer: “Ukurannya belum cocok untuk toko kami.” Respons apa yang membuka percakapan?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80EDF06F-68D5-4164-B243-B3098A8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8B2ABD49-5FF5-4865-873A-774EB07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824EDAE6-5A5F-4B1F-838D-AE356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2179E-2943-4073-BE2A-F7214686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11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CA8CE39C-8F3F-4AB7-B16E-5BBEFF8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Pola pikir tetap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CFD25-73FA-4CB2-8DD7-E247C0A7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2" name="text-106">
            <a:extLst xmlns:a="http://schemas.openxmlformats.org/drawingml/2006/main">
              <a:ext uri="{FF2B5EF4-FFF2-40B4-BE49-F238E27FC236}">
                <a16:creationId xmlns:a16="http://schemas.microsoft.com/office/drawing/2014/main" id="{69302985-FDC2-4AA6-814E-A0E434AA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573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Pola pikir berkembang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2c09baaca4059"/>
          <a:stretch xmlns:a="http://schemas.openxmlformats.org/drawingml/2006/main"/>
        </p:blipFill>
        <p:spPr>
          <a:xfrm xmlns:a="http://schemas.openxmlformats.org/drawingml/2006/main">
            <a:off x="3790950" y="3114675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9e8caac5b40df"/>
          <a:stretch xmlns:a="http://schemas.openxmlformats.org/drawingml/2006/main"/>
        </p:blipFill>
        <p:spPr>
          <a:xfrm xmlns:a="http://schemas.openxmlformats.org/drawingml/2006/main">
            <a:off x="6791325" y="3114675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2A3BF-7C84-4FFE-B879-C7271233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0" cy="3209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5BBA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82EFD-FC44-407F-A3F8-943C8A6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3133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</a:ln>
        </p:spPr>
      </p:sp>
      <p:sp>
        <p:nvSpPr>
          <p:cNvPr id="17" name="text-107">
            <a:extLst xmlns:a="http://schemas.openxmlformats.org/drawingml/2006/main">
              <a:ext uri="{FF2B5EF4-FFF2-40B4-BE49-F238E27FC236}">
                <a16:creationId xmlns:a16="http://schemas.microsoft.com/office/drawing/2014/main" id="{2E9CEF41-194C-4F3F-AADF-211C7F8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86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“Buyer nggak paham.”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0C5A5-F1F7-4451-BF1E-5CF19ACD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337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C6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F8A9A-64BB-4B19-A5EF-74E4BAA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3133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</a:ln>
        </p:spPr>
      </p:sp>
      <p:sp>
        <p:nvSpPr>
          <p:cNvPr id="20" name="text-108">
            <a:extLst xmlns:a="http://schemas.openxmlformats.org/drawingml/2006/main">
              <a:ext uri="{FF2B5EF4-FFF2-40B4-BE49-F238E27FC236}">
                <a16:creationId xmlns:a16="http://schemas.microsoft.com/office/drawing/2014/main" id="{5641B49A-CDF6-4B90-AB87-720EFEC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“Pasar ekspor nggak cocok.”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39337-E4ED-42CB-AA18-8BA689F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9243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C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F5810-2E2D-44A9-BF04-7FA56220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3133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</a:ln>
        </p:spPr>
      </p:sp>
      <p:sp>
        <p:nvSpPr>
          <p:cNvPr id="23" name="text-109">
            <a:extLst xmlns:a="http://schemas.openxmlformats.org/drawingml/2006/main">
              <a:ext uri="{FF2B5EF4-FFF2-40B4-BE49-F238E27FC236}">
                <a16:creationId xmlns:a16="http://schemas.microsoft.com/office/drawing/2014/main" id="{0E506A97-C0DE-4495-9C31-46307EF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“Tim kita memang nggak bisa.”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F69FA-BFBA-4116-B2C4-33F12E7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9149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C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0E9F1-4CC8-4C30-9CCD-EB15D1BD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62225"/>
            <a:ext cx="31527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0">
            <a:noFill/>
          </a:ln>
        </p:spPr>
      </p:sp>
      <p:sp>
        <p:nvSpPr>
          <p:cNvPr id="26" name="text-110">
            <a:extLst xmlns:a="http://schemas.openxmlformats.org/drawingml/2006/main">
              <a:ext uri="{FF2B5EF4-FFF2-40B4-BE49-F238E27FC236}">
                <a16:creationId xmlns:a16="http://schemas.microsoft.com/office/drawing/2014/main" id="{C68334BD-A84B-45F8-9D94-73F37CA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86050"/>
            <a:ext cx="288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“Ukuran apa yang dicari?”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52CC2-C251-4B9F-A43A-C599065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95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BCD36-8D4B-46AA-95F9-A9AFF21E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52825"/>
            <a:ext cx="31527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0">
            <a:noFill/>
          </a:ln>
        </p:spPr>
      </p:sp>
      <p:sp>
        <p:nvSpPr>
          <p:cNvPr id="29" name="text-111">
            <a:extLst xmlns:a="http://schemas.openxmlformats.org/drawingml/2006/main">
              <a:ext uri="{FF2B5EF4-FFF2-40B4-BE49-F238E27FC236}">
                <a16:creationId xmlns:a16="http://schemas.microsoft.com/office/drawing/2014/main" id="{0E63C691-840A-43A0-9F4F-043E9DB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76650"/>
            <a:ext cx="288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“Apa yang perlu kita ubah?”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3B356-8079-4150-9CA9-B1A45C2C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9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FA970-951A-4C37-B868-E005987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43425"/>
            <a:ext cx="31527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0">
            <a:noFill/>
          </a:ln>
        </p:spPr>
      </p:sp>
      <p:sp>
        <p:nvSpPr>
          <p:cNvPr id="32" name="text-112">
            <a:extLst xmlns:a="http://schemas.openxmlformats.org/drawingml/2006/main">
              <a:ext uri="{FF2B5EF4-FFF2-40B4-BE49-F238E27FC236}">
                <a16:creationId xmlns:a16="http://schemas.microsoft.com/office/drawing/2014/main" id="{92AD8D88-FDC0-4735-B6FF-4859154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67250"/>
            <a:ext cx="288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“Skill atau mitra apa yang kurang?”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C174D0-0843-4F83-B1D3-C8AFB7CA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95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20F32-F444-468A-B52A-3AFDCE1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5" name="text-113">
            <a:extLst xmlns:a="http://schemas.openxmlformats.org/drawingml/2006/main">
              <a:ext uri="{FF2B5EF4-FFF2-40B4-BE49-F238E27FC236}">
                <a16:creationId xmlns:a16="http://schemas.microsoft.com/office/drawing/2014/main" id="{CB8915E4-186C-4EC6-94D0-8FFB309C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Menerima masukan bukan berarti mengikuti semua permintaan. Tetap uji kelayakannya.</a:t>
            </a: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413e2e77f41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509FB-8692-4F41-82E9-8DBC1F11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ac1e6cfeb4d63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20FE8ACC-D79A-435C-8588-BA4D589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Golden Circle Membantu Menjaga Arah Bisnis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F022A30B-D6B6-4844-8A66-9B35329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Alasan ekspor yang jelas membantu founder memilih peluang dan menetapkan batas.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F995CD8D-9841-4D4E-A05E-8618E475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9730FFF4-12E5-4F62-B3C4-8142C63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CCFAC28A-95C7-4B34-AF4B-0F90A6F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5D9AE-3EAD-40C4-8EF6-A3CB6D5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95500"/>
            <a:ext cx="3248025" cy="3248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5BB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B16C9-B8C5-40D4-825E-CE38AC3F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33650"/>
            <a:ext cx="2371725" cy="2371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A2AFF-F175-4B82-A43B-E46C3CF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03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119">
            <a:extLst xmlns:a="http://schemas.openxmlformats.org/drawingml/2006/main">
              <a:ext uri="{FF2B5EF4-FFF2-40B4-BE49-F238E27FC236}">
                <a16:creationId xmlns:a16="http://schemas.microsoft.com/office/drawing/2014/main" id="{65FEB3FE-AC76-4C61-984A-0E13B59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098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3" name="text-120">
            <a:extLst xmlns:a="http://schemas.openxmlformats.org/drawingml/2006/main">
              <a:ext uri="{FF2B5EF4-FFF2-40B4-BE49-F238E27FC236}">
                <a16:creationId xmlns:a16="http://schemas.microsoft.com/office/drawing/2014/main" id="{891D3DE2-7072-481B-B697-C22D1E3F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57475"/>
            <a:ext cx="990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4" name="text-121">
            <a:extLst xmlns:a="http://schemas.openxmlformats.org/drawingml/2006/main">
              <a:ext uri="{FF2B5EF4-FFF2-40B4-BE49-F238E27FC236}">
                <a16:creationId xmlns:a16="http://schemas.microsoft.com/office/drawing/2014/main" id="{D03F0AD1-A600-4B08-8AB7-E191056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BD9D2-F062-404A-935A-5C95B97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7124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6" name="text-122">
            <a:extLst xmlns:a="http://schemas.openxmlformats.org/drawingml/2006/main">
              <a:ext uri="{FF2B5EF4-FFF2-40B4-BE49-F238E27FC236}">
                <a16:creationId xmlns:a16="http://schemas.microsoft.com/office/drawing/2014/main" id="{F8F91A1F-DCDB-40FC-8F49-F812C0A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89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Contoh untuk usaha dekorasi rumah</a:t>
            </a:r>
          </a:p>
        </p:txBody>
      </p:sp>
      <p:sp>
        <p:nvSpPr>
          <p:cNvPr id="17" name="text-123">
            <a:extLst xmlns:a="http://schemas.openxmlformats.org/drawingml/2006/main">
              <a:ext uri="{FF2B5EF4-FFF2-40B4-BE49-F238E27FC236}">
                <a16:creationId xmlns:a16="http://schemas.microsoft.com/office/drawing/2014/main" id="{09511B29-13A0-4990-9264-56589E0F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717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A2F6FC16-9090-47F4-BD58-51A9A05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71725"/>
            <a:ext cx="5895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Pesanan berulang untuk pengrajin lokal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F3E581EA-E5F6-4525-811C-6EF52237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28925"/>
            <a:ext cx="589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Tujuan lebih panjang dari satu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B3E62-62B5-4487-B374-670F7DD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1" name="text-126">
            <a:extLst xmlns:a="http://schemas.openxmlformats.org/drawingml/2006/main">
              <a:ext uri="{FF2B5EF4-FFF2-40B4-BE49-F238E27FC236}">
                <a16:creationId xmlns:a16="http://schemas.microsoft.com/office/drawing/2014/main" id="{32C1481F-CB3A-4B57-9284-BC7E45A4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22" name="text-127">
            <a:extLst xmlns:a="http://schemas.openxmlformats.org/drawingml/2006/main">
              <a:ext uri="{FF2B5EF4-FFF2-40B4-BE49-F238E27FC236}">
                <a16:creationId xmlns:a16="http://schemas.microsoft.com/office/drawing/2014/main" id="{FAE98160-179E-46ED-B419-E75534A6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29000"/>
            <a:ext cx="5895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Mutu konsisten dan komunikasi terbuka</a:t>
            </a:r>
          </a:p>
        </p:txBody>
      </p:sp>
      <p:sp>
        <p:nvSpPr>
          <p:cNvPr id="23" name="text-128">
            <a:extLst xmlns:a="http://schemas.openxmlformats.org/drawingml/2006/main">
              <a:ext uri="{FF2B5EF4-FFF2-40B4-BE49-F238E27FC236}">
                <a16:creationId xmlns:a16="http://schemas.microsoft.com/office/drawing/2014/main" id="{D093429C-BF84-4D7E-ABDB-F3D4634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589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Janji mengikuti kapasitas yang terbukti.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CD1CE-CBD7-46E7-95FC-6BA6295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5" name="text-129">
            <a:extLst xmlns:a="http://schemas.openxmlformats.org/drawingml/2006/main">
              <a:ext uri="{FF2B5EF4-FFF2-40B4-BE49-F238E27FC236}">
                <a16:creationId xmlns:a16="http://schemas.microsoft.com/office/drawing/2014/main" id="{ADB8B43B-0BE8-4924-9C0D-3A8E4762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86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6" name="text-130">
            <a:extLst xmlns:a="http://schemas.openxmlformats.org/drawingml/2006/main">
              <a:ext uri="{FF2B5EF4-FFF2-40B4-BE49-F238E27FC236}">
                <a16:creationId xmlns:a16="http://schemas.microsoft.com/office/drawing/2014/main" id="{5AE68AA8-1D1E-49C3-9127-B5AB2415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86275"/>
            <a:ext cx="5895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Dekorasi sesuai kebutuhan buyer</a:t>
            </a:r>
          </a:p>
        </p:txBody>
      </p:sp>
      <p:sp>
        <p:nvSpPr>
          <p:cNvPr id="27" name="text-131">
            <a:extLst xmlns:a="http://schemas.openxmlformats.org/drawingml/2006/main">
              <a:ext uri="{FF2B5EF4-FFF2-40B4-BE49-F238E27FC236}">
                <a16:creationId xmlns:a16="http://schemas.microsoft.com/office/drawing/2014/main" id="{C36DE319-C75B-4E79-9D3B-1B4530D1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43475"/>
            <a:ext cx="589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Ukuran, bahan, dan kemasan disepakati.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CCE07-6E49-4380-B1A1-83C4A1B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9" name="text-132">
            <a:extLst xmlns:a="http://schemas.openxmlformats.org/drawingml/2006/main">
              <a:ext uri="{FF2B5EF4-FFF2-40B4-BE49-F238E27FC236}">
                <a16:creationId xmlns:a16="http://schemas.microsoft.com/office/drawing/2014/main" id="{69AACB30-7FE1-4482-8295-753C2DB8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tujuan kita pesanan berulang, mutu tidak boleh dikorbankan demi volume.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7de855fb74fe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40072-A7BB-4F7A-B261-D708208B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b811100d441d6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C51EE057-71D0-4598-974A-63B5227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Sweet Spot Mempertemukan Passion, Talent, dan Profit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67015CA1-5D1F-42F2-9566-70CD280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Produk yang kita sukai tetap harus cocok dengan kebutuhan buyer dan kemampuan bisnis.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E0F4E399-DA74-472A-8CA1-6295D456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5EAA3CE3-912E-4165-B756-7D767BD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2DCBEDCA-53D4-4F8B-8DB9-C7221DC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E41B-B290-492E-AFE9-FDDF13E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219325" cy="2219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52C44-BEED-4CE2-AD8D-2848F667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90750"/>
            <a:ext cx="2219325" cy="2219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5BB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5130F-A1B5-44C9-AB05-3A2F4EC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81375"/>
            <a:ext cx="2219325" cy="2219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B28"/>
            </a:solidFill>
          </a:ln>
        </p:spPr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19C6A7EB-D054-449E-84CC-BA612A6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14625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3" name="text-139">
            <a:extLst xmlns:a="http://schemas.openxmlformats.org/drawingml/2006/main">
              <a:ext uri="{FF2B5EF4-FFF2-40B4-BE49-F238E27FC236}">
                <a16:creationId xmlns:a16="http://schemas.microsoft.com/office/drawing/2014/main" id="{64D3905B-BE36-4BA1-BF13-638FFF0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Kita suka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E5F5222B-4227-4BE7-9295-27B4C7CC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1F464E28-3BDE-45EF-AD56-87541BC7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1467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Kita kuasai</a:t>
            </a:r>
          </a:p>
        </p:txBody>
      </p:sp>
      <p:sp>
        <p:nvSpPr>
          <p:cNvPr id="16" name="text-142">
            <a:extLst xmlns:a="http://schemas.openxmlformats.org/drawingml/2006/main">
              <a:ext uri="{FF2B5EF4-FFF2-40B4-BE49-F238E27FC236}">
                <a16:creationId xmlns:a16="http://schemas.microsoft.com/office/drawing/2014/main" id="{485E26AD-F1A8-421B-BC96-16E849CF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95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7" name="text-143">
            <a:extLst xmlns:a="http://schemas.openxmlformats.org/drawingml/2006/main">
              <a:ext uri="{FF2B5EF4-FFF2-40B4-BE49-F238E27FC236}">
                <a16:creationId xmlns:a16="http://schemas.microsoft.com/office/drawing/2014/main" id="{8B13F8CE-B32D-436B-A102-1B2185E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05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Menghasilkan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DC68B-E54B-462E-AC30-E7821F7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5285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9" name="text-144">
            <a:extLst xmlns:a="http://schemas.openxmlformats.org/drawingml/2006/main">
              <a:ext uri="{FF2B5EF4-FFF2-40B4-BE49-F238E27FC236}">
                <a16:creationId xmlns:a16="http://schemas.microsoft.com/office/drawing/2014/main" id="{A4FFC17E-6988-483E-9F29-FE3686C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528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53A93-A96E-40F1-9393-5EA4E5E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52600"/>
            <a:ext cx="6086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1" name="text-145">
            <a:extLst xmlns:a="http://schemas.openxmlformats.org/drawingml/2006/main">
              <a:ext uri="{FF2B5EF4-FFF2-40B4-BE49-F238E27FC236}">
                <a16:creationId xmlns:a16="http://schemas.microsoft.com/office/drawing/2014/main" id="{016E802C-D573-492B-959C-93A32723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28800"/>
            <a:ext cx="585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Tiga pemeriksaan untuk peluang ekspor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9666F-5FA9-45B6-A137-5C6180BD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3" name="text-146">
            <a:extLst xmlns:a="http://schemas.openxmlformats.org/drawingml/2006/main">
              <a:ext uri="{FF2B5EF4-FFF2-40B4-BE49-F238E27FC236}">
                <a16:creationId xmlns:a16="http://schemas.microsoft.com/office/drawing/2014/main" id="{18E9D89B-0D8D-4377-81D8-45A816D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669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text-147">
            <a:extLst xmlns:a="http://schemas.openxmlformats.org/drawingml/2006/main">
              <a:ext uri="{FF2B5EF4-FFF2-40B4-BE49-F238E27FC236}">
                <a16:creationId xmlns:a16="http://schemas.microsoft.com/office/drawing/2014/main" id="{0D5E8EC1-4AEA-423A-8D4B-81A2BAC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25" name="text-148">
            <a:extLst xmlns:a="http://schemas.openxmlformats.org/drawingml/2006/main">
              <a:ext uri="{FF2B5EF4-FFF2-40B4-BE49-F238E27FC236}">
                <a16:creationId xmlns:a16="http://schemas.microsoft.com/office/drawing/2014/main" id="{905382BA-3B14-470E-8AEE-FA67DFD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535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 yang membuat kita mau terus belajar?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B809A-17AB-45F8-BDDB-57FBF3D2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7" name="text-149">
            <a:extLst xmlns:a="http://schemas.openxmlformats.org/drawingml/2006/main">
              <a:ext uri="{FF2B5EF4-FFF2-40B4-BE49-F238E27FC236}">
                <a16:creationId xmlns:a16="http://schemas.microsoft.com/office/drawing/2014/main" id="{48866DBA-EF23-4B22-A3A1-50454684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" name="text-150">
            <a:extLst xmlns:a="http://schemas.openxmlformats.org/drawingml/2006/main">
              <a:ext uri="{FF2B5EF4-FFF2-40B4-BE49-F238E27FC236}">
                <a16:creationId xmlns:a16="http://schemas.microsoft.com/office/drawing/2014/main" id="{6A11B139-6120-4241-8DB4-B12E9D6B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29" name="text-151">
            <a:extLst xmlns:a="http://schemas.openxmlformats.org/drawingml/2006/main">
              <a:ext uri="{FF2B5EF4-FFF2-40B4-BE49-F238E27FC236}">
                <a16:creationId xmlns:a16="http://schemas.microsoft.com/office/drawing/2014/main" id="{83576F59-A336-40CD-9306-B0120F9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535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Kemampuan apa yang bisa kita buktikan berulang?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1DE2F5-865D-43BE-804B-D206FAC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514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31" name="text-152">
            <a:extLst xmlns:a="http://schemas.openxmlformats.org/drawingml/2006/main">
              <a:ext uri="{FF2B5EF4-FFF2-40B4-BE49-F238E27FC236}">
                <a16:creationId xmlns:a16="http://schemas.microsoft.com/office/drawing/2014/main" id="{16B0FC93-B56E-49CC-A37E-260C1D08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624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text-153">
            <a:extLst xmlns:a="http://schemas.openxmlformats.org/drawingml/2006/main">
              <a:ext uri="{FF2B5EF4-FFF2-40B4-BE49-F238E27FC236}">
                <a16:creationId xmlns:a16="http://schemas.microsoft.com/office/drawing/2014/main" id="{3FFA05B8-20BA-4459-A2EB-0CAE1A6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33" name="text-154">
            <a:extLst xmlns:a="http://schemas.openxmlformats.org/drawingml/2006/main">
              <a:ext uri="{FF2B5EF4-FFF2-40B4-BE49-F238E27FC236}">
                <a16:creationId xmlns:a16="http://schemas.microsoft.com/office/drawing/2014/main" id="{7EDAAAC4-A7C8-4703-BD35-06FEB22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95850"/>
            <a:ext cx="535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Apakah harga tetap masuk setelah biaya dipenuhi?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7465d36ad46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2D7DF-500E-4409-A501-51C069B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343e80ba54c4b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55">
            <a:extLst xmlns:a="http://schemas.openxmlformats.org/drawingml/2006/main">
              <a:ext uri="{FF2B5EF4-FFF2-40B4-BE49-F238E27FC236}">
                <a16:creationId xmlns:a16="http://schemas.microsoft.com/office/drawing/2014/main" id="{FD2C1301-AB00-41AE-815B-F29BDAE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Pertanyaan yang Tepat Membantu Kita Memahami Buyer</a:t>
            </a:r>
          </a:p>
        </p:txBody>
      </p:sp>
      <p:sp>
        <p:nvSpPr>
          <p:cNvPr id="5" name="text-156">
            <a:extLst xmlns:a="http://schemas.openxmlformats.org/drawingml/2006/main">
              <a:ext uri="{FF2B5EF4-FFF2-40B4-BE49-F238E27FC236}">
                <a16:creationId xmlns:a16="http://schemas.microsoft.com/office/drawing/2014/main" id="{3CC39A8A-4FF4-45F0-9F79-80790DC3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Uji kebutuhan dulu, lalu solusi yang cocok dan kesediaan membayar.</a:t>
            </a:r>
          </a:p>
        </p:txBody>
      </p:sp>
      <p:sp>
        <p:nvSpPr>
          <p:cNvPr id="6" name="text-157">
            <a:extLst xmlns:a="http://schemas.openxmlformats.org/drawingml/2006/main">
              <a:ext uri="{FF2B5EF4-FFF2-40B4-BE49-F238E27FC236}">
                <a16:creationId xmlns:a16="http://schemas.microsoft.com/office/drawing/2014/main" id="{871B42E3-B9EB-4F52-8631-4C0D9774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Adaptasi Modul 1 + Strategyzer, Roadmap to test your value proposition. Sumber di notes.</a:t>
            </a:r>
          </a:p>
        </p:txBody>
      </p:sp>
      <p:sp>
        <p:nvSpPr>
          <p:cNvPr id="7" name="text-158">
            <a:extLst xmlns:a="http://schemas.openxmlformats.org/drawingml/2006/main">
              <a:ext uri="{FF2B5EF4-FFF2-40B4-BE49-F238E27FC236}">
                <a16:creationId xmlns:a16="http://schemas.microsoft.com/office/drawing/2014/main" id="{D14BE87B-3EEA-464A-A8B5-9A43907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59">
            <a:extLst xmlns:a="http://schemas.openxmlformats.org/drawingml/2006/main">
              <a:ext uri="{FF2B5EF4-FFF2-40B4-BE49-F238E27FC236}">
                <a16:creationId xmlns:a16="http://schemas.microsoft.com/office/drawing/2014/main" id="{E8587A4A-CB09-4D0F-9D1F-E201CA37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88516-C7D2-4078-AA7B-90F7718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9547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160">
            <a:extLst xmlns:a="http://schemas.openxmlformats.org/drawingml/2006/main">
              <a:ext uri="{FF2B5EF4-FFF2-40B4-BE49-F238E27FC236}">
                <a16:creationId xmlns:a16="http://schemas.microsoft.com/office/drawing/2014/main" id="{5D16698C-EA60-42EA-A8FF-728D4516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71772ae104b38"/>
          <a:stretch xmlns:a="http://schemas.openxmlformats.org/drawingml/2006/main"/>
        </p:blipFill>
        <p:spPr>
          <a:xfrm xmlns:a="http://schemas.openxmlformats.org/drawingml/2006/main">
            <a:off x="1847850" y="25241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2" name="text-161">
            <a:extLst xmlns:a="http://schemas.openxmlformats.org/drawingml/2006/main">
              <a:ext uri="{FF2B5EF4-FFF2-40B4-BE49-F238E27FC236}">
                <a16:creationId xmlns:a16="http://schemas.microsoft.com/office/drawing/2014/main" id="{8C3C9581-0D19-4EA7-B6DD-E9164280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340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Produk ini akan dipakai atau dijual ke siapa?</a:t>
            </a:r>
          </a:p>
        </p:txBody>
      </p:sp>
      <p:sp>
        <p:nvSpPr>
          <p:cNvPr id="13" name="text-162">
            <a:extLst xmlns:a="http://schemas.openxmlformats.org/drawingml/2006/main">
              <a:ext uri="{FF2B5EF4-FFF2-40B4-BE49-F238E27FC236}">
                <a16:creationId xmlns:a16="http://schemas.microsoft.com/office/drawing/2014/main" id="{446B6009-E6A2-43F2-8CC5-CB76E614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3409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Cari konteks penggunaan dan masalahnya.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580B9-B533-4D27-98A8-EFEF510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762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84D40-173F-4E61-9BCB-A034D92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9547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6" name="text-163">
            <a:extLst xmlns:a="http://schemas.openxmlformats.org/drawingml/2006/main">
              <a:ext uri="{FF2B5EF4-FFF2-40B4-BE49-F238E27FC236}">
                <a16:creationId xmlns:a16="http://schemas.microsoft.com/office/drawing/2014/main" id="{8B380F3E-144F-4C1C-9FB8-77B5338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1972e44024c5c"/>
          <a:stretch xmlns:a="http://schemas.openxmlformats.org/drawingml/2006/main"/>
        </p:blipFill>
        <p:spPr>
          <a:xfrm xmlns:a="http://schemas.openxmlformats.org/drawingml/2006/main">
            <a:off x="5734050" y="25241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8" name="text-164">
            <a:extLst xmlns:a="http://schemas.openxmlformats.org/drawingml/2006/main">
              <a:ext uri="{FF2B5EF4-FFF2-40B4-BE49-F238E27FC236}">
                <a16:creationId xmlns:a16="http://schemas.microsoft.com/office/drawing/2014/main" id="{1EF4DB05-9A76-4991-822C-8C1B1947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340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Ukuran, bahan, dan kemasan seperti apa?</a:t>
            </a:r>
          </a:p>
        </p:txBody>
      </p:sp>
      <p:sp>
        <p:nvSpPr>
          <p:cNvPr id="19" name="text-165">
            <a:extLst xmlns:a="http://schemas.openxmlformats.org/drawingml/2006/main">
              <a:ext uri="{FF2B5EF4-FFF2-40B4-BE49-F238E27FC236}">
                <a16:creationId xmlns:a16="http://schemas.microsoft.com/office/drawing/2014/main" id="{1A7272A0-1B18-4C3B-AE84-FC521696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3409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Minta contoh dan prioritas yang konkret.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B407B-F805-461E-8EC7-A05DFE8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762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45EE8-E968-47D1-A9C1-C6218E6B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95475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2" name="text-166">
            <a:extLst xmlns:a="http://schemas.openxmlformats.org/drawingml/2006/main">
              <a:ext uri="{FF2B5EF4-FFF2-40B4-BE49-F238E27FC236}">
                <a16:creationId xmlns:a16="http://schemas.microsoft.com/office/drawing/2014/main" id="{474A65CD-6FC5-4BF5-A921-8EF9EA6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KELAYAKAN HARGA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b18bdfcd44e3"/>
          <a:stretch xmlns:a="http://schemas.openxmlformats.org/drawingml/2006/main"/>
        </p:blipFill>
        <p:spPr>
          <a:xfrm xmlns:a="http://schemas.openxmlformats.org/drawingml/2006/main">
            <a:off x="9620250" y="25241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24" name="text-167">
            <a:extLst xmlns:a="http://schemas.openxmlformats.org/drawingml/2006/main">
              <a:ext uri="{FF2B5EF4-FFF2-40B4-BE49-F238E27FC236}">
                <a16:creationId xmlns:a16="http://schemas.microsoft.com/office/drawing/2014/main" id="{E3BFD470-654B-4EFD-AEC3-71E98AF0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40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Harga dan volume seperti apa yang masuk?</a:t>
            </a:r>
          </a:p>
        </p:txBody>
      </p:sp>
      <p:sp>
        <p:nvSpPr>
          <p:cNvPr id="25" name="text-168">
            <a:extLst xmlns:a="http://schemas.openxmlformats.org/drawingml/2006/main">
              <a:ext uri="{FF2B5EF4-FFF2-40B4-BE49-F238E27FC236}">
                <a16:creationId xmlns:a16="http://schemas.microsoft.com/office/drawing/2014/main" id="{159B6C09-B71C-421E-BC16-A5BE566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3409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Cocokkan permintaan dengan biaya kita.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B7C9F-D573-4B52-9CD1-310D0B7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7" name="text-169">
            <a:extLst xmlns:a="http://schemas.openxmlformats.org/drawingml/2006/main">
              <a:ext uri="{FF2B5EF4-FFF2-40B4-BE49-F238E27FC236}">
                <a16:creationId xmlns:a16="http://schemas.microsoft.com/office/drawing/2014/main" id="{5ADCEC76-7609-40C5-B625-BC9E0ED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Catat jawaban buyer. Jangan mengisi bagian yang belum jelas dengan asumsi sendiri.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5c74c5f3745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CEF14F-0884-4C13-8FCC-AA36A22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8f27b07464fe4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53" name="text-170">
            <a:extLst xmlns:a="http://schemas.openxmlformats.org/drawingml/2006/main">
              <a:ext uri="{FF2B5EF4-FFF2-40B4-BE49-F238E27FC236}">
                <a16:creationId xmlns:a16="http://schemas.microsoft.com/office/drawing/2014/main" id="{39412E8D-82F9-4B9D-B09A-0644C73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Tiga Peran Membantu Tim Menepati Janji ke Buyer</a:t>
            </a:r>
          </a:p>
        </p:txBody>
      </p:sp>
      <p:sp>
        <p:nvSpPr>
          <p:cNvPr id="54" name="text-171">
            <a:extLst xmlns:a="http://schemas.openxmlformats.org/drawingml/2006/main">
              <a:ext uri="{FF2B5EF4-FFF2-40B4-BE49-F238E27FC236}">
                <a16:creationId xmlns:a16="http://schemas.microsoft.com/office/drawing/2014/main" id="{A0E44381-738D-43A4-9340-13F753A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Peran boleh dirangkap. Hasil kerja dan penanggung jawab tetap harus jelas.</a:t>
            </a:r>
          </a:p>
        </p:txBody>
      </p:sp>
      <p:sp>
        <p:nvSpPr>
          <p:cNvPr id="55" name="text-172">
            <a:extLst xmlns:a="http://schemas.openxmlformats.org/drawingml/2006/main">
              <a:ext uri="{FF2B5EF4-FFF2-40B4-BE49-F238E27FC236}">
                <a16:creationId xmlns:a16="http://schemas.microsoft.com/office/drawing/2014/main" id="{C02A3341-0819-49C7-A2C4-151A060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56" name="text-173">
            <a:extLst xmlns:a="http://schemas.openxmlformats.org/drawingml/2006/main">
              <a:ext uri="{FF2B5EF4-FFF2-40B4-BE49-F238E27FC236}">
                <a16:creationId xmlns:a16="http://schemas.microsoft.com/office/drawing/2014/main" id="{9B425EBA-9555-419F-B05F-57C59F75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57" name="text-174">
            <a:extLst xmlns:a="http://schemas.openxmlformats.org/drawingml/2006/main">
              <a:ext uri="{FF2B5EF4-FFF2-40B4-BE49-F238E27FC236}">
                <a16:creationId xmlns:a16="http://schemas.microsoft.com/office/drawing/2014/main" id="{3587F891-AA56-461A-84DA-15874DB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A9045E-E38C-42EB-8371-FF62B64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59" name="text-175">
            <a:extLst xmlns:a="http://schemas.openxmlformats.org/drawingml/2006/main">
              <a:ext uri="{FF2B5EF4-FFF2-40B4-BE49-F238E27FC236}">
                <a16:creationId xmlns:a16="http://schemas.microsoft.com/office/drawing/2014/main" id="{A172DF5B-0045-4526-BD97-FE5FE7C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1116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Designer, Showman, Enforcer: lensa pembagian peran dari Modul 1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c8941843b43d8"/>
          <a:stretch xmlns:a="http://schemas.openxmlformats.org/drawingml/2006/main"/>
        </p:blipFill>
        <p:spPr>
          <a:xfrm xmlns:a="http://schemas.openxmlformats.org/drawingml/2006/main">
            <a:off x="1828800" y="24288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7719AC-0C25-4EF0-9DFE-4073FA44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62" name="text-176">
            <a:extLst xmlns:a="http://schemas.openxmlformats.org/drawingml/2006/main">
              <a:ext uri="{FF2B5EF4-FFF2-40B4-BE49-F238E27FC236}">
                <a16:creationId xmlns:a16="http://schemas.microsoft.com/office/drawing/2014/main" id="{335CB2AD-2AD9-43EC-8249-3579175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The Designer</a:t>
            </a:r>
          </a:p>
        </p:txBody>
      </p:sp>
      <p:sp>
        <p:nvSpPr>
          <p:cNvPr id="63" name="text-177">
            <a:extLst xmlns:a="http://schemas.openxmlformats.org/drawingml/2006/main">
              <a:ext uri="{FF2B5EF4-FFF2-40B4-BE49-F238E27FC236}">
                <a16:creationId xmlns:a16="http://schemas.microsoft.com/office/drawing/2014/main" id="{9E24A6DC-A2BC-4006-BD1C-CFAA7223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Produk dan solusi</a:t>
            </a:r>
          </a:p>
        </p:txBody>
      </p:sp>
      <p:sp>
        <p:nvSpPr>
          <p:cNvPr id="64" name="text-178">
            <a:extLst xmlns:a="http://schemas.openxmlformats.org/drawingml/2006/main">
              <a:ext uri="{FF2B5EF4-FFF2-40B4-BE49-F238E27FC236}">
                <a16:creationId xmlns:a16="http://schemas.microsoft.com/office/drawing/2014/main" id="{76F885F4-B088-4A0A-AE23-36C5219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Sampel + spesifikasi</a:t>
            </a:r>
          </a:p>
        </p:txBody>
      </p:sp>
      <p:sp>
        <p:nvSpPr>
          <p:cNvPr id="65" name="text-179">
            <a:extLst xmlns:a="http://schemas.openxmlformats.org/drawingml/2006/main">
              <a:ext uri="{FF2B5EF4-FFF2-40B4-BE49-F238E27FC236}">
                <a16:creationId xmlns:a16="http://schemas.microsoft.com/office/drawing/2014/main" id="{049516FB-CE92-4136-9A9B-CB86600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8725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Apakah sesuai kebutuhan buyer?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92269305544bd"/>
          <a:stretch xmlns:a="http://schemas.openxmlformats.org/drawingml/2006/main"/>
        </p:blipFill>
        <p:spPr>
          <a:xfrm xmlns:a="http://schemas.openxmlformats.org/drawingml/2006/main">
            <a:off x="5715000" y="24288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147973-6B07-48F4-A724-DFA7F0F9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68" name="text-180">
            <a:extLst xmlns:a="http://schemas.openxmlformats.org/drawingml/2006/main">
              <a:ext uri="{FF2B5EF4-FFF2-40B4-BE49-F238E27FC236}">
                <a16:creationId xmlns:a16="http://schemas.microsoft.com/office/drawing/2014/main" id="{071088BB-98D1-4FBC-9201-0C82E452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The Showman</a:t>
            </a:r>
          </a:p>
        </p:txBody>
      </p:sp>
      <p:sp>
        <p:nvSpPr>
          <p:cNvPr id="69" name="text-181">
            <a:extLst xmlns:a="http://schemas.openxmlformats.org/drawingml/2006/main">
              <a:ext uri="{FF2B5EF4-FFF2-40B4-BE49-F238E27FC236}">
                <a16:creationId xmlns:a16="http://schemas.microsoft.com/office/drawing/2014/main" id="{ABED79C8-9A6D-4848-AB5F-D7758177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Buyer dan hubungan</a:t>
            </a:r>
          </a:p>
        </p:txBody>
      </p:sp>
      <p:sp>
        <p:nvSpPr>
          <p:cNvPr id="70" name="text-182">
            <a:extLst xmlns:a="http://schemas.openxmlformats.org/drawingml/2006/main">
              <a:ext uri="{FF2B5EF4-FFF2-40B4-BE49-F238E27FC236}">
                <a16:creationId xmlns:a16="http://schemas.microsoft.com/office/drawing/2014/main" id="{BBCCA9B8-F73F-47E1-8D20-9299902E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Penawaran + kesepakatan</a:t>
            </a:r>
          </a:p>
        </p:txBody>
      </p:sp>
      <p:sp>
        <p:nvSpPr>
          <p:cNvPr id="71" name="text-183">
            <a:extLst xmlns:a="http://schemas.openxmlformats.org/drawingml/2006/main">
              <a:ext uri="{FF2B5EF4-FFF2-40B4-BE49-F238E27FC236}">
                <a16:creationId xmlns:a16="http://schemas.microsoft.com/office/drawing/2014/main" id="{65084941-E371-4CA5-B336-EA46441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Apakah janji kita sudah jelas?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b5fc69b664f6c"/>
          <a:stretch xmlns:a="http://schemas.openxmlformats.org/drawingml/2006/main"/>
        </p:blipFill>
        <p:spPr>
          <a:xfrm xmlns:a="http://schemas.openxmlformats.org/drawingml/2006/main">
            <a:off x="9601200" y="24288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7FB0BA-D633-46B7-84DF-A7337FAD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0425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74" name="text-184">
            <a:extLst xmlns:a="http://schemas.openxmlformats.org/drawingml/2006/main">
              <a:ext uri="{FF2B5EF4-FFF2-40B4-BE49-F238E27FC236}">
                <a16:creationId xmlns:a16="http://schemas.microsoft.com/office/drawing/2014/main" id="{31B7B956-340B-49C1-BF42-6B78E07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718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The Enforcer</a:t>
            </a:r>
          </a:p>
        </p:txBody>
      </p:sp>
      <p:sp>
        <p:nvSpPr>
          <p:cNvPr id="75" name="text-185">
            <a:extLst xmlns:a="http://schemas.openxmlformats.org/drawingml/2006/main">
              <a:ext uri="{FF2B5EF4-FFF2-40B4-BE49-F238E27FC236}">
                <a16:creationId xmlns:a16="http://schemas.microsoft.com/office/drawing/2014/main" id="{41ED0981-D1E1-4489-BCC1-06B78F6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Operasi dan disiplin</a:t>
            </a:r>
          </a:p>
        </p:txBody>
      </p:sp>
      <p:sp>
        <p:nvSpPr>
          <p:cNvPr id="76" name="text-186">
            <a:extLst xmlns:a="http://schemas.openxmlformats.org/drawingml/2006/main">
              <a:ext uri="{FF2B5EF4-FFF2-40B4-BE49-F238E27FC236}">
                <a16:creationId xmlns:a16="http://schemas.microsoft.com/office/drawing/2014/main" id="{6D83D463-AB66-41DD-94CB-40A4BBF3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Jadwal + kontrol kas</a:t>
            </a:r>
          </a:p>
        </p:txBody>
      </p:sp>
      <p:sp>
        <p:nvSpPr>
          <p:cNvPr id="77" name="text-187">
            <a:extLst xmlns:a="http://schemas.openxmlformats.org/drawingml/2006/main">
              <a:ext uri="{FF2B5EF4-FFF2-40B4-BE49-F238E27FC236}">
                <a16:creationId xmlns:a16="http://schemas.microsoft.com/office/drawing/2014/main" id="{CBB05767-201E-4E99-8D5C-86CD77F5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38725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Apakah tim bisa menjalankannya?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40241B-B8C5-4425-8412-C88C4371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79" name="text-188">
            <a:extLst xmlns:a="http://schemas.openxmlformats.org/drawingml/2006/main">
              <a:ext uri="{FF2B5EF4-FFF2-40B4-BE49-F238E27FC236}">
                <a16:creationId xmlns:a16="http://schemas.microsoft.com/office/drawing/2014/main" id="{35E4F90E-BD54-4E46-BF4F-B22B258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Founder menyelaraskan janji penjualan dengan kemampuan orang yang mengerjakannya.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9246d1ae8479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E8FAE-8F0B-4412-B99C-607082CD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4b928342e4cf1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16027C99-E28F-487B-ACCE-207AEC1C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Siap Ekspor Berarti Siap Memenuhi Janji secara Konsisten</a:t>
            </a:r>
          </a:p>
        </p:txBody>
      </p:sp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918210D6-82D2-4DA6-950B-E47C6094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Cek kemampuan yang bisa dibuktikan, bukan kapasitas yang baru kita harapkan.</a:t>
            </a:r>
          </a:p>
        </p:txBody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6F07970A-FBE1-4CFC-843A-21F6801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C535FDF4-3C01-431C-AE24-AC2E3F9E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 xmlns:a="http://schemas.openxmlformats.org/drawingml/2006/main">
              <a:ext uri="{FF2B5EF4-FFF2-40B4-BE49-F238E27FC236}">
                <a16:creationId xmlns:a16="http://schemas.microsoft.com/office/drawing/2014/main" id="{3E1C38D9-F358-4608-9EBF-AFF68755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c3eb3d5fb4671"/>
          <a:stretch xmlns:a="http://schemas.openxmlformats.org/drawingml/2006/main"/>
        </p:blipFill>
        <p:spPr>
          <a:xfrm xmlns:a="http://schemas.openxmlformats.org/drawingml/2006/main">
            <a:off x="400050" y="2058988"/>
            <a:ext cx="3895725" cy="2597150"/>
          </a:xfrm>
          <a:prstGeom xmlns:a="http://schemas.openxmlformats.org/drawingml/2006/main" prst="rect">
            <a:avLst/>
          </a:prstGeom>
        </p:spPr>
      </p:pic>
      <p:sp>
        <p:nvSpPr>
          <p:cNvPr id="10" name="text-194">
            <a:extLst xmlns:a="http://schemas.openxmlformats.org/drawingml/2006/main">
              <a:ext uri="{FF2B5EF4-FFF2-40B4-BE49-F238E27FC236}">
                <a16:creationId xmlns:a16="http://schemas.microsoft.com/office/drawing/2014/main" id="{79AF0E82-89D3-41C7-87D7-C1B44226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895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Ilustrasi untuk kasus fiktif.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93194-D96B-4484-8433-D3EBCC5F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195">
            <a:extLst xmlns:a="http://schemas.openxmlformats.org/drawingml/2006/main">
              <a:ext uri="{FF2B5EF4-FFF2-40B4-BE49-F238E27FC236}">
                <a16:creationId xmlns:a16="http://schemas.microsoft.com/office/drawing/2014/main" id="{DB673296-B73C-4C57-8410-D14305D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-196">
            <a:extLst xmlns:a="http://schemas.openxmlformats.org/drawingml/2006/main">
              <a:ext uri="{FF2B5EF4-FFF2-40B4-BE49-F238E27FC236}">
                <a16:creationId xmlns:a16="http://schemas.microsoft.com/office/drawing/2014/main" id="{BA7799AF-385D-4BF7-8FF3-699F6F4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643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4" name="text-197">
            <a:extLst xmlns:a="http://schemas.openxmlformats.org/drawingml/2006/main">
              <a:ext uri="{FF2B5EF4-FFF2-40B4-BE49-F238E27FC236}">
                <a16:creationId xmlns:a16="http://schemas.microsoft.com/office/drawing/2014/main" id="{C86AD624-266B-442C-A379-0E9C4AB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81225"/>
            <a:ext cx="643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Berapa unit yang benar-benar bisa selesai?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707F6-ACA9-4F22-B1DB-84A1D70C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57475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5FC03-F3A7-463A-A1C3-5C6CA7A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7" name="text-198">
            <a:extLst xmlns:a="http://schemas.openxmlformats.org/drawingml/2006/main">
              <a:ext uri="{FF2B5EF4-FFF2-40B4-BE49-F238E27FC236}">
                <a16:creationId xmlns:a16="http://schemas.microsoft.com/office/drawing/2014/main" id="{5E081AA9-5529-4B47-9B95-B0DFBE5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199">
            <a:extLst xmlns:a="http://schemas.openxmlformats.org/drawingml/2006/main">
              <a:ext uri="{FF2B5EF4-FFF2-40B4-BE49-F238E27FC236}">
                <a16:creationId xmlns:a16="http://schemas.microsoft.com/office/drawing/2014/main" id="{7A5D18DE-EE2E-4E57-BCE3-44BBB02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643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19" name="text-200">
            <a:extLst xmlns:a="http://schemas.openxmlformats.org/drawingml/2006/main">
              <a:ext uri="{FF2B5EF4-FFF2-40B4-BE49-F238E27FC236}">
                <a16:creationId xmlns:a16="http://schemas.microsoft.com/office/drawing/2014/main" id="{AD945B7E-0542-419E-BDB9-DAC2E23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95625"/>
            <a:ext cx="643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Apakah hasil produksi sama dengan sampel?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95CD4-13C6-439F-9329-E71AF7E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71875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86397-5B1C-4B5B-B331-F38747D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38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2" name="text-201">
            <a:extLst xmlns:a="http://schemas.openxmlformats.org/drawingml/2006/main">
              <a:ext uri="{FF2B5EF4-FFF2-40B4-BE49-F238E27FC236}">
                <a16:creationId xmlns:a16="http://schemas.microsoft.com/office/drawing/2014/main" id="{B06D828F-09F3-4447-9B3B-52B6FD75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861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-202">
            <a:extLst xmlns:a="http://schemas.openxmlformats.org/drawingml/2006/main">
              <a:ext uri="{FF2B5EF4-FFF2-40B4-BE49-F238E27FC236}">
                <a16:creationId xmlns:a16="http://schemas.microsoft.com/office/drawing/2014/main" id="{6DD9B6AB-A698-4073-B9A2-6838895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643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Jadwal</a:t>
            </a:r>
          </a:p>
        </p:txBody>
      </p:sp>
      <p:sp>
        <p:nvSpPr>
          <p:cNvPr id="24" name="text-203">
            <a:extLst xmlns:a="http://schemas.openxmlformats.org/drawingml/2006/main">
              <a:ext uri="{FF2B5EF4-FFF2-40B4-BE49-F238E27FC236}">
                <a16:creationId xmlns:a16="http://schemas.microsoft.com/office/drawing/2014/main" id="{C8FFA615-400B-4F60-8636-337533A0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643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Apakah bahan, produksi, dan pengiriman selaras?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F1730-F894-4BCA-B8E3-F73148F3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86275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38B31-BE70-435A-B5A7-F3B4BD71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52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7" name="text-204">
            <a:extLst xmlns:a="http://schemas.openxmlformats.org/drawingml/2006/main">
              <a:ext uri="{FF2B5EF4-FFF2-40B4-BE49-F238E27FC236}">
                <a16:creationId xmlns:a16="http://schemas.microsoft.com/office/drawing/2014/main" id="{D8A4FC0C-AD35-4623-9622-A2675E2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005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8" name="text-205">
            <a:extLst xmlns:a="http://schemas.openxmlformats.org/drawingml/2006/main">
              <a:ext uri="{FF2B5EF4-FFF2-40B4-BE49-F238E27FC236}">
                <a16:creationId xmlns:a16="http://schemas.microsoft.com/office/drawing/2014/main" id="{DAA99C1B-56A8-4B81-BED0-837F1616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643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9" name="text-206">
            <a:extLst xmlns:a="http://schemas.openxmlformats.org/drawingml/2006/main">
              <a:ext uri="{FF2B5EF4-FFF2-40B4-BE49-F238E27FC236}">
                <a16:creationId xmlns:a16="http://schemas.microsoft.com/office/drawing/2014/main" id="{D7329D45-9354-4396-8545-C0932C85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24425"/>
            <a:ext cx="643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Apakah spesifikasi dan syarat pasar sudah dicek?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96D7E-E83F-4F38-96A8-DEEB8BA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1" name="text-207">
            <a:extLst xmlns:a="http://schemas.openxmlformats.org/drawingml/2006/main">
              <a:ext uri="{FF2B5EF4-FFF2-40B4-BE49-F238E27FC236}">
                <a16:creationId xmlns:a16="http://schemas.microsoft.com/office/drawing/2014/main" id="{EB53DA70-CC87-47DA-966A-F7E5CD8F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Janji ke buyer harus mengikuti bukti dari produksi, mutu, jadwal, dan kebutuhan pasar.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6ef6ce23a4f8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817CF-1EDF-4EAD-8C77-B1D8E6A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e06d2e4e04116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208">
            <a:extLst xmlns:a="http://schemas.openxmlformats.org/drawingml/2006/main">
              <a:ext uri="{FF2B5EF4-FFF2-40B4-BE49-F238E27FC236}">
                <a16:creationId xmlns:a16="http://schemas.microsoft.com/office/drawing/2014/main" id="{AFC27121-DBFC-40B1-B047-635FE975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Bisnis Bisa Untung, tetapi Kasnya Belum Tentu Cukup</a:t>
            </a:r>
          </a:p>
        </p:txBody>
      </p:sp>
      <p:sp>
        <p:nvSpPr>
          <p:cNvPr id="5" name="text-209">
            <a:extLst xmlns:a="http://schemas.openxmlformats.org/drawingml/2006/main">
              <a:ext uri="{FF2B5EF4-FFF2-40B4-BE49-F238E27FC236}">
                <a16:creationId xmlns:a16="http://schemas.microsoft.com/office/drawing/2014/main" id="{AB7E2A3A-8805-472F-A01F-C9D191F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Pembayaran yang datang belakangan dapat membuat produksi membutuhkan modal lebih dulu.</a:t>
            </a:r>
          </a:p>
        </p:txBody>
      </p:sp>
      <p:sp>
        <p:nvSpPr>
          <p:cNvPr id="6" name="text-210">
            <a:extLst xmlns:a="http://schemas.openxmlformats.org/drawingml/2006/main">
              <a:ext uri="{FF2B5EF4-FFF2-40B4-BE49-F238E27FC236}">
                <a16:creationId xmlns:a16="http://schemas.microsoft.com/office/drawing/2014/main" id="{CE5DD06A-6346-40FA-832E-392139D9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h.23–24; International Trade Administration, Methods of Payment. Detail di notes.</a:t>
            </a:r>
          </a:p>
        </p:txBody>
      </p:sp>
      <p:sp>
        <p:nvSpPr>
          <p:cNvPr id="7" name="text-211">
            <a:extLst xmlns:a="http://schemas.openxmlformats.org/drawingml/2006/main">
              <a:ext uri="{FF2B5EF4-FFF2-40B4-BE49-F238E27FC236}">
                <a16:creationId xmlns:a16="http://schemas.microsoft.com/office/drawing/2014/main" id="{2CF7143D-7629-4344-8CC7-7CA17B72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3FBD8898-1113-4E39-8DCA-058A4B0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E5DCE-BD34-43AC-804C-CAE2E2BB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8C4C8B4F-5EA7-4D48-8C06-B4346DEC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1116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Contoh alur kas: buyer membayar setelah barang diterima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EF96D-7CA0-4A14-AC63-DBBDC5E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214">
            <a:extLst xmlns:a="http://schemas.openxmlformats.org/drawingml/2006/main">
              <a:ext uri="{FF2B5EF4-FFF2-40B4-BE49-F238E27FC236}">
                <a16:creationId xmlns:a16="http://schemas.microsoft.com/office/drawing/2014/main" id="{61871A65-052C-4E4A-A83B-3785D66C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57450"/>
            <a:ext cx="47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3" name="text-215">
            <a:extLst xmlns:a="http://schemas.openxmlformats.org/drawingml/2006/main">
              <a:ext uri="{FF2B5EF4-FFF2-40B4-BE49-F238E27FC236}">
                <a16:creationId xmlns:a16="http://schemas.microsoft.com/office/drawing/2014/main" id="{922D9A62-6B23-4A3A-8822-475A49D8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BELI BAHAN</a:t>
            </a:r>
          </a:p>
        </p:txBody>
      </p:sp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5BB246B4-B99A-462A-B97C-E7BB05E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292C5-E2F5-45AC-B3DC-EA46AE2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2667000"/>
            <a:ext cx="11334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8F65F-FCDA-44F6-A643-5A6B78F3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622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7" name="text-217">
            <a:extLst xmlns:a="http://schemas.openxmlformats.org/drawingml/2006/main">
              <a:ext uri="{FF2B5EF4-FFF2-40B4-BE49-F238E27FC236}">
                <a16:creationId xmlns:a16="http://schemas.microsoft.com/office/drawing/2014/main" id="{4BEEA5B4-15FA-4AC0-8CE2-47E4D0D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57450"/>
            <a:ext cx="47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8" name="text-218">
            <a:extLst xmlns:a="http://schemas.openxmlformats.org/drawingml/2006/main">
              <a:ext uri="{FF2B5EF4-FFF2-40B4-BE49-F238E27FC236}">
                <a16:creationId xmlns:a16="http://schemas.microsoft.com/office/drawing/2014/main" id="{73D35C6C-C834-437C-9FDE-920B0AF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86125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9" name="text-219">
            <a:extLst xmlns:a="http://schemas.openxmlformats.org/drawingml/2006/main">
              <a:ext uri="{FF2B5EF4-FFF2-40B4-BE49-F238E27FC236}">
                <a16:creationId xmlns:a16="http://schemas.microsoft.com/office/drawing/2014/main" id="{1E04C970-B649-4677-90F3-837F66A4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5A06D-9BA3-412B-B790-0CE06AC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667000"/>
            <a:ext cx="11334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8429B-E1C2-42CE-B66E-744A7F2F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2" name="text-220">
            <a:extLst xmlns:a="http://schemas.openxmlformats.org/drawingml/2006/main">
              <a:ext uri="{FF2B5EF4-FFF2-40B4-BE49-F238E27FC236}">
                <a16:creationId xmlns:a16="http://schemas.microsoft.com/office/drawing/2014/main" id="{A6BB6658-C139-4986-97A2-0F264177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47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23" name="text-221">
            <a:extLst xmlns:a="http://schemas.openxmlformats.org/drawingml/2006/main">
              <a:ext uri="{FF2B5EF4-FFF2-40B4-BE49-F238E27FC236}">
                <a16:creationId xmlns:a16="http://schemas.microsoft.com/office/drawing/2014/main" id="{5C2249A1-3638-4B79-AB3D-3682B42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KIRIM BARANG</a:t>
            </a:r>
          </a:p>
        </p:txBody>
      </p:sp>
      <p:sp>
        <p:nvSpPr>
          <p:cNvPr id="24" name="text-222">
            <a:extLst xmlns:a="http://schemas.openxmlformats.org/drawingml/2006/main">
              <a:ext uri="{FF2B5EF4-FFF2-40B4-BE49-F238E27FC236}">
                <a16:creationId xmlns:a16="http://schemas.microsoft.com/office/drawing/2014/main" id="{9BC8F2D5-0C14-4117-A551-E45D5CD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E2D69-D5F0-43D7-B2C2-1B5ED0E4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667000"/>
            <a:ext cx="11334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21BE1-146D-479D-8AE1-0DBB401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6220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7" name="text-223">
            <a:extLst xmlns:a="http://schemas.openxmlformats.org/drawingml/2006/main">
              <a:ext uri="{FF2B5EF4-FFF2-40B4-BE49-F238E27FC236}">
                <a16:creationId xmlns:a16="http://schemas.microsoft.com/office/drawing/2014/main" id="{F86277A4-31E2-4A58-AEAB-CF5A908D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47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8" name="text-224">
            <a:extLst xmlns:a="http://schemas.openxmlformats.org/drawingml/2006/main">
              <a:ext uri="{FF2B5EF4-FFF2-40B4-BE49-F238E27FC236}">
                <a16:creationId xmlns:a16="http://schemas.microsoft.com/office/drawing/2014/main" id="{EF949DAA-DAAC-44A8-8537-1931181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86125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MEMBAYAR</a:t>
            </a:r>
          </a:p>
        </p:txBody>
      </p:sp>
      <p:sp>
        <p:nvSpPr>
          <p:cNvPr id="29" name="text-225">
            <a:extLst xmlns:a="http://schemas.openxmlformats.org/drawingml/2006/main">
              <a:ext uri="{FF2B5EF4-FFF2-40B4-BE49-F238E27FC236}">
                <a16:creationId xmlns:a16="http://schemas.microsoft.com/office/drawing/2014/main" id="{552BAE59-7BAB-4885-B7B1-A781C07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957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Kas masuk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C40366-9E12-42A3-9375-EC444DF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E1E16-BB90-495A-B7DE-2CE35F6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4768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2" name="text-226">
            <a:extLst xmlns:a="http://schemas.openxmlformats.org/drawingml/2006/main">
              <a:ext uri="{FF2B5EF4-FFF2-40B4-BE49-F238E27FC236}">
                <a16:creationId xmlns:a16="http://schemas.microsoft.com/office/drawing/2014/main" id="{A056993D-F4E0-4C06-B98C-EBE39AC1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248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Laba: pendapatan dikurangi biaya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9683E-FE7E-4484-91F4-83CAA3B8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76750"/>
            <a:ext cx="54768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4" name="text-227">
            <a:extLst xmlns:a="http://schemas.openxmlformats.org/drawingml/2006/main">
              <a:ext uri="{FF2B5EF4-FFF2-40B4-BE49-F238E27FC236}">
                <a16:creationId xmlns:a16="http://schemas.microsoft.com/office/drawing/2014/main" id="{E90CB16C-8BBE-4C7C-85ED-1AB6D69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52950"/>
            <a:ext cx="5248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Kas: uang tersedia saat dibutuhkan</a:t>
            </a:r>
          </a:p>
        </p:txBody>
      </p:sp>
      <p:sp>
        <p:nvSpPr>
          <p:cNvPr id="35" name="text-228">
            <a:extLst xmlns:a="http://schemas.openxmlformats.org/drawingml/2006/main">
              <a:ext uri="{FF2B5EF4-FFF2-40B4-BE49-F238E27FC236}">
                <a16:creationId xmlns:a16="http://schemas.microsoft.com/office/drawing/2014/main" id="{99169F49-ADAB-4781-8440-8B96746C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Hitung seluruh biaya untuk menilai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apakah order menguntungkan.</a:t>
            </a:r>
          </a:p>
        </p:txBody>
      </p:sp>
      <p:sp>
        <p:nvSpPr>
          <p:cNvPr id="36" name="text-229">
            <a:extLst xmlns:a="http://schemas.openxmlformats.org/drawingml/2006/main">
              <a:ext uri="{FF2B5EF4-FFF2-40B4-BE49-F238E27FC236}">
                <a16:creationId xmlns:a16="http://schemas.microsoft.com/office/drawing/2014/main" id="{3B781800-D85B-4E7F-B825-9F7A075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Pisahkan uang pribadi dan usaha.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Cek termin sebelum menyepakati order.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3d97952ae4dc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C4B89-6876-4D69-9F5C-313A1F5C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4628c9d204f14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230">
            <a:extLst xmlns:a="http://schemas.openxmlformats.org/drawingml/2006/main">
              <a:ext uri="{FF2B5EF4-FFF2-40B4-BE49-F238E27FC236}">
                <a16:creationId xmlns:a16="http://schemas.microsoft.com/office/drawing/2014/main" id="{58728C74-29F3-4DB9-80C5-71CD776C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Keberanian Lebih Berguna Kalau Batas Risikonya Jelas</a:t>
            </a:r>
          </a:p>
        </p:txBody>
      </p:sp>
      <p:sp>
        <p:nvSpPr>
          <p:cNvPr id="5" name="text-231">
            <a:extLst xmlns:a="http://schemas.openxmlformats.org/drawingml/2006/main">
              <a:ext uri="{FF2B5EF4-FFF2-40B4-BE49-F238E27FC236}">
                <a16:creationId xmlns:a16="http://schemas.microsoft.com/office/drawing/2014/main" id="{82835C1E-98D3-471F-8F05-6C8E3AC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Tentukan apa yang bisa gagal, dampaknya, dan kontrol sebelum deal.</a:t>
            </a:r>
          </a:p>
        </p:txBody>
      </p:sp>
      <p:sp>
        <p:nvSpPr>
          <p:cNvPr id="6" name="text-232">
            <a:extLst xmlns:a="http://schemas.openxmlformats.org/drawingml/2006/main">
              <a:ext uri="{FF2B5EF4-FFF2-40B4-BE49-F238E27FC236}">
                <a16:creationId xmlns:a16="http://schemas.microsoft.com/office/drawing/2014/main" id="{59071D4F-BC4F-4017-A8C6-F5C15C4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233">
            <a:extLst xmlns:a="http://schemas.openxmlformats.org/drawingml/2006/main">
              <a:ext uri="{FF2B5EF4-FFF2-40B4-BE49-F238E27FC236}">
                <a16:creationId xmlns:a16="http://schemas.microsoft.com/office/drawing/2014/main" id="{B4C144A4-E892-4DE0-B1C1-AF14078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34">
            <a:extLst xmlns:a="http://schemas.openxmlformats.org/drawingml/2006/main">
              <a:ext uri="{FF2B5EF4-FFF2-40B4-BE49-F238E27FC236}">
                <a16:creationId xmlns:a16="http://schemas.microsoft.com/office/drawing/2014/main" id="{8F56EC89-E879-44A0-8AB2-BFF25DF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7F8E5-E4FB-489B-BEAC-91368DA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0003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235">
            <a:extLst xmlns:a="http://schemas.openxmlformats.org/drawingml/2006/main">
              <a:ext uri="{FF2B5EF4-FFF2-40B4-BE49-F238E27FC236}">
                <a16:creationId xmlns:a16="http://schemas.microsoft.com/office/drawing/2014/main" id="{56867CC4-1B59-4089-90C1-478E31BB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771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Pemicu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8A72-88A7-410B-AC93-76154D5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143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2" name="text-236">
            <a:extLst xmlns:a="http://schemas.openxmlformats.org/drawingml/2006/main">
              <a:ext uri="{FF2B5EF4-FFF2-40B4-BE49-F238E27FC236}">
                <a16:creationId xmlns:a16="http://schemas.microsoft.com/office/drawing/2014/main" id="{FD271BEA-2AA6-49F9-890D-D981BE39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Dampak ke bisnis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06CAC-3BDF-42A4-9D11-892CA72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714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4" name="text-237">
            <a:extLst xmlns:a="http://schemas.openxmlformats.org/drawingml/2006/main">
              <a:ext uri="{FF2B5EF4-FFF2-40B4-BE49-F238E27FC236}">
                <a16:creationId xmlns:a16="http://schemas.microsoft.com/office/drawing/2014/main" id="{322200B0-E8B9-4248-8374-E102C86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486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Kontrol sebelum deal</a:t>
            </a:r>
          </a:p>
        </p:txBody>
      </p:sp>
      <p:sp>
        <p:nvSpPr>
          <p:cNvPr id="15" name="text-238">
            <a:extLst xmlns:a="http://schemas.openxmlformats.org/drawingml/2006/main">
              <a:ext uri="{FF2B5EF4-FFF2-40B4-BE49-F238E27FC236}">
                <a16:creationId xmlns:a16="http://schemas.microsoft.com/office/drawing/2014/main" id="{01E86188-E411-4DA4-820C-DD18F78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2771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2A9E3-1182-48FA-8531-18971CF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6860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7" name="text-239">
            <a:extLst xmlns:a="http://schemas.openxmlformats.org/drawingml/2006/main">
              <a:ext uri="{FF2B5EF4-FFF2-40B4-BE49-F238E27FC236}">
                <a16:creationId xmlns:a16="http://schemas.microsoft.com/office/drawing/2014/main" id="{99F9E6F4-7F53-468E-BF88-0E2B0B6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43175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Modal kerja tertahan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3D522-A6F9-41E5-A1AF-11D0D7E4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6860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9" name="text-240">
            <a:extLst xmlns:a="http://schemas.openxmlformats.org/drawingml/2006/main">
              <a:ext uri="{FF2B5EF4-FFF2-40B4-BE49-F238E27FC236}">
                <a16:creationId xmlns:a16="http://schemas.microsoft.com/office/drawing/2014/main" id="{671402C8-A3D3-4671-9D74-858C168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476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4B541-5584-45A9-B5FD-B0B7C331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1" name="text-241">
            <a:extLst xmlns:a="http://schemas.openxmlformats.org/drawingml/2006/main">
              <a:ext uri="{FF2B5EF4-FFF2-40B4-BE49-F238E27FC236}">
                <a16:creationId xmlns:a16="http://schemas.microsoft.com/office/drawing/2014/main" id="{267B7EFB-E87E-4059-8051-D90512F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2771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Mutu berbeda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247A6-18AD-4E6C-B59E-7AB6BAFA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361950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3" name="text-242">
            <a:extLst xmlns:a="http://schemas.openxmlformats.org/drawingml/2006/main">
              <a:ext uri="{FF2B5EF4-FFF2-40B4-BE49-F238E27FC236}">
                <a16:creationId xmlns:a16="http://schemas.microsoft.com/office/drawing/2014/main" id="{FC142CB5-41BB-491C-B081-1B11BB63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Komplain / penolakan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0EF4C-59B7-40C9-8B9F-4E16605E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61950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5" name="text-243">
            <a:extLst xmlns:a="http://schemas.openxmlformats.org/drawingml/2006/main">
              <a:ext uri="{FF2B5EF4-FFF2-40B4-BE49-F238E27FC236}">
                <a16:creationId xmlns:a16="http://schemas.microsoft.com/office/drawing/2014/main" id="{F60FA187-CE3E-4E51-9252-1C1EABC7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476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891F3-408B-4A6B-9855-15885C7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7" name="text-244">
            <a:extLst xmlns:a="http://schemas.openxmlformats.org/drawingml/2006/main">
              <a:ext uri="{FF2B5EF4-FFF2-40B4-BE49-F238E27FC236}">
                <a16:creationId xmlns:a16="http://schemas.microsoft.com/office/drawing/2014/main" id="{339DFDAA-E6A1-4CEC-BF23-EECDFFC2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2771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Produksi meleset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900E3-C2B6-4901-A392-AFFD8D4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5529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9" name="text-245">
            <a:extLst xmlns:a="http://schemas.openxmlformats.org/drawingml/2006/main">
              <a:ext uri="{FF2B5EF4-FFF2-40B4-BE49-F238E27FC236}">
                <a16:creationId xmlns:a16="http://schemas.microsoft.com/office/drawing/2014/main" id="{A2555E29-477A-4761-A1AE-081F2E0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0075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Janji kirim terganggu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74C0A-E09D-4F90-86E7-6746D9B7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5529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31" name="text-246">
            <a:extLst xmlns:a="http://schemas.openxmlformats.org/drawingml/2006/main">
              <a:ext uri="{FF2B5EF4-FFF2-40B4-BE49-F238E27FC236}">
                <a16:creationId xmlns:a16="http://schemas.microsoft.com/office/drawing/2014/main" id="{4C461F49-A0EB-4599-866D-5666744A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3476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kapasitas + buffer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88FCB-66AD-4539-8D87-9A42C38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3" name="text-247">
            <a:extLst xmlns:a="http://schemas.openxmlformats.org/drawingml/2006/main">
              <a:ext uri="{FF2B5EF4-FFF2-40B4-BE49-F238E27FC236}">
                <a16:creationId xmlns:a16="http://schemas.microsoft.com/office/drawing/2014/main" id="{FAD93EF8-549B-43B8-94B9-1418D84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Sebelum mulai: tentukan biaya, waktu, dan komitmen maksimum yang sanggup ditanggung.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36a4061ce4c3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80101-385B-456B-9B90-00FB7C8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bbfaa454c40b0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248">
            <a:extLst xmlns:a="http://schemas.openxmlformats.org/drawingml/2006/main">
              <a:ext uri="{FF2B5EF4-FFF2-40B4-BE49-F238E27FC236}">
                <a16:creationId xmlns:a16="http://schemas.microsoft.com/office/drawing/2014/main" id="{356AB26E-3AAC-4BD5-954B-A501F410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Untuk Kasus Ini, Negosiasikan Syarat Sebelum Bilang “Ya”</a:t>
            </a:r>
          </a:p>
        </p:txBody>
      </p:sp>
      <p:sp>
        <p:nvSpPr>
          <p:cNvPr id="5" name="text-249">
            <a:extLst xmlns:a="http://schemas.openxmlformats.org/drawingml/2006/main">
              <a:ext uri="{FF2B5EF4-FFF2-40B4-BE49-F238E27FC236}">
                <a16:creationId xmlns:a16="http://schemas.microsoft.com/office/drawing/2014/main" id="{7DEC0A45-0C6D-4B1D-A543-2ECA4151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Kapasitas baru 300 dari 500 unit. Kas dan kemasan juga belum terbukti siap.</a:t>
            </a:r>
          </a:p>
        </p:txBody>
      </p:sp>
      <p:sp>
        <p:nvSpPr>
          <p:cNvPr id="6" name="text-250">
            <a:extLst xmlns:a="http://schemas.openxmlformats.org/drawingml/2006/main">
              <a:ext uri="{FF2B5EF4-FFF2-40B4-BE49-F238E27FC236}">
                <a16:creationId xmlns:a16="http://schemas.microsoft.com/office/drawing/2014/main" id="{ED6EFB23-1C11-440B-9FF7-B859F49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Seluruh angka kasus adalah ilustrasi pembelajaran, bukan data perusahaan.</a:t>
            </a:r>
          </a:p>
        </p:txBody>
      </p:sp>
      <p:sp>
        <p:nvSpPr>
          <p:cNvPr id="7" name="text-251">
            <a:extLst xmlns:a="http://schemas.openxmlformats.org/drawingml/2006/main">
              <a:ext uri="{FF2B5EF4-FFF2-40B4-BE49-F238E27FC236}">
                <a16:creationId xmlns:a16="http://schemas.microsoft.com/office/drawing/2014/main" id="{C0E0B8F8-84EC-4E11-9795-CE405DF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52">
            <a:extLst xmlns:a="http://schemas.openxmlformats.org/drawingml/2006/main">
              <a:ext uri="{FF2B5EF4-FFF2-40B4-BE49-F238E27FC236}">
                <a16:creationId xmlns:a16="http://schemas.microsoft.com/office/drawing/2014/main" id="{34362605-76FD-4547-909E-D3690B9F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9" name="text-253">
            <a:extLst xmlns:a="http://schemas.openxmlformats.org/drawingml/2006/main">
              <a:ext uri="{FF2B5EF4-FFF2-40B4-BE49-F238E27FC236}">
                <a16:creationId xmlns:a16="http://schemas.microsoft.com/office/drawing/2014/main" id="{60BC604C-6AFC-44E3-9739-CA49694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00050" y="2324100"/>
          <a:ext xmlns:a="http://schemas.openxmlformats.org/drawingml/2006/main" cx="6562725" cy="2247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6325a75d2a435a"/>
          </a:graphicData>
        </a:graphic>
      </p:graphicFrame>
      <p:sp>
        <p:nvSpPr>
          <p:cNvPr id="11" name="text-254">
            <a:extLst xmlns:a="http://schemas.openxmlformats.org/drawingml/2006/main">
              <a:ext uri="{FF2B5EF4-FFF2-40B4-BE49-F238E27FC236}">
                <a16:creationId xmlns:a16="http://schemas.microsoft.com/office/drawing/2014/main" id="{608D93D7-0E57-4A24-876A-53ADBB9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2714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12" name="text-255">
            <a:extLst xmlns:a="http://schemas.openxmlformats.org/drawingml/2006/main">
              <a:ext uri="{FF2B5EF4-FFF2-40B4-BE49-F238E27FC236}">
                <a16:creationId xmlns:a16="http://schemas.microsoft.com/office/drawing/2014/main" id="{302AE08B-1874-4069-B824-8718159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gap kapasitas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5C2C1-56B9-410E-AB10-E2B8E7B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743075"/>
            <a:ext cx="4352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4" name="text-256">
            <a:extLst xmlns:a="http://schemas.openxmlformats.org/drawingml/2006/main">
              <a:ext uri="{FF2B5EF4-FFF2-40B4-BE49-F238E27FC236}">
                <a16:creationId xmlns:a16="http://schemas.microsoft.com/office/drawing/2014/main" id="{467BEA04-4943-4A59-A10B-90EBCDA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19275"/>
            <a:ext cx="4124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Tiga hal untuk dinegosiasikan</a:t>
            </a:r>
          </a:p>
        </p:txBody>
      </p:sp>
      <p:sp>
        <p:nvSpPr>
          <p:cNvPr id="15" name="text-257">
            <a:extLst xmlns:a="http://schemas.openxmlformats.org/drawingml/2006/main">
              <a:ext uri="{FF2B5EF4-FFF2-40B4-BE49-F238E27FC236}">
                <a16:creationId xmlns:a16="http://schemas.microsoft.com/office/drawing/2014/main" id="{CC77C201-6ED1-4735-96BC-DDA5F77F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717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16" name="text-258">
            <a:extLst xmlns:a="http://schemas.openxmlformats.org/drawingml/2006/main">
              <a:ext uri="{FF2B5EF4-FFF2-40B4-BE49-F238E27FC236}">
                <a16:creationId xmlns:a16="http://schemas.microsoft.com/office/drawing/2014/main" id="{A1F68BBD-E194-497F-96D6-005F024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9557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Kurangi atau bagi pengiriman?</a:t>
            </a:r>
          </a:p>
        </p:txBody>
      </p:sp>
      <p:sp>
        <p:nvSpPr>
          <p:cNvPr id="17" name="text-259">
            <a:extLst xmlns:a="http://schemas.openxmlformats.org/drawingml/2006/main">
              <a:ext uri="{FF2B5EF4-FFF2-40B4-BE49-F238E27FC236}">
                <a16:creationId xmlns:a16="http://schemas.microsoft.com/office/drawing/2014/main" id="{44DAD6E7-606E-4F63-B106-2009DF0F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813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18" name="text-260">
            <a:extLst xmlns:a="http://schemas.openxmlformats.org/drawingml/2006/main">
              <a:ext uri="{FF2B5EF4-FFF2-40B4-BE49-F238E27FC236}">
                <a16:creationId xmlns:a16="http://schemas.microsoft.com/office/drawing/2014/main" id="{416C9229-96EC-43C7-83FD-8879274D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0522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Ubah termin agar kas mencukupi?</a:t>
            </a:r>
          </a:p>
        </p:txBody>
      </p:sp>
      <p:sp>
        <p:nvSpPr>
          <p:cNvPr id="19" name="text-261">
            <a:extLst xmlns:a="http://schemas.openxmlformats.org/drawingml/2006/main">
              <a:ext uri="{FF2B5EF4-FFF2-40B4-BE49-F238E27FC236}">
                <a16:creationId xmlns:a16="http://schemas.microsoft.com/office/drawing/2014/main" id="{D1E54301-3F8B-4E4D-8CCF-328535A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910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20" name="text-262">
            <a:extLst xmlns:a="http://schemas.openxmlformats.org/drawingml/2006/main">
              <a:ext uri="{FF2B5EF4-FFF2-40B4-BE49-F238E27FC236}">
                <a16:creationId xmlns:a16="http://schemas.microsoft.com/office/drawing/2014/main" id="{5779DA82-2372-4906-B17B-8E01AE2F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1487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Uji kemasan dan spesifikasi dulu?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4F986-2B1D-41CE-9FDD-388DC80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2" name="text-263">
            <a:extLst xmlns:a="http://schemas.openxmlformats.org/drawingml/2006/main">
              <a:ext uri="{FF2B5EF4-FFF2-40B4-BE49-F238E27FC236}">
                <a16:creationId xmlns:a16="http://schemas.microsoft.com/office/drawing/2014/main" id="{CE69CA03-CB44-46E4-85DA-A31048B8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Terima jika syaratnya terbukti layak. Kalau tidak ada jalan yang aman, tunda.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046df4e4446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03D59-DBFB-4B93-8E0D-10467C3E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51861c6514f24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264">
            <a:extLst xmlns:a="http://schemas.openxmlformats.org/drawingml/2006/main">
              <a:ext uri="{FF2B5EF4-FFF2-40B4-BE49-F238E27FC236}">
                <a16:creationId xmlns:a16="http://schemas.microsoft.com/office/drawing/2014/main" id="{92F0B9F6-3E66-4EA2-B34F-7AC1863D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Build–Measure–Learn Membuat Kita Belajar sebelum Scale</a:t>
            </a:r>
          </a:p>
        </p:txBody>
      </p:sp>
      <p:sp>
        <p:nvSpPr>
          <p:cNvPr id="5" name="text-265">
            <a:extLst xmlns:a="http://schemas.openxmlformats.org/drawingml/2006/main">
              <a:ext uri="{FF2B5EF4-FFF2-40B4-BE49-F238E27FC236}">
                <a16:creationId xmlns:a16="http://schemas.microsoft.com/office/drawing/2014/main" id="{CCED4051-2F77-4B12-9D84-5F1FBE4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Mulai dari percobaan yang kecil, lalu ubah keputusan berdasarkan hasilnya.</a:t>
            </a:r>
          </a:p>
        </p:txBody>
      </p:sp>
      <p:sp>
        <p:nvSpPr>
          <p:cNvPr id="6" name="text-266">
            <a:extLst xmlns:a="http://schemas.openxmlformats.org/drawingml/2006/main">
              <a:ext uri="{FF2B5EF4-FFF2-40B4-BE49-F238E27FC236}">
                <a16:creationId xmlns:a16="http://schemas.microsoft.com/office/drawing/2014/main" id="{38E014C4-F5F9-4780-81CB-9A54958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267">
            <a:extLst xmlns:a="http://schemas.openxmlformats.org/drawingml/2006/main">
              <a:ext uri="{FF2B5EF4-FFF2-40B4-BE49-F238E27FC236}">
                <a16:creationId xmlns:a16="http://schemas.microsoft.com/office/drawing/2014/main" id="{6770B956-ECEF-4529-8A71-89A0376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68">
            <a:extLst xmlns:a="http://schemas.openxmlformats.org/drawingml/2006/main">
              <a:ext uri="{FF2B5EF4-FFF2-40B4-BE49-F238E27FC236}">
                <a16:creationId xmlns:a16="http://schemas.microsoft.com/office/drawing/2014/main" id="{8B78BD09-D9A2-4F5A-8BEC-9595190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8947D-0BEF-4C07-9809-D83A10B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0" name="text-269">
            <a:extLst xmlns:a="http://schemas.openxmlformats.org/drawingml/2006/main">
              <a:ext uri="{FF2B5EF4-FFF2-40B4-BE49-F238E27FC236}">
                <a16:creationId xmlns:a16="http://schemas.microsoft.com/office/drawing/2014/main" id="{BDC311CA-1D6A-4CFE-83F5-D24B32C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1" name="text-270">
            <a:extLst xmlns:a="http://schemas.openxmlformats.org/drawingml/2006/main">
              <a:ext uri="{FF2B5EF4-FFF2-40B4-BE49-F238E27FC236}">
                <a16:creationId xmlns:a16="http://schemas.microsoft.com/office/drawing/2014/main" id="{51E6AFDB-8BF9-4D26-A288-8C0D4E48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2BF3D-F646-40CC-B547-E45469A9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86175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3" name="text-271">
            <a:extLst xmlns:a="http://schemas.openxmlformats.org/drawingml/2006/main">
              <a:ext uri="{FF2B5EF4-FFF2-40B4-BE49-F238E27FC236}">
                <a16:creationId xmlns:a16="http://schemas.microsoft.com/office/drawing/2014/main" id="{853A822B-51A8-4C64-8042-4DEB9BC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4" name="text-272">
            <a:extLst xmlns:a="http://schemas.openxmlformats.org/drawingml/2006/main">
              <a:ext uri="{FF2B5EF4-FFF2-40B4-BE49-F238E27FC236}">
                <a16:creationId xmlns:a16="http://schemas.microsoft.com/office/drawing/2014/main" id="{54E15FA5-D70D-4307-96B9-BC2B3FC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148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653C2-6FD3-4D2C-812A-3C790C7D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6" name="text-273">
            <a:extLst xmlns:a="http://schemas.openxmlformats.org/drawingml/2006/main">
              <a:ext uri="{FF2B5EF4-FFF2-40B4-BE49-F238E27FC236}">
                <a16:creationId xmlns:a16="http://schemas.microsoft.com/office/drawing/2014/main" id="{A3D506FE-0F01-4ED1-973E-B8CE2EA6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7" name="text-274">
            <a:extLst xmlns:a="http://schemas.openxmlformats.org/drawingml/2006/main">
              <a:ext uri="{FF2B5EF4-FFF2-40B4-BE49-F238E27FC236}">
                <a16:creationId xmlns:a16="http://schemas.microsoft.com/office/drawing/2014/main" id="{B4F4A351-AEA7-433E-8477-0FA999F9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97B94-A8B5-4B50-8947-C83C92B3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0000">
            <a:off x="2486025" y="3105150"/>
            <a:ext cx="838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5BA24-A9B2-4295-BC7B-79DDC56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076450" y="4695825"/>
            <a:ext cx="800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80B38-C790-4911-B5A2-591E989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19175" y="3714750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48826-34AF-442B-82D0-0659B6CD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8117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2" name="text-275">
            <a:extLst xmlns:a="http://schemas.openxmlformats.org/drawingml/2006/main">
              <a:ext uri="{FF2B5EF4-FFF2-40B4-BE49-F238E27FC236}">
                <a16:creationId xmlns:a16="http://schemas.microsoft.com/office/drawing/2014/main" id="{0D6306DF-F1E6-4AE8-BD5F-683E363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57375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23829-85B9-4385-BF2D-39393311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81175"/>
            <a:ext cx="49244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4" name="text-276">
            <a:extLst xmlns:a="http://schemas.openxmlformats.org/drawingml/2006/main">
              <a:ext uri="{FF2B5EF4-FFF2-40B4-BE49-F238E27FC236}">
                <a16:creationId xmlns:a16="http://schemas.microsoft.com/office/drawing/2014/main" id="{CD32FB9F-CF05-4B58-8CFE-8BA73F5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57375"/>
            <a:ext cx="469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Tindakan dan bukti</a:t>
            </a:r>
          </a:p>
        </p:txBody>
      </p:sp>
      <p:sp>
        <p:nvSpPr>
          <p:cNvPr id="25" name="text-277">
            <a:extLst xmlns:a="http://schemas.openxmlformats.org/drawingml/2006/main">
              <a:ext uri="{FF2B5EF4-FFF2-40B4-BE49-F238E27FC236}">
                <a16:creationId xmlns:a16="http://schemas.microsoft.com/office/drawing/2014/main" id="{B82C22CB-0C02-48AA-87A3-979A209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26" name="text-278">
            <a:extLst xmlns:a="http://schemas.openxmlformats.org/drawingml/2006/main">
              <a:ext uri="{FF2B5EF4-FFF2-40B4-BE49-F238E27FC236}">
                <a16:creationId xmlns:a16="http://schemas.microsoft.com/office/drawing/2014/main" id="{930BB4CE-6D18-463E-B4B7-76113E7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Tunjukkan dua pilihan ukuran.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E199F-C66B-472F-BCCD-5E2D57D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62325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8" name="text-279">
            <a:extLst xmlns:a="http://schemas.openxmlformats.org/drawingml/2006/main">
              <a:ext uri="{FF2B5EF4-FFF2-40B4-BE49-F238E27FC236}">
                <a16:creationId xmlns:a16="http://schemas.microsoft.com/office/drawing/2014/main" id="{6FC0505F-EA7F-4F62-A30F-49D9644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29" name="text-280">
            <a:extLst xmlns:a="http://schemas.openxmlformats.org/drawingml/2006/main">
              <a:ext uri="{FF2B5EF4-FFF2-40B4-BE49-F238E27FC236}">
                <a16:creationId xmlns:a16="http://schemas.microsoft.com/office/drawing/2014/main" id="{13722BFF-F828-417D-AFB4-805DE03A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Catat pilihan, keberatan, dan harga.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9A73A-FDA9-40E5-AD7E-4FDF4050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33875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1" name="text-281">
            <a:extLst xmlns:a="http://schemas.openxmlformats.org/drawingml/2006/main">
              <a:ext uri="{FF2B5EF4-FFF2-40B4-BE49-F238E27FC236}">
                <a16:creationId xmlns:a16="http://schemas.microsoft.com/office/drawing/2014/main" id="{B888B79C-AB93-41AA-B0B4-3B17A943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32" name="text-282">
            <a:extLst xmlns:a="http://schemas.openxmlformats.org/drawingml/2006/main">
              <a:ext uri="{FF2B5EF4-FFF2-40B4-BE49-F238E27FC236}">
                <a16:creationId xmlns:a16="http://schemas.microsoft.com/office/drawing/2014/main" id="{48DAD2C0-4C88-46D3-B006-0C7A3E8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9580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Lanjutkan, ubah, atau hentikan uji.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15501-6FA9-485B-B530-AAFDAE6E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4" name="text-283">
            <a:extLst xmlns:a="http://schemas.openxmlformats.org/drawingml/2006/main">
              <a:ext uri="{FF2B5EF4-FFF2-40B4-BE49-F238E27FC236}">
                <a16:creationId xmlns:a16="http://schemas.microsoft.com/office/drawing/2014/main" id="{5B8D4D3D-7E31-412C-AB71-574B5EEB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Tujuan uji bukan membuktikan kita benar, tetapi mengurangi ketidakpastian.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9cb5625994e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526B8-0190-44D6-A46D-2B6C095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c8e0fac304c7d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284">
            <a:extLst xmlns:a="http://schemas.openxmlformats.org/drawingml/2006/main">
              <a:ext uri="{FF2B5EF4-FFF2-40B4-BE49-F238E27FC236}">
                <a16:creationId xmlns:a16="http://schemas.microsoft.com/office/drawing/2014/main" id="{74C0220D-D1C2-43C4-BFFF-04789B0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Uji yang Baik Sudah Punya Ukuran Berhasil sejak Awal</a:t>
            </a:r>
          </a:p>
        </p:txBody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62F35452-AD9F-44F1-846F-9BDC1897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Contoh: buyer membutuhkan ukuran yang lebih kecil, tetapi kita belum punya buktinya.</a:t>
            </a:r>
          </a:p>
        </p:txBody>
      </p:sp>
      <p:sp>
        <p:nvSpPr>
          <p:cNvPr id="6" name="text-286">
            <a:extLst xmlns:a="http://schemas.openxmlformats.org/drawingml/2006/main">
              <a:ext uri="{FF2B5EF4-FFF2-40B4-BE49-F238E27FC236}">
                <a16:creationId xmlns:a16="http://schemas.microsoft.com/office/drawing/2014/main" id="{55C321E9-B2B5-4719-81FA-531EFEA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Adaptasi Modul 1 h.27; Strategyzer. Contoh rencana uji, bukan standar kelulusan.</a:t>
            </a:r>
          </a:p>
        </p:txBody>
      </p:sp>
      <p:sp>
        <p:nvSpPr>
          <p:cNvPr id="7" name="text-287">
            <a:extLst xmlns:a="http://schemas.openxmlformats.org/drawingml/2006/main">
              <a:ext uri="{FF2B5EF4-FFF2-40B4-BE49-F238E27FC236}">
                <a16:creationId xmlns:a16="http://schemas.microsoft.com/office/drawing/2014/main" id="{2D87B410-6AA6-48CA-9B86-A4B3165B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88">
            <a:extLst xmlns:a="http://schemas.openxmlformats.org/drawingml/2006/main">
              <a:ext uri="{FF2B5EF4-FFF2-40B4-BE49-F238E27FC236}">
                <a16:creationId xmlns:a16="http://schemas.microsoft.com/office/drawing/2014/main" id="{0C2B84C0-2561-43E0-A82D-3F0779B0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6B9F2-53B2-4FAD-AD7F-2FC60F6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5252CBBC-D104-4D8D-B277-4192A22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Rencana uji untuk usaha dekorasi rotan</a:t>
            </a:r>
          </a:p>
        </p:txBody>
      </p:sp>
      <p:sp>
        <p:nvSpPr>
          <p:cNvPr id="11" name="text-290">
            <a:extLst xmlns:a="http://schemas.openxmlformats.org/drawingml/2006/main">
              <a:ext uri="{FF2B5EF4-FFF2-40B4-BE49-F238E27FC236}">
                <a16:creationId xmlns:a16="http://schemas.microsoft.com/office/drawing/2014/main" id="{3939F8AF-DAA4-411B-9D99-5F8B4E96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ASUMSI</a:t>
            </a:r>
          </a:p>
        </p:txBody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B30459A4-EA19-499B-8DE9-D1A38A89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90775"/>
            <a:ext cx="878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Ukuran lebih kecil lebih cocok untuk kebutuhan buyer.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98B91-FEA9-4E30-BE0D-3AFB6C6F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14650"/>
            <a:ext cx="1109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4" name="text-292">
            <a:extLst xmlns:a="http://schemas.openxmlformats.org/drawingml/2006/main">
              <a:ext uri="{FF2B5EF4-FFF2-40B4-BE49-F238E27FC236}">
                <a16:creationId xmlns:a16="http://schemas.microsoft.com/office/drawing/2014/main" id="{BD74C9CB-0FAA-4042-9887-8929517C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194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TINDAKAN</a:t>
            </a:r>
          </a:p>
        </p:txBody>
      </p:sp>
      <p:sp>
        <p:nvSpPr>
          <p:cNvPr id="15" name="text-293">
            <a:extLst xmlns:a="http://schemas.openxmlformats.org/drawingml/2006/main">
              <a:ext uri="{FF2B5EF4-FFF2-40B4-BE49-F238E27FC236}">
                <a16:creationId xmlns:a16="http://schemas.microsoft.com/office/drawing/2014/main" id="{9B1984D6-ABB7-440D-B523-2AF72786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19425"/>
            <a:ext cx="878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Tunjukkan dua ukuran, spesifikasi, dan penawaran harganya.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1A384-6483-4E2C-AAEE-66532D2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109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7" name="text-294">
            <a:extLst xmlns:a="http://schemas.openxmlformats.org/drawingml/2006/main">
              <a:ext uri="{FF2B5EF4-FFF2-40B4-BE49-F238E27FC236}">
                <a16:creationId xmlns:a16="http://schemas.microsoft.com/office/drawing/2014/main" id="{8F7F1BC8-F7B9-4911-A1C0-3A3EDC0D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480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 DICARI</a:t>
            </a:r>
          </a:p>
        </p:txBody>
      </p:sp>
      <p:sp>
        <p:nvSpPr>
          <p:cNvPr id="18" name="text-295">
            <a:extLst xmlns:a="http://schemas.openxmlformats.org/drawingml/2006/main">
              <a:ext uri="{FF2B5EF4-FFF2-40B4-BE49-F238E27FC236}">
                <a16:creationId xmlns:a16="http://schemas.microsoft.com/office/drawing/2014/main" id="{C229B333-3B1F-4D16-AF3F-D3808B4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48075"/>
            <a:ext cx="878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Pilihan ukuran, alasan, keberatan, dan tindak lanjut buyer.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6F8D7-F8F6-47D3-B77C-EE9E71E4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109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0" name="text-296">
            <a:extLst xmlns:a="http://schemas.openxmlformats.org/drawingml/2006/main">
              <a:ext uri="{FF2B5EF4-FFF2-40B4-BE49-F238E27FC236}">
                <a16:creationId xmlns:a16="http://schemas.microsoft.com/office/drawing/2014/main" id="{750A78BA-E467-4816-98FB-980D7F6A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PATOKAN LANJUT</a:t>
            </a:r>
          </a:p>
        </p:txBody>
      </p:sp>
      <p:sp>
        <p:nvSpPr>
          <p:cNvPr id="21" name="text-297">
            <a:extLst xmlns:a="http://schemas.openxmlformats.org/drawingml/2006/main">
              <a:ext uri="{FF2B5EF4-FFF2-40B4-BE49-F238E27FC236}">
                <a16:creationId xmlns:a16="http://schemas.microsoft.com/office/drawing/2014/main" id="{63F440FD-4DDE-4B34-8769-21EF7F0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76725"/>
            <a:ext cx="878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Spesifikasi disepakati; ada langkah komersial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135D8-2A28-4A2B-9180-E10AB520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00600"/>
            <a:ext cx="1109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3" name="text-298">
            <a:extLst xmlns:a="http://schemas.openxmlformats.org/drawingml/2006/main">
              <a:ext uri="{FF2B5EF4-FFF2-40B4-BE49-F238E27FC236}">
                <a16:creationId xmlns:a16="http://schemas.microsoft.com/office/drawing/2014/main" id="{0A4D48E2-0149-41E6-A182-C2B2D2EC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BATAS UJI</a:t>
            </a:r>
          </a:p>
        </p:txBody>
      </p:sp>
      <p:sp>
        <p:nvSpPr>
          <p:cNvPr id="24" name="text-299">
            <a:extLst xmlns:a="http://schemas.openxmlformats.org/drawingml/2006/main">
              <a:ext uri="{FF2B5EF4-FFF2-40B4-BE49-F238E27FC236}">
                <a16:creationId xmlns:a16="http://schemas.microsoft.com/office/drawing/2014/main" id="{348C4321-78DE-4595-AF7E-F70B2DE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05375"/>
            <a:ext cx="878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Tetapkan biaya sampel, tenggat, dan PIC sebelum mulai.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27A06-4831-4159-8DDF-EC43DF4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6" name="text-300">
            <a:extLst xmlns:a="http://schemas.openxmlformats.org/drawingml/2006/main">
              <a:ext uri="{FF2B5EF4-FFF2-40B4-BE49-F238E27FC236}">
                <a16:creationId xmlns:a16="http://schemas.microsoft.com/office/drawing/2014/main" id="{3B913A10-88B1-4BBC-A81E-CEDC1578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bukti belum cukup, perbaiki uji. Jangan langsung menyimpulkan pasar tidak ada.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d04d497e5467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CA5F7-5D30-458A-8956-85A5DD13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473f07e74dff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01">
            <a:extLst xmlns:a="http://schemas.openxmlformats.org/drawingml/2006/main">
              <a:ext uri="{FF2B5EF4-FFF2-40B4-BE49-F238E27FC236}">
                <a16:creationId xmlns:a16="http://schemas.microsoft.com/office/drawing/2014/main" id="{2AC76372-8D16-4202-9AFF-A03D759B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Tidak Semua Respons Buyer Punya Kekuatan Bukti yang Sama</a:t>
            </a:r>
          </a:p>
        </p:txBody>
      </p:sp>
      <p:sp>
        <p:nvSpPr>
          <p:cNvPr id="5" name="text-302">
            <a:extLst xmlns:a="http://schemas.openxmlformats.org/drawingml/2006/main">
              <a:ext uri="{FF2B5EF4-FFF2-40B4-BE49-F238E27FC236}">
                <a16:creationId xmlns:a16="http://schemas.microsoft.com/office/drawing/2014/main" id="{E2D502B1-F606-4898-8BA8-73DD1755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Makin konkret komitmennya, makin berguna respons itu untuk mengambil keputusan.</a:t>
            </a:r>
          </a:p>
        </p:txBody>
      </p:sp>
      <p:sp>
        <p:nvSpPr>
          <p:cNvPr id="6" name="text-303">
            <a:extLst xmlns:a="http://schemas.openxmlformats.org/drawingml/2006/main">
              <a:ext uri="{FF2B5EF4-FFF2-40B4-BE49-F238E27FC236}">
                <a16:creationId xmlns:a16="http://schemas.microsoft.com/office/drawing/2014/main" id="{5A5ED8ED-41B8-4EE5-BD9F-27847DFC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304">
            <a:extLst xmlns:a="http://schemas.openxmlformats.org/drawingml/2006/main">
              <a:ext uri="{FF2B5EF4-FFF2-40B4-BE49-F238E27FC236}">
                <a16:creationId xmlns:a16="http://schemas.microsoft.com/office/drawing/2014/main" id="{D6F00D35-AADF-4B45-8F5E-AD8108E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05">
            <a:extLst xmlns:a="http://schemas.openxmlformats.org/drawingml/2006/main">
              <a:ext uri="{FF2B5EF4-FFF2-40B4-BE49-F238E27FC236}">
                <a16:creationId xmlns:a16="http://schemas.microsoft.com/office/drawing/2014/main" id="{2C499907-4535-4401-A1C6-95FD6AE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9C1EE-630C-4A3B-A221-75B73A0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0" name="text-306">
            <a:extLst xmlns:a="http://schemas.openxmlformats.org/drawingml/2006/main">
              <a:ext uri="{FF2B5EF4-FFF2-40B4-BE49-F238E27FC236}">
                <a16:creationId xmlns:a16="http://schemas.microsoft.com/office/drawing/2014/main" id="{0A768F40-03E3-4519-ACBA-08B1F661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307">
            <a:extLst xmlns:a="http://schemas.openxmlformats.org/drawingml/2006/main">
              <a:ext uri="{FF2B5EF4-FFF2-40B4-BE49-F238E27FC236}">
                <a16:creationId xmlns:a16="http://schemas.microsoft.com/office/drawing/2014/main" id="{BA973BA2-F15D-4751-B743-4B9D2F1A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text-308">
            <a:extLst xmlns:a="http://schemas.openxmlformats.org/drawingml/2006/main">
              <a:ext uri="{FF2B5EF4-FFF2-40B4-BE49-F238E27FC236}">
                <a16:creationId xmlns:a16="http://schemas.microsoft.com/office/drawing/2014/main" id="{938DDF6A-A2C1-4F31-AB60-A313AD64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Sinyal awal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E9280-567C-468C-9EBD-0F7EED4B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3438525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D8696-E4B0-4117-AF39-804762B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24150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5" name="text-309">
            <a:extLst xmlns:a="http://schemas.openxmlformats.org/drawingml/2006/main">
              <a:ext uri="{FF2B5EF4-FFF2-40B4-BE49-F238E27FC236}">
                <a16:creationId xmlns:a16="http://schemas.microsoft.com/office/drawing/2014/main" id="{8AA5EC2C-3B01-4423-9D33-B7B36D5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621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6" name="text-310">
            <a:extLst xmlns:a="http://schemas.openxmlformats.org/drawingml/2006/main">
              <a:ext uri="{FF2B5EF4-FFF2-40B4-BE49-F238E27FC236}">
                <a16:creationId xmlns:a16="http://schemas.microsoft.com/office/drawing/2014/main" id="{F54B100E-A20D-41E8-8BC5-E4530D7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2895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dan konteks penggunaan.</a:t>
            </a:r>
          </a:p>
        </p:txBody>
      </p:sp>
      <p:sp>
        <p:nvSpPr>
          <p:cNvPr id="17" name="text-311">
            <a:extLst xmlns:a="http://schemas.openxmlformats.org/drawingml/2006/main">
              <a:ext uri="{FF2B5EF4-FFF2-40B4-BE49-F238E27FC236}">
                <a16:creationId xmlns:a16="http://schemas.microsoft.com/office/drawing/2014/main" id="{82367B9C-443D-4D11-9524-8A83F7E6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2920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Masalah lebih terbaca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57104-74CD-4B6E-BE74-E278522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3038475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93BF0-3FEC-4081-97D6-75D6E999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0" name="text-312">
            <a:extLst xmlns:a="http://schemas.openxmlformats.org/drawingml/2006/main">
              <a:ext uri="{FF2B5EF4-FFF2-40B4-BE49-F238E27FC236}">
                <a16:creationId xmlns:a16="http://schemas.microsoft.com/office/drawing/2014/main" id="{FD5757B9-82B6-405B-84D4-6F40112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21" name="text-313">
            <a:extLst xmlns:a="http://schemas.openxmlformats.org/drawingml/2006/main">
              <a:ext uri="{FF2B5EF4-FFF2-40B4-BE49-F238E27FC236}">
                <a16:creationId xmlns:a16="http://schemas.microsoft.com/office/drawing/2014/main" id="{7A5DE4B6-B277-4A00-BBB8-F2557501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Penilaian spesifik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atas produk yang diuji.</a:t>
            </a:r>
          </a:p>
        </p:txBody>
      </p:sp>
      <p:sp>
        <p:nvSpPr>
          <p:cNvPr id="22" name="text-314">
            <a:extLst xmlns:a="http://schemas.openxmlformats.org/drawingml/2006/main">
              <a:ext uri="{FF2B5EF4-FFF2-40B4-BE49-F238E27FC236}">
                <a16:creationId xmlns:a16="http://schemas.microsoft.com/office/drawing/2014/main" id="{B5AB40DD-2E8F-461B-AC44-8F74F5DF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2920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Kecocokan lebih teruji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2F836-5B45-4D80-B1E4-95DC2FD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638425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E982B-FFC9-4C44-8BB4-AF60980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24050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5" name="text-315">
            <a:extLst xmlns:a="http://schemas.openxmlformats.org/drawingml/2006/main">
              <a:ext uri="{FF2B5EF4-FFF2-40B4-BE49-F238E27FC236}">
                <a16:creationId xmlns:a16="http://schemas.microsoft.com/office/drawing/2014/main" id="{378D30C2-F82C-41DB-A117-3FC2FE3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3620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6" name="text-316">
            <a:extLst xmlns:a="http://schemas.openxmlformats.org/drawingml/2006/main">
              <a:ext uri="{FF2B5EF4-FFF2-40B4-BE49-F238E27FC236}">
                <a16:creationId xmlns:a16="http://schemas.microsoft.com/office/drawing/2014/main" id="{D4F90BA8-5730-43AA-A67A-F576FCE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2885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Permintaan penawaran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atau komitmen lanjutan.</a:t>
            </a:r>
          </a:p>
        </p:txBody>
      </p:sp>
      <p:sp>
        <p:nvSpPr>
          <p:cNvPr id="27" name="text-317">
            <a:extLst xmlns:a="http://schemas.openxmlformats.org/drawingml/2006/main">
              <a:ext uri="{FF2B5EF4-FFF2-40B4-BE49-F238E27FC236}">
                <a16:creationId xmlns:a16="http://schemas.microsoft.com/office/drawing/2014/main" id="{99FDA767-37E8-4761-9B4E-7BC433B6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2920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Niat lebih konkret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F984B-166A-4864-92AF-8F5CA606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9" name="text-318">
            <a:extLst xmlns:a="http://schemas.openxmlformats.org/drawingml/2006/main">
              <a:ext uri="{FF2B5EF4-FFF2-40B4-BE49-F238E27FC236}">
                <a16:creationId xmlns:a16="http://schemas.microsoft.com/office/drawing/2014/main" id="{87F1A5BA-53CE-427C-ADCA-A0CF43D9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 positif belum sama dengan order. Catat bukti, lalu tentukan next step yang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5d429ac8b462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55E64-218C-4A21-9104-89F24A5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b6d6561947b9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19">
            <a:extLst xmlns:a="http://schemas.openxmlformats.org/drawingml/2006/main">
              <a:ext uri="{FF2B5EF4-FFF2-40B4-BE49-F238E27FC236}">
                <a16:creationId xmlns:a16="http://schemas.microsoft.com/office/drawing/2014/main" id="{2C7182DA-E170-4EA4-BF23-2B7D5D6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Keahlian Founder Dibangun lewat Tantangan dan Perbaikan</a:t>
            </a:r>
          </a:p>
        </p:txBody>
      </p:sp>
      <p:sp>
        <p:nvSpPr>
          <p:cNvPr id="5" name="text-320">
            <a:extLst xmlns:a="http://schemas.openxmlformats.org/drawingml/2006/main">
              <a:ext uri="{FF2B5EF4-FFF2-40B4-BE49-F238E27FC236}">
                <a16:creationId xmlns:a16="http://schemas.microsoft.com/office/drawing/2014/main" id="{1854F1FF-8F9C-4981-8D14-F174EC1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Empat unsur dari modul membantu kita menjaga proses belajar tetap berjalan.</a:t>
            </a:r>
          </a:p>
        </p:txBody>
      </p:sp>
      <p:sp>
        <p:nvSpPr>
          <p:cNvPr id="6" name="text-321">
            <a:extLst xmlns:a="http://schemas.openxmlformats.org/drawingml/2006/main">
              <a:ext uri="{FF2B5EF4-FFF2-40B4-BE49-F238E27FC236}">
                <a16:creationId xmlns:a16="http://schemas.microsoft.com/office/drawing/2014/main" id="{4E619EDF-4725-4CBA-A8C1-0CEACA9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322">
            <a:extLst xmlns:a="http://schemas.openxmlformats.org/drawingml/2006/main">
              <a:ext uri="{FF2B5EF4-FFF2-40B4-BE49-F238E27FC236}">
                <a16:creationId xmlns:a16="http://schemas.microsoft.com/office/drawing/2014/main" id="{B2920738-658F-4D9D-800B-83EB68F3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23">
            <a:extLst xmlns:a="http://schemas.openxmlformats.org/drawingml/2006/main">
              <a:ext uri="{FF2B5EF4-FFF2-40B4-BE49-F238E27FC236}">
                <a16:creationId xmlns:a16="http://schemas.microsoft.com/office/drawing/2014/main" id="{613BCFA0-65B4-4E40-8BF2-F0CAF8BB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C0AC0-CE0E-4890-85FC-D59FD94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6337a5a1a40c9"/>
          <a:stretch xmlns:a="http://schemas.openxmlformats.org/drawingml/2006/main"/>
        </p:blipFill>
        <p:spPr>
          <a:xfrm xmlns:a="http://schemas.openxmlformats.org/drawingml/2006/main">
            <a:off x="1314450" y="2381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1" name="text-324">
            <a:extLst xmlns:a="http://schemas.openxmlformats.org/drawingml/2006/main">
              <a:ext uri="{FF2B5EF4-FFF2-40B4-BE49-F238E27FC236}">
                <a16:creationId xmlns:a16="http://schemas.microsoft.com/office/drawing/2014/main" id="{21732160-42A6-4155-9ECD-12579D36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2" name="text-325">
            <a:extLst xmlns:a="http://schemas.openxmlformats.org/drawingml/2006/main">
              <a:ext uri="{FF2B5EF4-FFF2-40B4-BE49-F238E27FC236}">
                <a16:creationId xmlns:a16="http://schemas.microsoft.com/office/drawing/2014/main" id="{98143733-E586-4F09-BD8B-F31438C4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676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Pilih tantangan yang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relevan dengan bisnis.</a:t>
            </a:r>
          </a:p>
        </p:txBody>
      </p:sp>
      <p:sp>
        <p:nvSpPr>
          <p:cNvPr id="13" name="text-326">
            <a:extLst xmlns:a="http://schemas.openxmlformats.org/drawingml/2006/main">
              <a:ext uri="{FF2B5EF4-FFF2-40B4-BE49-F238E27FC236}">
                <a16:creationId xmlns:a16="http://schemas.microsoft.com/office/drawing/2014/main" id="{24C4D32F-131A-48B1-A1FB-71288F4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43175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F5B05-B995-4546-BF90-DCD4DEA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14a31f54c4ec7"/>
          <a:stretch xmlns:a="http://schemas.openxmlformats.org/drawingml/2006/main"/>
        </p:blipFill>
        <p:spPr>
          <a:xfrm xmlns:a="http://schemas.openxmlformats.org/drawingml/2006/main">
            <a:off x="4219575" y="2381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6" name="text-327">
            <a:extLst xmlns:a="http://schemas.openxmlformats.org/drawingml/2006/main">
              <a:ext uri="{FF2B5EF4-FFF2-40B4-BE49-F238E27FC236}">
                <a16:creationId xmlns:a16="http://schemas.microsoft.com/office/drawing/2014/main" id="{2370278B-9C92-4B3B-964B-7ACB0AD7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8142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7" name="text-328">
            <a:extLst xmlns:a="http://schemas.openxmlformats.org/drawingml/2006/main">
              <a:ext uri="{FF2B5EF4-FFF2-40B4-BE49-F238E27FC236}">
                <a16:creationId xmlns:a16="http://schemas.microsoft.com/office/drawing/2014/main" id="{C8B744F2-8764-4868-A60A-7F64CCDD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95775"/>
            <a:ext cx="2676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Cari masukan dari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orang yang tepat.</a:t>
            </a:r>
          </a:p>
        </p:txBody>
      </p:sp>
      <p:sp>
        <p:nvSpPr>
          <p:cNvPr id="18" name="text-329">
            <a:extLst xmlns:a="http://schemas.openxmlformats.org/drawingml/2006/main">
              <a:ext uri="{FF2B5EF4-FFF2-40B4-BE49-F238E27FC236}">
                <a16:creationId xmlns:a16="http://schemas.microsoft.com/office/drawing/2014/main" id="{AA83A904-6CE2-47E6-92E6-18B4610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43175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4B06E-D57C-493A-8780-98B6A740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dea7066b141a6"/>
          <a:stretch xmlns:a="http://schemas.openxmlformats.org/drawingml/2006/main"/>
        </p:blipFill>
        <p:spPr>
          <a:xfrm xmlns:a="http://schemas.openxmlformats.org/drawingml/2006/main">
            <a:off x="7124700" y="2381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1" name="text-330">
            <a:extLst xmlns:a="http://schemas.openxmlformats.org/drawingml/2006/main">
              <a:ext uri="{FF2B5EF4-FFF2-40B4-BE49-F238E27FC236}">
                <a16:creationId xmlns:a16="http://schemas.microsoft.com/office/drawing/2014/main" id="{3D8B0F68-CCF1-4F58-81AC-BFA915A3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22" name="text-331">
            <a:extLst xmlns:a="http://schemas.openxmlformats.org/drawingml/2006/main">
              <a:ext uri="{FF2B5EF4-FFF2-40B4-BE49-F238E27FC236}">
                <a16:creationId xmlns:a16="http://schemas.microsoft.com/office/drawing/2014/main" id="{7BAC8D02-DE95-468F-9889-F3BE181B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95775"/>
            <a:ext cx="2676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Catat perubahan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dan hasil uji.</a:t>
            </a:r>
          </a:p>
        </p:txBody>
      </p:sp>
      <p:sp>
        <p:nvSpPr>
          <p:cNvPr id="23" name="text-332">
            <a:extLst xmlns:a="http://schemas.openxmlformats.org/drawingml/2006/main">
              <a:ext uri="{FF2B5EF4-FFF2-40B4-BE49-F238E27FC236}">
                <a16:creationId xmlns:a16="http://schemas.microsoft.com/office/drawing/2014/main" id="{CA4286F7-ED6A-48D9-9154-BAFD3BC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2B2F4-6182-464B-86BB-8AA910C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4EE"/>
          </a:solidFill>
          <a:ln xmlns:a="http://schemas.openxmlformats.org/drawingml/2006/main" w="19050">
            <a:solidFill>
              <a:srgbClr val="087958"/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9e523fd964871"/>
          <a:stretch xmlns:a="http://schemas.openxmlformats.org/drawingml/2006/main"/>
        </p:blipFill>
        <p:spPr>
          <a:xfrm xmlns:a="http://schemas.openxmlformats.org/drawingml/2006/main">
            <a:off x="10029825" y="2381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6" name="text-333">
            <a:extLst xmlns:a="http://schemas.openxmlformats.org/drawingml/2006/main">
              <a:ext uri="{FF2B5EF4-FFF2-40B4-BE49-F238E27FC236}">
                <a16:creationId xmlns:a16="http://schemas.microsoft.com/office/drawing/2014/main" id="{B1B1AFDE-1A5C-49EA-86FB-94258B9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8142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7" name="text-334">
            <a:extLst xmlns:a="http://schemas.openxmlformats.org/drawingml/2006/main">
              <a:ext uri="{FF2B5EF4-FFF2-40B4-BE49-F238E27FC236}">
                <a16:creationId xmlns:a16="http://schemas.microsoft.com/office/drawing/2014/main" id="{A084618A-3CB4-4C02-85A3-49B240B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95775"/>
            <a:ext cx="2676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Ulangi dengan</a:t>
            </a:r>
          </a:p>
          <a:p xmlns:a="http://schemas.openxmlformats.org/drawingml/2006/main">
            <a:pPr>
              <a:defRPr sz="187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cara yang membaik.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95AE64-7404-4DFD-B8A2-252358E3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9" name="text-335">
            <a:extLst xmlns:a="http://schemas.openxmlformats.org/drawingml/2006/main">
              <a:ext uri="{FF2B5EF4-FFF2-40B4-BE49-F238E27FC236}">
                <a16:creationId xmlns:a16="http://schemas.microsoft.com/office/drawing/2014/main" id="{96D30C4C-A16A-4F85-A797-9BA0D35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Gigih bukan berarti mengulang kesalahan. Gunakan feedback untuk memperbaiki cara.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c063a2fc5464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50E21-53A8-4E5C-89E5-3B93547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2c32f7a02444f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36">
            <a:extLst xmlns:a="http://schemas.openxmlformats.org/drawingml/2006/main">
              <a:ext uri="{FF2B5EF4-FFF2-40B4-BE49-F238E27FC236}">
                <a16:creationId xmlns:a16="http://schemas.microsoft.com/office/drawing/2014/main" id="{5908AFCB-3EE8-4F65-9B12-51E5E4E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Lima P Membantu Bisnis Lebih Mudah Dipahami dan Dipercaya</a:t>
            </a:r>
          </a:p>
        </p:txBody>
      </p:sp>
      <p:sp>
        <p:nvSpPr>
          <p:cNvPr id="5" name="text-337">
            <a:extLst xmlns:a="http://schemas.openxmlformats.org/drawingml/2006/main">
              <a:ext uri="{FF2B5EF4-FFF2-40B4-BE49-F238E27FC236}">
                <a16:creationId xmlns:a16="http://schemas.microsoft.com/office/drawing/2014/main" id="{E2D56F26-32F0-4D55-B6F7-00ACED34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Pitch, Publish, Products, Profile, dan Partnerships harus menyampaikan janji yang sama.</a:t>
            </a:r>
          </a:p>
        </p:txBody>
      </p:sp>
      <p:sp>
        <p:nvSpPr>
          <p:cNvPr id="6" name="text-338">
            <a:extLst xmlns:a="http://schemas.openxmlformats.org/drawingml/2006/main">
              <a:ext uri="{FF2B5EF4-FFF2-40B4-BE49-F238E27FC236}">
                <a16:creationId xmlns:a16="http://schemas.microsoft.com/office/drawing/2014/main" id="{A579DF0A-1BAE-4BF7-9AAC-9121E3B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339">
            <a:extLst xmlns:a="http://schemas.openxmlformats.org/drawingml/2006/main">
              <a:ext uri="{FF2B5EF4-FFF2-40B4-BE49-F238E27FC236}">
                <a16:creationId xmlns:a16="http://schemas.microsoft.com/office/drawing/2014/main" id="{383413E9-3EB0-4661-91A2-E1DD02C8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40">
            <a:extLst xmlns:a="http://schemas.openxmlformats.org/drawingml/2006/main">
              <a:ext uri="{FF2B5EF4-FFF2-40B4-BE49-F238E27FC236}">
                <a16:creationId xmlns:a16="http://schemas.microsoft.com/office/drawing/2014/main" id="{13632690-8A14-480C-96E0-02E5DCBF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0B91A-29E6-4352-974A-991969DE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95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341">
            <a:extLst xmlns:a="http://schemas.openxmlformats.org/drawingml/2006/main">
              <a:ext uri="{FF2B5EF4-FFF2-40B4-BE49-F238E27FC236}">
                <a16:creationId xmlns:a16="http://schemas.microsoft.com/office/drawing/2014/main" id="{0B0E3D71-5308-4EDD-A47E-475A66F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42">
            <a:extLst xmlns:a="http://schemas.openxmlformats.org/drawingml/2006/main">
              <a:ext uri="{FF2B5EF4-FFF2-40B4-BE49-F238E27FC236}">
                <a16:creationId xmlns:a16="http://schemas.microsoft.com/office/drawing/2014/main" id="{538A935C-44CB-433E-AF1E-569E5D05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text-343">
            <a:extLst xmlns:a="http://schemas.openxmlformats.org/drawingml/2006/main">
              <a:ext uri="{FF2B5EF4-FFF2-40B4-BE49-F238E27FC236}">
                <a16:creationId xmlns:a16="http://schemas.microsoft.com/office/drawing/2014/main" id="{F568144C-0FBD-4151-AB7F-9E274DB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981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Jelaskan buyer,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masalah, solusi,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dan bukti.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4DC03-2E7C-413F-AC32-C5376E53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4" name="text-344">
            <a:extLst xmlns:a="http://schemas.openxmlformats.org/drawingml/2006/main">
              <a:ext uri="{FF2B5EF4-FFF2-40B4-BE49-F238E27FC236}">
                <a16:creationId xmlns:a16="http://schemas.microsoft.com/office/drawing/2014/main" id="{1B81FF40-259C-446A-898F-7EF6878E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Singkat dan spesifik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F4CC6-30FB-44DF-A858-207615E2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05000"/>
            <a:ext cx="2095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6" name="text-345">
            <a:extLst xmlns:a="http://schemas.openxmlformats.org/drawingml/2006/main">
              <a:ext uri="{FF2B5EF4-FFF2-40B4-BE49-F238E27FC236}">
                <a16:creationId xmlns:a16="http://schemas.microsoft.com/office/drawing/2014/main" id="{4D9CFF41-12E2-413E-97D9-BC86100A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7" name="text-346">
            <a:extLst xmlns:a="http://schemas.openxmlformats.org/drawingml/2006/main">
              <a:ext uri="{FF2B5EF4-FFF2-40B4-BE49-F238E27FC236}">
                <a16:creationId xmlns:a16="http://schemas.microsoft.com/office/drawing/2014/main" id="{72706FCB-A55F-4AED-8A99-E7D1825A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-347">
            <a:extLst xmlns:a="http://schemas.openxmlformats.org/drawingml/2006/main">
              <a:ext uri="{FF2B5EF4-FFF2-40B4-BE49-F238E27FC236}">
                <a16:creationId xmlns:a16="http://schemas.microsoft.com/office/drawing/2014/main" id="{A089F594-368C-44C8-B296-1BF2615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981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Bagikan proses,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hasil, dan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pembelajaran.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53496-9720-455C-B506-F6E6F2D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053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0" name="text-348">
            <a:extLst xmlns:a="http://schemas.openxmlformats.org/drawingml/2006/main">
              <a:ext uri="{FF2B5EF4-FFF2-40B4-BE49-F238E27FC236}">
                <a16:creationId xmlns:a16="http://schemas.microsoft.com/office/drawing/2014/main" id="{F6C08CD4-548B-43BA-9E23-B023735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958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Bisa ditelusuri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C835C-C26E-4F49-A8A5-BBE3EF4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2095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2" name="text-349">
            <a:extLst xmlns:a="http://schemas.openxmlformats.org/drawingml/2006/main">
              <a:ext uri="{FF2B5EF4-FFF2-40B4-BE49-F238E27FC236}">
                <a16:creationId xmlns:a16="http://schemas.microsoft.com/office/drawing/2014/main" id="{B54136E1-7D7F-4C51-B32E-2AF992C8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812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23" name="text-350">
            <a:extLst xmlns:a="http://schemas.openxmlformats.org/drawingml/2006/main">
              <a:ext uri="{FF2B5EF4-FFF2-40B4-BE49-F238E27FC236}">
                <a16:creationId xmlns:a16="http://schemas.microsoft.com/office/drawing/2014/main" id="{A3ED2E1F-4A7D-4044-A382-EE20A6C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03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text-351">
            <a:extLst xmlns:a="http://schemas.openxmlformats.org/drawingml/2006/main">
              <a:ext uri="{FF2B5EF4-FFF2-40B4-BE49-F238E27FC236}">
                <a16:creationId xmlns:a16="http://schemas.microsoft.com/office/drawing/2014/main" id="{7AC7B945-5D0D-44E5-9744-B1883C3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981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Tunjukkan produk,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spesifikasi, dan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mutu nyata.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12E3B-7D50-419A-8DD8-95A3B6DE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053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6" name="text-352">
            <a:extLst xmlns:a="http://schemas.openxmlformats.org/drawingml/2006/main">
              <a:ext uri="{FF2B5EF4-FFF2-40B4-BE49-F238E27FC236}">
                <a16:creationId xmlns:a16="http://schemas.microsoft.com/office/drawing/2014/main" id="{C66E34D8-38B9-4464-810C-4AD97DB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958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Bisa diperiksa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B623A-FAE0-4B47-B754-7CAD8E0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05000"/>
            <a:ext cx="2095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8" name="text-353">
            <a:extLst xmlns:a="http://schemas.openxmlformats.org/drawingml/2006/main">
              <a:ext uri="{FF2B5EF4-FFF2-40B4-BE49-F238E27FC236}">
                <a16:creationId xmlns:a16="http://schemas.microsoft.com/office/drawing/2014/main" id="{A13F6A40-AA29-4EB2-BAFC-5E2F841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29" name="text-354">
            <a:extLst xmlns:a="http://schemas.openxmlformats.org/drawingml/2006/main">
              <a:ext uri="{FF2B5EF4-FFF2-40B4-BE49-F238E27FC236}">
                <a16:creationId xmlns:a16="http://schemas.microsoft.com/office/drawing/2014/main" id="{5BBAEA11-22BE-4FB6-8A15-F43D9E03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03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0" name="text-355">
            <a:extLst xmlns:a="http://schemas.openxmlformats.org/drawingml/2006/main">
              <a:ext uri="{FF2B5EF4-FFF2-40B4-BE49-F238E27FC236}">
                <a16:creationId xmlns:a16="http://schemas.microsoft.com/office/drawing/2014/main" id="{598542D1-2ECF-41BE-9D8D-4EAC4CD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981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Jelaskan siapa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tim dan apa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kemampuannya.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6EA7E-7C88-407F-B4A9-759AB91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2" name="text-356">
            <a:extLst xmlns:a="http://schemas.openxmlformats.org/drawingml/2006/main">
              <a:ext uri="{FF2B5EF4-FFF2-40B4-BE49-F238E27FC236}">
                <a16:creationId xmlns:a16="http://schemas.microsoft.com/office/drawing/2014/main" id="{CC059BC1-A8A4-4AFD-89C1-DC3DDACA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958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Klaim bisa dibuktikan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E725F-6F8B-472D-AE29-03EE650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05000"/>
            <a:ext cx="2095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34" name="text-357">
            <a:extLst xmlns:a="http://schemas.openxmlformats.org/drawingml/2006/main">
              <a:ext uri="{FF2B5EF4-FFF2-40B4-BE49-F238E27FC236}">
                <a16:creationId xmlns:a16="http://schemas.microsoft.com/office/drawing/2014/main" id="{3F616475-B1E3-4CE3-A778-9ABDFDA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35" name="text-358">
            <a:extLst xmlns:a="http://schemas.openxmlformats.org/drawingml/2006/main">
              <a:ext uri="{FF2B5EF4-FFF2-40B4-BE49-F238E27FC236}">
                <a16:creationId xmlns:a16="http://schemas.microsoft.com/office/drawing/2014/main" id="{3635608A-D758-4608-A127-7C1EC5D5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003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6" name="text-359">
            <a:extLst xmlns:a="http://schemas.openxmlformats.org/drawingml/2006/main">
              <a:ext uri="{FF2B5EF4-FFF2-40B4-BE49-F238E27FC236}">
                <a16:creationId xmlns:a16="http://schemas.microsoft.com/office/drawing/2014/main" id="{27B94D70-695C-4CFE-B31F-FD9CF13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981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Bangun mitra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untuk menutup</a:t>
            </a:r>
          </a:p>
          <a:p xmlns:a="http://schemas.openxmlformats.org/drawingml/2006/main">
            <a:pPr>
              <a:defRPr sz="180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kebutuhan bisnis.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95C40C-7269-4189-BBB8-D05B9963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053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38" name="text-360">
            <a:extLst xmlns:a="http://schemas.openxmlformats.org/drawingml/2006/main">
              <a:ext uri="{FF2B5EF4-FFF2-40B4-BE49-F238E27FC236}">
                <a16:creationId xmlns:a16="http://schemas.microsoft.com/office/drawing/2014/main" id="{FBB207B8-AE25-48EE-A30F-63D4EE1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958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Peran jelas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27DDD-1643-4ABE-A830-4034AE2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40" name="text-361">
            <a:extLst xmlns:a="http://schemas.openxmlformats.org/drawingml/2006/main">
              <a:ext uri="{FF2B5EF4-FFF2-40B4-BE49-F238E27FC236}">
                <a16:creationId xmlns:a16="http://schemas.microsoft.com/office/drawing/2014/main" id="{8A1E3191-7275-4517-9F1B-B1D7BBE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Saat pitching, bawa bukti yang paling relevan. Hindari klaim besar yang belum bisa ditunjukkan.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2089b28874e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539B6-DE71-4F7F-849C-F2E7C55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f2d9349ce4ee1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62">
            <a:extLst xmlns:a="http://schemas.openxmlformats.org/drawingml/2006/main">
              <a:ext uri="{FF2B5EF4-FFF2-40B4-BE49-F238E27FC236}">
                <a16:creationId xmlns:a16="http://schemas.microsoft.com/office/drawing/2014/main" id="{C89CD0AE-FAEF-48B9-A17D-B8C44F7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Ubah Satu Asumsi Penting Menjadi Rencana Uji Minggu Ini</a:t>
            </a:r>
          </a:p>
        </p:txBody>
      </p:sp>
      <p:sp>
        <p:nvSpPr>
          <p:cNvPr id="5" name="text-363">
            <a:extLst xmlns:a="http://schemas.openxmlformats.org/drawingml/2006/main">
              <a:ext uri="{FF2B5EF4-FFF2-40B4-BE49-F238E27FC236}">
                <a16:creationId xmlns:a16="http://schemas.microsoft.com/office/drawing/2014/main" id="{9DC40EA0-D04F-4E7C-958A-0C8C1F5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Luangkan waktu sebentar untuk menulis rencana untuk bisnismu sendiri.</a:t>
            </a:r>
          </a:p>
        </p:txBody>
      </p:sp>
      <p:sp>
        <p:nvSpPr>
          <p:cNvPr id="6" name="text-364">
            <a:extLst xmlns:a="http://schemas.openxmlformats.org/drawingml/2006/main">
              <a:ext uri="{FF2B5EF4-FFF2-40B4-BE49-F238E27FC236}">
                <a16:creationId xmlns:a16="http://schemas.microsoft.com/office/drawing/2014/main" id="{7DE495AE-4BBF-4A06-9D5C-FD72D4BA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Contoh rencana 7 hari untuk latihan; sesuaikan durasi dengan kebutuhan bisnis.</a:t>
            </a:r>
          </a:p>
        </p:txBody>
      </p:sp>
      <p:sp>
        <p:nvSpPr>
          <p:cNvPr id="7" name="text-365">
            <a:extLst xmlns:a="http://schemas.openxmlformats.org/drawingml/2006/main">
              <a:ext uri="{FF2B5EF4-FFF2-40B4-BE49-F238E27FC236}">
                <a16:creationId xmlns:a16="http://schemas.microsoft.com/office/drawing/2014/main" id="{AC973939-4038-4A9B-8266-066C42A4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66">
            <a:extLst xmlns:a="http://schemas.openxmlformats.org/drawingml/2006/main">
              <a:ext uri="{FF2B5EF4-FFF2-40B4-BE49-F238E27FC236}">
                <a16:creationId xmlns:a16="http://schemas.microsoft.com/office/drawing/2014/main" id="{9D0FEFFF-14AE-4E15-ABD7-6827B45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E0C0A-8766-4B08-8B00-849376F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367">
            <a:extLst xmlns:a="http://schemas.openxmlformats.org/drawingml/2006/main">
              <a:ext uri="{FF2B5EF4-FFF2-40B4-BE49-F238E27FC236}">
                <a16:creationId xmlns:a16="http://schemas.microsoft.com/office/drawing/2014/main" id="{F42F87D3-C153-4192-86B6-016F62D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 1–2</a:t>
            </a:r>
          </a:p>
        </p:txBody>
      </p:sp>
      <p:sp>
        <p:nvSpPr>
          <p:cNvPr id="11" name="text-368">
            <a:extLst xmlns:a="http://schemas.openxmlformats.org/drawingml/2006/main">
              <a:ext uri="{FF2B5EF4-FFF2-40B4-BE49-F238E27FC236}">
                <a16:creationId xmlns:a16="http://schemas.microsoft.com/office/drawing/2014/main" id="{ABBD4EFF-9073-4917-9298-542D92E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40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 asumsi</a:t>
            </a:r>
          </a:p>
        </p:txBody>
      </p:sp>
      <p:sp>
        <p:nvSpPr>
          <p:cNvPr id="12" name="text-369">
            <a:extLst xmlns:a="http://schemas.openxmlformats.org/drawingml/2006/main">
              <a:ext uri="{FF2B5EF4-FFF2-40B4-BE49-F238E27FC236}">
                <a16:creationId xmlns:a16="http://schemas.microsoft.com/office/drawing/2014/main" id="{289BA371-FC6E-45A7-BA3C-11EE384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 yang paling berisiko</a:t>
            </a:r>
          </a:p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jika ternyata salah?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94076-DA74-4258-87C4-41722F1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714625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60A04-7FE7-47D7-8960-9786BD4D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5" name="text-370">
            <a:extLst xmlns:a="http://schemas.openxmlformats.org/drawingml/2006/main">
              <a:ext uri="{FF2B5EF4-FFF2-40B4-BE49-F238E27FC236}">
                <a16:creationId xmlns:a16="http://schemas.microsoft.com/office/drawing/2014/main" id="{D3EBA8B3-9F6A-49FF-AB31-E5C9361E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 3–5</a:t>
            </a:r>
          </a:p>
        </p:txBody>
      </p:sp>
      <p:sp>
        <p:nvSpPr>
          <p:cNvPr id="16" name="text-371">
            <a:extLst xmlns:a="http://schemas.openxmlformats.org/drawingml/2006/main">
              <a:ext uri="{FF2B5EF4-FFF2-40B4-BE49-F238E27FC236}">
                <a16:creationId xmlns:a16="http://schemas.microsoft.com/office/drawing/2014/main" id="{C3975F15-9E0F-4D35-AD5D-6EB93E9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0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Jalankan uji</a:t>
            </a:r>
          </a:p>
        </p:txBody>
      </p:sp>
      <p:sp>
        <p:nvSpPr>
          <p:cNvPr id="17" name="text-372">
            <a:extLst xmlns:a="http://schemas.openxmlformats.org/drawingml/2006/main">
              <a:ext uri="{FF2B5EF4-FFF2-40B4-BE49-F238E27FC236}">
                <a16:creationId xmlns:a16="http://schemas.microsoft.com/office/drawing/2014/main" id="{652F7771-224C-4A53-8965-016622D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Siapa yang dihubungi?</a:t>
            </a:r>
          </a:p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 yang ditunjukkan?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BF7A7-29B5-4AF9-A4A9-C7807651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714625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5BBA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77C66-CA5D-431E-9ED3-63ADB81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638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0" name="text-373">
            <a:extLst xmlns:a="http://schemas.openxmlformats.org/drawingml/2006/main">
              <a:ext uri="{FF2B5EF4-FFF2-40B4-BE49-F238E27FC236}">
                <a16:creationId xmlns:a16="http://schemas.microsoft.com/office/drawing/2014/main" id="{FE2E0576-4262-4484-B081-4FD7046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 6–7</a:t>
            </a:r>
          </a:p>
        </p:txBody>
      </p:sp>
      <p:sp>
        <p:nvSpPr>
          <p:cNvPr id="21" name="text-374">
            <a:extLst xmlns:a="http://schemas.openxmlformats.org/drawingml/2006/main">
              <a:ext uri="{FF2B5EF4-FFF2-40B4-BE49-F238E27FC236}">
                <a16:creationId xmlns:a16="http://schemas.microsoft.com/office/drawing/2014/main" id="{9AA47734-DE4F-495E-996A-685405A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340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Tinjau bukti</a:t>
            </a:r>
          </a:p>
        </p:txBody>
      </p:sp>
      <p:sp>
        <p:nvSpPr>
          <p:cNvPr id="22" name="text-375">
            <a:extLst xmlns:a="http://schemas.openxmlformats.org/drawingml/2006/main">
              <a:ext uri="{FF2B5EF4-FFF2-40B4-BE49-F238E27FC236}">
                <a16:creationId xmlns:a16="http://schemas.microsoft.com/office/drawing/2014/main" id="{E56E03C1-2618-40F4-89BC-4A2C6425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33725"/>
            <a:ext cx="340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Lanjut, ubah, atau stop?</a:t>
            </a:r>
          </a:p>
          <a:p xmlns:a="http://schemas.openxmlformats.org/drawingml/2006/main">
            <a:pPr>
              <a:defRPr sz="1950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Apa alasannya?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0940C-5D6F-4EE1-9B99-200EA0B7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24" name="text-376">
            <a:extLst xmlns:a="http://schemas.openxmlformats.org/drawingml/2006/main">
              <a:ext uri="{FF2B5EF4-FFF2-40B4-BE49-F238E27FC236}">
                <a16:creationId xmlns:a16="http://schemas.microsoft.com/office/drawing/2014/main" id="{63E5DABC-5900-42C7-A1FC-ACB6592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LENGKAPI KALIMAT INI</a:t>
            </a:r>
          </a:p>
        </p:txBody>
      </p:sp>
      <p:sp>
        <p:nvSpPr>
          <p:cNvPr id="25" name="text-377">
            <a:extLst xmlns:a="http://schemas.openxmlformats.org/drawingml/2006/main">
              <a:ext uri="{FF2B5EF4-FFF2-40B4-BE49-F238E27FC236}">
                <a16:creationId xmlns:a16="http://schemas.microsoft.com/office/drawing/2014/main" id="{63399B77-E9B6-4E65-8CCB-807D303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“Saya akan menguji ______ dengan cara ______.</a:t>
            </a:r>
          </a:p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Saya mencari bukti ______, dengan batas ______.”</a:t>
            </a:r>
          </a:p>
        </p:txBody>
      </p:sp>
    </p:spTree>
    <p:extLst>
      <p:ext uri="{BB962C8B-B14F-4D97-AF65-F5344CB8AC3E}">
        <p14:creationId xmlns:p14="http://schemas.microsoft.com/office/powerpoint/2010/main" val="12095614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2adb9e06e43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294A3-9F5C-45C2-A9C6-6A9ADC1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7c52465744a25"/>
          <a:stretch xmlns:a="http://schemas.openxmlformats.org/drawingml/2006/main"/>
        </p:blipFill>
        <p:spPr>
          <a:xfrm xmlns:a="http://schemas.openxmlformats.org/drawingml/2006/main">
            <a:off x="10763250" y="191760"/>
            <a:ext cx="1009650" cy="378480"/>
          </a:xfrm>
          <a:prstGeom xmlns:a="http://schemas.openxmlformats.org/drawingml/2006/main" prst="rect">
            <a:avLst/>
          </a:prstGeom>
        </p:spPr>
      </p:pic>
      <p:sp>
        <p:nvSpPr>
          <p:cNvPr id="4" name="text-378">
            <a:extLst xmlns:a="http://schemas.openxmlformats.org/drawingml/2006/main">
              <a:ext uri="{FF2B5EF4-FFF2-40B4-BE49-F238E27FC236}">
                <a16:creationId xmlns:a16="http://schemas.microsoft.com/office/drawing/2014/main" id="{7A1F4142-4F93-439A-9BFD-C1E7EB2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134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Founder yang Siap Tahu Kapan Maju, Menyesuaikan, atau Menunda</a:t>
            </a:r>
          </a:p>
        </p:txBody>
      </p:sp>
      <p:sp>
        <p:nvSpPr>
          <p:cNvPr id="5" name="text-379">
            <a:extLst xmlns:a="http://schemas.openxmlformats.org/drawingml/2006/main">
              <a:ext uri="{FF2B5EF4-FFF2-40B4-BE49-F238E27FC236}">
                <a16:creationId xmlns:a16="http://schemas.microsoft.com/office/drawing/2014/main" id="{038785BA-51F9-415C-A44A-F3DFDB2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Bawa pulang cara mengambil keputusan, bukan sekadar semangat untuk ekspor.</a:t>
            </a:r>
          </a:p>
        </p:txBody>
      </p:sp>
      <p:sp>
        <p:nvSpPr>
          <p:cNvPr id="6" name="text-380">
            <a:extLst xmlns:a="http://schemas.openxmlformats.org/drawingml/2006/main">
              <a:ext uri="{FF2B5EF4-FFF2-40B4-BE49-F238E27FC236}">
                <a16:creationId xmlns:a16="http://schemas.microsoft.com/office/drawing/2014/main" id="{B7F92AB6-48E4-4CFC-8483-ACE987B2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C65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B6C65"/>
                </a:solidFill>
                <a:latin typeface="Calibri"/>
                <a:ea typeface="Calibri"/>
                <a:cs typeface="Calibri"/>
              </a:rPr>
              <a:t>Modul 1 CEO Masterclass, adaptasi untuk bisnis ekspor</a:t>
            </a:r>
          </a:p>
        </p:txBody>
      </p:sp>
      <p:sp>
        <p:nvSpPr>
          <p:cNvPr id="7" name="text-381">
            <a:extLst xmlns:a="http://schemas.openxmlformats.org/drawingml/2006/main">
              <a:ext uri="{FF2B5EF4-FFF2-40B4-BE49-F238E27FC236}">
                <a16:creationId xmlns:a16="http://schemas.microsoft.com/office/drawing/2014/main" id="{71C47B4E-1183-43DA-97EF-C15F6D9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62725"/>
            <a:ext cx="552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82">
            <a:extLst xmlns:a="http://schemas.openxmlformats.org/drawingml/2006/main">
              <a:ext uri="{FF2B5EF4-FFF2-40B4-BE49-F238E27FC236}">
                <a16:creationId xmlns:a16="http://schemas.microsoft.com/office/drawing/2014/main" id="{B829935B-63F3-4BB8-B914-AE6BCE7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3BC2-3FD3-4208-A1EF-D5C1675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0" name="text-383">
            <a:extLst xmlns:a="http://schemas.openxmlformats.org/drawingml/2006/main">
              <a:ext uri="{FF2B5EF4-FFF2-40B4-BE49-F238E27FC236}">
                <a16:creationId xmlns:a16="http://schemas.microsoft.com/office/drawing/2014/main" id="{27DBF3E7-0503-4AD3-84D7-380D0FC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38325"/>
            <a:ext cx="1116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Sebelum berkomitmen ke buyer, jawab tiga pertanyaan</a:t>
            </a:r>
          </a:p>
        </p:txBody>
      </p:sp>
      <p:sp>
        <p:nvSpPr>
          <p:cNvPr id="11" name="text-384">
            <a:extLst xmlns:a="http://schemas.openxmlformats.org/drawingml/2006/main">
              <a:ext uri="{FF2B5EF4-FFF2-40B4-BE49-F238E27FC236}">
                <a16:creationId xmlns:a16="http://schemas.microsoft.com/office/drawing/2014/main" id="{A3E9BE7F-CB02-4D86-AB50-DE6EABBE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866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text-385">
            <a:extLst xmlns:a="http://schemas.openxmlformats.org/drawingml/2006/main">
              <a:ext uri="{FF2B5EF4-FFF2-40B4-BE49-F238E27FC236}">
                <a16:creationId xmlns:a16="http://schemas.microsoft.com/office/drawing/2014/main" id="{EE4C85FF-871C-4515-9F3B-867C18D1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43175"/>
            <a:ext cx="1016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APAKAH KEBUTUHANNYA JELAS?</a:t>
            </a:r>
          </a:p>
        </p:txBody>
      </p:sp>
      <p:sp>
        <p:nvSpPr>
          <p:cNvPr id="13" name="text-386">
            <a:extLst xmlns:a="http://schemas.openxmlformats.org/drawingml/2006/main">
              <a:ext uri="{FF2B5EF4-FFF2-40B4-BE49-F238E27FC236}">
                <a16:creationId xmlns:a16="http://schemas.microsoft.com/office/drawing/2014/main" id="{FC13D149-EACC-492D-B2BB-003F517D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62275"/>
            <a:ext cx="1016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Kita memahami buyer dan bukti permintaannya.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20D8-DB16-44F7-B0B7-0AFDEBDB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194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5" name="text-387">
            <a:extLst xmlns:a="http://schemas.openxmlformats.org/drawingml/2006/main">
              <a:ext uri="{FF2B5EF4-FFF2-40B4-BE49-F238E27FC236}">
                <a16:creationId xmlns:a16="http://schemas.microsoft.com/office/drawing/2014/main" id="{D2E4B04A-B392-49E3-8FD3-780898A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866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388">
            <a:extLst xmlns:a="http://schemas.openxmlformats.org/drawingml/2006/main">
              <a:ext uri="{FF2B5EF4-FFF2-40B4-BE49-F238E27FC236}">
                <a16:creationId xmlns:a16="http://schemas.microsoft.com/office/drawing/2014/main" id="{3D5CC432-012D-42E1-AA4E-E6886B0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62350"/>
            <a:ext cx="1016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APAKAH KITA BISA MEMENUHINYA?</a:t>
            </a:r>
          </a:p>
        </p:txBody>
      </p:sp>
      <p:sp>
        <p:nvSpPr>
          <p:cNvPr id="17" name="text-389">
            <a:extLst xmlns:a="http://schemas.openxmlformats.org/drawingml/2006/main">
              <a:ext uri="{FF2B5EF4-FFF2-40B4-BE49-F238E27FC236}">
                <a16:creationId xmlns:a16="http://schemas.microsoft.com/office/drawing/2014/main" id="{53718CA0-9F6B-4ED2-88E9-BA0F1406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1016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Tim, mutu, kapasitas, kas, dan syaratnya masuk akal.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59918-DACE-4AB0-97EC-6390612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386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DF"/>
            </a:solidFill>
          </a:ln>
        </p:spPr>
      </p:sp>
      <p:sp>
        <p:nvSpPr>
          <p:cNvPr id="19" name="text-390">
            <a:extLst xmlns:a="http://schemas.openxmlformats.org/drawingml/2006/main">
              <a:ext uri="{FF2B5EF4-FFF2-40B4-BE49-F238E27FC236}">
                <a16:creationId xmlns:a16="http://schemas.microsoft.com/office/drawing/2014/main" id="{4512A723-8B49-4517-BA5C-E5F973E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866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text-391">
            <a:extLst xmlns:a="http://schemas.openxmlformats.org/drawingml/2006/main">
              <a:ext uri="{FF2B5EF4-FFF2-40B4-BE49-F238E27FC236}">
                <a16:creationId xmlns:a16="http://schemas.microsoft.com/office/drawing/2014/main" id="{3C912997-DF22-4C5F-BA8D-500A53F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81525"/>
            <a:ext cx="1016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 LANGKAH TERKECIL BERIKUTNYA?</a:t>
            </a:r>
          </a:p>
        </p:txBody>
      </p:sp>
      <p:sp>
        <p:nvSpPr>
          <p:cNvPr id="21" name="text-392">
            <a:extLst xmlns:a="http://schemas.openxmlformats.org/drawingml/2006/main">
              <a:ext uri="{FF2B5EF4-FFF2-40B4-BE49-F238E27FC236}">
                <a16:creationId xmlns:a16="http://schemas.microsoft.com/office/drawing/2014/main" id="{441C621D-292F-4139-9454-36AE4F28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00625"/>
            <a:ext cx="1016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B2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62B27"/>
                </a:solidFill>
                <a:latin typeface="Calibri"/>
                <a:ea typeface="Calibri"/>
                <a:cs typeface="Calibri"/>
              </a:rPr>
              <a:t>Ada uji, ukuran berhasil, dan batas risiko yang jelas.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7CB57-3786-4F61-BF9C-73A09BFB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3" name="text-393">
            <a:extLst xmlns:a="http://schemas.openxmlformats.org/drawingml/2006/main">
              <a:ext uri="{FF2B5EF4-FFF2-40B4-BE49-F238E27FC236}">
                <a16:creationId xmlns:a16="http://schemas.microsoft.com/office/drawing/2014/main" id="{EA603104-9694-4797-BE4E-F41E7C9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91200"/>
            <a:ext cx="1110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Berani membuka peluang. Disiplin membaca bukti. Siap mengubah cara.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2026-10-06T13:46:58.8500000Z</dcterms:created>
  <dcterms:modified xsi:type="dcterms:W3CDTF">2026-10-06T13:46:58.8500000Z</dcterms:modified>
</coreProperties>
</file>