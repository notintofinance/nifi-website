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2d3c9c7e3d64f01" Type="http://schemas.openxmlformats.org/officeDocument/2006/relationships/officeDocument" Target="ppt/presentation.xml"/><Relationship Id="Raf6a97e26d194c6e" Type="http://schemas.openxmlformats.org/package/2006/relationships/metadata/core-properties" Target="docProps/core.xml"/><Relationship Id="Rc4009330942944b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45a15fc3e4696"/>
  </p:sldMasterIdLst>
  <p:notesMasterIdLst>
    <p:notesMasterId xmlns:r="http://schemas.openxmlformats.org/officeDocument/2006/relationships" r:id="Rb2c33bd436874a17"/>
  </p:notesMasterIdLst>
  <p:sldIdLst>
    <p:sldId xmlns:r="http://schemas.openxmlformats.org/officeDocument/2006/relationships" id="256" r:id="R3e81442c68784d00"/>
    <p:sldId xmlns:r="http://schemas.openxmlformats.org/officeDocument/2006/relationships" id="257" r:id="R43a311bd687f4984"/>
    <p:sldId xmlns:r="http://schemas.openxmlformats.org/officeDocument/2006/relationships" id="258" r:id="Rc0c0c7386cf44608"/>
    <p:sldId xmlns:r="http://schemas.openxmlformats.org/officeDocument/2006/relationships" id="259" r:id="R3fcb9f0042a94f80"/>
    <p:sldId xmlns:r="http://schemas.openxmlformats.org/officeDocument/2006/relationships" id="260" r:id="R6d8aa71e6c6244de"/>
    <p:sldId xmlns:r="http://schemas.openxmlformats.org/officeDocument/2006/relationships" id="261" r:id="Reb20547080d34ae2"/>
    <p:sldId xmlns:r="http://schemas.openxmlformats.org/officeDocument/2006/relationships" id="262" r:id="R9f27871ffae34be4"/>
    <p:sldId xmlns:r="http://schemas.openxmlformats.org/officeDocument/2006/relationships" id="263" r:id="R6ada164436214df0"/>
    <p:sldId xmlns:r="http://schemas.openxmlformats.org/officeDocument/2006/relationships" id="264" r:id="R02abbfe27dbb49e1"/>
    <p:sldId xmlns:r="http://schemas.openxmlformats.org/officeDocument/2006/relationships" id="265" r:id="R67f1a6b7dd5a4f7a"/>
    <p:sldId xmlns:r="http://schemas.openxmlformats.org/officeDocument/2006/relationships" id="266" r:id="R7735986810c84068"/>
    <p:sldId xmlns:r="http://schemas.openxmlformats.org/officeDocument/2006/relationships" id="267" r:id="R57c2ee0d959c466e"/>
    <p:sldId xmlns:r="http://schemas.openxmlformats.org/officeDocument/2006/relationships" id="268" r:id="Rfafcb2e3c7e54cfb"/>
    <p:sldId xmlns:r="http://schemas.openxmlformats.org/officeDocument/2006/relationships" id="269" r:id="R8840b2db5896488b"/>
    <p:sldId xmlns:r="http://schemas.openxmlformats.org/officeDocument/2006/relationships" id="270" r:id="Rdd364ca5e3c74afa"/>
    <p:sldId xmlns:r="http://schemas.openxmlformats.org/officeDocument/2006/relationships" id="271" r:id="R7003e12faa254020"/>
    <p:sldId xmlns:r="http://schemas.openxmlformats.org/officeDocument/2006/relationships" id="272" r:id="R3ab22f5d7e6d472d"/>
    <p:sldId xmlns:r="http://schemas.openxmlformats.org/officeDocument/2006/relationships" id="273" r:id="R2b600fdee2364d53"/>
    <p:sldId xmlns:r="http://schemas.openxmlformats.org/officeDocument/2006/relationships" id="274" r:id="Rb7c98edbe2e14b30"/>
    <p:sldId xmlns:r="http://schemas.openxmlformats.org/officeDocument/2006/relationships" id="275" r:id="Rfc774425d2b94102"/>
    <p:sldId xmlns:r="http://schemas.openxmlformats.org/officeDocument/2006/relationships" id="276" r:id="R04bcbab068334335"/>
    <p:sldId xmlns:r="http://schemas.openxmlformats.org/officeDocument/2006/relationships" id="277" r:id="R88ae3a5fc44a42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abbfe27dbb49e1" Type="http://schemas.openxmlformats.org/officeDocument/2006/relationships/slide" Target="slides/slide9.xml"/><Relationship Id="R0462d08ebb574a1a" Type="http://schemas.openxmlformats.org/officeDocument/2006/relationships/presProps" Target="presProps.xml"/><Relationship Id="R04bcbab068334335" Type="http://schemas.openxmlformats.org/officeDocument/2006/relationships/slide" Target="slides/slide21.xml"/><Relationship Id="R2b600fdee2364d53" Type="http://schemas.openxmlformats.org/officeDocument/2006/relationships/slide" Target="slides/slide18.xml"/><Relationship Id="R3ab22f5d7e6d472d" Type="http://schemas.openxmlformats.org/officeDocument/2006/relationships/slide" Target="slides/slide17.xml"/><Relationship Id="R3e81442c68784d00" Type="http://schemas.openxmlformats.org/officeDocument/2006/relationships/slide" Target="slides/slide1.xml"/><Relationship Id="R3fcb9f0042a94f80" Type="http://schemas.openxmlformats.org/officeDocument/2006/relationships/slide" Target="slides/slide4.xml"/><Relationship Id="R43a311bd687f4984" Type="http://schemas.openxmlformats.org/officeDocument/2006/relationships/slide" Target="slides/slide2.xml"/><Relationship Id="R52d0768580bf48e9" Type="http://schemas.openxmlformats.org/officeDocument/2006/relationships/tableStyles" Target="tableStyles.xml"/><Relationship Id="R57c2ee0d959c466e" Type="http://schemas.openxmlformats.org/officeDocument/2006/relationships/slide" Target="slides/slide12.xml"/><Relationship Id="R67f1a6b7dd5a4f7a" Type="http://schemas.openxmlformats.org/officeDocument/2006/relationships/slide" Target="slides/slide10.xml"/><Relationship Id="R6ada164436214df0" Type="http://schemas.openxmlformats.org/officeDocument/2006/relationships/slide" Target="slides/slide8.xml"/><Relationship Id="R6d8aa71e6c6244de" Type="http://schemas.openxmlformats.org/officeDocument/2006/relationships/slide" Target="slides/slide5.xml"/><Relationship Id="R7003e12faa254020" Type="http://schemas.openxmlformats.org/officeDocument/2006/relationships/slide" Target="slides/slide16.xml"/><Relationship Id="R73545a15fc3e4696" Type="http://schemas.openxmlformats.org/officeDocument/2006/relationships/slideMaster" Target="slideMasters/slideMaster1.xml"/><Relationship Id="R7735986810c84068" Type="http://schemas.openxmlformats.org/officeDocument/2006/relationships/slide" Target="slides/slide11.xml"/><Relationship Id="R83355dc7fb784054" Type="http://schemas.openxmlformats.org/officeDocument/2006/relationships/theme" Target="theme/theme1.xml"/><Relationship Id="R8840b2db5896488b" Type="http://schemas.openxmlformats.org/officeDocument/2006/relationships/slide" Target="slides/slide14.xml"/><Relationship Id="R88ae3a5fc44a423a" Type="http://schemas.openxmlformats.org/officeDocument/2006/relationships/slide" Target="slides/slide22.xml"/><Relationship Id="R9f27871ffae34be4" Type="http://schemas.openxmlformats.org/officeDocument/2006/relationships/slide" Target="slides/slide7.xml"/><Relationship Id="Rb2c33bd436874a17" Type="http://schemas.openxmlformats.org/officeDocument/2006/relationships/notesMaster" Target="notesMasters/notesMaster1.xml"/><Relationship Id="Rb7c98edbe2e14b30" Type="http://schemas.openxmlformats.org/officeDocument/2006/relationships/slide" Target="slides/slide19.xml"/><Relationship Id="Rc0c0c7386cf44608" Type="http://schemas.openxmlformats.org/officeDocument/2006/relationships/slide" Target="slides/slide3.xml"/><Relationship Id="Rdd364ca5e3c74afa" Type="http://schemas.openxmlformats.org/officeDocument/2006/relationships/slide" Target="slides/slide15.xml"/><Relationship Id="Reb20547080d34ae2" Type="http://schemas.openxmlformats.org/officeDocument/2006/relationships/slide" Target="slides/slide6.xml"/><Relationship Id="Rfafcb2e3c7e54cfb" Type="http://schemas.openxmlformats.org/officeDocument/2006/relationships/slide" Target="slides/slide13.xml"/><Relationship Id="Rfc774425d2b94102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e33950db70cd4c8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1bc74da41f54686" Type="http://schemas.openxmlformats.org/officeDocument/2006/relationships/notesMaster" Target="../notesMasters/notesMaster1.xml"/><Relationship Id="Re17fa387c05f491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e9c5332dd2194e60" Type="http://schemas.openxmlformats.org/officeDocument/2006/relationships/notesMaster" Target="../notesMasters/notesMaster1.xml"/><Relationship Id="Rf51beca77ae24f5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27358b9df854f87" Type="http://schemas.openxmlformats.org/officeDocument/2006/relationships/notesMaster" Target="../notesMasters/notesMaster1.xml"/><Relationship Id="Rc2f335245a2542a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287ff10e0ad4c27" Type="http://schemas.openxmlformats.org/officeDocument/2006/relationships/slide" Target="../slides/slide4.xml"/><Relationship Id="Ra78f700065a74de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778c12ce9f34ad3" Type="http://schemas.openxmlformats.org/officeDocument/2006/relationships/notesMaster" Target="../notesMasters/notesMaster1.xml"/><Relationship Id="R4718096f872c499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a34436860014713" Type="http://schemas.openxmlformats.org/officeDocument/2006/relationships/notesMaster" Target="../notesMasters/notesMaster1.xml"/><Relationship Id="R91e8a038462f42c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d6d4c970f7843d0" Type="http://schemas.openxmlformats.org/officeDocument/2006/relationships/notesMaster" Target="../notesMasters/notesMaster1.xml"/><Relationship Id="Recf1aae9532f428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8b110157e9141b0" Type="http://schemas.openxmlformats.org/officeDocument/2006/relationships/notesMaster" Target="../notesMasters/notesMaster1.xml"/><Relationship Id="Rf7e783d9c1144c48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3c80a19833e4b13" Type="http://schemas.openxmlformats.org/officeDocument/2006/relationships/notesMaster" Target="../notesMasters/notesMaster1.xml"/><Relationship Id="R9cfaca2299044aa8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32c5fcfc5124d67" Type="http://schemas.openxmlformats.org/officeDocument/2006/relationships/slide" Target="../slides/slide10.xml"/><Relationship Id="Re96137854ced4bf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e06edeb1d8b40f0" Type="http://schemas.openxmlformats.org/officeDocument/2006/relationships/slide" Target="../slides/slide11.xml"/><Relationship Id="R965c01feb84a495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b4180f822c24588" Type="http://schemas.openxmlformats.org/officeDocument/2006/relationships/slide" Target="../slides/slide12.xml"/><Relationship Id="R6f6879cee998410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b7f0381dd214950" Type="http://schemas.openxmlformats.org/officeDocument/2006/relationships/slide" Target="../slides/slide13.xml"/><Relationship Id="Rd80887f70dfc444a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524e9c9d5064651" Type="http://schemas.openxmlformats.org/officeDocument/2006/relationships/notesMaster" Target="../notesMasters/notesMaster1.xml"/><Relationship Id="R969099a2043940a4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5d8b1d7bd01423b" Type="http://schemas.openxmlformats.org/officeDocument/2006/relationships/slide" Target="../slides/slide15.xml"/><Relationship Id="R598c29e6c8f84d2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84c42ba6f9e4abf" Type="http://schemas.openxmlformats.org/officeDocument/2006/relationships/notesMaster" Target="../notesMasters/notesMaster1.xml"/><Relationship Id="R2f2e109a47b14f20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1bde30d3f7fc4c4a" Type="http://schemas.openxmlformats.org/officeDocument/2006/relationships/notesMaster" Target="../notesMasters/notesMaster1.xml"/><Relationship Id="R9b7c7d984ac24ca9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1e9d8c64484484e" Type="http://schemas.openxmlformats.org/officeDocument/2006/relationships/notesMaster" Target="../notesMasters/notesMaster1.xml"/><Relationship Id="R5aa613034bb94715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8ec3f4505cf0435b" Type="http://schemas.openxmlformats.org/officeDocument/2006/relationships/notesMaster" Target="../notesMasters/notesMaster1.xml"/><Relationship Id="Re290058329bf437a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c53a223acbe4d2f" Type="http://schemas.openxmlformats.org/officeDocument/2006/relationships/slide" Target="../slides/slide20.xml"/><Relationship Id="R5c2a477893c3412d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67519b9b31cd4245" Type="http://schemas.openxmlformats.org/officeDocument/2006/relationships/slide" Target="../slides/slide21.xml"/><Relationship Id="R73947a26cabc4c3a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19a9183e90924605" Type="http://schemas.openxmlformats.org/officeDocument/2006/relationships/slide" Target="../slides/slide22.xml"/><Relationship Id="Ra9da799014f9422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0.5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Buka sesi dengan tujuan: peserta mampu menilai peluang ekspor sebelum berkomitmen. Ini sesi business foundation, bukan tutorial dokumen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1–4.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 menit. Target keseluruhan 45 menit materi, termasuk interaksi singkat, di luar Q&amp;A terpisah.</a:t>
            </a:r>
          </a:p>
          <a:p xmlns:a="http://schemas.openxmlformats.org/drawingml/2006/main">
            <a:r>
              <a:t>Jelaskan tiga bagian. Undang peserta memakai bisnisnya sendiri sebagai pembanding. Kita memakai satu kasus fiktif yang diulang sehingga konsep mudah dihubungkan.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4.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Bedakan kemampuan menangkap peluang dan kemampuan mempertimbangkan trade-off. Contoh: order menarik belum tentu layak jika mengganggu order lama. Arahkan peserta ke bukti, bukan sekadar keberanian.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Polling singkat. Catat alasan, jangan beri jawaban final dulu. Seluruh angka dan keadaan kasus adalah asumsi pembelajaran. 30 hari adalah tenggat permintaan, bukan klaim lead time ekspor normal.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6,23–25.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Metafora kapal dari modul diterjemahkan menjadi keputusan ekspor. Ini bukan urutan administratif atau tahapan wajib. Tunjukkan bahwa adaptasi dan eksperimen berlangsung berulang.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8–9.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Sepuluh karakter bersumber dari modul. Contoh tindakan adalah adaptasi. Bukan instrumen psikologi atau ciri yang menjamin keberhasilan. Minta satu refleksi singkat.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11.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Sebut satu feedback buyer dan minta peserta mengubah respons defensif menjadi pertanyaan. Tegaskan terbuka terhadap feedback tetap memperhitungkan biaya dan kemampuan.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12.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Why memberi arah tetapi tidak menggantikan bukti permintaan. Hubungkan ke trade-off dari kasus. Contoh sengaja memakai bisnis fiktif yang sama.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20–21.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Tetap memakai passion/talent/profit seperti modul. Tambahkan pemeriksaan buyer, mutu, kapasitas, dan total biaya saat menjelaskan. Diagram bukan data kuantitatif.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17.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Adaptasi alur pengujian Strategyzer. Tidak mengasumsikan harga murah selalu menang. Untuk bisnis berjalan, gunakan percakapan dengan buyer aktual; calon eksportir dapat mulai dari target buyer yang relevan.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6,17,27.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Arketipe adalah lensa peran, bukan label kepribadian tetap. Minta peserta melihat bagian mana yang kosong. Peran dapat diisi owner, karyawan, atau mitra dengan tanggung jawab jelas.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18,9,30.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Kapasitas tersedia harus mempertimbangkan pesanan lain. Produk/pasar tertentu memiliki persyaratan berbeda; minta tim memeriksanya sebelum komitmen. Jangan menebak aturan teknis dari framework ini.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23–25. Rangkuman CMC × BD Ekspor.</a:t>
            </a:r>
          </a:p>
          <a:p xmlns:a="http://schemas.openxmlformats.org/drawingml/2006/main">
            <a:r>
              <a:t>https://www.trade.gov/develop-export-plan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>Tanyakan: siapa membiayai bahan dan proses saat pembayaran belum masuk? Pada kasus, belum ada nilai uang sehingga kita tidak mengarang kebutuhan modal atau margin. Alternatif termin harus dinegosiasikan dan risikonya dievaluasi; jangan menganggap uang muka pasti diterima buyer.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23–24. Rangkuman CMC × BD Ekspor.</a:t>
            </a:r>
          </a:p>
          <a:p xmlns:a="http://schemas.openxmlformats.org/drawingml/2006/main">
            <a:r>
              <a:t>https://www.trade.gov/methods-payment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Risiko tidak hilang sepenuhnya. Kontrol mengurangi kemungkinan atau dampak, bukan menjamin hasil. Jika mitigasi tidak terjangkau, ubah syarat atau tunda. Minta peserta menyebut satu batas stop untuk usaha sendiri.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25.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>Bandingkan pilihan awal peserta pada slide4. Tanya bukti apa yang mengubah keputusan. Data500/300 hanya menggambarkan gap kapasitas200unit, tidak menetapkan keputusan semua kasus ekspor. Alternatif menambah mitra harus diuji mutu/biaya/jadwalnya.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6,23–25.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Build–Measure–Learn adalah proses berulang. Sampel harus relevan dengan asumsi yang diuji. Lanjutkan hanya jika bukti mendukung; kegagalan uji bisa menghemat komitmen lebih besar.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https://theleanstartup.com/principles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Patokan lanjut adalah contoh yang perlu disesuaikan dengan bisnis, bukan threshold universal. Langkah komersial dapat berupa permintaan penawaran atau uji sampel yang jelas; itu belum sama dengan kontrak atau pembayaran.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Tangga ini ilustrasi kekuatan bukti, bukan conversion funnel dengan probabilitas. Feedback negatif yang spesifik juga berharga. Permintaan penawaran bukan jaminan pembelian. Jangan memproduksi besar hanya berdasarkan pujian atau likes.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1.5 menit. Target keseluruhan 45 menit materi, termasuk interaksi singkat, di luar Q&amp;A terpisah.</a:t>
            </a:r>
          </a:p>
          <a:p xmlns:a="http://schemas.openxmlformats.org/drawingml/2006/main">
            <a:r>
              <a:t>Persamaan expertise adalah metafora modul, bukan rumus matematis tervalidasi. Minta peserta menentukan siapa yang dapat memberi masukan pada uji mereka.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28.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1.5 menit. Target keseluruhan 45 menit materi, termasuk interaksi singkat, di luar Q&amp;A terpisah.</a:t>
            </a:r>
          </a:p>
          <a:p xmlns:a="http://schemas.openxmlformats.org/drawingml/2006/main">
            <a:r>
              <a:t>Pertahankan limaP dari modul. Contoh pitch: Kami membantu buyer dekorasi rumah yang butuh ukuran tertentu; kami sedang menguji dua ukuran dengan spesifikasi yang disepakati. Jangan mengarang traction. Kerja sama tidak sama dengan jaminan pasar.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29.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>Alokasikan1menit menulis,1menit berbagi dengan sebelah,1menit satucontoh dan rangkuman. Calon eksportir dapat menguji kebutuhan targetbuyer, pelakuusaha dapat menguji perubahan spesifikasi/termin. Durasi7hari hanyacontoh dan tidak cocok untuk semua siklus produk.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27–29.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 menit. Target keseluruhan 45 menit materi, termasuk interaksi singkat, di luar Q&amp;A terpisah.</a:t>
            </a:r>
          </a:p>
          <a:p xmlns:a="http://schemas.openxmlformats.org/drawingml/2006/main">
            <a:r>
              <a:t>Tutup dengan kembali ke pilihan awal: terima, negosiasikan, atau tunda. Tekankan bahwa keputusan yang sehat lahir dari bukti dan kemampuan, bukan keberanian saja. BukaQ&amp;Aterpisah jika panitia menyediakan waktu.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30.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6acbf42aaaa4d2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56dd4bff2a942f1" Type="http://schemas.openxmlformats.org/officeDocument/2006/relationships/theme" Target="theme/theme2.xml"/><Relationship Id="Rf5600e2e172c4fe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600e2e172c4f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efefa091e1546da" Type="http://schemas.openxmlformats.org/officeDocument/2006/relationships/notesSlide" Target="../notesSlides/notesSlide1.xml"/><Relationship Id="Rbdbcbc25cd5e4d94" Type="http://schemas.openxmlformats.org/officeDocument/2006/relationships/image" Target="../media/image.png"/><Relationship Id="Rc27edccf4fcf453a" Type="http://schemas.openxmlformats.org/officeDocument/2006/relationships/image" Target="../media/image2.png"/><Relationship Id="Recd6b760ccd94e5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fa31d1cd76141a2" Type="http://schemas.openxmlformats.org/officeDocument/2006/relationships/notesSlide" Target="../notesSlides/notesSlide2.xml"/><Relationship Id="R9117cd265ae94e8a" Type="http://schemas.openxmlformats.org/officeDocument/2006/relationships/image" Target="../media/image4.png"/><Relationship Id="Re21f06bc76e3492d" Type="http://schemas.openxmlformats.org/officeDocument/2006/relationships/slideLayout" Target="../slideLayouts/slideLayout1.xml"/><Relationship Id="Re583588ba6264b50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0a951f21c9344bbb" Type="http://schemas.openxmlformats.org/officeDocument/2006/relationships/notesSlide" Target="../notesSlides/notesSlide3.xml"/><Relationship Id="R5a193e56547d4623" Type="http://schemas.openxmlformats.org/officeDocument/2006/relationships/image" Target="../media/image6.png"/><Relationship Id="R64b885bb45964fa5" Type="http://schemas.openxmlformats.org/officeDocument/2006/relationships/image" Target="../media/image5.png"/><Relationship Id="Rf6c1cf0f109f424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c6eb23d81aa4b33" Type="http://schemas.openxmlformats.org/officeDocument/2006/relationships/image" Target="../media/image7.png"/><Relationship Id="R5570f72bafee4d49" Type="http://schemas.openxmlformats.org/officeDocument/2006/relationships/notesSlide" Target="../notesSlides/notesSlide4.xml"/><Relationship Id="R88bdbebf75c2416a" Type="http://schemas.openxmlformats.org/officeDocument/2006/relationships/slideLayout" Target="../slideLayouts/slideLayout1.xml"/><Relationship Id="Rc9b0dafc6e644f78" Type="http://schemas.openxmlformats.org/officeDocument/2006/relationships/image" Target="../media/image8.png"/><Relationship Id="Rd531090aa20e4cd9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1065cb2d2ac744b9" Type="http://schemas.openxmlformats.org/officeDocument/2006/relationships/notesSlide" Target="../notesSlides/notesSlide5.xml"/><Relationship Id="R60567e80354b4f24" Type="http://schemas.openxmlformats.org/officeDocument/2006/relationships/slideLayout" Target="../slideLayouts/slideLayout1.xml"/><Relationship Id="Ra4e88b205214400d" Type="http://schemas.openxmlformats.org/officeDocument/2006/relationships/image" Target="../media/image11.png"/><Relationship Id="Re335f7675f1a483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57947bf2c2714178" Type="http://schemas.openxmlformats.org/officeDocument/2006/relationships/image" Target="../media/image13.png"/><Relationship Id="R5db9a86b92bf4586" Type="http://schemas.openxmlformats.org/officeDocument/2006/relationships/notesSlide" Target="../notesSlides/notesSlide6.xml"/><Relationship Id="R8f2aed270fc54c30" Type="http://schemas.openxmlformats.org/officeDocument/2006/relationships/slideLayout" Target="../slideLayouts/slideLayout1.xml"/><Relationship Id="R93ec8b3c67c7491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1d4a5cebe5934bc4" Type="http://schemas.openxmlformats.org/officeDocument/2006/relationships/notesSlide" Target="../notesSlides/notesSlide7.xml"/><Relationship Id="R6dd7900a3f8c49cd" Type="http://schemas.openxmlformats.org/officeDocument/2006/relationships/image" Target="../media/image14.png"/><Relationship Id="R8b7a965e74564297" Type="http://schemas.openxmlformats.org/officeDocument/2006/relationships/image" Target="../media/image15.png"/><Relationship Id="Re360bf071f374e0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4f46ef5fb3b4632" Type="http://schemas.openxmlformats.org/officeDocument/2006/relationships/image" Target="../media/image17.png"/><Relationship Id="R879391b563fc4e86" Type="http://schemas.openxmlformats.org/officeDocument/2006/relationships/image" Target="../media/image16.png"/><Relationship Id="Rb449d60886f74b28" Type="http://schemas.openxmlformats.org/officeDocument/2006/relationships/slideLayout" Target="../slideLayouts/slideLayout1.xml"/><Relationship Id="Re4b80d7a7e2b49cf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6c5a656cd1e4dcb" Type="http://schemas.openxmlformats.org/officeDocument/2006/relationships/slideLayout" Target="../slideLayouts/slideLayout1.xml"/><Relationship Id="R32f710e32fc04f88" Type="http://schemas.openxmlformats.org/officeDocument/2006/relationships/notesSlide" Target="../notesSlides/notesSlide9.xml"/><Relationship Id="R405d7ae7efae4f26" Type="http://schemas.openxmlformats.org/officeDocument/2006/relationships/image" Target="../media/image18.png"/><Relationship Id="Rfb9b6def630c4d40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167bb331cf2d4d5d" Type="http://schemas.openxmlformats.org/officeDocument/2006/relationships/notesSlide" Target="../notesSlides/notesSlide10.xml"/><Relationship Id="R4351cfbf2bc5486f" Type="http://schemas.openxmlformats.org/officeDocument/2006/relationships/image" Target="../media/image20.png"/><Relationship Id="R704c66c4093f456a" Type="http://schemas.openxmlformats.org/officeDocument/2006/relationships/image" Target="../media/image21.png"/><Relationship Id="Re01030c3928f4c1e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593d11b88944df1" Type="http://schemas.openxmlformats.org/officeDocument/2006/relationships/notesSlide" Target="../notesSlides/notesSlide11.xml"/><Relationship Id="R448f843efaf14c3c" Type="http://schemas.openxmlformats.org/officeDocument/2006/relationships/image" Target="../media/image22.png"/><Relationship Id="R7db61022a1714703" Type="http://schemas.openxmlformats.org/officeDocument/2006/relationships/image" Target="../media/image23.png"/><Relationship Id="Ra56a0d52fa314576" Type="http://schemas.openxmlformats.org/officeDocument/2006/relationships/image" Target="../media/image24.png"/><Relationship Id="Rfc115e49d92c416d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6ad5fe59edc4cb5" Type="http://schemas.openxmlformats.org/officeDocument/2006/relationships/slideLayout" Target="../slideLayouts/slideLayout1.xml"/><Relationship Id="R49ceeb0951de4da8" Type="http://schemas.openxmlformats.org/officeDocument/2006/relationships/image" Target="../media/image25.png"/><Relationship Id="R4e4c25c5f1dc4572" Type="http://schemas.openxmlformats.org/officeDocument/2006/relationships/image" Target="../media/image26.png"/><Relationship Id="R7bf2b282f4244af2" Type="http://schemas.openxmlformats.org/officeDocument/2006/relationships/image" Target="../media/image27.png"/><Relationship Id="R8016a7091f90499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a4aece3eb43d4854" Type="http://schemas.openxmlformats.org/officeDocument/2006/relationships/image" Target="../media/image28.png"/><Relationship Id="Raa6cc97195ee4dae" Type="http://schemas.openxmlformats.org/officeDocument/2006/relationships/image" Target="../media/image30.png"/><Relationship Id="Rb65bd8cfd8aa4374" Type="http://schemas.openxmlformats.org/officeDocument/2006/relationships/image" Target="../media/image29.png"/><Relationship Id="Re47dc0cae5d24441" Type="http://schemas.openxmlformats.org/officeDocument/2006/relationships/notesSlide" Target="../notesSlides/notesSlide13.xml"/><Relationship Id="Rf6bf7b68bb294c8b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d60417a49584dcc" Type="http://schemas.openxmlformats.org/officeDocument/2006/relationships/slideLayout" Target="../slideLayouts/slideLayout1.xml"/><Relationship Id="Rebfd24eb0e21447f" Type="http://schemas.openxmlformats.org/officeDocument/2006/relationships/image" Target="../media/image31.png"/><Relationship Id="Rf6f2ece43dfa41b9" Type="http://schemas.openxmlformats.org/officeDocument/2006/relationships/image" Target="../media/image32.png"/><Relationship Id="Rfbcec1075274413c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b467c81e7b34b46" Type="http://schemas.openxmlformats.org/officeDocument/2006/relationships/image" Target="../media/image33.png"/><Relationship Id="R5b5680c719dd4fe0" Type="http://schemas.openxmlformats.org/officeDocument/2006/relationships/notesSlide" Target="../notesSlides/notesSlide15.xml"/><Relationship Id="R69b7fbd3c56848ef" Type="http://schemas.openxmlformats.org/officeDocument/2006/relationships/slideLayout" Target="../slideLayouts/slideLayout1.xml"/><Relationship Id="R8140bda07b5d4d0c" Type="http://schemas.openxmlformats.org/officeDocument/2006/relationships/image" Target="../media/image34.png"/><Relationship Id="Ra200243d202e4591" Type="http://schemas.openxmlformats.org/officeDocument/2006/relationships/chart" Target="charts/chart2.xml"/></Relationships>
</file>

<file path=ppt/slides/_rels/slide16.xml.rels><?xml version='1.0' encoding='UTF-8' standalone='yes'?>
<Relationships xmlns="http://schemas.openxmlformats.org/package/2006/relationships"><Relationship Id="R07f6ed06b8a2416a" Type="http://schemas.openxmlformats.org/officeDocument/2006/relationships/image" Target="../media/image35.png"/><Relationship Id="R4bc3950a95c14584" Type="http://schemas.openxmlformats.org/officeDocument/2006/relationships/image" Target="../media/image36.png"/><Relationship Id="Rb74fb53671834523" Type="http://schemas.openxmlformats.org/officeDocument/2006/relationships/slideLayout" Target="../slideLayouts/slideLayout1.xml"/><Relationship Id="Rc1906464acd0495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ae97e64a54d14d48" Type="http://schemas.openxmlformats.org/officeDocument/2006/relationships/notesSlide" Target="../notesSlides/notesSlide17.xml"/><Relationship Id="Rb3d7c0c02d9c4e39" Type="http://schemas.openxmlformats.org/officeDocument/2006/relationships/image" Target="../media/image38.png"/><Relationship Id="Rd402c418359d4f97" Type="http://schemas.openxmlformats.org/officeDocument/2006/relationships/image" Target="../media/image37.png"/><Relationship Id="Rf5275f525d4b4c2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7560363c5aea414e" Type="http://schemas.openxmlformats.org/officeDocument/2006/relationships/slideLayout" Target="../slideLayouts/slideLayout1.xml"/><Relationship Id="R92766beb011c49a2" Type="http://schemas.openxmlformats.org/officeDocument/2006/relationships/image" Target="../media/image39.png"/><Relationship Id="Rbf8a8b1e0f7644b4" Type="http://schemas.openxmlformats.org/officeDocument/2006/relationships/image" Target="../media/image40.png"/><Relationship Id="Rf0f86648c9c2415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bc27f85bf1f444e" Type="http://schemas.openxmlformats.org/officeDocument/2006/relationships/notesSlide" Target="../notesSlides/notesSlide19.xml"/><Relationship Id="R57e65f9d36ff4e83" Type="http://schemas.openxmlformats.org/officeDocument/2006/relationships/image" Target="../media/image42.png"/><Relationship Id="R9d6cf292975c420c" Type="http://schemas.openxmlformats.org/officeDocument/2006/relationships/slideLayout" Target="../slideLayouts/slideLayout1.xml"/><Relationship Id="Rfdc1b46cb78b4d6d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2cf2691a0dd54a9c" Type="http://schemas.openxmlformats.org/officeDocument/2006/relationships/image" Target="../media/image43.png"/><Relationship Id="R384e9bf198b14a3e" Type="http://schemas.openxmlformats.org/officeDocument/2006/relationships/notesSlide" Target="../notesSlides/notesSlide20.xml"/><Relationship Id="R4188c10e51ea4f15" Type="http://schemas.openxmlformats.org/officeDocument/2006/relationships/slideLayout" Target="../slideLayouts/slideLayout1.xml"/><Relationship Id="R7b3fe021f6b048d3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236360f0f116441d" Type="http://schemas.openxmlformats.org/officeDocument/2006/relationships/image" Target="../media/image46.png"/><Relationship Id="R5c2dc2c5563b430c" Type="http://schemas.openxmlformats.org/officeDocument/2006/relationships/image" Target="../media/image45.png"/><Relationship Id="R8c49f37204d34e7e" Type="http://schemas.openxmlformats.org/officeDocument/2006/relationships/notesSlide" Target="../notesSlides/notesSlide21.xml"/><Relationship Id="Rd0ce1a8d8900491e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038f6500d3cc4efe" Type="http://schemas.openxmlformats.org/officeDocument/2006/relationships/image" Target="../media/image48.png"/><Relationship Id="R1364fe936f734009" Type="http://schemas.openxmlformats.org/officeDocument/2006/relationships/image" Target="../media/image47.png"/><Relationship Id="R25924e80ddb1464f" Type="http://schemas.openxmlformats.org/officeDocument/2006/relationships/notesSlide" Target="../notesSlides/notesSlide22.xml"/><Relationship Id="R8e5a41e703124d68" Type="http://schemas.openxmlformats.org/officeDocument/2006/relationships/slideLayout" Target="../slideLayouts/slideLayout1.xml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Unit</c:v>
          </c:tx>
          <c:spPr>
            <a:solidFill xmlns:a="http://schemas.openxmlformats.org/drawingml/2006/main">
              <a:srgbClr val="9AB6A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08795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Pesanan buyer</c:v>
                </c:pt>
                <c:pt idx="1">
                  <c:v>Kapasitas tersedia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73D34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cbc25cd5e4d9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edccf4fcf453a"/>
          <a:stretch xmlns:a="http://schemas.openxmlformats.org/drawingml/2006/main"/>
        </p:blipFill>
        <p:spPr>
          <a:xfrm xmlns:a="http://schemas.openxmlformats.org/drawingml/2006/main">
            <a:off x="457200" y="362075"/>
            <a:ext cx="1828800" cy="685549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26D6F87-587C-4189-9214-99978CD7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A8CEC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A8CEC0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2ABBA6C-CE67-4A06-8335-71355CC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10572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Entrepreneurship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Mentality untuk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Bisnis Ekspor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B683F34-43DC-47E6-A49E-A5594B1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Foundation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CADD6F9-5FE7-4722-913B-86D7C4D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7DED6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C7DED6"/>
                </a:solidFill>
                <a:latin typeface="Calibri"/>
                <a:ea typeface="Calibri"/>
                <a:cs typeface="Calibri"/>
              </a:rPr>
              <a:t>Cara berpikir dan mengambil keputusan sebelum masuk pasar global</a:t>
            </a:r>
          </a:p>
        </p:txBody>
      </p:sp>
    </p:spTree>
    <p:extLst>
      <p:ext uri="{BB962C8B-B14F-4D97-AF65-F5344CB8AC3E}">
        <p14:creationId xmlns:p14="http://schemas.microsoft.com/office/powerpoint/2010/main" val="1264300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3588ba6264b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A0259-C4BF-4461-9562-41578065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7cd265ae94e8a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7CE6A079-7557-480B-BD63-92C16C3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PETA SESI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10A89CF6-03AF-4E0B-89FD-03404C71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Tiga bekal sebelum menjawab peluang ekspor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D0C1B72B-897C-4795-93CA-A66ABF9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F233609D-2270-4F8E-9DB9-B6AE705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C5712412-5460-4F09-A795-B498E4F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607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7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413646E4-B5A8-47A0-85FF-E1FA890D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3138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menit untuk menguji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cara kita mengambil keputusan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83E3E-B58B-4D89-8E7E-2C37B81D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C4E19DD9-86CD-40AF-AB61-9723D5A5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0928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73B9E369-4E30-4C3B-98C7-C02F3950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5895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Fondasi founder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0EE56C23-5E0A-4880-8C8D-C9C24A5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67000"/>
            <a:ext cx="589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Tujuan, growth mindset, dan cara membaca peluang.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61A41-E84D-4290-823D-782921E8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90875"/>
            <a:ext cx="603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text-10">
            <a:extLst xmlns:a="http://schemas.openxmlformats.org/drawingml/2006/main">
              <a:ext uri="{FF2B5EF4-FFF2-40B4-BE49-F238E27FC236}">
                <a16:creationId xmlns:a16="http://schemas.microsoft.com/office/drawing/2014/main" id="{9FCF5FA4-51E7-4F8F-AC8C-A778EA7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1078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11">
            <a:extLst xmlns:a="http://schemas.openxmlformats.org/drawingml/2006/main">
              <a:ext uri="{FF2B5EF4-FFF2-40B4-BE49-F238E27FC236}">
                <a16:creationId xmlns:a16="http://schemas.microsoft.com/office/drawing/2014/main" id="{45CDD42F-2C4C-4F2C-B58E-8FFBC17A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62325"/>
            <a:ext cx="5895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Kesiapan bisnis</a:t>
            </a:r>
          </a:p>
        </p:txBody>
      </p:sp>
      <p:sp>
        <p:nvSpPr>
          <p:cNvPr id="17" name="text-12">
            <a:extLst xmlns:a="http://schemas.openxmlformats.org/drawingml/2006/main">
              <a:ext uri="{FF2B5EF4-FFF2-40B4-BE49-F238E27FC236}">
                <a16:creationId xmlns:a16="http://schemas.microsoft.com/office/drawing/2014/main" id="{B3258801-ECBA-4BB4-9054-D7DAD29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589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Buyer, kapasitas, tim, kas, dan batas risiko.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5F3B5-7B8B-4A98-96EF-DDF7C14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91025"/>
            <a:ext cx="603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text-13">
            <a:extLst xmlns:a="http://schemas.openxmlformats.org/drawingml/2006/main">
              <a:ext uri="{FF2B5EF4-FFF2-40B4-BE49-F238E27FC236}">
                <a16:creationId xmlns:a16="http://schemas.microsoft.com/office/drawing/2014/main" id="{3821CFFF-B22B-4B4C-B466-F974CCA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91228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0" name="text-14">
            <a:extLst xmlns:a="http://schemas.openxmlformats.org/drawingml/2006/main">
              <a:ext uri="{FF2B5EF4-FFF2-40B4-BE49-F238E27FC236}">
                <a16:creationId xmlns:a16="http://schemas.microsoft.com/office/drawing/2014/main" id="{259AB8D8-AF4C-4C3A-9C42-B7B4B53A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62475"/>
            <a:ext cx="5895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Belajar lewat tindakan</a:t>
            </a:r>
          </a:p>
        </p:txBody>
      </p:sp>
      <p:sp>
        <p:nvSpPr>
          <p:cNvPr id="21" name="text-15">
            <a:extLst xmlns:a="http://schemas.openxmlformats.org/drawingml/2006/main">
              <a:ext uri="{FF2B5EF4-FFF2-40B4-BE49-F238E27FC236}">
                <a16:creationId xmlns:a16="http://schemas.microsoft.com/office/drawing/2014/main" id="{6045E06A-60D7-48BD-93B5-90D7268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67300"/>
            <a:ext cx="589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Eksperimen kecil, bukti, lalu keputusan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1F386-DEB8-42BF-A0B9-2FC245CB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1A7F1212-DAD4-437B-9100-6AE05EF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Bawa satu keputusan dan satu rencana uji untuk bisnismu.</a:t>
            </a:r>
          </a:p>
        </p:txBody>
      </p:sp>
    </p:spTree>
    <p:extLst>
      <p:ext uri="{BB962C8B-B14F-4D97-AF65-F5344CB8AC3E}">
        <p14:creationId xmlns:p14="http://schemas.microsoft.com/office/powerpoint/2010/main" val="1823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885bb45964fa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4154D-0C40-441B-BAA8-C282342D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93e56547d462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08353A24-0051-44EE-8F59-DC5FEC26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D2F03A09-8B9E-4E40-B2C4-208E1FF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Peluang yang menarik tetap perlu dibaca konsekuensinya</a:t>
            </a:r>
          </a:p>
        </p:txBody>
      </p:sp>
      <p:sp>
        <p:nvSpPr>
          <p:cNvPr id="6" name="text-19">
            <a:extLst xmlns:a="http://schemas.openxmlformats.org/drawingml/2006/main">
              <a:ext uri="{FF2B5EF4-FFF2-40B4-BE49-F238E27FC236}">
                <a16:creationId xmlns:a16="http://schemas.microsoft.com/office/drawing/2014/main" id="{6DBC1EBC-25EC-4440-82C7-757AE2C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7592"/>
            <a:ext cx="1104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Business acumen membantu founder memilih tindakan yang masuk akal.</a:t>
            </a:r>
          </a:p>
        </p:txBody>
      </p:sp>
      <p:sp>
        <p:nvSpPr>
          <p:cNvPr id="7" name="text-20">
            <a:extLst xmlns:a="http://schemas.openxmlformats.org/drawingml/2006/main">
              <a:ext uri="{FF2B5EF4-FFF2-40B4-BE49-F238E27FC236}">
                <a16:creationId xmlns:a16="http://schemas.microsoft.com/office/drawing/2014/main" id="{7BE860C8-0FC8-450F-9913-A4D8023D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1">
            <a:extLst xmlns:a="http://schemas.openxmlformats.org/drawingml/2006/main">
              <a:ext uri="{FF2B5EF4-FFF2-40B4-BE49-F238E27FC236}">
                <a16:creationId xmlns:a16="http://schemas.microsoft.com/office/drawing/2014/main" id="{C49001E6-D495-4047-A961-507AD88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D1BFD564-4E25-41BB-B818-C65147B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9345"/>
            <a:ext cx="3762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Menemukan</a:t>
            </a:r>
          </a:p>
          <a:p xmlns:a="http://schemas.openxmlformats.org/drawingml/2006/main"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peluang</a:t>
            </a:r>
          </a:p>
        </p:txBody>
      </p:sp>
      <p:sp>
        <p:nvSpPr>
          <p:cNvPr id="10" name="text-23">
            <a:extLst xmlns:a="http://schemas.openxmlformats.org/drawingml/2006/main">
              <a:ext uri="{FF2B5EF4-FFF2-40B4-BE49-F238E27FC236}">
                <a16:creationId xmlns:a16="http://schemas.microsoft.com/office/drawing/2014/main" id="{D9AF6469-9050-4561-A703-A23F39D6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1445"/>
            <a:ext cx="3743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ENTREPRENEURSHIP</a:t>
            </a:r>
          </a:p>
        </p:txBody>
      </p:sp>
      <p:sp>
        <p:nvSpPr>
          <p:cNvPr id="11" name="text-24">
            <a:extLst xmlns:a="http://schemas.openxmlformats.org/drawingml/2006/main">
              <a:ext uri="{FF2B5EF4-FFF2-40B4-BE49-F238E27FC236}">
                <a16:creationId xmlns:a16="http://schemas.microsoft.com/office/drawing/2014/main" id="{51FD6141-514B-4A4D-B730-DB7DE220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2445"/>
            <a:ext cx="3752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 kebutuhan buyer yang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 kita penuhi?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EA4D5-B90F-42CE-944E-2AEE8AC5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7192" y="2819438"/>
            <a:ext cx="11144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76F31E72-4B84-4F99-BB7C-FC4AA7F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2379345"/>
            <a:ext cx="495239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Menilai</a:t>
            </a:r>
          </a:p>
          <a:p xmlns:a="http://schemas.openxmlformats.org/drawingml/2006/main"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konsekuensi</a:t>
            </a:r>
          </a:p>
        </p:txBody>
      </p:sp>
      <p:sp>
        <p:nvSpPr>
          <p:cNvPr id="14" name="text-26">
            <a:extLst xmlns:a="http://schemas.openxmlformats.org/drawingml/2006/main">
              <a:ext uri="{FF2B5EF4-FFF2-40B4-BE49-F238E27FC236}">
                <a16:creationId xmlns:a16="http://schemas.microsoft.com/office/drawing/2014/main" id="{B55B8397-B37A-4CAD-AFBC-FCB4AE05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3941445"/>
            <a:ext cx="49523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8BA7737F-992D-45AD-AD79-30C2B8B2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4322445"/>
            <a:ext cx="495239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Bagaimana dampaknya ke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kapasitas, kas, dan pilihan kita?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9D3C2-CD1F-49EE-A2CF-51D5FE7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text-28">
            <a:extLst xmlns:a="http://schemas.openxmlformats.org/drawingml/2006/main">
              <a:ext uri="{FF2B5EF4-FFF2-40B4-BE49-F238E27FC236}">
                <a16:creationId xmlns:a16="http://schemas.microsoft.com/office/drawing/2014/main" id="{94717BC6-A5F4-444A-9F66-0264F92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Keputusan akhirnya bisa berupa menerima, mengubah syarat, atau menunda.</a:t>
            </a:r>
          </a:p>
        </p:txBody>
      </p:sp>
    </p:spTree>
    <p:extLst>
      <p:ext uri="{BB962C8B-B14F-4D97-AF65-F5344CB8AC3E}">
        <p14:creationId xmlns:p14="http://schemas.microsoft.com/office/powerpoint/2010/main" val="692505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eb23d81aa4b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2E5F7-443F-4472-A560-FC5E1145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dafc6e644f78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7E0475CA-92FC-47C4-B856-EC7CAB64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KASUS DISKUSI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66337C79-138D-4C13-A5AC-2F89AB01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Ada order 500 unit. Kapasitas kita baru 300.</a:t>
            </a:r>
          </a:p>
        </p:txBody>
      </p:sp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7C71257C-8221-42FF-BF0A-58557EA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1E1D8CFF-8C59-4629-8D88-35C71ADE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1090aa20e4cd9"/>
          <a:srcRect xmlns:a="http://schemas.openxmlformats.org/drawingml/2006/main" t="2570" b="2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103120"/>
            <a:ext cx="5639105" cy="3566160"/>
          </a:xfrm>
          <a:prstGeom xmlns:a="http://schemas.openxmlformats.org/drawingml/2006/main" prst="rect">
            <a:avLst/>
          </a:prstGeom>
        </p:spPr>
      </p:pic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D3C0FC61-44F4-450C-9AF8-14D17BB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749" y="2114550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3CB3A973-7880-4991-B97A-35A35E1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749" y="29908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unit diminta buyer</a:t>
            </a:r>
          </a:p>
        </p:txBody>
      </p:sp>
      <p:sp>
        <p:nvSpPr>
          <p:cNvPr id="11" name="text-35">
            <a:extLst xmlns:a="http://schemas.openxmlformats.org/drawingml/2006/main">
              <a:ext uri="{FF2B5EF4-FFF2-40B4-BE49-F238E27FC236}">
                <a16:creationId xmlns:a16="http://schemas.microsoft.com/office/drawing/2014/main" id="{59127875-0933-4106-8299-250BFE96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05" y="211455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300</a:t>
            </a:r>
          </a:p>
        </p:txBody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734C9D73-342E-41EC-B00E-B68117D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05" y="29908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unit bisa diproduksi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C3671-9E38-421E-BB22-A600CC1A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749" y="3733800"/>
            <a:ext cx="54004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7FABD806-0A0C-496E-921E-49A67307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749" y="4010025"/>
            <a:ext cx="540044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30 hari</a:t>
            </a:r>
          </a:p>
        </p:txBody>
      </p:sp>
      <p:sp>
        <p:nvSpPr>
          <p:cNvPr id="15" name="text-38">
            <a:extLst xmlns:a="http://schemas.openxmlformats.org/drawingml/2006/main">
              <a:ext uri="{FF2B5EF4-FFF2-40B4-BE49-F238E27FC236}">
                <a16:creationId xmlns:a16="http://schemas.microsoft.com/office/drawing/2014/main" id="{BF9EC44B-2130-486E-BBF4-15049DD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749" y="4838700"/>
            <a:ext cx="540044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Pembayaran setelah barang diterima.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Kemasan ekspor belum pernah diuji.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8644F-9698-47CB-B5C9-FF72532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text-39">
            <a:extLst xmlns:a="http://schemas.openxmlformats.org/drawingml/2006/main">
              <a:ext uri="{FF2B5EF4-FFF2-40B4-BE49-F238E27FC236}">
                <a16:creationId xmlns:a16="http://schemas.microsoft.com/office/drawing/2014/main" id="{4CF75A08-5906-4D13-909E-542CE03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Terima, negosiasikan, atau tunda? Apa informasi yang masih kurang?</a:t>
            </a:r>
          </a:p>
        </p:txBody>
      </p:sp>
      <p:sp>
        <p:nvSpPr>
          <p:cNvPr id="18" name="text-40">
            <a:extLst xmlns:a="http://schemas.openxmlformats.org/drawingml/2006/main">
              <a:ext uri="{FF2B5EF4-FFF2-40B4-BE49-F238E27FC236}">
                <a16:creationId xmlns:a16="http://schemas.microsoft.com/office/drawing/2014/main" id="{B614B3FF-6E39-4023-B3BD-5923BCB9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Kasus dan angka ilustratif. Gambar ilustrasi AI.</a:t>
            </a:r>
          </a:p>
        </p:txBody>
      </p:sp>
    </p:spTree>
    <p:extLst>
      <p:ext uri="{BB962C8B-B14F-4D97-AF65-F5344CB8AC3E}">
        <p14:creationId xmlns:p14="http://schemas.microsoft.com/office/powerpoint/2010/main" val="1188795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5f7675f1a48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D4963-A9F6-4AD7-BD3C-BEC2D2E1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88b205214400d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2F5AA268-9B63-4215-A609-9D14EE53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PERJALANAN ENTREPRENEUR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4E955D61-E15E-47B6-ADBD-ECAFA0B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Perjalanan entrepreneur terus bergerak bersama pasar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FDAD0BC7-084C-409D-8F02-6F92D118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7592"/>
            <a:ext cx="1104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Tahapnya bisa berulang saat kebutuhan buyer dan kemampuan bisnis berubah.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254CCB11-B71B-450E-B448-4246F17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45">
            <a:extLst xmlns:a="http://schemas.openxmlformats.org/drawingml/2006/main">
              <a:ext uri="{FF2B5EF4-FFF2-40B4-BE49-F238E27FC236}">
                <a16:creationId xmlns:a16="http://schemas.microsoft.com/office/drawing/2014/main" id="{95EDDA59-414E-4820-BF8E-9A57CBC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D7CF3-A284-4942-9A7D-BFA5639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1" y="3776472"/>
            <a:ext cx="9985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EF0D6-0AA6-4322-B4CD-06A4A2A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483" y="3538362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text-46">
            <a:extLst xmlns:a="http://schemas.openxmlformats.org/drawingml/2006/main">
              <a:ext uri="{FF2B5EF4-FFF2-40B4-BE49-F238E27FC236}">
                <a16:creationId xmlns:a16="http://schemas.microsoft.com/office/drawing/2014/main" id="{108AE72C-D4CB-4F63-BD8E-B42347F4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483" y="3538362"/>
            <a:ext cx="476220" cy="47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-47">
            <a:extLst xmlns:a="http://schemas.openxmlformats.org/drawingml/2006/main">
              <a:ext uri="{FF2B5EF4-FFF2-40B4-BE49-F238E27FC236}">
                <a16:creationId xmlns:a16="http://schemas.microsoft.com/office/drawing/2014/main" id="{E725757F-3BCF-46E1-9E0F-B35025F4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3" y="2249058"/>
            <a:ext cx="21945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Mulai</a:t>
            </a:r>
          </a:p>
        </p:txBody>
      </p:sp>
      <p:sp>
        <p:nvSpPr>
          <p:cNvPr id="13" name="text-48">
            <a:extLst xmlns:a="http://schemas.openxmlformats.org/drawingml/2006/main">
              <a:ext uri="{FF2B5EF4-FFF2-40B4-BE49-F238E27FC236}">
                <a16:creationId xmlns:a16="http://schemas.microsoft.com/office/drawing/2014/main" id="{2EF1375D-0F5E-4307-9B21-7607A12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3" y="2697114"/>
            <a:ext cx="219456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Buka percakapan</a:t>
            </a:r>
          </a:p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 buyer.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EE0E3-5B15-42EF-9267-5D3467E1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93" y="3318906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AFA394D8-B762-4F7A-9B08-AB15279E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3" y="4122910"/>
            <a:ext cx="2194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Kebutuhan awal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12427-E246-4FBC-9C31-0F7E736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339" y="3538362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C64271EC-AD05-4338-AA9E-FCEFDE0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339" y="3538362"/>
            <a:ext cx="476220" cy="47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-51">
            <a:extLst xmlns:a="http://schemas.openxmlformats.org/drawingml/2006/main">
              <a:ext uri="{FF2B5EF4-FFF2-40B4-BE49-F238E27FC236}">
                <a16:creationId xmlns:a16="http://schemas.microsoft.com/office/drawing/2014/main" id="{70E98474-1DD7-47AE-9781-3AC0A51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69" y="4242325"/>
            <a:ext cx="21945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19" name="text-52">
            <a:extLst xmlns:a="http://schemas.openxmlformats.org/drawingml/2006/main">
              <a:ext uri="{FF2B5EF4-FFF2-40B4-BE49-F238E27FC236}">
                <a16:creationId xmlns:a16="http://schemas.microsoft.com/office/drawing/2014/main" id="{A46F4144-37D9-423D-875D-ECCF6F97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69" y="4690381"/>
            <a:ext cx="21945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Sesuaikan ukuran,</a:t>
            </a:r>
          </a:p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kemasan, penawaran.</a:t>
            </a:r>
          </a:p>
        </p:txBody>
      </p:sp>
      <p:sp>
        <p:nvSpPr>
          <p:cNvPr id="20" name="text-53">
            <a:extLst xmlns:a="http://schemas.openxmlformats.org/drawingml/2006/main">
              <a:ext uri="{FF2B5EF4-FFF2-40B4-BE49-F238E27FC236}">
                <a16:creationId xmlns:a16="http://schemas.microsoft.com/office/drawing/2014/main" id="{E24EA557-4195-4078-847D-F99366A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69" y="3204082"/>
            <a:ext cx="2194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Feedback buyer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CDD57-AAFD-439E-A802-D6C4A54B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449" y="4014582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BE4BF-A09A-42B3-AA50-F55CE4A5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195" y="3538362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text-54">
            <a:extLst xmlns:a="http://schemas.openxmlformats.org/drawingml/2006/main">
              <a:ext uri="{FF2B5EF4-FFF2-40B4-BE49-F238E27FC236}">
                <a16:creationId xmlns:a16="http://schemas.microsoft.com/office/drawing/2014/main" id="{25BCF151-05EE-458B-AE6F-9CFF8515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195" y="3538362"/>
            <a:ext cx="476220" cy="47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-55">
            <a:extLst xmlns:a="http://schemas.openxmlformats.org/drawingml/2006/main">
              <a:ext uri="{FF2B5EF4-FFF2-40B4-BE49-F238E27FC236}">
                <a16:creationId xmlns:a16="http://schemas.microsoft.com/office/drawing/2014/main" id="{DC89285D-4222-41BB-BB80-1F89B0F6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025" y="2249058"/>
            <a:ext cx="21945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Uji</a:t>
            </a:r>
          </a:p>
        </p:txBody>
      </p:sp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E9467436-921E-43EC-BDF8-BEA34C8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025" y="2697114"/>
            <a:ext cx="219456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Uji sampel.</a:t>
            </a:r>
          </a:p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Batasi risikonya.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3143E-E65D-44BF-BF74-60C4738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305" y="3318906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text-57">
            <a:extLst xmlns:a="http://schemas.openxmlformats.org/drawingml/2006/main">
              <a:ext uri="{FF2B5EF4-FFF2-40B4-BE49-F238E27FC236}">
                <a16:creationId xmlns:a16="http://schemas.microsoft.com/office/drawing/2014/main" id="{1A3EC5C3-9891-499C-B97A-D49AB26F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025" y="4122910"/>
            <a:ext cx="2194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Hasil percobaan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9F04B-DCB7-423F-A8C5-294FB66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51" y="3538362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text-58">
            <a:extLst xmlns:a="http://schemas.openxmlformats.org/drawingml/2006/main">
              <a:ext uri="{FF2B5EF4-FFF2-40B4-BE49-F238E27FC236}">
                <a16:creationId xmlns:a16="http://schemas.microsoft.com/office/drawing/2014/main" id="{9EA0885E-C586-4F42-A868-761E43D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51" y="3538362"/>
            <a:ext cx="476220" cy="47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text-59">
            <a:extLst xmlns:a="http://schemas.openxmlformats.org/drawingml/2006/main">
              <a:ext uri="{FF2B5EF4-FFF2-40B4-BE49-F238E27FC236}">
                <a16:creationId xmlns:a16="http://schemas.microsoft.com/office/drawing/2014/main" id="{75A420E8-45D3-4441-B1B5-225D6763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881" y="4242325"/>
            <a:ext cx="21945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Bangun tim</a:t>
            </a:r>
          </a:p>
        </p:txBody>
      </p:sp>
      <p:sp>
        <p:nvSpPr>
          <p:cNvPr id="31" name="text-60">
            <a:extLst xmlns:a="http://schemas.openxmlformats.org/drawingml/2006/main">
              <a:ext uri="{FF2B5EF4-FFF2-40B4-BE49-F238E27FC236}">
                <a16:creationId xmlns:a16="http://schemas.microsoft.com/office/drawing/2014/main" id="{171C3C54-50D9-4C7F-B590-B785AB2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881" y="4690381"/>
            <a:ext cx="21945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Tutup kebutuhan</a:t>
            </a:r>
          </a:p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 dan kirim.</a:t>
            </a:r>
          </a:p>
        </p:txBody>
      </p:sp>
      <p:sp>
        <p:nvSpPr>
          <p:cNvPr id="32" name="text-61">
            <a:extLst xmlns:a="http://schemas.openxmlformats.org/drawingml/2006/main">
              <a:ext uri="{FF2B5EF4-FFF2-40B4-BE49-F238E27FC236}">
                <a16:creationId xmlns:a16="http://schemas.microsoft.com/office/drawing/2014/main" id="{912DE343-C72D-4030-878E-C2F622F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881" y="3204082"/>
            <a:ext cx="2194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PIC yang jelas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6B0C01-50DA-445D-BF4A-9E2B62E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161" y="4014582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96191-B3AE-411D-8F00-98C2B21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907" y="3538362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text-62">
            <a:extLst xmlns:a="http://schemas.openxmlformats.org/drawingml/2006/main">
              <a:ext uri="{FF2B5EF4-FFF2-40B4-BE49-F238E27FC236}">
                <a16:creationId xmlns:a16="http://schemas.microsoft.com/office/drawing/2014/main" id="{B1CC5C84-3F22-4209-B90A-79B387F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907" y="3538362"/>
            <a:ext cx="476220" cy="47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6" name="text-63">
            <a:extLst xmlns:a="http://schemas.openxmlformats.org/drawingml/2006/main">
              <a:ext uri="{FF2B5EF4-FFF2-40B4-BE49-F238E27FC236}">
                <a16:creationId xmlns:a16="http://schemas.microsoft.com/office/drawing/2014/main" id="{555AF747-58E5-4F82-ABCC-5FD6E912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737" y="2249058"/>
            <a:ext cx="21945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Jaga misi</a:t>
            </a:r>
          </a:p>
        </p:txBody>
      </p:sp>
      <p:sp>
        <p:nvSpPr>
          <p:cNvPr id="37" name="text-64">
            <a:extLst xmlns:a="http://schemas.openxmlformats.org/drawingml/2006/main">
              <a:ext uri="{FF2B5EF4-FFF2-40B4-BE49-F238E27FC236}">
                <a16:creationId xmlns:a16="http://schemas.microsoft.com/office/drawing/2014/main" id="{8BD2B662-94F8-4557-A4CD-4BBD35DB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737" y="2697114"/>
            <a:ext cx="219456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Penuhi janji untuk</a:t>
            </a:r>
          </a:p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pesanan berulang.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347E3A-A9AF-4EDE-B299-F720C49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017" y="3318906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text-65">
            <a:extLst xmlns:a="http://schemas.openxmlformats.org/drawingml/2006/main">
              <a:ext uri="{FF2B5EF4-FFF2-40B4-BE49-F238E27FC236}">
                <a16:creationId xmlns:a16="http://schemas.microsoft.com/office/drawing/2014/main" id="{52503B67-34F8-4627-A681-5C9917B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737" y="4122910"/>
            <a:ext cx="2194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Arah bersama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2BC2C7-621D-47CE-BC5F-7849288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" name="text-66">
            <a:extLst xmlns:a="http://schemas.openxmlformats.org/drawingml/2006/main">
              <a:ext uri="{FF2B5EF4-FFF2-40B4-BE49-F238E27FC236}">
                <a16:creationId xmlns:a16="http://schemas.microsoft.com/office/drawing/2014/main" id="{033762D6-963B-466A-8B6A-A74DB150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Pertahankan tujuannya. Sesuaikan cara mencapainya.</a:t>
            </a:r>
          </a:p>
        </p:txBody>
      </p:sp>
    </p:spTree>
    <p:extLst>
      <p:ext uri="{BB962C8B-B14F-4D97-AF65-F5344CB8AC3E}">
        <p14:creationId xmlns:p14="http://schemas.microsoft.com/office/powerpoint/2010/main" val="788888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c8b3c67c7491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5EC48-BBE0-4436-9AFA-88D513E4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47bf2c2714178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67">
            <a:extLst xmlns:a="http://schemas.openxmlformats.org/drawingml/2006/main">
              <a:ext uri="{FF2B5EF4-FFF2-40B4-BE49-F238E27FC236}">
                <a16:creationId xmlns:a16="http://schemas.microsoft.com/office/drawing/2014/main" id="{0B9DE2DF-0A75-4749-B3A5-BACCC7A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KARAKTER ENTREPRENEUR</a:t>
            </a:r>
          </a:p>
        </p:txBody>
      </p:sp>
      <p:sp>
        <p:nvSpPr>
          <p:cNvPr id="5" name="text-68">
            <a:extLst xmlns:a="http://schemas.openxmlformats.org/drawingml/2006/main">
              <a:ext uri="{FF2B5EF4-FFF2-40B4-BE49-F238E27FC236}">
                <a16:creationId xmlns:a16="http://schemas.microsoft.com/office/drawing/2014/main" id="{5AEB2363-C4D5-43BF-A3B4-0406434E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Karakter founder terlihat dalam kebiasaan sehari-hari</a:t>
            </a:r>
          </a:p>
        </p:txBody>
      </p:sp>
      <p:sp>
        <p:nvSpPr>
          <p:cNvPr id="6" name="text-69">
            <a:extLst xmlns:a="http://schemas.openxmlformats.org/drawingml/2006/main">
              <a:ext uri="{FF2B5EF4-FFF2-40B4-BE49-F238E27FC236}">
                <a16:creationId xmlns:a16="http://schemas.microsoft.com/office/drawing/2014/main" id="{F5C128B0-97DA-4650-9B5C-6CEE3C1B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FAC0809B-91F1-4053-BBA9-83D527C6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text-71">
            <a:extLst xmlns:a="http://schemas.openxmlformats.org/drawingml/2006/main">
              <a:ext uri="{FF2B5EF4-FFF2-40B4-BE49-F238E27FC236}">
                <a16:creationId xmlns:a16="http://schemas.microsoft.com/office/drawing/2014/main" id="{C41089A5-6BAD-4D17-A833-04686AF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49523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CARA MEMBACA PELUANG</a:t>
            </a:r>
          </a:p>
        </p:txBody>
      </p:sp>
      <p:sp>
        <p:nvSpPr>
          <p:cNvPr id="9" name="text-72">
            <a:extLst xmlns:a="http://schemas.openxmlformats.org/drawingml/2006/main">
              <a:ext uri="{FF2B5EF4-FFF2-40B4-BE49-F238E27FC236}">
                <a16:creationId xmlns:a16="http://schemas.microsoft.com/office/drawing/2014/main" id="{ACF1887E-D17C-4FC2-B486-3681F79A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CARA MENJAGA LANGKAH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0D921-C215-4093-B71B-E8E08D7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2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F989-E422-456B-97C6-F51E5C26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text-73">
            <a:extLst xmlns:a="http://schemas.openxmlformats.org/drawingml/2006/main">
              <a:ext uri="{FF2B5EF4-FFF2-40B4-BE49-F238E27FC236}">
                <a16:creationId xmlns:a16="http://schemas.microsoft.com/office/drawing/2014/main" id="{4A58299C-3F9D-458F-9C92-A3305E6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974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-74">
            <a:extLst xmlns:a="http://schemas.openxmlformats.org/drawingml/2006/main">
              <a:ext uri="{FF2B5EF4-FFF2-40B4-BE49-F238E27FC236}">
                <a16:creationId xmlns:a16="http://schemas.microsoft.com/office/drawing/2014/main" id="{4A1D1C43-9DAF-41F6-BEDA-E58FA24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241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Rasa ingin tahu</a:t>
            </a:r>
          </a:p>
        </p:txBody>
      </p:sp>
      <p:sp>
        <p:nvSpPr>
          <p:cNvPr id="14" name="text-75">
            <a:extLst xmlns:a="http://schemas.openxmlformats.org/drawingml/2006/main">
              <a:ext uri="{FF2B5EF4-FFF2-40B4-BE49-F238E27FC236}">
                <a16:creationId xmlns:a16="http://schemas.microsoft.com/office/drawing/2014/main" id="{672C331A-11F1-4924-9169-D46DA833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 alasan buyer.</a:t>
            </a:r>
          </a:p>
        </p:txBody>
      </p:sp>
      <p:sp>
        <p:nvSpPr>
          <p:cNvPr id="15" name="text-76">
            <a:extLst xmlns:a="http://schemas.openxmlformats.org/drawingml/2006/main">
              <a:ext uri="{FF2B5EF4-FFF2-40B4-BE49-F238E27FC236}">
                <a16:creationId xmlns:a16="http://schemas.microsoft.com/office/drawing/2014/main" id="{BB37EE14-8358-49A3-A4FB-8F00FA8F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839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77">
            <a:extLst xmlns:a="http://schemas.openxmlformats.org/drawingml/2006/main">
              <a:ext uri="{FF2B5EF4-FFF2-40B4-BE49-F238E27FC236}">
                <a16:creationId xmlns:a16="http://schemas.microsoft.com/office/drawing/2014/main" id="{52394029-142C-4EBA-A229-57E9DE1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527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17" name="text-78">
            <a:extLst xmlns:a="http://schemas.openxmlformats.org/drawingml/2006/main">
              <a:ext uri="{FF2B5EF4-FFF2-40B4-BE49-F238E27FC236}">
                <a16:creationId xmlns:a16="http://schemas.microsoft.com/office/drawing/2014/main" id="{9FA30C55-5B46-494C-89DE-7A93D61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671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Uji sebelum menambah stok.</a:t>
            </a:r>
          </a:p>
        </p:txBody>
      </p:sp>
      <p:sp>
        <p:nvSpPr>
          <p:cNvPr id="18" name="text-79">
            <a:extLst xmlns:a="http://schemas.openxmlformats.org/drawingml/2006/main">
              <a:ext uri="{FF2B5EF4-FFF2-40B4-BE49-F238E27FC236}">
                <a16:creationId xmlns:a16="http://schemas.microsoft.com/office/drawing/2014/main" id="{40EB1197-315A-4891-BA57-81BBB3D1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7049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-80">
            <a:extLst xmlns:a="http://schemas.openxmlformats.org/drawingml/2006/main">
              <a:ext uri="{FF2B5EF4-FFF2-40B4-BE49-F238E27FC236}">
                <a16:creationId xmlns:a16="http://schemas.microsoft.com/office/drawing/2014/main" id="{12AC0192-0B1C-4ACB-B983-BFA76A7B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20" name="text-81">
            <a:extLst xmlns:a="http://schemas.openxmlformats.org/drawingml/2006/main">
              <a:ext uri="{FF2B5EF4-FFF2-40B4-BE49-F238E27FC236}">
                <a16:creationId xmlns:a16="http://schemas.microsoft.com/office/drawing/2014/main" id="{DFF84D21-1389-4655-878A-2010757B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Ubah cara setelah ada bukti.</a:t>
            </a:r>
          </a:p>
        </p:txBody>
      </p:sp>
      <p:sp>
        <p:nvSpPr>
          <p:cNvPr id="21" name="text-82">
            <a:extLst xmlns:a="http://schemas.openxmlformats.org/drawingml/2006/main">
              <a:ext uri="{FF2B5EF4-FFF2-40B4-BE49-F238E27FC236}">
                <a16:creationId xmlns:a16="http://schemas.microsoft.com/office/drawing/2014/main" id="{A9A5AD39-8129-4F50-9CC3-056D553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569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83">
            <a:extLst xmlns:a="http://schemas.openxmlformats.org/drawingml/2006/main">
              <a:ext uri="{FF2B5EF4-FFF2-40B4-BE49-F238E27FC236}">
                <a16:creationId xmlns:a16="http://schemas.microsoft.com/office/drawing/2014/main" id="{754E0EA9-D258-4EA4-BE2E-61DE567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100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Keputusan</a:t>
            </a:r>
          </a:p>
        </p:txBody>
      </p: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DF48282B-876C-430B-89E6-1D746F07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Pilih langkah dan alasannya.</a:t>
            </a:r>
          </a:p>
        </p:txBody>
      </p:sp>
      <p:sp>
        <p:nvSpPr>
          <p:cNvPr id="24" name="text-85">
            <a:extLst xmlns:a="http://schemas.openxmlformats.org/drawingml/2006/main">
              <a:ext uri="{FF2B5EF4-FFF2-40B4-BE49-F238E27FC236}">
                <a16:creationId xmlns:a16="http://schemas.microsoft.com/office/drawing/2014/main" id="{D0E5D6B5-D83B-40CD-9CAB-62835E5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434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5" name="text-86">
            <a:extLst xmlns:a="http://schemas.openxmlformats.org/drawingml/2006/main">
              <a:ext uri="{FF2B5EF4-FFF2-40B4-BE49-F238E27FC236}">
                <a16:creationId xmlns:a16="http://schemas.microsoft.com/office/drawing/2014/main" id="{CEC9610D-23B0-45EF-B7A8-A1CC17DC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387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Kesadaran diri</a:t>
            </a:r>
          </a:p>
        </p:txBody>
      </p:sp>
      <p:sp>
        <p:nvSpPr>
          <p:cNvPr id="26" name="text-87">
            <a:extLst xmlns:a="http://schemas.openxmlformats.org/drawingml/2006/main">
              <a:ext uri="{FF2B5EF4-FFF2-40B4-BE49-F238E27FC236}">
                <a16:creationId xmlns:a16="http://schemas.microsoft.com/office/drawing/2014/main" id="{57E30A05-B2C0-4462-9046-F50E191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530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Akui kemampuan yang kurang.</a:t>
            </a:r>
          </a:p>
        </p:txBody>
      </p:sp>
      <p:sp>
        <p:nvSpPr>
          <p:cNvPr id="27" name="text-88">
            <a:extLst xmlns:a="http://schemas.openxmlformats.org/drawingml/2006/main">
              <a:ext uri="{FF2B5EF4-FFF2-40B4-BE49-F238E27FC236}">
                <a16:creationId xmlns:a16="http://schemas.microsoft.com/office/drawing/2014/main" id="{30A47938-A1B0-40A3-A1B6-1FF9E8A8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974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8" name="text-89">
            <a:extLst xmlns:a="http://schemas.openxmlformats.org/drawingml/2006/main">
              <a:ext uri="{FF2B5EF4-FFF2-40B4-BE49-F238E27FC236}">
                <a16:creationId xmlns:a16="http://schemas.microsoft.com/office/drawing/2014/main" id="{A1DEAEBB-5D5C-44C0-8650-AB9F824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241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Toleransi risiko</a:t>
            </a:r>
          </a:p>
        </p:txBody>
      </p:sp>
      <p:sp>
        <p:nvSpPr>
          <p:cNvPr id="29" name="text-90">
            <a:extLst xmlns:a="http://schemas.openxmlformats.org/drawingml/2006/main">
              <a:ext uri="{FF2B5EF4-FFF2-40B4-BE49-F238E27FC236}">
                <a16:creationId xmlns:a16="http://schemas.microsoft.com/office/drawing/2014/main" id="{493284EC-3336-4A3E-AAFE-1AE2CEB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384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Tetapkan batas kerugian.</a:t>
            </a:r>
          </a:p>
        </p:txBody>
      </p:sp>
      <p:sp>
        <p:nvSpPr>
          <p:cNvPr id="30" name="text-91">
            <a:extLst xmlns:a="http://schemas.openxmlformats.org/drawingml/2006/main">
              <a:ext uri="{FF2B5EF4-FFF2-40B4-BE49-F238E27FC236}">
                <a16:creationId xmlns:a16="http://schemas.microsoft.com/office/drawing/2014/main" id="{41C27D14-D559-4D5E-A05B-ECCCC43C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839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1" name="text-92">
            <a:extLst xmlns:a="http://schemas.openxmlformats.org/drawingml/2006/main">
              <a:ext uri="{FF2B5EF4-FFF2-40B4-BE49-F238E27FC236}">
                <a16:creationId xmlns:a16="http://schemas.microsoft.com/office/drawing/2014/main" id="{2587B962-AB39-4DC8-882C-344C1673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527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Belajar dari gagal</a:t>
            </a:r>
          </a:p>
        </p:txBody>
      </p:sp>
      <p:sp>
        <p:nvSpPr>
          <p:cNvPr id="32" name="text-93">
            <a:extLst xmlns:a="http://schemas.openxmlformats.org/drawingml/2006/main">
              <a:ext uri="{FF2B5EF4-FFF2-40B4-BE49-F238E27FC236}">
                <a16:creationId xmlns:a16="http://schemas.microsoft.com/office/drawing/2014/main" id="{06AE9D2E-9741-4329-9F40-4BBC692F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671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Periksa penyebabnya.</a:t>
            </a:r>
          </a:p>
        </p:txBody>
      </p:sp>
      <p:sp>
        <p:nvSpPr>
          <p:cNvPr id="33" name="text-94">
            <a:extLst xmlns:a="http://schemas.openxmlformats.org/drawingml/2006/main">
              <a:ext uri="{FF2B5EF4-FFF2-40B4-BE49-F238E27FC236}">
                <a16:creationId xmlns:a16="http://schemas.microsoft.com/office/drawing/2014/main" id="{7AF81F28-7C06-4ABA-B06A-DDBF3E6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7049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4" name="text-95">
            <a:extLst xmlns:a="http://schemas.openxmlformats.org/drawingml/2006/main">
              <a:ext uri="{FF2B5EF4-FFF2-40B4-BE49-F238E27FC236}">
                <a16:creationId xmlns:a16="http://schemas.microsoft.com/office/drawing/2014/main" id="{F8EE5B73-19C1-4729-A3B9-0E0D89F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814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Kegigihan</a:t>
            </a:r>
          </a:p>
        </p:txBody>
      </p:sp>
      <p:sp>
        <p:nvSpPr>
          <p:cNvPr id="35" name="text-96">
            <a:extLst xmlns:a="http://schemas.openxmlformats.org/drawingml/2006/main">
              <a:ext uri="{FF2B5EF4-FFF2-40B4-BE49-F238E27FC236}">
                <a16:creationId xmlns:a16="http://schemas.microsoft.com/office/drawing/2014/main" id="{9ADC3B2C-6361-49B4-8C62-11F3A803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Tindak lanjuti dengan disiplin.</a:t>
            </a:r>
          </a:p>
        </p:txBody>
      </p:sp>
      <p:sp>
        <p:nvSpPr>
          <p:cNvPr id="36" name="text-97">
            <a:extLst xmlns:a="http://schemas.openxmlformats.org/drawingml/2006/main">
              <a:ext uri="{FF2B5EF4-FFF2-40B4-BE49-F238E27FC236}">
                <a16:creationId xmlns:a16="http://schemas.microsoft.com/office/drawing/2014/main" id="{F9E3F7CA-1EC1-4BCF-B323-2AE6300D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69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7" name="text-98">
            <a:extLst xmlns:a="http://schemas.openxmlformats.org/drawingml/2006/main">
              <a:ext uri="{FF2B5EF4-FFF2-40B4-BE49-F238E27FC236}">
                <a16:creationId xmlns:a16="http://schemas.microsoft.com/office/drawing/2014/main" id="{9B06995D-323E-412F-9FB8-E4909F79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00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Inovasi</a:t>
            </a:r>
          </a:p>
        </p:txBody>
      </p:sp>
      <p:sp>
        <p:nvSpPr>
          <p:cNvPr id="38" name="text-99">
            <a:extLst xmlns:a="http://schemas.openxmlformats.org/drawingml/2006/main">
              <a:ext uri="{FF2B5EF4-FFF2-40B4-BE49-F238E27FC236}">
                <a16:creationId xmlns:a16="http://schemas.microsoft.com/office/drawing/2014/main" id="{DC25178C-377B-494A-91DB-50319FE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244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cara lain memenuhi kebutuhan.</a:t>
            </a:r>
          </a:p>
        </p:txBody>
      </p:sp>
      <p:sp>
        <p:nvSpPr>
          <p:cNvPr id="39" name="text-100">
            <a:extLst xmlns:a="http://schemas.openxmlformats.org/drawingml/2006/main">
              <a:ext uri="{FF2B5EF4-FFF2-40B4-BE49-F238E27FC236}">
                <a16:creationId xmlns:a16="http://schemas.microsoft.com/office/drawing/2014/main" id="{F95725F8-BADB-4906-AC4E-348A62F7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74348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0" name="text-101">
            <a:extLst xmlns:a="http://schemas.openxmlformats.org/drawingml/2006/main">
              <a:ext uri="{FF2B5EF4-FFF2-40B4-BE49-F238E27FC236}">
                <a16:creationId xmlns:a16="http://schemas.microsoft.com/office/drawing/2014/main" id="{BB6CF8B3-F6DE-464B-A7B7-1ACC7BD2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387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Fokus jangka panjang</a:t>
            </a:r>
          </a:p>
        </p:txBody>
      </p:sp>
      <p:sp>
        <p:nvSpPr>
          <p:cNvPr id="41" name="text-102">
            <a:extLst xmlns:a="http://schemas.openxmlformats.org/drawingml/2006/main">
              <a:ext uri="{FF2B5EF4-FFF2-40B4-BE49-F238E27FC236}">
                <a16:creationId xmlns:a16="http://schemas.microsoft.com/office/drawing/2014/main" id="{92022655-AAEE-4ADE-8226-7875EDE9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530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Jaga hubungan dan reputasi.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CF25C5-3D0C-4468-80F4-4151DF21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" name="text-103">
            <a:extLst xmlns:a="http://schemas.openxmlformats.org/drawingml/2006/main">
              <a:ext uri="{FF2B5EF4-FFF2-40B4-BE49-F238E27FC236}">
                <a16:creationId xmlns:a16="http://schemas.microsoft.com/office/drawing/2014/main" id="{8C3526FB-1E5E-4641-BF3E-F5B7B952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 satu kebiasaan yang paling perlu kamu perbaiki minggu ini.</a:t>
            </a:r>
          </a:p>
        </p:txBody>
      </p:sp>
    </p:spTree>
    <p:extLst>
      <p:ext uri="{BB962C8B-B14F-4D97-AF65-F5344CB8AC3E}">
        <p14:creationId xmlns:p14="http://schemas.microsoft.com/office/powerpoint/2010/main" val="862046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2D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7900a3f8c49c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a965e74564297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46CB8A51-E1F5-4CA3-942C-C7D86AF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D444D744-7BCA-46A7-9323-1E2CA9CB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Masukan buyer membuka pilihan baru</a:t>
            </a: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37845C81-07F8-4B97-A5AC-8734B50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16A0A28A-12A7-45A8-92B5-7CEA47FC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32432383-6D88-45C3-8A07-6DC303D2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110394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“Ukurannya belum cocok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 toko kami.”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99490-B873-466B-8C1F-40E87CFD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text-109">
            <a:extLst xmlns:a="http://schemas.openxmlformats.org/drawingml/2006/main">
              <a:ext uri="{FF2B5EF4-FFF2-40B4-BE49-F238E27FC236}">
                <a16:creationId xmlns:a16="http://schemas.microsoft.com/office/drawing/2014/main" id="{32CEDC6A-F23B-4E52-AF40-14028DC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4295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RESPONS YANG MENUTUP</a:t>
            </a:r>
          </a:p>
        </p:txBody>
      </p:sp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3D228D78-65D8-4FD7-A8CE-8B3F770A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“Buyer nggak paham.”</a:t>
            </a:r>
          </a:p>
          <a:p xmlns:a="http://schemas.openxmlformats.org/drawingml/2006/main"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“Pasar ini nggak cocok.”</a:t>
            </a:r>
          </a:p>
          <a:p xmlns:a="http://schemas.openxmlformats.org/drawingml/2006/main"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“Tim kita nggak bisa.”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C568B-2D32-4202-A0DA-F6F21DEE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3773" y="4773520"/>
            <a:ext cx="714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DB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EF08F659-804D-40ED-B0A8-36D9FB40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3914775"/>
            <a:ext cx="49523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RESPONS YANG MEMBUKA</a:t>
            </a:r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CD2524C7-ED8A-4556-A53C-5FAE447D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4362450"/>
            <a:ext cx="49523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“Ukuran apa yang dicari?”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“Apa yang perlu kita ubah?”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“Skill atau mitra apa yang kurang?”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27FBA-1181-4266-98A4-BECCA40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text-113">
            <a:extLst xmlns:a="http://schemas.openxmlformats.org/drawingml/2006/main">
              <a:ext uri="{FF2B5EF4-FFF2-40B4-BE49-F238E27FC236}">
                <a16:creationId xmlns:a16="http://schemas.microsoft.com/office/drawing/2014/main" id="{8249465E-E7EA-4955-BE6B-214C93BD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Terbuka pada feedback, sambil tetap memeriksa kelayakannya.</a:t>
            </a:r>
          </a:p>
        </p:txBody>
      </p:sp>
    </p:spTree>
    <p:extLst>
      <p:ext uri="{BB962C8B-B14F-4D97-AF65-F5344CB8AC3E}">
        <p14:creationId xmlns:p14="http://schemas.microsoft.com/office/powerpoint/2010/main" val="2136646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391b563fc4e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B7A3F-A4D7-444C-8142-3E6BB1FA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46ef5fb3b4632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A1AC8748-C249-45F8-914C-26AB701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 BISNIS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188A454E-3EDB-4CE8-BBA2-12C4358C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Golden Circle menjaga arah saat peluang datang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208E1028-12FB-47B1-A7FF-6B46C1BF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D025CC2F-482C-4A6C-8B9A-C56F1109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52A24-6BBD-415D-988C-381AA85D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5960"/>
            <a:ext cx="3476625" cy="3476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C6CB1-E29B-4370-B72A-1CABC572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80310"/>
            <a:ext cx="2447925" cy="2447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888D3-8584-442F-8F02-3284C5D3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52" y="3071012"/>
            <a:ext cx="1266825" cy="1266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952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text-118">
            <a:extLst xmlns:a="http://schemas.openxmlformats.org/drawingml/2006/main">
              <a:ext uri="{FF2B5EF4-FFF2-40B4-BE49-F238E27FC236}">
                <a16:creationId xmlns:a16="http://schemas.microsoft.com/office/drawing/2014/main" id="{51E05C53-10C3-4009-8BDC-52FC7EC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54" y="2077164"/>
            <a:ext cx="1463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12" name="text-119">
            <a:extLst xmlns:a="http://schemas.openxmlformats.org/drawingml/2006/main">
              <a:ext uri="{FF2B5EF4-FFF2-40B4-BE49-F238E27FC236}">
                <a16:creationId xmlns:a16="http://schemas.microsoft.com/office/drawing/2014/main" id="{8289028C-22F2-4B4A-82F5-93AC9AD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54" y="2629691"/>
            <a:ext cx="1463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3" name="text-120">
            <a:extLst xmlns:a="http://schemas.openxmlformats.org/drawingml/2006/main">
              <a:ext uri="{FF2B5EF4-FFF2-40B4-BE49-F238E27FC236}">
                <a16:creationId xmlns:a16="http://schemas.microsoft.com/office/drawing/2014/main" id="{3EB8FFA2-7555-401F-9DA5-209F487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54" y="3517392"/>
            <a:ext cx="14630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4" name="text-121">
            <a:extLst xmlns:a="http://schemas.openxmlformats.org/drawingml/2006/main">
              <a:ext uri="{FF2B5EF4-FFF2-40B4-BE49-F238E27FC236}">
                <a16:creationId xmlns:a16="http://schemas.microsoft.com/office/drawing/2014/main" id="{5D127D59-201E-4F7D-89B5-56212F1F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0312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CONTOH USAHA DEKORASI RUMAH</a:t>
            </a:r>
          </a:p>
        </p:txBody>
      </p:sp>
      <p:sp>
        <p:nvSpPr>
          <p:cNvPr id="15" name="text-122">
            <a:extLst xmlns:a="http://schemas.openxmlformats.org/drawingml/2006/main">
              <a:ext uri="{FF2B5EF4-FFF2-40B4-BE49-F238E27FC236}">
                <a16:creationId xmlns:a16="http://schemas.microsoft.com/office/drawing/2014/main" id="{C7608D9F-48B6-42F2-9056-91A49B4C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8727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6" name="text-123">
            <a:extLst xmlns:a="http://schemas.openxmlformats.org/drawingml/2006/main">
              <a:ext uri="{FF2B5EF4-FFF2-40B4-BE49-F238E27FC236}">
                <a16:creationId xmlns:a16="http://schemas.microsoft.com/office/drawing/2014/main" id="{C269A289-5DC9-46D4-A076-35D8CBEF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7480"/>
            <a:ext cx="537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Pesanan berulang untuk pengrajin lokal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BEC12-33EA-425D-A2E4-6698039D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02" y="3429000"/>
            <a:ext cx="65717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text-124">
            <a:extLst xmlns:a="http://schemas.openxmlformats.org/drawingml/2006/main">
              <a:ext uri="{FF2B5EF4-FFF2-40B4-BE49-F238E27FC236}">
                <a16:creationId xmlns:a16="http://schemas.microsoft.com/office/drawing/2014/main" id="{EA61D144-E553-44F8-AB3B-477A7E7A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0287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F730860D-7CFD-438F-BF51-7BC1424B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9040"/>
            <a:ext cx="537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Mutu konsisten dan komunikasi terbuka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737BB-DC80-4466-AAC1-B57DD71F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02" y="4480560"/>
            <a:ext cx="65717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126">
            <a:extLst xmlns:a="http://schemas.openxmlformats.org/drawingml/2006/main">
              <a:ext uri="{FF2B5EF4-FFF2-40B4-BE49-F238E27FC236}">
                <a16:creationId xmlns:a16="http://schemas.microsoft.com/office/drawing/2014/main" id="{B61C40D0-3807-4210-89DF-F77E203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71847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22" name="text-127">
            <a:extLst xmlns:a="http://schemas.openxmlformats.org/drawingml/2006/main">
              <a:ext uri="{FF2B5EF4-FFF2-40B4-BE49-F238E27FC236}">
                <a16:creationId xmlns:a16="http://schemas.microsoft.com/office/drawing/2014/main" id="{61195B13-FF7F-4E1A-9993-6857908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00600"/>
            <a:ext cx="537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 sesuai kebutuhan buyer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33844-8228-4B07-BC10-2828526E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text-128">
            <a:extLst xmlns:a="http://schemas.openxmlformats.org/drawingml/2006/main">
              <a:ext uri="{FF2B5EF4-FFF2-40B4-BE49-F238E27FC236}">
                <a16:creationId xmlns:a16="http://schemas.microsoft.com/office/drawing/2014/main" id="{1A3D1A79-D311-4F19-9B6D-93EA4831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 jangka panjang membantu kita menetapkan batas saat mengejar order.</a:t>
            </a:r>
          </a:p>
        </p:txBody>
      </p:sp>
    </p:spTree>
    <p:extLst>
      <p:ext uri="{BB962C8B-B14F-4D97-AF65-F5344CB8AC3E}">
        <p14:creationId xmlns:p14="http://schemas.microsoft.com/office/powerpoint/2010/main" val="369405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d7ae7efae4f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48494-1E0D-4045-9F8A-4042BD0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b6def630c4d40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29">
            <a:extLst xmlns:a="http://schemas.openxmlformats.org/drawingml/2006/main">
              <a:ext uri="{FF2B5EF4-FFF2-40B4-BE49-F238E27FC236}">
                <a16:creationId xmlns:a16="http://schemas.microsoft.com/office/drawing/2014/main" id="{6749493F-E569-45F4-BACD-C0EAAD78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 · TALENT · PROFIT</a:t>
            </a:r>
          </a:p>
        </p:txBody>
      </p:sp>
      <p:sp>
        <p:nvSpPr>
          <p:cNvPr id="5" name="text-130">
            <a:extLst xmlns:a="http://schemas.openxmlformats.org/drawingml/2006/main">
              <a:ext uri="{FF2B5EF4-FFF2-40B4-BE49-F238E27FC236}">
                <a16:creationId xmlns:a16="http://schemas.microsoft.com/office/drawing/2014/main" id="{BB79AFF0-EB68-458F-AC46-60AB396C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Sweet Spot mempertemukan minat, kemampuan, dan hasil</a:t>
            </a:r>
          </a:p>
        </p:txBody>
      </p:sp>
      <p:sp>
        <p:nvSpPr>
          <p:cNvPr id="6" name="text-131">
            <a:extLst xmlns:a="http://schemas.openxmlformats.org/drawingml/2006/main">
              <a:ext uri="{FF2B5EF4-FFF2-40B4-BE49-F238E27FC236}">
                <a16:creationId xmlns:a16="http://schemas.microsoft.com/office/drawing/2014/main" id="{F2D53574-C5D0-47C7-80B2-9BCE23BB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D8136502-B74F-43EF-B66F-401FE537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25370-94F7-48BB-9B67-BB0D4D0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600325" cy="2600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18D39-9DEF-44D7-96B7-CA9C873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952625"/>
            <a:ext cx="2600325" cy="2600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B294B-ED59-41B1-AA3C-581E01A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76600"/>
            <a:ext cx="2600325" cy="2600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D3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text-133">
            <a:extLst xmlns:a="http://schemas.openxmlformats.org/drawingml/2006/main">
              <a:ext uri="{FF2B5EF4-FFF2-40B4-BE49-F238E27FC236}">
                <a16:creationId xmlns:a16="http://schemas.microsoft.com/office/drawing/2014/main" id="{C17AB27C-E9C2-4390-8264-E08EF13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2596896"/>
            <a:ext cx="21945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</a:t>
            </a:r>
          </a:p>
        </p:txBody>
      </p:sp>
      <p:sp>
        <p:nvSpPr>
          <p:cNvPr id="12" name="text-134">
            <a:extLst xmlns:a="http://schemas.openxmlformats.org/drawingml/2006/main">
              <a:ext uri="{FF2B5EF4-FFF2-40B4-BE49-F238E27FC236}">
                <a16:creationId xmlns:a16="http://schemas.microsoft.com/office/drawing/2014/main" id="{0010911D-6351-474E-A1FF-2A78EEA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3054096"/>
            <a:ext cx="21945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suka</a:t>
            </a:r>
          </a:p>
        </p:txBody>
      </p:sp>
      <p:sp>
        <p:nvSpPr>
          <p:cNvPr id="13" name="text-135">
            <a:extLst xmlns:a="http://schemas.openxmlformats.org/drawingml/2006/main">
              <a:ext uri="{FF2B5EF4-FFF2-40B4-BE49-F238E27FC236}">
                <a16:creationId xmlns:a16="http://schemas.microsoft.com/office/drawing/2014/main" id="{935AE18C-630C-4DD7-8BB0-64AC9823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2596896"/>
            <a:ext cx="21945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TALENT</a:t>
            </a:r>
          </a:p>
        </p:txBody>
      </p:sp>
      <p:sp>
        <p:nvSpPr>
          <p:cNvPr id="14" name="text-136">
            <a:extLst xmlns:a="http://schemas.openxmlformats.org/drawingml/2006/main">
              <a:ext uri="{FF2B5EF4-FFF2-40B4-BE49-F238E27FC236}">
                <a16:creationId xmlns:a16="http://schemas.microsoft.com/office/drawing/2014/main" id="{B16224C1-AE9E-4A22-897F-12721397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054096"/>
            <a:ext cx="21945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kuasai</a:t>
            </a:r>
          </a:p>
        </p:txBody>
      </p:sp>
      <p:sp>
        <p:nvSpPr>
          <p:cNvPr id="15" name="text-137">
            <a:extLst xmlns:a="http://schemas.openxmlformats.org/drawingml/2006/main">
              <a:ext uri="{FF2B5EF4-FFF2-40B4-BE49-F238E27FC236}">
                <a16:creationId xmlns:a16="http://schemas.microsoft.com/office/drawing/2014/main" id="{71F19C02-5460-4168-8F1D-209135F1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543" y="4745736"/>
            <a:ext cx="21945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PROFIT</a:t>
            </a:r>
          </a:p>
        </p:txBody>
      </p:sp>
      <p:sp>
        <p:nvSpPr>
          <p:cNvPr id="16" name="text-138">
            <a:extLst xmlns:a="http://schemas.openxmlformats.org/drawingml/2006/main">
              <a:ext uri="{FF2B5EF4-FFF2-40B4-BE49-F238E27FC236}">
                <a16:creationId xmlns:a16="http://schemas.microsoft.com/office/drawing/2014/main" id="{8A971430-D4C6-47FB-9BA7-757E6AAE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543" y="5202936"/>
            <a:ext cx="21945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Menghasilkan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B95CE-5466-473E-8137-36B886C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81375"/>
            <a:ext cx="561975" cy="561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text-139">
            <a:extLst xmlns:a="http://schemas.openxmlformats.org/drawingml/2006/main">
              <a:ext uri="{FF2B5EF4-FFF2-40B4-BE49-F238E27FC236}">
                <a16:creationId xmlns:a16="http://schemas.microsoft.com/office/drawing/2014/main" id="{AB47785C-85CE-4879-B70F-0AE61B2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81375"/>
            <a:ext cx="5619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</a:t>
            </a:r>
          </a:p>
        </p:txBody>
      </p:sp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63BB646D-DA09-4FF9-B490-A0C37FDF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2295525"/>
            <a:ext cx="495239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Cocok buat kita.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Relevan bagi buyer.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Layak buat bisnis.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BECFE-3FC3-47C8-8A26-4F73E4F1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4191000"/>
            <a:ext cx="4952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141">
            <a:extLst xmlns:a="http://schemas.openxmlformats.org/drawingml/2006/main">
              <a:ext uri="{FF2B5EF4-FFF2-40B4-BE49-F238E27FC236}">
                <a16:creationId xmlns:a16="http://schemas.microsoft.com/office/drawing/2014/main" id="{4F10E203-CE29-4BA9-9831-125820B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05" y="4543425"/>
            <a:ext cx="495239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Periksa kebutuhan buyer, mutu,</a:t>
            </a:r>
          </a:p>
          <a:p xmlns:a="http://schemas.openxmlformats.org/drawingml/2006/main"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kapasitas, dan total biaya</a:t>
            </a:r>
          </a:p>
          <a:p xmlns:a="http://schemas.openxmlformats.org/drawingml/2006/main"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 berkomitmen.</a:t>
            </a:r>
          </a:p>
        </p:txBody>
      </p:sp>
    </p:spTree>
    <p:extLst>
      <p:ext uri="{BB962C8B-B14F-4D97-AF65-F5344CB8AC3E}">
        <p14:creationId xmlns:p14="http://schemas.microsoft.com/office/powerpoint/2010/main" val="1766711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1cfbf2bc5486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02DA5-87D8-40BB-A2B9-D6D1AAD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c66c4093f456a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62ADAC16-4981-4E4A-B116-2DDD35C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MEMAHAMI BUYER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462116CC-4E42-4202-BA97-7EA6FC94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Pertanyaan yang tepat memperjelas kebutuhan buyer</a:t>
            </a:r>
          </a:p>
        </p:txBody>
      </p:sp>
      <p:sp>
        <p:nvSpPr>
          <p:cNvPr id="6" name="text-144">
            <a:extLst xmlns:a="http://schemas.openxmlformats.org/drawingml/2006/main">
              <a:ext uri="{FF2B5EF4-FFF2-40B4-BE49-F238E27FC236}">
                <a16:creationId xmlns:a16="http://schemas.microsoft.com/office/drawing/2014/main" id="{F5AB0629-5A2B-4E0D-87B5-5C6B76C9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B7891960-6221-4B1E-9B54-389EF39F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E8C18E3A-5AC5-4B4F-9C52-23BD1145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8703"/>
            <a:ext cx="45529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“Produk ini</a:t>
            </a:r>
          </a:p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akan dipakai</a:t>
            </a:r>
          </a:p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 apa?”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258FBCCF-2ED5-4847-AFDD-7362C11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6628"/>
            <a:ext cx="4552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Mulai dari konteks.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Dengarkan sebelum menawarkan.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6CCC3-1792-475D-884D-E414ABE0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57400"/>
            <a:ext cx="0" cy="3520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FB38FCD8-E2F1-470D-B4D0-5890AB7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</a:t>
            </a:r>
          </a:p>
        </p:txBody>
      </p:sp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A36B5120-D0BD-4009-8835-9E7E920D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Siapa pemakai akhirnya?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5ACEBDC9-F1FA-4DC2-A430-15A9A66D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28925"/>
            <a:ext cx="527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masalah dan konteks penggunaan.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F1E6B497-164F-493F-B0E0-5C7FA1BF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956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D6EF14C6-1010-4ACE-BA47-97520E1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bahan, kemasan?</a:t>
            </a:r>
          </a:p>
        </p:txBody>
      </p:sp>
      <p:sp>
        <p:nvSpPr>
          <p:cNvPr id="16" name="text-153">
            <a:extLst xmlns:a="http://schemas.openxmlformats.org/drawingml/2006/main">
              <a:ext uri="{FF2B5EF4-FFF2-40B4-BE49-F238E27FC236}">
                <a16:creationId xmlns:a16="http://schemas.microsoft.com/office/drawing/2014/main" id="{B718230C-6E88-43FE-A14B-5131824C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67175"/>
            <a:ext cx="527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contoh dan prioritas yang konkret.</a:t>
            </a:r>
          </a:p>
        </p:txBody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08738AFD-5234-4F1C-A4C6-2CA4572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HARGA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EFAF500B-7E76-4235-8EE8-C0075D0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 dan volume yang masuk?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8504FFA1-8B9C-42C2-89EB-54B5440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05425"/>
            <a:ext cx="527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Cocokkan permintaan dengan biaya kita.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E52B4-8E17-4413-8A53-3269687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E3CF59A3-D98C-43A0-86E4-94C92D7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Catat jawaban buyer. Bagian yang belum jelas tetap jadi pertanyaan.</a:t>
            </a:r>
          </a:p>
        </p:txBody>
      </p:sp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07AE7430-CC50-4BFB-ACE1-FED0000C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Adaptasi Strategyzer. Referensi lengkap di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5815556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f843efaf14c3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8A95F-F833-49F9-B13E-9483F78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61022a171470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B3B70A42-A902-4A22-88D3-8B63590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 · SHOWMAN · ENFORCER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883F368E-AA98-4AF7-A892-721F131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Tim perlu menutup tiga peran agar janji bisa dipenuhi</a:t>
            </a:r>
          </a:p>
        </p:txBody>
      </p:sp>
      <p:sp>
        <p:nvSpPr>
          <p:cNvPr id="6" name="text-161">
            <a:extLst xmlns:a="http://schemas.openxmlformats.org/drawingml/2006/main">
              <a:ext uri="{FF2B5EF4-FFF2-40B4-BE49-F238E27FC236}">
                <a16:creationId xmlns:a16="http://schemas.microsoft.com/office/drawing/2014/main" id="{BE144A0B-9416-412D-947A-888FDB63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7592"/>
            <a:ext cx="1104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Peran boleh dirangkap. Tanggung jawabnya tetap harus jelas.</a:t>
            </a:r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E7D16A58-4BBC-4811-B6C9-10D02319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BFC022E6-C8B5-4AD9-B8DF-43470585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a0d52fa314576"/>
          <a:stretch xmlns:a="http://schemas.openxmlformats.org/drawingml/2006/main"/>
        </p:blipFill>
        <p:spPr>
          <a:xfrm xmlns:a="http://schemas.openxmlformats.org/drawingml/2006/main">
            <a:off x="1952625" y="2240280"/>
            <a:ext cx="8286750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text-164">
            <a:extLst xmlns:a="http://schemas.openxmlformats.org/drawingml/2006/main">
              <a:ext uri="{FF2B5EF4-FFF2-40B4-BE49-F238E27FC236}">
                <a16:creationId xmlns:a16="http://schemas.microsoft.com/office/drawing/2014/main" id="{9135CFEF-A295-4A20-8FD8-D756142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430" y="5192049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</a:t>
            </a:r>
          </a:p>
        </p:txBody>
      </p:sp>
      <p:sp>
        <p:nvSpPr>
          <p:cNvPr id="11" name="text-165">
            <a:extLst xmlns:a="http://schemas.openxmlformats.org/drawingml/2006/main">
              <a:ext uri="{FF2B5EF4-FFF2-40B4-BE49-F238E27FC236}">
                <a16:creationId xmlns:a16="http://schemas.microsoft.com/office/drawing/2014/main" id="{C7D906AD-DAF7-4613-AF33-D951295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430" y="5564210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Sampel + spesifikasi</a:t>
            </a:r>
          </a:p>
        </p:txBody>
      </p:sp>
      <p:sp>
        <p:nvSpPr>
          <p:cNvPr id="12" name="text-166">
            <a:extLst xmlns:a="http://schemas.openxmlformats.org/drawingml/2006/main">
              <a:ext uri="{FF2B5EF4-FFF2-40B4-BE49-F238E27FC236}">
                <a16:creationId xmlns:a16="http://schemas.microsoft.com/office/drawing/2014/main" id="{B4F20B5D-5C24-4138-8D04-00FC7536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222" y="5192049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Showman</a:t>
            </a:r>
          </a:p>
        </p:txBody>
      </p:sp>
      <p:sp>
        <p:nvSpPr>
          <p:cNvPr id="13" name="text-167">
            <a:extLst xmlns:a="http://schemas.openxmlformats.org/drawingml/2006/main">
              <a:ext uri="{FF2B5EF4-FFF2-40B4-BE49-F238E27FC236}">
                <a16:creationId xmlns:a16="http://schemas.microsoft.com/office/drawing/2014/main" id="{F23205D3-DF10-4F78-9864-1F7EAD0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222" y="5564210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Penawaran + kesepakatan</a:t>
            </a:r>
          </a:p>
        </p:txBody>
      </p:sp>
      <p:sp>
        <p:nvSpPr>
          <p:cNvPr id="14" name="text-168">
            <a:extLst xmlns:a="http://schemas.openxmlformats.org/drawingml/2006/main">
              <a:ext uri="{FF2B5EF4-FFF2-40B4-BE49-F238E27FC236}">
                <a16:creationId xmlns:a16="http://schemas.microsoft.com/office/drawing/2014/main" id="{76A047EE-302F-49C4-A961-05A9FAD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61" y="5192049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Enforcer</a:t>
            </a:r>
          </a:p>
        </p:txBody>
      </p:sp>
      <p:sp>
        <p:nvSpPr>
          <p:cNvPr id="15" name="text-169">
            <a:extLst xmlns:a="http://schemas.openxmlformats.org/drawingml/2006/main">
              <a:ext uri="{FF2B5EF4-FFF2-40B4-BE49-F238E27FC236}">
                <a16:creationId xmlns:a16="http://schemas.microsoft.com/office/drawing/2014/main" id="{53563FD2-AFAF-4BD0-AB68-C911F760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61" y="5564210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Jadwal + kontrol kas</a:t>
            </a:r>
          </a:p>
        </p:txBody>
      </p:sp>
      <p:sp>
        <p:nvSpPr>
          <p:cNvPr id="16" name="text-170">
            <a:extLst xmlns:a="http://schemas.openxmlformats.org/drawingml/2006/main">
              <a:ext uri="{FF2B5EF4-FFF2-40B4-BE49-F238E27FC236}">
                <a16:creationId xmlns:a16="http://schemas.microsoft.com/office/drawing/2014/main" id="{CD364624-3E0F-40A2-BA41-91B1AA15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Modul 1 CMC. Ilustrasi AI, bukan tokoh riil.</a:t>
            </a:r>
          </a:p>
        </p:txBody>
      </p:sp>
    </p:spTree>
    <p:extLst>
      <p:ext uri="{BB962C8B-B14F-4D97-AF65-F5344CB8AC3E}">
        <p14:creationId xmlns:p14="http://schemas.microsoft.com/office/powerpoint/2010/main" val="747243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eeb0951de4da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5AEB1-5DB8-49F7-8B18-BA0D9C6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c25c5f1dc4572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71">
            <a:extLst xmlns:a="http://schemas.openxmlformats.org/drawingml/2006/main">
              <a:ext uri="{FF2B5EF4-FFF2-40B4-BE49-F238E27FC236}">
                <a16:creationId xmlns:a16="http://schemas.microsoft.com/office/drawing/2014/main" id="{E4D8C6E7-D243-4CD4-9387-89954421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KESIAPAN BISNIS</a:t>
            </a:r>
          </a:p>
        </p:txBody>
      </p:sp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8896F697-1202-4FD2-BF2A-C25E23D1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Kesiapan ekspor terlihat dari kemampuan memenuhi janji</a:t>
            </a:r>
          </a:p>
        </p:txBody>
      </p:sp>
      <p:sp>
        <p:nvSpPr>
          <p:cNvPr id="6" name="text-173">
            <a:extLst xmlns:a="http://schemas.openxmlformats.org/drawingml/2006/main">
              <a:ext uri="{FF2B5EF4-FFF2-40B4-BE49-F238E27FC236}">
                <a16:creationId xmlns:a16="http://schemas.microsoft.com/office/drawing/2014/main" id="{39F0B0EE-0767-41FD-A71E-CD085455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74">
            <a:extLst xmlns:a="http://schemas.openxmlformats.org/drawingml/2006/main">
              <a:ext uri="{FF2B5EF4-FFF2-40B4-BE49-F238E27FC236}">
                <a16:creationId xmlns:a16="http://schemas.microsoft.com/office/drawing/2014/main" id="{4682E681-BFB8-404F-B8F7-B36E1B9D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2b282f4244af2"/>
          <a:srcRect xmlns:a="http://schemas.openxmlformats.org/drawingml/2006/main" t="2570" b="2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103120"/>
            <a:ext cx="5639105" cy="3566160"/>
          </a:xfrm>
          <a:prstGeom xmlns:a="http://schemas.openxmlformats.org/drawingml/2006/main" prst="rect">
            <a:avLst/>
          </a:prstGeom>
        </p:spPr>
      </p:pic>
      <p:sp>
        <p:nvSpPr>
          <p:cNvPr id="9" name="text-175">
            <a:extLst xmlns:a="http://schemas.openxmlformats.org/drawingml/2006/main">
              <a:ext uri="{FF2B5EF4-FFF2-40B4-BE49-F238E27FC236}">
                <a16:creationId xmlns:a16="http://schemas.microsoft.com/office/drawing/2014/main" id="{22F598A4-60F6-4BE0-BC6E-512F489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66175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-176">
            <a:extLst xmlns:a="http://schemas.openxmlformats.org/drawingml/2006/main">
              <a:ext uri="{FF2B5EF4-FFF2-40B4-BE49-F238E27FC236}">
                <a16:creationId xmlns:a16="http://schemas.microsoft.com/office/drawing/2014/main" id="{9EE5B0D5-F224-4C37-BC13-2D0A07F2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30552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</a:t>
            </a:r>
          </a:p>
        </p:txBody>
      </p:sp>
      <p:sp>
        <p:nvSpPr>
          <p:cNvPr id="11" name="text-177">
            <a:extLst xmlns:a="http://schemas.openxmlformats.org/drawingml/2006/main">
              <a:ext uri="{FF2B5EF4-FFF2-40B4-BE49-F238E27FC236}">
                <a16:creationId xmlns:a16="http://schemas.microsoft.com/office/drawing/2014/main" id="{80549607-FF64-40B3-AAE0-F3551B8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21001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 unit benar-benar bisa selesai?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8270C-33D9-4ED8-9B80-60A340D9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088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text-178">
            <a:extLst xmlns:a="http://schemas.openxmlformats.org/drawingml/2006/main">
              <a:ext uri="{FF2B5EF4-FFF2-40B4-BE49-F238E27FC236}">
                <a16:creationId xmlns:a16="http://schemas.microsoft.com/office/drawing/2014/main" id="{D2D54403-7171-4EE1-902A-1F313DCE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26295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-179">
            <a:extLst xmlns:a="http://schemas.openxmlformats.org/drawingml/2006/main">
              <a:ext uri="{FF2B5EF4-FFF2-40B4-BE49-F238E27FC236}">
                <a16:creationId xmlns:a16="http://schemas.microsoft.com/office/drawing/2014/main" id="{BE47B3C7-EDAC-4E07-B146-55617C4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90672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Mutu</a:t>
            </a:r>
          </a:p>
        </p:txBody>
      </p:sp>
      <p:sp>
        <p:nvSpPr>
          <p:cNvPr id="15" name="text-180">
            <a:extLst xmlns:a="http://schemas.openxmlformats.org/drawingml/2006/main">
              <a:ext uri="{FF2B5EF4-FFF2-40B4-BE49-F238E27FC236}">
                <a16:creationId xmlns:a16="http://schemas.microsoft.com/office/drawing/2014/main" id="{C39B7D64-CA96-4D92-BE7C-89A3A23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81121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Apakah produksi sama dengan sampel?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FC18A-F143-4DD1-981C-2089752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50208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text-181">
            <a:extLst xmlns:a="http://schemas.openxmlformats.org/drawingml/2006/main">
              <a:ext uri="{FF2B5EF4-FFF2-40B4-BE49-F238E27FC236}">
                <a16:creationId xmlns:a16="http://schemas.microsoft.com/office/drawing/2014/main" id="{30B26CD1-93A0-4C23-9DA5-8EB716AF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86416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text-182">
            <a:extLst xmlns:a="http://schemas.openxmlformats.org/drawingml/2006/main">
              <a:ext uri="{FF2B5EF4-FFF2-40B4-BE49-F238E27FC236}">
                <a16:creationId xmlns:a16="http://schemas.microsoft.com/office/drawing/2014/main" id="{DEC5E970-160A-4C99-878F-22187A6B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50792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Jadwal</a:t>
            </a:r>
          </a:p>
        </p:txBody>
      </p:sp>
      <p:sp>
        <p:nvSpPr>
          <p:cNvPr id="19" name="text-183">
            <a:extLst xmlns:a="http://schemas.openxmlformats.org/drawingml/2006/main">
              <a:ext uri="{FF2B5EF4-FFF2-40B4-BE49-F238E27FC236}">
                <a16:creationId xmlns:a16="http://schemas.microsoft.com/office/drawing/2014/main" id="{57B75997-2AFC-4B13-8B67-7CF5B3F5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41241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Apakah bahan, produksi, kirim selaras?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58BCB-BDB4-4C2C-AFC9-8C6A675C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10328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184">
            <a:extLst xmlns:a="http://schemas.openxmlformats.org/drawingml/2006/main">
              <a:ext uri="{FF2B5EF4-FFF2-40B4-BE49-F238E27FC236}">
                <a16:creationId xmlns:a16="http://schemas.microsoft.com/office/drawing/2014/main" id="{C0CD8223-F85F-4B7F-875F-B8A710C8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46536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185">
            <a:extLst xmlns:a="http://schemas.openxmlformats.org/drawingml/2006/main">
              <a:ext uri="{FF2B5EF4-FFF2-40B4-BE49-F238E27FC236}">
                <a16:creationId xmlns:a16="http://schemas.microsoft.com/office/drawing/2014/main" id="{8F34546D-2F7F-43C7-AA46-80100EC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912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buyer</a:t>
            </a:r>
          </a:p>
        </p:txBody>
      </p:sp>
      <p:sp>
        <p:nvSpPr>
          <p:cNvPr id="23" name="text-186">
            <a:extLst xmlns:a="http://schemas.openxmlformats.org/drawingml/2006/main">
              <a:ext uri="{FF2B5EF4-FFF2-40B4-BE49-F238E27FC236}">
                <a16:creationId xmlns:a16="http://schemas.microsoft.com/office/drawing/2014/main" id="{3B4B4DD9-9C37-4F29-8115-3886D21F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01361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Spesifikasi dan syarat pasar sudah dicek?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E3496-D79E-47FD-9366-C077C1EE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text-187">
            <a:extLst xmlns:a="http://schemas.openxmlformats.org/drawingml/2006/main">
              <a:ext uri="{FF2B5EF4-FFF2-40B4-BE49-F238E27FC236}">
                <a16:creationId xmlns:a16="http://schemas.microsoft.com/office/drawing/2014/main" id="{9EDE1162-6DDF-4737-BD77-48B92A57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Janji mengikuti bukti yang kita punya, bukan kapasitas yang baru diharapkan.</a:t>
            </a:r>
          </a:p>
        </p:txBody>
      </p:sp>
      <p:sp>
        <p:nvSpPr>
          <p:cNvPr id="26" name="text-188">
            <a:extLst xmlns:a="http://schemas.openxmlformats.org/drawingml/2006/main">
              <a:ext uri="{FF2B5EF4-FFF2-40B4-BE49-F238E27FC236}">
                <a16:creationId xmlns:a16="http://schemas.microsoft.com/office/drawing/2014/main" id="{3783FBDE-7618-4B5A-83D9-15E9672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Modul 1 CMC dan ITA Export Plan. Foto ilustrasi AI.</a:t>
            </a:r>
          </a:p>
        </p:txBody>
      </p:sp>
    </p:spTree>
    <p:extLst>
      <p:ext uri="{BB962C8B-B14F-4D97-AF65-F5344CB8AC3E}">
        <p14:creationId xmlns:p14="http://schemas.microsoft.com/office/powerpoint/2010/main" val="8207473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ece3eb43d48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2867-ED98-4E27-9E0F-54ED034A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d8cfd8aa4374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89">
            <a:extLst xmlns:a="http://schemas.openxmlformats.org/drawingml/2006/main">
              <a:ext uri="{FF2B5EF4-FFF2-40B4-BE49-F238E27FC236}">
                <a16:creationId xmlns:a16="http://schemas.microsoft.com/office/drawing/2014/main" id="{7DEC0570-612F-48E4-BB91-F412DC8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LABA DAN KAS</a:t>
            </a:r>
          </a:p>
        </p:txBody>
      </p:sp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CE2CE9FE-2B1D-472D-924B-A97C6F06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Uang keluar lebih dulu, pembayaran bisa datang belakangan</a:t>
            </a:r>
          </a:p>
        </p:txBody>
      </p:sp>
      <p:sp>
        <p:nvSpPr>
          <p:cNvPr id="6" name="text-191">
            <a:extLst xmlns:a="http://schemas.openxmlformats.org/drawingml/2006/main">
              <a:ext uri="{FF2B5EF4-FFF2-40B4-BE49-F238E27FC236}">
                <a16:creationId xmlns:a16="http://schemas.microsoft.com/office/drawing/2014/main" id="{5657B48E-57D1-48FD-B1F0-93363E52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7592"/>
            <a:ext cx="1104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Laba menjawab untung atau rugi. Kas menjawab apakah prosesnya bisa dibiayai.</a:t>
            </a:r>
          </a:p>
        </p:txBody>
      </p:sp>
      <p:sp>
        <p:nvSpPr>
          <p:cNvPr id="7" name="text-192">
            <a:extLst xmlns:a="http://schemas.openxmlformats.org/drawingml/2006/main">
              <a:ext uri="{FF2B5EF4-FFF2-40B4-BE49-F238E27FC236}">
                <a16:creationId xmlns:a16="http://schemas.microsoft.com/office/drawing/2014/main" id="{E263E91E-25B2-4D4C-A59A-06D31E6A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93">
            <a:extLst xmlns:a="http://schemas.openxmlformats.org/drawingml/2006/main">
              <a:ext uri="{FF2B5EF4-FFF2-40B4-BE49-F238E27FC236}">
                <a16:creationId xmlns:a16="http://schemas.microsoft.com/office/drawing/2014/main" id="{C7E49169-C4F9-411A-8AF3-D7FC3E1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cc97195ee4dae"/>
          <a:stretch xmlns:a="http://schemas.openxmlformats.org/drawingml/2006/main"/>
        </p:blipFill>
        <p:spPr>
          <a:xfrm xmlns:a="http://schemas.openxmlformats.org/drawingml/2006/main">
            <a:off x="1566863" y="2060829"/>
            <a:ext cx="9058275" cy="3019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ECA24-FDBE-44A9-9BC7-00F84D7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3104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F83E0-48C1-46DA-BADF-7A0DA9E6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9373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text-194">
            <a:extLst xmlns:a="http://schemas.openxmlformats.org/drawingml/2006/main">
              <a:ext uri="{FF2B5EF4-FFF2-40B4-BE49-F238E27FC236}">
                <a16:creationId xmlns:a16="http://schemas.microsoft.com/office/drawing/2014/main" id="{818D27D6-5A36-4A93-8A94-BFD24E47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5251704"/>
            <a:ext cx="226771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</a:t>
            </a:r>
          </a:p>
        </p:txBody>
      </p:sp>
      <p:sp>
        <p:nvSpPr>
          <p:cNvPr id="13" name="text-195">
            <a:extLst xmlns:a="http://schemas.openxmlformats.org/drawingml/2006/main">
              <a:ext uri="{FF2B5EF4-FFF2-40B4-BE49-F238E27FC236}">
                <a16:creationId xmlns:a16="http://schemas.microsoft.com/office/drawing/2014/main" id="{719D8E53-67F3-4879-9B37-C2A3614B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5594604"/>
            <a:ext cx="226771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24632-B4C6-4898-B098-BBF88F4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373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text-196">
            <a:extLst xmlns:a="http://schemas.openxmlformats.org/drawingml/2006/main">
              <a:ext uri="{FF2B5EF4-FFF2-40B4-BE49-F238E27FC236}">
                <a16:creationId xmlns:a16="http://schemas.microsoft.com/office/drawing/2014/main" id="{F96C5A49-6795-49CA-BF78-C8EAB43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444" y="5251704"/>
            <a:ext cx="226771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</a:p>
        </p:txBody>
      </p:sp>
      <p:sp>
        <p:nvSpPr>
          <p:cNvPr id="16" name="text-197">
            <a:extLst xmlns:a="http://schemas.openxmlformats.org/drawingml/2006/main">
              <a:ext uri="{FF2B5EF4-FFF2-40B4-BE49-F238E27FC236}">
                <a16:creationId xmlns:a16="http://schemas.microsoft.com/office/drawing/2014/main" id="{4C37918E-2F24-4EE8-BF83-DA20DAD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444" y="5594604"/>
            <a:ext cx="226771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DF8F5-95E3-4615-AFE1-A3B00F9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9373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text-198">
            <a:extLst xmlns:a="http://schemas.openxmlformats.org/drawingml/2006/main">
              <a:ext uri="{FF2B5EF4-FFF2-40B4-BE49-F238E27FC236}">
                <a16:creationId xmlns:a16="http://schemas.microsoft.com/office/drawing/2014/main" id="{368ADEA8-1981-4ABB-9178-B7BA6A39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544" y="5251704"/>
            <a:ext cx="226771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Pengiriman</a:t>
            </a:r>
          </a:p>
        </p:txBody>
      </p:sp>
      <p:sp>
        <p:nvSpPr>
          <p:cNvPr id="19" name="text-199">
            <a:extLst xmlns:a="http://schemas.openxmlformats.org/drawingml/2006/main">
              <a:ext uri="{FF2B5EF4-FFF2-40B4-BE49-F238E27FC236}">
                <a16:creationId xmlns:a16="http://schemas.microsoft.com/office/drawing/2014/main" id="{F4C214DE-988C-43D8-A9FF-08B21CDF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544" y="5594604"/>
            <a:ext cx="226771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72B78-0C82-4600-A2C2-F907B9C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937379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200">
            <a:extLst xmlns:a="http://schemas.openxmlformats.org/drawingml/2006/main">
              <a:ext uri="{FF2B5EF4-FFF2-40B4-BE49-F238E27FC236}">
                <a16:creationId xmlns:a16="http://schemas.microsoft.com/office/drawing/2014/main" id="{41DB9E31-1D8E-49C0-88BA-B10F892B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644" y="5251704"/>
            <a:ext cx="226771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Buyer membayar</a:t>
            </a:r>
          </a:p>
        </p:txBody>
      </p:sp>
      <p:sp>
        <p:nvSpPr>
          <p:cNvPr id="22" name="text-201">
            <a:extLst xmlns:a="http://schemas.openxmlformats.org/drawingml/2006/main">
              <a:ext uri="{FF2B5EF4-FFF2-40B4-BE49-F238E27FC236}">
                <a16:creationId xmlns:a16="http://schemas.microsoft.com/office/drawing/2014/main" id="{9FAC34AA-667F-4DAA-A801-4FA0F0C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644" y="5594604"/>
            <a:ext cx="226771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masuk</a:t>
            </a:r>
          </a:p>
        </p:txBody>
      </p:sp>
      <p:sp>
        <p:nvSpPr>
          <p:cNvPr id="23" name="text-202">
            <a:extLst xmlns:a="http://schemas.openxmlformats.org/drawingml/2006/main">
              <a:ext uri="{FF2B5EF4-FFF2-40B4-BE49-F238E27FC236}">
                <a16:creationId xmlns:a16="http://schemas.microsoft.com/office/drawing/2014/main" id="{7B49B44C-4500-450C-9A8B-4DC8DFB4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Contoh: pembayaran setelah barang diterima. ITA Methods of Payment. Ilustrasi AI.</a:t>
            </a:r>
          </a:p>
        </p:txBody>
      </p:sp>
    </p:spTree>
    <p:extLst>
      <p:ext uri="{BB962C8B-B14F-4D97-AF65-F5344CB8AC3E}">
        <p14:creationId xmlns:p14="http://schemas.microsoft.com/office/powerpoint/2010/main" val="769929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d24eb0e2144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44042-866C-4FC0-A955-A111452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2ece43dfa41b9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03">
            <a:extLst xmlns:a="http://schemas.openxmlformats.org/drawingml/2006/main">
              <a:ext uri="{FF2B5EF4-FFF2-40B4-BE49-F238E27FC236}">
                <a16:creationId xmlns:a16="http://schemas.microsoft.com/office/drawing/2014/main" id="{DCA90635-7830-43CB-9533-FD3BD7F0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RISIKO DAN KONTROL</a:t>
            </a:r>
          </a:p>
        </p:txBody>
      </p:sp>
      <p:sp>
        <p:nvSpPr>
          <p:cNvPr id="5" name="text-204">
            <a:extLst xmlns:a="http://schemas.openxmlformats.org/drawingml/2006/main">
              <a:ext uri="{FF2B5EF4-FFF2-40B4-BE49-F238E27FC236}">
                <a16:creationId xmlns:a16="http://schemas.microsoft.com/office/drawing/2014/main" id="{6FF36618-AFF5-483D-9260-62BBA45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Batas risiko membantu founder menentukan kapan berhenti</a:t>
            </a:r>
          </a:p>
        </p:txBody>
      </p:sp>
      <p:sp>
        <p:nvSpPr>
          <p:cNvPr id="6" name="text-205">
            <a:extLst xmlns:a="http://schemas.openxmlformats.org/drawingml/2006/main">
              <a:ext uri="{FF2B5EF4-FFF2-40B4-BE49-F238E27FC236}">
                <a16:creationId xmlns:a16="http://schemas.microsoft.com/office/drawing/2014/main" id="{5760372D-AE03-495C-938A-956CB643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06">
            <a:extLst xmlns:a="http://schemas.openxmlformats.org/drawingml/2006/main">
              <a:ext uri="{FF2B5EF4-FFF2-40B4-BE49-F238E27FC236}">
                <a16:creationId xmlns:a16="http://schemas.microsoft.com/office/drawing/2014/main" id="{C318D9B3-AF8E-4B12-880C-46A93016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8" name="text-207">
            <a:extLst xmlns:a="http://schemas.openxmlformats.org/drawingml/2006/main">
              <a:ext uri="{FF2B5EF4-FFF2-40B4-BE49-F238E27FC236}">
                <a16:creationId xmlns:a16="http://schemas.microsoft.com/office/drawing/2014/main" id="{805DE989-44E0-4A17-A0DD-B318D545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884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PEMICU</a:t>
            </a:r>
          </a:p>
        </p:txBody>
      </p:sp>
      <p:sp>
        <p:nvSpPr>
          <p:cNvPr id="9" name="text-208">
            <a:extLst xmlns:a="http://schemas.openxmlformats.org/drawingml/2006/main">
              <a:ext uri="{FF2B5EF4-FFF2-40B4-BE49-F238E27FC236}">
                <a16:creationId xmlns:a16="http://schemas.microsoft.com/office/drawing/2014/main" id="{6CB6B513-CF16-47AC-B672-4566B80D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884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DAMPAK</a:t>
            </a:r>
          </a:p>
        </p:txBody>
      </p:sp>
      <p:sp>
        <p:nvSpPr>
          <p:cNvPr id="10" name="text-209">
            <a:extLst xmlns:a="http://schemas.openxmlformats.org/drawingml/2006/main">
              <a:ext uri="{FF2B5EF4-FFF2-40B4-BE49-F238E27FC236}">
                <a16:creationId xmlns:a16="http://schemas.microsoft.com/office/drawing/2014/main" id="{BAA4A120-2C17-496D-A5E6-21766F8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884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KONTROL SEBELUM DEAL</a:t>
            </a:r>
          </a:p>
        </p:txBody>
      </p:sp>
      <p:sp>
        <p:nvSpPr>
          <p:cNvPr id="11" name="text-210">
            <a:extLst xmlns:a="http://schemas.openxmlformats.org/drawingml/2006/main">
              <a:ext uri="{FF2B5EF4-FFF2-40B4-BE49-F238E27FC236}">
                <a16:creationId xmlns:a16="http://schemas.microsoft.com/office/drawing/2014/main" id="{76AD9CC3-B626-43F7-85DD-B962982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036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telat bayar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E5C80-9ACA-4AD2-9418-DC710C13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5946" y="298193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text-211">
            <a:extLst xmlns:a="http://schemas.openxmlformats.org/drawingml/2006/main">
              <a:ext uri="{FF2B5EF4-FFF2-40B4-BE49-F238E27FC236}">
                <a16:creationId xmlns:a16="http://schemas.microsoft.com/office/drawing/2014/main" id="{3CA52AF2-ADE9-449E-8DF1-C6968CB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89266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Kas tertahan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D1D8D-BB63-445B-8AF9-3B360087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2944" y="298193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text-212">
            <a:extLst xmlns:a="http://schemas.openxmlformats.org/drawingml/2006/main">
              <a:ext uri="{FF2B5EF4-FFF2-40B4-BE49-F238E27FC236}">
                <a16:creationId xmlns:a16="http://schemas.microsoft.com/office/drawing/2014/main" id="{2D181917-962C-476A-B54E-E452F3F3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89266"/>
            <a:ext cx="3295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Cek buyer + sepakati termin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E34FA-D5FB-4DF7-BC8F-23EB0BF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5187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text-213">
            <a:extLst xmlns:a="http://schemas.openxmlformats.org/drawingml/2006/main">
              <a:ext uri="{FF2B5EF4-FFF2-40B4-BE49-F238E27FC236}">
                <a16:creationId xmlns:a16="http://schemas.microsoft.com/office/drawing/2014/main" id="{E2FB1959-9B45-4D13-A41B-CC969CC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048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Mutu berbeda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A29F9-7791-45B8-BAD2-6E6C4DD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5946" y="394205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text-214">
            <a:extLst xmlns:a="http://schemas.openxmlformats.org/drawingml/2006/main">
              <a:ext uri="{FF2B5EF4-FFF2-40B4-BE49-F238E27FC236}">
                <a16:creationId xmlns:a16="http://schemas.microsoft.com/office/drawing/2014/main" id="{ED08D44E-515C-429C-8F5F-2E28FF83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9386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Komplain / penolakan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9032B-0FA7-4F20-9A44-6E88F3F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2944" y="394205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text-215">
            <a:extLst xmlns:a="http://schemas.openxmlformats.org/drawingml/2006/main">
              <a:ext uri="{FF2B5EF4-FFF2-40B4-BE49-F238E27FC236}">
                <a16:creationId xmlns:a16="http://schemas.microsoft.com/office/drawing/2014/main" id="{C04A7AB2-9704-41B7-A882-B39AC001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9386"/>
            <a:ext cx="3295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 tertulis + QC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E2C69-1774-4C0D-8B4C-7C544F3B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5307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text-216">
            <a:extLst xmlns:a="http://schemas.openxmlformats.org/drawingml/2006/main">
              <a:ext uri="{FF2B5EF4-FFF2-40B4-BE49-F238E27FC236}">
                <a16:creationId xmlns:a16="http://schemas.microsoft.com/office/drawing/2014/main" id="{4975B7B9-623E-466D-93E7-C8A002D0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 meleset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2D8F8-D73A-4373-916D-42C9373D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5946" y="49021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text-217">
            <a:extLst xmlns:a="http://schemas.openxmlformats.org/drawingml/2006/main">
              <a:ext uri="{FF2B5EF4-FFF2-40B4-BE49-F238E27FC236}">
                <a16:creationId xmlns:a16="http://schemas.microsoft.com/office/drawing/2014/main" id="{3C8548D5-7CE9-441C-BE82-0BD9D6C7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9506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 kirim terganggu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BB681-3A85-4FA1-BA9D-8A86D747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2944" y="49021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text-218">
            <a:extLst xmlns:a="http://schemas.openxmlformats.org/drawingml/2006/main">
              <a:ext uri="{FF2B5EF4-FFF2-40B4-BE49-F238E27FC236}">
                <a16:creationId xmlns:a16="http://schemas.microsoft.com/office/drawing/2014/main" id="{8BBD3342-7E4C-43C3-A5CC-27C27817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09506"/>
            <a:ext cx="3295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nyata + buffer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19882-3DF8-4BD9-BC1A-253EA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text-219">
            <a:extLst xmlns:a="http://schemas.openxmlformats.org/drawingml/2006/main">
              <a:ext uri="{FF2B5EF4-FFF2-40B4-BE49-F238E27FC236}">
                <a16:creationId xmlns:a16="http://schemas.microsoft.com/office/drawing/2014/main" id="{383F8F69-4B17-4650-AF6D-6861AA6B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Tentukan batas biaya, waktu, dan komitmen yang sanggup ditanggung.</a:t>
            </a:r>
          </a:p>
        </p:txBody>
      </p:sp>
    </p:spTree>
    <p:extLst>
      <p:ext uri="{BB962C8B-B14F-4D97-AF65-F5344CB8AC3E}">
        <p14:creationId xmlns:p14="http://schemas.microsoft.com/office/powerpoint/2010/main" val="15677272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67c81e7b34b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DC7450-BBEA-42E2-A847-49391ABE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0bda07b5d4d0c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29" name="text-220">
            <a:extLst xmlns:a="http://schemas.openxmlformats.org/drawingml/2006/main">
              <a:ext uri="{FF2B5EF4-FFF2-40B4-BE49-F238E27FC236}">
                <a16:creationId xmlns:a16="http://schemas.microsoft.com/office/drawing/2014/main" id="{271ACE84-FFE6-431B-ADA4-3BF07BF3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KEPUTUSAN KASUS</a:t>
            </a:r>
          </a:p>
        </p:txBody>
      </p:sp>
      <p:sp>
        <p:nvSpPr>
          <p:cNvPr id="30" name="text-221">
            <a:extLst xmlns:a="http://schemas.openxmlformats.org/drawingml/2006/main">
              <a:ext uri="{FF2B5EF4-FFF2-40B4-BE49-F238E27FC236}">
                <a16:creationId xmlns:a16="http://schemas.microsoft.com/office/drawing/2014/main" id="{23D8E698-E896-440A-809F-2BF3BFC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Kasus ini perlu negosiasi sebelum kita bilang “ya”</a:t>
            </a:r>
          </a:p>
        </p:txBody>
      </p:sp>
      <p:sp>
        <p:nvSpPr>
          <p:cNvPr id="31" name="text-222">
            <a:extLst xmlns:a="http://schemas.openxmlformats.org/drawingml/2006/main">
              <a:ext uri="{FF2B5EF4-FFF2-40B4-BE49-F238E27FC236}">
                <a16:creationId xmlns:a16="http://schemas.microsoft.com/office/drawing/2014/main" id="{45CC0249-00C3-49E3-B7B5-B2532D28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7592"/>
            <a:ext cx="1104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 belum cukup. Kas dan kemasan juga belum terbukti siap.</a:t>
            </a:r>
          </a:p>
        </p:txBody>
      </p:sp>
      <p:sp>
        <p:nvSpPr>
          <p:cNvPr id="32" name="text-223">
            <a:extLst xmlns:a="http://schemas.openxmlformats.org/drawingml/2006/main">
              <a:ext uri="{FF2B5EF4-FFF2-40B4-BE49-F238E27FC236}">
                <a16:creationId xmlns:a16="http://schemas.microsoft.com/office/drawing/2014/main" id="{2058EFE9-5C00-4E3E-997A-D508D67C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33" name="text-224">
            <a:extLst xmlns:a="http://schemas.openxmlformats.org/drawingml/2006/main">
              <a:ext uri="{FF2B5EF4-FFF2-40B4-BE49-F238E27FC236}">
                <a16:creationId xmlns:a16="http://schemas.microsoft.com/office/drawing/2014/main" id="{2865D8EF-0E41-4D8C-A46A-AAA5FCA5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34" name="text-225">
            <a:extLst xmlns:a="http://schemas.openxmlformats.org/drawingml/2006/main">
              <a:ext uri="{FF2B5EF4-FFF2-40B4-BE49-F238E27FC236}">
                <a16:creationId xmlns:a16="http://schemas.microsoft.com/office/drawing/2014/main" id="{71365BCD-D63A-42B5-94AF-34E31C5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596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DALAM 30 HARI · UNIT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485775" y="2470785"/>
          <a:ext xmlns:a="http://schemas.openxmlformats.org/drawingml/2006/main" cx="6858000" cy="2390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00243d202e4591"/>
          </a:graphicData>
        </a:graphic>
      </p:graphicFrame>
      <p:sp>
        <p:nvSpPr>
          <p:cNvPr id="36" name="text-226">
            <a:extLst xmlns:a="http://schemas.openxmlformats.org/drawingml/2006/main">
              <a:ext uri="{FF2B5EF4-FFF2-40B4-BE49-F238E27FC236}">
                <a16:creationId xmlns:a16="http://schemas.microsoft.com/office/drawing/2014/main" id="{4DF9F48C-BCFB-4BE1-8036-4C02DCD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8235"/>
            <a:ext cx="3038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200 unit</a:t>
            </a:r>
          </a:p>
        </p:txBody>
      </p:sp>
      <p:sp>
        <p:nvSpPr>
          <p:cNvPr id="37" name="text-227">
            <a:extLst xmlns:a="http://schemas.openxmlformats.org/drawingml/2006/main">
              <a:ext uri="{FF2B5EF4-FFF2-40B4-BE49-F238E27FC236}">
                <a16:creationId xmlns:a16="http://schemas.microsoft.com/office/drawing/2014/main" id="{A7DACB8A-F071-4F71-A0B1-E7132F9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80" y="513307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gap kapasitas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412CB7-9842-4709-AC1C-4027D403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04060"/>
            <a:ext cx="0" cy="3324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text-228">
            <a:extLst xmlns:a="http://schemas.openxmlformats.org/drawingml/2006/main">
              <a:ext uri="{FF2B5EF4-FFF2-40B4-BE49-F238E27FC236}">
                <a16:creationId xmlns:a16="http://schemas.microsoft.com/office/drawing/2014/main" id="{764A7BE7-2F43-4AE8-BBBB-A4073A9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6596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 YANG BISA DIUBAH</a:t>
            </a:r>
          </a:p>
        </p:txBody>
      </p:sp>
      <p:sp>
        <p:nvSpPr>
          <p:cNvPr id="40" name="text-229">
            <a:extLst xmlns:a="http://schemas.openxmlformats.org/drawingml/2006/main">
              <a:ext uri="{FF2B5EF4-FFF2-40B4-BE49-F238E27FC236}">
                <a16:creationId xmlns:a16="http://schemas.microsoft.com/office/drawing/2014/main" id="{4B5D4F9A-7609-4C17-A307-3A651FA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0888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Volume</a:t>
            </a:r>
          </a:p>
        </p:txBody>
      </p:sp>
      <p:sp>
        <p:nvSpPr>
          <p:cNvPr id="41" name="text-230">
            <a:extLst xmlns:a="http://schemas.openxmlformats.org/drawingml/2006/main">
              <a:ext uri="{FF2B5EF4-FFF2-40B4-BE49-F238E27FC236}">
                <a16:creationId xmlns:a16="http://schemas.microsoft.com/office/drawing/2014/main" id="{388BC4AB-D670-438F-B234-D29D75B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9941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Kurangi / bagi pengiriman?</a:t>
            </a:r>
          </a:p>
        </p:txBody>
      </p:sp>
      <p:sp>
        <p:nvSpPr>
          <p:cNvPr id="42" name="text-231">
            <a:extLst xmlns:a="http://schemas.openxmlformats.org/drawingml/2006/main">
              <a:ext uri="{FF2B5EF4-FFF2-40B4-BE49-F238E27FC236}">
                <a16:creationId xmlns:a16="http://schemas.microsoft.com/office/drawing/2014/main" id="{00176669-E538-4643-B654-FAA37DA9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51860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</a:p>
        </p:txBody>
      </p:sp>
      <p:sp>
        <p:nvSpPr>
          <p:cNvPr id="43" name="text-232">
            <a:extLst xmlns:a="http://schemas.openxmlformats.org/drawingml/2006/main">
              <a:ext uri="{FF2B5EF4-FFF2-40B4-BE49-F238E27FC236}">
                <a16:creationId xmlns:a16="http://schemas.microsoft.com/office/drawing/2014/main" id="{C36CAD83-2E7B-4D96-B7E1-64212223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4238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Ubah termin agar kas cukup?</a:t>
            </a:r>
          </a:p>
        </p:txBody>
      </p:sp>
      <p:sp>
        <p:nvSpPr>
          <p:cNvPr id="44" name="text-233">
            <a:extLst xmlns:a="http://schemas.openxmlformats.org/drawingml/2006/main">
              <a:ext uri="{FF2B5EF4-FFF2-40B4-BE49-F238E27FC236}">
                <a16:creationId xmlns:a16="http://schemas.microsoft.com/office/drawing/2014/main" id="{07CA6CB2-D021-48E4-AB8E-3631B67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9483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Mutu</a:t>
            </a:r>
          </a:p>
        </p:txBody>
      </p:sp>
      <p:sp>
        <p:nvSpPr>
          <p:cNvPr id="45" name="text-234">
            <a:extLst xmlns:a="http://schemas.openxmlformats.org/drawingml/2006/main">
              <a:ext uri="{FF2B5EF4-FFF2-40B4-BE49-F238E27FC236}">
                <a16:creationId xmlns:a16="http://schemas.microsoft.com/office/drawing/2014/main" id="{581ECCE4-3D2E-4DAD-8421-45F871B6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536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Uji kemasan dan spesifikasi?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4FF1E5-BBB1-4375-A0A0-86E680A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" name="text-235">
            <a:extLst xmlns:a="http://schemas.openxmlformats.org/drawingml/2006/main">
              <a:ext uri="{FF2B5EF4-FFF2-40B4-BE49-F238E27FC236}">
                <a16:creationId xmlns:a16="http://schemas.microsoft.com/office/drawing/2014/main" id="{BF81CFB0-56B5-4116-8B89-D8AA7686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syaratnya tidak bisa dibuat layak, tunda dulu.</a:t>
            </a:r>
          </a:p>
        </p:txBody>
      </p:sp>
      <p:sp>
        <p:nvSpPr>
          <p:cNvPr id="48" name="text-236">
            <a:extLst xmlns:a="http://schemas.openxmlformats.org/drawingml/2006/main">
              <a:ext uri="{FF2B5EF4-FFF2-40B4-BE49-F238E27FC236}">
                <a16:creationId xmlns:a16="http://schemas.microsoft.com/office/drawing/2014/main" id="{CB43386F-87BD-46C3-A4AB-B929632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Angka dan skenario kasus ilustratif.</a:t>
            </a:r>
          </a:p>
        </p:txBody>
      </p:sp>
    </p:spTree>
    <p:extLst>
      <p:ext uri="{BB962C8B-B14F-4D97-AF65-F5344CB8AC3E}">
        <p14:creationId xmlns:p14="http://schemas.microsoft.com/office/powerpoint/2010/main" val="1838446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6ed06b8a2416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B904F-2B87-4BE5-AEA9-700FA60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3950a95c14584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37">
            <a:extLst xmlns:a="http://schemas.openxmlformats.org/drawingml/2006/main">
              <a:ext uri="{FF2B5EF4-FFF2-40B4-BE49-F238E27FC236}">
                <a16:creationId xmlns:a16="http://schemas.microsoft.com/office/drawing/2014/main" id="{F9617905-4902-421D-BD6D-C0D4A13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5" name="text-238">
            <a:extLst xmlns:a="http://schemas.openxmlformats.org/drawingml/2006/main">
              <a:ext uri="{FF2B5EF4-FFF2-40B4-BE49-F238E27FC236}">
                <a16:creationId xmlns:a16="http://schemas.microsoft.com/office/drawing/2014/main" id="{66046230-C181-4FF3-A0AB-A33D734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Build–Measure–Learn memperkecil ketidakpastian</a:t>
            </a:r>
          </a:p>
        </p:txBody>
      </p:sp>
      <p:sp>
        <p:nvSpPr>
          <p:cNvPr id="6" name="text-239">
            <a:extLst xmlns:a="http://schemas.openxmlformats.org/drawingml/2006/main">
              <a:ext uri="{FF2B5EF4-FFF2-40B4-BE49-F238E27FC236}">
                <a16:creationId xmlns:a16="http://schemas.microsoft.com/office/drawing/2014/main" id="{26DFBEE3-E6A6-4BBD-A397-DFD3868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40">
            <a:extLst xmlns:a="http://schemas.openxmlformats.org/drawingml/2006/main">
              <a:ext uri="{FF2B5EF4-FFF2-40B4-BE49-F238E27FC236}">
                <a16:creationId xmlns:a16="http://schemas.microsoft.com/office/drawing/2014/main" id="{C48DEB85-9491-4B12-A467-6251F61F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7516F-BA18-4170-A501-5B698540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829" y="2092604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952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text-241">
            <a:extLst xmlns:a="http://schemas.openxmlformats.org/drawingml/2006/main">
              <a:ext uri="{FF2B5EF4-FFF2-40B4-BE49-F238E27FC236}">
                <a16:creationId xmlns:a16="http://schemas.microsoft.com/office/drawing/2014/main" id="{2A122B18-F15D-4F2C-85A1-CC02148B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829" y="2567202"/>
            <a:ext cx="166695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0" name="text-242">
            <a:extLst xmlns:a="http://schemas.openxmlformats.org/drawingml/2006/main">
              <a:ext uri="{FF2B5EF4-FFF2-40B4-BE49-F238E27FC236}">
                <a16:creationId xmlns:a16="http://schemas.microsoft.com/office/drawing/2014/main" id="{39E52AC6-C9EE-415C-96BE-5229BBEE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829" y="2996970"/>
            <a:ext cx="166695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Buat sampel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F5CAC-5A27-40CF-9587-F25F1F5A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069" y="4012844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text-243">
            <a:extLst xmlns:a="http://schemas.openxmlformats.org/drawingml/2006/main">
              <a:ext uri="{FF2B5EF4-FFF2-40B4-BE49-F238E27FC236}">
                <a16:creationId xmlns:a16="http://schemas.microsoft.com/office/drawing/2014/main" id="{5116B176-264E-44A4-8262-3A3A291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069" y="4487442"/>
            <a:ext cx="166695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3" name="text-244">
            <a:extLst xmlns:a="http://schemas.openxmlformats.org/drawingml/2006/main">
              <a:ext uri="{FF2B5EF4-FFF2-40B4-BE49-F238E27FC236}">
                <a16:creationId xmlns:a16="http://schemas.microsoft.com/office/drawing/2014/main" id="{153D3B30-7473-4A5C-901C-08693989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069" y="4917210"/>
            <a:ext cx="166695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Catat respons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46C95-CB54-4641-9D78-D2A3851B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589" y="4012844"/>
            <a:ext cx="1666875" cy="1666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text-245">
            <a:extLst xmlns:a="http://schemas.openxmlformats.org/drawingml/2006/main">
              <a:ext uri="{FF2B5EF4-FFF2-40B4-BE49-F238E27FC236}">
                <a16:creationId xmlns:a16="http://schemas.microsoft.com/office/drawing/2014/main" id="{CF864050-9793-487E-A1AD-B299960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589" y="4487442"/>
            <a:ext cx="166695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16" name="text-246">
            <a:extLst xmlns:a="http://schemas.openxmlformats.org/drawingml/2006/main">
              <a:ext uri="{FF2B5EF4-FFF2-40B4-BE49-F238E27FC236}">
                <a16:creationId xmlns:a16="http://schemas.microsoft.com/office/drawing/2014/main" id="{AAF1F21E-C4AA-4648-A3F5-68B0ADE4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589" y="4917210"/>
            <a:ext cx="166695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 langkah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B3711-E33C-4525-A848-A21DCA6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660947" y="3800475"/>
            <a:ext cx="790956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478EC-4A62-4433-9D8F-20E49121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296205" y="4760595"/>
            <a:ext cx="1600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A59A9-6A4C-4E79-8708-7B7B28F3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4740707" y="3800475"/>
            <a:ext cx="790956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text-247">
            <a:extLst xmlns:a="http://schemas.openxmlformats.org/drawingml/2006/main">
              <a:ext uri="{FF2B5EF4-FFF2-40B4-BE49-F238E27FC236}">
                <a16:creationId xmlns:a16="http://schemas.microsoft.com/office/drawing/2014/main" id="{0E7F1647-1586-4AE6-939B-1BBDB97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7133"/>
            <a:ext cx="2926080" cy="69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 pilihan</a:t>
            </a:r>
          </a:p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</a:p>
        </p:txBody>
      </p:sp>
      <p:sp>
        <p:nvSpPr>
          <p:cNvPr id="21" name="text-248">
            <a:extLst xmlns:a="http://schemas.openxmlformats.org/drawingml/2006/main">
              <a:ext uri="{FF2B5EF4-FFF2-40B4-BE49-F238E27FC236}">
                <a16:creationId xmlns:a16="http://schemas.microsoft.com/office/drawing/2014/main" id="{646C27DB-F84C-4752-88B1-E58FE47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8955"/>
            <a:ext cx="292608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Buat perubahan</a:t>
            </a:r>
          </a:p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yang bisa diuji.</a:t>
            </a:r>
          </a:p>
        </p:txBody>
      </p:sp>
      <p:sp>
        <p:nvSpPr>
          <p:cNvPr id="22" name="text-249">
            <a:extLst xmlns:a="http://schemas.openxmlformats.org/drawingml/2006/main">
              <a:ext uri="{FF2B5EF4-FFF2-40B4-BE49-F238E27FC236}">
                <a16:creationId xmlns:a16="http://schemas.microsoft.com/office/drawing/2014/main" id="{1F0C1500-78F5-45EC-ADE0-18149CE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57133"/>
            <a:ext cx="2430475" cy="69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Pilihan, keberatan,</a:t>
            </a:r>
          </a:p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harga</a:t>
            </a:r>
          </a:p>
        </p:txBody>
      </p:sp>
      <p:sp>
        <p:nvSpPr>
          <p:cNvPr id="23" name="text-250">
            <a:extLst xmlns:a="http://schemas.openxmlformats.org/drawingml/2006/main">
              <a:ext uri="{FF2B5EF4-FFF2-40B4-BE49-F238E27FC236}">
                <a16:creationId xmlns:a16="http://schemas.microsoft.com/office/drawing/2014/main" id="{50D5FBEF-988E-42FD-95F7-BA549F43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4018955"/>
            <a:ext cx="24304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 apa yang</a:t>
            </a:r>
          </a:p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benar-benar terjadi.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B9DAD-B4AC-44F9-A218-24A206B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text-251">
            <a:extLst xmlns:a="http://schemas.openxmlformats.org/drawingml/2006/main">
              <a:ext uri="{FF2B5EF4-FFF2-40B4-BE49-F238E27FC236}">
                <a16:creationId xmlns:a16="http://schemas.microsoft.com/office/drawing/2014/main" id="{FB427510-CB5A-42C3-8CE3-009D597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Hasil uji menentukan apakah kita lanjut, ubah, atau hentikan percobaan.</a:t>
            </a:r>
          </a:p>
        </p:txBody>
      </p:sp>
      <p:sp>
        <p:nvSpPr>
          <p:cNvPr id="26" name="text-252">
            <a:extLst xmlns:a="http://schemas.openxmlformats.org/drawingml/2006/main">
              <a:ext uri="{FF2B5EF4-FFF2-40B4-BE49-F238E27FC236}">
                <a16:creationId xmlns:a16="http://schemas.microsoft.com/office/drawing/2014/main" id="{F49F30C0-A5A0-437C-A9FF-D2022636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Modul 1 CMC dan The Lean Startup.</a:t>
            </a:r>
          </a:p>
        </p:txBody>
      </p:sp>
    </p:spTree>
    <p:extLst>
      <p:ext uri="{BB962C8B-B14F-4D97-AF65-F5344CB8AC3E}">
        <p14:creationId xmlns:p14="http://schemas.microsoft.com/office/powerpoint/2010/main" val="19616408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2c418359d4f9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61D46-B411-4E7F-9721-CBCCF88D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7c0c02d9c4e39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53">
            <a:extLst xmlns:a="http://schemas.openxmlformats.org/drawingml/2006/main">
              <a:ext uri="{FF2B5EF4-FFF2-40B4-BE49-F238E27FC236}">
                <a16:creationId xmlns:a16="http://schemas.microsoft.com/office/drawing/2014/main" id="{BC77E510-4825-4955-B1B2-57BC4C72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RENCANA EKSPERIMEN</a:t>
            </a:r>
          </a:p>
        </p:txBody>
      </p:sp>
      <p:sp>
        <p:nvSpPr>
          <p:cNvPr id="5" name="text-254">
            <a:extLst xmlns:a="http://schemas.openxmlformats.org/drawingml/2006/main">
              <a:ext uri="{FF2B5EF4-FFF2-40B4-BE49-F238E27FC236}">
                <a16:creationId xmlns:a16="http://schemas.microsoft.com/office/drawing/2014/main" id="{B77EBCDF-147E-48BD-9B7C-1D47774A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Patokan berhasil perlu jelas sebelum uji dimulai</a:t>
            </a:r>
          </a:p>
        </p:txBody>
      </p:sp>
      <p:sp>
        <p:nvSpPr>
          <p:cNvPr id="6" name="text-255">
            <a:extLst xmlns:a="http://schemas.openxmlformats.org/drawingml/2006/main">
              <a:ext uri="{FF2B5EF4-FFF2-40B4-BE49-F238E27FC236}">
                <a16:creationId xmlns:a16="http://schemas.microsoft.com/office/drawing/2014/main" id="{BEB91E1A-74B0-48F9-8B6C-FB89E05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56">
            <a:extLst xmlns:a="http://schemas.openxmlformats.org/drawingml/2006/main">
              <a:ext uri="{FF2B5EF4-FFF2-40B4-BE49-F238E27FC236}">
                <a16:creationId xmlns:a16="http://schemas.microsoft.com/office/drawing/2014/main" id="{16663445-A3EF-49AC-AFF1-E70B1FC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8" name="text-257">
            <a:extLst xmlns:a="http://schemas.openxmlformats.org/drawingml/2006/main">
              <a:ext uri="{FF2B5EF4-FFF2-40B4-BE49-F238E27FC236}">
                <a16:creationId xmlns:a16="http://schemas.microsoft.com/office/drawing/2014/main" id="{D39B0D4E-05E4-45D2-B104-D0AE75D7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ASUMSI KASUS</a:t>
            </a:r>
          </a:p>
        </p:txBody>
      </p:sp>
      <p:sp>
        <p:nvSpPr>
          <p:cNvPr id="9" name="text-258">
            <a:extLst xmlns:a="http://schemas.openxmlformats.org/drawingml/2006/main">
              <a:ext uri="{FF2B5EF4-FFF2-40B4-BE49-F238E27FC236}">
                <a16:creationId xmlns:a16="http://schemas.microsoft.com/office/drawing/2014/main" id="{8C57AA7F-3FBF-41EF-8118-4DDAB922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648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“Ukuran lebih kecil</a:t>
            </a:r>
          </a:p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 cocok</a:t>
            </a:r>
          </a:p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 buyer.”</a:t>
            </a:r>
          </a:p>
        </p:txBody>
      </p:sp>
      <p:sp>
        <p:nvSpPr>
          <p:cNvPr id="10" name="text-259">
            <a:extLst xmlns:a="http://schemas.openxmlformats.org/drawingml/2006/main">
              <a:ext uri="{FF2B5EF4-FFF2-40B4-BE49-F238E27FC236}">
                <a16:creationId xmlns:a16="http://schemas.microsoft.com/office/drawing/2014/main" id="{A557440A-538A-41A0-9CF4-447BF14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5426"/>
            <a:ext cx="4648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Tetapkan batas biaya sampel,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tenggat, dan PIC sebelum mulai.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D4BF9-4C81-4E5E-80E8-9E0E5E59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66544"/>
            <a:ext cx="0" cy="3493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text-260">
            <a:extLst xmlns:a="http://schemas.openxmlformats.org/drawingml/2006/main">
              <a:ext uri="{FF2B5EF4-FFF2-40B4-BE49-F238E27FC236}">
                <a16:creationId xmlns:a16="http://schemas.microsoft.com/office/drawing/2014/main" id="{D2E5DFDF-358D-45FA-BE33-236A097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66544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TINDAKAN</a:t>
            </a:r>
          </a:p>
        </p:txBody>
      </p:sp>
      <p:sp>
        <p:nvSpPr>
          <p:cNvPr id="13" name="text-261">
            <a:extLst xmlns:a="http://schemas.openxmlformats.org/drawingml/2006/main">
              <a:ext uri="{FF2B5EF4-FFF2-40B4-BE49-F238E27FC236}">
                <a16:creationId xmlns:a16="http://schemas.microsoft.com/office/drawing/2014/main" id="{8CE60FE9-E77F-4B64-BB47-1DE1E91F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3870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Tunjukkan dua ukuran, spesifikasi, dan harga.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AB01F-4D42-4F30-8EBA-3EAF2027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51353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text-262">
            <a:extLst xmlns:a="http://schemas.openxmlformats.org/drawingml/2006/main">
              <a:ext uri="{FF2B5EF4-FFF2-40B4-BE49-F238E27FC236}">
                <a16:creationId xmlns:a16="http://schemas.microsoft.com/office/drawing/2014/main" id="{E3DB5FD4-0385-4092-A3D1-127DE7C6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04642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</a:t>
            </a:r>
          </a:p>
        </p:txBody>
      </p:sp>
      <p:sp>
        <p:nvSpPr>
          <p:cNvPr id="16" name="text-263">
            <a:extLst xmlns:a="http://schemas.openxmlformats.org/drawingml/2006/main">
              <a:ext uri="{FF2B5EF4-FFF2-40B4-BE49-F238E27FC236}">
                <a16:creationId xmlns:a16="http://schemas.microsoft.com/office/drawing/2014/main" id="{0821216C-DFCC-46A2-AACB-7BB1B058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76802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 ukuran, alasan, keberatan, next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21B63-AD8D-422C-90B2-758BD64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94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text-264">
            <a:extLst xmlns:a="http://schemas.openxmlformats.org/drawingml/2006/main">
              <a:ext uri="{FF2B5EF4-FFF2-40B4-BE49-F238E27FC236}">
                <a16:creationId xmlns:a16="http://schemas.microsoft.com/office/drawing/2014/main" id="{7238ABF8-8380-4EE5-9A02-697A9558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2739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PATOKAN LANJUT</a:t>
            </a:r>
          </a:p>
        </p:txBody>
      </p:sp>
      <p:sp>
        <p:nvSpPr>
          <p:cNvPr id="19" name="text-265">
            <a:extLst xmlns:a="http://schemas.openxmlformats.org/drawingml/2006/main">
              <a:ext uri="{FF2B5EF4-FFF2-40B4-BE49-F238E27FC236}">
                <a16:creationId xmlns:a16="http://schemas.microsoft.com/office/drawing/2014/main" id="{A7FB62DE-757D-4355-BDDB-82B695EC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149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Spesifikasi disepakati dan ada langkah komersial berikutnya.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6E7B0-4E58-463E-9A2C-C2B3DD5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266">
            <a:extLst xmlns:a="http://schemas.openxmlformats.org/drawingml/2006/main">
              <a:ext uri="{FF2B5EF4-FFF2-40B4-BE49-F238E27FC236}">
                <a16:creationId xmlns:a16="http://schemas.microsoft.com/office/drawing/2014/main" id="{10345F26-1C87-4661-9A4C-910AB1B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bukti belum cukup, perbaiki ujinya sebelum menambah komitmen.</a:t>
            </a:r>
          </a:p>
        </p:txBody>
      </p:sp>
      <p:sp>
        <p:nvSpPr>
          <p:cNvPr id="22" name="text-267">
            <a:extLst xmlns:a="http://schemas.openxmlformats.org/drawingml/2006/main">
              <a:ext uri="{FF2B5EF4-FFF2-40B4-BE49-F238E27FC236}">
                <a16:creationId xmlns:a16="http://schemas.microsoft.com/office/drawing/2014/main" id="{D4A674F2-0F38-4457-95A8-7055CDEF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rencana uji. Modul 1 CMC dan Strategyzer.</a:t>
            </a:r>
          </a:p>
        </p:txBody>
      </p:sp>
    </p:spTree>
    <p:extLst>
      <p:ext uri="{BB962C8B-B14F-4D97-AF65-F5344CB8AC3E}">
        <p14:creationId xmlns:p14="http://schemas.microsoft.com/office/powerpoint/2010/main" val="19463799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66beb011c49a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19C7D-380A-4668-B1FC-75667A87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a8b1e0f7644b4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68">
            <a:extLst xmlns:a="http://schemas.openxmlformats.org/drawingml/2006/main">
              <a:ext uri="{FF2B5EF4-FFF2-40B4-BE49-F238E27FC236}">
                <a16:creationId xmlns:a16="http://schemas.microsoft.com/office/drawing/2014/main" id="{77B56204-3542-47A9-B0E9-91915EE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 BUKTI</a:t>
            </a:r>
          </a:p>
        </p:txBody>
      </p:sp>
      <p:sp>
        <p:nvSpPr>
          <p:cNvPr id="5" name="text-269">
            <a:extLst xmlns:a="http://schemas.openxmlformats.org/drawingml/2006/main">
              <a:ext uri="{FF2B5EF4-FFF2-40B4-BE49-F238E27FC236}">
                <a16:creationId xmlns:a16="http://schemas.microsoft.com/office/drawing/2014/main" id="{F19F2506-5ADE-4B99-ACD2-5560FC9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Respons buyer makin berguna saat komitmennya konkret</a:t>
            </a:r>
          </a:p>
        </p:txBody>
      </p:sp>
      <p:sp>
        <p:nvSpPr>
          <p:cNvPr id="6" name="text-270">
            <a:extLst xmlns:a="http://schemas.openxmlformats.org/drawingml/2006/main">
              <a:ext uri="{FF2B5EF4-FFF2-40B4-BE49-F238E27FC236}">
                <a16:creationId xmlns:a16="http://schemas.microsoft.com/office/drawing/2014/main" id="{3CC33D9B-AB29-434B-A7B0-98097CBF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7592"/>
            <a:ext cx="1104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Pujian, feedback, dan permintaan penawaran memberi bukti yang berbeda.</a:t>
            </a:r>
          </a:p>
        </p:txBody>
      </p:sp>
      <p:sp>
        <p:nvSpPr>
          <p:cNvPr id="7" name="text-271">
            <a:extLst xmlns:a="http://schemas.openxmlformats.org/drawingml/2006/main">
              <a:ext uri="{FF2B5EF4-FFF2-40B4-BE49-F238E27FC236}">
                <a16:creationId xmlns:a16="http://schemas.microsoft.com/office/drawing/2014/main" id="{889C4CAE-01BD-4051-B834-B0113FDB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72">
            <a:extLst xmlns:a="http://schemas.openxmlformats.org/drawingml/2006/main">
              <a:ext uri="{FF2B5EF4-FFF2-40B4-BE49-F238E27FC236}">
                <a16:creationId xmlns:a16="http://schemas.microsoft.com/office/drawing/2014/main" id="{AD53A0A2-B939-4CCA-BE91-FA295F0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0998C-F586-45DC-B6E7-FA935548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4981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text-273">
            <a:extLst xmlns:a="http://schemas.openxmlformats.org/drawingml/2006/main">
              <a:ext uri="{FF2B5EF4-FFF2-40B4-BE49-F238E27FC236}">
                <a16:creationId xmlns:a16="http://schemas.microsoft.com/office/drawing/2014/main" id="{36AFE36E-F22E-4365-ACEE-8BF94E0E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249814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Pujian</a:t>
            </a:r>
          </a:p>
        </p:txBody>
      </p:sp>
      <p:sp>
        <p:nvSpPr>
          <p:cNvPr id="11" name="text-274">
            <a:extLst xmlns:a="http://schemas.openxmlformats.org/drawingml/2006/main">
              <a:ext uri="{FF2B5EF4-FFF2-40B4-BE49-F238E27FC236}">
                <a16:creationId xmlns:a16="http://schemas.microsoft.com/office/drawing/2014/main" id="{297E47DD-B990-4001-BD28-DF01A11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2498141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“Bagus produknya.”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5D1D2-1BB4-4B1F-8FFE-31F27879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63" y="4133850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F5049-09FB-4C5C-97DE-B1B1B408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685" y="4133850"/>
            <a:ext cx="24981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text-275">
            <a:extLst xmlns:a="http://schemas.openxmlformats.org/drawingml/2006/main">
              <a:ext uri="{FF2B5EF4-FFF2-40B4-BE49-F238E27FC236}">
                <a16:creationId xmlns:a16="http://schemas.microsoft.com/office/drawing/2014/main" id="{40E406F9-1209-45FD-BF89-DA25043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685" y="3581400"/>
            <a:ext cx="249814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jelas</a:t>
            </a:r>
          </a:p>
        </p:txBody>
      </p:sp>
      <p:sp>
        <p:nvSpPr>
          <p:cNvPr id="15" name="text-276">
            <a:extLst xmlns:a="http://schemas.openxmlformats.org/drawingml/2006/main">
              <a:ext uri="{FF2B5EF4-FFF2-40B4-BE49-F238E27FC236}">
                <a16:creationId xmlns:a16="http://schemas.microsoft.com/office/drawing/2014/main" id="{51A60006-4AA4-431C-89E1-144289E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685" y="4381500"/>
            <a:ext cx="2498141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volume,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konteks penggunaan.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FA800-6274-4372-AC9B-1613B7D8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345757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A33F8-AF0A-47A8-A276-5109DD53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870" y="3457575"/>
            <a:ext cx="24981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text-277">
            <a:extLst xmlns:a="http://schemas.openxmlformats.org/drawingml/2006/main">
              <a:ext uri="{FF2B5EF4-FFF2-40B4-BE49-F238E27FC236}">
                <a16:creationId xmlns:a16="http://schemas.microsoft.com/office/drawing/2014/main" id="{701E7FA6-409B-45E4-80C7-E05D350B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870" y="2905125"/>
            <a:ext cx="249814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Feedback sampel</a:t>
            </a:r>
          </a:p>
        </p:txBody>
      </p:sp>
      <p:sp>
        <p:nvSpPr>
          <p:cNvPr id="19" name="text-278">
            <a:extLst xmlns:a="http://schemas.openxmlformats.org/drawingml/2006/main">
              <a:ext uri="{FF2B5EF4-FFF2-40B4-BE49-F238E27FC236}">
                <a16:creationId xmlns:a16="http://schemas.microsoft.com/office/drawing/2014/main" id="{E2C3AD21-D490-49B9-B478-E041CFD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870" y="3705225"/>
            <a:ext cx="2498141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Penilaian spesifik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atas produk yang diuji.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89DC6-E643-47A8-9477-21F4F7C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032" y="2781300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69BF0-7FE7-484E-94E2-5FCBF656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054" y="2781300"/>
            <a:ext cx="24981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text-279">
            <a:extLst xmlns:a="http://schemas.openxmlformats.org/drawingml/2006/main">
              <a:ext uri="{FF2B5EF4-FFF2-40B4-BE49-F238E27FC236}">
                <a16:creationId xmlns:a16="http://schemas.microsoft.com/office/drawing/2014/main" id="{FA31C773-F8C4-4EEA-A0DB-DE1DB0B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054" y="2228850"/>
            <a:ext cx="249814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Langkah komersial</a:t>
            </a:r>
          </a:p>
        </p:txBody>
      </p:sp>
      <p:sp>
        <p:nvSpPr>
          <p:cNvPr id="23" name="text-280">
            <a:extLst xmlns:a="http://schemas.openxmlformats.org/drawingml/2006/main">
              <a:ext uri="{FF2B5EF4-FFF2-40B4-BE49-F238E27FC236}">
                <a16:creationId xmlns:a16="http://schemas.microsoft.com/office/drawing/2014/main" id="{EF7FC345-FE80-4D32-9A39-F294442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054" y="3028950"/>
            <a:ext cx="2498141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Penawaran atau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komitmen lanjutan.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F6882-7539-41A5-BDBB-8C17AAAC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text-281">
            <a:extLst xmlns:a="http://schemas.openxmlformats.org/drawingml/2006/main">
              <a:ext uri="{FF2B5EF4-FFF2-40B4-BE49-F238E27FC236}">
                <a16:creationId xmlns:a16="http://schemas.microsoft.com/office/drawing/2014/main" id="{AB62CB69-338B-4803-987B-347DAC7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Respons positif belum sama dengan order. Pastikan next step-nya jelas.</a:t>
            </a:r>
          </a:p>
        </p:txBody>
      </p:sp>
    </p:spTree>
    <p:extLst>
      <p:ext uri="{BB962C8B-B14F-4D97-AF65-F5344CB8AC3E}">
        <p14:creationId xmlns:p14="http://schemas.microsoft.com/office/powerpoint/2010/main" val="1336273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1b46cb78b4d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FABC0-1B3E-45F0-AA3C-C0D6CB3E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65f9d36ff4e8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82">
            <a:extLst xmlns:a="http://schemas.openxmlformats.org/drawingml/2006/main">
              <a:ext uri="{FF2B5EF4-FFF2-40B4-BE49-F238E27FC236}">
                <a16:creationId xmlns:a16="http://schemas.microsoft.com/office/drawing/2014/main" id="{93779F16-9F5B-4D67-9ABE-E0C8C6F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 FOUNDER</a:t>
            </a:r>
          </a:p>
        </p:txBody>
      </p:sp>
      <p:sp>
        <p:nvSpPr>
          <p:cNvPr id="5" name="text-283">
            <a:extLst xmlns:a="http://schemas.openxmlformats.org/drawingml/2006/main">
              <a:ext uri="{FF2B5EF4-FFF2-40B4-BE49-F238E27FC236}">
                <a16:creationId xmlns:a16="http://schemas.microsoft.com/office/drawing/2014/main" id="{068E359B-2A69-46FF-9922-C2FB845E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Keahlian tumbuh ketika pengalaman diolah jadi perbaikan</a:t>
            </a:r>
          </a:p>
        </p:txBody>
      </p:sp>
      <p:sp>
        <p:nvSpPr>
          <p:cNvPr id="6" name="text-284">
            <a:extLst xmlns:a="http://schemas.openxmlformats.org/drawingml/2006/main">
              <a:ext uri="{FF2B5EF4-FFF2-40B4-BE49-F238E27FC236}">
                <a16:creationId xmlns:a16="http://schemas.microsoft.com/office/drawing/2014/main" id="{4E9F0CAC-C407-4C6C-A518-A79BC705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85">
            <a:extLst xmlns:a="http://schemas.openxmlformats.org/drawingml/2006/main">
              <a:ext uri="{FF2B5EF4-FFF2-40B4-BE49-F238E27FC236}">
                <a16:creationId xmlns:a16="http://schemas.microsoft.com/office/drawing/2014/main" id="{77393F5D-DBA2-451C-B1FD-8E0D715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8" name="text-286">
            <a:extLst xmlns:a="http://schemas.openxmlformats.org/drawingml/2006/main">
              <a:ext uri="{FF2B5EF4-FFF2-40B4-BE49-F238E27FC236}">
                <a16:creationId xmlns:a16="http://schemas.microsoft.com/office/drawing/2014/main" id="{91021DD7-40E1-44BC-88DF-0DCA5D7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1237"/>
            <a:ext cx="46577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 tantangan.</a:t>
            </a:r>
          </a:p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 masukan.</a:t>
            </a:r>
          </a:p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 perbaikan.</a:t>
            </a:r>
          </a:p>
        </p:txBody>
      </p:sp>
      <p:sp>
        <p:nvSpPr>
          <p:cNvPr id="9" name="text-287">
            <a:extLst xmlns:a="http://schemas.openxmlformats.org/drawingml/2006/main">
              <a:ext uri="{FF2B5EF4-FFF2-40B4-BE49-F238E27FC236}">
                <a16:creationId xmlns:a16="http://schemas.microsoft.com/office/drawing/2014/main" id="{E3B5752E-CAD4-4405-B163-0097A180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6737"/>
            <a:ext cx="4524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Ulangi dengan cara</a:t>
            </a:r>
          </a:p>
          <a:p xmlns:a="http://schemas.openxmlformats.org/drawingml/2006/main"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makin baik.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228AF-EA8F-4C2F-A77B-8485742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6612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85F4F-B762-407A-96BD-AECD9C14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088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text-288">
            <a:extLst xmlns:a="http://schemas.openxmlformats.org/drawingml/2006/main">
              <a:ext uri="{FF2B5EF4-FFF2-40B4-BE49-F238E27FC236}">
                <a16:creationId xmlns:a16="http://schemas.microsoft.com/office/drawing/2014/main" id="{407D9D39-55E8-4997-8400-A0E1880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13" name="text-289">
            <a:extLst xmlns:a="http://schemas.openxmlformats.org/drawingml/2006/main">
              <a:ext uri="{FF2B5EF4-FFF2-40B4-BE49-F238E27FC236}">
                <a16:creationId xmlns:a16="http://schemas.microsoft.com/office/drawing/2014/main" id="{6FE8FE3C-D567-4D9B-AC1C-D9542D4D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Pilih tantangan yang relevan.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ADA85-3D3A-4B73-8337-7B76430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5762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text-290">
            <a:extLst xmlns:a="http://schemas.openxmlformats.org/drawingml/2006/main">
              <a:ext uri="{FF2B5EF4-FFF2-40B4-BE49-F238E27FC236}">
                <a16:creationId xmlns:a16="http://schemas.microsoft.com/office/drawing/2014/main" id="{473449BE-5CB3-41F5-8B38-1814757F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Coaching</a:t>
            </a:r>
          </a:p>
        </p:txBody>
      </p:sp>
      <p:sp>
        <p:nvSpPr>
          <p:cNvPr id="16" name="text-291">
            <a:extLst xmlns:a="http://schemas.openxmlformats.org/drawingml/2006/main">
              <a:ext uri="{FF2B5EF4-FFF2-40B4-BE49-F238E27FC236}">
                <a16:creationId xmlns:a16="http://schemas.microsoft.com/office/drawing/2014/main" id="{C385D474-5131-43D1-B358-1BD2FF03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masukan orang yang tepat.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5017-CD9A-4518-AEA2-119D505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3063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text-292">
            <a:extLst xmlns:a="http://schemas.openxmlformats.org/drawingml/2006/main">
              <a:ext uri="{FF2B5EF4-FFF2-40B4-BE49-F238E27FC236}">
                <a16:creationId xmlns:a16="http://schemas.microsoft.com/office/drawing/2014/main" id="{67E07C87-EAB7-47C7-8168-475F885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9" name="text-293">
            <a:extLst xmlns:a="http://schemas.openxmlformats.org/drawingml/2006/main">
              <a:ext uri="{FF2B5EF4-FFF2-40B4-BE49-F238E27FC236}">
                <a16:creationId xmlns:a16="http://schemas.microsoft.com/office/drawing/2014/main" id="{43A7E553-1A09-4E4A-9205-512BD7E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 perubahan dan hasil uji.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B486B-6D8D-4113-8C74-E4DE0356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35512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294">
            <a:extLst xmlns:a="http://schemas.openxmlformats.org/drawingml/2006/main">
              <a:ext uri="{FF2B5EF4-FFF2-40B4-BE49-F238E27FC236}">
                <a16:creationId xmlns:a16="http://schemas.microsoft.com/office/drawing/2014/main" id="{0104C913-B0DD-4C98-BD21-017B6903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57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Perseverance</a:t>
            </a:r>
          </a:p>
        </p:txBody>
      </p:sp>
      <p:sp>
        <p:nvSpPr>
          <p:cNvPr id="22" name="text-295">
            <a:extLst xmlns:a="http://schemas.openxmlformats.org/drawingml/2006/main">
              <a:ext uri="{FF2B5EF4-FFF2-40B4-BE49-F238E27FC236}">
                <a16:creationId xmlns:a16="http://schemas.microsoft.com/office/drawing/2014/main" id="{79C072B3-B6D9-458E-A0DA-456CCB1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6732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Teruskan dengan disiplin.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32E95-CEF5-4C75-AD22-4F807F5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text-296">
            <a:extLst xmlns:a="http://schemas.openxmlformats.org/drawingml/2006/main">
              <a:ext uri="{FF2B5EF4-FFF2-40B4-BE49-F238E27FC236}">
                <a16:creationId xmlns:a16="http://schemas.microsoft.com/office/drawing/2014/main" id="{AFDA880D-D23A-4367-BF1A-BEB9B9DC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Kegigihan menjadi lebih berguna ketika feedback ikut mengubah cara kita bekerja.</a:t>
            </a:r>
          </a:p>
        </p:txBody>
      </p:sp>
    </p:spTree>
    <p:extLst>
      <p:ext uri="{BB962C8B-B14F-4D97-AF65-F5344CB8AC3E}">
        <p14:creationId xmlns:p14="http://schemas.microsoft.com/office/powerpoint/2010/main" val="1878809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2691a0dd54a9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4C11-F46D-4792-B3BF-C81E88C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fe021f6b048d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97">
            <a:extLst xmlns:a="http://schemas.openxmlformats.org/drawingml/2006/main">
              <a:ext uri="{FF2B5EF4-FFF2-40B4-BE49-F238E27FC236}">
                <a16:creationId xmlns:a16="http://schemas.microsoft.com/office/drawing/2014/main" id="{1797BD3C-0F97-4A98-9090-41C3F770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LIMA P DARI MODUL CMC</a:t>
            </a:r>
          </a:p>
        </p:txBody>
      </p:sp>
      <p:sp>
        <p:nvSpPr>
          <p:cNvPr id="5" name="text-298">
            <a:extLst xmlns:a="http://schemas.openxmlformats.org/drawingml/2006/main">
              <a:ext uri="{FF2B5EF4-FFF2-40B4-BE49-F238E27FC236}">
                <a16:creationId xmlns:a16="http://schemas.microsoft.com/office/drawing/2014/main" id="{AA7D0150-E8FE-4DD1-B2DF-96921C79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Pitch yang kuat menghubungkan kebutuhan dengan bukti</a:t>
            </a:r>
          </a:p>
        </p:txBody>
      </p:sp>
      <p:sp>
        <p:nvSpPr>
          <p:cNvPr id="6" name="text-299">
            <a:extLst xmlns:a="http://schemas.openxmlformats.org/drawingml/2006/main">
              <a:ext uri="{FF2B5EF4-FFF2-40B4-BE49-F238E27FC236}">
                <a16:creationId xmlns:a16="http://schemas.microsoft.com/office/drawing/2014/main" id="{BBBA825D-4515-473F-BAC3-AA39C5E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00">
            <a:extLst xmlns:a="http://schemas.openxmlformats.org/drawingml/2006/main">
              <a:ext uri="{FF2B5EF4-FFF2-40B4-BE49-F238E27FC236}">
                <a16:creationId xmlns:a16="http://schemas.microsoft.com/office/drawing/2014/main" id="{6ECE0651-7341-42BC-A45A-3C879814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8" name="text-301">
            <a:extLst xmlns:a="http://schemas.openxmlformats.org/drawingml/2006/main">
              <a:ext uri="{FF2B5EF4-FFF2-40B4-BE49-F238E27FC236}">
                <a16:creationId xmlns:a16="http://schemas.microsoft.com/office/drawing/2014/main" id="{8A2C9700-DFC6-4FE6-BA82-B5B0341E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110394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“Kami membantu buyer dekorasi rumah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membutuhkan ukuran tertentu.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ini, kami menguji dua ukuran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 spesifikasi yang disepakati.”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6A92C-78B0-4E3B-953F-4541CE18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624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text-302">
            <a:extLst xmlns:a="http://schemas.openxmlformats.org/drawingml/2006/main">
              <a:ext uri="{FF2B5EF4-FFF2-40B4-BE49-F238E27FC236}">
                <a16:creationId xmlns:a16="http://schemas.microsoft.com/office/drawing/2014/main" id="{DE3170B4-7B70-4666-9C34-256A0C27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21000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5010382F-34F2-4FFC-9288-161F4297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210001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 yang jelas</a:t>
            </a:r>
          </a:p>
        </p:txBody>
      </p:sp>
      <p:sp>
        <p:nvSpPr>
          <p:cNvPr id="12" name="text-304">
            <a:extLst xmlns:a="http://schemas.openxmlformats.org/drawingml/2006/main">
              <a:ext uri="{FF2B5EF4-FFF2-40B4-BE49-F238E27FC236}">
                <a16:creationId xmlns:a16="http://schemas.microsoft.com/office/drawing/2014/main" id="{3F33CE86-EE86-45D2-922A-CE9BC3D0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39" y="4895850"/>
            <a:ext cx="21000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PUBLISH</a:t>
            </a:r>
          </a:p>
        </p:txBody>
      </p:sp>
      <p:sp>
        <p:nvSpPr>
          <p:cNvPr id="13" name="text-305">
            <a:extLst xmlns:a="http://schemas.openxmlformats.org/drawingml/2006/main">
              <a:ext uri="{FF2B5EF4-FFF2-40B4-BE49-F238E27FC236}">
                <a16:creationId xmlns:a16="http://schemas.microsoft.com/office/drawing/2014/main" id="{24772126-AC66-4CF1-891F-86181336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39" y="5276850"/>
            <a:ext cx="210001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Proses terlacak</a:t>
            </a:r>
          </a:p>
        </p:txBody>
      </p:sp>
      <p:sp>
        <p:nvSpPr>
          <p:cNvPr id="14" name="text-306">
            <a:extLst xmlns:a="http://schemas.openxmlformats.org/drawingml/2006/main">
              <a:ext uri="{FF2B5EF4-FFF2-40B4-BE49-F238E27FC236}">
                <a16:creationId xmlns:a16="http://schemas.microsoft.com/office/drawing/2014/main" id="{77D9781F-6FE5-464E-8F6D-EECF8F66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978" y="4895850"/>
            <a:ext cx="21000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PRODUCTS</a:t>
            </a:r>
          </a:p>
        </p:txBody>
      </p:sp>
      <p:sp>
        <p:nvSpPr>
          <p:cNvPr id="15" name="text-307">
            <a:extLst xmlns:a="http://schemas.openxmlformats.org/drawingml/2006/main">
              <a:ext uri="{FF2B5EF4-FFF2-40B4-BE49-F238E27FC236}">
                <a16:creationId xmlns:a16="http://schemas.microsoft.com/office/drawing/2014/main" id="{40307F2D-5465-41FE-87DB-8EB54E9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978" y="5276850"/>
            <a:ext cx="210001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Mutu terlihat</a:t>
            </a:r>
          </a:p>
        </p:txBody>
      </p:sp>
      <p:sp>
        <p:nvSpPr>
          <p:cNvPr id="16" name="text-308">
            <a:extLst xmlns:a="http://schemas.openxmlformats.org/drawingml/2006/main">
              <a:ext uri="{FF2B5EF4-FFF2-40B4-BE49-F238E27FC236}">
                <a16:creationId xmlns:a16="http://schemas.microsoft.com/office/drawing/2014/main" id="{45BCDE9E-1DAC-443A-85DB-9312499A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717" y="4895850"/>
            <a:ext cx="21000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7" name="text-309">
            <a:extLst xmlns:a="http://schemas.openxmlformats.org/drawingml/2006/main">
              <a:ext uri="{FF2B5EF4-FFF2-40B4-BE49-F238E27FC236}">
                <a16:creationId xmlns:a16="http://schemas.microsoft.com/office/drawing/2014/main" id="{CE49214F-927A-47D9-AF78-E0CDAF9B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717" y="5276850"/>
            <a:ext cx="210001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Klaim terbukti</a:t>
            </a:r>
          </a:p>
        </p:txBody>
      </p:sp>
      <p:sp>
        <p:nvSpPr>
          <p:cNvPr id="18" name="text-310">
            <a:extLst xmlns:a="http://schemas.openxmlformats.org/drawingml/2006/main">
              <a:ext uri="{FF2B5EF4-FFF2-40B4-BE49-F238E27FC236}">
                <a16:creationId xmlns:a16="http://schemas.microsoft.com/office/drawing/2014/main" id="{7D3756AE-1EC1-4BD9-93DE-8323699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456" y="4895850"/>
            <a:ext cx="21000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PARTNERSHIPS</a:t>
            </a:r>
          </a:p>
        </p:txBody>
      </p:sp>
      <p:sp>
        <p:nvSpPr>
          <p:cNvPr id="19" name="text-311">
            <a:extLst xmlns:a="http://schemas.openxmlformats.org/drawingml/2006/main">
              <a:ext uri="{FF2B5EF4-FFF2-40B4-BE49-F238E27FC236}">
                <a16:creationId xmlns:a16="http://schemas.microsoft.com/office/drawing/2014/main" id="{CFC48726-12C1-47A5-B2A0-14812EA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456" y="5276850"/>
            <a:ext cx="210001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mitra jelas</a:t>
            </a:r>
          </a:p>
        </p:txBody>
      </p:sp>
      <p:sp>
        <p:nvSpPr>
          <p:cNvPr id="20" name="text-312">
            <a:extLst xmlns:a="http://schemas.openxmlformats.org/drawingml/2006/main">
              <a:ext uri="{FF2B5EF4-FFF2-40B4-BE49-F238E27FC236}">
                <a16:creationId xmlns:a16="http://schemas.microsoft.com/office/drawing/2014/main" id="{D7358149-A9E5-49ED-A181-4873743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pitch ilustratif. Five P dari Modul 1 CMC. Jangan mengarang traction.</a:t>
            </a:r>
          </a:p>
        </p:txBody>
      </p:sp>
    </p:spTree>
    <p:extLst>
      <p:ext uri="{BB962C8B-B14F-4D97-AF65-F5344CB8AC3E}">
        <p14:creationId xmlns:p14="http://schemas.microsoft.com/office/powerpoint/2010/main" val="2440679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dc2c5563b430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E4ECC-6B98-4EDA-BA98-5F3AF71E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360f0f116441d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313">
            <a:extLst xmlns:a="http://schemas.openxmlformats.org/drawingml/2006/main">
              <a:ext uri="{FF2B5EF4-FFF2-40B4-BE49-F238E27FC236}">
                <a16:creationId xmlns:a16="http://schemas.microsoft.com/office/drawing/2014/main" id="{1C6BB4A7-E4F8-41B0-93D3-6F9A1FC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LATIHAN PESERTA</a:t>
            </a:r>
          </a:p>
        </p:txBody>
      </p:sp>
      <p:sp>
        <p:nvSpPr>
          <p:cNvPr id="5" name="text-314">
            <a:extLst xmlns:a="http://schemas.openxmlformats.org/drawingml/2006/main">
              <a:ext uri="{FF2B5EF4-FFF2-40B4-BE49-F238E27FC236}">
                <a16:creationId xmlns:a16="http://schemas.microsoft.com/office/drawing/2014/main" id="{8E95CFE0-71BE-4D28-BA52-85CD1B2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Satu asumsi penting, satu rencana uji minggu ini</a:t>
            </a:r>
          </a:p>
        </p:txBody>
      </p:sp>
      <p:sp>
        <p:nvSpPr>
          <p:cNvPr id="6" name="text-315">
            <a:extLst xmlns:a="http://schemas.openxmlformats.org/drawingml/2006/main">
              <a:ext uri="{FF2B5EF4-FFF2-40B4-BE49-F238E27FC236}">
                <a16:creationId xmlns:a16="http://schemas.microsoft.com/office/drawing/2014/main" id="{6BA068B0-D340-4BBD-96CF-7914C50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7592"/>
            <a:ext cx="1104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Tulis rencana untuk bisnismu. Bagikan dengan peserta di sebelahmu.</a:t>
            </a:r>
          </a:p>
        </p:txBody>
      </p:sp>
      <p:sp>
        <p:nvSpPr>
          <p:cNvPr id="7" name="text-316">
            <a:extLst xmlns:a="http://schemas.openxmlformats.org/drawingml/2006/main">
              <a:ext uri="{FF2B5EF4-FFF2-40B4-BE49-F238E27FC236}">
                <a16:creationId xmlns:a16="http://schemas.microsoft.com/office/drawing/2014/main" id="{35DD66B4-285B-45A9-92C3-7C738D40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17">
            <a:extLst xmlns:a="http://schemas.openxmlformats.org/drawingml/2006/main">
              <a:ext uri="{FF2B5EF4-FFF2-40B4-BE49-F238E27FC236}">
                <a16:creationId xmlns:a16="http://schemas.microsoft.com/office/drawing/2014/main" id="{72784381-F77F-45C1-A46B-28CEC8D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9" name="text-318">
            <a:extLst xmlns:a="http://schemas.openxmlformats.org/drawingml/2006/main">
              <a:ext uri="{FF2B5EF4-FFF2-40B4-BE49-F238E27FC236}">
                <a16:creationId xmlns:a16="http://schemas.microsoft.com/office/drawing/2014/main" id="{CEB62C75-8BD7-4DEA-9F36-5A65152D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983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HARI 1–2</a:t>
            </a:r>
          </a:p>
        </p:txBody>
      </p:sp>
      <p:sp>
        <p:nvSpPr>
          <p:cNvPr id="10" name="text-319">
            <a:extLst xmlns:a="http://schemas.openxmlformats.org/drawingml/2006/main">
              <a:ext uri="{FF2B5EF4-FFF2-40B4-BE49-F238E27FC236}">
                <a16:creationId xmlns:a16="http://schemas.microsoft.com/office/drawing/2014/main" id="{CEF599EA-BE78-4011-A19D-401AA28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0835"/>
            <a:ext cx="3533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 asumsi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32ACE-12A0-4EED-A373-DF779C08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013710"/>
            <a:ext cx="5238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-320">
            <a:extLst xmlns:a="http://schemas.openxmlformats.org/drawingml/2006/main">
              <a:ext uri="{FF2B5EF4-FFF2-40B4-BE49-F238E27FC236}">
                <a16:creationId xmlns:a16="http://schemas.microsoft.com/office/drawing/2014/main" id="{6C4A3B13-E170-419F-BB3D-03993345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8983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HARI 3–5</a:t>
            </a:r>
          </a:p>
        </p:txBody>
      </p:sp>
      <p:sp>
        <p:nvSpPr>
          <p:cNvPr id="13" name="text-321">
            <a:extLst xmlns:a="http://schemas.openxmlformats.org/drawingml/2006/main">
              <a:ext uri="{FF2B5EF4-FFF2-40B4-BE49-F238E27FC236}">
                <a16:creationId xmlns:a16="http://schemas.microsoft.com/office/drawing/2014/main" id="{9674EFE6-2843-44E1-A635-B89DAFF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0835"/>
            <a:ext cx="3533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Jalankan uji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DFBAD-F900-4629-B575-78E2938A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3013710"/>
            <a:ext cx="5238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text-322">
            <a:extLst xmlns:a="http://schemas.openxmlformats.org/drawingml/2006/main">
              <a:ext uri="{FF2B5EF4-FFF2-40B4-BE49-F238E27FC236}">
                <a16:creationId xmlns:a16="http://schemas.microsoft.com/office/drawing/2014/main" id="{BF8DD0C9-11CF-4C2C-A974-DD6CDDD8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8983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HARI 6–7</a:t>
            </a:r>
          </a:p>
        </p:txBody>
      </p:sp>
      <p:sp>
        <p:nvSpPr>
          <p:cNvPr id="16" name="text-323">
            <a:extLst xmlns:a="http://schemas.openxmlformats.org/drawingml/2006/main">
              <a:ext uri="{FF2B5EF4-FFF2-40B4-BE49-F238E27FC236}">
                <a16:creationId xmlns:a16="http://schemas.microsoft.com/office/drawing/2014/main" id="{FFA27749-D7FD-416B-9F95-B5EA7FF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0835"/>
            <a:ext cx="3533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Tinjau bukti</a:t>
            </a:r>
          </a:p>
        </p:txBody>
      </p:sp>
      <p:sp>
        <p:nvSpPr>
          <p:cNvPr id="17" name="text-324">
            <a:extLst xmlns:a="http://schemas.openxmlformats.org/drawingml/2006/main">
              <a:ext uri="{FF2B5EF4-FFF2-40B4-BE49-F238E27FC236}">
                <a16:creationId xmlns:a16="http://schemas.microsoft.com/office/drawing/2014/main" id="{97B80318-4535-4567-AF3A-4BBBA764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8110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Saya akan menguji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F4014-474F-444E-9EAC-00DA13F3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9006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text-325">
            <a:extLst xmlns:a="http://schemas.openxmlformats.org/drawingml/2006/main">
              <a:ext uri="{FF2B5EF4-FFF2-40B4-BE49-F238E27FC236}">
                <a16:creationId xmlns:a16="http://schemas.microsoft.com/office/drawing/2014/main" id="{0223A21F-E382-495A-8C96-80354290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4860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 mencari bukti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222D5-8F74-42CA-9E8A-9645896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5681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text-326">
            <a:extLst xmlns:a="http://schemas.openxmlformats.org/drawingml/2006/main">
              <a:ext uri="{FF2B5EF4-FFF2-40B4-BE49-F238E27FC236}">
                <a16:creationId xmlns:a16="http://schemas.microsoft.com/office/drawing/2014/main" id="{2F68F976-D1D7-4D7C-8049-1220FA7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1610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Batas biaya / waktu saya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6EDC7-CCD8-4859-A146-51C86462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2356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6A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text-327">
            <a:extLst xmlns:a="http://schemas.openxmlformats.org/drawingml/2006/main">
              <a:ext uri="{FF2B5EF4-FFF2-40B4-BE49-F238E27FC236}">
                <a16:creationId xmlns:a16="http://schemas.microsoft.com/office/drawing/2014/main" id="{7A54BE9D-223A-46F5-AD62-C6DF470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590995"/>
            <a:ext cx="813816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rencana 7 hari, sesuaikan dengan siklus bisnis.</a:t>
            </a:r>
          </a:p>
        </p:txBody>
      </p:sp>
    </p:spTree>
    <p:extLst>
      <p:ext uri="{BB962C8B-B14F-4D97-AF65-F5344CB8AC3E}">
        <p14:creationId xmlns:p14="http://schemas.microsoft.com/office/powerpoint/2010/main" val="12095614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2D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4fe936f73400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f6500d3cc4efe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3" name="text-328">
            <a:extLst xmlns:a="http://schemas.openxmlformats.org/drawingml/2006/main">
              <a:ext uri="{FF2B5EF4-FFF2-40B4-BE49-F238E27FC236}">
                <a16:creationId xmlns:a16="http://schemas.microsoft.com/office/drawing/2014/main" id="{4474AD1F-227D-4DA7-BC99-5B424ED7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738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KEPUTUSAN FOUNDER</a:t>
            </a:r>
          </a:p>
        </p:txBody>
      </p:sp>
      <p:sp>
        <p:nvSpPr>
          <p:cNvPr id="4" name="text-329">
            <a:extLst xmlns:a="http://schemas.openxmlformats.org/drawingml/2006/main">
              <a:ext uri="{FF2B5EF4-FFF2-40B4-BE49-F238E27FC236}">
                <a16:creationId xmlns:a16="http://schemas.microsoft.com/office/drawing/2014/main" id="{9E8D328B-9E43-4891-8FEE-0C9B188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Kapan maju, menyesuaikan, atau menunda?</a:t>
            </a:r>
          </a:p>
        </p:txBody>
      </p:sp>
      <p:sp>
        <p:nvSpPr>
          <p:cNvPr id="5" name="text-330">
            <a:extLst xmlns:a="http://schemas.openxmlformats.org/drawingml/2006/main">
              <a:ext uri="{FF2B5EF4-FFF2-40B4-BE49-F238E27FC236}">
                <a16:creationId xmlns:a16="http://schemas.microsoft.com/office/drawing/2014/main" id="{28300A45-0AFA-4AAD-98F3-5FED615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90995"/>
            <a:ext cx="146304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331">
            <a:extLst xmlns:a="http://schemas.openxmlformats.org/drawingml/2006/main">
              <a:ext uri="{FF2B5EF4-FFF2-40B4-BE49-F238E27FC236}">
                <a16:creationId xmlns:a16="http://schemas.microsoft.com/office/drawing/2014/main" id="{4005D8A1-6C7C-4E65-82D6-D66CF6E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595" y="6590995"/>
            <a:ext cx="1371600" cy="26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7" name="text-332">
            <a:extLst xmlns:a="http://schemas.openxmlformats.org/drawingml/2006/main">
              <a:ext uri="{FF2B5EF4-FFF2-40B4-BE49-F238E27FC236}">
                <a16:creationId xmlns:a16="http://schemas.microsoft.com/office/drawing/2014/main" id="{F47948C9-5528-46D5-92B0-3EEEB01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0906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Peluangnya jelas.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Kemampuannya terbukti.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Risikonya sanggup ditanggung.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4F456-1C3C-42A6-A812-DA98282F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text-333">
            <a:extLst xmlns:a="http://schemas.openxmlformats.org/drawingml/2006/main">
              <a:ext uri="{FF2B5EF4-FFF2-40B4-BE49-F238E27FC236}">
                <a16:creationId xmlns:a16="http://schemas.microsoft.com/office/drawing/2014/main" id="{66835267-22B9-4FE4-A4D2-0CC3642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06965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Sebelum berkomitmen, cek kebutuhan buyer,</a:t>
            </a:r>
          </a:p>
          <a:p xmlns:a="http://schemas.openxmlformats.org/drawingml/2006/main">
            <a:pPr>
              <a:defRPr sz="2325" b="0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kesiapan bisnis, dan bukti dari uji berikutnya.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FD9BB-AFE9-4617-9415-BCA731D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text-334">
            <a:extLst xmlns:a="http://schemas.openxmlformats.org/drawingml/2006/main">
              <a:ext uri="{FF2B5EF4-FFF2-40B4-BE49-F238E27FC236}">
                <a16:creationId xmlns:a16="http://schemas.microsoft.com/office/drawing/2014/main" id="{638B3BD6-6638-4A01-8CF4-4B94236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Apa satu langkah yang akan kamu lakukan setelah sesi ini?</a:t>
            </a:r>
          </a:p>
        </p:txBody>
      </p:sp>
    </p:spTree>
    <p:extLst>
      <p:ext uri="{BB962C8B-B14F-4D97-AF65-F5344CB8AC3E}">
        <p14:creationId xmlns:p14="http://schemas.microsoft.com/office/powerpoint/2010/main" val="805641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2026-10-06T14:12:18.9530000Z</dcterms:created>
  <dcterms:modified xsi:type="dcterms:W3CDTF">2026-10-06T14:12:18.9530000Z</dcterms:modified>
</coreProperties>
</file>