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80" r:id="rId29"/>
    <p:sldId id="259" r:id="rId3"/>
    <p:sldId id="281" r:id="rId30"/>
    <p:sldId id="258" r:id="rId4"/>
    <p:sldId id="282" r:id="rId31"/>
    <p:sldId id="263" r:id="rId5"/>
    <p:sldId id="283" r:id="rId32"/>
    <p:sldId id="264" r:id="rId6"/>
    <p:sldId id="284" r:id="rId33"/>
    <p:sldId id="260" r:id="rId7"/>
    <p:sldId id="262" r:id="rId8"/>
    <p:sldId id="261" r:id="rId9"/>
    <p:sldId id="279" r:id="rId10"/>
    <p:sldId id="278" r:id="rId11"/>
    <p:sldId id="285" r:id="rId34"/>
    <p:sldId id="265" r:id="rId12"/>
    <p:sldId id="286" r:id="rId35"/>
    <p:sldId id="267" r:id="rId13"/>
    <p:sldId id="287" r:id="rId36"/>
    <p:sldId id="266" r:id="rId14"/>
    <p:sldId id="288" r:id="rId37"/>
    <p:sldId id="268" r:id="rId15"/>
    <p:sldId id="289" r:id="rId38"/>
    <p:sldId id="269" r:id="rId16"/>
    <p:sldId id="290" r:id="rId39"/>
    <p:sldId id="270" r:id="rId17"/>
    <p:sldId id="291" r:id="rId40"/>
    <p:sldId id="271" r:id="rId18"/>
    <p:sldId id="292" r:id="rId41"/>
    <p:sldId id="272" r:id="rId19"/>
    <p:sldId id="293" r:id="rId42"/>
    <p:sldId id="273" r:id="rId20"/>
    <p:sldId id="294" r:id="rId43"/>
    <p:sldId id="275" r:id="rId21"/>
    <p:sldId id="295" r:id="rId44"/>
    <p:sldId id="274" r:id="rId22"/>
    <p:sldId id="296" r:id="rId45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0080"/>
  </p:normalViewPr>
  <p:slideViewPr>
    <p:cSldViewPr snapToGrid="0">
      <p:cViewPr varScale="1">
        <p:scale>
          <a:sx n="93" d="100"/>
          <a:sy n="93" d="100"/>
        </p:scale>
        <p:origin x="216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5.xml"/><Relationship Id="rId5" Type="http://schemas.openxmlformats.org/officeDocument/2006/relationships/slide" Target="slides/slide7.xml"/><Relationship Id="rId6" Type="http://schemas.openxmlformats.org/officeDocument/2006/relationships/slide" Target="slides/slide9.xml"/><Relationship Id="rId7" Type="http://schemas.openxmlformats.org/officeDocument/2006/relationships/slide" Target="slides/slide11.xml"/><Relationship Id="rId8" Type="http://schemas.openxmlformats.org/officeDocument/2006/relationships/slide" Target="slides/slide12.xml"/><Relationship Id="rId9" Type="http://schemas.openxmlformats.org/officeDocument/2006/relationships/slide" Target="slides/slide13.xml"/><Relationship Id="rId10" Type="http://schemas.openxmlformats.org/officeDocument/2006/relationships/slide" Target="slides/slide14.xml"/><Relationship Id="rId11" Type="http://schemas.openxmlformats.org/officeDocument/2006/relationships/slide" Target="slides/slide15.xml"/><Relationship Id="rId12" Type="http://schemas.openxmlformats.org/officeDocument/2006/relationships/slide" Target="slides/slide17.xml"/><Relationship Id="rId13" Type="http://schemas.openxmlformats.org/officeDocument/2006/relationships/slide" Target="slides/slide19.xml"/><Relationship Id="rId14" Type="http://schemas.openxmlformats.org/officeDocument/2006/relationships/slide" Target="slides/slide21.xml"/><Relationship Id="rId15" Type="http://schemas.openxmlformats.org/officeDocument/2006/relationships/slide" Target="slides/slide23.xml"/><Relationship Id="rId16" Type="http://schemas.openxmlformats.org/officeDocument/2006/relationships/slide" Target="slides/slide25.xml"/><Relationship Id="rId17" Type="http://schemas.openxmlformats.org/officeDocument/2006/relationships/slide" Target="slides/slide27.xml"/><Relationship Id="rId18" Type="http://schemas.openxmlformats.org/officeDocument/2006/relationships/slide" Target="slides/slide29.xml"/><Relationship Id="rId19" Type="http://schemas.openxmlformats.org/officeDocument/2006/relationships/slide" Target="slides/slide31.xml"/><Relationship Id="rId20" Type="http://schemas.openxmlformats.org/officeDocument/2006/relationships/slide" Target="slides/slide33.xml"/><Relationship Id="rId21" Type="http://schemas.openxmlformats.org/officeDocument/2006/relationships/slide" Target="slides/slide35.xml"/><Relationship Id="rId22" Type="http://schemas.openxmlformats.org/officeDocument/2006/relationships/slide" Target="slides/slide37.xml"/><Relationship Id="rId23" Type="http://schemas.openxmlformats.org/officeDocument/2006/relationships/slide" Target="slides/slide39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.xml"/><Relationship Id="rId30" Type="http://schemas.openxmlformats.org/officeDocument/2006/relationships/slide" Target="slides/slide4.xml"/><Relationship Id="rId31" Type="http://schemas.openxmlformats.org/officeDocument/2006/relationships/slide" Target="slides/slide6.xml"/><Relationship Id="rId32" Type="http://schemas.openxmlformats.org/officeDocument/2006/relationships/slide" Target="slides/slide8.xml"/><Relationship Id="rId33" Type="http://schemas.openxmlformats.org/officeDocument/2006/relationships/slide" Target="slides/slide10.xml"/><Relationship Id="rId34" Type="http://schemas.openxmlformats.org/officeDocument/2006/relationships/slide" Target="slides/slide16.xml"/><Relationship Id="rId35" Type="http://schemas.openxmlformats.org/officeDocument/2006/relationships/slide" Target="slides/slide18.xml"/><Relationship Id="rId36" Type="http://schemas.openxmlformats.org/officeDocument/2006/relationships/slide" Target="slides/slide20.xml"/><Relationship Id="rId37" Type="http://schemas.openxmlformats.org/officeDocument/2006/relationships/slide" Target="slides/slide22.xml"/><Relationship Id="rId38" Type="http://schemas.openxmlformats.org/officeDocument/2006/relationships/slide" Target="slides/slide24.xml"/><Relationship Id="rId39" Type="http://schemas.openxmlformats.org/officeDocument/2006/relationships/slide" Target="slides/slide26.xml"/><Relationship Id="rId40" Type="http://schemas.openxmlformats.org/officeDocument/2006/relationships/slide" Target="slides/slide28.xml"/><Relationship Id="rId41" Type="http://schemas.openxmlformats.org/officeDocument/2006/relationships/slide" Target="slides/slide30.xml"/><Relationship Id="rId42" Type="http://schemas.openxmlformats.org/officeDocument/2006/relationships/slide" Target="slides/slide32.xml"/><Relationship Id="rId43" Type="http://schemas.openxmlformats.org/officeDocument/2006/relationships/slide" Target="slides/slide34.xml"/><Relationship Id="rId44" Type="http://schemas.openxmlformats.org/officeDocument/2006/relationships/slide" Target="slides/slide36.xml"/><Relationship Id="rId45" Type="http://schemas.openxmlformats.org/officeDocument/2006/relationships/slide" Target="slides/slide3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Unit</c:v>
          </c:tx>
          <c:spPr>
            <a:solidFill>
              <a:srgbClr val="9AB6A5"/>
            </a:solidFill>
          </c:spPr>
          <c:invertIfNegative val="1"/>
          <c:dPt>
            <c:idx val="1"/>
            <c:invertIfNegative val="0"/>
            <c:bubble3D val="0"/>
            <c:spPr>
              <a:solidFill>
                <a:srgbClr val="087958"/>
              </a:solidFill>
            </c:spPr>
            <c:extLst>
              <c:ext xmlns:c16="http://schemas.microsoft.com/office/drawing/2014/chart" uri="{C3380CC4-5D6E-409C-BE32-E72D297353CC}">
                <c16:uniqueId val="{00000001-9E73-6D4F-BE33-68795B6FE2D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00" b="1">
                    <a:solidFill>
                      <a:srgbClr val="173D34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Pesanan buyer</c:v>
                </c:pt>
                <c:pt idx="1">
                  <c:v>Kapasitas tersedia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500</c:v>
                </c:pt>
                <c:pt idx="1">
                  <c:v>300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9E73-6D4F-BE33-68795B6FE2D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between"/>
        <c:majorUnit val="200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90403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310632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Calibri"/>
          <a:ea typeface="Calibri"/>
          <a:cs typeface="Calibri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Calibri"/>
          <a:ea typeface="Calibri"/>
          <a:cs typeface="Calibri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Calibri"/>
          <a:ea typeface="Calibri"/>
          <a:cs typeface="Calibri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1pPr>
      <a:lvl2pPr marL="4572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2pPr>
      <a:lvl3pPr marL="9144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3pPr>
      <a:lvl4pPr marL="13716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4pPr>
      <a:lvl5pPr marL="18288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5pPr>
      <a:lvl6pPr marL="22860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6pPr>
      <a:lvl7pPr marL="27432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7pPr>
      <a:lvl8pPr marL="32004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8pPr>
      <a:lvl9pPr marL="36576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12414"/>
            <a:ext cx="12192000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219200" y="563175"/>
            <a:ext cx="1828800" cy="685549"/>
          </a:xfrm>
          <a:prstGeom prst="rect">
            <a:avLst/>
          </a:prstGeom>
        </p:spPr>
      </p:pic>
      <p:sp>
        <p:nvSpPr>
          <p:cNvPr id="3" name="text-1">
            <a:extLst>
              <a:ext uri="{FF2B5EF4-FFF2-40B4-BE49-F238E27FC236}">
                <a16:creationId xmlns:a16="http://schemas.microsoft.com/office/drawing/2014/main" id="{C26D6F87-587C-4189-9214-99978CD7B3A6}"/>
              </a:ext>
            </a:extLst>
          </p:cNvPr>
          <p:cNvSpPr>
            <a:spLocks noGrp="1"/>
          </p:cNvSpPr>
          <p:nvPr/>
        </p:nvSpPr>
        <p:spPr>
          <a:xfrm>
            <a:off x="1321942" y="2457324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1">
                <a:solidFill>
                  <a:srgbClr val="A8CEC0"/>
                </a:solidFill>
                <a:latin typeface="Calibri"/>
                <a:ea typeface="Calibri"/>
                <a:cs typeface="Calibri"/>
              </a:defRPr>
            </a:pPr>
            <a:r>
              <a:rPr sz="1575" b="1" dirty="0">
                <a:solidFill>
                  <a:srgbClr val="A8CEC0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62ABBA6C-CE67-4A06-8335-71355CC96436}"/>
              </a:ext>
            </a:extLst>
          </p:cNvPr>
          <p:cNvSpPr>
            <a:spLocks noGrp="1"/>
          </p:cNvSpPr>
          <p:nvPr/>
        </p:nvSpPr>
        <p:spPr>
          <a:xfrm>
            <a:off x="1219200" y="2743074"/>
            <a:ext cx="10572750" cy="88681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5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Entrepreneurship</a:t>
            </a:r>
            <a:r>
              <a:rPr lang="en-US" sz="5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5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Mentalit</a:t>
            </a:r>
            <a:r>
              <a:rPr lang="en-US" sz="5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264300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964505-2E18-1D3B-D417-232C7A739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8" name="text-108">
            <a:extLst>
              <a:ext uri="{FF2B5EF4-FFF2-40B4-BE49-F238E27FC236}">
                <a16:creationId xmlns:a16="http://schemas.microsoft.com/office/drawing/2014/main" id="{8C770040-E4C3-2CE4-0BAA-CBB6136F29F4}"/>
              </a:ext>
            </a:extLst>
          </p:cNvPr>
          <p:cNvSpPr>
            <a:spLocks noGrp="1"/>
          </p:cNvSpPr>
          <p:nvPr/>
        </p:nvSpPr>
        <p:spPr>
          <a:xfrm>
            <a:off x="724204" y="2560320"/>
            <a:ext cx="10586008" cy="128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Bayangkan minggu ini kamu dapat</a:t>
            </a:r>
          </a:p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 i="1" u="sng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order ekspor pertama</a:t>
            </a: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dari buyer luar negeri...</a:t>
            </a:r>
          </a:p>
        </p:txBody>
      </p:sp>
    </p:spTree>
    <p:extLst>
      <p:ext uri="{BB962C8B-B14F-4D97-AF65-F5344CB8AC3E}">
        <p14:creationId xmlns:p14="http://schemas.microsoft.com/office/powerpoint/2010/main" val="872051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AD2E5F7-443F-4472-A560-FC5E11453A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solidFill>
              <a:schemeClr val="tx1"/>
            </a:solidFill>
          </a:ln>
          <a:effectLst>
            <a:softEdge rad="0"/>
          </a:effectLst>
        </p:spPr>
        <p:txBody>
          <a:bodyPr/>
          <a:lstStyle/>
          <a:p>
            <a:endParaRPr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29">
            <a:extLst>
              <a:ext uri="{FF2B5EF4-FFF2-40B4-BE49-F238E27FC236}">
                <a16:creationId xmlns:a16="http://schemas.microsoft.com/office/drawing/2014/main" id="{7E0475CA-92FC-47C4-B856-EC7CAB64352F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STUDI KASUS</a:t>
            </a:r>
          </a:p>
        </p:txBody>
      </p:sp>
      <p:sp>
        <p:nvSpPr>
          <p:cNvPr id="5" name="text-30">
            <a:extLst>
              <a:ext uri="{FF2B5EF4-FFF2-40B4-BE49-F238E27FC236}">
                <a16:creationId xmlns:a16="http://schemas.microsoft.com/office/drawing/2014/main" id="{66337C79-138D-4C13-A5AC-2F89AB01EFDB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Buyer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mau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beli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500 unit,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tapi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hanya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sanggup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300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unit?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31">
            <a:extLst>
              <a:ext uri="{FF2B5EF4-FFF2-40B4-BE49-F238E27FC236}">
                <a16:creationId xmlns:a16="http://schemas.microsoft.com/office/drawing/2014/main" id="{7C71257C-8221-42FF-BF0A-58557EA3434F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32">
            <a:extLst>
              <a:ext uri="{FF2B5EF4-FFF2-40B4-BE49-F238E27FC236}">
                <a16:creationId xmlns:a16="http://schemas.microsoft.com/office/drawing/2014/main" id="{1E1D8CFF-8C59-4629-8D88-35C71ADEB35D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rcRect t="2570" b="2570"/>
          <a:stretch>
            <a:fillRect/>
          </a:stretch>
        </p:blipFill>
        <p:spPr>
          <a:xfrm>
            <a:off x="571500" y="2103120"/>
            <a:ext cx="5067605" cy="3566159"/>
          </a:xfrm>
          <a:prstGeom prst="rect">
            <a:avLst/>
          </a:prstGeom>
          <a:ln w="41275">
            <a:solidFill>
              <a:schemeClr val="tx1"/>
            </a:solidFill>
          </a:ln>
          <a:effectLst>
            <a:softEdge rad="0"/>
          </a:effectLst>
        </p:spPr>
      </p:pic>
      <p:sp>
        <p:nvSpPr>
          <p:cNvPr id="9" name="text-33">
            <a:extLst>
              <a:ext uri="{FF2B5EF4-FFF2-40B4-BE49-F238E27FC236}">
                <a16:creationId xmlns:a16="http://schemas.microsoft.com/office/drawing/2014/main" id="{D3C0FC61-44F4-450C-9AF8-14D17BBF12D7}"/>
              </a:ext>
            </a:extLst>
          </p:cNvPr>
          <p:cNvSpPr>
            <a:spLocks noGrp="1"/>
          </p:cNvSpPr>
          <p:nvPr/>
        </p:nvSpPr>
        <p:spPr>
          <a:xfrm>
            <a:off x="6219749" y="2114550"/>
            <a:ext cx="26098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5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500</a:t>
            </a:r>
          </a:p>
        </p:txBody>
      </p:sp>
      <p:sp>
        <p:nvSpPr>
          <p:cNvPr id="10" name="text-34">
            <a:extLst>
              <a:ext uri="{FF2B5EF4-FFF2-40B4-BE49-F238E27FC236}">
                <a16:creationId xmlns:a16="http://schemas.microsoft.com/office/drawing/2014/main" id="{3CB3A973-7880-4991-B97A-35A35E140D46}"/>
              </a:ext>
            </a:extLst>
          </p:cNvPr>
          <p:cNvSpPr>
            <a:spLocks noGrp="1"/>
          </p:cNvSpPr>
          <p:nvPr/>
        </p:nvSpPr>
        <p:spPr>
          <a:xfrm>
            <a:off x="6219749" y="2990850"/>
            <a:ext cx="2552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nit </a:t>
            </a:r>
            <a:r>
              <a:rPr lang="en-US"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yg</a:t>
            </a:r>
            <a:r>
              <a:rPr lang="en-US"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diminta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buyer</a:t>
            </a:r>
          </a:p>
        </p:txBody>
      </p:sp>
      <p:sp>
        <p:nvSpPr>
          <p:cNvPr id="11" name="text-35">
            <a:extLst>
              <a:ext uri="{FF2B5EF4-FFF2-40B4-BE49-F238E27FC236}">
                <a16:creationId xmlns:a16="http://schemas.microsoft.com/office/drawing/2014/main" id="{59127875-0933-4106-8299-250BFE964A0A}"/>
              </a:ext>
            </a:extLst>
          </p:cNvPr>
          <p:cNvSpPr>
            <a:spLocks noGrp="1"/>
          </p:cNvSpPr>
          <p:nvPr/>
        </p:nvSpPr>
        <p:spPr>
          <a:xfrm>
            <a:off x="9182405" y="2114550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1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51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300</a:t>
            </a:r>
          </a:p>
        </p:txBody>
      </p:sp>
      <p:sp>
        <p:nvSpPr>
          <p:cNvPr id="12" name="text-36">
            <a:extLst>
              <a:ext uri="{FF2B5EF4-FFF2-40B4-BE49-F238E27FC236}">
                <a16:creationId xmlns:a16="http://schemas.microsoft.com/office/drawing/2014/main" id="{734C9D73-342E-41EC-B00E-B68117DAB30F}"/>
              </a:ext>
            </a:extLst>
          </p:cNvPr>
          <p:cNvSpPr>
            <a:spLocks noGrp="1"/>
          </p:cNvSpPr>
          <p:nvPr/>
        </p:nvSpPr>
        <p:spPr>
          <a:xfrm>
            <a:off x="9182405" y="2990850"/>
            <a:ext cx="25336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Kapasitas</a:t>
            </a:r>
            <a:r>
              <a:rPr lang="en-US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lang="en-US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endParaRPr sz="1800" b="0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158C3671-9E38-421E-BB22-A600CC1A2F7C}"/>
              </a:ext>
            </a:extLst>
          </p:cNvPr>
          <p:cNvSpPr>
            <a:spLocks noGrp="1"/>
          </p:cNvSpPr>
          <p:nvPr/>
        </p:nvSpPr>
        <p:spPr>
          <a:xfrm>
            <a:off x="6219749" y="3733800"/>
            <a:ext cx="5400446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-37">
            <a:extLst>
              <a:ext uri="{FF2B5EF4-FFF2-40B4-BE49-F238E27FC236}">
                <a16:creationId xmlns:a16="http://schemas.microsoft.com/office/drawing/2014/main" id="{7FABD806-0A0C-496E-921E-49A673078C7C}"/>
              </a:ext>
            </a:extLst>
          </p:cNvPr>
          <p:cNvSpPr>
            <a:spLocks noGrp="1"/>
          </p:cNvSpPr>
          <p:nvPr/>
        </p:nvSpPr>
        <p:spPr>
          <a:xfrm>
            <a:off x="6219749" y="4010025"/>
            <a:ext cx="5400446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Deadline 30 hari</a:t>
            </a:r>
          </a:p>
        </p:txBody>
      </p:sp>
      <p:sp>
        <p:nvSpPr>
          <p:cNvPr id="15" name="text-38">
            <a:extLst>
              <a:ext uri="{FF2B5EF4-FFF2-40B4-BE49-F238E27FC236}">
                <a16:creationId xmlns:a16="http://schemas.microsoft.com/office/drawing/2014/main" id="{BF9EC44B-2130-486E-BBF4-15049DDD9B26}"/>
              </a:ext>
            </a:extLst>
          </p:cNvPr>
          <p:cNvSpPr>
            <a:spLocks noGrp="1"/>
          </p:cNvSpPr>
          <p:nvPr/>
        </p:nvSpPr>
        <p:spPr>
          <a:xfrm>
            <a:off x="6219749" y="4838700"/>
            <a:ext cx="5400446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Buyer </a:t>
            </a:r>
            <a:r>
              <a:rPr lang="en-US"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baru</a:t>
            </a:r>
            <a:r>
              <a:rPr lang="en-US"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mau</a:t>
            </a:r>
            <a:r>
              <a:rPr lang="en-US"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bayar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setelah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barang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sampai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Packaging </a:t>
            </a: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ekspor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belum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pernah</a:t>
            </a:r>
            <a:r>
              <a:rPr lang="en-US"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uji </a:t>
            </a:r>
            <a:r>
              <a:rPr lang="en-US"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coba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1D58644F-9698-47CB-B5C9-FF72532F8462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text-39">
            <a:extLst>
              <a:ext uri="{FF2B5EF4-FFF2-40B4-BE49-F238E27FC236}">
                <a16:creationId xmlns:a16="http://schemas.microsoft.com/office/drawing/2014/main" id="{4CF75A08-5906-4D13-909E-542CE0304538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harus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pilih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terima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nego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atau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harus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tunda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? Data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apa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masih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kurang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18" name="text-40">
            <a:extLst>
              <a:ext uri="{FF2B5EF4-FFF2-40B4-BE49-F238E27FC236}">
                <a16:creationId xmlns:a16="http://schemas.microsoft.com/office/drawing/2014/main" id="{B614B3FF-6E39-4023-B3BD-5923BCB973D3}"/>
              </a:ext>
            </a:extLst>
          </p:cNvPr>
          <p:cNvSpPr>
            <a:spLocks noGrp="1"/>
          </p:cNvSpPr>
          <p:nvPr/>
        </p:nvSpPr>
        <p:spPr>
          <a:xfrm>
            <a:off x="1920240" y="6590995"/>
            <a:ext cx="813816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Kasus dan angka hanya ilustrasi. Gambar dibuat dengan AI.</a:t>
            </a:r>
          </a:p>
        </p:txBody>
      </p:sp>
    </p:spTree>
    <p:extLst>
      <p:ext uri="{BB962C8B-B14F-4D97-AF65-F5344CB8AC3E}">
        <p14:creationId xmlns:p14="http://schemas.microsoft.com/office/powerpoint/2010/main" val="1188795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964505-2E18-1D3B-D417-232C7A739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8" name="text-108">
            <a:extLst>
              <a:ext uri="{FF2B5EF4-FFF2-40B4-BE49-F238E27FC236}">
                <a16:creationId xmlns:a16="http://schemas.microsoft.com/office/drawing/2014/main" id="{8C770040-E4C3-2CE4-0BAA-CBB6136F29F4}"/>
              </a:ext>
            </a:extLst>
          </p:cNvPr>
          <p:cNvSpPr>
            <a:spLocks noGrp="1"/>
          </p:cNvSpPr>
          <p:nvPr/>
        </p:nvSpPr>
        <p:spPr>
          <a:xfrm>
            <a:off x="724204" y="2560320"/>
            <a:ext cx="10586008" cy="128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Kenapa kasus ini tidak bisa langsung dijawab?</a:t>
            </a:r>
          </a:p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Karena </a:t>
            </a:r>
            <a:r>
              <a:rPr lang="id-ID" sz="3900" b="1" dirty="0" i="1" u="sng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berani saja tidak cukup</a:t>
            </a: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2051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A44154D-0C40-441B-BAA8-C282342DC935}"/>
              </a:ext>
            </a:extLst>
          </p:cNvPr>
          <p:cNvSpPr>
            <a:spLocks noGrp="1"/>
          </p:cNvSpPr>
          <p:nvPr/>
        </p:nvSpPr>
        <p:spPr>
          <a:xfrm>
            <a:off x="0" y="-10274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17">
            <a:extLst>
              <a:ext uri="{FF2B5EF4-FFF2-40B4-BE49-F238E27FC236}">
                <a16:creationId xmlns:a16="http://schemas.microsoft.com/office/drawing/2014/main" id="{08353A24-0051-44EE-8F59-DC5FEC26B876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BUSINESS ACUMEN</a:t>
            </a:r>
          </a:p>
        </p:txBody>
      </p:sp>
      <p:sp>
        <p:nvSpPr>
          <p:cNvPr id="5" name="text-18">
            <a:extLst>
              <a:ext uri="{FF2B5EF4-FFF2-40B4-BE49-F238E27FC236}">
                <a16:creationId xmlns:a16="http://schemas.microsoft.com/office/drawing/2014/main" id="{D2F03A09-8B9E-4E40-B2C4-208E1FFCEF36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Order yang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menarik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belum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tentu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order yang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tepat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untuk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19">
            <a:extLst>
              <a:ext uri="{FF2B5EF4-FFF2-40B4-BE49-F238E27FC236}">
                <a16:creationId xmlns:a16="http://schemas.microsoft.com/office/drawing/2014/main" id="{6DBC1EBC-25EC-4440-82C7-757AE2C216E0}"/>
              </a:ext>
            </a:extLst>
          </p:cNvPr>
          <p:cNvSpPr>
            <a:spLocks noGrp="1"/>
          </p:cNvSpPr>
          <p:nvPr/>
        </p:nvSpPr>
        <p:spPr>
          <a:xfrm>
            <a:off x="571500" y="1307592"/>
            <a:ext cx="110490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Business acumen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membantu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eskportir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untuk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menimbang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trade-off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sebelum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bilang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“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deal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”.</a:t>
            </a:r>
          </a:p>
        </p:txBody>
      </p:sp>
      <p:sp>
        <p:nvSpPr>
          <p:cNvPr id="7" name="text-20">
            <a:extLst>
              <a:ext uri="{FF2B5EF4-FFF2-40B4-BE49-F238E27FC236}">
                <a16:creationId xmlns:a16="http://schemas.microsoft.com/office/drawing/2014/main" id="{7BE860C8-0FC8-450F-9913-A4D8023D5FA0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21">
            <a:extLst>
              <a:ext uri="{FF2B5EF4-FFF2-40B4-BE49-F238E27FC236}">
                <a16:creationId xmlns:a16="http://schemas.microsoft.com/office/drawing/2014/main" id="{C49001E6-D495-4047-A961-507AD884F818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22">
            <a:extLst>
              <a:ext uri="{FF2B5EF4-FFF2-40B4-BE49-F238E27FC236}">
                <a16:creationId xmlns:a16="http://schemas.microsoft.com/office/drawing/2014/main" id="{D1BFD564-4E25-41BB-B818-C65147BFFD6E}"/>
              </a:ext>
            </a:extLst>
          </p:cNvPr>
          <p:cNvSpPr>
            <a:spLocks noGrp="1"/>
          </p:cNvSpPr>
          <p:nvPr/>
        </p:nvSpPr>
        <p:spPr>
          <a:xfrm>
            <a:off x="571500" y="2379345"/>
            <a:ext cx="3762375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Lihat</a:t>
            </a:r>
          </a:p>
          <a:p>
            <a:pPr>
              <a:defRPr sz="36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peluangnya</a:t>
            </a:r>
          </a:p>
        </p:txBody>
      </p:sp>
      <p:sp>
        <p:nvSpPr>
          <p:cNvPr id="10" name="text-23">
            <a:extLst>
              <a:ext uri="{FF2B5EF4-FFF2-40B4-BE49-F238E27FC236}">
                <a16:creationId xmlns:a16="http://schemas.microsoft.com/office/drawing/2014/main" id="{D9AF6469-9050-4561-A703-A23F39D6A050}"/>
              </a:ext>
            </a:extLst>
          </p:cNvPr>
          <p:cNvSpPr>
            <a:spLocks noGrp="1"/>
          </p:cNvSpPr>
          <p:nvPr/>
        </p:nvSpPr>
        <p:spPr>
          <a:xfrm>
            <a:off x="571500" y="3941445"/>
            <a:ext cx="37433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ENTREPRENEURSHIP</a:t>
            </a:r>
          </a:p>
        </p:txBody>
      </p:sp>
      <p:sp>
        <p:nvSpPr>
          <p:cNvPr id="11" name="text-24">
            <a:extLst>
              <a:ext uri="{FF2B5EF4-FFF2-40B4-BE49-F238E27FC236}">
                <a16:creationId xmlns:a16="http://schemas.microsoft.com/office/drawing/2014/main" id="{51FD6141-514B-4A4D-B730-DB7DE22020CA}"/>
              </a:ext>
            </a:extLst>
          </p:cNvPr>
          <p:cNvSpPr>
            <a:spLocks noGrp="1"/>
          </p:cNvSpPr>
          <p:nvPr/>
        </p:nvSpPr>
        <p:spPr>
          <a:xfrm>
            <a:off x="571500" y="4322445"/>
            <a:ext cx="37528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Kebutuhan buyer apa</a:t>
            </a:r>
          </a:p>
          <a:p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yang bisa kita isi?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1C0EA4D5-B90F-42CE-944E-2AEE8AC594BC}"/>
              </a:ext>
            </a:extLst>
          </p:cNvPr>
          <p:cNvSpPr>
            <a:spLocks noGrp="1"/>
          </p:cNvSpPr>
          <p:nvPr/>
        </p:nvSpPr>
        <p:spPr>
          <a:xfrm>
            <a:off x="4221442" y="2819438"/>
            <a:ext cx="1114425" cy="238125"/>
          </a:xfrm>
          <a:prstGeom prst="rightArrow">
            <a:avLst/>
          </a:prstGeom>
          <a:solidFill>
            <a:srgbClr val="9AB6A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-25">
            <a:extLst>
              <a:ext uri="{FF2B5EF4-FFF2-40B4-BE49-F238E27FC236}">
                <a16:creationId xmlns:a16="http://schemas.microsoft.com/office/drawing/2014/main" id="{76F31E72-4B84-4F99-BB7C-FC4AA7FE59C1}"/>
              </a:ext>
            </a:extLst>
          </p:cNvPr>
          <p:cNvSpPr>
            <a:spLocks noGrp="1"/>
          </p:cNvSpPr>
          <p:nvPr/>
        </p:nvSpPr>
        <p:spPr>
          <a:xfrm>
            <a:off x="6667805" y="2379345"/>
            <a:ext cx="495239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Hitung</a:t>
            </a:r>
          </a:p>
          <a:p>
            <a:pPr>
              <a:defRPr sz="36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dampaknya</a:t>
            </a:r>
          </a:p>
        </p:txBody>
      </p:sp>
      <p:sp>
        <p:nvSpPr>
          <p:cNvPr id="14" name="text-26">
            <a:extLst>
              <a:ext uri="{FF2B5EF4-FFF2-40B4-BE49-F238E27FC236}">
                <a16:creationId xmlns:a16="http://schemas.microsoft.com/office/drawing/2014/main" id="{B55B8397-B37A-4CAD-AFBC-FCB4AE05F654}"/>
              </a:ext>
            </a:extLst>
          </p:cNvPr>
          <p:cNvSpPr>
            <a:spLocks noGrp="1"/>
          </p:cNvSpPr>
          <p:nvPr/>
        </p:nvSpPr>
        <p:spPr>
          <a:xfrm>
            <a:off x="6667805" y="3941445"/>
            <a:ext cx="495239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BUSINESS ACUMEN</a:t>
            </a:r>
          </a:p>
        </p:txBody>
      </p:sp>
      <p:sp>
        <p:nvSpPr>
          <p:cNvPr id="15" name="text-27">
            <a:extLst>
              <a:ext uri="{FF2B5EF4-FFF2-40B4-BE49-F238E27FC236}">
                <a16:creationId xmlns:a16="http://schemas.microsoft.com/office/drawing/2014/main" id="{8BA7737F-992D-45AD-AD79-30C2B8B2AAA8}"/>
              </a:ext>
            </a:extLst>
          </p:cNvPr>
          <p:cNvSpPr>
            <a:spLocks noGrp="1"/>
          </p:cNvSpPr>
          <p:nvPr/>
        </p:nvSpPr>
        <p:spPr>
          <a:xfrm>
            <a:off x="6667805" y="4322445"/>
            <a:ext cx="495239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Apa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efeknya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kapasitas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</a:t>
            </a:r>
          </a:p>
          <a:p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supply chain, dan cash flow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EAB9D3C2-CD1F-49EE-A2CF-51D5FE7890B6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text-28">
            <a:extLst>
              <a:ext uri="{FF2B5EF4-FFF2-40B4-BE49-F238E27FC236}">
                <a16:creationId xmlns:a16="http://schemas.microsoft.com/office/drawing/2014/main" id="{94717BC6-A5F4-444A-9F66-0264F92D054D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Pilihannya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bukan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cuma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terima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atau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tolak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Syarat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-syarat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nya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juga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bisa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negosiasikan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2505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964505-2E18-1D3B-D417-232C7A739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8" name="text-108">
            <a:extLst>
              <a:ext uri="{FF2B5EF4-FFF2-40B4-BE49-F238E27FC236}">
                <a16:creationId xmlns:a16="http://schemas.microsoft.com/office/drawing/2014/main" id="{8C770040-E4C3-2CE4-0BAA-CBB6136F29F4}"/>
              </a:ext>
            </a:extLst>
          </p:cNvPr>
          <p:cNvSpPr>
            <a:spLocks noGrp="1"/>
          </p:cNvSpPr>
          <p:nvPr/>
        </p:nvSpPr>
        <p:spPr>
          <a:xfrm>
            <a:off x="724204" y="2560320"/>
            <a:ext cx="10586008" cy="128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Untuk menimbang, kita butuh patokan.</a:t>
            </a:r>
          </a:p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Patokan pertama: </a:t>
            </a:r>
            <a:r>
              <a:rPr lang="id-ID" sz="3900" b="1" dirty="0" i="1" u="sng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kenapa bisnis ini ada?</a:t>
            </a:r>
          </a:p>
        </p:txBody>
      </p:sp>
    </p:spTree>
    <p:extLst>
      <p:ext uri="{BB962C8B-B14F-4D97-AF65-F5344CB8AC3E}">
        <p14:creationId xmlns:p14="http://schemas.microsoft.com/office/powerpoint/2010/main" val="872051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C5B7A3F-A4D7-444C-8142-3E6BB1FABB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114">
            <a:extLst>
              <a:ext uri="{FF2B5EF4-FFF2-40B4-BE49-F238E27FC236}">
                <a16:creationId xmlns:a16="http://schemas.microsoft.com/office/drawing/2014/main" id="{A1AC8748-C249-45F8-914C-26AB70142B3D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TUJUAN BISNIS</a:t>
            </a:r>
          </a:p>
        </p:txBody>
      </p:sp>
      <p:sp>
        <p:nvSpPr>
          <p:cNvPr id="5" name="text-115">
            <a:extLst>
              <a:ext uri="{FF2B5EF4-FFF2-40B4-BE49-F238E27FC236}">
                <a16:creationId xmlns:a16="http://schemas.microsoft.com/office/drawing/2014/main" id="{188A454E-3EDB-4CE8-BBA2-12C4358C375B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harus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tahu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apa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lakukan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dan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alasan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melakukannya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116">
            <a:extLst>
              <a:ext uri="{FF2B5EF4-FFF2-40B4-BE49-F238E27FC236}">
                <a16:creationId xmlns:a16="http://schemas.microsoft.com/office/drawing/2014/main" id="{208E1028-12FB-47B1-A7FF-6B46C1BF6ADD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117">
            <a:extLst>
              <a:ext uri="{FF2B5EF4-FFF2-40B4-BE49-F238E27FC236}">
                <a16:creationId xmlns:a16="http://schemas.microsoft.com/office/drawing/2014/main" id="{D025CC2F-482C-4A6C-8B9A-C56F110970B3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9452A24-6BBD-415D-988C-381AA85D3A85}"/>
              </a:ext>
            </a:extLst>
          </p:cNvPr>
          <p:cNvSpPr>
            <a:spLocks noGrp="1"/>
          </p:cNvSpPr>
          <p:nvPr/>
        </p:nvSpPr>
        <p:spPr>
          <a:xfrm>
            <a:off x="571500" y="1965960"/>
            <a:ext cx="3476625" cy="3476625"/>
          </a:xfrm>
          <a:prstGeom prst="ellipse">
            <a:avLst/>
          </a:prstGeom>
          <a:noFill/>
          <a:ln w="19050">
            <a:solidFill>
              <a:srgbClr val="9AB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FC6CB1-E29B-4370-B72A-1CABC5723075}"/>
              </a:ext>
            </a:extLst>
          </p:cNvPr>
          <p:cNvSpPr>
            <a:spLocks noGrp="1"/>
          </p:cNvSpPr>
          <p:nvPr/>
        </p:nvSpPr>
        <p:spPr>
          <a:xfrm>
            <a:off x="1085850" y="2480310"/>
            <a:ext cx="2447925" cy="2447925"/>
          </a:xfrm>
          <a:prstGeom prst="ellipse">
            <a:avLst/>
          </a:prstGeom>
          <a:solidFill>
            <a:srgbClr val="EDF4EF"/>
          </a:solidFill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67888D3-8584-442F-8F02-3284C5D37E3F}"/>
              </a:ext>
            </a:extLst>
          </p:cNvPr>
          <p:cNvSpPr>
            <a:spLocks noGrp="1"/>
          </p:cNvSpPr>
          <p:nvPr/>
        </p:nvSpPr>
        <p:spPr>
          <a:xfrm>
            <a:off x="1676552" y="3071012"/>
            <a:ext cx="1266825" cy="1266825"/>
          </a:xfrm>
          <a:prstGeom prst="ellipse">
            <a:avLst/>
          </a:prstGeom>
          <a:solidFill>
            <a:srgbClr val="087958"/>
          </a:solidFill>
          <a:ln w="952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ext-118">
            <a:extLst>
              <a:ext uri="{FF2B5EF4-FFF2-40B4-BE49-F238E27FC236}">
                <a16:creationId xmlns:a16="http://schemas.microsoft.com/office/drawing/2014/main" id="{51E05C53-10C3-4009-8BDC-52FC7ECDB5D4}"/>
              </a:ext>
            </a:extLst>
          </p:cNvPr>
          <p:cNvSpPr>
            <a:spLocks noGrp="1"/>
          </p:cNvSpPr>
          <p:nvPr/>
        </p:nvSpPr>
        <p:spPr>
          <a:xfrm>
            <a:off x="1578254" y="2077164"/>
            <a:ext cx="146304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WHAT</a:t>
            </a:r>
          </a:p>
        </p:txBody>
      </p:sp>
      <p:sp>
        <p:nvSpPr>
          <p:cNvPr id="12" name="text-119">
            <a:extLst>
              <a:ext uri="{FF2B5EF4-FFF2-40B4-BE49-F238E27FC236}">
                <a16:creationId xmlns:a16="http://schemas.microsoft.com/office/drawing/2014/main" id="{8289028C-22F2-4B4A-82F5-93AC9AD0CA43}"/>
              </a:ext>
            </a:extLst>
          </p:cNvPr>
          <p:cNvSpPr>
            <a:spLocks noGrp="1"/>
          </p:cNvSpPr>
          <p:nvPr/>
        </p:nvSpPr>
        <p:spPr>
          <a:xfrm>
            <a:off x="1578254" y="2629691"/>
            <a:ext cx="146304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HOW</a:t>
            </a:r>
          </a:p>
        </p:txBody>
      </p:sp>
      <p:sp>
        <p:nvSpPr>
          <p:cNvPr id="13" name="text-120">
            <a:extLst>
              <a:ext uri="{FF2B5EF4-FFF2-40B4-BE49-F238E27FC236}">
                <a16:creationId xmlns:a16="http://schemas.microsoft.com/office/drawing/2014/main" id="{3EB8FFA2-7555-401F-9DA5-209F487316EF}"/>
              </a:ext>
            </a:extLst>
          </p:cNvPr>
          <p:cNvSpPr>
            <a:spLocks noGrp="1"/>
          </p:cNvSpPr>
          <p:nvPr/>
        </p:nvSpPr>
        <p:spPr>
          <a:xfrm>
            <a:off x="1578254" y="3517392"/>
            <a:ext cx="146304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</a:t>
            </a:r>
          </a:p>
        </p:txBody>
      </p:sp>
      <p:sp>
        <p:nvSpPr>
          <p:cNvPr id="14" name="text-121">
            <a:extLst>
              <a:ext uri="{FF2B5EF4-FFF2-40B4-BE49-F238E27FC236}">
                <a16:creationId xmlns:a16="http://schemas.microsoft.com/office/drawing/2014/main" id="{5D127D59-201E-4F7D-89B5-56212F1F0281}"/>
              </a:ext>
            </a:extLst>
          </p:cNvPr>
          <p:cNvSpPr>
            <a:spLocks noGrp="1"/>
          </p:cNvSpPr>
          <p:nvPr/>
        </p:nvSpPr>
        <p:spPr>
          <a:xfrm>
            <a:off x="5048250" y="2103120"/>
            <a:ext cx="6572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lang="en-ID" sz="12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CONTOH: </a:t>
            </a:r>
            <a:r>
              <a:rPr lang="en-ID" dirty="0"/>
              <a:t>ROTAN, FOKUS KE KEBANGGAAN PRODUK LOKAL</a:t>
            </a:r>
            <a:endParaRPr lang="en-ID" sz="1275" b="1" dirty="0">
              <a:solidFill>
                <a:srgbClr val="08795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-122">
            <a:extLst>
              <a:ext uri="{FF2B5EF4-FFF2-40B4-BE49-F238E27FC236}">
                <a16:creationId xmlns:a16="http://schemas.microsoft.com/office/drawing/2014/main" id="{C7608D9F-48B6-42F2-9056-91A49B4CF110}"/>
              </a:ext>
            </a:extLst>
          </p:cNvPr>
          <p:cNvSpPr>
            <a:spLocks noGrp="1"/>
          </p:cNvSpPr>
          <p:nvPr/>
        </p:nvSpPr>
        <p:spPr>
          <a:xfrm>
            <a:off x="5048250" y="2768727"/>
            <a:ext cx="952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WHY</a:t>
            </a:r>
          </a:p>
        </p:txBody>
      </p:sp>
      <p:sp>
        <p:nvSpPr>
          <p:cNvPr id="16" name="text-123">
            <a:extLst>
              <a:ext uri="{FF2B5EF4-FFF2-40B4-BE49-F238E27FC236}">
                <a16:creationId xmlns:a16="http://schemas.microsoft.com/office/drawing/2014/main" id="{C269A289-5DC9-46D4-A076-35D8CBEFD128}"/>
              </a:ext>
            </a:extLst>
          </p:cNvPr>
          <p:cNvSpPr>
            <a:spLocks noGrp="1"/>
          </p:cNvSpPr>
          <p:nvPr/>
        </p:nvSpPr>
        <p:spPr>
          <a:xfrm>
            <a:off x="6248400" y="2697480"/>
            <a:ext cx="53721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ID" dirty="0" err="1"/>
              <a:t>Kerajinan</a:t>
            </a:r>
            <a:r>
              <a:rPr lang="en-ID" dirty="0"/>
              <a:t> rotan </a:t>
            </a:r>
            <a:r>
              <a:rPr lang="en-ID" dirty="0" err="1"/>
              <a:t>lokal</a:t>
            </a:r>
            <a:r>
              <a:rPr lang="en-ID" dirty="0"/>
              <a:t> </a:t>
            </a:r>
            <a:r>
              <a:rPr lang="en-ID" dirty="0" err="1"/>
              <a:t>dihargai</a:t>
            </a:r>
            <a:r>
              <a:rPr lang="en-ID" dirty="0"/>
              <a:t> dunia</a:t>
            </a:r>
          </a:p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endParaRPr lang="en-ID" sz="2250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298BEC12-33EA-425D-A2E4-6698039D77F4}"/>
              </a:ext>
            </a:extLst>
          </p:cNvPr>
          <p:cNvSpPr>
            <a:spLocks noGrp="1"/>
          </p:cNvSpPr>
          <p:nvPr/>
        </p:nvSpPr>
        <p:spPr>
          <a:xfrm>
            <a:off x="5048402" y="3429000"/>
            <a:ext cx="6571793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-124">
            <a:extLst>
              <a:ext uri="{FF2B5EF4-FFF2-40B4-BE49-F238E27FC236}">
                <a16:creationId xmlns:a16="http://schemas.microsoft.com/office/drawing/2014/main" id="{EA61D144-E553-44F8-AB3B-477A7E7AD522}"/>
              </a:ext>
            </a:extLst>
          </p:cNvPr>
          <p:cNvSpPr>
            <a:spLocks noGrp="1"/>
          </p:cNvSpPr>
          <p:nvPr/>
        </p:nvSpPr>
        <p:spPr>
          <a:xfrm>
            <a:off x="5048250" y="3820287"/>
            <a:ext cx="952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HOW</a:t>
            </a:r>
          </a:p>
        </p:txBody>
      </p:sp>
      <p:sp>
        <p:nvSpPr>
          <p:cNvPr id="19" name="text-125">
            <a:extLst>
              <a:ext uri="{FF2B5EF4-FFF2-40B4-BE49-F238E27FC236}">
                <a16:creationId xmlns:a16="http://schemas.microsoft.com/office/drawing/2014/main" id="{F730860D-7CFD-438F-BF51-7BC1424BF2A8}"/>
              </a:ext>
            </a:extLst>
          </p:cNvPr>
          <p:cNvSpPr>
            <a:spLocks noGrp="1"/>
          </p:cNvSpPr>
          <p:nvPr/>
        </p:nvSpPr>
        <p:spPr>
          <a:xfrm>
            <a:off x="6248400" y="3749040"/>
            <a:ext cx="53721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ID" dirty="0"/>
              <a:t>Desain modern, QC di </a:t>
            </a:r>
            <a:r>
              <a:rPr lang="en-ID" dirty="0" err="1"/>
              <a:t>setiap</a:t>
            </a:r>
            <a:r>
              <a:rPr lang="en-ID" dirty="0"/>
              <a:t> batch</a:t>
            </a:r>
            <a:endParaRPr sz="2250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0F1737BB-DC80-4466-AAC1-B57DD71F7CFB}"/>
              </a:ext>
            </a:extLst>
          </p:cNvPr>
          <p:cNvSpPr>
            <a:spLocks noGrp="1"/>
          </p:cNvSpPr>
          <p:nvPr/>
        </p:nvSpPr>
        <p:spPr>
          <a:xfrm>
            <a:off x="5048402" y="4480560"/>
            <a:ext cx="6571793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-126">
            <a:extLst>
              <a:ext uri="{FF2B5EF4-FFF2-40B4-BE49-F238E27FC236}">
                <a16:creationId xmlns:a16="http://schemas.microsoft.com/office/drawing/2014/main" id="{B61C40D0-3807-4210-89DF-F77E20340470}"/>
              </a:ext>
            </a:extLst>
          </p:cNvPr>
          <p:cNvSpPr>
            <a:spLocks noGrp="1"/>
          </p:cNvSpPr>
          <p:nvPr/>
        </p:nvSpPr>
        <p:spPr>
          <a:xfrm>
            <a:off x="5048250" y="4871847"/>
            <a:ext cx="952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WHAT</a:t>
            </a:r>
          </a:p>
        </p:txBody>
      </p:sp>
      <p:sp>
        <p:nvSpPr>
          <p:cNvPr id="22" name="text-127">
            <a:extLst>
              <a:ext uri="{FF2B5EF4-FFF2-40B4-BE49-F238E27FC236}">
                <a16:creationId xmlns:a16="http://schemas.microsoft.com/office/drawing/2014/main" id="{61195B13-FF7F-4E1A-9993-685790815141}"/>
              </a:ext>
            </a:extLst>
          </p:cNvPr>
          <p:cNvSpPr>
            <a:spLocks noGrp="1"/>
          </p:cNvSpPr>
          <p:nvPr/>
        </p:nvSpPr>
        <p:spPr>
          <a:xfrm>
            <a:off x="6248400" y="4800600"/>
            <a:ext cx="53721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ID" dirty="0" err="1"/>
              <a:t>Keranjang</a:t>
            </a:r>
            <a:r>
              <a:rPr lang="en-ID" dirty="0"/>
              <a:t> &amp; </a:t>
            </a:r>
            <a:r>
              <a:rPr lang="en-ID" dirty="0" err="1"/>
              <a:t>dekorasi</a:t>
            </a:r>
            <a:r>
              <a:rPr lang="en-ID" dirty="0"/>
              <a:t> rotan </a:t>
            </a:r>
            <a:r>
              <a:rPr lang="en-ID" dirty="0" err="1"/>
              <a:t>siap</a:t>
            </a:r>
            <a:r>
              <a:rPr lang="en-ID" dirty="0"/>
              <a:t> </a:t>
            </a:r>
            <a:r>
              <a:rPr lang="en-ID" dirty="0" err="1"/>
              <a:t>ekspor</a:t>
            </a:r>
            <a:endParaRPr sz="2250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69C33844-8228-4B07-BC10-2828526E9C15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text-128">
            <a:extLst>
              <a:ext uri="{FF2B5EF4-FFF2-40B4-BE49-F238E27FC236}">
                <a16:creationId xmlns:a16="http://schemas.microsoft.com/office/drawing/2014/main" id="{1A3D1A79-D311-4F19-9B6D-93EA483191E7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Kalau WHY-nya jelas, lebih mudah menolak order yang tidak sejalan.</a:t>
            </a:r>
          </a:p>
        </p:txBody>
      </p:sp>
    </p:spTree>
    <p:extLst>
      <p:ext uri="{BB962C8B-B14F-4D97-AF65-F5344CB8AC3E}">
        <p14:creationId xmlns:p14="http://schemas.microsoft.com/office/powerpoint/2010/main" val="369405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964505-2E18-1D3B-D417-232C7A739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8" name="text-108">
            <a:extLst>
              <a:ext uri="{FF2B5EF4-FFF2-40B4-BE49-F238E27FC236}">
                <a16:creationId xmlns:a16="http://schemas.microsoft.com/office/drawing/2014/main" id="{8C770040-E4C3-2CE4-0BAA-CBB6136F29F4}"/>
              </a:ext>
            </a:extLst>
          </p:cNvPr>
          <p:cNvSpPr>
            <a:spLocks noGrp="1"/>
          </p:cNvSpPr>
          <p:nvPr/>
        </p:nvSpPr>
        <p:spPr>
          <a:xfrm>
            <a:off x="724204" y="2560320"/>
            <a:ext cx="10586008" cy="128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Punya WHY saja belum cukup.</a:t>
            </a:r>
          </a:p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Kita juga harus </a:t>
            </a:r>
            <a:r>
              <a:rPr lang="id-ID" sz="3900" b="1" dirty="0" i="1" u="sng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suka, jago, dan untung</a:t>
            </a: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2051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EF48494-1E0D-4045-9F8A-4042BD0184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129">
            <a:extLst>
              <a:ext uri="{FF2B5EF4-FFF2-40B4-BE49-F238E27FC236}">
                <a16:creationId xmlns:a16="http://schemas.microsoft.com/office/drawing/2014/main" id="{6749493F-E569-45F4-BACD-C0EAAD783C73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SWEET SPOT</a:t>
            </a:r>
          </a:p>
        </p:txBody>
      </p:sp>
      <p:sp>
        <p:nvSpPr>
          <p:cNvPr id="5" name="text-130">
            <a:extLst>
              <a:ext uri="{FF2B5EF4-FFF2-40B4-BE49-F238E27FC236}">
                <a16:creationId xmlns:a16="http://schemas.microsoft.com/office/drawing/2014/main" id="{BB79AFF0-EB68-458F-AC46-60AB396C25C0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Cari </a:t>
            </a:r>
            <a:r>
              <a:rPr lang="en-US" sz="2925" b="1" i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"sweet spot”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antara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passion, talent, dan profit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ability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131">
            <a:extLst>
              <a:ext uri="{FF2B5EF4-FFF2-40B4-BE49-F238E27FC236}">
                <a16:creationId xmlns:a16="http://schemas.microsoft.com/office/drawing/2014/main" id="{F2D53574-C5D0-47C7-80B2-9BCE23BB6321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132">
            <a:extLst>
              <a:ext uri="{FF2B5EF4-FFF2-40B4-BE49-F238E27FC236}">
                <a16:creationId xmlns:a16="http://schemas.microsoft.com/office/drawing/2014/main" id="{D8136502-B74F-43EF-B66F-401FE537B866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D225370-94F7-48BB-9B67-BB0D4D0A6193}"/>
              </a:ext>
            </a:extLst>
          </p:cNvPr>
          <p:cNvSpPr>
            <a:spLocks noGrp="1"/>
          </p:cNvSpPr>
          <p:nvPr/>
        </p:nvSpPr>
        <p:spPr>
          <a:xfrm>
            <a:off x="561975" y="1952625"/>
            <a:ext cx="2600325" cy="2600325"/>
          </a:xfrm>
          <a:prstGeom prst="ellipse">
            <a:avLst/>
          </a:prstGeom>
          <a:noFill/>
          <a:ln w="19050">
            <a:solidFill>
              <a:srgbClr val="9AB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5E18D39-9DEF-44D7-96B7-CA9C87377F81}"/>
              </a:ext>
            </a:extLst>
          </p:cNvPr>
          <p:cNvSpPr>
            <a:spLocks noGrp="1"/>
          </p:cNvSpPr>
          <p:nvPr/>
        </p:nvSpPr>
        <p:spPr>
          <a:xfrm>
            <a:off x="2695575" y="1952625"/>
            <a:ext cx="2600325" cy="2600325"/>
          </a:xfrm>
          <a:prstGeom prst="ellipse">
            <a:avLst/>
          </a:prstGeom>
          <a:noFill/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5B294B-ED59-41B1-AA3C-581E01AA5E88}"/>
              </a:ext>
            </a:extLst>
          </p:cNvPr>
          <p:cNvSpPr>
            <a:spLocks noGrp="1"/>
          </p:cNvSpPr>
          <p:nvPr/>
        </p:nvSpPr>
        <p:spPr>
          <a:xfrm>
            <a:off x="1628775" y="3276600"/>
            <a:ext cx="2600325" cy="2600325"/>
          </a:xfrm>
          <a:prstGeom prst="ellipse">
            <a:avLst/>
          </a:prstGeom>
          <a:noFill/>
          <a:ln w="19050">
            <a:solidFill>
              <a:srgbClr val="173D3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ext-133">
            <a:extLst>
              <a:ext uri="{FF2B5EF4-FFF2-40B4-BE49-F238E27FC236}">
                <a16:creationId xmlns:a16="http://schemas.microsoft.com/office/drawing/2014/main" id="{C17AB27C-E9C2-4390-8264-E08EF13AEB07}"/>
              </a:ext>
            </a:extLst>
          </p:cNvPr>
          <p:cNvSpPr>
            <a:spLocks noGrp="1"/>
          </p:cNvSpPr>
          <p:nvPr/>
        </p:nvSpPr>
        <p:spPr>
          <a:xfrm>
            <a:off x="402336" y="2596896"/>
            <a:ext cx="219456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PASSION</a:t>
            </a:r>
          </a:p>
        </p:txBody>
      </p:sp>
      <p:sp>
        <p:nvSpPr>
          <p:cNvPr id="12" name="text-134">
            <a:extLst>
              <a:ext uri="{FF2B5EF4-FFF2-40B4-BE49-F238E27FC236}">
                <a16:creationId xmlns:a16="http://schemas.microsoft.com/office/drawing/2014/main" id="{0010911D-6351-474E-A1FF-2A78EEAE51E0}"/>
              </a:ext>
            </a:extLst>
          </p:cNvPr>
          <p:cNvSpPr>
            <a:spLocks noGrp="1"/>
          </p:cNvSpPr>
          <p:nvPr/>
        </p:nvSpPr>
        <p:spPr>
          <a:xfrm>
            <a:off x="402336" y="3054096"/>
            <a:ext cx="219456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Yang kita suka</a:t>
            </a:r>
          </a:p>
        </p:txBody>
      </p:sp>
      <p:sp>
        <p:nvSpPr>
          <p:cNvPr id="13" name="text-135">
            <a:extLst>
              <a:ext uri="{FF2B5EF4-FFF2-40B4-BE49-F238E27FC236}">
                <a16:creationId xmlns:a16="http://schemas.microsoft.com/office/drawing/2014/main" id="{935AE18C-630C-4DD7-8BB0-64AC98234922}"/>
              </a:ext>
            </a:extLst>
          </p:cNvPr>
          <p:cNvSpPr>
            <a:spLocks noGrp="1"/>
          </p:cNvSpPr>
          <p:nvPr/>
        </p:nvSpPr>
        <p:spPr>
          <a:xfrm>
            <a:off x="3264408" y="2596896"/>
            <a:ext cx="219456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TALENT</a:t>
            </a:r>
          </a:p>
        </p:txBody>
      </p:sp>
      <p:sp>
        <p:nvSpPr>
          <p:cNvPr id="14" name="text-136">
            <a:extLst>
              <a:ext uri="{FF2B5EF4-FFF2-40B4-BE49-F238E27FC236}">
                <a16:creationId xmlns:a16="http://schemas.microsoft.com/office/drawing/2014/main" id="{B16224C1-AE9E-4A22-897F-127213972EB7}"/>
              </a:ext>
            </a:extLst>
          </p:cNvPr>
          <p:cNvSpPr>
            <a:spLocks noGrp="1"/>
          </p:cNvSpPr>
          <p:nvPr/>
        </p:nvSpPr>
        <p:spPr>
          <a:xfrm>
            <a:off x="3264408" y="3054096"/>
            <a:ext cx="219456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Yang kita kuasai</a:t>
            </a:r>
          </a:p>
        </p:txBody>
      </p:sp>
      <p:sp>
        <p:nvSpPr>
          <p:cNvPr id="15" name="text-137">
            <a:extLst>
              <a:ext uri="{FF2B5EF4-FFF2-40B4-BE49-F238E27FC236}">
                <a16:creationId xmlns:a16="http://schemas.microsoft.com/office/drawing/2014/main" id="{71F19C02-5460-4168-8F1D-209135F1E8F9}"/>
              </a:ext>
            </a:extLst>
          </p:cNvPr>
          <p:cNvSpPr>
            <a:spLocks noGrp="1"/>
          </p:cNvSpPr>
          <p:nvPr/>
        </p:nvSpPr>
        <p:spPr>
          <a:xfrm>
            <a:off x="1831543" y="4745736"/>
            <a:ext cx="219456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PROFIT</a:t>
            </a:r>
          </a:p>
        </p:txBody>
      </p:sp>
      <p:sp>
        <p:nvSpPr>
          <p:cNvPr id="16" name="text-138">
            <a:extLst>
              <a:ext uri="{FF2B5EF4-FFF2-40B4-BE49-F238E27FC236}">
                <a16:creationId xmlns:a16="http://schemas.microsoft.com/office/drawing/2014/main" id="{8A971430-D4C6-47FB-9BA7-757E6AAE73F8}"/>
              </a:ext>
            </a:extLst>
          </p:cNvPr>
          <p:cNvSpPr>
            <a:spLocks noGrp="1"/>
          </p:cNvSpPr>
          <p:nvPr/>
        </p:nvSpPr>
        <p:spPr>
          <a:xfrm>
            <a:off x="1831543" y="5202936"/>
            <a:ext cx="219456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Yang menghasilkan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8AB95CE-5466-473E-8137-36B886C318C6}"/>
              </a:ext>
            </a:extLst>
          </p:cNvPr>
          <p:cNvSpPr>
            <a:spLocks noGrp="1"/>
          </p:cNvSpPr>
          <p:nvPr/>
        </p:nvSpPr>
        <p:spPr>
          <a:xfrm>
            <a:off x="2647950" y="3381375"/>
            <a:ext cx="561975" cy="561975"/>
          </a:xfrm>
          <a:prstGeom prst="ellipse">
            <a:avLst/>
          </a:prstGeom>
          <a:solidFill>
            <a:srgbClr val="087958"/>
          </a:solidFill>
          <a:ln w="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-139">
            <a:extLst>
              <a:ext uri="{FF2B5EF4-FFF2-40B4-BE49-F238E27FC236}">
                <a16:creationId xmlns:a16="http://schemas.microsoft.com/office/drawing/2014/main" id="{AB47785C-85CE-4879-B70F-0AE61B278662}"/>
              </a:ext>
            </a:extLst>
          </p:cNvPr>
          <p:cNvSpPr>
            <a:spLocks noGrp="1"/>
          </p:cNvSpPr>
          <p:nvPr/>
        </p:nvSpPr>
        <p:spPr>
          <a:xfrm>
            <a:off x="2647950" y="3381375"/>
            <a:ext cx="56197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FIT</a:t>
            </a:r>
          </a:p>
        </p:txBody>
      </p:sp>
      <p:sp>
        <p:nvSpPr>
          <p:cNvPr id="19" name="text-140">
            <a:extLst>
              <a:ext uri="{FF2B5EF4-FFF2-40B4-BE49-F238E27FC236}">
                <a16:creationId xmlns:a16="http://schemas.microsoft.com/office/drawing/2014/main" id="{63BB646D-DA09-4FF9-B490-A0C37FDFDFBB}"/>
              </a:ext>
            </a:extLst>
          </p:cNvPr>
          <p:cNvSpPr>
            <a:spLocks noGrp="1"/>
          </p:cNvSpPr>
          <p:nvPr/>
        </p:nvSpPr>
        <p:spPr>
          <a:xfrm>
            <a:off x="6667805" y="2295525"/>
            <a:ext cx="4952390" cy="1438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senang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mengerjakannya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</a:t>
            </a:r>
          </a:p>
          <a:p>
            <a:pPr>
              <a:defRPr sz="29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uyer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butuh</a:t>
            </a:r>
            <a:r>
              <a:rPr lang="en-US"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barang</a:t>
            </a:r>
            <a:r>
              <a:rPr lang="en-US"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</a:t>
            </a:r>
          </a:p>
          <a:p>
            <a:pPr>
              <a:defRPr sz="29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Profitability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masuk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A93BECFE-3FC3-47C8-8A26-4F73E4F1F750}"/>
              </a:ext>
            </a:extLst>
          </p:cNvPr>
          <p:cNvSpPr>
            <a:spLocks noGrp="1"/>
          </p:cNvSpPr>
          <p:nvPr/>
        </p:nvSpPr>
        <p:spPr>
          <a:xfrm>
            <a:off x="6667805" y="4191000"/>
            <a:ext cx="495239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-141">
            <a:extLst>
              <a:ext uri="{FF2B5EF4-FFF2-40B4-BE49-F238E27FC236}">
                <a16:creationId xmlns:a16="http://schemas.microsoft.com/office/drawing/2014/main" id="{4F10E203-CE29-4BA9-9831-125820B24B3F}"/>
              </a:ext>
            </a:extLst>
          </p:cNvPr>
          <p:cNvSpPr>
            <a:spLocks noGrp="1"/>
          </p:cNvSpPr>
          <p:nvPr/>
        </p:nvSpPr>
        <p:spPr>
          <a:xfrm>
            <a:off x="6667805" y="4543425"/>
            <a:ext cx="4952390" cy="1133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Sebelum</a:t>
            </a:r>
            <a:r>
              <a:rPr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commit, </a:t>
            </a:r>
            <a:r>
              <a:rPr lang="en-US"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harus</a:t>
            </a:r>
            <a:r>
              <a:rPr lang="en-US"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cek</a:t>
            </a:r>
            <a:r>
              <a:rPr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dulu</a:t>
            </a:r>
            <a:r>
              <a:rPr lang="en-US" sz="2175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75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antara</a:t>
            </a:r>
            <a:r>
              <a:rPr lang="en-US" sz="2175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kebutuhan</a:t>
            </a:r>
            <a:r>
              <a:rPr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buyer, </a:t>
            </a:r>
            <a:r>
              <a:rPr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kualitas</a:t>
            </a:r>
            <a:r>
              <a:rPr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</a:t>
            </a:r>
            <a:r>
              <a:rPr lang="en-US"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kapasitas</a:t>
            </a:r>
            <a:r>
              <a:rPr lang="en-US"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 dan total </a:t>
            </a:r>
            <a:r>
              <a:rPr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biayanya</a:t>
            </a:r>
            <a:r>
              <a:rPr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6711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964505-2E18-1D3B-D417-232C7A739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8" name="text-108">
            <a:extLst>
              <a:ext uri="{FF2B5EF4-FFF2-40B4-BE49-F238E27FC236}">
                <a16:creationId xmlns:a16="http://schemas.microsoft.com/office/drawing/2014/main" id="{8C770040-E4C3-2CE4-0BAA-CBB6136F29F4}"/>
              </a:ext>
            </a:extLst>
          </p:cNvPr>
          <p:cNvSpPr>
            <a:spLocks noGrp="1"/>
          </p:cNvSpPr>
          <p:nvPr/>
        </p:nvSpPr>
        <p:spPr>
          <a:xfrm>
            <a:off x="724204" y="2560320"/>
            <a:ext cx="10586008" cy="128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Tapi sweet spot itu </a:t>
            </a:r>
            <a:r>
              <a:rPr lang="id-ID" sz="3900" b="1" dirty="0" i="1" u="sng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bisa bergeser</a:t>
            </a: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Pasar berubah, kebutuhan buyer juga berubah.</a:t>
            </a:r>
          </a:p>
        </p:txBody>
      </p:sp>
    </p:spTree>
    <p:extLst>
      <p:ext uri="{BB962C8B-B14F-4D97-AF65-F5344CB8AC3E}">
        <p14:creationId xmlns:p14="http://schemas.microsoft.com/office/powerpoint/2010/main" val="872051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A2D4963-A9F6-4AD7-BD3C-BEC2D2E120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41">
            <a:extLst>
              <a:ext uri="{FF2B5EF4-FFF2-40B4-BE49-F238E27FC236}">
                <a16:creationId xmlns:a16="http://schemas.microsoft.com/office/drawing/2014/main" id="{2F5AA268-9B63-4215-A609-9D14EE53BBA6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ENTREPRENEUR JOURNEY</a:t>
            </a:r>
          </a:p>
        </p:txBody>
      </p:sp>
      <p:sp>
        <p:nvSpPr>
          <p:cNvPr id="5" name="text-42">
            <a:extLst>
              <a:ext uri="{FF2B5EF4-FFF2-40B4-BE49-F238E27FC236}">
                <a16:creationId xmlns:a16="http://schemas.microsoft.com/office/drawing/2014/main" id="{4E955D61-E15E-47B6-ADBD-ECAFA0B11D89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Bisnis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bisa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kapan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-pun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berubah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mengikuti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kebutuhan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market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43">
            <a:extLst>
              <a:ext uri="{FF2B5EF4-FFF2-40B4-BE49-F238E27FC236}">
                <a16:creationId xmlns:a16="http://schemas.microsoft.com/office/drawing/2014/main" id="{FDAD0BC7-084C-409D-8F02-6F92D11843E2}"/>
              </a:ext>
            </a:extLst>
          </p:cNvPr>
          <p:cNvSpPr>
            <a:spLocks noGrp="1"/>
          </p:cNvSpPr>
          <p:nvPr/>
        </p:nvSpPr>
        <p:spPr>
          <a:xfrm>
            <a:off x="571500" y="1307592"/>
            <a:ext cx="110490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Hal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ini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bisa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berubah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tiap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kali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kebutuhan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buyer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atau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kemampuan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berubah</a:t>
            </a:r>
            <a:r>
              <a:rPr lang="en-US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disitulah</a:t>
            </a:r>
            <a:r>
              <a:rPr lang="en-US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peran</a:t>
            </a:r>
            <a:r>
              <a:rPr lang="en-US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adaptasi</a:t>
            </a:r>
            <a:r>
              <a:rPr lang="en-US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penting</a:t>
            </a:r>
            <a:r>
              <a:rPr lang="en-US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  <a:endParaRPr sz="1800" b="0" dirty="0">
              <a:solidFill>
                <a:srgbClr val="5B71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-44">
            <a:extLst>
              <a:ext uri="{FF2B5EF4-FFF2-40B4-BE49-F238E27FC236}">
                <a16:creationId xmlns:a16="http://schemas.microsoft.com/office/drawing/2014/main" id="{254CCB11-B71B-450E-B448-4246F17038CB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45">
            <a:extLst>
              <a:ext uri="{FF2B5EF4-FFF2-40B4-BE49-F238E27FC236}">
                <a16:creationId xmlns:a16="http://schemas.microsoft.com/office/drawing/2014/main" id="{95EDDA59-414E-4820-BF8E-9A57CBC683FA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526D7CF3-A284-4942-9A7D-BFA56395789C}"/>
              </a:ext>
            </a:extLst>
          </p:cNvPr>
          <p:cNvSpPr>
            <a:spLocks noGrp="1"/>
          </p:cNvSpPr>
          <p:nvPr/>
        </p:nvSpPr>
        <p:spPr>
          <a:xfrm>
            <a:off x="1103681" y="3776472"/>
            <a:ext cx="9985248" cy="0"/>
          </a:xfrm>
          <a:prstGeom prst="line">
            <a:avLst/>
          </a:prstGeom>
          <a:noFill/>
          <a:ln w="38100">
            <a:solidFill>
              <a:srgbClr val="9AB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10EF0D6-0AA6-4322-B4CD-06A4A2A209D0}"/>
              </a:ext>
            </a:extLst>
          </p:cNvPr>
          <p:cNvSpPr>
            <a:spLocks noGrp="1"/>
          </p:cNvSpPr>
          <p:nvPr/>
        </p:nvSpPr>
        <p:spPr>
          <a:xfrm>
            <a:off x="1304483" y="3538362"/>
            <a:ext cx="476250" cy="4762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ext-46">
            <a:extLst>
              <a:ext uri="{FF2B5EF4-FFF2-40B4-BE49-F238E27FC236}">
                <a16:creationId xmlns:a16="http://schemas.microsoft.com/office/drawing/2014/main" id="{108AE72C-D4CB-4F63-BD8E-B42347F492C0}"/>
              </a:ext>
            </a:extLst>
          </p:cNvPr>
          <p:cNvSpPr>
            <a:spLocks noGrp="1"/>
          </p:cNvSpPr>
          <p:nvPr/>
        </p:nvSpPr>
        <p:spPr>
          <a:xfrm>
            <a:off x="1304483" y="3538362"/>
            <a:ext cx="476220" cy="4762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-47">
            <a:extLst>
              <a:ext uri="{FF2B5EF4-FFF2-40B4-BE49-F238E27FC236}">
                <a16:creationId xmlns:a16="http://schemas.microsoft.com/office/drawing/2014/main" id="{E725757F-3BCF-46E1-9E0F-B35025F441ED}"/>
              </a:ext>
            </a:extLst>
          </p:cNvPr>
          <p:cNvSpPr>
            <a:spLocks noGrp="1"/>
          </p:cNvSpPr>
          <p:nvPr/>
        </p:nvSpPr>
        <p:spPr>
          <a:xfrm>
            <a:off x="445313" y="2249058"/>
            <a:ext cx="219456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Mulai</a:t>
            </a:r>
          </a:p>
        </p:txBody>
      </p:sp>
      <p:sp>
        <p:nvSpPr>
          <p:cNvPr id="13" name="text-48">
            <a:extLst>
              <a:ext uri="{FF2B5EF4-FFF2-40B4-BE49-F238E27FC236}">
                <a16:creationId xmlns:a16="http://schemas.microsoft.com/office/drawing/2014/main" id="{2EF1375D-0F5E-4307-9B21-7607A1231DB2}"/>
              </a:ext>
            </a:extLst>
          </p:cNvPr>
          <p:cNvSpPr>
            <a:spLocks noGrp="1"/>
          </p:cNvSpPr>
          <p:nvPr/>
        </p:nvSpPr>
        <p:spPr>
          <a:xfrm>
            <a:off x="445313" y="2697114"/>
            <a:ext cx="2194560" cy="5577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Buka obrolan</a:t>
            </a:r>
          </a:p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dengan buyer.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093EE0E3-5B15-42EF-9267-5D3467E1A9E4}"/>
              </a:ext>
            </a:extLst>
          </p:cNvPr>
          <p:cNvSpPr>
            <a:spLocks noGrp="1"/>
          </p:cNvSpPr>
          <p:nvPr/>
        </p:nvSpPr>
        <p:spPr>
          <a:xfrm>
            <a:off x="1542593" y="3318906"/>
            <a:ext cx="0" cy="219456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ext-49">
            <a:extLst>
              <a:ext uri="{FF2B5EF4-FFF2-40B4-BE49-F238E27FC236}">
                <a16:creationId xmlns:a16="http://schemas.microsoft.com/office/drawing/2014/main" id="{AFA394D8-B762-4F7A-9B08-AB15279EC32E}"/>
              </a:ext>
            </a:extLst>
          </p:cNvPr>
          <p:cNvSpPr>
            <a:spLocks noGrp="1"/>
          </p:cNvSpPr>
          <p:nvPr/>
        </p:nvSpPr>
        <p:spPr>
          <a:xfrm>
            <a:off x="445313" y="4122910"/>
            <a:ext cx="219456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75" b="1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Cari tahu kebutuhannya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2B12427-E246-4FBC-9C31-0F7E73618B04}"/>
              </a:ext>
            </a:extLst>
          </p:cNvPr>
          <p:cNvSpPr>
            <a:spLocks noGrp="1"/>
          </p:cNvSpPr>
          <p:nvPr/>
        </p:nvSpPr>
        <p:spPr>
          <a:xfrm>
            <a:off x="3581339" y="3538362"/>
            <a:ext cx="476250" cy="4762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text-50">
            <a:extLst>
              <a:ext uri="{FF2B5EF4-FFF2-40B4-BE49-F238E27FC236}">
                <a16:creationId xmlns:a16="http://schemas.microsoft.com/office/drawing/2014/main" id="{C64271EC-AD05-4338-AA9E-FCEFDE0B23C0}"/>
              </a:ext>
            </a:extLst>
          </p:cNvPr>
          <p:cNvSpPr>
            <a:spLocks noGrp="1"/>
          </p:cNvSpPr>
          <p:nvPr/>
        </p:nvSpPr>
        <p:spPr>
          <a:xfrm>
            <a:off x="3581339" y="3538362"/>
            <a:ext cx="476220" cy="4762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-51">
            <a:extLst>
              <a:ext uri="{FF2B5EF4-FFF2-40B4-BE49-F238E27FC236}">
                <a16:creationId xmlns:a16="http://schemas.microsoft.com/office/drawing/2014/main" id="{70E98474-1DD7-47AE-9781-3AC0A514BA1E}"/>
              </a:ext>
            </a:extLst>
          </p:cNvPr>
          <p:cNvSpPr>
            <a:spLocks noGrp="1"/>
          </p:cNvSpPr>
          <p:nvPr/>
        </p:nvSpPr>
        <p:spPr>
          <a:xfrm>
            <a:off x="2722169" y="4242325"/>
            <a:ext cx="219456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Adaptasi</a:t>
            </a:r>
          </a:p>
        </p:txBody>
      </p:sp>
      <p:sp>
        <p:nvSpPr>
          <p:cNvPr id="19" name="text-52">
            <a:extLst>
              <a:ext uri="{FF2B5EF4-FFF2-40B4-BE49-F238E27FC236}">
                <a16:creationId xmlns:a16="http://schemas.microsoft.com/office/drawing/2014/main" id="{A46F4144-37D9-423D-875D-ECCF6F975972}"/>
              </a:ext>
            </a:extLst>
          </p:cNvPr>
          <p:cNvSpPr>
            <a:spLocks noGrp="1"/>
          </p:cNvSpPr>
          <p:nvPr/>
        </p:nvSpPr>
        <p:spPr>
          <a:xfrm>
            <a:off x="2722169" y="4690381"/>
            <a:ext cx="219456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Sesuaikan ukuran,</a:t>
            </a:r>
          </a:p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packaging, harga.</a:t>
            </a:r>
          </a:p>
        </p:txBody>
      </p:sp>
      <p:sp>
        <p:nvSpPr>
          <p:cNvPr id="20" name="text-53">
            <a:extLst>
              <a:ext uri="{FF2B5EF4-FFF2-40B4-BE49-F238E27FC236}">
                <a16:creationId xmlns:a16="http://schemas.microsoft.com/office/drawing/2014/main" id="{E24EA557-4195-4078-847D-F99366A573A3}"/>
              </a:ext>
            </a:extLst>
          </p:cNvPr>
          <p:cNvSpPr>
            <a:spLocks noGrp="1"/>
          </p:cNvSpPr>
          <p:nvPr/>
        </p:nvSpPr>
        <p:spPr>
          <a:xfrm>
            <a:off x="2722169" y="3204082"/>
            <a:ext cx="219456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75" b="1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Feedback buyer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A98CDD57-AAFD-439E-A802-D6C4A54B1DA5}"/>
              </a:ext>
            </a:extLst>
          </p:cNvPr>
          <p:cNvSpPr>
            <a:spLocks noGrp="1"/>
          </p:cNvSpPr>
          <p:nvPr/>
        </p:nvSpPr>
        <p:spPr>
          <a:xfrm>
            <a:off x="3819449" y="4014582"/>
            <a:ext cx="0" cy="219456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5DBE4BF-A09A-42B3-AA50-F55CE4A53846}"/>
              </a:ext>
            </a:extLst>
          </p:cNvPr>
          <p:cNvSpPr>
            <a:spLocks noGrp="1"/>
          </p:cNvSpPr>
          <p:nvPr/>
        </p:nvSpPr>
        <p:spPr>
          <a:xfrm>
            <a:off x="5858195" y="3538362"/>
            <a:ext cx="476250" cy="4762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text-54">
            <a:extLst>
              <a:ext uri="{FF2B5EF4-FFF2-40B4-BE49-F238E27FC236}">
                <a16:creationId xmlns:a16="http://schemas.microsoft.com/office/drawing/2014/main" id="{25BCF151-05EE-458B-AE6F-9CFF85151D51}"/>
              </a:ext>
            </a:extLst>
          </p:cNvPr>
          <p:cNvSpPr>
            <a:spLocks noGrp="1"/>
          </p:cNvSpPr>
          <p:nvPr/>
        </p:nvSpPr>
        <p:spPr>
          <a:xfrm>
            <a:off x="5858195" y="3538362"/>
            <a:ext cx="476220" cy="4762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4" name="text-55">
            <a:extLst>
              <a:ext uri="{FF2B5EF4-FFF2-40B4-BE49-F238E27FC236}">
                <a16:creationId xmlns:a16="http://schemas.microsoft.com/office/drawing/2014/main" id="{DC89285D-4222-41BB-BB80-1F89B0F61032}"/>
              </a:ext>
            </a:extLst>
          </p:cNvPr>
          <p:cNvSpPr>
            <a:spLocks noGrp="1"/>
          </p:cNvSpPr>
          <p:nvPr/>
        </p:nvSpPr>
        <p:spPr>
          <a:xfrm>
            <a:off x="4999025" y="2249058"/>
            <a:ext cx="219456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Tes</a:t>
            </a:r>
          </a:p>
        </p:txBody>
      </p:sp>
      <p:sp>
        <p:nvSpPr>
          <p:cNvPr id="25" name="text-56">
            <a:extLst>
              <a:ext uri="{FF2B5EF4-FFF2-40B4-BE49-F238E27FC236}">
                <a16:creationId xmlns:a16="http://schemas.microsoft.com/office/drawing/2014/main" id="{E9467436-921E-43EC-BDF8-BEA34C835E1F}"/>
              </a:ext>
            </a:extLst>
          </p:cNvPr>
          <p:cNvSpPr>
            <a:spLocks noGrp="1"/>
          </p:cNvSpPr>
          <p:nvPr/>
        </p:nvSpPr>
        <p:spPr>
          <a:xfrm>
            <a:off x="4999025" y="2697114"/>
            <a:ext cx="2194560" cy="5577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Tes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pakai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sample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</a:t>
            </a:r>
          </a:p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Jaga </a:t>
            </a: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risiko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tetap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kecil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00D3143E-E65D-44BF-BF74-60C473889890}"/>
              </a:ext>
            </a:extLst>
          </p:cNvPr>
          <p:cNvSpPr>
            <a:spLocks noGrp="1"/>
          </p:cNvSpPr>
          <p:nvPr/>
        </p:nvSpPr>
        <p:spPr>
          <a:xfrm>
            <a:off x="6096305" y="3318906"/>
            <a:ext cx="0" cy="219456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text-57">
            <a:extLst>
              <a:ext uri="{FF2B5EF4-FFF2-40B4-BE49-F238E27FC236}">
                <a16:creationId xmlns:a16="http://schemas.microsoft.com/office/drawing/2014/main" id="{1A3EC5C3-9891-499C-B97A-D49AB26F081F}"/>
              </a:ext>
            </a:extLst>
          </p:cNvPr>
          <p:cNvSpPr>
            <a:spLocks noGrp="1"/>
          </p:cNvSpPr>
          <p:nvPr/>
        </p:nvSpPr>
        <p:spPr>
          <a:xfrm>
            <a:off x="4999025" y="4122910"/>
            <a:ext cx="219456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75" b="1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Hasil tes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299F04B-DCB7-423F-A8C5-294FB66F4FC4}"/>
              </a:ext>
            </a:extLst>
          </p:cNvPr>
          <p:cNvSpPr>
            <a:spLocks noGrp="1"/>
          </p:cNvSpPr>
          <p:nvPr/>
        </p:nvSpPr>
        <p:spPr>
          <a:xfrm>
            <a:off x="8135051" y="3538362"/>
            <a:ext cx="476250" cy="4762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text-58">
            <a:extLst>
              <a:ext uri="{FF2B5EF4-FFF2-40B4-BE49-F238E27FC236}">
                <a16:creationId xmlns:a16="http://schemas.microsoft.com/office/drawing/2014/main" id="{9EA0885E-C586-4F42-A868-761E43D968FC}"/>
              </a:ext>
            </a:extLst>
          </p:cNvPr>
          <p:cNvSpPr>
            <a:spLocks noGrp="1"/>
          </p:cNvSpPr>
          <p:nvPr/>
        </p:nvSpPr>
        <p:spPr>
          <a:xfrm>
            <a:off x="8135051" y="3538362"/>
            <a:ext cx="476220" cy="4762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0" name="text-59">
            <a:extLst>
              <a:ext uri="{FF2B5EF4-FFF2-40B4-BE49-F238E27FC236}">
                <a16:creationId xmlns:a16="http://schemas.microsoft.com/office/drawing/2014/main" id="{75A420E8-45D3-4441-B1B5-225D67633760}"/>
              </a:ext>
            </a:extLst>
          </p:cNvPr>
          <p:cNvSpPr>
            <a:spLocks noGrp="1"/>
          </p:cNvSpPr>
          <p:nvPr/>
        </p:nvSpPr>
        <p:spPr>
          <a:xfrm>
            <a:off x="7275881" y="4242325"/>
            <a:ext cx="219456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Bangun tim</a:t>
            </a:r>
          </a:p>
        </p:txBody>
      </p:sp>
      <p:sp>
        <p:nvSpPr>
          <p:cNvPr id="31" name="text-60">
            <a:extLst>
              <a:ext uri="{FF2B5EF4-FFF2-40B4-BE49-F238E27FC236}">
                <a16:creationId xmlns:a16="http://schemas.microsoft.com/office/drawing/2014/main" id="{171C3C54-50D9-4C7F-B590-B785AB2A28C1}"/>
              </a:ext>
            </a:extLst>
          </p:cNvPr>
          <p:cNvSpPr>
            <a:spLocks noGrp="1"/>
          </p:cNvSpPr>
          <p:nvPr/>
        </p:nvSpPr>
        <p:spPr>
          <a:xfrm>
            <a:off x="7275881" y="4690381"/>
            <a:ext cx="219456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Isi orang di </a:t>
            </a: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bagian</a:t>
            </a:r>
            <a:endParaRPr sz="1800" b="0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&amp; shipping.</a:t>
            </a:r>
          </a:p>
        </p:txBody>
      </p:sp>
      <p:sp>
        <p:nvSpPr>
          <p:cNvPr id="32" name="text-61">
            <a:extLst>
              <a:ext uri="{FF2B5EF4-FFF2-40B4-BE49-F238E27FC236}">
                <a16:creationId xmlns:a16="http://schemas.microsoft.com/office/drawing/2014/main" id="{912DE343-C72D-4030-878E-C2F622F876EC}"/>
              </a:ext>
            </a:extLst>
          </p:cNvPr>
          <p:cNvSpPr>
            <a:spLocks noGrp="1"/>
          </p:cNvSpPr>
          <p:nvPr/>
        </p:nvSpPr>
        <p:spPr>
          <a:xfrm>
            <a:off x="7275881" y="3204082"/>
            <a:ext cx="219456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75" b="1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PIC yang jelas</a:t>
            </a:r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B16B0C01-50DA-445D-BF4A-9E2B62EE2C8F}"/>
              </a:ext>
            </a:extLst>
          </p:cNvPr>
          <p:cNvSpPr>
            <a:spLocks noGrp="1"/>
          </p:cNvSpPr>
          <p:nvPr/>
        </p:nvSpPr>
        <p:spPr>
          <a:xfrm>
            <a:off x="8373161" y="4014582"/>
            <a:ext cx="0" cy="219456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8796191-B3AE-411D-8F00-98C2B21E763D}"/>
              </a:ext>
            </a:extLst>
          </p:cNvPr>
          <p:cNvSpPr>
            <a:spLocks noGrp="1"/>
          </p:cNvSpPr>
          <p:nvPr/>
        </p:nvSpPr>
        <p:spPr>
          <a:xfrm>
            <a:off x="10411907" y="3538362"/>
            <a:ext cx="476250" cy="476250"/>
          </a:xfrm>
          <a:prstGeom prst="ellipse">
            <a:avLst/>
          </a:prstGeom>
          <a:solidFill>
            <a:srgbClr val="087958"/>
          </a:solidFill>
          <a:ln w="2857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text-62">
            <a:extLst>
              <a:ext uri="{FF2B5EF4-FFF2-40B4-BE49-F238E27FC236}">
                <a16:creationId xmlns:a16="http://schemas.microsoft.com/office/drawing/2014/main" id="{B1CC5C84-3F22-4209-B90A-79B387FEAA4B}"/>
              </a:ext>
            </a:extLst>
          </p:cNvPr>
          <p:cNvSpPr>
            <a:spLocks noGrp="1"/>
          </p:cNvSpPr>
          <p:nvPr/>
        </p:nvSpPr>
        <p:spPr>
          <a:xfrm>
            <a:off x="10411907" y="3538362"/>
            <a:ext cx="476220" cy="4762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6" name="text-63">
            <a:extLst>
              <a:ext uri="{FF2B5EF4-FFF2-40B4-BE49-F238E27FC236}">
                <a16:creationId xmlns:a16="http://schemas.microsoft.com/office/drawing/2014/main" id="{555AF747-58E5-4F82-ABCC-5FD6E912C81A}"/>
              </a:ext>
            </a:extLst>
          </p:cNvPr>
          <p:cNvSpPr>
            <a:spLocks noGrp="1"/>
          </p:cNvSpPr>
          <p:nvPr/>
        </p:nvSpPr>
        <p:spPr>
          <a:xfrm>
            <a:off x="9552737" y="2249058"/>
            <a:ext cx="219456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Jaga </a:t>
            </a:r>
            <a:r>
              <a:rPr sz="2250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misi</a:t>
            </a:r>
            <a:endParaRPr sz="2250" b="1" dirty="0">
              <a:solidFill>
                <a:srgbClr val="08795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text-64">
            <a:extLst>
              <a:ext uri="{FF2B5EF4-FFF2-40B4-BE49-F238E27FC236}">
                <a16:creationId xmlns:a16="http://schemas.microsoft.com/office/drawing/2014/main" id="{8BD2B662-94F8-4557-A4CD-4BBD35DBAFC5}"/>
              </a:ext>
            </a:extLst>
          </p:cNvPr>
          <p:cNvSpPr>
            <a:spLocks noGrp="1"/>
          </p:cNvSpPr>
          <p:nvPr/>
        </p:nvSpPr>
        <p:spPr>
          <a:xfrm>
            <a:off x="9552737" y="2697114"/>
            <a:ext cx="2194560" cy="5577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Deliver </a:t>
            </a: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sesuai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janji</a:t>
            </a:r>
            <a:endParaRPr sz="1800" b="0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supaya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repeat order.</a:t>
            </a:r>
          </a:p>
        </p:txBody>
      </p:sp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37347E3A-A9AF-4EDE-B299-F720C49812C9}"/>
              </a:ext>
            </a:extLst>
          </p:cNvPr>
          <p:cNvSpPr>
            <a:spLocks noGrp="1"/>
          </p:cNvSpPr>
          <p:nvPr/>
        </p:nvSpPr>
        <p:spPr>
          <a:xfrm>
            <a:off x="10650017" y="3318906"/>
            <a:ext cx="0" cy="219456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text-65">
            <a:extLst>
              <a:ext uri="{FF2B5EF4-FFF2-40B4-BE49-F238E27FC236}">
                <a16:creationId xmlns:a16="http://schemas.microsoft.com/office/drawing/2014/main" id="{52503B67-34F8-4627-A681-5C9917B97788}"/>
              </a:ext>
            </a:extLst>
          </p:cNvPr>
          <p:cNvSpPr>
            <a:spLocks noGrp="1"/>
          </p:cNvSpPr>
          <p:nvPr/>
        </p:nvSpPr>
        <p:spPr>
          <a:xfrm>
            <a:off x="9552737" y="4122910"/>
            <a:ext cx="219456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75" b="1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Arah yang sama</a:t>
            </a:r>
          </a:p>
        </p:txBody>
      </p:sp>
      <p:sp>
        <p:nvSpPr>
          <p:cNvPr id="40" name="Straight Connector 39">
            <a:extLst>
              <a:ext uri="{FF2B5EF4-FFF2-40B4-BE49-F238E27FC236}">
                <a16:creationId xmlns:a16="http://schemas.microsoft.com/office/drawing/2014/main" id="{5C2BC2C7-621D-47CE-BC5F-784928826823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ext-66">
            <a:extLst>
              <a:ext uri="{FF2B5EF4-FFF2-40B4-BE49-F238E27FC236}">
                <a16:creationId xmlns:a16="http://schemas.microsoft.com/office/drawing/2014/main" id="{033762D6-963B-466A-8B6A-A74DB150C1D1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Tujuannya tetap, caranya yang menyesuaikan.</a:t>
            </a:r>
          </a:p>
        </p:txBody>
      </p:sp>
    </p:spTree>
    <p:extLst>
      <p:ext uri="{BB962C8B-B14F-4D97-AF65-F5344CB8AC3E}">
        <p14:creationId xmlns:p14="http://schemas.microsoft.com/office/powerpoint/2010/main" val="788888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964505-2E18-1D3B-D417-232C7A739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8" name="text-108">
            <a:extLst>
              <a:ext uri="{FF2B5EF4-FFF2-40B4-BE49-F238E27FC236}">
                <a16:creationId xmlns:a16="http://schemas.microsoft.com/office/drawing/2014/main" id="{8C770040-E4C3-2CE4-0BAA-CBB6136F29F4}"/>
              </a:ext>
            </a:extLst>
          </p:cNvPr>
          <p:cNvSpPr>
            <a:spLocks noGrp="1"/>
          </p:cNvSpPr>
          <p:nvPr/>
        </p:nvSpPr>
        <p:spPr>
          <a:xfrm>
            <a:off x="724204" y="2560320"/>
            <a:ext cx="10586008" cy="128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n-US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How Founders can Learn How to Adapt?</a:t>
            </a:r>
          </a:p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n-US" sz="3900" i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Start from </a:t>
            </a:r>
            <a:r>
              <a:rPr lang="en-US" sz="3900" i="1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small things.</a:t>
            </a:r>
            <a:endParaRPr sz="3900" i="1" u="sng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6646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2C5EC48-BBE0-4436-9AFA-88D513E441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67">
            <a:extLst>
              <a:ext uri="{FF2B5EF4-FFF2-40B4-BE49-F238E27FC236}">
                <a16:creationId xmlns:a16="http://schemas.microsoft.com/office/drawing/2014/main" id="{0B9DE2DF-0A75-4749-B3A5-BACCC7A26DB8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KARAKTER ENTREPRENEUR</a:t>
            </a:r>
          </a:p>
        </p:txBody>
      </p:sp>
      <p:sp>
        <p:nvSpPr>
          <p:cNvPr id="5" name="text-68">
            <a:extLst>
              <a:ext uri="{FF2B5EF4-FFF2-40B4-BE49-F238E27FC236}">
                <a16:creationId xmlns:a16="http://schemas.microsoft.com/office/drawing/2014/main" id="{5AEB2363-C4D5-43BF-A3B4-0406434E32E5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Karakter founder kelihatan dari kebiasaannya sehari-hari</a:t>
            </a:r>
          </a:p>
        </p:txBody>
      </p:sp>
      <p:sp>
        <p:nvSpPr>
          <p:cNvPr id="6" name="text-69">
            <a:extLst>
              <a:ext uri="{FF2B5EF4-FFF2-40B4-BE49-F238E27FC236}">
                <a16:creationId xmlns:a16="http://schemas.microsoft.com/office/drawing/2014/main" id="{F5C128B0-97DA-4650-9B5C-6CEE3C1BCF2D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70">
            <a:extLst>
              <a:ext uri="{FF2B5EF4-FFF2-40B4-BE49-F238E27FC236}">
                <a16:creationId xmlns:a16="http://schemas.microsoft.com/office/drawing/2014/main" id="{FAC0809B-91F1-4053-BBA9-83D527C651DE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8" name="text-71">
            <a:extLst>
              <a:ext uri="{FF2B5EF4-FFF2-40B4-BE49-F238E27FC236}">
                <a16:creationId xmlns:a16="http://schemas.microsoft.com/office/drawing/2014/main" id="{C41089A5-6BAD-4D17-A833-04686AF617C3}"/>
              </a:ext>
            </a:extLst>
          </p:cNvPr>
          <p:cNvSpPr>
            <a:spLocks noGrp="1"/>
          </p:cNvSpPr>
          <p:nvPr/>
        </p:nvSpPr>
        <p:spPr>
          <a:xfrm>
            <a:off x="571195" y="1549170"/>
            <a:ext cx="495239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SAAT MELIHAT PELUANG</a:t>
            </a:r>
          </a:p>
        </p:txBody>
      </p:sp>
      <p:sp>
        <p:nvSpPr>
          <p:cNvPr id="9" name="text-72">
            <a:extLst>
              <a:ext uri="{FF2B5EF4-FFF2-40B4-BE49-F238E27FC236}">
                <a16:creationId xmlns:a16="http://schemas.microsoft.com/office/drawing/2014/main" id="{ACF1887E-D17C-4FC2-B486-3681F79A7CCA}"/>
              </a:ext>
            </a:extLst>
          </p:cNvPr>
          <p:cNvSpPr>
            <a:spLocks noGrp="1"/>
          </p:cNvSpPr>
          <p:nvPr/>
        </p:nvSpPr>
        <p:spPr>
          <a:xfrm>
            <a:off x="6667195" y="154917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SAAT EKSEKUSI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CE50D921-C215-4093-B71B-E8E08D758AB8}"/>
              </a:ext>
            </a:extLst>
          </p:cNvPr>
          <p:cNvSpPr>
            <a:spLocks noGrp="1"/>
          </p:cNvSpPr>
          <p:nvPr/>
        </p:nvSpPr>
        <p:spPr>
          <a:xfrm>
            <a:off x="571195" y="1920645"/>
            <a:ext cx="4952390" cy="0"/>
          </a:xfrm>
          <a:prstGeom prst="line">
            <a:avLst/>
          </a:prstGeom>
          <a:noFill/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524DF989-E422-456B-97C6-F51E5C26C838}"/>
              </a:ext>
            </a:extLst>
          </p:cNvPr>
          <p:cNvSpPr>
            <a:spLocks noGrp="1"/>
          </p:cNvSpPr>
          <p:nvPr/>
        </p:nvSpPr>
        <p:spPr>
          <a:xfrm>
            <a:off x="6667195" y="1920645"/>
            <a:ext cx="4953000" cy="0"/>
          </a:xfrm>
          <a:prstGeom prst="line">
            <a:avLst/>
          </a:prstGeom>
          <a:noFill/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-73">
            <a:extLst>
              <a:ext uri="{FF2B5EF4-FFF2-40B4-BE49-F238E27FC236}">
                <a16:creationId xmlns:a16="http://schemas.microsoft.com/office/drawing/2014/main" id="{4A58299C-3F9D-458F-9C92-A3305E6EEBA8}"/>
              </a:ext>
            </a:extLst>
          </p:cNvPr>
          <p:cNvSpPr>
            <a:spLocks noGrp="1"/>
          </p:cNvSpPr>
          <p:nvPr/>
        </p:nvSpPr>
        <p:spPr>
          <a:xfrm>
            <a:off x="571195" y="2184868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text-74">
            <a:extLst>
              <a:ext uri="{FF2B5EF4-FFF2-40B4-BE49-F238E27FC236}">
                <a16:creationId xmlns:a16="http://schemas.microsoft.com/office/drawing/2014/main" id="{4A1D1C43-9DAF-41F6-BEDA-E58FA242D529}"/>
              </a:ext>
            </a:extLst>
          </p:cNvPr>
          <p:cNvSpPr>
            <a:spLocks noGrp="1"/>
          </p:cNvSpPr>
          <p:nvPr/>
        </p:nvSpPr>
        <p:spPr>
          <a:xfrm>
            <a:off x="1190320" y="214924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Rasa ingin tahu</a:t>
            </a:r>
          </a:p>
        </p:txBody>
      </p:sp>
      <p:sp>
        <p:nvSpPr>
          <p:cNvPr id="14" name="text-75">
            <a:extLst>
              <a:ext uri="{FF2B5EF4-FFF2-40B4-BE49-F238E27FC236}">
                <a16:creationId xmlns:a16="http://schemas.microsoft.com/office/drawing/2014/main" id="{672C331A-11F1-4924-9169-D46DA83336C4}"/>
              </a:ext>
            </a:extLst>
          </p:cNvPr>
          <p:cNvSpPr>
            <a:spLocks noGrp="1"/>
          </p:cNvSpPr>
          <p:nvPr/>
        </p:nvSpPr>
        <p:spPr>
          <a:xfrm>
            <a:off x="1190320" y="2463570"/>
            <a:ext cx="4333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Tanya </a:t>
            </a: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kenapa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buyer </a:t>
            </a: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butuh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barang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tersebut</a:t>
            </a:r>
            <a:r>
              <a:rPr lang="en-ID" sz="1725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?</a:t>
            </a:r>
            <a:endParaRPr sz="1725" b="0" dirty="0">
              <a:solidFill>
                <a:srgbClr val="5B71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-76">
            <a:extLst>
              <a:ext uri="{FF2B5EF4-FFF2-40B4-BE49-F238E27FC236}">
                <a16:creationId xmlns:a16="http://schemas.microsoft.com/office/drawing/2014/main" id="{BB37EE14-8358-49A3-A4FB-8F00FA8F08E5}"/>
              </a:ext>
            </a:extLst>
          </p:cNvPr>
          <p:cNvSpPr>
            <a:spLocks noGrp="1"/>
          </p:cNvSpPr>
          <p:nvPr/>
        </p:nvSpPr>
        <p:spPr>
          <a:xfrm>
            <a:off x="571195" y="2813518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6" name="text-77">
            <a:extLst>
              <a:ext uri="{FF2B5EF4-FFF2-40B4-BE49-F238E27FC236}">
                <a16:creationId xmlns:a16="http://schemas.microsoft.com/office/drawing/2014/main" id="{52394029-142C-4EBA-A229-57E9DE142E8E}"/>
              </a:ext>
            </a:extLst>
          </p:cNvPr>
          <p:cNvSpPr>
            <a:spLocks noGrp="1"/>
          </p:cNvSpPr>
          <p:nvPr/>
        </p:nvSpPr>
        <p:spPr>
          <a:xfrm>
            <a:off x="1190320" y="277789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Eksperimen</a:t>
            </a:r>
          </a:p>
        </p:txBody>
      </p:sp>
      <p:sp>
        <p:nvSpPr>
          <p:cNvPr id="17" name="text-78">
            <a:extLst>
              <a:ext uri="{FF2B5EF4-FFF2-40B4-BE49-F238E27FC236}">
                <a16:creationId xmlns:a16="http://schemas.microsoft.com/office/drawing/2014/main" id="{9FA30C55-5B46-494C-89DE-7A93D6189642}"/>
              </a:ext>
            </a:extLst>
          </p:cNvPr>
          <p:cNvSpPr>
            <a:spLocks noGrp="1"/>
          </p:cNvSpPr>
          <p:nvPr/>
        </p:nvSpPr>
        <p:spPr>
          <a:xfrm>
            <a:off x="1190320" y="3092220"/>
            <a:ext cx="47695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Lakukan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market test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sebelum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menambah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stok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  <a:endParaRPr sz="1725" b="0" dirty="0">
              <a:solidFill>
                <a:srgbClr val="5B71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-79">
            <a:extLst>
              <a:ext uri="{FF2B5EF4-FFF2-40B4-BE49-F238E27FC236}">
                <a16:creationId xmlns:a16="http://schemas.microsoft.com/office/drawing/2014/main" id="{40EB1197-315A-4891-BA57-81BBB3D178D1}"/>
              </a:ext>
            </a:extLst>
          </p:cNvPr>
          <p:cNvSpPr>
            <a:spLocks noGrp="1"/>
          </p:cNvSpPr>
          <p:nvPr/>
        </p:nvSpPr>
        <p:spPr>
          <a:xfrm>
            <a:off x="571195" y="3442169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9" name="text-80">
            <a:extLst>
              <a:ext uri="{FF2B5EF4-FFF2-40B4-BE49-F238E27FC236}">
                <a16:creationId xmlns:a16="http://schemas.microsoft.com/office/drawing/2014/main" id="{12AC0192-0B1C-4ACB-B983-BFA76A7BC1FD}"/>
              </a:ext>
            </a:extLst>
          </p:cNvPr>
          <p:cNvSpPr>
            <a:spLocks noGrp="1"/>
          </p:cNvSpPr>
          <p:nvPr/>
        </p:nvSpPr>
        <p:spPr>
          <a:xfrm>
            <a:off x="1190320" y="340654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Adaptasi</a:t>
            </a:r>
          </a:p>
        </p:txBody>
      </p:sp>
      <p:sp>
        <p:nvSpPr>
          <p:cNvPr id="20" name="text-81">
            <a:extLst>
              <a:ext uri="{FF2B5EF4-FFF2-40B4-BE49-F238E27FC236}">
                <a16:creationId xmlns:a16="http://schemas.microsoft.com/office/drawing/2014/main" id="{DFF84D21-1389-4655-878A-2010757BEF59}"/>
              </a:ext>
            </a:extLst>
          </p:cNvPr>
          <p:cNvSpPr>
            <a:spLocks noGrp="1"/>
          </p:cNvSpPr>
          <p:nvPr/>
        </p:nvSpPr>
        <p:spPr>
          <a:xfrm>
            <a:off x="1190320" y="3720870"/>
            <a:ext cx="4333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Jangan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denial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jika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data &amp;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fakta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berkata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lain.</a:t>
            </a:r>
            <a:endParaRPr sz="1725" b="0" dirty="0">
              <a:solidFill>
                <a:srgbClr val="5B71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-82">
            <a:extLst>
              <a:ext uri="{FF2B5EF4-FFF2-40B4-BE49-F238E27FC236}">
                <a16:creationId xmlns:a16="http://schemas.microsoft.com/office/drawing/2014/main" id="{A9A5AD39-8129-4F50-9CC3-056D553A819A}"/>
              </a:ext>
            </a:extLst>
          </p:cNvPr>
          <p:cNvSpPr>
            <a:spLocks noGrp="1"/>
          </p:cNvSpPr>
          <p:nvPr/>
        </p:nvSpPr>
        <p:spPr>
          <a:xfrm>
            <a:off x="571195" y="4070818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2" name="text-83">
            <a:extLst>
              <a:ext uri="{FF2B5EF4-FFF2-40B4-BE49-F238E27FC236}">
                <a16:creationId xmlns:a16="http://schemas.microsoft.com/office/drawing/2014/main" id="{754E0EA9-D258-4EA4-BE2E-61DE5676F040}"/>
              </a:ext>
            </a:extLst>
          </p:cNvPr>
          <p:cNvSpPr>
            <a:spLocks noGrp="1"/>
          </p:cNvSpPr>
          <p:nvPr/>
        </p:nvSpPr>
        <p:spPr>
          <a:xfrm>
            <a:off x="1190320" y="403519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Keputusan</a:t>
            </a:r>
          </a:p>
        </p:txBody>
      </p:sp>
      <p:sp>
        <p:nvSpPr>
          <p:cNvPr id="23" name="text-84">
            <a:extLst>
              <a:ext uri="{FF2B5EF4-FFF2-40B4-BE49-F238E27FC236}">
                <a16:creationId xmlns:a16="http://schemas.microsoft.com/office/drawing/2014/main" id="{DF48282B-876C-430B-89E6-1D746F07C5EB}"/>
              </a:ext>
            </a:extLst>
          </p:cNvPr>
          <p:cNvSpPr>
            <a:spLocks noGrp="1"/>
          </p:cNvSpPr>
          <p:nvPr/>
        </p:nvSpPr>
        <p:spPr>
          <a:xfrm>
            <a:off x="1190320" y="4349520"/>
            <a:ext cx="4516112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Selalu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ada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alasan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disetiap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keputusan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diambil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  <a:endParaRPr sz="1725" b="0" dirty="0">
              <a:solidFill>
                <a:srgbClr val="5B71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text-85">
            <a:extLst>
              <a:ext uri="{FF2B5EF4-FFF2-40B4-BE49-F238E27FC236}">
                <a16:creationId xmlns:a16="http://schemas.microsoft.com/office/drawing/2014/main" id="{D0E5D6B5-D83B-40CD-9CAB-62835E575756}"/>
              </a:ext>
            </a:extLst>
          </p:cNvPr>
          <p:cNvSpPr>
            <a:spLocks noGrp="1"/>
          </p:cNvSpPr>
          <p:nvPr/>
        </p:nvSpPr>
        <p:spPr>
          <a:xfrm>
            <a:off x="571195" y="4699468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5" name="text-86">
            <a:extLst>
              <a:ext uri="{FF2B5EF4-FFF2-40B4-BE49-F238E27FC236}">
                <a16:creationId xmlns:a16="http://schemas.microsoft.com/office/drawing/2014/main" id="{CEC9610D-23B0-45EF-B7A8-A1CC17DC1604}"/>
              </a:ext>
            </a:extLst>
          </p:cNvPr>
          <p:cNvSpPr>
            <a:spLocks noGrp="1"/>
          </p:cNvSpPr>
          <p:nvPr/>
        </p:nvSpPr>
        <p:spPr>
          <a:xfrm>
            <a:off x="1190320" y="466384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Kesadaran diri</a:t>
            </a:r>
          </a:p>
        </p:txBody>
      </p:sp>
      <p:sp>
        <p:nvSpPr>
          <p:cNvPr id="26" name="text-87">
            <a:extLst>
              <a:ext uri="{FF2B5EF4-FFF2-40B4-BE49-F238E27FC236}">
                <a16:creationId xmlns:a16="http://schemas.microsoft.com/office/drawing/2014/main" id="{57E30A05-B2C0-4462-9046-F50E19187775}"/>
              </a:ext>
            </a:extLst>
          </p:cNvPr>
          <p:cNvSpPr>
            <a:spLocks noGrp="1"/>
          </p:cNvSpPr>
          <p:nvPr/>
        </p:nvSpPr>
        <p:spPr>
          <a:xfrm>
            <a:off x="1190320" y="4978170"/>
            <a:ext cx="4333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Jujur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soal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apa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belum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diluar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kapasitas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7" name="text-88">
            <a:extLst>
              <a:ext uri="{FF2B5EF4-FFF2-40B4-BE49-F238E27FC236}">
                <a16:creationId xmlns:a16="http://schemas.microsoft.com/office/drawing/2014/main" id="{30A47938-A1B0-40A3-A1B6-1FF9E8A86916}"/>
              </a:ext>
            </a:extLst>
          </p:cNvPr>
          <p:cNvSpPr>
            <a:spLocks noGrp="1"/>
          </p:cNvSpPr>
          <p:nvPr/>
        </p:nvSpPr>
        <p:spPr>
          <a:xfrm>
            <a:off x="6667195" y="2184868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28" name="text-89">
            <a:extLst>
              <a:ext uri="{FF2B5EF4-FFF2-40B4-BE49-F238E27FC236}">
                <a16:creationId xmlns:a16="http://schemas.microsoft.com/office/drawing/2014/main" id="{A1DEAEBB-5D5C-44C0-8650-AB9F8242D9F5}"/>
              </a:ext>
            </a:extLst>
          </p:cNvPr>
          <p:cNvSpPr>
            <a:spLocks noGrp="1"/>
          </p:cNvSpPr>
          <p:nvPr/>
        </p:nvSpPr>
        <p:spPr>
          <a:xfrm>
            <a:off x="7286320" y="214924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Toleransi risiko</a:t>
            </a:r>
          </a:p>
        </p:txBody>
      </p:sp>
      <p:sp>
        <p:nvSpPr>
          <p:cNvPr id="29" name="text-90">
            <a:extLst>
              <a:ext uri="{FF2B5EF4-FFF2-40B4-BE49-F238E27FC236}">
                <a16:creationId xmlns:a16="http://schemas.microsoft.com/office/drawing/2014/main" id="{493284EC-3336-4A3E-AAFE-1AE2CEBC99CF}"/>
              </a:ext>
            </a:extLst>
          </p:cNvPr>
          <p:cNvSpPr>
            <a:spLocks noGrp="1"/>
          </p:cNvSpPr>
          <p:nvPr/>
        </p:nvSpPr>
        <p:spPr>
          <a:xfrm>
            <a:off x="7286320" y="2463570"/>
            <a:ext cx="4333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Tahu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kapasitas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&amp;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batas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rugi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masih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aman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0" name="text-91">
            <a:extLst>
              <a:ext uri="{FF2B5EF4-FFF2-40B4-BE49-F238E27FC236}">
                <a16:creationId xmlns:a16="http://schemas.microsoft.com/office/drawing/2014/main" id="{41C27D14-D559-4D5E-A05B-ECCCC43C90CF}"/>
              </a:ext>
            </a:extLst>
          </p:cNvPr>
          <p:cNvSpPr>
            <a:spLocks noGrp="1"/>
          </p:cNvSpPr>
          <p:nvPr/>
        </p:nvSpPr>
        <p:spPr>
          <a:xfrm>
            <a:off x="6667195" y="2813518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1" name="text-92">
            <a:extLst>
              <a:ext uri="{FF2B5EF4-FFF2-40B4-BE49-F238E27FC236}">
                <a16:creationId xmlns:a16="http://schemas.microsoft.com/office/drawing/2014/main" id="{2587B962-AB39-4DC8-882C-344C1673C6D1}"/>
              </a:ext>
            </a:extLst>
          </p:cNvPr>
          <p:cNvSpPr>
            <a:spLocks noGrp="1"/>
          </p:cNvSpPr>
          <p:nvPr/>
        </p:nvSpPr>
        <p:spPr>
          <a:xfrm>
            <a:off x="7286320" y="277789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Belajar dari gagal</a:t>
            </a:r>
          </a:p>
        </p:txBody>
      </p:sp>
      <p:sp>
        <p:nvSpPr>
          <p:cNvPr id="32" name="text-93">
            <a:extLst>
              <a:ext uri="{FF2B5EF4-FFF2-40B4-BE49-F238E27FC236}">
                <a16:creationId xmlns:a16="http://schemas.microsoft.com/office/drawing/2014/main" id="{06AE9D2E-9741-4329-9F40-4BBC692F4CE8}"/>
              </a:ext>
            </a:extLst>
          </p:cNvPr>
          <p:cNvSpPr>
            <a:spLocks noGrp="1"/>
          </p:cNvSpPr>
          <p:nvPr/>
        </p:nvSpPr>
        <p:spPr>
          <a:xfrm>
            <a:off x="7286320" y="3092220"/>
            <a:ext cx="4333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Cari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akar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masalah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dari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kegagalan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dan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belajar</a:t>
            </a:r>
            <a:endParaRPr sz="1725" b="0" dirty="0">
              <a:solidFill>
                <a:srgbClr val="5B71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text-94">
            <a:extLst>
              <a:ext uri="{FF2B5EF4-FFF2-40B4-BE49-F238E27FC236}">
                <a16:creationId xmlns:a16="http://schemas.microsoft.com/office/drawing/2014/main" id="{7AF81F28-7C06-4ABA-B06A-DDBF3E63B38B}"/>
              </a:ext>
            </a:extLst>
          </p:cNvPr>
          <p:cNvSpPr>
            <a:spLocks noGrp="1"/>
          </p:cNvSpPr>
          <p:nvPr/>
        </p:nvSpPr>
        <p:spPr>
          <a:xfrm>
            <a:off x="6667195" y="3442169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34" name="text-95">
            <a:extLst>
              <a:ext uri="{FF2B5EF4-FFF2-40B4-BE49-F238E27FC236}">
                <a16:creationId xmlns:a16="http://schemas.microsoft.com/office/drawing/2014/main" id="{F8EE5B73-19C1-4729-A3B9-0E0D89F17791}"/>
              </a:ext>
            </a:extLst>
          </p:cNvPr>
          <p:cNvSpPr>
            <a:spLocks noGrp="1"/>
          </p:cNvSpPr>
          <p:nvPr/>
        </p:nvSpPr>
        <p:spPr>
          <a:xfrm>
            <a:off x="7286320" y="340654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Kegigihan</a:t>
            </a:r>
          </a:p>
        </p:txBody>
      </p:sp>
      <p:sp>
        <p:nvSpPr>
          <p:cNvPr id="35" name="text-96">
            <a:extLst>
              <a:ext uri="{FF2B5EF4-FFF2-40B4-BE49-F238E27FC236}">
                <a16:creationId xmlns:a16="http://schemas.microsoft.com/office/drawing/2014/main" id="{9ADC3B2C-6361-49B4-8C62-11F3A8037FD6}"/>
              </a:ext>
            </a:extLst>
          </p:cNvPr>
          <p:cNvSpPr>
            <a:spLocks noGrp="1"/>
          </p:cNvSpPr>
          <p:nvPr/>
        </p:nvSpPr>
        <p:spPr>
          <a:xfrm>
            <a:off x="7286320" y="3720870"/>
            <a:ext cx="4333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Follow up 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buyer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sampai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tuntas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6" name="text-97">
            <a:extLst>
              <a:ext uri="{FF2B5EF4-FFF2-40B4-BE49-F238E27FC236}">
                <a16:creationId xmlns:a16="http://schemas.microsoft.com/office/drawing/2014/main" id="{F9E3F7CA-1EC1-4BCF-B323-2AE6300D7D2C}"/>
              </a:ext>
            </a:extLst>
          </p:cNvPr>
          <p:cNvSpPr>
            <a:spLocks noGrp="1"/>
          </p:cNvSpPr>
          <p:nvPr/>
        </p:nvSpPr>
        <p:spPr>
          <a:xfrm>
            <a:off x="6667195" y="4070818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37" name="text-98">
            <a:extLst>
              <a:ext uri="{FF2B5EF4-FFF2-40B4-BE49-F238E27FC236}">
                <a16:creationId xmlns:a16="http://schemas.microsoft.com/office/drawing/2014/main" id="{9B06995D-323E-412F-9FB8-E4909F792D0E}"/>
              </a:ext>
            </a:extLst>
          </p:cNvPr>
          <p:cNvSpPr>
            <a:spLocks noGrp="1"/>
          </p:cNvSpPr>
          <p:nvPr/>
        </p:nvSpPr>
        <p:spPr>
          <a:xfrm>
            <a:off x="7286320" y="403519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Inovasi</a:t>
            </a:r>
          </a:p>
        </p:txBody>
      </p:sp>
      <p:sp>
        <p:nvSpPr>
          <p:cNvPr id="38" name="text-99">
            <a:extLst>
              <a:ext uri="{FF2B5EF4-FFF2-40B4-BE49-F238E27FC236}">
                <a16:creationId xmlns:a16="http://schemas.microsoft.com/office/drawing/2014/main" id="{DC25178C-377B-494A-91DB-50319FE7AA45}"/>
              </a:ext>
            </a:extLst>
          </p:cNvPr>
          <p:cNvSpPr>
            <a:spLocks noGrp="1"/>
          </p:cNvSpPr>
          <p:nvPr/>
        </p:nvSpPr>
        <p:spPr>
          <a:xfrm>
            <a:off x="7286320" y="4349520"/>
            <a:ext cx="4516112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Cari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cara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lain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ka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l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au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deadlock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dengan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strategi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lam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9" name="text-100">
            <a:extLst>
              <a:ext uri="{FF2B5EF4-FFF2-40B4-BE49-F238E27FC236}">
                <a16:creationId xmlns:a16="http://schemas.microsoft.com/office/drawing/2014/main" id="{F95725F8-BADB-4906-AC4E-348A62F7FFC9}"/>
              </a:ext>
            </a:extLst>
          </p:cNvPr>
          <p:cNvSpPr>
            <a:spLocks noGrp="1"/>
          </p:cNvSpPr>
          <p:nvPr/>
        </p:nvSpPr>
        <p:spPr>
          <a:xfrm>
            <a:off x="6667195" y="4699468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0" name="text-101">
            <a:extLst>
              <a:ext uri="{FF2B5EF4-FFF2-40B4-BE49-F238E27FC236}">
                <a16:creationId xmlns:a16="http://schemas.microsoft.com/office/drawing/2014/main" id="{BB6CF8B3-F6DE-464B-A7B7-1ACC7BD26123}"/>
              </a:ext>
            </a:extLst>
          </p:cNvPr>
          <p:cNvSpPr>
            <a:spLocks noGrp="1"/>
          </p:cNvSpPr>
          <p:nvPr/>
        </p:nvSpPr>
        <p:spPr>
          <a:xfrm>
            <a:off x="7286320" y="466384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Fokus jangka panjang</a:t>
            </a:r>
          </a:p>
        </p:txBody>
      </p:sp>
      <p:sp>
        <p:nvSpPr>
          <p:cNvPr id="41" name="text-102">
            <a:extLst>
              <a:ext uri="{FF2B5EF4-FFF2-40B4-BE49-F238E27FC236}">
                <a16:creationId xmlns:a16="http://schemas.microsoft.com/office/drawing/2014/main" id="{92022655-AAEE-4ADE-8226-7875EDE9CE4B}"/>
              </a:ext>
            </a:extLst>
          </p:cNvPr>
          <p:cNvSpPr>
            <a:spLocks noGrp="1"/>
          </p:cNvSpPr>
          <p:nvPr/>
        </p:nvSpPr>
        <p:spPr>
          <a:xfrm>
            <a:off x="7286320" y="4978170"/>
            <a:ext cx="4333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Hal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terpenting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adalah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jaga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relasi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dan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reputasi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42" name="Straight Connector 41">
            <a:extLst>
              <a:ext uri="{FF2B5EF4-FFF2-40B4-BE49-F238E27FC236}">
                <a16:creationId xmlns:a16="http://schemas.microsoft.com/office/drawing/2014/main" id="{5ECF25C5-3D0C-4468-80F4-4151DF211297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text-103">
            <a:extLst>
              <a:ext uri="{FF2B5EF4-FFF2-40B4-BE49-F238E27FC236}">
                <a16:creationId xmlns:a16="http://schemas.microsoft.com/office/drawing/2014/main" id="{8C3526FB-1E5E-4641-BF3E-F5B7B9527607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Coba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pilih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satu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kebiasaan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kecil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mau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kamu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perbaiki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minggu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ini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2046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964505-2E18-1D3B-D417-232C7A739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8" name="text-108">
            <a:extLst>
              <a:ext uri="{FF2B5EF4-FFF2-40B4-BE49-F238E27FC236}">
                <a16:creationId xmlns:a16="http://schemas.microsoft.com/office/drawing/2014/main" id="{8C770040-E4C3-2CE4-0BAA-CBB6136F29F4}"/>
              </a:ext>
            </a:extLst>
          </p:cNvPr>
          <p:cNvSpPr>
            <a:spLocks noGrp="1"/>
          </p:cNvSpPr>
          <p:nvPr/>
        </p:nvSpPr>
        <p:spPr>
          <a:xfrm>
            <a:off x="724204" y="2560320"/>
            <a:ext cx="10586008" cy="128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n-ID" dirty="0" err="1"/>
              <a:t>Karakter</a:t>
            </a:r>
            <a:r>
              <a:rPr lang="en-ID" dirty="0"/>
              <a:t> paling </a:t>
            </a:r>
            <a:r>
              <a:rPr lang="en-ID" dirty="0" err="1"/>
              <a:t>diuji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buyer </a:t>
            </a:r>
            <a:r>
              <a:rPr lang="en-ID" dirty="0" err="1"/>
              <a:t>kasih</a:t>
            </a:r>
            <a:r>
              <a:rPr lang="en-ID" dirty="0"/>
              <a:t> feedback</a:t>
            </a:r>
            <a:r>
              <a:rPr lang="en-ID" i="1" u="sng" dirty="0"/>
              <a:t> </a:t>
            </a:r>
            <a:r>
              <a:rPr lang="en-ID" dirty="0"/>
              <a:t>yang </a:t>
            </a:r>
            <a:r>
              <a:rPr lang="en-ID" i="1" u="sng" dirty="0" err="1"/>
              <a:t>tidak</a:t>
            </a:r>
            <a:r>
              <a:rPr lang="en-ID" i="1" u="sng" dirty="0"/>
              <a:t> </a:t>
            </a:r>
            <a:r>
              <a:rPr lang="en-ID" i="1" u="sng" dirty="0" err="1"/>
              <a:t>enak</a:t>
            </a:r>
            <a:r>
              <a:rPr lang="en-ID" i="1" u="sng" dirty="0"/>
              <a:t> </a:t>
            </a:r>
            <a:r>
              <a:rPr lang="en-ID" i="1" u="sng" dirty="0" err="1"/>
              <a:t>didengar</a:t>
            </a:r>
            <a:r>
              <a:rPr lang="en-ID" dirty="0"/>
              <a:t>. </a:t>
            </a:r>
            <a:r>
              <a:rPr lang="en-ID" dirty="0" err="1"/>
              <a:t>Contohnya</a:t>
            </a:r>
            <a:r>
              <a:rPr lang="en-ID" dirty="0"/>
              <a:t> </a:t>
            </a:r>
            <a:r>
              <a:rPr lang="en-ID" dirty="0" err="1"/>
              <a:t>begini</a:t>
            </a:r>
            <a:r>
              <a:rPr lang="en-ID" dirty="0"/>
              <a:t>...</a:t>
            </a:r>
            <a:endParaRPr sz="3900" i="1" u="sng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2051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3" name="text-104">
            <a:extLst>
              <a:ext uri="{FF2B5EF4-FFF2-40B4-BE49-F238E27FC236}">
                <a16:creationId xmlns:a16="http://schemas.microsoft.com/office/drawing/2014/main" id="{46CB8A51-E1F5-4CA3-942C-C7D86AFAC0D3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GROWTH MINDSET</a:t>
            </a:r>
          </a:p>
        </p:txBody>
      </p:sp>
      <p:sp>
        <p:nvSpPr>
          <p:cNvPr id="4" name="text-105">
            <a:extLst>
              <a:ext uri="{FF2B5EF4-FFF2-40B4-BE49-F238E27FC236}">
                <a16:creationId xmlns:a16="http://schemas.microsoft.com/office/drawing/2014/main" id="{D444D744-7BCA-46A7-9323-1E2CA9CB34F5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Feedback buyer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pasti</a:t>
            </a:r>
            <a:r>
              <a:rPr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memberi</a:t>
            </a:r>
            <a:r>
              <a:rPr lang="en-US"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pelajaran</a:t>
            </a:r>
            <a:r>
              <a:rPr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baru</a:t>
            </a:r>
            <a:r>
              <a:rPr lang="en-US"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untuk</a:t>
            </a:r>
            <a:r>
              <a:rPr lang="en-US"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bisnis</a:t>
            </a:r>
            <a:r>
              <a:rPr lang="en-US"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kita</a:t>
            </a:r>
            <a:endParaRPr sz="2925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-106">
            <a:extLst>
              <a:ext uri="{FF2B5EF4-FFF2-40B4-BE49-F238E27FC236}">
                <a16:creationId xmlns:a16="http://schemas.microsoft.com/office/drawing/2014/main" id="{37845C81-07F8-4B97-A5AC-8734B507AA96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6" name="text-107">
            <a:extLst>
              <a:ext uri="{FF2B5EF4-FFF2-40B4-BE49-F238E27FC236}">
                <a16:creationId xmlns:a16="http://schemas.microsoft.com/office/drawing/2014/main" id="{16A0A28A-12A7-45A8-92B5-7CEA47FCD038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7" name="text-108">
            <a:extLst>
              <a:ext uri="{FF2B5EF4-FFF2-40B4-BE49-F238E27FC236}">
                <a16:creationId xmlns:a16="http://schemas.microsoft.com/office/drawing/2014/main" id="{32432383-6D88-45C3-8A07-6DC303D24CFC}"/>
              </a:ext>
            </a:extLst>
          </p:cNvPr>
          <p:cNvSpPr>
            <a:spLocks noGrp="1"/>
          </p:cNvSpPr>
          <p:nvPr/>
        </p:nvSpPr>
        <p:spPr>
          <a:xfrm>
            <a:off x="571500" y="2066925"/>
            <a:ext cx="11039475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</a:t>
            </a:r>
            <a:r>
              <a:rPr sz="39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Ukurannya</a:t>
            </a:r>
            <a:r>
              <a:rPr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9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belum</a:t>
            </a:r>
            <a:r>
              <a:rPr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9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cocok</a:t>
            </a:r>
            <a:endParaRPr sz="39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9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untuk</a:t>
            </a:r>
            <a:r>
              <a:rPr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9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toko</a:t>
            </a:r>
            <a:r>
              <a:rPr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kami.”</a:t>
            </a:r>
          </a:p>
        </p:txBody>
      </p:sp>
      <p:sp>
        <p:nvSpPr>
          <p:cNvPr id="9" name="text-109">
            <a:extLst>
              <a:ext uri="{FF2B5EF4-FFF2-40B4-BE49-F238E27FC236}">
                <a16:creationId xmlns:a16="http://schemas.microsoft.com/office/drawing/2014/main" id="{32CEDC6A-F23B-4E52-AF40-14028DC13DA5}"/>
              </a:ext>
            </a:extLst>
          </p:cNvPr>
          <p:cNvSpPr>
            <a:spLocks noGrp="1"/>
          </p:cNvSpPr>
          <p:nvPr/>
        </p:nvSpPr>
        <p:spPr>
          <a:xfrm>
            <a:off x="571500" y="3914775"/>
            <a:ext cx="42957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FIXED MINDSET</a:t>
            </a:r>
          </a:p>
        </p:txBody>
      </p:sp>
      <p:sp>
        <p:nvSpPr>
          <p:cNvPr id="10" name="text-110">
            <a:extLst>
              <a:ext uri="{FF2B5EF4-FFF2-40B4-BE49-F238E27FC236}">
                <a16:creationId xmlns:a16="http://schemas.microsoft.com/office/drawing/2014/main" id="{3D228D78-65D8-4FD7-A8CE-8B3F770A841B}"/>
              </a:ext>
            </a:extLst>
          </p:cNvPr>
          <p:cNvSpPr>
            <a:spLocks noGrp="1"/>
          </p:cNvSpPr>
          <p:nvPr/>
        </p:nvSpPr>
        <p:spPr>
          <a:xfrm>
            <a:off x="571500" y="4362450"/>
            <a:ext cx="4619625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“</a:t>
            </a:r>
            <a:r>
              <a:rPr lang="en-US"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Ah </a:t>
            </a:r>
            <a:r>
              <a:rPr lang="en-US"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buyernya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nggak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paham</a:t>
            </a:r>
            <a:r>
              <a:rPr lang="en-US"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produk</a:t>
            </a:r>
            <a:r>
              <a:rPr lang="en-US" sz="2175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!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”</a:t>
            </a:r>
          </a:p>
          <a:p>
            <a:pPr>
              <a:defRPr sz="2175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“</a:t>
            </a:r>
            <a:r>
              <a:rPr lang="en-US"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Inimah</a:t>
            </a:r>
            <a:r>
              <a:rPr lang="en-US"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pasarnya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yang </a:t>
            </a:r>
            <a:r>
              <a:rPr lang="en-US"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n</a:t>
            </a:r>
            <a:r>
              <a:rPr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ggak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cocok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.”</a:t>
            </a:r>
          </a:p>
          <a:p>
            <a:pPr>
              <a:defRPr sz="2175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“</a:t>
            </a:r>
            <a:r>
              <a:rPr lang="en-US"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Kayaknya</a:t>
            </a:r>
            <a:r>
              <a:rPr lang="en-US"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team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nggak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bisa</a:t>
            </a:r>
            <a:r>
              <a:rPr lang="en-US"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deh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.”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2CAC568B-2D32-4202-A0DA-F6F21DEEF84B}"/>
              </a:ext>
            </a:extLst>
          </p:cNvPr>
          <p:cNvSpPr>
            <a:spLocks noGrp="1"/>
          </p:cNvSpPr>
          <p:nvPr/>
        </p:nvSpPr>
        <p:spPr>
          <a:xfrm>
            <a:off x="5334000" y="4724400"/>
            <a:ext cx="714375" cy="190500"/>
          </a:xfrm>
          <a:prstGeom prst="rightArrow">
            <a:avLst/>
          </a:prstGeom>
          <a:solidFill>
            <a:srgbClr val="B9DBC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ext-111">
            <a:extLst>
              <a:ext uri="{FF2B5EF4-FFF2-40B4-BE49-F238E27FC236}">
                <a16:creationId xmlns:a16="http://schemas.microsoft.com/office/drawing/2014/main" id="{EF08F659-804D-40ED-B0A8-36D9FB40C653}"/>
              </a:ext>
            </a:extLst>
          </p:cNvPr>
          <p:cNvSpPr>
            <a:spLocks noGrp="1"/>
          </p:cNvSpPr>
          <p:nvPr/>
        </p:nvSpPr>
        <p:spPr>
          <a:xfrm>
            <a:off x="6667805" y="3914775"/>
            <a:ext cx="495239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GROWTH MINDSET</a:t>
            </a:r>
          </a:p>
        </p:txBody>
      </p:sp>
      <p:sp>
        <p:nvSpPr>
          <p:cNvPr id="13" name="text-112">
            <a:extLst>
              <a:ext uri="{FF2B5EF4-FFF2-40B4-BE49-F238E27FC236}">
                <a16:creationId xmlns:a16="http://schemas.microsoft.com/office/drawing/2014/main" id="{CD2524C7-ED8A-4556-A53C-5FAE447D319A}"/>
              </a:ext>
            </a:extLst>
          </p:cNvPr>
          <p:cNvSpPr>
            <a:spLocks noGrp="1"/>
          </p:cNvSpPr>
          <p:nvPr/>
        </p:nvSpPr>
        <p:spPr>
          <a:xfrm>
            <a:off x="6667805" y="4362450"/>
            <a:ext cx="495239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Ukuran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berapa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dicari</a:t>
            </a:r>
            <a:r>
              <a:rPr lang="en-US"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buyer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?”</a:t>
            </a:r>
          </a:p>
          <a:p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Apa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bisa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ubah</a:t>
            </a:r>
            <a:r>
              <a:rPr lang="en-US"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di </a:t>
            </a:r>
            <a:r>
              <a:rPr lang="en-US"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produk</a:t>
            </a:r>
            <a:r>
              <a:rPr lang="en-US"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?”</a:t>
            </a:r>
          </a:p>
          <a:p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“Kita 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perlu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skill 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atau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partner </a:t>
            </a:r>
            <a:r>
              <a:rPr lang="en-US"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seperti</a:t>
            </a:r>
            <a:r>
              <a:rPr lang="en-US"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apa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?”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EB827FBA-1181-4266-98A4-BECCA405EE43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47766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ext-113">
            <a:extLst>
              <a:ext uri="{FF2B5EF4-FFF2-40B4-BE49-F238E27FC236}">
                <a16:creationId xmlns:a16="http://schemas.microsoft.com/office/drawing/2014/main" id="{8249465E-E7EA-4955-BE6B-214C93BDBFE5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Terima</a:t>
            </a:r>
            <a:r>
              <a:rPr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feedback-</a:t>
            </a:r>
            <a:r>
              <a:rPr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nya</a:t>
            </a:r>
            <a:r>
              <a:rPr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lalu</a:t>
            </a:r>
            <a:r>
              <a:rPr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kalkulasi</a:t>
            </a:r>
            <a:r>
              <a:rPr lang="en-US"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terlebih</a:t>
            </a:r>
            <a:r>
              <a:rPr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dulu</a:t>
            </a:r>
            <a:r>
              <a:rPr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apakah</a:t>
            </a:r>
            <a:r>
              <a:rPr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layak</a:t>
            </a:r>
            <a:r>
              <a:rPr lang="en-US"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untuk</a:t>
            </a:r>
            <a:r>
              <a:rPr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dijalankan</a:t>
            </a:r>
            <a:r>
              <a:rPr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2296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964505-2E18-1D3B-D417-232C7A739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8" name="text-108">
            <a:extLst>
              <a:ext uri="{FF2B5EF4-FFF2-40B4-BE49-F238E27FC236}">
                <a16:creationId xmlns:a16="http://schemas.microsoft.com/office/drawing/2014/main" id="{8C770040-E4C3-2CE4-0BAA-CBB6136F29F4}"/>
              </a:ext>
            </a:extLst>
          </p:cNvPr>
          <p:cNvSpPr>
            <a:spLocks noGrp="1"/>
          </p:cNvSpPr>
          <p:nvPr/>
        </p:nvSpPr>
        <p:spPr>
          <a:xfrm>
            <a:off x="724204" y="2560320"/>
            <a:ext cx="10586008" cy="128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Daripada defensif, </a:t>
            </a:r>
            <a:r>
              <a:rPr lang="id-ID" sz="3900" b="1" dirty="0" i="1" u="sng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gali lebih dalam</a:t>
            </a: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Sebenarnya buyer butuh apa?</a:t>
            </a:r>
          </a:p>
        </p:txBody>
      </p:sp>
    </p:spTree>
    <p:extLst>
      <p:ext uri="{BB962C8B-B14F-4D97-AF65-F5344CB8AC3E}">
        <p14:creationId xmlns:p14="http://schemas.microsoft.com/office/powerpoint/2010/main" val="872051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B302DA5-87D8-40BB-A2B9-D6D1AAD00F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142">
            <a:extLst>
              <a:ext uri="{FF2B5EF4-FFF2-40B4-BE49-F238E27FC236}">
                <a16:creationId xmlns:a16="http://schemas.microsoft.com/office/drawing/2014/main" id="{62ADAC16-4981-4E4A-B116-2DDD35CB92A6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MEMAHAMI BUYER</a:t>
            </a:r>
          </a:p>
        </p:txBody>
      </p:sp>
      <p:sp>
        <p:nvSpPr>
          <p:cNvPr id="5" name="text-143">
            <a:extLst>
              <a:ext uri="{FF2B5EF4-FFF2-40B4-BE49-F238E27FC236}">
                <a16:creationId xmlns:a16="http://schemas.microsoft.com/office/drawing/2014/main" id="{462116CC-4E42-4202-BA97-7EA6FC942E58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harus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memahami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apa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sebenarnya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i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buyer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butuhkan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144">
            <a:extLst>
              <a:ext uri="{FF2B5EF4-FFF2-40B4-BE49-F238E27FC236}">
                <a16:creationId xmlns:a16="http://schemas.microsoft.com/office/drawing/2014/main" id="{F5AB0629-5A2B-4E0D-87B5-5C6B76C95EA2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145">
            <a:extLst>
              <a:ext uri="{FF2B5EF4-FFF2-40B4-BE49-F238E27FC236}">
                <a16:creationId xmlns:a16="http://schemas.microsoft.com/office/drawing/2014/main" id="{B7891960-6221-4B1E-9B54-389EF39FDB61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8" name="text-146">
            <a:extLst>
              <a:ext uri="{FF2B5EF4-FFF2-40B4-BE49-F238E27FC236}">
                <a16:creationId xmlns:a16="http://schemas.microsoft.com/office/drawing/2014/main" id="{E8C18E3A-5AC5-4B4F-9C52-23BD11456577}"/>
              </a:ext>
            </a:extLst>
          </p:cNvPr>
          <p:cNvSpPr>
            <a:spLocks noGrp="1"/>
          </p:cNvSpPr>
          <p:nvPr/>
        </p:nvSpPr>
        <p:spPr>
          <a:xfrm>
            <a:off x="571500" y="1790852"/>
            <a:ext cx="4552950" cy="132694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6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“</a:t>
            </a:r>
            <a:r>
              <a:rPr sz="367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Produk</a:t>
            </a:r>
            <a:r>
              <a:rPr sz="36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67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ini</a:t>
            </a:r>
            <a:r>
              <a:rPr lang="en-US" sz="36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67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akan</a:t>
            </a:r>
            <a:r>
              <a:rPr lang="en-US" sz="36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buyer </a:t>
            </a:r>
            <a:r>
              <a:rPr sz="367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pakai</a:t>
            </a:r>
            <a:r>
              <a:rPr lang="en-US" sz="36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67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untuk</a:t>
            </a:r>
            <a:r>
              <a:rPr sz="36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67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apa</a:t>
            </a:r>
            <a:r>
              <a:rPr sz="36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?”</a:t>
            </a:r>
          </a:p>
        </p:txBody>
      </p:sp>
      <p:sp>
        <p:nvSpPr>
          <p:cNvPr id="9" name="text-147">
            <a:extLst>
              <a:ext uri="{FF2B5EF4-FFF2-40B4-BE49-F238E27FC236}">
                <a16:creationId xmlns:a16="http://schemas.microsoft.com/office/drawing/2014/main" id="{258FBCCF-2ED5-4847-AFDD-7362C114515E}"/>
              </a:ext>
            </a:extLst>
          </p:cNvPr>
          <p:cNvSpPr>
            <a:spLocks noGrp="1"/>
          </p:cNvSpPr>
          <p:nvPr/>
        </p:nvSpPr>
        <p:spPr>
          <a:xfrm>
            <a:off x="571500" y="4238777"/>
            <a:ext cx="45529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Pahami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konteks</a:t>
            </a:r>
            <a:r>
              <a:rPr lang="en-US"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lang="en-US"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dibutuhkan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oleh buyer </a:t>
            </a:r>
            <a:r>
              <a:rPr lang="en-US"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terkebih</a:t>
            </a:r>
            <a:r>
              <a:rPr lang="en-US"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0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dah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ulu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</a:t>
            </a:r>
            <a:r>
              <a:rPr lang="en-US"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baru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tawarkan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</a:t>
            </a:r>
            <a:r>
              <a:rPr lang="en-US"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F4B6CCC3-1792-475D-884D-E414ABE07224}"/>
              </a:ext>
            </a:extLst>
          </p:cNvPr>
          <p:cNvSpPr>
            <a:spLocks noGrp="1"/>
          </p:cNvSpPr>
          <p:nvPr/>
        </p:nvSpPr>
        <p:spPr>
          <a:xfrm>
            <a:off x="5734050" y="1879549"/>
            <a:ext cx="0" cy="352044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ext-148">
            <a:extLst>
              <a:ext uri="{FF2B5EF4-FFF2-40B4-BE49-F238E27FC236}">
                <a16:creationId xmlns:a16="http://schemas.microsoft.com/office/drawing/2014/main" id="{FB38FCD8-E2F1-470D-B4D0-5890AB77620B}"/>
              </a:ext>
            </a:extLst>
          </p:cNvPr>
          <p:cNvSpPr>
            <a:spLocks noGrp="1"/>
          </p:cNvSpPr>
          <p:nvPr/>
        </p:nvSpPr>
        <p:spPr>
          <a:xfrm>
            <a:off x="6343650" y="1879549"/>
            <a:ext cx="5276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KEBUTUHAN</a:t>
            </a:r>
          </a:p>
        </p:txBody>
      </p:sp>
      <p:sp>
        <p:nvSpPr>
          <p:cNvPr id="12" name="text-149">
            <a:extLst>
              <a:ext uri="{FF2B5EF4-FFF2-40B4-BE49-F238E27FC236}">
                <a16:creationId xmlns:a16="http://schemas.microsoft.com/office/drawing/2014/main" id="{A36B5120-D0BD-4009-8835-9E7E920DF8D6}"/>
              </a:ext>
            </a:extLst>
          </p:cNvPr>
          <p:cNvSpPr>
            <a:spLocks noGrp="1"/>
          </p:cNvSpPr>
          <p:nvPr/>
        </p:nvSpPr>
        <p:spPr>
          <a:xfrm>
            <a:off x="6343650" y="2203399"/>
            <a:ext cx="52768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Siapa end user-nya?</a:t>
            </a:r>
          </a:p>
        </p:txBody>
      </p:sp>
      <p:sp>
        <p:nvSpPr>
          <p:cNvPr id="13" name="text-150">
            <a:extLst>
              <a:ext uri="{FF2B5EF4-FFF2-40B4-BE49-F238E27FC236}">
                <a16:creationId xmlns:a16="http://schemas.microsoft.com/office/drawing/2014/main" id="{5ACEBDC9-F1FA-4DC2-A430-15A9A66DA72A}"/>
              </a:ext>
            </a:extLst>
          </p:cNvPr>
          <p:cNvSpPr>
            <a:spLocks noGrp="1"/>
          </p:cNvSpPr>
          <p:nvPr/>
        </p:nvSpPr>
        <p:spPr>
          <a:xfrm>
            <a:off x="6343650" y="2651074"/>
            <a:ext cx="52768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Cari tahu masalah dan cara mereka memakainya.</a:t>
            </a:r>
          </a:p>
        </p:txBody>
      </p:sp>
      <p:sp>
        <p:nvSpPr>
          <p:cNvPr id="14" name="text-151">
            <a:extLst>
              <a:ext uri="{FF2B5EF4-FFF2-40B4-BE49-F238E27FC236}">
                <a16:creationId xmlns:a16="http://schemas.microsoft.com/office/drawing/2014/main" id="{F1E6B497-164F-493F-B0E0-5C7FA1BFC7F0}"/>
              </a:ext>
            </a:extLst>
          </p:cNvPr>
          <p:cNvSpPr>
            <a:spLocks noGrp="1"/>
          </p:cNvSpPr>
          <p:nvPr/>
        </p:nvSpPr>
        <p:spPr>
          <a:xfrm>
            <a:off x="6343650" y="3117799"/>
            <a:ext cx="5276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SPESIFIKASI</a:t>
            </a:r>
          </a:p>
        </p:txBody>
      </p:sp>
      <p:sp>
        <p:nvSpPr>
          <p:cNvPr id="15" name="text-152">
            <a:extLst>
              <a:ext uri="{FF2B5EF4-FFF2-40B4-BE49-F238E27FC236}">
                <a16:creationId xmlns:a16="http://schemas.microsoft.com/office/drawing/2014/main" id="{D6EF14C6-1010-4ACE-BA47-97520E197FBB}"/>
              </a:ext>
            </a:extLst>
          </p:cNvPr>
          <p:cNvSpPr>
            <a:spLocks noGrp="1"/>
          </p:cNvSpPr>
          <p:nvPr/>
        </p:nvSpPr>
        <p:spPr>
          <a:xfrm>
            <a:off x="6343650" y="3441649"/>
            <a:ext cx="52768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Ukuran, material, packaging?</a:t>
            </a:r>
          </a:p>
        </p:txBody>
      </p:sp>
      <p:sp>
        <p:nvSpPr>
          <p:cNvPr id="16" name="text-153">
            <a:extLst>
              <a:ext uri="{FF2B5EF4-FFF2-40B4-BE49-F238E27FC236}">
                <a16:creationId xmlns:a16="http://schemas.microsoft.com/office/drawing/2014/main" id="{B718230C-6E88-43FE-A14B-5131824CE788}"/>
              </a:ext>
            </a:extLst>
          </p:cNvPr>
          <p:cNvSpPr>
            <a:spLocks noGrp="1"/>
          </p:cNvSpPr>
          <p:nvPr/>
        </p:nvSpPr>
        <p:spPr>
          <a:xfrm>
            <a:off x="6343650" y="3889324"/>
            <a:ext cx="52768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Minta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contoh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tanya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mana yang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jadi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prioritas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buyer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7" name="text-154">
            <a:extLst>
              <a:ext uri="{FF2B5EF4-FFF2-40B4-BE49-F238E27FC236}">
                <a16:creationId xmlns:a16="http://schemas.microsoft.com/office/drawing/2014/main" id="{08738AFD-5234-4F1C-A4C6-2CA457208196}"/>
              </a:ext>
            </a:extLst>
          </p:cNvPr>
          <p:cNvSpPr>
            <a:spLocks noGrp="1"/>
          </p:cNvSpPr>
          <p:nvPr/>
        </p:nvSpPr>
        <p:spPr>
          <a:xfrm>
            <a:off x="6343650" y="4356049"/>
            <a:ext cx="5276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HARGA</a:t>
            </a:r>
          </a:p>
        </p:txBody>
      </p:sp>
      <p:sp>
        <p:nvSpPr>
          <p:cNvPr id="18" name="text-155">
            <a:extLst>
              <a:ext uri="{FF2B5EF4-FFF2-40B4-BE49-F238E27FC236}">
                <a16:creationId xmlns:a16="http://schemas.microsoft.com/office/drawing/2014/main" id="{EFAF500B-7E76-4235-8EE8-C0075D00C283}"/>
              </a:ext>
            </a:extLst>
          </p:cNvPr>
          <p:cNvSpPr>
            <a:spLocks noGrp="1"/>
          </p:cNvSpPr>
          <p:nvPr/>
        </p:nvSpPr>
        <p:spPr>
          <a:xfrm>
            <a:off x="6343650" y="4679899"/>
            <a:ext cx="52768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Harga dan volume </a:t>
            </a:r>
            <a:r>
              <a:rPr sz="225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berapa</a:t>
            </a:r>
            <a:r>
              <a:rPr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225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masuk</a:t>
            </a:r>
            <a:r>
              <a:rPr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19" name="text-156">
            <a:extLst>
              <a:ext uri="{FF2B5EF4-FFF2-40B4-BE49-F238E27FC236}">
                <a16:creationId xmlns:a16="http://schemas.microsoft.com/office/drawing/2014/main" id="{8504FFA1-8B9C-42C2-89EB-54B544035090}"/>
              </a:ext>
            </a:extLst>
          </p:cNvPr>
          <p:cNvSpPr>
            <a:spLocks noGrp="1"/>
          </p:cNvSpPr>
          <p:nvPr/>
        </p:nvSpPr>
        <p:spPr>
          <a:xfrm>
            <a:off x="6343650" y="5127574"/>
            <a:ext cx="52768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Bandingkan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dengan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biaya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05CE52B4-8E17-4413-8A53-3269687B0BE4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-157">
            <a:extLst>
              <a:ext uri="{FF2B5EF4-FFF2-40B4-BE49-F238E27FC236}">
                <a16:creationId xmlns:a16="http://schemas.microsoft.com/office/drawing/2014/main" id="{E3CF59A3-D98C-43A0-86E4-94C92D7CFDB1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Catat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semua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jawaban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buyer. Yang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belum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jelas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tanyakan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lagi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dengan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melakukan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follow up.</a:t>
            </a:r>
          </a:p>
        </p:txBody>
      </p:sp>
      <p:sp>
        <p:nvSpPr>
          <p:cNvPr id="22" name="text-158">
            <a:extLst>
              <a:ext uri="{FF2B5EF4-FFF2-40B4-BE49-F238E27FC236}">
                <a16:creationId xmlns:a16="http://schemas.microsoft.com/office/drawing/2014/main" id="{07AE7430-CC50-4BFB-ACE1-FED0000CF6A0}"/>
              </a:ext>
            </a:extLst>
          </p:cNvPr>
          <p:cNvSpPr>
            <a:spLocks noGrp="1"/>
          </p:cNvSpPr>
          <p:nvPr/>
        </p:nvSpPr>
        <p:spPr>
          <a:xfrm>
            <a:off x="1920240" y="6590995"/>
            <a:ext cx="813816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Diadaptasi dari Strategyzer. Referensi lengkap ada di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581555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964505-2E18-1D3B-D417-232C7A739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8" name="text-108">
            <a:extLst>
              <a:ext uri="{FF2B5EF4-FFF2-40B4-BE49-F238E27FC236}">
                <a16:creationId xmlns:a16="http://schemas.microsoft.com/office/drawing/2014/main" id="{8C770040-E4C3-2CE4-0BAA-CBB6136F29F4}"/>
              </a:ext>
            </a:extLst>
          </p:cNvPr>
          <p:cNvSpPr>
            <a:spLocks noGrp="1"/>
          </p:cNvSpPr>
          <p:nvPr/>
        </p:nvSpPr>
        <p:spPr>
          <a:xfrm>
            <a:off x="724204" y="2560320"/>
            <a:ext cx="10586008" cy="128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Kebutuhan buyer sudah jelas.</a:t>
            </a:r>
          </a:p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Pertanyaannya: </a:t>
            </a:r>
            <a:r>
              <a:rPr lang="id-ID" sz="3900" b="1" dirty="0" i="1" u="sng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kita sanggup atau tidak?</a:t>
            </a:r>
          </a:p>
        </p:txBody>
      </p:sp>
    </p:spTree>
    <p:extLst>
      <p:ext uri="{BB962C8B-B14F-4D97-AF65-F5344CB8AC3E}">
        <p14:creationId xmlns:p14="http://schemas.microsoft.com/office/powerpoint/2010/main" val="872051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2D5AEB1-5DB8-49F7-8B18-BA0D9C6FCF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171">
            <a:extLst>
              <a:ext uri="{FF2B5EF4-FFF2-40B4-BE49-F238E27FC236}">
                <a16:creationId xmlns:a16="http://schemas.microsoft.com/office/drawing/2014/main" id="{E4D8C6E7-D243-4CD4-9387-8995442116B2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EXPORT READINESS</a:t>
            </a:r>
          </a:p>
        </p:txBody>
      </p:sp>
      <p:sp>
        <p:nvSpPr>
          <p:cNvPr id="5" name="text-172">
            <a:extLst>
              <a:ext uri="{FF2B5EF4-FFF2-40B4-BE49-F238E27FC236}">
                <a16:creationId xmlns:a16="http://schemas.microsoft.com/office/drawing/2014/main" id="{8896F697-1202-4FD2-BF2A-C25E23D152BC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Siap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untuk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ekspor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artinya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harus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sanggup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untuk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menepati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janji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buyer</a:t>
            </a:r>
          </a:p>
        </p:txBody>
      </p:sp>
      <p:sp>
        <p:nvSpPr>
          <p:cNvPr id="6" name="text-173">
            <a:extLst>
              <a:ext uri="{FF2B5EF4-FFF2-40B4-BE49-F238E27FC236}">
                <a16:creationId xmlns:a16="http://schemas.microsoft.com/office/drawing/2014/main" id="{39F0B0EE-0767-41FD-A71E-CD085455A20B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174">
            <a:extLst>
              <a:ext uri="{FF2B5EF4-FFF2-40B4-BE49-F238E27FC236}">
                <a16:creationId xmlns:a16="http://schemas.microsoft.com/office/drawing/2014/main" id="{4682E681-BFB8-404F-B8F7-B36E1B9D3B39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5"/>
          <a:srcRect t="2570" b="2570"/>
          <a:stretch>
            <a:fillRect/>
          </a:stretch>
        </p:blipFill>
        <p:spPr>
          <a:xfrm>
            <a:off x="571500" y="1816684"/>
            <a:ext cx="5067605" cy="35661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9" name="text-175">
            <a:extLst>
              <a:ext uri="{FF2B5EF4-FFF2-40B4-BE49-F238E27FC236}">
                <a16:creationId xmlns:a16="http://schemas.microsoft.com/office/drawing/2014/main" id="{22F598A4-60F6-4BE0-BC6E-512F48913CE3}"/>
              </a:ext>
            </a:extLst>
          </p:cNvPr>
          <p:cNvSpPr>
            <a:spLocks noGrp="1"/>
          </p:cNvSpPr>
          <p:nvPr/>
        </p:nvSpPr>
        <p:spPr>
          <a:xfrm>
            <a:off x="6219825" y="1879739"/>
            <a:ext cx="5810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0" name="text-176">
            <a:extLst>
              <a:ext uri="{FF2B5EF4-FFF2-40B4-BE49-F238E27FC236}">
                <a16:creationId xmlns:a16="http://schemas.microsoft.com/office/drawing/2014/main" id="{9EE5B0D5-F224-4C37-BC13-2D0A07F28018}"/>
              </a:ext>
            </a:extLst>
          </p:cNvPr>
          <p:cNvSpPr>
            <a:spLocks noGrp="1"/>
          </p:cNvSpPr>
          <p:nvPr/>
        </p:nvSpPr>
        <p:spPr>
          <a:xfrm>
            <a:off x="6800850" y="1811769"/>
            <a:ext cx="46291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Kapasitas</a:t>
            </a:r>
          </a:p>
        </p:txBody>
      </p:sp>
      <p:sp>
        <p:nvSpPr>
          <p:cNvPr id="11" name="text-177">
            <a:extLst>
              <a:ext uri="{FF2B5EF4-FFF2-40B4-BE49-F238E27FC236}">
                <a16:creationId xmlns:a16="http://schemas.microsoft.com/office/drawing/2014/main" id="{80549607-FF64-40B3-AAE0-F3551B8D41DA}"/>
              </a:ext>
            </a:extLst>
          </p:cNvPr>
          <p:cNvSpPr>
            <a:spLocks noGrp="1"/>
          </p:cNvSpPr>
          <p:nvPr/>
        </p:nvSpPr>
        <p:spPr>
          <a:xfrm>
            <a:off x="6800850" y="2202218"/>
            <a:ext cx="46291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Berapa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unit yang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realistis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bisa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A958270C-33D9-4ED8-9B80-60A340D9B11E}"/>
              </a:ext>
            </a:extLst>
          </p:cNvPr>
          <p:cNvSpPr>
            <a:spLocks noGrp="1"/>
          </p:cNvSpPr>
          <p:nvPr/>
        </p:nvSpPr>
        <p:spPr>
          <a:xfrm>
            <a:off x="6800850" y="2671305"/>
            <a:ext cx="462915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-178">
            <a:extLst>
              <a:ext uri="{FF2B5EF4-FFF2-40B4-BE49-F238E27FC236}">
                <a16:creationId xmlns:a16="http://schemas.microsoft.com/office/drawing/2014/main" id="{D2D54403-7171-4EE1-902A-1F313DCE472F}"/>
              </a:ext>
            </a:extLst>
          </p:cNvPr>
          <p:cNvSpPr>
            <a:spLocks noGrp="1"/>
          </p:cNvSpPr>
          <p:nvPr/>
        </p:nvSpPr>
        <p:spPr>
          <a:xfrm>
            <a:off x="6219825" y="2839859"/>
            <a:ext cx="5810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4" name="text-179">
            <a:extLst>
              <a:ext uri="{FF2B5EF4-FFF2-40B4-BE49-F238E27FC236}">
                <a16:creationId xmlns:a16="http://schemas.microsoft.com/office/drawing/2014/main" id="{BE47B3C7-EDAC-4E07-B146-55617C47C904}"/>
              </a:ext>
            </a:extLst>
          </p:cNvPr>
          <p:cNvSpPr>
            <a:spLocks noGrp="1"/>
          </p:cNvSpPr>
          <p:nvPr/>
        </p:nvSpPr>
        <p:spPr>
          <a:xfrm>
            <a:off x="6800850" y="2771889"/>
            <a:ext cx="46291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Kualitas</a:t>
            </a:r>
          </a:p>
        </p:txBody>
      </p:sp>
      <p:sp>
        <p:nvSpPr>
          <p:cNvPr id="15" name="text-180">
            <a:extLst>
              <a:ext uri="{FF2B5EF4-FFF2-40B4-BE49-F238E27FC236}">
                <a16:creationId xmlns:a16="http://schemas.microsoft.com/office/drawing/2014/main" id="{C39B7D64-CA96-4D92-BE7C-89A3A232D029}"/>
              </a:ext>
            </a:extLst>
          </p:cNvPr>
          <p:cNvSpPr>
            <a:spLocks noGrp="1"/>
          </p:cNvSpPr>
          <p:nvPr/>
        </p:nvSpPr>
        <p:spPr>
          <a:xfrm>
            <a:off x="6800849" y="3162338"/>
            <a:ext cx="506760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Hasil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massal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apakah</a:t>
            </a:r>
            <a:r>
              <a:rPr lang="en-US"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sama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dengan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samp</a:t>
            </a:r>
            <a:r>
              <a:rPr lang="en-US"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le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521FC18A-F143-4DD1-981C-20897524B976}"/>
              </a:ext>
            </a:extLst>
          </p:cNvPr>
          <p:cNvSpPr>
            <a:spLocks noGrp="1"/>
          </p:cNvSpPr>
          <p:nvPr/>
        </p:nvSpPr>
        <p:spPr>
          <a:xfrm>
            <a:off x="6800850" y="3631425"/>
            <a:ext cx="462915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text-181">
            <a:extLst>
              <a:ext uri="{FF2B5EF4-FFF2-40B4-BE49-F238E27FC236}">
                <a16:creationId xmlns:a16="http://schemas.microsoft.com/office/drawing/2014/main" id="{30B26CD1-93A0-4C23-9DA5-8EB716AF6446}"/>
              </a:ext>
            </a:extLst>
          </p:cNvPr>
          <p:cNvSpPr>
            <a:spLocks noGrp="1"/>
          </p:cNvSpPr>
          <p:nvPr/>
        </p:nvSpPr>
        <p:spPr>
          <a:xfrm>
            <a:off x="6219825" y="3799980"/>
            <a:ext cx="5810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8" name="text-182">
            <a:extLst>
              <a:ext uri="{FF2B5EF4-FFF2-40B4-BE49-F238E27FC236}">
                <a16:creationId xmlns:a16="http://schemas.microsoft.com/office/drawing/2014/main" id="{DEC5E970-160A-4C99-878F-22187A6B0915}"/>
              </a:ext>
            </a:extLst>
          </p:cNvPr>
          <p:cNvSpPr>
            <a:spLocks noGrp="1"/>
          </p:cNvSpPr>
          <p:nvPr/>
        </p:nvSpPr>
        <p:spPr>
          <a:xfrm>
            <a:off x="6800850" y="3732009"/>
            <a:ext cx="46291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Timeline</a:t>
            </a:r>
          </a:p>
        </p:txBody>
      </p:sp>
      <p:sp>
        <p:nvSpPr>
          <p:cNvPr id="19" name="text-183">
            <a:extLst>
              <a:ext uri="{FF2B5EF4-FFF2-40B4-BE49-F238E27FC236}">
                <a16:creationId xmlns:a16="http://schemas.microsoft.com/office/drawing/2014/main" id="{57B75997-2AFC-4B13-8B67-7CF5B3F5FD5E}"/>
              </a:ext>
            </a:extLst>
          </p:cNvPr>
          <p:cNvSpPr>
            <a:spLocks noGrp="1"/>
          </p:cNvSpPr>
          <p:nvPr/>
        </p:nvSpPr>
        <p:spPr>
          <a:xfrm>
            <a:off x="6800850" y="4122458"/>
            <a:ext cx="46291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Bahan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 dan shipping </a:t>
            </a:r>
            <a:r>
              <a:rPr lang="en-US"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bisa</a:t>
            </a:r>
            <a:r>
              <a:rPr lang="en-US"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on time?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DCB58BCB-BDB4-4C2C-AFC9-8C6A675C61CD}"/>
              </a:ext>
            </a:extLst>
          </p:cNvPr>
          <p:cNvSpPr>
            <a:spLocks noGrp="1"/>
          </p:cNvSpPr>
          <p:nvPr/>
        </p:nvSpPr>
        <p:spPr>
          <a:xfrm>
            <a:off x="6800850" y="4591545"/>
            <a:ext cx="462915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-184">
            <a:extLst>
              <a:ext uri="{FF2B5EF4-FFF2-40B4-BE49-F238E27FC236}">
                <a16:creationId xmlns:a16="http://schemas.microsoft.com/office/drawing/2014/main" id="{C0CD8223-F85F-4B7F-875F-B8A710C8AC4B}"/>
              </a:ext>
            </a:extLst>
          </p:cNvPr>
          <p:cNvSpPr>
            <a:spLocks noGrp="1"/>
          </p:cNvSpPr>
          <p:nvPr/>
        </p:nvSpPr>
        <p:spPr>
          <a:xfrm>
            <a:off x="6219825" y="4760100"/>
            <a:ext cx="5810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2" name="text-185">
            <a:extLst>
              <a:ext uri="{FF2B5EF4-FFF2-40B4-BE49-F238E27FC236}">
                <a16:creationId xmlns:a16="http://schemas.microsoft.com/office/drawing/2014/main" id="{8F34546D-2F7F-43C7-AA46-80100EC8DC0E}"/>
              </a:ext>
            </a:extLst>
          </p:cNvPr>
          <p:cNvSpPr>
            <a:spLocks noGrp="1"/>
          </p:cNvSpPr>
          <p:nvPr/>
        </p:nvSpPr>
        <p:spPr>
          <a:xfrm>
            <a:off x="6800850" y="4692129"/>
            <a:ext cx="46291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Kebutuhan buyer</a:t>
            </a:r>
          </a:p>
        </p:txBody>
      </p:sp>
      <p:sp>
        <p:nvSpPr>
          <p:cNvPr id="23" name="text-186">
            <a:extLst>
              <a:ext uri="{FF2B5EF4-FFF2-40B4-BE49-F238E27FC236}">
                <a16:creationId xmlns:a16="http://schemas.microsoft.com/office/drawing/2014/main" id="{3B4B4DD9-9C37-4F29-8115-3886D21F3F11}"/>
              </a:ext>
            </a:extLst>
          </p:cNvPr>
          <p:cNvSpPr>
            <a:spLocks noGrp="1"/>
          </p:cNvSpPr>
          <p:nvPr/>
        </p:nvSpPr>
        <p:spPr>
          <a:xfrm>
            <a:off x="6800850" y="5082578"/>
            <a:ext cx="4840766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Spe</a:t>
            </a:r>
            <a:r>
              <a:rPr lang="en-US" sz="1875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sifikasi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dan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aturan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negara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tujuan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sudah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dicek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D11E3496-D79E-47FD-9366-C077C1EE7CAB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text-187">
            <a:extLst>
              <a:ext uri="{FF2B5EF4-FFF2-40B4-BE49-F238E27FC236}">
                <a16:creationId xmlns:a16="http://schemas.microsoft.com/office/drawing/2014/main" id="{9EDE1162-6DDF-4737-BD77-48B92A57CB5C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Janjikan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apa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yang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sudah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terbukti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bisa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kerjakan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jangan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sesuatu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yang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masih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dalam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tahap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pengembangan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6" name="text-188">
            <a:extLst>
              <a:ext uri="{FF2B5EF4-FFF2-40B4-BE49-F238E27FC236}">
                <a16:creationId xmlns:a16="http://schemas.microsoft.com/office/drawing/2014/main" id="{3783FBDE-7618-4B5A-83D9-15E96725982A}"/>
              </a:ext>
            </a:extLst>
          </p:cNvPr>
          <p:cNvSpPr>
            <a:spLocks noGrp="1"/>
          </p:cNvSpPr>
          <p:nvPr/>
        </p:nvSpPr>
        <p:spPr>
          <a:xfrm>
            <a:off x="1920240" y="6590995"/>
            <a:ext cx="813816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Sumber: Modul 1 CMC dan ITA Export Plan. Foto dibuat dengan AI.</a:t>
            </a:r>
          </a:p>
        </p:txBody>
      </p:sp>
    </p:spTree>
    <p:extLst>
      <p:ext uri="{BB962C8B-B14F-4D97-AF65-F5344CB8AC3E}">
        <p14:creationId xmlns:p14="http://schemas.microsoft.com/office/powerpoint/2010/main" val="820747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964505-2E18-1D3B-D417-232C7A739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8" name="text-108">
            <a:extLst>
              <a:ext uri="{FF2B5EF4-FFF2-40B4-BE49-F238E27FC236}">
                <a16:creationId xmlns:a16="http://schemas.microsoft.com/office/drawing/2014/main" id="{8C770040-E4C3-2CE4-0BAA-CBB6136F29F4}"/>
              </a:ext>
            </a:extLst>
          </p:cNvPr>
          <p:cNvSpPr>
            <a:spLocks noGrp="1"/>
          </p:cNvSpPr>
          <p:nvPr/>
        </p:nvSpPr>
        <p:spPr>
          <a:xfrm>
            <a:off x="724204" y="2560320"/>
            <a:ext cx="10586008" cy="128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Sanggup atau tidak,</a:t>
            </a:r>
          </a:p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tergantung </a:t>
            </a:r>
            <a:r>
              <a:rPr lang="id-ID" sz="3900" b="1" dirty="0" i="1" u="sng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siapa yang pegang apa</a:t>
            </a: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di tim.</a:t>
            </a:r>
          </a:p>
        </p:txBody>
      </p:sp>
    </p:spTree>
    <p:extLst>
      <p:ext uri="{BB962C8B-B14F-4D97-AF65-F5344CB8AC3E}">
        <p14:creationId xmlns:p14="http://schemas.microsoft.com/office/powerpoint/2010/main" val="872051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968A95F-F833-49F9-B13E-9483F785DB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159">
            <a:extLst>
              <a:ext uri="{FF2B5EF4-FFF2-40B4-BE49-F238E27FC236}">
                <a16:creationId xmlns:a16="http://schemas.microsoft.com/office/drawing/2014/main" id="{B3B70A42-A902-4A22-88D3-8B635909B752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DESIGNER · SHOWMAN · ENFORCER</a:t>
            </a:r>
          </a:p>
        </p:txBody>
      </p:sp>
      <p:sp>
        <p:nvSpPr>
          <p:cNvPr id="5" name="text-160">
            <a:extLst>
              <a:ext uri="{FF2B5EF4-FFF2-40B4-BE49-F238E27FC236}">
                <a16:creationId xmlns:a16="http://schemas.microsoft.com/office/drawing/2014/main" id="{883F368E-AA98-4AF7-A892-721F131BF5E1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Peran team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itu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penting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dalam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memenuhi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janji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kepada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buyer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161">
            <a:extLst>
              <a:ext uri="{FF2B5EF4-FFF2-40B4-BE49-F238E27FC236}">
                <a16:creationId xmlns:a16="http://schemas.microsoft.com/office/drawing/2014/main" id="{BE144A0B-9416-412D-947A-888FDB6385DF}"/>
              </a:ext>
            </a:extLst>
          </p:cNvPr>
          <p:cNvSpPr>
            <a:spLocks noGrp="1"/>
          </p:cNvSpPr>
          <p:nvPr/>
        </p:nvSpPr>
        <p:spPr>
          <a:xfrm>
            <a:off x="571500" y="1307592"/>
            <a:ext cx="110490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Satu orang boleh pegang lebih dari satu peran, asal jelas siapa yang tanggung jawab.</a:t>
            </a:r>
          </a:p>
        </p:txBody>
      </p:sp>
      <p:sp>
        <p:nvSpPr>
          <p:cNvPr id="7" name="text-162">
            <a:extLst>
              <a:ext uri="{FF2B5EF4-FFF2-40B4-BE49-F238E27FC236}">
                <a16:creationId xmlns:a16="http://schemas.microsoft.com/office/drawing/2014/main" id="{E7D16A58-4BBC-4811-B6C9-10D023193FB0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163">
            <a:extLst>
              <a:ext uri="{FF2B5EF4-FFF2-40B4-BE49-F238E27FC236}">
                <a16:creationId xmlns:a16="http://schemas.microsoft.com/office/drawing/2014/main" id="{BFC022E6-C8B5-4AD9-B8DF-43470585ADDF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952625" y="2240280"/>
            <a:ext cx="8286750" cy="2762250"/>
          </a:xfrm>
          <a:prstGeom prst="rect">
            <a:avLst/>
          </a:prstGeom>
        </p:spPr>
      </p:pic>
      <p:sp>
        <p:nvSpPr>
          <p:cNvPr id="10" name="text-164">
            <a:extLst>
              <a:ext uri="{FF2B5EF4-FFF2-40B4-BE49-F238E27FC236}">
                <a16:creationId xmlns:a16="http://schemas.microsoft.com/office/drawing/2014/main" id="{9135CFEF-A295-4A20-8FD8-D756142B2FC2}"/>
              </a:ext>
            </a:extLst>
          </p:cNvPr>
          <p:cNvSpPr>
            <a:spLocks noGrp="1"/>
          </p:cNvSpPr>
          <p:nvPr/>
        </p:nvSpPr>
        <p:spPr>
          <a:xfrm>
            <a:off x="1843430" y="5192049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Designer</a:t>
            </a:r>
          </a:p>
        </p:txBody>
      </p:sp>
      <p:sp>
        <p:nvSpPr>
          <p:cNvPr id="11" name="text-165">
            <a:extLst>
              <a:ext uri="{FF2B5EF4-FFF2-40B4-BE49-F238E27FC236}">
                <a16:creationId xmlns:a16="http://schemas.microsoft.com/office/drawing/2014/main" id="{C7D906AD-DAF7-4613-AF33-D95129581F1B}"/>
              </a:ext>
            </a:extLst>
          </p:cNvPr>
          <p:cNvSpPr>
            <a:spLocks noGrp="1"/>
          </p:cNvSpPr>
          <p:nvPr/>
        </p:nvSpPr>
        <p:spPr>
          <a:xfrm>
            <a:off x="1843430" y="5564210"/>
            <a:ext cx="27432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Urus sampel &amp; spesifikasi</a:t>
            </a:r>
          </a:p>
        </p:txBody>
      </p:sp>
      <p:sp>
        <p:nvSpPr>
          <p:cNvPr id="12" name="text-166">
            <a:extLst>
              <a:ext uri="{FF2B5EF4-FFF2-40B4-BE49-F238E27FC236}">
                <a16:creationId xmlns:a16="http://schemas.microsoft.com/office/drawing/2014/main" id="{B4F20B5D-5C24-4138-8D04-00FC75360060}"/>
              </a:ext>
            </a:extLst>
          </p:cNvPr>
          <p:cNvSpPr>
            <a:spLocks noGrp="1"/>
          </p:cNvSpPr>
          <p:nvPr/>
        </p:nvSpPr>
        <p:spPr>
          <a:xfrm>
            <a:off x="4751222" y="5192049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Showman</a:t>
            </a:r>
          </a:p>
        </p:txBody>
      </p:sp>
      <p:sp>
        <p:nvSpPr>
          <p:cNvPr id="13" name="text-167">
            <a:extLst>
              <a:ext uri="{FF2B5EF4-FFF2-40B4-BE49-F238E27FC236}">
                <a16:creationId xmlns:a16="http://schemas.microsoft.com/office/drawing/2014/main" id="{F23205D3-DF10-4F78-9864-1F7EAD04A653}"/>
              </a:ext>
            </a:extLst>
          </p:cNvPr>
          <p:cNvSpPr>
            <a:spLocks noGrp="1"/>
          </p:cNvSpPr>
          <p:nvPr/>
        </p:nvSpPr>
        <p:spPr>
          <a:xfrm>
            <a:off x="4751222" y="5564210"/>
            <a:ext cx="27432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Pegang penawaran &amp; deal</a:t>
            </a:r>
          </a:p>
        </p:txBody>
      </p:sp>
      <p:sp>
        <p:nvSpPr>
          <p:cNvPr id="14" name="text-168">
            <a:extLst>
              <a:ext uri="{FF2B5EF4-FFF2-40B4-BE49-F238E27FC236}">
                <a16:creationId xmlns:a16="http://schemas.microsoft.com/office/drawing/2014/main" id="{76A047EE-302F-49C4-A961-05A9FAD7BACB}"/>
              </a:ext>
            </a:extLst>
          </p:cNvPr>
          <p:cNvSpPr>
            <a:spLocks noGrp="1"/>
          </p:cNvSpPr>
          <p:nvPr/>
        </p:nvSpPr>
        <p:spPr>
          <a:xfrm>
            <a:off x="7687361" y="5192049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Enforcer</a:t>
            </a:r>
          </a:p>
        </p:txBody>
      </p:sp>
      <p:sp>
        <p:nvSpPr>
          <p:cNvPr id="15" name="text-169">
            <a:extLst>
              <a:ext uri="{FF2B5EF4-FFF2-40B4-BE49-F238E27FC236}">
                <a16:creationId xmlns:a16="http://schemas.microsoft.com/office/drawing/2014/main" id="{53563FD2-AFAF-4BD0-AB68-C911F7609E47}"/>
              </a:ext>
            </a:extLst>
          </p:cNvPr>
          <p:cNvSpPr>
            <a:spLocks noGrp="1"/>
          </p:cNvSpPr>
          <p:nvPr/>
        </p:nvSpPr>
        <p:spPr>
          <a:xfrm>
            <a:off x="7687361" y="5564210"/>
            <a:ext cx="27432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Jaga jadwal &amp; cash flow</a:t>
            </a:r>
          </a:p>
        </p:txBody>
      </p:sp>
      <p:sp>
        <p:nvSpPr>
          <p:cNvPr id="16" name="text-170">
            <a:extLst>
              <a:ext uri="{FF2B5EF4-FFF2-40B4-BE49-F238E27FC236}">
                <a16:creationId xmlns:a16="http://schemas.microsoft.com/office/drawing/2014/main" id="{CD364624-3E0F-40A2-BA41-91B1AA153755}"/>
              </a:ext>
            </a:extLst>
          </p:cNvPr>
          <p:cNvSpPr>
            <a:spLocks noGrp="1"/>
          </p:cNvSpPr>
          <p:nvPr/>
        </p:nvSpPr>
        <p:spPr>
          <a:xfrm>
            <a:off x="1920240" y="6590995"/>
            <a:ext cx="813816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Sumber: Modul 1 CMC. Ilustrasi dibuat dengan AI, bukan tokoh asli.</a:t>
            </a:r>
          </a:p>
        </p:txBody>
      </p:sp>
    </p:spTree>
    <p:extLst>
      <p:ext uri="{BB962C8B-B14F-4D97-AF65-F5344CB8AC3E}">
        <p14:creationId xmlns:p14="http://schemas.microsoft.com/office/powerpoint/2010/main" val="747243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964505-2E18-1D3B-D417-232C7A739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8" name="text-108">
            <a:extLst>
              <a:ext uri="{FF2B5EF4-FFF2-40B4-BE49-F238E27FC236}">
                <a16:creationId xmlns:a16="http://schemas.microsoft.com/office/drawing/2014/main" id="{8C770040-E4C3-2CE4-0BAA-CBB6136F29F4}"/>
              </a:ext>
            </a:extLst>
          </p:cNvPr>
          <p:cNvSpPr>
            <a:spLocks noGrp="1"/>
          </p:cNvSpPr>
          <p:nvPr/>
        </p:nvSpPr>
        <p:spPr>
          <a:xfrm>
            <a:off x="724204" y="2560320"/>
            <a:ext cx="10586008" cy="128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Order sudah jalan, tim sudah siap.</a:t>
            </a:r>
          </a:p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Tapi </a:t>
            </a:r>
            <a:r>
              <a:rPr lang="id-ID" sz="3900" b="1" dirty="0" i="1" u="sng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uangnya cukup sampai buyer bayar?</a:t>
            </a:r>
          </a:p>
        </p:txBody>
      </p:sp>
    </p:spTree>
    <p:extLst>
      <p:ext uri="{BB962C8B-B14F-4D97-AF65-F5344CB8AC3E}">
        <p14:creationId xmlns:p14="http://schemas.microsoft.com/office/powerpoint/2010/main" val="8720515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04D2867-ED98-4E27-9E0F-54ED034A9142}"/>
              </a:ext>
            </a:extLst>
          </p:cNvPr>
          <p:cNvSpPr>
            <a:spLocks noGrp="1"/>
          </p:cNvSpPr>
          <p:nvPr/>
        </p:nvSpPr>
        <p:spPr>
          <a:xfrm>
            <a:off x="0" y="21361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189">
            <a:extLst>
              <a:ext uri="{FF2B5EF4-FFF2-40B4-BE49-F238E27FC236}">
                <a16:creationId xmlns:a16="http://schemas.microsoft.com/office/drawing/2014/main" id="{7DEC0570-612F-48E4-BB91-F412DC898F4D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PROFIT VS CASH FLOW</a:t>
            </a:r>
          </a:p>
        </p:txBody>
      </p:sp>
      <p:sp>
        <p:nvSpPr>
          <p:cNvPr id="5" name="text-190">
            <a:extLst>
              <a:ext uri="{FF2B5EF4-FFF2-40B4-BE49-F238E27FC236}">
                <a16:creationId xmlns:a16="http://schemas.microsoft.com/office/drawing/2014/main" id="{CE2CE9FE-2B1D-472D-924B-A97C6F06A198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Team yang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hebat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akan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i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chaos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juga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jika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cash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habis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di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tengah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jalan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191">
            <a:extLst>
              <a:ext uri="{FF2B5EF4-FFF2-40B4-BE49-F238E27FC236}">
                <a16:creationId xmlns:a16="http://schemas.microsoft.com/office/drawing/2014/main" id="{5657B48E-57D1-48FD-B1F0-93363E523405}"/>
              </a:ext>
            </a:extLst>
          </p:cNvPr>
          <p:cNvSpPr>
            <a:spLocks noGrp="1"/>
          </p:cNvSpPr>
          <p:nvPr/>
        </p:nvSpPr>
        <p:spPr>
          <a:xfrm>
            <a:off x="571500" y="1307592"/>
            <a:ext cx="110490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Untung di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atas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kertas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belum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cukup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Cash reserve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harus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kuat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sampai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tenggat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buyer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bisa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mem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bayar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text-192">
            <a:extLst>
              <a:ext uri="{FF2B5EF4-FFF2-40B4-BE49-F238E27FC236}">
                <a16:creationId xmlns:a16="http://schemas.microsoft.com/office/drawing/2014/main" id="{E263E91E-25B2-4D4C-A59A-06D31E6A57C4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193">
            <a:extLst>
              <a:ext uri="{FF2B5EF4-FFF2-40B4-BE49-F238E27FC236}">
                <a16:creationId xmlns:a16="http://schemas.microsoft.com/office/drawing/2014/main" id="{C7E49169-C4F9-411A-8AF3-D7FC3E183E34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566863" y="2060829"/>
            <a:ext cx="9058275" cy="3019425"/>
          </a:xfrm>
          <a:prstGeom prst="rect">
            <a:avLst/>
          </a:prstGeom>
        </p:spPr>
      </p:pic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105ECA24-FDBE-44A9-9BC7-00F84D75FFD4}"/>
              </a:ext>
            </a:extLst>
          </p:cNvPr>
          <p:cNvSpPr>
            <a:spLocks noGrp="1"/>
          </p:cNvSpPr>
          <p:nvPr/>
        </p:nvSpPr>
        <p:spPr>
          <a:xfrm>
            <a:off x="2743200" y="5023104"/>
            <a:ext cx="6972300" cy="0"/>
          </a:xfrm>
          <a:prstGeom prst="line">
            <a:avLst/>
          </a:prstGeom>
          <a:noFill/>
          <a:ln w="28575">
            <a:solidFill>
              <a:srgbClr val="9AB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61F83E0-48C1-46DA-BADF-7A0DA9E63B29}"/>
              </a:ext>
            </a:extLst>
          </p:cNvPr>
          <p:cNvSpPr>
            <a:spLocks noGrp="1"/>
          </p:cNvSpPr>
          <p:nvPr/>
        </p:nvSpPr>
        <p:spPr>
          <a:xfrm>
            <a:off x="2657475" y="4937379"/>
            <a:ext cx="171450" cy="1714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-194">
            <a:extLst>
              <a:ext uri="{FF2B5EF4-FFF2-40B4-BE49-F238E27FC236}">
                <a16:creationId xmlns:a16="http://schemas.microsoft.com/office/drawing/2014/main" id="{818D27D6-5A36-4A93-8A94-BFD24E4706E1}"/>
              </a:ext>
            </a:extLst>
          </p:cNvPr>
          <p:cNvSpPr>
            <a:spLocks noGrp="1"/>
          </p:cNvSpPr>
          <p:nvPr/>
        </p:nvSpPr>
        <p:spPr>
          <a:xfrm>
            <a:off x="1609344" y="5251704"/>
            <a:ext cx="2267712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Bahan baku</a:t>
            </a:r>
          </a:p>
        </p:txBody>
      </p:sp>
      <p:sp>
        <p:nvSpPr>
          <p:cNvPr id="13" name="text-195">
            <a:extLst>
              <a:ext uri="{FF2B5EF4-FFF2-40B4-BE49-F238E27FC236}">
                <a16:creationId xmlns:a16="http://schemas.microsoft.com/office/drawing/2014/main" id="{719D8E53-67F3-4879-9B37-C2A3614B3CCD}"/>
              </a:ext>
            </a:extLst>
          </p:cNvPr>
          <p:cNvSpPr>
            <a:spLocks noGrp="1"/>
          </p:cNvSpPr>
          <p:nvPr/>
        </p:nvSpPr>
        <p:spPr>
          <a:xfrm>
            <a:off x="1609344" y="5594604"/>
            <a:ext cx="2267712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Uang keluar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4524632-B4C6-4898-B098-BBF88F443CDB}"/>
              </a:ext>
            </a:extLst>
          </p:cNvPr>
          <p:cNvSpPr>
            <a:spLocks noGrp="1"/>
          </p:cNvSpPr>
          <p:nvPr/>
        </p:nvSpPr>
        <p:spPr>
          <a:xfrm>
            <a:off x="4981575" y="4937379"/>
            <a:ext cx="171450" cy="1714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ext-196">
            <a:extLst>
              <a:ext uri="{FF2B5EF4-FFF2-40B4-BE49-F238E27FC236}">
                <a16:creationId xmlns:a16="http://schemas.microsoft.com/office/drawing/2014/main" id="{F96C5A49-6795-49CA-BF78-C8EAB43C1014}"/>
              </a:ext>
            </a:extLst>
          </p:cNvPr>
          <p:cNvSpPr>
            <a:spLocks noGrp="1"/>
          </p:cNvSpPr>
          <p:nvPr/>
        </p:nvSpPr>
        <p:spPr>
          <a:xfrm>
            <a:off x="3933444" y="5251704"/>
            <a:ext cx="2267712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</a:p>
        </p:txBody>
      </p:sp>
      <p:sp>
        <p:nvSpPr>
          <p:cNvPr id="16" name="text-197">
            <a:extLst>
              <a:ext uri="{FF2B5EF4-FFF2-40B4-BE49-F238E27FC236}">
                <a16:creationId xmlns:a16="http://schemas.microsoft.com/office/drawing/2014/main" id="{4C37918E-2F24-4EE8-BF83-DA20DAD20151}"/>
              </a:ext>
            </a:extLst>
          </p:cNvPr>
          <p:cNvSpPr>
            <a:spLocks noGrp="1"/>
          </p:cNvSpPr>
          <p:nvPr/>
        </p:nvSpPr>
        <p:spPr>
          <a:xfrm>
            <a:off x="3933444" y="5594604"/>
            <a:ext cx="2267712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Uang keluar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75DF8F5-95E3-4615-AFE1-A3B00F94790B}"/>
              </a:ext>
            </a:extLst>
          </p:cNvPr>
          <p:cNvSpPr>
            <a:spLocks noGrp="1"/>
          </p:cNvSpPr>
          <p:nvPr/>
        </p:nvSpPr>
        <p:spPr>
          <a:xfrm>
            <a:off x="7305675" y="4937379"/>
            <a:ext cx="171450" cy="1714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-198">
            <a:extLst>
              <a:ext uri="{FF2B5EF4-FFF2-40B4-BE49-F238E27FC236}">
                <a16:creationId xmlns:a16="http://schemas.microsoft.com/office/drawing/2014/main" id="{368ADEA8-1981-4ABB-9178-B7BA6A397C8E}"/>
              </a:ext>
            </a:extLst>
          </p:cNvPr>
          <p:cNvSpPr>
            <a:spLocks noGrp="1"/>
          </p:cNvSpPr>
          <p:nvPr/>
        </p:nvSpPr>
        <p:spPr>
          <a:xfrm>
            <a:off x="6257544" y="5251704"/>
            <a:ext cx="2267712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Shipping</a:t>
            </a:r>
          </a:p>
        </p:txBody>
      </p:sp>
      <p:sp>
        <p:nvSpPr>
          <p:cNvPr id="19" name="text-199">
            <a:extLst>
              <a:ext uri="{FF2B5EF4-FFF2-40B4-BE49-F238E27FC236}">
                <a16:creationId xmlns:a16="http://schemas.microsoft.com/office/drawing/2014/main" id="{F4C214DE-988C-43D8-A9FF-08B21CDF5CFA}"/>
              </a:ext>
            </a:extLst>
          </p:cNvPr>
          <p:cNvSpPr>
            <a:spLocks noGrp="1"/>
          </p:cNvSpPr>
          <p:nvPr/>
        </p:nvSpPr>
        <p:spPr>
          <a:xfrm>
            <a:off x="6257544" y="5594604"/>
            <a:ext cx="2267712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Uang keluar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AF72B78-0C82-4600-A2C2-F907B9CE023E}"/>
              </a:ext>
            </a:extLst>
          </p:cNvPr>
          <p:cNvSpPr>
            <a:spLocks noGrp="1"/>
          </p:cNvSpPr>
          <p:nvPr/>
        </p:nvSpPr>
        <p:spPr>
          <a:xfrm>
            <a:off x="9629775" y="4937379"/>
            <a:ext cx="171450" cy="171450"/>
          </a:xfrm>
          <a:prstGeom prst="ellipse">
            <a:avLst/>
          </a:prstGeom>
          <a:solidFill>
            <a:srgbClr val="087958"/>
          </a:solidFill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-200">
            <a:extLst>
              <a:ext uri="{FF2B5EF4-FFF2-40B4-BE49-F238E27FC236}">
                <a16:creationId xmlns:a16="http://schemas.microsoft.com/office/drawing/2014/main" id="{41DB9E31-1D8E-49C0-88BA-B10F892B209B}"/>
              </a:ext>
            </a:extLst>
          </p:cNvPr>
          <p:cNvSpPr>
            <a:spLocks noGrp="1"/>
          </p:cNvSpPr>
          <p:nvPr/>
        </p:nvSpPr>
        <p:spPr>
          <a:xfrm>
            <a:off x="8581644" y="5251704"/>
            <a:ext cx="2267712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Buyer bayar</a:t>
            </a:r>
          </a:p>
        </p:txBody>
      </p:sp>
      <p:sp>
        <p:nvSpPr>
          <p:cNvPr id="22" name="text-201">
            <a:extLst>
              <a:ext uri="{FF2B5EF4-FFF2-40B4-BE49-F238E27FC236}">
                <a16:creationId xmlns:a16="http://schemas.microsoft.com/office/drawing/2014/main" id="{9FAC34AA-667F-4DAA-A801-4FA0F0CE8A20}"/>
              </a:ext>
            </a:extLst>
          </p:cNvPr>
          <p:cNvSpPr>
            <a:spLocks noGrp="1"/>
          </p:cNvSpPr>
          <p:nvPr/>
        </p:nvSpPr>
        <p:spPr>
          <a:xfrm>
            <a:off x="8581644" y="5594604"/>
            <a:ext cx="2267712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Uang masuk</a:t>
            </a:r>
          </a:p>
        </p:txBody>
      </p:sp>
      <p:sp>
        <p:nvSpPr>
          <p:cNvPr id="23" name="text-202">
            <a:extLst>
              <a:ext uri="{FF2B5EF4-FFF2-40B4-BE49-F238E27FC236}">
                <a16:creationId xmlns:a16="http://schemas.microsoft.com/office/drawing/2014/main" id="{7B49B44C-4500-450C-9A8B-4DC8DFB47899}"/>
              </a:ext>
            </a:extLst>
          </p:cNvPr>
          <p:cNvSpPr>
            <a:spLocks noGrp="1"/>
          </p:cNvSpPr>
          <p:nvPr/>
        </p:nvSpPr>
        <p:spPr>
          <a:xfrm>
            <a:off x="1920240" y="6590995"/>
            <a:ext cx="813816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Contoh skema bayar setelah barang diterima. Sumber: ITA Methods of Payment. Ilustrasi AI.</a:t>
            </a:r>
          </a:p>
        </p:txBody>
      </p:sp>
    </p:spTree>
    <p:extLst>
      <p:ext uri="{BB962C8B-B14F-4D97-AF65-F5344CB8AC3E}">
        <p14:creationId xmlns:p14="http://schemas.microsoft.com/office/powerpoint/2010/main" val="7699296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964505-2E18-1D3B-D417-232C7A739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8" name="text-108">
            <a:extLst>
              <a:ext uri="{FF2B5EF4-FFF2-40B4-BE49-F238E27FC236}">
                <a16:creationId xmlns:a16="http://schemas.microsoft.com/office/drawing/2014/main" id="{8C770040-E4C3-2CE4-0BAA-CBB6136F29F4}"/>
              </a:ext>
            </a:extLst>
          </p:cNvPr>
          <p:cNvSpPr>
            <a:spLocks noGrp="1"/>
          </p:cNvSpPr>
          <p:nvPr/>
        </p:nvSpPr>
        <p:spPr>
          <a:xfrm>
            <a:off x="724204" y="2560320"/>
            <a:ext cx="10586008" cy="128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Uang keluar duluan, risikonya nyata.</a:t>
            </a:r>
          </a:p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Tentukan </a:t>
            </a:r>
            <a:r>
              <a:rPr lang="id-ID" sz="3900" b="1" dirty="0" i="1" u="sng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batas stop</a:t>
            </a: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sebelum deal.</a:t>
            </a:r>
          </a:p>
        </p:txBody>
      </p:sp>
    </p:spTree>
    <p:extLst>
      <p:ext uri="{BB962C8B-B14F-4D97-AF65-F5344CB8AC3E}">
        <p14:creationId xmlns:p14="http://schemas.microsoft.com/office/powerpoint/2010/main" val="8720515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AC44042-866C-4FC0-A955-A111452688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203">
            <a:extLst>
              <a:ext uri="{FF2B5EF4-FFF2-40B4-BE49-F238E27FC236}">
                <a16:creationId xmlns:a16="http://schemas.microsoft.com/office/drawing/2014/main" id="{DCA90635-7830-43CB-9533-FD3BD7F0DCBF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MANAJEMEN RISIKO</a:t>
            </a:r>
          </a:p>
        </p:txBody>
      </p:sp>
      <p:sp>
        <p:nvSpPr>
          <p:cNvPr id="5" name="text-204">
            <a:extLst>
              <a:ext uri="{FF2B5EF4-FFF2-40B4-BE49-F238E27FC236}">
                <a16:creationId xmlns:a16="http://schemas.microsoft.com/office/drawing/2014/main" id="{6FF36618-AFF5-483D-9260-62BBA457AF69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Manajemen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risiko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itu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menjadi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hal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terpenting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sebelum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melakukan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deal 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205">
            <a:extLst>
              <a:ext uri="{FF2B5EF4-FFF2-40B4-BE49-F238E27FC236}">
                <a16:creationId xmlns:a16="http://schemas.microsoft.com/office/drawing/2014/main" id="{5760372D-AE03-495C-938A-956CB643E2E4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206">
            <a:extLst>
              <a:ext uri="{FF2B5EF4-FFF2-40B4-BE49-F238E27FC236}">
                <a16:creationId xmlns:a16="http://schemas.microsoft.com/office/drawing/2014/main" id="{C318D9B3-AF8E-4B12-880C-46A93016729E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8" name="text-207">
            <a:extLst>
              <a:ext uri="{FF2B5EF4-FFF2-40B4-BE49-F238E27FC236}">
                <a16:creationId xmlns:a16="http://schemas.microsoft.com/office/drawing/2014/main" id="{805DE989-44E0-4A17-A0DD-B318D545E361}"/>
              </a:ext>
            </a:extLst>
          </p:cNvPr>
          <p:cNvSpPr>
            <a:spLocks noGrp="1"/>
          </p:cNvSpPr>
          <p:nvPr/>
        </p:nvSpPr>
        <p:spPr>
          <a:xfrm>
            <a:off x="571500" y="2148840"/>
            <a:ext cx="2819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RISIKO</a:t>
            </a:r>
          </a:p>
        </p:txBody>
      </p:sp>
      <p:sp>
        <p:nvSpPr>
          <p:cNvPr id="9" name="text-208">
            <a:extLst>
              <a:ext uri="{FF2B5EF4-FFF2-40B4-BE49-F238E27FC236}">
                <a16:creationId xmlns:a16="http://schemas.microsoft.com/office/drawing/2014/main" id="{6CB6B513-CF16-47AC-B672-4566B80DAF84}"/>
              </a:ext>
            </a:extLst>
          </p:cNvPr>
          <p:cNvSpPr>
            <a:spLocks noGrp="1"/>
          </p:cNvSpPr>
          <p:nvPr/>
        </p:nvSpPr>
        <p:spPr>
          <a:xfrm>
            <a:off x="4457700" y="214884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DAMPAK</a:t>
            </a:r>
          </a:p>
        </p:txBody>
      </p:sp>
      <p:sp>
        <p:nvSpPr>
          <p:cNvPr id="10" name="text-209">
            <a:extLst>
              <a:ext uri="{FF2B5EF4-FFF2-40B4-BE49-F238E27FC236}">
                <a16:creationId xmlns:a16="http://schemas.microsoft.com/office/drawing/2014/main" id="{BAA4A120-2C17-496D-A5E6-21766F879CEB}"/>
              </a:ext>
            </a:extLst>
          </p:cNvPr>
          <p:cNvSpPr>
            <a:spLocks noGrp="1"/>
          </p:cNvSpPr>
          <p:nvPr/>
        </p:nvSpPr>
        <p:spPr>
          <a:xfrm>
            <a:off x="8324850" y="2148840"/>
            <a:ext cx="3295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CARA MENCEGAHNYA</a:t>
            </a:r>
          </a:p>
        </p:txBody>
      </p:sp>
      <p:sp>
        <p:nvSpPr>
          <p:cNvPr id="11" name="text-210">
            <a:extLst>
              <a:ext uri="{FF2B5EF4-FFF2-40B4-BE49-F238E27FC236}">
                <a16:creationId xmlns:a16="http://schemas.microsoft.com/office/drawing/2014/main" id="{76AD9CC3-B626-43F7-85DD-B962982E06BC}"/>
              </a:ext>
            </a:extLst>
          </p:cNvPr>
          <p:cNvSpPr>
            <a:spLocks noGrp="1"/>
          </p:cNvSpPr>
          <p:nvPr/>
        </p:nvSpPr>
        <p:spPr>
          <a:xfrm>
            <a:off x="571500" y="2880360"/>
            <a:ext cx="30289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Buyer telat bayar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E59E5C80-9ACA-4AD2-9418-DC710C1389E6}"/>
              </a:ext>
            </a:extLst>
          </p:cNvPr>
          <p:cNvSpPr>
            <a:spLocks noGrp="1"/>
          </p:cNvSpPr>
          <p:nvPr/>
        </p:nvSpPr>
        <p:spPr>
          <a:xfrm>
            <a:off x="3685946" y="2981935"/>
            <a:ext cx="542925" cy="123825"/>
          </a:xfrm>
          <a:prstGeom prst="rightArrow">
            <a:avLst/>
          </a:prstGeom>
          <a:solidFill>
            <a:srgbClr val="9AB6A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-211">
            <a:extLst>
              <a:ext uri="{FF2B5EF4-FFF2-40B4-BE49-F238E27FC236}">
                <a16:creationId xmlns:a16="http://schemas.microsoft.com/office/drawing/2014/main" id="{3CA52AF2-ADE9-449E-8DF1-C6968CBCECF1}"/>
              </a:ext>
            </a:extLst>
          </p:cNvPr>
          <p:cNvSpPr>
            <a:spLocks noGrp="1"/>
          </p:cNvSpPr>
          <p:nvPr/>
        </p:nvSpPr>
        <p:spPr>
          <a:xfrm>
            <a:off x="4457700" y="2889266"/>
            <a:ext cx="2857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Cash flow seret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19ED1D8D-BB63-445B-8AF9-3B3600875BD5}"/>
              </a:ext>
            </a:extLst>
          </p:cNvPr>
          <p:cNvSpPr>
            <a:spLocks noGrp="1"/>
          </p:cNvSpPr>
          <p:nvPr/>
        </p:nvSpPr>
        <p:spPr>
          <a:xfrm>
            <a:off x="7552944" y="2981935"/>
            <a:ext cx="542925" cy="123825"/>
          </a:xfrm>
          <a:prstGeom prst="rightArrow">
            <a:avLst/>
          </a:prstGeom>
          <a:solidFill>
            <a:srgbClr val="9AB6A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ext-212">
            <a:extLst>
              <a:ext uri="{FF2B5EF4-FFF2-40B4-BE49-F238E27FC236}">
                <a16:creationId xmlns:a16="http://schemas.microsoft.com/office/drawing/2014/main" id="{2D181917-962C-476A-B54E-E452F3F3BC11}"/>
              </a:ext>
            </a:extLst>
          </p:cNvPr>
          <p:cNvSpPr>
            <a:spLocks noGrp="1"/>
          </p:cNvSpPr>
          <p:nvPr/>
        </p:nvSpPr>
        <p:spPr>
          <a:xfrm>
            <a:off x="8324850" y="2889266"/>
            <a:ext cx="32956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Cek buyer + sepakati termin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DBBE34FA-D5FB-4DF7-BC8F-23EB0BF85E06}"/>
              </a:ext>
            </a:extLst>
          </p:cNvPr>
          <p:cNvSpPr>
            <a:spLocks noGrp="1"/>
          </p:cNvSpPr>
          <p:nvPr/>
        </p:nvSpPr>
        <p:spPr>
          <a:xfrm>
            <a:off x="571500" y="3555187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text-213">
            <a:extLst>
              <a:ext uri="{FF2B5EF4-FFF2-40B4-BE49-F238E27FC236}">
                <a16:creationId xmlns:a16="http://schemas.microsoft.com/office/drawing/2014/main" id="{E2FB1959-9B45-4D13-A41B-CC969CCD595D}"/>
              </a:ext>
            </a:extLst>
          </p:cNvPr>
          <p:cNvSpPr>
            <a:spLocks noGrp="1"/>
          </p:cNvSpPr>
          <p:nvPr/>
        </p:nvSpPr>
        <p:spPr>
          <a:xfrm>
            <a:off x="571500" y="3840480"/>
            <a:ext cx="30289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Kualitas</a:t>
            </a:r>
            <a:r>
              <a:rPr sz="210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0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tidak</a:t>
            </a:r>
            <a:r>
              <a:rPr lang="en-US" sz="210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0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sesuai</a:t>
            </a:r>
            <a:endParaRPr sz="2100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BAEA29F9-7791-45B8-BAD2-6E6C4DDE3689}"/>
              </a:ext>
            </a:extLst>
          </p:cNvPr>
          <p:cNvSpPr>
            <a:spLocks noGrp="1"/>
          </p:cNvSpPr>
          <p:nvPr/>
        </p:nvSpPr>
        <p:spPr>
          <a:xfrm>
            <a:off x="3685946" y="3942055"/>
            <a:ext cx="542925" cy="123825"/>
          </a:xfrm>
          <a:prstGeom prst="rightArrow">
            <a:avLst/>
          </a:prstGeom>
          <a:solidFill>
            <a:srgbClr val="9AB6A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ext-214">
            <a:extLst>
              <a:ext uri="{FF2B5EF4-FFF2-40B4-BE49-F238E27FC236}">
                <a16:creationId xmlns:a16="http://schemas.microsoft.com/office/drawing/2014/main" id="{ED08D44E-515C-429C-8F5F-2E28FF83C210}"/>
              </a:ext>
            </a:extLst>
          </p:cNvPr>
          <p:cNvSpPr>
            <a:spLocks noGrp="1"/>
          </p:cNvSpPr>
          <p:nvPr/>
        </p:nvSpPr>
        <p:spPr>
          <a:xfrm>
            <a:off x="4457700" y="3849386"/>
            <a:ext cx="2857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Komplain atau retur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7E59032B-0FA7-4F20-9A44-6E88F3F20C82}"/>
              </a:ext>
            </a:extLst>
          </p:cNvPr>
          <p:cNvSpPr>
            <a:spLocks noGrp="1"/>
          </p:cNvSpPr>
          <p:nvPr/>
        </p:nvSpPr>
        <p:spPr>
          <a:xfrm>
            <a:off x="7552944" y="3942055"/>
            <a:ext cx="542925" cy="123825"/>
          </a:xfrm>
          <a:prstGeom prst="rightArrow">
            <a:avLst/>
          </a:prstGeom>
          <a:solidFill>
            <a:srgbClr val="9AB6A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-215">
            <a:extLst>
              <a:ext uri="{FF2B5EF4-FFF2-40B4-BE49-F238E27FC236}">
                <a16:creationId xmlns:a16="http://schemas.microsoft.com/office/drawing/2014/main" id="{C04A7AB2-9704-41B7-A882-B39AC0015841}"/>
              </a:ext>
            </a:extLst>
          </p:cNvPr>
          <p:cNvSpPr>
            <a:spLocks noGrp="1"/>
          </p:cNvSpPr>
          <p:nvPr/>
        </p:nvSpPr>
        <p:spPr>
          <a:xfrm>
            <a:off x="8324850" y="3849386"/>
            <a:ext cx="32956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Spesifikasi tertulis + QC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273E2C69-1774-4C0D-8B4C-7C544F3B651B}"/>
              </a:ext>
            </a:extLst>
          </p:cNvPr>
          <p:cNvSpPr>
            <a:spLocks noGrp="1"/>
          </p:cNvSpPr>
          <p:nvPr/>
        </p:nvSpPr>
        <p:spPr>
          <a:xfrm>
            <a:off x="571500" y="4515307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text-216">
            <a:extLst>
              <a:ext uri="{FF2B5EF4-FFF2-40B4-BE49-F238E27FC236}">
                <a16:creationId xmlns:a16="http://schemas.microsoft.com/office/drawing/2014/main" id="{4975B7B9-623E-466D-93E7-C8A002D0C691}"/>
              </a:ext>
            </a:extLst>
          </p:cNvPr>
          <p:cNvSpPr>
            <a:spLocks noGrp="1"/>
          </p:cNvSpPr>
          <p:nvPr/>
        </p:nvSpPr>
        <p:spPr>
          <a:xfrm>
            <a:off x="571500" y="4800600"/>
            <a:ext cx="30289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sz="210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molor</a:t>
            </a:r>
            <a:endParaRPr sz="2100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C762D8F8-D73A-4373-916D-42C9373DAB9D}"/>
              </a:ext>
            </a:extLst>
          </p:cNvPr>
          <p:cNvSpPr>
            <a:spLocks noGrp="1"/>
          </p:cNvSpPr>
          <p:nvPr/>
        </p:nvSpPr>
        <p:spPr>
          <a:xfrm>
            <a:off x="3685946" y="4902175"/>
            <a:ext cx="542925" cy="123825"/>
          </a:xfrm>
          <a:prstGeom prst="rightArrow">
            <a:avLst/>
          </a:prstGeom>
          <a:solidFill>
            <a:srgbClr val="9AB6A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text-217">
            <a:extLst>
              <a:ext uri="{FF2B5EF4-FFF2-40B4-BE49-F238E27FC236}">
                <a16:creationId xmlns:a16="http://schemas.microsoft.com/office/drawing/2014/main" id="{3C8548D5-7CE9-441C-BE82-0BD9D6C78205}"/>
              </a:ext>
            </a:extLst>
          </p:cNvPr>
          <p:cNvSpPr>
            <a:spLocks noGrp="1"/>
          </p:cNvSpPr>
          <p:nvPr/>
        </p:nvSpPr>
        <p:spPr>
          <a:xfrm>
            <a:off x="4457700" y="4809506"/>
            <a:ext cx="2857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Pengiriman telat</a:t>
            </a: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C63BB681-3A85-4FA1-BA9D-8A86D747AA63}"/>
              </a:ext>
            </a:extLst>
          </p:cNvPr>
          <p:cNvSpPr>
            <a:spLocks noGrp="1"/>
          </p:cNvSpPr>
          <p:nvPr/>
        </p:nvSpPr>
        <p:spPr>
          <a:xfrm>
            <a:off x="7552944" y="4902175"/>
            <a:ext cx="542925" cy="123825"/>
          </a:xfrm>
          <a:prstGeom prst="rightArrow">
            <a:avLst/>
          </a:prstGeom>
          <a:solidFill>
            <a:srgbClr val="9AB6A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text-218">
            <a:extLst>
              <a:ext uri="{FF2B5EF4-FFF2-40B4-BE49-F238E27FC236}">
                <a16:creationId xmlns:a16="http://schemas.microsoft.com/office/drawing/2014/main" id="{8BBD3342-7E4C-43C3-A5CC-27C27817D494}"/>
              </a:ext>
            </a:extLst>
          </p:cNvPr>
          <p:cNvSpPr>
            <a:spLocks noGrp="1"/>
          </p:cNvSpPr>
          <p:nvPr/>
        </p:nvSpPr>
        <p:spPr>
          <a:xfrm>
            <a:off x="8324850" y="4809506"/>
            <a:ext cx="32956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lang="en-US" sz="20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Capacity</a:t>
            </a:r>
            <a:r>
              <a:rPr sz="20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tracking</a:t>
            </a:r>
            <a:r>
              <a:rPr sz="20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+ buffer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9DA19882-3DF8-4BD9-BC1A-253EA1EB79ED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text-219">
            <a:extLst>
              <a:ext uri="{FF2B5EF4-FFF2-40B4-BE49-F238E27FC236}">
                <a16:creationId xmlns:a16="http://schemas.microsoft.com/office/drawing/2014/main" id="{383F8F69-4B17-4650-AF6D-6861AA6B3DA4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Tetapkan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dari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awal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tenggat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pembayaran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dan 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juga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waktu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masih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sanggup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untuk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tanggung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77272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964505-2E18-1D3B-D417-232C7A739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8" name="text-108">
            <a:extLst>
              <a:ext uri="{FF2B5EF4-FFF2-40B4-BE49-F238E27FC236}">
                <a16:creationId xmlns:a16="http://schemas.microsoft.com/office/drawing/2014/main" id="{8C770040-E4C3-2CE4-0BAA-CBB6136F29F4}"/>
              </a:ext>
            </a:extLst>
          </p:cNvPr>
          <p:cNvSpPr>
            <a:spLocks noGrp="1"/>
          </p:cNvSpPr>
          <p:nvPr/>
        </p:nvSpPr>
        <p:spPr>
          <a:xfrm>
            <a:off x="724204" y="2560320"/>
            <a:ext cx="10586008" cy="128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Sekarang kita punya bekalnya.</a:t>
            </a:r>
          </a:p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Yuk, kita </a:t>
            </a:r>
            <a:r>
              <a:rPr lang="id-ID" sz="3900" b="1" dirty="0" i="1" u="sng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jawab kasus tadi</a:t>
            </a: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20515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57DC7450-BBEA-42E2-A847-49391ABE19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29" name="text-220">
            <a:extLst>
              <a:ext uri="{FF2B5EF4-FFF2-40B4-BE49-F238E27FC236}">
                <a16:creationId xmlns:a16="http://schemas.microsoft.com/office/drawing/2014/main" id="{271ACE84-FFE6-431B-ADA4-3BF07BF3E292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KEMBALI KE KASUS</a:t>
            </a:r>
          </a:p>
        </p:txBody>
      </p:sp>
      <p:sp>
        <p:nvSpPr>
          <p:cNvPr id="30" name="text-221">
            <a:extLst>
              <a:ext uri="{FF2B5EF4-FFF2-40B4-BE49-F238E27FC236}">
                <a16:creationId xmlns:a16="http://schemas.microsoft.com/office/drawing/2014/main" id="{23D8E698-E896-440A-809F-2BF3BFC9FFBD}"/>
              </a:ext>
            </a:extLst>
          </p:cNvPr>
          <p:cNvSpPr>
            <a:spLocks noGrp="1"/>
          </p:cNvSpPr>
          <p:nvPr/>
        </p:nvSpPr>
        <p:spPr>
          <a:xfrm>
            <a:off x="571499" y="733425"/>
            <a:ext cx="11217729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Untuk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kasus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di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awal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harus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negosiasi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terlebih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dahulu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sebelum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“deal”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text-222">
            <a:extLst>
              <a:ext uri="{FF2B5EF4-FFF2-40B4-BE49-F238E27FC236}">
                <a16:creationId xmlns:a16="http://schemas.microsoft.com/office/drawing/2014/main" id="{45CC0249-00C3-49E3-B7B5-B2532D280D77}"/>
              </a:ext>
            </a:extLst>
          </p:cNvPr>
          <p:cNvSpPr>
            <a:spLocks noGrp="1"/>
          </p:cNvSpPr>
          <p:nvPr/>
        </p:nvSpPr>
        <p:spPr>
          <a:xfrm>
            <a:off x="571500" y="1307592"/>
            <a:ext cx="110490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Kapasitasnya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kurang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sementara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cash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dan 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packaging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juga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belum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teruji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2" name="text-223">
            <a:extLst>
              <a:ext uri="{FF2B5EF4-FFF2-40B4-BE49-F238E27FC236}">
                <a16:creationId xmlns:a16="http://schemas.microsoft.com/office/drawing/2014/main" id="{2058EFE9-5C00-4E3E-997A-D508D67C79D3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33" name="text-224">
            <a:extLst>
              <a:ext uri="{FF2B5EF4-FFF2-40B4-BE49-F238E27FC236}">
                <a16:creationId xmlns:a16="http://schemas.microsoft.com/office/drawing/2014/main" id="{2865D8EF-0E41-4D8C-A46A-AAA5FCA501A2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34" name="text-225">
            <a:extLst>
              <a:ext uri="{FF2B5EF4-FFF2-40B4-BE49-F238E27FC236}">
                <a16:creationId xmlns:a16="http://schemas.microsoft.com/office/drawing/2014/main" id="{71365BCD-D63A-42B5-94AF-34E31C5AFBC0}"/>
              </a:ext>
            </a:extLst>
          </p:cNvPr>
          <p:cNvSpPr>
            <a:spLocks noGrp="1"/>
          </p:cNvSpPr>
          <p:nvPr/>
        </p:nvSpPr>
        <p:spPr>
          <a:xfrm>
            <a:off x="571500" y="1965960"/>
            <a:ext cx="6915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KAPASITAS DALAM 30 HARI · UNIT</a:t>
            </a:r>
          </a:p>
        </p:txBody>
      </p:sp>
      <p:graphicFrame>
        <p:nvGraphicFramePr>
          <p:cNvPr id="59" name="Chart"/>
          <p:cNvGraphicFramePr/>
          <p:nvPr/>
        </p:nvGraphicFramePr>
        <p:xfrm>
          <a:off x="485775" y="2470785"/>
          <a:ext cx="6858000" cy="2390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6" name="text-226">
            <a:extLst>
              <a:ext uri="{FF2B5EF4-FFF2-40B4-BE49-F238E27FC236}">
                <a16:creationId xmlns:a16="http://schemas.microsoft.com/office/drawing/2014/main" id="{4DF9F48C-BCFB-4BE1-8036-4C02DCD2C213}"/>
              </a:ext>
            </a:extLst>
          </p:cNvPr>
          <p:cNvSpPr>
            <a:spLocks noGrp="1"/>
          </p:cNvSpPr>
          <p:nvPr/>
        </p:nvSpPr>
        <p:spPr>
          <a:xfrm>
            <a:off x="571500" y="4928235"/>
            <a:ext cx="30384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6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200 unit</a:t>
            </a:r>
          </a:p>
        </p:txBody>
      </p:sp>
      <p:sp>
        <p:nvSpPr>
          <p:cNvPr id="37" name="text-227">
            <a:extLst>
              <a:ext uri="{FF2B5EF4-FFF2-40B4-BE49-F238E27FC236}">
                <a16:creationId xmlns:a16="http://schemas.microsoft.com/office/drawing/2014/main" id="{A7DACB8A-F071-4F71-A0B1-E7132F9DF224}"/>
              </a:ext>
            </a:extLst>
          </p:cNvPr>
          <p:cNvSpPr>
            <a:spLocks noGrp="1"/>
          </p:cNvSpPr>
          <p:nvPr/>
        </p:nvSpPr>
        <p:spPr>
          <a:xfrm>
            <a:off x="2354580" y="5133070"/>
            <a:ext cx="3200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kekurangan kapasitas</a:t>
            </a:r>
          </a:p>
        </p:txBody>
      </p:sp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B8412CB7-9842-4709-AC1C-4027D4031927}"/>
              </a:ext>
            </a:extLst>
          </p:cNvPr>
          <p:cNvSpPr>
            <a:spLocks noGrp="1"/>
          </p:cNvSpPr>
          <p:nvPr/>
        </p:nvSpPr>
        <p:spPr>
          <a:xfrm>
            <a:off x="7705725" y="2004060"/>
            <a:ext cx="0" cy="3324225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text-228">
            <a:extLst>
              <a:ext uri="{FF2B5EF4-FFF2-40B4-BE49-F238E27FC236}">
                <a16:creationId xmlns:a16="http://schemas.microsoft.com/office/drawing/2014/main" id="{764A7BE7-2F43-4AE8-BBBB-A4073A9587C1}"/>
              </a:ext>
            </a:extLst>
          </p:cNvPr>
          <p:cNvSpPr>
            <a:spLocks noGrp="1"/>
          </p:cNvSpPr>
          <p:nvPr/>
        </p:nvSpPr>
        <p:spPr>
          <a:xfrm>
            <a:off x="8239125" y="1965960"/>
            <a:ext cx="3381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YANG BISA DINEGO</a:t>
            </a:r>
          </a:p>
        </p:txBody>
      </p:sp>
      <p:sp>
        <p:nvSpPr>
          <p:cNvPr id="40" name="text-229">
            <a:extLst>
              <a:ext uri="{FF2B5EF4-FFF2-40B4-BE49-F238E27FC236}">
                <a16:creationId xmlns:a16="http://schemas.microsoft.com/office/drawing/2014/main" id="{4B5D4F9A-7609-4C17-A307-3A651FA34F03}"/>
              </a:ext>
            </a:extLst>
          </p:cNvPr>
          <p:cNvSpPr>
            <a:spLocks noGrp="1"/>
          </p:cNvSpPr>
          <p:nvPr/>
        </p:nvSpPr>
        <p:spPr>
          <a:xfrm>
            <a:off x="8239125" y="2508885"/>
            <a:ext cx="338137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Volume</a:t>
            </a:r>
          </a:p>
        </p:txBody>
      </p:sp>
      <p:sp>
        <p:nvSpPr>
          <p:cNvPr id="41" name="text-230">
            <a:extLst>
              <a:ext uri="{FF2B5EF4-FFF2-40B4-BE49-F238E27FC236}">
                <a16:creationId xmlns:a16="http://schemas.microsoft.com/office/drawing/2014/main" id="{388BC4AB-D670-438F-B234-D29D75B0B186}"/>
              </a:ext>
            </a:extLst>
          </p:cNvPr>
          <p:cNvSpPr>
            <a:spLocks noGrp="1"/>
          </p:cNvSpPr>
          <p:nvPr/>
        </p:nvSpPr>
        <p:spPr>
          <a:xfrm>
            <a:off x="8239125" y="2899410"/>
            <a:ext cx="3381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Kurangi atau kirim bertahap?</a:t>
            </a:r>
          </a:p>
        </p:txBody>
      </p:sp>
      <p:sp>
        <p:nvSpPr>
          <p:cNvPr id="42" name="text-231">
            <a:extLst>
              <a:ext uri="{FF2B5EF4-FFF2-40B4-BE49-F238E27FC236}">
                <a16:creationId xmlns:a16="http://schemas.microsoft.com/office/drawing/2014/main" id="{00176669-E538-4643-B654-FAA37DA93D7D}"/>
              </a:ext>
            </a:extLst>
          </p:cNvPr>
          <p:cNvSpPr>
            <a:spLocks noGrp="1"/>
          </p:cNvSpPr>
          <p:nvPr/>
        </p:nvSpPr>
        <p:spPr>
          <a:xfrm>
            <a:off x="8239125" y="3451860"/>
            <a:ext cx="338137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Pembayaran</a:t>
            </a:r>
          </a:p>
        </p:txBody>
      </p:sp>
      <p:sp>
        <p:nvSpPr>
          <p:cNvPr id="43" name="text-232">
            <a:extLst>
              <a:ext uri="{FF2B5EF4-FFF2-40B4-BE49-F238E27FC236}">
                <a16:creationId xmlns:a16="http://schemas.microsoft.com/office/drawing/2014/main" id="{C36CAD83-2E7B-4D96-B7E1-64212223EC04}"/>
              </a:ext>
            </a:extLst>
          </p:cNvPr>
          <p:cNvSpPr>
            <a:spLocks noGrp="1"/>
          </p:cNvSpPr>
          <p:nvPr/>
        </p:nvSpPr>
        <p:spPr>
          <a:xfrm>
            <a:off x="8239125" y="3842385"/>
            <a:ext cx="3381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Ubah</a:t>
            </a:r>
            <a:r>
              <a:rPr sz="195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5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termin</a:t>
            </a:r>
            <a:r>
              <a:rPr sz="195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5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supaya</a:t>
            </a:r>
            <a:r>
              <a:rPr sz="195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95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cash</a:t>
            </a:r>
            <a:r>
              <a:rPr sz="195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5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cukup</a:t>
            </a:r>
            <a:r>
              <a:rPr sz="195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44" name="text-233">
            <a:extLst>
              <a:ext uri="{FF2B5EF4-FFF2-40B4-BE49-F238E27FC236}">
                <a16:creationId xmlns:a16="http://schemas.microsoft.com/office/drawing/2014/main" id="{07CA6CB2-D021-48E4-AB8E-3631B6792C5B}"/>
              </a:ext>
            </a:extLst>
          </p:cNvPr>
          <p:cNvSpPr>
            <a:spLocks noGrp="1"/>
          </p:cNvSpPr>
          <p:nvPr/>
        </p:nvSpPr>
        <p:spPr>
          <a:xfrm>
            <a:off x="8239125" y="4394835"/>
            <a:ext cx="338137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Kualitas</a:t>
            </a:r>
          </a:p>
        </p:txBody>
      </p:sp>
      <p:sp>
        <p:nvSpPr>
          <p:cNvPr id="45" name="text-234">
            <a:extLst>
              <a:ext uri="{FF2B5EF4-FFF2-40B4-BE49-F238E27FC236}">
                <a16:creationId xmlns:a16="http://schemas.microsoft.com/office/drawing/2014/main" id="{581ECCE4-3D2E-4DAD-8421-45F871B65E23}"/>
              </a:ext>
            </a:extLst>
          </p:cNvPr>
          <p:cNvSpPr>
            <a:spLocks noGrp="1"/>
          </p:cNvSpPr>
          <p:nvPr/>
        </p:nvSpPr>
        <p:spPr>
          <a:xfrm>
            <a:off x="8239125" y="4785360"/>
            <a:ext cx="3381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Tes packaging dan spek dulu?</a:t>
            </a:r>
          </a:p>
        </p:txBody>
      </p:sp>
      <p:sp>
        <p:nvSpPr>
          <p:cNvPr id="46" name="Straight Connector 45">
            <a:extLst>
              <a:ext uri="{FF2B5EF4-FFF2-40B4-BE49-F238E27FC236}">
                <a16:creationId xmlns:a16="http://schemas.microsoft.com/office/drawing/2014/main" id="{474FF1E5-BBB1-4375-A0A0-86E680A9D572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text-235">
            <a:extLst>
              <a:ext uri="{FF2B5EF4-FFF2-40B4-BE49-F238E27FC236}">
                <a16:creationId xmlns:a16="http://schemas.microsoft.com/office/drawing/2014/main" id="{BF81CFB0-56B5-4116-8B89-D8AA7686AE38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Kalau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syaratnya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tetap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tidak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masuk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akal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lebih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baik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tunda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dulu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48" name="text-236">
            <a:extLst>
              <a:ext uri="{FF2B5EF4-FFF2-40B4-BE49-F238E27FC236}">
                <a16:creationId xmlns:a16="http://schemas.microsoft.com/office/drawing/2014/main" id="{CB43386F-87BD-46C3-A4AB-B92963272DDD}"/>
              </a:ext>
            </a:extLst>
          </p:cNvPr>
          <p:cNvSpPr>
            <a:spLocks noGrp="1"/>
          </p:cNvSpPr>
          <p:nvPr/>
        </p:nvSpPr>
        <p:spPr>
          <a:xfrm>
            <a:off x="1920240" y="6590995"/>
            <a:ext cx="813816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Angka dan skenario hanya ilustrasi.</a:t>
            </a:r>
          </a:p>
        </p:txBody>
      </p:sp>
    </p:spTree>
    <p:extLst>
      <p:ext uri="{BB962C8B-B14F-4D97-AF65-F5344CB8AC3E}">
        <p14:creationId xmlns:p14="http://schemas.microsoft.com/office/powerpoint/2010/main" val="18384463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964505-2E18-1D3B-D417-232C7A739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8" name="text-108">
            <a:extLst>
              <a:ext uri="{FF2B5EF4-FFF2-40B4-BE49-F238E27FC236}">
                <a16:creationId xmlns:a16="http://schemas.microsoft.com/office/drawing/2014/main" id="{8C770040-E4C3-2CE4-0BAA-CBB6136F29F4}"/>
              </a:ext>
            </a:extLst>
          </p:cNvPr>
          <p:cNvSpPr>
            <a:spLocks noGrp="1"/>
          </p:cNvSpPr>
          <p:nvPr/>
        </p:nvSpPr>
        <p:spPr>
          <a:xfrm>
            <a:off x="724204" y="2560320"/>
            <a:ext cx="10586008" cy="128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Nego butuh bukti.</a:t>
            </a:r>
          </a:p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Bukti datang dari </a:t>
            </a:r>
            <a:r>
              <a:rPr lang="id-ID" sz="3900" b="1" dirty="0" i="1" u="sng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 kecil</a:t>
            </a: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bukan asumsi.</a:t>
            </a:r>
          </a:p>
        </p:txBody>
      </p:sp>
    </p:spTree>
    <p:extLst>
      <p:ext uri="{BB962C8B-B14F-4D97-AF65-F5344CB8AC3E}">
        <p14:creationId xmlns:p14="http://schemas.microsoft.com/office/powerpoint/2010/main" val="8720515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1EB904F-2B87-4BE5-AEA9-700FA603F6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237">
            <a:extLst>
              <a:ext uri="{FF2B5EF4-FFF2-40B4-BE49-F238E27FC236}">
                <a16:creationId xmlns:a16="http://schemas.microsoft.com/office/drawing/2014/main" id="{F9617905-4902-421D-BD6D-C0D4A1319D27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EKSPERIMEN</a:t>
            </a:r>
          </a:p>
        </p:txBody>
      </p:sp>
      <p:sp>
        <p:nvSpPr>
          <p:cNvPr id="5" name="text-238">
            <a:extLst>
              <a:ext uri="{FF2B5EF4-FFF2-40B4-BE49-F238E27FC236}">
                <a16:creationId xmlns:a16="http://schemas.microsoft.com/office/drawing/2014/main" id="{66046230-C181-4FF3-A0AB-A33D73412D72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Gunakan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framework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Build-Measure-Learn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supaya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tidak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full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berasumsi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239">
            <a:extLst>
              <a:ext uri="{FF2B5EF4-FFF2-40B4-BE49-F238E27FC236}">
                <a16:creationId xmlns:a16="http://schemas.microsoft.com/office/drawing/2014/main" id="{26DFBEE3-E6A6-4BBD-A397-DFD386898841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240">
            <a:extLst>
              <a:ext uri="{FF2B5EF4-FFF2-40B4-BE49-F238E27FC236}">
                <a16:creationId xmlns:a16="http://schemas.microsoft.com/office/drawing/2014/main" id="{C48DEB85-9491-4B12-A467-6251F61FDBA4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917516F-BA18-4170-A501-5B69854058F1}"/>
              </a:ext>
            </a:extLst>
          </p:cNvPr>
          <p:cNvSpPr>
            <a:spLocks noGrp="1"/>
          </p:cNvSpPr>
          <p:nvPr/>
        </p:nvSpPr>
        <p:spPr>
          <a:xfrm>
            <a:off x="5262829" y="1794158"/>
            <a:ext cx="1666875" cy="1666875"/>
          </a:xfrm>
          <a:prstGeom prst="ellipse">
            <a:avLst/>
          </a:prstGeom>
          <a:solidFill>
            <a:srgbClr val="087958"/>
          </a:solidFill>
          <a:ln w="952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text-241">
            <a:extLst>
              <a:ext uri="{FF2B5EF4-FFF2-40B4-BE49-F238E27FC236}">
                <a16:creationId xmlns:a16="http://schemas.microsoft.com/office/drawing/2014/main" id="{2A122B18-F15D-4F2C-85A1-CC02148B1C26}"/>
              </a:ext>
            </a:extLst>
          </p:cNvPr>
          <p:cNvSpPr>
            <a:spLocks noGrp="1"/>
          </p:cNvSpPr>
          <p:nvPr/>
        </p:nvSpPr>
        <p:spPr>
          <a:xfrm>
            <a:off x="5262829" y="2268756"/>
            <a:ext cx="1666951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BUILD</a:t>
            </a:r>
          </a:p>
        </p:txBody>
      </p:sp>
      <p:sp>
        <p:nvSpPr>
          <p:cNvPr id="10" name="text-242">
            <a:extLst>
              <a:ext uri="{FF2B5EF4-FFF2-40B4-BE49-F238E27FC236}">
                <a16:creationId xmlns:a16="http://schemas.microsoft.com/office/drawing/2014/main" id="{39E52AC6-C9EE-415C-96BE-5229BBEEBBAC}"/>
              </a:ext>
            </a:extLst>
          </p:cNvPr>
          <p:cNvSpPr>
            <a:spLocks noGrp="1"/>
          </p:cNvSpPr>
          <p:nvPr/>
        </p:nvSpPr>
        <p:spPr>
          <a:xfrm>
            <a:off x="5262829" y="2698524"/>
            <a:ext cx="1666951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Buat sampel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6F5CAC-5A27-40CF-9587-F25F1F5A8C52}"/>
              </a:ext>
            </a:extLst>
          </p:cNvPr>
          <p:cNvSpPr>
            <a:spLocks noGrp="1"/>
          </p:cNvSpPr>
          <p:nvPr/>
        </p:nvSpPr>
        <p:spPr>
          <a:xfrm>
            <a:off x="7183069" y="3714398"/>
            <a:ext cx="1666875" cy="1666875"/>
          </a:xfrm>
          <a:prstGeom prst="ellipse">
            <a:avLst/>
          </a:prstGeom>
          <a:solidFill>
            <a:srgbClr val="EDF4EF"/>
          </a:solidFill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-243">
            <a:extLst>
              <a:ext uri="{FF2B5EF4-FFF2-40B4-BE49-F238E27FC236}">
                <a16:creationId xmlns:a16="http://schemas.microsoft.com/office/drawing/2014/main" id="{5116B176-264E-44A4-8262-3A3A2915B78E}"/>
              </a:ext>
            </a:extLst>
          </p:cNvPr>
          <p:cNvSpPr>
            <a:spLocks noGrp="1"/>
          </p:cNvSpPr>
          <p:nvPr/>
        </p:nvSpPr>
        <p:spPr>
          <a:xfrm>
            <a:off x="7183069" y="4188996"/>
            <a:ext cx="1666951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MEASURE</a:t>
            </a:r>
          </a:p>
        </p:txBody>
      </p:sp>
      <p:sp>
        <p:nvSpPr>
          <p:cNvPr id="13" name="text-244">
            <a:extLst>
              <a:ext uri="{FF2B5EF4-FFF2-40B4-BE49-F238E27FC236}">
                <a16:creationId xmlns:a16="http://schemas.microsoft.com/office/drawing/2014/main" id="{153D3B30-7473-4A5C-901C-086939897AEB}"/>
              </a:ext>
            </a:extLst>
          </p:cNvPr>
          <p:cNvSpPr>
            <a:spLocks noGrp="1"/>
          </p:cNvSpPr>
          <p:nvPr/>
        </p:nvSpPr>
        <p:spPr>
          <a:xfrm>
            <a:off x="7183069" y="4618764"/>
            <a:ext cx="1666951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Catat respons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A46C95-CB54-4641-9D78-D2A3851BDC8A}"/>
              </a:ext>
            </a:extLst>
          </p:cNvPr>
          <p:cNvSpPr>
            <a:spLocks noGrp="1"/>
          </p:cNvSpPr>
          <p:nvPr/>
        </p:nvSpPr>
        <p:spPr>
          <a:xfrm>
            <a:off x="3342589" y="3714398"/>
            <a:ext cx="1666875" cy="1666875"/>
          </a:xfrm>
          <a:prstGeom prst="ellipse">
            <a:avLst/>
          </a:prstGeom>
          <a:noFill/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ext-245">
            <a:extLst>
              <a:ext uri="{FF2B5EF4-FFF2-40B4-BE49-F238E27FC236}">
                <a16:creationId xmlns:a16="http://schemas.microsoft.com/office/drawing/2014/main" id="{CF864050-9793-487E-A1AD-B299960D2167}"/>
              </a:ext>
            </a:extLst>
          </p:cNvPr>
          <p:cNvSpPr>
            <a:spLocks noGrp="1"/>
          </p:cNvSpPr>
          <p:nvPr/>
        </p:nvSpPr>
        <p:spPr>
          <a:xfrm>
            <a:off x="3342589" y="4188996"/>
            <a:ext cx="1666951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LEARN</a:t>
            </a:r>
          </a:p>
        </p:txBody>
      </p:sp>
      <p:sp>
        <p:nvSpPr>
          <p:cNvPr id="16" name="text-246">
            <a:extLst>
              <a:ext uri="{FF2B5EF4-FFF2-40B4-BE49-F238E27FC236}">
                <a16:creationId xmlns:a16="http://schemas.microsoft.com/office/drawing/2014/main" id="{AAF1F21E-C4AA-4648-A3F5-68B0ADE41384}"/>
              </a:ext>
            </a:extLst>
          </p:cNvPr>
          <p:cNvSpPr>
            <a:spLocks noGrp="1"/>
          </p:cNvSpPr>
          <p:nvPr/>
        </p:nvSpPr>
        <p:spPr>
          <a:xfrm>
            <a:off x="3342589" y="4618764"/>
            <a:ext cx="1666951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Pilih langkah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FB7B3711-E33C-4525-A848-A21DCA621BE5}"/>
              </a:ext>
            </a:extLst>
          </p:cNvPr>
          <p:cNvSpPr>
            <a:spLocks noGrp="1"/>
          </p:cNvSpPr>
          <p:nvPr/>
        </p:nvSpPr>
        <p:spPr>
          <a:xfrm rot="2700000">
            <a:off x="6660947" y="3502029"/>
            <a:ext cx="790956" cy="171450"/>
          </a:xfrm>
          <a:prstGeom prst="rightArrow">
            <a:avLst/>
          </a:prstGeom>
          <a:solidFill>
            <a:srgbClr val="08795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E34478EC-4A62-4433-9D8F-20E49121AB1D}"/>
              </a:ext>
            </a:extLst>
          </p:cNvPr>
          <p:cNvSpPr>
            <a:spLocks noGrp="1"/>
          </p:cNvSpPr>
          <p:nvPr/>
        </p:nvSpPr>
        <p:spPr>
          <a:xfrm rot="10800000">
            <a:off x="5296205" y="4462149"/>
            <a:ext cx="1600200" cy="171450"/>
          </a:xfrm>
          <a:prstGeom prst="rightArrow">
            <a:avLst/>
          </a:prstGeom>
          <a:solidFill>
            <a:srgbClr val="08795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388A59A9-6A4C-4E79-8708-7B7B28F31DA5}"/>
              </a:ext>
            </a:extLst>
          </p:cNvPr>
          <p:cNvSpPr>
            <a:spLocks noGrp="1"/>
          </p:cNvSpPr>
          <p:nvPr/>
        </p:nvSpPr>
        <p:spPr>
          <a:xfrm rot="18900000">
            <a:off x="4740707" y="3502029"/>
            <a:ext cx="790956" cy="171450"/>
          </a:xfrm>
          <a:prstGeom prst="rightArrow">
            <a:avLst/>
          </a:prstGeom>
          <a:solidFill>
            <a:srgbClr val="08795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ext-247">
            <a:extLst>
              <a:ext uri="{FF2B5EF4-FFF2-40B4-BE49-F238E27FC236}">
                <a16:creationId xmlns:a16="http://schemas.microsoft.com/office/drawing/2014/main" id="{0E7F1647-1586-4AE6-939B-1BBDB9750B82}"/>
              </a:ext>
            </a:extLst>
          </p:cNvPr>
          <p:cNvSpPr>
            <a:spLocks noGrp="1"/>
          </p:cNvSpPr>
          <p:nvPr/>
        </p:nvSpPr>
        <p:spPr>
          <a:xfrm>
            <a:off x="714792" y="3581048"/>
            <a:ext cx="2160814" cy="6972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Contoh</a:t>
            </a:r>
            <a:r>
              <a:rPr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225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dua</a:t>
            </a:r>
            <a:endParaRPr sz="2250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pilihan</a:t>
            </a:r>
            <a:r>
              <a:rPr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25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ukuran</a:t>
            </a:r>
            <a:endParaRPr sz="2250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-248">
            <a:extLst>
              <a:ext uri="{FF2B5EF4-FFF2-40B4-BE49-F238E27FC236}">
                <a16:creationId xmlns:a16="http://schemas.microsoft.com/office/drawing/2014/main" id="{646C27DB-F84C-4752-88B1-E58FE478F789}"/>
              </a:ext>
            </a:extLst>
          </p:cNvPr>
          <p:cNvSpPr>
            <a:spLocks noGrp="1"/>
          </p:cNvSpPr>
          <p:nvPr/>
        </p:nvSpPr>
        <p:spPr>
          <a:xfrm>
            <a:off x="714792" y="4442870"/>
            <a:ext cx="2160814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lang="en-US"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Buat</a:t>
            </a:r>
            <a:r>
              <a:rPr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perubahan</a:t>
            </a:r>
            <a:r>
              <a:rPr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kecil</a:t>
            </a:r>
            <a:endParaRPr sz="1875" b="0" dirty="0">
              <a:solidFill>
                <a:srgbClr val="5B7169"/>
              </a:solidFill>
              <a:latin typeface="Calibri"/>
              <a:ea typeface="Calibri"/>
              <a:cs typeface="Calibri"/>
            </a:endParaRPr>
          </a:p>
          <a:p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lang="en-US" sz="1875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u</a:t>
            </a:r>
            <a:r>
              <a:rPr lang="en-US"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ntuk</a:t>
            </a:r>
            <a:r>
              <a:rPr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bisa</a:t>
            </a:r>
            <a:r>
              <a:rPr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dites</a:t>
            </a:r>
            <a:r>
              <a:rPr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2" name="text-249">
            <a:extLst>
              <a:ext uri="{FF2B5EF4-FFF2-40B4-BE49-F238E27FC236}">
                <a16:creationId xmlns:a16="http://schemas.microsoft.com/office/drawing/2014/main" id="{1F0C1500-78F5-45EC-ADE0-18149CEEF95A}"/>
              </a:ext>
            </a:extLst>
          </p:cNvPr>
          <p:cNvSpPr>
            <a:spLocks noGrp="1"/>
          </p:cNvSpPr>
          <p:nvPr/>
        </p:nvSpPr>
        <p:spPr>
          <a:xfrm>
            <a:off x="9272916" y="3589394"/>
            <a:ext cx="2430475" cy="6972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25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Ukur</a:t>
            </a:r>
            <a:r>
              <a:rPr lang="en-US"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25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pilihan</a:t>
            </a:r>
            <a:r>
              <a:rPr lang="en-US"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buyer</a:t>
            </a:r>
            <a:endParaRPr sz="2250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feedback</a:t>
            </a:r>
            <a:r>
              <a:rPr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dan </a:t>
            </a:r>
            <a:r>
              <a:rPr sz="225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harga</a:t>
            </a:r>
            <a:endParaRPr sz="2250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text-250">
            <a:extLst>
              <a:ext uri="{FF2B5EF4-FFF2-40B4-BE49-F238E27FC236}">
                <a16:creationId xmlns:a16="http://schemas.microsoft.com/office/drawing/2014/main" id="{50D5FBEF-988E-42FD-95F7-BA549F437A41}"/>
              </a:ext>
            </a:extLst>
          </p:cNvPr>
          <p:cNvSpPr>
            <a:spLocks noGrp="1"/>
          </p:cNvSpPr>
          <p:nvPr/>
        </p:nvSpPr>
        <p:spPr>
          <a:xfrm>
            <a:off x="9272916" y="4451216"/>
            <a:ext cx="243047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Catat</a:t>
            </a:r>
            <a:r>
              <a:rPr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apa</a:t>
            </a:r>
            <a:r>
              <a:rPr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yang</a:t>
            </a:r>
            <a:r>
              <a:rPr lang="en-US"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buyer </a:t>
            </a:r>
            <a:r>
              <a:rPr lang="en-US"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benar</a:t>
            </a:r>
            <a:r>
              <a:rPr lang="en-US"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benar</a:t>
            </a:r>
            <a:r>
              <a:rPr lang="en-US"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butuhkan</a:t>
            </a:r>
            <a:r>
              <a:rPr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F05B9DAD-B4AC-44F9-A218-24A206B07E77}"/>
              </a:ext>
            </a:extLst>
          </p:cNvPr>
          <p:cNvSpPr>
            <a:spLocks noGrp="1"/>
          </p:cNvSpPr>
          <p:nvPr/>
        </p:nvSpPr>
        <p:spPr>
          <a:xfrm>
            <a:off x="571500" y="5626104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text-251">
            <a:extLst>
              <a:ext uri="{FF2B5EF4-FFF2-40B4-BE49-F238E27FC236}">
                <a16:creationId xmlns:a16="http://schemas.microsoft.com/office/drawing/2014/main" id="{FB427510-CB5A-42C3-8CE3-009D597D5061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Dari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hasil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tes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sudah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lakukan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bisa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putuskan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untuk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lanjut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ubah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atau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stop.</a:t>
            </a:r>
          </a:p>
        </p:txBody>
      </p:sp>
      <p:sp>
        <p:nvSpPr>
          <p:cNvPr id="26" name="text-252">
            <a:extLst>
              <a:ext uri="{FF2B5EF4-FFF2-40B4-BE49-F238E27FC236}">
                <a16:creationId xmlns:a16="http://schemas.microsoft.com/office/drawing/2014/main" id="{F49F30C0-A5A0-437C-A9FF-D202263635E1}"/>
              </a:ext>
            </a:extLst>
          </p:cNvPr>
          <p:cNvSpPr>
            <a:spLocks noGrp="1"/>
          </p:cNvSpPr>
          <p:nvPr/>
        </p:nvSpPr>
        <p:spPr>
          <a:xfrm>
            <a:off x="1920240" y="6590995"/>
            <a:ext cx="813816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Sumber: Modul 1 CMC dan The Lean Startup.</a:t>
            </a:r>
          </a:p>
        </p:txBody>
      </p:sp>
    </p:spTree>
    <p:extLst>
      <p:ext uri="{BB962C8B-B14F-4D97-AF65-F5344CB8AC3E}">
        <p14:creationId xmlns:p14="http://schemas.microsoft.com/office/powerpoint/2010/main" val="19616408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964505-2E18-1D3B-D417-232C7A739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8" name="text-108">
            <a:extLst>
              <a:ext uri="{FF2B5EF4-FFF2-40B4-BE49-F238E27FC236}">
                <a16:creationId xmlns:a16="http://schemas.microsoft.com/office/drawing/2014/main" id="{8C770040-E4C3-2CE4-0BAA-CBB6136F29F4}"/>
              </a:ext>
            </a:extLst>
          </p:cNvPr>
          <p:cNvSpPr>
            <a:spLocks noGrp="1"/>
          </p:cNvSpPr>
          <p:nvPr/>
        </p:nvSpPr>
        <p:spPr>
          <a:xfrm>
            <a:off x="724204" y="2560320"/>
            <a:ext cx="10586008" cy="128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Sebelum tes dimulai,</a:t>
            </a:r>
          </a:p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tulis dulu </a:t>
            </a:r>
            <a:r>
              <a:rPr lang="id-ID" sz="3900" b="1" dirty="0" i="1" u="sng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apa yang mau dibuktikan</a:t>
            </a: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20515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E761D46-B411-4E7F-9721-CBCCF88DA4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253">
            <a:extLst>
              <a:ext uri="{FF2B5EF4-FFF2-40B4-BE49-F238E27FC236}">
                <a16:creationId xmlns:a16="http://schemas.microsoft.com/office/drawing/2014/main" id="{BC77E510-4825-4955-B1B2-57BC4C729C12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lang="en-US" sz="12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HYPOTHESIS TESTING</a:t>
            </a:r>
            <a:endParaRPr sz="1275" b="1" dirty="0">
              <a:solidFill>
                <a:srgbClr val="08795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-254">
            <a:extLst>
              <a:ext uri="{FF2B5EF4-FFF2-40B4-BE49-F238E27FC236}">
                <a16:creationId xmlns:a16="http://schemas.microsoft.com/office/drawing/2014/main" id="{B77EBCDF-147E-48BD-9B7C-1D47774AB39E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Buat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hipotesis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awal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sebelum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memulai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untuk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sample 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tes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ting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255">
            <a:extLst>
              <a:ext uri="{FF2B5EF4-FFF2-40B4-BE49-F238E27FC236}">
                <a16:creationId xmlns:a16="http://schemas.microsoft.com/office/drawing/2014/main" id="{BEB91E1A-74B0-48F9-8B6C-FB89E05ECD7A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256">
            <a:extLst>
              <a:ext uri="{FF2B5EF4-FFF2-40B4-BE49-F238E27FC236}">
                <a16:creationId xmlns:a16="http://schemas.microsoft.com/office/drawing/2014/main" id="{16663445-A3EF-49AC-AFF1-E70B1FC6248C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8" name="text-257">
            <a:extLst>
              <a:ext uri="{FF2B5EF4-FFF2-40B4-BE49-F238E27FC236}">
                <a16:creationId xmlns:a16="http://schemas.microsoft.com/office/drawing/2014/main" id="{D39B0D4E-05E4-45D2-B104-D0AE75D78A0E}"/>
              </a:ext>
            </a:extLst>
          </p:cNvPr>
          <p:cNvSpPr>
            <a:spLocks noGrp="1"/>
          </p:cNvSpPr>
          <p:nvPr/>
        </p:nvSpPr>
        <p:spPr>
          <a:xfrm>
            <a:off x="571500" y="2066925"/>
            <a:ext cx="4229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lang="en-US" sz="12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HIPOTESIS</a:t>
            </a:r>
            <a:r>
              <a:rPr sz="12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lang="en-US" sz="12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DITEST</a:t>
            </a:r>
            <a:endParaRPr sz="1275" b="1" dirty="0">
              <a:solidFill>
                <a:srgbClr val="08795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-258">
            <a:extLst>
              <a:ext uri="{FF2B5EF4-FFF2-40B4-BE49-F238E27FC236}">
                <a16:creationId xmlns:a16="http://schemas.microsoft.com/office/drawing/2014/main" id="{8C57AA7F-3FBF-41EF-8118-4DDAB9220B77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4648200" cy="1571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2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2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“</a:t>
            </a:r>
            <a:r>
              <a:rPr sz="32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Ukuran</a:t>
            </a:r>
            <a:r>
              <a:rPr sz="32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2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lebih</a:t>
            </a:r>
            <a:r>
              <a:rPr sz="32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2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kecil</a:t>
            </a:r>
            <a:r>
              <a:rPr lang="en-US" sz="32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2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sepertinya</a:t>
            </a:r>
            <a:r>
              <a:rPr lang="en-US" sz="32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2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lebih</a:t>
            </a:r>
            <a:r>
              <a:rPr sz="32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2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cocok</a:t>
            </a:r>
            <a:r>
              <a:rPr lang="en-US" sz="32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2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untuk</a:t>
            </a:r>
            <a:r>
              <a:rPr sz="32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buyer.”</a:t>
            </a:r>
          </a:p>
        </p:txBody>
      </p:sp>
      <p:sp>
        <p:nvSpPr>
          <p:cNvPr id="10" name="text-259">
            <a:extLst>
              <a:ext uri="{FF2B5EF4-FFF2-40B4-BE49-F238E27FC236}">
                <a16:creationId xmlns:a16="http://schemas.microsoft.com/office/drawing/2014/main" id="{A557440A-538A-41A0-9CF4-447BF1495AD3}"/>
              </a:ext>
            </a:extLst>
          </p:cNvPr>
          <p:cNvSpPr>
            <a:spLocks noGrp="1"/>
          </p:cNvSpPr>
          <p:nvPr/>
        </p:nvSpPr>
        <p:spPr>
          <a:xfrm>
            <a:off x="571500" y="4935426"/>
            <a:ext cx="4648200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Tentukan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budget </a:t>
            </a:r>
            <a:r>
              <a:rPr lang="en-US"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sample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</a:t>
            </a:r>
          </a:p>
          <a:p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deadline, dan PIC </a:t>
            </a: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sebelum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mulai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15ED4BF9-4C81-4E5E-80E8-9E0E5E590768}"/>
              </a:ext>
            </a:extLst>
          </p:cNvPr>
          <p:cNvSpPr>
            <a:spLocks noGrp="1"/>
          </p:cNvSpPr>
          <p:nvPr/>
        </p:nvSpPr>
        <p:spPr>
          <a:xfrm>
            <a:off x="5819775" y="2066544"/>
            <a:ext cx="0" cy="3493008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-260">
            <a:extLst>
              <a:ext uri="{FF2B5EF4-FFF2-40B4-BE49-F238E27FC236}">
                <a16:creationId xmlns:a16="http://schemas.microsoft.com/office/drawing/2014/main" id="{D2E5DFDF-358D-45FA-BE33-236A097FBAF8}"/>
              </a:ext>
            </a:extLst>
          </p:cNvPr>
          <p:cNvSpPr>
            <a:spLocks noGrp="1"/>
          </p:cNvSpPr>
          <p:nvPr/>
        </p:nvSpPr>
        <p:spPr>
          <a:xfrm>
            <a:off x="6429375" y="2066544"/>
            <a:ext cx="5191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YANG DILAKUKAN</a:t>
            </a:r>
          </a:p>
        </p:txBody>
      </p:sp>
      <p:sp>
        <p:nvSpPr>
          <p:cNvPr id="13" name="text-261">
            <a:extLst>
              <a:ext uri="{FF2B5EF4-FFF2-40B4-BE49-F238E27FC236}">
                <a16:creationId xmlns:a16="http://schemas.microsoft.com/office/drawing/2014/main" id="{8CE60FE9-E77F-4B64-BB47-1DE1E91FC202}"/>
              </a:ext>
            </a:extLst>
          </p:cNvPr>
          <p:cNvSpPr>
            <a:spLocks noGrp="1"/>
          </p:cNvSpPr>
          <p:nvPr/>
        </p:nvSpPr>
        <p:spPr>
          <a:xfrm>
            <a:off x="6429375" y="2438705"/>
            <a:ext cx="51911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Tawarkan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dua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ukuran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lengkap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spek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dan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harga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EC7AB01F-4D42-4F30-8EBA-3EAF2027E5B8}"/>
              </a:ext>
            </a:extLst>
          </p:cNvPr>
          <p:cNvSpPr>
            <a:spLocks noGrp="1"/>
          </p:cNvSpPr>
          <p:nvPr/>
        </p:nvSpPr>
        <p:spPr>
          <a:xfrm>
            <a:off x="6429375" y="3051353"/>
            <a:ext cx="5191125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ext-262">
            <a:extLst>
              <a:ext uri="{FF2B5EF4-FFF2-40B4-BE49-F238E27FC236}">
                <a16:creationId xmlns:a16="http://schemas.microsoft.com/office/drawing/2014/main" id="{E3DB5FD4-0385-4092-A3D1-127DE7C6B452}"/>
              </a:ext>
            </a:extLst>
          </p:cNvPr>
          <p:cNvSpPr>
            <a:spLocks noGrp="1"/>
          </p:cNvSpPr>
          <p:nvPr/>
        </p:nvSpPr>
        <p:spPr>
          <a:xfrm>
            <a:off x="6429375" y="3304642"/>
            <a:ext cx="5191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YANG DICATAT</a:t>
            </a:r>
          </a:p>
        </p:txBody>
      </p:sp>
      <p:sp>
        <p:nvSpPr>
          <p:cNvPr id="16" name="text-263">
            <a:extLst>
              <a:ext uri="{FF2B5EF4-FFF2-40B4-BE49-F238E27FC236}">
                <a16:creationId xmlns:a16="http://schemas.microsoft.com/office/drawing/2014/main" id="{0821216C-DFCC-46A2-AACB-7BB1B05809CD}"/>
              </a:ext>
            </a:extLst>
          </p:cNvPr>
          <p:cNvSpPr>
            <a:spLocks noGrp="1"/>
          </p:cNvSpPr>
          <p:nvPr/>
        </p:nvSpPr>
        <p:spPr>
          <a:xfrm>
            <a:off x="6429375" y="3676802"/>
            <a:ext cx="51911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Pilihan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ukuran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alasan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feedback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 next step.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CF21B63-AD8D-422C-90B2-758BD6479729}"/>
              </a:ext>
            </a:extLst>
          </p:cNvPr>
          <p:cNvSpPr>
            <a:spLocks noGrp="1"/>
          </p:cNvSpPr>
          <p:nvPr/>
        </p:nvSpPr>
        <p:spPr>
          <a:xfrm>
            <a:off x="6429375" y="4289450"/>
            <a:ext cx="5191125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-264">
            <a:extLst>
              <a:ext uri="{FF2B5EF4-FFF2-40B4-BE49-F238E27FC236}">
                <a16:creationId xmlns:a16="http://schemas.microsoft.com/office/drawing/2014/main" id="{7238ABF8-8380-4EE5-9A02-697A9558D794}"/>
              </a:ext>
            </a:extLst>
          </p:cNvPr>
          <p:cNvSpPr>
            <a:spLocks noGrp="1"/>
          </p:cNvSpPr>
          <p:nvPr/>
        </p:nvSpPr>
        <p:spPr>
          <a:xfrm>
            <a:off x="6429375" y="4542739"/>
            <a:ext cx="5191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LANJUT KALAU</a:t>
            </a:r>
          </a:p>
        </p:txBody>
      </p:sp>
      <p:sp>
        <p:nvSpPr>
          <p:cNvPr id="19" name="text-265">
            <a:extLst>
              <a:ext uri="{FF2B5EF4-FFF2-40B4-BE49-F238E27FC236}">
                <a16:creationId xmlns:a16="http://schemas.microsoft.com/office/drawing/2014/main" id="{A7FB62DE-757D-4355-BDDB-82B695EC2EFF}"/>
              </a:ext>
            </a:extLst>
          </p:cNvPr>
          <p:cNvSpPr>
            <a:spLocks noGrp="1"/>
          </p:cNvSpPr>
          <p:nvPr/>
        </p:nvSpPr>
        <p:spPr>
          <a:xfrm>
            <a:off x="6429375" y="4914900"/>
            <a:ext cx="51911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Spek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sudah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disepakati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dan buyer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mau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lanjut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tahap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berikutnya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16E6E7B0-4E58-463E-9A2C-C2B3DD554956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-266">
            <a:extLst>
              <a:ext uri="{FF2B5EF4-FFF2-40B4-BE49-F238E27FC236}">
                <a16:creationId xmlns:a16="http://schemas.microsoft.com/office/drawing/2014/main" id="{10345F26-1C87-4661-9A4C-910AB1B13FD8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Kalau buktinya belum cukup, perbaiki tesnya dulu sebelum menambah komitmen.</a:t>
            </a:r>
          </a:p>
        </p:txBody>
      </p:sp>
      <p:sp>
        <p:nvSpPr>
          <p:cNvPr id="22" name="text-267">
            <a:extLst>
              <a:ext uri="{FF2B5EF4-FFF2-40B4-BE49-F238E27FC236}">
                <a16:creationId xmlns:a16="http://schemas.microsoft.com/office/drawing/2014/main" id="{D4A674F2-0F38-4457-95A8-7055CDEF2485}"/>
              </a:ext>
            </a:extLst>
          </p:cNvPr>
          <p:cNvSpPr>
            <a:spLocks noGrp="1"/>
          </p:cNvSpPr>
          <p:nvPr/>
        </p:nvSpPr>
        <p:spPr>
          <a:xfrm>
            <a:off x="1920240" y="6590995"/>
            <a:ext cx="813816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Contoh rencana tes. Sumber: Modul 1 CMC dan Strategyzer.</a:t>
            </a:r>
          </a:p>
        </p:txBody>
      </p:sp>
    </p:spTree>
    <p:extLst>
      <p:ext uri="{BB962C8B-B14F-4D97-AF65-F5344CB8AC3E}">
        <p14:creationId xmlns:p14="http://schemas.microsoft.com/office/powerpoint/2010/main" val="19463799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964505-2E18-1D3B-D417-232C7A739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8" name="text-108">
            <a:extLst>
              <a:ext uri="{FF2B5EF4-FFF2-40B4-BE49-F238E27FC236}">
                <a16:creationId xmlns:a16="http://schemas.microsoft.com/office/drawing/2014/main" id="{8C770040-E4C3-2CE4-0BAA-CBB6136F29F4}"/>
              </a:ext>
            </a:extLst>
          </p:cNvPr>
          <p:cNvSpPr>
            <a:spLocks noGrp="1"/>
          </p:cNvSpPr>
          <p:nvPr/>
        </p:nvSpPr>
        <p:spPr>
          <a:xfrm>
            <a:off x="724204" y="2560320"/>
            <a:ext cx="10586008" cy="128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Tesnya sudah jalan.</a:t>
            </a:r>
          </a:p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Tapi </a:t>
            </a:r>
            <a:r>
              <a:rPr lang="id-ID" sz="3900" b="1" dirty="0" i="1" u="sng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tidak semua respons buyer sama kuatnya</a:t>
            </a: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20515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D119C7D-380A-4668-B1FC-75667A8709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268">
            <a:extLst>
              <a:ext uri="{FF2B5EF4-FFF2-40B4-BE49-F238E27FC236}">
                <a16:creationId xmlns:a16="http://schemas.microsoft.com/office/drawing/2014/main" id="{77B56204-3542-47A9-B0E9-91915EE145DD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SEBERAPA KUAT BUKTINYA</a:t>
            </a:r>
          </a:p>
        </p:txBody>
      </p:sp>
      <p:sp>
        <p:nvSpPr>
          <p:cNvPr id="5" name="text-269">
            <a:extLst>
              <a:ext uri="{FF2B5EF4-FFF2-40B4-BE49-F238E27FC236}">
                <a16:creationId xmlns:a16="http://schemas.microsoft.com/office/drawing/2014/main" id="{F19F2506-5ADE-4B99-ACD2-5560FC99EFEC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Semakin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konkret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komitmen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dari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buyer,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makin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ku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at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juga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buktinya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270">
            <a:extLst>
              <a:ext uri="{FF2B5EF4-FFF2-40B4-BE49-F238E27FC236}">
                <a16:creationId xmlns:a16="http://schemas.microsoft.com/office/drawing/2014/main" id="{3CC33D9B-AB29-434B-A7B0-98097CBF69A9}"/>
              </a:ext>
            </a:extLst>
          </p:cNvPr>
          <p:cNvSpPr>
            <a:spLocks noGrp="1"/>
          </p:cNvSpPr>
          <p:nvPr/>
        </p:nvSpPr>
        <p:spPr>
          <a:xfrm>
            <a:off x="571500" y="1307592"/>
            <a:ext cx="110490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Pujian, feedback, dan permintaan penawaran punya bobot bukti yang beda-beda.</a:t>
            </a:r>
          </a:p>
        </p:txBody>
      </p:sp>
      <p:sp>
        <p:nvSpPr>
          <p:cNvPr id="7" name="text-271">
            <a:extLst>
              <a:ext uri="{FF2B5EF4-FFF2-40B4-BE49-F238E27FC236}">
                <a16:creationId xmlns:a16="http://schemas.microsoft.com/office/drawing/2014/main" id="{889C4CAE-01BD-4051-B834-B0113FDB50AF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272">
            <a:extLst>
              <a:ext uri="{FF2B5EF4-FFF2-40B4-BE49-F238E27FC236}">
                <a16:creationId xmlns:a16="http://schemas.microsoft.com/office/drawing/2014/main" id="{AD53A0A2-B939-4CCA-BE91-FA295F0B86F5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9750998C-F586-45DC-B6E7-FA93554873B6}"/>
              </a:ext>
            </a:extLst>
          </p:cNvPr>
          <p:cNvSpPr>
            <a:spLocks noGrp="1"/>
          </p:cNvSpPr>
          <p:nvPr/>
        </p:nvSpPr>
        <p:spPr>
          <a:xfrm>
            <a:off x="571500" y="4810125"/>
            <a:ext cx="2498141" cy="0"/>
          </a:xfrm>
          <a:prstGeom prst="line">
            <a:avLst/>
          </a:prstGeom>
          <a:noFill/>
          <a:ln w="47625">
            <a:solidFill>
              <a:srgbClr val="9AB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text-273">
            <a:extLst>
              <a:ext uri="{FF2B5EF4-FFF2-40B4-BE49-F238E27FC236}">
                <a16:creationId xmlns:a16="http://schemas.microsoft.com/office/drawing/2014/main" id="{36AFE36E-F22E-4365-ACEE-8BF94E0E9B92}"/>
              </a:ext>
            </a:extLst>
          </p:cNvPr>
          <p:cNvSpPr>
            <a:spLocks noGrp="1"/>
          </p:cNvSpPr>
          <p:nvPr/>
        </p:nvSpPr>
        <p:spPr>
          <a:xfrm>
            <a:off x="571500" y="4257675"/>
            <a:ext cx="2498141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Pujian</a:t>
            </a:r>
          </a:p>
        </p:txBody>
      </p:sp>
      <p:sp>
        <p:nvSpPr>
          <p:cNvPr id="11" name="text-274">
            <a:extLst>
              <a:ext uri="{FF2B5EF4-FFF2-40B4-BE49-F238E27FC236}">
                <a16:creationId xmlns:a16="http://schemas.microsoft.com/office/drawing/2014/main" id="{297E47DD-B990-4001-BD28-DF01A113A5AF}"/>
              </a:ext>
            </a:extLst>
          </p:cNvPr>
          <p:cNvSpPr>
            <a:spLocks noGrp="1"/>
          </p:cNvSpPr>
          <p:nvPr/>
        </p:nvSpPr>
        <p:spPr>
          <a:xfrm>
            <a:off x="571500" y="5057775"/>
            <a:ext cx="2498141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“Bagus produknya.”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0565D1D2-1BB4-4B1F-8FFE-31F2787937A3}"/>
              </a:ext>
            </a:extLst>
          </p:cNvPr>
          <p:cNvSpPr>
            <a:spLocks noGrp="1"/>
          </p:cNvSpPr>
          <p:nvPr/>
        </p:nvSpPr>
        <p:spPr>
          <a:xfrm>
            <a:off x="3245663" y="4133850"/>
            <a:ext cx="0" cy="676275"/>
          </a:xfrm>
          <a:prstGeom prst="line">
            <a:avLst/>
          </a:prstGeom>
          <a:noFill/>
          <a:ln w="19050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4E7F5049-09FB-4C5C-97DE-B1B1B4084A17}"/>
              </a:ext>
            </a:extLst>
          </p:cNvPr>
          <p:cNvSpPr>
            <a:spLocks noGrp="1"/>
          </p:cNvSpPr>
          <p:nvPr/>
        </p:nvSpPr>
        <p:spPr>
          <a:xfrm>
            <a:off x="3421685" y="4133850"/>
            <a:ext cx="2498141" cy="0"/>
          </a:xfrm>
          <a:prstGeom prst="line">
            <a:avLst/>
          </a:prstGeom>
          <a:noFill/>
          <a:ln w="47625">
            <a:solidFill>
              <a:srgbClr val="9AB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-275">
            <a:extLst>
              <a:ext uri="{FF2B5EF4-FFF2-40B4-BE49-F238E27FC236}">
                <a16:creationId xmlns:a16="http://schemas.microsoft.com/office/drawing/2014/main" id="{40E406F9-1209-45FD-BF89-DA250435193D}"/>
              </a:ext>
            </a:extLst>
          </p:cNvPr>
          <p:cNvSpPr>
            <a:spLocks noGrp="1"/>
          </p:cNvSpPr>
          <p:nvPr/>
        </p:nvSpPr>
        <p:spPr>
          <a:xfrm>
            <a:off x="3421685" y="3581400"/>
            <a:ext cx="2498141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Kebutuhan jelas</a:t>
            </a:r>
          </a:p>
        </p:txBody>
      </p:sp>
      <p:sp>
        <p:nvSpPr>
          <p:cNvPr id="15" name="text-276">
            <a:extLst>
              <a:ext uri="{FF2B5EF4-FFF2-40B4-BE49-F238E27FC236}">
                <a16:creationId xmlns:a16="http://schemas.microsoft.com/office/drawing/2014/main" id="{51A60006-4AA4-431C-89E1-144289E4740E}"/>
              </a:ext>
            </a:extLst>
          </p:cNvPr>
          <p:cNvSpPr>
            <a:spLocks noGrp="1"/>
          </p:cNvSpPr>
          <p:nvPr/>
        </p:nvSpPr>
        <p:spPr>
          <a:xfrm>
            <a:off x="3421685" y="4381500"/>
            <a:ext cx="2498141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Ukuran, volume,</a:t>
            </a:r>
          </a:p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dan kegunaannya.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12AFA800-6274-4372-AC9B-1613B7D8952A}"/>
              </a:ext>
            </a:extLst>
          </p:cNvPr>
          <p:cNvSpPr>
            <a:spLocks noGrp="1"/>
          </p:cNvSpPr>
          <p:nvPr/>
        </p:nvSpPr>
        <p:spPr>
          <a:xfrm>
            <a:off x="6095848" y="3457575"/>
            <a:ext cx="0" cy="676275"/>
          </a:xfrm>
          <a:prstGeom prst="line">
            <a:avLst/>
          </a:prstGeom>
          <a:noFill/>
          <a:ln w="19050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5A7A33F8-AF0A-47A8-A276-5109DD53250A}"/>
              </a:ext>
            </a:extLst>
          </p:cNvPr>
          <p:cNvSpPr>
            <a:spLocks noGrp="1"/>
          </p:cNvSpPr>
          <p:nvPr/>
        </p:nvSpPr>
        <p:spPr>
          <a:xfrm>
            <a:off x="6271870" y="3457575"/>
            <a:ext cx="2498141" cy="0"/>
          </a:xfrm>
          <a:prstGeom prst="line">
            <a:avLst/>
          </a:prstGeom>
          <a:noFill/>
          <a:ln w="47625">
            <a:solidFill>
              <a:srgbClr val="9AB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-277">
            <a:extLst>
              <a:ext uri="{FF2B5EF4-FFF2-40B4-BE49-F238E27FC236}">
                <a16:creationId xmlns:a16="http://schemas.microsoft.com/office/drawing/2014/main" id="{701E7FA6-409B-45E4-80C7-E05D350BAAF9}"/>
              </a:ext>
            </a:extLst>
          </p:cNvPr>
          <p:cNvSpPr>
            <a:spLocks noGrp="1"/>
          </p:cNvSpPr>
          <p:nvPr/>
        </p:nvSpPr>
        <p:spPr>
          <a:xfrm>
            <a:off x="6271870" y="2905125"/>
            <a:ext cx="2498141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Feedback sampel</a:t>
            </a:r>
          </a:p>
        </p:txBody>
      </p:sp>
      <p:sp>
        <p:nvSpPr>
          <p:cNvPr id="19" name="text-278">
            <a:extLst>
              <a:ext uri="{FF2B5EF4-FFF2-40B4-BE49-F238E27FC236}">
                <a16:creationId xmlns:a16="http://schemas.microsoft.com/office/drawing/2014/main" id="{E2C3AD21-D490-49B9-B478-E041CFDF50B0}"/>
              </a:ext>
            </a:extLst>
          </p:cNvPr>
          <p:cNvSpPr>
            <a:spLocks noGrp="1"/>
          </p:cNvSpPr>
          <p:nvPr/>
        </p:nvSpPr>
        <p:spPr>
          <a:xfrm>
            <a:off x="6271870" y="3705225"/>
            <a:ext cx="2498141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Komentar spesifik</a:t>
            </a:r>
          </a:p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tentang sampel kita.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7089DC6-E643-47A8-9477-21F4F7C74063}"/>
              </a:ext>
            </a:extLst>
          </p:cNvPr>
          <p:cNvSpPr>
            <a:spLocks noGrp="1"/>
          </p:cNvSpPr>
          <p:nvPr/>
        </p:nvSpPr>
        <p:spPr>
          <a:xfrm>
            <a:off x="8946032" y="2781300"/>
            <a:ext cx="0" cy="676275"/>
          </a:xfrm>
          <a:prstGeom prst="line">
            <a:avLst/>
          </a:prstGeom>
          <a:noFill/>
          <a:ln w="19050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7EE69BF0-7FE7-484E-94E2-5FCBF656DCD8}"/>
              </a:ext>
            </a:extLst>
          </p:cNvPr>
          <p:cNvSpPr>
            <a:spLocks noGrp="1"/>
          </p:cNvSpPr>
          <p:nvPr/>
        </p:nvSpPr>
        <p:spPr>
          <a:xfrm>
            <a:off x="9122054" y="2781300"/>
            <a:ext cx="2498141" cy="0"/>
          </a:xfrm>
          <a:prstGeom prst="line">
            <a:avLst/>
          </a:prstGeom>
          <a:noFill/>
          <a:ln w="4762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text-279">
            <a:extLst>
              <a:ext uri="{FF2B5EF4-FFF2-40B4-BE49-F238E27FC236}">
                <a16:creationId xmlns:a16="http://schemas.microsoft.com/office/drawing/2014/main" id="{FA31C773-F8C4-4EEA-A0DB-DE1DB0B61DC7}"/>
              </a:ext>
            </a:extLst>
          </p:cNvPr>
          <p:cNvSpPr>
            <a:spLocks noGrp="1"/>
          </p:cNvSpPr>
          <p:nvPr/>
        </p:nvSpPr>
        <p:spPr>
          <a:xfrm>
            <a:off x="9122054" y="2228850"/>
            <a:ext cx="2498141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Langkah komersial</a:t>
            </a:r>
          </a:p>
        </p:txBody>
      </p:sp>
      <p:sp>
        <p:nvSpPr>
          <p:cNvPr id="23" name="text-280">
            <a:extLst>
              <a:ext uri="{FF2B5EF4-FFF2-40B4-BE49-F238E27FC236}">
                <a16:creationId xmlns:a16="http://schemas.microsoft.com/office/drawing/2014/main" id="{EF7FC345-FE80-4D32-9A39-F294442C37C0}"/>
              </a:ext>
            </a:extLst>
          </p:cNvPr>
          <p:cNvSpPr>
            <a:spLocks noGrp="1"/>
          </p:cNvSpPr>
          <p:nvPr/>
        </p:nvSpPr>
        <p:spPr>
          <a:xfrm>
            <a:off x="9122054" y="3028950"/>
            <a:ext cx="2498141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Minta penawaran</a:t>
            </a:r>
          </a:p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atau lanjut order.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67AF6882-7539-41A5-BDBB-8C17AAACD05A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text-281">
            <a:extLst>
              <a:ext uri="{FF2B5EF4-FFF2-40B4-BE49-F238E27FC236}">
                <a16:creationId xmlns:a16="http://schemas.microsoft.com/office/drawing/2014/main" id="{AB62CB69-338B-4803-987B-347DAC71B43E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Respons positif belum tentu jadi order. Pastikan ada next step yang jelas.</a:t>
            </a:r>
          </a:p>
        </p:txBody>
      </p:sp>
    </p:spTree>
    <p:extLst>
      <p:ext uri="{BB962C8B-B14F-4D97-AF65-F5344CB8AC3E}">
        <p14:creationId xmlns:p14="http://schemas.microsoft.com/office/powerpoint/2010/main" val="13362738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964505-2E18-1D3B-D417-232C7A739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8" name="text-108">
            <a:extLst>
              <a:ext uri="{FF2B5EF4-FFF2-40B4-BE49-F238E27FC236}">
                <a16:creationId xmlns:a16="http://schemas.microsoft.com/office/drawing/2014/main" id="{8C770040-E4C3-2CE4-0BAA-CBB6136F29F4}"/>
              </a:ext>
            </a:extLst>
          </p:cNvPr>
          <p:cNvSpPr>
            <a:spLocks noGrp="1"/>
          </p:cNvSpPr>
          <p:nvPr/>
        </p:nvSpPr>
        <p:spPr>
          <a:xfrm>
            <a:off x="724204" y="2560320"/>
            <a:ext cx="10586008" cy="128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Bukti yang kuat jadi bahan utama</a:t>
            </a:r>
          </a:p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saat kita </a:t>
            </a:r>
            <a:r>
              <a:rPr lang="id-ID" sz="3900" b="1" dirty="0" i="1" u="sng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pitch ke buyer</a:t>
            </a: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20515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0DC4C11-F46D-4792-B3BF-C81E88C8B9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297">
            <a:extLst>
              <a:ext uri="{FF2B5EF4-FFF2-40B4-BE49-F238E27FC236}">
                <a16:creationId xmlns:a16="http://schemas.microsoft.com/office/drawing/2014/main" id="{1797BD3C-0F97-4A98-9090-41C3F770FD1A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5P MODUL CMC</a:t>
            </a:r>
          </a:p>
        </p:txBody>
      </p:sp>
      <p:sp>
        <p:nvSpPr>
          <p:cNvPr id="5" name="text-298">
            <a:extLst>
              <a:ext uri="{FF2B5EF4-FFF2-40B4-BE49-F238E27FC236}">
                <a16:creationId xmlns:a16="http://schemas.microsoft.com/office/drawing/2014/main" id="{AA7D0150-E8FE-4DD1-B2DF-96921C791B04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Pitch yang kuat bicara soal kebutuhan buyer dan buktinya</a:t>
            </a:r>
          </a:p>
        </p:txBody>
      </p:sp>
      <p:sp>
        <p:nvSpPr>
          <p:cNvPr id="6" name="text-299">
            <a:extLst>
              <a:ext uri="{FF2B5EF4-FFF2-40B4-BE49-F238E27FC236}">
                <a16:creationId xmlns:a16="http://schemas.microsoft.com/office/drawing/2014/main" id="{BBBA825D-4515-473F-BAC3-AA39C5E98A0A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300">
            <a:extLst>
              <a:ext uri="{FF2B5EF4-FFF2-40B4-BE49-F238E27FC236}">
                <a16:creationId xmlns:a16="http://schemas.microsoft.com/office/drawing/2014/main" id="{6ECE0651-7341-42BC-A45A-3C8798148E66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8" name="text-301">
            <a:extLst>
              <a:ext uri="{FF2B5EF4-FFF2-40B4-BE49-F238E27FC236}">
                <a16:creationId xmlns:a16="http://schemas.microsoft.com/office/drawing/2014/main" id="{8A2C9700-DFC6-4FE6-BA82-B5B0341E1194}"/>
              </a:ext>
            </a:extLst>
          </p:cNvPr>
          <p:cNvSpPr>
            <a:spLocks noGrp="1"/>
          </p:cNvSpPr>
          <p:nvPr/>
        </p:nvSpPr>
        <p:spPr>
          <a:xfrm>
            <a:off x="571500" y="2162175"/>
            <a:ext cx="11039475" cy="1943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“Kami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bantu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buyer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dekorasi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rumah</a:t>
            </a:r>
            <a:r>
              <a:rPr lang="en-US"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yang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butuh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ukuran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khusus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.</a:t>
            </a:r>
            <a:r>
              <a:rPr lang="en-US"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Sekarang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kami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sedang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tes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dua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ukuran</a:t>
            </a:r>
            <a:r>
              <a:rPr lang="en-US"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dengan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spek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sudah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disepakati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.”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FA96A92C-78B0-4E3B-953F-4541CE188E21}"/>
              </a:ext>
            </a:extLst>
          </p:cNvPr>
          <p:cNvSpPr>
            <a:spLocks noGrp="1"/>
          </p:cNvSpPr>
          <p:nvPr/>
        </p:nvSpPr>
        <p:spPr>
          <a:xfrm>
            <a:off x="571500" y="4562475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text-302">
            <a:extLst>
              <a:ext uri="{FF2B5EF4-FFF2-40B4-BE49-F238E27FC236}">
                <a16:creationId xmlns:a16="http://schemas.microsoft.com/office/drawing/2014/main" id="{DE3170B4-7B70-4666-9C34-256A0C271673}"/>
              </a:ext>
            </a:extLst>
          </p:cNvPr>
          <p:cNvSpPr>
            <a:spLocks noGrp="1"/>
          </p:cNvSpPr>
          <p:nvPr/>
        </p:nvSpPr>
        <p:spPr>
          <a:xfrm>
            <a:off x="571500" y="4895850"/>
            <a:ext cx="2100011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PITCH</a:t>
            </a:r>
          </a:p>
        </p:txBody>
      </p:sp>
      <p:sp>
        <p:nvSpPr>
          <p:cNvPr id="11" name="text-303">
            <a:extLst>
              <a:ext uri="{FF2B5EF4-FFF2-40B4-BE49-F238E27FC236}">
                <a16:creationId xmlns:a16="http://schemas.microsoft.com/office/drawing/2014/main" id="{5010382F-34F2-4FFC-9288-161F4297B15D}"/>
              </a:ext>
            </a:extLst>
          </p:cNvPr>
          <p:cNvSpPr>
            <a:spLocks noGrp="1"/>
          </p:cNvSpPr>
          <p:nvPr/>
        </p:nvSpPr>
        <p:spPr>
          <a:xfrm>
            <a:off x="571500" y="5276850"/>
            <a:ext cx="2100011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Value yang jelas</a:t>
            </a:r>
          </a:p>
        </p:txBody>
      </p:sp>
      <p:sp>
        <p:nvSpPr>
          <p:cNvPr id="12" name="text-304">
            <a:extLst>
              <a:ext uri="{FF2B5EF4-FFF2-40B4-BE49-F238E27FC236}">
                <a16:creationId xmlns:a16="http://schemas.microsoft.com/office/drawing/2014/main" id="{3F33CE86-EE86-45D2-922A-CE9BC3D0204E}"/>
              </a:ext>
            </a:extLst>
          </p:cNvPr>
          <p:cNvSpPr>
            <a:spLocks noGrp="1"/>
          </p:cNvSpPr>
          <p:nvPr/>
        </p:nvSpPr>
        <p:spPr>
          <a:xfrm>
            <a:off x="2781239" y="4895850"/>
            <a:ext cx="2100011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PUBLISH</a:t>
            </a:r>
          </a:p>
        </p:txBody>
      </p:sp>
      <p:sp>
        <p:nvSpPr>
          <p:cNvPr id="13" name="text-305">
            <a:extLst>
              <a:ext uri="{FF2B5EF4-FFF2-40B4-BE49-F238E27FC236}">
                <a16:creationId xmlns:a16="http://schemas.microsoft.com/office/drawing/2014/main" id="{24772126-AC66-4CF1-891F-86181336A98B}"/>
              </a:ext>
            </a:extLst>
          </p:cNvPr>
          <p:cNvSpPr>
            <a:spLocks noGrp="1"/>
          </p:cNvSpPr>
          <p:nvPr/>
        </p:nvSpPr>
        <p:spPr>
          <a:xfrm>
            <a:off x="2781239" y="5276850"/>
            <a:ext cx="2100011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Progres terlihat</a:t>
            </a:r>
          </a:p>
        </p:txBody>
      </p:sp>
      <p:sp>
        <p:nvSpPr>
          <p:cNvPr id="14" name="text-306">
            <a:extLst>
              <a:ext uri="{FF2B5EF4-FFF2-40B4-BE49-F238E27FC236}">
                <a16:creationId xmlns:a16="http://schemas.microsoft.com/office/drawing/2014/main" id="{77D9781F-6FE5-464E-8F6D-EECF8F66A42B}"/>
              </a:ext>
            </a:extLst>
          </p:cNvPr>
          <p:cNvSpPr>
            <a:spLocks noGrp="1"/>
          </p:cNvSpPr>
          <p:nvPr/>
        </p:nvSpPr>
        <p:spPr>
          <a:xfrm>
            <a:off x="4990978" y="4895850"/>
            <a:ext cx="2100011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PRODUCTS</a:t>
            </a:r>
          </a:p>
        </p:txBody>
      </p:sp>
      <p:sp>
        <p:nvSpPr>
          <p:cNvPr id="15" name="text-307">
            <a:extLst>
              <a:ext uri="{FF2B5EF4-FFF2-40B4-BE49-F238E27FC236}">
                <a16:creationId xmlns:a16="http://schemas.microsoft.com/office/drawing/2014/main" id="{40307F2D-5465-41FE-87DB-8EB54E97C4BD}"/>
              </a:ext>
            </a:extLst>
          </p:cNvPr>
          <p:cNvSpPr>
            <a:spLocks noGrp="1"/>
          </p:cNvSpPr>
          <p:nvPr/>
        </p:nvSpPr>
        <p:spPr>
          <a:xfrm>
            <a:off x="4990978" y="5276850"/>
            <a:ext cx="2100011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Kualitas terbukti</a:t>
            </a:r>
          </a:p>
        </p:txBody>
      </p:sp>
      <p:sp>
        <p:nvSpPr>
          <p:cNvPr id="16" name="text-308">
            <a:extLst>
              <a:ext uri="{FF2B5EF4-FFF2-40B4-BE49-F238E27FC236}">
                <a16:creationId xmlns:a16="http://schemas.microsoft.com/office/drawing/2014/main" id="{45BCDE9E-1DAC-443A-85DB-9312499A9321}"/>
              </a:ext>
            </a:extLst>
          </p:cNvPr>
          <p:cNvSpPr>
            <a:spLocks noGrp="1"/>
          </p:cNvSpPr>
          <p:nvPr/>
        </p:nvSpPr>
        <p:spPr>
          <a:xfrm>
            <a:off x="7200717" y="4895850"/>
            <a:ext cx="2100011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PROFILE</a:t>
            </a:r>
          </a:p>
        </p:txBody>
      </p:sp>
      <p:sp>
        <p:nvSpPr>
          <p:cNvPr id="17" name="text-309">
            <a:extLst>
              <a:ext uri="{FF2B5EF4-FFF2-40B4-BE49-F238E27FC236}">
                <a16:creationId xmlns:a16="http://schemas.microsoft.com/office/drawing/2014/main" id="{CE49214F-927A-47D9-AF78-E0CDAF9BC294}"/>
              </a:ext>
            </a:extLst>
          </p:cNvPr>
          <p:cNvSpPr>
            <a:spLocks noGrp="1"/>
          </p:cNvSpPr>
          <p:nvPr/>
        </p:nvSpPr>
        <p:spPr>
          <a:xfrm>
            <a:off x="7200717" y="5276850"/>
            <a:ext cx="2100011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Klaim bisa dicek</a:t>
            </a:r>
          </a:p>
        </p:txBody>
      </p:sp>
      <p:sp>
        <p:nvSpPr>
          <p:cNvPr id="18" name="text-310">
            <a:extLst>
              <a:ext uri="{FF2B5EF4-FFF2-40B4-BE49-F238E27FC236}">
                <a16:creationId xmlns:a16="http://schemas.microsoft.com/office/drawing/2014/main" id="{7D3756AE-1EC1-4BD9-93DE-8323699632D0}"/>
              </a:ext>
            </a:extLst>
          </p:cNvPr>
          <p:cNvSpPr>
            <a:spLocks noGrp="1"/>
          </p:cNvSpPr>
          <p:nvPr/>
        </p:nvSpPr>
        <p:spPr>
          <a:xfrm>
            <a:off x="9410456" y="4895850"/>
            <a:ext cx="2100011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PARTNERSHIPS</a:t>
            </a:r>
          </a:p>
        </p:txBody>
      </p:sp>
      <p:sp>
        <p:nvSpPr>
          <p:cNvPr id="19" name="text-311">
            <a:extLst>
              <a:ext uri="{FF2B5EF4-FFF2-40B4-BE49-F238E27FC236}">
                <a16:creationId xmlns:a16="http://schemas.microsoft.com/office/drawing/2014/main" id="{CFC48726-12C1-47A5-B2A0-14812EA073A7}"/>
              </a:ext>
            </a:extLst>
          </p:cNvPr>
          <p:cNvSpPr>
            <a:spLocks noGrp="1"/>
          </p:cNvSpPr>
          <p:nvPr/>
        </p:nvSpPr>
        <p:spPr>
          <a:xfrm>
            <a:off x="9410456" y="5276850"/>
            <a:ext cx="2100011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Peran mitra jelas</a:t>
            </a:r>
          </a:p>
        </p:txBody>
      </p:sp>
      <p:sp>
        <p:nvSpPr>
          <p:cNvPr id="20" name="text-312">
            <a:extLst>
              <a:ext uri="{FF2B5EF4-FFF2-40B4-BE49-F238E27FC236}">
                <a16:creationId xmlns:a16="http://schemas.microsoft.com/office/drawing/2014/main" id="{D7358149-A9E5-49ED-A181-487374358592}"/>
              </a:ext>
            </a:extLst>
          </p:cNvPr>
          <p:cNvSpPr>
            <a:spLocks noGrp="1"/>
          </p:cNvSpPr>
          <p:nvPr/>
        </p:nvSpPr>
        <p:spPr>
          <a:xfrm>
            <a:off x="1920240" y="6590995"/>
            <a:ext cx="813816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Contoh pitch hanya ilustrasi. 5P dari Modul 1 CMC. Jangan melebih-lebihkan traction.</a:t>
            </a:r>
          </a:p>
        </p:txBody>
      </p:sp>
    </p:spTree>
    <p:extLst>
      <p:ext uri="{BB962C8B-B14F-4D97-AF65-F5344CB8AC3E}">
        <p14:creationId xmlns:p14="http://schemas.microsoft.com/office/powerpoint/2010/main" val="2440679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964505-2E18-1D3B-D417-232C7A739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8" name="text-108">
            <a:extLst>
              <a:ext uri="{FF2B5EF4-FFF2-40B4-BE49-F238E27FC236}">
                <a16:creationId xmlns:a16="http://schemas.microsoft.com/office/drawing/2014/main" id="{8C770040-E4C3-2CE4-0BAA-CBB6136F29F4}"/>
              </a:ext>
            </a:extLst>
          </p:cNvPr>
          <p:cNvSpPr>
            <a:spLocks noGrp="1"/>
          </p:cNvSpPr>
          <p:nvPr/>
        </p:nvSpPr>
        <p:spPr>
          <a:xfrm>
            <a:off x="724204" y="2560320"/>
            <a:ext cx="10586008" cy="128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Tes, bukti, pitch, lalu ulangi lagi.</a:t>
            </a:r>
          </a:p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Setiap putaran bikin kita </a:t>
            </a:r>
            <a:r>
              <a:rPr lang="id-ID" sz="3900" b="1" dirty="0" i="1" u="sng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makin ahli</a:t>
            </a: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20515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65FABC0-1B3E-45F0-AA3C-C0D6CB3E53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282">
            <a:extLst>
              <a:ext uri="{FF2B5EF4-FFF2-40B4-BE49-F238E27FC236}">
                <a16:creationId xmlns:a16="http://schemas.microsoft.com/office/drawing/2014/main" id="{93779F16-9F5B-4D67-9ABE-E0C8C6FAC585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PENGEMBANGAN FOUNDER</a:t>
            </a:r>
          </a:p>
        </p:txBody>
      </p:sp>
      <p:sp>
        <p:nvSpPr>
          <p:cNvPr id="5" name="text-283">
            <a:extLst>
              <a:ext uri="{FF2B5EF4-FFF2-40B4-BE49-F238E27FC236}">
                <a16:creationId xmlns:a16="http://schemas.microsoft.com/office/drawing/2014/main" id="{068E359B-2A69-46FF-9922-C2FB845E24B6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Pengalaman baru jadi skill kalau dievaluasi</a:t>
            </a:r>
          </a:p>
        </p:txBody>
      </p:sp>
      <p:sp>
        <p:nvSpPr>
          <p:cNvPr id="6" name="text-284">
            <a:extLst>
              <a:ext uri="{FF2B5EF4-FFF2-40B4-BE49-F238E27FC236}">
                <a16:creationId xmlns:a16="http://schemas.microsoft.com/office/drawing/2014/main" id="{4E9F0CAC-C407-4C6C-A518-A79BC705EF9A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285">
            <a:extLst>
              <a:ext uri="{FF2B5EF4-FFF2-40B4-BE49-F238E27FC236}">
                <a16:creationId xmlns:a16="http://schemas.microsoft.com/office/drawing/2014/main" id="{77393F5D-DBA2-451C-B1FD-8E0D71542520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8" name="text-286">
            <a:extLst>
              <a:ext uri="{FF2B5EF4-FFF2-40B4-BE49-F238E27FC236}">
                <a16:creationId xmlns:a16="http://schemas.microsoft.com/office/drawing/2014/main" id="{91021DD7-40E1-44BC-88DF-0DCA5D74D9A1}"/>
              </a:ext>
            </a:extLst>
          </p:cNvPr>
          <p:cNvSpPr>
            <a:spLocks noGrp="1"/>
          </p:cNvSpPr>
          <p:nvPr/>
        </p:nvSpPr>
        <p:spPr>
          <a:xfrm>
            <a:off x="571500" y="2431237"/>
            <a:ext cx="4657725" cy="1609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Ambil satu tantangan,</a:t>
            </a:r>
          </a:p>
          <a:p>
            <a:pPr>
              <a:defRPr sz="31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minta masukan,</a:t>
            </a:r>
          </a:p>
          <a:p>
            <a:pPr>
              <a:defRPr sz="31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lalu perbaiki.</a:t>
            </a:r>
          </a:p>
        </p:txBody>
      </p:sp>
      <p:sp>
        <p:nvSpPr>
          <p:cNvPr id="9" name="text-287">
            <a:extLst>
              <a:ext uri="{FF2B5EF4-FFF2-40B4-BE49-F238E27FC236}">
                <a16:creationId xmlns:a16="http://schemas.microsoft.com/office/drawing/2014/main" id="{E3B5752E-CAD4-4405-B163-0097A1800100}"/>
              </a:ext>
            </a:extLst>
          </p:cNvPr>
          <p:cNvSpPr>
            <a:spLocks noGrp="1"/>
          </p:cNvSpPr>
          <p:nvPr/>
        </p:nvSpPr>
        <p:spPr>
          <a:xfrm>
            <a:off x="571500" y="4526737"/>
            <a:ext cx="452437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Ulangi terus sampai</a:t>
            </a:r>
          </a:p>
          <a:p>
            <a:pPr>
              <a:defRPr sz="23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hasilnya makin baik.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E63228AF-EA8F-4C2F-A77B-8485742427A6}"/>
              </a:ext>
            </a:extLst>
          </p:cNvPr>
          <p:cNvSpPr>
            <a:spLocks noGrp="1"/>
          </p:cNvSpPr>
          <p:nvPr/>
        </p:nvSpPr>
        <p:spPr>
          <a:xfrm>
            <a:off x="6238875" y="2306612"/>
            <a:ext cx="0" cy="2714625"/>
          </a:xfrm>
          <a:prstGeom prst="line">
            <a:avLst/>
          </a:prstGeom>
          <a:noFill/>
          <a:ln w="28575">
            <a:solidFill>
              <a:srgbClr val="9AB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6E85F4F-B762-407A-96BD-AECD9C142C5F}"/>
              </a:ext>
            </a:extLst>
          </p:cNvPr>
          <p:cNvSpPr>
            <a:spLocks noGrp="1"/>
          </p:cNvSpPr>
          <p:nvPr/>
        </p:nvSpPr>
        <p:spPr>
          <a:xfrm>
            <a:off x="6153150" y="2220887"/>
            <a:ext cx="171450" cy="1714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-288">
            <a:extLst>
              <a:ext uri="{FF2B5EF4-FFF2-40B4-BE49-F238E27FC236}">
                <a16:creationId xmlns:a16="http://schemas.microsoft.com/office/drawing/2014/main" id="{407D9D39-55E8-4997-8400-A0E1880F7AA3}"/>
              </a:ext>
            </a:extLst>
          </p:cNvPr>
          <p:cNvSpPr>
            <a:spLocks noGrp="1"/>
          </p:cNvSpPr>
          <p:nvPr/>
        </p:nvSpPr>
        <p:spPr>
          <a:xfrm>
            <a:off x="6762750" y="2143125"/>
            <a:ext cx="4857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Challenge</a:t>
            </a:r>
          </a:p>
        </p:txBody>
      </p:sp>
      <p:sp>
        <p:nvSpPr>
          <p:cNvPr id="13" name="text-289">
            <a:extLst>
              <a:ext uri="{FF2B5EF4-FFF2-40B4-BE49-F238E27FC236}">
                <a16:creationId xmlns:a16="http://schemas.microsoft.com/office/drawing/2014/main" id="{6FE8FE3C-D567-4D9B-AC1C-D9542D4D144F}"/>
              </a:ext>
            </a:extLst>
          </p:cNvPr>
          <p:cNvSpPr>
            <a:spLocks noGrp="1"/>
          </p:cNvSpPr>
          <p:nvPr/>
        </p:nvSpPr>
        <p:spPr>
          <a:xfrm>
            <a:off x="6762750" y="2552700"/>
            <a:ext cx="4857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Pilih masalah yang paling relevan.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ACADA85-3D3A-4B73-8337-7B764305AB3E}"/>
              </a:ext>
            </a:extLst>
          </p:cNvPr>
          <p:cNvSpPr>
            <a:spLocks noGrp="1"/>
          </p:cNvSpPr>
          <p:nvPr/>
        </p:nvSpPr>
        <p:spPr>
          <a:xfrm>
            <a:off x="6153150" y="3125762"/>
            <a:ext cx="171450" cy="1714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ext-290">
            <a:extLst>
              <a:ext uri="{FF2B5EF4-FFF2-40B4-BE49-F238E27FC236}">
                <a16:creationId xmlns:a16="http://schemas.microsoft.com/office/drawing/2014/main" id="{473449BE-5CB3-41F5-8B38-1814757F6D6B}"/>
              </a:ext>
            </a:extLst>
          </p:cNvPr>
          <p:cNvSpPr>
            <a:spLocks noGrp="1"/>
          </p:cNvSpPr>
          <p:nvPr/>
        </p:nvSpPr>
        <p:spPr>
          <a:xfrm>
            <a:off x="6762750" y="3048000"/>
            <a:ext cx="4857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Coaching</a:t>
            </a:r>
          </a:p>
        </p:txBody>
      </p:sp>
      <p:sp>
        <p:nvSpPr>
          <p:cNvPr id="16" name="text-291">
            <a:extLst>
              <a:ext uri="{FF2B5EF4-FFF2-40B4-BE49-F238E27FC236}">
                <a16:creationId xmlns:a16="http://schemas.microsoft.com/office/drawing/2014/main" id="{C385D474-5131-43D1-B358-1BD2FF03E855}"/>
              </a:ext>
            </a:extLst>
          </p:cNvPr>
          <p:cNvSpPr>
            <a:spLocks noGrp="1"/>
          </p:cNvSpPr>
          <p:nvPr/>
        </p:nvSpPr>
        <p:spPr>
          <a:xfrm>
            <a:off x="6762750" y="3457575"/>
            <a:ext cx="4857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Minta masukan dari orang yang tepat.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CA55017-CD9A-4518-AEA2-119D505F041C}"/>
              </a:ext>
            </a:extLst>
          </p:cNvPr>
          <p:cNvSpPr>
            <a:spLocks noGrp="1"/>
          </p:cNvSpPr>
          <p:nvPr/>
        </p:nvSpPr>
        <p:spPr>
          <a:xfrm>
            <a:off x="6153150" y="4030637"/>
            <a:ext cx="171450" cy="1714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-292">
            <a:extLst>
              <a:ext uri="{FF2B5EF4-FFF2-40B4-BE49-F238E27FC236}">
                <a16:creationId xmlns:a16="http://schemas.microsoft.com/office/drawing/2014/main" id="{67E07C87-EAB7-47C7-8168-475F8850DB68}"/>
              </a:ext>
            </a:extLst>
          </p:cNvPr>
          <p:cNvSpPr>
            <a:spLocks noGrp="1"/>
          </p:cNvSpPr>
          <p:nvPr/>
        </p:nvSpPr>
        <p:spPr>
          <a:xfrm>
            <a:off x="6762750" y="3952875"/>
            <a:ext cx="4857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Progress</a:t>
            </a:r>
          </a:p>
        </p:txBody>
      </p:sp>
      <p:sp>
        <p:nvSpPr>
          <p:cNvPr id="19" name="text-293">
            <a:extLst>
              <a:ext uri="{FF2B5EF4-FFF2-40B4-BE49-F238E27FC236}">
                <a16:creationId xmlns:a16="http://schemas.microsoft.com/office/drawing/2014/main" id="{43A7E553-1A09-4E4A-9205-512BD7EF8E73}"/>
              </a:ext>
            </a:extLst>
          </p:cNvPr>
          <p:cNvSpPr>
            <a:spLocks noGrp="1"/>
          </p:cNvSpPr>
          <p:nvPr/>
        </p:nvSpPr>
        <p:spPr>
          <a:xfrm>
            <a:off x="6762750" y="4362450"/>
            <a:ext cx="4857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Catat apa yang berubah dan hasilnya.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4EB486B-6D8D-4113-8C74-E4DE03567210}"/>
              </a:ext>
            </a:extLst>
          </p:cNvPr>
          <p:cNvSpPr>
            <a:spLocks noGrp="1"/>
          </p:cNvSpPr>
          <p:nvPr/>
        </p:nvSpPr>
        <p:spPr>
          <a:xfrm>
            <a:off x="6153150" y="4935512"/>
            <a:ext cx="171450" cy="1714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-294">
            <a:extLst>
              <a:ext uri="{FF2B5EF4-FFF2-40B4-BE49-F238E27FC236}">
                <a16:creationId xmlns:a16="http://schemas.microsoft.com/office/drawing/2014/main" id="{0104C913-B0DD-4C98-BD21-017B6903082F}"/>
              </a:ext>
            </a:extLst>
          </p:cNvPr>
          <p:cNvSpPr>
            <a:spLocks noGrp="1"/>
          </p:cNvSpPr>
          <p:nvPr/>
        </p:nvSpPr>
        <p:spPr>
          <a:xfrm>
            <a:off x="6762750" y="4857750"/>
            <a:ext cx="4857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Perseverance</a:t>
            </a:r>
          </a:p>
        </p:txBody>
      </p:sp>
      <p:sp>
        <p:nvSpPr>
          <p:cNvPr id="22" name="text-295">
            <a:extLst>
              <a:ext uri="{FF2B5EF4-FFF2-40B4-BE49-F238E27FC236}">
                <a16:creationId xmlns:a16="http://schemas.microsoft.com/office/drawing/2014/main" id="{79C072B3-B6D9-458E-A0DA-456CCB1D28BC}"/>
              </a:ext>
            </a:extLst>
          </p:cNvPr>
          <p:cNvSpPr>
            <a:spLocks noGrp="1"/>
          </p:cNvSpPr>
          <p:nvPr/>
        </p:nvSpPr>
        <p:spPr>
          <a:xfrm>
            <a:off x="6762750" y="5267325"/>
            <a:ext cx="4857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Konsisten, jangan berhenti di tengah.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2AA32E95-CEF5-4C75-AD22-4F807F56FC8D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text-296">
            <a:extLst>
              <a:ext uri="{FF2B5EF4-FFF2-40B4-BE49-F238E27FC236}">
                <a16:creationId xmlns:a16="http://schemas.microsoft.com/office/drawing/2014/main" id="{AFDA880D-D23A-4367-BF1A-BEB9B9DCB2E4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Gigih saja tidak cukup. Feedback-nya juga harus dipakai untuk mengubah cara kerja.</a:t>
            </a:r>
          </a:p>
        </p:txBody>
      </p:sp>
    </p:spTree>
    <p:extLst>
      <p:ext uri="{BB962C8B-B14F-4D97-AF65-F5344CB8AC3E}">
        <p14:creationId xmlns:p14="http://schemas.microsoft.com/office/powerpoint/2010/main" val="18788097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964505-2E18-1D3B-D417-232C7A739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8" name="text-108">
            <a:extLst>
              <a:ext uri="{FF2B5EF4-FFF2-40B4-BE49-F238E27FC236}">
                <a16:creationId xmlns:a16="http://schemas.microsoft.com/office/drawing/2014/main" id="{8C770040-E4C3-2CE4-0BAA-CBB6136F29F4}"/>
              </a:ext>
            </a:extLst>
          </p:cNvPr>
          <p:cNvSpPr>
            <a:spLocks noGrp="1"/>
          </p:cNvSpPr>
          <p:nvPr/>
        </p:nvSpPr>
        <p:spPr>
          <a:xfrm>
            <a:off x="724204" y="2560320"/>
            <a:ext cx="10586008" cy="12801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Kembali ke pertanyaan di awal sesi:</a:t>
            </a:r>
          </a:p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id-ID" sz="3900" b="1" dirty="0" i="1" u="sng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kamu ambil order itu atau tidak?</a:t>
            </a:r>
          </a:p>
        </p:txBody>
      </p:sp>
    </p:spTree>
    <p:extLst>
      <p:ext uri="{BB962C8B-B14F-4D97-AF65-F5344CB8AC3E}">
        <p14:creationId xmlns:p14="http://schemas.microsoft.com/office/powerpoint/2010/main" val="8720515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3" name="text-328">
            <a:extLst>
              <a:ext uri="{FF2B5EF4-FFF2-40B4-BE49-F238E27FC236}">
                <a16:creationId xmlns:a16="http://schemas.microsoft.com/office/drawing/2014/main" id="{4474AD1F-227D-4DA7-BC99-5B424ED7CB63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PENUTUP</a:t>
            </a:r>
          </a:p>
        </p:txBody>
      </p:sp>
      <p:sp>
        <p:nvSpPr>
          <p:cNvPr id="4" name="text-329">
            <a:extLst>
              <a:ext uri="{FF2B5EF4-FFF2-40B4-BE49-F238E27FC236}">
                <a16:creationId xmlns:a16="http://schemas.microsoft.com/office/drawing/2014/main" id="{9E8D328B-9E43-4891-8FEE-0C9B18821C42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Jadi, </a:t>
            </a:r>
            <a:r>
              <a:rPr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kapan</a:t>
            </a:r>
            <a:r>
              <a:rPr lang="en-US"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harus</a:t>
            </a:r>
            <a:r>
              <a:rPr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maju</a:t>
            </a:r>
            <a:r>
              <a:rPr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melakukan</a:t>
            </a:r>
            <a:r>
              <a:rPr lang="en-US"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nego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siasi</a:t>
            </a:r>
            <a:r>
              <a:rPr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atau</a:t>
            </a:r>
            <a:r>
              <a:rPr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men</a:t>
            </a:r>
            <a:r>
              <a:rPr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unda</a:t>
            </a:r>
            <a:r>
              <a:rPr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5" name="text-330">
            <a:extLst>
              <a:ext uri="{FF2B5EF4-FFF2-40B4-BE49-F238E27FC236}">
                <a16:creationId xmlns:a16="http://schemas.microsoft.com/office/drawing/2014/main" id="{28300A45-0AFA-4AAD-98F3-5FED61566400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6" name="text-331">
            <a:extLst>
              <a:ext uri="{FF2B5EF4-FFF2-40B4-BE49-F238E27FC236}">
                <a16:creationId xmlns:a16="http://schemas.microsoft.com/office/drawing/2014/main" id="{4005D8A1-6C7C-4E65-82D6-D66CF6E0258E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7" name="text-332">
            <a:extLst>
              <a:ext uri="{FF2B5EF4-FFF2-40B4-BE49-F238E27FC236}">
                <a16:creationId xmlns:a16="http://schemas.microsoft.com/office/drawing/2014/main" id="{F47948C9-5528-46D5-92B0-3EEEB01C4147}"/>
              </a:ext>
            </a:extLst>
          </p:cNvPr>
          <p:cNvSpPr>
            <a:spLocks noGrp="1"/>
          </p:cNvSpPr>
          <p:nvPr/>
        </p:nvSpPr>
        <p:spPr>
          <a:xfrm>
            <a:off x="571500" y="2219325"/>
            <a:ext cx="10906125" cy="1857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Maju</a:t>
            </a:r>
            <a:r>
              <a:rPr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kalau</a:t>
            </a:r>
            <a:r>
              <a:rPr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peluangnya</a:t>
            </a:r>
            <a:r>
              <a:rPr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jelas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terbukti</a:t>
            </a:r>
            <a:r>
              <a:rPr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sanggup</a:t>
            </a:r>
            <a:r>
              <a:rPr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deliver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apa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yang buyer </a:t>
            </a:r>
            <a:r>
              <a:rPr lang="en-US"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butuhkan</a:t>
            </a:r>
            <a:r>
              <a:rPr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</a:t>
            </a:r>
            <a:r>
              <a:rPr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 </a:t>
            </a:r>
            <a:r>
              <a:rPr lang="en-US"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risiko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terukur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yang </a:t>
            </a:r>
            <a:r>
              <a:rPr lang="en-US"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masih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bisa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tanggung</a:t>
            </a:r>
            <a:endParaRPr sz="36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-333">
            <a:extLst>
              <a:ext uri="{FF2B5EF4-FFF2-40B4-BE49-F238E27FC236}">
                <a16:creationId xmlns:a16="http://schemas.microsoft.com/office/drawing/2014/main" id="{66835267-22B9-4FE4-A4D2-0CC3642800BA}"/>
              </a:ext>
            </a:extLst>
          </p:cNvPr>
          <p:cNvSpPr>
            <a:spLocks noGrp="1"/>
          </p:cNvSpPr>
          <p:nvPr/>
        </p:nvSpPr>
        <p:spPr>
          <a:xfrm>
            <a:off x="571500" y="4838700"/>
            <a:ext cx="9677095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25" b="0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2325" b="0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Sebelum</a:t>
            </a:r>
            <a:r>
              <a:rPr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commit, </a:t>
            </a:r>
            <a:r>
              <a:rPr sz="2325" b="0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cek</a:t>
            </a:r>
            <a:r>
              <a:rPr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325" b="0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lagi</a:t>
            </a:r>
            <a:r>
              <a:rPr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325" b="0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kebutuhan</a:t>
            </a:r>
            <a:r>
              <a:rPr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buyer,</a:t>
            </a:r>
            <a:r>
              <a:rPr lang="en-US"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325" b="0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kesiapan</a:t>
            </a:r>
            <a:r>
              <a:rPr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325" b="0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tim</a:t>
            </a:r>
            <a:r>
              <a:rPr lang="en-US" sz="2325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325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kapasitas</a:t>
            </a:r>
            <a:r>
              <a:rPr lang="en-US" sz="2325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325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lang="en-US" sz="2325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325" b="0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, dan </a:t>
            </a:r>
            <a:r>
              <a:rPr sz="2325" b="0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hasil</a:t>
            </a:r>
            <a:r>
              <a:rPr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feedback </a:t>
            </a:r>
            <a:r>
              <a:rPr lang="en-US" sz="2325" b="0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dari</a:t>
            </a:r>
            <a:r>
              <a:rPr lang="en-US"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buyer</a:t>
            </a:r>
            <a:r>
              <a:rPr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56417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2892</Words>
  <Application>Microsoft Macintosh PowerPoint</Application>
  <DocSecurity>0</DocSecurity>
  <PresentationFormat>Widescreen</PresentationFormat>
  <Paragraphs>401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Microsoft Office User</cp:lastModifiedBy>
  <cp:revision>3</cp:revision>
  <dcterms:created xsi:type="dcterms:W3CDTF">2026-10-06T14:12:18Z</dcterms:created>
  <dcterms:modified xsi:type="dcterms:W3CDTF">2026-10-06T17:28:25Z</dcterms:modified>
</cp:coreProperties>
</file>