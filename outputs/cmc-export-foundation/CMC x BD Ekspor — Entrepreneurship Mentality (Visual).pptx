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f4784b8ba024645" /><Relationship Type="http://schemas.openxmlformats.org/officeDocument/2006/relationships/extended-properties" Target="/docProps/app.xml" Id="Ra7e31619214c44ac" /><Relationship Type="http://schemas.openxmlformats.org/officeDocument/2006/relationships/officeDocument" Target="/ppt/presentation.xml" Id="R4ac9cd63c767483b" /></Relationships>
</file>

<file path=ppt/presentation.xml><?xml version="1.0" encoding="utf-8"?>
<p:presentation xmlns:p="http://schemas.openxmlformats.org/presentationml/2006/main">
  <p:sldMasterIdLst>
    <p:sldMasterId xmlns:r="http://schemas.openxmlformats.org/officeDocument/2006/relationships" id="2147483648" r:id="R057abb92db754d04"/>
  </p:sldMasterIdLst>
  <p:notesMasterIdLst>
    <p:notesMasterId xmlns:r="http://schemas.openxmlformats.org/officeDocument/2006/relationships" r:id="Ra4a81551c9644c3b"/>
  </p:notesMasterIdLst>
  <p:sldIdLst>
    <p:sldId xmlns:r="http://schemas.openxmlformats.org/officeDocument/2006/relationships" id="256" r:id="R6fc346f13f3246a8"/>
    <p:sldId xmlns:r="http://schemas.openxmlformats.org/officeDocument/2006/relationships" id="257" r:id="Rd87f55880d634379"/>
    <p:sldId xmlns:r="http://schemas.openxmlformats.org/officeDocument/2006/relationships" id="258" r:id="R9daeb211da0a4200"/>
    <p:sldId xmlns:r="http://schemas.openxmlformats.org/officeDocument/2006/relationships" id="259" r:id="R52a0800447f04cc8"/>
    <p:sldId xmlns:r="http://schemas.openxmlformats.org/officeDocument/2006/relationships" id="260" r:id="R8859c5cb0a6c4363"/>
    <p:sldId xmlns:r="http://schemas.openxmlformats.org/officeDocument/2006/relationships" id="261" r:id="Re39d0ec4dabf4cef"/>
    <p:sldId xmlns:r="http://schemas.openxmlformats.org/officeDocument/2006/relationships" id="262" r:id="R9fd5b74a1a644955"/>
    <p:sldId xmlns:r="http://schemas.openxmlformats.org/officeDocument/2006/relationships" id="263" r:id="R8d6950a9288544ea"/>
    <p:sldId xmlns:r="http://schemas.openxmlformats.org/officeDocument/2006/relationships" id="264" r:id="Rbbe69551f6a247a0"/>
    <p:sldId xmlns:r="http://schemas.openxmlformats.org/officeDocument/2006/relationships" id="265" r:id="Radd2a446b92544d7"/>
    <p:sldId xmlns:r="http://schemas.openxmlformats.org/officeDocument/2006/relationships" id="266" r:id="R9ff942bdbeee4fc0"/>
    <p:sldId xmlns:r="http://schemas.openxmlformats.org/officeDocument/2006/relationships" id="267" r:id="R3e98899a411a4a4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14f4eeb8864b6c" /><Relationship Type="http://schemas.openxmlformats.org/officeDocument/2006/relationships/slideMaster" Target="/ppt/slideMasters/slideMaster1.xml" Id="R057abb92db754d04" /><Relationship Type="http://schemas.openxmlformats.org/officeDocument/2006/relationships/notesMaster" Target="/ppt/notesMasters/notesMaster1.xml" Id="Ra4a81551c9644c3b" /><Relationship Type="http://schemas.openxmlformats.org/officeDocument/2006/relationships/presProps" Target="/ppt/presProps.xml" Id="Rcb9638cbbb724d54" /><Relationship Type="http://schemas.openxmlformats.org/officeDocument/2006/relationships/tableStyles" Target="/ppt/tableStyles.xml" Id="Ra164fa179a744e8a" /><Relationship Type="http://schemas.openxmlformats.org/officeDocument/2006/relationships/slide" Target="/ppt/slides/slide1.xml" Id="R6fc346f13f3246a8" /><Relationship Type="http://schemas.openxmlformats.org/officeDocument/2006/relationships/slide" Target="/ppt/slides/slide2.xml" Id="Rd87f55880d634379" /><Relationship Type="http://schemas.openxmlformats.org/officeDocument/2006/relationships/slide" Target="/ppt/slides/slide3.xml" Id="R9daeb211da0a4200" /><Relationship Type="http://schemas.openxmlformats.org/officeDocument/2006/relationships/slide" Target="/ppt/slides/slide4.xml" Id="R52a0800447f04cc8" /><Relationship Type="http://schemas.openxmlformats.org/officeDocument/2006/relationships/slide" Target="/ppt/slides/slide5.xml" Id="R8859c5cb0a6c4363" /><Relationship Type="http://schemas.openxmlformats.org/officeDocument/2006/relationships/slide" Target="/ppt/slides/slide6.xml" Id="Re39d0ec4dabf4cef" /><Relationship Type="http://schemas.openxmlformats.org/officeDocument/2006/relationships/slide" Target="/ppt/slides/slide7.xml" Id="R9fd5b74a1a644955" /><Relationship Type="http://schemas.openxmlformats.org/officeDocument/2006/relationships/slide" Target="/ppt/slides/slide8.xml" Id="R8d6950a9288544ea" /><Relationship Type="http://schemas.openxmlformats.org/officeDocument/2006/relationships/slide" Target="/ppt/slides/slide9.xml" Id="Rbbe69551f6a247a0" /><Relationship Type="http://schemas.openxmlformats.org/officeDocument/2006/relationships/slide" Target="/ppt/slides/slide10.xml" Id="Radd2a446b92544d7" /><Relationship Type="http://schemas.openxmlformats.org/officeDocument/2006/relationships/slide" Target="/ppt/slides/slide11.xml" Id="R9ff942bdbeee4fc0" /><Relationship Type="http://schemas.openxmlformats.org/officeDocument/2006/relationships/slide" Target="/ppt/slides/slide12.xml" Id="R3e98899a411a4a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2eec4cb65e44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b01e711e8a4403" /><Relationship Type="http://schemas.openxmlformats.org/officeDocument/2006/relationships/notesMaster" Target="/ppt/notesMasters/notesMaster1.xml" Id="R206690a416de4fe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b0590dbb7548d0" /><Relationship Type="http://schemas.openxmlformats.org/officeDocument/2006/relationships/notesMaster" Target="/ppt/notesMasters/notesMaster1.xml" Id="R69d1e4bdd4074d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7155842ee34b53" /><Relationship Type="http://schemas.openxmlformats.org/officeDocument/2006/relationships/notesMaster" Target="/ppt/notesMasters/notesMaster1.xml" Id="Rd29353d4dddb41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97cb17041e4aca" /><Relationship Type="http://schemas.openxmlformats.org/officeDocument/2006/relationships/notesMaster" Target="/ppt/notesMasters/notesMaster1.xml" Id="R33c75255b1254abc"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dfa79942fc451a" /><Relationship Type="http://schemas.openxmlformats.org/officeDocument/2006/relationships/notesMaster" Target="/ppt/notesMasters/notesMaster1.xml" Id="R0963705ff2ab49f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02d3b9af7c046cb" /><Relationship Type="http://schemas.openxmlformats.org/officeDocument/2006/relationships/notesMaster" Target="/ppt/notesMasters/notesMaster1.xml" Id="Rc89ded2d2f674a73"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3c01fd3ec743d6" /><Relationship Type="http://schemas.openxmlformats.org/officeDocument/2006/relationships/notesMaster" Target="/ppt/notesMasters/notesMaster1.xml" Id="R2a6d122699d645a7" /></Relationships>
</file>

<file path=ppt/notesSlides/_rels/notesSlide8.xml.rels>&#65279;<?xml version="1.0" encoding="utf-8"?><Relationships xmlns="http://schemas.openxmlformats.org/package/2006/relationships"><Relationship Type="http://schemas.openxmlformats.org/officeDocument/2006/relationships/slide" Target="/ppt/slides/slide8.xml" Id="Ra5a1ba0eea6c4343" /><Relationship Type="http://schemas.openxmlformats.org/officeDocument/2006/relationships/notesMaster" Target="/ppt/notesMasters/notesMaster1.xml" Id="Rd8e8ad9c3eaf48c9" /></Relationships>
</file>

<file path=ppt/notesSlides/_rels/notesSlide9.xml.rels>&#65279;<?xml version="1.0" encoding="utf-8"?><Relationships xmlns="http://schemas.openxmlformats.org/package/2006/relationships"><Relationship Type="http://schemas.openxmlformats.org/officeDocument/2006/relationships/slide" Target="/ppt/slides/slide9.xml" Id="Rc6ff5ce57bf049ba" /><Relationship Type="http://schemas.openxmlformats.org/officeDocument/2006/relationships/notesMaster" Target="/ppt/notesMasters/notesMaster1.xml" Id="R49a33c41697f419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bc19177aab7429d" /><Relationship Type="http://schemas.openxmlformats.org/officeDocument/2006/relationships/notesMaster" Target="/ppt/notesMasters/notesMaster1.xml" Id="R5600352a58624dd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2ace44ea34843fc" /><Relationship Type="http://schemas.openxmlformats.org/officeDocument/2006/relationships/notesMaster" Target="/ppt/notesMasters/notesMaster1.xml" Id="Ra5f3688262ed438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bfd4a1114ae4ac5" /><Relationship Type="http://schemas.openxmlformats.org/officeDocument/2006/relationships/notesMaster" Target="/ppt/notesMasters/notesMaster1.xml" Id="Rc4b66d810671439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1 menit.</a:t>
            </a:r>
          </a:p>
          <a:p xmlns:a="http://schemas.openxmlformats.org/drawingml/2006/main">
            <a:r>
              <a:t/>
            </a:r>
          </a:p>
          <a:p xmlns:a="http://schemas.openxmlformats.org/drawingml/2006/main">
            <a:r>
              <a:t>Buka dengan pengalaman sederhana: banyak orang ingin ekspor ketika mendengar ada buyer. Sesi ini membantu peserta memutuskan peluang mana yang layak dikejar dan apa yang perlu diuji lebih dulu. Audiens campuran calon eksportir dan pelaku usaha. Total alokasi materi 34 menit; tambah 5–10 menit Q&amp;A. Untuk slot 30 menit, pendekkan diskusi slide 2 dan 11 serta gunakan pertanyaan sisanya sebagai refleksi mandiri.</a:t>
            </a:r>
          </a:p>
          <a:p xmlns:a="http://schemas.openxmlformats.org/drawingml/2006/main">
            <a:r>
              <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
            </a:r>
          </a:p>
          <a:p xmlns:a="http://schemas.openxmlformats.org/drawingml/2006/main">
            <a:r>
              <a:t>Sumber web diakses 6 Oktober 2026. Contoh usaha dekorasi rumah dan seluruh angka kasus adalah ilustrasi pembelajaran, bukan data perusahaan atau benchmark ekspor.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2 menit.</a:t>
            </a:r>
          </a:p>
          <a:p xmlns:a="http://schemas.openxmlformats.org/drawingml/2006/main">
            <a:r>
              <a:t>Minta peserta angkat tangan: langsung terima, cari detail dulu, atau tolak? Ambil satu jawaban singkat. Perkenalkan usaha dekorasi rumah sebagai kasus fiktif yang akan muncul lagi. Tidak perlu menentukan negara tujuan karena sesi membahas pola pikir; standar dan persyaratan teknis harus dicek untuk produk serta pasar tertentu. Business acumen pada modul berarti memahami situasi dan mengambil keputusan bisnis berdasarkan informasi. Jangan menyamakan inquiry dengan pesanan pasti.</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https://www.trade.gov/exporter-assessments-0</a:t>
            </a:r>
          </a:p>
          <a:p xmlns:a="http://schemas.openxmlformats.org/drawingml/2006/main">
            <a:r>
              <a:t>https://www.kemendag.go.id/index.php/berita/pojok-media/umkm-bisa-ekspor-catat-transaksi-rp404-miliar-pada-triwulan-i-2026</a:t>
            </a:r>
          </a:p>
          <a:p xmlns:a="http://schemas.openxmlformats.org/drawingml/2006/main">
            <a:r>
              <a:t>Sumber web diakses 6 Oktober 2026. Contoh usaha dekorasi rumah dan seluruh angka kasus adalah ilustrasi pembelajaran, bukan data perusahaan atau benchmark ekspor.</a:t>
            </a:r>
          </a:p>
          <a:p xmlns:a="http://schemas.openxmlformats.org/drawingml/2006/main">
            <a:r>
              <a:t/>
            </a:r>
          </a:p>
          <a:p xmlns:a="http://schemas.openxmlformats.org/drawingml/2006/main">
            <a:r>
              <a:t>Visual: ilustrasi fiktif dibuat dengan ImageGen. Bukan dokumentasi perusahaan atau pelaku usaha tertentu.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3 menit.</a:t>
            </a:r>
          </a:p>
          <a:p xmlns:a="http://schemas.openxmlformats.org/drawingml/2006/main">
            <a:r>
              <a:t/>
            </a:r>
          </a:p>
          <a:p xmlns:a="http://schemas.openxmlformats.org/drawingml/2006/main">
            <a:r>
              <a:t>Adaptasi Golden Circle dari Modul PPT halaman 20–21. Ini alat refleksi tujuan, bukan janji bahwa cerita Why otomatis membuat buyer membeli. Gunakan contoh: kita ingin mengembangkan pesanan berulang untuk pengrajin; cara mewujudkannya melalui mutu dan komunikasi yang dapat dipercaya; produknya dekorasi rumah. Tanyakan: selain menambah omzet, apa alasan ekspor penting bagi bisnis Anda? Tujuan ini membantu menentukan trade-off, misalnya menolak volume yang melampaui kemampuan.</a:t>
            </a:r>
          </a:p>
          <a:p xmlns:a="http://schemas.openxmlformats.org/drawingml/2006/main">
            <a:r>
              <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https://www.trade.gov/develop-export-plan</a:t>
            </a:r>
          </a:p>
          <a:p xmlns:a="http://schemas.openxmlformats.org/drawingml/2006/main">
            <a:r>
              <a:t>Sumber web diakses 6 Oktober 2026. Contoh usaha dekorasi rumah dan seluruh angka kasus adalah ilustrasi pembelajaran, bukan data perusahaan atau benchmark ekspor.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3 menit.</a:t>
            </a:r>
          </a:p>
          <a:p xmlns:a="http://schemas.openxmlformats.org/drawingml/2006/main">
            <a:r>
              <a:t>Konsep sweet spot berasal dari Modul PPT halaman 17: passion, talent, profit. Tiga pertanyaan di slide adalah adaptasi bisnis ekspor, bukan definisi asli Ikigai. Tambahkan kebutuhan pasar supaya fokus tidak berhenti pada apa yang disukai founder. Dalam kasus dekorasi, tanyakan ukuran, fungsi, finishing, volume dan kemasan yang dibutuhkan buyer. Kemampuan memenuhi permintaan perlu diuji. Perhitungan biaya mengikuti tanggung jawab transaksi yang disepakati; tidak semua biaya otomatis menjadi beban eksportir.</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https://www.trade.gov/exporter-assessments-0</a:t>
            </a:r>
          </a:p>
          <a:p xmlns:a="http://schemas.openxmlformats.org/drawingml/2006/main">
            <a:r>
              <a:t>https://www.trade.gov/develop-export-plan</a:t>
            </a:r>
          </a:p>
          <a:p xmlns:a="http://schemas.openxmlformats.org/drawingml/2006/main">
            <a:r>
              <a:t>Sumber web diakses 6 Oktober 2026. Contoh usaha dekorasi rumah dan seluruh angka kasus adalah ilustrasi pembelajaran, bukan data perusahaan atau benchmark ekspor.</a:t>
            </a:r>
          </a:p>
          <a:p xmlns:a="http://schemas.openxmlformats.org/drawingml/2006/main">
            <a:r>
              <a:t/>
            </a:r>
          </a:p>
          <a:p xmlns:a="http://schemas.openxmlformats.org/drawingml/2006/main">
            <a:r>
              <a:t>Diagram tiga lingkaran adalah framework adaptasi untuk pembelajaran. Ukuran dan irisan lingkaran tidak menyatakan data kuantitatif.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3 menit.</a:t>
            </a:r>
          </a:p>
          <a:p xmlns:a="http://schemas.openxmlformats.org/drawingml/2006/main">
            <a:r>
              <a:t>Sumber konsep: fixed vs growth mindset, Modul PPT halaman 12. Dialog adalah ilustrasi, bukan kutipan buyer nyata. Perubahan satu sampel tidak selalu berarti seluruh produk harus berubah. Bedakan masukan satu buyer dan pola yang berulang dari segmen yang tepat. Tanya peserta: apa respons spontan Anda saat produk ditolak? Lanjutkan dengan: informasi apa yang belum Anda tanyakan? Sikap terbuka tetap memerlukan penilaian biaya dan kesesuaian bisnis.</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Sumber web diakses 6 Oktober 2026. Contoh usaha dekorasi rumah dan seluruh angka kasus adalah ilustrasi pembelajaran, bukan data perusahaan atau benchmark ekspor.</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3 menit.</a:t>
            </a:r>
          </a:p>
          <a:p xmlns:a="http://schemas.openxmlformats.org/drawingml/2006/main">
            <a:r>
              <a:t>Build–Measure–Learn dari Modul PPT halaman 27 dan metodologi asli Lean Startup. Terapkan pada kasus: kirim sampel sesuai hipotesis kebutuhan, catat ukuran/kemasan/harga yang ditanggapi, lalu putuskan apa yang diubah. Tindak lanjut buyer lebih berguna daripada pujian umum, tetapi persetujuan sampel tetap belum menjamin order atau pembayaran. Eksperimen perlu batas biaya dan waktu yang sanggup ditanggung. Sampel dan pengiriman percobaan tetap mengikuti persyaratan yang berlaku.</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https://theleanstartup.com/principles</a:t>
            </a:r>
          </a:p>
          <a:p xmlns:a="http://schemas.openxmlformats.org/drawingml/2006/main">
            <a:r>
              <a:t>Sumber web diakses 6 Oktober 2026. Contoh usaha dekorasi rumah dan seluruh angka kasus adalah ilustrasi pembelajaran, bukan data perusahaan atau benchmark ekspor.</a:t>
            </a:r>
          </a:p>
          <a:p xmlns:a="http://schemas.openxmlformats.org/drawingml/2006/main">
            <a:r>
              <a:t/>
            </a:r>
          </a:p>
          <a:p xmlns:a="http://schemas.openxmlformats.org/drawingml/2006/main">
            <a:r>
              <a:t>Diagram menunjukkan siklus berulang, bukan tahapan yang selesai satu kali.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3 menit.</a:t>
            </a:r>
          </a:p>
          <a:p xmlns:a="http://schemas.openxmlformats.org/drawingml/2006/main">
            <a:r>
              <a:t>Modul halaman 9 membahas kelincahan, tim dan adaptasi; halaman 25 membahas risiko. Kemendag menekankan kesiapan produk, kualitas dan kapasitas yang konsisten. Arahkan peserta memeriksa kapasitas nyata, bukan kapasitas maksimal mesin atau total pemasok yang belum dikonfirmasi. Mutu tidak berhenti pada contoh terbaik; harus mampu diulang. Timeline harus memakai tanggal dan definisi yang jelas: selesai produksi, siap kirim, atau tiba. Syarat negara tujuan/produk tetap diperiksa sebelum transaksi.</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https://www.kemendag.go.id/index.php/berita/pojok-media/umkm-bisa-ekspor-catat-transaksi-rp404-miliar-pada-triwulan-i-2026</a:t>
            </a:r>
          </a:p>
          <a:p xmlns:a="http://schemas.openxmlformats.org/drawingml/2006/main">
            <a:r>
              <a:t>https://www.trade.gov/exporter-assessments-0</a:t>
            </a:r>
          </a:p>
          <a:p xmlns:a="http://schemas.openxmlformats.org/drawingml/2006/main">
            <a:r>
              <a:t>Sumber web diakses 6 Oktober 2026. Contoh usaha dekorasi rumah dan seluruh angka kasus adalah ilustrasi pembelajaran, bukan data perusahaan atau benchmark ekspor.</a:t>
            </a:r>
          </a:p>
          <a:p xmlns:a="http://schemas.openxmlformats.org/drawingml/2006/main">
            <a:r>
              <a:t/>
            </a:r>
          </a:p>
          <a:p xmlns:a="http://schemas.openxmlformats.org/drawingml/2006/main">
            <a:r>
              <a:t>Visual pemeriksaan ukuran adalah ilustrasi AI, bukan bukti pemenuhan standar ekspor. Detail kapasitas, mutu, dan jadwal tetap mengikuti catatan pembicara.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3 menit.</a:t>
            </a:r>
          </a:p>
          <a:p xmlns:a="http://schemas.openxmlformats.org/drawingml/2006/main">
            <a:r>
              <a:t>Diagram adalah urutan ilustratif tanpa skala waktu. Tidak semua transaksi ekspor dibayar setelah penerimaan; waktu pembayaran mengikuti metode dan kontrak yang disepakati. Prinsip modul halaman 24: bedakan profit dan cash flow serta pahami kebutuhan keuangan. Trade.gov menjelaskan pilihan pembayaran memiliki risiko dan dampak arus kas berbeda. Tanyakan: kalau pelunasan terlambat, apakah gaji dan pesanan lain tetap bisa berjalan? Diskusikan uang muka atau tahapan pembayaran sebagai opsi negosiasi, bukan jaminan tersedia atau aman. Materi tidak menetapkan metode pembayaran tertentu.</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https://www.trade.gov/methods-payment</a:t>
            </a:r>
          </a:p>
          <a:p xmlns:a="http://schemas.openxmlformats.org/drawingml/2006/main">
            <a:r>
              <a:t>Sumber web diakses 6 Oktober 2026. Contoh usaha dekorasi rumah dan seluruh angka kasus adalah ilustrasi pembelajaran, bukan data perusahaan atau benchmark ekspor.</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3 menit.</a:t>
            </a:r>
          </a:p>
          <a:p xmlns:a="http://schemas.openxmlformats.org/drawingml/2006/main">
            <a:r>
              <a:t>Adaptasi manajemen risiko pada Modul PPT halaman 25. Ini daftar pemicu diskusi, bukan daftar lengkap risiko ekspor. Cek buyer artinya mencari bukti identitas usaha, kredibilitas dan kemampuan memenuhi transaksi melalui proses yang relevan; identitas saja tidak menghilangkan risiko pembayaran. Tambahkan risiko lain dari peserta, misalnya pemasok, kurs atau permintaan pasar, jika relevan. Tanyakan: satu risiko apa yang paling mengancam bisnis Anda, dan siapa yang harus menanganinya? Kontrak, dokumen dan persyaratan teknis harus diperiksa sesuai produk dan pasar.</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https://www.trade.gov/exporter-assessments-0</a:t>
            </a:r>
          </a:p>
          <a:p xmlns:a="http://schemas.openxmlformats.org/drawingml/2006/main">
            <a:r>
              <a:t>https://www.trade.gov/methods-payment</a:t>
            </a:r>
          </a:p>
          <a:p xmlns:a="http://schemas.openxmlformats.org/drawingml/2006/main">
            <a:r>
              <a:t>Sumber web diakses 6 Oktober 2026. Contoh usaha dekorasi rumah dan seluruh angka kasus adalah ilustrasi pembelajaran, bukan data perusahaan atau benchmark ekspor.</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2 menit.</a:t>
            </a:r>
          </a:p>
          <a:p xmlns:a="http://schemas.openxmlformats.org/drawingml/2006/main">
            <a:r>
              <a:t>Modul halaman 9 membahas kru yang tepat; halaman 18 mengenalkan Designer, Showman dan Enforcer. Gunakan arketipe sebagai alat refleksi peran, bukan tes kepribadian atau syarat sukses. Tim kecil bisa merangkap peran dan memakai mitra ahli. Tetap perlu satu pemilik yang memastikan kebutuhan buyer diterjemahkan menjadi pekerjaan dan batas tanggung jawab. Pengiriman dapat melibatkan mitra, tetapi koordinasi dan janji ke buyer tetap harus memiliki penanggung jawab internal.</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https://www.trade.gov/develop-export-plan</a:t>
            </a:r>
          </a:p>
          <a:p xmlns:a="http://schemas.openxmlformats.org/drawingml/2006/main">
            <a:r>
              <a:t>Sumber web diakses 6 Oktober 2026. Contoh usaha dekorasi rumah dan seluruh angka kasus adalah ilustrasi pembelajaran, bukan data perusahaan atau benchmark ekspor.</a:t>
            </a:r>
          </a:p>
          <a:p xmlns:a="http://schemas.openxmlformats.org/drawingml/2006/main">
            <a:r>
              <a:t/>
            </a:r>
          </a:p>
          <a:p xmlns:a="http://schemas.openxmlformats.org/drawingml/2006/main">
            <a:r>
              <a:t>Framework pemilik tanggung jawab menggambarkan alur koordinasi, bukan susunan jabatan wajib.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5 menit.</a:t>
            </a:r>
          </a:p>
          <a:p xmlns:a="http://schemas.openxmlformats.org/drawingml/2006/main">
            <a:r>
              <a:t>Alokasikan 1 menit berpikir, 2 menit mengambil jawaban, 2 menit membahas. Semua angka ilustratif. Informasi ini belum cukup untuk langsung menerima order sesuai syarat awal: ada gap kapasitas 200 unit, risiko kas dan kemasan belum diuji. Arah pembahasan: negosiasikan order percobaan atau pengiriman bertahap, waktu yang realistis, dan syarat bayar yang dapat ditanggung. Pastikan kemasan dan spesifikasi terbukti sebelum pengiriman. Tidak ada kewajiban memilih satu volume atau besaran uang muka tertentu. Jika buyer tidak bersedia dan risikonya tetap melebihi kemampuan, tunda atau tolak. Respons yang dinilai adalah kualitas alasan dan bukti, bukan keberanian menerima pesanan. Untuk slot 30 menit, gunakan 3 menit.</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Sumber web diakses 6 Oktober 2026. Contoh usaha dekorasi rumah dan seluruh angka kasus adalah ilustrasi pembelajaran, bukan data perusahaan atau benchmark ekspor.</a:t>
            </a:r>
          </a:p>
          <a:p xmlns:a="http://schemas.openxmlformats.org/drawingml/2006/main">
            <a:r>
              <a:t/>
            </a:r>
          </a:p>
          <a:p xmlns:a="http://schemas.openxmlformats.org/drawingml/2006/main">
            <a:r>
              <a:t>Gap kapasitas 500−300=200 unit. Grafik adalah ilustrasi; bukan data riil. Arah diskusi: jangan menerima syarat awal tanpa bukti kapasitas, kesiapan kas, dan kemasan.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3 menit.</a:t>
            </a:r>
          </a:p>
          <a:p xmlns:a="http://schemas.openxmlformats.org/drawingml/2006/main">
            <a:r>
              <a:t>Minta peserta menulis rencana mereka sendiri; kalimat pada slide hanya contoh. Calon eksportir dapat mulai dari wawancara kebutuhan buyer. Pelaku usaha yang sudah berjalan dapat menguji satu asumsi, misalnya segmen buyer, spesifikasi, atau pola repeat order. Minta satu orang membacakan: apa yang diuji, langkahnya, buktinya, dan batas waktu/biaya. Penutup: kemajuan datang dari bukti yang mengubah keputusan. Rangkuman mentalitas modul: punya tujuan, terbuka pada pembelajaran, sadar risiko, dan bergerak iteratif. Sediakan 5–10 menit Q&amp;A bila durasi acara memungkinkan.</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https://theleanstartup.com/principles</a:t>
            </a:r>
          </a:p>
          <a:p xmlns:a="http://schemas.openxmlformats.org/drawingml/2006/main">
            <a:r>
              <a:t>https://www.trade.gov/develop-export-plan</a:t>
            </a:r>
          </a:p>
          <a:p xmlns:a="http://schemas.openxmlformats.org/drawingml/2006/main">
            <a:r>
              <a:t>Sumber web diakses 6 Oktober 2026. Contoh usaha dekorasi rumah dan seluruh angka kasus adalah ilustrasi pembelajaran, bukan data perusahaan atau benchmark ekspor.</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46ed4bbc2e449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6a88cde03104d60" /><Relationship Type="http://schemas.openxmlformats.org/officeDocument/2006/relationships/slideLayout" Target="/ppt/slideLayouts/slideLayout1.xml" Id="R64777dbfea984c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777dbfea984c94"/>
  </p:sldLayoutIdLst>
  <p:txStyles>
    <p:titleStyle>
      <a:lvl1pPr xmlns:a="http://schemas.openxmlformats.org/drawingml/2006/main" algn="l">
        <a:lnSpc>
          <a:spcPct val="90000"/>
        </a:lnSpc>
        <a:spcBef>
          <a:spcPts val="0"/>
        </a:spcBef>
        <a:buNone/>
        <a:defRPr sz="4400">
          <a:solidFill>
            <a:schemeClr val="tx1"/>
          </a:solidFill>
          <a:latin typeface="Calibri"/>
          <a:ea typeface="Calibri"/>
          <a:cs typeface="Calibri"/>
        </a:defRPr>
      </a:lvl1pPr>
    </p:titleStyle>
    <p:bodyStyle>
      <a:lvl1pPr xmlns:a="http://schemas.openxmlformats.org/drawingml/2006/main" marL="228600" indent="-228600" algn="l">
        <a:lnSpc>
          <a:spcPct val="90000"/>
        </a:lnSpc>
        <a:spcBef>
          <a:spcPts val="1000"/>
        </a:spcBef>
        <a:buChar char="•"/>
        <a:defRPr sz="2800">
          <a:solidFill>
            <a:schemeClr val="tx1"/>
          </a:solidFill>
          <a:latin typeface="Calibri"/>
          <a:ea typeface="Calibri"/>
          <a:cs typeface="Calibri"/>
        </a:defRPr>
      </a:lvl1pPr>
      <a:lvl2pPr xmlns:a="http://schemas.openxmlformats.org/drawingml/2006/main" marL="685800" indent="-228600" algn="l">
        <a:lnSpc>
          <a:spcPct val="90000"/>
        </a:lnSpc>
        <a:spcBef>
          <a:spcPts val="500"/>
        </a:spcBef>
        <a:buChar char="•"/>
        <a:defRPr sz="2400">
          <a:solidFill>
            <a:schemeClr val="tx1"/>
          </a:solidFill>
          <a:latin typeface="Calibri"/>
          <a:ea typeface="Calibri"/>
          <a:cs typeface="Calibri"/>
        </a:defRPr>
      </a:lvl2pPr>
      <a:lvl3pPr xmlns:a="http://schemas.openxmlformats.org/drawingml/2006/main" marL="1143000" indent="-228600" algn="l">
        <a:lnSpc>
          <a:spcPct val="90000"/>
        </a:lnSpc>
        <a:spcBef>
          <a:spcPts val="500"/>
        </a:spcBef>
        <a:buChar char="•"/>
        <a:defRPr sz="2000">
          <a:solidFill>
            <a:schemeClr val="tx1"/>
          </a:solidFill>
          <a:latin typeface="Calibri"/>
          <a:ea typeface="Calibri"/>
          <a:cs typeface="Calibri"/>
        </a:defRPr>
      </a:lvl3pPr>
      <a:lvl4pPr xmlns:a="http://schemas.openxmlformats.org/drawingml/2006/main" marL="1600200" indent="-228600" algn="l">
        <a:lnSpc>
          <a:spcPct val="90000"/>
        </a:lnSpc>
        <a:spcBef>
          <a:spcPts val="500"/>
        </a:spcBef>
        <a:buChar char="•"/>
        <a:defRPr sz="1800">
          <a:solidFill>
            <a:schemeClr val="tx1"/>
          </a:solidFill>
          <a:latin typeface="Calibri"/>
          <a:ea typeface="Calibri"/>
          <a:cs typeface="Calibri"/>
        </a:defRPr>
      </a:lvl4pPr>
      <a:lvl5pPr xmlns:a="http://schemas.openxmlformats.org/drawingml/2006/main" marL="2057400" indent="-228600" algn="l">
        <a:lnSpc>
          <a:spcPct val="90000"/>
        </a:lnSpc>
        <a:spcBef>
          <a:spcPts val="500"/>
        </a:spcBef>
        <a:buChar char="•"/>
        <a:defRPr sz="1800">
          <a:solidFill>
            <a:schemeClr val="tx1"/>
          </a:solidFill>
          <a:latin typeface="Calibri"/>
          <a:ea typeface="Calibri"/>
          <a:cs typeface="Calibri"/>
        </a:defRPr>
      </a:lvl5pPr>
      <a:lvl6pPr xmlns:a="http://schemas.openxmlformats.org/drawingml/2006/main" marL="2514600" indent="-228600" algn="l">
        <a:lnSpc>
          <a:spcPct val="90000"/>
        </a:lnSpc>
        <a:spcBef>
          <a:spcPts val="500"/>
        </a:spcBef>
        <a:buChar char="•"/>
        <a:defRPr sz="1800">
          <a:solidFill>
            <a:schemeClr val="tx1"/>
          </a:solidFill>
          <a:latin typeface="Calibri"/>
          <a:ea typeface="Calibri"/>
          <a:cs typeface="Calibri"/>
        </a:defRPr>
      </a:lvl6pPr>
      <a:lvl7pPr xmlns:a="http://schemas.openxmlformats.org/drawingml/2006/main" marL="2971800" indent="-228600" algn="l">
        <a:lnSpc>
          <a:spcPct val="90000"/>
        </a:lnSpc>
        <a:spcBef>
          <a:spcPts val="500"/>
        </a:spcBef>
        <a:buChar char="•"/>
        <a:defRPr sz="1800">
          <a:solidFill>
            <a:schemeClr val="tx1"/>
          </a:solidFill>
          <a:latin typeface="Calibri"/>
          <a:ea typeface="Calibri"/>
          <a:cs typeface="Calibri"/>
        </a:defRPr>
      </a:lvl7pPr>
      <a:lvl8pPr xmlns:a="http://schemas.openxmlformats.org/drawingml/2006/main" marL="3429000" indent="-228600" algn="l">
        <a:lnSpc>
          <a:spcPct val="90000"/>
        </a:lnSpc>
        <a:spcBef>
          <a:spcPts val="500"/>
        </a:spcBef>
        <a:buChar char="•"/>
        <a:defRPr sz="1800">
          <a:solidFill>
            <a:schemeClr val="tx1"/>
          </a:solidFill>
          <a:latin typeface="Calibri"/>
          <a:ea typeface="Calibri"/>
          <a:cs typeface="Calibri"/>
        </a:defRPr>
      </a:lvl8pPr>
      <a:lvl9pPr xmlns:a="http://schemas.openxmlformats.org/drawingml/2006/main" marL="3886200" indent="-228600" algn="l">
        <a:lnSpc>
          <a:spcPct val="90000"/>
        </a:lnSpc>
        <a:spcBef>
          <a:spcPts val="500"/>
        </a:spcBef>
        <a:buChar char="•"/>
        <a:defRPr sz="1800">
          <a:solidFill>
            <a:schemeClr val="tx1"/>
          </a:solidFill>
          <a:latin typeface="Calibri"/>
          <a:ea typeface="Calibri"/>
          <a:cs typeface="Calibri"/>
        </a:defRPr>
      </a:lvl9pPr>
    </p:bodyStyle>
    <p:otherStyle>
      <a:lvl1pPr xmlns:a="http://schemas.openxmlformats.org/drawingml/2006/main" marL="0" algn="l">
        <a:buNone/>
        <a:defRPr sz="1800">
          <a:solidFill>
            <a:schemeClr val="tx1"/>
          </a:solidFill>
          <a:latin typeface="Calibri"/>
          <a:ea typeface="Calibri"/>
          <a:cs typeface="Calibri"/>
        </a:defRPr>
      </a:lvl1pPr>
      <a:lvl2pPr xmlns:a="http://schemas.openxmlformats.org/drawingml/2006/main" marL="457200" algn="l">
        <a:buNone/>
        <a:defRPr sz="1800">
          <a:solidFill>
            <a:schemeClr val="tx1"/>
          </a:solidFill>
          <a:latin typeface="Calibri"/>
          <a:ea typeface="Calibri"/>
          <a:cs typeface="Calibri"/>
        </a:defRPr>
      </a:lvl2pPr>
      <a:lvl3pPr xmlns:a="http://schemas.openxmlformats.org/drawingml/2006/main" marL="914400" algn="l">
        <a:buNone/>
        <a:defRPr sz="1800">
          <a:solidFill>
            <a:schemeClr val="tx1"/>
          </a:solidFill>
          <a:latin typeface="Calibri"/>
          <a:ea typeface="Calibri"/>
          <a:cs typeface="Calibri"/>
        </a:defRPr>
      </a:lvl3pPr>
      <a:lvl4pPr xmlns:a="http://schemas.openxmlformats.org/drawingml/2006/main" marL="1371600" algn="l">
        <a:buNone/>
        <a:defRPr sz="1800">
          <a:solidFill>
            <a:schemeClr val="tx1"/>
          </a:solidFill>
          <a:latin typeface="Calibri"/>
          <a:ea typeface="Calibri"/>
          <a:cs typeface="Calibri"/>
        </a:defRPr>
      </a:lvl4pPr>
      <a:lvl5pPr xmlns:a="http://schemas.openxmlformats.org/drawingml/2006/main" marL="1828800" algn="l">
        <a:buNone/>
        <a:defRPr sz="1800">
          <a:solidFill>
            <a:schemeClr val="tx1"/>
          </a:solidFill>
          <a:latin typeface="Calibri"/>
          <a:ea typeface="Calibri"/>
          <a:cs typeface="Calibri"/>
        </a:defRPr>
      </a:lvl5pPr>
      <a:lvl6pPr xmlns:a="http://schemas.openxmlformats.org/drawingml/2006/main" marL="2286000" algn="l">
        <a:buNone/>
        <a:defRPr sz="1800">
          <a:solidFill>
            <a:schemeClr val="tx1"/>
          </a:solidFill>
          <a:latin typeface="Calibri"/>
          <a:ea typeface="Calibri"/>
          <a:cs typeface="Calibri"/>
        </a:defRPr>
      </a:lvl6pPr>
      <a:lvl7pPr xmlns:a="http://schemas.openxmlformats.org/drawingml/2006/main" marL="2743200" algn="l">
        <a:buNone/>
        <a:defRPr sz="1800">
          <a:solidFill>
            <a:schemeClr val="tx1"/>
          </a:solidFill>
          <a:latin typeface="Calibri"/>
          <a:ea typeface="Calibri"/>
          <a:cs typeface="Calibri"/>
        </a:defRPr>
      </a:lvl7pPr>
      <a:lvl8pPr xmlns:a="http://schemas.openxmlformats.org/drawingml/2006/main" marL="3200400" algn="l">
        <a:buNone/>
        <a:defRPr sz="1800">
          <a:solidFill>
            <a:schemeClr val="tx1"/>
          </a:solidFill>
          <a:latin typeface="Calibri"/>
          <a:ea typeface="Calibri"/>
          <a:cs typeface="Calibri"/>
        </a:defRPr>
      </a:lvl8pPr>
      <a:lvl9pPr xmlns:a="http://schemas.openxmlformats.org/drawingml/2006/main" marL="3657600" algn="l">
        <a:buNone/>
        <a:defRPr sz="1800">
          <a:solidFill>
            <a:schemeClr val="tx1"/>
          </a:solidFill>
          <a:latin typeface="Calibri"/>
          <a:ea typeface="Calibri"/>
          <a:cs typeface="Calibri"/>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87e31a037cd4fbc" /><Relationship Type="http://schemas.openxmlformats.org/officeDocument/2006/relationships/image" Target="/ppt/media/image.png" Id="R7d4aaf3f1b214e53" /><Relationship Type="http://schemas.openxmlformats.org/officeDocument/2006/relationships/image" Target="/ppt/media/image2.png" Id="R49d09e54cf834afa" /><Relationship Type="http://schemas.openxmlformats.org/officeDocument/2006/relationships/notesSlide" Target="/ppt/notesSlides/notesSlide1.xml" Id="R5003036bebdb4c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5be03e53f1541cd" /><Relationship Type="http://schemas.openxmlformats.org/officeDocument/2006/relationships/image" Target="/ppt/media/image3.png" Id="Rcbf9f2bea4d6421c" /><Relationship Type="http://schemas.openxmlformats.org/officeDocument/2006/relationships/image" Target="/ppt/media/image4.png" Id="R838fa9f589e844d5" /><Relationship Type="http://schemas.openxmlformats.org/officeDocument/2006/relationships/image" Target="/ppt/media/image5.png" Id="Rddad89b9ba8143bf" /><Relationship Type="http://schemas.openxmlformats.org/officeDocument/2006/relationships/notesSlide" Target="/ppt/notesSlides/notesSlide2.xml" Id="R882eff41a7d1410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dd9ebe3c66b45e9" /><Relationship Type="http://schemas.openxmlformats.org/officeDocument/2006/relationships/image" Target="/ppt/media/image6.png" Id="R665a7b099150452b" /><Relationship Type="http://schemas.openxmlformats.org/officeDocument/2006/relationships/image" Target="/ppt/media/image7.png" Id="Rd545f0203b4b4f16" /><Relationship Type="http://schemas.openxmlformats.org/officeDocument/2006/relationships/notesSlide" Target="/ppt/notesSlides/notesSlide3.xml" Id="R18065e9e2d3142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22a6dd130764f7f" /><Relationship Type="http://schemas.openxmlformats.org/officeDocument/2006/relationships/image" Target="/ppt/media/image8.png" Id="R0249bcd9f4dc4444" /><Relationship Type="http://schemas.openxmlformats.org/officeDocument/2006/relationships/image" Target="/ppt/media/image9.png" Id="R4f59cd3dd2ee48c1" /><Relationship Type="http://schemas.openxmlformats.org/officeDocument/2006/relationships/notesSlide" Target="/ppt/notesSlides/notesSlide4.xml" Id="R959737ed840f46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e15db5abf4342af" /><Relationship Type="http://schemas.openxmlformats.org/officeDocument/2006/relationships/image" Target="/ppt/media/image10.png" Id="R78b2020b55c1403b" /><Relationship Type="http://schemas.openxmlformats.org/officeDocument/2006/relationships/image" Target="/ppt/media/image11.png" Id="Rb18df5cea4494d22" /><Relationship Type="http://schemas.openxmlformats.org/officeDocument/2006/relationships/notesSlide" Target="/ppt/notesSlides/notesSlide5.xml" Id="R4510509b553948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10d855b6a034bb8" /><Relationship Type="http://schemas.openxmlformats.org/officeDocument/2006/relationships/image" Target="/ppt/media/image12.png" Id="Re308cfe3e51343fe" /><Relationship Type="http://schemas.openxmlformats.org/officeDocument/2006/relationships/image" Target="/ppt/media/image13.png" Id="Rb136b06ce745435e" /><Relationship Type="http://schemas.openxmlformats.org/officeDocument/2006/relationships/notesSlide" Target="/ppt/notesSlides/notesSlide6.xml" Id="R2bda62726fa6450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1fd0e63806246bf" /><Relationship Type="http://schemas.openxmlformats.org/officeDocument/2006/relationships/image" Target="/ppt/media/image14.png" Id="R8d4c42ff4e0c4210" /><Relationship Type="http://schemas.openxmlformats.org/officeDocument/2006/relationships/image" Target="/ppt/media/image15.png" Id="R50d280b2a46d4bf0" /><Relationship Type="http://schemas.openxmlformats.org/officeDocument/2006/relationships/image" Target="/ppt/media/image16.png" Id="R9d721b5da6b24b34" /><Relationship Type="http://schemas.openxmlformats.org/officeDocument/2006/relationships/notesSlide" Target="/ppt/notesSlides/notesSlide7.xml" Id="Rd79ba5d8eb574be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c7446dc6a434987" /><Relationship Type="http://schemas.openxmlformats.org/officeDocument/2006/relationships/image" Target="/ppt/media/image17.png" Id="Rcde66743d6084809" /><Relationship Type="http://schemas.openxmlformats.org/officeDocument/2006/relationships/image" Target="/ppt/media/image18.png" Id="R17ac4318b09c4a16" /><Relationship Type="http://schemas.openxmlformats.org/officeDocument/2006/relationships/notesSlide" Target="/ppt/notesSlides/notesSlide8.xml" Id="R62b0bc1c3088487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417c2a9e20e466f" /><Relationship Type="http://schemas.openxmlformats.org/officeDocument/2006/relationships/image" Target="/ppt/media/image19.png" Id="R397cc89148394529" /><Relationship Type="http://schemas.openxmlformats.org/officeDocument/2006/relationships/image" Target="/ppt/media/image20.png" Id="R7b7462e5dd1f47f9" /><Relationship Type="http://schemas.openxmlformats.org/officeDocument/2006/relationships/notesSlide" Target="/ppt/notesSlides/notesSlide9.xml" Id="R96bde25a241d4b8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39c19993a694e74" /><Relationship Type="http://schemas.openxmlformats.org/officeDocument/2006/relationships/image" Target="/ppt/media/image21.png" Id="R5ce89dd1c1d1442c" /><Relationship Type="http://schemas.openxmlformats.org/officeDocument/2006/relationships/image" Target="/ppt/media/image22.png" Id="R843fb9cf44244034" /><Relationship Type="http://schemas.openxmlformats.org/officeDocument/2006/relationships/notesSlide" Target="/ppt/notesSlides/notesSlide10.xml" Id="Re3abb27cd594446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d6c59ba5c4a409f" /><Relationship Type="http://schemas.openxmlformats.org/officeDocument/2006/relationships/image" Target="/ppt/media/image23.png" Id="R1936b1b67876427e" /><Relationship Type="http://schemas.openxmlformats.org/officeDocument/2006/relationships/image" Target="/ppt/media/image24.png" Id="R94de4db2b67642f7" /><Relationship Type="http://schemas.openxmlformats.org/officeDocument/2006/relationships/chart" Target="/ppt/slides/charts/chart1.xml" Id="R08d7b02a31ca40d9" /><Relationship Type="http://schemas.openxmlformats.org/officeDocument/2006/relationships/notesSlide" Target="/ppt/notesSlides/notesSlide11.xml" Id="R921436042d66447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55d3c02b793478b" /><Relationship Type="http://schemas.openxmlformats.org/officeDocument/2006/relationships/image" Target="/ppt/media/image25.png" Id="R1dfe805abc40470e" /><Relationship Type="http://schemas.openxmlformats.org/officeDocument/2006/relationships/image" Target="/ppt/media/image26.png" Id="R85b751a1f0af4e63" /><Relationship Type="http://schemas.openxmlformats.org/officeDocument/2006/relationships/notesSlide" Target="/ppt/notesSlides/notesSlide12.xml" Id="Rd19de18554184ab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Unit</c:v>
          </c:tx>
          <c:spPr>
            <a:solidFill xmlns:a="http://schemas.openxmlformats.org/drawingml/2006/main">
              <a:srgbClr val="95BBA9"/>
            </a:solidFill>
          </c:spPr>
          <c:dPt>
            <c:idx val="1"/>
            <c:invertIfNegative val="0"/>
            <c:spPr>
              <a:solidFill xmlns:a="http://schemas.openxmlformats.org/drawingml/2006/main">
                <a:srgbClr val="087958"/>
              </a:solidFill>
            </c:spPr>
          </c:dPt>
          <c:cat>
            <c:strRef>
              <c:f>'Chart Data'!$A$2:$A$3</c:f>
              <c:strCache>
                <c:ptCount val="2"/>
                <c:pt idx="0">
                  <c:v>Pesanan buyer</c:v>
                </c:pt>
                <c:pt idx="1">
                  <c:v>Kapasitas tersedia</c:v>
                </c:pt>
              </c:strCache>
            </c:strRef>
          </c:cat>
          <c:val>
            <c:numRef>
              <c:f>'Chart Data'!$B$2:$B$3</c:f>
              <c:numCache>
                <c:formatCode>General</c:formatCode>
                <c:ptCount val="2"/>
                <c:pt idx="0">
                  <c:v>500</c:v>
                </c:pt>
                <c:pt idx="1">
                  <c:v>300</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002B28"/>
                  </a:solidFill>
                  <a:latin typeface="Calibri"/>
                  <a:ea typeface="Calibri"/>
                  <a:cs typeface="Calibri"/>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B6C65"/>
                </a:solidFill>
                <a:latin typeface="Calibri"/>
                <a:ea typeface="Calibri"/>
                <a:cs typeface="Calibri"/>
              </a:defRPr>
            </a:pPr>
          </a:p>
        </c:txPr>
        <c:crossAx val="48672768"/>
      </c:catAx>
      <c:valAx>
        <c:axId val="48672768"/>
        <c:scaling>
          <c:orientation val="minMax"/>
          <c:max val="600"/>
          <c:min val="0"/>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B6C65"/>
                </a:solidFill>
                <a:latin typeface="Calibri"/>
                <a:ea typeface="Calibri"/>
                <a:cs typeface="Calibri"/>
              </a:defRPr>
            </a:pPr>
          </a:p>
        </c:txPr>
        <c:crossAx val="48650112"/>
        <c:crossBetween val="between"/>
        <c:majorUnit val="20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d4aaf3f1b214e5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9d09e54cf834afa"/>
          <a:stretch xmlns:a="http://schemas.openxmlformats.org/drawingml/2006/main"/>
        </p:blipFill>
        <p:spPr>
          <a:xfrm xmlns:a="http://schemas.openxmlformats.org/drawingml/2006/main">
            <a:off x="457200" y="362075"/>
            <a:ext cx="1828800" cy="685549"/>
          </a:xfrm>
          <a:prstGeom xmlns:a="http://schemas.openxmlformats.org/drawingml/2006/main" prst="rect">
            <a:avLst/>
          </a:prstGeom>
        </p:spPr>
      </p:pic>
      <p:sp>
        <p:nvSpPr>
          <p:cNvPr id="3" name="text-1">
            <a:extLst xmlns:a="http://schemas.openxmlformats.org/drawingml/2006/main">
              <a:ext uri="{FF2B5EF4-FFF2-40B4-BE49-F238E27FC236}">
                <a16:creationId xmlns:a16="http://schemas.microsoft.com/office/drawing/2014/main" id="{C26D6F87-587C-4189-9214-99978CD7B3A6}"/>
              </a:ext>
            </a:extLst>
          </p:cNvPr>
          <p:cNvSpPr>
            <a:spLocks xmlns:a="http://schemas.openxmlformats.org/drawingml/2006/main" noGrp="1"/>
          </p:cNvSpPr>
          <p:nvPr/>
        </p:nvSpPr>
        <p:spPr>
          <a:xfrm xmlns:a="http://schemas.openxmlformats.org/drawingml/2006/main">
            <a:off x="457200" y="169545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A8CEC0"/>
                </a:solidFill>
                <a:latin typeface="Calibri"/>
                <a:ea typeface="Calibri"/>
                <a:cs typeface="Calibri"/>
              </a:defRPr>
            </a:pPr>
            <a:r>
              <a:rPr sz="1575" b="1">
                <a:solidFill>
                  <a:srgbClr val="A8CEC0"/>
                </a:solidFill>
                <a:latin typeface="Calibri"/>
                <a:ea typeface="Calibri"/>
                <a:cs typeface="Calibri"/>
              </a:rPr>
              <a:t>CMC × BD EKSPOR</a:t>
            </a:r>
          </a:p>
        </p:txBody>
      </p:sp>
      <p:sp>
        <p:nvSpPr>
          <p:cNvPr id="4" name="text-2">
            <a:extLst xmlns:a="http://schemas.openxmlformats.org/drawingml/2006/main">
              <a:ext uri="{FF2B5EF4-FFF2-40B4-BE49-F238E27FC236}">
                <a16:creationId xmlns:a16="http://schemas.microsoft.com/office/drawing/2014/main" id="{62ABBA6C-CE67-4A06-8335-71355CC96436}"/>
              </a:ext>
            </a:extLst>
          </p:cNvPr>
          <p:cNvSpPr>
            <a:spLocks xmlns:a="http://schemas.openxmlformats.org/drawingml/2006/main" noGrp="1"/>
          </p:cNvSpPr>
          <p:nvPr/>
        </p:nvSpPr>
        <p:spPr>
          <a:xfrm xmlns:a="http://schemas.openxmlformats.org/drawingml/2006/main">
            <a:off x="457200" y="2276475"/>
            <a:ext cx="1057275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100" b="1">
                <a:solidFill>
                  <a:srgbClr val="FFFFFF"/>
                </a:solidFill>
                <a:latin typeface="Calibri"/>
                <a:ea typeface="Calibri"/>
                <a:cs typeface="Calibri"/>
              </a:defRPr>
            </a:pPr>
            <a:r>
              <a:rPr sz="5100" b="1">
                <a:solidFill>
                  <a:srgbClr val="FFFFFF"/>
                </a:solidFill>
                <a:latin typeface="Calibri"/>
                <a:ea typeface="Calibri"/>
                <a:cs typeface="Calibri"/>
              </a:rPr>
              <a:t>Entrepreneurship</a:t>
            </a:r>
          </a:p>
          <a:p xmlns:a="http://schemas.openxmlformats.org/drawingml/2006/main">
            <a:pPr>
              <a:defRPr sz="5100" b="1">
                <a:solidFill>
                  <a:srgbClr val="FFFFFF"/>
                </a:solidFill>
                <a:latin typeface="Calibri"/>
                <a:ea typeface="Calibri"/>
                <a:cs typeface="Calibri"/>
              </a:defRPr>
            </a:pPr>
            <a:r>
              <a:rPr sz="5100" b="1">
                <a:solidFill>
                  <a:srgbClr val="FFFFFF"/>
                </a:solidFill>
                <a:latin typeface="Calibri"/>
                <a:ea typeface="Calibri"/>
                <a:cs typeface="Calibri"/>
              </a:rPr>
              <a:t>Mentality untuk</a:t>
            </a:r>
          </a:p>
          <a:p xmlns:a="http://schemas.openxmlformats.org/drawingml/2006/main">
            <a:pPr>
              <a:defRPr sz="5100" b="1">
                <a:solidFill>
                  <a:srgbClr val="FFFFFF"/>
                </a:solidFill>
                <a:latin typeface="Calibri"/>
                <a:ea typeface="Calibri"/>
                <a:cs typeface="Calibri"/>
              </a:defRPr>
            </a:pPr>
            <a:r>
              <a:rPr sz="5100" b="1">
                <a:solidFill>
                  <a:srgbClr val="FFFFFF"/>
                </a:solidFill>
                <a:latin typeface="Calibri"/>
                <a:ea typeface="Calibri"/>
                <a:cs typeface="Calibri"/>
              </a:rPr>
              <a:t>Bisnis Ekspor</a:t>
            </a:r>
          </a:p>
        </p:txBody>
      </p:sp>
      <p:sp>
        <p:nvSpPr>
          <p:cNvPr id="5" name="text-3">
            <a:extLst xmlns:a="http://schemas.openxmlformats.org/drawingml/2006/main">
              <a:ext uri="{FF2B5EF4-FFF2-40B4-BE49-F238E27FC236}">
                <a16:creationId xmlns:a16="http://schemas.microsoft.com/office/drawing/2014/main" id="{0B683F34-43DC-47E6-A49E-A5594B10B223}"/>
              </a:ext>
            </a:extLst>
          </p:cNvPr>
          <p:cNvSpPr>
            <a:spLocks xmlns:a="http://schemas.openxmlformats.org/drawingml/2006/main" noGrp="1"/>
          </p:cNvSpPr>
          <p:nvPr/>
        </p:nvSpPr>
        <p:spPr>
          <a:xfrm xmlns:a="http://schemas.openxmlformats.org/drawingml/2006/main">
            <a:off x="485775" y="508635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FFFFFF"/>
                </a:solidFill>
                <a:latin typeface="Calibri"/>
                <a:ea typeface="Calibri"/>
                <a:cs typeface="Calibri"/>
              </a:defRPr>
            </a:pPr>
            <a:r>
              <a:rPr sz="2250" b="0">
                <a:solidFill>
                  <a:srgbClr val="FFFFFF"/>
                </a:solidFill>
                <a:latin typeface="Calibri"/>
                <a:ea typeface="Calibri"/>
                <a:cs typeface="Calibri"/>
              </a:rPr>
              <a:t>Business Foundation</a:t>
            </a:r>
          </a:p>
        </p:txBody>
      </p:sp>
      <p:sp>
        <p:nvSpPr>
          <p:cNvPr id="6" name="text-4">
            <a:extLst xmlns:a="http://schemas.openxmlformats.org/drawingml/2006/main">
              <a:ext uri="{FF2B5EF4-FFF2-40B4-BE49-F238E27FC236}">
                <a16:creationId xmlns:a16="http://schemas.microsoft.com/office/drawing/2014/main" id="{CCADD6F9-5FE7-4722-913B-86D7C4DA54ED}"/>
              </a:ext>
            </a:extLst>
          </p:cNvPr>
          <p:cNvSpPr>
            <a:spLocks xmlns:a="http://schemas.openxmlformats.org/drawingml/2006/main" noGrp="1"/>
          </p:cNvSpPr>
          <p:nvPr/>
        </p:nvSpPr>
        <p:spPr>
          <a:xfrm xmlns:a="http://schemas.openxmlformats.org/drawingml/2006/main">
            <a:off x="485775" y="5686425"/>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C7DED6"/>
                </a:solidFill>
                <a:latin typeface="Calibri"/>
                <a:ea typeface="Calibri"/>
                <a:cs typeface="Calibri"/>
              </a:defRPr>
            </a:pPr>
            <a:r>
              <a:rPr sz="1875" b="0">
                <a:solidFill>
                  <a:srgbClr val="C7DED6"/>
                </a:solidFill>
                <a:latin typeface="Calibri"/>
                <a:ea typeface="Calibri"/>
                <a:cs typeface="Calibri"/>
              </a:rPr>
              <a:t>Cara berpikir dan mengambil keputusan sebelum masuk pasar global</a:t>
            </a:r>
          </a:p>
        </p:txBody>
      </p:sp>
    </p:spTree>
    <p:extLst>
      <p:ext uri="{BB962C8B-B14F-4D97-AF65-F5344CB8AC3E}">
        <p14:creationId xmlns:p14="http://schemas.microsoft.com/office/powerpoint/2010/main" val="126430048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bf9f2bea4d6421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8ABDC0C-B27A-49F8-8643-E0E6B73D88FC}"/>
              </a:ext>
            </a:extLst>
          </p:cNvPr>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38fa9f589e844d5"/>
          <a:stretch xmlns:a="http://schemas.openxmlformats.org/drawingml/2006/main"/>
        </p:blipFill>
        <p:spPr>
          <a:xfrm xmlns:a="http://schemas.openxmlformats.org/drawingml/2006/main">
            <a:off x="10477500" y="228686"/>
            <a:ext cx="1257300" cy="471315"/>
          </a:xfrm>
          <a:prstGeom xmlns:a="http://schemas.openxmlformats.org/drawingml/2006/main" prst="rect">
            <a:avLst/>
          </a:prstGeom>
        </p:spPr>
      </p:pic>
      <p:sp>
        <p:nvSpPr>
          <p:cNvPr id="4" name="text-5">
            <a:extLst xmlns:a="http://schemas.openxmlformats.org/drawingml/2006/main">
              <a:ext uri="{FF2B5EF4-FFF2-40B4-BE49-F238E27FC236}">
                <a16:creationId xmlns:a16="http://schemas.microsoft.com/office/drawing/2014/main" id="{863B7DDE-0E7F-401E-B02A-C27C9ECA0ADF}"/>
              </a:ext>
            </a:extLst>
          </p:cNvPr>
          <p:cNvSpPr>
            <a:spLocks xmlns:a="http://schemas.openxmlformats.org/drawingml/2006/main" noGrp="1"/>
          </p:cNvSpPr>
          <p:nvPr/>
        </p:nvSpPr>
        <p:spPr>
          <a:xfrm xmlns:a="http://schemas.openxmlformats.org/drawingml/2006/main">
            <a:off x="457200" y="390525"/>
            <a:ext cx="9763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62B27"/>
                </a:solidFill>
                <a:latin typeface="Calibri"/>
                <a:ea typeface="Calibri"/>
                <a:cs typeface="Calibri"/>
              </a:defRPr>
            </a:pPr>
            <a:r>
              <a:rPr sz="2700" b="1">
                <a:solidFill>
                  <a:srgbClr val="162B27"/>
                </a:solidFill>
                <a:latin typeface="Calibri"/>
                <a:ea typeface="Calibri"/>
                <a:cs typeface="Calibri"/>
              </a:rPr>
              <a:t>Punya produk bagus belum cukup untuk siap ekspor</a:t>
            </a:r>
          </a:p>
        </p:txBody>
      </p:sp>
      <p:sp>
        <p:nvSpPr>
          <p:cNvPr id="5" name="text-6">
            <a:extLst xmlns:a="http://schemas.openxmlformats.org/drawingml/2006/main">
              <a:ext uri="{FF2B5EF4-FFF2-40B4-BE49-F238E27FC236}">
                <a16:creationId xmlns:a16="http://schemas.microsoft.com/office/drawing/2014/main" id="{0D8F1833-4E39-42E8-A36E-FC7035FC3AA3}"/>
              </a:ext>
            </a:extLst>
          </p:cNvPr>
          <p:cNvSpPr>
            <a:spLocks xmlns:a="http://schemas.openxmlformats.org/drawingml/2006/main" noGrp="1"/>
          </p:cNvSpPr>
          <p:nvPr/>
        </p:nvSpPr>
        <p:spPr>
          <a:xfrm xmlns:a="http://schemas.openxmlformats.org/drawingml/2006/main">
            <a:off x="457200" y="1419225"/>
            <a:ext cx="11201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6C65"/>
                </a:solidFill>
                <a:latin typeface="Calibri"/>
                <a:ea typeface="Calibri"/>
                <a:cs typeface="Calibri"/>
              </a:defRPr>
            </a:pPr>
            <a:r>
              <a:rPr sz="1800" b="0">
                <a:solidFill>
                  <a:srgbClr val="5B6C65"/>
                </a:solidFill>
                <a:latin typeface="Calibri"/>
                <a:ea typeface="Calibri"/>
                <a:cs typeface="Calibri"/>
              </a:rPr>
              <a:t>Produk adalah awal. Kesiapan founder terlihat saat harus membuat komitmen.</a:t>
            </a:r>
          </a:p>
        </p:txBody>
      </p:sp>
      <p:sp>
        <p:nvSpPr>
          <p:cNvPr id="6" name="text-7">
            <a:extLst xmlns:a="http://schemas.openxmlformats.org/drawingml/2006/main">
              <a:ext uri="{FF2B5EF4-FFF2-40B4-BE49-F238E27FC236}">
                <a16:creationId xmlns:a16="http://schemas.microsoft.com/office/drawing/2014/main" id="{A550D559-1D06-4FB1-8B23-E87C7C3D136B}"/>
              </a:ext>
            </a:extLst>
          </p:cNvPr>
          <p:cNvSpPr>
            <a:spLocks xmlns:a="http://schemas.openxmlformats.org/drawingml/2006/main" noGrp="1"/>
          </p:cNvSpPr>
          <p:nvPr/>
        </p:nvSpPr>
        <p:spPr>
          <a:xfrm xmlns:a="http://schemas.openxmlformats.org/drawingml/2006/main">
            <a:off x="457200" y="6134100"/>
            <a:ext cx="11191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Adaptasi Modul 1 CEO Masterclass</a:t>
            </a:r>
          </a:p>
        </p:txBody>
      </p:sp>
      <p:sp>
        <p:nvSpPr>
          <p:cNvPr id="7" name="text-8">
            <a:extLst xmlns:a="http://schemas.openxmlformats.org/drawingml/2006/main">
              <a:ext uri="{FF2B5EF4-FFF2-40B4-BE49-F238E27FC236}">
                <a16:creationId xmlns:a16="http://schemas.microsoft.com/office/drawing/2014/main" id="{124A634E-A2A9-47B8-A04A-FE875EA8CF44}"/>
              </a:ext>
            </a:extLst>
          </p:cNvPr>
          <p:cNvSpPr>
            <a:spLocks xmlns:a="http://schemas.openxmlformats.org/drawingml/2006/main" noGrp="1"/>
          </p:cNvSpPr>
          <p:nvPr/>
        </p:nvSpPr>
        <p:spPr>
          <a:xfrm xmlns:a="http://schemas.openxmlformats.org/drawingml/2006/main">
            <a:off x="457200" y="6534150"/>
            <a:ext cx="571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CMC × BD Ekspor</a:t>
            </a:r>
          </a:p>
        </p:txBody>
      </p:sp>
      <p:sp>
        <p:nvSpPr>
          <p:cNvPr id="8" name="text-9">
            <a:extLst xmlns:a="http://schemas.openxmlformats.org/drawingml/2006/main">
              <a:ext uri="{FF2B5EF4-FFF2-40B4-BE49-F238E27FC236}">
                <a16:creationId xmlns:a16="http://schemas.microsoft.com/office/drawing/2014/main" id="{D2210B86-3C6E-48E6-B4D5-9E311FD67E3C}"/>
              </a:ext>
            </a:extLst>
          </p:cNvPr>
          <p:cNvSpPr>
            <a:spLocks xmlns:a="http://schemas.openxmlformats.org/drawingml/2006/main" noGrp="1"/>
          </p:cNvSpPr>
          <p:nvPr/>
        </p:nvSpPr>
        <p:spPr>
          <a:xfrm xmlns:a="http://schemas.openxmlformats.org/drawingml/2006/main">
            <a:off x="11258550" y="65055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Calibri"/>
                <a:ea typeface="Calibri"/>
                <a:cs typeface="Calibri"/>
              </a:defRPr>
            </a:pPr>
            <a:r>
              <a:rPr sz="1275" b="0">
                <a:solidFill>
                  <a:srgbClr val="FFFFFF"/>
                </a:solidFill>
                <a:latin typeface="Calibri"/>
                <a:ea typeface="Calibri"/>
                <a:cs typeface="Calibri"/>
              </a:rPr>
              <a:t>02</a:t>
            </a:r>
          </a:p>
        </p:txBody>
      </p:sp>
      <p:sp>
        <p:nvSpPr>
          <p:cNvPr id="9" name="text-10">
            <a:extLst xmlns:a="http://schemas.openxmlformats.org/drawingml/2006/main">
              <a:ext uri="{FF2B5EF4-FFF2-40B4-BE49-F238E27FC236}">
                <a16:creationId xmlns:a16="http://schemas.microsoft.com/office/drawing/2014/main" id="{328BC616-690A-4920-ABD1-2CB7A6AFF82F}"/>
              </a:ext>
            </a:extLst>
          </p:cNvPr>
          <p:cNvSpPr>
            <a:spLocks xmlns:a="http://schemas.openxmlformats.org/drawingml/2006/main" noGrp="1"/>
          </p:cNvSpPr>
          <p:nvPr/>
        </p:nvSpPr>
        <p:spPr>
          <a:xfrm xmlns:a="http://schemas.openxmlformats.org/drawingml/2006/main">
            <a:off x="457200" y="2190750"/>
            <a:ext cx="495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KASUS USAHA DEKORASI RUMAH</a:t>
            </a:r>
          </a:p>
        </p:txBody>
      </p:sp>
      <p:sp>
        <p:nvSpPr>
          <p:cNvPr id="10" name="text-11">
            <a:extLst xmlns:a="http://schemas.openxmlformats.org/drawingml/2006/main">
              <a:ext uri="{FF2B5EF4-FFF2-40B4-BE49-F238E27FC236}">
                <a16:creationId xmlns:a16="http://schemas.microsoft.com/office/drawing/2014/main" id="{9C039BB3-CF5B-4AAF-844F-C61DCC1FED82}"/>
              </a:ext>
            </a:extLst>
          </p:cNvPr>
          <p:cNvSpPr>
            <a:spLocks xmlns:a="http://schemas.openxmlformats.org/drawingml/2006/main" noGrp="1"/>
          </p:cNvSpPr>
          <p:nvPr/>
        </p:nvSpPr>
        <p:spPr>
          <a:xfrm xmlns:a="http://schemas.openxmlformats.org/drawingml/2006/main">
            <a:off x="457200" y="2686050"/>
            <a:ext cx="5000625" cy="193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002B28"/>
                </a:solidFill>
                <a:latin typeface="Calibri"/>
                <a:ea typeface="Calibri"/>
                <a:cs typeface="Calibri"/>
              </a:defRPr>
            </a:pPr>
            <a:r>
              <a:rPr sz="3300" b="1">
                <a:solidFill>
                  <a:srgbClr val="002B28"/>
                </a:solidFill>
                <a:latin typeface="Calibri"/>
                <a:ea typeface="Calibri"/>
                <a:cs typeface="Calibri"/>
              </a:rPr>
              <a:t>“Buyer minta</a:t>
            </a:r>
          </a:p>
          <a:p xmlns:a="http://schemas.openxmlformats.org/drawingml/2006/main">
            <a:pPr>
              <a:defRPr sz="3300" b="1">
                <a:solidFill>
                  <a:srgbClr val="002B28"/>
                </a:solidFill>
                <a:latin typeface="Calibri"/>
                <a:ea typeface="Calibri"/>
                <a:cs typeface="Calibri"/>
              </a:defRPr>
            </a:pPr>
            <a:r>
              <a:rPr sz="3300" b="1">
                <a:solidFill>
                  <a:srgbClr val="002B28"/>
                </a:solidFill>
                <a:latin typeface="Calibri"/>
                <a:ea typeface="Calibri"/>
                <a:cs typeface="Calibri"/>
              </a:rPr>
              <a:t>pesanan besar.</a:t>
            </a:r>
          </a:p>
          <a:p xmlns:a="http://schemas.openxmlformats.org/drawingml/2006/main">
            <a:pPr>
              <a:defRPr sz="3300" b="1">
                <a:solidFill>
                  <a:srgbClr val="002B28"/>
                </a:solidFill>
                <a:latin typeface="Calibri"/>
                <a:ea typeface="Calibri"/>
                <a:cs typeface="Calibri"/>
              </a:defRPr>
            </a:pPr>
            <a:r>
              <a:rPr sz="3300" b="1">
                <a:solidFill>
                  <a:srgbClr val="002B28"/>
                </a:solidFill>
                <a:latin typeface="Calibri"/>
                <a:ea typeface="Calibri"/>
                <a:cs typeface="Calibri"/>
              </a:rPr>
              <a:t>Langsung kita ambil?”</a:t>
            </a:r>
          </a:p>
        </p:txBody>
      </p:sp>
      <p:sp>
        <p:nvSpPr>
          <p:cNvPr id="11" name="text-12">
            <a:extLst xmlns:a="http://schemas.openxmlformats.org/drawingml/2006/main">
              <a:ext uri="{FF2B5EF4-FFF2-40B4-BE49-F238E27FC236}">
                <a16:creationId xmlns:a16="http://schemas.microsoft.com/office/drawing/2014/main" id="{219372F9-4DE0-4D3E-9244-29733829FCBA}"/>
              </a:ext>
            </a:extLst>
          </p:cNvPr>
          <p:cNvSpPr>
            <a:spLocks xmlns:a="http://schemas.openxmlformats.org/drawingml/2006/main" noGrp="1"/>
          </p:cNvSpPr>
          <p:nvPr/>
        </p:nvSpPr>
        <p:spPr>
          <a:xfrm xmlns:a="http://schemas.openxmlformats.org/drawingml/2006/main">
            <a:off x="457200" y="4781550"/>
            <a:ext cx="5048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B6C65"/>
                </a:solidFill>
                <a:latin typeface="Calibri"/>
                <a:ea typeface="Calibri"/>
                <a:cs typeface="Calibri"/>
              </a:defRPr>
            </a:pPr>
            <a:r>
              <a:rPr sz="1950" b="0">
                <a:solidFill>
                  <a:srgbClr val="5B6C65"/>
                </a:solidFill>
                <a:latin typeface="Calibri"/>
                <a:ea typeface="Calibri"/>
                <a:cs typeface="Calibri"/>
              </a:rPr>
              <a:t>Apa yang sudah terbukti?</a:t>
            </a:r>
          </a:p>
          <a:p xmlns:a="http://schemas.openxmlformats.org/drawingml/2006/main">
            <a:pPr>
              <a:defRPr sz="1950" b="0">
                <a:solidFill>
                  <a:srgbClr val="5B6C65"/>
                </a:solidFill>
                <a:latin typeface="Calibri"/>
                <a:ea typeface="Calibri"/>
                <a:cs typeface="Calibri"/>
              </a:defRPr>
            </a:pPr>
            <a:r>
              <a:rPr sz="1950" b="0">
                <a:solidFill>
                  <a:srgbClr val="5B6C65"/>
                </a:solidFill>
                <a:latin typeface="Calibri"/>
                <a:ea typeface="Calibri"/>
                <a:cs typeface="Calibri"/>
              </a:rPr>
              <a:t>Apa yang masih kita asumsikan?</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ddad89b9ba8143bf"/>
          <a:stretch xmlns:a="http://schemas.openxmlformats.org/drawingml/2006/main"/>
        </p:blipFill>
        <p:spPr>
          <a:xfrm xmlns:a="http://schemas.openxmlformats.org/drawingml/2006/main">
            <a:off x="5924550" y="2087563"/>
            <a:ext cx="5810250" cy="3873500"/>
          </a:xfrm>
          <a:prstGeom xmlns:a="http://schemas.openxmlformats.org/drawingml/2006/main" prst="rect">
            <a:avLst/>
          </a:prstGeom>
        </p:spPr>
      </p:pic>
      <p:sp>
        <p:nvSpPr>
          <p:cNvPr id="13" name="text-13">
            <a:extLst xmlns:a="http://schemas.openxmlformats.org/drawingml/2006/main">
              <a:ext uri="{FF2B5EF4-FFF2-40B4-BE49-F238E27FC236}">
                <a16:creationId xmlns:a16="http://schemas.microsoft.com/office/drawing/2014/main" id="{5D89B89E-58BC-4E34-928B-C06DE46A6B43}"/>
              </a:ext>
            </a:extLst>
          </p:cNvPr>
          <p:cNvSpPr>
            <a:spLocks xmlns:a="http://schemas.openxmlformats.org/drawingml/2006/main" noGrp="1"/>
          </p:cNvSpPr>
          <p:nvPr/>
        </p:nvSpPr>
        <p:spPr>
          <a:xfrm xmlns:a="http://schemas.openxmlformats.org/drawingml/2006/main">
            <a:off x="9172575" y="5953125"/>
            <a:ext cx="25622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Ilustrasi AI untuk kasus fiktif.</a:t>
            </a:r>
          </a:p>
        </p:txBody>
      </p:sp>
    </p:spTree>
    <p:extLst>
      <p:ext uri="{BB962C8B-B14F-4D97-AF65-F5344CB8AC3E}">
        <p14:creationId xmlns:p14="http://schemas.microsoft.com/office/powerpoint/2010/main" val="1823075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665a7b099150452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BDB62CC-837E-471B-81DA-5B010AD5913B}"/>
              </a:ext>
            </a:extLst>
          </p:cNvPr>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d545f0203b4b4f16"/>
          <a:stretch xmlns:a="http://schemas.openxmlformats.org/drawingml/2006/main"/>
        </p:blipFill>
        <p:spPr>
          <a:xfrm xmlns:a="http://schemas.openxmlformats.org/drawingml/2006/main">
            <a:off x="10477500" y="228686"/>
            <a:ext cx="1257300" cy="471315"/>
          </a:xfrm>
          <a:prstGeom xmlns:a="http://schemas.openxmlformats.org/drawingml/2006/main" prst="rect">
            <a:avLst/>
          </a:prstGeom>
        </p:spPr>
      </p:pic>
      <p:sp>
        <p:nvSpPr>
          <p:cNvPr id="4" name="text-14">
            <a:extLst xmlns:a="http://schemas.openxmlformats.org/drawingml/2006/main">
              <a:ext uri="{FF2B5EF4-FFF2-40B4-BE49-F238E27FC236}">
                <a16:creationId xmlns:a16="http://schemas.microsoft.com/office/drawing/2014/main" id="{2A5BBDEC-FE31-43F2-974B-DED8EB8AA6F2}"/>
              </a:ext>
            </a:extLst>
          </p:cNvPr>
          <p:cNvSpPr>
            <a:spLocks xmlns:a="http://schemas.openxmlformats.org/drawingml/2006/main" noGrp="1"/>
          </p:cNvSpPr>
          <p:nvPr/>
        </p:nvSpPr>
        <p:spPr>
          <a:xfrm xmlns:a="http://schemas.openxmlformats.org/drawingml/2006/main">
            <a:off x="457200" y="390525"/>
            <a:ext cx="9763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62B27"/>
                </a:solidFill>
                <a:latin typeface="Calibri"/>
                <a:ea typeface="Calibri"/>
                <a:cs typeface="Calibri"/>
              </a:defRPr>
            </a:pPr>
            <a:r>
              <a:rPr sz="2700" b="1">
                <a:solidFill>
                  <a:srgbClr val="162B27"/>
                </a:solidFill>
                <a:latin typeface="Calibri"/>
                <a:ea typeface="Calibri"/>
                <a:cs typeface="Calibri"/>
              </a:rPr>
              <a:t>Founder perlu tahu kenapa ekspor layak dikejar</a:t>
            </a:r>
          </a:p>
        </p:txBody>
      </p:sp>
      <p:sp>
        <p:nvSpPr>
          <p:cNvPr id="5" name="text-15">
            <a:extLst xmlns:a="http://schemas.openxmlformats.org/drawingml/2006/main">
              <a:ext uri="{FF2B5EF4-FFF2-40B4-BE49-F238E27FC236}">
                <a16:creationId xmlns:a16="http://schemas.microsoft.com/office/drawing/2014/main" id="{DB248241-5394-434A-B97D-35048987A347}"/>
              </a:ext>
            </a:extLst>
          </p:cNvPr>
          <p:cNvSpPr>
            <a:spLocks xmlns:a="http://schemas.openxmlformats.org/drawingml/2006/main" noGrp="1"/>
          </p:cNvSpPr>
          <p:nvPr/>
        </p:nvSpPr>
        <p:spPr>
          <a:xfrm xmlns:a="http://schemas.openxmlformats.org/drawingml/2006/main">
            <a:off x="457200" y="1419225"/>
            <a:ext cx="11201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6C65"/>
                </a:solidFill>
                <a:latin typeface="Calibri"/>
                <a:ea typeface="Calibri"/>
                <a:cs typeface="Calibri"/>
              </a:defRPr>
            </a:pPr>
            <a:r>
              <a:rPr sz="1800" b="0">
                <a:solidFill>
                  <a:srgbClr val="5B6C65"/>
                </a:solidFill>
                <a:latin typeface="Calibri"/>
                <a:ea typeface="Calibri"/>
                <a:cs typeface="Calibri"/>
              </a:rPr>
              <a:t>Tujuan yang jelas membantu kita memilih buyer dan peluang yang masuk akal.</a:t>
            </a:r>
          </a:p>
        </p:txBody>
      </p:sp>
      <p:sp>
        <p:nvSpPr>
          <p:cNvPr id="6" name="text-16">
            <a:extLst xmlns:a="http://schemas.openxmlformats.org/drawingml/2006/main">
              <a:ext uri="{FF2B5EF4-FFF2-40B4-BE49-F238E27FC236}">
                <a16:creationId xmlns:a16="http://schemas.microsoft.com/office/drawing/2014/main" id="{E7D4BD38-872C-48EF-BA1F-6083195DEBE9}"/>
              </a:ext>
            </a:extLst>
          </p:cNvPr>
          <p:cNvSpPr>
            <a:spLocks xmlns:a="http://schemas.openxmlformats.org/drawingml/2006/main" noGrp="1"/>
          </p:cNvSpPr>
          <p:nvPr/>
        </p:nvSpPr>
        <p:spPr>
          <a:xfrm xmlns:a="http://schemas.openxmlformats.org/drawingml/2006/main">
            <a:off x="457200" y="6134100"/>
            <a:ext cx="11191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Adaptasi Modul 1 CEO Masterclass</a:t>
            </a:r>
          </a:p>
        </p:txBody>
      </p:sp>
      <p:sp>
        <p:nvSpPr>
          <p:cNvPr id="7" name="text-17">
            <a:extLst xmlns:a="http://schemas.openxmlformats.org/drawingml/2006/main">
              <a:ext uri="{FF2B5EF4-FFF2-40B4-BE49-F238E27FC236}">
                <a16:creationId xmlns:a16="http://schemas.microsoft.com/office/drawing/2014/main" id="{C250E610-02B5-464A-AC4E-B7EC4B1CEEC4}"/>
              </a:ext>
            </a:extLst>
          </p:cNvPr>
          <p:cNvSpPr>
            <a:spLocks xmlns:a="http://schemas.openxmlformats.org/drawingml/2006/main" noGrp="1"/>
          </p:cNvSpPr>
          <p:nvPr/>
        </p:nvSpPr>
        <p:spPr>
          <a:xfrm xmlns:a="http://schemas.openxmlformats.org/drawingml/2006/main">
            <a:off x="457200" y="6534150"/>
            <a:ext cx="571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CMC × BD Ekspor</a:t>
            </a:r>
          </a:p>
        </p:txBody>
      </p:sp>
      <p:sp>
        <p:nvSpPr>
          <p:cNvPr id="8" name="text-18">
            <a:extLst xmlns:a="http://schemas.openxmlformats.org/drawingml/2006/main">
              <a:ext uri="{FF2B5EF4-FFF2-40B4-BE49-F238E27FC236}">
                <a16:creationId xmlns:a16="http://schemas.microsoft.com/office/drawing/2014/main" id="{DC7AB765-8813-4C57-BF78-DFF86F47FB03}"/>
              </a:ext>
            </a:extLst>
          </p:cNvPr>
          <p:cNvSpPr>
            <a:spLocks xmlns:a="http://schemas.openxmlformats.org/drawingml/2006/main" noGrp="1"/>
          </p:cNvSpPr>
          <p:nvPr/>
        </p:nvSpPr>
        <p:spPr>
          <a:xfrm xmlns:a="http://schemas.openxmlformats.org/drawingml/2006/main">
            <a:off x="11258550" y="65055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Calibri"/>
                <a:ea typeface="Calibri"/>
                <a:cs typeface="Calibri"/>
              </a:defRPr>
            </a:pPr>
            <a:r>
              <a:rPr sz="1275" b="0">
                <a:solidFill>
                  <a:srgbClr val="FFFFFF"/>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02A37EB-735C-4467-9243-C59056BC00EC}"/>
              </a:ext>
            </a:extLst>
          </p:cNvPr>
          <p:cNvSpPr>
            <a:spLocks xmlns:a="http://schemas.openxmlformats.org/drawingml/2006/main" noGrp="1"/>
          </p:cNvSpPr>
          <p:nvPr/>
        </p:nvSpPr>
        <p:spPr>
          <a:xfrm xmlns:a="http://schemas.openxmlformats.org/drawingml/2006/main">
            <a:off x="781050" y="2133600"/>
            <a:ext cx="3086100" cy="3086100"/>
          </a:xfrm>
          <a:prstGeom xmlns:a="http://schemas.openxmlformats.org/drawingml/2006/main" prst="ellipse">
            <a:avLst/>
          </a:prstGeom>
          <a:noFill xmlns:a="http://schemas.openxmlformats.org/drawingml/2006/main"/>
          <a:ln xmlns:a="http://schemas.openxmlformats.org/drawingml/2006/main" w="19050">
            <a:solidFill>
              <a:srgbClr val="087958"/>
            </a:solidFill>
          </a:ln>
        </p:spPr>
      </p:sp>
      <p:sp>
        <p:nvSpPr>
          <p:cNvPr id="10" name="">
            <a:extLst xmlns:a="http://schemas.openxmlformats.org/drawingml/2006/main">
              <a:ext uri="{FF2B5EF4-FFF2-40B4-BE49-F238E27FC236}">
                <a16:creationId xmlns:a16="http://schemas.microsoft.com/office/drawing/2014/main" id="{6B884845-BE87-44D9-8CA2-8C3666D030BA}"/>
              </a:ext>
            </a:extLst>
          </p:cNvPr>
          <p:cNvSpPr>
            <a:spLocks xmlns:a="http://schemas.openxmlformats.org/drawingml/2006/main" noGrp="1"/>
          </p:cNvSpPr>
          <p:nvPr/>
        </p:nvSpPr>
        <p:spPr>
          <a:xfrm xmlns:a="http://schemas.openxmlformats.org/drawingml/2006/main">
            <a:off x="1190625" y="2543175"/>
            <a:ext cx="2266950" cy="2266950"/>
          </a:xfrm>
          <a:prstGeom xmlns:a="http://schemas.openxmlformats.org/drawingml/2006/main" prst="ellipse">
            <a:avLst/>
          </a:prstGeom>
          <a:solidFill xmlns:a="http://schemas.openxmlformats.org/drawingml/2006/main">
            <a:srgbClr val="EBF4EE"/>
          </a:solidFill>
          <a:ln xmlns:a="http://schemas.openxmlformats.org/drawingml/2006/main" w="19050">
            <a:solidFill>
              <a:srgbClr val="087958"/>
            </a:solidFill>
          </a:ln>
        </p:spPr>
      </p:sp>
      <p:sp>
        <p:nvSpPr>
          <p:cNvPr id="11" name="">
            <a:extLst xmlns:a="http://schemas.openxmlformats.org/drawingml/2006/main">
              <a:ext uri="{FF2B5EF4-FFF2-40B4-BE49-F238E27FC236}">
                <a16:creationId xmlns:a16="http://schemas.microsoft.com/office/drawing/2014/main" id="{483E20EB-8078-4893-8DA6-F63CD8EABB56}"/>
              </a:ext>
            </a:extLst>
          </p:cNvPr>
          <p:cNvSpPr>
            <a:spLocks xmlns:a="http://schemas.openxmlformats.org/drawingml/2006/main" noGrp="1"/>
          </p:cNvSpPr>
          <p:nvPr/>
        </p:nvSpPr>
        <p:spPr>
          <a:xfrm xmlns:a="http://schemas.openxmlformats.org/drawingml/2006/main">
            <a:off x="1676400" y="3028950"/>
            <a:ext cx="1295400" cy="1295400"/>
          </a:xfrm>
          <a:prstGeom xmlns:a="http://schemas.openxmlformats.org/drawingml/2006/main" prst="ellipse">
            <a:avLst/>
          </a:prstGeom>
          <a:solidFill xmlns:a="http://schemas.openxmlformats.org/drawingml/2006/main">
            <a:srgbClr val="087958"/>
          </a:solidFill>
          <a:ln xmlns:a="http://schemas.openxmlformats.org/drawingml/2006/main" w="19050">
            <a:solidFill>
              <a:srgbClr val="087958"/>
            </a:solidFill>
          </a:ln>
        </p:spPr>
      </p:sp>
      <p:sp>
        <p:nvSpPr>
          <p:cNvPr id="12" name="text-19">
            <a:extLst xmlns:a="http://schemas.openxmlformats.org/drawingml/2006/main">
              <a:ext uri="{FF2B5EF4-FFF2-40B4-BE49-F238E27FC236}">
                <a16:creationId xmlns:a16="http://schemas.microsoft.com/office/drawing/2014/main" id="{D014C1C0-5D3D-4495-93EA-F44AFE7798B8}"/>
              </a:ext>
            </a:extLst>
          </p:cNvPr>
          <p:cNvSpPr>
            <a:spLocks xmlns:a="http://schemas.openxmlformats.org/drawingml/2006/main" noGrp="1"/>
          </p:cNvSpPr>
          <p:nvPr/>
        </p:nvSpPr>
        <p:spPr>
          <a:xfrm xmlns:a="http://schemas.openxmlformats.org/drawingml/2006/main">
            <a:off x="1828800" y="3486150"/>
            <a:ext cx="1038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FFFFFF"/>
                </a:solidFill>
                <a:latin typeface="Calibri"/>
                <a:ea typeface="Calibri"/>
                <a:cs typeface="Calibri"/>
              </a:defRPr>
            </a:pPr>
            <a:r>
              <a:rPr sz="2250" b="1">
                <a:solidFill>
                  <a:srgbClr val="FFFFFF"/>
                </a:solidFill>
                <a:latin typeface="Calibri"/>
                <a:ea typeface="Calibri"/>
                <a:cs typeface="Calibri"/>
              </a:rPr>
              <a:t>WHY</a:t>
            </a:r>
          </a:p>
        </p:txBody>
      </p:sp>
      <p:sp>
        <p:nvSpPr>
          <p:cNvPr id="13" name="text-20">
            <a:extLst xmlns:a="http://schemas.openxmlformats.org/drawingml/2006/main">
              <a:ext uri="{FF2B5EF4-FFF2-40B4-BE49-F238E27FC236}">
                <a16:creationId xmlns:a16="http://schemas.microsoft.com/office/drawing/2014/main" id="{9C96D2B3-33D1-4EBC-B4BB-AADCF1B0B944}"/>
              </a:ext>
            </a:extLst>
          </p:cNvPr>
          <p:cNvSpPr>
            <a:spLocks xmlns:a="http://schemas.openxmlformats.org/drawingml/2006/main" noGrp="1"/>
          </p:cNvSpPr>
          <p:nvPr/>
        </p:nvSpPr>
        <p:spPr>
          <a:xfrm xmlns:a="http://schemas.openxmlformats.org/drawingml/2006/main">
            <a:off x="2047875" y="2686050"/>
            <a:ext cx="1000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87958"/>
                </a:solidFill>
                <a:latin typeface="Calibri"/>
                <a:ea typeface="Calibri"/>
                <a:cs typeface="Calibri"/>
              </a:defRPr>
            </a:pPr>
            <a:r>
              <a:rPr sz="1725" b="1">
                <a:solidFill>
                  <a:srgbClr val="087958"/>
                </a:solidFill>
                <a:latin typeface="Calibri"/>
                <a:ea typeface="Calibri"/>
                <a:cs typeface="Calibri"/>
              </a:rPr>
              <a:t>HOW</a:t>
            </a:r>
          </a:p>
        </p:txBody>
      </p:sp>
      <p:sp>
        <p:nvSpPr>
          <p:cNvPr id="14" name="text-21">
            <a:extLst xmlns:a="http://schemas.openxmlformats.org/drawingml/2006/main">
              <a:ext uri="{FF2B5EF4-FFF2-40B4-BE49-F238E27FC236}">
                <a16:creationId xmlns:a16="http://schemas.microsoft.com/office/drawing/2014/main" id="{3B56A7D3-A055-499B-9CE5-EAFE896E5A24}"/>
              </a:ext>
            </a:extLst>
          </p:cNvPr>
          <p:cNvSpPr>
            <a:spLocks xmlns:a="http://schemas.openxmlformats.org/drawingml/2006/main" noGrp="1"/>
          </p:cNvSpPr>
          <p:nvPr/>
        </p:nvSpPr>
        <p:spPr>
          <a:xfrm xmlns:a="http://schemas.openxmlformats.org/drawingml/2006/main">
            <a:off x="1876425" y="2238375"/>
            <a:ext cx="1066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2B28"/>
                </a:solidFill>
                <a:latin typeface="Calibri"/>
                <a:ea typeface="Calibri"/>
                <a:cs typeface="Calibri"/>
              </a:defRPr>
            </a:pPr>
            <a:r>
              <a:rPr sz="1725" b="1">
                <a:solidFill>
                  <a:srgbClr val="002B28"/>
                </a:solidFill>
                <a:latin typeface="Calibri"/>
                <a:ea typeface="Calibri"/>
                <a:cs typeface="Calibri"/>
              </a:rPr>
              <a:t>WHAT</a:t>
            </a:r>
          </a:p>
        </p:txBody>
      </p:sp>
      <p:sp>
        <p:nvSpPr>
          <p:cNvPr id="15" name="text-22">
            <a:extLst xmlns:a="http://schemas.openxmlformats.org/drawingml/2006/main">
              <a:ext uri="{FF2B5EF4-FFF2-40B4-BE49-F238E27FC236}">
                <a16:creationId xmlns:a16="http://schemas.microsoft.com/office/drawing/2014/main" id="{D1A58FC3-C799-4391-B113-308A82263F0A}"/>
              </a:ext>
            </a:extLst>
          </p:cNvPr>
          <p:cNvSpPr>
            <a:spLocks xmlns:a="http://schemas.openxmlformats.org/drawingml/2006/main" noGrp="1"/>
          </p:cNvSpPr>
          <p:nvPr/>
        </p:nvSpPr>
        <p:spPr>
          <a:xfrm xmlns:a="http://schemas.openxmlformats.org/drawingml/2006/main">
            <a:off x="4543425" y="2152650"/>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WHY</a:t>
            </a:r>
          </a:p>
        </p:txBody>
      </p:sp>
      <p:sp>
        <p:nvSpPr>
          <p:cNvPr id="16" name="text-23">
            <a:extLst xmlns:a="http://schemas.openxmlformats.org/drawingml/2006/main">
              <a:ext uri="{FF2B5EF4-FFF2-40B4-BE49-F238E27FC236}">
                <a16:creationId xmlns:a16="http://schemas.microsoft.com/office/drawing/2014/main" id="{26F33004-9A26-4D0D-8425-1D6036DC9DEF}"/>
              </a:ext>
            </a:extLst>
          </p:cNvPr>
          <p:cNvSpPr>
            <a:spLocks xmlns:a="http://schemas.openxmlformats.org/drawingml/2006/main" noGrp="1"/>
          </p:cNvSpPr>
          <p:nvPr/>
        </p:nvSpPr>
        <p:spPr>
          <a:xfrm xmlns:a="http://schemas.openxmlformats.org/drawingml/2006/main">
            <a:off x="5753100" y="2114550"/>
            <a:ext cx="5562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62B27"/>
                </a:solidFill>
                <a:latin typeface="Calibri"/>
                <a:ea typeface="Calibri"/>
                <a:cs typeface="Calibri"/>
              </a:defRPr>
            </a:pPr>
            <a:r>
              <a:rPr sz="2175" b="1">
                <a:solidFill>
                  <a:srgbClr val="162B27"/>
                </a:solidFill>
                <a:latin typeface="Calibri"/>
                <a:ea typeface="Calibri"/>
                <a:cs typeface="Calibri"/>
              </a:rPr>
              <a:t>Nilai yang ingin dibawa</a:t>
            </a:r>
          </a:p>
        </p:txBody>
      </p:sp>
      <p:sp>
        <p:nvSpPr>
          <p:cNvPr id="17" name="text-24">
            <a:extLst xmlns:a="http://schemas.openxmlformats.org/drawingml/2006/main">
              <a:ext uri="{FF2B5EF4-FFF2-40B4-BE49-F238E27FC236}">
                <a16:creationId xmlns:a16="http://schemas.microsoft.com/office/drawing/2014/main" id="{4615DEAC-CB16-4876-BE1E-C34A70002222}"/>
              </a:ext>
            </a:extLst>
          </p:cNvPr>
          <p:cNvSpPr>
            <a:spLocks xmlns:a="http://schemas.openxmlformats.org/drawingml/2006/main" noGrp="1"/>
          </p:cNvSpPr>
          <p:nvPr/>
        </p:nvSpPr>
        <p:spPr>
          <a:xfrm xmlns:a="http://schemas.openxmlformats.org/drawingml/2006/main">
            <a:off x="5753100" y="2514600"/>
            <a:ext cx="5562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B6C65"/>
                </a:solidFill>
                <a:latin typeface="Calibri"/>
                <a:ea typeface="Calibri"/>
                <a:cs typeface="Calibri"/>
              </a:defRPr>
            </a:pPr>
            <a:r>
              <a:rPr sz="1875" b="0">
                <a:solidFill>
                  <a:srgbClr val="5B6C65"/>
                </a:solidFill>
                <a:latin typeface="Calibri"/>
                <a:ea typeface="Calibri"/>
                <a:cs typeface="Calibri"/>
              </a:rPr>
              <a:t>Membantu pengrajin lokal mendapat pesanan berulang.</a:t>
            </a:r>
          </a:p>
        </p:txBody>
      </p:sp>
      <p:sp>
        <p:nvSpPr>
          <p:cNvPr id="18" name="">
            <a:extLst xmlns:a="http://schemas.openxmlformats.org/drawingml/2006/main">
              <a:ext uri="{FF2B5EF4-FFF2-40B4-BE49-F238E27FC236}">
                <a16:creationId xmlns:a16="http://schemas.microsoft.com/office/drawing/2014/main" id="{6EB1D208-A4C4-4801-9BE8-DB6F92504D3A}"/>
              </a:ext>
            </a:extLst>
          </p:cNvPr>
          <p:cNvSpPr>
            <a:spLocks xmlns:a="http://schemas.openxmlformats.org/drawingml/2006/main" noGrp="1"/>
          </p:cNvSpPr>
          <p:nvPr/>
        </p:nvSpPr>
        <p:spPr>
          <a:xfrm xmlns:a="http://schemas.openxmlformats.org/drawingml/2006/main">
            <a:off x="4543425" y="3086100"/>
            <a:ext cx="6943725"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19" name="text-25">
            <a:extLst xmlns:a="http://schemas.openxmlformats.org/drawingml/2006/main">
              <a:ext uri="{FF2B5EF4-FFF2-40B4-BE49-F238E27FC236}">
                <a16:creationId xmlns:a16="http://schemas.microsoft.com/office/drawing/2014/main" id="{B7684278-5EF8-4998-AB08-41DE9E32195E}"/>
              </a:ext>
            </a:extLst>
          </p:cNvPr>
          <p:cNvSpPr>
            <a:spLocks xmlns:a="http://schemas.openxmlformats.org/drawingml/2006/main" noGrp="1"/>
          </p:cNvSpPr>
          <p:nvPr/>
        </p:nvSpPr>
        <p:spPr>
          <a:xfrm xmlns:a="http://schemas.openxmlformats.org/drawingml/2006/main">
            <a:off x="4543425" y="3228975"/>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HOW</a:t>
            </a:r>
          </a:p>
        </p:txBody>
      </p:sp>
      <p:sp>
        <p:nvSpPr>
          <p:cNvPr id="20" name="text-26">
            <a:extLst xmlns:a="http://schemas.openxmlformats.org/drawingml/2006/main">
              <a:ext uri="{FF2B5EF4-FFF2-40B4-BE49-F238E27FC236}">
                <a16:creationId xmlns:a16="http://schemas.microsoft.com/office/drawing/2014/main" id="{8DE03E3D-1DDC-433A-9315-8A45799D1617}"/>
              </a:ext>
            </a:extLst>
          </p:cNvPr>
          <p:cNvSpPr>
            <a:spLocks xmlns:a="http://schemas.openxmlformats.org/drawingml/2006/main" noGrp="1"/>
          </p:cNvSpPr>
          <p:nvPr/>
        </p:nvSpPr>
        <p:spPr>
          <a:xfrm xmlns:a="http://schemas.openxmlformats.org/drawingml/2006/main">
            <a:off x="5753100" y="3190875"/>
            <a:ext cx="5562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62B27"/>
                </a:solidFill>
                <a:latin typeface="Calibri"/>
                <a:ea typeface="Calibri"/>
                <a:cs typeface="Calibri"/>
              </a:defRPr>
            </a:pPr>
            <a:r>
              <a:rPr sz="2175" b="1">
                <a:solidFill>
                  <a:srgbClr val="162B27"/>
                </a:solidFill>
                <a:latin typeface="Calibri"/>
                <a:ea typeface="Calibri"/>
                <a:cs typeface="Calibri"/>
              </a:rPr>
              <a:t>Cara kita memenuhi janji</a:t>
            </a:r>
          </a:p>
        </p:txBody>
      </p:sp>
      <p:sp>
        <p:nvSpPr>
          <p:cNvPr id="21" name="text-27">
            <a:extLst xmlns:a="http://schemas.openxmlformats.org/drawingml/2006/main">
              <a:ext uri="{FF2B5EF4-FFF2-40B4-BE49-F238E27FC236}">
                <a16:creationId xmlns:a16="http://schemas.microsoft.com/office/drawing/2014/main" id="{44CF648B-276A-4769-BA56-004467ECED1F}"/>
              </a:ext>
            </a:extLst>
          </p:cNvPr>
          <p:cNvSpPr>
            <a:spLocks xmlns:a="http://schemas.openxmlformats.org/drawingml/2006/main" noGrp="1"/>
          </p:cNvSpPr>
          <p:nvPr/>
        </p:nvSpPr>
        <p:spPr>
          <a:xfrm xmlns:a="http://schemas.openxmlformats.org/drawingml/2006/main">
            <a:off x="5753100" y="3590925"/>
            <a:ext cx="5562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B6C65"/>
                </a:solidFill>
                <a:latin typeface="Calibri"/>
                <a:ea typeface="Calibri"/>
                <a:cs typeface="Calibri"/>
              </a:defRPr>
            </a:pPr>
            <a:r>
              <a:rPr sz="1875" b="0">
                <a:solidFill>
                  <a:srgbClr val="5B6C65"/>
                </a:solidFill>
                <a:latin typeface="Calibri"/>
                <a:ea typeface="Calibri"/>
                <a:cs typeface="Calibri"/>
              </a:rPr>
              <a:t>Mutu konsisten, kapasitas jelas, komunikasi terbuka.</a:t>
            </a:r>
          </a:p>
        </p:txBody>
      </p:sp>
      <p:sp>
        <p:nvSpPr>
          <p:cNvPr id="22" name="">
            <a:extLst xmlns:a="http://schemas.openxmlformats.org/drawingml/2006/main">
              <a:ext uri="{FF2B5EF4-FFF2-40B4-BE49-F238E27FC236}">
                <a16:creationId xmlns:a16="http://schemas.microsoft.com/office/drawing/2014/main" id="{29978D59-E2D3-4248-B51D-844242F199DD}"/>
              </a:ext>
            </a:extLst>
          </p:cNvPr>
          <p:cNvSpPr>
            <a:spLocks xmlns:a="http://schemas.openxmlformats.org/drawingml/2006/main" noGrp="1"/>
          </p:cNvSpPr>
          <p:nvPr/>
        </p:nvSpPr>
        <p:spPr>
          <a:xfrm xmlns:a="http://schemas.openxmlformats.org/drawingml/2006/main">
            <a:off x="4543425" y="4162425"/>
            <a:ext cx="6943725"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23" name="text-28">
            <a:extLst xmlns:a="http://schemas.openxmlformats.org/drawingml/2006/main">
              <a:ext uri="{FF2B5EF4-FFF2-40B4-BE49-F238E27FC236}">
                <a16:creationId xmlns:a16="http://schemas.microsoft.com/office/drawing/2014/main" id="{403CF5D0-BEF9-4337-8FD6-0A26101D8625}"/>
              </a:ext>
            </a:extLst>
          </p:cNvPr>
          <p:cNvSpPr>
            <a:spLocks xmlns:a="http://schemas.openxmlformats.org/drawingml/2006/main" noGrp="1"/>
          </p:cNvSpPr>
          <p:nvPr/>
        </p:nvSpPr>
        <p:spPr>
          <a:xfrm xmlns:a="http://schemas.openxmlformats.org/drawingml/2006/main">
            <a:off x="4543425" y="4305300"/>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WHAT</a:t>
            </a:r>
          </a:p>
        </p:txBody>
      </p:sp>
      <p:sp>
        <p:nvSpPr>
          <p:cNvPr id="24" name="text-29">
            <a:extLst xmlns:a="http://schemas.openxmlformats.org/drawingml/2006/main">
              <a:ext uri="{FF2B5EF4-FFF2-40B4-BE49-F238E27FC236}">
                <a16:creationId xmlns:a16="http://schemas.microsoft.com/office/drawing/2014/main" id="{317CD238-D381-43FD-9A94-29D054DC73CD}"/>
              </a:ext>
            </a:extLst>
          </p:cNvPr>
          <p:cNvSpPr>
            <a:spLocks xmlns:a="http://schemas.openxmlformats.org/drawingml/2006/main" noGrp="1"/>
          </p:cNvSpPr>
          <p:nvPr/>
        </p:nvSpPr>
        <p:spPr>
          <a:xfrm xmlns:a="http://schemas.openxmlformats.org/drawingml/2006/main">
            <a:off x="5753100" y="4267200"/>
            <a:ext cx="5562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62B27"/>
                </a:solidFill>
                <a:latin typeface="Calibri"/>
                <a:ea typeface="Calibri"/>
                <a:cs typeface="Calibri"/>
              </a:defRPr>
            </a:pPr>
            <a:r>
              <a:rPr sz="2175" b="1">
                <a:solidFill>
                  <a:srgbClr val="162B27"/>
                </a:solidFill>
                <a:latin typeface="Calibri"/>
                <a:ea typeface="Calibri"/>
                <a:cs typeface="Calibri"/>
              </a:rPr>
              <a:t>Produk yang kita tawarkan</a:t>
            </a:r>
          </a:p>
        </p:txBody>
      </p:sp>
      <p:sp>
        <p:nvSpPr>
          <p:cNvPr id="25" name="text-30">
            <a:extLst xmlns:a="http://schemas.openxmlformats.org/drawingml/2006/main">
              <a:ext uri="{FF2B5EF4-FFF2-40B4-BE49-F238E27FC236}">
                <a16:creationId xmlns:a16="http://schemas.microsoft.com/office/drawing/2014/main" id="{274F7F35-3FEA-4197-A884-ED5D4A7D8CD0}"/>
              </a:ext>
            </a:extLst>
          </p:cNvPr>
          <p:cNvSpPr>
            <a:spLocks xmlns:a="http://schemas.openxmlformats.org/drawingml/2006/main" noGrp="1"/>
          </p:cNvSpPr>
          <p:nvPr/>
        </p:nvSpPr>
        <p:spPr>
          <a:xfrm xmlns:a="http://schemas.openxmlformats.org/drawingml/2006/main">
            <a:off x="5753100" y="4667250"/>
            <a:ext cx="5562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B6C65"/>
                </a:solidFill>
                <a:latin typeface="Calibri"/>
                <a:ea typeface="Calibri"/>
                <a:cs typeface="Calibri"/>
              </a:defRPr>
            </a:pPr>
            <a:r>
              <a:rPr sz="1875" b="0">
                <a:solidFill>
                  <a:srgbClr val="5B6C65"/>
                </a:solidFill>
                <a:latin typeface="Calibri"/>
                <a:ea typeface="Calibri"/>
                <a:cs typeface="Calibri"/>
              </a:rPr>
              <a:t>Dekorasi rumah dengan spesifikasi yang disepakati.</a:t>
            </a:r>
          </a:p>
        </p:txBody>
      </p:sp>
      <p:sp>
        <p:nvSpPr>
          <p:cNvPr id="26" name="">
            <a:extLst xmlns:a="http://schemas.openxmlformats.org/drawingml/2006/main">
              <a:ext uri="{FF2B5EF4-FFF2-40B4-BE49-F238E27FC236}">
                <a16:creationId xmlns:a16="http://schemas.microsoft.com/office/drawing/2014/main" id="{A5EC5A25-C9F1-4E7D-9047-B7FBBDE4B62A}"/>
              </a:ext>
            </a:extLst>
          </p:cNvPr>
          <p:cNvSpPr>
            <a:spLocks xmlns:a="http://schemas.openxmlformats.org/drawingml/2006/main" noGrp="1"/>
          </p:cNvSpPr>
          <p:nvPr/>
        </p:nvSpPr>
        <p:spPr>
          <a:xfrm xmlns:a="http://schemas.openxmlformats.org/drawingml/2006/main">
            <a:off x="457200" y="5543550"/>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27" name="text-31">
            <a:extLst xmlns:a="http://schemas.openxmlformats.org/drawingml/2006/main">
              <a:ext uri="{FF2B5EF4-FFF2-40B4-BE49-F238E27FC236}">
                <a16:creationId xmlns:a16="http://schemas.microsoft.com/office/drawing/2014/main" id="{FDA4344B-E041-4940-93C9-FC536564744A}"/>
              </a:ext>
            </a:extLst>
          </p:cNvPr>
          <p:cNvSpPr>
            <a:spLocks xmlns:a="http://schemas.openxmlformats.org/drawingml/2006/main" noGrp="1"/>
          </p:cNvSpPr>
          <p:nvPr/>
        </p:nvSpPr>
        <p:spPr>
          <a:xfrm xmlns:a="http://schemas.openxmlformats.org/drawingml/2006/main">
            <a:off x="457200" y="5743575"/>
            <a:ext cx="1123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87958"/>
                </a:solidFill>
                <a:latin typeface="Calibri"/>
                <a:ea typeface="Calibri"/>
                <a:cs typeface="Calibri"/>
              </a:defRPr>
            </a:pPr>
            <a:r>
              <a:rPr sz="1875" b="1">
                <a:solidFill>
                  <a:srgbClr val="087958"/>
                </a:solidFill>
                <a:latin typeface="Calibri"/>
                <a:ea typeface="Calibri"/>
                <a:cs typeface="Calibri"/>
              </a:rPr>
              <a:t>Cerita asal produk perlu ditopang kemampuan memenuhi kebutuhan buyer.</a:t>
            </a:r>
          </a:p>
        </p:txBody>
      </p:sp>
    </p:spTree>
    <p:extLst>
      <p:ext uri="{BB962C8B-B14F-4D97-AF65-F5344CB8AC3E}">
        <p14:creationId xmlns:p14="http://schemas.microsoft.com/office/powerpoint/2010/main" val="6925050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0249bcd9f4dc444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7323722-B743-49FD-9C24-5257DCEEF807}"/>
              </a:ext>
            </a:extLst>
          </p:cNvPr>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4f59cd3dd2ee48c1"/>
          <a:stretch xmlns:a="http://schemas.openxmlformats.org/drawingml/2006/main"/>
        </p:blipFill>
        <p:spPr>
          <a:xfrm xmlns:a="http://schemas.openxmlformats.org/drawingml/2006/main">
            <a:off x="10477500" y="228686"/>
            <a:ext cx="1257300" cy="471315"/>
          </a:xfrm>
          <a:prstGeom xmlns:a="http://schemas.openxmlformats.org/drawingml/2006/main" prst="rect">
            <a:avLst/>
          </a:prstGeom>
        </p:spPr>
      </p:pic>
      <p:sp>
        <p:nvSpPr>
          <p:cNvPr id="4" name="text-32">
            <a:extLst xmlns:a="http://schemas.openxmlformats.org/drawingml/2006/main">
              <a:ext uri="{FF2B5EF4-FFF2-40B4-BE49-F238E27FC236}">
                <a16:creationId xmlns:a16="http://schemas.microsoft.com/office/drawing/2014/main" id="{0B06DE80-269B-4D16-9F03-5EA40E61561E}"/>
              </a:ext>
            </a:extLst>
          </p:cNvPr>
          <p:cNvSpPr>
            <a:spLocks xmlns:a="http://schemas.openxmlformats.org/drawingml/2006/main" noGrp="1"/>
          </p:cNvSpPr>
          <p:nvPr/>
        </p:nvSpPr>
        <p:spPr>
          <a:xfrm xmlns:a="http://schemas.openxmlformats.org/drawingml/2006/main">
            <a:off x="457200" y="390525"/>
            <a:ext cx="9763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62B27"/>
                </a:solidFill>
                <a:latin typeface="Calibri"/>
                <a:ea typeface="Calibri"/>
                <a:cs typeface="Calibri"/>
              </a:defRPr>
            </a:pPr>
            <a:r>
              <a:rPr sz="2700" b="1">
                <a:solidFill>
                  <a:srgbClr val="162B27"/>
                </a:solidFill>
                <a:latin typeface="Calibri"/>
                <a:ea typeface="Calibri"/>
                <a:cs typeface="Calibri"/>
              </a:rPr>
              <a:t>Produk yang kita kuasai harus menjawab kebutuhan buyer</a:t>
            </a:r>
          </a:p>
        </p:txBody>
      </p:sp>
      <p:sp>
        <p:nvSpPr>
          <p:cNvPr id="5" name="text-33">
            <a:extLst xmlns:a="http://schemas.openxmlformats.org/drawingml/2006/main">
              <a:ext uri="{FF2B5EF4-FFF2-40B4-BE49-F238E27FC236}">
                <a16:creationId xmlns:a16="http://schemas.microsoft.com/office/drawing/2014/main" id="{F3774994-4F99-4170-898A-2F418B9B9E20}"/>
              </a:ext>
            </a:extLst>
          </p:cNvPr>
          <p:cNvSpPr>
            <a:spLocks xmlns:a="http://schemas.openxmlformats.org/drawingml/2006/main" noGrp="1"/>
          </p:cNvSpPr>
          <p:nvPr/>
        </p:nvSpPr>
        <p:spPr>
          <a:xfrm xmlns:a="http://schemas.openxmlformats.org/drawingml/2006/main">
            <a:off x="457200" y="1419225"/>
            <a:ext cx="11201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6C65"/>
                </a:solidFill>
                <a:latin typeface="Calibri"/>
                <a:ea typeface="Calibri"/>
                <a:cs typeface="Calibri"/>
              </a:defRPr>
            </a:pPr>
            <a:r>
              <a:rPr sz="1800" b="0">
                <a:solidFill>
                  <a:srgbClr val="5B6C65"/>
                </a:solidFill>
                <a:latin typeface="Calibri"/>
                <a:ea typeface="Calibri"/>
                <a:cs typeface="Calibri"/>
              </a:rPr>
              <a:t>Peluang ekspor perlu mempertemukan kemampuan, kebutuhan pasar, dan keuntungan.</a:t>
            </a:r>
          </a:p>
        </p:txBody>
      </p:sp>
      <p:sp>
        <p:nvSpPr>
          <p:cNvPr id="6" name="text-34">
            <a:extLst xmlns:a="http://schemas.openxmlformats.org/drawingml/2006/main">
              <a:ext uri="{FF2B5EF4-FFF2-40B4-BE49-F238E27FC236}">
                <a16:creationId xmlns:a16="http://schemas.microsoft.com/office/drawing/2014/main" id="{2F844617-412A-419A-B65B-91D2FFAA2CDB}"/>
              </a:ext>
            </a:extLst>
          </p:cNvPr>
          <p:cNvSpPr>
            <a:spLocks xmlns:a="http://schemas.openxmlformats.org/drawingml/2006/main" noGrp="1"/>
          </p:cNvSpPr>
          <p:nvPr/>
        </p:nvSpPr>
        <p:spPr>
          <a:xfrm xmlns:a="http://schemas.openxmlformats.org/drawingml/2006/main">
            <a:off x="457200" y="6134100"/>
            <a:ext cx="11191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Adaptasi Modul 1 CEO Masterclass</a:t>
            </a:r>
          </a:p>
        </p:txBody>
      </p:sp>
      <p:sp>
        <p:nvSpPr>
          <p:cNvPr id="7" name="text-35">
            <a:extLst xmlns:a="http://schemas.openxmlformats.org/drawingml/2006/main">
              <a:ext uri="{FF2B5EF4-FFF2-40B4-BE49-F238E27FC236}">
                <a16:creationId xmlns:a16="http://schemas.microsoft.com/office/drawing/2014/main" id="{269EF8EC-6B72-498B-AB99-D97023EDCEA4}"/>
              </a:ext>
            </a:extLst>
          </p:cNvPr>
          <p:cNvSpPr>
            <a:spLocks xmlns:a="http://schemas.openxmlformats.org/drawingml/2006/main" noGrp="1"/>
          </p:cNvSpPr>
          <p:nvPr/>
        </p:nvSpPr>
        <p:spPr>
          <a:xfrm xmlns:a="http://schemas.openxmlformats.org/drawingml/2006/main">
            <a:off x="457200" y="6534150"/>
            <a:ext cx="571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CMC × BD Ekspor</a:t>
            </a:r>
          </a:p>
        </p:txBody>
      </p:sp>
      <p:sp>
        <p:nvSpPr>
          <p:cNvPr id="8" name="text-36">
            <a:extLst xmlns:a="http://schemas.openxmlformats.org/drawingml/2006/main">
              <a:ext uri="{FF2B5EF4-FFF2-40B4-BE49-F238E27FC236}">
                <a16:creationId xmlns:a16="http://schemas.microsoft.com/office/drawing/2014/main" id="{9B0A49B0-0A7A-45CC-A8BC-9BAF25106617}"/>
              </a:ext>
            </a:extLst>
          </p:cNvPr>
          <p:cNvSpPr>
            <a:spLocks xmlns:a="http://schemas.openxmlformats.org/drawingml/2006/main" noGrp="1"/>
          </p:cNvSpPr>
          <p:nvPr/>
        </p:nvSpPr>
        <p:spPr>
          <a:xfrm xmlns:a="http://schemas.openxmlformats.org/drawingml/2006/main">
            <a:off x="11258550" y="65055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Calibri"/>
                <a:ea typeface="Calibri"/>
                <a:cs typeface="Calibri"/>
              </a:defRPr>
            </a:pPr>
            <a:r>
              <a:rPr sz="1275" b="0">
                <a:solidFill>
                  <a:srgbClr val="FFFFFF"/>
                </a:solidFill>
                <a:latin typeface="Calibri"/>
                <a:ea typeface="Calibri"/>
                <a:cs typeface="Calibri"/>
              </a:rPr>
              <a:t>04</a:t>
            </a:r>
          </a:p>
        </p:txBody>
      </p:sp>
      <p:sp>
        <p:nvSpPr>
          <p:cNvPr id="9" name="">
            <a:extLst xmlns:a="http://schemas.openxmlformats.org/drawingml/2006/main">
              <a:ext uri="{FF2B5EF4-FFF2-40B4-BE49-F238E27FC236}">
                <a16:creationId xmlns:a16="http://schemas.microsoft.com/office/drawing/2014/main" id="{776F61EF-E9AB-44BF-B761-21247B058E98}"/>
              </a:ext>
            </a:extLst>
          </p:cNvPr>
          <p:cNvSpPr>
            <a:spLocks xmlns:a="http://schemas.openxmlformats.org/drawingml/2006/main" noGrp="1"/>
          </p:cNvSpPr>
          <p:nvPr/>
        </p:nvSpPr>
        <p:spPr>
          <a:xfrm xmlns:a="http://schemas.openxmlformats.org/drawingml/2006/main">
            <a:off x="1057275" y="2124075"/>
            <a:ext cx="2381250" cy="2381250"/>
          </a:xfrm>
          <a:prstGeom xmlns:a="http://schemas.openxmlformats.org/drawingml/2006/main" prst="ellipse">
            <a:avLst/>
          </a:prstGeom>
          <a:noFill xmlns:a="http://schemas.openxmlformats.org/drawingml/2006/main"/>
          <a:ln xmlns:a="http://schemas.openxmlformats.org/drawingml/2006/main" w="19050">
            <a:solidFill>
              <a:srgbClr val="087958"/>
            </a:solidFill>
          </a:ln>
        </p:spPr>
      </p:sp>
      <p:sp>
        <p:nvSpPr>
          <p:cNvPr id="10" name="">
            <a:extLst xmlns:a="http://schemas.openxmlformats.org/drawingml/2006/main">
              <a:ext uri="{FF2B5EF4-FFF2-40B4-BE49-F238E27FC236}">
                <a16:creationId xmlns:a16="http://schemas.microsoft.com/office/drawing/2014/main" id="{1FCC2279-31F0-4D37-BA52-75DF5F631381}"/>
              </a:ext>
            </a:extLst>
          </p:cNvPr>
          <p:cNvSpPr>
            <a:spLocks xmlns:a="http://schemas.openxmlformats.org/drawingml/2006/main" noGrp="1"/>
          </p:cNvSpPr>
          <p:nvPr/>
        </p:nvSpPr>
        <p:spPr>
          <a:xfrm xmlns:a="http://schemas.openxmlformats.org/drawingml/2006/main">
            <a:off x="2962275" y="2124075"/>
            <a:ext cx="2381250" cy="2381250"/>
          </a:xfrm>
          <a:prstGeom xmlns:a="http://schemas.openxmlformats.org/drawingml/2006/main" prst="ellipse">
            <a:avLst/>
          </a:prstGeom>
          <a:noFill xmlns:a="http://schemas.openxmlformats.org/drawingml/2006/main"/>
          <a:ln xmlns:a="http://schemas.openxmlformats.org/drawingml/2006/main" w="19050">
            <a:solidFill>
              <a:srgbClr val="95BBA9"/>
            </a:solidFill>
          </a:ln>
        </p:spPr>
      </p:sp>
      <p:sp>
        <p:nvSpPr>
          <p:cNvPr id="11" name="">
            <a:extLst xmlns:a="http://schemas.openxmlformats.org/drawingml/2006/main">
              <a:ext uri="{FF2B5EF4-FFF2-40B4-BE49-F238E27FC236}">
                <a16:creationId xmlns:a16="http://schemas.microsoft.com/office/drawing/2014/main" id="{08596726-5540-4787-9CF6-A46F56464507}"/>
              </a:ext>
            </a:extLst>
          </p:cNvPr>
          <p:cNvSpPr>
            <a:spLocks xmlns:a="http://schemas.openxmlformats.org/drawingml/2006/main" noGrp="1"/>
          </p:cNvSpPr>
          <p:nvPr/>
        </p:nvSpPr>
        <p:spPr>
          <a:xfrm xmlns:a="http://schemas.openxmlformats.org/drawingml/2006/main">
            <a:off x="2009775" y="3057525"/>
            <a:ext cx="2381250" cy="2381250"/>
          </a:xfrm>
          <a:prstGeom xmlns:a="http://schemas.openxmlformats.org/drawingml/2006/main" prst="ellipse">
            <a:avLst/>
          </a:prstGeom>
          <a:noFill xmlns:a="http://schemas.openxmlformats.org/drawingml/2006/main"/>
          <a:ln xmlns:a="http://schemas.openxmlformats.org/drawingml/2006/main" w="19050">
            <a:solidFill>
              <a:srgbClr val="002B28"/>
            </a:solidFill>
          </a:ln>
        </p:spPr>
      </p:sp>
      <p:sp>
        <p:nvSpPr>
          <p:cNvPr id="12" name="text-37">
            <a:extLst xmlns:a="http://schemas.openxmlformats.org/drawingml/2006/main">
              <a:ext uri="{FF2B5EF4-FFF2-40B4-BE49-F238E27FC236}">
                <a16:creationId xmlns:a16="http://schemas.microsoft.com/office/drawing/2014/main" id="{D7EB58DD-6D26-4870-895B-2E64C63848EF}"/>
              </a:ext>
            </a:extLst>
          </p:cNvPr>
          <p:cNvSpPr>
            <a:spLocks xmlns:a="http://schemas.openxmlformats.org/drawingml/2006/main" noGrp="1"/>
          </p:cNvSpPr>
          <p:nvPr/>
        </p:nvSpPr>
        <p:spPr>
          <a:xfrm xmlns:a="http://schemas.openxmlformats.org/drawingml/2006/main">
            <a:off x="1362075" y="2619375"/>
            <a:ext cx="15621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87958"/>
                </a:solidFill>
                <a:latin typeface="Calibri"/>
                <a:ea typeface="Calibri"/>
                <a:cs typeface="Calibri"/>
              </a:defRPr>
            </a:pPr>
            <a:r>
              <a:rPr sz="2100" b="1">
                <a:solidFill>
                  <a:srgbClr val="087958"/>
                </a:solidFill>
                <a:latin typeface="Calibri"/>
                <a:ea typeface="Calibri"/>
                <a:cs typeface="Calibri"/>
              </a:rPr>
              <a:t>KITA</a:t>
            </a:r>
          </a:p>
          <a:p xmlns:a="http://schemas.openxmlformats.org/drawingml/2006/main">
            <a:pPr>
              <a:defRPr sz="2100" b="1">
                <a:solidFill>
                  <a:srgbClr val="087958"/>
                </a:solidFill>
                <a:latin typeface="Calibri"/>
                <a:ea typeface="Calibri"/>
                <a:cs typeface="Calibri"/>
              </a:defRPr>
            </a:pPr>
            <a:r>
              <a:rPr sz="2100" b="1">
                <a:solidFill>
                  <a:srgbClr val="087958"/>
                </a:solidFill>
                <a:latin typeface="Calibri"/>
                <a:ea typeface="Calibri"/>
                <a:cs typeface="Calibri"/>
              </a:rPr>
              <a:t>MAMPU</a:t>
            </a:r>
          </a:p>
        </p:txBody>
      </p:sp>
      <p:sp>
        <p:nvSpPr>
          <p:cNvPr id="13" name="text-38">
            <a:extLst xmlns:a="http://schemas.openxmlformats.org/drawingml/2006/main">
              <a:ext uri="{FF2B5EF4-FFF2-40B4-BE49-F238E27FC236}">
                <a16:creationId xmlns:a16="http://schemas.microsoft.com/office/drawing/2014/main" id="{77AD0A42-FE97-4D6C-A5F6-50F2E6AD4F6A}"/>
              </a:ext>
            </a:extLst>
          </p:cNvPr>
          <p:cNvSpPr>
            <a:spLocks xmlns:a="http://schemas.openxmlformats.org/drawingml/2006/main" noGrp="1"/>
          </p:cNvSpPr>
          <p:nvPr/>
        </p:nvSpPr>
        <p:spPr>
          <a:xfrm xmlns:a="http://schemas.openxmlformats.org/drawingml/2006/main">
            <a:off x="3800475" y="2619375"/>
            <a:ext cx="14668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87958"/>
                </a:solidFill>
                <a:latin typeface="Calibri"/>
                <a:ea typeface="Calibri"/>
                <a:cs typeface="Calibri"/>
              </a:defRPr>
            </a:pPr>
            <a:r>
              <a:rPr sz="2100" b="1">
                <a:solidFill>
                  <a:srgbClr val="087958"/>
                </a:solidFill>
                <a:latin typeface="Calibri"/>
                <a:ea typeface="Calibri"/>
                <a:cs typeface="Calibri"/>
              </a:rPr>
              <a:t>BUYER</a:t>
            </a:r>
          </a:p>
          <a:p xmlns:a="http://schemas.openxmlformats.org/drawingml/2006/main">
            <a:pPr>
              <a:defRPr sz="2100" b="1">
                <a:solidFill>
                  <a:srgbClr val="087958"/>
                </a:solidFill>
                <a:latin typeface="Calibri"/>
                <a:ea typeface="Calibri"/>
                <a:cs typeface="Calibri"/>
              </a:defRPr>
            </a:pPr>
            <a:r>
              <a:rPr sz="2100" b="1">
                <a:solidFill>
                  <a:srgbClr val="087958"/>
                </a:solidFill>
                <a:latin typeface="Calibri"/>
                <a:ea typeface="Calibri"/>
                <a:cs typeface="Calibri"/>
              </a:rPr>
              <a:t>BUTUH</a:t>
            </a:r>
          </a:p>
        </p:txBody>
      </p:sp>
      <p:sp>
        <p:nvSpPr>
          <p:cNvPr id="14" name="text-39">
            <a:extLst xmlns:a="http://schemas.openxmlformats.org/drawingml/2006/main">
              <a:ext uri="{FF2B5EF4-FFF2-40B4-BE49-F238E27FC236}">
                <a16:creationId xmlns:a16="http://schemas.microsoft.com/office/drawing/2014/main" id="{5E03FE73-74F9-4490-B0CB-75ECB2CC6684}"/>
              </a:ext>
            </a:extLst>
          </p:cNvPr>
          <p:cNvSpPr>
            <a:spLocks xmlns:a="http://schemas.openxmlformats.org/drawingml/2006/main" noGrp="1"/>
          </p:cNvSpPr>
          <p:nvPr/>
        </p:nvSpPr>
        <p:spPr>
          <a:xfrm xmlns:a="http://schemas.openxmlformats.org/drawingml/2006/main">
            <a:off x="2533650" y="4486275"/>
            <a:ext cx="17526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02B28"/>
                </a:solidFill>
                <a:latin typeface="Calibri"/>
                <a:ea typeface="Calibri"/>
                <a:cs typeface="Calibri"/>
              </a:defRPr>
            </a:pPr>
            <a:r>
              <a:rPr sz="2100" b="1">
                <a:solidFill>
                  <a:srgbClr val="002B28"/>
                </a:solidFill>
                <a:latin typeface="Calibri"/>
                <a:ea typeface="Calibri"/>
                <a:cs typeface="Calibri"/>
              </a:rPr>
              <a:t>BISNIS</a:t>
            </a:r>
          </a:p>
          <a:p xmlns:a="http://schemas.openxmlformats.org/drawingml/2006/main">
            <a:pPr>
              <a:defRPr sz="2100" b="1">
                <a:solidFill>
                  <a:srgbClr val="002B28"/>
                </a:solidFill>
                <a:latin typeface="Calibri"/>
                <a:ea typeface="Calibri"/>
                <a:cs typeface="Calibri"/>
              </a:defRPr>
            </a:pPr>
            <a:r>
              <a:rPr sz="2100" b="1">
                <a:solidFill>
                  <a:srgbClr val="002B28"/>
                </a:solidFill>
                <a:latin typeface="Calibri"/>
                <a:ea typeface="Calibri"/>
                <a:cs typeface="Calibri"/>
              </a:rPr>
              <a:t>UNTUNG</a:t>
            </a:r>
          </a:p>
        </p:txBody>
      </p:sp>
      <p:sp>
        <p:nvSpPr>
          <p:cNvPr id="15" name="">
            <a:extLst xmlns:a="http://schemas.openxmlformats.org/drawingml/2006/main">
              <a:ext uri="{FF2B5EF4-FFF2-40B4-BE49-F238E27FC236}">
                <a16:creationId xmlns:a16="http://schemas.microsoft.com/office/drawing/2014/main" id="{F10BF426-8614-43B2-9A79-AF1DB53B03C1}"/>
              </a:ext>
            </a:extLst>
          </p:cNvPr>
          <p:cNvSpPr>
            <a:spLocks xmlns:a="http://schemas.openxmlformats.org/drawingml/2006/main" noGrp="1"/>
          </p:cNvSpPr>
          <p:nvPr/>
        </p:nvSpPr>
        <p:spPr>
          <a:xfrm xmlns:a="http://schemas.openxmlformats.org/drawingml/2006/main">
            <a:off x="2905125" y="3590925"/>
            <a:ext cx="552450" cy="552450"/>
          </a:xfrm>
          <a:prstGeom xmlns:a="http://schemas.openxmlformats.org/drawingml/2006/main" prst="ellipse">
            <a:avLst/>
          </a:prstGeom>
          <a:solidFill xmlns:a="http://schemas.openxmlformats.org/drawingml/2006/main">
            <a:srgbClr val="087958"/>
          </a:solidFill>
          <a:ln xmlns:a="http://schemas.openxmlformats.org/drawingml/2006/main" w="19050">
            <a:solidFill>
              <a:srgbClr val="087958"/>
            </a:solidFill>
          </a:ln>
        </p:spPr>
      </p:sp>
      <p:sp>
        <p:nvSpPr>
          <p:cNvPr id="16" name="text-40">
            <a:extLst xmlns:a="http://schemas.openxmlformats.org/drawingml/2006/main">
              <a:ext uri="{FF2B5EF4-FFF2-40B4-BE49-F238E27FC236}">
                <a16:creationId xmlns:a16="http://schemas.microsoft.com/office/drawing/2014/main" id="{8E0CAC66-A470-40F7-BB2A-9FCFC31C06E9}"/>
              </a:ext>
            </a:extLst>
          </p:cNvPr>
          <p:cNvSpPr>
            <a:spLocks xmlns:a="http://schemas.openxmlformats.org/drawingml/2006/main" noGrp="1"/>
          </p:cNvSpPr>
          <p:nvPr/>
        </p:nvSpPr>
        <p:spPr>
          <a:xfrm xmlns:a="http://schemas.openxmlformats.org/drawingml/2006/main">
            <a:off x="3019425" y="3733800"/>
            <a:ext cx="4095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FFFFFF"/>
                </a:solidFill>
                <a:latin typeface="Calibri"/>
                <a:ea typeface="Calibri"/>
                <a:cs typeface="Calibri"/>
              </a:defRPr>
            </a:pPr>
            <a:r>
              <a:rPr sz="1725" b="1">
                <a:solidFill>
                  <a:srgbClr val="FFFFFF"/>
                </a:solidFill>
                <a:latin typeface="Calibri"/>
                <a:ea typeface="Calibri"/>
                <a:cs typeface="Calibri"/>
              </a:rPr>
              <a:t>FIT</a:t>
            </a:r>
          </a:p>
        </p:txBody>
      </p:sp>
      <p:sp>
        <p:nvSpPr>
          <p:cNvPr id="17" name="text-41">
            <a:extLst xmlns:a="http://schemas.openxmlformats.org/drawingml/2006/main">
              <a:ext uri="{FF2B5EF4-FFF2-40B4-BE49-F238E27FC236}">
                <a16:creationId xmlns:a16="http://schemas.microsoft.com/office/drawing/2014/main" id="{7DF2C830-308D-43D4-9D49-F35E852234CF}"/>
              </a:ext>
            </a:extLst>
          </p:cNvPr>
          <p:cNvSpPr>
            <a:spLocks xmlns:a="http://schemas.openxmlformats.org/drawingml/2006/main" noGrp="1"/>
          </p:cNvSpPr>
          <p:nvPr/>
        </p:nvSpPr>
        <p:spPr>
          <a:xfrm xmlns:a="http://schemas.openxmlformats.org/drawingml/2006/main">
            <a:off x="6324600" y="217170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KEMAMPUAN</a:t>
            </a:r>
          </a:p>
        </p:txBody>
      </p:sp>
      <p:sp>
        <p:nvSpPr>
          <p:cNvPr id="18" name="text-42">
            <a:extLst xmlns:a="http://schemas.openxmlformats.org/drawingml/2006/main">
              <a:ext uri="{FF2B5EF4-FFF2-40B4-BE49-F238E27FC236}">
                <a16:creationId xmlns:a16="http://schemas.microsoft.com/office/drawing/2014/main" id="{AF86ED1D-3B56-4330-A55A-2A0BEF72F7FE}"/>
              </a:ext>
            </a:extLst>
          </p:cNvPr>
          <p:cNvSpPr>
            <a:spLocks xmlns:a="http://schemas.openxmlformats.org/drawingml/2006/main" noGrp="1"/>
          </p:cNvSpPr>
          <p:nvPr/>
        </p:nvSpPr>
        <p:spPr>
          <a:xfrm xmlns:a="http://schemas.openxmlformats.org/drawingml/2006/main">
            <a:off x="6324600" y="2495550"/>
            <a:ext cx="5191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62B27"/>
                </a:solidFill>
                <a:latin typeface="Calibri"/>
                <a:ea typeface="Calibri"/>
                <a:cs typeface="Calibri"/>
              </a:defRPr>
            </a:pPr>
            <a:r>
              <a:rPr sz="2025" b="0">
                <a:solidFill>
                  <a:srgbClr val="162B27"/>
                </a:solidFill>
                <a:latin typeface="Calibri"/>
                <a:ea typeface="Calibri"/>
                <a:cs typeface="Calibri"/>
              </a:rPr>
              <a:t>Kualitas dan kapasitas yang bisa diulang.</a:t>
            </a:r>
          </a:p>
        </p:txBody>
      </p:sp>
      <p:sp>
        <p:nvSpPr>
          <p:cNvPr id="19" name="">
            <a:extLst xmlns:a="http://schemas.openxmlformats.org/drawingml/2006/main">
              <a:ext uri="{FF2B5EF4-FFF2-40B4-BE49-F238E27FC236}">
                <a16:creationId xmlns:a16="http://schemas.microsoft.com/office/drawing/2014/main" id="{90553C2F-0B1A-4D81-98D6-E24B6FC4CFA4}"/>
              </a:ext>
            </a:extLst>
          </p:cNvPr>
          <p:cNvSpPr>
            <a:spLocks xmlns:a="http://schemas.openxmlformats.org/drawingml/2006/main" noGrp="1"/>
          </p:cNvSpPr>
          <p:nvPr/>
        </p:nvSpPr>
        <p:spPr>
          <a:xfrm xmlns:a="http://schemas.openxmlformats.org/drawingml/2006/main">
            <a:off x="6324600" y="3067050"/>
            <a:ext cx="52197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20" name="text-43">
            <a:extLst xmlns:a="http://schemas.openxmlformats.org/drawingml/2006/main">
              <a:ext uri="{FF2B5EF4-FFF2-40B4-BE49-F238E27FC236}">
                <a16:creationId xmlns:a16="http://schemas.microsoft.com/office/drawing/2014/main" id="{AF914430-7083-4C2C-8EBB-17A95283E76B}"/>
              </a:ext>
            </a:extLst>
          </p:cNvPr>
          <p:cNvSpPr>
            <a:spLocks xmlns:a="http://schemas.openxmlformats.org/drawingml/2006/main" noGrp="1"/>
          </p:cNvSpPr>
          <p:nvPr/>
        </p:nvSpPr>
        <p:spPr>
          <a:xfrm xmlns:a="http://schemas.openxmlformats.org/drawingml/2006/main">
            <a:off x="6324600" y="323850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KEBUTUHAN BUYER</a:t>
            </a:r>
          </a:p>
        </p:txBody>
      </p:sp>
      <p:sp>
        <p:nvSpPr>
          <p:cNvPr id="21" name="text-44">
            <a:extLst xmlns:a="http://schemas.openxmlformats.org/drawingml/2006/main">
              <a:ext uri="{FF2B5EF4-FFF2-40B4-BE49-F238E27FC236}">
                <a16:creationId xmlns:a16="http://schemas.microsoft.com/office/drawing/2014/main" id="{5EA0F274-AA7C-4A4B-A1C4-8A7089E9069C}"/>
              </a:ext>
            </a:extLst>
          </p:cNvPr>
          <p:cNvSpPr>
            <a:spLocks xmlns:a="http://schemas.openxmlformats.org/drawingml/2006/main" noGrp="1"/>
          </p:cNvSpPr>
          <p:nvPr/>
        </p:nvSpPr>
        <p:spPr>
          <a:xfrm xmlns:a="http://schemas.openxmlformats.org/drawingml/2006/main">
            <a:off x="6324600" y="3562350"/>
            <a:ext cx="5191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62B27"/>
                </a:solidFill>
                <a:latin typeface="Calibri"/>
                <a:ea typeface="Calibri"/>
                <a:cs typeface="Calibri"/>
              </a:defRPr>
            </a:pPr>
            <a:r>
              <a:rPr sz="2025" b="0">
                <a:solidFill>
                  <a:srgbClr val="162B27"/>
                </a:solidFill>
                <a:latin typeface="Calibri"/>
                <a:ea typeface="Calibri"/>
                <a:cs typeface="Calibri"/>
              </a:rPr>
              <a:t>Produk, ukuran, dan kemasan yang relevan.</a:t>
            </a:r>
          </a:p>
        </p:txBody>
      </p:sp>
      <p:sp>
        <p:nvSpPr>
          <p:cNvPr id="22" name="">
            <a:extLst xmlns:a="http://schemas.openxmlformats.org/drawingml/2006/main">
              <a:ext uri="{FF2B5EF4-FFF2-40B4-BE49-F238E27FC236}">
                <a16:creationId xmlns:a16="http://schemas.microsoft.com/office/drawing/2014/main" id="{FCC5A7EB-5AE3-4517-AD26-216276ACEBCE}"/>
              </a:ext>
            </a:extLst>
          </p:cNvPr>
          <p:cNvSpPr>
            <a:spLocks xmlns:a="http://schemas.openxmlformats.org/drawingml/2006/main" noGrp="1"/>
          </p:cNvSpPr>
          <p:nvPr/>
        </p:nvSpPr>
        <p:spPr>
          <a:xfrm xmlns:a="http://schemas.openxmlformats.org/drawingml/2006/main">
            <a:off x="6324600" y="4133850"/>
            <a:ext cx="52197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23" name="text-45">
            <a:extLst xmlns:a="http://schemas.openxmlformats.org/drawingml/2006/main">
              <a:ext uri="{FF2B5EF4-FFF2-40B4-BE49-F238E27FC236}">
                <a16:creationId xmlns:a16="http://schemas.microsoft.com/office/drawing/2014/main" id="{B524FA6C-AD8F-4591-AAC7-2EE014660FA3}"/>
              </a:ext>
            </a:extLst>
          </p:cNvPr>
          <p:cNvSpPr>
            <a:spLocks xmlns:a="http://schemas.openxmlformats.org/drawingml/2006/main" noGrp="1"/>
          </p:cNvSpPr>
          <p:nvPr/>
        </p:nvSpPr>
        <p:spPr>
          <a:xfrm xmlns:a="http://schemas.openxmlformats.org/drawingml/2006/main">
            <a:off x="6324600" y="430530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KEUNTUNGAN</a:t>
            </a:r>
          </a:p>
        </p:txBody>
      </p:sp>
      <p:sp>
        <p:nvSpPr>
          <p:cNvPr id="24" name="text-46">
            <a:extLst xmlns:a="http://schemas.openxmlformats.org/drawingml/2006/main">
              <a:ext uri="{FF2B5EF4-FFF2-40B4-BE49-F238E27FC236}">
                <a16:creationId xmlns:a16="http://schemas.microsoft.com/office/drawing/2014/main" id="{C80CF722-E82A-4C4A-B856-953279A16D54}"/>
              </a:ext>
            </a:extLst>
          </p:cNvPr>
          <p:cNvSpPr>
            <a:spLocks xmlns:a="http://schemas.openxmlformats.org/drawingml/2006/main" noGrp="1"/>
          </p:cNvSpPr>
          <p:nvPr/>
        </p:nvSpPr>
        <p:spPr>
          <a:xfrm xmlns:a="http://schemas.openxmlformats.org/drawingml/2006/main">
            <a:off x="6324600" y="4629150"/>
            <a:ext cx="5191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62B27"/>
                </a:solidFill>
                <a:latin typeface="Calibri"/>
                <a:ea typeface="Calibri"/>
                <a:cs typeface="Calibri"/>
              </a:defRPr>
            </a:pPr>
            <a:r>
              <a:rPr sz="2025" b="0">
                <a:solidFill>
                  <a:srgbClr val="162B27"/>
                </a:solidFill>
                <a:latin typeface="Calibri"/>
                <a:ea typeface="Calibri"/>
                <a:cs typeface="Calibri"/>
              </a:rPr>
              <a:t>Harga tetap masuk setelah seluruh biaya.</a:t>
            </a:r>
          </a:p>
        </p:txBody>
      </p:sp>
      <p:sp>
        <p:nvSpPr>
          <p:cNvPr id="25" name="">
            <a:extLst xmlns:a="http://schemas.openxmlformats.org/drawingml/2006/main">
              <a:ext uri="{FF2B5EF4-FFF2-40B4-BE49-F238E27FC236}">
                <a16:creationId xmlns:a16="http://schemas.microsoft.com/office/drawing/2014/main" id="{2504A5AD-A4F2-4238-9FCF-E3EAE8F07FD0}"/>
              </a:ext>
            </a:extLst>
          </p:cNvPr>
          <p:cNvSpPr>
            <a:spLocks xmlns:a="http://schemas.openxmlformats.org/drawingml/2006/main" noGrp="1"/>
          </p:cNvSpPr>
          <p:nvPr/>
        </p:nvSpPr>
        <p:spPr>
          <a:xfrm xmlns:a="http://schemas.openxmlformats.org/drawingml/2006/main">
            <a:off x="457200" y="5543550"/>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26" name="text-47">
            <a:extLst xmlns:a="http://schemas.openxmlformats.org/drawingml/2006/main">
              <a:ext uri="{FF2B5EF4-FFF2-40B4-BE49-F238E27FC236}">
                <a16:creationId xmlns:a16="http://schemas.microsoft.com/office/drawing/2014/main" id="{078072F5-448E-4D59-9072-1B5366F3385C}"/>
              </a:ext>
            </a:extLst>
          </p:cNvPr>
          <p:cNvSpPr>
            <a:spLocks xmlns:a="http://schemas.openxmlformats.org/drawingml/2006/main" noGrp="1"/>
          </p:cNvSpPr>
          <p:nvPr/>
        </p:nvSpPr>
        <p:spPr>
          <a:xfrm xmlns:a="http://schemas.openxmlformats.org/drawingml/2006/main">
            <a:off x="457200" y="5743575"/>
            <a:ext cx="1123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87958"/>
                </a:solidFill>
                <a:latin typeface="Calibri"/>
                <a:ea typeface="Calibri"/>
                <a:cs typeface="Calibri"/>
              </a:defRPr>
            </a:pPr>
            <a:r>
              <a:rPr sz="1875" b="1">
                <a:solidFill>
                  <a:srgbClr val="087958"/>
                </a:solidFill>
                <a:latin typeface="Calibri"/>
                <a:ea typeface="Calibri"/>
                <a:cs typeface="Calibri"/>
              </a:rPr>
              <a:t>Keranjang bagus perlu cocok dengan kebutuhan buyer dan kemampuan bisnis kita.</a:t>
            </a:r>
          </a:p>
        </p:txBody>
      </p:sp>
    </p:spTree>
    <p:extLst>
      <p:ext uri="{BB962C8B-B14F-4D97-AF65-F5344CB8AC3E}">
        <p14:creationId xmlns:p14="http://schemas.microsoft.com/office/powerpoint/2010/main" val="11887951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78b2020b55c1403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A42456-D02B-4544-9534-871B25AD055B}"/>
              </a:ext>
            </a:extLst>
          </p:cNvPr>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b18df5cea4494d22"/>
          <a:stretch xmlns:a="http://schemas.openxmlformats.org/drawingml/2006/main"/>
        </p:blipFill>
        <p:spPr>
          <a:xfrm xmlns:a="http://schemas.openxmlformats.org/drawingml/2006/main">
            <a:off x="10477500" y="228686"/>
            <a:ext cx="1257300" cy="471315"/>
          </a:xfrm>
          <a:prstGeom xmlns:a="http://schemas.openxmlformats.org/drawingml/2006/main" prst="rect">
            <a:avLst/>
          </a:prstGeom>
        </p:spPr>
      </p:pic>
      <p:sp>
        <p:nvSpPr>
          <p:cNvPr id="4" name="text-48">
            <a:extLst xmlns:a="http://schemas.openxmlformats.org/drawingml/2006/main">
              <a:ext uri="{FF2B5EF4-FFF2-40B4-BE49-F238E27FC236}">
                <a16:creationId xmlns:a16="http://schemas.microsoft.com/office/drawing/2014/main" id="{1480C511-C028-4DA3-B320-182D98F7893B}"/>
              </a:ext>
            </a:extLst>
          </p:cNvPr>
          <p:cNvSpPr>
            <a:spLocks xmlns:a="http://schemas.openxmlformats.org/drawingml/2006/main" noGrp="1"/>
          </p:cNvSpPr>
          <p:nvPr/>
        </p:nvSpPr>
        <p:spPr>
          <a:xfrm xmlns:a="http://schemas.openxmlformats.org/drawingml/2006/main">
            <a:off x="457200" y="390525"/>
            <a:ext cx="9763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62B27"/>
                </a:solidFill>
                <a:latin typeface="Calibri"/>
                <a:ea typeface="Calibri"/>
                <a:cs typeface="Calibri"/>
              </a:defRPr>
            </a:pPr>
            <a:r>
              <a:rPr sz="2700" b="1">
                <a:solidFill>
                  <a:srgbClr val="162B27"/>
                </a:solidFill>
                <a:latin typeface="Calibri"/>
                <a:ea typeface="Calibri"/>
                <a:cs typeface="Calibri"/>
              </a:rPr>
              <a:t>Penolakan buyer bisa menjadi bahan memperbaiki bisnis</a:t>
            </a:r>
          </a:p>
        </p:txBody>
      </p:sp>
      <p:sp>
        <p:nvSpPr>
          <p:cNvPr id="5" name="text-49">
            <a:extLst xmlns:a="http://schemas.openxmlformats.org/drawingml/2006/main">
              <a:ext uri="{FF2B5EF4-FFF2-40B4-BE49-F238E27FC236}">
                <a16:creationId xmlns:a16="http://schemas.microsoft.com/office/drawing/2014/main" id="{A54BD776-ACAA-40E0-8628-7F3E985E0E31}"/>
              </a:ext>
            </a:extLst>
          </p:cNvPr>
          <p:cNvSpPr>
            <a:spLocks xmlns:a="http://schemas.openxmlformats.org/drawingml/2006/main" noGrp="1"/>
          </p:cNvSpPr>
          <p:nvPr/>
        </p:nvSpPr>
        <p:spPr>
          <a:xfrm xmlns:a="http://schemas.openxmlformats.org/drawingml/2006/main">
            <a:off x="457200" y="1419225"/>
            <a:ext cx="11201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6C65"/>
                </a:solidFill>
                <a:latin typeface="Calibri"/>
                <a:ea typeface="Calibri"/>
                <a:cs typeface="Calibri"/>
              </a:defRPr>
            </a:pPr>
            <a:r>
              <a:rPr sz="1800" b="0">
                <a:solidFill>
                  <a:srgbClr val="5B6C65"/>
                </a:solidFill>
                <a:latin typeface="Calibri"/>
                <a:ea typeface="Calibri"/>
                <a:cs typeface="Calibri"/>
              </a:rPr>
              <a:t>Growth mindset terlihat dari respons kita setelah mendapat masukan.</a:t>
            </a:r>
          </a:p>
        </p:txBody>
      </p:sp>
      <p:sp>
        <p:nvSpPr>
          <p:cNvPr id="6" name="text-50">
            <a:extLst xmlns:a="http://schemas.openxmlformats.org/drawingml/2006/main">
              <a:ext uri="{FF2B5EF4-FFF2-40B4-BE49-F238E27FC236}">
                <a16:creationId xmlns:a16="http://schemas.microsoft.com/office/drawing/2014/main" id="{E5292820-782F-44A7-B4FD-249A3EE7D549}"/>
              </a:ext>
            </a:extLst>
          </p:cNvPr>
          <p:cNvSpPr>
            <a:spLocks xmlns:a="http://schemas.openxmlformats.org/drawingml/2006/main" noGrp="1"/>
          </p:cNvSpPr>
          <p:nvPr/>
        </p:nvSpPr>
        <p:spPr>
          <a:xfrm xmlns:a="http://schemas.openxmlformats.org/drawingml/2006/main">
            <a:off x="457200" y="6134100"/>
            <a:ext cx="11191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Adaptasi Modul 1 CEO Masterclass</a:t>
            </a:r>
          </a:p>
        </p:txBody>
      </p:sp>
      <p:sp>
        <p:nvSpPr>
          <p:cNvPr id="7" name="text-51">
            <a:extLst xmlns:a="http://schemas.openxmlformats.org/drawingml/2006/main">
              <a:ext uri="{FF2B5EF4-FFF2-40B4-BE49-F238E27FC236}">
                <a16:creationId xmlns:a16="http://schemas.microsoft.com/office/drawing/2014/main" id="{DFC5A204-4C92-406B-9530-44527606472C}"/>
              </a:ext>
            </a:extLst>
          </p:cNvPr>
          <p:cNvSpPr>
            <a:spLocks xmlns:a="http://schemas.openxmlformats.org/drawingml/2006/main" noGrp="1"/>
          </p:cNvSpPr>
          <p:nvPr/>
        </p:nvSpPr>
        <p:spPr>
          <a:xfrm xmlns:a="http://schemas.openxmlformats.org/drawingml/2006/main">
            <a:off x="457200" y="6534150"/>
            <a:ext cx="571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CMC × BD Ekspor</a:t>
            </a:r>
          </a:p>
        </p:txBody>
      </p:sp>
      <p:sp>
        <p:nvSpPr>
          <p:cNvPr id="8" name="text-52">
            <a:extLst xmlns:a="http://schemas.openxmlformats.org/drawingml/2006/main">
              <a:ext uri="{FF2B5EF4-FFF2-40B4-BE49-F238E27FC236}">
                <a16:creationId xmlns:a16="http://schemas.microsoft.com/office/drawing/2014/main" id="{72B0C6EB-33FB-4324-BE89-A2F8D1070F8A}"/>
              </a:ext>
            </a:extLst>
          </p:cNvPr>
          <p:cNvSpPr>
            <a:spLocks xmlns:a="http://schemas.openxmlformats.org/drawingml/2006/main" noGrp="1"/>
          </p:cNvSpPr>
          <p:nvPr/>
        </p:nvSpPr>
        <p:spPr>
          <a:xfrm xmlns:a="http://schemas.openxmlformats.org/drawingml/2006/main">
            <a:off x="11258550" y="65055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Calibri"/>
                <a:ea typeface="Calibri"/>
                <a:cs typeface="Calibri"/>
              </a:defRPr>
            </a:pPr>
            <a:r>
              <a:rPr sz="1275" b="0">
                <a:solidFill>
                  <a:srgbClr val="FFFFFF"/>
                </a:solidFill>
                <a:latin typeface="Calibri"/>
                <a:ea typeface="Calibri"/>
                <a:cs typeface="Calibri"/>
              </a:rPr>
              <a:t>05</a:t>
            </a:r>
          </a:p>
        </p:txBody>
      </p:sp>
      <p:sp>
        <p:nvSpPr>
          <p:cNvPr id="9" name="">
            <a:extLst xmlns:a="http://schemas.openxmlformats.org/drawingml/2006/main">
              <a:ext uri="{FF2B5EF4-FFF2-40B4-BE49-F238E27FC236}">
                <a16:creationId xmlns:a16="http://schemas.microsoft.com/office/drawing/2014/main" id="{2F2B0490-D95C-4569-905E-2D1B8CDECC92}"/>
              </a:ext>
            </a:extLst>
          </p:cNvPr>
          <p:cNvSpPr>
            <a:spLocks xmlns:a="http://schemas.openxmlformats.org/drawingml/2006/main" noGrp="1"/>
          </p:cNvSpPr>
          <p:nvPr/>
        </p:nvSpPr>
        <p:spPr>
          <a:xfrm xmlns:a="http://schemas.openxmlformats.org/drawingml/2006/main">
            <a:off x="2647950" y="2114550"/>
            <a:ext cx="6896100" cy="695325"/>
          </a:xfrm>
          <a:prstGeom xmlns:a="http://schemas.openxmlformats.org/drawingml/2006/main" prst="rect">
            <a:avLst/>
          </a:prstGeom>
          <a:solidFill xmlns:a="http://schemas.openxmlformats.org/drawingml/2006/main">
            <a:srgbClr val="EBF4EE"/>
          </a:solidFill>
          <a:ln xmlns:a="http://schemas.openxmlformats.org/drawingml/2006/main" w="0">
            <a:noFill/>
          </a:ln>
        </p:spPr>
      </p:sp>
      <p:sp>
        <p:nvSpPr>
          <p:cNvPr id="10" name="text-53">
            <a:extLst xmlns:a="http://schemas.openxmlformats.org/drawingml/2006/main">
              <a:ext uri="{FF2B5EF4-FFF2-40B4-BE49-F238E27FC236}">
                <a16:creationId xmlns:a16="http://schemas.microsoft.com/office/drawing/2014/main" id="{F306B025-CA81-4AC9-9F23-7607F258DA4B}"/>
              </a:ext>
            </a:extLst>
          </p:cNvPr>
          <p:cNvSpPr>
            <a:spLocks xmlns:a="http://schemas.openxmlformats.org/drawingml/2006/main" noGrp="1"/>
          </p:cNvSpPr>
          <p:nvPr/>
        </p:nvSpPr>
        <p:spPr>
          <a:xfrm xmlns:a="http://schemas.openxmlformats.org/drawingml/2006/main">
            <a:off x="2981325" y="2305050"/>
            <a:ext cx="63436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2B28"/>
                </a:solidFill>
                <a:latin typeface="Calibri"/>
                <a:ea typeface="Calibri"/>
                <a:cs typeface="Calibri"/>
              </a:defRPr>
            </a:pPr>
            <a:r>
              <a:rPr sz="2175" b="1">
                <a:solidFill>
                  <a:srgbClr val="002B28"/>
                </a:solidFill>
                <a:latin typeface="Calibri"/>
                <a:ea typeface="Calibri"/>
                <a:cs typeface="Calibri"/>
              </a:rPr>
              <a:t>“Ukurannya belum cocok untuk toko kami.”</a:t>
            </a:r>
          </a:p>
        </p:txBody>
      </p:sp>
      <p:sp>
        <p:nvSpPr>
          <p:cNvPr id="11" name="">
            <a:extLst xmlns:a="http://schemas.openxmlformats.org/drawingml/2006/main">
              <a:ext uri="{FF2B5EF4-FFF2-40B4-BE49-F238E27FC236}">
                <a16:creationId xmlns:a16="http://schemas.microsoft.com/office/drawing/2014/main" id="{1A027597-6338-4C1B-A040-6DB06B6B16BF}"/>
              </a:ext>
            </a:extLst>
          </p:cNvPr>
          <p:cNvSpPr>
            <a:spLocks xmlns:a="http://schemas.openxmlformats.org/drawingml/2006/main" noGrp="1"/>
          </p:cNvSpPr>
          <p:nvPr/>
        </p:nvSpPr>
        <p:spPr>
          <a:xfrm xmlns:a="http://schemas.openxmlformats.org/drawingml/2006/main">
            <a:off x="6096000" y="2809875"/>
            <a:ext cx="0" cy="295275"/>
          </a:xfrm>
          <a:prstGeom xmlns:a="http://schemas.openxmlformats.org/drawingml/2006/main" prst="line">
            <a:avLst/>
          </a:prstGeom>
          <a:ln xmlns:a="http://schemas.openxmlformats.org/drawingml/2006/main" w="19050">
            <a:solidFill>
              <a:srgbClr val="95BBA9"/>
            </a:solidFill>
          </a:ln>
        </p:spPr>
      </p:sp>
      <p:sp>
        <p:nvSpPr>
          <p:cNvPr id="12" name="">
            <a:extLst xmlns:a="http://schemas.openxmlformats.org/drawingml/2006/main">
              <a:ext uri="{FF2B5EF4-FFF2-40B4-BE49-F238E27FC236}">
                <a16:creationId xmlns:a16="http://schemas.microsoft.com/office/drawing/2014/main" id="{7F1E8468-72F9-4BC9-9AD2-99169D0F37A8}"/>
              </a:ext>
            </a:extLst>
          </p:cNvPr>
          <p:cNvSpPr>
            <a:spLocks xmlns:a="http://schemas.openxmlformats.org/drawingml/2006/main" noGrp="1"/>
          </p:cNvSpPr>
          <p:nvPr/>
        </p:nvSpPr>
        <p:spPr>
          <a:xfrm xmlns:a="http://schemas.openxmlformats.org/drawingml/2006/main">
            <a:off x="2952750" y="3105150"/>
            <a:ext cx="6286500" cy="0"/>
          </a:xfrm>
          <a:prstGeom xmlns:a="http://schemas.openxmlformats.org/drawingml/2006/main" prst="line">
            <a:avLst/>
          </a:prstGeom>
          <a:noFill xmlns:a="http://schemas.openxmlformats.org/drawingml/2006/main"/>
          <a:ln xmlns:a="http://schemas.openxmlformats.org/drawingml/2006/main" w="19050">
            <a:solidFill>
              <a:srgbClr val="95BBA9"/>
            </a:solidFill>
          </a:ln>
        </p:spPr>
      </p:sp>
      <p:sp>
        <p:nvSpPr>
          <p:cNvPr id="13" name="">
            <a:extLst xmlns:a="http://schemas.openxmlformats.org/drawingml/2006/main">
              <a:ext uri="{FF2B5EF4-FFF2-40B4-BE49-F238E27FC236}">
                <a16:creationId xmlns:a16="http://schemas.microsoft.com/office/drawing/2014/main" id="{0ACE54D2-6C43-40CB-96DA-D0BB1070BB46}"/>
              </a:ext>
            </a:extLst>
          </p:cNvPr>
          <p:cNvSpPr>
            <a:spLocks xmlns:a="http://schemas.openxmlformats.org/drawingml/2006/main" noGrp="1"/>
          </p:cNvSpPr>
          <p:nvPr/>
        </p:nvSpPr>
        <p:spPr>
          <a:xfrm xmlns:a="http://schemas.openxmlformats.org/drawingml/2006/main">
            <a:off x="2952750" y="3105150"/>
            <a:ext cx="0" cy="342900"/>
          </a:xfrm>
          <a:prstGeom xmlns:a="http://schemas.openxmlformats.org/drawingml/2006/main" prst="line">
            <a:avLst/>
          </a:prstGeom>
          <a:ln xmlns:a="http://schemas.openxmlformats.org/drawingml/2006/main" w="19050">
            <a:solidFill>
              <a:srgbClr val="95BBA9"/>
            </a:solidFill>
          </a:ln>
        </p:spPr>
      </p:sp>
      <p:sp>
        <p:nvSpPr>
          <p:cNvPr id="14" name="">
            <a:extLst xmlns:a="http://schemas.openxmlformats.org/drawingml/2006/main">
              <a:ext uri="{FF2B5EF4-FFF2-40B4-BE49-F238E27FC236}">
                <a16:creationId xmlns:a16="http://schemas.microsoft.com/office/drawing/2014/main" id="{9A25E2B8-121A-474C-B7A9-EAD7AEC767DF}"/>
              </a:ext>
            </a:extLst>
          </p:cNvPr>
          <p:cNvSpPr>
            <a:spLocks xmlns:a="http://schemas.openxmlformats.org/drawingml/2006/main" noGrp="1"/>
          </p:cNvSpPr>
          <p:nvPr/>
        </p:nvSpPr>
        <p:spPr>
          <a:xfrm xmlns:a="http://schemas.openxmlformats.org/drawingml/2006/main">
            <a:off x="9239250" y="3105150"/>
            <a:ext cx="0" cy="342900"/>
          </a:xfrm>
          <a:prstGeom xmlns:a="http://schemas.openxmlformats.org/drawingml/2006/main" prst="line">
            <a:avLst/>
          </a:prstGeom>
          <a:ln xmlns:a="http://schemas.openxmlformats.org/drawingml/2006/main" w="19050">
            <a:solidFill>
              <a:srgbClr val="95BBA9"/>
            </a:solidFill>
          </a:ln>
        </p:spPr>
      </p:sp>
      <p:sp>
        <p:nvSpPr>
          <p:cNvPr id="15" name="text-54">
            <a:extLst xmlns:a="http://schemas.openxmlformats.org/drawingml/2006/main">
              <a:ext uri="{FF2B5EF4-FFF2-40B4-BE49-F238E27FC236}">
                <a16:creationId xmlns:a16="http://schemas.microsoft.com/office/drawing/2014/main" id="{2993A378-B710-4DFA-8F9D-3DFF79A1BE78}"/>
              </a:ext>
            </a:extLst>
          </p:cNvPr>
          <p:cNvSpPr>
            <a:spLocks xmlns:a="http://schemas.openxmlformats.org/drawingml/2006/main" noGrp="1"/>
          </p:cNvSpPr>
          <p:nvPr/>
        </p:nvSpPr>
        <p:spPr>
          <a:xfrm xmlns:a="http://schemas.openxmlformats.org/drawingml/2006/main">
            <a:off x="457200" y="3543300"/>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DEFENSIF</a:t>
            </a:r>
          </a:p>
        </p:txBody>
      </p:sp>
      <p:sp>
        <p:nvSpPr>
          <p:cNvPr id="16" name="text-55">
            <a:extLst xmlns:a="http://schemas.openxmlformats.org/drawingml/2006/main">
              <a:ext uri="{FF2B5EF4-FFF2-40B4-BE49-F238E27FC236}">
                <a16:creationId xmlns:a16="http://schemas.microsoft.com/office/drawing/2014/main" id="{FF39A99E-9A51-424C-BAF4-E7EEA4BC95D5}"/>
              </a:ext>
            </a:extLst>
          </p:cNvPr>
          <p:cNvSpPr>
            <a:spLocks xmlns:a="http://schemas.openxmlformats.org/drawingml/2006/main" noGrp="1"/>
          </p:cNvSpPr>
          <p:nvPr/>
        </p:nvSpPr>
        <p:spPr>
          <a:xfrm xmlns:a="http://schemas.openxmlformats.org/drawingml/2006/main">
            <a:off x="6638925" y="3543300"/>
            <a:ext cx="509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INGIN TAHU</a:t>
            </a:r>
          </a:p>
        </p:txBody>
      </p:sp>
      <p:sp>
        <p:nvSpPr>
          <p:cNvPr id="17" name="text-56">
            <a:extLst xmlns:a="http://schemas.openxmlformats.org/drawingml/2006/main">
              <a:ext uri="{FF2B5EF4-FFF2-40B4-BE49-F238E27FC236}">
                <a16:creationId xmlns:a16="http://schemas.microsoft.com/office/drawing/2014/main" id="{BB8D3D8F-CC1A-4D80-9CFD-13F636C35311}"/>
              </a:ext>
            </a:extLst>
          </p:cNvPr>
          <p:cNvSpPr>
            <a:spLocks xmlns:a="http://schemas.openxmlformats.org/drawingml/2006/main" noGrp="1"/>
          </p:cNvSpPr>
          <p:nvPr/>
        </p:nvSpPr>
        <p:spPr>
          <a:xfrm xmlns:a="http://schemas.openxmlformats.org/drawingml/2006/main">
            <a:off x="457200" y="3924300"/>
            <a:ext cx="466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5B6C65"/>
                </a:solidFill>
                <a:latin typeface="Calibri"/>
                <a:ea typeface="Calibri"/>
                <a:cs typeface="Calibri"/>
              </a:defRPr>
            </a:pPr>
            <a:r>
              <a:rPr sz="2550" b="1">
                <a:solidFill>
                  <a:srgbClr val="5B6C65"/>
                </a:solidFill>
                <a:latin typeface="Calibri"/>
                <a:ea typeface="Calibri"/>
                <a:cs typeface="Calibri"/>
              </a:rPr>
              <a:t>“Buyer nggak paham</a:t>
            </a:r>
          </a:p>
          <a:p xmlns:a="http://schemas.openxmlformats.org/drawingml/2006/main">
            <a:pPr>
              <a:defRPr sz="2550" b="1">
                <a:solidFill>
                  <a:srgbClr val="5B6C65"/>
                </a:solidFill>
                <a:latin typeface="Calibri"/>
                <a:ea typeface="Calibri"/>
                <a:cs typeface="Calibri"/>
              </a:defRPr>
            </a:pPr>
            <a:r>
              <a:rPr sz="2550" b="1">
                <a:solidFill>
                  <a:srgbClr val="5B6C65"/>
                </a:solidFill>
                <a:latin typeface="Calibri"/>
                <a:ea typeface="Calibri"/>
                <a:cs typeface="Calibri"/>
              </a:rPr>
              <a:t>produk kita.”</a:t>
            </a:r>
          </a:p>
        </p:txBody>
      </p:sp>
      <p:sp>
        <p:nvSpPr>
          <p:cNvPr id="18" name="text-57">
            <a:extLst xmlns:a="http://schemas.openxmlformats.org/drawingml/2006/main">
              <a:ext uri="{FF2B5EF4-FFF2-40B4-BE49-F238E27FC236}">
                <a16:creationId xmlns:a16="http://schemas.microsoft.com/office/drawing/2014/main" id="{40C5C92C-5738-47E2-8EBA-C0DCFA10E298}"/>
              </a:ext>
            </a:extLst>
          </p:cNvPr>
          <p:cNvSpPr>
            <a:spLocks xmlns:a="http://schemas.openxmlformats.org/drawingml/2006/main" noGrp="1"/>
          </p:cNvSpPr>
          <p:nvPr/>
        </p:nvSpPr>
        <p:spPr>
          <a:xfrm xmlns:a="http://schemas.openxmlformats.org/drawingml/2006/main">
            <a:off x="6638925" y="3924300"/>
            <a:ext cx="5095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087958"/>
                </a:solidFill>
                <a:latin typeface="Calibri"/>
                <a:ea typeface="Calibri"/>
                <a:cs typeface="Calibri"/>
              </a:defRPr>
            </a:pPr>
            <a:r>
              <a:rPr sz="2550" b="1">
                <a:solidFill>
                  <a:srgbClr val="087958"/>
                </a:solidFill>
                <a:latin typeface="Calibri"/>
                <a:ea typeface="Calibri"/>
                <a:cs typeface="Calibri"/>
              </a:rPr>
              <a:t>“Ukuran apa yang dicari</a:t>
            </a:r>
          </a:p>
          <a:p xmlns:a="http://schemas.openxmlformats.org/drawingml/2006/main">
            <a:pPr>
              <a:defRPr sz="2550" b="1">
                <a:solidFill>
                  <a:srgbClr val="087958"/>
                </a:solidFill>
                <a:latin typeface="Calibri"/>
                <a:ea typeface="Calibri"/>
                <a:cs typeface="Calibri"/>
              </a:defRPr>
            </a:pPr>
            <a:r>
              <a:rPr sz="2550" b="1">
                <a:solidFill>
                  <a:srgbClr val="087958"/>
                </a:solidFill>
                <a:latin typeface="Calibri"/>
                <a:ea typeface="Calibri"/>
                <a:cs typeface="Calibri"/>
              </a:rPr>
              <a:t>pelanggan Anda?”</a:t>
            </a:r>
          </a:p>
        </p:txBody>
      </p:sp>
      <p:sp>
        <p:nvSpPr>
          <p:cNvPr id="19" name="">
            <a:extLst xmlns:a="http://schemas.openxmlformats.org/drawingml/2006/main">
              <a:ext uri="{FF2B5EF4-FFF2-40B4-BE49-F238E27FC236}">
                <a16:creationId xmlns:a16="http://schemas.microsoft.com/office/drawing/2014/main" id="{7CC40829-E450-42B8-89A5-FDF088DB6532}"/>
              </a:ext>
            </a:extLst>
          </p:cNvPr>
          <p:cNvSpPr>
            <a:spLocks xmlns:a="http://schemas.openxmlformats.org/drawingml/2006/main" noGrp="1"/>
          </p:cNvSpPr>
          <p:nvPr/>
        </p:nvSpPr>
        <p:spPr>
          <a:xfrm xmlns:a="http://schemas.openxmlformats.org/drawingml/2006/main" rot="0">
            <a:off x="457200" y="5076825"/>
            <a:ext cx="381000" cy="152400"/>
          </a:xfrm>
          <a:prstGeom xmlns:a="http://schemas.openxmlformats.org/drawingml/2006/main" prst="rightArrow">
            <a:avLst/>
          </a:prstGeom>
          <a:solidFill xmlns:a="http://schemas.openxmlformats.org/drawingml/2006/main">
            <a:srgbClr val="95BBA9"/>
          </a:solidFill>
          <a:ln xmlns:a="http://schemas.openxmlformats.org/drawingml/2006/main" w="0">
            <a:noFill/>
          </a:ln>
        </p:spPr>
      </p:sp>
      <p:sp>
        <p:nvSpPr>
          <p:cNvPr id="20" name="text-58">
            <a:extLst xmlns:a="http://schemas.openxmlformats.org/drawingml/2006/main">
              <a:ext uri="{FF2B5EF4-FFF2-40B4-BE49-F238E27FC236}">
                <a16:creationId xmlns:a16="http://schemas.microsoft.com/office/drawing/2014/main" id="{4A6B1FA8-B10D-4B85-A33D-0F792A6BC3FD}"/>
              </a:ext>
            </a:extLst>
          </p:cNvPr>
          <p:cNvSpPr>
            <a:spLocks xmlns:a="http://schemas.openxmlformats.org/drawingml/2006/main" noGrp="1"/>
          </p:cNvSpPr>
          <p:nvPr/>
        </p:nvSpPr>
        <p:spPr>
          <a:xfrm xmlns:a="http://schemas.openxmlformats.org/drawingml/2006/main">
            <a:off x="1028700" y="498157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B6C65"/>
                </a:solidFill>
                <a:latin typeface="Calibri"/>
                <a:ea typeface="Calibri"/>
                <a:cs typeface="Calibri"/>
              </a:defRPr>
            </a:pPr>
            <a:r>
              <a:rPr sz="1950" b="0">
                <a:solidFill>
                  <a:srgbClr val="5B6C65"/>
                </a:solidFill>
                <a:latin typeface="Calibri"/>
                <a:ea typeface="Calibri"/>
                <a:cs typeface="Calibri"/>
              </a:rPr>
              <a:t>Pembicaraan berhenti</a:t>
            </a:r>
          </a:p>
        </p:txBody>
      </p:sp>
      <p:sp>
        <p:nvSpPr>
          <p:cNvPr id="21" name="">
            <a:extLst xmlns:a="http://schemas.openxmlformats.org/drawingml/2006/main">
              <a:ext uri="{FF2B5EF4-FFF2-40B4-BE49-F238E27FC236}">
                <a16:creationId xmlns:a16="http://schemas.microsoft.com/office/drawing/2014/main" id="{682A3D87-6D31-4632-9D5B-18F17ECD9514}"/>
              </a:ext>
            </a:extLst>
          </p:cNvPr>
          <p:cNvSpPr>
            <a:spLocks xmlns:a="http://schemas.openxmlformats.org/drawingml/2006/main" noGrp="1"/>
          </p:cNvSpPr>
          <p:nvPr/>
        </p:nvSpPr>
        <p:spPr>
          <a:xfrm xmlns:a="http://schemas.openxmlformats.org/drawingml/2006/main" rot="0">
            <a:off x="6638925" y="5076825"/>
            <a:ext cx="381000" cy="152400"/>
          </a:xfrm>
          <a:prstGeom xmlns:a="http://schemas.openxmlformats.org/drawingml/2006/main" prst="rightArrow">
            <a:avLst/>
          </a:prstGeom>
          <a:solidFill xmlns:a="http://schemas.openxmlformats.org/drawingml/2006/main">
            <a:srgbClr val="087958"/>
          </a:solidFill>
          <a:ln xmlns:a="http://schemas.openxmlformats.org/drawingml/2006/main" w="0">
            <a:noFill/>
          </a:ln>
        </p:spPr>
      </p:sp>
      <p:sp>
        <p:nvSpPr>
          <p:cNvPr id="22" name="text-59">
            <a:extLst xmlns:a="http://schemas.openxmlformats.org/drawingml/2006/main">
              <a:ext uri="{FF2B5EF4-FFF2-40B4-BE49-F238E27FC236}">
                <a16:creationId xmlns:a16="http://schemas.microsoft.com/office/drawing/2014/main" id="{2F21E6C2-705D-4828-A400-B0FB07A97595}"/>
              </a:ext>
            </a:extLst>
          </p:cNvPr>
          <p:cNvSpPr>
            <a:spLocks xmlns:a="http://schemas.openxmlformats.org/drawingml/2006/main" noGrp="1"/>
          </p:cNvSpPr>
          <p:nvPr/>
        </p:nvSpPr>
        <p:spPr>
          <a:xfrm xmlns:a="http://schemas.openxmlformats.org/drawingml/2006/main">
            <a:off x="7210425" y="4981575"/>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958"/>
                </a:solidFill>
                <a:latin typeface="Calibri"/>
                <a:ea typeface="Calibri"/>
                <a:cs typeface="Calibri"/>
              </a:defRPr>
            </a:pPr>
            <a:r>
              <a:rPr sz="1950" b="1">
                <a:solidFill>
                  <a:srgbClr val="087958"/>
                </a:solidFill>
                <a:latin typeface="Calibri"/>
                <a:ea typeface="Calibri"/>
                <a:cs typeface="Calibri"/>
              </a:rPr>
              <a:t>Ada arah untuk uji berikutnya</a:t>
            </a:r>
          </a:p>
        </p:txBody>
      </p:sp>
      <p:sp>
        <p:nvSpPr>
          <p:cNvPr id="23" name="">
            <a:extLst xmlns:a="http://schemas.openxmlformats.org/drawingml/2006/main">
              <a:ext uri="{FF2B5EF4-FFF2-40B4-BE49-F238E27FC236}">
                <a16:creationId xmlns:a16="http://schemas.microsoft.com/office/drawing/2014/main" id="{A4715562-FE26-4EB7-ACC2-12D531A85CE2}"/>
              </a:ext>
            </a:extLst>
          </p:cNvPr>
          <p:cNvSpPr>
            <a:spLocks xmlns:a="http://schemas.openxmlformats.org/drawingml/2006/main" noGrp="1"/>
          </p:cNvSpPr>
          <p:nvPr/>
        </p:nvSpPr>
        <p:spPr>
          <a:xfrm xmlns:a="http://schemas.openxmlformats.org/drawingml/2006/main">
            <a:off x="457200" y="5543550"/>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24" name="text-60">
            <a:extLst xmlns:a="http://schemas.openxmlformats.org/drawingml/2006/main">
              <a:ext uri="{FF2B5EF4-FFF2-40B4-BE49-F238E27FC236}">
                <a16:creationId xmlns:a16="http://schemas.microsoft.com/office/drawing/2014/main" id="{C462CAE3-6D2C-42B2-B6EB-AB01A7E9CFDF}"/>
              </a:ext>
            </a:extLst>
          </p:cNvPr>
          <p:cNvSpPr>
            <a:spLocks xmlns:a="http://schemas.openxmlformats.org/drawingml/2006/main" noGrp="1"/>
          </p:cNvSpPr>
          <p:nvPr/>
        </p:nvSpPr>
        <p:spPr>
          <a:xfrm xmlns:a="http://schemas.openxmlformats.org/drawingml/2006/main">
            <a:off x="457200" y="5743575"/>
            <a:ext cx="1123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87958"/>
                </a:solidFill>
                <a:latin typeface="Calibri"/>
                <a:ea typeface="Calibri"/>
                <a:cs typeface="Calibri"/>
              </a:defRPr>
            </a:pPr>
            <a:r>
              <a:rPr sz="1875" b="1">
                <a:solidFill>
                  <a:srgbClr val="087958"/>
                </a:solidFill>
                <a:latin typeface="Calibri"/>
                <a:ea typeface="Calibri"/>
                <a:cs typeface="Calibri"/>
              </a:rPr>
              <a:t>Catat masukan, cari polanya, lalu uji perubahan yang masuk akal.</a:t>
            </a:r>
          </a:p>
        </p:txBody>
      </p:sp>
    </p:spTree>
    <p:extLst>
      <p:ext uri="{BB962C8B-B14F-4D97-AF65-F5344CB8AC3E}">
        <p14:creationId xmlns:p14="http://schemas.microsoft.com/office/powerpoint/2010/main" val="7888889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e308cfe3e51343f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0A3B0E2-9704-41E0-A68E-55D40F3E4565}"/>
              </a:ext>
            </a:extLst>
          </p:cNvPr>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b136b06ce745435e"/>
          <a:stretch xmlns:a="http://schemas.openxmlformats.org/drawingml/2006/main"/>
        </p:blipFill>
        <p:spPr>
          <a:xfrm xmlns:a="http://schemas.openxmlformats.org/drawingml/2006/main">
            <a:off x="10477500" y="228686"/>
            <a:ext cx="1257300" cy="471315"/>
          </a:xfrm>
          <a:prstGeom xmlns:a="http://schemas.openxmlformats.org/drawingml/2006/main" prst="rect">
            <a:avLst/>
          </a:prstGeom>
        </p:spPr>
      </p:pic>
      <p:sp>
        <p:nvSpPr>
          <p:cNvPr id="4" name="text-61">
            <a:extLst xmlns:a="http://schemas.openxmlformats.org/drawingml/2006/main">
              <a:ext uri="{FF2B5EF4-FFF2-40B4-BE49-F238E27FC236}">
                <a16:creationId xmlns:a16="http://schemas.microsoft.com/office/drawing/2014/main" id="{988C74B4-88C7-407F-91FC-3B9C76821B6B}"/>
              </a:ext>
            </a:extLst>
          </p:cNvPr>
          <p:cNvSpPr>
            <a:spLocks xmlns:a="http://schemas.openxmlformats.org/drawingml/2006/main" noGrp="1"/>
          </p:cNvSpPr>
          <p:nvPr/>
        </p:nvSpPr>
        <p:spPr>
          <a:xfrm xmlns:a="http://schemas.openxmlformats.org/drawingml/2006/main">
            <a:off x="457200" y="390525"/>
            <a:ext cx="9763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62B27"/>
                </a:solidFill>
                <a:latin typeface="Calibri"/>
                <a:ea typeface="Calibri"/>
                <a:cs typeface="Calibri"/>
              </a:defRPr>
            </a:pPr>
            <a:r>
              <a:rPr sz="2700" b="1">
                <a:solidFill>
                  <a:srgbClr val="162B27"/>
                </a:solidFill>
                <a:latin typeface="Calibri"/>
                <a:ea typeface="Calibri"/>
                <a:cs typeface="Calibri"/>
              </a:rPr>
              <a:t>Keyakinan terhadap produk perlu diuji lewat respons pasar</a:t>
            </a:r>
          </a:p>
        </p:txBody>
      </p:sp>
      <p:sp>
        <p:nvSpPr>
          <p:cNvPr id="5" name="text-62">
            <a:extLst xmlns:a="http://schemas.openxmlformats.org/drawingml/2006/main">
              <a:ext uri="{FF2B5EF4-FFF2-40B4-BE49-F238E27FC236}">
                <a16:creationId xmlns:a16="http://schemas.microsoft.com/office/drawing/2014/main" id="{2DD28D73-7A5A-4160-941F-CC5B9141EF2C}"/>
              </a:ext>
            </a:extLst>
          </p:cNvPr>
          <p:cNvSpPr>
            <a:spLocks xmlns:a="http://schemas.openxmlformats.org/drawingml/2006/main" noGrp="1"/>
          </p:cNvSpPr>
          <p:nvPr/>
        </p:nvSpPr>
        <p:spPr>
          <a:xfrm xmlns:a="http://schemas.openxmlformats.org/drawingml/2006/main">
            <a:off x="457200" y="1419225"/>
            <a:ext cx="11201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6C65"/>
                </a:solidFill>
                <a:latin typeface="Calibri"/>
                <a:ea typeface="Calibri"/>
                <a:cs typeface="Calibri"/>
              </a:defRPr>
            </a:pPr>
            <a:r>
              <a:rPr sz="1800" b="0">
                <a:solidFill>
                  <a:srgbClr val="5B6C65"/>
                </a:solidFill>
                <a:latin typeface="Calibri"/>
                <a:ea typeface="Calibri"/>
                <a:cs typeface="Calibri"/>
              </a:rPr>
              <a:t>Build–Measure–Learn membantu kita belajar sebelum menambah stok atau kapasitas.</a:t>
            </a:r>
          </a:p>
        </p:txBody>
      </p:sp>
      <p:sp>
        <p:nvSpPr>
          <p:cNvPr id="6" name="text-63">
            <a:extLst xmlns:a="http://schemas.openxmlformats.org/drawingml/2006/main">
              <a:ext uri="{FF2B5EF4-FFF2-40B4-BE49-F238E27FC236}">
                <a16:creationId xmlns:a16="http://schemas.microsoft.com/office/drawing/2014/main" id="{F3D4D6D1-E3C5-430B-A6B2-2A5E359925CE}"/>
              </a:ext>
            </a:extLst>
          </p:cNvPr>
          <p:cNvSpPr>
            <a:spLocks xmlns:a="http://schemas.openxmlformats.org/drawingml/2006/main" noGrp="1"/>
          </p:cNvSpPr>
          <p:nvPr/>
        </p:nvSpPr>
        <p:spPr>
          <a:xfrm xmlns:a="http://schemas.openxmlformats.org/drawingml/2006/main">
            <a:off x="457200" y="6134100"/>
            <a:ext cx="11191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Adaptasi Modul 1 CEO Masterclass</a:t>
            </a:r>
          </a:p>
        </p:txBody>
      </p:sp>
      <p:sp>
        <p:nvSpPr>
          <p:cNvPr id="7" name="text-64">
            <a:extLst xmlns:a="http://schemas.openxmlformats.org/drawingml/2006/main">
              <a:ext uri="{FF2B5EF4-FFF2-40B4-BE49-F238E27FC236}">
                <a16:creationId xmlns:a16="http://schemas.microsoft.com/office/drawing/2014/main" id="{0B2DE27A-1AC2-4D3F-992B-EAD9BC18BF5B}"/>
              </a:ext>
            </a:extLst>
          </p:cNvPr>
          <p:cNvSpPr>
            <a:spLocks xmlns:a="http://schemas.openxmlformats.org/drawingml/2006/main" noGrp="1"/>
          </p:cNvSpPr>
          <p:nvPr/>
        </p:nvSpPr>
        <p:spPr>
          <a:xfrm xmlns:a="http://schemas.openxmlformats.org/drawingml/2006/main">
            <a:off x="457200" y="6534150"/>
            <a:ext cx="571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CMC × BD Ekspor</a:t>
            </a:r>
          </a:p>
        </p:txBody>
      </p:sp>
      <p:sp>
        <p:nvSpPr>
          <p:cNvPr id="8" name="text-65">
            <a:extLst xmlns:a="http://schemas.openxmlformats.org/drawingml/2006/main">
              <a:ext uri="{FF2B5EF4-FFF2-40B4-BE49-F238E27FC236}">
                <a16:creationId xmlns:a16="http://schemas.microsoft.com/office/drawing/2014/main" id="{44138D1F-21BE-4CBE-B74A-59339F7F81F8}"/>
              </a:ext>
            </a:extLst>
          </p:cNvPr>
          <p:cNvSpPr>
            <a:spLocks xmlns:a="http://schemas.openxmlformats.org/drawingml/2006/main" noGrp="1"/>
          </p:cNvSpPr>
          <p:nvPr/>
        </p:nvSpPr>
        <p:spPr>
          <a:xfrm xmlns:a="http://schemas.openxmlformats.org/drawingml/2006/main">
            <a:off x="11258550" y="65055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Calibri"/>
                <a:ea typeface="Calibri"/>
                <a:cs typeface="Calibri"/>
              </a:defRPr>
            </a:pPr>
            <a:r>
              <a:rPr sz="1275" b="0">
                <a:solidFill>
                  <a:srgbClr val="FFFFFF"/>
                </a:solidFill>
                <a:latin typeface="Calibri"/>
                <a:ea typeface="Calibri"/>
                <a:cs typeface="Calibri"/>
              </a:rPr>
              <a:t>06</a:t>
            </a:r>
          </a:p>
        </p:txBody>
      </p:sp>
      <p:sp>
        <p:nvSpPr>
          <p:cNvPr id="9" name="">
            <a:extLst xmlns:a="http://schemas.openxmlformats.org/drawingml/2006/main">
              <a:ext uri="{FF2B5EF4-FFF2-40B4-BE49-F238E27FC236}">
                <a16:creationId xmlns:a16="http://schemas.microsoft.com/office/drawing/2014/main" id="{500028FC-EF34-41C1-9332-7AB26C441BC7}"/>
              </a:ext>
            </a:extLst>
          </p:cNvPr>
          <p:cNvSpPr>
            <a:spLocks xmlns:a="http://schemas.openxmlformats.org/drawingml/2006/main" noGrp="1"/>
          </p:cNvSpPr>
          <p:nvPr/>
        </p:nvSpPr>
        <p:spPr>
          <a:xfrm xmlns:a="http://schemas.openxmlformats.org/drawingml/2006/main">
            <a:off x="904875" y="2295525"/>
            <a:ext cx="1543050" cy="1543050"/>
          </a:xfrm>
          <a:prstGeom xmlns:a="http://schemas.openxmlformats.org/drawingml/2006/main" prst="ellipse">
            <a:avLst/>
          </a:prstGeom>
          <a:solidFill xmlns:a="http://schemas.openxmlformats.org/drawingml/2006/main">
            <a:srgbClr val="EBF4EE"/>
          </a:solidFill>
          <a:ln xmlns:a="http://schemas.openxmlformats.org/drawingml/2006/main" w="19050">
            <a:solidFill>
              <a:srgbClr val="087958"/>
            </a:solidFill>
          </a:ln>
        </p:spPr>
      </p:sp>
      <p:sp>
        <p:nvSpPr>
          <p:cNvPr id="10" name="">
            <a:extLst xmlns:a="http://schemas.openxmlformats.org/drawingml/2006/main">
              <a:ext uri="{FF2B5EF4-FFF2-40B4-BE49-F238E27FC236}">
                <a16:creationId xmlns:a16="http://schemas.microsoft.com/office/drawing/2014/main" id="{8EDB6679-0E15-4BC7-B387-AB7ED70B70E9}"/>
              </a:ext>
            </a:extLst>
          </p:cNvPr>
          <p:cNvSpPr>
            <a:spLocks xmlns:a="http://schemas.openxmlformats.org/drawingml/2006/main" noGrp="1"/>
          </p:cNvSpPr>
          <p:nvPr/>
        </p:nvSpPr>
        <p:spPr>
          <a:xfrm xmlns:a="http://schemas.openxmlformats.org/drawingml/2006/main">
            <a:off x="4238625" y="2295525"/>
            <a:ext cx="1543050" cy="1543050"/>
          </a:xfrm>
          <a:prstGeom xmlns:a="http://schemas.openxmlformats.org/drawingml/2006/main" prst="ellipse">
            <a:avLst/>
          </a:prstGeom>
          <a:solidFill xmlns:a="http://schemas.openxmlformats.org/drawingml/2006/main">
            <a:srgbClr val="EBF4EE"/>
          </a:solidFill>
          <a:ln xmlns:a="http://schemas.openxmlformats.org/drawingml/2006/main" w="19050">
            <a:solidFill>
              <a:srgbClr val="087958"/>
            </a:solidFill>
          </a:ln>
        </p:spPr>
      </p:sp>
      <p:sp>
        <p:nvSpPr>
          <p:cNvPr id="11" name="">
            <a:extLst xmlns:a="http://schemas.openxmlformats.org/drawingml/2006/main">
              <a:ext uri="{FF2B5EF4-FFF2-40B4-BE49-F238E27FC236}">
                <a16:creationId xmlns:a16="http://schemas.microsoft.com/office/drawing/2014/main" id="{E8274551-C231-4911-9D43-A5CB4D6F35DF}"/>
              </a:ext>
            </a:extLst>
          </p:cNvPr>
          <p:cNvSpPr>
            <a:spLocks xmlns:a="http://schemas.openxmlformats.org/drawingml/2006/main" noGrp="1"/>
          </p:cNvSpPr>
          <p:nvPr/>
        </p:nvSpPr>
        <p:spPr>
          <a:xfrm xmlns:a="http://schemas.openxmlformats.org/drawingml/2006/main">
            <a:off x="2571750" y="4010025"/>
            <a:ext cx="1543050" cy="1543050"/>
          </a:xfrm>
          <a:prstGeom xmlns:a="http://schemas.openxmlformats.org/drawingml/2006/main" prst="ellipse">
            <a:avLst/>
          </a:prstGeom>
          <a:solidFill xmlns:a="http://schemas.openxmlformats.org/drawingml/2006/main">
            <a:srgbClr val="087958"/>
          </a:solidFill>
          <a:ln xmlns:a="http://schemas.openxmlformats.org/drawingml/2006/main" w="19050">
            <a:solidFill>
              <a:srgbClr val="087958"/>
            </a:solidFill>
          </a:ln>
        </p:spPr>
      </p:sp>
      <p:sp>
        <p:nvSpPr>
          <p:cNvPr id="12" name="text-66">
            <a:extLst xmlns:a="http://schemas.openxmlformats.org/drawingml/2006/main">
              <a:ext uri="{FF2B5EF4-FFF2-40B4-BE49-F238E27FC236}">
                <a16:creationId xmlns:a16="http://schemas.microsoft.com/office/drawing/2014/main" id="{26AE32F4-AD48-469D-80DF-B3656E2C0B8F}"/>
              </a:ext>
            </a:extLst>
          </p:cNvPr>
          <p:cNvSpPr>
            <a:spLocks xmlns:a="http://schemas.openxmlformats.org/drawingml/2006/main" noGrp="1"/>
          </p:cNvSpPr>
          <p:nvPr/>
        </p:nvSpPr>
        <p:spPr>
          <a:xfrm xmlns:a="http://schemas.openxmlformats.org/drawingml/2006/main">
            <a:off x="1238250" y="2895600"/>
            <a:ext cx="1143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87958"/>
                </a:solidFill>
                <a:latin typeface="Calibri"/>
                <a:ea typeface="Calibri"/>
                <a:cs typeface="Calibri"/>
              </a:defRPr>
            </a:pPr>
            <a:r>
              <a:rPr sz="2250" b="1">
                <a:solidFill>
                  <a:srgbClr val="087958"/>
                </a:solidFill>
                <a:latin typeface="Calibri"/>
                <a:ea typeface="Calibri"/>
                <a:cs typeface="Calibri"/>
              </a:rPr>
              <a:t>BUILD</a:t>
            </a:r>
          </a:p>
        </p:txBody>
      </p:sp>
      <p:sp>
        <p:nvSpPr>
          <p:cNvPr id="13" name="text-67">
            <a:extLst xmlns:a="http://schemas.openxmlformats.org/drawingml/2006/main">
              <a:ext uri="{FF2B5EF4-FFF2-40B4-BE49-F238E27FC236}">
                <a16:creationId xmlns:a16="http://schemas.microsoft.com/office/drawing/2014/main" id="{69CCFE8A-3725-4213-823D-DC1FA323152E}"/>
              </a:ext>
            </a:extLst>
          </p:cNvPr>
          <p:cNvSpPr>
            <a:spLocks xmlns:a="http://schemas.openxmlformats.org/drawingml/2006/main" noGrp="1"/>
          </p:cNvSpPr>
          <p:nvPr/>
        </p:nvSpPr>
        <p:spPr>
          <a:xfrm xmlns:a="http://schemas.openxmlformats.org/drawingml/2006/main">
            <a:off x="4362450" y="2924175"/>
            <a:ext cx="1419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958"/>
                </a:solidFill>
                <a:latin typeface="Calibri"/>
                <a:ea typeface="Calibri"/>
                <a:cs typeface="Calibri"/>
              </a:defRPr>
            </a:pPr>
            <a:r>
              <a:rPr sz="1950" b="1">
                <a:solidFill>
                  <a:srgbClr val="087958"/>
                </a:solidFill>
                <a:latin typeface="Calibri"/>
                <a:ea typeface="Calibri"/>
                <a:cs typeface="Calibri"/>
              </a:rPr>
              <a:t>MEASURE</a:t>
            </a:r>
          </a:p>
        </p:txBody>
      </p:sp>
      <p:sp>
        <p:nvSpPr>
          <p:cNvPr id="14" name="text-68">
            <a:extLst xmlns:a="http://schemas.openxmlformats.org/drawingml/2006/main">
              <a:ext uri="{FF2B5EF4-FFF2-40B4-BE49-F238E27FC236}">
                <a16:creationId xmlns:a16="http://schemas.microsoft.com/office/drawing/2014/main" id="{4AE81834-C19E-4D55-AFD3-722F11F6C19E}"/>
              </a:ext>
            </a:extLst>
          </p:cNvPr>
          <p:cNvSpPr>
            <a:spLocks xmlns:a="http://schemas.openxmlformats.org/drawingml/2006/main" noGrp="1"/>
          </p:cNvSpPr>
          <p:nvPr/>
        </p:nvSpPr>
        <p:spPr>
          <a:xfrm xmlns:a="http://schemas.openxmlformats.org/drawingml/2006/main">
            <a:off x="2857500" y="4610100"/>
            <a:ext cx="1209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FFFFFF"/>
                </a:solidFill>
                <a:latin typeface="Calibri"/>
                <a:ea typeface="Calibri"/>
                <a:cs typeface="Calibri"/>
              </a:defRPr>
            </a:pPr>
            <a:r>
              <a:rPr sz="2100" b="1">
                <a:solidFill>
                  <a:srgbClr val="FFFFFF"/>
                </a:solidFill>
                <a:latin typeface="Calibri"/>
                <a:ea typeface="Calibri"/>
                <a:cs typeface="Calibri"/>
              </a:rPr>
              <a:t>LEARN</a:t>
            </a:r>
          </a:p>
        </p:txBody>
      </p:sp>
      <p:sp>
        <p:nvSpPr>
          <p:cNvPr id="15" name="">
            <a:extLst xmlns:a="http://schemas.openxmlformats.org/drawingml/2006/main">
              <a:ext uri="{FF2B5EF4-FFF2-40B4-BE49-F238E27FC236}">
                <a16:creationId xmlns:a16="http://schemas.microsoft.com/office/drawing/2014/main" id="{A0874959-57AF-4968-BF41-084912E13764}"/>
              </a:ext>
            </a:extLst>
          </p:cNvPr>
          <p:cNvSpPr>
            <a:spLocks xmlns:a="http://schemas.openxmlformats.org/drawingml/2006/main" noGrp="1"/>
          </p:cNvSpPr>
          <p:nvPr/>
        </p:nvSpPr>
        <p:spPr>
          <a:xfrm xmlns:a="http://schemas.openxmlformats.org/drawingml/2006/main" rot="0">
            <a:off x="2686050" y="2962275"/>
            <a:ext cx="1314450" cy="209550"/>
          </a:xfrm>
          <a:prstGeom xmlns:a="http://schemas.openxmlformats.org/drawingml/2006/main" prst="rightArrow">
            <a:avLst/>
          </a:prstGeom>
          <a:solidFill xmlns:a="http://schemas.openxmlformats.org/drawingml/2006/main">
            <a:srgbClr val="08795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72AD105-B907-4B7E-BEB6-344FBC1914FA}"/>
              </a:ext>
            </a:extLst>
          </p:cNvPr>
          <p:cNvSpPr>
            <a:spLocks xmlns:a="http://schemas.openxmlformats.org/drawingml/2006/main" noGrp="1"/>
          </p:cNvSpPr>
          <p:nvPr/>
        </p:nvSpPr>
        <p:spPr>
          <a:xfrm xmlns:a="http://schemas.openxmlformats.org/drawingml/2006/main" rot="8100000">
            <a:off x="3924300" y="4067175"/>
            <a:ext cx="1114425" cy="209550"/>
          </a:xfrm>
          <a:prstGeom xmlns:a="http://schemas.openxmlformats.org/drawingml/2006/main" prst="rightArrow">
            <a:avLst/>
          </a:prstGeom>
          <a:solidFill xmlns:a="http://schemas.openxmlformats.org/drawingml/2006/main">
            <a:srgbClr val="08795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26E68B8-B1C9-4C2D-991D-194EFD9906EC}"/>
              </a:ext>
            </a:extLst>
          </p:cNvPr>
          <p:cNvSpPr>
            <a:spLocks xmlns:a="http://schemas.openxmlformats.org/drawingml/2006/main" noGrp="1"/>
          </p:cNvSpPr>
          <p:nvPr/>
        </p:nvSpPr>
        <p:spPr>
          <a:xfrm xmlns:a="http://schemas.openxmlformats.org/drawingml/2006/main" rot="13500000">
            <a:off x="1647825" y="4067175"/>
            <a:ext cx="1114425" cy="209550"/>
          </a:xfrm>
          <a:prstGeom xmlns:a="http://schemas.openxmlformats.org/drawingml/2006/main" prst="rightArrow">
            <a:avLst/>
          </a:prstGeom>
          <a:solidFill xmlns:a="http://schemas.openxmlformats.org/drawingml/2006/main">
            <a:srgbClr val="087958"/>
          </a:solidFill>
          <a:ln xmlns:a="http://schemas.openxmlformats.org/drawingml/2006/main" w="0">
            <a:noFill/>
          </a:ln>
        </p:spPr>
      </p:sp>
      <p:sp>
        <p:nvSpPr>
          <p:cNvPr id="18" name="text-69">
            <a:extLst xmlns:a="http://schemas.openxmlformats.org/drawingml/2006/main">
              <a:ext uri="{FF2B5EF4-FFF2-40B4-BE49-F238E27FC236}">
                <a16:creationId xmlns:a16="http://schemas.microsoft.com/office/drawing/2014/main" id="{93CCF613-DF0D-4914-8A80-9012C11A2091}"/>
              </a:ext>
            </a:extLst>
          </p:cNvPr>
          <p:cNvSpPr>
            <a:spLocks xmlns:a="http://schemas.openxmlformats.org/drawingml/2006/main" noGrp="1"/>
          </p:cNvSpPr>
          <p:nvPr/>
        </p:nvSpPr>
        <p:spPr>
          <a:xfrm xmlns:a="http://schemas.openxmlformats.org/drawingml/2006/main">
            <a:off x="6743700" y="22479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087958"/>
                </a:solidFill>
                <a:latin typeface="Calibri"/>
                <a:ea typeface="Calibri"/>
                <a:cs typeface="Calibri"/>
              </a:defRPr>
            </a:pPr>
            <a:r>
              <a:rPr sz="2700" b="1">
                <a:solidFill>
                  <a:srgbClr val="087958"/>
                </a:solidFill>
                <a:latin typeface="Calibri"/>
                <a:ea typeface="Calibri"/>
                <a:cs typeface="Calibri"/>
              </a:rPr>
              <a:t>01</a:t>
            </a:r>
          </a:p>
        </p:txBody>
      </p:sp>
      <p:sp>
        <p:nvSpPr>
          <p:cNvPr id="19" name="text-70">
            <a:extLst xmlns:a="http://schemas.openxmlformats.org/drawingml/2006/main">
              <a:ext uri="{FF2B5EF4-FFF2-40B4-BE49-F238E27FC236}">
                <a16:creationId xmlns:a16="http://schemas.microsoft.com/office/drawing/2014/main" id="{B1E3600B-B3DA-4F29-8189-0F66F44793B1}"/>
              </a:ext>
            </a:extLst>
          </p:cNvPr>
          <p:cNvSpPr>
            <a:spLocks xmlns:a="http://schemas.openxmlformats.org/drawingml/2006/main" noGrp="1"/>
          </p:cNvSpPr>
          <p:nvPr/>
        </p:nvSpPr>
        <p:spPr>
          <a:xfrm xmlns:a="http://schemas.openxmlformats.org/drawingml/2006/main">
            <a:off x="7515225" y="2286000"/>
            <a:ext cx="4114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62B27"/>
                </a:solidFill>
                <a:latin typeface="Calibri"/>
                <a:ea typeface="Calibri"/>
                <a:cs typeface="Calibri"/>
              </a:defRPr>
            </a:pPr>
            <a:r>
              <a:rPr sz="2100" b="1">
                <a:solidFill>
                  <a:srgbClr val="162B27"/>
                </a:solidFill>
                <a:latin typeface="Calibri"/>
                <a:ea typeface="Calibri"/>
                <a:cs typeface="Calibri"/>
              </a:rPr>
              <a:t>Siapkan sampel + penawaran</a:t>
            </a:r>
          </a:p>
        </p:txBody>
      </p:sp>
      <p:sp>
        <p:nvSpPr>
          <p:cNvPr id="20" name="text-71">
            <a:extLst xmlns:a="http://schemas.openxmlformats.org/drawingml/2006/main">
              <a:ext uri="{FF2B5EF4-FFF2-40B4-BE49-F238E27FC236}">
                <a16:creationId xmlns:a16="http://schemas.microsoft.com/office/drawing/2014/main" id="{B8E2B7FB-F10E-4B56-9252-218E9BB37651}"/>
              </a:ext>
            </a:extLst>
          </p:cNvPr>
          <p:cNvSpPr>
            <a:spLocks xmlns:a="http://schemas.openxmlformats.org/drawingml/2006/main" noGrp="1"/>
          </p:cNvSpPr>
          <p:nvPr/>
        </p:nvSpPr>
        <p:spPr>
          <a:xfrm xmlns:a="http://schemas.openxmlformats.org/drawingml/2006/main">
            <a:off x="7515225" y="2733675"/>
            <a:ext cx="41052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6C65"/>
                </a:solidFill>
                <a:latin typeface="Calibri"/>
                <a:ea typeface="Calibri"/>
                <a:cs typeface="Calibri"/>
              </a:defRPr>
            </a:pPr>
            <a:r>
              <a:rPr sz="1800" b="0">
                <a:solidFill>
                  <a:srgbClr val="5B6C65"/>
                </a:solidFill>
                <a:latin typeface="Calibri"/>
                <a:ea typeface="Calibri"/>
                <a:cs typeface="Calibri"/>
              </a:rPr>
              <a:t>Bangun untuk menguji kebutuhan.</a:t>
            </a:r>
          </a:p>
        </p:txBody>
      </p:sp>
      <p:sp>
        <p:nvSpPr>
          <p:cNvPr id="21" name="text-72">
            <a:extLst xmlns:a="http://schemas.openxmlformats.org/drawingml/2006/main">
              <a:ext uri="{FF2B5EF4-FFF2-40B4-BE49-F238E27FC236}">
                <a16:creationId xmlns:a16="http://schemas.microsoft.com/office/drawing/2014/main" id="{05E301EC-2DC1-4D37-A499-4EB792DB8FFD}"/>
              </a:ext>
            </a:extLst>
          </p:cNvPr>
          <p:cNvSpPr>
            <a:spLocks xmlns:a="http://schemas.openxmlformats.org/drawingml/2006/main" noGrp="1"/>
          </p:cNvSpPr>
          <p:nvPr/>
        </p:nvSpPr>
        <p:spPr>
          <a:xfrm xmlns:a="http://schemas.openxmlformats.org/drawingml/2006/main">
            <a:off x="6743700" y="336232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087958"/>
                </a:solidFill>
                <a:latin typeface="Calibri"/>
                <a:ea typeface="Calibri"/>
                <a:cs typeface="Calibri"/>
              </a:defRPr>
            </a:pPr>
            <a:r>
              <a:rPr sz="2700" b="1">
                <a:solidFill>
                  <a:srgbClr val="087958"/>
                </a:solidFill>
                <a:latin typeface="Calibri"/>
                <a:ea typeface="Calibri"/>
                <a:cs typeface="Calibri"/>
              </a:rPr>
              <a:t>02</a:t>
            </a:r>
          </a:p>
        </p:txBody>
      </p:sp>
      <p:sp>
        <p:nvSpPr>
          <p:cNvPr id="22" name="text-73">
            <a:extLst xmlns:a="http://schemas.openxmlformats.org/drawingml/2006/main">
              <a:ext uri="{FF2B5EF4-FFF2-40B4-BE49-F238E27FC236}">
                <a16:creationId xmlns:a16="http://schemas.microsoft.com/office/drawing/2014/main" id="{73D61099-E2AC-4499-B44E-A0A0D5D0BC4F}"/>
              </a:ext>
            </a:extLst>
          </p:cNvPr>
          <p:cNvSpPr>
            <a:spLocks xmlns:a="http://schemas.openxmlformats.org/drawingml/2006/main" noGrp="1"/>
          </p:cNvSpPr>
          <p:nvPr/>
        </p:nvSpPr>
        <p:spPr>
          <a:xfrm xmlns:a="http://schemas.openxmlformats.org/drawingml/2006/main">
            <a:off x="7515225" y="3400425"/>
            <a:ext cx="4114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62B27"/>
                </a:solidFill>
                <a:latin typeface="Calibri"/>
                <a:ea typeface="Calibri"/>
                <a:cs typeface="Calibri"/>
              </a:defRPr>
            </a:pPr>
            <a:r>
              <a:rPr sz="2100" b="1">
                <a:solidFill>
                  <a:srgbClr val="162B27"/>
                </a:solidFill>
                <a:latin typeface="Calibri"/>
                <a:ea typeface="Calibri"/>
                <a:cs typeface="Calibri"/>
              </a:rPr>
              <a:t>Ukur respons buyer</a:t>
            </a:r>
          </a:p>
        </p:txBody>
      </p:sp>
      <p:sp>
        <p:nvSpPr>
          <p:cNvPr id="23" name="text-74">
            <a:extLst xmlns:a="http://schemas.openxmlformats.org/drawingml/2006/main">
              <a:ext uri="{FF2B5EF4-FFF2-40B4-BE49-F238E27FC236}">
                <a16:creationId xmlns:a16="http://schemas.microsoft.com/office/drawing/2014/main" id="{D03A8B91-7155-4908-98E1-A6F0E0A0DB4C}"/>
              </a:ext>
            </a:extLst>
          </p:cNvPr>
          <p:cNvSpPr>
            <a:spLocks xmlns:a="http://schemas.openxmlformats.org/drawingml/2006/main" noGrp="1"/>
          </p:cNvSpPr>
          <p:nvPr/>
        </p:nvSpPr>
        <p:spPr>
          <a:xfrm xmlns:a="http://schemas.openxmlformats.org/drawingml/2006/main">
            <a:off x="7515225" y="3848100"/>
            <a:ext cx="41052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6C65"/>
                </a:solidFill>
                <a:latin typeface="Calibri"/>
                <a:ea typeface="Calibri"/>
                <a:cs typeface="Calibri"/>
              </a:defRPr>
            </a:pPr>
            <a:r>
              <a:rPr sz="1800" b="0">
                <a:solidFill>
                  <a:srgbClr val="5B6C65"/>
                </a:solidFill>
                <a:latin typeface="Calibri"/>
                <a:ea typeface="Calibri"/>
                <a:cs typeface="Calibri"/>
              </a:rPr>
              <a:t>Catat masukan dan tindak lanjut.</a:t>
            </a:r>
          </a:p>
        </p:txBody>
      </p:sp>
      <p:sp>
        <p:nvSpPr>
          <p:cNvPr id="24" name="text-75">
            <a:extLst xmlns:a="http://schemas.openxmlformats.org/drawingml/2006/main">
              <a:ext uri="{FF2B5EF4-FFF2-40B4-BE49-F238E27FC236}">
                <a16:creationId xmlns:a16="http://schemas.microsoft.com/office/drawing/2014/main" id="{E40A8986-2A14-4E7D-818D-047F52E5F859}"/>
              </a:ext>
            </a:extLst>
          </p:cNvPr>
          <p:cNvSpPr>
            <a:spLocks xmlns:a="http://schemas.openxmlformats.org/drawingml/2006/main" noGrp="1"/>
          </p:cNvSpPr>
          <p:nvPr/>
        </p:nvSpPr>
        <p:spPr>
          <a:xfrm xmlns:a="http://schemas.openxmlformats.org/drawingml/2006/main">
            <a:off x="6743700" y="44767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087958"/>
                </a:solidFill>
                <a:latin typeface="Calibri"/>
                <a:ea typeface="Calibri"/>
                <a:cs typeface="Calibri"/>
              </a:defRPr>
            </a:pPr>
            <a:r>
              <a:rPr sz="2700" b="1">
                <a:solidFill>
                  <a:srgbClr val="087958"/>
                </a:solidFill>
                <a:latin typeface="Calibri"/>
                <a:ea typeface="Calibri"/>
                <a:cs typeface="Calibri"/>
              </a:rPr>
              <a:t>03</a:t>
            </a:r>
          </a:p>
        </p:txBody>
      </p:sp>
      <p:sp>
        <p:nvSpPr>
          <p:cNvPr id="25" name="text-76">
            <a:extLst xmlns:a="http://schemas.openxmlformats.org/drawingml/2006/main">
              <a:ext uri="{FF2B5EF4-FFF2-40B4-BE49-F238E27FC236}">
                <a16:creationId xmlns:a16="http://schemas.microsoft.com/office/drawing/2014/main" id="{7E7BCF1E-CD89-44DA-970E-BD08B586D5F5}"/>
              </a:ext>
            </a:extLst>
          </p:cNvPr>
          <p:cNvSpPr>
            <a:spLocks xmlns:a="http://schemas.openxmlformats.org/drawingml/2006/main" noGrp="1"/>
          </p:cNvSpPr>
          <p:nvPr/>
        </p:nvSpPr>
        <p:spPr>
          <a:xfrm xmlns:a="http://schemas.openxmlformats.org/drawingml/2006/main">
            <a:off x="7515225" y="4514850"/>
            <a:ext cx="4114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62B27"/>
                </a:solidFill>
                <a:latin typeface="Calibri"/>
                <a:ea typeface="Calibri"/>
                <a:cs typeface="Calibri"/>
              </a:defRPr>
            </a:pPr>
            <a:r>
              <a:rPr sz="2100" b="1">
                <a:solidFill>
                  <a:srgbClr val="162B27"/>
                </a:solidFill>
                <a:latin typeface="Calibri"/>
                <a:ea typeface="Calibri"/>
                <a:cs typeface="Calibri"/>
              </a:rPr>
              <a:t>Perbaiki lalu coba lagi</a:t>
            </a:r>
          </a:p>
        </p:txBody>
      </p:sp>
      <p:sp>
        <p:nvSpPr>
          <p:cNvPr id="26" name="text-77">
            <a:extLst xmlns:a="http://schemas.openxmlformats.org/drawingml/2006/main">
              <a:ext uri="{FF2B5EF4-FFF2-40B4-BE49-F238E27FC236}">
                <a16:creationId xmlns:a16="http://schemas.microsoft.com/office/drawing/2014/main" id="{3FCE4188-6AB8-45FA-AAAC-115C6A7DB04C}"/>
              </a:ext>
            </a:extLst>
          </p:cNvPr>
          <p:cNvSpPr>
            <a:spLocks xmlns:a="http://schemas.openxmlformats.org/drawingml/2006/main" noGrp="1"/>
          </p:cNvSpPr>
          <p:nvPr/>
        </p:nvSpPr>
        <p:spPr>
          <a:xfrm xmlns:a="http://schemas.openxmlformats.org/drawingml/2006/main">
            <a:off x="7515225" y="4962525"/>
            <a:ext cx="41052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6C65"/>
                </a:solidFill>
                <a:latin typeface="Calibri"/>
                <a:ea typeface="Calibri"/>
                <a:cs typeface="Calibri"/>
              </a:defRPr>
            </a:pPr>
            <a:r>
              <a:rPr sz="1800" b="0">
                <a:solidFill>
                  <a:srgbClr val="5B6C65"/>
                </a:solidFill>
                <a:latin typeface="Calibri"/>
                <a:ea typeface="Calibri"/>
                <a:cs typeface="Calibri"/>
              </a:rPr>
              <a:t>Produk, harga, atau target buyer.</a:t>
            </a:r>
          </a:p>
        </p:txBody>
      </p:sp>
      <p:sp>
        <p:nvSpPr>
          <p:cNvPr id="27" name="text-78">
            <a:extLst xmlns:a="http://schemas.openxmlformats.org/drawingml/2006/main">
              <a:ext uri="{FF2B5EF4-FFF2-40B4-BE49-F238E27FC236}">
                <a16:creationId xmlns:a16="http://schemas.microsoft.com/office/drawing/2014/main" id="{22C39919-BC97-457E-B797-705492129406}"/>
              </a:ext>
            </a:extLst>
          </p:cNvPr>
          <p:cNvSpPr>
            <a:spLocks xmlns:a="http://schemas.openxmlformats.org/drawingml/2006/main" noGrp="1"/>
          </p:cNvSpPr>
          <p:nvPr/>
        </p:nvSpPr>
        <p:spPr>
          <a:xfrm xmlns:a="http://schemas.openxmlformats.org/drawingml/2006/main">
            <a:off x="457200" y="5743575"/>
            <a:ext cx="11277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958"/>
                </a:solidFill>
                <a:latin typeface="Calibri"/>
                <a:ea typeface="Calibri"/>
                <a:cs typeface="Calibri"/>
              </a:defRPr>
            </a:pPr>
            <a:r>
              <a:rPr sz="2025" b="1">
                <a:solidFill>
                  <a:srgbClr val="087958"/>
                </a:solidFill>
                <a:latin typeface="Calibri"/>
                <a:ea typeface="Calibri"/>
                <a:cs typeface="Calibri"/>
              </a:rPr>
              <a:t>Bukti baru menentukan langkah berikutnya.</a:t>
            </a:r>
          </a:p>
        </p:txBody>
      </p:sp>
    </p:spTree>
    <p:extLst>
      <p:ext uri="{BB962C8B-B14F-4D97-AF65-F5344CB8AC3E}">
        <p14:creationId xmlns:p14="http://schemas.microsoft.com/office/powerpoint/2010/main" val="86204664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8d4c42ff4e0c421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4B0A8F5-4F41-47A0-A03B-F24BD4032D83}"/>
              </a:ext>
            </a:extLst>
          </p:cNvPr>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50d280b2a46d4bf0"/>
          <a:stretch xmlns:a="http://schemas.openxmlformats.org/drawingml/2006/main"/>
        </p:blipFill>
        <p:spPr>
          <a:xfrm xmlns:a="http://schemas.openxmlformats.org/drawingml/2006/main">
            <a:off x="10477500" y="228686"/>
            <a:ext cx="1257300" cy="471315"/>
          </a:xfrm>
          <a:prstGeom xmlns:a="http://schemas.openxmlformats.org/drawingml/2006/main" prst="rect">
            <a:avLst/>
          </a:prstGeom>
        </p:spPr>
      </p:pic>
      <p:sp>
        <p:nvSpPr>
          <p:cNvPr id="4" name="text-79">
            <a:extLst xmlns:a="http://schemas.openxmlformats.org/drawingml/2006/main">
              <a:ext uri="{FF2B5EF4-FFF2-40B4-BE49-F238E27FC236}">
                <a16:creationId xmlns:a16="http://schemas.microsoft.com/office/drawing/2014/main" id="{56B30A6B-0C7E-4222-B0D4-62607E655782}"/>
              </a:ext>
            </a:extLst>
          </p:cNvPr>
          <p:cNvSpPr>
            <a:spLocks xmlns:a="http://schemas.openxmlformats.org/drawingml/2006/main" noGrp="1"/>
          </p:cNvSpPr>
          <p:nvPr/>
        </p:nvSpPr>
        <p:spPr>
          <a:xfrm xmlns:a="http://schemas.openxmlformats.org/drawingml/2006/main">
            <a:off x="457200" y="390525"/>
            <a:ext cx="9763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62B27"/>
                </a:solidFill>
                <a:latin typeface="Calibri"/>
                <a:ea typeface="Calibri"/>
                <a:cs typeface="Calibri"/>
              </a:defRPr>
            </a:pPr>
            <a:r>
              <a:rPr sz="2700" b="1">
                <a:solidFill>
                  <a:srgbClr val="162B27"/>
                </a:solidFill>
                <a:latin typeface="Calibri"/>
                <a:ea typeface="Calibri"/>
                <a:cs typeface="Calibri"/>
              </a:rPr>
              <a:t>Pesanan besar perlu diimbangi kemampuan memenuhi janji</a:t>
            </a:r>
          </a:p>
        </p:txBody>
      </p:sp>
      <p:sp>
        <p:nvSpPr>
          <p:cNvPr id="5" name="text-80">
            <a:extLst xmlns:a="http://schemas.openxmlformats.org/drawingml/2006/main">
              <a:ext uri="{FF2B5EF4-FFF2-40B4-BE49-F238E27FC236}">
                <a16:creationId xmlns:a16="http://schemas.microsoft.com/office/drawing/2014/main" id="{85004CB6-D561-4BF3-B84E-AC0AB2646D3D}"/>
              </a:ext>
            </a:extLst>
          </p:cNvPr>
          <p:cNvSpPr>
            <a:spLocks xmlns:a="http://schemas.openxmlformats.org/drawingml/2006/main" noGrp="1"/>
          </p:cNvSpPr>
          <p:nvPr/>
        </p:nvSpPr>
        <p:spPr>
          <a:xfrm xmlns:a="http://schemas.openxmlformats.org/drawingml/2006/main">
            <a:off x="457200" y="1419225"/>
            <a:ext cx="11201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6C65"/>
                </a:solidFill>
                <a:latin typeface="Calibri"/>
                <a:ea typeface="Calibri"/>
                <a:cs typeface="Calibri"/>
              </a:defRPr>
            </a:pPr>
            <a:r>
              <a:rPr sz="1800" b="0">
                <a:solidFill>
                  <a:srgbClr val="5B6C65"/>
                </a:solidFill>
                <a:latin typeface="Calibri"/>
                <a:ea typeface="Calibri"/>
                <a:cs typeface="Calibri"/>
              </a:rPr>
              <a:t>Kesiapan terlihat dari kapasitas, kualitas, dan waktu yang bisa kita pertanggungjawabkan.</a:t>
            </a:r>
          </a:p>
        </p:txBody>
      </p:sp>
      <p:sp>
        <p:nvSpPr>
          <p:cNvPr id="6" name="text-81">
            <a:extLst xmlns:a="http://schemas.openxmlformats.org/drawingml/2006/main">
              <a:ext uri="{FF2B5EF4-FFF2-40B4-BE49-F238E27FC236}">
                <a16:creationId xmlns:a16="http://schemas.microsoft.com/office/drawing/2014/main" id="{B68DD714-E2F0-4419-A331-E363CECD98C5}"/>
              </a:ext>
            </a:extLst>
          </p:cNvPr>
          <p:cNvSpPr>
            <a:spLocks xmlns:a="http://schemas.openxmlformats.org/drawingml/2006/main" noGrp="1"/>
          </p:cNvSpPr>
          <p:nvPr/>
        </p:nvSpPr>
        <p:spPr>
          <a:xfrm xmlns:a="http://schemas.openxmlformats.org/drawingml/2006/main">
            <a:off x="457200" y="6134100"/>
            <a:ext cx="11191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Adaptasi Modul 1 CEO Masterclass</a:t>
            </a:r>
          </a:p>
        </p:txBody>
      </p:sp>
      <p:sp>
        <p:nvSpPr>
          <p:cNvPr id="7" name="text-82">
            <a:extLst xmlns:a="http://schemas.openxmlformats.org/drawingml/2006/main">
              <a:ext uri="{FF2B5EF4-FFF2-40B4-BE49-F238E27FC236}">
                <a16:creationId xmlns:a16="http://schemas.microsoft.com/office/drawing/2014/main" id="{52BEA12F-3AE7-4FCA-B79B-3B3316032616}"/>
              </a:ext>
            </a:extLst>
          </p:cNvPr>
          <p:cNvSpPr>
            <a:spLocks xmlns:a="http://schemas.openxmlformats.org/drawingml/2006/main" noGrp="1"/>
          </p:cNvSpPr>
          <p:nvPr/>
        </p:nvSpPr>
        <p:spPr>
          <a:xfrm xmlns:a="http://schemas.openxmlformats.org/drawingml/2006/main">
            <a:off x="457200" y="6534150"/>
            <a:ext cx="571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CMC × BD Ekspor</a:t>
            </a:r>
          </a:p>
        </p:txBody>
      </p:sp>
      <p:sp>
        <p:nvSpPr>
          <p:cNvPr id="8" name="text-83">
            <a:extLst xmlns:a="http://schemas.openxmlformats.org/drawingml/2006/main">
              <a:ext uri="{FF2B5EF4-FFF2-40B4-BE49-F238E27FC236}">
                <a16:creationId xmlns:a16="http://schemas.microsoft.com/office/drawing/2014/main" id="{04F4D078-AB90-4489-AD2F-A8708F60D715}"/>
              </a:ext>
            </a:extLst>
          </p:cNvPr>
          <p:cNvSpPr>
            <a:spLocks xmlns:a="http://schemas.openxmlformats.org/drawingml/2006/main" noGrp="1"/>
          </p:cNvSpPr>
          <p:nvPr/>
        </p:nvSpPr>
        <p:spPr>
          <a:xfrm xmlns:a="http://schemas.openxmlformats.org/drawingml/2006/main">
            <a:off x="11258550" y="65055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Calibri"/>
                <a:ea typeface="Calibri"/>
                <a:cs typeface="Calibri"/>
              </a:defRPr>
            </a:pPr>
            <a:r>
              <a:rPr sz="1275" b="0">
                <a:solidFill>
                  <a:srgbClr val="FFFFFF"/>
                </a:solidFill>
                <a:latin typeface="Calibri"/>
                <a:ea typeface="Calibri"/>
                <a:cs typeface="Calibri"/>
              </a:rPr>
              <a:t>07</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9d721b5da6b24b34"/>
          <a:stretch xmlns:a="http://schemas.openxmlformats.org/drawingml/2006/main"/>
        </p:blipFill>
        <p:spPr>
          <a:xfrm xmlns:a="http://schemas.openxmlformats.org/drawingml/2006/main">
            <a:off x="459581" y="2143125"/>
            <a:ext cx="5014913" cy="3343275"/>
          </a:xfrm>
          <a:prstGeom xmlns:a="http://schemas.openxmlformats.org/drawingml/2006/main" prst="rect">
            <a:avLst/>
          </a:prstGeom>
        </p:spPr>
      </p:pic>
      <p:sp>
        <p:nvSpPr>
          <p:cNvPr id="10" name="text-84">
            <a:extLst xmlns:a="http://schemas.openxmlformats.org/drawingml/2006/main">
              <a:ext uri="{FF2B5EF4-FFF2-40B4-BE49-F238E27FC236}">
                <a16:creationId xmlns:a16="http://schemas.microsoft.com/office/drawing/2014/main" id="{D7581505-36AC-4F42-A893-D6FAE7D1BCA2}"/>
              </a:ext>
            </a:extLst>
          </p:cNvPr>
          <p:cNvSpPr>
            <a:spLocks xmlns:a="http://schemas.openxmlformats.org/drawingml/2006/main" noGrp="1"/>
          </p:cNvSpPr>
          <p:nvPr/>
        </p:nvSpPr>
        <p:spPr>
          <a:xfrm xmlns:a="http://schemas.openxmlformats.org/drawingml/2006/main">
            <a:off x="457200" y="5524500"/>
            <a:ext cx="4953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Ilustrasi AI untuk kasus fiktif.</a:t>
            </a:r>
          </a:p>
        </p:txBody>
      </p:sp>
      <p:sp>
        <p:nvSpPr>
          <p:cNvPr id="11" name="">
            <a:extLst xmlns:a="http://schemas.openxmlformats.org/drawingml/2006/main">
              <a:ext uri="{FF2B5EF4-FFF2-40B4-BE49-F238E27FC236}">
                <a16:creationId xmlns:a16="http://schemas.microsoft.com/office/drawing/2014/main" id="{42B3D364-4152-4131-B4D7-C2925F99FD21}"/>
              </a:ext>
            </a:extLst>
          </p:cNvPr>
          <p:cNvSpPr>
            <a:spLocks xmlns:a="http://schemas.openxmlformats.org/drawingml/2006/main" noGrp="1"/>
          </p:cNvSpPr>
          <p:nvPr/>
        </p:nvSpPr>
        <p:spPr>
          <a:xfrm xmlns:a="http://schemas.openxmlformats.org/drawingml/2006/main">
            <a:off x="5934075" y="2200275"/>
            <a:ext cx="495300" cy="495300"/>
          </a:xfrm>
          <a:prstGeom xmlns:a="http://schemas.openxmlformats.org/drawingml/2006/main" prst="ellipse">
            <a:avLst/>
          </a:prstGeom>
          <a:solidFill xmlns:a="http://schemas.openxmlformats.org/drawingml/2006/main">
            <a:srgbClr val="087958"/>
          </a:solidFill>
          <a:ln xmlns:a="http://schemas.openxmlformats.org/drawingml/2006/main" w="19050">
            <a:solidFill>
              <a:srgbClr val="087958"/>
            </a:solidFill>
          </a:ln>
        </p:spPr>
      </p:sp>
      <p:sp>
        <p:nvSpPr>
          <p:cNvPr id="12" name="text-85">
            <a:extLst xmlns:a="http://schemas.openxmlformats.org/drawingml/2006/main">
              <a:ext uri="{FF2B5EF4-FFF2-40B4-BE49-F238E27FC236}">
                <a16:creationId xmlns:a16="http://schemas.microsoft.com/office/drawing/2014/main" id="{45B1B9B6-B98C-4BE6-AB63-DA906A3F21FF}"/>
              </a:ext>
            </a:extLst>
          </p:cNvPr>
          <p:cNvSpPr>
            <a:spLocks xmlns:a="http://schemas.openxmlformats.org/drawingml/2006/main" noGrp="1"/>
          </p:cNvSpPr>
          <p:nvPr/>
        </p:nvSpPr>
        <p:spPr>
          <a:xfrm xmlns:a="http://schemas.openxmlformats.org/drawingml/2006/main">
            <a:off x="6029325" y="2295525"/>
            <a:ext cx="4476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FFFFFF"/>
                </a:solidFill>
                <a:latin typeface="Calibri"/>
                <a:ea typeface="Calibri"/>
                <a:cs typeface="Calibri"/>
              </a:defRPr>
            </a:pPr>
            <a:r>
              <a:rPr sz="1800" b="1">
                <a:solidFill>
                  <a:srgbClr val="FFFFFF"/>
                </a:solidFill>
                <a:latin typeface="Calibri"/>
                <a:ea typeface="Calibri"/>
                <a:cs typeface="Calibri"/>
              </a:rPr>
              <a:t>01</a:t>
            </a:r>
          </a:p>
        </p:txBody>
      </p:sp>
      <p:sp>
        <p:nvSpPr>
          <p:cNvPr id="13" name="text-86">
            <a:extLst xmlns:a="http://schemas.openxmlformats.org/drawingml/2006/main">
              <a:ext uri="{FF2B5EF4-FFF2-40B4-BE49-F238E27FC236}">
                <a16:creationId xmlns:a16="http://schemas.microsoft.com/office/drawing/2014/main" id="{E259EB46-3F19-4727-81A0-770D6C49E90E}"/>
              </a:ext>
            </a:extLst>
          </p:cNvPr>
          <p:cNvSpPr>
            <a:spLocks xmlns:a="http://schemas.openxmlformats.org/drawingml/2006/main" noGrp="1"/>
          </p:cNvSpPr>
          <p:nvPr/>
        </p:nvSpPr>
        <p:spPr>
          <a:xfrm xmlns:a="http://schemas.openxmlformats.org/drawingml/2006/main">
            <a:off x="6696075" y="2209800"/>
            <a:ext cx="48482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KAPASITAS</a:t>
            </a:r>
          </a:p>
        </p:txBody>
      </p:sp>
      <p:sp>
        <p:nvSpPr>
          <p:cNvPr id="14" name="text-87">
            <a:extLst xmlns:a="http://schemas.openxmlformats.org/drawingml/2006/main">
              <a:ext uri="{FF2B5EF4-FFF2-40B4-BE49-F238E27FC236}">
                <a16:creationId xmlns:a16="http://schemas.microsoft.com/office/drawing/2014/main" id="{4E3E1078-022B-4590-8290-CA06A0395F34}"/>
              </a:ext>
            </a:extLst>
          </p:cNvPr>
          <p:cNvSpPr>
            <a:spLocks xmlns:a="http://schemas.openxmlformats.org/drawingml/2006/main" noGrp="1"/>
          </p:cNvSpPr>
          <p:nvPr/>
        </p:nvSpPr>
        <p:spPr>
          <a:xfrm xmlns:a="http://schemas.openxmlformats.org/drawingml/2006/main">
            <a:off x="6696075" y="2514600"/>
            <a:ext cx="4857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62B27"/>
                </a:solidFill>
                <a:latin typeface="Calibri"/>
                <a:ea typeface="Calibri"/>
                <a:cs typeface="Calibri"/>
              </a:defRPr>
            </a:pPr>
            <a:r>
              <a:rPr sz="2025" b="0">
                <a:solidFill>
                  <a:srgbClr val="162B27"/>
                </a:solidFill>
                <a:latin typeface="Calibri"/>
                <a:ea typeface="Calibri"/>
                <a:cs typeface="Calibri"/>
              </a:rPr>
              <a:t>Berapa yang benar-benar bisa diproduksi?</a:t>
            </a:r>
          </a:p>
        </p:txBody>
      </p:sp>
      <p:sp>
        <p:nvSpPr>
          <p:cNvPr id="15" name="">
            <a:extLst xmlns:a="http://schemas.openxmlformats.org/drawingml/2006/main">
              <a:ext uri="{FF2B5EF4-FFF2-40B4-BE49-F238E27FC236}">
                <a16:creationId xmlns:a16="http://schemas.microsoft.com/office/drawing/2014/main" id="{00AA488D-EF78-4576-852C-02CE9318E86E}"/>
              </a:ext>
            </a:extLst>
          </p:cNvPr>
          <p:cNvSpPr>
            <a:spLocks xmlns:a="http://schemas.openxmlformats.org/drawingml/2006/main" noGrp="1"/>
          </p:cNvSpPr>
          <p:nvPr/>
        </p:nvSpPr>
        <p:spPr>
          <a:xfrm xmlns:a="http://schemas.openxmlformats.org/drawingml/2006/main">
            <a:off x="6696075" y="3162300"/>
            <a:ext cx="48387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16" name="">
            <a:extLst xmlns:a="http://schemas.openxmlformats.org/drawingml/2006/main">
              <a:ext uri="{FF2B5EF4-FFF2-40B4-BE49-F238E27FC236}">
                <a16:creationId xmlns:a16="http://schemas.microsoft.com/office/drawing/2014/main" id="{00A222CA-7029-4469-928B-A438D8B46DC7}"/>
              </a:ext>
            </a:extLst>
          </p:cNvPr>
          <p:cNvSpPr>
            <a:spLocks xmlns:a="http://schemas.openxmlformats.org/drawingml/2006/main" noGrp="1"/>
          </p:cNvSpPr>
          <p:nvPr/>
        </p:nvSpPr>
        <p:spPr>
          <a:xfrm xmlns:a="http://schemas.openxmlformats.org/drawingml/2006/main">
            <a:off x="5934075" y="3305175"/>
            <a:ext cx="495300" cy="495300"/>
          </a:xfrm>
          <a:prstGeom xmlns:a="http://schemas.openxmlformats.org/drawingml/2006/main" prst="ellipse">
            <a:avLst/>
          </a:prstGeom>
          <a:solidFill xmlns:a="http://schemas.openxmlformats.org/drawingml/2006/main">
            <a:srgbClr val="087958"/>
          </a:solidFill>
          <a:ln xmlns:a="http://schemas.openxmlformats.org/drawingml/2006/main" w="19050">
            <a:solidFill>
              <a:srgbClr val="087958"/>
            </a:solidFill>
          </a:ln>
        </p:spPr>
      </p:sp>
      <p:sp>
        <p:nvSpPr>
          <p:cNvPr id="17" name="text-88">
            <a:extLst xmlns:a="http://schemas.openxmlformats.org/drawingml/2006/main">
              <a:ext uri="{FF2B5EF4-FFF2-40B4-BE49-F238E27FC236}">
                <a16:creationId xmlns:a16="http://schemas.microsoft.com/office/drawing/2014/main" id="{234D8DFA-7F38-4A69-AB7C-3B133790F463}"/>
              </a:ext>
            </a:extLst>
          </p:cNvPr>
          <p:cNvSpPr>
            <a:spLocks xmlns:a="http://schemas.openxmlformats.org/drawingml/2006/main" noGrp="1"/>
          </p:cNvSpPr>
          <p:nvPr/>
        </p:nvSpPr>
        <p:spPr>
          <a:xfrm xmlns:a="http://schemas.openxmlformats.org/drawingml/2006/main">
            <a:off x="6029325" y="3400425"/>
            <a:ext cx="4476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FFFFFF"/>
                </a:solidFill>
                <a:latin typeface="Calibri"/>
                <a:ea typeface="Calibri"/>
                <a:cs typeface="Calibri"/>
              </a:defRPr>
            </a:pPr>
            <a:r>
              <a:rPr sz="1800" b="1">
                <a:solidFill>
                  <a:srgbClr val="FFFFFF"/>
                </a:solidFill>
                <a:latin typeface="Calibri"/>
                <a:ea typeface="Calibri"/>
                <a:cs typeface="Calibri"/>
              </a:rPr>
              <a:t>02</a:t>
            </a:r>
          </a:p>
        </p:txBody>
      </p:sp>
      <p:sp>
        <p:nvSpPr>
          <p:cNvPr id="18" name="text-89">
            <a:extLst xmlns:a="http://schemas.openxmlformats.org/drawingml/2006/main">
              <a:ext uri="{FF2B5EF4-FFF2-40B4-BE49-F238E27FC236}">
                <a16:creationId xmlns:a16="http://schemas.microsoft.com/office/drawing/2014/main" id="{93FB5AB5-A30B-4743-A2AC-C51188DD66C1}"/>
              </a:ext>
            </a:extLst>
          </p:cNvPr>
          <p:cNvSpPr>
            <a:spLocks xmlns:a="http://schemas.openxmlformats.org/drawingml/2006/main" noGrp="1"/>
          </p:cNvSpPr>
          <p:nvPr/>
        </p:nvSpPr>
        <p:spPr>
          <a:xfrm xmlns:a="http://schemas.openxmlformats.org/drawingml/2006/main">
            <a:off x="6696075" y="3314700"/>
            <a:ext cx="48482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KUALITAS</a:t>
            </a:r>
          </a:p>
        </p:txBody>
      </p:sp>
      <p:sp>
        <p:nvSpPr>
          <p:cNvPr id="19" name="text-90">
            <a:extLst xmlns:a="http://schemas.openxmlformats.org/drawingml/2006/main">
              <a:ext uri="{FF2B5EF4-FFF2-40B4-BE49-F238E27FC236}">
                <a16:creationId xmlns:a16="http://schemas.microsoft.com/office/drawing/2014/main" id="{FB63C3B6-2DA7-4DB7-A906-864C2CC29C0C}"/>
              </a:ext>
            </a:extLst>
          </p:cNvPr>
          <p:cNvSpPr>
            <a:spLocks xmlns:a="http://schemas.openxmlformats.org/drawingml/2006/main" noGrp="1"/>
          </p:cNvSpPr>
          <p:nvPr/>
        </p:nvSpPr>
        <p:spPr>
          <a:xfrm xmlns:a="http://schemas.openxmlformats.org/drawingml/2006/main">
            <a:off x="6696075" y="3619500"/>
            <a:ext cx="4857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62B27"/>
                </a:solidFill>
                <a:latin typeface="Calibri"/>
                <a:ea typeface="Calibri"/>
                <a:cs typeface="Calibri"/>
              </a:defRPr>
            </a:pPr>
            <a:r>
              <a:rPr sz="2025" b="0">
                <a:solidFill>
                  <a:srgbClr val="162B27"/>
                </a:solidFill>
                <a:latin typeface="Calibri"/>
                <a:ea typeface="Calibri"/>
                <a:cs typeface="Calibri"/>
              </a:rPr>
              <a:t>Apakah hasilnya konsisten dengan sampel?</a:t>
            </a:r>
          </a:p>
        </p:txBody>
      </p:sp>
      <p:sp>
        <p:nvSpPr>
          <p:cNvPr id="20" name="">
            <a:extLst xmlns:a="http://schemas.openxmlformats.org/drawingml/2006/main">
              <a:ext uri="{FF2B5EF4-FFF2-40B4-BE49-F238E27FC236}">
                <a16:creationId xmlns:a16="http://schemas.microsoft.com/office/drawing/2014/main" id="{C3876CB2-1A1B-4EDA-BF05-1324FE2A4277}"/>
              </a:ext>
            </a:extLst>
          </p:cNvPr>
          <p:cNvSpPr>
            <a:spLocks xmlns:a="http://schemas.openxmlformats.org/drawingml/2006/main" noGrp="1"/>
          </p:cNvSpPr>
          <p:nvPr/>
        </p:nvSpPr>
        <p:spPr>
          <a:xfrm xmlns:a="http://schemas.openxmlformats.org/drawingml/2006/main">
            <a:off x="6696075" y="4267200"/>
            <a:ext cx="48387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21" name="">
            <a:extLst xmlns:a="http://schemas.openxmlformats.org/drawingml/2006/main">
              <a:ext uri="{FF2B5EF4-FFF2-40B4-BE49-F238E27FC236}">
                <a16:creationId xmlns:a16="http://schemas.microsoft.com/office/drawing/2014/main" id="{47C2CBFA-95E1-4429-BBC6-2865E150BB72}"/>
              </a:ext>
            </a:extLst>
          </p:cNvPr>
          <p:cNvSpPr>
            <a:spLocks xmlns:a="http://schemas.openxmlformats.org/drawingml/2006/main" noGrp="1"/>
          </p:cNvSpPr>
          <p:nvPr/>
        </p:nvSpPr>
        <p:spPr>
          <a:xfrm xmlns:a="http://schemas.openxmlformats.org/drawingml/2006/main">
            <a:off x="5934075" y="4410075"/>
            <a:ext cx="495300" cy="495300"/>
          </a:xfrm>
          <a:prstGeom xmlns:a="http://schemas.openxmlformats.org/drawingml/2006/main" prst="ellipse">
            <a:avLst/>
          </a:prstGeom>
          <a:solidFill xmlns:a="http://schemas.openxmlformats.org/drawingml/2006/main">
            <a:srgbClr val="087958"/>
          </a:solidFill>
          <a:ln xmlns:a="http://schemas.openxmlformats.org/drawingml/2006/main" w="19050">
            <a:solidFill>
              <a:srgbClr val="087958"/>
            </a:solidFill>
          </a:ln>
        </p:spPr>
      </p:sp>
      <p:sp>
        <p:nvSpPr>
          <p:cNvPr id="22" name="text-91">
            <a:extLst xmlns:a="http://schemas.openxmlformats.org/drawingml/2006/main">
              <a:ext uri="{FF2B5EF4-FFF2-40B4-BE49-F238E27FC236}">
                <a16:creationId xmlns:a16="http://schemas.microsoft.com/office/drawing/2014/main" id="{01DA87C0-6E50-44EC-B79D-4E29D308CED9}"/>
              </a:ext>
            </a:extLst>
          </p:cNvPr>
          <p:cNvSpPr>
            <a:spLocks xmlns:a="http://schemas.openxmlformats.org/drawingml/2006/main" noGrp="1"/>
          </p:cNvSpPr>
          <p:nvPr/>
        </p:nvSpPr>
        <p:spPr>
          <a:xfrm xmlns:a="http://schemas.openxmlformats.org/drawingml/2006/main">
            <a:off x="6029325" y="4505325"/>
            <a:ext cx="4476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FFFFFF"/>
                </a:solidFill>
                <a:latin typeface="Calibri"/>
                <a:ea typeface="Calibri"/>
                <a:cs typeface="Calibri"/>
              </a:defRPr>
            </a:pPr>
            <a:r>
              <a:rPr sz="1800" b="1">
                <a:solidFill>
                  <a:srgbClr val="FFFFFF"/>
                </a:solidFill>
                <a:latin typeface="Calibri"/>
                <a:ea typeface="Calibri"/>
                <a:cs typeface="Calibri"/>
              </a:rPr>
              <a:t>03</a:t>
            </a:r>
          </a:p>
        </p:txBody>
      </p:sp>
      <p:sp>
        <p:nvSpPr>
          <p:cNvPr id="23" name="text-92">
            <a:extLst xmlns:a="http://schemas.openxmlformats.org/drawingml/2006/main">
              <a:ext uri="{FF2B5EF4-FFF2-40B4-BE49-F238E27FC236}">
                <a16:creationId xmlns:a16="http://schemas.microsoft.com/office/drawing/2014/main" id="{CF6E1344-3E45-40C1-B8FD-2C1F152F4B9C}"/>
              </a:ext>
            </a:extLst>
          </p:cNvPr>
          <p:cNvSpPr>
            <a:spLocks xmlns:a="http://schemas.openxmlformats.org/drawingml/2006/main" noGrp="1"/>
          </p:cNvSpPr>
          <p:nvPr/>
        </p:nvSpPr>
        <p:spPr>
          <a:xfrm xmlns:a="http://schemas.openxmlformats.org/drawingml/2006/main">
            <a:off x="6696075" y="4419600"/>
            <a:ext cx="48482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WAKTU</a:t>
            </a:r>
          </a:p>
        </p:txBody>
      </p:sp>
      <p:sp>
        <p:nvSpPr>
          <p:cNvPr id="24" name="text-93">
            <a:extLst xmlns:a="http://schemas.openxmlformats.org/drawingml/2006/main">
              <a:ext uri="{FF2B5EF4-FFF2-40B4-BE49-F238E27FC236}">
                <a16:creationId xmlns:a16="http://schemas.microsoft.com/office/drawing/2014/main" id="{3D1BC6A9-DB21-402D-8291-2246BD9B8A98}"/>
              </a:ext>
            </a:extLst>
          </p:cNvPr>
          <p:cNvSpPr>
            <a:spLocks xmlns:a="http://schemas.openxmlformats.org/drawingml/2006/main" noGrp="1"/>
          </p:cNvSpPr>
          <p:nvPr/>
        </p:nvSpPr>
        <p:spPr>
          <a:xfrm xmlns:a="http://schemas.openxmlformats.org/drawingml/2006/main">
            <a:off x="6696075" y="4724400"/>
            <a:ext cx="4857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62B27"/>
                </a:solidFill>
                <a:latin typeface="Calibri"/>
                <a:ea typeface="Calibri"/>
                <a:cs typeface="Calibri"/>
              </a:defRPr>
            </a:pPr>
            <a:r>
              <a:rPr sz="2025" b="0">
                <a:solidFill>
                  <a:srgbClr val="162B27"/>
                </a:solidFill>
                <a:latin typeface="Calibri"/>
                <a:ea typeface="Calibri"/>
                <a:cs typeface="Calibri"/>
              </a:rPr>
              <a:t>Apakah jadwal produksi dan kirim realistis?</a:t>
            </a:r>
          </a:p>
        </p:txBody>
      </p:sp>
      <p:sp>
        <p:nvSpPr>
          <p:cNvPr id="25" name="text-94">
            <a:extLst xmlns:a="http://schemas.openxmlformats.org/drawingml/2006/main">
              <a:ext uri="{FF2B5EF4-FFF2-40B4-BE49-F238E27FC236}">
                <a16:creationId xmlns:a16="http://schemas.microsoft.com/office/drawing/2014/main" id="{724D7F88-7183-4C90-ACBA-F67A95835516}"/>
              </a:ext>
            </a:extLst>
          </p:cNvPr>
          <p:cNvSpPr>
            <a:spLocks xmlns:a="http://schemas.openxmlformats.org/drawingml/2006/main" noGrp="1"/>
          </p:cNvSpPr>
          <p:nvPr/>
        </p:nvSpPr>
        <p:spPr>
          <a:xfrm xmlns:a="http://schemas.openxmlformats.org/drawingml/2006/main">
            <a:off x="457200" y="5829300"/>
            <a:ext cx="11277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958"/>
                </a:solidFill>
                <a:latin typeface="Calibri"/>
                <a:ea typeface="Calibri"/>
                <a:cs typeface="Calibri"/>
              </a:defRPr>
            </a:pPr>
            <a:r>
              <a:rPr sz="1950" b="1">
                <a:solidFill>
                  <a:srgbClr val="087958"/>
                </a:solidFill>
                <a:latin typeface="Calibri"/>
                <a:ea typeface="Calibri"/>
                <a:cs typeface="Calibri"/>
              </a:rPr>
              <a:t>Sebelum bilang “bisa”, pastikan siapa yang akan membuktikannya.</a:t>
            </a:r>
          </a:p>
        </p:txBody>
      </p:sp>
    </p:spTree>
    <p:extLst>
      <p:ext uri="{BB962C8B-B14F-4D97-AF65-F5344CB8AC3E}">
        <p14:creationId xmlns:p14="http://schemas.microsoft.com/office/powerpoint/2010/main" val="213664634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cde66743d608480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BB687B3-31C9-477E-A025-AD9DD0A7CB56}"/>
              </a:ext>
            </a:extLst>
          </p:cNvPr>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17ac4318b09c4a16"/>
          <a:stretch xmlns:a="http://schemas.openxmlformats.org/drawingml/2006/main"/>
        </p:blipFill>
        <p:spPr>
          <a:xfrm xmlns:a="http://schemas.openxmlformats.org/drawingml/2006/main">
            <a:off x="10477500" y="228686"/>
            <a:ext cx="1257300" cy="471315"/>
          </a:xfrm>
          <a:prstGeom xmlns:a="http://schemas.openxmlformats.org/drawingml/2006/main" prst="rect">
            <a:avLst/>
          </a:prstGeom>
        </p:spPr>
      </p:pic>
      <p:sp>
        <p:nvSpPr>
          <p:cNvPr id="4" name="text-95">
            <a:extLst xmlns:a="http://schemas.openxmlformats.org/drawingml/2006/main">
              <a:ext uri="{FF2B5EF4-FFF2-40B4-BE49-F238E27FC236}">
                <a16:creationId xmlns:a16="http://schemas.microsoft.com/office/drawing/2014/main" id="{C2DA981F-55F5-4EF0-8BAC-3F464E30458C}"/>
              </a:ext>
            </a:extLst>
          </p:cNvPr>
          <p:cNvSpPr>
            <a:spLocks xmlns:a="http://schemas.openxmlformats.org/drawingml/2006/main" noGrp="1"/>
          </p:cNvSpPr>
          <p:nvPr/>
        </p:nvSpPr>
        <p:spPr>
          <a:xfrm xmlns:a="http://schemas.openxmlformats.org/drawingml/2006/main">
            <a:off x="457200" y="390525"/>
            <a:ext cx="9763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62B27"/>
                </a:solidFill>
                <a:latin typeface="Calibri"/>
                <a:ea typeface="Calibri"/>
                <a:cs typeface="Calibri"/>
              </a:defRPr>
            </a:pPr>
            <a:r>
              <a:rPr sz="2700" b="1">
                <a:solidFill>
                  <a:srgbClr val="162B27"/>
                </a:solidFill>
                <a:latin typeface="Calibri"/>
                <a:ea typeface="Calibri"/>
                <a:cs typeface="Calibri"/>
              </a:rPr>
              <a:t>Pesanan yang untung tetap bisa menekan arus kas</a:t>
            </a:r>
          </a:p>
        </p:txBody>
      </p:sp>
      <p:sp>
        <p:nvSpPr>
          <p:cNvPr id="5" name="text-96">
            <a:extLst xmlns:a="http://schemas.openxmlformats.org/drawingml/2006/main">
              <a:ext uri="{FF2B5EF4-FFF2-40B4-BE49-F238E27FC236}">
                <a16:creationId xmlns:a16="http://schemas.microsoft.com/office/drawing/2014/main" id="{1BC6EEE3-40FC-488D-8C74-C08B18323603}"/>
              </a:ext>
            </a:extLst>
          </p:cNvPr>
          <p:cNvSpPr>
            <a:spLocks xmlns:a="http://schemas.openxmlformats.org/drawingml/2006/main" noGrp="1"/>
          </p:cNvSpPr>
          <p:nvPr/>
        </p:nvSpPr>
        <p:spPr>
          <a:xfrm xmlns:a="http://schemas.openxmlformats.org/drawingml/2006/main">
            <a:off x="457200" y="1419225"/>
            <a:ext cx="11201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6C65"/>
                </a:solidFill>
                <a:latin typeface="Calibri"/>
                <a:ea typeface="Calibri"/>
                <a:cs typeface="Calibri"/>
              </a:defRPr>
            </a:pPr>
            <a:r>
              <a:rPr sz="1800" b="0">
                <a:solidFill>
                  <a:srgbClr val="5B6C65"/>
                </a:solidFill>
                <a:latin typeface="Calibri"/>
                <a:ea typeface="Calibri"/>
                <a:cs typeface="Calibri"/>
              </a:rPr>
              <a:t>Ilustrasi pembayaran setelah barang diterima. Urutan ini tidak memakai skala waktu.</a:t>
            </a:r>
          </a:p>
        </p:txBody>
      </p:sp>
      <p:sp>
        <p:nvSpPr>
          <p:cNvPr id="6" name="text-97">
            <a:extLst xmlns:a="http://schemas.openxmlformats.org/drawingml/2006/main">
              <a:ext uri="{FF2B5EF4-FFF2-40B4-BE49-F238E27FC236}">
                <a16:creationId xmlns:a16="http://schemas.microsoft.com/office/drawing/2014/main" id="{8160886E-FD1C-4590-8DE2-6514A55ACA06}"/>
              </a:ext>
            </a:extLst>
          </p:cNvPr>
          <p:cNvSpPr>
            <a:spLocks xmlns:a="http://schemas.openxmlformats.org/drawingml/2006/main" noGrp="1"/>
          </p:cNvSpPr>
          <p:nvPr/>
        </p:nvSpPr>
        <p:spPr>
          <a:xfrm xmlns:a="http://schemas.openxmlformats.org/drawingml/2006/main">
            <a:off x="457200" y="6134100"/>
            <a:ext cx="11191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Adaptasi Modul 1 CEO Masterclass</a:t>
            </a:r>
          </a:p>
        </p:txBody>
      </p:sp>
      <p:sp>
        <p:nvSpPr>
          <p:cNvPr id="7" name="text-98">
            <a:extLst xmlns:a="http://schemas.openxmlformats.org/drawingml/2006/main">
              <a:ext uri="{FF2B5EF4-FFF2-40B4-BE49-F238E27FC236}">
                <a16:creationId xmlns:a16="http://schemas.microsoft.com/office/drawing/2014/main" id="{C533FF98-9227-417C-BF93-D1B7A790BC55}"/>
              </a:ext>
            </a:extLst>
          </p:cNvPr>
          <p:cNvSpPr>
            <a:spLocks xmlns:a="http://schemas.openxmlformats.org/drawingml/2006/main" noGrp="1"/>
          </p:cNvSpPr>
          <p:nvPr/>
        </p:nvSpPr>
        <p:spPr>
          <a:xfrm xmlns:a="http://schemas.openxmlformats.org/drawingml/2006/main">
            <a:off x="457200" y="6534150"/>
            <a:ext cx="571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CMC × BD Ekspor</a:t>
            </a:r>
          </a:p>
        </p:txBody>
      </p:sp>
      <p:sp>
        <p:nvSpPr>
          <p:cNvPr id="8" name="text-99">
            <a:extLst xmlns:a="http://schemas.openxmlformats.org/drawingml/2006/main">
              <a:ext uri="{FF2B5EF4-FFF2-40B4-BE49-F238E27FC236}">
                <a16:creationId xmlns:a16="http://schemas.microsoft.com/office/drawing/2014/main" id="{3A3362CB-195E-4D88-8D13-0766FDE26267}"/>
              </a:ext>
            </a:extLst>
          </p:cNvPr>
          <p:cNvSpPr>
            <a:spLocks xmlns:a="http://schemas.openxmlformats.org/drawingml/2006/main" noGrp="1"/>
          </p:cNvSpPr>
          <p:nvPr/>
        </p:nvSpPr>
        <p:spPr>
          <a:xfrm xmlns:a="http://schemas.openxmlformats.org/drawingml/2006/main">
            <a:off x="11258550" y="65055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Calibri"/>
                <a:ea typeface="Calibri"/>
                <a:cs typeface="Calibri"/>
              </a:defRPr>
            </a:pPr>
            <a:r>
              <a:rPr sz="1275" b="0">
                <a:solidFill>
                  <a:srgbClr val="FFFFFF"/>
                </a:solidFill>
                <a:latin typeface="Calibri"/>
                <a:ea typeface="Calibri"/>
                <a:cs typeface="Calibri"/>
              </a:rPr>
              <a:t>08</a:t>
            </a:r>
          </a:p>
        </p:txBody>
      </p:sp>
      <p:sp>
        <p:nvSpPr>
          <p:cNvPr id="9" name="text-100">
            <a:extLst xmlns:a="http://schemas.openxmlformats.org/drawingml/2006/main">
              <a:ext uri="{FF2B5EF4-FFF2-40B4-BE49-F238E27FC236}">
                <a16:creationId xmlns:a16="http://schemas.microsoft.com/office/drawing/2014/main" id="{40ACFEBF-8739-491D-8487-0E6BEA227B65}"/>
              </a:ext>
            </a:extLst>
          </p:cNvPr>
          <p:cNvSpPr>
            <a:spLocks xmlns:a="http://schemas.openxmlformats.org/drawingml/2006/main" noGrp="1"/>
          </p:cNvSpPr>
          <p:nvPr/>
        </p:nvSpPr>
        <p:spPr>
          <a:xfrm xmlns:a="http://schemas.openxmlformats.org/drawingml/2006/main">
            <a:off x="457200" y="2314575"/>
            <a:ext cx="2514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87958"/>
                </a:solidFill>
                <a:latin typeface="Calibri"/>
                <a:ea typeface="Calibri"/>
                <a:cs typeface="Calibri"/>
              </a:defRPr>
            </a:pPr>
            <a:r>
              <a:rPr sz="2175" b="1">
                <a:solidFill>
                  <a:srgbClr val="087958"/>
                </a:solidFill>
                <a:latin typeface="Calibri"/>
                <a:ea typeface="Calibri"/>
                <a:cs typeface="Calibri"/>
              </a:rPr>
              <a:t>Bahan baku</a:t>
            </a:r>
          </a:p>
        </p:txBody>
      </p:sp>
      <p:sp>
        <p:nvSpPr>
          <p:cNvPr id="10" name="">
            <a:extLst xmlns:a="http://schemas.openxmlformats.org/drawingml/2006/main">
              <a:ext uri="{FF2B5EF4-FFF2-40B4-BE49-F238E27FC236}">
                <a16:creationId xmlns:a16="http://schemas.microsoft.com/office/drawing/2014/main" id="{D5BC0866-9E3B-44D0-A99E-9EE2E45AC686}"/>
              </a:ext>
            </a:extLst>
          </p:cNvPr>
          <p:cNvSpPr>
            <a:spLocks xmlns:a="http://schemas.openxmlformats.org/drawingml/2006/main" noGrp="1"/>
          </p:cNvSpPr>
          <p:nvPr/>
        </p:nvSpPr>
        <p:spPr>
          <a:xfrm xmlns:a="http://schemas.openxmlformats.org/drawingml/2006/main">
            <a:off x="571500" y="3000375"/>
            <a:ext cx="228600" cy="228600"/>
          </a:xfrm>
          <a:prstGeom xmlns:a="http://schemas.openxmlformats.org/drawingml/2006/main" prst="ellipse">
            <a:avLst/>
          </a:prstGeom>
          <a:solidFill xmlns:a="http://schemas.openxmlformats.org/drawingml/2006/main">
            <a:srgbClr val="087958"/>
          </a:solidFill>
          <a:ln xmlns:a="http://schemas.openxmlformats.org/drawingml/2006/main" w="19050">
            <a:solidFill>
              <a:srgbClr val="087958"/>
            </a:solidFill>
          </a:ln>
        </p:spPr>
      </p:sp>
      <p:sp>
        <p:nvSpPr>
          <p:cNvPr id="11" name="text-101">
            <a:extLst xmlns:a="http://schemas.openxmlformats.org/drawingml/2006/main">
              <a:ext uri="{FF2B5EF4-FFF2-40B4-BE49-F238E27FC236}">
                <a16:creationId xmlns:a16="http://schemas.microsoft.com/office/drawing/2014/main" id="{3C957711-723D-4C16-BCB7-9CDAC6AB0517}"/>
              </a:ext>
            </a:extLst>
          </p:cNvPr>
          <p:cNvSpPr>
            <a:spLocks xmlns:a="http://schemas.openxmlformats.org/drawingml/2006/main" noGrp="1"/>
          </p:cNvSpPr>
          <p:nvPr/>
        </p:nvSpPr>
        <p:spPr>
          <a:xfrm xmlns:a="http://schemas.openxmlformats.org/drawingml/2006/main">
            <a:off x="457200" y="3476625"/>
            <a:ext cx="2495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6C65"/>
                </a:solidFill>
                <a:latin typeface="Calibri"/>
                <a:ea typeface="Calibri"/>
                <a:cs typeface="Calibri"/>
              </a:defRPr>
            </a:pPr>
            <a:r>
              <a:rPr sz="1800" b="0">
                <a:solidFill>
                  <a:srgbClr val="5B6C65"/>
                </a:solidFill>
                <a:latin typeface="Calibri"/>
                <a:ea typeface="Calibri"/>
                <a:cs typeface="Calibri"/>
              </a:rPr>
              <a:t>Bayar pemasok</a:t>
            </a:r>
          </a:p>
        </p:txBody>
      </p:sp>
      <p:sp>
        <p:nvSpPr>
          <p:cNvPr id="12" name="">
            <a:extLst xmlns:a="http://schemas.openxmlformats.org/drawingml/2006/main">
              <a:ext uri="{FF2B5EF4-FFF2-40B4-BE49-F238E27FC236}">
                <a16:creationId xmlns:a16="http://schemas.microsoft.com/office/drawing/2014/main" id="{239483A1-259D-427C-A1C4-F2A3E4143CAA}"/>
              </a:ext>
            </a:extLst>
          </p:cNvPr>
          <p:cNvSpPr>
            <a:spLocks xmlns:a="http://schemas.openxmlformats.org/drawingml/2006/main" noGrp="1"/>
          </p:cNvSpPr>
          <p:nvPr/>
        </p:nvSpPr>
        <p:spPr>
          <a:xfrm xmlns:a="http://schemas.openxmlformats.org/drawingml/2006/main" rot="0">
            <a:off x="1000125" y="3067050"/>
            <a:ext cx="2000250" cy="114300"/>
          </a:xfrm>
          <a:prstGeom xmlns:a="http://schemas.openxmlformats.org/drawingml/2006/main" prst="rightArrow">
            <a:avLst/>
          </a:prstGeom>
          <a:solidFill xmlns:a="http://schemas.openxmlformats.org/drawingml/2006/main">
            <a:srgbClr val="95BBA9"/>
          </a:solidFill>
          <a:ln xmlns:a="http://schemas.openxmlformats.org/drawingml/2006/main" w="0">
            <a:noFill/>
          </a:ln>
        </p:spPr>
      </p:sp>
      <p:sp>
        <p:nvSpPr>
          <p:cNvPr id="13" name="text-102">
            <a:extLst xmlns:a="http://schemas.openxmlformats.org/drawingml/2006/main">
              <a:ext uri="{FF2B5EF4-FFF2-40B4-BE49-F238E27FC236}">
                <a16:creationId xmlns:a16="http://schemas.microsoft.com/office/drawing/2014/main" id="{C38FEE5B-6392-4235-A8B9-A7E3FB9FF986}"/>
              </a:ext>
            </a:extLst>
          </p:cNvPr>
          <p:cNvSpPr>
            <a:spLocks xmlns:a="http://schemas.openxmlformats.org/drawingml/2006/main" noGrp="1"/>
          </p:cNvSpPr>
          <p:nvPr/>
        </p:nvSpPr>
        <p:spPr>
          <a:xfrm xmlns:a="http://schemas.openxmlformats.org/drawingml/2006/main">
            <a:off x="3267075" y="2314575"/>
            <a:ext cx="2514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87958"/>
                </a:solidFill>
                <a:latin typeface="Calibri"/>
                <a:ea typeface="Calibri"/>
                <a:cs typeface="Calibri"/>
              </a:defRPr>
            </a:pPr>
            <a:r>
              <a:rPr sz="2175" b="1">
                <a:solidFill>
                  <a:srgbClr val="087958"/>
                </a:solidFill>
                <a:latin typeface="Calibri"/>
                <a:ea typeface="Calibri"/>
                <a:cs typeface="Calibri"/>
              </a:rPr>
              <a:t>Produksi</a:t>
            </a:r>
          </a:p>
        </p:txBody>
      </p:sp>
      <p:sp>
        <p:nvSpPr>
          <p:cNvPr id="14" name="">
            <a:extLst xmlns:a="http://schemas.openxmlformats.org/drawingml/2006/main">
              <a:ext uri="{FF2B5EF4-FFF2-40B4-BE49-F238E27FC236}">
                <a16:creationId xmlns:a16="http://schemas.microsoft.com/office/drawing/2014/main" id="{DF60F2AC-A586-4564-8D35-E938C3C91D4A}"/>
              </a:ext>
            </a:extLst>
          </p:cNvPr>
          <p:cNvSpPr>
            <a:spLocks xmlns:a="http://schemas.openxmlformats.org/drawingml/2006/main" noGrp="1"/>
          </p:cNvSpPr>
          <p:nvPr/>
        </p:nvSpPr>
        <p:spPr>
          <a:xfrm xmlns:a="http://schemas.openxmlformats.org/drawingml/2006/main">
            <a:off x="3381375" y="3000375"/>
            <a:ext cx="228600" cy="228600"/>
          </a:xfrm>
          <a:prstGeom xmlns:a="http://schemas.openxmlformats.org/drawingml/2006/main" prst="ellipse">
            <a:avLst/>
          </a:prstGeom>
          <a:solidFill xmlns:a="http://schemas.openxmlformats.org/drawingml/2006/main">
            <a:srgbClr val="087958"/>
          </a:solidFill>
          <a:ln xmlns:a="http://schemas.openxmlformats.org/drawingml/2006/main" w="19050">
            <a:solidFill>
              <a:srgbClr val="087958"/>
            </a:solidFill>
          </a:ln>
        </p:spPr>
      </p:sp>
      <p:sp>
        <p:nvSpPr>
          <p:cNvPr id="15" name="text-103">
            <a:extLst xmlns:a="http://schemas.openxmlformats.org/drawingml/2006/main">
              <a:ext uri="{FF2B5EF4-FFF2-40B4-BE49-F238E27FC236}">
                <a16:creationId xmlns:a16="http://schemas.microsoft.com/office/drawing/2014/main" id="{6344AC1C-0227-4972-81CE-96CBC66555C6}"/>
              </a:ext>
            </a:extLst>
          </p:cNvPr>
          <p:cNvSpPr>
            <a:spLocks xmlns:a="http://schemas.openxmlformats.org/drawingml/2006/main" noGrp="1"/>
          </p:cNvSpPr>
          <p:nvPr/>
        </p:nvSpPr>
        <p:spPr>
          <a:xfrm xmlns:a="http://schemas.openxmlformats.org/drawingml/2006/main">
            <a:off x="3267075" y="3476625"/>
            <a:ext cx="2495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6C65"/>
                </a:solidFill>
                <a:latin typeface="Calibri"/>
                <a:ea typeface="Calibri"/>
                <a:cs typeface="Calibri"/>
              </a:defRPr>
            </a:pPr>
            <a:r>
              <a:rPr sz="1800" b="0">
                <a:solidFill>
                  <a:srgbClr val="5B6C65"/>
                </a:solidFill>
                <a:latin typeface="Calibri"/>
                <a:ea typeface="Calibri"/>
                <a:cs typeface="Calibri"/>
              </a:rPr>
              <a:t>Upah + kemasan</a:t>
            </a:r>
          </a:p>
        </p:txBody>
      </p:sp>
      <p:sp>
        <p:nvSpPr>
          <p:cNvPr id="16" name="">
            <a:extLst xmlns:a="http://schemas.openxmlformats.org/drawingml/2006/main">
              <a:ext uri="{FF2B5EF4-FFF2-40B4-BE49-F238E27FC236}">
                <a16:creationId xmlns:a16="http://schemas.microsoft.com/office/drawing/2014/main" id="{A597CF71-FA75-4174-ADE5-957787928D07}"/>
              </a:ext>
            </a:extLst>
          </p:cNvPr>
          <p:cNvSpPr>
            <a:spLocks xmlns:a="http://schemas.openxmlformats.org/drawingml/2006/main" noGrp="1"/>
          </p:cNvSpPr>
          <p:nvPr/>
        </p:nvSpPr>
        <p:spPr>
          <a:xfrm xmlns:a="http://schemas.openxmlformats.org/drawingml/2006/main" rot="0">
            <a:off x="3810000" y="3067050"/>
            <a:ext cx="2000250" cy="114300"/>
          </a:xfrm>
          <a:prstGeom xmlns:a="http://schemas.openxmlformats.org/drawingml/2006/main" prst="rightArrow">
            <a:avLst/>
          </a:prstGeom>
          <a:solidFill xmlns:a="http://schemas.openxmlformats.org/drawingml/2006/main">
            <a:srgbClr val="95BBA9"/>
          </a:solidFill>
          <a:ln xmlns:a="http://schemas.openxmlformats.org/drawingml/2006/main" w="0">
            <a:noFill/>
          </a:ln>
        </p:spPr>
      </p:sp>
      <p:sp>
        <p:nvSpPr>
          <p:cNvPr id="17" name="text-104">
            <a:extLst xmlns:a="http://schemas.openxmlformats.org/drawingml/2006/main">
              <a:ext uri="{FF2B5EF4-FFF2-40B4-BE49-F238E27FC236}">
                <a16:creationId xmlns:a16="http://schemas.microsoft.com/office/drawing/2014/main" id="{E4F83563-F98C-44BB-9A89-D5BFBEBD3ECE}"/>
              </a:ext>
            </a:extLst>
          </p:cNvPr>
          <p:cNvSpPr>
            <a:spLocks xmlns:a="http://schemas.openxmlformats.org/drawingml/2006/main" noGrp="1"/>
          </p:cNvSpPr>
          <p:nvPr/>
        </p:nvSpPr>
        <p:spPr>
          <a:xfrm xmlns:a="http://schemas.openxmlformats.org/drawingml/2006/main">
            <a:off x="6076950" y="2314575"/>
            <a:ext cx="2514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87958"/>
                </a:solidFill>
                <a:latin typeface="Calibri"/>
                <a:ea typeface="Calibri"/>
                <a:cs typeface="Calibri"/>
              </a:defRPr>
            </a:pPr>
            <a:r>
              <a:rPr sz="2175" b="1">
                <a:solidFill>
                  <a:srgbClr val="087958"/>
                </a:solidFill>
                <a:latin typeface="Calibri"/>
                <a:ea typeface="Calibri"/>
                <a:cs typeface="Calibri"/>
              </a:rPr>
              <a:t>Pengiriman</a:t>
            </a:r>
          </a:p>
        </p:txBody>
      </p:sp>
      <p:sp>
        <p:nvSpPr>
          <p:cNvPr id="18" name="">
            <a:extLst xmlns:a="http://schemas.openxmlformats.org/drawingml/2006/main">
              <a:ext uri="{FF2B5EF4-FFF2-40B4-BE49-F238E27FC236}">
                <a16:creationId xmlns:a16="http://schemas.microsoft.com/office/drawing/2014/main" id="{BA5E292C-E8ED-458B-988A-439DA5C77FDC}"/>
              </a:ext>
            </a:extLst>
          </p:cNvPr>
          <p:cNvSpPr>
            <a:spLocks xmlns:a="http://schemas.openxmlformats.org/drawingml/2006/main" noGrp="1"/>
          </p:cNvSpPr>
          <p:nvPr/>
        </p:nvSpPr>
        <p:spPr>
          <a:xfrm xmlns:a="http://schemas.openxmlformats.org/drawingml/2006/main">
            <a:off x="6191250" y="3000375"/>
            <a:ext cx="228600" cy="228600"/>
          </a:xfrm>
          <a:prstGeom xmlns:a="http://schemas.openxmlformats.org/drawingml/2006/main" prst="ellipse">
            <a:avLst/>
          </a:prstGeom>
          <a:solidFill xmlns:a="http://schemas.openxmlformats.org/drawingml/2006/main">
            <a:srgbClr val="087958"/>
          </a:solidFill>
          <a:ln xmlns:a="http://schemas.openxmlformats.org/drawingml/2006/main" w="19050">
            <a:solidFill>
              <a:srgbClr val="087958"/>
            </a:solidFill>
          </a:ln>
        </p:spPr>
      </p:sp>
      <p:sp>
        <p:nvSpPr>
          <p:cNvPr id="19" name="text-105">
            <a:extLst xmlns:a="http://schemas.openxmlformats.org/drawingml/2006/main">
              <a:ext uri="{FF2B5EF4-FFF2-40B4-BE49-F238E27FC236}">
                <a16:creationId xmlns:a16="http://schemas.microsoft.com/office/drawing/2014/main" id="{153BABD8-1A89-4FEF-93A0-4BE444B42C77}"/>
              </a:ext>
            </a:extLst>
          </p:cNvPr>
          <p:cNvSpPr>
            <a:spLocks xmlns:a="http://schemas.openxmlformats.org/drawingml/2006/main" noGrp="1"/>
          </p:cNvSpPr>
          <p:nvPr/>
        </p:nvSpPr>
        <p:spPr>
          <a:xfrm xmlns:a="http://schemas.openxmlformats.org/drawingml/2006/main">
            <a:off x="6076950" y="3476625"/>
            <a:ext cx="2495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6C65"/>
                </a:solidFill>
                <a:latin typeface="Calibri"/>
                <a:ea typeface="Calibri"/>
                <a:cs typeface="Calibri"/>
              </a:defRPr>
            </a:pPr>
            <a:r>
              <a:rPr sz="1800" b="0">
                <a:solidFill>
                  <a:srgbClr val="5B6C65"/>
                </a:solidFill>
                <a:latin typeface="Calibri"/>
                <a:ea typeface="Calibri"/>
                <a:cs typeface="Calibri"/>
              </a:rPr>
              <a:t>Biaya sesuai kontrak</a:t>
            </a:r>
          </a:p>
        </p:txBody>
      </p:sp>
      <p:sp>
        <p:nvSpPr>
          <p:cNvPr id="20" name="">
            <a:extLst xmlns:a="http://schemas.openxmlformats.org/drawingml/2006/main">
              <a:ext uri="{FF2B5EF4-FFF2-40B4-BE49-F238E27FC236}">
                <a16:creationId xmlns:a16="http://schemas.microsoft.com/office/drawing/2014/main" id="{C68C45FB-2AA0-48C7-9C66-C3467135C7B8}"/>
              </a:ext>
            </a:extLst>
          </p:cNvPr>
          <p:cNvSpPr>
            <a:spLocks xmlns:a="http://schemas.openxmlformats.org/drawingml/2006/main" noGrp="1"/>
          </p:cNvSpPr>
          <p:nvPr/>
        </p:nvSpPr>
        <p:spPr>
          <a:xfrm xmlns:a="http://schemas.openxmlformats.org/drawingml/2006/main" rot="0">
            <a:off x="6619875" y="3067050"/>
            <a:ext cx="2305050" cy="114300"/>
          </a:xfrm>
          <a:prstGeom xmlns:a="http://schemas.openxmlformats.org/drawingml/2006/main" prst="rightArrow">
            <a:avLst/>
          </a:prstGeom>
          <a:solidFill xmlns:a="http://schemas.openxmlformats.org/drawingml/2006/main">
            <a:srgbClr val="95BBA9"/>
          </a:solidFill>
          <a:ln xmlns:a="http://schemas.openxmlformats.org/drawingml/2006/main" w="0">
            <a:noFill/>
          </a:ln>
        </p:spPr>
      </p:sp>
      <p:sp>
        <p:nvSpPr>
          <p:cNvPr id="21" name="text-106">
            <a:extLst xmlns:a="http://schemas.openxmlformats.org/drawingml/2006/main">
              <a:ext uri="{FF2B5EF4-FFF2-40B4-BE49-F238E27FC236}">
                <a16:creationId xmlns:a16="http://schemas.microsoft.com/office/drawing/2014/main" id="{F3D36CAE-E257-49BF-8F81-66878D3C76B7}"/>
              </a:ext>
            </a:extLst>
          </p:cNvPr>
          <p:cNvSpPr>
            <a:spLocks xmlns:a="http://schemas.openxmlformats.org/drawingml/2006/main" noGrp="1"/>
          </p:cNvSpPr>
          <p:nvPr/>
        </p:nvSpPr>
        <p:spPr>
          <a:xfrm xmlns:a="http://schemas.openxmlformats.org/drawingml/2006/main">
            <a:off x="9201150" y="2314575"/>
            <a:ext cx="2514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2B28"/>
                </a:solidFill>
                <a:latin typeface="Calibri"/>
                <a:ea typeface="Calibri"/>
                <a:cs typeface="Calibri"/>
              </a:defRPr>
            </a:pPr>
            <a:r>
              <a:rPr sz="2175" b="1">
                <a:solidFill>
                  <a:srgbClr val="002B28"/>
                </a:solidFill>
                <a:latin typeface="Calibri"/>
                <a:ea typeface="Calibri"/>
                <a:cs typeface="Calibri"/>
              </a:rPr>
              <a:t>Pembayaran</a:t>
            </a:r>
          </a:p>
        </p:txBody>
      </p:sp>
      <p:sp>
        <p:nvSpPr>
          <p:cNvPr id="22" name="">
            <a:extLst xmlns:a="http://schemas.openxmlformats.org/drawingml/2006/main">
              <a:ext uri="{FF2B5EF4-FFF2-40B4-BE49-F238E27FC236}">
                <a16:creationId xmlns:a16="http://schemas.microsoft.com/office/drawing/2014/main" id="{FF0F6CA5-0DA0-45FB-A184-0A149D87C636}"/>
              </a:ext>
            </a:extLst>
          </p:cNvPr>
          <p:cNvSpPr>
            <a:spLocks xmlns:a="http://schemas.openxmlformats.org/drawingml/2006/main" noGrp="1"/>
          </p:cNvSpPr>
          <p:nvPr/>
        </p:nvSpPr>
        <p:spPr>
          <a:xfrm xmlns:a="http://schemas.openxmlformats.org/drawingml/2006/main">
            <a:off x="9315450" y="3000375"/>
            <a:ext cx="228600" cy="228600"/>
          </a:xfrm>
          <a:prstGeom xmlns:a="http://schemas.openxmlformats.org/drawingml/2006/main" prst="ellipse">
            <a:avLst/>
          </a:prstGeom>
          <a:solidFill xmlns:a="http://schemas.openxmlformats.org/drawingml/2006/main">
            <a:srgbClr val="002B28"/>
          </a:solidFill>
          <a:ln xmlns:a="http://schemas.openxmlformats.org/drawingml/2006/main" w="19050">
            <a:solidFill>
              <a:srgbClr val="087958"/>
            </a:solidFill>
          </a:ln>
        </p:spPr>
      </p:sp>
      <p:sp>
        <p:nvSpPr>
          <p:cNvPr id="23" name="text-107">
            <a:extLst xmlns:a="http://schemas.openxmlformats.org/drawingml/2006/main">
              <a:ext uri="{FF2B5EF4-FFF2-40B4-BE49-F238E27FC236}">
                <a16:creationId xmlns:a16="http://schemas.microsoft.com/office/drawing/2014/main" id="{6070219B-99F0-409D-BE8A-95A55D2000AF}"/>
              </a:ext>
            </a:extLst>
          </p:cNvPr>
          <p:cNvSpPr>
            <a:spLocks xmlns:a="http://schemas.openxmlformats.org/drawingml/2006/main" noGrp="1"/>
          </p:cNvSpPr>
          <p:nvPr/>
        </p:nvSpPr>
        <p:spPr>
          <a:xfrm xmlns:a="http://schemas.openxmlformats.org/drawingml/2006/main">
            <a:off x="9201150" y="3476625"/>
            <a:ext cx="2495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6C65"/>
                </a:solidFill>
                <a:latin typeface="Calibri"/>
                <a:ea typeface="Calibri"/>
                <a:cs typeface="Calibri"/>
              </a:defRPr>
            </a:pPr>
            <a:r>
              <a:rPr sz="1800" b="0">
                <a:solidFill>
                  <a:srgbClr val="5B6C65"/>
                </a:solidFill>
                <a:latin typeface="Calibri"/>
                <a:ea typeface="Calibri"/>
                <a:cs typeface="Calibri"/>
              </a:rPr>
              <a:t>Uang dari buyer</a:t>
            </a:r>
          </a:p>
        </p:txBody>
      </p:sp>
      <p:sp>
        <p:nvSpPr>
          <p:cNvPr id="24" name="">
            <a:extLst xmlns:a="http://schemas.openxmlformats.org/drawingml/2006/main">
              <a:ext uri="{FF2B5EF4-FFF2-40B4-BE49-F238E27FC236}">
                <a16:creationId xmlns:a16="http://schemas.microsoft.com/office/drawing/2014/main" id="{0E4970C1-B948-49C8-9E07-EAC73478CF38}"/>
              </a:ext>
            </a:extLst>
          </p:cNvPr>
          <p:cNvSpPr>
            <a:spLocks xmlns:a="http://schemas.openxmlformats.org/drawingml/2006/main" noGrp="1"/>
          </p:cNvSpPr>
          <p:nvPr/>
        </p:nvSpPr>
        <p:spPr>
          <a:xfrm xmlns:a="http://schemas.openxmlformats.org/drawingml/2006/main">
            <a:off x="457200" y="4295775"/>
            <a:ext cx="8448675" cy="904875"/>
          </a:xfrm>
          <a:prstGeom xmlns:a="http://schemas.openxmlformats.org/drawingml/2006/main" prst="rect">
            <a:avLst/>
          </a:prstGeom>
          <a:solidFill xmlns:a="http://schemas.openxmlformats.org/drawingml/2006/main">
            <a:srgbClr val="EBF4EE"/>
          </a:solidFill>
          <a:ln xmlns:a="http://schemas.openxmlformats.org/drawingml/2006/main" w="0">
            <a:noFill/>
          </a:ln>
        </p:spPr>
      </p:sp>
      <p:sp>
        <p:nvSpPr>
          <p:cNvPr id="25" name="text-108">
            <a:extLst xmlns:a="http://schemas.openxmlformats.org/drawingml/2006/main">
              <a:ext uri="{FF2B5EF4-FFF2-40B4-BE49-F238E27FC236}">
                <a16:creationId xmlns:a16="http://schemas.microsoft.com/office/drawing/2014/main" id="{D35DCFD9-84E6-4BCF-BDCC-D6A35DC25339}"/>
              </a:ext>
            </a:extLst>
          </p:cNvPr>
          <p:cNvSpPr>
            <a:spLocks xmlns:a="http://schemas.openxmlformats.org/drawingml/2006/main" noGrp="1"/>
          </p:cNvSpPr>
          <p:nvPr/>
        </p:nvSpPr>
        <p:spPr>
          <a:xfrm xmlns:a="http://schemas.openxmlformats.org/drawingml/2006/main">
            <a:off x="657225" y="4438650"/>
            <a:ext cx="7858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UANG KELUAR LEBIH DULU</a:t>
            </a:r>
          </a:p>
        </p:txBody>
      </p:sp>
      <p:sp>
        <p:nvSpPr>
          <p:cNvPr id="26" name="text-109">
            <a:extLst xmlns:a="http://schemas.openxmlformats.org/drawingml/2006/main">
              <a:ext uri="{FF2B5EF4-FFF2-40B4-BE49-F238E27FC236}">
                <a16:creationId xmlns:a16="http://schemas.microsoft.com/office/drawing/2014/main" id="{21A4EB6D-A80E-41C4-B52F-B1B8C661DEB6}"/>
              </a:ext>
            </a:extLst>
          </p:cNvPr>
          <p:cNvSpPr>
            <a:spLocks xmlns:a="http://schemas.openxmlformats.org/drawingml/2006/main" noGrp="1"/>
          </p:cNvSpPr>
          <p:nvPr/>
        </p:nvSpPr>
        <p:spPr>
          <a:xfrm xmlns:a="http://schemas.openxmlformats.org/drawingml/2006/main">
            <a:off x="657225" y="4752975"/>
            <a:ext cx="785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87958"/>
                </a:solidFill>
                <a:latin typeface="Calibri"/>
                <a:ea typeface="Calibri"/>
                <a:cs typeface="Calibri"/>
              </a:defRPr>
            </a:pPr>
            <a:r>
              <a:rPr sz="2325" b="1">
                <a:solidFill>
                  <a:srgbClr val="087958"/>
                </a:solidFill>
                <a:latin typeface="Calibri"/>
                <a:ea typeface="Calibri"/>
                <a:cs typeface="Calibri"/>
              </a:rPr>
              <a:t>Modal kerja harus menutup jeda ini.</a:t>
            </a:r>
          </a:p>
        </p:txBody>
      </p:sp>
      <p:sp>
        <p:nvSpPr>
          <p:cNvPr id="27" name="">
            <a:extLst xmlns:a="http://schemas.openxmlformats.org/drawingml/2006/main">
              <a:ext uri="{FF2B5EF4-FFF2-40B4-BE49-F238E27FC236}">
                <a16:creationId xmlns:a16="http://schemas.microsoft.com/office/drawing/2014/main" id="{05D2777D-EE61-4404-9891-ACA58DD281F4}"/>
              </a:ext>
            </a:extLst>
          </p:cNvPr>
          <p:cNvSpPr>
            <a:spLocks xmlns:a="http://schemas.openxmlformats.org/drawingml/2006/main" noGrp="1"/>
          </p:cNvSpPr>
          <p:nvPr/>
        </p:nvSpPr>
        <p:spPr>
          <a:xfrm xmlns:a="http://schemas.openxmlformats.org/drawingml/2006/main">
            <a:off x="9058275" y="4248150"/>
            <a:ext cx="0" cy="1085850"/>
          </a:xfrm>
          <a:prstGeom xmlns:a="http://schemas.openxmlformats.org/drawingml/2006/main" prst="line">
            <a:avLst/>
          </a:prstGeom>
          <a:ln xmlns:a="http://schemas.openxmlformats.org/drawingml/2006/main" w="19050">
            <a:solidFill>
              <a:srgbClr val="002B28"/>
            </a:solidFill>
          </a:ln>
        </p:spPr>
      </p:sp>
      <p:sp>
        <p:nvSpPr>
          <p:cNvPr id="28" name="text-110">
            <a:extLst xmlns:a="http://schemas.openxmlformats.org/drawingml/2006/main">
              <a:ext uri="{FF2B5EF4-FFF2-40B4-BE49-F238E27FC236}">
                <a16:creationId xmlns:a16="http://schemas.microsoft.com/office/drawing/2014/main" id="{E1FA2BAA-533A-4AEC-9C7C-49ECE63DD9F7}"/>
              </a:ext>
            </a:extLst>
          </p:cNvPr>
          <p:cNvSpPr>
            <a:spLocks xmlns:a="http://schemas.openxmlformats.org/drawingml/2006/main" noGrp="1"/>
          </p:cNvSpPr>
          <p:nvPr/>
        </p:nvSpPr>
        <p:spPr>
          <a:xfrm xmlns:a="http://schemas.openxmlformats.org/drawingml/2006/main">
            <a:off x="9296400" y="4314825"/>
            <a:ext cx="22669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2B28"/>
                </a:solidFill>
                <a:latin typeface="Calibri"/>
                <a:ea typeface="Calibri"/>
                <a:cs typeface="Calibri"/>
              </a:defRPr>
            </a:pPr>
            <a:r>
              <a:rPr sz="2175" b="1">
                <a:solidFill>
                  <a:srgbClr val="002B28"/>
                </a:solidFill>
                <a:latin typeface="Calibri"/>
                <a:ea typeface="Calibri"/>
                <a:cs typeface="Calibri"/>
              </a:rPr>
              <a:t>Kapan</a:t>
            </a:r>
          </a:p>
          <a:p xmlns:a="http://schemas.openxmlformats.org/drawingml/2006/main">
            <a:pPr>
              <a:defRPr sz="2175" b="1">
                <a:solidFill>
                  <a:srgbClr val="002B28"/>
                </a:solidFill>
                <a:latin typeface="Calibri"/>
                <a:ea typeface="Calibri"/>
                <a:cs typeface="Calibri"/>
              </a:defRPr>
            </a:pPr>
            <a:r>
              <a:rPr sz="2175" b="1">
                <a:solidFill>
                  <a:srgbClr val="002B28"/>
                </a:solidFill>
                <a:latin typeface="Calibri"/>
                <a:ea typeface="Calibri"/>
                <a:cs typeface="Calibri"/>
              </a:rPr>
              <a:t>benar-benar</a:t>
            </a:r>
          </a:p>
          <a:p xmlns:a="http://schemas.openxmlformats.org/drawingml/2006/main">
            <a:pPr>
              <a:defRPr sz="2175" b="1">
                <a:solidFill>
                  <a:srgbClr val="002B28"/>
                </a:solidFill>
                <a:latin typeface="Calibri"/>
                <a:ea typeface="Calibri"/>
                <a:cs typeface="Calibri"/>
              </a:defRPr>
            </a:pPr>
            <a:r>
              <a:rPr sz="2175" b="1">
                <a:solidFill>
                  <a:srgbClr val="002B28"/>
                </a:solidFill>
                <a:latin typeface="Calibri"/>
                <a:ea typeface="Calibri"/>
                <a:cs typeface="Calibri"/>
              </a:rPr>
              <a:t>masuk?</a:t>
            </a:r>
          </a:p>
        </p:txBody>
      </p:sp>
      <p:sp>
        <p:nvSpPr>
          <p:cNvPr id="29" name="">
            <a:extLst xmlns:a="http://schemas.openxmlformats.org/drawingml/2006/main">
              <a:ext uri="{FF2B5EF4-FFF2-40B4-BE49-F238E27FC236}">
                <a16:creationId xmlns:a16="http://schemas.microsoft.com/office/drawing/2014/main" id="{F2909428-6C93-4234-928A-2F77C14FAFF9}"/>
              </a:ext>
            </a:extLst>
          </p:cNvPr>
          <p:cNvSpPr>
            <a:spLocks xmlns:a="http://schemas.openxmlformats.org/drawingml/2006/main" noGrp="1"/>
          </p:cNvSpPr>
          <p:nvPr/>
        </p:nvSpPr>
        <p:spPr>
          <a:xfrm xmlns:a="http://schemas.openxmlformats.org/drawingml/2006/main">
            <a:off x="457200" y="5543550"/>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30" name="text-111">
            <a:extLst xmlns:a="http://schemas.openxmlformats.org/drawingml/2006/main">
              <a:ext uri="{FF2B5EF4-FFF2-40B4-BE49-F238E27FC236}">
                <a16:creationId xmlns:a16="http://schemas.microsoft.com/office/drawing/2014/main" id="{E9DC04EB-513D-4EBD-BC09-D3185C5981D9}"/>
              </a:ext>
            </a:extLst>
          </p:cNvPr>
          <p:cNvSpPr>
            <a:spLocks xmlns:a="http://schemas.openxmlformats.org/drawingml/2006/main" noGrp="1"/>
          </p:cNvSpPr>
          <p:nvPr/>
        </p:nvSpPr>
        <p:spPr>
          <a:xfrm xmlns:a="http://schemas.openxmlformats.org/drawingml/2006/main">
            <a:off x="457200" y="5743575"/>
            <a:ext cx="1123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87958"/>
                </a:solidFill>
                <a:latin typeface="Calibri"/>
                <a:ea typeface="Calibri"/>
                <a:cs typeface="Calibri"/>
              </a:defRPr>
            </a:pPr>
            <a:r>
              <a:rPr sz="1875" b="1">
                <a:solidFill>
                  <a:srgbClr val="087958"/>
                </a:solidFill>
                <a:latin typeface="Calibri"/>
                <a:ea typeface="Calibri"/>
                <a:cs typeface="Calibri"/>
              </a:rPr>
              <a:t>Cek jeda kas dan syarat pembayaran sebelum menerima pesanan.</a:t>
            </a:r>
          </a:p>
        </p:txBody>
      </p:sp>
    </p:spTree>
    <p:extLst>
      <p:ext uri="{BB962C8B-B14F-4D97-AF65-F5344CB8AC3E}">
        <p14:creationId xmlns:p14="http://schemas.microsoft.com/office/powerpoint/2010/main" val="3694058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397cc8914839452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E5FD043-AFC1-4E46-A80B-AEAE5BE4664C}"/>
              </a:ext>
            </a:extLst>
          </p:cNvPr>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7b7462e5dd1f47f9"/>
          <a:stretch xmlns:a="http://schemas.openxmlformats.org/drawingml/2006/main"/>
        </p:blipFill>
        <p:spPr>
          <a:xfrm xmlns:a="http://schemas.openxmlformats.org/drawingml/2006/main">
            <a:off x="10477500" y="228686"/>
            <a:ext cx="1257300" cy="471315"/>
          </a:xfrm>
          <a:prstGeom xmlns:a="http://schemas.openxmlformats.org/drawingml/2006/main" prst="rect">
            <a:avLst/>
          </a:prstGeom>
        </p:spPr>
      </p:pic>
      <p:sp>
        <p:nvSpPr>
          <p:cNvPr id="4" name="text-112">
            <a:extLst xmlns:a="http://schemas.openxmlformats.org/drawingml/2006/main">
              <a:ext uri="{FF2B5EF4-FFF2-40B4-BE49-F238E27FC236}">
                <a16:creationId xmlns:a16="http://schemas.microsoft.com/office/drawing/2014/main" id="{01BD21DE-20FB-46AD-9D28-61A1FE2B0320}"/>
              </a:ext>
            </a:extLst>
          </p:cNvPr>
          <p:cNvSpPr>
            <a:spLocks xmlns:a="http://schemas.openxmlformats.org/drawingml/2006/main" noGrp="1"/>
          </p:cNvSpPr>
          <p:nvPr/>
        </p:nvSpPr>
        <p:spPr>
          <a:xfrm xmlns:a="http://schemas.openxmlformats.org/drawingml/2006/main">
            <a:off x="457200" y="390525"/>
            <a:ext cx="9763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62B27"/>
                </a:solidFill>
                <a:latin typeface="Calibri"/>
                <a:ea typeface="Calibri"/>
                <a:cs typeface="Calibri"/>
              </a:defRPr>
            </a:pPr>
            <a:r>
              <a:rPr sz="2700" b="1">
                <a:solidFill>
                  <a:srgbClr val="162B27"/>
                </a:solidFill>
                <a:latin typeface="Calibri"/>
                <a:ea typeface="Calibri"/>
                <a:cs typeface="Calibri"/>
              </a:rPr>
              <a:t>Risiko perlu dibatasi sebelum kita menerima pesanan</a:t>
            </a:r>
          </a:p>
        </p:txBody>
      </p:sp>
      <p:sp>
        <p:nvSpPr>
          <p:cNvPr id="5" name="text-113">
            <a:extLst xmlns:a="http://schemas.openxmlformats.org/drawingml/2006/main">
              <a:ext uri="{FF2B5EF4-FFF2-40B4-BE49-F238E27FC236}">
                <a16:creationId xmlns:a16="http://schemas.microsoft.com/office/drawing/2014/main" id="{AD725A33-009E-418E-AAB3-03821B906187}"/>
              </a:ext>
            </a:extLst>
          </p:cNvPr>
          <p:cNvSpPr>
            <a:spLocks xmlns:a="http://schemas.openxmlformats.org/drawingml/2006/main" noGrp="1"/>
          </p:cNvSpPr>
          <p:nvPr/>
        </p:nvSpPr>
        <p:spPr>
          <a:xfrm xmlns:a="http://schemas.openxmlformats.org/drawingml/2006/main">
            <a:off x="457200" y="1419225"/>
            <a:ext cx="11201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6C65"/>
                </a:solidFill>
                <a:latin typeface="Calibri"/>
                <a:ea typeface="Calibri"/>
                <a:cs typeface="Calibri"/>
              </a:defRPr>
            </a:pPr>
            <a:r>
              <a:rPr sz="1800" b="0">
                <a:solidFill>
                  <a:srgbClr val="5B6C65"/>
                </a:solidFill>
                <a:latin typeface="Calibri"/>
                <a:ea typeface="Calibri"/>
                <a:cs typeface="Calibri"/>
              </a:rPr>
              <a:t>Setiap risiko perlu pemeriksaan yang jelas sebelum kita membuat komitmen.</a:t>
            </a:r>
          </a:p>
        </p:txBody>
      </p:sp>
      <p:sp>
        <p:nvSpPr>
          <p:cNvPr id="6" name="text-114">
            <a:extLst xmlns:a="http://schemas.openxmlformats.org/drawingml/2006/main">
              <a:ext uri="{FF2B5EF4-FFF2-40B4-BE49-F238E27FC236}">
                <a16:creationId xmlns:a16="http://schemas.microsoft.com/office/drawing/2014/main" id="{C20C28F4-92D2-43C1-A770-08427F320D2B}"/>
              </a:ext>
            </a:extLst>
          </p:cNvPr>
          <p:cNvSpPr>
            <a:spLocks xmlns:a="http://schemas.openxmlformats.org/drawingml/2006/main" noGrp="1"/>
          </p:cNvSpPr>
          <p:nvPr/>
        </p:nvSpPr>
        <p:spPr>
          <a:xfrm xmlns:a="http://schemas.openxmlformats.org/drawingml/2006/main">
            <a:off x="457200" y="6134100"/>
            <a:ext cx="11191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Adaptasi Modul 1 CEO Masterclass</a:t>
            </a:r>
          </a:p>
        </p:txBody>
      </p:sp>
      <p:sp>
        <p:nvSpPr>
          <p:cNvPr id="7" name="text-115">
            <a:extLst xmlns:a="http://schemas.openxmlformats.org/drawingml/2006/main">
              <a:ext uri="{FF2B5EF4-FFF2-40B4-BE49-F238E27FC236}">
                <a16:creationId xmlns:a16="http://schemas.microsoft.com/office/drawing/2014/main" id="{B9704062-C120-4212-8CB2-A02FFFE9690C}"/>
              </a:ext>
            </a:extLst>
          </p:cNvPr>
          <p:cNvSpPr>
            <a:spLocks xmlns:a="http://schemas.openxmlformats.org/drawingml/2006/main" noGrp="1"/>
          </p:cNvSpPr>
          <p:nvPr/>
        </p:nvSpPr>
        <p:spPr>
          <a:xfrm xmlns:a="http://schemas.openxmlformats.org/drawingml/2006/main">
            <a:off x="457200" y="6534150"/>
            <a:ext cx="571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CMC × BD Ekspor</a:t>
            </a:r>
          </a:p>
        </p:txBody>
      </p:sp>
      <p:sp>
        <p:nvSpPr>
          <p:cNvPr id="8" name="text-116">
            <a:extLst xmlns:a="http://schemas.openxmlformats.org/drawingml/2006/main">
              <a:ext uri="{FF2B5EF4-FFF2-40B4-BE49-F238E27FC236}">
                <a16:creationId xmlns:a16="http://schemas.microsoft.com/office/drawing/2014/main" id="{AF7EA16B-02C9-4774-955B-84369761517A}"/>
              </a:ext>
            </a:extLst>
          </p:cNvPr>
          <p:cNvSpPr>
            <a:spLocks xmlns:a="http://schemas.openxmlformats.org/drawingml/2006/main" noGrp="1"/>
          </p:cNvSpPr>
          <p:nvPr/>
        </p:nvSpPr>
        <p:spPr>
          <a:xfrm xmlns:a="http://schemas.openxmlformats.org/drawingml/2006/main">
            <a:off x="11258550" y="65055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Calibri"/>
                <a:ea typeface="Calibri"/>
                <a:cs typeface="Calibri"/>
              </a:defRPr>
            </a:pPr>
            <a:r>
              <a:rPr sz="1275" b="0">
                <a:solidFill>
                  <a:srgbClr val="FFFFFF"/>
                </a:solidFill>
                <a:latin typeface="Calibri"/>
                <a:ea typeface="Calibri"/>
                <a:cs typeface="Calibri"/>
              </a:rPr>
              <a:t>09</a:t>
            </a:r>
          </a:p>
        </p:txBody>
      </p:sp>
      <p:sp>
        <p:nvSpPr>
          <p:cNvPr id="9" name="text-117">
            <a:extLst xmlns:a="http://schemas.openxmlformats.org/drawingml/2006/main">
              <a:ext uri="{FF2B5EF4-FFF2-40B4-BE49-F238E27FC236}">
                <a16:creationId xmlns:a16="http://schemas.microsoft.com/office/drawing/2014/main" id="{C55F4D4C-DB61-44A6-81C4-0A698BCADA4E}"/>
              </a:ext>
            </a:extLst>
          </p:cNvPr>
          <p:cNvSpPr>
            <a:spLocks xmlns:a="http://schemas.openxmlformats.org/drawingml/2006/main" noGrp="1"/>
          </p:cNvSpPr>
          <p:nvPr/>
        </p:nvSpPr>
        <p:spPr>
          <a:xfrm xmlns:a="http://schemas.openxmlformats.org/drawingml/2006/main">
            <a:off x="457200" y="2133600"/>
            <a:ext cx="3248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RISIKO</a:t>
            </a:r>
          </a:p>
        </p:txBody>
      </p:sp>
      <p:sp>
        <p:nvSpPr>
          <p:cNvPr id="10" name="text-118">
            <a:extLst xmlns:a="http://schemas.openxmlformats.org/drawingml/2006/main">
              <a:ext uri="{FF2B5EF4-FFF2-40B4-BE49-F238E27FC236}">
                <a16:creationId xmlns:a16="http://schemas.microsoft.com/office/drawing/2014/main" id="{046982FF-45F3-447E-9A5F-1BC770F852C0}"/>
              </a:ext>
            </a:extLst>
          </p:cNvPr>
          <p:cNvSpPr>
            <a:spLocks xmlns:a="http://schemas.openxmlformats.org/drawingml/2006/main" noGrp="1"/>
          </p:cNvSpPr>
          <p:nvPr/>
        </p:nvSpPr>
        <p:spPr>
          <a:xfrm xmlns:a="http://schemas.openxmlformats.org/drawingml/2006/main">
            <a:off x="4324350" y="2133600"/>
            <a:ext cx="6591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PEMERIKSAAN SEBELUM KOMITMEN</a:t>
            </a:r>
          </a:p>
        </p:txBody>
      </p:sp>
      <p:sp>
        <p:nvSpPr>
          <p:cNvPr id="11" name="text-119">
            <a:extLst xmlns:a="http://schemas.openxmlformats.org/drawingml/2006/main">
              <a:ext uri="{FF2B5EF4-FFF2-40B4-BE49-F238E27FC236}">
                <a16:creationId xmlns:a16="http://schemas.microsoft.com/office/drawing/2014/main" id="{BBDC596B-E194-4E83-BD80-C667FAEA55EF}"/>
              </a:ext>
            </a:extLst>
          </p:cNvPr>
          <p:cNvSpPr>
            <a:spLocks xmlns:a="http://schemas.openxmlformats.org/drawingml/2006/main" noGrp="1"/>
          </p:cNvSpPr>
          <p:nvPr/>
        </p:nvSpPr>
        <p:spPr>
          <a:xfrm xmlns:a="http://schemas.openxmlformats.org/drawingml/2006/main">
            <a:off x="457200" y="2590800"/>
            <a:ext cx="3371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02B28"/>
                </a:solidFill>
                <a:latin typeface="Calibri"/>
                <a:ea typeface="Calibri"/>
                <a:cs typeface="Calibri"/>
              </a:defRPr>
            </a:pPr>
            <a:r>
              <a:rPr sz="2100" b="1">
                <a:solidFill>
                  <a:srgbClr val="002B28"/>
                </a:solidFill>
                <a:latin typeface="Calibri"/>
                <a:ea typeface="Calibri"/>
                <a:cs typeface="Calibri"/>
              </a:rPr>
              <a:t>Buyer terlambat bayar</a:t>
            </a:r>
          </a:p>
        </p:txBody>
      </p:sp>
      <p:sp>
        <p:nvSpPr>
          <p:cNvPr id="12" name="text-120">
            <a:extLst xmlns:a="http://schemas.openxmlformats.org/drawingml/2006/main">
              <a:ext uri="{FF2B5EF4-FFF2-40B4-BE49-F238E27FC236}">
                <a16:creationId xmlns:a16="http://schemas.microsoft.com/office/drawing/2014/main" id="{187E5D09-1A8E-4210-9BD3-57926BE5848F}"/>
              </a:ext>
            </a:extLst>
          </p:cNvPr>
          <p:cNvSpPr>
            <a:spLocks xmlns:a="http://schemas.openxmlformats.org/drawingml/2006/main" noGrp="1"/>
          </p:cNvSpPr>
          <p:nvPr/>
        </p:nvSpPr>
        <p:spPr>
          <a:xfrm xmlns:a="http://schemas.openxmlformats.org/drawingml/2006/main">
            <a:off x="457200" y="3009900"/>
            <a:ext cx="3371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B6C65"/>
                </a:solidFill>
                <a:latin typeface="Calibri"/>
                <a:ea typeface="Calibri"/>
                <a:cs typeface="Calibri"/>
              </a:defRPr>
            </a:pPr>
            <a:r>
              <a:rPr sz="1650" b="0">
                <a:solidFill>
                  <a:srgbClr val="5B6C65"/>
                </a:solidFill>
                <a:latin typeface="Calibri"/>
                <a:ea typeface="Calibri"/>
                <a:cs typeface="Calibri"/>
              </a:rPr>
              <a:t>Modal tertahan</a:t>
            </a:r>
          </a:p>
        </p:txBody>
      </p:sp>
      <p:sp>
        <p:nvSpPr>
          <p:cNvPr id="13" name="">
            <a:extLst xmlns:a="http://schemas.openxmlformats.org/drawingml/2006/main">
              <a:ext uri="{FF2B5EF4-FFF2-40B4-BE49-F238E27FC236}">
                <a16:creationId xmlns:a16="http://schemas.microsoft.com/office/drawing/2014/main" id="{32AAA449-7977-48E9-B870-ACDCFAB6B1F8}"/>
              </a:ext>
            </a:extLst>
          </p:cNvPr>
          <p:cNvSpPr>
            <a:spLocks xmlns:a="http://schemas.openxmlformats.org/drawingml/2006/main" noGrp="1"/>
          </p:cNvSpPr>
          <p:nvPr/>
        </p:nvSpPr>
        <p:spPr>
          <a:xfrm xmlns:a="http://schemas.openxmlformats.org/drawingml/2006/main" rot="0">
            <a:off x="3886200" y="2828925"/>
            <a:ext cx="476250" cy="161925"/>
          </a:xfrm>
          <a:prstGeom xmlns:a="http://schemas.openxmlformats.org/drawingml/2006/main" prst="rightArrow">
            <a:avLst/>
          </a:prstGeom>
          <a:solidFill xmlns:a="http://schemas.openxmlformats.org/drawingml/2006/main">
            <a:srgbClr val="95BBA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53D0760-48C1-4FA1-A4EB-13E5E5A72B32}"/>
              </a:ext>
            </a:extLst>
          </p:cNvPr>
          <p:cNvSpPr>
            <a:spLocks xmlns:a="http://schemas.openxmlformats.org/drawingml/2006/main" noGrp="1"/>
          </p:cNvSpPr>
          <p:nvPr/>
        </p:nvSpPr>
        <p:spPr>
          <a:xfrm xmlns:a="http://schemas.openxmlformats.org/drawingml/2006/main">
            <a:off x="4610100" y="2552700"/>
            <a:ext cx="47625" cy="723900"/>
          </a:xfrm>
          <a:prstGeom xmlns:a="http://schemas.openxmlformats.org/drawingml/2006/main" prst="rect">
            <a:avLst/>
          </a:prstGeom>
          <a:solidFill xmlns:a="http://schemas.openxmlformats.org/drawingml/2006/main">
            <a:srgbClr val="087958"/>
          </a:solidFill>
          <a:ln xmlns:a="http://schemas.openxmlformats.org/drawingml/2006/main" w="0">
            <a:noFill/>
          </a:ln>
        </p:spPr>
      </p:sp>
      <p:sp>
        <p:nvSpPr>
          <p:cNvPr id="15" name="text-121">
            <a:extLst xmlns:a="http://schemas.openxmlformats.org/drawingml/2006/main">
              <a:ext uri="{FF2B5EF4-FFF2-40B4-BE49-F238E27FC236}">
                <a16:creationId xmlns:a16="http://schemas.microsoft.com/office/drawing/2014/main" id="{5CB2CDC5-6FD7-4D5A-B122-9A3E54C91BA6}"/>
              </a:ext>
            </a:extLst>
          </p:cNvPr>
          <p:cNvSpPr>
            <a:spLocks xmlns:a="http://schemas.openxmlformats.org/drawingml/2006/main" noGrp="1"/>
          </p:cNvSpPr>
          <p:nvPr/>
        </p:nvSpPr>
        <p:spPr>
          <a:xfrm xmlns:a="http://schemas.openxmlformats.org/drawingml/2006/main">
            <a:off x="4924425" y="2695575"/>
            <a:ext cx="6591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87958"/>
                </a:solidFill>
                <a:latin typeface="Calibri"/>
                <a:ea typeface="Calibri"/>
                <a:cs typeface="Calibri"/>
              </a:defRPr>
            </a:pPr>
            <a:r>
              <a:rPr sz="2175" b="1">
                <a:solidFill>
                  <a:srgbClr val="087958"/>
                </a:solidFill>
                <a:latin typeface="Calibri"/>
                <a:ea typeface="Calibri"/>
                <a:cs typeface="Calibri"/>
              </a:rPr>
              <a:t>Cek buyer + sepakati syarat bayar</a:t>
            </a:r>
          </a:p>
        </p:txBody>
      </p:sp>
      <p:sp>
        <p:nvSpPr>
          <p:cNvPr id="16" name="">
            <a:extLst xmlns:a="http://schemas.openxmlformats.org/drawingml/2006/main">
              <a:ext uri="{FF2B5EF4-FFF2-40B4-BE49-F238E27FC236}">
                <a16:creationId xmlns:a16="http://schemas.microsoft.com/office/drawing/2014/main" id="{5825C1CE-E18A-409C-9089-6A15E9FE7929}"/>
              </a:ext>
            </a:extLst>
          </p:cNvPr>
          <p:cNvSpPr>
            <a:spLocks xmlns:a="http://schemas.openxmlformats.org/drawingml/2006/main" noGrp="1"/>
          </p:cNvSpPr>
          <p:nvPr/>
        </p:nvSpPr>
        <p:spPr>
          <a:xfrm xmlns:a="http://schemas.openxmlformats.org/drawingml/2006/main">
            <a:off x="457200" y="3419475"/>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17" name="text-122">
            <a:extLst xmlns:a="http://schemas.openxmlformats.org/drawingml/2006/main">
              <a:ext uri="{FF2B5EF4-FFF2-40B4-BE49-F238E27FC236}">
                <a16:creationId xmlns:a16="http://schemas.microsoft.com/office/drawing/2014/main" id="{6F013638-24EC-4368-B2B5-14C44D4BB40E}"/>
              </a:ext>
            </a:extLst>
          </p:cNvPr>
          <p:cNvSpPr>
            <a:spLocks xmlns:a="http://schemas.openxmlformats.org/drawingml/2006/main" noGrp="1"/>
          </p:cNvSpPr>
          <p:nvPr/>
        </p:nvSpPr>
        <p:spPr>
          <a:xfrm xmlns:a="http://schemas.openxmlformats.org/drawingml/2006/main">
            <a:off x="457200" y="3552825"/>
            <a:ext cx="3371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02B28"/>
                </a:solidFill>
                <a:latin typeface="Calibri"/>
                <a:ea typeface="Calibri"/>
                <a:cs typeface="Calibri"/>
              </a:defRPr>
            </a:pPr>
            <a:r>
              <a:rPr sz="2100" b="1">
                <a:solidFill>
                  <a:srgbClr val="002B28"/>
                </a:solidFill>
                <a:latin typeface="Calibri"/>
                <a:ea typeface="Calibri"/>
                <a:cs typeface="Calibri"/>
              </a:rPr>
              <a:t>Hasil beda dari sampel</a:t>
            </a:r>
          </a:p>
        </p:txBody>
      </p:sp>
      <p:sp>
        <p:nvSpPr>
          <p:cNvPr id="18" name="text-123">
            <a:extLst xmlns:a="http://schemas.openxmlformats.org/drawingml/2006/main">
              <a:ext uri="{FF2B5EF4-FFF2-40B4-BE49-F238E27FC236}">
                <a16:creationId xmlns:a16="http://schemas.microsoft.com/office/drawing/2014/main" id="{EC05E544-3D4C-47A1-BE96-0789A27CFE47}"/>
              </a:ext>
            </a:extLst>
          </p:cNvPr>
          <p:cNvSpPr>
            <a:spLocks xmlns:a="http://schemas.openxmlformats.org/drawingml/2006/main" noGrp="1"/>
          </p:cNvSpPr>
          <p:nvPr/>
        </p:nvSpPr>
        <p:spPr>
          <a:xfrm xmlns:a="http://schemas.openxmlformats.org/drawingml/2006/main">
            <a:off x="457200" y="3971925"/>
            <a:ext cx="3371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B6C65"/>
                </a:solidFill>
                <a:latin typeface="Calibri"/>
                <a:ea typeface="Calibri"/>
                <a:cs typeface="Calibri"/>
              </a:defRPr>
            </a:pPr>
            <a:r>
              <a:rPr sz="1650" b="0">
                <a:solidFill>
                  <a:srgbClr val="5B6C65"/>
                </a:solidFill>
                <a:latin typeface="Calibri"/>
                <a:ea typeface="Calibri"/>
                <a:cs typeface="Calibri"/>
              </a:rPr>
              <a:t>Barang bisa ditolak</a:t>
            </a:r>
          </a:p>
        </p:txBody>
      </p:sp>
      <p:sp>
        <p:nvSpPr>
          <p:cNvPr id="19" name="">
            <a:extLst xmlns:a="http://schemas.openxmlformats.org/drawingml/2006/main">
              <a:ext uri="{FF2B5EF4-FFF2-40B4-BE49-F238E27FC236}">
                <a16:creationId xmlns:a16="http://schemas.microsoft.com/office/drawing/2014/main" id="{C869A2A5-5667-41C9-AC60-867DE2CB8CE8}"/>
              </a:ext>
            </a:extLst>
          </p:cNvPr>
          <p:cNvSpPr>
            <a:spLocks xmlns:a="http://schemas.openxmlformats.org/drawingml/2006/main" noGrp="1"/>
          </p:cNvSpPr>
          <p:nvPr/>
        </p:nvSpPr>
        <p:spPr>
          <a:xfrm xmlns:a="http://schemas.openxmlformats.org/drawingml/2006/main" rot="0">
            <a:off x="3886200" y="3790950"/>
            <a:ext cx="476250" cy="161925"/>
          </a:xfrm>
          <a:prstGeom xmlns:a="http://schemas.openxmlformats.org/drawingml/2006/main" prst="rightArrow">
            <a:avLst/>
          </a:prstGeom>
          <a:solidFill xmlns:a="http://schemas.openxmlformats.org/drawingml/2006/main">
            <a:srgbClr val="95BBA9"/>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BC9F75F-8838-4D5E-9478-47991C538A44}"/>
              </a:ext>
            </a:extLst>
          </p:cNvPr>
          <p:cNvSpPr>
            <a:spLocks xmlns:a="http://schemas.openxmlformats.org/drawingml/2006/main" noGrp="1"/>
          </p:cNvSpPr>
          <p:nvPr/>
        </p:nvSpPr>
        <p:spPr>
          <a:xfrm xmlns:a="http://schemas.openxmlformats.org/drawingml/2006/main">
            <a:off x="4610100" y="3514725"/>
            <a:ext cx="47625" cy="723900"/>
          </a:xfrm>
          <a:prstGeom xmlns:a="http://schemas.openxmlformats.org/drawingml/2006/main" prst="rect">
            <a:avLst/>
          </a:prstGeom>
          <a:solidFill xmlns:a="http://schemas.openxmlformats.org/drawingml/2006/main">
            <a:srgbClr val="087958"/>
          </a:solidFill>
          <a:ln xmlns:a="http://schemas.openxmlformats.org/drawingml/2006/main" w="0">
            <a:noFill/>
          </a:ln>
        </p:spPr>
      </p:sp>
      <p:sp>
        <p:nvSpPr>
          <p:cNvPr id="21" name="text-124">
            <a:extLst xmlns:a="http://schemas.openxmlformats.org/drawingml/2006/main">
              <a:ext uri="{FF2B5EF4-FFF2-40B4-BE49-F238E27FC236}">
                <a16:creationId xmlns:a16="http://schemas.microsoft.com/office/drawing/2014/main" id="{33E2673D-2A36-4075-AD69-087FCAE7FAC3}"/>
              </a:ext>
            </a:extLst>
          </p:cNvPr>
          <p:cNvSpPr>
            <a:spLocks xmlns:a="http://schemas.openxmlformats.org/drawingml/2006/main" noGrp="1"/>
          </p:cNvSpPr>
          <p:nvPr/>
        </p:nvSpPr>
        <p:spPr>
          <a:xfrm xmlns:a="http://schemas.openxmlformats.org/drawingml/2006/main">
            <a:off x="4924425" y="3657600"/>
            <a:ext cx="6591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87958"/>
                </a:solidFill>
                <a:latin typeface="Calibri"/>
                <a:ea typeface="Calibri"/>
                <a:cs typeface="Calibri"/>
              </a:defRPr>
            </a:pPr>
            <a:r>
              <a:rPr sz="2175" b="1">
                <a:solidFill>
                  <a:srgbClr val="087958"/>
                </a:solidFill>
                <a:latin typeface="Calibri"/>
                <a:ea typeface="Calibri"/>
                <a:cs typeface="Calibri"/>
              </a:rPr>
              <a:t>Spesifikasi tertulis + cek mutu</a:t>
            </a:r>
          </a:p>
        </p:txBody>
      </p:sp>
      <p:sp>
        <p:nvSpPr>
          <p:cNvPr id="22" name="">
            <a:extLst xmlns:a="http://schemas.openxmlformats.org/drawingml/2006/main">
              <a:ext uri="{FF2B5EF4-FFF2-40B4-BE49-F238E27FC236}">
                <a16:creationId xmlns:a16="http://schemas.microsoft.com/office/drawing/2014/main" id="{D1EE0AE2-0C10-441E-9A03-7404FEABF57D}"/>
              </a:ext>
            </a:extLst>
          </p:cNvPr>
          <p:cNvSpPr>
            <a:spLocks xmlns:a="http://schemas.openxmlformats.org/drawingml/2006/main" noGrp="1"/>
          </p:cNvSpPr>
          <p:nvPr/>
        </p:nvSpPr>
        <p:spPr>
          <a:xfrm xmlns:a="http://schemas.openxmlformats.org/drawingml/2006/main">
            <a:off x="457200" y="4381500"/>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23" name="text-125">
            <a:extLst xmlns:a="http://schemas.openxmlformats.org/drawingml/2006/main">
              <a:ext uri="{FF2B5EF4-FFF2-40B4-BE49-F238E27FC236}">
                <a16:creationId xmlns:a16="http://schemas.microsoft.com/office/drawing/2014/main" id="{50223879-4A3A-43DA-BD51-999B2FB19075}"/>
              </a:ext>
            </a:extLst>
          </p:cNvPr>
          <p:cNvSpPr>
            <a:spLocks xmlns:a="http://schemas.openxmlformats.org/drawingml/2006/main" noGrp="1"/>
          </p:cNvSpPr>
          <p:nvPr/>
        </p:nvSpPr>
        <p:spPr>
          <a:xfrm xmlns:a="http://schemas.openxmlformats.org/drawingml/2006/main">
            <a:off x="457200" y="4514850"/>
            <a:ext cx="3371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02B28"/>
                </a:solidFill>
                <a:latin typeface="Calibri"/>
                <a:ea typeface="Calibri"/>
                <a:cs typeface="Calibri"/>
              </a:defRPr>
            </a:pPr>
            <a:r>
              <a:rPr sz="2100" b="1">
                <a:solidFill>
                  <a:srgbClr val="002B28"/>
                </a:solidFill>
                <a:latin typeface="Calibri"/>
                <a:ea typeface="Calibri"/>
                <a:cs typeface="Calibri"/>
              </a:rPr>
              <a:t>Produksi terlambat</a:t>
            </a:r>
          </a:p>
        </p:txBody>
      </p:sp>
      <p:sp>
        <p:nvSpPr>
          <p:cNvPr id="24" name="text-126">
            <a:extLst xmlns:a="http://schemas.openxmlformats.org/drawingml/2006/main">
              <a:ext uri="{FF2B5EF4-FFF2-40B4-BE49-F238E27FC236}">
                <a16:creationId xmlns:a16="http://schemas.microsoft.com/office/drawing/2014/main" id="{0B4CC926-EAA0-4381-8C70-FD37C955BDA9}"/>
              </a:ext>
            </a:extLst>
          </p:cNvPr>
          <p:cNvSpPr>
            <a:spLocks xmlns:a="http://schemas.openxmlformats.org/drawingml/2006/main" noGrp="1"/>
          </p:cNvSpPr>
          <p:nvPr/>
        </p:nvSpPr>
        <p:spPr>
          <a:xfrm xmlns:a="http://schemas.openxmlformats.org/drawingml/2006/main">
            <a:off x="457200" y="4933950"/>
            <a:ext cx="3371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B6C65"/>
                </a:solidFill>
                <a:latin typeface="Calibri"/>
                <a:ea typeface="Calibri"/>
                <a:cs typeface="Calibri"/>
              </a:defRPr>
            </a:pPr>
            <a:r>
              <a:rPr sz="1650" b="0">
                <a:solidFill>
                  <a:srgbClr val="5B6C65"/>
                </a:solidFill>
                <a:latin typeface="Calibri"/>
                <a:ea typeface="Calibri"/>
                <a:cs typeface="Calibri"/>
              </a:rPr>
              <a:t>Komitmen kirim meleset</a:t>
            </a:r>
          </a:p>
        </p:txBody>
      </p:sp>
      <p:sp>
        <p:nvSpPr>
          <p:cNvPr id="25" name="">
            <a:extLst xmlns:a="http://schemas.openxmlformats.org/drawingml/2006/main">
              <a:ext uri="{FF2B5EF4-FFF2-40B4-BE49-F238E27FC236}">
                <a16:creationId xmlns:a16="http://schemas.microsoft.com/office/drawing/2014/main" id="{CF1AE21B-E37A-4359-BD7B-AD3CA3EF7E29}"/>
              </a:ext>
            </a:extLst>
          </p:cNvPr>
          <p:cNvSpPr>
            <a:spLocks xmlns:a="http://schemas.openxmlformats.org/drawingml/2006/main" noGrp="1"/>
          </p:cNvSpPr>
          <p:nvPr/>
        </p:nvSpPr>
        <p:spPr>
          <a:xfrm xmlns:a="http://schemas.openxmlformats.org/drawingml/2006/main" rot="0">
            <a:off x="3886200" y="4752975"/>
            <a:ext cx="476250" cy="161925"/>
          </a:xfrm>
          <a:prstGeom xmlns:a="http://schemas.openxmlformats.org/drawingml/2006/main" prst="rightArrow">
            <a:avLst/>
          </a:prstGeom>
          <a:solidFill xmlns:a="http://schemas.openxmlformats.org/drawingml/2006/main">
            <a:srgbClr val="95BBA9"/>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030DB2F-8C32-4888-A594-131AA672E5BF}"/>
              </a:ext>
            </a:extLst>
          </p:cNvPr>
          <p:cNvSpPr>
            <a:spLocks xmlns:a="http://schemas.openxmlformats.org/drawingml/2006/main" noGrp="1"/>
          </p:cNvSpPr>
          <p:nvPr/>
        </p:nvSpPr>
        <p:spPr>
          <a:xfrm xmlns:a="http://schemas.openxmlformats.org/drawingml/2006/main">
            <a:off x="4610100" y="4476750"/>
            <a:ext cx="47625" cy="723900"/>
          </a:xfrm>
          <a:prstGeom xmlns:a="http://schemas.openxmlformats.org/drawingml/2006/main" prst="rect">
            <a:avLst/>
          </a:prstGeom>
          <a:solidFill xmlns:a="http://schemas.openxmlformats.org/drawingml/2006/main">
            <a:srgbClr val="087958"/>
          </a:solidFill>
          <a:ln xmlns:a="http://schemas.openxmlformats.org/drawingml/2006/main" w="0">
            <a:noFill/>
          </a:ln>
        </p:spPr>
      </p:sp>
      <p:sp>
        <p:nvSpPr>
          <p:cNvPr id="27" name="text-127">
            <a:extLst xmlns:a="http://schemas.openxmlformats.org/drawingml/2006/main">
              <a:ext uri="{FF2B5EF4-FFF2-40B4-BE49-F238E27FC236}">
                <a16:creationId xmlns:a16="http://schemas.microsoft.com/office/drawing/2014/main" id="{18A5F854-4DE2-4A27-A337-7770EDE68FCE}"/>
              </a:ext>
            </a:extLst>
          </p:cNvPr>
          <p:cNvSpPr>
            <a:spLocks xmlns:a="http://schemas.openxmlformats.org/drawingml/2006/main" noGrp="1"/>
          </p:cNvSpPr>
          <p:nvPr/>
        </p:nvSpPr>
        <p:spPr>
          <a:xfrm xmlns:a="http://schemas.openxmlformats.org/drawingml/2006/main">
            <a:off x="4924425" y="4619625"/>
            <a:ext cx="6591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87958"/>
                </a:solidFill>
                <a:latin typeface="Calibri"/>
                <a:ea typeface="Calibri"/>
                <a:cs typeface="Calibri"/>
              </a:defRPr>
            </a:pPr>
            <a:r>
              <a:rPr sz="2175" b="1">
                <a:solidFill>
                  <a:srgbClr val="087958"/>
                </a:solidFill>
                <a:latin typeface="Calibri"/>
                <a:ea typeface="Calibri"/>
                <a:cs typeface="Calibri"/>
              </a:rPr>
              <a:t>Kapasitas nyata + ruang waktu</a:t>
            </a:r>
          </a:p>
        </p:txBody>
      </p:sp>
      <p:sp>
        <p:nvSpPr>
          <p:cNvPr id="28" name="">
            <a:extLst xmlns:a="http://schemas.openxmlformats.org/drawingml/2006/main">
              <a:ext uri="{FF2B5EF4-FFF2-40B4-BE49-F238E27FC236}">
                <a16:creationId xmlns:a16="http://schemas.microsoft.com/office/drawing/2014/main" id="{1920E7A6-5D09-4BC7-9A27-7B7990E56416}"/>
              </a:ext>
            </a:extLst>
          </p:cNvPr>
          <p:cNvSpPr>
            <a:spLocks xmlns:a="http://schemas.openxmlformats.org/drawingml/2006/main" noGrp="1"/>
          </p:cNvSpPr>
          <p:nvPr/>
        </p:nvSpPr>
        <p:spPr>
          <a:xfrm xmlns:a="http://schemas.openxmlformats.org/drawingml/2006/main">
            <a:off x="457200" y="5543550"/>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29" name="text-128">
            <a:extLst xmlns:a="http://schemas.openxmlformats.org/drawingml/2006/main">
              <a:ext uri="{FF2B5EF4-FFF2-40B4-BE49-F238E27FC236}">
                <a16:creationId xmlns:a16="http://schemas.microsoft.com/office/drawing/2014/main" id="{D7837B0B-115C-46A6-9A5F-28FE8926CBF8}"/>
              </a:ext>
            </a:extLst>
          </p:cNvPr>
          <p:cNvSpPr>
            <a:spLocks xmlns:a="http://schemas.openxmlformats.org/drawingml/2006/main" noGrp="1"/>
          </p:cNvSpPr>
          <p:nvPr/>
        </p:nvSpPr>
        <p:spPr>
          <a:xfrm xmlns:a="http://schemas.openxmlformats.org/drawingml/2006/main">
            <a:off x="457200" y="5743575"/>
            <a:ext cx="1123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87958"/>
                </a:solidFill>
                <a:latin typeface="Calibri"/>
                <a:ea typeface="Calibri"/>
                <a:cs typeface="Calibri"/>
              </a:defRPr>
            </a:pPr>
            <a:r>
              <a:rPr sz="1875" b="1">
                <a:solidFill>
                  <a:srgbClr val="087958"/>
                </a:solidFill>
                <a:latin typeface="Calibri"/>
                <a:ea typeface="Calibri"/>
                <a:cs typeface="Calibri"/>
              </a:rPr>
              <a:t>Kalau belum sanggup menanggung risikonya, ubah syarat atau tunda dulu.</a:t>
            </a:r>
          </a:p>
        </p:txBody>
      </p:sp>
    </p:spTree>
    <p:extLst>
      <p:ext uri="{BB962C8B-B14F-4D97-AF65-F5344CB8AC3E}">
        <p14:creationId xmlns:p14="http://schemas.microsoft.com/office/powerpoint/2010/main" val="176671129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5ce89dd1c1d1442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E34E895-5D20-4932-BD5F-232DDD611A3C}"/>
              </a:ext>
            </a:extLst>
          </p:cNvPr>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843fb9cf44244034"/>
          <a:stretch xmlns:a="http://schemas.openxmlformats.org/drawingml/2006/main"/>
        </p:blipFill>
        <p:spPr>
          <a:xfrm xmlns:a="http://schemas.openxmlformats.org/drawingml/2006/main">
            <a:off x="10477500" y="228686"/>
            <a:ext cx="1257300" cy="471315"/>
          </a:xfrm>
          <a:prstGeom xmlns:a="http://schemas.openxmlformats.org/drawingml/2006/main" prst="rect">
            <a:avLst/>
          </a:prstGeom>
        </p:spPr>
      </p:pic>
      <p:sp>
        <p:nvSpPr>
          <p:cNvPr id="4" name="text-129">
            <a:extLst xmlns:a="http://schemas.openxmlformats.org/drawingml/2006/main">
              <a:ext uri="{FF2B5EF4-FFF2-40B4-BE49-F238E27FC236}">
                <a16:creationId xmlns:a16="http://schemas.microsoft.com/office/drawing/2014/main" id="{AA2B777B-9241-4D68-B3D9-BA94BD61B346}"/>
              </a:ext>
            </a:extLst>
          </p:cNvPr>
          <p:cNvSpPr>
            <a:spLocks xmlns:a="http://schemas.openxmlformats.org/drawingml/2006/main" noGrp="1"/>
          </p:cNvSpPr>
          <p:nvPr/>
        </p:nvSpPr>
        <p:spPr>
          <a:xfrm xmlns:a="http://schemas.openxmlformats.org/drawingml/2006/main">
            <a:off x="457200" y="390525"/>
            <a:ext cx="9763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62B27"/>
                </a:solidFill>
                <a:latin typeface="Calibri"/>
                <a:ea typeface="Calibri"/>
                <a:cs typeface="Calibri"/>
              </a:defRPr>
            </a:pPr>
            <a:r>
              <a:rPr sz="2700" b="1">
                <a:solidFill>
                  <a:srgbClr val="162B27"/>
                </a:solidFill>
                <a:latin typeface="Calibri"/>
                <a:ea typeface="Calibri"/>
                <a:cs typeface="Calibri"/>
              </a:rPr>
              <a:t>Setiap tanggung jawab perlu pemilik yang jelas</a:t>
            </a:r>
          </a:p>
        </p:txBody>
      </p:sp>
      <p:sp>
        <p:nvSpPr>
          <p:cNvPr id="5" name="text-130">
            <a:extLst xmlns:a="http://schemas.openxmlformats.org/drawingml/2006/main">
              <a:ext uri="{FF2B5EF4-FFF2-40B4-BE49-F238E27FC236}">
                <a16:creationId xmlns:a16="http://schemas.microsoft.com/office/drawing/2014/main" id="{9BD80F76-355F-4975-9BA0-C7398B572336}"/>
              </a:ext>
            </a:extLst>
          </p:cNvPr>
          <p:cNvSpPr>
            <a:spLocks xmlns:a="http://schemas.openxmlformats.org/drawingml/2006/main" noGrp="1"/>
          </p:cNvSpPr>
          <p:nvPr/>
        </p:nvSpPr>
        <p:spPr>
          <a:xfrm xmlns:a="http://schemas.openxmlformats.org/drawingml/2006/main">
            <a:off x="457200" y="1419225"/>
            <a:ext cx="11201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6C65"/>
                </a:solidFill>
                <a:latin typeface="Calibri"/>
                <a:ea typeface="Calibri"/>
                <a:cs typeface="Calibri"/>
              </a:defRPr>
            </a:pPr>
            <a:r>
              <a:rPr sz="1800" b="0">
                <a:solidFill>
                  <a:srgbClr val="5B6C65"/>
                </a:solidFill>
                <a:latin typeface="Calibri"/>
                <a:ea typeface="Calibri"/>
                <a:cs typeface="Calibri"/>
              </a:rPr>
              <a:t>Peran boleh dirangkap. Komitmen ke buyer tetap harus punya penanggung jawab.</a:t>
            </a:r>
          </a:p>
        </p:txBody>
      </p:sp>
      <p:sp>
        <p:nvSpPr>
          <p:cNvPr id="6" name="text-131">
            <a:extLst xmlns:a="http://schemas.openxmlformats.org/drawingml/2006/main">
              <a:ext uri="{FF2B5EF4-FFF2-40B4-BE49-F238E27FC236}">
                <a16:creationId xmlns:a16="http://schemas.microsoft.com/office/drawing/2014/main" id="{CC4C5AD3-EA35-4B04-AC76-23FB4C30D90C}"/>
              </a:ext>
            </a:extLst>
          </p:cNvPr>
          <p:cNvSpPr>
            <a:spLocks xmlns:a="http://schemas.openxmlformats.org/drawingml/2006/main" noGrp="1"/>
          </p:cNvSpPr>
          <p:nvPr/>
        </p:nvSpPr>
        <p:spPr>
          <a:xfrm xmlns:a="http://schemas.openxmlformats.org/drawingml/2006/main">
            <a:off x="457200" y="6134100"/>
            <a:ext cx="11191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Adaptasi Modul 1 CEO Masterclass</a:t>
            </a:r>
          </a:p>
        </p:txBody>
      </p:sp>
      <p:sp>
        <p:nvSpPr>
          <p:cNvPr id="7" name="text-132">
            <a:extLst xmlns:a="http://schemas.openxmlformats.org/drawingml/2006/main">
              <a:ext uri="{FF2B5EF4-FFF2-40B4-BE49-F238E27FC236}">
                <a16:creationId xmlns:a16="http://schemas.microsoft.com/office/drawing/2014/main" id="{557D77E8-F865-4FEE-8C85-B25B03C67E1C}"/>
              </a:ext>
            </a:extLst>
          </p:cNvPr>
          <p:cNvSpPr>
            <a:spLocks xmlns:a="http://schemas.openxmlformats.org/drawingml/2006/main" noGrp="1"/>
          </p:cNvSpPr>
          <p:nvPr/>
        </p:nvSpPr>
        <p:spPr>
          <a:xfrm xmlns:a="http://schemas.openxmlformats.org/drawingml/2006/main">
            <a:off x="457200" y="6534150"/>
            <a:ext cx="571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CMC × BD Ekspor</a:t>
            </a:r>
          </a:p>
        </p:txBody>
      </p:sp>
      <p:sp>
        <p:nvSpPr>
          <p:cNvPr id="8" name="text-133">
            <a:extLst xmlns:a="http://schemas.openxmlformats.org/drawingml/2006/main">
              <a:ext uri="{FF2B5EF4-FFF2-40B4-BE49-F238E27FC236}">
                <a16:creationId xmlns:a16="http://schemas.microsoft.com/office/drawing/2014/main" id="{0CE634C9-04C6-4B75-84A4-015F8D297782}"/>
              </a:ext>
            </a:extLst>
          </p:cNvPr>
          <p:cNvSpPr>
            <a:spLocks xmlns:a="http://schemas.openxmlformats.org/drawingml/2006/main" noGrp="1"/>
          </p:cNvSpPr>
          <p:nvPr/>
        </p:nvSpPr>
        <p:spPr>
          <a:xfrm xmlns:a="http://schemas.openxmlformats.org/drawingml/2006/main">
            <a:off x="11258550" y="65055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Calibri"/>
                <a:ea typeface="Calibri"/>
                <a:cs typeface="Calibri"/>
              </a:defRPr>
            </a:pPr>
            <a:r>
              <a:rPr sz="1275" b="0">
                <a:solidFill>
                  <a:srgbClr val="FFFFFF"/>
                </a:solidFill>
                <a:latin typeface="Calibri"/>
                <a:ea typeface="Calibri"/>
                <a:cs typeface="Calibri"/>
              </a:rPr>
              <a:t>10</a:t>
            </a:r>
          </a:p>
        </p:txBody>
      </p:sp>
      <p:sp>
        <p:nvSpPr>
          <p:cNvPr id="9" name="">
            <a:extLst xmlns:a="http://schemas.openxmlformats.org/drawingml/2006/main">
              <a:ext uri="{FF2B5EF4-FFF2-40B4-BE49-F238E27FC236}">
                <a16:creationId xmlns:a16="http://schemas.microsoft.com/office/drawing/2014/main" id="{8828CDEC-AB97-4076-8CB7-79272176F3BC}"/>
              </a:ext>
            </a:extLst>
          </p:cNvPr>
          <p:cNvSpPr>
            <a:spLocks xmlns:a="http://schemas.openxmlformats.org/drawingml/2006/main" noGrp="1"/>
          </p:cNvSpPr>
          <p:nvPr/>
        </p:nvSpPr>
        <p:spPr>
          <a:xfrm xmlns:a="http://schemas.openxmlformats.org/drawingml/2006/main">
            <a:off x="466725" y="2733675"/>
            <a:ext cx="3333750" cy="1790700"/>
          </a:xfrm>
          <a:prstGeom xmlns:a="http://schemas.openxmlformats.org/drawingml/2006/main" prst="rect">
            <a:avLst/>
          </a:prstGeom>
          <a:solidFill xmlns:a="http://schemas.openxmlformats.org/drawingml/2006/main">
            <a:srgbClr val="EBF4EE"/>
          </a:solidFill>
          <a:ln xmlns:a="http://schemas.openxmlformats.org/drawingml/2006/main" w="0">
            <a:noFill/>
          </a:ln>
        </p:spPr>
      </p:sp>
      <p:sp>
        <p:nvSpPr>
          <p:cNvPr id="10" name="text-134">
            <a:extLst xmlns:a="http://schemas.openxmlformats.org/drawingml/2006/main">
              <a:ext uri="{FF2B5EF4-FFF2-40B4-BE49-F238E27FC236}">
                <a16:creationId xmlns:a16="http://schemas.microsoft.com/office/drawing/2014/main" id="{A0C6E44C-AC1C-4D4B-AA8D-F6DECF347F15}"/>
              </a:ext>
            </a:extLst>
          </p:cNvPr>
          <p:cNvSpPr>
            <a:spLocks xmlns:a="http://schemas.openxmlformats.org/drawingml/2006/main" noGrp="1"/>
          </p:cNvSpPr>
          <p:nvPr/>
        </p:nvSpPr>
        <p:spPr>
          <a:xfrm xmlns:a="http://schemas.openxmlformats.org/drawingml/2006/main">
            <a:off x="676275" y="2952750"/>
            <a:ext cx="28479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FOUNDER</a:t>
            </a:r>
          </a:p>
        </p:txBody>
      </p:sp>
      <p:sp>
        <p:nvSpPr>
          <p:cNvPr id="11" name="text-135">
            <a:extLst xmlns:a="http://schemas.openxmlformats.org/drawingml/2006/main">
              <a:ext uri="{FF2B5EF4-FFF2-40B4-BE49-F238E27FC236}">
                <a16:creationId xmlns:a16="http://schemas.microsoft.com/office/drawing/2014/main" id="{61B00D05-608D-4A6F-B5C4-0BD332B5F4BA}"/>
              </a:ext>
            </a:extLst>
          </p:cNvPr>
          <p:cNvSpPr>
            <a:spLocks xmlns:a="http://schemas.openxmlformats.org/drawingml/2006/main" noGrp="1"/>
          </p:cNvSpPr>
          <p:nvPr/>
        </p:nvSpPr>
        <p:spPr>
          <a:xfrm xmlns:a="http://schemas.openxmlformats.org/drawingml/2006/main">
            <a:off x="676275" y="3409950"/>
            <a:ext cx="28956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087958"/>
                </a:solidFill>
                <a:latin typeface="Calibri"/>
                <a:ea typeface="Calibri"/>
                <a:cs typeface="Calibri"/>
              </a:defRPr>
            </a:pPr>
            <a:r>
              <a:rPr sz="2550" b="1">
                <a:solidFill>
                  <a:srgbClr val="087958"/>
                </a:solidFill>
                <a:latin typeface="Calibri"/>
                <a:ea typeface="Calibri"/>
                <a:cs typeface="Calibri"/>
              </a:rPr>
              <a:t>Batas janji +</a:t>
            </a:r>
          </a:p>
          <a:p xmlns:a="http://schemas.openxmlformats.org/drawingml/2006/main">
            <a:pPr>
              <a:defRPr sz="2550" b="1">
                <a:solidFill>
                  <a:srgbClr val="087958"/>
                </a:solidFill>
                <a:latin typeface="Calibri"/>
                <a:ea typeface="Calibri"/>
                <a:cs typeface="Calibri"/>
              </a:defRPr>
            </a:pPr>
            <a:r>
              <a:rPr sz="2550" b="1">
                <a:solidFill>
                  <a:srgbClr val="087958"/>
                </a:solidFill>
                <a:latin typeface="Calibri"/>
                <a:ea typeface="Calibri"/>
                <a:cs typeface="Calibri"/>
              </a:rPr>
              <a:t>keputusan akhir</a:t>
            </a:r>
          </a:p>
        </p:txBody>
      </p:sp>
      <p:sp>
        <p:nvSpPr>
          <p:cNvPr id="12" name="">
            <a:extLst xmlns:a="http://schemas.openxmlformats.org/drawingml/2006/main">
              <a:ext uri="{FF2B5EF4-FFF2-40B4-BE49-F238E27FC236}">
                <a16:creationId xmlns:a16="http://schemas.microsoft.com/office/drawing/2014/main" id="{DCD1F384-B9B1-438A-AA0D-7613007906ED}"/>
              </a:ext>
            </a:extLst>
          </p:cNvPr>
          <p:cNvSpPr>
            <a:spLocks xmlns:a="http://schemas.openxmlformats.org/drawingml/2006/main" noGrp="1"/>
          </p:cNvSpPr>
          <p:nvPr/>
        </p:nvSpPr>
        <p:spPr>
          <a:xfrm xmlns:a="http://schemas.openxmlformats.org/drawingml/2006/main">
            <a:off x="3800475" y="3619500"/>
            <a:ext cx="933450" cy="0"/>
          </a:xfrm>
          <a:prstGeom xmlns:a="http://schemas.openxmlformats.org/drawingml/2006/main" prst="line">
            <a:avLst/>
          </a:prstGeom>
          <a:noFill xmlns:a="http://schemas.openxmlformats.org/drawingml/2006/main"/>
          <a:ln xmlns:a="http://schemas.openxmlformats.org/drawingml/2006/main" w="28575">
            <a:solidFill>
              <a:srgbClr val="95BBA9"/>
            </a:solidFill>
          </a:ln>
        </p:spPr>
      </p:sp>
      <p:sp>
        <p:nvSpPr>
          <p:cNvPr id="13" name="">
            <a:extLst xmlns:a="http://schemas.openxmlformats.org/drawingml/2006/main">
              <a:ext uri="{FF2B5EF4-FFF2-40B4-BE49-F238E27FC236}">
                <a16:creationId xmlns:a16="http://schemas.microsoft.com/office/drawing/2014/main" id="{09528000-FDB7-47C4-A3C9-B064F85E1539}"/>
              </a:ext>
            </a:extLst>
          </p:cNvPr>
          <p:cNvSpPr>
            <a:spLocks xmlns:a="http://schemas.openxmlformats.org/drawingml/2006/main" noGrp="1"/>
          </p:cNvSpPr>
          <p:nvPr/>
        </p:nvSpPr>
        <p:spPr>
          <a:xfrm xmlns:a="http://schemas.openxmlformats.org/drawingml/2006/main">
            <a:off x="4733925" y="2524125"/>
            <a:ext cx="0" cy="2333625"/>
          </a:xfrm>
          <a:prstGeom xmlns:a="http://schemas.openxmlformats.org/drawingml/2006/main" prst="line">
            <a:avLst/>
          </a:prstGeom>
          <a:ln xmlns:a="http://schemas.openxmlformats.org/drawingml/2006/main" w="28575">
            <a:solidFill>
              <a:srgbClr val="95BBA9"/>
            </a:solidFill>
          </a:ln>
        </p:spPr>
      </p:sp>
      <p:sp>
        <p:nvSpPr>
          <p:cNvPr id="14" name="">
            <a:extLst xmlns:a="http://schemas.openxmlformats.org/drawingml/2006/main">
              <a:ext uri="{FF2B5EF4-FFF2-40B4-BE49-F238E27FC236}">
                <a16:creationId xmlns:a16="http://schemas.microsoft.com/office/drawing/2014/main" id="{C6BB2D4E-A7F5-4E04-ACCE-147FC9A9A1E5}"/>
              </a:ext>
            </a:extLst>
          </p:cNvPr>
          <p:cNvSpPr>
            <a:spLocks xmlns:a="http://schemas.openxmlformats.org/drawingml/2006/main" noGrp="1"/>
          </p:cNvSpPr>
          <p:nvPr/>
        </p:nvSpPr>
        <p:spPr>
          <a:xfrm xmlns:a="http://schemas.openxmlformats.org/drawingml/2006/main" rot="0">
            <a:off x="4733925" y="2438400"/>
            <a:ext cx="685800" cy="152400"/>
          </a:xfrm>
          <a:prstGeom xmlns:a="http://schemas.openxmlformats.org/drawingml/2006/main" prst="rightArrow">
            <a:avLst/>
          </a:prstGeom>
          <a:solidFill xmlns:a="http://schemas.openxmlformats.org/drawingml/2006/main">
            <a:srgbClr val="95BBA9"/>
          </a:solidFill>
          <a:ln xmlns:a="http://schemas.openxmlformats.org/drawingml/2006/main" w="0">
            <a:noFill/>
          </a:ln>
        </p:spPr>
      </p:sp>
      <p:sp>
        <p:nvSpPr>
          <p:cNvPr id="15" name="text-136">
            <a:extLst xmlns:a="http://schemas.openxmlformats.org/drawingml/2006/main">
              <a:ext uri="{FF2B5EF4-FFF2-40B4-BE49-F238E27FC236}">
                <a16:creationId xmlns:a16="http://schemas.microsoft.com/office/drawing/2014/main" id="{8B219E26-821F-4A4B-A1FE-46653F953412}"/>
              </a:ext>
            </a:extLst>
          </p:cNvPr>
          <p:cNvSpPr>
            <a:spLocks xmlns:a="http://schemas.openxmlformats.org/drawingml/2006/main" noGrp="1"/>
          </p:cNvSpPr>
          <p:nvPr/>
        </p:nvSpPr>
        <p:spPr>
          <a:xfrm xmlns:a="http://schemas.openxmlformats.org/drawingml/2006/main">
            <a:off x="5781675" y="2162175"/>
            <a:ext cx="57245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02B28"/>
                </a:solidFill>
                <a:latin typeface="Calibri"/>
                <a:ea typeface="Calibri"/>
                <a:cs typeface="Calibri"/>
              </a:defRPr>
            </a:pPr>
            <a:r>
              <a:rPr sz="2325" b="1">
                <a:solidFill>
                  <a:srgbClr val="002B28"/>
                </a:solidFill>
                <a:latin typeface="Calibri"/>
                <a:ea typeface="Calibri"/>
                <a:cs typeface="Calibri"/>
              </a:rPr>
              <a:t>Produk &amp; kualitas</a:t>
            </a:r>
          </a:p>
        </p:txBody>
      </p:sp>
      <p:sp>
        <p:nvSpPr>
          <p:cNvPr id="16" name="text-137">
            <a:extLst xmlns:a="http://schemas.openxmlformats.org/drawingml/2006/main">
              <a:ext uri="{FF2B5EF4-FFF2-40B4-BE49-F238E27FC236}">
                <a16:creationId xmlns:a16="http://schemas.microsoft.com/office/drawing/2014/main" id="{21369B47-B7ED-4AEB-B86E-D99F6D4E61C9}"/>
              </a:ext>
            </a:extLst>
          </p:cNvPr>
          <p:cNvSpPr>
            <a:spLocks xmlns:a="http://schemas.openxmlformats.org/drawingml/2006/main" noGrp="1"/>
          </p:cNvSpPr>
          <p:nvPr/>
        </p:nvSpPr>
        <p:spPr>
          <a:xfrm xmlns:a="http://schemas.openxmlformats.org/drawingml/2006/main">
            <a:off x="5781675" y="2619375"/>
            <a:ext cx="57245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B6C65"/>
                </a:solidFill>
                <a:latin typeface="Calibri"/>
                <a:ea typeface="Calibri"/>
                <a:cs typeface="Calibri"/>
              </a:defRPr>
            </a:pPr>
            <a:r>
              <a:rPr sz="1875" b="0">
                <a:solidFill>
                  <a:srgbClr val="5B6C65"/>
                </a:solidFill>
                <a:latin typeface="Calibri"/>
                <a:ea typeface="Calibri"/>
                <a:cs typeface="Calibri"/>
              </a:rPr>
              <a:t>Hasil sesuai spesifikasi</a:t>
            </a:r>
          </a:p>
        </p:txBody>
      </p:sp>
      <p:sp>
        <p:nvSpPr>
          <p:cNvPr id="17" name="">
            <a:extLst xmlns:a="http://schemas.openxmlformats.org/drawingml/2006/main">
              <a:ext uri="{FF2B5EF4-FFF2-40B4-BE49-F238E27FC236}">
                <a16:creationId xmlns:a16="http://schemas.microsoft.com/office/drawing/2014/main" id="{E8D2EC7A-AAA3-4AD9-8619-0E0961C26A28}"/>
              </a:ext>
            </a:extLst>
          </p:cNvPr>
          <p:cNvSpPr>
            <a:spLocks xmlns:a="http://schemas.openxmlformats.org/drawingml/2006/main" noGrp="1"/>
          </p:cNvSpPr>
          <p:nvPr/>
        </p:nvSpPr>
        <p:spPr>
          <a:xfrm xmlns:a="http://schemas.openxmlformats.org/drawingml/2006/main" rot="0">
            <a:off x="4733925" y="3609975"/>
            <a:ext cx="685800" cy="152400"/>
          </a:xfrm>
          <a:prstGeom xmlns:a="http://schemas.openxmlformats.org/drawingml/2006/main" prst="rightArrow">
            <a:avLst/>
          </a:prstGeom>
          <a:solidFill xmlns:a="http://schemas.openxmlformats.org/drawingml/2006/main">
            <a:srgbClr val="95BBA9"/>
          </a:solidFill>
          <a:ln xmlns:a="http://schemas.openxmlformats.org/drawingml/2006/main" w="0">
            <a:noFill/>
          </a:ln>
        </p:spPr>
      </p:sp>
      <p:sp>
        <p:nvSpPr>
          <p:cNvPr id="18" name="text-138">
            <a:extLst xmlns:a="http://schemas.openxmlformats.org/drawingml/2006/main">
              <a:ext uri="{FF2B5EF4-FFF2-40B4-BE49-F238E27FC236}">
                <a16:creationId xmlns:a16="http://schemas.microsoft.com/office/drawing/2014/main" id="{9840CC66-E878-4520-8E9F-F8FFAAFCB092}"/>
              </a:ext>
            </a:extLst>
          </p:cNvPr>
          <p:cNvSpPr>
            <a:spLocks xmlns:a="http://schemas.openxmlformats.org/drawingml/2006/main" noGrp="1"/>
          </p:cNvSpPr>
          <p:nvPr/>
        </p:nvSpPr>
        <p:spPr>
          <a:xfrm xmlns:a="http://schemas.openxmlformats.org/drawingml/2006/main">
            <a:off x="5781675" y="3333750"/>
            <a:ext cx="57245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02B28"/>
                </a:solidFill>
                <a:latin typeface="Calibri"/>
                <a:ea typeface="Calibri"/>
                <a:cs typeface="Calibri"/>
              </a:defRPr>
            </a:pPr>
            <a:r>
              <a:rPr sz="2325" b="1">
                <a:solidFill>
                  <a:srgbClr val="002B28"/>
                </a:solidFill>
                <a:latin typeface="Calibri"/>
                <a:ea typeface="Calibri"/>
                <a:cs typeface="Calibri"/>
              </a:rPr>
              <a:t>Buyer &amp; komunikasi</a:t>
            </a:r>
          </a:p>
        </p:txBody>
      </p:sp>
      <p:sp>
        <p:nvSpPr>
          <p:cNvPr id="19" name="text-139">
            <a:extLst xmlns:a="http://schemas.openxmlformats.org/drawingml/2006/main">
              <a:ext uri="{FF2B5EF4-FFF2-40B4-BE49-F238E27FC236}">
                <a16:creationId xmlns:a16="http://schemas.microsoft.com/office/drawing/2014/main" id="{18616A5F-411D-468B-9374-B15035F92403}"/>
              </a:ext>
            </a:extLst>
          </p:cNvPr>
          <p:cNvSpPr>
            <a:spLocks xmlns:a="http://schemas.openxmlformats.org/drawingml/2006/main" noGrp="1"/>
          </p:cNvSpPr>
          <p:nvPr/>
        </p:nvSpPr>
        <p:spPr>
          <a:xfrm xmlns:a="http://schemas.openxmlformats.org/drawingml/2006/main">
            <a:off x="5781675" y="3790950"/>
            <a:ext cx="57245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B6C65"/>
                </a:solidFill>
                <a:latin typeface="Calibri"/>
                <a:ea typeface="Calibri"/>
                <a:cs typeface="Calibri"/>
              </a:defRPr>
            </a:pPr>
            <a:r>
              <a:rPr sz="1875" b="0">
                <a:solidFill>
                  <a:srgbClr val="5B6C65"/>
                </a:solidFill>
                <a:latin typeface="Calibri"/>
                <a:ea typeface="Calibri"/>
                <a:cs typeface="Calibri"/>
              </a:rPr>
              <a:t>Kebutuhan jelas, penawaran disepakati</a:t>
            </a:r>
          </a:p>
        </p:txBody>
      </p:sp>
      <p:sp>
        <p:nvSpPr>
          <p:cNvPr id="20" name="">
            <a:extLst xmlns:a="http://schemas.openxmlformats.org/drawingml/2006/main">
              <a:ext uri="{FF2B5EF4-FFF2-40B4-BE49-F238E27FC236}">
                <a16:creationId xmlns:a16="http://schemas.microsoft.com/office/drawing/2014/main" id="{9C0BB6AC-06C9-4B75-B0FA-D1D1EB0E7C9A}"/>
              </a:ext>
            </a:extLst>
          </p:cNvPr>
          <p:cNvSpPr>
            <a:spLocks xmlns:a="http://schemas.openxmlformats.org/drawingml/2006/main" noGrp="1"/>
          </p:cNvSpPr>
          <p:nvPr/>
        </p:nvSpPr>
        <p:spPr>
          <a:xfrm xmlns:a="http://schemas.openxmlformats.org/drawingml/2006/main" rot="0">
            <a:off x="4733925" y="4781550"/>
            <a:ext cx="685800" cy="152400"/>
          </a:xfrm>
          <a:prstGeom xmlns:a="http://schemas.openxmlformats.org/drawingml/2006/main" prst="rightArrow">
            <a:avLst/>
          </a:prstGeom>
          <a:solidFill xmlns:a="http://schemas.openxmlformats.org/drawingml/2006/main">
            <a:srgbClr val="95BBA9"/>
          </a:solidFill>
          <a:ln xmlns:a="http://schemas.openxmlformats.org/drawingml/2006/main" w="0">
            <a:noFill/>
          </a:ln>
        </p:spPr>
      </p:sp>
      <p:sp>
        <p:nvSpPr>
          <p:cNvPr id="21" name="text-140">
            <a:extLst xmlns:a="http://schemas.openxmlformats.org/drawingml/2006/main">
              <a:ext uri="{FF2B5EF4-FFF2-40B4-BE49-F238E27FC236}">
                <a16:creationId xmlns:a16="http://schemas.microsoft.com/office/drawing/2014/main" id="{C03FE713-7370-4770-98C9-CD90236F89A2}"/>
              </a:ext>
            </a:extLst>
          </p:cNvPr>
          <p:cNvSpPr>
            <a:spLocks xmlns:a="http://schemas.openxmlformats.org/drawingml/2006/main" noGrp="1"/>
          </p:cNvSpPr>
          <p:nvPr/>
        </p:nvSpPr>
        <p:spPr>
          <a:xfrm xmlns:a="http://schemas.openxmlformats.org/drawingml/2006/main">
            <a:off x="5781675" y="4505325"/>
            <a:ext cx="57245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02B28"/>
                </a:solidFill>
                <a:latin typeface="Calibri"/>
                <a:ea typeface="Calibri"/>
                <a:cs typeface="Calibri"/>
              </a:defRPr>
            </a:pPr>
            <a:r>
              <a:rPr sz="2325" b="1">
                <a:solidFill>
                  <a:srgbClr val="002B28"/>
                </a:solidFill>
                <a:latin typeface="Calibri"/>
                <a:ea typeface="Calibri"/>
                <a:cs typeface="Calibri"/>
              </a:rPr>
              <a:t>Operasional &amp; keuangan</a:t>
            </a:r>
          </a:p>
        </p:txBody>
      </p:sp>
      <p:sp>
        <p:nvSpPr>
          <p:cNvPr id="22" name="text-141">
            <a:extLst xmlns:a="http://schemas.openxmlformats.org/drawingml/2006/main">
              <a:ext uri="{FF2B5EF4-FFF2-40B4-BE49-F238E27FC236}">
                <a16:creationId xmlns:a16="http://schemas.microsoft.com/office/drawing/2014/main" id="{AE1D4A9C-8B3C-458C-9BCB-8CE90D071647}"/>
              </a:ext>
            </a:extLst>
          </p:cNvPr>
          <p:cNvSpPr>
            <a:spLocks xmlns:a="http://schemas.openxmlformats.org/drawingml/2006/main" noGrp="1"/>
          </p:cNvSpPr>
          <p:nvPr/>
        </p:nvSpPr>
        <p:spPr>
          <a:xfrm xmlns:a="http://schemas.openxmlformats.org/drawingml/2006/main">
            <a:off x="5781675" y="4962525"/>
            <a:ext cx="57245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B6C65"/>
                </a:solidFill>
                <a:latin typeface="Calibri"/>
                <a:ea typeface="Calibri"/>
                <a:cs typeface="Calibri"/>
              </a:defRPr>
            </a:pPr>
            <a:r>
              <a:rPr sz="1875" b="0">
                <a:solidFill>
                  <a:srgbClr val="5B6C65"/>
                </a:solidFill>
                <a:latin typeface="Calibri"/>
                <a:ea typeface="Calibri"/>
                <a:cs typeface="Calibri"/>
              </a:rPr>
              <a:t>Jadwal, dokumen, dan kas siap</a:t>
            </a:r>
          </a:p>
        </p:txBody>
      </p:sp>
      <p:sp>
        <p:nvSpPr>
          <p:cNvPr id="23" name="">
            <a:extLst xmlns:a="http://schemas.openxmlformats.org/drawingml/2006/main">
              <a:ext uri="{FF2B5EF4-FFF2-40B4-BE49-F238E27FC236}">
                <a16:creationId xmlns:a16="http://schemas.microsoft.com/office/drawing/2014/main" id="{4E73DC3B-FE54-4BDB-8250-A27353E5F386}"/>
              </a:ext>
            </a:extLst>
          </p:cNvPr>
          <p:cNvSpPr>
            <a:spLocks xmlns:a="http://schemas.openxmlformats.org/drawingml/2006/main" noGrp="1"/>
          </p:cNvSpPr>
          <p:nvPr/>
        </p:nvSpPr>
        <p:spPr>
          <a:xfrm xmlns:a="http://schemas.openxmlformats.org/drawingml/2006/main">
            <a:off x="457200" y="5543550"/>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24" name="text-142">
            <a:extLst xmlns:a="http://schemas.openxmlformats.org/drawingml/2006/main">
              <a:ext uri="{FF2B5EF4-FFF2-40B4-BE49-F238E27FC236}">
                <a16:creationId xmlns:a16="http://schemas.microsoft.com/office/drawing/2014/main" id="{2BBEBE73-6CB9-4BE5-BA25-E7940AFB4F69}"/>
              </a:ext>
            </a:extLst>
          </p:cNvPr>
          <p:cNvSpPr>
            <a:spLocks xmlns:a="http://schemas.openxmlformats.org/drawingml/2006/main" noGrp="1"/>
          </p:cNvSpPr>
          <p:nvPr/>
        </p:nvSpPr>
        <p:spPr>
          <a:xfrm xmlns:a="http://schemas.openxmlformats.org/drawingml/2006/main">
            <a:off x="457200" y="5743575"/>
            <a:ext cx="1123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87958"/>
                </a:solidFill>
                <a:latin typeface="Calibri"/>
                <a:ea typeface="Calibri"/>
                <a:cs typeface="Calibri"/>
              </a:defRPr>
            </a:pPr>
            <a:r>
              <a:rPr sz="1875" b="1">
                <a:solidFill>
                  <a:srgbClr val="087958"/>
                </a:solidFill>
                <a:latin typeface="Calibri"/>
                <a:ea typeface="Calibri"/>
                <a:cs typeface="Calibri"/>
              </a:rPr>
              <a:t>Pastikan janji ke buyer sesuai kemampuan tim dan mitra yang menjalankannya.</a:t>
            </a:r>
          </a:p>
        </p:txBody>
      </p:sp>
    </p:spTree>
    <p:extLst>
      <p:ext uri="{BB962C8B-B14F-4D97-AF65-F5344CB8AC3E}">
        <p14:creationId xmlns:p14="http://schemas.microsoft.com/office/powerpoint/2010/main" val="58155564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936b1b67876427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503577A-CEE2-4616-B167-EE0FF24D271B}"/>
              </a:ext>
            </a:extLst>
          </p:cNvPr>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94de4db2b67642f7"/>
          <a:stretch xmlns:a="http://schemas.openxmlformats.org/drawingml/2006/main"/>
        </p:blipFill>
        <p:spPr>
          <a:xfrm xmlns:a="http://schemas.openxmlformats.org/drawingml/2006/main">
            <a:off x="10477500" y="228686"/>
            <a:ext cx="1257300" cy="471315"/>
          </a:xfrm>
          <a:prstGeom xmlns:a="http://schemas.openxmlformats.org/drawingml/2006/main" prst="rect">
            <a:avLst/>
          </a:prstGeom>
        </p:spPr>
      </p:pic>
      <p:sp>
        <p:nvSpPr>
          <p:cNvPr id="4" name="text-143">
            <a:extLst xmlns:a="http://schemas.openxmlformats.org/drawingml/2006/main">
              <a:ext uri="{FF2B5EF4-FFF2-40B4-BE49-F238E27FC236}">
                <a16:creationId xmlns:a16="http://schemas.microsoft.com/office/drawing/2014/main" id="{9027A578-3F43-47E6-B7F5-CA715DB3372C}"/>
              </a:ext>
            </a:extLst>
          </p:cNvPr>
          <p:cNvSpPr>
            <a:spLocks xmlns:a="http://schemas.openxmlformats.org/drawingml/2006/main" noGrp="1"/>
          </p:cNvSpPr>
          <p:nvPr/>
        </p:nvSpPr>
        <p:spPr>
          <a:xfrm xmlns:a="http://schemas.openxmlformats.org/drawingml/2006/main">
            <a:off x="457200" y="390525"/>
            <a:ext cx="9763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62B27"/>
                </a:solidFill>
                <a:latin typeface="Calibri"/>
                <a:ea typeface="Calibri"/>
                <a:cs typeface="Calibri"/>
              </a:defRPr>
            </a:pPr>
            <a:r>
              <a:rPr sz="2700" b="1">
                <a:solidFill>
                  <a:srgbClr val="162B27"/>
                </a:solidFill>
                <a:latin typeface="Calibri"/>
                <a:ea typeface="Calibri"/>
                <a:cs typeface="Calibri"/>
              </a:rPr>
              <a:t>Terima, negosiasikan, atau tunda? Keputusan perlu bukti</a:t>
            </a:r>
          </a:p>
        </p:txBody>
      </p:sp>
      <p:sp>
        <p:nvSpPr>
          <p:cNvPr id="5" name="text-144">
            <a:extLst xmlns:a="http://schemas.openxmlformats.org/drawingml/2006/main">
              <a:ext uri="{FF2B5EF4-FFF2-40B4-BE49-F238E27FC236}">
                <a16:creationId xmlns:a16="http://schemas.microsoft.com/office/drawing/2014/main" id="{23A086C1-4FE5-4919-80D5-EC5D1DF5BB82}"/>
              </a:ext>
            </a:extLst>
          </p:cNvPr>
          <p:cNvSpPr>
            <a:spLocks xmlns:a="http://schemas.openxmlformats.org/drawingml/2006/main" noGrp="1"/>
          </p:cNvSpPr>
          <p:nvPr/>
        </p:nvSpPr>
        <p:spPr>
          <a:xfrm xmlns:a="http://schemas.openxmlformats.org/drawingml/2006/main">
            <a:off x="457200" y="1419225"/>
            <a:ext cx="11201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6C65"/>
                </a:solidFill>
                <a:latin typeface="Calibri"/>
                <a:ea typeface="Calibri"/>
                <a:cs typeface="Calibri"/>
              </a:defRPr>
            </a:pPr>
            <a:r>
              <a:rPr sz="1800" b="0">
                <a:solidFill>
                  <a:srgbClr val="5B6C65"/>
                </a:solidFill>
                <a:latin typeface="Calibri"/>
                <a:ea typeface="Calibri"/>
                <a:cs typeface="Calibri"/>
              </a:rPr>
              <a:t>Kasus ilustratif: 500 unit diminta dalam 30 hari, sementara kapasitas tersedia 300 unit.</a:t>
            </a:r>
          </a:p>
        </p:txBody>
      </p:sp>
      <p:sp>
        <p:nvSpPr>
          <p:cNvPr id="6" name="text-145">
            <a:extLst xmlns:a="http://schemas.openxmlformats.org/drawingml/2006/main">
              <a:ext uri="{FF2B5EF4-FFF2-40B4-BE49-F238E27FC236}">
                <a16:creationId xmlns:a16="http://schemas.microsoft.com/office/drawing/2014/main" id="{A4B1A3DC-B134-494D-9685-253518E866DB}"/>
              </a:ext>
            </a:extLst>
          </p:cNvPr>
          <p:cNvSpPr>
            <a:spLocks xmlns:a="http://schemas.openxmlformats.org/drawingml/2006/main" noGrp="1"/>
          </p:cNvSpPr>
          <p:nvPr/>
        </p:nvSpPr>
        <p:spPr>
          <a:xfrm xmlns:a="http://schemas.openxmlformats.org/drawingml/2006/main">
            <a:off x="457200" y="6134100"/>
            <a:ext cx="11191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Kasus dan seluruh angka pada slide ini adalah ilustrasi pembelajaran.</a:t>
            </a:r>
          </a:p>
        </p:txBody>
      </p:sp>
      <p:sp>
        <p:nvSpPr>
          <p:cNvPr id="7" name="text-146">
            <a:extLst xmlns:a="http://schemas.openxmlformats.org/drawingml/2006/main">
              <a:ext uri="{FF2B5EF4-FFF2-40B4-BE49-F238E27FC236}">
                <a16:creationId xmlns:a16="http://schemas.microsoft.com/office/drawing/2014/main" id="{D272EB5A-AD13-4FA4-8F83-B574167DCCC0}"/>
              </a:ext>
            </a:extLst>
          </p:cNvPr>
          <p:cNvSpPr>
            <a:spLocks xmlns:a="http://schemas.openxmlformats.org/drawingml/2006/main" noGrp="1"/>
          </p:cNvSpPr>
          <p:nvPr/>
        </p:nvSpPr>
        <p:spPr>
          <a:xfrm xmlns:a="http://schemas.openxmlformats.org/drawingml/2006/main">
            <a:off x="457200" y="6534150"/>
            <a:ext cx="571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CMC × BD Ekspor</a:t>
            </a:r>
          </a:p>
        </p:txBody>
      </p:sp>
      <p:sp>
        <p:nvSpPr>
          <p:cNvPr id="8" name="text-147">
            <a:extLst xmlns:a="http://schemas.openxmlformats.org/drawingml/2006/main">
              <a:ext uri="{FF2B5EF4-FFF2-40B4-BE49-F238E27FC236}">
                <a16:creationId xmlns:a16="http://schemas.microsoft.com/office/drawing/2014/main" id="{6E5180D5-A644-4063-9BE6-D6E1B93FEF06}"/>
              </a:ext>
            </a:extLst>
          </p:cNvPr>
          <p:cNvSpPr>
            <a:spLocks xmlns:a="http://schemas.openxmlformats.org/drawingml/2006/main" noGrp="1"/>
          </p:cNvSpPr>
          <p:nvPr/>
        </p:nvSpPr>
        <p:spPr>
          <a:xfrm xmlns:a="http://schemas.openxmlformats.org/drawingml/2006/main">
            <a:off x="11258550" y="65055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Calibri"/>
                <a:ea typeface="Calibri"/>
                <a:cs typeface="Calibri"/>
              </a:defRPr>
            </a:pPr>
            <a:r>
              <a:rPr sz="1275" b="0">
                <a:solidFill>
                  <a:srgbClr val="FFFFFF"/>
                </a:solidFill>
                <a:latin typeface="Calibri"/>
                <a:ea typeface="Calibri"/>
                <a:cs typeface="Calibri"/>
              </a:rPr>
              <a:t>11</a:t>
            </a:r>
          </a:p>
        </p:txBody>
      </p:sp>
      <p:sp>
        <p:nvSpPr>
          <p:cNvPr id="9" name="text-148">
            <a:extLst xmlns:a="http://schemas.openxmlformats.org/drawingml/2006/main">
              <a:ext uri="{FF2B5EF4-FFF2-40B4-BE49-F238E27FC236}">
                <a16:creationId xmlns:a16="http://schemas.microsoft.com/office/drawing/2014/main" id="{36D1F3E2-B0C4-41C6-83B6-9E685C643EB2}"/>
              </a:ext>
            </a:extLst>
          </p:cNvPr>
          <p:cNvSpPr>
            <a:spLocks xmlns:a="http://schemas.openxmlformats.org/drawingml/2006/main" noGrp="1"/>
          </p:cNvSpPr>
          <p:nvPr/>
        </p:nvSpPr>
        <p:spPr>
          <a:xfrm xmlns:a="http://schemas.openxmlformats.org/drawingml/2006/main">
            <a:off x="457200" y="21145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UNIT DALAM 30 HARI</a:t>
            </a:r>
          </a:p>
        </p:txBody>
      </p:sp>
      <p:graphicFrame>
        <p:nvGraphicFramePr>
          <p:cNvPr id="30" name="Chart"/>
          <p:cNvGraphicFramePr/>
          <p:nvPr/>
        </p:nvGraphicFramePr>
        <p:xfrm>
          <a:off xmlns:a="http://schemas.openxmlformats.org/drawingml/2006/main" x="381000" y="2581275"/>
          <a:ext xmlns:a="http://schemas.openxmlformats.org/drawingml/2006/main" cx="6572250" cy="2190750"/>
        </p:xfrm>
        <a:graphic xmlns:a="http://schemas.openxmlformats.org/drawingml/2006/main">
          <a:graphicData uri="http://schemas.openxmlformats.org/drawingml/2006/chart">
            <c:chart xmlns:r="http://schemas.openxmlformats.org/officeDocument/2006/relationships" xmlns:c="http://schemas.openxmlformats.org/drawingml/2006/chart" r:id="R08d7b02a31ca40d9"/>
          </a:graphicData>
        </a:graphic>
      </p:graphicFrame>
      <p:sp>
        <p:nvSpPr>
          <p:cNvPr id="11" name="text-149">
            <a:extLst xmlns:a="http://schemas.openxmlformats.org/drawingml/2006/main">
              <a:ext uri="{FF2B5EF4-FFF2-40B4-BE49-F238E27FC236}">
                <a16:creationId xmlns:a16="http://schemas.microsoft.com/office/drawing/2014/main" id="{417B81D3-7476-470A-9902-4DB6B87E58A3}"/>
              </a:ext>
            </a:extLst>
          </p:cNvPr>
          <p:cNvSpPr>
            <a:spLocks xmlns:a="http://schemas.openxmlformats.org/drawingml/2006/main" noGrp="1"/>
          </p:cNvSpPr>
          <p:nvPr/>
        </p:nvSpPr>
        <p:spPr>
          <a:xfrm xmlns:a="http://schemas.openxmlformats.org/drawingml/2006/main">
            <a:off x="457200" y="5010150"/>
            <a:ext cx="647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87958"/>
                </a:solidFill>
                <a:latin typeface="Calibri"/>
                <a:ea typeface="Calibri"/>
                <a:cs typeface="Calibri"/>
              </a:defRPr>
            </a:pPr>
            <a:r>
              <a:rPr sz="2325" b="1">
                <a:solidFill>
                  <a:srgbClr val="087958"/>
                </a:solidFill>
                <a:latin typeface="Calibri"/>
                <a:ea typeface="Calibri"/>
                <a:cs typeface="Calibri"/>
              </a:rPr>
              <a:t>Gap 200 unit</a:t>
            </a:r>
          </a:p>
        </p:txBody>
      </p:sp>
      <p:sp>
        <p:nvSpPr>
          <p:cNvPr id="12" name="text-150">
            <a:extLst xmlns:a="http://schemas.openxmlformats.org/drawingml/2006/main">
              <a:ext uri="{FF2B5EF4-FFF2-40B4-BE49-F238E27FC236}">
                <a16:creationId xmlns:a16="http://schemas.microsoft.com/office/drawing/2014/main" id="{5CB394AF-CB11-4F1B-9796-D095449F2BC1}"/>
              </a:ext>
            </a:extLst>
          </p:cNvPr>
          <p:cNvSpPr>
            <a:spLocks xmlns:a="http://schemas.openxmlformats.org/drawingml/2006/main" noGrp="1"/>
          </p:cNvSpPr>
          <p:nvPr/>
        </p:nvSpPr>
        <p:spPr>
          <a:xfrm xmlns:a="http://schemas.openxmlformats.org/drawingml/2006/main">
            <a:off x="7667625" y="2114550"/>
            <a:ext cx="4010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PILIHAN KEPUTUSAN</a:t>
            </a:r>
          </a:p>
        </p:txBody>
      </p:sp>
      <p:sp>
        <p:nvSpPr>
          <p:cNvPr id="13" name="text-151">
            <a:extLst xmlns:a="http://schemas.openxmlformats.org/drawingml/2006/main">
              <a:ext uri="{FF2B5EF4-FFF2-40B4-BE49-F238E27FC236}">
                <a16:creationId xmlns:a16="http://schemas.microsoft.com/office/drawing/2014/main" id="{4548DB3B-EF9C-4B30-B813-177421B7CDE1}"/>
              </a:ext>
            </a:extLst>
          </p:cNvPr>
          <p:cNvSpPr>
            <a:spLocks xmlns:a="http://schemas.openxmlformats.org/drawingml/2006/main" noGrp="1"/>
          </p:cNvSpPr>
          <p:nvPr/>
        </p:nvSpPr>
        <p:spPr>
          <a:xfrm xmlns:a="http://schemas.openxmlformats.org/drawingml/2006/main">
            <a:off x="7667625" y="2571750"/>
            <a:ext cx="3829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5B6C65"/>
                </a:solidFill>
                <a:latin typeface="Calibri"/>
                <a:ea typeface="Calibri"/>
                <a:cs typeface="Calibri"/>
              </a:defRPr>
            </a:pPr>
            <a:r>
              <a:rPr sz="2175" b="1">
                <a:solidFill>
                  <a:srgbClr val="5B6C65"/>
                </a:solidFill>
                <a:latin typeface="Calibri"/>
                <a:ea typeface="Calibri"/>
                <a:cs typeface="Calibri"/>
              </a:rPr>
              <a:t>Terima</a:t>
            </a:r>
          </a:p>
        </p:txBody>
      </p:sp>
      <p:sp>
        <p:nvSpPr>
          <p:cNvPr id="14" name="text-152">
            <a:extLst xmlns:a="http://schemas.openxmlformats.org/drawingml/2006/main">
              <a:ext uri="{FF2B5EF4-FFF2-40B4-BE49-F238E27FC236}">
                <a16:creationId xmlns:a16="http://schemas.microsoft.com/office/drawing/2014/main" id="{5EEE8CA5-9405-462C-BEF6-FB4C95918582}"/>
              </a:ext>
            </a:extLst>
          </p:cNvPr>
          <p:cNvSpPr>
            <a:spLocks xmlns:a="http://schemas.openxmlformats.org/drawingml/2006/main" noGrp="1"/>
          </p:cNvSpPr>
          <p:nvPr/>
        </p:nvSpPr>
        <p:spPr>
          <a:xfrm xmlns:a="http://schemas.openxmlformats.org/drawingml/2006/main">
            <a:off x="7667625" y="2952750"/>
            <a:ext cx="3829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6C65"/>
                </a:solidFill>
                <a:latin typeface="Calibri"/>
                <a:ea typeface="Calibri"/>
                <a:cs typeface="Calibri"/>
              </a:defRPr>
            </a:pPr>
            <a:r>
              <a:rPr sz="1800" b="0">
                <a:solidFill>
                  <a:srgbClr val="5B6C65"/>
                </a:solidFill>
                <a:latin typeface="Calibri"/>
                <a:ea typeface="Calibri"/>
                <a:cs typeface="Calibri"/>
              </a:rPr>
              <a:t>Jika kemampuan dan syaratnya terbukti.</a:t>
            </a:r>
          </a:p>
        </p:txBody>
      </p:sp>
      <p:sp>
        <p:nvSpPr>
          <p:cNvPr id="15" name="text-153">
            <a:extLst xmlns:a="http://schemas.openxmlformats.org/drawingml/2006/main">
              <a:ext uri="{FF2B5EF4-FFF2-40B4-BE49-F238E27FC236}">
                <a16:creationId xmlns:a16="http://schemas.microsoft.com/office/drawing/2014/main" id="{C4F03266-297D-4CE8-8553-C5B815C33AA1}"/>
              </a:ext>
            </a:extLst>
          </p:cNvPr>
          <p:cNvSpPr>
            <a:spLocks xmlns:a="http://schemas.openxmlformats.org/drawingml/2006/main" noGrp="1"/>
          </p:cNvSpPr>
          <p:nvPr/>
        </p:nvSpPr>
        <p:spPr>
          <a:xfrm xmlns:a="http://schemas.openxmlformats.org/drawingml/2006/main">
            <a:off x="7667625" y="3657600"/>
            <a:ext cx="3829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87958"/>
                </a:solidFill>
                <a:latin typeface="Calibri"/>
                <a:ea typeface="Calibri"/>
                <a:cs typeface="Calibri"/>
              </a:defRPr>
            </a:pPr>
            <a:r>
              <a:rPr sz="2175" b="1">
                <a:solidFill>
                  <a:srgbClr val="087958"/>
                </a:solidFill>
                <a:latin typeface="Calibri"/>
                <a:ea typeface="Calibri"/>
                <a:cs typeface="Calibri"/>
              </a:rPr>
              <a:t>Negosiasikan</a:t>
            </a:r>
          </a:p>
        </p:txBody>
      </p:sp>
      <p:sp>
        <p:nvSpPr>
          <p:cNvPr id="16" name="text-154">
            <a:extLst xmlns:a="http://schemas.openxmlformats.org/drawingml/2006/main">
              <a:ext uri="{FF2B5EF4-FFF2-40B4-BE49-F238E27FC236}">
                <a16:creationId xmlns:a16="http://schemas.microsoft.com/office/drawing/2014/main" id="{3E14E78A-2C74-4D1C-B924-92AF78B4C3E3}"/>
              </a:ext>
            </a:extLst>
          </p:cNvPr>
          <p:cNvSpPr>
            <a:spLocks xmlns:a="http://schemas.openxmlformats.org/drawingml/2006/main" noGrp="1"/>
          </p:cNvSpPr>
          <p:nvPr/>
        </p:nvSpPr>
        <p:spPr>
          <a:xfrm xmlns:a="http://schemas.openxmlformats.org/drawingml/2006/main">
            <a:off x="7667625" y="4038600"/>
            <a:ext cx="3829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62B27"/>
                </a:solidFill>
                <a:latin typeface="Calibri"/>
                <a:ea typeface="Calibri"/>
                <a:cs typeface="Calibri"/>
              </a:defRPr>
            </a:pPr>
            <a:r>
              <a:rPr sz="1800" b="0">
                <a:solidFill>
                  <a:srgbClr val="162B27"/>
                </a:solidFill>
                <a:latin typeface="Calibri"/>
                <a:ea typeface="Calibri"/>
                <a:cs typeface="Calibri"/>
              </a:rPr>
              <a:t>Volume, jadwal, dan syarat pembayaran.</a:t>
            </a:r>
          </a:p>
        </p:txBody>
      </p:sp>
      <p:sp>
        <p:nvSpPr>
          <p:cNvPr id="17" name="text-155">
            <a:extLst xmlns:a="http://schemas.openxmlformats.org/drawingml/2006/main">
              <a:ext uri="{FF2B5EF4-FFF2-40B4-BE49-F238E27FC236}">
                <a16:creationId xmlns:a16="http://schemas.microsoft.com/office/drawing/2014/main" id="{248509C5-2A39-43C3-ABD3-5DCB52A2B64D}"/>
              </a:ext>
            </a:extLst>
          </p:cNvPr>
          <p:cNvSpPr>
            <a:spLocks xmlns:a="http://schemas.openxmlformats.org/drawingml/2006/main" noGrp="1"/>
          </p:cNvSpPr>
          <p:nvPr/>
        </p:nvSpPr>
        <p:spPr>
          <a:xfrm xmlns:a="http://schemas.openxmlformats.org/drawingml/2006/main">
            <a:off x="7667625" y="4543425"/>
            <a:ext cx="3829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5B6C65"/>
                </a:solidFill>
                <a:latin typeface="Calibri"/>
                <a:ea typeface="Calibri"/>
                <a:cs typeface="Calibri"/>
              </a:defRPr>
            </a:pPr>
            <a:r>
              <a:rPr sz="2175" b="1">
                <a:solidFill>
                  <a:srgbClr val="5B6C65"/>
                </a:solidFill>
                <a:latin typeface="Calibri"/>
                <a:ea typeface="Calibri"/>
                <a:cs typeface="Calibri"/>
              </a:rPr>
              <a:t>Tunda</a:t>
            </a:r>
          </a:p>
        </p:txBody>
      </p:sp>
      <p:sp>
        <p:nvSpPr>
          <p:cNvPr id="18" name="text-156">
            <a:extLst xmlns:a="http://schemas.openxmlformats.org/drawingml/2006/main">
              <a:ext uri="{FF2B5EF4-FFF2-40B4-BE49-F238E27FC236}">
                <a16:creationId xmlns:a16="http://schemas.microsoft.com/office/drawing/2014/main" id="{6689E7F5-DA2F-437D-91FD-7904BC981877}"/>
              </a:ext>
            </a:extLst>
          </p:cNvPr>
          <p:cNvSpPr>
            <a:spLocks xmlns:a="http://schemas.openxmlformats.org/drawingml/2006/main" noGrp="1"/>
          </p:cNvSpPr>
          <p:nvPr/>
        </p:nvSpPr>
        <p:spPr>
          <a:xfrm xmlns:a="http://schemas.openxmlformats.org/drawingml/2006/main">
            <a:off x="7667625" y="4943475"/>
            <a:ext cx="38290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B6C65"/>
                </a:solidFill>
                <a:latin typeface="Calibri"/>
                <a:ea typeface="Calibri"/>
                <a:cs typeface="Calibri"/>
              </a:defRPr>
            </a:pPr>
            <a:r>
              <a:rPr sz="1725" b="0">
                <a:solidFill>
                  <a:srgbClr val="5B6C65"/>
                </a:solidFill>
                <a:latin typeface="Calibri"/>
                <a:ea typeface="Calibri"/>
                <a:cs typeface="Calibri"/>
              </a:rPr>
              <a:t>Jika risikonya belum bisa ditanggung.</a:t>
            </a:r>
          </a:p>
        </p:txBody>
      </p:sp>
      <p:sp>
        <p:nvSpPr>
          <p:cNvPr id="19" name="">
            <a:extLst xmlns:a="http://schemas.openxmlformats.org/drawingml/2006/main">
              <a:ext uri="{FF2B5EF4-FFF2-40B4-BE49-F238E27FC236}">
                <a16:creationId xmlns:a16="http://schemas.microsoft.com/office/drawing/2014/main" id="{D465CB00-3BFF-4687-9987-11B2AC050983}"/>
              </a:ext>
            </a:extLst>
          </p:cNvPr>
          <p:cNvSpPr>
            <a:spLocks xmlns:a="http://schemas.openxmlformats.org/drawingml/2006/main" noGrp="1"/>
          </p:cNvSpPr>
          <p:nvPr/>
        </p:nvSpPr>
        <p:spPr>
          <a:xfrm xmlns:a="http://schemas.openxmlformats.org/drawingml/2006/main">
            <a:off x="457200" y="5543550"/>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20" name="text-157">
            <a:extLst xmlns:a="http://schemas.openxmlformats.org/drawingml/2006/main">
              <a:ext uri="{FF2B5EF4-FFF2-40B4-BE49-F238E27FC236}">
                <a16:creationId xmlns:a16="http://schemas.microsoft.com/office/drawing/2014/main" id="{5B75F3C1-415C-4337-BFAF-8C4CB039BC98}"/>
              </a:ext>
            </a:extLst>
          </p:cNvPr>
          <p:cNvSpPr>
            <a:spLocks xmlns:a="http://schemas.openxmlformats.org/drawingml/2006/main" noGrp="1"/>
          </p:cNvSpPr>
          <p:nvPr/>
        </p:nvSpPr>
        <p:spPr>
          <a:xfrm xmlns:a="http://schemas.openxmlformats.org/drawingml/2006/main">
            <a:off x="457200" y="5743575"/>
            <a:ext cx="1123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87958"/>
                </a:solidFill>
                <a:latin typeface="Calibri"/>
                <a:ea typeface="Calibri"/>
                <a:cs typeface="Calibri"/>
              </a:defRPr>
            </a:pPr>
            <a:r>
              <a:rPr sz="1875" b="1">
                <a:solidFill>
                  <a:srgbClr val="087958"/>
                </a:solidFill>
                <a:latin typeface="Calibri"/>
                <a:ea typeface="Calibri"/>
                <a:cs typeface="Calibri"/>
              </a:rPr>
              <a:t>Buyer meminta bayar setelah barang diterima. Kemasan ekspor juga belum diuji.</a:t>
            </a:r>
          </a:p>
        </p:txBody>
      </p:sp>
    </p:spTree>
    <p:extLst>
      <p:ext uri="{BB962C8B-B14F-4D97-AF65-F5344CB8AC3E}">
        <p14:creationId xmlns:p14="http://schemas.microsoft.com/office/powerpoint/2010/main" val="74724321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1dfe805abc40470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046D0A2-85BF-4097-89C3-76FCF8F4E2F8}"/>
              </a:ext>
            </a:extLst>
          </p:cNvPr>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85b751a1f0af4e63"/>
          <a:stretch xmlns:a="http://schemas.openxmlformats.org/drawingml/2006/main"/>
        </p:blipFill>
        <p:spPr>
          <a:xfrm xmlns:a="http://schemas.openxmlformats.org/drawingml/2006/main">
            <a:off x="10477500" y="228686"/>
            <a:ext cx="1257300" cy="471315"/>
          </a:xfrm>
          <a:prstGeom xmlns:a="http://schemas.openxmlformats.org/drawingml/2006/main" prst="rect">
            <a:avLst/>
          </a:prstGeom>
        </p:spPr>
      </p:pic>
      <p:sp>
        <p:nvSpPr>
          <p:cNvPr id="4" name="text-158">
            <a:extLst xmlns:a="http://schemas.openxmlformats.org/drawingml/2006/main">
              <a:ext uri="{FF2B5EF4-FFF2-40B4-BE49-F238E27FC236}">
                <a16:creationId xmlns:a16="http://schemas.microsoft.com/office/drawing/2014/main" id="{0D63FFE4-1724-477D-9C49-5EBE96978F70}"/>
              </a:ext>
            </a:extLst>
          </p:cNvPr>
          <p:cNvSpPr>
            <a:spLocks xmlns:a="http://schemas.openxmlformats.org/drawingml/2006/main" noGrp="1"/>
          </p:cNvSpPr>
          <p:nvPr/>
        </p:nvSpPr>
        <p:spPr>
          <a:xfrm xmlns:a="http://schemas.openxmlformats.org/drawingml/2006/main">
            <a:off x="457200" y="390525"/>
            <a:ext cx="9763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62B27"/>
                </a:solidFill>
                <a:latin typeface="Calibri"/>
                <a:ea typeface="Calibri"/>
                <a:cs typeface="Calibri"/>
              </a:defRPr>
            </a:pPr>
            <a:r>
              <a:rPr sz="2700" b="1">
                <a:solidFill>
                  <a:srgbClr val="162B27"/>
                </a:solidFill>
                <a:latin typeface="Calibri"/>
                <a:ea typeface="Calibri"/>
                <a:cs typeface="Calibri"/>
              </a:rPr>
              <a:t>Satu eksperimen kecil untuk mulai menguji peluang ekspor</a:t>
            </a:r>
          </a:p>
        </p:txBody>
      </p:sp>
      <p:sp>
        <p:nvSpPr>
          <p:cNvPr id="5" name="text-159">
            <a:extLst xmlns:a="http://schemas.openxmlformats.org/drawingml/2006/main">
              <a:ext uri="{FF2B5EF4-FFF2-40B4-BE49-F238E27FC236}">
                <a16:creationId xmlns:a16="http://schemas.microsoft.com/office/drawing/2014/main" id="{E5C84F29-F2A4-47DC-AF20-013A2AE8518F}"/>
              </a:ext>
            </a:extLst>
          </p:cNvPr>
          <p:cNvSpPr>
            <a:spLocks xmlns:a="http://schemas.openxmlformats.org/drawingml/2006/main" noGrp="1"/>
          </p:cNvSpPr>
          <p:nvPr/>
        </p:nvSpPr>
        <p:spPr>
          <a:xfrm xmlns:a="http://schemas.openxmlformats.org/drawingml/2006/main">
            <a:off x="457200" y="1419225"/>
            <a:ext cx="11201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6C65"/>
                </a:solidFill>
                <a:latin typeface="Calibri"/>
                <a:ea typeface="Calibri"/>
                <a:cs typeface="Calibri"/>
              </a:defRPr>
            </a:pPr>
            <a:r>
              <a:rPr sz="1800" b="0">
                <a:solidFill>
                  <a:srgbClr val="5B6C65"/>
                </a:solidFill>
                <a:latin typeface="Calibri"/>
                <a:ea typeface="Calibri"/>
                <a:cs typeface="Calibri"/>
              </a:rPr>
              <a:t>Isi rencana singkat ini untuk bisnismu sendiri setelah acara.</a:t>
            </a:r>
          </a:p>
        </p:txBody>
      </p:sp>
      <p:sp>
        <p:nvSpPr>
          <p:cNvPr id="6" name="text-160">
            <a:extLst xmlns:a="http://schemas.openxmlformats.org/drawingml/2006/main">
              <a:ext uri="{FF2B5EF4-FFF2-40B4-BE49-F238E27FC236}">
                <a16:creationId xmlns:a16="http://schemas.microsoft.com/office/drawing/2014/main" id="{A47F1DF9-E06F-4B95-9DFA-0DC2B3FC8BF8}"/>
              </a:ext>
            </a:extLst>
          </p:cNvPr>
          <p:cNvSpPr>
            <a:spLocks xmlns:a="http://schemas.openxmlformats.org/drawingml/2006/main" noGrp="1"/>
          </p:cNvSpPr>
          <p:nvPr/>
        </p:nvSpPr>
        <p:spPr>
          <a:xfrm xmlns:a="http://schemas.openxmlformats.org/drawingml/2006/main">
            <a:off x="457200" y="6134100"/>
            <a:ext cx="11191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Adaptasi Modul 1 CEO Masterclass</a:t>
            </a:r>
          </a:p>
        </p:txBody>
      </p:sp>
      <p:sp>
        <p:nvSpPr>
          <p:cNvPr id="7" name="text-161">
            <a:extLst xmlns:a="http://schemas.openxmlformats.org/drawingml/2006/main">
              <a:ext uri="{FF2B5EF4-FFF2-40B4-BE49-F238E27FC236}">
                <a16:creationId xmlns:a16="http://schemas.microsoft.com/office/drawing/2014/main" id="{2269F467-1F25-45AA-B55E-6E7C5519D097}"/>
              </a:ext>
            </a:extLst>
          </p:cNvPr>
          <p:cNvSpPr>
            <a:spLocks xmlns:a="http://schemas.openxmlformats.org/drawingml/2006/main" noGrp="1"/>
          </p:cNvSpPr>
          <p:nvPr/>
        </p:nvSpPr>
        <p:spPr>
          <a:xfrm xmlns:a="http://schemas.openxmlformats.org/drawingml/2006/main">
            <a:off x="457200" y="6534150"/>
            <a:ext cx="571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CMC × BD Ekspor</a:t>
            </a:r>
          </a:p>
        </p:txBody>
      </p:sp>
      <p:sp>
        <p:nvSpPr>
          <p:cNvPr id="8" name="text-162">
            <a:extLst xmlns:a="http://schemas.openxmlformats.org/drawingml/2006/main">
              <a:ext uri="{FF2B5EF4-FFF2-40B4-BE49-F238E27FC236}">
                <a16:creationId xmlns:a16="http://schemas.microsoft.com/office/drawing/2014/main" id="{EAE4F948-6D6A-48BE-A02C-B9EF4CC4A4B0}"/>
              </a:ext>
            </a:extLst>
          </p:cNvPr>
          <p:cNvSpPr>
            <a:spLocks xmlns:a="http://schemas.openxmlformats.org/drawingml/2006/main" noGrp="1"/>
          </p:cNvSpPr>
          <p:nvPr/>
        </p:nvSpPr>
        <p:spPr>
          <a:xfrm xmlns:a="http://schemas.openxmlformats.org/drawingml/2006/main">
            <a:off x="11258550" y="65055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Calibri"/>
                <a:ea typeface="Calibri"/>
                <a:cs typeface="Calibri"/>
              </a:defRPr>
            </a:pPr>
            <a:r>
              <a:rPr sz="1275" b="0">
                <a:solidFill>
                  <a:srgbClr val="FFFFFF"/>
                </a:solidFill>
                <a:latin typeface="Calibri"/>
                <a:ea typeface="Calibri"/>
                <a:cs typeface="Calibri"/>
              </a:rPr>
              <a:t>12</a:t>
            </a:r>
          </a:p>
        </p:txBody>
      </p:sp>
      <p:sp>
        <p:nvSpPr>
          <p:cNvPr id="9" name="text-163">
            <a:extLst xmlns:a="http://schemas.openxmlformats.org/drawingml/2006/main">
              <a:ext uri="{FF2B5EF4-FFF2-40B4-BE49-F238E27FC236}">
                <a16:creationId xmlns:a16="http://schemas.microsoft.com/office/drawing/2014/main" id="{F4B4632C-DDA0-4603-9EAC-718AC7E91ACF}"/>
              </a:ext>
            </a:extLst>
          </p:cNvPr>
          <p:cNvSpPr>
            <a:spLocks xmlns:a="http://schemas.openxmlformats.org/drawingml/2006/main" noGrp="1"/>
          </p:cNvSpPr>
          <p:nvPr/>
        </p:nvSpPr>
        <p:spPr>
          <a:xfrm xmlns:a="http://schemas.openxmlformats.org/drawingml/2006/main">
            <a:off x="457200" y="2495550"/>
            <a:ext cx="2686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ASUMSI</a:t>
            </a:r>
          </a:p>
        </p:txBody>
      </p:sp>
      <p:sp>
        <p:nvSpPr>
          <p:cNvPr id="10" name="text-164">
            <a:extLst xmlns:a="http://schemas.openxmlformats.org/drawingml/2006/main">
              <a:ext uri="{FF2B5EF4-FFF2-40B4-BE49-F238E27FC236}">
                <a16:creationId xmlns:a16="http://schemas.microsoft.com/office/drawing/2014/main" id="{A5A156B4-FBB4-4DA4-B0C0-D9E2B84331DC}"/>
              </a:ext>
            </a:extLst>
          </p:cNvPr>
          <p:cNvSpPr>
            <a:spLocks xmlns:a="http://schemas.openxmlformats.org/drawingml/2006/main" noGrp="1"/>
          </p:cNvSpPr>
          <p:nvPr/>
        </p:nvSpPr>
        <p:spPr>
          <a:xfrm xmlns:a="http://schemas.openxmlformats.org/drawingml/2006/main">
            <a:off x="457200" y="3105150"/>
            <a:ext cx="26860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2B28"/>
                </a:solidFill>
                <a:latin typeface="Calibri"/>
                <a:ea typeface="Calibri"/>
                <a:cs typeface="Calibri"/>
              </a:defRPr>
            </a:pPr>
            <a:r>
              <a:rPr sz="2025" b="1">
                <a:solidFill>
                  <a:srgbClr val="002B28"/>
                </a:solidFill>
                <a:latin typeface="Calibri"/>
                <a:ea typeface="Calibri"/>
                <a:cs typeface="Calibri"/>
              </a:rPr>
              <a:t>Buyer yang dituju</a:t>
            </a:r>
          </a:p>
          <a:p xmlns:a="http://schemas.openxmlformats.org/drawingml/2006/main">
            <a:pPr>
              <a:defRPr sz="2025" b="1">
                <a:solidFill>
                  <a:srgbClr val="002B28"/>
                </a:solidFill>
                <a:latin typeface="Calibri"/>
                <a:ea typeface="Calibri"/>
                <a:cs typeface="Calibri"/>
              </a:defRPr>
            </a:pPr>
            <a:r>
              <a:rPr sz="2025" b="1">
                <a:solidFill>
                  <a:srgbClr val="002B28"/>
                </a:solidFill>
                <a:latin typeface="Calibri"/>
                <a:ea typeface="Calibri"/>
                <a:cs typeface="Calibri"/>
              </a:rPr>
              <a:t>membutuhkan</a:t>
            </a:r>
          </a:p>
          <a:p xmlns:a="http://schemas.openxmlformats.org/drawingml/2006/main">
            <a:pPr>
              <a:defRPr sz="2025" b="1">
                <a:solidFill>
                  <a:srgbClr val="002B28"/>
                </a:solidFill>
                <a:latin typeface="Calibri"/>
                <a:ea typeface="Calibri"/>
                <a:cs typeface="Calibri"/>
              </a:defRPr>
            </a:pPr>
            <a:r>
              <a:rPr sz="2025" b="1">
                <a:solidFill>
                  <a:srgbClr val="002B28"/>
                </a:solidFill>
                <a:latin typeface="Calibri"/>
                <a:ea typeface="Calibri"/>
                <a:cs typeface="Calibri"/>
              </a:rPr>
              <a:t>produk ini.</a:t>
            </a:r>
          </a:p>
        </p:txBody>
      </p:sp>
      <p:sp>
        <p:nvSpPr>
          <p:cNvPr id="11" name="">
            <a:extLst xmlns:a="http://schemas.openxmlformats.org/drawingml/2006/main">
              <a:ext uri="{FF2B5EF4-FFF2-40B4-BE49-F238E27FC236}">
                <a16:creationId xmlns:a16="http://schemas.microsoft.com/office/drawing/2014/main" id="{8EE23A59-CFE2-4281-B848-D3ED8C3B4185}"/>
              </a:ext>
            </a:extLst>
          </p:cNvPr>
          <p:cNvSpPr>
            <a:spLocks xmlns:a="http://schemas.openxmlformats.org/drawingml/2006/main" noGrp="1"/>
          </p:cNvSpPr>
          <p:nvPr/>
        </p:nvSpPr>
        <p:spPr>
          <a:xfrm xmlns:a="http://schemas.openxmlformats.org/drawingml/2006/main">
            <a:off x="457200" y="4781550"/>
            <a:ext cx="2686050" cy="0"/>
          </a:xfrm>
          <a:prstGeom xmlns:a="http://schemas.openxmlformats.org/drawingml/2006/main" prst="line">
            <a:avLst/>
          </a:prstGeom>
          <a:noFill xmlns:a="http://schemas.openxmlformats.org/drawingml/2006/main"/>
          <a:ln xmlns:a="http://schemas.openxmlformats.org/drawingml/2006/main" w="19050">
            <a:solidFill>
              <a:srgbClr val="95BBA9"/>
            </a:solidFill>
          </a:ln>
        </p:spPr>
      </p:sp>
      <p:sp>
        <p:nvSpPr>
          <p:cNvPr id="12" name="text-165">
            <a:extLst xmlns:a="http://schemas.openxmlformats.org/drawingml/2006/main">
              <a:ext uri="{FF2B5EF4-FFF2-40B4-BE49-F238E27FC236}">
                <a16:creationId xmlns:a16="http://schemas.microsoft.com/office/drawing/2014/main" id="{55A0A9D6-6FB2-45CD-8292-52EFD786678E}"/>
              </a:ext>
            </a:extLst>
          </p:cNvPr>
          <p:cNvSpPr>
            <a:spLocks xmlns:a="http://schemas.openxmlformats.org/drawingml/2006/main" noGrp="1"/>
          </p:cNvSpPr>
          <p:nvPr/>
        </p:nvSpPr>
        <p:spPr>
          <a:xfrm xmlns:a="http://schemas.openxmlformats.org/drawingml/2006/main">
            <a:off x="457200" y="4981575"/>
            <a:ext cx="2686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B6C65"/>
                </a:solidFill>
                <a:latin typeface="Calibri"/>
                <a:ea typeface="Calibri"/>
                <a:cs typeface="Calibri"/>
              </a:defRPr>
            </a:pPr>
            <a:r>
              <a:rPr sz="1500" b="0">
                <a:solidFill>
                  <a:srgbClr val="5B6C65"/>
                </a:solidFill>
                <a:latin typeface="Calibri"/>
                <a:ea typeface="Calibri"/>
                <a:cs typeface="Calibri"/>
              </a:rPr>
              <a:t>Isi untuk bisnismu</a:t>
            </a:r>
          </a:p>
        </p:txBody>
      </p:sp>
      <p:sp>
        <p:nvSpPr>
          <p:cNvPr id="13" name="">
            <a:extLst xmlns:a="http://schemas.openxmlformats.org/drawingml/2006/main">
              <a:ext uri="{FF2B5EF4-FFF2-40B4-BE49-F238E27FC236}">
                <a16:creationId xmlns:a16="http://schemas.microsoft.com/office/drawing/2014/main" id="{A271FEAB-5667-42ED-A9BB-5797D86535AB}"/>
              </a:ext>
            </a:extLst>
          </p:cNvPr>
          <p:cNvSpPr>
            <a:spLocks xmlns:a="http://schemas.openxmlformats.org/drawingml/2006/main" noGrp="1"/>
          </p:cNvSpPr>
          <p:nvPr/>
        </p:nvSpPr>
        <p:spPr>
          <a:xfrm xmlns:a="http://schemas.openxmlformats.org/drawingml/2006/main" rot="0">
            <a:off x="3200400" y="3667125"/>
            <a:ext cx="238125" cy="114300"/>
          </a:xfrm>
          <a:prstGeom xmlns:a="http://schemas.openxmlformats.org/drawingml/2006/main" prst="rightArrow">
            <a:avLst/>
          </a:prstGeom>
          <a:solidFill xmlns:a="http://schemas.openxmlformats.org/drawingml/2006/main">
            <a:srgbClr val="95BBA9"/>
          </a:solidFill>
          <a:ln xmlns:a="http://schemas.openxmlformats.org/drawingml/2006/main" w="0">
            <a:noFill/>
          </a:ln>
        </p:spPr>
      </p:sp>
      <p:sp>
        <p:nvSpPr>
          <p:cNvPr id="14" name="text-166">
            <a:extLst xmlns:a="http://schemas.openxmlformats.org/drawingml/2006/main">
              <a:ext uri="{FF2B5EF4-FFF2-40B4-BE49-F238E27FC236}">
                <a16:creationId xmlns:a16="http://schemas.microsoft.com/office/drawing/2014/main" id="{7D553D07-B054-4B07-BFD7-A38AE6690123}"/>
              </a:ext>
            </a:extLst>
          </p:cNvPr>
          <p:cNvSpPr>
            <a:spLocks xmlns:a="http://schemas.openxmlformats.org/drawingml/2006/main" noGrp="1"/>
          </p:cNvSpPr>
          <p:nvPr/>
        </p:nvSpPr>
        <p:spPr>
          <a:xfrm xmlns:a="http://schemas.openxmlformats.org/drawingml/2006/main">
            <a:off x="3524250" y="2495550"/>
            <a:ext cx="2686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TINDAKAN</a:t>
            </a:r>
          </a:p>
        </p:txBody>
      </p:sp>
      <p:sp>
        <p:nvSpPr>
          <p:cNvPr id="15" name="text-167">
            <a:extLst xmlns:a="http://schemas.openxmlformats.org/drawingml/2006/main">
              <a:ext uri="{FF2B5EF4-FFF2-40B4-BE49-F238E27FC236}">
                <a16:creationId xmlns:a16="http://schemas.microsoft.com/office/drawing/2014/main" id="{CD611469-3D75-49CE-9D85-DF8D89E5E382}"/>
              </a:ext>
            </a:extLst>
          </p:cNvPr>
          <p:cNvSpPr>
            <a:spLocks xmlns:a="http://schemas.openxmlformats.org/drawingml/2006/main" noGrp="1"/>
          </p:cNvSpPr>
          <p:nvPr/>
        </p:nvSpPr>
        <p:spPr>
          <a:xfrm xmlns:a="http://schemas.openxmlformats.org/drawingml/2006/main">
            <a:off x="3524250" y="3105150"/>
            <a:ext cx="26860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2B28"/>
                </a:solidFill>
                <a:latin typeface="Calibri"/>
                <a:ea typeface="Calibri"/>
                <a:cs typeface="Calibri"/>
              </a:defRPr>
            </a:pPr>
            <a:r>
              <a:rPr sz="2025" b="1">
                <a:solidFill>
                  <a:srgbClr val="002B28"/>
                </a:solidFill>
                <a:latin typeface="Calibri"/>
                <a:ea typeface="Calibri"/>
                <a:cs typeface="Calibri"/>
              </a:rPr>
              <a:t>Diskusi kebutuhan</a:t>
            </a:r>
          </a:p>
          <a:p xmlns:a="http://schemas.openxmlformats.org/drawingml/2006/main">
            <a:pPr>
              <a:defRPr sz="2025" b="1">
                <a:solidFill>
                  <a:srgbClr val="002B28"/>
                </a:solidFill>
                <a:latin typeface="Calibri"/>
                <a:ea typeface="Calibri"/>
                <a:cs typeface="Calibri"/>
              </a:defRPr>
            </a:pPr>
            <a:r>
              <a:rPr sz="2025" b="1">
                <a:solidFill>
                  <a:srgbClr val="002B28"/>
                </a:solidFill>
                <a:latin typeface="Calibri"/>
                <a:ea typeface="Calibri"/>
                <a:cs typeface="Calibri"/>
              </a:rPr>
              <a:t>dan tunjukkan</a:t>
            </a:r>
          </a:p>
          <a:p xmlns:a="http://schemas.openxmlformats.org/drawingml/2006/main">
            <a:pPr>
              <a:defRPr sz="2025" b="1">
                <a:solidFill>
                  <a:srgbClr val="002B28"/>
                </a:solidFill>
                <a:latin typeface="Calibri"/>
                <a:ea typeface="Calibri"/>
                <a:cs typeface="Calibri"/>
              </a:defRPr>
            </a:pPr>
            <a:r>
              <a:rPr sz="2025" b="1">
                <a:solidFill>
                  <a:srgbClr val="002B28"/>
                </a:solidFill>
                <a:latin typeface="Calibri"/>
                <a:ea typeface="Calibri"/>
                <a:cs typeface="Calibri"/>
              </a:rPr>
              <a:t>sampel relevan.</a:t>
            </a:r>
          </a:p>
        </p:txBody>
      </p:sp>
      <p:sp>
        <p:nvSpPr>
          <p:cNvPr id="16" name="">
            <a:extLst xmlns:a="http://schemas.openxmlformats.org/drawingml/2006/main">
              <a:ext uri="{FF2B5EF4-FFF2-40B4-BE49-F238E27FC236}">
                <a16:creationId xmlns:a16="http://schemas.microsoft.com/office/drawing/2014/main" id="{36906924-1E53-4B52-995C-15041651864E}"/>
              </a:ext>
            </a:extLst>
          </p:cNvPr>
          <p:cNvSpPr>
            <a:spLocks xmlns:a="http://schemas.openxmlformats.org/drawingml/2006/main" noGrp="1"/>
          </p:cNvSpPr>
          <p:nvPr/>
        </p:nvSpPr>
        <p:spPr>
          <a:xfrm xmlns:a="http://schemas.openxmlformats.org/drawingml/2006/main">
            <a:off x="3524250" y="4781550"/>
            <a:ext cx="2686050" cy="0"/>
          </a:xfrm>
          <a:prstGeom xmlns:a="http://schemas.openxmlformats.org/drawingml/2006/main" prst="line">
            <a:avLst/>
          </a:prstGeom>
          <a:noFill xmlns:a="http://schemas.openxmlformats.org/drawingml/2006/main"/>
          <a:ln xmlns:a="http://schemas.openxmlformats.org/drawingml/2006/main" w="19050">
            <a:solidFill>
              <a:srgbClr val="95BBA9"/>
            </a:solidFill>
          </a:ln>
        </p:spPr>
      </p:sp>
      <p:sp>
        <p:nvSpPr>
          <p:cNvPr id="17" name="text-168">
            <a:extLst xmlns:a="http://schemas.openxmlformats.org/drawingml/2006/main">
              <a:ext uri="{FF2B5EF4-FFF2-40B4-BE49-F238E27FC236}">
                <a16:creationId xmlns:a16="http://schemas.microsoft.com/office/drawing/2014/main" id="{6D768AA1-164C-4943-8776-E0C3651ECCDA}"/>
              </a:ext>
            </a:extLst>
          </p:cNvPr>
          <p:cNvSpPr>
            <a:spLocks xmlns:a="http://schemas.openxmlformats.org/drawingml/2006/main" noGrp="1"/>
          </p:cNvSpPr>
          <p:nvPr/>
        </p:nvSpPr>
        <p:spPr>
          <a:xfrm xmlns:a="http://schemas.openxmlformats.org/drawingml/2006/main">
            <a:off x="3524250" y="4981575"/>
            <a:ext cx="2686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B6C65"/>
                </a:solidFill>
                <a:latin typeface="Calibri"/>
                <a:ea typeface="Calibri"/>
                <a:cs typeface="Calibri"/>
              </a:defRPr>
            </a:pPr>
            <a:r>
              <a:rPr sz="1500" b="0">
                <a:solidFill>
                  <a:srgbClr val="5B6C65"/>
                </a:solidFill>
                <a:latin typeface="Calibri"/>
                <a:ea typeface="Calibri"/>
                <a:cs typeface="Calibri"/>
              </a:rPr>
              <a:t>Isi untuk bisnismu</a:t>
            </a:r>
          </a:p>
        </p:txBody>
      </p:sp>
      <p:sp>
        <p:nvSpPr>
          <p:cNvPr id="18" name="">
            <a:extLst xmlns:a="http://schemas.openxmlformats.org/drawingml/2006/main">
              <a:ext uri="{FF2B5EF4-FFF2-40B4-BE49-F238E27FC236}">
                <a16:creationId xmlns:a16="http://schemas.microsoft.com/office/drawing/2014/main" id="{744C42AF-6CEC-42B8-83E8-365C4CBEA5C9}"/>
              </a:ext>
            </a:extLst>
          </p:cNvPr>
          <p:cNvSpPr>
            <a:spLocks xmlns:a="http://schemas.openxmlformats.org/drawingml/2006/main" noGrp="1"/>
          </p:cNvSpPr>
          <p:nvPr/>
        </p:nvSpPr>
        <p:spPr>
          <a:xfrm xmlns:a="http://schemas.openxmlformats.org/drawingml/2006/main" rot="0">
            <a:off x="6267450" y="3667125"/>
            <a:ext cx="238125" cy="114300"/>
          </a:xfrm>
          <a:prstGeom xmlns:a="http://schemas.openxmlformats.org/drawingml/2006/main" prst="rightArrow">
            <a:avLst/>
          </a:prstGeom>
          <a:solidFill xmlns:a="http://schemas.openxmlformats.org/drawingml/2006/main">
            <a:srgbClr val="95BBA9"/>
          </a:solidFill>
          <a:ln xmlns:a="http://schemas.openxmlformats.org/drawingml/2006/main" w="0">
            <a:noFill/>
          </a:ln>
        </p:spPr>
      </p:sp>
      <p:sp>
        <p:nvSpPr>
          <p:cNvPr id="19" name="text-169">
            <a:extLst xmlns:a="http://schemas.openxmlformats.org/drawingml/2006/main">
              <a:ext uri="{FF2B5EF4-FFF2-40B4-BE49-F238E27FC236}">
                <a16:creationId xmlns:a16="http://schemas.microsoft.com/office/drawing/2014/main" id="{034C2F59-A8F1-435B-A287-B2C779DCA048}"/>
              </a:ext>
            </a:extLst>
          </p:cNvPr>
          <p:cNvSpPr>
            <a:spLocks xmlns:a="http://schemas.openxmlformats.org/drawingml/2006/main" noGrp="1"/>
          </p:cNvSpPr>
          <p:nvPr/>
        </p:nvSpPr>
        <p:spPr>
          <a:xfrm xmlns:a="http://schemas.openxmlformats.org/drawingml/2006/main">
            <a:off x="6591300" y="2495550"/>
            <a:ext cx="2686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BUKTI</a:t>
            </a:r>
          </a:p>
        </p:txBody>
      </p:sp>
      <p:sp>
        <p:nvSpPr>
          <p:cNvPr id="20" name="text-170">
            <a:extLst xmlns:a="http://schemas.openxmlformats.org/drawingml/2006/main">
              <a:ext uri="{FF2B5EF4-FFF2-40B4-BE49-F238E27FC236}">
                <a16:creationId xmlns:a16="http://schemas.microsoft.com/office/drawing/2014/main" id="{7632720A-3A1C-4DC6-9473-A6229D21DD20}"/>
              </a:ext>
            </a:extLst>
          </p:cNvPr>
          <p:cNvSpPr>
            <a:spLocks xmlns:a="http://schemas.openxmlformats.org/drawingml/2006/main" noGrp="1"/>
          </p:cNvSpPr>
          <p:nvPr/>
        </p:nvSpPr>
        <p:spPr>
          <a:xfrm xmlns:a="http://schemas.openxmlformats.org/drawingml/2006/main">
            <a:off x="6591300" y="3105150"/>
            <a:ext cx="26860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958"/>
                </a:solidFill>
                <a:latin typeface="Calibri"/>
                <a:ea typeface="Calibri"/>
                <a:cs typeface="Calibri"/>
              </a:defRPr>
            </a:pPr>
            <a:r>
              <a:rPr sz="2025" b="1">
                <a:solidFill>
                  <a:srgbClr val="087958"/>
                </a:solidFill>
                <a:latin typeface="Calibri"/>
                <a:ea typeface="Calibri"/>
                <a:cs typeface="Calibri"/>
              </a:rPr>
              <a:t>Masukan spesifik</a:t>
            </a:r>
          </a:p>
          <a:p xmlns:a="http://schemas.openxmlformats.org/drawingml/2006/main">
            <a:pPr>
              <a:defRPr sz="2025" b="1">
                <a:solidFill>
                  <a:srgbClr val="087958"/>
                </a:solidFill>
                <a:latin typeface="Calibri"/>
                <a:ea typeface="Calibri"/>
                <a:cs typeface="Calibri"/>
              </a:defRPr>
            </a:pPr>
            <a:r>
              <a:rPr sz="2025" b="1">
                <a:solidFill>
                  <a:srgbClr val="087958"/>
                </a:solidFill>
                <a:latin typeface="Calibri"/>
                <a:ea typeface="Calibri"/>
                <a:cs typeface="Calibri"/>
              </a:rPr>
              <a:t>dan tindak lanjut</a:t>
            </a:r>
          </a:p>
          <a:p xmlns:a="http://schemas.openxmlformats.org/drawingml/2006/main">
            <a:pPr>
              <a:defRPr sz="2025" b="1">
                <a:solidFill>
                  <a:srgbClr val="087958"/>
                </a:solidFill>
                <a:latin typeface="Calibri"/>
                <a:ea typeface="Calibri"/>
                <a:cs typeface="Calibri"/>
              </a:defRPr>
            </a:pPr>
            <a:r>
              <a:rPr sz="2025" b="1">
                <a:solidFill>
                  <a:srgbClr val="087958"/>
                </a:solidFill>
                <a:latin typeface="Calibri"/>
                <a:ea typeface="Calibri"/>
                <a:cs typeface="Calibri"/>
              </a:rPr>
              <a:t>dari buyer.</a:t>
            </a:r>
          </a:p>
        </p:txBody>
      </p:sp>
      <p:sp>
        <p:nvSpPr>
          <p:cNvPr id="21" name="">
            <a:extLst xmlns:a="http://schemas.openxmlformats.org/drawingml/2006/main">
              <a:ext uri="{FF2B5EF4-FFF2-40B4-BE49-F238E27FC236}">
                <a16:creationId xmlns:a16="http://schemas.microsoft.com/office/drawing/2014/main" id="{17BEFACE-4411-47BB-B337-F259368FCF35}"/>
              </a:ext>
            </a:extLst>
          </p:cNvPr>
          <p:cNvSpPr>
            <a:spLocks xmlns:a="http://schemas.openxmlformats.org/drawingml/2006/main" noGrp="1"/>
          </p:cNvSpPr>
          <p:nvPr/>
        </p:nvSpPr>
        <p:spPr>
          <a:xfrm xmlns:a="http://schemas.openxmlformats.org/drawingml/2006/main">
            <a:off x="6591300" y="4781550"/>
            <a:ext cx="2686050" cy="0"/>
          </a:xfrm>
          <a:prstGeom xmlns:a="http://schemas.openxmlformats.org/drawingml/2006/main" prst="line">
            <a:avLst/>
          </a:prstGeom>
          <a:noFill xmlns:a="http://schemas.openxmlformats.org/drawingml/2006/main"/>
          <a:ln xmlns:a="http://schemas.openxmlformats.org/drawingml/2006/main" w="19050">
            <a:solidFill>
              <a:srgbClr val="95BBA9"/>
            </a:solidFill>
          </a:ln>
        </p:spPr>
      </p:sp>
      <p:sp>
        <p:nvSpPr>
          <p:cNvPr id="22" name="text-171">
            <a:extLst xmlns:a="http://schemas.openxmlformats.org/drawingml/2006/main">
              <a:ext uri="{FF2B5EF4-FFF2-40B4-BE49-F238E27FC236}">
                <a16:creationId xmlns:a16="http://schemas.microsoft.com/office/drawing/2014/main" id="{8AC5836D-F156-4FD6-8C28-85B2126B2FB1}"/>
              </a:ext>
            </a:extLst>
          </p:cNvPr>
          <p:cNvSpPr>
            <a:spLocks xmlns:a="http://schemas.openxmlformats.org/drawingml/2006/main" noGrp="1"/>
          </p:cNvSpPr>
          <p:nvPr/>
        </p:nvSpPr>
        <p:spPr>
          <a:xfrm xmlns:a="http://schemas.openxmlformats.org/drawingml/2006/main">
            <a:off x="6591300" y="4981575"/>
            <a:ext cx="2686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B6C65"/>
                </a:solidFill>
                <a:latin typeface="Calibri"/>
                <a:ea typeface="Calibri"/>
                <a:cs typeface="Calibri"/>
              </a:defRPr>
            </a:pPr>
            <a:r>
              <a:rPr sz="1500" b="0">
                <a:solidFill>
                  <a:srgbClr val="5B6C65"/>
                </a:solidFill>
                <a:latin typeface="Calibri"/>
                <a:ea typeface="Calibri"/>
                <a:cs typeface="Calibri"/>
              </a:rPr>
              <a:t>Isi untuk bisnismu</a:t>
            </a:r>
          </a:p>
        </p:txBody>
      </p:sp>
      <p:sp>
        <p:nvSpPr>
          <p:cNvPr id="23" name="">
            <a:extLst xmlns:a="http://schemas.openxmlformats.org/drawingml/2006/main">
              <a:ext uri="{FF2B5EF4-FFF2-40B4-BE49-F238E27FC236}">
                <a16:creationId xmlns:a16="http://schemas.microsoft.com/office/drawing/2014/main" id="{22B77AE2-CFD8-4C6F-B44D-65DF1A5CD1AF}"/>
              </a:ext>
            </a:extLst>
          </p:cNvPr>
          <p:cNvSpPr>
            <a:spLocks xmlns:a="http://schemas.openxmlformats.org/drawingml/2006/main" noGrp="1"/>
          </p:cNvSpPr>
          <p:nvPr/>
        </p:nvSpPr>
        <p:spPr>
          <a:xfrm xmlns:a="http://schemas.openxmlformats.org/drawingml/2006/main" rot="0">
            <a:off x="9334500" y="3667125"/>
            <a:ext cx="238125" cy="114300"/>
          </a:xfrm>
          <a:prstGeom xmlns:a="http://schemas.openxmlformats.org/drawingml/2006/main" prst="rightArrow">
            <a:avLst/>
          </a:prstGeom>
          <a:solidFill xmlns:a="http://schemas.openxmlformats.org/drawingml/2006/main">
            <a:srgbClr val="95BBA9"/>
          </a:solidFill>
          <a:ln xmlns:a="http://schemas.openxmlformats.org/drawingml/2006/main" w="0">
            <a:noFill/>
          </a:ln>
        </p:spPr>
      </p:sp>
      <p:sp>
        <p:nvSpPr>
          <p:cNvPr id="24" name="text-172">
            <a:extLst xmlns:a="http://schemas.openxmlformats.org/drawingml/2006/main">
              <a:ext uri="{FF2B5EF4-FFF2-40B4-BE49-F238E27FC236}">
                <a16:creationId xmlns:a16="http://schemas.microsoft.com/office/drawing/2014/main" id="{C2A03BC6-C054-4906-8482-B95F543C9653}"/>
              </a:ext>
            </a:extLst>
          </p:cNvPr>
          <p:cNvSpPr>
            <a:spLocks xmlns:a="http://schemas.openxmlformats.org/drawingml/2006/main" noGrp="1"/>
          </p:cNvSpPr>
          <p:nvPr/>
        </p:nvSpPr>
        <p:spPr>
          <a:xfrm xmlns:a="http://schemas.openxmlformats.org/drawingml/2006/main">
            <a:off x="9658350" y="2495550"/>
            <a:ext cx="2076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BATAS</a:t>
            </a:r>
          </a:p>
        </p:txBody>
      </p:sp>
      <p:sp>
        <p:nvSpPr>
          <p:cNvPr id="25" name="text-173">
            <a:extLst xmlns:a="http://schemas.openxmlformats.org/drawingml/2006/main">
              <a:ext uri="{FF2B5EF4-FFF2-40B4-BE49-F238E27FC236}">
                <a16:creationId xmlns:a16="http://schemas.microsoft.com/office/drawing/2014/main" id="{64E1EE9E-F150-4CA1-A103-DE51EB0E5B17}"/>
              </a:ext>
            </a:extLst>
          </p:cNvPr>
          <p:cNvSpPr>
            <a:spLocks xmlns:a="http://schemas.openxmlformats.org/drawingml/2006/main" noGrp="1"/>
          </p:cNvSpPr>
          <p:nvPr/>
        </p:nvSpPr>
        <p:spPr>
          <a:xfrm xmlns:a="http://schemas.openxmlformats.org/drawingml/2006/main">
            <a:off x="9658350" y="3105150"/>
            <a:ext cx="20764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2B28"/>
                </a:solidFill>
                <a:latin typeface="Calibri"/>
                <a:ea typeface="Calibri"/>
                <a:cs typeface="Calibri"/>
              </a:defRPr>
            </a:pPr>
            <a:r>
              <a:rPr sz="2025" b="1">
                <a:solidFill>
                  <a:srgbClr val="002B28"/>
                </a:solidFill>
                <a:latin typeface="Calibri"/>
                <a:ea typeface="Calibri"/>
                <a:cs typeface="Calibri"/>
              </a:rPr>
              <a:t>Tenggat dan</a:t>
            </a:r>
          </a:p>
          <a:p xmlns:a="http://schemas.openxmlformats.org/drawingml/2006/main">
            <a:pPr>
              <a:defRPr sz="2025" b="1">
                <a:solidFill>
                  <a:srgbClr val="002B28"/>
                </a:solidFill>
                <a:latin typeface="Calibri"/>
                <a:ea typeface="Calibri"/>
                <a:cs typeface="Calibri"/>
              </a:defRPr>
            </a:pPr>
            <a:r>
              <a:rPr sz="2025" b="1">
                <a:solidFill>
                  <a:srgbClr val="002B28"/>
                </a:solidFill>
                <a:latin typeface="Calibri"/>
                <a:ea typeface="Calibri"/>
                <a:cs typeface="Calibri"/>
              </a:rPr>
              <a:t>biaya yang</a:t>
            </a:r>
          </a:p>
          <a:p xmlns:a="http://schemas.openxmlformats.org/drawingml/2006/main">
            <a:pPr>
              <a:defRPr sz="2025" b="1">
                <a:solidFill>
                  <a:srgbClr val="002B28"/>
                </a:solidFill>
                <a:latin typeface="Calibri"/>
                <a:ea typeface="Calibri"/>
                <a:cs typeface="Calibri"/>
              </a:defRPr>
            </a:pPr>
            <a:r>
              <a:rPr sz="2025" b="1">
                <a:solidFill>
                  <a:srgbClr val="002B28"/>
                </a:solidFill>
                <a:latin typeface="Calibri"/>
                <a:ea typeface="Calibri"/>
                <a:cs typeface="Calibri"/>
              </a:rPr>
              <a:t>bisa ditanggung.</a:t>
            </a:r>
          </a:p>
        </p:txBody>
      </p:sp>
      <p:sp>
        <p:nvSpPr>
          <p:cNvPr id="26" name="">
            <a:extLst xmlns:a="http://schemas.openxmlformats.org/drawingml/2006/main">
              <a:ext uri="{FF2B5EF4-FFF2-40B4-BE49-F238E27FC236}">
                <a16:creationId xmlns:a16="http://schemas.microsoft.com/office/drawing/2014/main" id="{814920D1-78C7-46CB-961E-0E3F0DA31858}"/>
              </a:ext>
            </a:extLst>
          </p:cNvPr>
          <p:cNvSpPr>
            <a:spLocks xmlns:a="http://schemas.openxmlformats.org/drawingml/2006/main" noGrp="1"/>
          </p:cNvSpPr>
          <p:nvPr/>
        </p:nvSpPr>
        <p:spPr>
          <a:xfrm xmlns:a="http://schemas.openxmlformats.org/drawingml/2006/main">
            <a:off x="9658350" y="4781550"/>
            <a:ext cx="2076450" cy="0"/>
          </a:xfrm>
          <a:prstGeom xmlns:a="http://schemas.openxmlformats.org/drawingml/2006/main" prst="line">
            <a:avLst/>
          </a:prstGeom>
          <a:noFill xmlns:a="http://schemas.openxmlformats.org/drawingml/2006/main"/>
          <a:ln xmlns:a="http://schemas.openxmlformats.org/drawingml/2006/main" w="19050">
            <a:solidFill>
              <a:srgbClr val="95BBA9"/>
            </a:solidFill>
          </a:ln>
        </p:spPr>
      </p:sp>
      <p:sp>
        <p:nvSpPr>
          <p:cNvPr id="27" name="text-174">
            <a:extLst xmlns:a="http://schemas.openxmlformats.org/drawingml/2006/main">
              <a:ext uri="{FF2B5EF4-FFF2-40B4-BE49-F238E27FC236}">
                <a16:creationId xmlns:a16="http://schemas.microsoft.com/office/drawing/2014/main" id="{87021C40-1C85-4703-B0AA-CADC19AA2DDA}"/>
              </a:ext>
            </a:extLst>
          </p:cNvPr>
          <p:cNvSpPr>
            <a:spLocks xmlns:a="http://schemas.openxmlformats.org/drawingml/2006/main" noGrp="1"/>
          </p:cNvSpPr>
          <p:nvPr/>
        </p:nvSpPr>
        <p:spPr>
          <a:xfrm xmlns:a="http://schemas.openxmlformats.org/drawingml/2006/main">
            <a:off x="9658350" y="4981575"/>
            <a:ext cx="20764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B6C65"/>
                </a:solidFill>
                <a:latin typeface="Calibri"/>
                <a:ea typeface="Calibri"/>
                <a:cs typeface="Calibri"/>
              </a:defRPr>
            </a:pPr>
            <a:r>
              <a:rPr sz="1500" b="0">
                <a:solidFill>
                  <a:srgbClr val="5B6C65"/>
                </a:solidFill>
                <a:latin typeface="Calibri"/>
                <a:ea typeface="Calibri"/>
                <a:cs typeface="Calibri"/>
              </a:rPr>
              <a:t>Isi untuk bisnismu</a:t>
            </a:r>
          </a:p>
        </p:txBody>
      </p:sp>
      <p:sp>
        <p:nvSpPr>
          <p:cNvPr id="28" name="">
            <a:extLst xmlns:a="http://schemas.openxmlformats.org/drawingml/2006/main">
              <a:ext uri="{FF2B5EF4-FFF2-40B4-BE49-F238E27FC236}">
                <a16:creationId xmlns:a16="http://schemas.microsoft.com/office/drawing/2014/main" id="{356F3BFE-8561-45A0-9FF8-CF0F536205A0}"/>
              </a:ext>
            </a:extLst>
          </p:cNvPr>
          <p:cNvSpPr>
            <a:spLocks xmlns:a="http://schemas.openxmlformats.org/drawingml/2006/main" noGrp="1"/>
          </p:cNvSpPr>
          <p:nvPr/>
        </p:nvSpPr>
        <p:spPr>
          <a:xfrm xmlns:a="http://schemas.openxmlformats.org/drawingml/2006/main">
            <a:off x="457200" y="5543550"/>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29" name="text-175">
            <a:extLst xmlns:a="http://schemas.openxmlformats.org/drawingml/2006/main">
              <a:ext uri="{FF2B5EF4-FFF2-40B4-BE49-F238E27FC236}">
                <a16:creationId xmlns:a16="http://schemas.microsoft.com/office/drawing/2014/main" id="{8341CEF3-DC1D-46BD-9781-BF727381B66D}"/>
              </a:ext>
            </a:extLst>
          </p:cNvPr>
          <p:cNvSpPr>
            <a:spLocks xmlns:a="http://schemas.openxmlformats.org/drawingml/2006/main" noGrp="1"/>
          </p:cNvSpPr>
          <p:nvPr/>
        </p:nvSpPr>
        <p:spPr>
          <a:xfrm xmlns:a="http://schemas.openxmlformats.org/drawingml/2006/main">
            <a:off x="457200" y="5743575"/>
            <a:ext cx="1123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87958"/>
                </a:solidFill>
                <a:latin typeface="Calibri"/>
                <a:ea typeface="Calibri"/>
                <a:cs typeface="Calibri"/>
              </a:defRPr>
            </a:pPr>
            <a:r>
              <a:rPr sz="1875" b="1">
                <a:solidFill>
                  <a:srgbClr val="087958"/>
                </a:solidFill>
                <a:latin typeface="Calibri"/>
                <a:ea typeface="Calibri"/>
                <a:cs typeface="Calibri"/>
              </a:rPr>
              <a:t>Siap belajar. Tahu batas. Berani mengambil langkah berikutnya.</a:t>
            </a:r>
          </a:p>
        </p:txBody>
      </p:sp>
    </p:spTree>
    <p:extLst>
      <p:ext uri="{BB962C8B-B14F-4D97-AF65-F5344CB8AC3E}">
        <p14:creationId xmlns:p14="http://schemas.microsoft.com/office/powerpoint/2010/main" val="8207473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2026-10-06T07:09:04.4310000Z</dcterms:created>
  <dcterms:modified xsi:type="dcterms:W3CDTF">2026-10-06T07:09:04.4310000Z</dcterms:modified>
</coreProperties>
</file>