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86" autoAdjust="0"/>
    <p:restoredTop sz="94660"/>
  </p:normalViewPr>
  <p:slideViewPr>
    <p:cSldViewPr snapToGrid="0">
      <p:cViewPr varScale="1">
        <p:scale>
          <a:sx n="98" d="100"/>
          <a:sy n="98" d="100"/>
        </p:scale>
        <p:origin x="3208" y="20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
        </c:manualLayout>
      </c:layout>
      <c:overlay val="0"/>
    </c:title>
    <c:autoTitleDeleted val="0"/>
    <c:plotArea>
      <c:layout>
        <c:manualLayout>
          <c:layoutTarget val="inner"/>
          <c:xMode val="edge"/>
          <c:yMode val="edge"/>
          <c:x val="0.09"/>
          <c:y val="0.15"/>
          <c:w val="0.88"/>
          <c:h val="0.57999999999999996"/>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8C0-EB4C-B342-3B65793A0F4B}"/>
                </c:ext>
              </c:extLst>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8C0-EB4C-B342-3B65793A0F4B}"/>
                </c:ext>
              </c:extLst>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C0-EB4C-B342-3B65793A0F4B}"/>
                </c:ext>
              </c:extLst>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C0-EB4C-B342-3B65793A0F4B}"/>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3.9262999999999999</c:v>
                </c:pt>
                <c:pt idx="1">
                  <c:v>4.1188000000000002</c:v>
                </c:pt>
                <c:pt idx="2">
                  <c:v>4.2161999999999997</c:v>
                </c:pt>
                <c:pt idx="3">
                  <c:v>4.3899999999999997</c:v>
                </c:pt>
                <c:pt idx="4">
                  <c:v>4.4856999999999996</c:v>
                </c:pt>
                <c:pt idx="5">
                  <c:v>4.5990000000000002</c:v>
                </c:pt>
                <c:pt idx="6">
                  <c:v>4.6467000000000001</c:v>
                </c:pt>
                <c:pt idx="7">
                  <c:v>4.6866000000000003</c:v>
                </c:pt>
                <c:pt idx="8">
                  <c:v>4.6978</c:v>
                </c:pt>
                <c:pt idx="9">
                  <c:v>4.6818999999999997</c:v>
                </c:pt>
              </c:numCache>
            </c:numRef>
          </c:val>
          <c:smooth val="0"/>
          <c:extLst>
            <c:ext xmlns:c16="http://schemas.microsoft.com/office/drawing/2014/chart" uri="{C3380CC4-5D6E-409C-BE32-E72D297353CC}">
              <c16:uniqueId val="{00000004-B8C0-EB4C-B342-3B65793A0F4B}"/>
            </c:ext>
          </c:extLst>
        </c:ser>
        <c:dLbls>
          <c:showLegendKey val="0"/>
          <c:showVal val="0"/>
          <c:showCatName val="0"/>
          <c:showSerName val="0"/>
          <c:showPercent val="0"/>
          <c:showBubbleSize val="0"/>
        </c:dLbls>
        <c:marker val="1"/>
        <c:smooth val="0"/>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000000000000001"/>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0.54239999999999999</c:v>
                </c:pt>
                <c:pt idx="1">
                  <c:v>0.58409999999999995</c:v>
                </c:pt>
                <c:pt idx="2">
                  <c:v>0.58760000000000001</c:v>
                </c:pt>
                <c:pt idx="3">
                  <c:v>0.62429999999999997</c:v>
                </c:pt>
                <c:pt idx="4">
                  <c:v>0.6421</c:v>
                </c:pt>
                <c:pt idx="5">
                  <c:v>0.64539999999999997</c:v>
                </c:pt>
                <c:pt idx="6">
                  <c:v>0.6431</c:v>
                </c:pt>
                <c:pt idx="7">
                  <c:v>0.65759999999999996</c:v>
                </c:pt>
                <c:pt idx="8">
                  <c:v>0.67459999999999998</c:v>
                </c:pt>
                <c:pt idx="9">
                  <c:v>0.67879999999999996</c:v>
                </c:pt>
                <c:pt idx="10">
                  <c:v>0.68559999999999999</c:v>
                </c:pt>
                <c:pt idx="11">
                  <c:v>0.64790000000000003</c:v>
                </c:pt>
                <c:pt idx="12">
                  <c:v>0.68130000000000002</c:v>
                </c:pt>
                <c:pt idx="13">
                  <c:v>0.68789999999999996</c:v>
                </c:pt>
                <c:pt idx="14">
                  <c:v>0.7</c:v>
                </c:pt>
                <c:pt idx="15">
                  <c:v>0.71430000000000005</c:v>
                </c:pt>
                <c:pt idx="16">
                  <c:v>0.7</c:v>
                </c:pt>
                <c:pt idx="17">
                  <c:v>0.65900000000000003</c:v>
                </c:pt>
                <c:pt idx="18">
                  <c:v>0.64359999999999995</c:v>
                </c:pt>
                <c:pt idx="19">
                  <c:v>0.76770000000000005</c:v>
                </c:pt>
                <c:pt idx="20">
                  <c:v>0.77959999999999996</c:v>
                </c:pt>
                <c:pt idx="21">
                  <c:v>0.83320000000000005</c:v>
                </c:pt>
                <c:pt idx="22">
                  <c:v>0.78400000000000003</c:v>
                </c:pt>
                <c:pt idx="23">
                  <c:v>0.748</c:v>
                </c:pt>
                <c:pt idx="24">
                  <c:v>0.75139999999999996</c:v>
                </c:pt>
                <c:pt idx="25">
                  <c:v>0.77059999999999995</c:v>
                </c:pt>
                <c:pt idx="26">
                  <c:v>0.77590000000000003</c:v>
                </c:pt>
                <c:pt idx="27">
                  <c:v>0.81679999999999997</c:v>
                </c:pt>
                <c:pt idx="28">
                  <c:v>0.81459999999999999</c:v>
                </c:pt>
                <c:pt idx="29">
                  <c:v>0.82199999999999995</c:v>
                </c:pt>
                <c:pt idx="30">
                  <c:v>0.79969999999999997</c:v>
                </c:pt>
                <c:pt idx="31">
                  <c:v>0.84809999999999997</c:v>
                </c:pt>
                <c:pt idx="32">
                  <c:v>0.89039999999999997</c:v>
                </c:pt>
                <c:pt idx="33">
                  <c:v>0.86629999999999996</c:v>
                </c:pt>
                <c:pt idx="34">
                  <c:v>0.76739999999999997</c:v>
                </c:pt>
                <c:pt idx="35">
                  <c:v>0.8115</c:v>
                </c:pt>
                <c:pt idx="36">
                  <c:v>0.83550000000000002</c:v>
                </c:pt>
                <c:pt idx="37">
                  <c:v>0.78380000000000005</c:v>
                </c:pt>
                <c:pt idx="38">
                  <c:v>0.73350000000000004</c:v>
                </c:pt>
                <c:pt idx="39">
                  <c:v>0.74519999999999997</c:v>
                </c:pt>
                <c:pt idx="40">
                  <c:v>0.75319999999999998</c:v>
                </c:pt>
                <c:pt idx="41">
                  <c:v>0.72360000000000002</c:v>
                </c:pt>
                <c:pt idx="42">
                  <c:v>0.75939999999999996</c:v>
                </c:pt>
                <c:pt idx="43">
                  <c:v>0.77900000000000003</c:v>
                </c:pt>
                <c:pt idx="44">
                  <c:v>0.7198</c:v>
                </c:pt>
                <c:pt idx="45">
                  <c:v>0.75349999999999995</c:v>
                </c:pt>
                <c:pt idx="46">
                  <c:v>0.67669999999999997</c:v>
                </c:pt>
                <c:pt idx="47">
                  <c:v>0.75580000000000003</c:v>
                </c:pt>
                <c:pt idx="48">
                  <c:v>0.70340000000000003</c:v>
                </c:pt>
                <c:pt idx="49">
                  <c:v>0.75639999999999996</c:v>
                </c:pt>
                <c:pt idx="50">
                  <c:v>0.7137</c:v>
                </c:pt>
                <c:pt idx="51">
                  <c:v>0.69310000000000005</c:v>
                </c:pt>
                <c:pt idx="52">
                  <c:v>0.70530000000000004</c:v>
                </c:pt>
                <c:pt idx="53">
                  <c:v>0.66579999999999995</c:v>
                </c:pt>
                <c:pt idx="54">
                  <c:v>0.60680000000000001</c:v>
                </c:pt>
                <c:pt idx="55">
                  <c:v>0.63200000000000001</c:v>
                </c:pt>
                <c:pt idx="56">
                  <c:v>0.57579999999999998</c:v>
                </c:pt>
                <c:pt idx="57">
                  <c:v>0.57169999999999999</c:v>
                </c:pt>
                <c:pt idx="58">
                  <c:v>0.64180000000000004</c:v>
                </c:pt>
                <c:pt idx="59">
                  <c:v>0.72650000000000003</c:v>
                </c:pt>
                <c:pt idx="60">
                  <c:v>0.77149999999999996</c:v>
                </c:pt>
                <c:pt idx="61">
                  <c:v>0.78969999999999996</c:v>
                </c:pt>
                <c:pt idx="62">
                  <c:v>0.84379999999999999</c:v>
                </c:pt>
                <c:pt idx="63">
                  <c:v>0.88500000000000001</c:v>
                </c:pt>
                <c:pt idx="64">
                  <c:v>0.90469999999999995</c:v>
                </c:pt>
                <c:pt idx="65">
                  <c:v>0.91369999999999996</c:v>
                </c:pt>
              </c:numCache>
            </c:numRef>
          </c:val>
          <c:smooth val="0"/>
          <c:extLst>
            <c:ext xmlns:c16="http://schemas.microsoft.com/office/drawing/2014/chart" uri="{C3380CC4-5D6E-409C-BE32-E72D297353CC}">
              <c16:uniqueId val="{00000001-4B92-6846-9915-73B46E07B615}"/>
            </c:ext>
          </c:extLst>
        </c:ser>
        <c:dLbls>
          <c:showLegendKey val="0"/>
          <c:showVal val="0"/>
          <c:showCatName val="0"/>
          <c:showSerName val="0"/>
          <c:showPercent val="0"/>
          <c:showBubbleSize val="0"/>
        </c:dLbls>
        <c:marker val="1"/>
        <c:smooth val="0"/>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7.0000000000000007E-2"/>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4.4790999999999999</c:v>
                </c:pt>
                <c:pt idx="1">
                  <c:v>4.4832000000000001</c:v>
                </c:pt>
                <c:pt idx="2">
                  <c:v>4.4692999999999996</c:v>
                </c:pt>
                <c:pt idx="3">
                  <c:v>4.5510999999999999</c:v>
                </c:pt>
                <c:pt idx="4">
                  <c:v>4.5792000000000002</c:v>
                </c:pt>
                <c:pt idx="5">
                  <c:v>4.5510999999999999</c:v>
                </c:pt>
                <c:pt idx="6">
                  <c:v>4.5612000000000004</c:v>
                </c:pt>
                <c:pt idx="7">
                  <c:v>4.6237000000000004</c:v>
                </c:pt>
                <c:pt idx="8">
                  <c:v>4.5894000000000004</c:v>
                </c:pt>
                <c:pt idx="9">
                  <c:v>4.5472999999999999</c:v>
                </c:pt>
                <c:pt idx="10">
                  <c:v>4.5533999999999999</c:v>
                </c:pt>
                <c:pt idx="11">
                  <c:v>4.5473999999999997</c:v>
                </c:pt>
                <c:pt idx="12">
                  <c:v>4.5917000000000003</c:v>
                </c:pt>
                <c:pt idx="13">
                  <c:v>4.6280999999999999</c:v>
                </c:pt>
                <c:pt idx="14">
                  <c:v>4.6544999999999996</c:v>
                </c:pt>
                <c:pt idx="15">
                  <c:v>4.6932</c:v>
                </c:pt>
                <c:pt idx="16">
                  <c:v>4.6771000000000003</c:v>
                </c:pt>
                <c:pt idx="17">
                  <c:v>4.6486999999999998</c:v>
                </c:pt>
                <c:pt idx="18">
                  <c:v>4.6062000000000003</c:v>
                </c:pt>
                <c:pt idx="19">
                  <c:v>4.6772999999999998</c:v>
                </c:pt>
                <c:pt idx="20">
                  <c:v>4.6733000000000002</c:v>
                </c:pt>
                <c:pt idx="21">
                  <c:v>4.7347000000000001</c:v>
                </c:pt>
                <c:pt idx="22">
                  <c:v>4.6755000000000004</c:v>
                </c:pt>
                <c:pt idx="23">
                  <c:v>4.6125999999999996</c:v>
                </c:pt>
                <c:pt idx="24">
                  <c:v>4.6127000000000002</c:v>
                </c:pt>
                <c:pt idx="25">
                  <c:v>4.6778000000000004</c:v>
                </c:pt>
                <c:pt idx="26">
                  <c:v>4.6454000000000004</c:v>
                </c:pt>
                <c:pt idx="27">
                  <c:v>4.7066999999999997</c:v>
                </c:pt>
                <c:pt idx="28">
                  <c:v>4.6882999999999999</c:v>
                </c:pt>
                <c:pt idx="29">
                  <c:v>4.6924999999999999</c:v>
                </c:pt>
                <c:pt idx="30">
                  <c:v>4.6426999999999996</c:v>
                </c:pt>
                <c:pt idx="31">
                  <c:v>4.6921999999999997</c:v>
                </c:pt>
                <c:pt idx="32">
                  <c:v>4.7218999999999998</c:v>
                </c:pt>
                <c:pt idx="33">
                  <c:v>4.7041000000000004</c:v>
                </c:pt>
                <c:pt idx="34">
                  <c:v>4.6466000000000003</c:v>
                </c:pt>
                <c:pt idx="35">
                  <c:v>4.7041000000000004</c:v>
                </c:pt>
                <c:pt idx="36">
                  <c:v>4.7339000000000002</c:v>
                </c:pt>
                <c:pt idx="37">
                  <c:v>4.6961000000000004</c:v>
                </c:pt>
                <c:pt idx="38">
                  <c:v>4.6288</c:v>
                </c:pt>
                <c:pt idx="39">
                  <c:v>4.6464999999999996</c:v>
                </c:pt>
                <c:pt idx="40">
                  <c:v>4.6761999999999997</c:v>
                </c:pt>
                <c:pt idx="41">
                  <c:v>4.718</c:v>
                </c:pt>
                <c:pt idx="42">
                  <c:v>4.75</c:v>
                </c:pt>
                <c:pt idx="43">
                  <c:v>4.7980999999999998</c:v>
                </c:pt>
                <c:pt idx="44">
                  <c:v>4.7779999999999996</c:v>
                </c:pt>
                <c:pt idx="45">
                  <c:v>4.7679999999999998</c:v>
                </c:pt>
                <c:pt idx="46">
                  <c:v>4.7820999999999998</c:v>
                </c:pt>
                <c:pt idx="47">
                  <c:v>4.7881999999999998</c:v>
                </c:pt>
                <c:pt idx="48">
                  <c:v>4.8406000000000002</c:v>
                </c:pt>
                <c:pt idx="49">
                  <c:v>4.9626000000000001</c:v>
                </c:pt>
                <c:pt idx="50">
                  <c:v>4.9668999999999999</c:v>
                </c:pt>
                <c:pt idx="51">
                  <c:v>4.9874999999999998</c:v>
                </c:pt>
                <c:pt idx="52">
                  <c:v>5.0019</c:v>
                </c:pt>
                <c:pt idx="53">
                  <c:v>5.0225</c:v>
                </c:pt>
                <c:pt idx="54">
                  <c:v>4.9303999999999997</c:v>
                </c:pt>
                <c:pt idx="55">
                  <c:v>4.9961000000000002</c:v>
                </c:pt>
                <c:pt idx="56">
                  <c:v>4.9509999999999996</c:v>
                </c:pt>
                <c:pt idx="57">
                  <c:v>4.9612999999999996</c:v>
                </c:pt>
                <c:pt idx="58">
                  <c:v>5.1142000000000003</c:v>
                </c:pt>
                <c:pt idx="59">
                  <c:v>5.1978</c:v>
                </c:pt>
                <c:pt idx="60">
                  <c:v>5.1604000000000001</c:v>
                </c:pt>
                <c:pt idx="61">
                  <c:v>5.2361000000000004</c:v>
                </c:pt>
                <c:pt idx="62">
                  <c:v>5.2362000000000002</c:v>
                </c:pt>
                <c:pt idx="63">
                  <c:v>5.2849000000000004</c:v>
                </c:pt>
                <c:pt idx="64">
                  <c:v>5.2407000000000004</c:v>
                </c:pt>
                <c:pt idx="65">
                  <c:v>5.2706</c:v>
                </c:pt>
              </c:numCache>
            </c:numRef>
          </c:val>
          <c:smooth val="0"/>
          <c:extLst>
            <c:ext xmlns:c16="http://schemas.microsoft.com/office/drawing/2014/chart" uri="{C3380CC4-5D6E-409C-BE32-E72D297353CC}">
              <c16:uniqueId val="{00000003-4B92-6846-9915-73B46E07B615}"/>
            </c:ext>
          </c:extLst>
        </c:ser>
        <c:dLbls>
          <c:showLegendKey val="0"/>
          <c:showVal val="0"/>
          <c:showCatName val="0"/>
          <c:showSerName val="0"/>
          <c:showPercent val="0"/>
          <c:showBubbleSize val="0"/>
        </c:dLbls>
        <c:marker val="1"/>
        <c:smooth val="0"/>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extLst>
              <c:ext xmlns:c16="http://schemas.microsoft.com/office/drawing/2014/chart" uri="{C3380CC4-5D6E-409C-BE32-E72D297353CC}">
                <c16:uniqueId val="{00000001-739D-CD47-AFD7-CA1BC6FEED5E}"/>
              </c:ext>
            </c:extLst>
          </c:dPt>
          <c:dPt>
            <c:idx val="1"/>
            <c:invertIfNegative val="0"/>
            <c:bubble3D val="0"/>
            <c:spPr>
              <a:solidFill>
                <a:srgbClr val="002060"/>
              </a:solidFill>
              <a:ln>
                <a:noFill/>
              </a:ln>
            </c:spPr>
            <c:extLst>
              <c:ext xmlns:c16="http://schemas.microsoft.com/office/drawing/2014/chart" uri="{C3380CC4-5D6E-409C-BE32-E72D297353CC}">
                <c16:uniqueId val="{00000003-739D-CD47-AFD7-CA1BC6FEED5E}"/>
              </c:ext>
            </c:extLst>
          </c:dPt>
          <c:dPt>
            <c:idx val="2"/>
            <c:invertIfNegative val="0"/>
            <c:bubble3D val="0"/>
            <c:extLst>
              <c:ext xmlns:c16="http://schemas.microsoft.com/office/drawing/2014/chart" uri="{C3380CC4-5D6E-409C-BE32-E72D297353CC}">
                <c16:uniqueId val="{00000005-739D-CD47-AFD7-CA1BC6FEED5E}"/>
              </c:ext>
            </c:extLst>
          </c:dPt>
          <c:dPt>
            <c:idx val="3"/>
            <c:invertIfNegative val="0"/>
            <c:bubble3D val="0"/>
            <c:extLst>
              <c:ext xmlns:c16="http://schemas.microsoft.com/office/drawing/2014/chart" uri="{C3380CC4-5D6E-409C-BE32-E72D297353CC}">
                <c16:uniqueId val="{00000007-739D-CD47-AFD7-CA1BC6FEED5E}"/>
              </c:ext>
            </c:extLst>
          </c:dPt>
          <c:dPt>
            <c:idx val="4"/>
            <c:invertIfNegative val="0"/>
            <c:bubble3D val="0"/>
            <c:extLst>
              <c:ext xmlns:c16="http://schemas.microsoft.com/office/drawing/2014/chart" uri="{C3380CC4-5D6E-409C-BE32-E72D297353CC}">
                <c16:uniqueId val="{00000009-739D-CD47-AFD7-CA1BC6FEED5E}"/>
              </c:ext>
            </c:extLst>
          </c:dPt>
          <c:dPt>
            <c:idx val="5"/>
            <c:invertIfNegative val="0"/>
            <c:bubble3D val="0"/>
            <c:extLst>
              <c:ext xmlns:c16="http://schemas.microsoft.com/office/drawing/2014/chart" uri="{C3380CC4-5D6E-409C-BE32-E72D297353CC}">
                <c16:uniqueId val="{0000000B-739D-CD47-AFD7-CA1BC6FEED5E}"/>
              </c:ext>
            </c:extLst>
          </c:dPt>
          <c:dPt>
            <c:idx val="6"/>
            <c:invertIfNegative val="0"/>
            <c:bubble3D val="0"/>
            <c:extLst>
              <c:ext xmlns:c16="http://schemas.microsoft.com/office/drawing/2014/chart" uri="{C3380CC4-5D6E-409C-BE32-E72D297353CC}">
                <c16:uniqueId val="{0000000D-739D-CD47-AFD7-CA1BC6FEED5E}"/>
              </c:ext>
            </c:extLst>
          </c:dPt>
          <c:dLbls>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85.464168317654995</c:v>
                </c:pt>
                <c:pt idx="1">
                  <c:v>1.5497398175096102</c:v>
                </c:pt>
                <c:pt idx="2">
                  <c:v>10.300110590980015</c:v>
                </c:pt>
                <c:pt idx="3">
                  <c:v>8.9680270340525059</c:v>
                </c:pt>
                <c:pt idx="4">
                  <c:v>8.4608030592734362</c:v>
                </c:pt>
                <c:pt idx="5">
                  <c:v>7.0117034034986148</c:v>
                </c:pt>
                <c:pt idx="6">
                  <c:v>-26.991945000256521</c:v>
                </c:pt>
              </c:numCache>
            </c:numRef>
          </c:val>
          <c:extLst>
            <c:ext xmlns:c16="http://schemas.microsoft.com/office/drawing/2014/chart" uri="{C3380CC4-5D6E-409C-BE32-E72D297353CC}">
              <c16:uniqueId val="{0000000E-739D-CD47-AFD7-CA1BC6FEED5E}"/>
            </c:ext>
          </c:extLst>
        </c:ser>
        <c:dLbls>
          <c:showLegendKey val="0"/>
          <c:showVal val="0"/>
          <c:showCatName val="0"/>
          <c:showSerName val="0"/>
          <c:showPercent val="0"/>
          <c:showBubbleSize val="0"/>
        </c:dLbls>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crossAx val="1301"/>
        <c:crosses val="autoZero"/>
        <c:crossBetween val="between"/>
        <c:majorUnit val="2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Sheet1!$B$2:$B$3</c:f>
              <c:numCache>
                <c:formatCode>0.00</c:formatCode>
                <c:ptCount val="2"/>
                <c:pt idx="0">
                  <c:v>15</c:v>
                </c:pt>
                <c:pt idx="1">
                  <c:v>62</c:v>
                </c:pt>
              </c:numCache>
            </c:numRef>
          </c:val>
          <c:extLst>
            <c:ext xmlns:c16="http://schemas.microsoft.com/office/drawing/2014/chart" uri="{C3380CC4-5D6E-409C-BE32-E72D297353CC}">
              <c16:uniqueId val="{00000000-E3D5-3B4D-B5F6-0A7B4F64CBB6}"/>
            </c:ext>
          </c:extLst>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Sheet1!$C$2:$C$3</c:f>
              <c:numCache>
                <c:formatCode>0.00</c:formatCode>
                <c:ptCount val="2"/>
                <c:pt idx="0">
                  <c:v>22.5</c:v>
                </c:pt>
                <c:pt idx="1">
                  <c:v>45</c:v>
                </c:pt>
              </c:numCache>
            </c:numRef>
          </c:val>
          <c:extLst>
            <c:ext xmlns:c16="http://schemas.microsoft.com/office/drawing/2014/chart" uri="{C3380CC4-5D6E-409C-BE32-E72D297353CC}">
              <c16:uniqueId val="{00000001-E3D5-3B4D-B5F6-0A7B4F64CBB6}"/>
            </c:ext>
          </c:extLst>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Sheet1!$D$2:$D$3</c:f>
              <c:numCache>
                <c:formatCode>0.00</c:formatCode>
                <c:ptCount val="2"/>
                <c:pt idx="0">
                  <c:v>30</c:v>
                </c:pt>
                <c:pt idx="1">
                  <c:v>25</c:v>
                </c:pt>
              </c:numCache>
            </c:numRef>
          </c:val>
          <c:extLst>
            <c:ext xmlns:c16="http://schemas.microsoft.com/office/drawing/2014/chart" uri="{C3380CC4-5D6E-409C-BE32-E72D297353CC}">
              <c16:uniqueId val="{00000002-E3D5-3B4D-B5F6-0A7B4F64CBB6}"/>
            </c:ext>
          </c:extLst>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Sheet1!$E$2:$E$3</c:f>
              <c:numCache>
                <c:formatCode>0.00</c:formatCode>
                <c:ptCount val="2"/>
                <c:pt idx="0">
                  <c:v>25.75</c:v>
                </c:pt>
                <c:pt idx="1">
                  <c:v>25</c:v>
                </c:pt>
              </c:numCache>
            </c:numRef>
          </c:val>
          <c:extLst>
            <c:ext xmlns:c16="http://schemas.microsoft.com/office/drawing/2014/chart" uri="{C3380CC4-5D6E-409C-BE32-E72D297353CC}">
              <c16:uniqueId val="{00000003-E3D5-3B4D-B5F6-0A7B4F64CBB6}"/>
            </c:ext>
          </c:extLst>
        </c:ser>
        <c:dLbls>
          <c:showLegendKey val="0"/>
          <c:showVal val="0"/>
          <c:showCatName val="0"/>
          <c:showSerName val="0"/>
          <c:showPercent val="0"/>
          <c:showBubbleSize val="0"/>
        </c:dLbls>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4-E3D5-3B4D-B5F6-0A7B4F64CBB6}"/>
                </c:ext>
              </c:extLst>
            </c:dLbl>
            <c:dLbl>
              <c:idx val="1"/>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5-E3D5-3B4D-B5F6-0A7B4F64CBB6}"/>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Sheet1!$F$2:$F$3</c:f>
              <c:numCache>
                <c:formatCode>0.00</c:formatCode>
                <c:ptCount val="2"/>
                <c:pt idx="0">
                  <c:v>93.25</c:v>
                </c:pt>
                <c:pt idx="1">
                  <c:v>157</c:v>
                </c:pt>
              </c:numCache>
            </c:numRef>
          </c:val>
          <c:smooth val="0"/>
          <c:extLst>
            <c:ext xmlns:c16="http://schemas.microsoft.com/office/drawing/2014/chart" uri="{C3380CC4-5D6E-409C-BE32-E72D297353CC}">
              <c16:uniqueId val="{00000006-E3D5-3B4D-B5F6-0A7B4F64CBB6}"/>
            </c:ext>
          </c:extLst>
        </c:ser>
        <c:dLbls>
          <c:showLegendKey val="0"/>
          <c:showVal val="0"/>
          <c:showCatName val="0"/>
          <c:showSerName val="0"/>
          <c:showPercent val="0"/>
          <c:showBubbleSize val="0"/>
        </c:dLbls>
        <c:marker val="1"/>
        <c:smooth val="0"/>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5"/>
          <c:w val="0.76"/>
          <c:h val="0.56000000000000005"/>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8A-A64A-82B2-25811682798F}"/>
                </c:ext>
              </c:extLst>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149.93260000000001</c:v>
                </c:pt>
                <c:pt idx="1">
                  <c:v>150.06100000000001</c:v>
                </c:pt>
                <c:pt idx="2">
                  <c:v>156.471</c:v>
                </c:pt>
                <c:pt idx="3">
                  <c:v>154.5805</c:v>
                </c:pt>
                <c:pt idx="4">
                  <c:v>151.90119999999999</c:v>
                </c:pt>
                <c:pt idx="5">
                  <c:v>148.15020000000001</c:v>
                </c:pt>
                <c:pt idx="6">
                  <c:v>146.202</c:v>
                </c:pt>
                <c:pt idx="7">
                  <c:v>144.89840000000001</c:v>
                </c:pt>
                <c:pt idx="8">
                  <c:v>145.59360000000001</c:v>
                </c:pt>
                <c:pt idx="9">
                  <c:v>145.34379999999999</c:v>
                </c:pt>
                <c:pt idx="10">
                  <c:v>146.5076</c:v>
                </c:pt>
              </c:numCache>
            </c:numRef>
          </c:val>
          <c:smooth val="0"/>
          <c:extLst>
            <c:ext xmlns:c16="http://schemas.microsoft.com/office/drawing/2014/chart" uri="{C3380CC4-5D6E-409C-BE32-E72D297353CC}">
              <c16:uniqueId val="{00000002-EA8A-A64A-82B2-25811682798F}"/>
            </c:ext>
          </c:extLst>
        </c:ser>
        <c:dLbls>
          <c:showLegendKey val="0"/>
          <c:showVal val="0"/>
          <c:showCatName val="0"/>
          <c:showSerName val="0"/>
          <c:showPercent val="0"/>
          <c:showBubbleSize val="0"/>
        </c:dLbls>
        <c:marker val="1"/>
        <c:smooth val="0"/>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c:v>
                </c:pt>
                <c:pt idx="1">
                  <c:v>16660</c:v>
                </c:pt>
                <c:pt idx="2">
                  <c:v>16690</c:v>
                </c:pt>
                <c:pt idx="3">
                  <c:v>16785</c:v>
                </c:pt>
                <c:pt idx="4">
                  <c:v>16771</c:v>
                </c:pt>
                <c:pt idx="5">
                  <c:v>16995</c:v>
                </c:pt>
                <c:pt idx="6">
                  <c:v>17353</c:v>
                </c:pt>
                <c:pt idx="7">
                  <c:v>17874</c:v>
                </c:pt>
                <c:pt idx="8">
                  <c:v>17882</c:v>
                </c:pt>
                <c:pt idx="9">
                  <c:v>18000</c:v>
                </c:pt>
                <c:pt idx="10">
                  <c:v>17720</c:v>
                </c:pt>
              </c:numCache>
            </c:numRef>
          </c:val>
          <c:smooth val="0"/>
          <c:extLst>
            <c:ext xmlns:c16="http://schemas.microsoft.com/office/drawing/2014/chart" uri="{C3380CC4-5D6E-409C-BE32-E72D297353CC}">
              <c16:uniqueId val="{00000004-EA8A-A64A-82B2-25811682798F}"/>
            </c:ext>
          </c:extLst>
        </c:ser>
        <c:dLbls>
          <c:showLegendKey val="0"/>
          <c:showVal val="0"/>
          <c:showCatName val="0"/>
          <c:showSerName val="0"/>
          <c:showPercent val="0"/>
          <c:showBubbleSize val="0"/>
        </c:dLbls>
        <c:marker val="1"/>
        <c:smooth val="0"/>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extLst>
              <c:ext xmlns:c16="http://schemas.microsoft.com/office/drawing/2014/chart" uri="{C3380CC4-5D6E-409C-BE32-E72D297353CC}">
                <c16:uniqueId val="{00000001-A298-0346-BBFF-A4696BFCC69C}"/>
              </c:ext>
            </c:extLst>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A298-0346-BBFF-A4696BFCC69C}"/>
                </c:ext>
              </c:extLst>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4.1980000000000004</c:v>
                </c:pt>
                <c:pt idx="1">
                  <c:v>2.3738000000000001</c:v>
                </c:pt>
                <c:pt idx="2">
                  <c:v>2.7048999999999999</c:v>
                </c:pt>
                <c:pt idx="3">
                  <c:v>2.5190999999999999</c:v>
                </c:pt>
                <c:pt idx="4">
                  <c:v>0.95430000000000004</c:v>
                </c:pt>
                <c:pt idx="5">
                  <c:v>1.2733000000000001</c:v>
                </c:pt>
                <c:pt idx="6">
                  <c:v>3.3210000000000002</c:v>
                </c:pt>
                <c:pt idx="7">
                  <c:v>8.9099999999999999E-2</c:v>
                </c:pt>
                <c:pt idx="8">
                  <c:v>-1.6102000000000001</c:v>
                </c:pt>
                <c:pt idx="9">
                  <c:v>-0.45050000000000001</c:v>
                </c:pt>
                <c:pt idx="10">
                  <c:v>0.12189999999999999</c:v>
                </c:pt>
                <c:pt idx="11">
                  <c:v>3.5522</c:v>
                </c:pt>
              </c:numCache>
            </c:numRef>
          </c:val>
          <c:extLst>
            <c:ext xmlns:c16="http://schemas.microsoft.com/office/drawing/2014/chart" uri="{C3380CC4-5D6E-409C-BE32-E72D297353CC}">
              <c16:uniqueId val="{00000002-A298-0346-BBFF-A4696BFCC69C}"/>
            </c:ext>
          </c:extLst>
        </c:ser>
        <c:dLbls>
          <c:showLegendKey val="0"/>
          <c:showVal val="0"/>
          <c:showCatName val="0"/>
          <c:showSerName val="0"/>
          <c:showPercent val="0"/>
          <c:showBubbleSize val="0"/>
        </c:dLbls>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10/7/26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10/7/26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7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7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7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7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7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7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7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7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7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7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7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7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7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7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7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7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7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7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7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7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7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7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7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7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7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7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7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7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7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7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7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7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07/10/26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6.xml"/><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Dalam seminggu sampai 2 Oktober, peluang suku bunga The Fed ada di 4,00% atau lebih pada Oktober turun drastis dari 64,2% ke 22,1%. Kelihatannya kabar baik, tapi coba lihat lebih jauh. Data CME FedWatch per 5 Oktober menunjukkan suku bunga yang diperkirakan pasar masih naik bertahap, dari sekitar 3,93% di pertemuan Oktober ke 4,12% di Desember, lalu 4,68% di akhir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Peluang suku bunga 4,00% atau lebih di Desember juga masih 81,7%. Jadi, kenaikannya hanya mundur, bukan batal.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Biasanya, kalau The Fed terlihat lebih lunak,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obligasi jangka panjang ikut turun. Kali ini kebalikannya: di periode yang sama, UST 10YR justru naik 11,0 bps ke 5,27%. Penyebabnya ada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yaitu “bayaran tambahan” yang diminta investor karena uangnya dipinjamkan lebih 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10YR (model ACM) naik 14,2 bps ke 0,91%, paling tinggi dalam setahun terakhir, bahkan lebih besar dari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itu sendiri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Polanya juga berubah: sepanjang 2026,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hanya menyumbang 16,6 dari 110,4 bps kenaikan UST 10YR, tapi sejak akhir Juni porsinya sudah sekitar separuh, dan minggu lalu seluruhnya.</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Efeknya kelihatan jelas di obligasi 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tenor 2 tahun, yang paling sensitif terhadap The Fed, turun 2,7 bps, sementara tenor 10 tahun naik. Selisih keduanya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2s10s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pun melebar dari 30,9 bps ke 44,6 bps hanya dalam seminggu. Untuk yang meminjam jangka pendek, kondisinya sedikit lebih ringan. Tapi bagi pemerintah dan perusahaan yang butuh dana jangka panjang, biayanya malah makin mahal. Sekarang, biaya pinjaman tidak lagi hanya ditentukan The Fed, tapi juga seberapa besar “bayaran tambahan” yang diminta investor.</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Pasar mulai yakin suku bunga The Fed tidak akan lebih tinggi di Oktober, tapi arah suku bunga sampai 2027 masih naik. Yang menarik,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obligasi AS 10 tahun justru naik, karena investor minta “bayaran tambahan” untuk meminjamkan uangnya lebih lama.</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tengah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paling menikmati hasilnya justru para penjual “sekop”, yaitu produsen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Per 2 Oktober, SOX (indeks saham semikonduktor AS) naik 85,5% YTD, jauh di atas rata‑rata lima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hanya naik 1,5%, dan Oracle malah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Contoh terbarunya Micron: EPS kuartalannya mencapai USD 33,36, padahal setahun sebelumnya hanya USD 2,86. Perkiraan laba dari analis pun langsung direvisi naik 8,5% dalam beberapa hari, dan SOX yang sempat tertinggal di Q3 kembali naik 3,7% dalam seminggu. Pasar jelas lebih suka perusahaan yang sudah punya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nyata dari AI.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Spending on Borrowed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sisi pembeli, belanja AI terus membengkak.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Alphabet, Microsoft, Amazon, dan Meta naik dari USD 118,63 miliar di Q4 2025 ke USD 165,05 miliar di Q2 2026, atau +39,1% dalam dua kuartal.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Oracle per kuartal bahkan naik lebih dari dua kali lipat, dari USD 12,03 miliar ke USD 28,50 miliar dalam tiga kuartal. Sebagian dananya dipinjam lewat obligasi: obligasi USD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terbit sepanjang 2026 dan masih beredar mencapai USD 157,00 miliar, naik 68,4% dibanding obligasi terbitan 2025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Artinya, AI ikut menambah antrean peminjam di pasar obligasi, saat investor sedang minta bayaran lebih.</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Lenders Read the 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Pemberi pinjaman tidak ikut terbawa euforia; yang mereka lihat adalah kondisi keuangan tiap perusahaan.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obligasi USD yang jatuh tempo 2036 ada di kisaran 5,6% untuk Microsoft (peringkat AAA) sampai 7,5% untuk Oracle (peringkat BBB-), selisihnya sekitar 190 bps. Pasar saham ternyata berpikir sama: sejak akhir Juni, saham Microsoft dan Meta naik 38,7% dan 29,3%, sementara Oracle turun 2,9% dan jadi satu‑satunya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turun YTD. Jadi, yang dihukum pasar bukan belanja untuk AI, tapi belanja AI dari perusahaan dengan keuangan yang lebih lemah.</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Saat biaya pinjaman jangka panjang naik, pasar mulai memilah siapa yang untung dari </a:t>
            </a:r>
            <a:r>
              <a:rPr lang="en-US" sz="1100" b="1" i="1" dirty="0">
                <a:latin typeface="Calibri" panose="020F0502020204030204" pitchFamily="34" charset="0"/>
                <a:ea typeface="MS Mincho" panose="02020609040205080304" pitchFamily="49" charset="-128"/>
                <a:cs typeface="Times New Roman" panose="02020603050405020304" pitchFamily="18" charset="0"/>
              </a:rPr>
              <a:t>AI boom</a:t>
            </a:r>
            <a:r>
              <a:rPr lang="en-US" sz="1100" b="1" i="0" dirty="0">
                <a:latin typeface="Calibri" panose="020F0502020204030204" pitchFamily="34" charset="0"/>
                <a:ea typeface="MS Mincho" panose="02020609040205080304" pitchFamily="49" charset="-128"/>
                <a:cs typeface="Times New Roman" panose="02020603050405020304" pitchFamily="18" charset="0"/>
              </a:rPr>
              <a:t> dan siapa yang menanggung biayanya. Penjual </a:t>
            </a:r>
            <a:r>
              <a:rPr lang="en-US" sz="1100" b="1" i="1" dirty="0">
                <a:latin typeface="Calibri" panose="020F0502020204030204" pitchFamily="34" charset="0"/>
                <a:ea typeface="MS Mincho" panose="02020609040205080304" pitchFamily="49" charset="-128"/>
                <a:cs typeface="Times New Roman" panose="02020603050405020304" pitchFamily="18" charset="0"/>
              </a:rPr>
              <a:t>chip</a:t>
            </a:r>
            <a:r>
              <a:rPr lang="en-US" sz="1100" b="1" i="0" dirty="0">
                <a:latin typeface="Calibri" panose="020F0502020204030204" pitchFamily="34" charset="0"/>
                <a:ea typeface="MS Mincho" panose="02020609040205080304" pitchFamily="49" charset="-128"/>
                <a:cs typeface="Times New Roman" panose="02020603050405020304" pitchFamily="18" charset="0"/>
              </a:rPr>
              <a:t> jadi pemenang dengan SOX naik 85,5% YTD, sementara perusahaan yang belanja besar untuk AI makin bergantung pada utang obligasi.</a:t>
            </a: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Mahalnya modal global ikut terasa di Indonesia. Rupiah memang lebih tenang di September, tapi cadangan devisa sudah hampir USD 10 miliar lebih rendah dari akhir 2025, “bonus”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SBN dibanding obligasi AS makin tipis, dan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makin kecil.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Sekilas, rupiah kelihatan tenang: USD/IDR bergerak di 17.513–17.975 sepanjang September dan ditutup di 17.875 per 2 Oktober, lebih baik dari puncaknya di 18.178 pada Juni. Tapi di balik itu, cadangan devisa, semacam tabungan dolar negara, ada di USD 146,51 miliar per Agustus. Angka ini turun USD 9,96 miliar dari akhir 2025 dan sempat menyentuh USD 144,90 miliar di bulan Mei, sementara rupiah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Dengan tabungan yang makin tipis, ruang untuk menahan guncangan berikutnya juga makin sempit.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Kabar baiknya datang dari perdagangan.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Agustus melonjak ke USD 3,55 miliar dari hanya USD 0,12 miliar di Juli, tertinggi sejak September 2025, setelah sempat defisit di Mei dan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Tapi satu bulan bagus belum mengubah gambaran besarnya: total surplus 12 bulan terakhir hanya USD 19,05 miliar, kurang dari separuh 12 bulan sebelumnya (USD 41,67 miliar), dan surplus Januari sampai Agustus 2026 turun 75,3% ke USD 7,25 miliar. Surplus ini membantu rupiah untuk sementara, tapi belum berarti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membaik secara mendasar.</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Less Room.</a:t>
            </a:r>
            <a:r>
              <a:rPr lang="en-US" sz="1100" b="0" i="0" dirty="0">
                <a:ea typeface="MS Mincho" panose="02020609040205080304" pitchFamily="49" charset="-128"/>
                <a:cs typeface="Times New Roman" panose="02020603050405020304" pitchFamily="18" charset="0"/>
              </a:rPr>
              <a:t> Bagi investor asing, SBN juga makin kurang menarik.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SBN dan obligasi AS tenor 10 tahun, alias “bonus” karena memegang aset Indonesia, turun dari 298 bps pada 11 Juni ke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obligasi AS naik 81 bps sementara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SBN turun 27,9 bps. Padahal, risiko pelemahan rupiah belum hilang. Dari dalam negeri, inflasi September naik ke 3,28% dari 2,88% di Juli, mendekati batas atas target BI di 3,5%, sehingga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SBN tinggal sekitar 3,9%. Jadi, BI kemungkinan lebih fokus menjaga rupiah daripada menurunkan suku bunga, dan Indonesia perlu menawarkan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yang lebih tinggi untuk menarik dana asing.</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val="20000"/>
                    </a:ext>
                  </a:extLst>
                </a:gridCol>
                <a:gridCol w="659929">
                  <a:extLst>
                    <a:ext uri="{9D8B030D-6E8A-4147-A177-3AD203B41FA5}">
                      <a16:colId xmlns:a16="http://schemas.microsoft.com/office/drawing/2014/main" val="20001"/>
                    </a:ext>
                  </a:extLst>
                </a:gridCol>
                <a:gridCol w="427011">
                  <a:extLst>
                    <a:ext uri="{9D8B030D-6E8A-4147-A177-3AD203B41FA5}">
                      <a16:colId xmlns:a16="http://schemas.microsoft.com/office/drawing/2014/main" val="20002"/>
                    </a:ext>
                  </a:extLst>
                </a:gridCol>
                <a:gridCol w="427011">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val="20000"/>
                    </a:ext>
                  </a:extLst>
                </a:gridCol>
                <a:gridCol w="659927">
                  <a:extLst>
                    <a:ext uri="{9D8B030D-6E8A-4147-A177-3AD203B41FA5}">
                      <a16:colId xmlns:a16="http://schemas.microsoft.com/office/drawing/2014/main" val="20001"/>
                    </a:ext>
                  </a:extLst>
                </a:gridCol>
                <a:gridCol w="427012">
                  <a:extLst>
                    <a:ext uri="{9D8B030D-6E8A-4147-A177-3AD203B41FA5}">
                      <a16:colId xmlns:a16="http://schemas.microsoft.com/office/drawing/2014/main" val="20002"/>
                    </a:ext>
                  </a:extLst>
                </a:gridCol>
                <a:gridCol w="427012">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val="20000"/>
                    </a:ext>
                  </a:extLst>
                </a:gridCol>
                <a:gridCol w="457994">
                  <a:extLst>
                    <a:ext uri="{9D8B030D-6E8A-4147-A177-3AD203B41FA5}">
                      <a16:colId xmlns:a16="http://schemas.microsoft.com/office/drawing/2014/main" val="20001"/>
                    </a:ext>
                  </a:extLst>
                </a:gridCol>
                <a:gridCol w="457994">
                  <a:extLst>
                    <a:ext uri="{9D8B030D-6E8A-4147-A177-3AD203B41FA5}">
                      <a16:colId xmlns:a16="http://schemas.microsoft.com/office/drawing/2014/main" val="20002"/>
                    </a:ext>
                  </a:extLst>
                </a:gridCol>
                <a:gridCol w="457994">
                  <a:extLst>
                    <a:ext uri="{9D8B030D-6E8A-4147-A177-3AD203B41FA5}">
                      <a16:colId xmlns:a16="http://schemas.microsoft.com/office/drawing/2014/main" val="20003"/>
                    </a:ext>
                  </a:extLst>
                </a:gridCol>
                <a:gridCol w="457994">
                  <a:extLst>
                    <a:ext uri="{9D8B030D-6E8A-4147-A177-3AD203B41FA5}">
                      <a16:colId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2"/>
                  </a:ext>
                </a:extLst>
              </a:tr>
            </a:tbl>
          </a:graphicData>
        </a:graphic>
      </p:graphicFrame>
      <p:grpSp>
        <p:nvGrpSpPr>
          <p:cNvPr id="20" name="Group 19">
            <a:extLst>
              <a:ext uri="{FF2B5EF4-FFF2-40B4-BE49-F238E27FC236}">
                <a16:creationId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92C92BE2-1A26-DCA2-1425-0AA1741325AB}"/>
              </a:ext>
            </a:extLst>
          </p:cNvPr>
          <p:cNvGraphicFramePr>
            <a:graphicFrameLocks noGrp="1"/>
          </p:cNvGraphicFramePr>
          <p:nvPr/>
        </p:nvGraphicFramePr>
        <p:xfrm>
          <a:off x="327025" y="1905000"/>
          <a:ext cx="6305549" cy="2759975"/>
        </p:xfrm>
        <a:graphic>
          <a:graphicData uri="http://schemas.openxmlformats.org/drawingml/2006/table">
            <a:tbl>
              <a:tblPr/>
              <a:tblGrid>
                <a:gridCol w="2378781">
                  <a:extLst>
                    <a:ext uri="{9D8B030D-6E8A-4147-A177-3AD203B41FA5}">
                      <a16:colId xmlns:a16="http://schemas.microsoft.com/office/drawing/2014/main" val="3984479303"/>
                    </a:ext>
                  </a:extLst>
                </a:gridCol>
                <a:gridCol w="490011">
                  <a:extLst>
                    <a:ext uri="{9D8B030D-6E8A-4147-A177-3AD203B41FA5}">
                      <a16:colId xmlns:a16="http://schemas.microsoft.com/office/drawing/2014/main" val="1443360456"/>
                    </a:ext>
                  </a:extLst>
                </a:gridCol>
                <a:gridCol w="543467">
                  <a:extLst>
                    <a:ext uri="{9D8B030D-6E8A-4147-A177-3AD203B41FA5}">
                      <a16:colId xmlns:a16="http://schemas.microsoft.com/office/drawing/2014/main" val="3887741517"/>
                    </a:ext>
                  </a:extLst>
                </a:gridCol>
                <a:gridCol w="490011">
                  <a:extLst>
                    <a:ext uri="{9D8B030D-6E8A-4147-A177-3AD203B41FA5}">
                      <a16:colId xmlns:a16="http://schemas.microsoft.com/office/drawing/2014/main" val="474306127"/>
                    </a:ext>
                  </a:extLst>
                </a:gridCol>
                <a:gridCol w="490011">
                  <a:extLst>
                    <a:ext uri="{9D8B030D-6E8A-4147-A177-3AD203B41FA5}">
                      <a16:colId xmlns:a16="http://schemas.microsoft.com/office/drawing/2014/main" val="3509474900"/>
                    </a:ext>
                  </a:extLst>
                </a:gridCol>
                <a:gridCol w="490011">
                  <a:extLst>
                    <a:ext uri="{9D8B030D-6E8A-4147-A177-3AD203B41FA5}">
                      <a16:colId xmlns:a16="http://schemas.microsoft.com/office/drawing/2014/main" val="1189944801"/>
                    </a:ext>
                  </a:extLst>
                </a:gridCol>
                <a:gridCol w="474419">
                  <a:extLst>
                    <a:ext uri="{9D8B030D-6E8A-4147-A177-3AD203B41FA5}">
                      <a16:colId xmlns:a16="http://schemas.microsoft.com/office/drawing/2014/main" val="149569299"/>
                    </a:ext>
                  </a:extLst>
                </a:gridCol>
                <a:gridCol w="474419">
                  <a:extLst>
                    <a:ext uri="{9D8B030D-6E8A-4147-A177-3AD203B41FA5}">
                      <a16:colId xmlns:a16="http://schemas.microsoft.com/office/drawing/2014/main" val="432537367"/>
                    </a:ext>
                  </a:extLst>
                </a:gridCol>
                <a:gridCol w="474419">
                  <a:extLst>
                    <a:ext uri="{9D8B030D-6E8A-4147-A177-3AD203B41FA5}">
                      <a16:colId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2569539944"/>
                  </a:ext>
                </a:extLst>
              </a:tr>
            </a:tbl>
          </a:graphicData>
        </a:graphic>
      </p:graphicFrame>
      <p:graphicFrame>
        <p:nvGraphicFramePr>
          <p:cNvPr id="13" name="Table 12">
            <a:extLst>
              <a:ext uri="{FF2B5EF4-FFF2-40B4-BE49-F238E27FC236}">
                <a16:creationId xmlns:a16="http://schemas.microsoft.com/office/drawing/2014/main" id="{631383FA-742C-FAA0-6E10-A0E2EB999ADC}"/>
              </a:ext>
            </a:extLst>
          </p:cNvPr>
          <p:cNvGraphicFramePr>
            <a:graphicFrameLocks noGrp="1"/>
          </p:cNvGraphicFramePr>
          <p:nvPr/>
        </p:nvGraphicFramePr>
        <p:xfrm>
          <a:off x="327025" y="5048423"/>
          <a:ext cx="6327775" cy="3127178"/>
        </p:xfrm>
        <a:graphic>
          <a:graphicData uri="http://schemas.openxmlformats.org/drawingml/2006/table">
            <a:tbl>
              <a:tblPr/>
              <a:tblGrid>
                <a:gridCol w="1240350">
                  <a:extLst>
                    <a:ext uri="{9D8B030D-6E8A-4147-A177-3AD203B41FA5}">
                      <a16:colId xmlns:a16="http://schemas.microsoft.com/office/drawing/2014/main" val="20000"/>
                    </a:ext>
                  </a:extLst>
                </a:gridCol>
                <a:gridCol w="2275081">
                  <a:extLst>
                    <a:ext uri="{9D8B030D-6E8A-4147-A177-3AD203B41FA5}">
                      <a16:colId xmlns:a16="http://schemas.microsoft.com/office/drawing/2014/main" val="20001"/>
                    </a:ext>
                  </a:extLst>
                </a:gridCol>
                <a:gridCol w="937448">
                  <a:extLst>
                    <a:ext uri="{9D8B030D-6E8A-4147-A177-3AD203B41FA5}">
                      <a16:colId xmlns:a16="http://schemas.microsoft.com/office/drawing/2014/main" val="20002"/>
                    </a:ext>
                  </a:extLst>
                </a:gridCol>
                <a:gridCol w="937448">
                  <a:extLst>
                    <a:ext uri="{9D8B030D-6E8A-4147-A177-3AD203B41FA5}">
                      <a16:colId xmlns:a16="http://schemas.microsoft.com/office/drawing/2014/main" val="20003"/>
                    </a:ext>
                  </a:extLst>
                </a:gridCol>
                <a:gridCol w="937448">
                  <a:extLst>
                    <a:ext uri="{9D8B030D-6E8A-4147-A177-3AD203B41FA5}">
                      <a16:colId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2752028498"/>
                  </a:ext>
                </a:extLst>
              </a:tr>
            </a:tbl>
          </a:graphicData>
        </a:graphic>
      </p:graphicFrame>
      <p:pic>
        <p:nvPicPr>
          <p:cNvPr id="2097157" name="Picture 15">
            <a:extLst>
              <a:ext uri="{FF2B5EF4-FFF2-40B4-BE49-F238E27FC236}">
                <a16:creationId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a:t>.</a:t>
            </a:r>
            <a:endParaRPr lang="en-US" sz="1050" i="1" dirty="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a:t>Dot 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Earnings 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Term 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2958</Words>
  <Application>Microsoft Macintosh PowerPoint</Application>
  <PresentationFormat>On-screen Show (4:3)</PresentationFormat>
  <Paragraphs>573</Paragraphs>
  <Slides>6</Slides>
  <Notes>6</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6</vt:i4>
      </vt:variant>
    </vt:vector>
  </HeadingPairs>
  <TitlesOfParts>
    <vt:vector size="16"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2399</cp:revision>
  <dcterms:created xsi:type="dcterms:W3CDTF">2018-10-24T01:42:20Z</dcterms:created>
  <dcterms:modified xsi:type="dcterms:W3CDTF">2026-10-06T18:08:23Z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