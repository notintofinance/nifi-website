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 id="2147483649" r:id="rId3"/>
    <p:sldMasterId id="2147483650" r:id="rId4"/>
    <p:sldMasterId id="2147483651" r:id="rId5"/>
    <p:sldMasterId id="2147483652" r:id="rId6"/>
    <p:sldMasterId id="2147483653" r:id="rId7"/>
    <p:sldMasterId id="2147483654" r:id="rId8"/>
  </p:sldMasterIdLst>
  <p:notesMasterIdLst>
    <p:notesMasterId r:id="rId15"/>
  </p:notesMasterIdLst>
  <p:handoutMasterIdLst>
    <p:handoutMasterId r:id="rId16"/>
  </p:handoutMasterIdLst>
  <p:sldIdLst>
    <p:sldId id="350" r:id="rId9"/>
    <p:sldId id="355" r:id="rId10"/>
    <p:sldId id="345" r:id="rId11"/>
    <p:sldId id="353" r:id="rId12"/>
    <p:sldId id="354" r:id="rId13"/>
    <p:sldId id="285" r:id="rId14"/>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32" userDrawn="1">
          <p15:clr>
            <a:srgbClr val="A4A3A4"/>
          </p15:clr>
        </p15:guide>
        <p15:guide id="2" pos="4176" userDrawn="1">
          <p15:clr>
            <a:srgbClr val="A4A3A4"/>
          </p15:clr>
        </p15:guide>
        <p15:guide id="3" pos="192">
          <p15:clr>
            <a:srgbClr val="A4A3A4"/>
          </p15:clr>
        </p15:guide>
        <p15:guide id="4" pos="48">
          <p15:clr>
            <a:srgbClr val="A4A3A4"/>
          </p15:clr>
        </p15:guide>
        <p15:guide id="5" pos="2256">
          <p15:clr>
            <a:srgbClr val="A4A3A4"/>
          </p15:clr>
        </p15:guide>
        <p15:guide id="6" pos="211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ggy Widjaja" initials="PW" lastIdx="1" clrIdx="0"/>
  <p:cmAuthor id="2" name="Richie Norbert Tandias" initials="RNT" lastIdx="1" clrIdx="1"/>
  <p:cmAuthor id="3" name="ely.id@outlook.com" initials="e" lastIdx="20" clrIdx="2"/>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051A2"/>
    <a:srgbClr val="E7E6E6"/>
    <a:srgbClr val="FFFFFF"/>
    <a:srgbClr val="E8E8E7"/>
    <a:srgbClr val="FFCCCC"/>
    <a:srgbClr val="2F5597"/>
    <a:srgbClr val="A7A7A7"/>
    <a:srgbClr val="A5A5A5"/>
    <a:srgbClr val="E8E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99" autoAdjust="0"/>
    <p:restoredTop sz="94660"/>
  </p:normalViewPr>
  <p:slideViewPr>
    <p:cSldViewPr snapToGrid="0">
      <p:cViewPr>
        <p:scale>
          <a:sx n="100" d="100"/>
          <a:sy n="100" d="100"/>
        </p:scale>
        <p:origin x="1686" y="-1026"/>
      </p:cViewPr>
      <p:guideLst>
        <p:guide orient="horz" pos="4632"/>
        <p:guide pos="4176"/>
        <p:guide pos="192"/>
        <p:guide pos="48"/>
        <p:guide pos="2256"/>
        <p:guide pos="2115"/>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7.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slideMaster" Target="slideMasters/slideMaster2.xml"/><Relationship Id="rId21" Type="http://schemas.openxmlformats.org/officeDocument/2006/relationships/tableStyles" Target="tableStyles.xml"/><Relationship Id="rId7" Type="http://schemas.openxmlformats.org/officeDocument/2006/relationships/slideMaster" Target="slideMasters/slideMaster6.xml"/><Relationship Id="rId12" Type="http://schemas.openxmlformats.org/officeDocument/2006/relationships/slide" Target="slides/slide4.xml"/><Relationship Id="rId17" Type="http://schemas.openxmlformats.org/officeDocument/2006/relationships/commentAuthors" Target="commentAuthors.xml"/><Relationship Id="rId2" Type="http://schemas.openxmlformats.org/officeDocument/2006/relationships/slideMaster" Target="slideMasters/slideMaster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5.xml"/><Relationship Id="rId11" Type="http://schemas.openxmlformats.org/officeDocument/2006/relationships/slide" Target="slides/slide3.xml"/><Relationship Id="rId5" Type="http://schemas.openxmlformats.org/officeDocument/2006/relationships/slideMaster" Target="slideMasters/slideMaster4.xml"/><Relationship Id="rId15"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3.xml"/><Relationship Id="rId9" Type="http://schemas.openxmlformats.org/officeDocument/2006/relationships/slide" Target="slides/slide1.xml"/><Relationship Id="rId14"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a:lstStyle/>
          <a:p>
            <a:pPr>
              <a:defRPr sz="700" b="0" i="1">
                <a:solidFill>
                  <a:srgbClr val="ED7D31"/>
                </a:solidFill>
                <a:latin typeface="Calibri"/>
              </a:defRPr>
            </a:pPr>
            <a:r>
              <a:rPr lang="en-US" sz="700" b="0" i="1">
                <a:solidFill>
                  <a:srgbClr val="ED7D31"/>
                </a:solidFill>
                <a:latin typeface="Calibri"/>
              </a:rPr>
              <a:t>Draft – CME snapshot 5 Oct 2026, intraday; time unverified</a:t>
            </a:r>
          </a:p>
        </c:rich>
      </c:tx>
      <c:layout>
        <c:manualLayout>
          <c:xMode val="edge"/>
          <c:yMode val="edge"/>
          <c:x val="0.02"/>
          <c:y val="0.0"/>
        </c:manualLayout>
      </c:layout>
      <c:overlay val="0"/>
    </c:title>
    <c:autoTitleDeleted val="0"/>
    <c:plotArea>
      <c:layout>
        <c:manualLayout>
          <c:layoutTarget val="inner"/>
          <c:xMode val="edge"/>
          <c:yMode val="edge"/>
          <c:x val="0.1"/>
          <c:y val="0.17"/>
          <c:w val="0.86"/>
          <c:h val="0.6"/>
        </c:manualLayout>
      </c:layout>
      <c:barChart>
        <c:barDir val="col"/>
        <c:grouping val="clustered"/>
        <c:varyColors val="0"/>
        <c:ser>
          <c:idx val="0"/>
          <c:order val="0"/>
          <c:tx>
            <c:strRef>
              <c:f>Sheet1!$B$1</c:f>
              <c:strCache>
                <c:ptCount val="1"/>
                <c:pt idx="0">
                  <c:v>P(target rate ≥4.00%)</c:v>
                </c:pt>
              </c:strCache>
            </c:strRef>
          </c:tx>
          <c:spPr>
            <a:solidFill>
              <a:srgbClr val="0051A2"/>
            </a:solidFill>
            <a:ln>
              <a:noFill/>
            </a:ln>
          </c:spPr>
          <c:invertIfNegative val="0"/>
          <c:dLbls>
            <c:numFmt formatCode="0.0" sourceLinked="0"/>
            <c:spPr>
              <a:noFill/>
              <a:ln>
                <a:noFill/>
              </a:ln>
            </c:spPr>
            <c:txPr>
              <a:bodyPr/>
              <a:lstStyle/>
              <a:p>
                <a:pPr>
                  <a:defRPr sz="900" b="1" i="0">
                    <a:solidFill>
                      <a:srgbClr val="000000"/>
                    </a:solidFill>
                    <a:latin typeface="Calibri"/>
                  </a:defRPr>
                </a:pPr>
                <a:endParaRPr lang="en-US"/>
              </a:p>
            </c:txPr>
            <c:dLblPos val="outEnd"/>
            <c:showLegendKey val="0"/>
            <c:showVal val="1"/>
            <c:showCatName val="0"/>
            <c:showSerName val="0"/>
            <c:showPercent val="0"/>
            <c:showBubbleSize val="0"/>
          </c:dLbls>
          <c:cat>
            <c:strRef>
              <c:f>Sheet1!$A$2:$A$3</c:f>
              <c:strCache>
                <c:ptCount val="2"/>
                <c:pt idx="0">
                  <c:v>28 Oct 2026</c:v>
                </c:pt>
                <c:pt idx="1">
                  <c:v>9 Dec 2026</c:v>
                </c:pt>
              </c:strCache>
            </c:strRef>
          </c:cat>
          <c:val>
            <c:numRef>
              <c:f>Sheet1!$B$2:$B$3</c:f>
              <c:numCache>
                <c:formatCode>0.0</c:formatCode>
                <c:ptCount val="2"/>
                <c:pt idx="0">
                  <c:v>20.5</c:v>
                </c:pt>
                <c:pt idx="1">
                  <c:v>81.7</c:v>
                </c:pt>
              </c:numCache>
            </c:numRef>
          </c:val>
        </c:ser>
        <c:gapWidth val="120"/>
        <c:axId val="5001"/>
        <c:axId val="5002"/>
      </c:barChart>
      <c:catAx>
        <c:axId val="5001"/>
        <c:scaling>
          <c:orientation val="minMax"/>
        </c:scaling>
        <c:delete val="0"/>
        <c:axPos val="b"/>
        <c:numFmt formatCode="General" sourceLinked="1"/>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5002"/>
        <c:crosses val="autoZero"/>
        <c:auto val="1"/>
        <c:lblAlgn val="ctr"/>
        <c:lblOffset val="100"/>
        <c:noMultiLvlLbl val="1"/>
      </c:catAx>
      <c:valAx>
        <c:axId val="5002"/>
        <c:scaling>
          <c:orientation val="minMax"/>
          <c:max val="100"/>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5001"/>
        <c:crosses val="autoZero"/>
        <c:crossBetween val="between"/>
        <c:majorUnit val="20"/>
      </c:valAx>
      <c:spPr>
        <a:noFill/>
        <a:ln>
          <a:noFill/>
        </a:ln>
      </c:spPr>
    </c:plotArea>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manualLayout>
          <c:layoutTarget val="inner"/>
          <c:xMode val="edge"/>
          <c:yMode val="edge"/>
          <c:x val="0.105"/>
          <c:y val="0.17"/>
          <c:w val="0.77"/>
          <c:h val="0.6"/>
        </c:manualLayout>
      </c:layout>
      <c:lineChart>
        <c:grouping val="standard"/>
        <c:varyColors val="0"/>
        <c:ser>
          <c:idx val="0"/>
          <c:order val="0"/>
          <c:tx>
            <c:strRef>
              <c:f>Sheet1!$B$1</c:f>
              <c:strCache>
                <c:ptCount val="1"/>
                <c:pt idx="0">
                  <c:v>Oct Target Rate ≥4.00% Prob. (L)</c:v>
                </c:pt>
              </c:strCache>
            </c:strRef>
          </c:tx>
          <c:spPr>
            <a:ln w="25400" cap="rnd">
              <a:solidFill>
                <a:srgbClr val="0051A2"/>
              </a:solidFill>
              <a:prstDash val="solid"/>
              <a:round/>
            </a:ln>
          </c:spPr>
          <c:marker>
            <c:symbol val="circle"/>
            <c:size val="4"/>
            <c:spPr>
              <a:solidFill>
                <a:srgbClr val="0051A2"/>
              </a:solidFill>
              <a:ln>
                <a:noFill/>
              </a:ln>
            </c:spPr>
          </c:marker>
          <c:dLbls>
            <c:dLbl>
              <c:idx val="0"/>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1"/>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5"/>
              <c:numFmt formatCode="0.0" sourceLinked="0"/>
              <c:spPr>
                <a:solidFill>
                  <a:srgbClr val="0051A2"/>
                </a:solidFill>
                <a:ln>
                  <a:noFill/>
                </a:ln>
              </c:spPr>
              <c:txPr>
                <a:bodyPr/>
                <a:lstStyle/>
                <a:p>
                  <a:pPr>
                    <a:defRPr sz="800" b="1" i="0">
                      <a:solidFill>
                        <a:srgbClr val="FFFFFF"/>
                      </a:solidFill>
                      <a:latin typeface="Calibri"/>
                    </a:defRPr>
                  </a:pPr>
                  <a:endParaRPr lang="en-US"/>
                </a:p>
              </c:txPr>
              <c:dLblPos val="b"/>
              <c:showLegendKey val="0"/>
              <c:showVal val="1"/>
              <c:showCatName val="0"/>
              <c:showSerName val="0"/>
              <c:showPercent val="0"/>
              <c:showBubbleSize val="0"/>
            </c:dLbl>
            <c:spPr>
              <a:noFill/>
              <a:ln>
                <a:noFill/>
              </a:ln>
            </c:spPr>
            <c:showLegendKey val="0"/>
            <c:showVal val="0"/>
            <c:showCatName val="0"/>
            <c:showSerName val="0"/>
            <c:showPercent val="0"/>
            <c:showBubbleSize val="0"/>
          </c:dLbls>
          <c:cat>
            <c:strRef>
              <c:f>Sheet1!$A$2:$A$7</c:f>
              <c:strCache>
                <c:ptCount val="6"/>
                <c:pt idx="0">
                  <c:v>25 Sep</c:v>
                </c:pt>
                <c:pt idx="1">
                  <c:v>28 Sep</c:v>
                </c:pt>
                <c:pt idx="2">
                  <c:v>29 Sep</c:v>
                </c:pt>
                <c:pt idx="3">
                  <c:v>30 Sep</c:v>
                </c:pt>
                <c:pt idx="4">
                  <c:v>1 Oct</c:v>
                </c:pt>
                <c:pt idx="5">
                  <c:v>2 Oct</c:v>
                </c:pt>
              </c:strCache>
            </c:strRef>
          </c:cat>
          <c:val>
            <c:numRef>
              <c:f>Sheet1!$B$2:$B$7</c:f>
              <c:numCache>
                <c:formatCode>0.0000</c:formatCode>
                <c:ptCount val="6"/>
                <c:pt idx="0">
                  <c:v>64.2143</c:v>
                </c:pt>
                <c:pt idx="1">
                  <c:v>70.8571</c:v>
                </c:pt>
                <c:pt idx="2">
                  <c:v>50.9286</c:v>
                </c:pt>
                <c:pt idx="3">
                  <c:v>37.6429</c:v>
                </c:pt>
                <c:pt idx="4">
                  <c:v>24.3571</c:v>
                </c:pt>
                <c:pt idx="5">
                  <c:v>22.1429</c:v>
                </c:pt>
              </c:numCache>
            </c:numRef>
          </c:val>
          <c:smooth val="0"/>
        </c:ser>
        <c:marker val="1"/>
        <c:axId val="6001"/>
        <c:axId val="6002"/>
      </c:lineChart>
      <c:lineChart>
        <c:grouping val="standard"/>
        <c:varyColors val="0"/>
        <c:ser>
          <c:idx val="1"/>
          <c:order val="1"/>
          <c:tx>
            <c:strRef>
              <c:f>Sheet1!$C$1</c:f>
              <c:strCache>
                <c:ptCount val="1"/>
                <c:pt idx="0">
                  <c:v>UST 10YR Yield (R)</c:v>
                </c:pt>
              </c:strCache>
            </c:strRef>
          </c:tx>
          <c:spPr>
            <a:ln w="22225" cap="rnd">
              <a:solidFill>
                <a:srgbClr val="ED7D31"/>
              </a:solidFill>
              <a:prstDash val="solid"/>
              <a:round/>
            </a:ln>
          </c:spPr>
          <c:marker>
            <c:symbol val="circle"/>
            <c:size val="4"/>
            <c:spPr>
              <a:solidFill>
                <a:srgbClr val="ED7D31"/>
              </a:solidFill>
              <a:ln>
                <a:noFill/>
              </a:ln>
            </c:spPr>
          </c:marker>
          <c:dLbls>
            <c:dLbl>
              <c:idx val="0"/>
              <c:numFmt formatCode="0.00" sourceLinked="0"/>
              <c:spPr>
                <a:solidFill>
                  <a:srgbClr val="ED7D31"/>
                </a:solidFill>
                <a:ln>
                  <a:noFill/>
                </a:ln>
              </c:spPr>
              <c:txPr>
                <a:bodyPr/>
                <a:lstStyle/>
                <a:p>
                  <a:pPr>
                    <a:defRPr sz="800" b="1" i="0">
                      <a:solidFill>
                        <a:srgbClr val="FFFFFF"/>
                      </a:solidFill>
                      <a:latin typeface="Calibri"/>
                    </a:defRPr>
                  </a:pPr>
                  <a:endParaRPr lang="en-US"/>
                </a:p>
              </c:txPr>
              <c:dLblPos val="b"/>
              <c:showLegendKey val="0"/>
              <c:showVal val="1"/>
              <c:showCatName val="0"/>
              <c:showSerName val="0"/>
              <c:showPercent val="0"/>
              <c:showBubbleSize val="0"/>
            </c:dLbl>
            <c:dLbl>
              <c:idx val="1"/>
              <c:numFmt formatCode="0.00" sourceLinked="0"/>
              <c:spPr>
                <a:solidFill>
                  <a:srgbClr val="ED7D31"/>
                </a:solidFill>
                <a:ln>
                  <a:noFill/>
                </a:ln>
              </c:spPr>
              <c:txPr>
                <a:bodyPr/>
                <a:lstStyle/>
                <a:p>
                  <a:pPr>
                    <a:defRPr sz="800" b="1" i="0">
                      <a:solidFill>
                        <a:srgbClr val="FFFFFF"/>
                      </a:solidFill>
                      <a:latin typeface="Calibri"/>
                    </a:defRPr>
                  </a:pPr>
                  <a:endParaRPr lang="en-US"/>
                </a:p>
              </c:txPr>
              <c:dLblPos val="b"/>
              <c:showLegendKey val="0"/>
              <c:showVal val="1"/>
              <c:showCatName val="0"/>
              <c:showSerName val="0"/>
              <c:showPercent val="0"/>
              <c:showBubbleSize val="0"/>
            </c:dLbl>
            <c:dLbl>
              <c:idx val="5"/>
              <c:numFmt formatCode="0.00" sourceLinked="0"/>
              <c:spPr>
                <a:solidFill>
                  <a:srgbClr val="ED7D31"/>
                </a:solidFill>
                <a:ln>
                  <a:noFill/>
                </a:ln>
              </c:spPr>
              <c:txPr>
                <a:bodyPr/>
                <a:lstStyle/>
                <a:p>
                  <a:pPr>
                    <a:defRPr sz="800" b="1" i="0">
                      <a:solidFill>
                        <a:srgbClr val="FFFFFF"/>
                      </a:solidFill>
                      <a:latin typeface="Calibri"/>
                    </a:defRPr>
                  </a:pPr>
                  <a:endParaRPr lang="en-US"/>
                </a:p>
              </c:txPr>
              <c:dLblPos val="b"/>
              <c:showLegendKey val="0"/>
              <c:showVal val="1"/>
              <c:showCatName val="0"/>
              <c:showSerName val="0"/>
              <c:showPercent val="0"/>
              <c:showBubbleSize val="0"/>
            </c:dLbl>
            <c:spPr>
              <a:noFill/>
              <a:ln>
                <a:noFill/>
              </a:ln>
            </c:spPr>
            <c:showLegendKey val="0"/>
            <c:showVal val="0"/>
            <c:showCatName val="0"/>
            <c:showSerName val="0"/>
            <c:showPercent val="0"/>
            <c:showBubbleSize val="0"/>
          </c:dLbls>
          <c:cat>
            <c:strRef>
              <c:f>Sheet1!$A$2:$A$7</c:f>
              <c:strCache>
                <c:ptCount val="6"/>
                <c:pt idx="0">
                  <c:v>25 Sep</c:v>
                </c:pt>
                <c:pt idx="1">
                  <c:v>28 Sep</c:v>
                </c:pt>
                <c:pt idx="2">
                  <c:v>29 Sep</c:v>
                </c:pt>
                <c:pt idx="3">
                  <c:v>30 Sep</c:v>
                </c:pt>
                <c:pt idx="4">
                  <c:v>1 Oct</c:v>
                </c:pt>
                <c:pt idx="5">
                  <c:v>2 Oct</c:v>
                </c:pt>
              </c:strCache>
            </c:strRef>
          </c:cat>
          <c:val>
            <c:numRef>
              <c:f>Sheet1!$C$2:$C$7</c:f>
              <c:numCache>
                <c:formatCode>0.0000</c:formatCode>
                <c:ptCount val="6"/>
                <c:pt idx="0">
                  <c:v>5.1604</c:v>
                </c:pt>
                <c:pt idx="1">
                  <c:v>5.2361</c:v>
                </c:pt>
                <c:pt idx="2">
                  <c:v>5.2362</c:v>
                </c:pt>
                <c:pt idx="3">
                  <c:v>5.2849</c:v>
                </c:pt>
                <c:pt idx="4">
                  <c:v>5.2407</c:v>
                </c:pt>
                <c:pt idx="5">
                  <c:v>5.2706</c:v>
                </c:pt>
              </c:numCache>
            </c:numRef>
          </c:val>
          <c:smooth val="0"/>
        </c:ser>
        <c:marker val="1"/>
        <c:axId val="6003"/>
        <c:axId val="6004"/>
      </c:lineChart>
      <c:catAx>
        <c:axId val="6001"/>
        <c:scaling>
          <c:orientation val="minMax"/>
        </c:scaling>
        <c:delete val="0"/>
        <c:axPos val="b"/>
        <c:numFmt formatCode="General" sourceLinked="1"/>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6002"/>
        <c:crosses val="autoZero"/>
        <c:auto val="1"/>
        <c:lblAlgn val="ctr"/>
        <c:lblOffset val="100"/>
        <c:noMultiLvlLbl val="1"/>
      </c:catAx>
      <c:valAx>
        <c:axId val="6002"/>
        <c:scaling>
          <c:orientation val="minMax"/>
          <c:max val="100"/>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6001"/>
        <c:crosses val="autoZero"/>
        <c:crossBetween val="between"/>
        <c:majorUnit val="20"/>
      </c:valAx>
      <c:catAx>
        <c:axId val="6003"/>
        <c:scaling>
          <c:orientation val="minMax"/>
        </c:scaling>
        <c:delete val="1"/>
        <c:axPos val="b"/>
        <c:numFmt formatCode="General" sourceLinked="1"/>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6004"/>
        <c:crosses val="autoZero"/>
        <c:auto val="1"/>
        <c:lblAlgn val="ctr"/>
        <c:lblOffset val="100"/>
        <c:noMultiLvlLbl val="1"/>
      </c:catAx>
      <c:valAx>
        <c:axId val="6004"/>
        <c:scaling>
          <c:orientation val="minMax"/>
          <c:max val="5.4"/>
          <c:min val="5.0"/>
        </c:scaling>
        <c:delete val="0"/>
        <c:axPos val="r"/>
        <c:numFmt formatCode="0.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6003"/>
        <c:crosses val="max"/>
        <c:crossBetween val="between"/>
        <c:majorUnit val="0.1"/>
      </c:valAx>
      <c:spPr>
        <a:noFill/>
        <a:ln>
          <a:noFill/>
        </a:ln>
      </c:spPr>
    </c:plotArea>
    <c:legend>
      <c:legendPos val="t"/>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7"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8"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9A8AE1-4BCC-1947-B019-350BB873436E}" type="datetimeFigureOut">
              <a:rPr lang="en-US" smtClean="0"/>
              <a:t>9/29/2026</a:t>
            </a:fld>
            <a:endParaRPr lang="en-US"/>
          </a:p>
        </p:txBody>
      </p:sp>
      <p:sp>
        <p:nvSpPr>
          <p:cNvPr id="1048909"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910"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C3932C-02E6-FF41-B5D9-852B3DF5DCC8}"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1"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2" name="Date Placeholder 2"/>
          <p:cNvSpPr>
            <a:spLocks noGrp="1"/>
          </p:cNvSpPr>
          <p:nvPr>
            <p:ph type="dt" idx="1"/>
          </p:nvPr>
        </p:nvSpPr>
        <p:spPr>
          <a:xfrm>
            <a:off x="3885010" y="0"/>
            <a:ext cx="2971800" cy="457200"/>
          </a:xfrm>
          <a:prstGeom prst="rect">
            <a:avLst/>
          </a:prstGeom>
        </p:spPr>
        <p:txBody>
          <a:bodyPr vert="horz" lIns="91440" tIns="45720" rIns="91440" bIns="45720" rtlCol="0"/>
          <a:lstStyle>
            <a:lvl1pPr algn="r">
              <a:defRPr sz="1200"/>
            </a:lvl1pPr>
          </a:lstStyle>
          <a:p>
            <a:fld id="{49CCFED1-E03E-462D-962A-1A36BFBBCABD}" type="datetimeFigureOut">
              <a:rPr lang="en-US" smtClean="0"/>
              <a:t>9/29/2026</a:t>
            </a:fld>
            <a:endParaRPr lang="en-US"/>
          </a:p>
        </p:txBody>
      </p:sp>
      <p:sp>
        <p:nvSpPr>
          <p:cNvPr id="1048903"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904"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05" name="Footer Placeholder 5"/>
          <p:cNvSpPr>
            <a:spLocks noGrp="1"/>
          </p:cNvSpPr>
          <p:nvPr>
            <p:ph type="ftr" sz="quarter" idx="4"/>
          </p:nvPr>
        </p:nvSpPr>
        <p:spPr>
          <a:xfrm>
            <a:off x="0" y="8684684"/>
            <a:ext cx="2971800" cy="457200"/>
          </a:xfrm>
          <a:prstGeom prst="rect">
            <a:avLst/>
          </a:prstGeom>
        </p:spPr>
        <p:txBody>
          <a:bodyPr vert="horz" lIns="91440" tIns="45720" rIns="91440" bIns="45720" rtlCol="0" anchor="b"/>
          <a:lstStyle>
            <a:lvl1pPr algn="l">
              <a:defRPr sz="1200"/>
            </a:lvl1pPr>
          </a:lstStyle>
          <a:p>
            <a:endParaRPr lang="en-US"/>
          </a:p>
        </p:txBody>
      </p:sp>
      <p:sp>
        <p:nvSpPr>
          <p:cNvPr id="1048906" name="Slide Number Placeholder 6"/>
          <p:cNvSpPr>
            <a:spLocks noGrp="1"/>
          </p:cNvSpPr>
          <p:nvPr>
            <p:ph type="sldNum" sz="quarter" idx="5"/>
          </p:nvPr>
        </p:nvSpPr>
        <p:spPr>
          <a:xfrm>
            <a:off x="3885010" y="8684684"/>
            <a:ext cx="2971800" cy="457200"/>
          </a:xfrm>
          <a:prstGeom prst="rect">
            <a:avLst/>
          </a:prstGeom>
        </p:spPr>
        <p:txBody>
          <a:bodyPr vert="horz" lIns="91440" tIns="45720" rIns="91440" bIns="45720" rtlCol="0" anchor="b"/>
          <a:lstStyle>
            <a:lvl1pPr algn="r">
              <a:defRPr sz="1200"/>
            </a:lvl1pPr>
          </a:lstStyle>
          <a:p>
            <a:fld id="{84D0BFC2-306C-464A-8BE3-5C53A71A5A13}" type="slidenum">
              <a:rPr lang="en-US" smtClean="0"/>
              <a:t>‹#›</a:t>
            </a:fld>
            <a:endParaRPr lang="en-US"/>
          </a:p>
        </p:txBody>
      </p:sp>
    </p:spTree>
    <p:extLst>
      <p:ext uri="{BB962C8B-B14F-4D97-AF65-F5344CB8AC3E}">
        <p14:creationId xmlns:p14="http://schemas.microsoft.com/office/powerpoint/2010/main" val="32196392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CEC2344-3C30-5C47-CA13-930648AF6E82}"/>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F3BCE434-94AA-B577-15E0-25FF1E4F161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82B0C9AC-4632-788B-6ABE-71A282CCF302}"/>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E4B97CB0-51C4-0175-97C4-CB0C18B5CBB6}"/>
              </a:ext>
            </a:extLst>
          </p:cNvPr>
          <p:cNvSpPr>
            <a:spLocks noGrp="1"/>
          </p:cNvSpPr>
          <p:nvPr>
            <p:ph type="sldNum" sz="quarter" idx="10"/>
          </p:nvPr>
        </p:nvSpPr>
        <p:spPr/>
        <p:txBody>
          <a:bodyPr/>
          <a:lstStyle/>
          <a:p>
            <a:fld id="{F4576B7D-FFCE-497E-994F-ED8CF7DB0CE2}" type="slidenum">
              <a:rPr lang="id-ID" smtClean="0">
                <a:solidFill>
                  <a:prstClr val="black"/>
                </a:solidFill>
              </a:rPr>
              <a:t>1</a:t>
            </a:fld>
            <a:endParaRPr lang="id-ID">
              <a:solidFill>
                <a:prstClr val="black"/>
              </a:solidFill>
            </a:endParaRPr>
          </a:p>
        </p:txBody>
      </p:sp>
    </p:spTree>
    <p:extLst>
      <p:ext uri="{BB962C8B-B14F-4D97-AF65-F5344CB8AC3E}">
        <p14:creationId xmlns:p14="http://schemas.microsoft.com/office/powerpoint/2010/main" val="106797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03A28BF-F638-7EAA-4003-CDEF5C993CFD}"/>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1CAC56A9-CBBF-FA04-750E-F101663BE2F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3A31FA8D-0923-8C16-ABAF-4DDE17583123}"/>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91277AB1-7333-FA67-E3BE-FF6C017EFCE2}"/>
              </a:ext>
            </a:extLst>
          </p:cNvPr>
          <p:cNvSpPr>
            <a:spLocks noGrp="1"/>
          </p:cNvSpPr>
          <p:nvPr>
            <p:ph type="sldNum" sz="quarter" idx="10"/>
          </p:nvPr>
        </p:nvSpPr>
        <p:spPr/>
        <p:txBody>
          <a:bodyPr/>
          <a:lstStyle/>
          <a:p>
            <a:fld id="{F4576B7D-FFCE-497E-994F-ED8CF7DB0CE2}" type="slidenum">
              <a:rPr lang="id-ID" smtClean="0">
                <a:solidFill>
                  <a:prstClr val="black"/>
                </a:solidFill>
              </a:rPr>
              <a:t>2</a:t>
            </a:fld>
            <a:endParaRPr lang="id-ID">
              <a:solidFill>
                <a:prstClr val="black"/>
              </a:solidFill>
            </a:endParaRPr>
          </a:p>
        </p:txBody>
      </p:sp>
    </p:spTree>
    <p:extLst>
      <p:ext uri="{BB962C8B-B14F-4D97-AF65-F5344CB8AC3E}">
        <p14:creationId xmlns:p14="http://schemas.microsoft.com/office/powerpoint/2010/main" val="159777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Slide Image Placeholder 1"/>
          <p:cNvSpPr>
            <a:spLocks noGrp="1" noRot="1" noChangeAspect="1"/>
          </p:cNvSpPr>
          <p:nvPr>
            <p:ph type="sldImg"/>
          </p:nvPr>
        </p:nvSpPr>
        <p:spPr/>
      </p:sp>
      <p:sp>
        <p:nvSpPr>
          <p:cNvPr id="1048603" name="Notes Placeholder 2"/>
          <p:cNvSpPr>
            <a:spLocks noGrp="1"/>
          </p:cNvSpPr>
          <p:nvPr>
            <p:ph type="body" idx="1"/>
          </p:nvPr>
        </p:nvSpPr>
        <p:spPr/>
        <p:txBody>
          <a:bodyPr/>
          <a:lstStyle/>
          <a:p>
            <a:endParaRPr lang="id-ID" dirty="0"/>
          </a:p>
        </p:txBody>
      </p:sp>
      <p:sp>
        <p:nvSpPr>
          <p:cNvPr id="1048604" name="Slide Number Placeholder 3"/>
          <p:cNvSpPr>
            <a:spLocks noGrp="1"/>
          </p:cNvSpPr>
          <p:nvPr>
            <p:ph type="sldNum" sz="quarter" idx="10"/>
          </p:nvPr>
        </p:nvSpPr>
        <p:spPr/>
        <p:txBody>
          <a:bodyPr/>
          <a:lstStyle/>
          <a:p>
            <a:fld id="{F4576B7D-FFCE-497E-994F-ED8CF7DB0CE2}" type="slidenum">
              <a:rPr lang="id-ID" smtClean="0">
                <a:solidFill>
                  <a:prstClr val="black"/>
                </a:solidFill>
              </a:rPr>
              <a:t>3</a:t>
            </a:fld>
            <a:endParaRPr lang="id-ID">
              <a:solidFill>
                <a:prstClr val="black"/>
              </a:solidFill>
            </a:endParaRPr>
          </a:p>
        </p:txBody>
      </p:sp>
    </p:spTree>
    <p:extLst>
      <p:ext uri="{BB962C8B-B14F-4D97-AF65-F5344CB8AC3E}">
        <p14:creationId xmlns:p14="http://schemas.microsoft.com/office/powerpoint/2010/main" val="541480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D"/>
          </a:p>
        </p:txBody>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4</a:t>
            </a:fld>
            <a:endParaRPr lang="id-ID">
              <a:solidFill>
                <a:prstClr val="black"/>
              </a:solidFill>
            </a:endParaRPr>
          </a:p>
        </p:txBody>
      </p:sp>
    </p:spTree>
    <p:extLst>
      <p:ext uri="{BB962C8B-B14F-4D97-AF65-F5344CB8AC3E}">
        <p14:creationId xmlns:p14="http://schemas.microsoft.com/office/powerpoint/2010/main" val="3574004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7DB0CF7-CFC1-C754-992D-D2F0037F1E97}"/>
            </a:ext>
          </a:extLst>
        </p:cNvPr>
        <p:cNvGrpSpPr/>
        <p:nvPr/>
      </p:nvGrpSpPr>
      <p:grpSpPr>
        <a:xfrm>
          <a:off x="0" y="0"/>
          <a:ext cx="0" cy="0"/>
          <a:chOff x="0" y="0"/>
          <a:chExt cx="0" cy="0"/>
        </a:xfrm>
      </p:grpSpPr>
      <p:sp>
        <p:nvSpPr>
          <p:cNvPr id="1048633" name="Slide Image Placeholder 1">
            <a:extLst>
              <a:ext uri="{FF2B5EF4-FFF2-40B4-BE49-F238E27FC236}">
                <a16:creationId xmlns="" xmlns:a16="http://schemas.microsoft.com/office/drawing/2014/main" id="{CFC85132-1EE1-D730-B15B-EDFAAF6B127B}"/>
              </a:ext>
            </a:extLst>
          </p:cNvPr>
          <p:cNvSpPr>
            <a:spLocks noGrp="1" noRot="1" noChangeAspect="1"/>
          </p:cNvSpPr>
          <p:nvPr>
            <p:ph type="sldImg"/>
          </p:nvPr>
        </p:nvSpPr>
        <p:spPr/>
      </p:sp>
      <p:sp>
        <p:nvSpPr>
          <p:cNvPr id="1048634" name="Notes Placeholder 2">
            <a:extLst>
              <a:ext uri="{FF2B5EF4-FFF2-40B4-BE49-F238E27FC236}">
                <a16:creationId xmlns="" xmlns:a16="http://schemas.microsoft.com/office/drawing/2014/main" id="{B42AB014-AE05-6014-58C7-70EA73F241D7}"/>
              </a:ext>
            </a:extLst>
          </p:cNvPr>
          <p:cNvSpPr>
            <a:spLocks noGrp="1"/>
          </p:cNvSpPr>
          <p:nvPr>
            <p:ph type="body" idx="1"/>
          </p:nvPr>
        </p:nvSpPr>
        <p:spPr/>
        <p:txBody>
          <a:bodyPr/>
          <a:lstStyle/>
          <a:p>
            <a:endParaRPr lang="id-ID"/>
          </a:p>
        </p:txBody>
      </p:sp>
      <p:sp>
        <p:nvSpPr>
          <p:cNvPr id="1048635" name="Slide Number Placeholder 3">
            <a:extLst>
              <a:ext uri="{FF2B5EF4-FFF2-40B4-BE49-F238E27FC236}">
                <a16:creationId xmlns="" xmlns:a16="http://schemas.microsoft.com/office/drawing/2014/main" id="{3A220D18-8624-D94F-D073-B4E335E2F8A2}"/>
              </a:ext>
            </a:extLst>
          </p:cNvPr>
          <p:cNvSpPr>
            <a:spLocks noGrp="1"/>
          </p:cNvSpPr>
          <p:nvPr>
            <p:ph type="sldNum" sz="quarter" idx="10"/>
          </p:nvPr>
        </p:nvSpPr>
        <p:spPr/>
        <p:txBody>
          <a:bodyPr/>
          <a:lstStyle/>
          <a:p>
            <a:fld id="{F4576B7D-FFCE-497E-994F-ED8CF7DB0CE2}" type="slidenum">
              <a:rPr lang="id-ID" smtClean="0">
                <a:solidFill>
                  <a:prstClr val="black"/>
                </a:solidFill>
              </a:rPr>
              <a:t>5</a:t>
            </a:fld>
            <a:endParaRPr lang="id-ID">
              <a:solidFill>
                <a:prstClr val="black"/>
              </a:solidFill>
            </a:endParaRPr>
          </a:p>
        </p:txBody>
      </p:sp>
    </p:spTree>
    <p:extLst>
      <p:ext uri="{BB962C8B-B14F-4D97-AF65-F5344CB8AC3E}">
        <p14:creationId xmlns:p14="http://schemas.microsoft.com/office/powerpoint/2010/main" val="3688476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Slide Image Placeholder 1"/>
          <p:cNvSpPr>
            <a:spLocks noGrp="1" noRot="1" noChangeAspect="1"/>
          </p:cNvSpPr>
          <p:nvPr>
            <p:ph type="sldImg"/>
          </p:nvPr>
        </p:nvSpPr>
        <p:spPr/>
      </p:sp>
      <p:sp>
        <p:nvSpPr>
          <p:cNvPr id="1048645" name="Notes Placeholder 2"/>
          <p:cNvSpPr>
            <a:spLocks noGrp="1"/>
          </p:cNvSpPr>
          <p:nvPr>
            <p:ph type="body" idx="1"/>
          </p:nvPr>
        </p:nvSpPr>
        <p:spPr/>
        <p:txBody>
          <a:bodyPr/>
          <a:lstStyle/>
          <a:p>
            <a:endParaRPr lang="id-ID"/>
          </a:p>
        </p:txBody>
      </p:sp>
      <p:sp>
        <p:nvSpPr>
          <p:cNvPr id="1048646"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6</a:t>
            </a:fld>
            <a:endParaRPr lang="id-ID">
              <a:solidFill>
                <a:prstClr val="black"/>
              </a:solidFill>
            </a:endParaRPr>
          </a:p>
        </p:txBody>
      </p:sp>
    </p:spTree>
    <p:extLst>
      <p:ext uri="{BB962C8B-B14F-4D97-AF65-F5344CB8AC3E}">
        <p14:creationId xmlns:p14="http://schemas.microsoft.com/office/powerpoint/2010/main" val="3870166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48758"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Presentation Title</a:t>
            </a:r>
          </a:p>
        </p:txBody>
      </p:sp>
      <p:sp>
        <p:nvSpPr>
          <p:cNvPr id="1048759"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0"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AF4A877-4CFA-B240-851D-E713A68D39BD}" type="datetime3">
              <a:rPr lang="en-ID" smtClean="0"/>
              <a:t>29 September 2026</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48761"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Thank You</a:t>
            </a:r>
          </a:p>
        </p:txBody>
      </p:sp>
      <p:sp>
        <p:nvSpPr>
          <p:cNvPr id="1048762"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3"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C72D3B6-04C4-A547-A6E1-D74627D29B57}" type="datetime3">
              <a:rPr lang="en-ID" smtClean="0"/>
              <a:t>29 September 2026</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48697"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Presentation Title</a:t>
            </a:r>
          </a:p>
        </p:txBody>
      </p:sp>
      <p:sp>
        <p:nvSpPr>
          <p:cNvPr id="1048698"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699"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E94A5A6D-BF95-7742-956B-FA8E6D6D7A8E}" type="datetime3">
              <a:rPr lang="en-ID" smtClean="0"/>
              <a:t>29 September 2026</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sp>
        <p:nvSpPr>
          <p:cNvPr id="1048700"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Thank You</a:t>
            </a:r>
          </a:p>
        </p:txBody>
      </p:sp>
      <p:sp>
        <p:nvSpPr>
          <p:cNvPr id="1048701"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02"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7A021BF0-8602-EB42-865E-596B138771F1}" type="datetime3">
              <a:rPr lang="en-ID" smtClean="0"/>
              <a:t>29 September 2026</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36"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3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8"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83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3757B1C-AB4D-7C4F-8DFC-B8E086E8997F}" type="datetime3">
              <a:rPr lang="en-ID" smtClean="0"/>
              <a:t>29 September 2026</a:t>
            </a:fld>
            <a:endParaRPr lang="en-US"/>
          </a:p>
        </p:txBody>
      </p:sp>
      <p:sp>
        <p:nvSpPr>
          <p:cNvPr id="1048840"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1"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10"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1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642D845-69F1-714E-9475-635242E76DC6}" type="datetime3">
              <a:rPr lang="en-ID" smtClean="0"/>
              <a:t>29 September 2026</a:t>
            </a:fld>
            <a:endParaRPr lang="en-US"/>
          </a:p>
        </p:txBody>
      </p:sp>
      <p:sp>
        <p:nvSpPr>
          <p:cNvPr id="104881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3"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1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4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5113538-E476-FC42-B125-F4082E6CC220}" type="datetime3">
              <a:rPr lang="en-ID" smtClean="0"/>
              <a:t>29 September 2026</a:t>
            </a:fld>
            <a:endParaRPr lang="en-US"/>
          </a:p>
        </p:txBody>
      </p:sp>
      <p:sp>
        <p:nvSpPr>
          <p:cNvPr id="104884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4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4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47"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48"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49"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4A715AE-818F-6440-AFBB-A39CB3A47C06}" type="datetime3">
              <a:rPr lang="en-ID" smtClean="0"/>
              <a:t>29 September 2026</a:t>
            </a:fld>
            <a:endParaRPr lang="en-US"/>
          </a:p>
        </p:txBody>
      </p:sp>
      <p:sp>
        <p:nvSpPr>
          <p:cNvPr id="104885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2"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5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2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0E42B3C-B422-504E-9EED-7AACCF2B5E44}" type="datetime3">
              <a:rPr lang="en-ID" smtClean="0"/>
              <a:t>29 September 2026</a:t>
            </a:fld>
            <a:endParaRPr lang="en-US"/>
          </a:p>
        </p:txBody>
      </p:sp>
      <p:sp>
        <p:nvSpPr>
          <p:cNvPr id="104882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2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2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30"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3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F7101B9-0C97-964E-A88D-0AC093AF6B5C}" type="datetime3">
              <a:rPr lang="en-ID" smtClean="0"/>
              <a:t>29 September 2026</a:t>
            </a:fld>
            <a:endParaRPr lang="en-US"/>
          </a:p>
        </p:txBody>
      </p:sp>
      <p:sp>
        <p:nvSpPr>
          <p:cNvPr id="104883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33"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3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1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4276A6DD-0719-DE4A-805F-F977A7208FC1}" type="datetime3">
              <a:rPr lang="en-ID" smtClean="0"/>
              <a:t>29 September 2026</a:t>
            </a:fld>
            <a:endParaRPr lang="en-US"/>
          </a:p>
        </p:txBody>
      </p:sp>
      <p:sp>
        <p:nvSpPr>
          <p:cNvPr id="104881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6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6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dirty="0"/>
              <a:t>Presentation Title</a:t>
            </a:r>
          </a:p>
        </p:txBody>
      </p:sp>
      <p:sp>
        <p:nvSpPr>
          <p:cNvPr id="104887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EF6109C-FED9-BB47-B7E0-A96B0C3A3715}" type="datetime3">
              <a:rPr lang="en-ID" smtClean="0"/>
              <a:t>29 September 2026</a:t>
            </a:fld>
            <a:endParaRPr lang="en-US"/>
          </a:p>
        </p:txBody>
      </p:sp>
      <p:sp>
        <p:nvSpPr>
          <p:cNvPr id="104887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61"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0AB3E7D-631D-674D-ACFC-9060208EC6DA}" type="datetime3">
              <a:rPr lang="en-ID" smtClean="0"/>
              <a:t>29 September 2026</a:t>
            </a:fld>
            <a:endParaRPr lang="en-US"/>
          </a:p>
        </p:txBody>
      </p:sp>
      <p:sp>
        <p:nvSpPr>
          <p:cNvPr id="104886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6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6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8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036071-6960-5444-8E6F-8EC74E87B3F1}" type="datetime3">
              <a:rPr lang="en-ID" smtClean="0"/>
              <a:t>29 September 2026</a:t>
            </a:fld>
            <a:endParaRPr lang="en-US"/>
          </a:p>
        </p:txBody>
      </p:sp>
      <p:sp>
        <p:nvSpPr>
          <p:cNvPr id="104888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2"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8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85"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73"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4"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6F62AD8-6F13-D341-BC8C-6372B8758D67}" type="datetime3">
              <a:rPr lang="en-ID" smtClean="0"/>
              <a:t>29 September 2026</a:t>
            </a:fld>
            <a:endParaRPr lang="en-US"/>
          </a:p>
        </p:txBody>
      </p:sp>
      <p:sp>
        <p:nvSpPr>
          <p:cNvPr id="104887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7"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7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7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92"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3"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4"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5"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3B804BE-6D8A-E949-B805-DCC667F60605}" type="datetime3">
              <a:rPr lang="en-ID" smtClean="0"/>
              <a:t>29 September 2026</a:t>
            </a:fld>
            <a:endParaRPr lang="en-US"/>
          </a:p>
        </p:txBody>
      </p:sp>
      <p:sp>
        <p:nvSpPr>
          <p:cNvPr id="10488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98"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9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86"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8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C05EDBD-FBF2-074E-9570-59748DA90955}" type="datetime3">
              <a:rPr lang="en-ID" smtClean="0"/>
              <a:t>29 September 2026</a:t>
            </a:fld>
            <a:endParaRPr lang="en-US"/>
          </a:p>
        </p:txBody>
      </p:sp>
      <p:sp>
        <p:nvSpPr>
          <p:cNvPr id="104888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9"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9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5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70D93E9-C376-A947-8A1C-35F0E1B29729}" type="datetime3">
              <a:rPr lang="en-ID" smtClean="0"/>
              <a:t>29 September 2026</a:t>
            </a:fld>
            <a:endParaRPr lang="en-US"/>
          </a:p>
        </p:txBody>
      </p:sp>
      <p:sp>
        <p:nvSpPr>
          <p:cNvPr id="104885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68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8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69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817FFA5C-C6C6-A049-B744-29447C458644}" type="datetime3">
              <a:rPr lang="en-ID" smtClean="0"/>
              <a:t>29 September 2026</a:t>
            </a:fld>
            <a:endParaRPr lang="en-US"/>
          </a:p>
        </p:txBody>
      </p:sp>
      <p:sp>
        <p:nvSpPr>
          <p:cNvPr id="104869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9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668"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400B4C7-443F-D545-9067-F911AF81B13F}" type="datetime3">
              <a:rPr lang="en-ID" smtClean="0"/>
              <a:t>29 September 2026</a:t>
            </a:fld>
            <a:endParaRPr lang="en-US"/>
          </a:p>
        </p:txBody>
      </p:sp>
      <p:sp>
        <p:nvSpPr>
          <p:cNvPr id="104867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1"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67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13A75C9-8B1A-B540-88B7-B4A1312D022A}" type="datetime3">
              <a:rPr lang="en-ID" smtClean="0"/>
              <a:t>29 September 2026</a:t>
            </a:fld>
            <a:endParaRPr lang="en-US"/>
          </a:p>
        </p:txBody>
      </p:sp>
      <p:sp>
        <p:nvSpPr>
          <p:cNvPr id="104867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6"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679"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680"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1"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1975889-09EE-344A-82C9-1D49023CE12A}" type="datetime3">
              <a:rPr lang="en-ID" smtClean="0"/>
              <a:t>29 September 2026</a:t>
            </a:fld>
            <a:endParaRPr lang="en-US"/>
          </a:p>
        </p:txBody>
      </p:sp>
      <p:sp>
        <p:nvSpPr>
          <p:cNvPr id="104868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84"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8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659"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0"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1"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2"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3"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8FEB24A-3A7F-8A4E-A3AB-E47BDBB22021}" type="datetime3">
              <a:rPr lang="en-ID" smtClean="0"/>
              <a:t>29 September 2026</a:t>
            </a:fld>
            <a:endParaRPr lang="en-US"/>
          </a:p>
        </p:txBody>
      </p:sp>
      <p:sp>
        <p:nvSpPr>
          <p:cNvPr id="1048664"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65"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66"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67"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648"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4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1FEB1A1-3392-7A40-B9C8-F71E47AB4BCA}" type="datetime3">
              <a:rPr lang="en-ID" smtClean="0"/>
              <a:t>29 September 2026</a:t>
            </a:fld>
            <a:endParaRPr lang="en-US"/>
          </a:p>
        </p:txBody>
      </p:sp>
      <p:sp>
        <p:nvSpPr>
          <p:cNvPr id="104865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1"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65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BB780499-43E8-C941-A319-959BC27AE094}" type="datetime3">
              <a:rPr lang="en-ID" smtClean="0"/>
              <a:t>29 September 2026</a:t>
            </a:fld>
            <a:endParaRPr lang="en-US"/>
          </a:p>
        </p:txBody>
      </p:sp>
      <p:sp>
        <p:nvSpPr>
          <p:cNvPr id="104865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6"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782"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4"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78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92E1114-433A-1A43-AA36-5DE7D47A4699}" type="datetime3">
              <a:rPr lang="en-ID" smtClean="0"/>
              <a:t>29 September 2026</a:t>
            </a:fld>
            <a:endParaRPr lang="en-US"/>
          </a:p>
        </p:txBody>
      </p:sp>
      <p:sp>
        <p:nvSpPr>
          <p:cNvPr id="1048786"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87"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776"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2E54845-308A-7F41-AA99-FA7CEE6CF869}" type="datetime3">
              <a:rPr lang="en-ID" smtClean="0"/>
              <a:t>29 September 2026</a:t>
            </a:fld>
            <a:endParaRPr lang="en-US"/>
          </a:p>
        </p:txBody>
      </p:sp>
      <p:sp>
        <p:nvSpPr>
          <p:cNvPr id="104877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9"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8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788"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71103D-81C7-2A4F-A1D3-3B2820EDC6F0}" type="datetime3">
              <a:rPr lang="en-ID" smtClean="0"/>
              <a:t>29 September 2026</a:t>
            </a:fld>
            <a:endParaRPr lang="en-US"/>
          </a:p>
        </p:txBody>
      </p:sp>
      <p:sp>
        <p:nvSpPr>
          <p:cNvPr id="1048789"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0"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1"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92"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793"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794"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5"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A93F5F3-9B97-8344-B1B4-ABE2473A197A}" type="datetime3">
              <a:rPr lang="en-ID" smtClean="0"/>
              <a:t>29 September 2026</a:t>
            </a:fld>
            <a:endParaRPr lang="en-US"/>
          </a:p>
        </p:txBody>
      </p:sp>
      <p:sp>
        <p:nvSpPr>
          <p:cNvPr id="10487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0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F22E47FA-41D4-404E-87E9-7D1F6BDC88C0}" type="datetime3">
              <a:rPr lang="en-ID" smtClean="0"/>
              <a:t>29 September 2026</a:t>
            </a:fld>
            <a:endParaRPr lang="en-US"/>
          </a:p>
        </p:txBody>
      </p:sp>
      <p:sp>
        <p:nvSpPr>
          <p:cNvPr id="104880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0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0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765"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6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CF54DA69-1ED2-EC4D-9A71-82EC9B98A11B}" type="datetime3">
              <a:rPr lang="en-ID" smtClean="0"/>
              <a:t>29 September 2026</a:t>
            </a:fld>
            <a:endParaRPr lang="en-US"/>
          </a:p>
        </p:txBody>
      </p:sp>
      <p:sp>
        <p:nvSpPr>
          <p:cNvPr id="104876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6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6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77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97535B67-28D6-4D40-8A20-4DB7314F65D6}" type="datetime3">
              <a:rPr lang="en-ID" smtClean="0"/>
              <a:t>29 September 2026</a:t>
            </a:fld>
            <a:endParaRPr lang="en-US"/>
          </a:p>
        </p:txBody>
      </p:sp>
      <p:sp>
        <p:nvSpPr>
          <p:cNvPr id="104877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3"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7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dirty="0"/>
              <a:t>Presentation Title</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5" name="Title 1"/>
          <p:cNvSpPr>
            <a:spLocks noGrp="1"/>
          </p:cNvSpPr>
          <p:nvPr>
            <p:ph type="ctrTitle"/>
          </p:nvPr>
        </p:nvSpPr>
        <p:spPr>
          <a:xfrm>
            <a:off x="514350" y="1496484"/>
            <a:ext cx="5829301" cy="3183466"/>
          </a:xfrm>
        </p:spPr>
        <p:txBody>
          <a:bodyPr anchor="b"/>
          <a:lstStyle>
            <a:lvl1pPr algn="ctr">
              <a:defRPr sz="4500"/>
            </a:lvl1pPr>
          </a:lstStyle>
          <a:p>
            <a:r>
              <a:rPr lang="en-US" dirty="0"/>
              <a:t>Click to edit Master title style</a:t>
            </a:r>
          </a:p>
        </p:txBody>
      </p:sp>
      <p:sp>
        <p:nvSpPr>
          <p:cNvPr id="1048586" name="Subtitle 2"/>
          <p:cNvSpPr>
            <a:spLocks noGrp="1"/>
          </p:cNvSpPr>
          <p:nvPr>
            <p:ph type="subTitle" idx="1"/>
          </p:nvPr>
        </p:nvSpPr>
        <p:spPr>
          <a:xfrm>
            <a:off x="857251" y="4802718"/>
            <a:ext cx="5143500" cy="2207683"/>
          </a:xfrm>
        </p:spPr>
        <p:txBody>
          <a:bodyPr/>
          <a:lstStyle>
            <a:lvl1pPr marL="0" indent="0" algn="ctr">
              <a:buNone/>
              <a:defRPr sz="1800"/>
            </a:lvl1pPr>
            <a:lvl2pPr marL="342871" indent="0" algn="ctr">
              <a:buNone/>
              <a:defRPr sz="1500"/>
            </a:lvl2pPr>
            <a:lvl3pPr marL="685740" indent="0" algn="ctr">
              <a:buNone/>
              <a:defRPr sz="1300"/>
            </a:lvl3pPr>
            <a:lvl4pPr marL="1028611" indent="0" algn="ctr">
              <a:buNone/>
              <a:defRPr sz="1200"/>
            </a:lvl4pPr>
            <a:lvl5pPr marL="1371481" indent="0" algn="ctr">
              <a:buNone/>
              <a:defRPr sz="1200"/>
            </a:lvl5pPr>
            <a:lvl6pPr marL="1714352" indent="0" algn="ctr">
              <a:buNone/>
              <a:defRPr sz="1200"/>
            </a:lvl6pPr>
            <a:lvl7pPr marL="2057223" indent="0" algn="ctr">
              <a:buNone/>
              <a:defRPr sz="1200"/>
            </a:lvl7pPr>
            <a:lvl8pPr marL="2400092" indent="0" algn="ctr">
              <a:buNone/>
              <a:defRPr sz="1200"/>
            </a:lvl8pPr>
            <a:lvl9pPr marL="2742963" indent="0" algn="ctr">
              <a:buNone/>
              <a:defRPr sz="1200"/>
            </a:lvl9pPr>
          </a:lstStyle>
          <a:p>
            <a:r>
              <a:rPr lang="en-US"/>
              <a:t>Click to edit Master subtitle style</a:t>
            </a:r>
          </a:p>
        </p:txBody>
      </p:sp>
      <p:sp>
        <p:nvSpPr>
          <p:cNvPr id="1048587"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588"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589"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40" name="Title 1"/>
          <p:cNvSpPr>
            <a:spLocks noGrp="1"/>
          </p:cNvSpPr>
          <p:nvPr>
            <p:ph type="title"/>
          </p:nvPr>
        </p:nvSpPr>
        <p:spPr/>
        <p:txBody>
          <a:bodyPr/>
          <a:lstStyle/>
          <a:p>
            <a:r>
              <a:rPr lang="en-US" dirty="0"/>
              <a:t>Click to edit Master title style</a:t>
            </a:r>
          </a:p>
        </p:txBody>
      </p:sp>
      <p:sp>
        <p:nvSpPr>
          <p:cNvPr id="104874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43"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44"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08" name="Title 1"/>
          <p:cNvSpPr>
            <a:spLocks noGrp="1"/>
          </p:cNvSpPr>
          <p:nvPr>
            <p:ph type="title"/>
          </p:nvPr>
        </p:nvSpPr>
        <p:spPr>
          <a:xfrm>
            <a:off x="467916" y="2279653"/>
            <a:ext cx="5915025" cy="3803650"/>
          </a:xfrm>
        </p:spPr>
        <p:txBody>
          <a:bodyPr anchor="b"/>
          <a:lstStyle>
            <a:lvl1pPr>
              <a:defRPr sz="4500"/>
            </a:lvl1pPr>
          </a:lstStyle>
          <a:p>
            <a:r>
              <a:rPr lang="en-US"/>
              <a:t>Click to edit Master title style</a:t>
            </a:r>
          </a:p>
        </p:txBody>
      </p:sp>
      <p:sp>
        <p:nvSpPr>
          <p:cNvPr id="1048709" name="Text Placeholder 2"/>
          <p:cNvSpPr>
            <a:spLocks noGrp="1"/>
          </p:cNvSpPr>
          <p:nvPr>
            <p:ph type="body" idx="1"/>
          </p:nvPr>
        </p:nvSpPr>
        <p:spPr>
          <a:xfrm>
            <a:off x="467916" y="6119287"/>
            <a:ext cx="5915025" cy="2000249"/>
          </a:xfrm>
        </p:spPr>
        <p:txBody>
          <a:bodyPr/>
          <a:lstStyle>
            <a:lvl1pPr marL="0" indent="0">
              <a:buNone/>
              <a:defRPr sz="1800">
                <a:solidFill>
                  <a:schemeClr val="tx1"/>
                </a:solidFill>
              </a:defRPr>
            </a:lvl1pPr>
            <a:lvl2pPr marL="342871" indent="0">
              <a:buNone/>
              <a:defRPr sz="1500">
                <a:solidFill>
                  <a:schemeClr val="tx1">
                    <a:tint val="75000"/>
                  </a:schemeClr>
                </a:solidFill>
              </a:defRPr>
            </a:lvl2pPr>
            <a:lvl3pPr marL="685740" indent="0">
              <a:buNone/>
              <a:defRPr sz="1300">
                <a:solidFill>
                  <a:schemeClr val="tx1">
                    <a:tint val="75000"/>
                  </a:schemeClr>
                </a:solidFill>
              </a:defRPr>
            </a:lvl3pPr>
            <a:lvl4pPr marL="1028611" indent="0">
              <a:buNone/>
              <a:defRPr sz="1200">
                <a:solidFill>
                  <a:schemeClr val="tx1">
                    <a:tint val="75000"/>
                  </a:schemeClr>
                </a:solidFill>
              </a:defRPr>
            </a:lvl4pPr>
            <a:lvl5pPr marL="1371481" indent="0">
              <a:buNone/>
              <a:defRPr sz="1200">
                <a:solidFill>
                  <a:schemeClr val="tx1">
                    <a:tint val="75000"/>
                  </a:schemeClr>
                </a:solidFill>
              </a:defRPr>
            </a:lvl5pPr>
            <a:lvl6pPr marL="1714352" indent="0">
              <a:buNone/>
              <a:defRPr sz="1200">
                <a:solidFill>
                  <a:schemeClr val="tx1">
                    <a:tint val="75000"/>
                  </a:schemeClr>
                </a:solidFill>
              </a:defRPr>
            </a:lvl6pPr>
            <a:lvl7pPr marL="2057223" indent="0">
              <a:buNone/>
              <a:defRPr sz="1200">
                <a:solidFill>
                  <a:schemeClr val="tx1">
                    <a:tint val="75000"/>
                  </a:schemeClr>
                </a:solidFill>
              </a:defRPr>
            </a:lvl7pPr>
            <a:lvl8pPr marL="2400092" indent="0">
              <a:buNone/>
              <a:defRPr sz="1200">
                <a:solidFill>
                  <a:schemeClr val="tx1">
                    <a:tint val="75000"/>
                  </a:schemeClr>
                </a:solidFill>
              </a:defRPr>
            </a:lvl8pPr>
            <a:lvl9pPr marL="2742963" indent="0">
              <a:buNone/>
              <a:defRPr sz="1200">
                <a:solidFill>
                  <a:schemeClr val="tx1">
                    <a:tint val="75000"/>
                  </a:schemeClr>
                </a:solidFill>
              </a:defRPr>
            </a:lvl9pPr>
          </a:lstStyle>
          <a:p>
            <a:pPr lvl="0"/>
            <a:r>
              <a:rPr lang="en-US"/>
              <a:t>Click to edit Master text styles</a:t>
            </a:r>
          </a:p>
        </p:txBody>
      </p:sp>
      <p:sp>
        <p:nvSpPr>
          <p:cNvPr id="1048710"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11"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12"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25" name="Title 1"/>
          <p:cNvSpPr>
            <a:spLocks noGrp="1"/>
          </p:cNvSpPr>
          <p:nvPr>
            <p:ph type="title"/>
          </p:nvPr>
        </p:nvSpPr>
        <p:spPr/>
        <p:txBody>
          <a:bodyPr/>
          <a:lstStyle/>
          <a:p>
            <a:r>
              <a:rPr lang="en-US"/>
              <a:t>Click to edit Master title style</a:t>
            </a:r>
          </a:p>
        </p:txBody>
      </p:sp>
      <p:sp>
        <p:nvSpPr>
          <p:cNvPr id="1048726" name="Content Placeholder 2"/>
          <p:cNvSpPr>
            <a:spLocks noGrp="1"/>
          </p:cNvSpPr>
          <p:nvPr>
            <p:ph sz="half" idx="1"/>
          </p:nvPr>
        </p:nvSpPr>
        <p:spPr>
          <a:xfrm>
            <a:off x="471488"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7" name="Content Placeholder 3"/>
          <p:cNvSpPr>
            <a:spLocks noGrp="1"/>
          </p:cNvSpPr>
          <p:nvPr>
            <p:ph sz="half" idx="2"/>
          </p:nvPr>
        </p:nvSpPr>
        <p:spPr>
          <a:xfrm>
            <a:off x="3471863"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2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17" name="Title 1"/>
          <p:cNvSpPr>
            <a:spLocks noGrp="1"/>
          </p:cNvSpPr>
          <p:nvPr>
            <p:ph type="title"/>
          </p:nvPr>
        </p:nvSpPr>
        <p:spPr>
          <a:xfrm>
            <a:off x="472381" y="486836"/>
            <a:ext cx="5915025" cy="1767417"/>
          </a:xfrm>
        </p:spPr>
        <p:txBody>
          <a:bodyPr/>
          <a:lstStyle/>
          <a:p>
            <a:r>
              <a:rPr lang="en-US" dirty="0"/>
              <a:t>Click to edit Master title style</a:t>
            </a:r>
          </a:p>
        </p:txBody>
      </p:sp>
      <p:sp>
        <p:nvSpPr>
          <p:cNvPr id="1048718" name="Text Placeholder 2"/>
          <p:cNvSpPr>
            <a:spLocks noGrp="1"/>
          </p:cNvSpPr>
          <p:nvPr>
            <p:ph type="body" idx="1"/>
          </p:nvPr>
        </p:nvSpPr>
        <p:spPr>
          <a:xfrm>
            <a:off x="472382" y="2241551"/>
            <a:ext cx="2901255"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19" name="Content Placeholder 3"/>
          <p:cNvSpPr>
            <a:spLocks noGrp="1"/>
          </p:cNvSpPr>
          <p:nvPr>
            <p:ph sz="half" idx="2"/>
          </p:nvPr>
        </p:nvSpPr>
        <p:spPr>
          <a:xfrm>
            <a:off x="472382"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0"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21"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2" name="Date Placeholder 6"/>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23" name="Footer Placeholder 7"/>
          <p:cNvSpPr>
            <a:spLocks noGrp="1"/>
          </p:cNvSpPr>
          <p:nvPr>
            <p:ph type="ftr" sz="quarter" idx="11"/>
          </p:nvPr>
        </p:nvSpPr>
        <p:spPr/>
        <p:txBody>
          <a:bodyPr/>
          <a:lstStyle/>
          <a:p>
            <a:endParaRPr lang="id-ID">
              <a:solidFill>
                <a:prstClr val="black">
                  <a:tint val="75000"/>
                </a:prstClr>
              </a:solidFill>
            </a:endParaRPr>
          </a:p>
        </p:txBody>
      </p:sp>
      <p:sp>
        <p:nvSpPr>
          <p:cNvPr id="1048724" name="Slide Number Placeholder 8"/>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13" name="Title 1"/>
          <p:cNvSpPr>
            <a:spLocks noGrp="1"/>
          </p:cNvSpPr>
          <p:nvPr>
            <p:ph type="title"/>
          </p:nvPr>
        </p:nvSpPr>
        <p:spPr/>
        <p:txBody>
          <a:bodyPr/>
          <a:lstStyle/>
          <a:p>
            <a:r>
              <a:rPr lang="en-US" dirty="0"/>
              <a:t>Click to edit Master title style</a:t>
            </a:r>
          </a:p>
        </p:txBody>
      </p:sp>
      <p:sp>
        <p:nvSpPr>
          <p:cNvPr id="1048714" name="Date Placeholder 2"/>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15" name="Footer Placeholder 3"/>
          <p:cNvSpPr>
            <a:spLocks noGrp="1"/>
          </p:cNvSpPr>
          <p:nvPr>
            <p:ph type="ftr" sz="quarter" idx="11"/>
          </p:nvPr>
        </p:nvSpPr>
        <p:spPr/>
        <p:txBody>
          <a:bodyPr/>
          <a:lstStyle/>
          <a:p>
            <a:endParaRPr lang="id-ID">
              <a:solidFill>
                <a:prstClr val="black">
                  <a:tint val="75000"/>
                </a:prstClr>
              </a:solidFill>
            </a:endParaRPr>
          </a:p>
        </p:txBody>
      </p:sp>
      <p:sp>
        <p:nvSpPr>
          <p:cNvPr id="1048716" name="Slide Number Placeholder 4"/>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31" name="Date Placeholder 1"/>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32" name="Footer Placeholder 2"/>
          <p:cNvSpPr>
            <a:spLocks noGrp="1"/>
          </p:cNvSpPr>
          <p:nvPr>
            <p:ph type="ftr" sz="quarter" idx="11"/>
          </p:nvPr>
        </p:nvSpPr>
        <p:spPr/>
        <p:txBody>
          <a:bodyPr/>
          <a:lstStyle/>
          <a:p>
            <a:endParaRPr lang="id-ID">
              <a:solidFill>
                <a:prstClr val="black">
                  <a:tint val="75000"/>
                </a:prstClr>
              </a:solidFill>
            </a:endParaRPr>
          </a:p>
        </p:txBody>
      </p:sp>
      <p:sp>
        <p:nvSpPr>
          <p:cNvPr id="1048733" name="Slide Number Placeholder 3"/>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34"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35" name="Content Placeholder 2"/>
          <p:cNvSpPr>
            <a:spLocks noGrp="1"/>
          </p:cNvSpPr>
          <p:nvPr>
            <p:ph idx="1"/>
          </p:nvPr>
        </p:nvSpPr>
        <p:spPr>
          <a:xfrm>
            <a:off x="2915544" y="1316569"/>
            <a:ext cx="3471863" cy="649816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37"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38"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9"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45"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46" name="Picture Placeholder 2"/>
          <p:cNvSpPr>
            <a:spLocks noGrp="1" noChangeAspect="1"/>
          </p:cNvSpPr>
          <p:nvPr>
            <p:ph type="pic" idx="1"/>
          </p:nvPr>
        </p:nvSpPr>
        <p:spPr>
          <a:xfrm>
            <a:off x="2915544" y="1316569"/>
            <a:ext cx="3471863" cy="6498166"/>
          </a:xfrm>
        </p:spPr>
        <p:txBody>
          <a:bodyPr anchor="t"/>
          <a:lstStyle>
            <a:lvl1pPr marL="0" indent="0">
              <a:buNone/>
              <a:defRPr sz="2400"/>
            </a:lvl1pPr>
            <a:lvl2pPr marL="342871" indent="0">
              <a:buNone/>
              <a:defRPr sz="2100"/>
            </a:lvl2pPr>
            <a:lvl3pPr marL="685740" indent="0">
              <a:buNone/>
              <a:defRPr sz="1800"/>
            </a:lvl3pPr>
            <a:lvl4pPr marL="1028611" indent="0">
              <a:buNone/>
              <a:defRPr sz="1500"/>
            </a:lvl4pPr>
            <a:lvl5pPr marL="1371481" indent="0">
              <a:buNone/>
              <a:defRPr sz="1500"/>
            </a:lvl5pPr>
            <a:lvl6pPr marL="1714352" indent="0">
              <a:buNone/>
              <a:defRPr sz="1500"/>
            </a:lvl6pPr>
            <a:lvl7pPr marL="2057223" indent="0">
              <a:buNone/>
              <a:defRPr sz="1500"/>
            </a:lvl7pPr>
            <a:lvl8pPr marL="2400092" indent="0">
              <a:buNone/>
              <a:defRPr sz="1500"/>
            </a:lvl8pPr>
            <a:lvl9pPr marL="2742963" indent="0">
              <a:buNone/>
              <a:defRPr sz="1500"/>
            </a:lvl9pPr>
          </a:lstStyle>
          <a:p>
            <a:r>
              <a:rPr lang="en-US"/>
              <a:t>Click icon to add picture</a:t>
            </a:r>
          </a:p>
        </p:txBody>
      </p:sp>
      <p:sp>
        <p:nvSpPr>
          <p:cNvPr id="1048747"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4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4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5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1" name="Title 1"/>
          <p:cNvSpPr>
            <a:spLocks noGrp="1"/>
          </p:cNvSpPr>
          <p:nvPr>
            <p:ph type="title"/>
          </p:nvPr>
        </p:nvSpPr>
        <p:spPr/>
        <p:txBody>
          <a:bodyPr/>
          <a:lstStyle/>
          <a:p>
            <a:r>
              <a:rPr lang="en-US"/>
              <a:t>Click to edit Master title style</a:t>
            </a:r>
          </a:p>
        </p:txBody>
      </p:sp>
      <p:sp>
        <p:nvSpPr>
          <p:cNvPr id="104875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3"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54"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55"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03" name="Vertical Title 1"/>
          <p:cNvSpPr>
            <a:spLocks noGrp="1"/>
          </p:cNvSpPr>
          <p:nvPr>
            <p:ph type="title" orient="vert"/>
          </p:nvPr>
        </p:nvSpPr>
        <p:spPr>
          <a:xfrm>
            <a:off x="4907757" y="486834"/>
            <a:ext cx="1478756" cy="7749117"/>
          </a:xfrm>
        </p:spPr>
        <p:txBody>
          <a:bodyPr vert="eaVert"/>
          <a:lstStyle/>
          <a:p>
            <a:r>
              <a:rPr lang="en-US"/>
              <a:t>Click to edit Master title style</a:t>
            </a:r>
          </a:p>
        </p:txBody>
      </p:sp>
      <p:sp>
        <p:nvSpPr>
          <p:cNvPr id="1048704" name="Vertical Text Placeholder 2"/>
          <p:cNvSpPr>
            <a:spLocks noGrp="1"/>
          </p:cNvSpPr>
          <p:nvPr>
            <p:ph type="body" orient="vert" idx="1"/>
          </p:nvPr>
        </p:nvSpPr>
        <p:spPr>
          <a:xfrm>
            <a:off x="471489" y="486834"/>
            <a:ext cx="4350543"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5"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06"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07"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image" Target="../media/image5.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7.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7" name="BCA_BACKGROUND.jpg" descr="BCA_BACKGROUND.jpg"/>
          <p:cNvPicPr>
            <a:picLocks/>
          </p:cNvPicPr>
          <p:nvPr userDrawn="1"/>
        </p:nvPicPr>
        <p:blipFill>
          <a:blip r:embed="rId4"/>
          <a:srcRect t="79" b="79"/>
          <a:stretch>
            <a:fillRect/>
          </a:stretch>
        </p:blipFill>
        <p:spPr>
          <a:xfrm>
            <a:off x="0" y="0"/>
            <a:ext cx="6858000" cy="9144000"/>
          </a:xfrm>
          <a:prstGeom prst="rect">
            <a:avLst/>
          </a:prstGeom>
          <a:ln w="12700">
            <a:miter lim="400000"/>
          </a:ln>
        </p:spPr>
      </p:pic>
      <p:sp>
        <p:nvSpPr>
          <p:cNvPr id="1048756" name="TextBox 12"/>
          <p:cNvSpPr txBox="1"/>
          <p:nvPr userDrawn="1"/>
        </p:nvSpPr>
        <p:spPr>
          <a:xfrm>
            <a:off x="4953000" y="8699956"/>
            <a:ext cx="16764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solidFill>
                  <a:schemeClr val="bg1"/>
                </a:solidFill>
              </a:rPr>
              <a:t>PT. Bank Central Asia </a:t>
            </a:r>
            <a:r>
              <a:rPr lang="en-US" sz="800" err="1">
                <a:solidFill>
                  <a:schemeClr val="bg1"/>
                </a:solidFill>
              </a:rPr>
              <a:t>Tbk</a:t>
            </a:r>
            <a:endParaRPr lang="en-US" sz="800">
              <a:solidFill>
                <a:schemeClr val="bg1"/>
              </a:solidFill>
            </a:endParaRPr>
          </a:p>
        </p:txBody>
      </p:sp>
      <p:sp>
        <p:nvSpPr>
          <p:cNvPr id="1048757" name="TextBox 13"/>
          <p:cNvSpPr txBox="1"/>
          <p:nvPr userDrawn="1"/>
        </p:nvSpPr>
        <p:spPr>
          <a:xfrm>
            <a:off x="304800" y="8699956"/>
            <a:ext cx="19812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dirty="0">
                <a:solidFill>
                  <a:schemeClr val="bg1"/>
                </a:solidFill>
              </a:rPr>
              <a:t>CONFIDENTIAL – FOR INTERNAL USE ONLY</a:t>
            </a:r>
          </a:p>
        </p:txBody>
      </p:sp>
      <p:pic>
        <p:nvPicPr>
          <p:cNvPr id="2097168" name="Picture 2" descr="D:\Work\BCA\Lockup-Blue-no-tagline.png"/>
          <p:cNvPicPr>
            <a:picLocks noChangeAspect="1" noChangeArrowheads="1"/>
          </p:cNvPicPr>
          <p:nvPr userDrawn="1"/>
        </p:nvPicPr>
        <p:blipFill>
          <a:blip r:embed="rId5"/>
          <a:srcRect/>
          <a:stretch>
            <a:fillRect/>
          </a:stretch>
        </p:blipFill>
        <p:spPr bwMode="auto">
          <a:xfrm>
            <a:off x="4419601" y="-400048"/>
            <a:ext cx="2738437" cy="2453911"/>
          </a:xfrm>
          <a:prstGeom prst="rect">
            <a:avLst/>
          </a:prstGeom>
          <a:noFill/>
        </p:spPr>
      </p:pic>
    </p:spTree>
  </p:cSld>
  <p:clrMap bg1="lt1" tx1="dk1" bg2="lt2" tx2="dk2" accent1="accent1" accent2="accent2" accent3="accent3" accent4="accent4" accent5="accent5" accent6="accent6" hlink="hlink" folHlink="folHlink"/>
  <p:sldLayoutIdLst>
    <p:sldLayoutId id="2147483676" r:id="rId1"/>
    <p:sldLayoutId id="2147483677"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5" name="Picture 2" descr="D:\Work\BCA\Lockup-Blue-no-tagline.png"/>
          <p:cNvPicPr>
            <a:picLocks noChangeAspect="1" noChangeArrowheads="1"/>
          </p:cNvPicPr>
          <p:nvPr userDrawn="1"/>
        </p:nvPicPr>
        <p:blipFill>
          <a:blip r:embed="rId4"/>
          <a:srcRect/>
          <a:stretch>
            <a:fillRect/>
          </a:stretch>
        </p:blipFill>
        <p:spPr bwMode="auto">
          <a:xfrm>
            <a:off x="5029173" y="-304800"/>
            <a:ext cx="2057428" cy="1843659"/>
          </a:xfrm>
          <a:prstGeom prst="rect">
            <a:avLst/>
          </a:prstGeom>
          <a:noFill/>
        </p:spPr>
      </p:pic>
      <p:cxnSp>
        <p:nvCxnSpPr>
          <p:cNvPr id="3145728" name="Straight Connector 3"/>
          <p:cNvCxnSpPr>
            <a:cxnSpLocks/>
          </p:cNvCxnSpPr>
          <p:nvPr userDrawn="1"/>
        </p:nvCxnSpPr>
        <p:spPr>
          <a:xfrm>
            <a:off x="533400" y="86868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1048693" name="Title 3"/>
          <p:cNvSpPr txBox="1"/>
          <p:nvPr userDrawn="1"/>
        </p:nvSpPr>
        <p:spPr>
          <a:xfrm>
            <a:off x="457200" y="0"/>
            <a:ext cx="5791200" cy="812800"/>
          </a:xfrm>
          <a:prstGeom prst="rect">
            <a:avLst/>
          </a:prstGeom>
        </p:spPr>
        <p:txBody>
          <a:bodyPr anchor="ctr"/>
          <a:lstStyle>
            <a:lvl1pPr algn="l" defTabSz="914400" rtl="0" eaLnBrk="1" latinLnBrk="0" hangingPunct="1">
              <a:spcBef>
                <a:spcPct val="0"/>
              </a:spcBef>
              <a:buNone/>
              <a:defRPr sz="4000" b="1" kern="1200">
                <a:solidFill>
                  <a:srgbClr val="0C5EA8"/>
                </a:solidFill>
                <a:latin typeface="+mj-lt"/>
                <a:ea typeface="+mj-ea"/>
                <a:cs typeface="+mj-cs"/>
              </a:defRPr>
            </a:lvl1pPr>
          </a:lstStyle>
          <a:p>
            <a:r>
              <a:rPr lang="en-US" sz="2800">
                <a:solidFill>
                  <a:schemeClr val="bg1"/>
                </a:solidFill>
              </a:rPr>
              <a:t>Weekly Market Overview</a:t>
            </a:r>
          </a:p>
        </p:txBody>
      </p:sp>
      <p:sp>
        <p:nvSpPr>
          <p:cNvPr id="1048694" name="Rectangle 1"/>
          <p:cNvSpPr/>
          <p:nvPr userDrawn="1"/>
        </p:nvSpPr>
        <p:spPr>
          <a:xfrm>
            <a:off x="6337756" y="8686801"/>
            <a:ext cx="215444" cy="215444"/>
          </a:xfrm>
          <a:prstGeom prst="rect">
            <a:avLst/>
          </a:prstGeom>
          <a:solidFill>
            <a:srgbClr val="0C5E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97166" name="Picture 2"/>
          <p:cNvPicPr>
            <a:picLocks noChangeAspect="1" noChangeArrowheads="1"/>
          </p:cNvPicPr>
          <p:nvPr userDrawn="1"/>
        </p:nvPicPr>
        <p:blipFill>
          <a:blip r:embed="rId5"/>
          <a:srcRect/>
          <a:stretch>
            <a:fillRect/>
          </a:stretch>
        </p:blipFill>
        <p:spPr bwMode="auto">
          <a:xfrm>
            <a:off x="0" y="0"/>
            <a:ext cx="6858000" cy="1493408"/>
          </a:xfrm>
          <a:prstGeom prst="rect">
            <a:avLst/>
          </a:prstGeom>
          <a:noFill/>
          <a:ln>
            <a:noFill/>
          </a:ln>
        </p:spPr>
      </p:pic>
      <p:sp>
        <p:nvSpPr>
          <p:cNvPr id="1048695" name="Date Placeholder 3"/>
          <p:cNvSpPr txBox="1"/>
          <p:nvPr userDrawn="1"/>
        </p:nvSpPr>
        <p:spPr>
          <a:xfrm>
            <a:off x="429768" y="1379108"/>
            <a:ext cx="990600" cy="228600"/>
          </a:xfrm>
          <a:prstGeom prst="rect">
            <a:avLst/>
          </a:prstGeom>
          <a:solidFill>
            <a:srgbClr val="0051A2"/>
          </a:solid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dirty="0">
                <a:solidFill>
                  <a:schemeClr val="bg1"/>
                </a:solidFill>
                <a:latin typeface="+mj-lt"/>
              </a:rPr>
              <a:t>6 July 2026</a:t>
            </a:r>
          </a:p>
        </p:txBody>
      </p:sp>
      <p:sp>
        <p:nvSpPr>
          <p:cNvPr id="1048696" name="TextBox 14"/>
          <p:cNvSpPr txBox="1"/>
          <p:nvPr userDrawn="1"/>
        </p:nvSpPr>
        <p:spPr>
          <a:xfrm>
            <a:off x="457200" y="8699956"/>
            <a:ext cx="16764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b="1">
                <a:solidFill>
                  <a:srgbClr val="0C5EA8"/>
                </a:solidFill>
              </a:rPr>
              <a:t>PT. Bank Central Asia </a:t>
            </a:r>
            <a:r>
              <a:rPr lang="en-US" sz="800" b="1" err="1">
                <a:solidFill>
                  <a:srgbClr val="0C5EA8"/>
                </a:solidFill>
              </a:rPr>
              <a:t>Tbk</a:t>
            </a:r>
            <a:endParaRPr lang="en-US" sz="800" b="1">
              <a:solidFill>
                <a:srgbClr val="0C5EA8"/>
              </a:solidFill>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70" name="Picture 2" descr="D:\Download\BCA Shield Line.png"/>
          <p:cNvPicPr>
            <a:picLocks noChangeAspect="1" noChangeArrowheads="1"/>
          </p:cNvPicPr>
          <p:nvPr userDrawn="1"/>
        </p:nvPicPr>
        <p:blipFill>
          <a:blip r:embed="rId9"/>
          <a:srcRect/>
          <a:stretch>
            <a:fillRect/>
          </a:stretch>
        </p:blipFill>
        <p:spPr bwMode="auto">
          <a:xfrm>
            <a:off x="533400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855"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71" name="Picture 2" descr="D:\Download\BCA Shield Line.png"/>
          <p:cNvPicPr>
            <a:picLocks noChangeAspect="1" noChangeArrowheads="1"/>
          </p:cNvPicPr>
          <p:nvPr userDrawn="1"/>
        </p:nvPicPr>
        <p:blipFill>
          <a:blip r:embed="rId9"/>
          <a:srcRect/>
          <a:stretch>
            <a:fillRect/>
          </a:stretch>
        </p:blipFill>
        <p:spPr bwMode="auto">
          <a:xfrm flipH="1">
            <a:off x="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647"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64" name="Picture 2" descr="D:\Download\BCA Shield Line.png"/>
          <p:cNvPicPr>
            <a:picLocks noChangeAspect="1" noChangeArrowheads="1"/>
          </p:cNvPicPr>
          <p:nvPr userDrawn="1"/>
        </p:nvPicPr>
        <p:blipFill>
          <a:blip r:embed="rId9"/>
          <a:srcRect/>
          <a:stretch>
            <a:fillRect/>
          </a:stretch>
        </p:blipFill>
        <p:spPr bwMode="auto">
          <a:xfrm flipH="1" flipV="1">
            <a:off x="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764"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a:t>CONFIDENTIAL – FOR INTERNAL USE ONLY</a:t>
            </a:r>
          </a:p>
        </p:txBody>
      </p:sp>
      <p:pic>
        <p:nvPicPr>
          <p:cNvPr id="2097169" name="Picture 2" descr="D:\Download\BCA Shield Line.png"/>
          <p:cNvPicPr>
            <a:picLocks noChangeAspect="1" noChangeArrowheads="1"/>
          </p:cNvPicPr>
          <p:nvPr userDrawn="1"/>
        </p:nvPicPr>
        <p:blipFill>
          <a:blip r:embed="rId9"/>
          <a:srcRect/>
          <a:stretch>
            <a:fillRect/>
          </a:stretch>
        </p:blipFill>
        <p:spPr bwMode="auto">
          <a:xfrm flipV="1">
            <a:off x="533400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71488" y="486836"/>
            <a:ext cx="5915025" cy="1767417"/>
          </a:xfrm>
          <a:prstGeom prst="rect">
            <a:avLst/>
          </a:prstGeom>
        </p:spPr>
        <p:txBody>
          <a:bodyPr vert="horz" lIns="116623" tIns="58311" rIns="116623" bIns="58311" rtlCol="0" anchor="ctr">
            <a:normAutofit/>
          </a:bodyPr>
          <a:lstStyle/>
          <a:p>
            <a:r>
              <a:rPr lang="en-US" dirty="0"/>
              <a:t>Click to edit Master title style</a:t>
            </a:r>
          </a:p>
        </p:txBody>
      </p:sp>
      <p:sp>
        <p:nvSpPr>
          <p:cNvPr id="1048577" name="Text Placeholder 2"/>
          <p:cNvSpPr>
            <a:spLocks noGrp="1"/>
          </p:cNvSpPr>
          <p:nvPr>
            <p:ph type="body" idx="1"/>
          </p:nvPr>
        </p:nvSpPr>
        <p:spPr>
          <a:xfrm>
            <a:off x="471488" y="2434166"/>
            <a:ext cx="5915025" cy="5801784"/>
          </a:xfrm>
          <a:prstGeom prst="rect">
            <a:avLst/>
          </a:prstGeom>
        </p:spPr>
        <p:txBody>
          <a:bodyPr vert="horz" lIns="116623" tIns="58311" rIns="116623" bIns="5831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578" name="Date Placeholder 3"/>
          <p:cNvSpPr>
            <a:spLocks noGrp="1"/>
          </p:cNvSpPr>
          <p:nvPr>
            <p:ph type="dt" sz="half" idx="2"/>
          </p:nvPr>
        </p:nvSpPr>
        <p:spPr>
          <a:xfrm>
            <a:off x="471487" y="8475135"/>
            <a:ext cx="1543050" cy="486834"/>
          </a:xfrm>
          <a:prstGeom prst="rect">
            <a:avLst/>
          </a:prstGeom>
        </p:spPr>
        <p:txBody>
          <a:bodyPr vert="horz" lIns="116623" tIns="58311" rIns="116623" bIns="58311" rtlCol="0" anchor="ctr"/>
          <a:lstStyle>
            <a:lvl1pPr algn="l">
              <a:defRPr sz="900">
                <a:solidFill>
                  <a:schemeClr val="tx1">
                    <a:tint val="75000"/>
                  </a:schemeClr>
                </a:solidFill>
              </a:defRPr>
            </a:lvl1pPr>
          </a:lstStyle>
          <a:p>
            <a:pPr defTabSz="1166226"/>
            <a:fld id="{BC9D7FC2-0FF7-41D9-9E23-6B9F3C380436}" type="datetimeFigureOut">
              <a:rPr lang="id-ID" smtClean="0">
                <a:solidFill>
                  <a:prstClr val="black">
                    <a:tint val="75000"/>
                  </a:prstClr>
                </a:solidFill>
              </a:rPr>
              <a:pPr defTabSz="1166226"/>
              <a:t>29/09/2026</a:t>
            </a:fld>
            <a:endParaRPr lang="id-ID">
              <a:solidFill>
                <a:prstClr val="black">
                  <a:tint val="75000"/>
                </a:prstClr>
              </a:solidFill>
            </a:endParaRPr>
          </a:p>
        </p:txBody>
      </p:sp>
      <p:sp>
        <p:nvSpPr>
          <p:cNvPr id="1048579" name="Footer Placeholder 4"/>
          <p:cNvSpPr>
            <a:spLocks noGrp="1"/>
          </p:cNvSpPr>
          <p:nvPr>
            <p:ph type="ftr" sz="quarter" idx="3"/>
          </p:nvPr>
        </p:nvSpPr>
        <p:spPr>
          <a:xfrm>
            <a:off x="2271713" y="8475135"/>
            <a:ext cx="2314575" cy="486834"/>
          </a:xfrm>
          <a:prstGeom prst="rect">
            <a:avLst/>
          </a:prstGeom>
        </p:spPr>
        <p:txBody>
          <a:bodyPr vert="horz" lIns="116623" tIns="58311" rIns="116623" bIns="58311" rtlCol="0" anchor="ctr"/>
          <a:lstStyle>
            <a:lvl1pPr algn="ctr">
              <a:defRPr sz="900">
                <a:solidFill>
                  <a:schemeClr val="tx1">
                    <a:tint val="75000"/>
                  </a:schemeClr>
                </a:solidFill>
              </a:defRPr>
            </a:lvl1pPr>
          </a:lstStyle>
          <a:p>
            <a:pPr defTabSz="1166226"/>
            <a:endParaRPr lang="id-ID">
              <a:solidFill>
                <a:prstClr val="black">
                  <a:tint val="75000"/>
                </a:prstClr>
              </a:solidFill>
            </a:endParaRPr>
          </a:p>
        </p:txBody>
      </p:sp>
      <p:sp>
        <p:nvSpPr>
          <p:cNvPr id="1048580" name="Slide Number Placeholder 5"/>
          <p:cNvSpPr>
            <a:spLocks noGrp="1"/>
          </p:cNvSpPr>
          <p:nvPr>
            <p:ph type="sldNum" sz="quarter" idx="4"/>
          </p:nvPr>
        </p:nvSpPr>
        <p:spPr>
          <a:xfrm>
            <a:off x="4843463" y="8475135"/>
            <a:ext cx="1543050" cy="486834"/>
          </a:xfrm>
          <a:prstGeom prst="rect">
            <a:avLst/>
          </a:prstGeom>
        </p:spPr>
        <p:txBody>
          <a:bodyPr vert="horz" lIns="116623" tIns="58311" rIns="116623" bIns="58311" rtlCol="0" anchor="ctr"/>
          <a:lstStyle>
            <a:lvl1pPr algn="r">
              <a:defRPr sz="900">
                <a:solidFill>
                  <a:schemeClr val="tx1">
                    <a:tint val="75000"/>
                  </a:schemeClr>
                </a:solidFill>
              </a:defRPr>
            </a:lvl1pPr>
          </a:lstStyle>
          <a:p>
            <a:pPr defTabSz="1166226"/>
            <a:fld id="{477D8BF5-2754-4CFE-9C4A-CCAF84A93D96}" type="slidenum">
              <a:rPr lang="id-ID" smtClean="0">
                <a:solidFill>
                  <a:prstClr val="black">
                    <a:tint val="75000"/>
                  </a:prstClr>
                </a:solidFill>
              </a:rPr>
              <a:pPr defTabSz="1166226"/>
              <a:t>‹#›</a:t>
            </a:fld>
            <a:endParaRPr lang="id-ID">
              <a:solidFill>
                <a:prstClr val="black">
                  <a:tint val="75000"/>
                </a:prstClr>
              </a:solidFill>
            </a:endParaRPr>
          </a:p>
        </p:txBody>
      </p:sp>
      <p:pic>
        <p:nvPicPr>
          <p:cNvPr id="2097152" name="Picture 6"/>
          <p:cNvPicPr>
            <a:picLocks noChangeAspect="1"/>
          </p:cNvPicPr>
          <p:nvPr userDrawn="1"/>
        </p:nvPicPr>
        <p:blipFill>
          <a:blip r:embed="rId13" cstate="print"/>
          <a:stretch>
            <a:fillRect/>
          </a:stretch>
        </p:blipFill>
        <p:spPr>
          <a:xfrm>
            <a:off x="-2" y="2250"/>
            <a:ext cx="6858000" cy="1657375"/>
          </a:xfrm>
          <a:prstGeom prst="rect">
            <a:avLst/>
          </a:prstGeom>
        </p:spPr>
      </p:pic>
      <p:sp>
        <p:nvSpPr>
          <p:cNvPr id="1048581" name="TextBox 7"/>
          <p:cNvSpPr txBox="1"/>
          <p:nvPr userDrawn="1"/>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582" name="TextBox 8"/>
          <p:cNvSpPr txBox="1"/>
          <p:nvPr userDrawn="1"/>
        </p:nvSpPr>
        <p:spPr>
          <a:xfrm>
            <a:off x="325874" y="996200"/>
            <a:ext cx="3103126" cy="353303"/>
          </a:xfrm>
          <a:prstGeom prst="rect">
            <a:avLst/>
          </a:prstGeom>
          <a:noFill/>
        </p:spPr>
        <p:txBody>
          <a:bodyPr wrap="square" lIns="116612" tIns="58306" rIns="116612" bIns="58306" rtlCol="0">
            <a:spAutoFit/>
          </a:bodyPr>
          <a:lstStyle/>
          <a:p>
            <a:pPr defTabSz="1166125"/>
            <a:r>
              <a:rPr lang="id-ID" sz="1500" b="1">
                <a:solidFill>
                  <a:prstClr val="white"/>
                </a:solidFill>
              </a:rPr>
              <a:t>Wealth Management Division</a:t>
            </a:r>
          </a:p>
        </p:txBody>
      </p:sp>
      <p:sp>
        <p:nvSpPr>
          <p:cNvPr id="1048583" name="Rectangle 9"/>
          <p:cNvSpPr/>
          <p:nvPr userDrawn="1"/>
        </p:nvSpPr>
        <p:spPr>
          <a:xfrm>
            <a:off x="429768" y="1373499"/>
            <a:ext cx="1295400" cy="201168"/>
          </a:xfrm>
          <a:prstGeom prst="rect">
            <a:avLst/>
          </a:prstGeom>
          <a:solidFill>
            <a:srgbClr val="0051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584" name="Date Placeholder 3"/>
          <p:cNvSpPr txBox="1"/>
          <p:nvPr userDrawn="1"/>
        </p:nvSpPr>
        <p:spPr>
          <a:xfrm>
            <a:off x="367349" y="1330070"/>
            <a:ext cx="1420237" cy="288025"/>
          </a:xfrm>
          <a:prstGeom prst="rect">
            <a:avLst/>
          </a:prstGeom>
          <a:no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b="1" baseline="0" dirty="0">
                <a:solidFill>
                  <a:schemeClr val="bg1"/>
                </a:solidFill>
                <a:latin typeface="+mn-lt"/>
              </a:rPr>
              <a:t>28 September 2026</a:t>
            </a:r>
            <a:endParaRPr lang="en-US" sz="1000" b="1" dirty="0">
              <a:solidFill>
                <a:schemeClr val="bg1"/>
              </a:solidFill>
              <a:latin typeface="+mn-lt"/>
            </a:endParaRPr>
          </a:p>
        </p:txBody>
      </p:sp>
      <p:pic>
        <p:nvPicPr>
          <p:cNvPr id="2097153" name="Picture 11"/>
          <p:cNvPicPr>
            <a:picLocks noChangeAspect="1"/>
          </p:cNvPicPr>
          <p:nvPr userDrawn="1"/>
        </p:nvPicPr>
        <p:blipFill>
          <a:blip r:embed="rId14" cstate="print"/>
          <a:stretch>
            <a:fillRect/>
          </a:stretch>
        </p:blipFill>
        <p:spPr>
          <a:xfrm>
            <a:off x="5050631" y="-4628"/>
            <a:ext cx="1807369" cy="1376228"/>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68574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35" indent="-171435" algn="l" defTabSz="68574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05" indent="-171435" algn="l" defTabSz="68574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176" indent="-171435" algn="l" defTabSz="68574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4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4pPr>
      <a:lvl5pPr marL="1542916"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5pPr>
      <a:lvl6pPr marL="188578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6pPr>
      <a:lvl7pPr marL="222865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7pPr>
      <a:lvl8pPr marL="2571528"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8pPr>
      <a:lvl9pPr marL="2914399"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9pPr>
    </p:bodyStyle>
    <p:otherStyle>
      <a:defPPr>
        <a:defRPr lang="en-US"/>
      </a:defPPr>
      <a:lvl1pPr marL="0" algn="l" defTabSz="685740" rtl="0" eaLnBrk="1" latinLnBrk="0" hangingPunct="1">
        <a:defRPr sz="1300" kern="1200">
          <a:solidFill>
            <a:schemeClr val="tx1"/>
          </a:solidFill>
          <a:latin typeface="+mn-lt"/>
          <a:ea typeface="+mn-ea"/>
          <a:cs typeface="+mn-cs"/>
        </a:defRPr>
      </a:lvl1pPr>
      <a:lvl2pPr marL="342871" algn="l" defTabSz="685740" rtl="0" eaLnBrk="1" latinLnBrk="0" hangingPunct="1">
        <a:defRPr sz="1300" kern="1200">
          <a:solidFill>
            <a:schemeClr val="tx1"/>
          </a:solidFill>
          <a:latin typeface="+mn-lt"/>
          <a:ea typeface="+mn-ea"/>
          <a:cs typeface="+mn-cs"/>
        </a:defRPr>
      </a:lvl2pPr>
      <a:lvl3pPr marL="685740" algn="l" defTabSz="685740" rtl="0" eaLnBrk="1" latinLnBrk="0" hangingPunct="1">
        <a:defRPr sz="1300" kern="1200">
          <a:solidFill>
            <a:schemeClr val="tx1"/>
          </a:solidFill>
          <a:latin typeface="+mn-lt"/>
          <a:ea typeface="+mn-ea"/>
          <a:cs typeface="+mn-cs"/>
        </a:defRPr>
      </a:lvl3pPr>
      <a:lvl4pPr marL="1028611" algn="l" defTabSz="685740" rtl="0" eaLnBrk="1" latinLnBrk="0" hangingPunct="1">
        <a:defRPr sz="1300" kern="1200">
          <a:solidFill>
            <a:schemeClr val="tx1"/>
          </a:solidFill>
          <a:latin typeface="+mn-lt"/>
          <a:ea typeface="+mn-ea"/>
          <a:cs typeface="+mn-cs"/>
        </a:defRPr>
      </a:lvl4pPr>
      <a:lvl5pPr marL="1371481" algn="l" defTabSz="685740" rtl="0" eaLnBrk="1" latinLnBrk="0" hangingPunct="1">
        <a:defRPr sz="1300" kern="1200">
          <a:solidFill>
            <a:schemeClr val="tx1"/>
          </a:solidFill>
          <a:latin typeface="+mn-lt"/>
          <a:ea typeface="+mn-ea"/>
          <a:cs typeface="+mn-cs"/>
        </a:defRPr>
      </a:lvl5pPr>
      <a:lvl6pPr marL="1714352" algn="l" defTabSz="685740" rtl="0" eaLnBrk="1" latinLnBrk="0" hangingPunct="1">
        <a:defRPr sz="1300" kern="1200">
          <a:solidFill>
            <a:schemeClr val="tx1"/>
          </a:solidFill>
          <a:latin typeface="+mn-lt"/>
          <a:ea typeface="+mn-ea"/>
          <a:cs typeface="+mn-cs"/>
        </a:defRPr>
      </a:lvl6pPr>
      <a:lvl7pPr marL="2057223" algn="l" defTabSz="685740" rtl="0" eaLnBrk="1" latinLnBrk="0" hangingPunct="1">
        <a:defRPr sz="1300" kern="1200">
          <a:solidFill>
            <a:schemeClr val="tx1"/>
          </a:solidFill>
          <a:latin typeface="+mn-lt"/>
          <a:ea typeface="+mn-ea"/>
          <a:cs typeface="+mn-cs"/>
        </a:defRPr>
      </a:lvl7pPr>
      <a:lvl8pPr marL="2400092" algn="l" defTabSz="685740" rtl="0" eaLnBrk="1" latinLnBrk="0" hangingPunct="1">
        <a:defRPr sz="1300" kern="1200">
          <a:solidFill>
            <a:schemeClr val="tx1"/>
          </a:solidFill>
          <a:latin typeface="+mn-lt"/>
          <a:ea typeface="+mn-ea"/>
          <a:cs typeface="+mn-cs"/>
        </a:defRPr>
      </a:lvl8pPr>
      <a:lvl9pPr marL="2742963" algn="l" defTabSz="68574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3.xml"/><Relationship Id="rId5" Type="http://schemas.openxmlformats.org/officeDocument/2006/relationships/image" Target="../media/image7.png"/><Relationship Id="rId21" Type="http://schemas.openxmlformats.org/officeDocument/2006/relationships/chart" Target="../charts/chart1.xml"/><Relationship Id="rId22" Type="http://schemas.openxmlformats.org/officeDocument/2006/relationships/chart" Target="../charts/char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A3D354-8BCD-AEA6-8291-770CF570A6FA}"/>
            </a:ext>
          </a:extLst>
        </p:cNvPr>
        <p:cNvGrpSpPr/>
        <p:nvPr/>
      </p:nvGrpSpPr>
      <p:grpSpPr>
        <a:xfrm>
          <a:off x="0" y="0"/>
          <a:ext cx="0" cy="0"/>
          <a:chOff x="0" y="0"/>
          <a:chExt cx="0" cy="0"/>
        </a:xfrm>
      </p:grpSpPr>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3" name="AutoShape 2" descr="ready">
            <a:extLst>
              <a:ext uri="{FF2B5EF4-FFF2-40B4-BE49-F238E27FC236}">
                <a16:creationId xmlns:a16="http://schemas.microsoft.com/office/drawing/2014/main" xmlns="" id="{8AF2A150-BA6F-1131-F1B7-3D952C15F9EF}"/>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7B140D9F-5D65-3951-6C22-9AD76A0BBC96}"/>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4064EA44-2393-C6D7-353F-1AED27249558}"/>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Near-Term Fed Pricing Eases, Long Yields Stay Elevated</a:t>
            </a:r>
          </a:p>
        </p:txBody>
      </p:sp>
      <p:sp>
        <p:nvSpPr>
          <p:cNvPr id="1048600" name="Rectangle 1" hidden="1">
            <a:extLst>
              <a:ext uri="{FF2B5EF4-FFF2-40B4-BE49-F238E27FC236}">
                <a16:creationId xmlns:a16="http://schemas.microsoft.com/office/drawing/2014/main" xmlns="" id="{CF6E507A-6E48-8447-9CF0-55DF2D2EE4E5}"/>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EEBA54D-D173-849E-1A04-ADCC7871DF7D}"/>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176D383B-253F-73B0-7483-5820625180BC}"/>
              </a:ext>
            </a:extLst>
          </p:cNvPr>
          <p:cNvSpPr txBox="1"/>
          <p:nvPr/>
        </p:nvSpPr>
        <p:spPr>
          <a:xfrm>
            <a:off x="267148" y="2641487"/>
            <a:ext cx="6321467" cy="4152328"/>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October Fades, December Remains in Play.</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Berdasarkan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snapshot</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CME FedWatch 5 Oktober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intraday</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waktu pengambilan belum terverifikasi), probabilitas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≥4,00% pada FOMC 28 Oktober hanya 20,5%, sementara pada FOMC 9 Desember mencapai 81,7% (4,00–4,25%: 65,9%; 4,25–4,50%: 15,8%)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1).</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Artinya,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yang lebih tinggi masih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priced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hingga Desember, meski peluangnya pada Oktober relatif kecil. Angka Desember menggambarkan distribusi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pada pertemuan tersebut, bukan peluang perubahan khusus di Desember, dan satu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snapshot</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belum cukup untuk menyimpulkan pergeseran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timing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Lower Policy Pricing, Sticky Long Yields.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Sepanjang 28 September–2 Oktober, probabilitas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Oktober pada 4,00–4,25% turun dari 70,9%, setara level tertinggi dalam data sejak Oktober 2025, menjadi 22,1%. Namun, UST 10YR justru naik dari 5,2361% menjadi 5,2706%, atau sekitar 3,5 bps. Perbedaan arah ini menunjukkan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repricing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kebijakan jangka pendek belum diikuti penurunan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Treasury jangka panjang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2).</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Pada periode 25 September–2 Oktober, probabilitas tersebut turun 42,1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percentage points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sementara UST 10YR naik 11,0 bps.</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Still Above 5%.</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UST 10YR masih berada di 5,2644% pada 5 Oktober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intraday</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dan bertahan di atas 5% sejak 23 September. Data pekan ini belum mengukur penyebabnya secara langsung.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Breakeven inflation</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10YR yang stabil di 2,33% dan lemahnya permintaan lelang UST yang kami catat pada edisi 28 September konsisten dengan peran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tetapi perlu dikonfirmasi ulang dengan data terbaru.</a:t>
            </a:r>
          </a:p>
          <a:p>
            <a:pPr marL="0" indent="0" algn="just">
              <a:lnSpc>
                <a:spcPct val="100000"/>
              </a:lnSpc>
              <a:spcBef>
                <a:spcPts val="0"/>
              </a:spcBef>
              <a:spcAft>
                <a:spcPts val="0"/>
              </a:spcAft>
              <a:buNone/>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Bottom Line: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Pricing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kebijakan jangka pendek menurun, tetapi UST 10YR belum ikut turun. Selama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jangka panjang bertahan di atas 5%, penurunan probabilitas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Oktober belum berarti biaya pendanaan jangka panjang lebih murah.</a:t>
            </a:r>
          </a:p>
        </p:txBody>
      </p:sp>
      <p:sp>
        <p:nvSpPr>
          <p:cNvPr id="5" name="TextBox 14">
            <a:extLst>
              <a:ext uri="{FF2B5EF4-FFF2-40B4-BE49-F238E27FC236}">
                <a16:creationId xmlns:a16="http://schemas.microsoft.com/office/drawing/2014/main" xmlns="" id="{D4B8596B-26A2-A107-9491-F77413FD73E9}"/>
              </a:ext>
            </a:extLst>
          </p:cNvPr>
          <p:cNvSpPr txBox="1"/>
          <p:nvPr/>
        </p:nvSpPr>
        <p:spPr>
          <a:xfrm>
            <a:off x="357470" y="1991541"/>
            <a:ext cx="6140824" cy="671338"/>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4000"/>
              </a:lnSpc>
              <a:spcAft>
                <a:spcPts val="600"/>
              </a:spcAft>
              <a:buNone/>
            </a:pP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Probabilitas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target rate</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Oktober pada 4,00–4,25% turun tajam sepanjang 28 September–2 Oktober, sementara UST 10YR tetap di atas 5%.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Repricing</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kebijakan jangka pendek belum diikuti penurunan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yield</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jangka panjang.</a:t>
            </a:r>
            <a:endParaRPr lang="en-ID" sz="11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xmlns="" id="{9364F82B-6A7E-C001-7CA3-8B7539E1A9F3}"/>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1: Probability of Fed Target Rate ≥4.00% (%)</a:t>
            </a:r>
          </a:p>
        </p:txBody>
      </p:sp>
      <p:sp>
        <p:nvSpPr>
          <p:cNvPr id="16" name="Rectangle 15">
            <a:extLst>
              <a:ext uri="{FF2B5EF4-FFF2-40B4-BE49-F238E27FC236}">
                <a16:creationId xmlns:a16="http://schemas.microsoft.com/office/drawing/2014/main" xmlns="" id="{521BD689-A1BE-2C80-CD40-347502682528}"/>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2: Probability of October Target Rate ≥4.00% vs. UST 10YR Yield (%)</a:t>
            </a:r>
          </a:p>
        </p:txBody>
      </p:sp>
      <p:sp>
        <p:nvSpPr>
          <p:cNvPr id="17" name="TextBox 16">
            <a:extLst>
              <a:ext uri="{FF2B5EF4-FFF2-40B4-BE49-F238E27FC236}">
                <a16:creationId xmlns:a16="http://schemas.microsoft.com/office/drawing/2014/main" xmlns="" id="{4633A3AC-8636-4AE6-02AA-E5E621B95435}"/>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CME FedWatch, supplied screenshot; calculations</a:t>
            </a:r>
          </a:p>
        </p:txBody>
      </p:sp>
      <p:sp>
        <p:nvSpPr>
          <p:cNvPr id="18" name="TextBox 17">
            <a:extLst>
              <a:ext uri="{FF2B5EF4-FFF2-40B4-BE49-F238E27FC236}">
                <a16:creationId xmlns:a16="http://schemas.microsoft.com/office/drawing/2014/main" xmlns="" id="{D0453F5D-6FFC-500A-82C8-673EF390E1E2}"/>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CME FedWatch; Bloomberg, USGG10YR Index; supplied exports</a:t>
            </a:r>
          </a:p>
        </p:txBody>
      </p:sp>
      <p:sp>
        <p:nvSpPr>
          <p:cNvPr id="8" name="TextBox 16">
            <a:extLst>
              <a:ext uri="{FF2B5EF4-FFF2-40B4-BE49-F238E27FC236}">
                <a16:creationId xmlns:a16="http://schemas.microsoft.com/office/drawing/2014/main" xmlns="" id="{F32355F2-740C-F04B-B0F1-EB806AD7E26A}"/>
              </a:ext>
            </a:extLst>
          </p:cNvPr>
          <p:cNvSpPr txBox="1"/>
          <p:nvPr/>
        </p:nvSpPr>
        <p:spPr>
          <a:xfrm>
            <a:off x="5966339" y="8792881"/>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graphicFrame>
        <p:nvGraphicFramePr>
          <p:cNvPr id="1048604" name="Exhibit 1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r:id="rId21"/>
          </a:graphicData>
        </a:graphic>
      </p:graphicFrame>
      <p:graphicFrame>
        <p:nvGraphicFramePr>
          <p:cNvPr id="1048605" name="Exhibit 2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r:id="rId22"/>
          </a:graphicData>
        </a:graphic>
      </p:graphicFrame>
      <p:pic>
        <p:nvPicPr>
          <p:cNvPr id="26" name="Picture 15">
            <a:extLst>
              <a:ext uri="{FF2B5EF4-FFF2-40B4-BE49-F238E27FC236}">
                <a16:creationId xmlns:a16="http://schemas.microsoft.com/office/drawing/2014/main" xmlns=""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27"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Tree>
    <p:extLst>
      <p:ext uri="{BB962C8B-B14F-4D97-AF65-F5344CB8AC3E}">
        <p14:creationId xmlns:p14="http://schemas.microsoft.com/office/powerpoint/2010/main" val="20214989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9C8450-D8E1-A3AC-0F5B-7FC7E6284222}"/>
            </a:ext>
          </a:extLst>
        </p:cNvPr>
        <p:cNvGrpSpPr/>
        <p:nvPr/>
      </p:nvGrpSpPr>
      <p:grpSpPr>
        <a:xfrm>
          <a:off x="0" y="0"/>
          <a:ext cx="0" cy="0"/>
          <a:chOff x="0" y="0"/>
          <a:chExt cx="0" cy="0"/>
        </a:xfrm>
      </p:grpSpPr>
      <p:sp>
        <p:nvSpPr>
          <p:cNvPr id="2097157"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3" name="AutoShape 2" descr="ready">
            <a:extLst>
              <a:ext uri="{FF2B5EF4-FFF2-40B4-BE49-F238E27FC236}">
                <a16:creationId xmlns:a16="http://schemas.microsoft.com/office/drawing/2014/main" xmlns="" id="{EEA7578E-139D-ADAC-DF76-92A90E103C68}"/>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1ADFF4F1-DB48-4000-7B3F-5F2FE9315194}"/>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02B742B4-5BBF-CB82-5E42-997145DC802D}"/>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Investors Are Buying the Index, Not the Market</a:t>
            </a:r>
            <a:endParaRPr lang="en-US" b="1" i="1" dirty="0"/>
          </a:p>
        </p:txBody>
      </p:sp>
      <p:sp>
        <p:nvSpPr>
          <p:cNvPr id="1048600" name="Rectangle 1" hidden="1">
            <a:extLst>
              <a:ext uri="{FF2B5EF4-FFF2-40B4-BE49-F238E27FC236}">
                <a16:creationId xmlns:a16="http://schemas.microsoft.com/office/drawing/2014/main" xmlns="" id="{C9600879-7D9D-DDA8-6014-71CA1503C382}"/>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0B53999-22F3-D434-AB67-27BE468C503C}"/>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97971A31-5694-E124-772C-CCCC3C1B53FF}"/>
              </a:ext>
            </a:extLst>
          </p:cNvPr>
          <p:cNvSpPr txBox="1"/>
          <p:nvPr/>
        </p:nvSpPr>
        <p:spPr>
          <a:xfrm>
            <a:off x="267148" y="2610752"/>
            <a:ext cx="6321467" cy="4183063"/>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Big Money, Narrow Door.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Investor masih menambah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exposure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US equities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conviction</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semakin terkonsentrasi pada segelintir saham.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Weekly fund flows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 menunjukkan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net inflow</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([USD XX bn]), namun sebagian besar dana masuk ke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large-cap funds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sementara beberapa kategori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sector funds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melemah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3).</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Pola ini menunjukkan investor belum berada dalam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broad risk-on mode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 lebih memilih perusahaan dengan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scale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balance sheet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kuat,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 visibility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tinggi. Alhasil,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headline inflow</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yang positif justru menyembunyikan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market leadership</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yang semakin sempit.</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AI Is Becoming Its Own Rate Problem.</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AI yang selama ini menopang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equity market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mulai menciptakan tekanan baru melalui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bond market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Hyperscalers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terus menambah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funding</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untuk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data centers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compute capacity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chips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AI infrastructure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sehingga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corporate bond supply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meningkat ketika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sovereign funding needs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masih besar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4).</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Kondisi ini memperketat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competition for capital</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 menjaga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long-term funding costs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 tinggi. Alhasil, AI kini bekerja dua arah: mendukung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growth</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di sisi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equity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tetapi menambah tekanan pada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cost of capital</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melalui pasar obligasi.</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Good Earnings Are No Longer Enough.</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Saat ekspektasi sudah tinggi, kinerja di atas konsensus tidak lagi cukup menghasilkan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upside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besar. Micron menunjukkan kuatnya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AI demand</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melalui kinerja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guidance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di atas ekspektasi, tetapi respons saham yang terbatas ([XX%] dalam sepekan) menunjukkan optimisme sudah tercermin dalam valuasi. Dengan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long-term yields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elevated</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investor akan mencermati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guidance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 visibility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 kemampuan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AI capex</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menghasilkan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return</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memadai. Alhasil,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fundamental delivery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harus semakin kuat untuk mempertahankan valuasi premium.</a:t>
            </a:r>
          </a:p>
          <a:p>
            <a:pPr marL="0" indent="0" algn="just">
              <a:lnSpc>
                <a:spcPct val="100000"/>
              </a:lnSpc>
              <a:spcBef>
                <a:spcPts val="0"/>
              </a:spcBef>
              <a:spcAft>
                <a:spcPts val="0"/>
              </a:spcAft>
              <a:buNone/>
            </a:pPr>
            <a:r>
              <a:rPr lang="en-ID" sz="1100" b="1" i="1" kern="100" dirty="0">
                <a:latin typeface="Calibri" panose="020F0502020204030204" pitchFamily="34" charset="0"/>
                <a:ea typeface="Calibri" panose="020F0502020204030204" pitchFamily="34" charset="0"/>
                <a:cs typeface="Times New Roman" panose="02020603050405020304" pitchFamily="18" charset="0"/>
              </a:rPr>
              <a:t>Bottom Line: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Dana belum keluar dari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US equities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tetapi terkonsentrasi pada emiten dengan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 visibility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terbaik. AI tetap menjadi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growth driver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namun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rising funding costs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menaikkan standar valuasi.</a:t>
            </a:r>
          </a:p>
        </p:txBody>
      </p:sp>
      <p:sp>
        <p:nvSpPr>
          <p:cNvPr id="5" name="TextBox 14">
            <a:extLst>
              <a:ext uri="{FF2B5EF4-FFF2-40B4-BE49-F238E27FC236}">
                <a16:creationId xmlns:a16="http://schemas.microsoft.com/office/drawing/2014/main" xmlns="" id="{21AB08E0-6722-8ED3-29AF-C5C3DE5AF6C1}"/>
              </a:ext>
            </a:extLst>
          </p:cNvPr>
          <p:cNvSpPr txBox="1"/>
          <p:nvPr/>
        </p:nvSpPr>
        <p:spPr>
          <a:xfrm>
            <a:off x="357470" y="1991541"/>
            <a:ext cx="6140824" cy="62773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07000"/>
              </a:lnSpc>
              <a:spcAft>
                <a:spcPts val="600"/>
              </a:spcAft>
              <a:buNone/>
            </a:pP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Dana masih masuk ke </a:t>
            </a:r>
            <a:r>
              <a:rPr lang="en-US" sz="1100" b="1" dirty="0" i="1">
                <a:latin typeface="Calibri" panose="020F0502020204030204" pitchFamily="34" charset="0"/>
                <a:ea typeface="MS Mincho" panose="02020609040205080304" pitchFamily="49" charset="-128"/>
                <a:cs typeface="Times New Roman" panose="02020603050405020304" pitchFamily="18" charset="0"/>
              </a:rPr>
              <a:t>US equities</a:t>
            </a: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 meskipun </a:t>
            </a:r>
            <a:r>
              <a:rPr lang="en-US" sz="1100" b="1" dirty="0" i="1">
                <a:latin typeface="Calibri" panose="020F0502020204030204" pitchFamily="34" charset="0"/>
                <a:ea typeface="MS Mincho" panose="02020609040205080304" pitchFamily="49" charset="-128"/>
                <a:cs typeface="Times New Roman" panose="02020603050405020304" pitchFamily="18" charset="0"/>
              </a:rPr>
              <a:t>bond yields</a:t>
            </a: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 meningkat, tetapi alirannya semakin terkonsentrasi pada </a:t>
            </a:r>
            <a:r>
              <a:rPr lang="en-US" sz="1100" b="1" dirty="0" i="1">
                <a:latin typeface="Calibri" panose="020F0502020204030204" pitchFamily="34" charset="0"/>
                <a:ea typeface="MS Mincho" panose="02020609040205080304" pitchFamily="49" charset="-128"/>
                <a:cs typeface="Times New Roman" panose="02020603050405020304" pitchFamily="18" charset="0"/>
              </a:rPr>
              <a:t>large caps</a:t>
            </a: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 Di saat yang sama, besarnya kebutuhan pendanaan AI mulai mendorong naik </a:t>
            </a:r>
            <a:r>
              <a:rPr lang="en-US" sz="1100" b="1" dirty="0" i="1">
                <a:latin typeface="Calibri" panose="020F0502020204030204" pitchFamily="34" charset="0"/>
                <a:ea typeface="MS Mincho" panose="02020609040205080304" pitchFamily="49" charset="-128"/>
                <a:cs typeface="Times New Roman" panose="02020603050405020304" pitchFamily="18" charset="0"/>
              </a:rPr>
              <a:t>cost of capital</a:t>
            </a: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 membuat </a:t>
            </a:r>
            <a:r>
              <a:rPr lang="en-US" sz="1100" b="1" dirty="0" i="1">
                <a:latin typeface="Calibri" panose="020F0502020204030204" pitchFamily="34" charset="0"/>
                <a:ea typeface="MS Mincho" panose="02020609040205080304" pitchFamily="49" charset="-128"/>
                <a:cs typeface="Times New Roman" panose="02020603050405020304" pitchFamily="18" charset="0"/>
              </a:rPr>
              <a:t>earnings delivery</a:t>
            </a: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 semakin penting.</a:t>
            </a:r>
          </a:p>
        </p:txBody>
      </p:sp>
      <p:sp>
        <p:nvSpPr>
          <p:cNvPr id="23" name="Rectangle 22">
            <a:extLst>
              <a:ext uri="{FF2B5EF4-FFF2-40B4-BE49-F238E27FC236}">
                <a16:creationId xmlns:a16="http://schemas.microsoft.com/office/drawing/2014/main" xmlns="" id="{9BEC99D9-435F-04D4-A2BA-741342AE43A5}"/>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4: Hyperscaler Debt Issuance (USD Bn)</a:t>
            </a:r>
            <a:endParaRPr lang="en-US" sz="1100" b="1" i="1" dirty="0"/>
          </a:p>
        </p:txBody>
      </p:sp>
      <p:sp>
        <p:nvSpPr>
          <p:cNvPr id="19" name="Rectangle 18">
            <a:extLst>
              <a:ext uri="{FF2B5EF4-FFF2-40B4-BE49-F238E27FC236}">
                <a16:creationId xmlns:a16="http://schemas.microsoft.com/office/drawing/2014/main" xmlns="" id="{3695F0D5-4618-1656-ADB9-93963C68CFB1}"/>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3: US Equity Fund Flows by Category (USD Bn)</a:t>
            </a:r>
          </a:p>
        </p:txBody>
      </p:sp>
      <p:grpSp>
        <p:nvGrpSpPr>
          <p:cNvPr id="10" name="Group 9">
            <a:extLst>
              <a:ext uri="{FF2B5EF4-FFF2-40B4-BE49-F238E27FC236}">
                <a16:creationId xmlns:a16="http://schemas.microsoft.com/office/drawing/2014/main" xmlns="" id="{BD720CA6-F6F0-FEFE-71DF-C1919A6B1B44}"/>
              </a:ext>
            </a:extLst>
          </p:cNvPr>
          <p:cNvGrpSpPr/>
          <p:nvPr/>
        </p:nvGrpSpPr>
        <p:grpSpPr>
          <a:xfrm>
            <a:off x="424492" y="8779499"/>
            <a:ext cx="6197464" cy="281857"/>
            <a:chOff x="424492" y="8779499"/>
            <a:chExt cx="6197464" cy="281857"/>
          </a:xfrm>
        </p:grpSpPr>
        <p:grpSp>
          <p:nvGrpSpPr>
            <p:cNvPr id="9" name="Group 8">
              <a:extLst>
                <a:ext uri="{FF2B5EF4-FFF2-40B4-BE49-F238E27FC236}">
                  <a16:creationId xmlns:a16="http://schemas.microsoft.com/office/drawing/2014/main" xmlns="" id="{595591FE-7050-5062-9761-FD722F238C80}"/>
                </a:ext>
              </a:extLst>
            </p:cNvPr>
            <p:cNvGrpSpPr/>
            <p:nvPr/>
          </p:nvGrpSpPr>
          <p:grpSpPr>
            <a:xfrm>
              <a:off x="424492" y="8779499"/>
              <a:ext cx="6009013" cy="274793"/>
              <a:chOff x="424492" y="8779499"/>
              <a:chExt cx="6009013" cy="274793"/>
            </a:xfrm>
          </p:grpSpPr>
          <p:pic>
            <p:nvPicPr>
              <p:cNvPr id="2097154" name="Picture 15">
                <a:extLst>
                  <a:ext uri="{FF2B5EF4-FFF2-40B4-BE49-F238E27FC236}">
                    <a16:creationId xmlns:a16="http://schemas.microsoft.com/office/drawing/2014/main" xmlns="" id="{FA3E071E-8624-2961-6E00-0A1F6DC56878}"/>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591"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8" name="TextBox 16">
              <a:extLst>
                <a:ext uri="{FF2B5EF4-FFF2-40B4-BE49-F238E27FC236}">
                  <a16:creationId xmlns:a16="http://schemas.microsoft.com/office/drawing/2014/main" xmlns="" id="{9B60571A-08C2-7AEE-BF8A-BB6A9CBF0DEF}"/>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2</a:t>
              </a:fld>
              <a:endParaRPr lang="id-ID" sz="1000" dirty="0">
                <a:solidFill>
                  <a:schemeClr val="bg1"/>
                </a:solidFill>
              </a:endParaRPr>
            </a:p>
          </p:txBody>
        </p:sp>
      </p:grpSp>
      <p:sp>
        <p:nvSpPr>
          <p:cNvPr id="12" name="TextBox 11">
            <a:extLst>
              <a:ext uri="{FF2B5EF4-FFF2-40B4-BE49-F238E27FC236}">
                <a16:creationId xmlns:a16="http://schemas.microsoft.com/office/drawing/2014/main" xmlns="" id="{FF204A18-5FB8-26E5-1B60-AA36AB80687F}"/>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([DD Month 2026])</a:t>
            </a:r>
          </a:p>
        </p:txBody>
      </p:sp>
      <p:sp>
        <p:nvSpPr>
          <p:cNvPr id="14" name="TextBox 13">
            <a:extLst>
              <a:ext uri="{FF2B5EF4-FFF2-40B4-BE49-F238E27FC236}">
                <a16:creationId xmlns:a16="http://schemas.microsoft.com/office/drawing/2014/main" xmlns="" id="{A78846AF-0BC5-D3C3-6771-5FE986D3FAC4}"/>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([DD Month 2026])</a:t>
            </a:r>
          </a:p>
        </p:txBody>
      </p:sp>
      <p:sp>
        <p:nvSpPr>
          <p:cNvPr id="2097155" name="Exhibit 3 Placeholder"/>
          <p:cNvSpPr/>
          <p:nvPr/>
        </p:nvSpPr>
        <p:spPr>
          <a:xfrm>
            <a:off x="354579" y="7167732"/>
            <a:ext cx="3035808" cy="1495904"/>
          </a:xfrm>
          <a:prstGeom prst="rect">
            <a:avLst/>
          </a:prstGeom>
          <a:noFill/>
          <a:ln>
            <a:noFill/>
          </a:ln>
        </p:spPr>
        <p:txBody>
          <a:bodyPr rtlCol="0" anchor="ctr"/>
          <a:lstStyle/>
          <a:p>
            <a:pPr algn="ctr"/>
            <a:r>
              <a:rPr lang="en-US" sz="800" i="1" dirty="0">
                <a:solidFill>
                  <a:srgbClr val="A6A6A6"/>
                </a:solidFill>
                <a:latin typeface="+mn-lt"/>
              </a:rPr>
              <a:t>Bloomberg data pending</a:t>
            </a:r>
          </a:p>
        </p:txBody>
      </p:sp>
      <p:sp>
        <p:nvSpPr>
          <p:cNvPr id="2097156" name="Exhibit 4 Placeholder"/>
          <p:cNvSpPr/>
          <p:nvPr/>
        </p:nvSpPr>
        <p:spPr>
          <a:xfrm>
            <a:off x="3530765" y="7167732"/>
            <a:ext cx="3035808" cy="1495904"/>
          </a:xfrm>
          <a:prstGeom prst="rect">
            <a:avLst/>
          </a:prstGeom>
          <a:noFill/>
          <a:ln>
            <a:noFill/>
          </a:ln>
        </p:spPr>
        <p:txBody>
          <a:bodyPr rtlCol="0" anchor="ctr"/>
          <a:lstStyle/>
          <a:p>
            <a:pPr algn="ctr"/>
            <a:r>
              <a:rPr lang="en-US" sz="800" i="1" dirty="0">
                <a:solidFill>
                  <a:srgbClr val="A6A6A6"/>
                </a:solidFill>
                <a:latin typeface="+mn-lt"/>
              </a:rPr>
              <a:t>Bloomberg data pending</a:t>
            </a:r>
          </a:p>
        </p:txBody>
      </p:sp>
    </p:spTree>
    <p:extLst>
      <p:ext uri="{BB962C8B-B14F-4D97-AF65-F5344CB8AC3E}">
        <p14:creationId xmlns:p14="http://schemas.microsoft.com/office/powerpoint/2010/main" val="32276553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2" name="TextBox 16"/>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schemeClr val="bg1"/>
                </a:solidFill>
              </a:rPr>
              <a:pPr algn="r"/>
              <a:t>3</a:t>
            </a:fld>
            <a:endParaRPr lang="id-ID" sz="1000" dirty="0">
              <a:solidFill>
                <a:schemeClr val="bg1"/>
              </a:solidFill>
            </a:endParaRPr>
          </a:p>
        </p:txBody>
      </p:sp>
      <p:sp>
        <p:nvSpPr>
          <p:cNvPr id="1048593" name="AutoShape 2" descr="ready"/>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5" name="TextBox 14"/>
          <p:cNvSpPr txBox="1"/>
          <p:nvPr/>
        </p:nvSpPr>
        <p:spPr>
          <a:xfrm>
            <a:off x="358588" y="1991541"/>
            <a:ext cx="6140824" cy="66492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5000"/>
              </a:lnSpc>
              <a:spcAft>
                <a:spcPts val="600"/>
              </a:spcAft>
              <a:buNone/>
            </a:pP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BI meningkatkan pembelian SBN untuk menjaga likuiditas domestik ketika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global yields</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 tetap tinggi. Namun, tekanan masih terlihat pada rupiah dan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foreign flow</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 sementara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trade surplus</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 yang membaik baru memberikan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temporary buffer</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 bagi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external balance</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a:t>
            </a:r>
            <a:endParaRPr lang="en-ID" sz="11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48596" name="TextBox 18"/>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Indonesia: Liquidity Has a Price</a:t>
            </a:r>
          </a:p>
        </p:txBody>
      </p:sp>
      <p:sp>
        <p:nvSpPr>
          <p:cNvPr id="1048600" name="Rectangle 1" hidden="1"/>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1" name="Group 10">
            <a:extLst>
              <a:ext uri="{FF2B5EF4-FFF2-40B4-BE49-F238E27FC236}">
                <a16:creationId xmlns:a16="http://schemas.microsoft.com/office/drawing/2014/main" xmlns="" id="{38A896CA-A41A-EB40-87C3-52549A35F369}"/>
              </a:ext>
            </a:extLst>
          </p:cNvPr>
          <p:cNvGrpSpPr/>
          <p:nvPr/>
        </p:nvGrpSpPr>
        <p:grpSpPr>
          <a:xfrm>
            <a:off x="424492" y="8779499"/>
            <a:ext cx="6197464" cy="281857"/>
            <a:chOff x="424492" y="8779499"/>
            <a:chExt cx="6197464" cy="281857"/>
          </a:xfrm>
        </p:grpSpPr>
        <p:grpSp>
          <p:nvGrpSpPr>
            <p:cNvPr id="12" name="Group 11">
              <a:extLst>
                <a:ext uri="{FF2B5EF4-FFF2-40B4-BE49-F238E27FC236}">
                  <a16:creationId xmlns:a16="http://schemas.microsoft.com/office/drawing/2014/main" xmlns="" id="{36B7E4E1-8946-652E-5D8E-C89C8C9D8722}"/>
                </a:ext>
              </a:extLst>
            </p:cNvPr>
            <p:cNvGrpSpPr/>
            <p:nvPr/>
          </p:nvGrpSpPr>
          <p:grpSpPr>
            <a:xfrm>
              <a:off x="424492" y="8779499"/>
              <a:ext cx="6009013" cy="274793"/>
              <a:chOff x="424492" y="8779499"/>
              <a:chExt cx="6009013" cy="274793"/>
            </a:xfrm>
          </p:grpSpPr>
          <p:pic>
            <p:nvPicPr>
              <p:cNvPr id="14" name="Picture 15">
                <a:extLst>
                  <a:ext uri="{FF2B5EF4-FFF2-40B4-BE49-F238E27FC236}">
                    <a16:creationId xmlns:a16="http://schemas.microsoft.com/office/drawing/2014/main" xmlns="" id="{60793C5F-EED1-6682-2354-7CF814B4F19A}"/>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5" name="TextBox 17">
                <a:extLst>
                  <a:ext uri="{FF2B5EF4-FFF2-40B4-BE49-F238E27FC236}">
                    <a16:creationId xmlns:a16="http://schemas.microsoft.com/office/drawing/2014/main" xmlns="" id="{A336713E-3B8C-EBCC-87EB-7D3CA5145D75}"/>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13" name="TextBox 16">
              <a:extLst>
                <a:ext uri="{FF2B5EF4-FFF2-40B4-BE49-F238E27FC236}">
                  <a16:creationId xmlns:a16="http://schemas.microsoft.com/office/drawing/2014/main" xmlns="" id="{E75FC1CF-4196-AE66-1211-62E5787FEB87}"/>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3</a:t>
              </a:fld>
              <a:endParaRPr lang="id-ID" sz="1000" dirty="0">
                <a:solidFill>
                  <a:schemeClr val="bg1"/>
                </a:solidFill>
              </a:endParaRPr>
            </a:p>
          </p:txBody>
        </p:sp>
      </p:grpSp>
      <p:sp>
        <p:nvSpPr>
          <p:cNvPr id="19" name="TextBox 18">
            <a:extLst>
              <a:ext uri="{FF2B5EF4-FFF2-40B4-BE49-F238E27FC236}">
                <a16:creationId xmlns:a16="http://schemas.microsoft.com/office/drawing/2014/main" xmlns="" id="{0CE97E63-E73E-4F26-51DE-7F7C13A3160D}"/>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BI] ([DD Month 2026])</a:t>
            </a:r>
          </a:p>
        </p:txBody>
      </p:sp>
      <p:sp>
        <p:nvSpPr>
          <p:cNvPr id="21" name="TextBox 20">
            <a:extLst>
              <a:ext uri="{FF2B5EF4-FFF2-40B4-BE49-F238E27FC236}">
                <a16:creationId xmlns:a16="http://schemas.microsoft.com/office/drawing/2014/main" xmlns="" id="{27241F1B-3987-24F5-CBF1-401157C7B8E9}"/>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([DD Month 2026])</a:t>
            </a:r>
          </a:p>
        </p:txBody>
      </p:sp>
      <p:sp>
        <p:nvSpPr>
          <p:cNvPr id="4" name="Rectangle 3">
            <a:extLst>
              <a:ext uri="{FF2B5EF4-FFF2-40B4-BE49-F238E27FC236}">
                <a16:creationId xmlns:a16="http://schemas.microsoft.com/office/drawing/2014/main" xmlns="" id="{24BA601E-CB3D-A1C3-5BED-3DF78B2CC1CC}"/>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5: BI Government Bond Purchases vs. USD/IDR</a:t>
            </a:r>
          </a:p>
        </p:txBody>
      </p:sp>
      <p:sp>
        <p:nvSpPr>
          <p:cNvPr id="6" name="Rectangle 5">
            <a:extLst>
              <a:ext uri="{FF2B5EF4-FFF2-40B4-BE49-F238E27FC236}">
                <a16:creationId xmlns:a16="http://schemas.microsoft.com/office/drawing/2014/main" xmlns="" id="{174864D4-F972-8D31-BF83-DD3AB7C2372F}"/>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6: Indonesia Trade Balance (USD Bn)</a:t>
            </a:r>
          </a:p>
        </p:txBody>
      </p:sp>
      <p:sp>
        <p:nvSpPr>
          <p:cNvPr id="22" name="Kotak Teks 18">
            <a:extLst>
              <a:ext uri="{FF2B5EF4-FFF2-40B4-BE49-F238E27FC236}">
                <a16:creationId xmlns:a16="http://schemas.microsoft.com/office/drawing/2014/main" xmlns="" id="{52C5CF14-D0F4-D748-D504-AD1E8F9E557D}"/>
              </a:ext>
            </a:extLst>
          </p:cNvPr>
          <p:cNvSpPr txBox="1"/>
          <p:nvPr/>
        </p:nvSpPr>
        <p:spPr>
          <a:xfrm>
            <a:off x="268267" y="2611351"/>
            <a:ext cx="6321467" cy="4182464"/>
          </a:xfrm>
          <a:prstGeom prst="rect">
            <a:avLst/>
          </a:prstGeom>
          <a:noFill/>
        </p:spPr>
        <p:txBody>
          <a:bodyPr wrap="square" lIns="91440" tIns="45720" rIns="91440" bIns="45720" anchor="t">
            <a:spAutoFit/>
          </a:bodyPr>
          <a:lstStyle/>
          <a:p>
            <a:pPr lvl="0" algn="just">
              <a:spcBef>
                <a:spcPts val="300"/>
              </a:spcBef>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The Bond Market Has a Buyer.</a:t>
            </a:r>
            <a:r>
              <a:rPr lang="en-US" sz="1100" b="0" i="0" dirty="0">
                <a:ea typeface="MS Mincho" panose="02020609040205080304" pitchFamily="49" charset="-128"/>
                <a:cs typeface="Times New Roman" panose="02020603050405020304" pitchFamily="18" charset="0"/>
              </a:rPr>
              <a:t xml:space="preserve"> Ketika </a:t>
            </a:r>
            <a:r>
              <a:rPr lang="en-US" sz="1100" b="0" i="1" dirty="0">
                <a:ea typeface="MS Mincho" panose="02020609040205080304" pitchFamily="49" charset="-128"/>
                <a:cs typeface="Times New Roman" panose="02020603050405020304" pitchFamily="18" charset="0"/>
              </a:rPr>
              <a:t>global investors</a:t>
            </a:r>
            <a:r>
              <a:rPr lang="en-US" sz="1100" b="0" i="0" dirty="0">
                <a:ea typeface="MS Mincho" panose="02020609040205080304" pitchFamily="49" charset="-128"/>
                <a:cs typeface="Times New Roman" panose="02020603050405020304" pitchFamily="18" charset="0"/>
              </a:rPr>
              <a:t xml:space="preserve"> meminta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xml:space="preserve"> lebih tinggi, BI semakin aktif menjaga likuiditas melalui pembelian SBN di pasar domestik ([IDR XX tn] YTD). Langkah ini meredam tekanan pada </a:t>
            </a:r>
            <a:r>
              <a:rPr lang="en-US" sz="1100" b="0" i="1" dirty="0">
                <a:ea typeface="MS Mincho" panose="02020609040205080304" pitchFamily="49" charset="-128"/>
                <a:cs typeface="Times New Roman" panose="02020603050405020304" pitchFamily="18" charset="0"/>
              </a:rPr>
              <a:t>domestic funding conditions</a:t>
            </a:r>
            <a:r>
              <a:rPr lang="en-US" sz="1100" b="0" i="0" dirty="0">
                <a:ea typeface="MS Mincho" panose="02020609040205080304" pitchFamily="49" charset="-128"/>
                <a:cs typeface="Times New Roman" panose="02020603050405020304" pitchFamily="18" charset="0"/>
              </a:rPr>
              <a:t xml:space="preserve"> dan menjaga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xml:space="preserve"> SBN relatif stabil, tetapi rupiah tetap sensitif terhadap UST dan harga energi. Alhasil, ketika </a:t>
            </a:r>
            <a:r>
              <a:rPr lang="en-US" sz="1100" b="0" i="1" dirty="0">
                <a:ea typeface="MS Mincho" panose="02020609040205080304" pitchFamily="49" charset="-128"/>
                <a:cs typeface="Times New Roman" panose="02020603050405020304" pitchFamily="18" charset="0"/>
              </a:rPr>
              <a:t>adjustment</a:t>
            </a:r>
            <a:r>
              <a:rPr lang="en-US" sz="1100" b="0" i="0" dirty="0">
                <a:ea typeface="MS Mincho" panose="02020609040205080304" pitchFamily="49" charset="-128"/>
                <a:cs typeface="Times New Roman" panose="02020603050405020304" pitchFamily="18" charset="0"/>
              </a:rPr>
              <a:t xml:space="preserve"> di pasar obligasi diredam oleh </a:t>
            </a:r>
            <a:r>
              <a:rPr lang="en-US" sz="1100" b="0" i="1" dirty="0">
                <a:ea typeface="MS Mincho" panose="02020609040205080304" pitchFamily="49" charset="-128"/>
                <a:cs typeface="Times New Roman" panose="02020603050405020304" pitchFamily="18" charset="0"/>
              </a:rPr>
              <a:t>liquidity support</a:t>
            </a:r>
            <a:r>
              <a:rPr lang="en-US" sz="1100" b="0" i="0" dirty="0">
                <a:ea typeface="MS Mincho" panose="02020609040205080304" pitchFamily="49" charset="-128"/>
                <a:cs typeface="Times New Roman" panose="02020603050405020304" pitchFamily="18" charset="0"/>
              </a:rPr>
              <a:t xml:space="preserve">, sebagian tekanan berpotensi berpindah ke </a:t>
            </a:r>
            <a:r>
              <a:rPr lang="en-US" sz="1100" b="0" i="1" dirty="0">
                <a:ea typeface="MS Mincho" panose="02020609040205080304" pitchFamily="49" charset="-128"/>
                <a:cs typeface="Times New Roman" panose="02020603050405020304" pitchFamily="18" charset="0"/>
              </a:rPr>
              <a:t>FX market</a:t>
            </a:r>
            <a:r>
              <a:rPr lang="en-US" sz="1100" b="0" i="0" dirty="0">
                <a:ea typeface="MS Mincho" panose="02020609040205080304" pitchFamily="49" charset="-128"/>
                <a:cs typeface="Times New Roman" panose="02020603050405020304" pitchFamily="18" charset="0"/>
              </a:rPr>
              <a:t xml:space="preserve"> </a:t>
            </a:r>
            <a:r>
              <a:rPr lang="en-US" sz="1100" b="1" i="0" dirty="0">
                <a:ea typeface="MS Mincho" panose="02020609040205080304" pitchFamily="49" charset="-128"/>
                <a:cs typeface="Times New Roman" panose="02020603050405020304" pitchFamily="18" charset="0"/>
              </a:rPr>
              <a:t>(Exhibit 5).</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The Surplus Buys Time, Not Safety.</a:t>
            </a:r>
            <a:r>
              <a:rPr lang="en-US" sz="1100" b="0" i="0" dirty="0">
                <a:ea typeface="MS Mincho" panose="02020609040205080304" pitchFamily="49" charset="-128"/>
                <a:cs typeface="Times New Roman" panose="02020603050405020304" pitchFamily="18" charset="0"/>
              </a:rPr>
              <a:t xml:space="preserve"> </a:t>
            </a:r>
            <a:r>
              <a:rPr lang="en-US" sz="1100" b="0" i="1" dirty="0">
                <a:ea typeface="MS Mincho" panose="02020609040205080304" pitchFamily="49" charset="-128"/>
                <a:cs typeface="Times New Roman" panose="02020603050405020304" pitchFamily="18" charset="0"/>
              </a:rPr>
              <a:t>Trade surplus</a:t>
            </a:r>
            <a:r>
              <a:rPr lang="en-US" sz="1100" b="0" i="0" dirty="0">
                <a:ea typeface="MS Mincho" panose="02020609040205080304" pitchFamily="49" charset="-128"/>
                <a:cs typeface="Times New Roman" panose="02020603050405020304" pitchFamily="18" charset="0"/>
              </a:rPr>
              <a:t xml:space="preserve"> Agustus yang naik ke [USD XX bn] menambah </a:t>
            </a:r>
            <a:r>
              <a:rPr lang="en-US" sz="1100" b="0" i="1" dirty="0">
                <a:ea typeface="MS Mincho" panose="02020609040205080304" pitchFamily="49" charset="-128"/>
                <a:cs typeface="Times New Roman" panose="02020603050405020304" pitchFamily="18" charset="0"/>
              </a:rPr>
              <a:t>external buffer</a:t>
            </a:r>
            <a:r>
              <a:rPr lang="en-US" sz="1100" b="0" i="0" dirty="0">
                <a:ea typeface="MS Mincho" panose="02020609040205080304" pitchFamily="49" charset="-128"/>
                <a:cs typeface="Times New Roman" panose="02020603050405020304" pitchFamily="18" charset="0"/>
              </a:rPr>
              <a:t xml:space="preserve"> rupiah, tetapi kualitasnya tidak sekuat </a:t>
            </a:r>
            <a:r>
              <a:rPr lang="en-US" sz="1100" b="0" i="1" dirty="0">
                <a:ea typeface="MS Mincho" panose="02020609040205080304" pitchFamily="49" charset="-128"/>
                <a:cs typeface="Times New Roman" panose="02020603050405020304" pitchFamily="18" charset="0"/>
              </a:rPr>
              <a:t>headline</a:t>
            </a:r>
            <a:r>
              <a:rPr lang="en-US" sz="1100" b="0" i="0" dirty="0">
                <a:ea typeface="MS Mincho" panose="02020609040205080304" pitchFamily="49" charset="-128"/>
                <a:cs typeface="Times New Roman" panose="02020603050405020304" pitchFamily="18" charset="0"/>
              </a:rPr>
              <a:t xml:space="preserve">. Ekspor masih tumbuh, namun </a:t>
            </a:r>
            <a:r>
              <a:rPr lang="en-US" sz="1100" b="0" i="1" dirty="0">
                <a:ea typeface="MS Mincho" panose="02020609040205080304" pitchFamily="49" charset="-128"/>
                <a:cs typeface="Times New Roman" panose="02020603050405020304" pitchFamily="18" charset="0"/>
              </a:rPr>
              <a:t>surprise</a:t>
            </a:r>
            <a:r>
              <a:rPr lang="en-US" sz="1100" b="0" i="0" dirty="0">
                <a:ea typeface="MS Mincho" panose="02020609040205080304" pitchFamily="49" charset="-128"/>
                <a:cs typeface="Times New Roman" panose="02020603050405020304" pitchFamily="18" charset="0"/>
              </a:rPr>
              <a:t xml:space="preserve"> terutama datang dari impor yang jauh di bawah ekspektasi </a:t>
            </a:r>
            <a:r>
              <a:rPr lang="en-US" sz="1100" b="1" i="0" dirty="0">
                <a:ea typeface="MS Mincho" panose="02020609040205080304" pitchFamily="49" charset="-128"/>
                <a:cs typeface="Times New Roman" panose="02020603050405020304" pitchFamily="18" charset="0"/>
              </a:rPr>
              <a:t>(Exhibit 6).</a:t>
            </a:r>
            <a:r>
              <a:rPr lang="en-US" sz="1100" b="0" i="0" dirty="0">
                <a:ea typeface="MS Mincho" panose="02020609040205080304" pitchFamily="49" charset="-128"/>
                <a:cs typeface="Times New Roman" panose="02020603050405020304" pitchFamily="18" charset="0"/>
              </a:rPr>
              <a:t xml:space="preserve"> Ini belum menandakan perbaikan struktural </a:t>
            </a:r>
            <a:r>
              <a:rPr lang="en-US" sz="1100" b="0" i="1" dirty="0">
                <a:ea typeface="MS Mincho" panose="02020609040205080304" pitchFamily="49" charset="-128"/>
                <a:cs typeface="Times New Roman" panose="02020603050405020304" pitchFamily="18" charset="0"/>
              </a:rPr>
              <a:t>current account</a:t>
            </a:r>
            <a:r>
              <a:rPr lang="en-US" sz="1100" b="0" i="0" dirty="0">
                <a:ea typeface="MS Mincho" panose="02020609040205080304" pitchFamily="49" charset="-128"/>
                <a:cs typeface="Times New Roman" panose="02020603050405020304" pitchFamily="18" charset="0"/>
              </a:rPr>
              <a:t xml:space="preserve">, apalagi saat harga minyak tinggi berpotensi menambah </a:t>
            </a:r>
            <a:r>
              <a:rPr lang="en-US" sz="1100" b="0" i="1" dirty="0">
                <a:ea typeface="MS Mincho" panose="02020609040205080304" pitchFamily="49" charset="-128"/>
                <a:cs typeface="Times New Roman" panose="02020603050405020304" pitchFamily="18" charset="0"/>
              </a:rPr>
              <a:t>import bill</a:t>
            </a:r>
            <a:r>
              <a:rPr lang="en-US" sz="1100" b="0" i="0" dirty="0">
                <a:ea typeface="MS Mincho" panose="02020609040205080304" pitchFamily="49" charset="-128"/>
                <a:cs typeface="Times New Roman" panose="02020603050405020304" pitchFamily="18" charset="0"/>
              </a:rPr>
              <a:t xml:space="preserve">. Alhasil, </a:t>
            </a:r>
            <a:r>
              <a:rPr lang="en-US" sz="1100" b="0" i="1" dirty="0">
                <a:ea typeface="MS Mincho" panose="02020609040205080304" pitchFamily="49" charset="-128"/>
                <a:cs typeface="Times New Roman" panose="02020603050405020304" pitchFamily="18" charset="0"/>
              </a:rPr>
              <a:t>trade surplus</a:t>
            </a:r>
            <a:r>
              <a:rPr lang="en-US" sz="1100" b="0" i="0" dirty="0">
                <a:ea typeface="MS Mincho" panose="02020609040205080304" pitchFamily="49" charset="-128"/>
                <a:cs typeface="Times New Roman" panose="02020603050405020304" pitchFamily="18" charset="0"/>
              </a:rPr>
              <a:t xml:space="preserve"> lebih banyak membeli waktu bagi rupiah, bukan menghapus </a:t>
            </a:r>
            <a:r>
              <a:rPr lang="en-US" sz="1100" b="0" i="1" dirty="0">
                <a:ea typeface="MS Mincho" panose="02020609040205080304" pitchFamily="49" charset="-128"/>
                <a:cs typeface="Times New Roman" panose="02020603050405020304" pitchFamily="18" charset="0"/>
              </a:rPr>
              <a:t>external vulnerability</a:t>
            </a:r>
            <a:r>
              <a:rPr lang="en-US" sz="1100" b="0" i="0" dirty="0">
                <a:ea typeface="MS Mincho" panose="02020609040205080304" pitchFamily="49" charset="-128"/>
                <a:cs typeface="Times New Roman" panose="02020603050405020304" pitchFamily="18" charset="0"/>
              </a:rPr>
              <a:t>.</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Inflation Gives BI Room, Markets Take It Away.</a:t>
            </a:r>
            <a:r>
              <a:rPr lang="en-US" sz="1100" b="0" i="0" dirty="0">
                <a:ea typeface="MS Mincho" panose="02020609040205080304" pitchFamily="49" charset="-128"/>
                <a:cs typeface="Times New Roman" panose="02020603050405020304" pitchFamily="18" charset="0"/>
              </a:rPr>
              <a:t xml:space="preserve"> </a:t>
            </a:r>
            <a:r>
              <a:rPr lang="en-US" sz="1100" b="0" i="1" dirty="0">
                <a:ea typeface="MS Mincho" panose="02020609040205080304" pitchFamily="49" charset="-128"/>
                <a:cs typeface="Times New Roman" panose="02020603050405020304" pitchFamily="18" charset="0"/>
              </a:rPr>
              <a:t>Core inflation</a:t>
            </a:r>
            <a:r>
              <a:rPr lang="en-US" sz="1100" b="0" i="0" dirty="0">
                <a:ea typeface="MS Mincho" panose="02020609040205080304" pitchFamily="49" charset="-128"/>
                <a:cs typeface="Times New Roman" panose="02020603050405020304" pitchFamily="18" charset="0"/>
              </a:rPr>
              <a:t xml:space="preserve"> September yang terkendali ([XX%] YoY) menunjukkan </a:t>
            </a:r>
            <a:r>
              <a:rPr lang="en-US" sz="1100" b="0" i="1" dirty="0">
                <a:ea typeface="MS Mincho" panose="02020609040205080304" pitchFamily="49" charset="-128"/>
                <a:cs typeface="Times New Roman" panose="02020603050405020304" pitchFamily="18" charset="0"/>
              </a:rPr>
              <a:t>domestic demand</a:t>
            </a:r>
            <a:r>
              <a:rPr lang="en-US" sz="1100" b="0" i="0" dirty="0">
                <a:ea typeface="MS Mincho" panose="02020609040205080304" pitchFamily="49" charset="-128"/>
                <a:cs typeface="Times New Roman" panose="02020603050405020304" pitchFamily="18" charset="0"/>
              </a:rPr>
              <a:t xml:space="preserve"> belum memicu </a:t>
            </a:r>
            <a:r>
              <a:rPr lang="en-US" sz="1100" b="0" i="1" dirty="0">
                <a:ea typeface="MS Mincho" panose="02020609040205080304" pitchFamily="49" charset="-128"/>
                <a:cs typeface="Times New Roman" panose="02020603050405020304" pitchFamily="18" charset="0"/>
              </a:rPr>
              <a:t>overheating</a:t>
            </a:r>
            <a:r>
              <a:rPr lang="en-US" sz="1100" b="0" i="0" dirty="0">
                <a:ea typeface="MS Mincho" panose="02020609040205080304" pitchFamily="49" charset="-128"/>
                <a:cs typeface="Times New Roman" panose="02020603050405020304" pitchFamily="18" charset="0"/>
              </a:rPr>
              <a:t xml:space="preserve">, meski tekanan </a:t>
            </a:r>
            <a:r>
              <a:rPr lang="en-US" sz="1100" b="0" i="1" dirty="0">
                <a:ea typeface="MS Mincho" panose="02020609040205080304" pitchFamily="49" charset="-128"/>
                <a:cs typeface="Times New Roman" panose="02020603050405020304" pitchFamily="18" charset="0"/>
              </a:rPr>
              <a:t>wholesale</a:t>
            </a:r>
            <a:r>
              <a:rPr lang="en-US" sz="1100" b="0" i="0" dirty="0">
                <a:ea typeface="MS Mincho" panose="02020609040205080304" pitchFamily="49" charset="-128"/>
                <a:cs typeface="Times New Roman" panose="02020603050405020304" pitchFamily="18" charset="0"/>
              </a:rPr>
              <a:t xml:space="preserve"> dan </a:t>
            </a:r>
            <a:r>
              <a:rPr lang="en-US" sz="1100" b="0" i="1" dirty="0">
                <a:ea typeface="MS Mincho" panose="02020609040205080304" pitchFamily="49" charset="-128"/>
                <a:cs typeface="Times New Roman" panose="02020603050405020304" pitchFamily="18" charset="0"/>
              </a:rPr>
              <a:t>input prices</a:t>
            </a:r>
            <a:r>
              <a:rPr lang="en-US" sz="1100" b="0" i="0" dirty="0">
                <a:ea typeface="MS Mincho" panose="02020609040205080304" pitchFamily="49" charset="-128"/>
                <a:cs typeface="Times New Roman" panose="02020603050405020304" pitchFamily="18" charset="0"/>
              </a:rPr>
              <a:t xml:space="preserve"> menandakan </a:t>
            </a:r>
            <a:r>
              <a:rPr lang="en-US" sz="1100" b="0" i="1" dirty="0">
                <a:ea typeface="MS Mincho" panose="02020609040205080304" pitchFamily="49" charset="-128"/>
                <a:cs typeface="Times New Roman" panose="02020603050405020304" pitchFamily="18" charset="0"/>
              </a:rPr>
              <a:t>imported inflation</a:t>
            </a:r>
            <a:r>
              <a:rPr lang="en-US" sz="1100" b="0" i="0" dirty="0">
                <a:ea typeface="MS Mincho" panose="02020609040205080304" pitchFamily="49" charset="-128"/>
                <a:cs typeface="Times New Roman" panose="02020603050405020304" pitchFamily="18" charset="0"/>
              </a:rPr>
              <a:t xml:space="preserve"> belum hilang. Dengan rupiah yang sensitif terhadap </a:t>
            </a:r>
            <a:r>
              <a:rPr lang="en-US" sz="1100" b="0" i="1" dirty="0">
                <a:ea typeface="MS Mincho" panose="02020609040205080304" pitchFamily="49" charset="-128"/>
                <a:cs typeface="Times New Roman" panose="02020603050405020304" pitchFamily="18" charset="0"/>
              </a:rPr>
              <a:t>global yields</a:t>
            </a:r>
            <a:r>
              <a:rPr lang="en-US" sz="1100" b="0" i="0" dirty="0">
                <a:ea typeface="MS Mincho" panose="02020609040205080304" pitchFamily="49" charset="-128"/>
                <a:cs typeface="Times New Roman" panose="02020603050405020304" pitchFamily="18" charset="0"/>
              </a:rPr>
              <a:t xml:space="preserve"> dan harga energi, </a:t>
            </a:r>
            <a:r>
              <a:rPr lang="en-US" sz="1100" b="0" i="1" dirty="0">
                <a:ea typeface="MS Mincho" panose="02020609040205080304" pitchFamily="49" charset="-128"/>
                <a:cs typeface="Times New Roman" panose="02020603050405020304" pitchFamily="18" charset="0"/>
              </a:rPr>
              <a:t>policy constraint</a:t>
            </a:r>
            <a:r>
              <a:rPr lang="en-US" sz="1100" b="0" i="0" dirty="0">
                <a:ea typeface="MS Mincho" panose="02020609040205080304" pitchFamily="49" charset="-128"/>
                <a:cs typeface="Times New Roman" panose="02020603050405020304" pitchFamily="18" charset="0"/>
              </a:rPr>
              <a:t xml:space="preserve"> BI lebih banyak datang dari </a:t>
            </a:r>
            <a:r>
              <a:rPr lang="en-US" sz="1100" b="0" i="1" dirty="0">
                <a:ea typeface="MS Mincho" panose="02020609040205080304" pitchFamily="49" charset="-128"/>
                <a:cs typeface="Times New Roman" panose="02020603050405020304" pitchFamily="18" charset="0"/>
              </a:rPr>
              <a:t>external stability</a:t>
            </a:r>
            <a:r>
              <a:rPr lang="en-US" sz="1100" b="0" i="0" dirty="0">
                <a:ea typeface="MS Mincho" panose="02020609040205080304" pitchFamily="49" charset="-128"/>
                <a:cs typeface="Times New Roman" panose="02020603050405020304" pitchFamily="18" charset="0"/>
              </a:rPr>
              <a:t xml:space="preserve">. Alhasil, ruang </a:t>
            </a:r>
            <a:r>
              <a:rPr lang="en-US" sz="1100" b="0" i="1" dirty="0">
                <a:ea typeface="MS Mincho" panose="02020609040205080304" pitchFamily="49" charset="-128"/>
                <a:cs typeface="Times New Roman" panose="02020603050405020304" pitchFamily="18" charset="0"/>
              </a:rPr>
              <a:t>easing</a:t>
            </a:r>
            <a:r>
              <a:rPr lang="en-US" sz="1100" b="0" i="0" dirty="0">
                <a:ea typeface="MS Mincho" panose="02020609040205080304" pitchFamily="49" charset="-128"/>
                <a:cs typeface="Times New Roman" panose="02020603050405020304" pitchFamily="18" charset="0"/>
              </a:rPr>
              <a:t xml:space="preserve"> tetap terbatas meskipun inflasi domestik bukan masalah utama.</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Good Macro, Bad Tape.</a:t>
            </a:r>
            <a:r>
              <a:rPr lang="en-US" sz="1100" b="0" i="0" dirty="0">
                <a:ea typeface="MS Mincho" panose="02020609040205080304" pitchFamily="49" charset="-128"/>
                <a:cs typeface="Times New Roman" panose="02020603050405020304" pitchFamily="18" charset="0"/>
              </a:rPr>
              <a:t xml:space="preserve"> Data makro membaik, tetapi investor asing belum menunjukkan </a:t>
            </a:r>
            <a:r>
              <a:rPr lang="en-US" sz="1100" b="0" i="1" dirty="0">
                <a:ea typeface="MS Mincho" panose="02020609040205080304" pitchFamily="49" charset="-128"/>
                <a:cs typeface="Times New Roman" panose="02020603050405020304" pitchFamily="18" charset="0"/>
              </a:rPr>
              <a:t>conviction</a:t>
            </a:r>
            <a:r>
              <a:rPr lang="en-US" sz="1100" b="0" i="0" dirty="0">
                <a:ea typeface="MS Mincho" panose="02020609040205080304" pitchFamily="49" charset="-128"/>
                <a:cs typeface="Times New Roman" panose="02020603050405020304" pitchFamily="18" charset="0"/>
              </a:rPr>
              <a:t xml:space="preserve"> untuk kembali ke saham Indonesia. </a:t>
            </a:r>
            <a:r>
              <a:rPr lang="en-US" sz="1100" b="0" i="1" dirty="0">
                <a:ea typeface="MS Mincho" panose="02020609040205080304" pitchFamily="49" charset="-128"/>
                <a:cs typeface="Times New Roman" panose="02020603050405020304" pitchFamily="18" charset="0"/>
              </a:rPr>
              <a:t>Foreign selling</a:t>
            </a:r>
            <a:r>
              <a:rPr lang="en-US" sz="1100" b="0" i="0" dirty="0">
                <a:ea typeface="MS Mincho" panose="02020609040205080304" pitchFamily="49" charset="-128"/>
                <a:cs typeface="Times New Roman" panose="02020603050405020304" pitchFamily="18" charset="0"/>
              </a:rPr>
              <a:t xml:space="preserve"> ([IDR XX tn] dalam sepekan) berlanjut di saham </a:t>
            </a:r>
            <a:r>
              <a:rPr lang="en-US" sz="1100" b="0" i="1" dirty="0">
                <a:ea typeface="MS Mincho" panose="02020609040205080304" pitchFamily="49" charset="-128"/>
                <a:cs typeface="Times New Roman" panose="02020603050405020304" pitchFamily="18" charset="0"/>
              </a:rPr>
              <a:t>large-cap</a:t>
            </a:r>
            <a:r>
              <a:rPr lang="en-US" sz="1100" b="0" i="0" dirty="0">
                <a:ea typeface="MS Mincho" panose="02020609040205080304" pitchFamily="49" charset="-128"/>
                <a:cs typeface="Times New Roman" panose="02020603050405020304" pitchFamily="18" charset="0"/>
              </a:rPr>
              <a:t xml:space="preserve">, menandakan </a:t>
            </a:r>
            <a:r>
              <a:rPr lang="en-US" sz="1100" b="0" i="1" dirty="0">
                <a:ea typeface="MS Mincho" panose="02020609040205080304" pitchFamily="49" charset="-128"/>
                <a:cs typeface="Times New Roman" panose="02020603050405020304" pitchFamily="18" charset="0"/>
              </a:rPr>
              <a:t>positioning</a:t>
            </a:r>
            <a:r>
              <a:rPr lang="en-US" sz="1100" b="0" i="0" dirty="0">
                <a:ea typeface="MS Mincho" panose="02020609040205080304" pitchFamily="49" charset="-128"/>
                <a:cs typeface="Times New Roman" panose="02020603050405020304" pitchFamily="18" charset="0"/>
              </a:rPr>
              <a:t xml:space="preserve"> lebih ditentukan </a:t>
            </a:r>
            <a:r>
              <a:rPr lang="en-US" sz="1100" b="0" i="1" dirty="0">
                <a:ea typeface="MS Mincho" panose="02020609040205080304" pitchFamily="49" charset="-128"/>
                <a:cs typeface="Times New Roman" panose="02020603050405020304" pitchFamily="18" charset="0"/>
              </a:rPr>
              <a:t>global yields</a:t>
            </a:r>
            <a:r>
              <a:rPr lang="en-US" sz="1100" b="0" i="0" dirty="0">
                <a:ea typeface="MS Mincho" panose="02020609040205080304" pitchFamily="49" charset="-128"/>
                <a:cs typeface="Times New Roman" panose="02020603050405020304" pitchFamily="18" charset="0"/>
              </a:rPr>
              <a:t xml:space="preserve"> dan </a:t>
            </a:r>
            <a:r>
              <a:rPr lang="en-US" sz="1100" b="0" i="1" dirty="0">
                <a:ea typeface="MS Mincho" panose="02020609040205080304" pitchFamily="49" charset="-128"/>
                <a:cs typeface="Times New Roman" panose="02020603050405020304" pitchFamily="18" charset="0"/>
              </a:rPr>
              <a:t>relative return</a:t>
            </a:r>
            <a:r>
              <a:rPr lang="en-US" sz="1100" b="0" i="0" dirty="0">
                <a:ea typeface="MS Mincho" panose="02020609040205080304" pitchFamily="49" charset="-128"/>
                <a:cs typeface="Times New Roman" panose="02020603050405020304" pitchFamily="18" charset="0"/>
              </a:rPr>
              <a:t xml:space="preserve">. Alhasil, pelemahan pasar mencerminkan </a:t>
            </a:r>
            <a:r>
              <a:rPr lang="en-US" sz="1100" b="0" i="1" dirty="0">
                <a:ea typeface="MS Mincho" panose="02020609040205080304" pitchFamily="49" charset="-128"/>
                <a:cs typeface="Times New Roman" panose="02020603050405020304" pitchFamily="18" charset="0"/>
              </a:rPr>
              <a:t>external pressure</a:t>
            </a:r>
            <a:r>
              <a:rPr lang="en-US" sz="1100" b="0" i="0" dirty="0">
                <a:ea typeface="MS Mincho" panose="02020609040205080304" pitchFamily="49" charset="-128"/>
                <a:cs typeface="Times New Roman" panose="02020603050405020304" pitchFamily="18" charset="0"/>
              </a:rPr>
              <a:t xml:space="preserve"> dan </a:t>
            </a:r>
            <a:r>
              <a:rPr lang="en-US" sz="1100" b="0" i="1" dirty="0">
                <a:ea typeface="MS Mincho" panose="02020609040205080304" pitchFamily="49" charset="-128"/>
                <a:cs typeface="Times New Roman" panose="02020603050405020304" pitchFamily="18" charset="0"/>
              </a:rPr>
              <a:t>foreign flow</a:t>
            </a:r>
            <a:r>
              <a:rPr lang="en-US" sz="1100" b="0" i="0" dirty="0">
                <a:ea typeface="MS Mincho" panose="02020609040205080304" pitchFamily="49" charset="-128"/>
                <a:cs typeface="Times New Roman" panose="02020603050405020304" pitchFamily="18" charset="0"/>
              </a:rPr>
              <a:t xml:space="preserve">, bukan </a:t>
            </a:r>
            <a:r>
              <a:rPr lang="en-US" sz="1100" b="0" i="1" dirty="0">
                <a:ea typeface="MS Mincho" panose="02020609040205080304" pitchFamily="49" charset="-128"/>
                <a:cs typeface="Times New Roman" panose="02020603050405020304" pitchFamily="18" charset="0"/>
              </a:rPr>
              <a:t>deterioration</a:t>
            </a:r>
            <a:r>
              <a:rPr lang="en-US" sz="1100" b="0" i="0" dirty="0">
                <a:ea typeface="MS Mincho" panose="02020609040205080304" pitchFamily="49" charset="-128"/>
                <a:cs typeface="Times New Roman" panose="02020603050405020304" pitchFamily="18" charset="0"/>
              </a:rPr>
              <a:t xml:space="preserve"> fundamental domestik.</a:t>
            </a:r>
          </a:p>
          <a:p>
            <a:pPr marL="0" indent="0" algn="just">
              <a:lnSpc>
                <a:spcPct val="100000"/>
              </a:lnSpc>
              <a:spcBef>
                <a:spcPts val="0"/>
              </a:spcBef>
              <a:spcAft>
                <a:spcPts val="0"/>
              </a:spcAft>
              <a:buNone/>
            </a:pPr>
            <a:r>
              <a:rPr lang="en-US" sz="1100" b="1" i="1" dirty="0">
                <a:ea typeface="MS Mincho" panose="02020609040205080304" pitchFamily="49" charset="-128"/>
                <a:cs typeface="Times New Roman" panose="02020603050405020304" pitchFamily="18" charset="0"/>
              </a:rPr>
              <a:t>Bottom Line:</a:t>
            </a:r>
            <a:r>
              <a:rPr lang="en-US" sz="1100" b="0" i="0" dirty="0">
                <a:ea typeface="MS Mincho" panose="02020609040205080304" pitchFamily="49" charset="-128"/>
                <a:cs typeface="Times New Roman" panose="02020603050405020304" pitchFamily="18" charset="0"/>
              </a:rPr>
              <a:t xml:space="preserve"> Fundamental domestik belum menjadi sumber tekanan utama; tantangan datang dari </a:t>
            </a:r>
            <a:r>
              <a:rPr lang="en-US" sz="1100" b="0" i="1" dirty="0">
                <a:ea typeface="MS Mincho" panose="02020609040205080304" pitchFamily="49" charset="-128"/>
                <a:cs typeface="Times New Roman" panose="02020603050405020304" pitchFamily="18" charset="0"/>
              </a:rPr>
              <a:t>high global yields</a:t>
            </a:r>
            <a:r>
              <a:rPr lang="en-US" sz="1100" b="0" i="0" dirty="0">
                <a:ea typeface="MS Mincho" panose="02020609040205080304" pitchFamily="49" charset="-128"/>
                <a:cs typeface="Times New Roman" panose="02020603050405020304" pitchFamily="18" charset="0"/>
              </a:rPr>
              <a:t xml:space="preserve">, rupiah, dan </a:t>
            </a:r>
            <a:r>
              <a:rPr lang="en-US" sz="1100" b="0" i="1" dirty="0">
                <a:ea typeface="MS Mincho" panose="02020609040205080304" pitchFamily="49" charset="-128"/>
                <a:cs typeface="Times New Roman" panose="02020603050405020304" pitchFamily="18" charset="0"/>
              </a:rPr>
              <a:t>foreign flow</a:t>
            </a:r>
            <a:r>
              <a:rPr lang="en-US" sz="1100" b="0" i="0" dirty="0">
                <a:ea typeface="MS Mincho" panose="02020609040205080304" pitchFamily="49" charset="-128"/>
                <a:cs typeface="Times New Roman" panose="02020603050405020304" pitchFamily="18" charset="0"/>
              </a:rPr>
              <a:t xml:space="preserve">. BI perlu menyeimbangkan </a:t>
            </a:r>
            <a:r>
              <a:rPr lang="en-US" sz="1100" b="0" i="1" dirty="0">
                <a:ea typeface="MS Mincho" panose="02020609040205080304" pitchFamily="49" charset="-128"/>
                <a:cs typeface="Times New Roman" panose="02020603050405020304" pitchFamily="18" charset="0"/>
              </a:rPr>
              <a:t>liquidity support</a:t>
            </a:r>
            <a:r>
              <a:rPr lang="en-US" sz="1100" b="0" i="0" dirty="0">
                <a:ea typeface="MS Mincho" panose="02020609040205080304" pitchFamily="49" charset="-128"/>
                <a:cs typeface="Times New Roman" panose="02020603050405020304" pitchFamily="18" charset="0"/>
              </a:rPr>
              <a:t xml:space="preserve"> dan </a:t>
            </a:r>
            <a:r>
              <a:rPr lang="en-US" sz="1100" b="0" i="1" dirty="0">
                <a:ea typeface="MS Mincho" panose="02020609040205080304" pitchFamily="49" charset="-128"/>
                <a:cs typeface="Times New Roman" panose="02020603050405020304" pitchFamily="18" charset="0"/>
              </a:rPr>
              <a:t>FX stability</a:t>
            </a:r>
            <a:r>
              <a:rPr lang="en-US" sz="1100" b="0" i="0" dirty="0">
                <a:ea typeface="MS Mincho" panose="02020609040205080304" pitchFamily="49" charset="-128"/>
                <a:cs typeface="Times New Roman" panose="02020603050405020304" pitchFamily="18" charset="0"/>
              </a:rPr>
              <a:t>.</a:t>
            </a:r>
          </a:p>
        </p:txBody>
      </p:sp>
      <p:sp>
        <p:nvSpPr>
          <p:cNvPr id="1048601" name="Exhibit 5 Placeholder"/>
          <p:cNvSpPr/>
          <p:nvPr/>
        </p:nvSpPr>
        <p:spPr>
          <a:xfrm>
            <a:off x="354579" y="7167732"/>
            <a:ext cx="3035808" cy="1495904"/>
          </a:xfrm>
          <a:prstGeom prst="rect">
            <a:avLst/>
          </a:prstGeom>
          <a:noFill/>
          <a:ln>
            <a:noFill/>
          </a:ln>
        </p:spPr>
        <p:txBody>
          <a:bodyPr rtlCol="0" anchor="ctr"/>
          <a:lstStyle/>
          <a:p>
            <a:pPr algn="ctr"/>
            <a:r>
              <a:rPr lang="en-US" sz="800" i="1" dirty="0">
                <a:solidFill>
                  <a:srgbClr val="A6A6A6"/>
                </a:solidFill>
                <a:latin typeface="+mn-lt"/>
              </a:rPr>
              <a:t>Bloomberg data pending</a:t>
            </a:r>
          </a:p>
        </p:txBody>
      </p:sp>
      <p:sp>
        <p:nvSpPr>
          <p:cNvPr id="1048602" name="Exhibit 6 Placeholder"/>
          <p:cNvSpPr/>
          <p:nvPr/>
        </p:nvSpPr>
        <p:spPr>
          <a:xfrm>
            <a:off x="3530765" y="7167732"/>
            <a:ext cx="3035808" cy="1495904"/>
          </a:xfrm>
          <a:prstGeom prst="rect">
            <a:avLst/>
          </a:prstGeom>
          <a:noFill/>
          <a:ln>
            <a:noFill/>
          </a:ln>
        </p:spPr>
        <p:txBody>
          <a:bodyPr rtlCol="0" anchor="ctr"/>
          <a:lstStyle/>
          <a:p>
            <a:pPr algn="ctr"/>
            <a:r>
              <a:rPr lang="en-US" sz="800" i="1" dirty="0">
                <a:solidFill>
                  <a:srgbClr val="A6A6A6"/>
                </a:solidFill>
                <a:latin typeface="+mn-lt"/>
              </a:rPr>
              <a:t>Bloomberg data pending</a:t>
            </a:r>
          </a:p>
        </p:txBody>
      </p:sp>
    </p:spTree>
    <p:extLst>
      <p:ext uri="{BB962C8B-B14F-4D97-AF65-F5344CB8AC3E}">
        <p14:creationId xmlns:p14="http://schemas.microsoft.com/office/powerpoint/2010/main" val="23776426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a:fillRect/>
          </a:stretch>
        </p:blipFill>
        <p:spPr>
          <a:xfrm>
            <a:off x="424493" y="8786563"/>
            <a:ext cx="6009012" cy="267729"/>
          </a:xfrm>
          <a:prstGeom prst="rect">
            <a:avLst/>
          </a:prstGeom>
        </p:spPr>
      </p:pic>
      <p:sp>
        <p:nvSpPr>
          <p:cNvPr id="1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Central Asia</a:t>
            </a:r>
            <a:r>
              <a:rPr lang="en-US" sz="1000">
                <a:solidFill>
                  <a:srgbClr val="175FAB"/>
                </a:solidFill>
              </a:rPr>
              <a:t> Tbk</a:t>
            </a:r>
            <a:r>
              <a:rPr lang="en-US" sz="1000" dirty="0">
                <a:solidFill>
                  <a:srgbClr val="175FAB"/>
                </a:solidFill>
              </a:rPr>
              <a:t>.</a:t>
            </a:r>
            <a:endParaRPr lang="id-ID" sz="1000" dirty="0">
              <a:solidFill>
                <a:srgbClr val="175FAB"/>
              </a:solidFill>
            </a:endParaRPr>
          </a:p>
        </p:txBody>
      </p:sp>
      <p:sp>
        <p:nvSpPr>
          <p:cNvPr id="33" name="TextBox 32"/>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4</a:t>
            </a:r>
            <a:endParaRPr lang="id-ID" sz="1000">
              <a:solidFill>
                <a:schemeClr val="bg1"/>
              </a:solidFill>
            </a:endParaRPr>
          </a:p>
        </p:txBody>
      </p:sp>
      <p:sp>
        <p:nvSpPr>
          <p:cNvPr id="28" name="TextBox 23">
            <a:extLst>
              <a:ext uri="{FF2B5EF4-FFF2-40B4-BE49-F238E27FC236}">
                <a16:creationId xmlns="" xmlns:a16="http://schemas.microsoft.com/office/drawing/2014/main" id="{83F7A790-E963-F486-BE81-58E2B5E03CCB}"/>
              </a:ext>
            </a:extLst>
          </p:cNvPr>
          <p:cNvSpPr txBox="1"/>
          <p:nvPr/>
        </p:nvSpPr>
        <p:spPr>
          <a:xfrm>
            <a:off x="240718" y="6762619"/>
            <a:ext cx="1359668" cy="261610"/>
          </a:xfrm>
          <a:prstGeom prst="rect">
            <a:avLst/>
          </a:prstGeom>
          <a:noFill/>
        </p:spPr>
        <p:txBody>
          <a:bodyPr wrap="none" rtlCol="0">
            <a:spAutoFit/>
          </a:bodyPr>
          <a:lstStyle/>
          <a:p>
            <a:r>
              <a:rPr lang="en-US" sz="1100" b="1">
                <a:solidFill>
                  <a:srgbClr val="0C5EA8"/>
                </a:solidFill>
              </a:rPr>
              <a:t>World Commodities</a:t>
            </a:r>
            <a:endParaRPr lang="en-US" sz="1100" b="1" dirty="0">
              <a:solidFill>
                <a:srgbClr val="0C5EA8"/>
              </a:solidFill>
            </a:endParaRPr>
          </a:p>
        </p:txBody>
      </p:sp>
      <p:sp>
        <p:nvSpPr>
          <p:cNvPr id="29" name="TextBox 25">
            <a:extLst>
              <a:ext uri="{FF2B5EF4-FFF2-40B4-BE49-F238E27FC236}">
                <a16:creationId xmlns="" xmlns:a16="http://schemas.microsoft.com/office/drawing/2014/main" id="{9A0CB0B1-E2A0-1969-AE01-B9EB70102F27}"/>
              </a:ext>
            </a:extLst>
          </p:cNvPr>
          <p:cNvSpPr txBox="1"/>
          <p:nvPr/>
        </p:nvSpPr>
        <p:spPr>
          <a:xfrm>
            <a:off x="240717" y="4571005"/>
            <a:ext cx="801823" cy="261610"/>
          </a:xfrm>
          <a:prstGeom prst="rect">
            <a:avLst/>
          </a:prstGeom>
          <a:noFill/>
        </p:spPr>
        <p:txBody>
          <a:bodyPr wrap="none" rtlCol="0">
            <a:spAutoFit/>
          </a:bodyPr>
          <a:lstStyle/>
          <a:p>
            <a:r>
              <a:rPr lang="en-US" sz="1100" b="1" dirty="0">
                <a:solidFill>
                  <a:srgbClr val="0C5EA8"/>
                </a:solidFill>
              </a:rPr>
              <a:t>Currencies</a:t>
            </a:r>
          </a:p>
        </p:txBody>
      </p:sp>
      <p:sp>
        <p:nvSpPr>
          <p:cNvPr id="32" name="TextBox 29">
            <a:extLst>
              <a:ext uri="{FF2B5EF4-FFF2-40B4-BE49-F238E27FC236}">
                <a16:creationId xmlns="" xmlns:a16="http://schemas.microsoft.com/office/drawing/2014/main" id="{C2A669C1-0352-0FC6-CA1E-9FCA9FFAC850}"/>
              </a:ext>
            </a:extLst>
          </p:cNvPr>
          <p:cNvSpPr txBox="1"/>
          <p:nvPr/>
        </p:nvSpPr>
        <p:spPr>
          <a:xfrm>
            <a:off x="3417527" y="6762619"/>
            <a:ext cx="1577676" cy="261610"/>
          </a:xfrm>
          <a:prstGeom prst="rect">
            <a:avLst/>
          </a:prstGeom>
          <a:noFill/>
        </p:spPr>
        <p:txBody>
          <a:bodyPr wrap="none" rtlCol="0">
            <a:spAutoFit/>
          </a:bodyPr>
          <a:lstStyle/>
          <a:p>
            <a:r>
              <a:rPr lang="en-US" sz="1100" b="1">
                <a:solidFill>
                  <a:srgbClr val="0C5EA8"/>
                </a:solidFill>
              </a:rPr>
              <a:t>Foreign Trading Activity</a:t>
            </a:r>
            <a:endParaRPr lang="en-US" sz="800" b="1" dirty="0">
              <a:solidFill>
                <a:srgbClr val="0C5EA8"/>
              </a:solidFill>
            </a:endParaRPr>
          </a:p>
        </p:txBody>
      </p:sp>
      <p:sp>
        <p:nvSpPr>
          <p:cNvPr id="42" name="TextBox 20">
            <a:extLst>
              <a:ext uri="{FF2B5EF4-FFF2-40B4-BE49-F238E27FC236}">
                <a16:creationId xmlns="" xmlns:a16="http://schemas.microsoft.com/office/drawing/2014/main" id="{01EBC932-EC7B-481D-A8D4-7C8055645BA1}"/>
              </a:ext>
            </a:extLst>
          </p:cNvPr>
          <p:cNvSpPr txBox="1"/>
          <p:nvPr/>
        </p:nvSpPr>
        <p:spPr>
          <a:xfrm>
            <a:off x="233917" y="2066875"/>
            <a:ext cx="958917" cy="261610"/>
          </a:xfrm>
          <a:prstGeom prst="rect">
            <a:avLst/>
          </a:prstGeom>
          <a:noFill/>
        </p:spPr>
        <p:txBody>
          <a:bodyPr wrap="none" rtlCol="0">
            <a:spAutoFit/>
          </a:bodyPr>
          <a:lstStyle/>
          <a:p>
            <a:r>
              <a:rPr lang="en-US" sz="1100" b="1">
                <a:solidFill>
                  <a:srgbClr val="0C5EA8"/>
                </a:solidFill>
              </a:rPr>
              <a:t>Fixed Income</a:t>
            </a:r>
            <a:endParaRPr lang="en-US" sz="1100" b="1" dirty="0">
              <a:solidFill>
                <a:srgbClr val="0C5EA8"/>
              </a:solidFill>
            </a:endParaRPr>
          </a:p>
        </p:txBody>
      </p:sp>
      <p:sp>
        <p:nvSpPr>
          <p:cNvPr id="43" name="TextBox 22">
            <a:extLst>
              <a:ext uri="{FF2B5EF4-FFF2-40B4-BE49-F238E27FC236}">
                <a16:creationId xmlns="" xmlns:a16="http://schemas.microsoft.com/office/drawing/2014/main" id="{1FBDAAF2-D118-FC2D-6871-99076259FAE3}"/>
              </a:ext>
            </a:extLst>
          </p:cNvPr>
          <p:cNvSpPr txBox="1"/>
          <p:nvPr/>
        </p:nvSpPr>
        <p:spPr>
          <a:xfrm>
            <a:off x="3442325" y="2068668"/>
            <a:ext cx="556563" cy="261610"/>
          </a:xfrm>
          <a:prstGeom prst="rect">
            <a:avLst/>
          </a:prstGeom>
          <a:noFill/>
        </p:spPr>
        <p:txBody>
          <a:bodyPr wrap="none" rtlCol="0">
            <a:spAutoFit/>
          </a:bodyPr>
          <a:lstStyle/>
          <a:p>
            <a:r>
              <a:rPr lang="en-US" sz="1100" b="1" dirty="0">
                <a:solidFill>
                  <a:srgbClr val="0C5EA8"/>
                </a:solidFill>
              </a:rPr>
              <a:t>Equity</a:t>
            </a:r>
          </a:p>
        </p:txBody>
      </p:sp>
      <p:sp>
        <p:nvSpPr>
          <p:cNvPr id="2" name="TextBox 1"/>
          <p:cNvSpPr txBox="1"/>
          <p:nvPr/>
        </p:nvSpPr>
        <p:spPr>
          <a:xfrm>
            <a:off x="233917" y="1719590"/>
            <a:ext cx="5785883" cy="261610"/>
          </a:xfrm>
          <a:prstGeom prst="rect">
            <a:avLst/>
          </a:prstGeom>
          <a:noFill/>
        </p:spPr>
        <p:txBody>
          <a:bodyPr wrap="square" rtlCol="0">
            <a:spAutoFit/>
          </a:bodyPr>
          <a:lstStyle/>
          <a:p>
            <a:pPr>
              <a:spcBef>
                <a:spcPts val="300"/>
              </a:spcBef>
            </a:pPr>
            <a:r>
              <a:rPr lang="en-US" sz="1100" b="1" u="sng" dirty="0">
                <a:solidFill>
                  <a:srgbClr val="0C5EA8"/>
                </a:solidFill>
              </a:rPr>
              <a:t>Per 25 September 2026</a:t>
            </a:r>
          </a:p>
        </p:txBody>
      </p:sp>
      <p:graphicFrame>
        <p:nvGraphicFramePr>
          <p:cNvPr id="4" name="Table 3"/>
          <p:cNvGraphicFramePr>
            <a:graphicFrameLocks noGrp="1"/>
          </p:cNvGraphicFramePr>
          <p:nvPr>
            <p:extLst/>
          </p:nvPr>
        </p:nvGraphicFramePr>
        <p:xfrm>
          <a:off x="295219" y="4843314"/>
          <a:ext cx="2997281" cy="1612011"/>
        </p:xfrm>
        <a:graphic>
          <a:graphicData uri="http://schemas.openxmlformats.org/drawingml/2006/table">
            <a:tbl>
              <a:tblPr/>
              <a:tblGrid>
                <a:gridCol w="1080100">
                  <a:extLst>
                    <a:ext uri="{9D8B030D-6E8A-4147-A177-3AD203B41FA5}">
                      <a16:colId xmlns="" xmlns:a16="http://schemas.microsoft.com/office/drawing/2014/main" val="20000"/>
                    </a:ext>
                  </a:extLst>
                </a:gridCol>
                <a:gridCol w="635000">
                  <a:extLst>
                    <a:ext uri="{9D8B030D-6E8A-4147-A177-3AD203B41FA5}">
                      <a16:colId xmlns="" xmlns:a16="http://schemas.microsoft.com/office/drawing/2014/main" val="20001"/>
                    </a:ext>
                  </a:extLst>
                </a:gridCol>
                <a:gridCol w="408811">
                  <a:extLst>
                    <a:ext uri="{9D8B030D-6E8A-4147-A177-3AD203B41FA5}">
                      <a16:colId xmlns="" xmlns:a16="http://schemas.microsoft.com/office/drawing/2014/main" val="20002"/>
                    </a:ext>
                  </a:extLst>
                </a:gridCol>
                <a:gridCol w="408811">
                  <a:extLst>
                    <a:ext uri="{9D8B030D-6E8A-4147-A177-3AD203B41FA5}">
                      <a16:colId xmlns="" xmlns:a16="http://schemas.microsoft.com/office/drawing/2014/main" val="20003"/>
                    </a:ext>
                  </a:extLst>
                </a:gridCol>
                <a:gridCol w="464559">
                  <a:extLst>
                    <a:ext uri="{9D8B030D-6E8A-4147-A177-3AD203B41FA5}">
                      <a16:colId xmlns="" xmlns:a16="http://schemas.microsoft.com/office/drawing/2014/main" val="20004"/>
                    </a:ext>
                  </a:extLst>
                </a:gridCol>
              </a:tblGrid>
              <a:tr h="134376">
                <a:tc>
                  <a:txBody>
                    <a:bodyPr/>
                    <a:lstStyle/>
                    <a:p>
                      <a:pPr algn="ctr" fontAlgn="ctr"/>
                      <a:r>
                        <a:rPr lang="en-US" sz="800" b="1" i="0" u="none" strike="noStrike" dirty="0">
                          <a:solidFill>
                            <a:srgbClr val="FFFFFF"/>
                          </a:solidFill>
                          <a:effectLst/>
                          <a:latin typeface="Calibri" panose="020F0502020204030204" pitchFamily="34" charset="0"/>
                        </a:rPr>
                        <a:t>Currencies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 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 Dollar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100.97</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(0.31)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34376">
                <a:tc>
                  <a:txBody>
                    <a:bodyPr/>
                    <a:lstStyle/>
                    <a:p>
                      <a:pPr algn="ctr" fontAlgn="ctr"/>
                      <a:r>
                        <a:rPr lang="en-US" sz="800" b="0" i="0" u="none" strike="noStrike" dirty="0">
                          <a:solidFill>
                            <a:srgbClr val="000000"/>
                          </a:solidFill>
                          <a:effectLst/>
                          <a:latin typeface="Calibri" panose="020F0502020204030204" pitchFamily="34" charset="0"/>
                        </a:rPr>
                        <a:t>GBP/USD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34376">
                <a:tc>
                  <a:txBody>
                    <a:bodyPr/>
                    <a:lstStyle/>
                    <a:p>
                      <a:pPr algn="ctr" fontAlgn="ctr"/>
                      <a:r>
                        <a:rPr lang="en-US" sz="800" b="0" i="0" u="none" strike="noStrike">
                          <a:solidFill>
                            <a:srgbClr val="000000"/>
                          </a:solidFill>
                          <a:effectLst/>
                          <a:latin typeface="Calibri" panose="020F0502020204030204" pitchFamily="34" charset="0"/>
                        </a:rPr>
                        <a:t>EUR/USD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1.14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(3.02)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34376">
                <a:tc>
                  <a:txBody>
                    <a:bodyPr/>
                    <a:lstStyle/>
                    <a:p>
                      <a:pPr algn="ctr" fontAlgn="ctr"/>
                      <a:r>
                        <a:rPr lang="en-US" sz="800" b="0" i="0" u="none" strike="noStrike">
                          <a:solidFill>
                            <a:srgbClr val="000000"/>
                          </a:solidFill>
                          <a:effectLst/>
                          <a:latin typeface="Calibri" panose="020F0502020204030204" pitchFamily="34" charset="0"/>
                        </a:rPr>
                        <a:t>AUD/USD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5.25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34376">
                <a:tc>
                  <a:txBody>
                    <a:bodyPr/>
                    <a:lstStyle/>
                    <a:p>
                      <a:pPr algn="ctr" fontAlgn="ctr"/>
                      <a:r>
                        <a:rPr lang="en-US" sz="800" b="0" i="0" u="none" strike="noStrike" dirty="0">
                          <a:solidFill>
                            <a:srgbClr val="000000"/>
                          </a:solidFill>
                          <a:effectLst/>
                          <a:latin typeface="Calibri" panose="020F0502020204030204" pitchFamily="34" charset="0"/>
                        </a:rPr>
                        <a:t>NZD/USD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0.57</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(1.03)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(1.65)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34376">
                <a:tc>
                  <a:txBody>
                    <a:bodyPr/>
                    <a:lstStyle/>
                    <a:p>
                      <a:pPr algn="ctr" fontAlgn="ctr"/>
                      <a:r>
                        <a:rPr lang="en-US" sz="800" b="0" i="0" u="none" strike="noStrike">
                          <a:solidFill>
                            <a:srgbClr val="000000"/>
                          </a:solidFill>
                          <a:effectLst/>
                          <a:latin typeface="Calibri" panose="020F0502020204030204" pitchFamily="34" charset="0"/>
                        </a:rPr>
                        <a:t>USD/JPY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157.28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34376">
                <a:tc>
                  <a:txBody>
                    <a:bodyPr/>
                    <a:lstStyle/>
                    <a:p>
                      <a:pPr algn="ctr" fontAlgn="ctr"/>
                      <a:r>
                        <a:rPr lang="en-US" sz="800" b="0" i="0" u="none" strike="noStrike">
                          <a:solidFill>
                            <a:srgbClr val="000000"/>
                          </a:solidFill>
                          <a:effectLst/>
                          <a:latin typeface="Calibri" panose="020F0502020204030204" pitchFamily="34" charset="0"/>
                        </a:rPr>
                        <a:t>USD/HKD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(0.01)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0.79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34376">
                <a:tc>
                  <a:txBody>
                    <a:bodyPr/>
                    <a:lstStyle/>
                    <a:p>
                      <a:pPr algn="ctr" fontAlgn="ctr"/>
                      <a:r>
                        <a:rPr lang="en-US" sz="800" b="0" i="0" u="none" strike="noStrike">
                          <a:solidFill>
                            <a:srgbClr val="000000"/>
                          </a:solidFill>
                          <a:effectLst/>
                          <a:latin typeface="Calibri" panose="020F0502020204030204" pitchFamily="34" charset="0"/>
                        </a:rPr>
                        <a:t>USD/KRW</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1,358.60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(5.64)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34376">
                <a:tc>
                  <a:txBody>
                    <a:bodyPr/>
                    <a:lstStyle/>
                    <a:p>
                      <a:pPr algn="ctr" fontAlgn="ctr"/>
                      <a:r>
                        <a:rPr lang="en-US" sz="800" b="0" i="0" u="none" strike="noStrike">
                          <a:solidFill>
                            <a:srgbClr val="000000"/>
                          </a:solidFill>
                          <a:effectLst/>
                          <a:latin typeface="Calibri" panose="020F0502020204030204" pitchFamily="34" charset="0"/>
                        </a:rPr>
                        <a:t>USD/CNY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6.71</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33875">
                <a:tc>
                  <a:txBody>
                    <a:bodyPr/>
                    <a:lstStyle/>
                    <a:p>
                      <a:pPr algn="ctr" fontAlgn="ctr"/>
                      <a:r>
                        <a:rPr lang="en-US" sz="800" b="0" i="0" u="none" strike="noStrike">
                          <a:solidFill>
                            <a:srgbClr val="000000"/>
                          </a:solidFill>
                          <a:effectLst/>
                          <a:latin typeface="Calibri" panose="020F0502020204030204" pitchFamily="34" charset="0"/>
                        </a:rPr>
                        <a:t>USD/SGD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(0.63)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1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USD/IDR</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17,893.00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(0.04)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0.85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7.21</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11"/>
                  </a:ext>
                </a:extLst>
              </a:tr>
            </a:tbl>
          </a:graphicData>
        </a:graphic>
      </p:graphicFrame>
      <p:graphicFrame>
        <p:nvGraphicFramePr>
          <p:cNvPr id="6" name="Table 5"/>
          <p:cNvGraphicFramePr>
            <a:graphicFrameLocks noGrp="1"/>
          </p:cNvGraphicFramePr>
          <p:nvPr>
            <p:extLst/>
          </p:nvPr>
        </p:nvGraphicFramePr>
        <p:xfrm>
          <a:off x="3505197" y="4843314"/>
          <a:ext cx="3127377" cy="1612123"/>
        </p:xfrm>
        <a:graphic>
          <a:graphicData uri="http://schemas.openxmlformats.org/drawingml/2006/table">
            <a:tbl>
              <a:tblPr/>
              <a:tblGrid>
                <a:gridCol w="1128185">
                  <a:extLst>
                    <a:ext uri="{9D8B030D-6E8A-4147-A177-3AD203B41FA5}">
                      <a16:colId xmlns="" xmlns:a16="http://schemas.microsoft.com/office/drawing/2014/main" val="20000"/>
                    </a:ext>
                  </a:extLst>
                </a:gridCol>
                <a:gridCol w="659929">
                  <a:extLst>
                    <a:ext uri="{9D8B030D-6E8A-4147-A177-3AD203B41FA5}">
                      <a16:colId xmlns="" xmlns:a16="http://schemas.microsoft.com/office/drawing/2014/main" val="20001"/>
                    </a:ext>
                  </a:extLst>
                </a:gridCol>
                <a:gridCol w="427011">
                  <a:extLst>
                    <a:ext uri="{9D8B030D-6E8A-4147-A177-3AD203B41FA5}">
                      <a16:colId xmlns="" xmlns:a16="http://schemas.microsoft.com/office/drawing/2014/main" val="20002"/>
                    </a:ext>
                  </a:extLst>
                </a:gridCol>
                <a:gridCol w="427011">
                  <a:extLst>
                    <a:ext uri="{9D8B030D-6E8A-4147-A177-3AD203B41FA5}">
                      <a16:colId xmlns="" xmlns:a16="http://schemas.microsoft.com/office/drawing/2014/main" val="20003"/>
                    </a:ext>
                  </a:extLst>
                </a:gridCol>
                <a:gridCol w="485241">
                  <a:extLst>
                    <a:ext uri="{9D8B030D-6E8A-4147-A177-3AD203B41FA5}">
                      <a16:colId xmlns="" xmlns:a16="http://schemas.microsoft.com/office/drawing/2014/main" val="20004"/>
                    </a:ext>
                  </a:extLst>
                </a:gridCol>
              </a:tblGrid>
              <a:tr h="133284">
                <a:tc>
                  <a:txBody>
                    <a:bodyPr/>
                    <a:lstStyle/>
                    <a:p>
                      <a:pPr algn="ctr" fontAlgn="ctr"/>
                      <a:r>
                        <a:rPr lang="en-US" sz="800" b="1" i="0" u="none" strike="noStrike" dirty="0">
                          <a:solidFill>
                            <a:srgbClr val="FFFFFF"/>
                          </a:solidFill>
                          <a:effectLst/>
                          <a:latin typeface="Calibri" panose="020F0502020204030204" pitchFamily="34" charset="0"/>
                        </a:rPr>
                        <a:t>JCI Sectoral</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Last Close</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33284">
                <a:tc>
                  <a:txBody>
                    <a:bodyPr/>
                    <a:lstStyle/>
                    <a:p>
                      <a:pPr algn="ctr" fontAlgn="ctr"/>
                      <a:r>
                        <a:rPr lang="en-US" sz="800" b="0" i="0" u="none" strike="noStrike" dirty="0">
                          <a:solidFill>
                            <a:srgbClr val="000000"/>
                          </a:solidFill>
                          <a:effectLst/>
                          <a:latin typeface="Calibri" panose="020F0502020204030204" pitchFamily="34" charset="0"/>
                        </a:rPr>
                        <a:t>Financial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1,331.60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(14.09)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33284">
                <a:tc>
                  <a:txBody>
                    <a:bodyPr/>
                    <a:lstStyle/>
                    <a:p>
                      <a:pPr algn="ctr" fontAlgn="ctr"/>
                      <a:r>
                        <a:rPr lang="en-US" sz="800" b="0" i="0" u="none" strike="noStrike" dirty="0">
                          <a:solidFill>
                            <a:srgbClr val="000000"/>
                          </a:solidFill>
                          <a:effectLst/>
                          <a:latin typeface="Calibri" panose="020F0502020204030204" pitchFamily="34" charset="0"/>
                        </a:rPr>
                        <a:t>Consumer Non Cyclical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683.40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(3.50)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(14.55)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40840">
                <a:tc>
                  <a:txBody>
                    <a:bodyPr/>
                    <a:lstStyle/>
                    <a:p>
                      <a:pPr algn="ctr" fontAlgn="ctr"/>
                      <a:r>
                        <a:rPr lang="en-US" sz="800" b="0" i="0" u="none" strike="noStrike" dirty="0">
                          <a:solidFill>
                            <a:srgbClr val="000000"/>
                          </a:solidFill>
                          <a:effectLst/>
                          <a:latin typeface="Calibri" panose="020F0502020204030204" pitchFamily="34" charset="0"/>
                        </a:rPr>
                        <a:t>Infrastructure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1,755.80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(2.22)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(34.27)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33284">
                <a:tc>
                  <a:txBody>
                    <a:bodyPr/>
                    <a:lstStyle/>
                    <a:p>
                      <a:pPr algn="ctr" fontAlgn="ctr"/>
                      <a:r>
                        <a:rPr lang="en-US" sz="800" b="0" i="0" u="none" strike="noStrike" dirty="0">
                          <a:solidFill>
                            <a:srgbClr val="000000"/>
                          </a:solidFill>
                          <a:effectLst/>
                          <a:latin typeface="Calibri" panose="020F0502020204030204" pitchFamily="34" charset="0"/>
                        </a:rPr>
                        <a:t>Basic Material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1,734.36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(15.73)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33284">
                <a:tc>
                  <a:txBody>
                    <a:bodyPr/>
                    <a:lstStyle/>
                    <a:p>
                      <a:pPr algn="ctr" fontAlgn="ctr"/>
                      <a:r>
                        <a:rPr lang="en-US" sz="800" b="0" i="0" u="none" strike="noStrike" dirty="0">
                          <a:solidFill>
                            <a:srgbClr val="000000"/>
                          </a:solidFill>
                          <a:effectLst/>
                          <a:latin typeface="Calibri" panose="020F0502020204030204" pitchFamily="34" charset="0"/>
                        </a:rPr>
                        <a:t>Energy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3,167.10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(28.88)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33284">
                <a:tc>
                  <a:txBody>
                    <a:bodyPr/>
                    <a:lstStyle/>
                    <a:p>
                      <a:pPr algn="ctr" fontAlgn="ctr"/>
                      <a:r>
                        <a:rPr lang="en-US" sz="800" b="0" i="0" u="none" strike="noStrike">
                          <a:solidFill>
                            <a:srgbClr val="000000"/>
                          </a:solidFill>
                          <a:effectLst/>
                          <a:latin typeface="Calibri" panose="020F0502020204030204" pitchFamily="34" charset="0"/>
                        </a:rPr>
                        <a:t>Consumer Cyclical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947.27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(1.03)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(22.76)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33284">
                <a:tc>
                  <a:txBody>
                    <a:bodyPr/>
                    <a:lstStyle/>
                    <a:p>
                      <a:pPr algn="ctr" fontAlgn="ctr"/>
                      <a:r>
                        <a:rPr lang="en-US" sz="800" b="0" i="0" u="none" strike="noStrike">
                          <a:solidFill>
                            <a:srgbClr val="000000"/>
                          </a:solidFill>
                          <a:effectLst/>
                          <a:latin typeface="Calibri" panose="020F0502020204030204" pitchFamily="34" charset="0"/>
                        </a:rPr>
                        <a:t>Technology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6,538.61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(1.73)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(31.38)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33284">
                <a:tc>
                  <a:txBody>
                    <a:bodyPr/>
                    <a:lstStyle/>
                    <a:p>
                      <a:pPr algn="ctr" fontAlgn="ctr"/>
                      <a:r>
                        <a:rPr lang="en-US" sz="800" b="0" i="0" u="none" strike="noStrike">
                          <a:solidFill>
                            <a:srgbClr val="000000"/>
                          </a:solidFill>
                          <a:effectLst/>
                          <a:latin typeface="Calibri" panose="020F0502020204030204" pitchFamily="34" charset="0"/>
                        </a:rPr>
                        <a:t>Healthcare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1,435.80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(30.45)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38443">
                <a:tc>
                  <a:txBody>
                    <a:bodyPr/>
                    <a:lstStyle/>
                    <a:p>
                      <a:pPr algn="ctr" fontAlgn="ctr"/>
                      <a:r>
                        <a:rPr lang="en-US" sz="800" b="0" i="0" u="none" strike="noStrike" dirty="0">
                          <a:solidFill>
                            <a:srgbClr val="000000"/>
                          </a:solidFill>
                          <a:effectLst/>
                          <a:latin typeface="Calibri" panose="020F0502020204030204" pitchFamily="34" charset="0"/>
                        </a:rPr>
                        <a:t>Property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766.96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(1.26)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(34.61)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33284">
                <a:tc>
                  <a:txBody>
                    <a:bodyPr/>
                    <a:lstStyle/>
                    <a:p>
                      <a:pPr algn="ctr" fontAlgn="ctr"/>
                      <a:r>
                        <a:rPr lang="en-US" sz="800" b="0" i="0" u="none" strike="noStrike" dirty="0">
                          <a:solidFill>
                            <a:srgbClr val="000000"/>
                          </a:solidFill>
                          <a:effectLst/>
                          <a:latin typeface="Calibri" panose="020F0502020204030204" pitchFamily="34" charset="0"/>
                        </a:rPr>
                        <a:t>Industrial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1,610.32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(5.48)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(25.28)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10"/>
                  </a:ext>
                </a:extLst>
              </a:tr>
              <a:tr h="133284">
                <a:tc>
                  <a:txBody>
                    <a:bodyPr/>
                    <a:lstStyle/>
                    <a:p>
                      <a:pPr algn="ctr" fontAlgn="ctr"/>
                      <a:r>
                        <a:rPr lang="en-US" sz="800" b="0" i="0" u="none" strike="noStrike" dirty="0">
                          <a:solidFill>
                            <a:srgbClr val="000000"/>
                          </a:solidFill>
                          <a:effectLst/>
                          <a:latin typeface="Calibri" panose="020F0502020204030204" pitchFamily="34" charset="0"/>
                        </a:rPr>
                        <a:t>Transportation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1,744.56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(1.84)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FF0000"/>
                          </a:solidFill>
                          <a:effectLst/>
                          <a:latin typeface="Calibri" panose="020F0502020204030204" pitchFamily="34" charset="0"/>
                        </a:rPr>
                        <a:t>(11.27)</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11"/>
                  </a:ext>
                </a:extLst>
              </a:tr>
            </a:tbl>
          </a:graphicData>
        </a:graphic>
      </p:graphicFrame>
      <p:graphicFrame>
        <p:nvGraphicFramePr>
          <p:cNvPr id="8" name="Table 7"/>
          <p:cNvGraphicFramePr>
            <a:graphicFrameLocks noGrp="1"/>
          </p:cNvGraphicFramePr>
          <p:nvPr>
            <p:extLst/>
          </p:nvPr>
        </p:nvGraphicFramePr>
        <p:xfrm>
          <a:off x="3505197" y="2330278"/>
          <a:ext cx="3127377" cy="2047201"/>
        </p:xfrm>
        <a:graphic>
          <a:graphicData uri="http://schemas.openxmlformats.org/drawingml/2006/table">
            <a:tbl>
              <a:tblPr/>
              <a:tblGrid>
                <a:gridCol w="1128185">
                  <a:extLst>
                    <a:ext uri="{9D8B030D-6E8A-4147-A177-3AD203B41FA5}">
                      <a16:colId xmlns="" xmlns:a16="http://schemas.microsoft.com/office/drawing/2014/main" val="20000"/>
                    </a:ext>
                  </a:extLst>
                </a:gridCol>
                <a:gridCol w="659927">
                  <a:extLst>
                    <a:ext uri="{9D8B030D-6E8A-4147-A177-3AD203B41FA5}">
                      <a16:colId xmlns="" xmlns:a16="http://schemas.microsoft.com/office/drawing/2014/main" val="20001"/>
                    </a:ext>
                  </a:extLst>
                </a:gridCol>
                <a:gridCol w="427012">
                  <a:extLst>
                    <a:ext uri="{9D8B030D-6E8A-4147-A177-3AD203B41FA5}">
                      <a16:colId xmlns="" xmlns:a16="http://schemas.microsoft.com/office/drawing/2014/main" val="20002"/>
                    </a:ext>
                  </a:extLst>
                </a:gridCol>
                <a:gridCol w="427012">
                  <a:extLst>
                    <a:ext uri="{9D8B030D-6E8A-4147-A177-3AD203B41FA5}">
                      <a16:colId xmlns="" xmlns:a16="http://schemas.microsoft.com/office/drawing/2014/main" val="20003"/>
                    </a:ext>
                  </a:extLst>
                </a:gridCol>
                <a:gridCol w="485241">
                  <a:extLst>
                    <a:ext uri="{9D8B030D-6E8A-4147-A177-3AD203B41FA5}">
                      <a16:colId xmlns="" xmlns:a16="http://schemas.microsoft.com/office/drawing/2014/main" val="20004"/>
                    </a:ext>
                  </a:extLst>
                </a:gridCol>
              </a:tblGrid>
              <a:tr h="157477">
                <a:tc>
                  <a:txBody>
                    <a:bodyPr/>
                    <a:lstStyle/>
                    <a:p>
                      <a:pPr algn="ctr" fontAlgn="ctr"/>
                      <a:r>
                        <a:rPr lang="en-US" sz="800" b="1" i="0" u="none" strike="noStrike" dirty="0">
                          <a:solidFill>
                            <a:srgbClr val="FFFFFF"/>
                          </a:solidFill>
                          <a:effectLst/>
                          <a:latin typeface="Calibri" panose="020F0502020204030204" pitchFamily="34" charset="0"/>
                        </a:rPr>
                        <a:t>Equity Indices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57477">
                <a:tc>
                  <a:txBody>
                    <a:bodyPr/>
                    <a:lstStyle/>
                    <a:p>
                      <a:pPr algn="ctr" fontAlgn="ctr"/>
                      <a:r>
                        <a:rPr lang="en-US" sz="800" b="0" i="0" u="none" strike="noStrike" dirty="0">
                          <a:solidFill>
                            <a:srgbClr val="000000"/>
                          </a:solidFill>
                          <a:effectLst/>
                          <a:latin typeface="Calibri" panose="020F0502020204030204" pitchFamily="34" charset="0"/>
                        </a:rPr>
                        <a:t>Dow Jones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51,828.62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0.93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57477">
                <a:tc>
                  <a:txBody>
                    <a:bodyPr/>
                    <a:lstStyle/>
                    <a:p>
                      <a:pPr algn="ctr" fontAlgn="ctr"/>
                      <a:r>
                        <a:rPr lang="en-US" sz="800" b="0" i="0" u="none" strike="noStrike" dirty="0">
                          <a:solidFill>
                            <a:srgbClr val="000000"/>
                          </a:solidFill>
                          <a:effectLst/>
                          <a:latin typeface="Calibri" panose="020F0502020204030204" pitchFamily="34" charset="0"/>
                        </a:rPr>
                        <a:t>S&amp;P 500</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7,743.41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0.51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13.12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57477">
                <a:tc>
                  <a:txBody>
                    <a:bodyPr/>
                    <a:lstStyle/>
                    <a:p>
                      <a:pPr algn="ctr" fontAlgn="ctr"/>
                      <a:r>
                        <a:rPr lang="en-US" sz="800" b="0" i="0" u="none" strike="noStrike" dirty="0">
                          <a:solidFill>
                            <a:srgbClr val="000000"/>
                          </a:solidFill>
                          <a:effectLst/>
                          <a:latin typeface="Calibri" panose="020F0502020204030204" pitchFamily="34" charset="0"/>
                        </a:rPr>
                        <a:t>Nasdaq</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27,068.72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0.48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16.46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57477">
                <a:tc>
                  <a:txBody>
                    <a:bodyPr/>
                    <a:lstStyle/>
                    <a:p>
                      <a:pPr algn="ctr" fontAlgn="ctr"/>
                      <a:r>
                        <a:rPr lang="en-US" sz="800" b="0" i="0" u="none" strike="noStrike" dirty="0">
                          <a:solidFill>
                            <a:srgbClr val="000000"/>
                          </a:solidFill>
                          <a:effectLst/>
                          <a:latin typeface="Calibri" panose="020F0502020204030204" pitchFamily="34" charset="0"/>
                        </a:rPr>
                        <a:t>FTSE 100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10,695.25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57477">
                <a:tc>
                  <a:txBody>
                    <a:bodyPr/>
                    <a:lstStyle/>
                    <a:p>
                      <a:pPr algn="ctr" fontAlgn="ctr"/>
                      <a:r>
                        <a:rPr lang="en-US" sz="800" b="0" i="0" u="none" strike="noStrike">
                          <a:solidFill>
                            <a:srgbClr val="000000"/>
                          </a:solidFill>
                          <a:effectLst/>
                          <a:latin typeface="Calibri" panose="020F0502020204030204" pitchFamily="34" charset="0"/>
                        </a:rPr>
                        <a:t>Euro STOXX 600</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638.65</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57477">
                <a:tc>
                  <a:txBody>
                    <a:bodyPr/>
                    <a:lstStyle/>
                    <a:p>
                      <a:pPr algn="ctr" fontAlgn="ctr"/>
                      <a:r>
                        <a:rPr lang="en-US" sz="800" b="0" i="0" u="none" strike="noStrike">
                          <a:solidFill>
                            <a:srgbClr val="000000"/>
                          </a:solidFill>
                          <a:effectLst/>
                          <a:latin typeface="Calibri" panose="020F0502020204030204" pitchFamily="34" charset="0"/>
                        </a:rPr>
                        <a:t>SSE Composite Index</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3,888.37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57477">
                <a:tc>
                  <a:txBody>
                    <a:bodyPr/>
                    <a:lstStyle/>
                    <a:p>
                      <a:pPr algn="ctr" fontAlgn="ctr"/>
                      <a:r>
                        <a:rPr lang="en-US" sz="800" b="0" i="0" u="none" strike="noStrike">
                          <a:solidFill>
                            <a:srgbClr val="000000"/>
                          </a:solidFill>
                          <a:effectLst/>
                          <a:latin typeface="Calibri" panose="020F0502020204030204" pitchFamily="34" charset="0"/>
                        </a:rPr>
                        <a:t>Nikkei 225</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66,364.20</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2.07</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31.83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57477">
                <a:tc>
                  <a:txBody>
                    <a:bodyPr/>
                    <a:lstStyle/>
                    <a:p>
                      <a:pPr algn="ctr" fontAlgn="ctr"/>
                      <a:r>
                        <a:rPr lang="en-US" sz="800" b="0" i="0" u="none" strike="noStrike">
                          <a:solidFill>
                            <a:srgbClr val="000000"/>
                          </a:solidFill>
                          <a:effectLst/>
                          <a:latin typeface="Calibri" panose="020F0502020204030204" pitchFamily="34" charset="0"/>
                        </a:rPr>
                        <a:t>Hang Seng</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24,510.09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(1.01)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(4.37)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57477">
                <a:tc>
                  <a:txBody>
                    <a:bodyPr/>
                    <a:lstStyle/>
                    <a:p>
                      <a:pPr algn="ctr" fontAlgn="ctr"/>
                      <a:r>
                        <a:rPr lang="en-US" sz="800" b="0" i="0" u="none" strike="noStrike" dirty="0" err="1">
                          <a:solidFill>
                            <a:srgbClr val="000000"/>
                          </a:solidFill>
                          <a:effectLst/>
                          <a:latin typeface="Calibri" panose="020F0502020204030204" pitchFamily="34" charset="0"/>
                        </a:rPr>
                        <a:t>Kospi</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7,080.92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2.71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68.03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57477">
                <a:tc>
                  <a:txBody>
                    <a:bodyPr/>
                    <a:lstStyle/>
                    <a:p>
                      <a:pPr algn="ctr" fontAlgn="ctr"/>
                      <a:r>
                        <a:rPr lang="en-US" sz="800" b="0" i="0" u="none" strike="noStrike">
                          <a:solidFill>
                            <a:srgbClr val="000000"/>
                          </a:solidFill>
                          <a:effectLst/>
                          <a:latin typeface="Calibri" panose="020F0502020204030204" pitchFamily="34" charset="0"/>
                        </a:rPr>
                        <a:t>IDX Composite</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6,241.89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(27.81)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10"/>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LQ45)</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621.11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(26.63)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11"/>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IDXSMC)</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393.60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(1.27)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FF0000"/>
                          </a:solidFill>
                          <a:effectLst/>
                          <a:latin typeface="Calibri" panose="020F0502020204030204" pitchFamily="34" charset="0"/>
                        </a:rPr>
                        <a:t>(21.80)</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12"/>
                  </a:ext>
                </a:extLst>
              </a:tr>
            </a:tbl>
          </a:graphicData>
        </a:graphic>
      </p:graphicFrame>
      <p:graphicFrame>
        <p:nvGraphicFramePr>
          <p:cNvPr id="10" name="Table 9"/>
          <p:cNvGraphicFramePr>
            <a:graphicFrameLocks noGrp="1"/>
          </p:cNvGraphicFramePr>
          <p:nvPr>
            <p:extLst/>
          </p:nvPr>
        </p:nvGraphicFramePr>
        <p:xfrm>
          <a:off x="290457" y="2331639"/>
          <a:ext cx="2994081" cy="1730774"/>
        </p:xfrm>
        <a:graphic>
          <a:graphicData uri="http://schemas.openxmlformats.org/drawingml/2006/table">
            <a:tbl>
              <a:tblPr/>
              <a:tblGrid>
                <a:gridCol w="1080100">
                  <a:extLst>
                    <a:ext uri="{9D8B030D-6E8A-4147-A177-3AD203B41FA5}">
                      <a16:colId xmlns="" xmlns:a16="http://schemas.microsoft.com/office/drawing/2014/main" val="20000"/>
                    </a:ext>
                  </a:extLst>
                </a:gridCol>
                <a:gridCol w="631800">
                  <a:extLst>
                    <a:ext uri="{9D8B030D-6E8A-4147-A177-3AD203B41FA5}">
                      <a16:colId xmlns="" xmlns:a16="http://schemas.microsoft.com/office/drawing/2014/main" val="20001"/>
                    </a:ext>
                  </a:extLst>
                </a:gridCol>
                <a:gridCol w="408811">
                  <a:extLst>
                    <a:ext uri="{9D8B030D-6E8A-4147-A177-3AD203B41FA5}">
                      <a16:colId xmlns="" xmlns:a16="http://schemas.microsoft.com/office/drawing/2014/main" val="20002"/>
                    </a:ext>
                  </a:extLst>
                </a:gridCol>
                <a:gridCol w="408811">
                  <a:extLst>
                    <a:ext uri="{9D8B030D-6E8A-4147-A177-3AD203B41FA5}">
                      <a16:colId xmlns="" xmlns:a16="http://schemas.microsoft.com/office/drawing/2014/main" val="20003"/>
                    </a:ext>
                  </a:extLst>
                </a:gridCol>
                <a:gridCol w="464559">
                  <a:extLst>
                    <a:ext uri="{9D8B030D-6E8A-4147-A177-3AD203B41FA5}">
                      <a16:colId xmlns="" xmlns:a16="http://schemas.microsoft.com/office/drawing/2014/main" val="20004"/>
                    </a:ext>
                  </a:extLst>
                </a:gridCol>
              </a:tblGrid>
              <a:tr h="156767">
                <a:tc>
                  <a:txBody>
                    <a:bodyPr/>
                    <a:lstStyle/>
                    <a:p>
                      <a:pPr algn="ctr" fontAlgn="ctr"/>
                      <a:r>
                        <a:rPr lang="en-US" sz="800" b="1" i="0" u="none" strike="noStrike" dirty="0">
                          <a:solidFill>
                            <a:srgbClr val="FFFFFF"/>
                          </a:solidFill>
                          <a:effectLst/>
                          <a:latin typeface="Calibri" panose="020F0502020204030204" pitchFamily="34" charset="0"/>
                        </a:rPr>
                        <a:t>Government Bond Yield</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Yield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5D (bps)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YTD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59544">
                <a:tc>
                  <a:txBody>
                    <a:bodyPr/>
                    <a:lstStyle/>
                    <a:p>
                      <a:pPr algn="ctr" fontAlgn="ctr"/>
                      <a:r>
                        <a:rPr lang="en-US" sz="800" b="0" i="0" u="none" strike="noStrike" dirty="0">
                          <a:solidFill>
                            <a:srgbClr val="000000"/>
                          </a:solidFill>
                          <a:effectLst/>
                          <a:latin typeface="Calibri" panose="020F0502020204030204" pitchFamily="34" charset="0"/>
                        </a:rPr>
                        <a:t>IndoGB 5Y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6.98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142.50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10Y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102.70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57163">
                <a:tc>
                  <a:txBody>
                    <a:bodyPr/>
                    <a:lstStyle/>
                    <a:p>
                      <a:pPr algn="ctr" fontAlgn="ctr"/>
                      <a:r>
                        <a:rPr lang="en-US" sz="800" b="0" i="0" u="none" strike="noStrike" dirty="0">
                          <a:solidFill>
                            <a:srgbClr val="000000"/>
                          </a:solidFill>
                          <a:effectLst/>
                          <a:latin typeface="Calibri" panose="020F0502020204030204" pitchFamily="34" charset="0"/>
                        </a:rPr>
                        <a:t>IndoGB 20Y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5Y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5.64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22.90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115.40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59543">
                <a:tc>
                  <a:txBody>
                    <a:bodyPr/>
                    <a:lstStyle/>
                    <a:p>
                      <a:pPr algn="ctr" fontAlgn="ctr"/>
                      <a:r>
                        <a:rPr lang="en-US" sz="800" b="0" i="0" u="none" strike="noStrike" dirty="0">
                          <a:solidFill>
                            <a:srgbClr val="000000"/>
                          </a:solidFill>
                          <a:effectLst/>
                          <a:latin typeface="Calibri" panose="020F0502020204030204" pitchFamily="34" charset="0"/>
                        </a:rPr>
                        <a:t>IndoGB 10Y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6.09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18.50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121.10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59545">
                <a:tc>
                  <a:txBody>
                    <a:bodyPr/>
                    <a:lstStyle/>
                    <a:p>
                      <a:pPr algn="ctr" fontAlgn="ctr"/>
                      <a:r>
                        <a:rPr lang="en-US" sz="800" b="0" i="0" u="none" strike="noStrike" dirty="0">
                          <a:solidFill>
                            <a:srgbClr val="000000"/>
                          </a:solidFill>
                          <a:effectLst/>
                          <a:latin typeface="Calibri" panose="020F0502020204030204" pitchFamily="34" charset="0"/>
                        </a:rPr>
                        <a:t>IndoGB 30Y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2.80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14.60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93.40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57162">
                <a:tc>
                  <a:txBody>
                    <a:bodyPr/>
                    <a:lstStyle/>
                    <a:p>
                      <a:pPr algn="ctr" fontAlgn="ctr"/>
                      <a:r>
                        <a:rPr lang="en-US" sz="800" b="0" i="0" u="none" strike="noStrike" dirty="0">
                          <a:solidFill>
                            <a:srgbClr val="000000"/>
                          </a:solidFill>
                          <a:effectLst/>
                          <a:latin typeface="Calibri" panose="020F0502020204030204" pitchFamily="34" charset="0"/>
                        </a:rPr>
                        <a:t>US Treasury 5Y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4.99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(7.15)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13.15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126.23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59544">
                <a:tc>
                  <a:txBody>
                    <a:bodyPr/>
                    <a:lstStyle/>
                    <a:p>
                      <a:pPr algn="ctr" fontAlgn="ctr"/>
                      <a:r>
                        <a:rPr lang="en-US" sz="800" b="0" i="0" u="none" strike="noStrike" dirty="0">
                          <a:solidFill>
                            <a:srgbClr val="000000"/>
                          </a:solidFill>
                          <a:effectLst/>
                          <a:latin typeface="Calibri" panose="020F0502020204030204" pitchFamily="34" charset="0"/>
                        </a:rPr>
                        <a:t>US Treasury 10Y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(3.74)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16.43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99.34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57162">
                <a:tc>
                  <a:txBody>
                    <a:bodyPr/>
                    <a:lstStyle/>
                    <a:p>
                      <a:pPr algn="ctr" fontAlgn="ctr"/>
                      <a:r>
                        <a:rPr lang="en-US" sz="800" b="0" i="0" u="none" strike="noStrike">
                          <a:solidFill>
                            <a:srgbClr val="000000"/>
                          </a:solidFill>
                          <a:effectLst/>
                          <a:latin typeface="Calibri" panose="020F0502020204030204" pitchFamily="34" charset="0"/>
                        </a:rPr>
                        <a:t>US Treasury 30Y</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5.49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16.53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64.69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54782">
                <a:tc>
                  <a:txBody>
                    <a:bodyPr/>
                    <a:lstStyle/>
                    <a:p>
                      <a:pPr algn="ctr" fontAlgn="ctr"/>
                      <a:r>
                        <a:rPr lang="en-US" sz="800" b="0" i="0" u="none" strike="noStrike" dirty="0">
                          <a:solidFill>
                            <a:srgbClr val="000000"/>
                          </a:solidFill>
                          <a:effectLst/>
                          <a:latin typeface="Calibri" panose="020F0502020204030204" pitchFamily="34" charset="0"/>
                        </a:rPr>
                        <a:t>Indo CDS (USD) 5Y</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88.28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6.27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19.42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10"/>
                  </a:ext>
                </a:extLst>
              </a:tr>
            </a:tbl>
          </a:graphicData>
        </a:graphic>
      </p:graphicFrame>
      <p:graphicFrame>
        <p:nvGraphicFramePr>
          <p:cNvPr id="14" name="Table 13"/>
          <p:cNvGraphicFramePr>
            <a:graphicFrameLocks noGrp="1"/>
          </p:cNvGraphicFramePr>
          <p:nvPr>
            <p:extLst/>
          </p:nvPr>
        </p:nvGraphicFramePr>
        <p:xfrm>
          <a:off x="290457" y="7045746"/>
          <a:ext cx="2994081" cy="1260054"/>
        </p:xfrm>
        <a:graphic>
          <a:graphicData uri="http://schemas.openxmlformats.org/drawingml/2006/table">
            <a:tbl>
              <a:tblPr/>
              <a:tblGrid>
                <a:gridCol w="1080100">
                  <a:extLst>
                    <a:ext uri="{9D8B030D-6E8A-4147-A177-3AD203B41FA5}">
                      <a16:colId xmlns="" xmlns:a16="http://schemas.microsoft.com/office/drawing/2014/main" val="20000"/>
                    </a:ext>
                  </a:extLst>
                </a:gridCol>
                <a:gridCol w="631800">
                  <a:extLst>
                    <a:ext uri="{9D8B030D-6E8A-4147-A177-3AD203B41FA5}">
                      <a16:colId xmlns="" xmlns:a16="http://schemas.microsoft.com/office/drawing/2014/main" val="20001"/>
                    </a:ext>
                  </a:extLst>
                </a:gridCol>
                <a:gridCol w="408811">
                  <a:extLst>
                    <a:ext uri="{9D8B030D-6E8A-4147-A177-3AD203B41FA5}">
                      <a16:colId xmlns="" xmlns:a16="http://schemas.microsoft.com/office/drawing/2014/main" val="20002"/>
                    </a:ext>
                  </a:extLst>
                </a:gridCol>
                <a:gridCol w="408811">
                  <a:extLst>
                    <a:ext uri="{9D8B030D-6E8A-4147-A177-3AD203B41FA5}">
                      <a16:colId xmlns="" xmlns:a16="http://schemas.microsoft.com/office/drawing/2014/main" val="20003"/>
                    </a:ext>
                  </a:extLst>
                </a:gridCol>
                <a:gridCol w="464559">
                  <a:extLst>
                    <a:ext uri="{9D8B030D-6E8A-4147-A177-3AD203B41FA5}">
                      <a16:colId xmlns="" xmlns:a16="http://schemas.microsoft.com/office/drawing/2014/main" val="20004"/>
                    </a:ext>
                  </a:extLst>
                </a:gridCol>
              </a:tblGrid>
              <a:tr h="140006">
                <a:tc>
                  <a:txBody>
                    <a:bodyPr/>
                    <a:lstStyle/>
                    <a:p>
                      <a:pPr algn="ctr" fontAlgn="ctr"/>
                      <a:r>
                        <a:rPr lang="en-US" sz="800" b="1" i="0" u="none" strike="noStrike" dirty="0">
                          <a:solidFill>
                            <a:srgbClr val="FFFFFF"/>
                          </a:solidFill>
                          <a:effectLst/>
                          <a:latin typeface="Calibri" panose="020F0502020204030204" pitchFamily="34" charset="0"/>
                        </a:rPr>
                        <a:t>Commodities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Price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40006">
                <a:tc>
                  <a:txBody>
                    <a:bodyPr/>
                    <a:lstStyle/>
                    <a:p>
                      <a:pPr algn="ctr" fontAlgn="ctr"/>
                      <a:r>
                        <a:rPr lang="en-US" sz="800" b="0" i="0" u="none" strike="noStrike">
                          <a:solidFill>
                            <a:srgbClr val="000000"/>
                          </a:solidFill>
                          <a:effectLst/>
                          <a:latin typeface="Calibri" panose="020F0502020204030204" pitchFamily="34" charset="0"/>
                        </a:rPr>
                        <a:t>WTI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92.41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(2.33)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(3.82)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62.35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40006">
                <a:tc>
                  <a:txBody>
                    <a:bodyPr/>
                    <a:lstStyle/>
                    <a:p>
                      <a:pPr algn="ctr" fontAlgn="ctr"/>
                      <a:r>
                        <a:rPr lang="en-US" sz="800" b="0" i="0" u="none" strike="noStrike">
                          <a:solidFill>
                            <a:srgbClr val="000000"/>
                          </a:solidFill>
                          <a:effectLst/>
                          <a:latin typeface="Calibri" panose="020F0502020204030204" pitchFamily="34" charset="0"/>
                        </a:rPr>
                        <a:t>Brent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104.32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0.43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73.32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40006">
                <a:tc>
                  <a:txBody>
                    <a:bodyPr/>
                    <a:lstStyle/>
                    <a:p>
                      <a:pPr algn="ctr" fontAlgn="ctr"/>
                      <a:r>
                        <a:rPr lang="en-US" sz="800" b="0" i="0" u="none" strike="noStrike">
                          <a:solidFill>
                            <a:srgbClr val="000000"/>
                          </a:solidFill>
                          <a:effectLst/>
                          <a:latin typeface="Calibri" panose="020F0502020204030204" pitchFamily="34" charset="0"/>
                        </a:rPr>
                        <a:t>Gold </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4,284.81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(2.14)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40006">
                <a:tc>
                  <a:txBody>
                    <a:bodyPr/>
                    <a:lstStyle/>
                    <a:p>
                      <a:pPr algn="ctr" fontAlgn="ctr"/>
                      <a:r>
                        <a:rPr lang="en-US" sz="800" b="0" i="0" u="none" strike="noStrike">
                          <a:solidFill>
                            <a:srgbClr val="000000"/>
                          </a:solidFill>
                          <a:effectLst/>
                          <a:latin typeface="Calibri" panose="020F0502020204030204" pitchFamily="34" charset="0"/>
                        </a:rPr>
                        <a:t>Natural Gas</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(15.02)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40006">
                <a:tc>
                  <a:txBody>
                    <a:bodyPr/>
                    <a:lstStyle/>
                    <a:p>
                      <a:pPr algn="ctr" fontAlgn="ctr"/>
                      <a:r>
                        <a:rPr lang="en-US" sz="800" b="0" i="0" u="none" strike="noStrike">
                          <a:solidFill>
                            <a:srgbClr val="000000"/>
                          </a:solidFill>
                          <a:effectLst/>
                          <a:latin typeface="Calibri" panose="020F0502020204030204" pitchFamily="34" charset="0"/>
                        </a:rPr>
                        <a:t>Coal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145.85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35.67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40006">
                <a:tc>
                  <a:txBody>
                    <a:bodyPr/>
                    <a:lstStyle/>
                    <a:p>
                      <a:pPr algn="ctr" fontAlgn="ctr"/>
                      <a:r>
                        <a:rPr lang="en-US" sz="800" b="0" i="0" u="none" strike="noStrike">
                          <a:solidFill>
                            <a:srgbClr val="000000"/>
                          </a:solidFill>
                          <a:effectLst/>
                          <a:latin typeface="Calibri" panose="020F0502020204030204" pitchFamily="34" charset="0"/>
                        </a:rPr>
                        <a:t>Nickel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16,203.85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0.83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40006">
                <a:tc>
                  <a:txBody>
                    <a:bodyPr/>
                    <a:lstStyle/>
                    <a:p>
                      <a:pPr algn="ctr" fontAlgn="ctr"/>
                      <a:r>
                        <a:rPr lang="en-US" sz="800" b="0" i="0" u="none" strike="noStrike">
                          <a:solidFill>
                            <a:srgbClr val="000000"/>
                          </a:solidFill>
                          <a:effectLst/>
                          <a:latin typeface="Calibri" panose="020F0502020204030204" pitchFamily="34" charset="0"/>
                        </a:rPr>
                        <a:t>Copper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669.55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(0.34)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17.84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40006">
                <a:tc>
                  <a:txBody>
                    <a:bodyPr/>
                    <a:lstStyle/>
                    <a:p>
                      <a:pPr algn="ctr" fontAlgn="ctr"/>
                      <a:r>
                        <a:rPr lang="en-US" sz="800" b="0" i="0" u="none" strike="noStrike">
                          <a:solidFill>
                            <a:srgbClr val="000000"/>
                          </a:solidFill>
                          <a:effectLst/>
                          <a:latin typeface="Calibri" panose="020F0502020204030204" pitchFamily="34" charset="0"/>
                        </a:rPr>
                        <a:t>CPO</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4,475.00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(1.95)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(1.95)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11.93</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08"/>
                  </a:ext>
                </a:extLst>
              </a:tr>
            </a:tbl>
          </a:graphicData>
        </a:graphic>
      </p:graphicFrame>
      <p:graphicFrame>
        <p:nvGraphicFramePr>
          <p:cNvPr id="22" name="Table 21"/>
          <p:cNvGraphicFramePr>
            <a:graphicFrameLocks noGrp="1"/>
          </p:cNvGraphicFramePr>
          <p:nvPr>
            <p:extLst/>
          </p:nvPr>
        </p:nvGraphicFramePr>
        <p:xfrm>
          <a:off x="3505199" y="7045747"/>
          <a:ext cx="3127377" cy="609600"/>
        </p:xfrm>
        <a:graphic>
          <a:graphicData uri="http://schemas.openxmlformats.org/drawingml/2006/table">
            <a:tbl>
              <a:tblPr/>
              <a:tblGrid>
                <a:gridCol w="1295401">
                  <a:extLst>
                    <a:ext uri="{9D8B030D-6E8A-4147-A177-3AD203B41FA5}">
                      <a16:colId xmlns="" xmlns:a16="http://schemas.microsoft.com/office/drawing/2014/main" val="20000"/>
                    </a:ext>
                  </a:extLst>
                </a:gridCol>
                <a:gridCol w="457994">
                  <a:extLst>
                    <a:ext uri="{9D8B030D-6E8A-4147-A177-3AD203B41FA5}">
                      <a16:colId xmlns="" xmlns:a16="http://schemas.microsoft.com/office/drawing/2014/main" val="20001"/>
                    </a:ext>
                  </a:extLst>
                </a:gridCol>
                <a:gridCol w="457994">
                  <a:extLst>
                    <a:ext uri="{9D8B030D-6E8A-4147-A177-3AD203B41FA5}">
                      <a16:colId xmlns="" xmlns:a16="http://schemas.microsoft.com/office/drawing/2014/main" val="20002"/>
                    </a:ext>
                  </a:extLst>
                </a:gridCol>
                <a:gridCol w="457994">
                  <a:extLst>
                    <a:ext uri="{9D8B030D-6E8A-4147-A177-3AD203B41FA5}">
                      <a16:colId xmlns="" xmlns:a16="http://schemas.microsoft.com/office/drawing/2014/main" val="20003"/>
                    </a:ext>
                  </a:extLst>
                </a:gridCol>
                <a:gridCol w="457994">
                  <a:extLst>
                    <a:ext uri="{9D8B030D-6E8A-4147-A177-3AD203B41FA5}">
                      <a16:colId xmlns="" xmlns:a16="http://schemas.microsoft.com/office/drawing/2014/main" val="20004"/>
                    </a:ext>
                  </a:extLst>
                </a:gridCol>
              </a:tblGrid>
              <a:tr h="105083">
                <a:tc>
                  <a:txBody>
                    <a:bodyPr/>
                    <a:lstStyle/>
                    <a:p>
                      <a:pPr algn="ctr" fontAlgn="ctr"/>
                      <a:r>
                        <a:rPr lang="en-US" sz="800" b="1" i="0" u="none" strike="noStrike" dirty="0">
                          <a:solidFill>
                            <a:srgbClr val="FFFFFF"/>
                          </a:solidFill>
                          <a:effectLst/>
                          <a:latin typeface="Calibri" panose="020F0502020204030204" pitchFamily="34" charset="0"/>
                        </a:rPr>
                        <a:t>Asset Class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WTD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MTD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202835">
                <a:tc>
                  <a:txBody>
                    <a:bodyPr/>
                    <a:lstStyle/>
                    <a:p>
                      <a:pPr algn="ctr" fontAlgn="ctr"/>
                      <a:r>
                        <a:rPr lang="en-US" sz="800" b="0" i="0" u="none" strike="noStrike" dirty="0">
                          <a:solidFill>
                            <a:srgbClr val="000000"/>
                          </a:solidFill>
                          <a:effectLst/>
                          <a:latin typeface="Calibri" panose="020F0502020204030204" pitchFamily="34" charset="0"/>
                        </a:rPr>
                        <a:t>Equity</a:t>
                      </a:r>
                    </a:p>
                    <a:p>
                      <a:pPr algn="ctr" fontAlgn="ctr"/>
                      <a:r>
                        <a:rPr lang="en-US" sz="800" b="0" i="1" u="none" strike="noStrike" dirty="0">
                          <a:solidFill>
                            <a:srgbClr val="000000"/>
                          </a:solidFill>
                          <a:effectLst/>
                          <a:latin typeface="Calibri" panose="020F0502020204030204" pitchFamily="34" charset="0"/>
                        </a:rPr>
                        <a:t>(as of 25-September-26)</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FF0000"/>
                          </a:solidFill>
                          <a:effectLst/>
                          <a:latin typeface="Calibri" panose="020F0502020204030204" pitchFamily="34" charset="0"/>
                        </a:rPr>
                        <a:t>(0.56)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(3.16)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(6.79)</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(80.27)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10001"/>
                  </a:ext>
                </a:extLst>
              </a:tr>
              <a:tr h="42494">
                <a:tc>
                  <a:txBody>
                    <a:bodyPr/>
                    <a:lstStyle/>
                    <a:p>
                      <a:pPr algn="ctr" fontAlgn="ctr"/>
                      <a:r>
                        <a:rPr lang="en-US" sz="800" b="0" i="0" u="none" strike="noStrike" dirty="0">
                          <a:solidFill>
                            <a:srgbClr val="000000"/>
                          </a:solidFill>
                          <a:effectLst/>
                          <a:latin typeface="Calibri" panose="020F0502020204030204" pitchFamily="34" charset="0"/>
                        </a:rPr>
                        <a:t>Fixed Income</a:t>
                      </a:r>
                    </a:p>
                    <a:p>
                      <a:pPr algn="ctr" fontAlgn="ctr"/>
                      <a:r>
                        <a:rPr lang="en-US" sz="800" b="0" i="1" u="none" strike="noStrike" dirty="0">
                          <a:solidFill>
                            <a:srgbClr val="000000"/>
                          </a:solidFill>
                          <a:effectLst/>
                          <a:latin typeface="Calibri" panose="020F0502020204030204" pitchFamily="34" charset="0"/>
                        </a:rPr>
                        <a:t>(as of 24-September-26)</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(0.22)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(3.97)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29.06</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02"/>
                  </a:ext>
                </a:extLst>
              </a:tr>
            </a:tbl>
          </a:graphicData>
        </a:graphic>
      </p:graphicFrame>
      <p:grpSp>
        <p:nvGrpSpPr>
          <p:cNvPr id="20" name="Group 19">
            <a:extLst>
              <a:ext uri="{FF2B5EF4-FFF2-40B4-BE49-F238E27FC236}">
                <a16:creationId xmlns="" xmlns:a16="http://schemas.microsoft.com/office/drawing/2014/main" id="{C6D63C31-C634-9431-C44D-F4360FFE17BA}"/>
              </a:ext>
            </a:extLst>
          </p:cNvPr>
          <p:cNvGrpSpPr/>
          <p:nvPr/>
        </p:nvGrpSpPr>
        <p:grpSpPr>
          <a:xfrm>
            <a:off x="424492" y="1352226"/>
            <a:ext cx="1308514" cy="246221"/>
            <a:chOff x="432982" y="1349096"/>
            <a:chExt cx="1308514" cy="246221"/>
          </a:xfrm>
        </p:grpSpPr>
        <p:sp>
          <p:nvSpPr>
            <p:cNvPr id="23" name="Rectangle 22">
              <a:extLst>
                <a:ext uri="{FF2B5EF4-FFF2-40B4-BE49-F238E27FC236}">
                  <a16:creationId xmlns="" xmlns:a16="http://schemas.microsoft.com/office/drawing/2014/main" id="{B8873FCB-3B47-3353-6E5E-8644C4894C78}"/>
                </a:ext>
              </a:extLst>
            </p:cNvPr>
            <p:cNvSpPr/>
            <p:nvPr/>
          </p:nvSpPr>
          <p:spPr>
            <a:xfrm>
              <a:off x="540663" y="139421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 xmlns:a16="http://schemas.microsoft.com/office/drawing/2014/main" id="{F908AC75-40AA-5789-1A9F-4E0663226C3A}"/>
                </a:ext>
              </a:extLst>
            </p:cNvPr>
            <p:cNvSpPr txBox="1"/>
            <p:nvPr/>
          </p:nvSpPr>
          <p:spPr>
            <a:xfrm>
              <a:off x="432982" y="1349096"/>
              <a:ext cx="1308514" cy="246221"/>
            </a:xfrm>
            <a:prstGeom prst="rect">
              <a:avLst/>
            </a:prstGeom>
            <a:noFill/>
          </p:spPr>
          <p:txBody>
            <a:bodyPr wrap="square" rtlCol="0">
              <a:spAutoFit/>
            </a:bodyPr>
            <a:lstStyle/>
            <a:p>
              <a:pPr algn="ctr"/>
              <a:r>
                <a:rPr lang="en-US" sz="1000" b="1" dirty="0">
                  <a:solidFill>
                    <a:schemeClr val="bg1"/>
                  </a:solidFill>
                </a:rPr>
                <a:t>28 September 2026</a:t>
              </a:r>
            </a:p>
          </p:txBody>
        </p:sp>
      </p:grpSp>
    </p:spTree>
    <p:extLst>
      <p:ext uri="{BB962C8B-B14F-4D97-AF65-F5344CB8AC3E}">
        <p14:creationId xmlns:p14="http://schemas.microsoft.com/office/powerpoint/2010/main" val="19268401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235F96D-1A71-58E3-E1FF-DE0868712A15}"/>
            </a:ext>
          </a:extLst>
        </p:cNvPr>
        <p:cNvGrpSpPr/>
        <p:nvPr/>
      </p:nvGrpSpPr>
      <p:grpSpPr>
        <a:xfrm>
          <a:off x="0" y="0"/>
          <a:ext cx="0" cy="0"/>
          <a:chOff x="0" y="0"/>
          <a:chExt cx="0" cy="0"/>
        </a:xfrm>
      </p:grpSpPr>
      <p:graphicFrame>
        <p:nvGraphicFramePr>
          <p:cNvPr id="16" name="Table 15">
            <a:extLst>
              <a:ext uri="{FF2B5EF4-FFF2-40B4-BE49-F238E27FC236}">
                <a16:creationId xmlns="" xmlns:a16="http://schemas.microsoft.com/office/drawing/2014/main" id="{92C92BE2-1A26-DCA2-1425-0AA1741325AB}"/>
              </a:ext>
            </a:extLst>
          </p:cNvPr>
          <p:cNvGraphicFramePr>
            <a:graphicFrameLocks noGrp="1"/>
          </p:cNvGraphicFramePr>
          <p:nvPr>
            <p:extLst/>
          </p:nvPr>
        </p:nvGraphicFramePr>
        <p:xfrm>
          <a:off x="327025" y="1905000"/>
          <a:ext cx="6305549" cy="2759975"/>
        </p:xfrm>
        <a:graphic>
          <a:graphicData uri="http://schemas.openxmlformats.org/drawingml/2006/table">
            <a:tbl>
              <a:tblPr/>
              <a:tblGrid>
                <a:gridCol w="2378781">
                  <a:extLst>
                    <a:ext uri="{9D8B030D-6E8A-4147-A177-3AD203B41FA5}">
                      <a16:colId xmlns="" xmlns:a16="http://schemas.microsoft.com/office/drawing/2014/main" val="3984479303"/>
                    </a:ext>
                  </a:extLst>
                </a:gridCol>
                <a:gridCol w="490011">
                  <a:extLst>
                    <a:ext uri="{9D8B030D-6E8A-4147-A177-3AD203B41FA5}">
                      <a16:colId xmlns="" xmlns:a16="http://schemas.microsoft.com/office/drawing/2014/main" val="1443360456"/>
                    </a:ext>
                  </a:extLst>
                </a:gridCol>
                <a:gridCol w="543467">
                  <a:extLst>
                    <a:ext uri="{9D8B030D-6E8A-4147-A177-3AD203B41FA5}">
                      <a16:colId xmlns="" xmlns:a16="http://schemas.microsoft.com/office/drawing/2014/main" val="3887741517"/>
                    </a:ext>
                  </a:extLst>
                </a:gridCol>
                <a:gridCol w="490011">
                  <a:extLst>
                    <a:ext uri="{9D8B030D-6E8A-4147-A177-3AD203B41FA5}">
                      <a16:colId xmlns="" xmlns:a16="http://schemas.microsoft.com/office/drawing/2014/main" val="474306127"/>
                    </a:ext>
                  </a:extLst>
                </a:gridCol>
                <a:gridCol w="490011">
                  <a:extLst>
                    <a:ext uri="{9D8B030D-6E8A-4147-A177-3AD203B41FA5}">
                      <a16:colId xmlns="" xmlns:a16="http://schemas.microsoft.com/office/drawing/2014/main" val="3509474900"/>
                    </a:ext>
                  </a:extLst>
                </a:gridCol>
                <a:gridCol w="490011">
                  <a:extLst>
                    <a:ext uri="{9D8B030D-6E8A-4147-A177-3AD203B41FA5}">
                      <a16:colId xmlns="" xmlns:a16="http://schemas.microsoft.com/office/drawing/2014/main" val="1189944801"/>
                    </a:ext>
                  </a:extLst>
                </a:gridCol>
                <a:gridCol w="474419">
                  <a:extLst>
                    <a:ext uri="{9D8B030D-6E8A-4147-A177-3AD203B41FA5}">
                      <a16:colId xmlns="" xmlns:a16="http://schemas.microsoft.com/office/drawing/2014/main" val="149569299"/>
                    </a:ext>
                  </a:extLst>
                </a:gridCol>
                <a:gridCol w="474419">
                  <a:extLst>
                    <a:ext uri="{9D8B030D-6E8A-4147-A177-3AD203B41FA5}">
                      <a16:colId xmlns="" xmlns:a16="http://schemas.microsoft.com/office/drawing/2014/main" val="432537367"/>
                    </a:ext>
                  </a:extLst>
                </a:gridCol>
                <a:gridCol w="474419">
                  <a:extLst>
                    <a:ext uri="{9D8B030D-6E8A-4147-A177-3AD203B41FA5}">
                      <a16:colId xmlns="" xmlns:a16="http://schemas.microsoft.com/office/drawing/2014/main" val="1907178657"/>
                    </a:ext>
                  </a:extLst>
                </a:gridCol>
              </a:tblGrid>
              <a:tr h="306663">
                <a:tc>
                  <a:txBody>
                    <a:bodyPr/>
                    <a:lstStyle/>
                    <a:p>
                      <a:pPr algn="ctr" fontAlgn="ctr"/>
                      <a:r>
                        <a:rPr lang="en-ID" sz="1000" b="1" i="0" u="none" strike="noStrike" dirty="0">
                          <a:solidFill>
                            <a:srgbClr val="FFFFFF"/>
                          </a:solidFill>
                          <a:effectLst/>
                          <a:latin typeface="Calibri" panose="020F0502020204030204" pitchFamily="34" charset="0"/>
                        </a:rPr>
                        <a:t>Macro Indicator</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2019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2024</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2025</a:t>
                      </a:r>
                    </a:p>
                  </a:txBody>
                  <a:tcPr marL="0" marR="0" marT="0" marB="0" anchor="ctr">
                    <a:lnL>
                      <a:noFill/>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2026E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661807329"/>
                  </a:ext>
                </a:extLst>
              </a:tr>
              <a:tr h="229998">
                <a:tc>
                  <a:txBody>
                    <a:bodyPr/>
                    <a:lstStyle/>
                    <a:p>
                      <a:pPr algn="l" fontAlgn="ctr"/>
                      <a:r>
                        <a:rPr lang="en-ID" sz="900" b="0" i="0" u="none" strike="noStrike">
                          <a:solidFill>
                            <a:srgbClr val="000000"/>
                          </a:solidFill>
                          <a:effectLst/>
                          <a:latin typeface="Calibri" panose="020F0502020204030204" pitchFamily="34" charset="0"/>
                        </a:rPr>
                        <a:t> Real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-2,1</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5,3</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817212798"/>
                  </a:ext>
                </a:extLst>
              </a:tr>
              <a:tr h="229998">
                <a:tc>
                  <a:txBody>
                    <a:bodyPr/>
                    <a:lstStyle/>
                    <a:p>
                      <a:pPr algn="l" fontAlgn="ctr"/>
                      <a:r>
                        <a:rPr lang="en-ID" sz="900" b="0" i="0" u="none" strike="noStrike">
                          <a:solidFill>
                            <a:srgbClr val="000000"/>
                          </a:solidFill>
                          <a:effectLst/>
                          <a:latin typeface="Calibri" panose="020F0502020204030204" pitchFamily="34" charset="0"/>
                        </a:rPr>
                        <a:t> Nominal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9,9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15,4</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6,0</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7,6</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9</a:t>
                      </a:r>
                      <a:r>
                        <a:rPr lang="en-ID" sz="900" b="0" i="0" u="none" strike="noStrike" dirty="0">
                          <a:solidFill>
                            <a:srgbClr val="000000"/>
                          </a:solidFill>
                          <a:effectLst/>
                          <a:latin typeface="Calibri" panose="020F0502020204030204" pitchFamily="34" charset="0"/>
                        </a:rPr>
                        <a:t>,0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3615074162"/>
                  </a:ext>
                </a:extLst>
              </a:tr>
              <a:tr h="229998">
                <a:tc>
                  <a:txBody>
                    <a:bodyPr/>
                    <a:lstStyle/>
                    <a:p>
                      <a:pPr algn="l" fontAlgn="ctr"/>
                      <a:r>
                        <a:rPr lang="en-ID" sz="900" b="0" i="0" u="none" strike="noStrike" dirty="0">
                          <a:solidFill>
                            <a:srgbClr val="000000"/>
                          </a:solidFill>
                          <a:effectLst/>
                          <a:latin typeface="Calibri" panose="020F0502020204030204" pitchFamily="34" charset="0"/>
                        </a:rPr>
                        <a:t> GDP per capita (US$)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4.175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3.912</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4.784</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4.920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4.960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5.083</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5.128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3087802317"/>
                  </a:ext>
                </a:extLst>
              </a:tr>
              <a:tr h="229998">
                <a:tc>
                  <a:txBody>
                    <a:bodyPr/>
                    <a:lstStyle/>
                    <a:p>
                      <a:pPr algn="l" fontAlgn="ctr"/>
                      <a:r>
                        <a:rPr lang="en-ID" sz="900" b="0" i="0" u="none" strike="noStrike">
                          <a:solidFill>
                            <a:srgbClr val="000000"/>
                          </a:solidFill>
                          <a:effectLst/>
                          <a:latin typeface="Calibri" panose="020F0502020204030204" pitchFamily="34" charset="0"/>
                        </a:rPr>
                        <a:t> Consumer Price Index Inflation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5,5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2,9</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4,5</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2484791044"/>
                  </a:ext>
                </a:extLst>
              </a:tr>
              <a:tr h="229998">
                <a:tc>
                  <a:txBody>
                    <a:bodyPr/>
                    <a:lstStyle/>
                    <a:p>
                      <a:pPr algn="l" fontAlgn="ctr"/>
                      <a:r>
                        <a:rPr lang="en-ID" sz="900" b="0" i="0" u="none" strike="noStrike">
                          <a:solidFill>
                            <a:srgbClr val="000000"/>
                          </a:solidFill>
                          <a:effectLst/>
                          <a:latin typeface="Calibri" panose="020F0502020204030204" pitchFamily="34" charset="0"/>
                        </a:rPr>
                        <a:t> BI Rate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4,75</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577388193"/>
                  </a:ext>
                </a:extLst>
              </a:tr>
              <a:tr h="229998">
                <a:tc>
                  <a:txBody>
                    <a:bodyPr/>
                    <a:lstStyle/>
                    <a:p>
                      <a:pPr algn="l" fontAlgn="ctr"/>
                      <a:r>
                        <a:rPr lang="en-ID" sz="900" b="0" i="0" u="none" strike="noStrike">
                          <a:solidFill>
                            <a:srgbClr val="000000"/>
                          </a:solidFill>
                          <a:effectLst/>
                          <a:latin typeface="Calibri" panose="020F0502020204030204" pitchFamily="34" charset="0"/>
                        </a:rPr>
                        <a:t> SBN 10Y yield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7,04</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5,86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6,36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6,45</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6,05</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8,01</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 xmlns:a16="http://schemas.microsoft.com/office/drawing/2014/main" val="3547017892"/>
                  </a:ext>
                </a:extLst>
              </a:tr>
              <a:tr h="229998">
                <a:tc>
                  <a:txBody>
                    <a:bodyPr/>
                    <a:lstStyle/>
                    <a:p>
                      <a:pPr algn="l" fontAlgn="ctr"/>
                      <a:r>
                        <a:rPr lang="en-ID" sz="900" b="0" i="0" u="none" strike="noStrike">
                          <a:solidFill>
                            <a:srgbClr val="000000"/>
                          </a:solidFill>
                          <a:effectLst/>
                          <a:latin typeface="Calibri" panose="020F0502020204030204" pitchFamily="34" charset="0"/>
                        </a:rPr>
                        <a:t> USD/IDR Exchange Rate (</a:t>
                      </a:r>
                      <a:r>
                        <a:rPr lang="en-ID" sz="900" b="0" i="0" u="none" strike="noStrike" dirty="0">
                          <a:solidFill>
                            <a:srgbClr val="000000"/>
                          </a:solidFill>
                          <a:effectLst/>
                          <a:latin typeface="Calibri" panose="020F0502020204030204" pitchFamily="34" charset="0"/>
                        </a:rPr>
                        <a:t>average)**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14.141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14.529</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14.297</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14.874</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15.248</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15.841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16.468</a:t>
                      </a:r>
                    </a:p>
                  </a:txBody>
                  <a:tcPr marL="0" marR="0" marT="0" marB="0" anchor="ctr">
                    <a:lnL>
                      <a:noFill/>
                    </a:lnL>
                    <a:lnR w="6350" cap="flat" cmpd="sng" algn="ctr">
                      <a:noFill/>
                      <a:prstDash val="solid"/>
                      <a:round/>
                      <a:headEnd type="none" w="med" len="med"/>
                      <a:tailEnd type="none" w="med" len="med"/>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17.600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 xmlns:a16="http://schemas.microsoft.com/office/drawing/2014/main" val="1594310054"/>
                  </a:ext>
                </a:extLst>
              </a:tr>
              <a:tr h="229998">
                <a:tc>
                  <a:txBody>
                    <a:bodyPr/>
                    <a:lstStyle/>
                    <a:p>
                      <a:pPr algn="l" fontAlgn="ctr"/>
                      <a:r>
                        <a:rPr lang="en-ID" sz="900" b="0" i="0" u="none" strike="noStrike" dirty="0">
                          <a:solidFill>
                            <a:srgbClr val="000000"/>
                          </a:solidFill>
                          <a:effectLst/>
                          <a:latin typeface="Calibri" panose="020F0502020204030204" pitchFamily="34" charset="0"/>
                        </a:rPr>
                        <a:t> USD/IDR Exchange Rate (end of year)**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13.866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14.050</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14.262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15.568</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15.397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16.102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16.690</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18.171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 xmlns:a16="http://schemas.microsoft.com/office/drawing/2014/main" val="1338991972"/>
                  </a:ext>
                </a:extLst>
              </a:tr>
              <a:tr h="229998">
                <a:tc>
                  <a:txBody>
                    <a:bodyPr/>
                    <a:lstStyle/>
                    <a:p>
                      <a:pPr algn="l" fontAlgn="ctr"/>
                      <a:r>
                        <a:rPr lang="en-ID" sz="900" b="0" i="0" u="none" strike="noStrike" dirty="0">
                          <a:solidFill>
                            <a:srgbClr val="000000"/>
                          </a:solidFill>
                          <a:effectLst/>
                          <a:latin typeface="Calibri" panose="020F0502020204030204" pitchFamily="34" charset="0"/>
                        </a:rPr>
                        <a:t> Trade Balance (US$ billion)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-3,2</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21,7</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35,3</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54,5</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37,0</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31,0</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41,1</a:t>
                      </a:r>
                    </a:p>
                  </a:txBody>
                  <a:tcPr marL="0" marR="0" marT="0" marB="0" anchor="ctr">
                    <a:lnL>
                      <a:noFill/>
                    </a:lnL>
                    <a:lnR w="6350" cap="flat" cmpd="sng" algn="ctr">
                      <a:noFill/>
                      <a:prstDash val="solid"/>
                      <a:round/>
                      <a:headEnd type="none" w="med" len="med"/>
                      <a:tailEnd type="none" w="med" len="med"/>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19,2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noFill/>
                      <a:prstDash val="solid"/>
                      <a:round/>
                      <a:headEnd type="none" w="med" len="med"/>
                      <a:tailEnd type="none" w="med" len="med"/>
                    </a:lnB>
                    <a:noFill/>
                  </a:tcPr>
                </a:tc>
                <a:extLst>
                  <a:ext uri="{0D108BD9-81ED-4DB2-BD59-A6C34878D82A}">
                    <a16:rowId xmlns="" xmlns:a16="http://schemas.microsoft.com/office/drawing/2014/main" val="10009"/>
                  </a:ext>
                </a:extLst>
              </a:tr>
              <a:tr h="229998">
                <a:tc>
                  <a:txBody>
                    <a:bodyPr/>
                    <a:lstStyle/>
                    <a:p>
                      <a:pPr algn="l" fontAlgn="ctr"/>
                      <a:r>
                        <a:rPr lang="en-US" sz="900" b="0" i="0" u="none" strike="noStrike" dirty="0">
                          <a:solidFill>
                            <a:srgbClr val="000000"/>
                          </a:solidFill>
                          <a:effectLst/>
                          <a:latin typeface="Calibri" panose="020F0502020204030204" pitchFamily="34" charset="0"/>
                        </a:rPr>
                        <a:t> Current account balance (% of GDP)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-2,70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-0,40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0,30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1,00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-0,10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-0,60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-0,10</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-1,30</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 xmlns:a16="http://schemas.microsoft.com/office/drawing/2014/main" val="1039409088"/>
                  </a:ext>
                </a:extLst>
              </a:tr>
              <a:tr h="153332">
                <a:tc>
                  <a:txBody>
                    <a:bodyPr/>
                    <a:lstStyle/>
                    <a:p>
                      <a:pPr algn="l" fontAlgn="b"/>
                      <a:r>
                        <a:rPr lang="en-ID" sz="700" b="0" i="1" u="none" strike="noStrike" dirty="0">
                          <a:solidFill>
                            <a:srgbClr val="000000"/>
                          </a:solidFill>
                          <a:effectLst/>
                          <a:latin typeface="Calibri" panose="020F0502020204030204" pitchFamily="34" charset="0"/>
                        </a:rPr>
                        <a:t>**Estimation of Rupiah’s fundamental exchange rate</a:t>
                      </a: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extLst>
                  <a:ext uri="{0D108BD9-81ED-4DB2-BD59-A6C34878D82A}">
                    <a16:rowId xmlns="" xmlns:a16="http://schemas.microsoft.com/office/drawing/2014/main" val="2569539944"/>
                  </a:ext>
                </a:extLst>
              </a:tr>
            </a:tbl>
          </a:graphicData>
        </a:graphic>
      </p:graphicFrame>
      <p:graphicFrame>
        <p:nvGraphicFramePr>
          <p:cNvPr id="13" name="Table 12">
            <a:extLst>
              <a:ext uri="{FF2B5EF4-FFF2-40B4-BE49-F238E27FC236}">
                <a16:creationId xmlns="" xmlns:a16="http://schemas.microsoft.com/office/drawing/2014/main" id="{631383FA-742C-FAA0-6E10-A0E2EB999ADC}"/>
              </a:ext>
            </a:extLst>
          </p:cNvPr>
          <p:cNvGraphicFramePr>
            <a:graphicFrameLocks noGrp="1"/>
          </p:cNvGraphicFramePr>
          <p:nvPr>
            <p:extLst/>
          </p:nvPr>
        </p:nvGraphicFramePr>
        <p:xfrm>
          <a:off x="327025" y="5048423"/>
          <a:ext cx="6327775" cy="3127178"/>
        </p:xfrm>
        <a:graphic>
          <a:graphicData uri="http://schemas.openxmlformats.org/drawingml/2006/table">
            <a:tbl>
              <a:tblPr/>
              <a:tblGrid>
                <a:gridCol w="1240350">
                  <a:extLst>
                    <a:ext uri="{9D8B030D-6E8A-4147-A177-3AD203B41FA5}">
                      <a16:colId xmlns="" xmlns:a16="http://schemas.microsoft.com/office/drawing/2014/main" val="20000"/>
                    </a:ext>
                  </a:extLst>
                </a:gridCol>
                <a:gridCol w="2275081">
                  <a:extLst>
                    <a:ext uri="{9D8B030D-6E8A-4147-A177-3AD203B41FA5}">
                      <a16:colId xmlns="" xmlns:a16="http://schemas.microsoft.com/office/drawing/2014/main" val="20001"/>
                    </a:ext>
                  </a:extLst>
                </a:gridCol>
                <a:gridCol w="937448">
                  <a:extLst>
                    <a:ext uri="{9D8B030D-6E8A-4147-A177-3AD203B41FA5}">
                      <a16:colId xmlns="" xmlns:a16="http://schemas.microsoft.com/office/drawing/2014/main" val="20002"/>
                    </a:ext>
                  </a:extLst>
                </a:gridCol>
                <a:gridCol w="937448">
                  <a:extLst>
                    <a:ext uri="{9D8B030D-6E8A-4147-A177-3AD203B41FA5}">
                      <a16:colId xmlns="" xmlns:a16="http://schemas.microsoft.com/office/drawing/2014/main" val="20003"/>
                    </a:ext>
                  </a:extLst>
                </a:gridCol>
                <a:gridCol w="937448">
                  <a:extLst>
                    <a:ext uri="{9D8B030D-6E8A-4147-A177-3AD203B41FA5}">
                      <a16:colId xmlns="" xmlns:a16="http://schemas.microsoft.com/office/drawing/2014/main" val="20004"/>
                    </a:ext>
                  </a:extLst>
                </a:gridCol>
              </a:tblGrid>
              <a:tr h="173994">
                <a:tc>
                  <a:txBody>
                    <a:bodyPr/>
                    <a:lstStyle/>
                    <a:p>
                      <a:pPr algn="ctr" fontAlgn="ctr"/>
                      <a:r>
                        <a:rPr lang="en-ID" sz="900" b="1" i="0" u="none" strike="noStrike" dirty="0">
                          <a:solidFill>
                            <a:srgbClr val="FFFFFF"/>
                          </a:solidFill>
                          <a:effectLst/>
                          <a:latin typeface="Calibri" panose="020F0502020204030204" pitchFamily="34" charset="0"/>
                        </a:rPr>
                        <a:t>Country</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Data</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Previous</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Forecast</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Release Date*</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extLst>
                  <a:ext uri="{0D108BD9-81ED-4DB2-BD59-A6C34878D82A}">
                    <a16:rowId xmlns="" xmlns:a16="http://schemas.microsoft.com/office/drawing/2014/main" val="10000"/>
                  </a:ext>
                </a:extLst>
              </a:tr>
              <a:tr h="170658">
                <a:tc rowSpan="5">
                  <a:txBody>
                    <a:bodyPr/>
                    <a:lstStyle/>
                    <a:p>
                      <a:pPr algn="ctr"/>
                      <a:r>
                        <a:rPr lang="en-US" sz="800" dirty="0">
                          <a:solidFill>
                            <a:schemeClr val="tx1"/>
                          </a:solidFill>
                        </a:rPr>
                        <a:t>US</a:t>
                      </a: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CB Consumer Confidence September 2026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89,40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90,10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29-Sep-26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174598478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GDP Q2 2026 (QoQ)</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1,50%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1,50%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1278894911"/>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Initial Jobless Claims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tcPr>
                </a:tc>
                <a:tc>
                  <a:txBody>
                    <a:bodyPr/>
                    <a:lstStyle/>
                    <a:p>
                      <a:pPr algn="ctr"/>
                      <a:r>
                        <a:rPr lang="en-US" sz="800" dirty="0"/>
                        <a:t>197,00K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199,00K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297878780"/>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S&amp;P Global Manufacturing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tcPr>
                </a:tc>
                <a:tc>
                  <a:txBody>
                    <a:bodyPr/>
                    <a:lstStyle/>
                    <a:p>
                      <a:pPr algn="ctr"/>
                      <a:r>
                        <a:rPr lang="en-US" sz="800" dirty="0"/>
                        <a:t>57,00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57,00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3775520957"/>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Nonfarm Payrolls September 2026</a:t>
                      </a:r>
                    </a:p>
                  </a:txBody>
                  <a:tcPr marL="0" marR="0" marT="0" marB="0" anchor="ctr">
                    <a:lnL w="3175"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162,00K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98,00K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425152781"/>
                  </a:ext>
                </a:extLst>
              </a:tr>
              <a:tr h="170658">
                <a:tc>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Unemployment Rate September 2026</a:t>
                      </a:r>
                    </a:p>
                  </a:txBody>
                  <a:tcPr marL="0" marR="0" marT="0" marB="0" anchor="ctr">
                    <a:lnL w="3175"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4,10%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4,10%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2-Oct-26</a:t>
                      </a:r>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3900081421"/>
                  </a:ext>
                </a:extLst>
              </a:tr>
              <a:tr h="170658">
                <a:tc rowSpan="3">
                  <a:txBody>
                    <a:bodyPr/>
                    <a:lstStyle/>
                    <a:p>
                      <a:pPr algn="ctr"/>
                      <a:r>
                        <a:rPr lang="en-US" sz="800" dirty="0">
                          <a:latin typeface="+mn-lt"/>
                        </a:rPr>
                        <a:t>EU</a:t>
                      </a: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HCOB Eurozone Manufacturing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 xmlns:a16="http://schemas.microsoft.com/office/drawing/2014/main" val="1747879190"/>
                  </a:ext>
                </a:extLst>
              </a:tr>
              <a:tr h="170658">
                <a:tc vMerge="1">
                  <a:txBody>
                    <a:bodyPr/>
                    <a:lstStyle/>
                    <a:p>
                      <a:endParaRPr dirty="0"/>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CPI September 2026 (YoY) </a:t>
                      </a:r>
                      <a:r>
                        <a:rPr lang="en-US" sz="800" b="1" baseline="0" dirty="0"/>
                        <a:t>P</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3,20%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3,70%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 xmlns:a16="http://schemas.microsoft.com/office/drawing/2014/main" val="218326296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CFTC EUR Speculative Net Positions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-52,30K</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 xmlns:a16="http://schemas.microsoft.com/office/drawing/2014/main" val="753966804"/>
                  </a:ext>
                </a:extLst>
              </a:tr>
              <a:tr h="175306">
                <a:tc rowSpan="2">
                  <a:txBody>
                    <a:bodyPr/>
                    <a:lstStyle/>
                    <a:p>
                      <a:pPr algn="ctr" fontAlgn="ctr"/>
                      <a:r>
                        <a:rPr lang="en-ID" sz="800" b="0" i="0" u="none" strike="noStrike" dirty="0">
                          <a:solidFill>
                            <a:srgbClr val="000000"/>
                          </a:solidFill>
                          <a:effectLst/>
                          <a:latin typeface="Calibri" panose="020F0502020204030204" pitchFamily="34" charset="0"/>
                        </a:rPr>
                        <a:t>Japan</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Industrial Production August 2026 (MoM) </a:t>
                      </a:r>
                      <a:r>
                        <a:rPr lang="en-US" sz="800" b="1" dirty="0"/>
                        <a:t>P</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-0,20%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1,20%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 xmlns:a16="http://schemas.microsoft.com/office/drawing/2014/main" val="3193980066"/>
                  </a:ext>
                </a:extLst>
              </a:tr>
              <a:tr h="175306">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Tokyo Core CPI September 2026 (YoY)</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1,80%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2,40%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 xmlns:a16="http://schemas.microsoft.com/office/drawing/2014/main" val="1438621321"/>
                  </a:ext>
                </a:extLst>
              </a:tr>
              <a:tr h="170658">
                <a:tc rowSpan="3">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solidFill>
                            <a:schemeClr val="tx1"/>
                          </a:solidFill>
                        </a:rPr>
                        <a:t>China</a:t>
                      </a: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Manufacturing PMI September 2026</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49,80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50,10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 xmlns:a16="http://schemas.microsoft.com/office/drawing/2014/main" val="10013"/>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Non-Manufacturing PMI September 2026</a:t>
                      </a:r>
                    </a:p>
                  </a:txBody>
                  <a:tcPr marL="0" marR="0" marT="0" marB="0" anchor="ctr">
                    <a:lnL w="12700" cmpd="sng">
                      <a:noFill/>
                      <a:prstDash val="soli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49,00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49,30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 xmlns:a16="http://schemas.microsoft.com/office/drawing/2014/main" val="3133507307"/>
                  </a:ext>
                </a:extLst>
              </a:tr>
              <a:tr h="170658">
                <a:tc vMerge="1">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Chinese Composite PMI September 2026</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49,50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 xmlns:a16="http://schemas.microsoft.com/office/drawing/2014/main" val="2850440914"/>
                  </a:ext>
                </a:extLst>
              </a:tr>
              <a:tr h="170658">
                <a:tc rowSpan="3">
                  <a:txBody>
                    <a:bodyPr/>
                    <a:lstStyle/>
                    <a:p>
                      <a:pPr algn="ctr" fontAlgn="ctr"/>
                      <a:r>
                        <a:rPr lang="en-ID" sz="800" b="0" i="0" u="none" strike="noStrike" dirty="0">
                          <a:solidFill>
                            <a:srgbClr val="000000"/>
                          </a:solidFill>
                          <a:effectLst/>
                          <a:latin typeface="Calibri" panose="020F0502020204030204" pitchFamily="34" charset="0"/>
                        </a:rPr>
                        <a:t>Indonesia</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S&amp;P Global Manufacturing PMI September 2026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49,80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 xmlns:a16="http://schemas.microsoft.com/office/drawing/2014/main" val="10020"/>
                  </a:ext>
                </a:extLst>
              </a:tr>
              <a:tr h="170658">
                <a:tc vMerge="1">
                  <a:txBody>
                    <a:bodyPr/>
                    <a:lstStyle/>
                    <a:p>
                      <a:endParaRPr lang="en-ID"/>
                    </a:p>
                  </a:txBody>
                  <a:tcPr>
                    <a:lnT w="12700" cap="flat" cmpd="sng" algn="ctr">
                      <a:solidFill>
                        <a:schemeClr val="tx1"/>
                      </a:solidFill>
                      <a:prstDash val="solid"/>
                      <a:round/>
                      <a:headEnd type="none" w="med" len="med"/>
                      <a:tailEnd type="none" w="med" len="me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Inflation September 2026 (YoY)</a:t>
                      </a:r>
                    </a:p>
                  </a:txBody>
                  <a:tcPr marL="0" marR="0" marT="0" marB="0" anchor="ctr">
                    <a:lnL w="12700" cmpd="sng">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3,19%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 xmlns:a16="http://schemas.microsoft.com/office/drawing/2014/main" val="1216946848"/>
                  </a:ext>
                </a:extLst>
              </a:tr>
              <a:tr h="170658">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Trade Balance August 2026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a:t>USD 0,13 Bn</a:t>
                      </a:r>
                      <a:endParaRPr lang="en-US" sz="80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 xmlns:a16="http://schemas.microsoft.com/office/drawing/2014/main" val="2752028498"/>
                  </a:ext>
                </a:extLst>
              </a:tr>
            </a:tbl>
          </a:graphicData>
        </a:graphic>
      </p:graphicFrame>
      <p:pic>
        <p:nvPicPr>
          <p:cNvPr id="2097157" name="Picture 15">
            <a:extLst>
              <a:ext uri="{FF2B5EF4-FFF2-40B4-BE49-F238E27FC236}">
                <a16:creationId xmlns="" xmlns:a16="http://schemas.microsoft.com/office/drawing/2014/main" id="{F65C2A15-E8A1-6360-F2E9-1FA5F1267E02}"/>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627" name="TextBox 17">
            <a:extLst>
              <a:ext uri="{FF2B5EF4-FFF2-40B4-BE49-F238E27FC236}">
                <a16:creationId xmlns="" xmlns:a16="http://schemas.microsoft.com/office/drawing/2014/main" id="{44515946-B3BD-45BA-05B9-37D8A538FBB8}"/>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a:t>
            </a:r>
            <a:r>
              <a:rPr lang="en-US" sz="1000" dirty="0">
                <a:solidFill>
                  <a:srgbClr val="175FAB"/>
                </a:solidFill>
              </a:rPr>
              <a:t> </a:t>
            </a:r>
            <a:r>
              <a:rPr lang="id-ID" sz="1000" dirty="0">
                <a:solidFill>
                  <a:srgbClr val="175FAB"/>
                </a:solidFill>
              </a:rPr>
              <a:t>Central</a:t>
            </a:r>
            <a:r>
              <a:rPr lang="en-US" sz="1000" dirty="0">
                <a:solidFill>
                  <a:srgbClr val="175FAB"/>
                </a:solidFill>
              </a:rPr>
              <a:t> </a:t>
            </a:r>
            <a:r>
              <a:rPr lang="id-ID" sz="1000" dirty="0">
                <a:solidFill>
                  <a:srgbClr val="175FAB"/>
                </a:solidFill>
              </a:rPr>
              <a:t>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1048629" name="TextBox 22">
            <a:extLst>
              <a:ext uri="{FF2B5EF4-FFF2-40B4-BE49-F238E27FC236}">
                <a16:creationId xmlns="" xmlns:a16="http://schemas.microsoft.com/office/drawing/2014/main" id="{126D34C4-CEFC-6A61-6959-A343F8B08237}"/>
              </a:ext>
            </a:extLst>
          </p:cNvPr>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5</a:t>
            </a:r>
            <a:endParaRPr lang="id-ID" sz="1000">
              <a:solidFill>
                <a:schemeClr val="bg1"/>
              </a:solidFill>
            </a:endParaRPr>
          </a:p>
        </p:txBody>
      </p:sp>
      <p:sp>
        <p:nvSpPr>
          <p:cNvPr id="1048630" name="Rectangle 48">
            <a:extLst>
              <a:ext uri="{FF2B5EF4-FFF2-40B4-BE49-F238E27FC236}">
                <a16:creationId xmlns="" xmlns:a16="http://schemas.microsoft.com/office/drawing/2014/main" id="{C5406D2C-6EA2-372F-FCD0-D8F2DE40E32D}"/>
              </a:ext>
            </a:extLst>
          </p:cNvPr>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p>
        </p:txBody>
      </p:sp>
      <p:sp>
        <p:nvSpPr>
          <p:cNvPr id="17" name="TextBox 16">
            <a:extLst>
              <a:ext uri="{FF2B5EF4-FFF2-40B4-BE49-F238E27FC236}">
                <a16:creationId xmlns="" xmlns:a16="http://schemas.microsoft.com/office/drawing/2014/main" id="{9DDA1BDE-0F82-65DE-0027-7A8FB700223C}"/>
              </a:ext>
            </a:extLst>
          </p:cNvPr>
          <p:cNvSpPr txBox="1"/>
          <p:nvPr/>
        </p:nvSpPr>
        <p:spPr>
          <a:xfrm>
            <a:off x="304800" y="1638397"/>
            <a:ext cx="153439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C5EA8"/>
                </a:solidFill>
                <a:effectLst/>
                <a:uLnTx/>
                <a:uFillTx/>
                <a:latin typeface="Calibri"/>
                <a:ea typeface="+mn-ea"/>
                <a:cs typeface="+mn-cs"/>
              </a:rPr>
              <a:t>Proyeksi Data Ekonomi</a:t>
            </a:r>
            <a:endParaRPr kumimoji="0" lang="en-US" sz="1100" b="1" i="0" u="none" strike="noStrike" kern="1200" cap="none" spc="0" normalizeH="0" baseline="0" noProof="0" dirty="0">
              <a:ln>
                <a:noFill/>
              </a:ln>
              <a:solidFill>
                <a:srgbClr val="0C5EA8"/>
              </a:solidFill>
              <a:effectLst/>
              <a:uLnTx/>
              <a:uFillTx/>
              <a:latin typeface="Calibri"/>
              <a:ea typeface="+mn-ea"/>
              <a:cs typeface="+mn-cs"/>
            </a:endParaRPr>
          </a:p>
        </p:txBody>
      </p:sp>
      <p:sp>
        <p:nvSpPr>
          <p:cNvPr id="20" name="Rectangle 19">
            <a:extLst>
              <a:ext uri="{FF2B5EF4-FFF2-40B4-BE49-F238E27FC236}">
                <a16:creationId xmlns="" xmlns:a16="http://schemas.microsoft.com/office/drawing/2014/main" id="{61ED816A-40D6-D4B1-7F93-DE7BFEA3488C}"/>
              </a:ext>
            </a:extLst>
          </p:cNvPr>
          <p:cNvSpPr/>
          <p:nvPr/>
        </p:nvSpPr>
        <p:spPr>
          <a:xfrm>
            <a:off x="536068" y="1395494"/>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31">
            <a:extLst>
              <a:ext uri="{FF2B5EF4-FFF2-40B4-BE49-F238E27FC236}">
                <a16:creationId xmlns="" xmlns:a16="http://schemas.microsoft.com/office/drawing/2014/main" id="{5F935AB8-4CE1-D254-7223-E63C9C83C7CC}"/>
              </a:ext>
            </a:extLst>
          </p:cNvPr>
          <p:cNvSpPr txBox="1"/>
          <p:nvPr/>
        </p:nvSpPr>
        <p:spPr>
          <a:xfrm>
            <a:off x="304800" y="8178752"/>
            <a:ext cx="4792633" cy="200055"/>
          </a:xfrm>
          <a:prstGeom prst="rect">
            <a:avLst/>
          </a:prstGeom>
          <a:noFill/>
        </p:spPr>
        <p:txBody>
          <a:bodyPr wrap="square" rtlCol="0">
            <a:spAutoFit/>
          </a:bodyPr>
          <a:lstStyle/>
          <a:p>
            <a:r>
              <a:rPr lang="en-US" sz="700" i="1" dirty="0"/>
              <a:t>*adjusted to Indonesian time</a:t>
            </a:r>
          </a:p>
        </p:txBody>
      </p:sp>
      <p:sp>
        <p:nvSpPr>
          <p:cNvPr id="21" name="Rectangle 20">
            <a:extLst>
              <a:ext uri="{FF2B5EF4-FFF2-40B4-BE49-F238E27FC236}">
                <a16:creationId xmlns="" xmlns:a16="http://schemas.microsoft.com/office/drawing/2014/main" id="{B8873FCB-3B47-3353-6E5E-8644C4894C78}"/>
              </a:ext>
            </a:extLst>
          </p:cNvPr>
          <p:cNvSpPr/>
          <p:nvPr/>
        </p:nvSpPr>
        <p:spPr>
          <a:xfrm>
            <a:off x="532173" y="139734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 xmlns:a16="http://schemas.microsoft.com/office/drawing/2014/main" id="{F908AC75-40AA-5789-1A9F-4E0663226C3A}"/>
              </a:ext>
            </a:extLst>
          </p:cNvPr>
          <p:cNvSpPr txBox="1"/>
          <p:nvPr/>
        </p:nvSpPr>
        <p:spPr>
          <a:xfrm>
            <a:off x="424492" y="1352226"/>
            <a:ext cx="1308514" cy="246221"/>
          </a:xfrm>
          <a:prstGeom prst="rect">
            <a:avLst/>
          </a:prstGeom>
          <a:noFill/>
        </p:spPr>
        <p:txBody>
          <a:bodyPr wrap="square" rtlCol="0">
            <a:spAutoFit/>
          </a:bodyPr>
          <a:lstStyle/>
          <a:p>
            <a:pPr algn="ctr"/>
            <a:r>
              <a:rPr lang="en-US" sz="1000" b="1" dirty="0">
                <a:solidFill>
                  <a:schemeClr val="bg1"/>
                </a:solidFill>
              </a:rPr>
              <a:t>28 September 2026</a:t>
            </a:r>
          </a:p>
        </p:txBody>
      </p:sp>
      <p:sp>
        <p:nvSpPr>
          <p:cNvPr id="2" name="TextBox 1">
            <a:extLst>
              <a:ext uri="{FF2B5EF4-FFF2-40B4-BE49-F238E27FC236}">
                <a16:creationId xmlns="" xmlns:a16="http://schemas.microsoft.com/office/drawing/2014/main" id="{6BF49385-9C4C-9BE5-92C1-FD7DB3660EF9}"/>
              </a:ext>
            </a:extLst>
          </p:cNvPr>
          <p:cNvSpPr txBox="1"/>
          <p:nvPr/>
        </p:nvSpPr>
        <p:spPr>
          <a:xfrm>
            <a:off x="306430" y="4808801"/>
            <a:ext cx="1688256" cy="261610"/>
          </a:xfrm>
          <a:prstGeom prst="rect">
            <a:avLst/>
          </a:prstGeom>
          <a:noFill/>
        </p:spPr>
        <p:txBody>
          <a:bodyPr wrap="square" rtlCol="0">
            <a:spAutoFit/>
          </a:bodyPr>
          <a:lstStyle/>
          <a:p>
            <a:pPr lvl="0">
              <a:defRPr/>
            </a:pPr>
            <a:r>
              <a:rPr lang="en-US" sz="1100" b="1">
                <a:solidFill>
                  <a:srgbClr val="0C5EA8"/>
                </a:solidFill>
              </a:rPr>
              <a:t>Data Rilis Minggu Ini</a:t>
            </a:r>
            <a:endParaRPr lang="en-US" sz="1100" b="1" dirty="0">
              <a:solidFill>
                <a:srgbClr val="0C5EA8"/>
              </a:solidFill>
            </a:endParaRPr>
          </a:p>
        </p:txBody>
      </p:sp>
      <p:pic>
        <p:nvPicPr>
          <p:cNvPr id="14" name="Picture 23" descr="C:\Users\u062353\Downloads\usa-today.png">
            <a:extLst>
              <a:ext uri="{FF2B5EF4-FFF2-40B4-BE49-F238E27FC236}">
                <a16:creationId xmlns="" xmlns:a16="http://schemas.microsoft.com/office/drawing/2014/main" id="{554FB8FF-B950-0DC1-5110-367175277929}"/>
              </a:ext>
            </a:extLst>
          </p:cNvPr>
          <p:cNvPicPr>
            <a:picLocks noChangeAspect="1" noChangeArrowheads="1"/>
          </p:cNvPicPr>
          <p:nvPr/>
        </p:nvPicPr>
        <p:blipFill>
          <a:blip r:embed="rId4" cstate="print"/>
          <a:srcRect/>
          <a:stretch>
            <a:fillRect/>
          </a:stretch>
        </p:blipFill>
        <p:spPr bwMode="auto">
          <a:xfrm>
            <a:off x="424492" y="5522807"/>
            <a:ext cx="259471" cy="252000"/>
          </a:xfrm>
          <a:prstGeom prst="rect">
            <a:avLst/>
          </a:prstGeom>
          <a:noFill/>
        </p:spPr>
      </p:pic>
      <p:pic>
        <p:nvPicPr>
          <p:cNvPr id="15" name="Picture 26" descr="C:\Users\u062353\Downloads\europe.png">
            <a:extLst>
              <a:ext uri="{FF2B5EF4-FFF2-40B4-BE49-F238E27FC236}">
                <a16:creationId xmlns="" xmlns:a16="http://schemas.microsoft.com/office/drawing/2014/main" id="{C0E53487-0FE9-DD9A-856A-927CC354F353}"/>
              </a:ext>
            </a:extLst>
          </p:cNvPr>
          <p:cNvPicPr>
            <a:picLocks noChangeAspect="1" noChangeArrowheads="1"/>
          </p:cNvPicPr>
          <p:nvPr/>
        </p:nvPicPr>
        <p:blipFill>
          <a:blip r:embed="rId5" cstate="print"/>
          <a:srcRect/>
          <a:stretch>
            <a:fillRect/>
          </a:stretch>
        </p:blipFill>
        <p:spPr bwMode="auto">
          <a:xfrm>
            <a:off x="424492" y="6424125"/>
            <a:ext cx="258296" cy="245478"/>
          </a:xfrm>
          <a:prstGeom prst="rect">
            <a:avLst/>
          </a:prstGeom>
          <a:noFill/>
        </p:spPr>
      </p:pic>
      <p:pic>
        <p:nvPicPr>
          <p:cNvPr id="22" name="image4.png">
            <a:extLst>
              <a:ext uri="{FF2B5EF4-FFF2-40B4-BE49-F238E27FC236}">
                <a16:creationId xmlns="" xmlns:a16="http://schemas.microsoft.com/office/drawing/2014/main" id="{D00B4B8B-4F51-55F0-2270-D64E262469E9}"/>
              </a:ext>
            </a:extLst>
          </p:cNvPr>
          <p:cNvPicPr preferRelativeResize="0">
            <a:picLocks noChangeAspect="1"/>
          </p:cNvPicPr>
          <p:nvPr/>
        </p:nvPicPr>
        <p:blipFill>
          <a:blip r:embed="rId6" cstate="print"/>
          <a:stretch>
            <a:fillRect/>
          </a:stretch>
        </p:blipFill>
        <p:spPr>
          <a:xfrm>
            <a:off x="425532" y="7277585"/>
            <a:ext cx="252000" cy="252000"/>
          </a:xfrm>
          <a:prstGeom prst="rect">
            <a:avLst/>
          </a:prstGeom>
          <a:noFill/>
        </p:spPr>
      </p:pic>
      <p:pic>
        <p:nvPicPr>
          <p:cNvPr id="24" name="Picture 29">
            <a:extLst>
              <a:ext uri="{FF2B5EF4-FFF2-40B4-BE49-F238E27FC236}">
                <a16:creationId xmlns="" xmlns:a16="http://schemas.microsoft.com/office/drawing/2014/main" id="{724CA62C-6225-F1CF-53F5-BE0644A9C7A9}"/>
              </a:ext>
            </a:extLst>
          </p:cNvPr>
          <p:cNvPicPr>
            <a:picLocks noChangeAspect="1"/>
          </p:cNvPicPr>
          <p:nvPr/>
        </p:nvPicPr>
        <p:blipFill>
          <a:blip r:embed="rId7"/>
          <a:stretch>
            <a:fillRect/>
          </a:stretch>
        </p:blipFill>
        <p:spPr>
          <a:xfrm>
            <a:off x="418357" y="7791774"/>
            <a:ext cx="259175" cy="259175"/>
          </a:xfrm>
          <a:prstGeom prst="rect">
            <a:avLst/>
          </a:prstGeom>
        </p:spPr>
      </p:pic>
      <p:pic>
        <p:nvPicPr>
          <p:cNvPr id="3" name="Picture 27" descr="C:\Users\u062353\Downloads\japan.png">
            <a:extLst>
              <a:ext uri="{FF2B5EF4-FFF2-40B4-BE49-F238E27FC236}">
                <a16:creationId xmlns="" xmlns:a16="http://schemas.microsoft.com/office/drawing/2014/main" id="{BD7F973C-41A4-C2A9-BDFC-6EBE0AC3DD59}"/>
              </a:ext>
            </a:extLst>
          </p:cNvPr>
          <p:cNvPicPr>
            <a:picLocks noChangeAspect="1" noChangeArrowheads="1"/>
          </p:cNvPicPr>
          <p:nvPr/>
        </p:nvPicPr>
        <p:blipFill>
          <a:blip r:embed="rId8" cstate="print"/>
          <a:srcRect/>
          <a:stretch>
            <a:fillRect/>
          </a:stretch>
        </p:blipFill>
        <p:spPr bwMode="auto">
          <a:xfrm>
            <a:off x="424492" y="6849803"/>
            <a:ext cx="254081" cy="252000"/>
          </a:xfrm>
          <a:prstGeom prst="rect">
            <a:avLst/>
          </a:prstGeom>
          <a:noFill/>
        </p:spPr>
      </p:pic>
    </p:spTree>
    <p:extLst>
      <p:ext uri="{BB962C8B-B14F-4D97-AF65-F5344CB8AC3E}">
        <p14:creationId xmlns:p14="http://schemas.microsoft.com/office/powerpoint/2010/main" val="28157809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6" name="TextBox 4"/>
          <p:cNvSpPr txBox="1"/>
          <p:nvPr/>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637" name="TextBox 6"/>
          <p:cNvSpPr txBox="1"/>
          <p:nvPr/>
        </p:nvSpPr>
        <p:spPr>
          <a:xfrm>
            <a:off x="325874" y="996200"/>
            <a:ext cx="3103126" cy="353303"/>
          </a:xfrm>
          <a:prstGeom prst="rect">
            <a:avLst/>
          </a:prstGeom>
          <a:noFill/>
        </p:spPr>
        <p:txBody>
          <a:bodyPr wrap="square" lIns="116612" tIns="58306" rIns="116612" bIns="58306" rtlCol="0">
            <a:spAutoFit/>
          </a:bodyPr>
          <a:lstStyle/>
          <a:p>
            <a:pPr defTabSz="1166125"/>
            <a:r>
              <a:rPr lang="id-ID" sz="1500" b="1" dirty="0">
                <a:solidFill>
                  <a:prstClr val="white"/>
                </a:solidFill>
              </a:rPr>
              <a:t>Wealth Management Division</a:t>
            </a:r>
          </a:p>
        </p:txBody>
      </p:sp>
      <p:pic>
        <p:nvPicPr>
          <p:cNvPr id="2097163" name="Picture 15"/>
          <p:cNvPicPr>
            <a:picLocks noChangeAspect="1"/>
          </p:cNvPicPr>
          <p:nvPr/>
        </p:nvPicPr>
        <p:blipFill>
          <a:blip r:embed="rId3"/>
          <a:stretch>
            <a:fillRect/>
          </a:stretch>
        </p:blipFill>
        <p:spPr>
          <a:xfrm>
            <a:off x="424493" y="8786563"/>
            <a:ext cx="6009012" cy="267729"/>
          </a:xfrm>
          <a:prstGeom prst="rect">
            <a:avLst/>
          </a:prstGeom>
        </p:spPr>
      </p:pic>
      <p:sp>
        <p:nvSpPr>
          <p:cNvPr id="104863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a:t>
            </a:r>
            <a:r>
              <a:rPr lang="id-ID" sz="1000" err="1">
                <a:solidFill>
                  <a:srgbClr val="175FAB"/>
                </a:solidFill>
              </a:rPr>
              <a:t>Central</a:t>
            </a:r>
            <a:r>
              <a:rPr lang="id-ID" sz="1000">
                <a:solidFill>
                  <a:srgbClr val="175FAB"/>
                </a:solidFill>
              </a:rPr>
              <a:t> Asia</a:t>
            </a:r>
            <a:r>
              <a:rPr lang="en-US" sz="1000">
                <a:solidFill>
                  <a:srgbClr val="175FAB"/>
                </a:solidFill>
              </a:rPr>
              <a:t> </a:t>
            </a:r>
            <a:r>
              <a:rPr lang="en-US" sz="1000" err="1">
                <a:solidFill>
                  <a:srgbClr val="175FAB"/>
                </a:solidFill>
              </a:rPr>
              <a:t>Tbk</a:t>
            </a:r>
            <a:r>
              <a:rPr lang="en-US" sz="1000">
                <a:solidFill>
                  <a:srgbClr val="175FAB"/>
                </a:solidFill>
              </a:rPr>
              <a:t>.</a:t>
            </a:r>
            <a:endParaRPr lang="id-ID" sz="1000">
              <a:solidFill>
                <a:srgbClr val="175FAB"/>
              </a:solidFill>
            </a:endParaRPr>
          </a:p>
        </p:txBody>
      </p:sp>
      <p:sp>
        <p:nvSpPr>
          <p:cNvPr id="1048639" name="TextBox 22"/>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prstClr val="white"/>
                </a:solidFill>
              </a:rPr>
              <a:pPr algn="r"/>
              <a:t>6</a:t>
            </a:fld>
            <a:endParaRPr lang="id-ID" sz="1000">
              <a:solidFill>
                <a:prstClr val="white"/>
              </a:solidFill>
            </a:endParaRPr>
          </a:p>
        </p:txBody>
      </p:sp>
      <p:sp>
        <p:nvSpPr>
          <p:cNvPr id="1048640" name="Rectangle 48"/>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1048641" name="Rectangle 20"/>
          <p:cNvSpPr/>
          <p:nvPr/>
        </p:nvSpPr>
        <p:spPr>
          <a:xfrm>
            <a:off x="533400" y="6609457"/>
            <a:ext cx="5791200" cy="2263140"/>
          </a:xfrm>
          <a:prstGeom prst="rect">
            <a:avLst/>
          </a:prstGeom>
        </p:spPr>
        <p:txBody>
          <a:bodyPr wrap="square">
            <a:spAutoFit/>
          </a:bodyPr>
          <a:lstStyle/>
          <a:p>
            <a:pPr algn="just">
              <a:tabLst>
                <a:tab pos="2971800" algn="ctr"/>
                <a:tab pos="5943600" algn="r"/>
              </a:tabLst>
            </a:pPr>
            <a:r>
              <a:rPr lang="en-US" sz="800" b="1" dirty="0">
                <a:solidFill>
                  <a:prstClr val="black">
                    <a:lumMod val="65000"/>
                    <a:lumOff val="35000"/>
                  </a:prstClr>
                </a:solidFill>
                <a:ea typeface="Calibri" panose="020F0502020204030204" pitchFamily="34" charset="0"/>
                <a:cs typeface="Arial" panose="020B0604020202020204" pitchFamily="34" charset="0"/>
              </a:rPr>
              <a:t>EDITOR: </a:t>
            </a:r>
            <a:r>
              <a:rPr lang="en-US" sz="800" dirty="0">
                <a:solidFill>
                  <a:prstClr val="black">
                    <a:lumMod val="65000"/>
                    <a:lumOff val="35000"/>
                  </a:prstClr>
                </a:solidFill>
                <a:ea typeface="Calibri" panose="020F0502020204030204" pitchFamily="34" charset="0"/>
                <a:cs typeface="Arial" panose="020B0604020202020204" pitchFamily="34" charset="0"/>
              </a:rPr>
              <a:t>Wealth Management Division </a:t>
            </a:r>
            <a:r>
              <a:rPr lang="en-US" sz="800" b="1" dirty="0">
                <a:solidFill>
                  <a:prstClr val="black">
                    <a:lumMod val="65000"/>
                    <a:lumOff val="35000"/>
                  </a:prstClr>
                </a:solidFill>
                <a:ea typeface="Calibri" panose="020F0502020204030204" pitchFamily="34" charset="0"/>
                <a:cs typeface="Arial" panose="020B0604020202020204" pitchFamily="34" charset="0"/>
              </a:rPr>
              <a:t>DISCLAIMER</a:t>
            </a:r>
            <a:r>
              <a:rPr lang="en-US" sz="800" dirty="0">
                <a:solidFill>
                  <a:prstClr val="black">
                    <a:lumMod val="65000"/>
                    <a:lumOff val="35000"/>
                  </a:prstClr>
                </a:solidFill>
                <a:ea typeface="Calibri" panose="020F0502020204030204" pitchFamily="34" charset="0"/>
                <a:cs typeface="Arial" panose="020B0604020202020204" pitchFamily="34" charset="0"/>
              </a:rPr>
              <a:t>: This report is for information only, and is not intended as an offer or solicitation with respect to the purchase or sale of any commodities, securities, or currencies. We deem that the information contained in this report has been taken from sources which we deem reliable. However, we do not guarantee their accuracy, and any such information may be incomplete or condensed. None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(“BCA”), and/or its affiliated companies, and/or their respective employees and/or agents makes any representation or warranty (express or implied) or accepts any responsibility or liability as to, or in relation to, the accuracy or completeness of the information and opinions contained in this report or as to any information contained in this report or any other such information or opinions remaining unchanged after the issue thereof. BCA, or any of its related companies or any individuals connected with BCA or BCA group accepts no liability for any direct, special, indirect, consequential, incidental damages or any other loss or damages of any kind arising from any use of the information herein (including any error, omission or misstatement herein, negligent or otherwise) or further communication thereof, even if the BCA or any other person has been advised of the possibility thereof. Opinion expressed is the analysts’ current personal views as of the date appearing on this material only, and subject to change without notice. It is intended for the use by recipient only and may not be reproduced or copied/photocopied or duplicated or made available in any form, by any means, or redistributed to others without written permission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a:t>
            </a:r>
          </a:p>
          <a:p>
            <a:pPr algn="just">
              <a:tabLst>
                <a:tab pos="2971800" algn="ctr"/>
                <a:tab pos="5943600" algn="r"/>
              </a:tabLst>
            </a:pPr>
            <a:endParaRPr lang="en-US" sz="800" dirty="0">
              <a:solidFill>
                <a:prstClr val="black">
                  <a:lumMod val="65000"/>
                  <a:lumOff val="35000"/>
                </a:prstClr>
              </a:solidFill>
              <a:ea typeface="Calibri" panose="020F0502020204030204" pitchFamily="34" charset="0"/>
              <a:cs typeface="Arial" panose="020B0604020202020204" pitchFamily="34" charset="0"/>
            </a:endParaRPr>
          </a:p>
          <a:p>
            <a:pPr algn="just">
              <a:tabLst>
                <a:tab pos="2971800" algn="ctr"/>
                <a:tab pos="5943600" algn="r"/>
              </a:tabLst>
            </a:pPr>
            <a:r>
              <a:rPr lang="en-US" sz="800" dirty="0">
                <a:solidFill>
                  <a:prstClr val="black">
                    <a:lumMod val="65000"/>
                    <a:lumOff val="35000"/>
                  </a:prstClr>
                </a:solidFill>
                <a:ea typeface="Calibri" panose="020F0502020204030204" pitchFamily="34" charset="0"/>
                <a:cs typeface="Arial" panose="020B0604020202020204" pitchFamily="34" charset="0"/>
              </a:rPr>
              <a:t>All opinions and estimates included in this report are based on certain assumptions. Actual results may differ materially. In considering any investments you should make your own independent assessment and seek your own professional financial and legal advice. </a:t>
            </a:r>
            <a:endParaRPr lang="en-AU" sz="3200" dirty="0">
              <a:solidFill>
                <a:prstClr val="black">
                  <a:lumMod val="65000"/>
                  <a:lumOff val="35000"/>
                </a:prstClr>
              </a:solidFill>
              <a:ea typeface="Calibri" panose="020F0502020204030204" pitchFamily="34" charset="0"/>
              <a:cs typeface="Arial" panose="020B0604020202020204" pitchFamily="34" charset="0"/>
            </a:endParaRPr>
          </a:p>
        </p:txBody>
      </p:sp>
      <p:sp>
        <p:nvSpPr>
          <p:cNvPr id="1048642" name="TextBox 21"/>
          <p:cNvSpPr txBox="1"/>
          <p:nvPr/>
        </p:nvSpPr>
        <p:spPr>
          <a:xfrm>
            <a:off x="533400" y="6385560"/>
            <a:ext cx="5715000" cy="320040"/>
          </a:xfrm>
          <a:prstGeom prst="rect">
            <a:avLst/>
          </a:prstGeom>
          <a:noFill/>
        </p:spPr>
        <p:txBody>
          <a:bodyPr wrap="square" rtlCol="0">
            <a:spAutoFit/>
          </a:bodyPr>
          <a:lstStyle/>
          <a:p>
            <a:pPr algn="just">
              <a:spcAft>
                <a:spcPts val="800"/>
              </a:spcAft>
            </a:pPr>
            <a:r>
              <a:rPr lang="en-US" sz="800" b="1" dirty="0">
                <a:solidFill>
                  <a:prstClr val="black"/>
                </a:solidFill>
              </a:rPr>
              <a:t>SOURCE:</a:t>
            </a:r>
            <a:r>
              <a:rPr lang="en-US" sz="800" dirty="0">
                <a:solidFill>
                  <a:prstClr val="black"/>
                </a:solidFill>
              </a:rPr>
              <a:t> Economic Banking &amp; Industry Research of BCA Group, Bloomberg, Reuters, </a:t>
            </a:r>
            <a:r>
              <a:rPr lang="en-US" sz="800" dirty="0" err="1">
                <a:solidFill>
                  <a:prstClr val="black"/>
                </a:solidFill>
              </a:rPr>
              <a:t>Bisnis</a:t>
            </a:r>
            <a:r>
              <a:rPr lang="en-US" sz="800" dirty="0">
                <a:solidFill>
                  <a:prstClr val="black"/>
                </a:solidFill>
              </a:rPr>
              <a:t> Indonesia, </a:t>
            </a:r>
            <a:r>
              <a:rPr lang="en-US" sz="800" dirty="0" err="1">
                <a:solidFill>
                  <a:prstClr val="black"/>
                </a:solidFill>
              </a:rPr>
              <a:t>Kontan</a:t>
            </a:r>
            <a:r>
              <a:rPr lang="en-US" sz="800" dirty="0">
                <a:solidFill>
                  <a:prstClr val="black"/>
                </a:solidFill>
              </a:rPr>
              <a:t>, CME Group</a:t>
            </a:r>
          </a:p>
        </p:txBody>
      </p:sp>
      <p:sp>
        <p:nvSpPr>
          <p:cNvPr id="1048643" name="TextBox 11"/>
          <p:cNvSpPr txBox="1"/>
          <p:nvPr/>
        </p:nvSpPr>
        <p:spPr>
          <a:xfrm>
            <a:off x="608076" y="1676400"/>
            <a:ext cx="5716524" cy="4124206"/>
          </a:xfrm>
          <a:prstGeom prst="rect">
            <a:avLst/>
          </a:prstGeom>
          <a:noFill/>
        </p:spPr>
        <p:txBody>
          <a:bodyPr wrap="square" lIns="91440" tIns="45720" rIns="91440" bIns="45720" anchor="t">
            <a:spAutoFit/>
          </a:bodyPr>
          <a:lstStyle/>
          <a:p>
            <a:pPr algn="just">
              <a:spcAft>
                <a:spcPts val="600"/>
              </a:spcAft>
            </a:pPr>
            <a:r>
              <a:rPr lang="en-AU" sz="1400" b="1" i="1" dirty="0">
                <a:solidFill>
                  <a:srgbClr val="4472C4">
                    <a:lumMod val="75000"/>
                  </a:srgbClr>
                </a:solidFill>
              </a:rPr>
              <a:t>Glossary</a:t>
            </a:r>
            <a:endParaRPr lang="en-US" sz="1050" i="1"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a:t>Bid to cover ratio</a:t>
            </a:r>
            <a:r>
              <a:rPr lang="en-US" sz="1050" dirty="0"/>
              <a:t>: </a:t>
            </a:r>
            <a:r>
              <a:rPr lang="en-US" sz="1050" dirty="0" err="1"/>
              <a:t>rasio</a:t>
            </a:r>
            <a:r>
              <a:rPr lang="en-US" sz="1050" dirty="0"/>
              <a:t> total </a:t>
            </a:r>
            <a:r>
              <a:rPr lang="en-US" sz="1050" dirty="0" err="1"/>
              <a:t>penawaran</a:t>
            </a:r>
            <a:r>
              <a:rPr lang="en-US" sz="1050" dirty="0"/>
              <a:t> </a:t>
            </a:r>
            <a:r>
              <a:rPr lang="en-US" sz="1050" dirty="0" err="1"/>
              <a:t>terhadap</a:t>
            </a:r>
            <a:r>
              <a:rPr lang="en-US" sz="1050" dirty="0"/>
              <a:t> </a:t>
            </a:r>
            <a:r>
              <a:rPr lang="en-US" sz="1050" dirty="0" err="1"/>
              <a:t>jumlah</a:t>
            </a:r>
            <a:r>
              <a:rPr lang="en-US" sz="1050" dirty="0"/>
              <a:t> yang </a:t>
            </a:r>
            <a:r>
              <a:rPr lang="en-US" sz="1050" dirty="0" err="1"/>
              <a:t>dimenangkan</a:t>
            </a:r>
            <a:r>
              <a:rPr lang="en-US" sz="1050" dirty="0"/>
              <a:t> </a:t>
            </a:r>
            <a:r>
              <a:rPr lang="en-US" sz="1050" dirty="0" err="1"/>
              <a:t>dalam</a:t>
            </a:r>
            <a:r>
              <a:rPr lang="en-US" sz="1050" dirty="0"/>
              <a:t> </a:t>
            </a:r>
            <a:r>
              <a:rPr lang="en-US" sz="1050" dirty="0" err="1"/>
              <a:t>lelang</a:t>
            </a:r>
            <a:r>
              <a:rPr lang="en-US" sz="1050" dirty="0" smtClean="0"/>
              <a:t>.</a:t>
            </a:r>
            <a:endParaRPr lang="en-US" sz="1050" i="1" dirty="0" smtClean="0"/>
          </a:p>
          <a:p>
            <a:pPr marL="342900" indent="-342900" algn="just">
              <a:spcBef>
                <a:spcPts val="600"/>
              </a:spcBef>
              <a:buFont typeface="Arial" panose="020B0604020202020204" pitchFamily="34" charset="0"/>
              <a:buChar char="•"/>
              <a:tabLst>
                <a:tab pos="457200" algn="l"/>
              </a:tabLst>
            </a:pPr>
            <a:r>
              <a:rPr lang="en-US" sz="1050" i="1" dirty="0"/>
              <a:t>Breakeven inflation</a:t>
            </a:r>
            <a:r>
              <a:rPr lang="en-US" sz="1050" dirty="0"/>
              <a:t>: </a:t>
            </a:r>
            <a:r>
              <a:rPr lang="en-US" sz="1050" dirty="0" err="1"/>
              <a:t>selisih</a:t>
            </a:r>
            <a:r>
              <a:rPr lang="en-US" sz="1050" dirty="0"/>
              <a:t> </a:t>
            </a:r>
            <a:r>
              <a:rPr lang="en-US" sz="1050" i="1" dirty="0"/>
              <a:t>yield</a:t>
            </a:r>
            <a:r>
              <a:rPr lang="en-US" sz="1050" dirty="0"/>
              <a:t> UST nominal </a:t>
            </a:r>
            <a:r>
              <a:rPr lang="en-US" sz="1050" dirty="0" err="1"/>
              <a:t>dan</a:t>
            </a:r>
            <a:r>
              <a:rPr lang="en-US" sz="1050" dirty="0"/>
              <a:t> UST yang </a:t>
            </a:r>
            <a:r>
              <a:rPr lang="en-US" sz="1050" dirty="0" err="1"/>
              <a:t>dilindungi</a:t>
            </a:r>
            <a:r>
              <a:rPr lang="en-US" sz="1050" dirty="0"/>
              <a:t> </a:t>
            </a:r>
            <a:r>
              <a:rPr lang="en-US" sz="1050" dirty="0" err="1"/>
              <a:t>inflasi</a:t>
            </a:r>
            <a:r>
              <a:rPr lang="en-US" sz="1050" dirty="0"/>
              <a:t> (TIPS).</a:t>
            </a:r>
          </a:p>
          <a:p>
            <a:pPr marL="342900" indent="-342900" algn="just">
              <a:spcBef>
                <a:spcPts val="600"/>
              </a:spcBef>
              <a:buFont typeface="Arial" panose="020B0604020202020204" pitchFamily="34" charset="0"/>
              <a:buChar char="•"/>
              <a:tabLst>
                <a:tab pos="457200" algn="l"/>
              </a:tabLst>
            </a:pPr>
            <a:r>
              <a:rPr lang="en-US" sz="1050" i="1" dirty="0" smtClean="0"/>
              <a:t>Dot </a:t>
            </a:r>
            <a:r>
              <a:rPr lang="en-US" sz="1050" i="1" dirty="0"/>
              <a:t>plot</a:t>
            </a:r>
            <a:r>
              <a:rPr lang="en-US" sz="1050" dirty="0"/>
              <a:t>: </a:t>
            </a:r>
            <a:r>
              <a:rPr lang="en-US" sz="1050" dirty="0" err="1"/>
              <a:t>proyeksi</a:t>
            </a:r>
            <a:r>
              <a:rPr lang="en-US" sz="1050" dirty="0"/>
              <a:t> </a:t>
            </a:r>
            <a:r>
              <a:rPr lang="en-US" sz="1050" dirty="0" err="1"/>
              <a:t>suku</a:t>
            </a:r>
            <a:r>
              <a:rPr lang="en-US" sz="1050" dirty="0"/>
              <a:t> </a:t>
            </a:r>
            <a:r>
              <a:rPr lang="en-US" sz="1050" dirty="0" err="1"/>
              <a:t>bunga</a:t>
            </a:r>
            <a:r>
              <a:rPr lang="en-US" sz="1050" dirty="0"/>
              <a:t> </a:t>
            </a:r>
            <a:r>
              <a:rPr lang="en-US" sz="1050" dirty="0" err="1"/>
              <a:t>acuan</a:t>
            </a:r>
            <a:r>
              <a:rPr lang="en-US" sz="1050" dirty="0"/>
              <a:t> </a:t>
            </a:r>
            <a:r>
              <a:rPr lang="en-US" sz="1050" dirty="0" err="1"/>
              <a:t>dari</a:t>
            </a:r>
            <a:r>
              <a:rPr lang="en-US" sz="1050" dirty="0"/>
              <a:t> </a:t>
            </a:r>
            <a:r>
              <a:rPr lang="en-US" sz="1050" dirty="0" err="1"/>
              <a:t>setiap</a:t>
            </a:r>
            <a:r>
              <a:rPr lang="en-US" sz="1050" dirty="0"/>
              <a:t> </a:t>
            </a:r>
            <a:r>
              <a:rPr lang="en-US" sz="1050" dirty="0" err="1"/>
              <a:t>anggota</a:t>
            </a:r>
            <a:r>
              <a:rPr lang="en-US" sz="1050" dirty="0"/>
              <a:t> FOMC yang </a:t>
            </a:r>
            <a:r>
              <a:rPr lang="en-US" sz="1050" dirty="0" err="1"/>
              <a:t>dirilis</a:t>
            </a:r>
            <a:r>
              <a:rPr lang="en-US" sz="1050" dirty="0"/>
              <a:t> </a:t>
            </a:r>
            <a:r>
              <a:rPr lang="en-US" sz="1050" dirty="0" err="1"/>
              <a:t>setiap</a:t>
            </a:r>
            <a:r>
              <a:rPr lang="en-US" sz="1050" dirty="0"/>
              <a:t> </a:t>
            </a:r>
            <a:r>
              <a:rPr lang="en-US" sz="1050" dirty="0" err="1"/>
              <a:t>kuartal</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smtClean="0"/>
              <a:t>Earnings </a:t>
            </a:r>
            <a:r>
              <a:rPr lang="en-US" sz="1050" i="1" dirty="0"/>
              <a:t>yield</a:t>
            </a:r>
            <a:r>
              <a:rPr lang="en-US" sz="1050" dirty="0"/>
              <a:t>: </a:t>
            </a:r>
            <a:r>
              <a:rPr lang="en-US" sz="1050" dirty="0" err="1"/>
              <a:t>rasio</a:t>
            </a:r>
            <a:r>
              <a:rPr lang="en-US" sz="1050" dirty="0"/>
              <a:t> </a:t>
            </a:r>
            <a:r>
              <a:rPr lang="en-US" sz="1050" dirty="0" err="1"/>
              <a:t>laba</a:t>
            </a:r>
            <a:r>
              <a:rPr lang="en-US" sz="1050" dirty="0"/>
              <a:t> per </a:t>
            </a:r>
            <a:r>
              <a:rPr lang="en-US" sz="1050" dirty="0" err="1"/>
              <a:t>saham</a:t>
            </a:r>
            <a:r>
              <a:rPr lang="en-US" sz="1050" dirty="0"/>
              <a:t> </a:t>
            </a:r>
            <a:r>
              <a:rPr lang="en-US" sz="1050" dirty="0" err="1"/>
              <a:t>terhadap</a:t>
            </a:r>
            <a:r>
              <a:rPr lang="en-US" sz="1050" dirty="0"/>
              <a:t> </a:t>
            </a:r>
            <a:r>
              <a:rPr lang="en-US" sz="1050" dirty="0" err="1"/>
              <a:t>harga</a:t>
            </a:r>
            <a:r>
              <a:rPr lang="en-US" sz="1050" dirty="0"/>
              <a:t> </a:t>
            </a:r>
            <a:r>
              <a:rPr lang="en-US" sz="1050" dirty="0" err="1"/>
              <a:t>saham</a:t>
            </a:r>
            <a:r>
              <a:rPr lang="en-US" sz="1050" dirty="0"/>
              <a:t>; </a:t>
            </a:r>
            <a:r>
              <a:rPr lang="en-US" sz="1050" dirty="0" err="1"/>
              <a:t>kebalikan</a:t>
            </a:r>
            <a:r>
              <a:rPr lang="en-US" sz="1050" dirty="0"/>
              <a:t> </a:t>
            </a:r>
            <a:r>
              <a:rPr lang="en-US" sz="1050" dirty="0" err="1"/>
              <a:t>dari</a:t>
            </a:r>
            <a:r>
              <a:rPr lang="en-US" sz="1050" dirty="0"/>
              <a:t> P/E</a:t>
            </a:r>
            <a:r>
              <a:rPr lang="en-US" sz="1050" dirty="0" smtClean="0"/>
              <a:t>.</a:t>
            </a:r>
          </a:p>
          <a:p>
            <a:pPr marL="342900" indent="-342900" algn="just">
              <a:spcBef>
                <a:spcPts val="600"/>
              </a:spcBef>
              <a:buFont typeface="Arial" panose="020B0604020202020204" pitchFamily="34" charset="0"/>
              <a:buChar char="•"/>
              <a:tabLst>
                <a:tab pos="457200" algn="l"/>
              </a:tabLst>
            </a:pPr>
            <a:r>
              <a:rPr lang="en-US" sz="1050" i="1" dirty="0"/>
              <a:t>Equal weight</a:t>
            </a:r>
            <a:r>
              <a:rPr lang="en-US" sz="1050" dirty="0"/>
              <a:t>: </a:t>
            </a:r>
            <a:r>
              <a:rPr lang="en-US" sz="1050" dirty="0" err="1"/>
              <a:t>metode</a:t>
            </a:r>
            <a:r>
              <a:rPr lang="en-US" sz="1050" dirty="0"/>
              <a:t> </a:t>
            </a:r>
            <a:r>
              <a:rPr lang="en-US" sz="1050" dirty="0" err="1"/>
              <a:t>perhitungan</a:t>
            </a:r>
            <a:r>
              <a:rPr lang="en-US" sz="1050" dirty="0"/>
              <a:t> </a:t>
            </a:r>
            <a:r>
              <a:rPr lang="en-US" sz="1050" dirty="0" err="1"/>
              <a:t>indeks</a:t>
            </a:r>
            <a:r>
              <a:rPr lang="en-US" sz="1050" dirty="0"/>
              <a:t> yang </a:t>
            </a:r>
            <a:r>
              <a:rPr lang="en-US" sz="1050" dirty="0" err="1"/>
              <a:t>memberi</a:t>
            </a:r>
            <a:r>
              <a:rPr lang="en-US" sz="1050" dirty="0"/>
              <a:t> </a:t>
            </a:r>
            <a:r>
              <a:rPr lang="en-US" sz="1050" dirty="0" err="1"/>
              <a:t>bobot</a:t>
            </a:r>
            <a:r>
              <a:rPr lang="en-US" sz="1050" dirty="0"/>
              <a:t> </a:t>
            </a:r>
            <a:r>
              <a:rPr lang="en-US" sz="1050" dirty="0" err="1"/>
              <a:t>sama</a:t>
            </a:r>
            <a:r>
              <a:rPr lang="en-US" sz="1050" dirty="0"/>
              <a:t> </a:t>
            </a:r>
            <a:r>
              <a:rPr lang="en-US" sz="1050" dirty="0" err="1"/>
              <a:t>pada</a:t>
            </a:r>
            <a:r>
              <a:rPr lang="en-US" sz="1050" dirty="0"/>
              <a:t> </a:t>
            </a:r>
            <a:r>
              <a:rPr lang="en-US" sz="1050" dirty="0" err="1"/>
              <a:t>setiap</a:t>
            </a:r>
            <a:r>
              <a:rPr lang="en-US" sz="1050" dirty="0"/>
              <a:t> </a:t>
            </a:r>
            <a:r>
              <a:rPr lang="en-US" sz="1050" dirty="0" err="1"/>
              <a:t>saham</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smtClean="0"/>
              <a:t>Hawkish</a:t>
            </a:r>
            <a:r>
              <a:rPr lang="en-US" sz="1050" dirty="0"/>
              <a:t>: </a:t>
            </a:r>
            <a:r>
              <a:rPr lang="en-US" sz="1050" dirty="0" err="1"/>
              <a:t>sikap</a:t>
            </a:r>
            <a:r>
              <a:rPr lang="en-US" sz="1050" dirty="0"/>
              <a:t> bank </a:t>
            </a:r>
            <a:r>
              <a:rPr lang="en-US" sz="1050" dirty="0" err="1"/>
              <a:t>sentral</a:t>
            </a:r>
            <a:r>
              <a:rPr lang="en-US" sz="1050" dirty="0"/>
              <a:t> yang </a:t>
            </a:r>
            <a:r>
              <a:rPr lang="en-US" sz="1050" dirty="0" err="1"/>
              <a:t>condong</a:t>
            </a:r>
            <a:r>
              <a:rPr lang="en-US" sz="1050" dirty="0"/>
              <a:t> </a:t>
            </a:r>
            <a:r>
              <a:rPr lang="en-US" sz="1050" dirty="0" err="1"/>
              <a:t>pada</a:t>
            </a:r>
            <a:r>
              <a:rPr lang="en-US" sz="1050" dirty="0"/>
              <a:t> </a:t>
            </a:r>
            <a:r>
              <a:rPr lang="en-US" sz="1050" dirty="0" err="1"/>
              <a:t>pengetatan</a:t>
            </a:r>
            <a:r>
              <a:rPr lang="en-US" sz="1050" dirty="0"/>
              <a:t> </a:t>
            </a:r>
            <a:r>
              <a:rPr lang="en-US" sz="1050" dirty="0" err="1"/>
              <a:t>kebijakan</a:t>
            </a:r>
            <a:r>
              <a:rPr lang="en-US" sz="1050" dirty="0"/>
              <a:t> </a:t>
            </a:r>
            <a:r>
              <a:rPr lang="en-US" sz="1050" dirty="0" err="1"/>
              <a:t>moneter</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a:t>Inflow</a:t>
            </a:r>
            <a:r>
              <a:rPr lang="en-US" sz="1050" dirty="0"/>
              <a:t>: </a:t>
            </a:r>
            <a:r>
              <a:rPr lang="en-US" sz="1050" dirty="0" err="1"/>
              <a:t>aliran</a:t>
            </a:r>
            <a:r>
              <a:rPr lang="en-US" sz="1050" dirty="0"/>
              <a:t> dana </a:t>
            </a:r>
            <a:r>
              <a:rPr lang="en-US" sz="1050" dirty="0" err="1"/>
              <a:t>masuk</a:t>
            </a:r>
            <a:r>
              <a:rPr lang="en-US" sz="1050" dirty="0" smtClean="0"/>
              <a:t>.</a:t>
            </a:r>
          </a:p>
          <a:p>
            <a:pPr marL="342900" indent="-342900" algn="just">
              <a:spcBef>
                <a:spcPts val="600"/>
              </a:spcBef>
              <a:buFont typeface="Arial" panose="020B0604020202020204" pitchFamily="34" charset="0"/>
              <a:buChar char="•"/>
              <a:tabLst>
                <a:tab pos="457200" algn="l"/>
              </a:tabLst>
            </a:pPr>
            <a:r>
              <a:rPr lang="en-US" sz="1050" dirty="0"/>
              <a:t>MOVE </a:t>
            </a:r>
            <a:r>
              <a:rPr lang="en-US" sz="1050" i="1" dirty="0"/>
              <a:t>Index</a:t>
            </a:r>
            <a:r>
              <a:rPr lang="en-US" sz="1050" dirty="0"/>
              <a:t>: </a:t>
            </a:r>
            <a:r>
              <a:rPr lang="en-US" sz="1050" dirty="0" err="1"/>
              <a:t>indeks</a:t>
            </a:r>
            <a:r>
              <a:rPr lang="en-US" sz="1050" dirty="0"/>
              <a:t> </a:t>
            </a:r>
            <a:r>
              <a:rPr lang="en-US" sz="1050" dirty="0" err="1"/>
              <a:t>volatilitas</a:t>
            </a:r>
            <a:r>
              <a:rPr lang="en-US" sz="1050" dirty="0"/>
              <a:t> </a:t>
            </a:r>
            <a:r>
              <a:rPr lang="en-US" sz="1050" dirty="0" err="1"/>
              <a:t>pasar</a:t>
            </a:r>
            <a:r>
              <a:rPr lang="en-US" sz="1050" dirty="0"/>
              <a:t> </a:t>
            </a:r>
            <a:r>
              <a:rPr lang="en-US" sz="1050" dirty="0" err="1"/>
              <a:t>obligasi</a:t>
            </a:r>
            <a:r>
              <a:rPr lang="en-US" sz="1050" dirty="0"/>
              <a:t> AS yang </a:t>
            </a:r>
            <a:r>
              <a:rPr lang="en-US" sz="1050" dirty="0" err="1"/>
              <a:t>dihitung</a:t>
            </a:r>
            <a:r>
              <a:rPr lang="en-US" sz="1050" dirty="0"/>
              <a:t> </a:t>
            </a:r>
            <a:r>
              <a:rPr lang="en-US" sz="1050" dirty="0" err="1"/>
              <a:t>dari</a:t>
            </a:r>
            <a:r>
              <a:rPr lang="en-US" sz="1050" dirty="0"/>
              <a:t> </a:t>
            </a:r>
            <a:r>
              <a:rPr lang="en-US" sz="1050" dirty="0" err="1"/>
              <a:t>harga</a:t>
            </a:r>
            <a:r>
              <a:rPr lang="en-US" sz="1050" dirty="0"/>
              <a:t> </a:t>
            </a:r>
            <a:r>
              <a:rPr lang="en-US" sz="1050" dirty="0" err="1"/>
              <a:t>opsi</a:t>
            </a:r>
            <a:r>
              <a:rPr lang="en-US" sz="1050" dirty="0"/>
              <a:t> UST</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smtClean="0">
                <a:solidFill>
                  <a:prstClr val="black"/>
                </a:solidFill>
              </a:rPr>
              <a:t>Outflow</a:t>
            </a:r>
            <a:r>
              <a:rPr lang="en-US" sz="1050" dirty="0">
                <a:solidFill>
                  <a:prstClr val="black"/>
                </a:solidFill>
              </a:rPr>
              <a:t>: </a:t>
            </a:r>
            <a:r>
              <a:rPr lang="en-US" sz="1050" dirty="0" err="1">
                <a:solidFill>
                  <a:prstClr val="black"/>
                </a:solidFill>
              </a:rPr>
              <a:t>aliran</a:t>
            </a:r>
            <a:r>
              <a:rPr lang="en-US" sz="1050" dirty="0">
                <a:solidFill>
                  <a:prstClr val="black"/>
                </a:solidFill>
              </a:rPr>
              <a:t> dana </a:t>
            </a:r>
            <a:r>
              <a:rPr lang="en-US" sz="1050" dirty="0" err="1">
                <a:solidFill>
                  <a:prstClr val="black"/>
                </a:solidFill>
              </a:rPr>
              <a:t>keluar</a:t>
            </a:r>
            <a:r>
              <a:rPr lang="en-US" sz="1050" dirty="0" smtClean="0">
                <a:solidFill>
                  <a:prstClr val="black"/>
                </a:solidFill>
              </a:rPr>
              <a:t>.</a:t>
            </a:r>
          </a:p>
          <a:p>
            <a:pPr marL="342900" indent="-342900" algn="just">
              <a:spcBef>
                <a:spcPts val="600"/>
              </a:spcBef>
              <a:buFont typeface="Arial" panose="020B0604020202020204" pitchFamily="34" charset="0"/>
              <a:buChar char="•"/>
              <a:tabLst>
                <a:tab pos="457200" algn="l"/>
              </a:tabLst>
            </a:pPr>
            <a:r>
              <a:rPr lang="en-US" sz="1050" dirty="0"/>
              <a:t>SOX (</a:t>
            </a:r>
            <a:r>
              <a:rPr lang="en-US" sz="1050" i="1" dirty="0"/>
              <a:t>PHLX Semiconductor Index</a:t>
            </a:r>
            <a:r>
              <a:rPr lang="en-US" sz="1050" dirty="0"/>
              <a:t>): </a:t>
            </a:r>
            <a:r>
              <a:rPr lang="en-US" sz="1050" dirty="0" err="1"/>
              <a:t>indeks</a:t>
            </a:r>
            <a:r>
              <a:rPr lang="en-US" sz="1050" dirty="0"/>
              <a:t> 30 </a:t>
            </a:r>
            <a:r>
              <a:rPr lang="en-US" sz="1050" dirty="0" err="1"/>
              <a:t>saham</a:t>
            </a:r>
            <a:r>
              <a:rPr lang="en-US" sz="1050" dirty="0"/>
              <a:t> </a:t>
            </a:r>
            <a:r>
              <a:rPr lang="en-US" sz="1050" dirty="0" err="1"/>
              <a:t>semikonduktor</a:t>
            </a:r>
            <a:r>
              <a:rPr lang="en-US" sz="1050" dirty="0"/>
              <a:t> </a:t>
            </a:r>
            <a:r>
              <a:rPr lang="en-US" sz="1050" dirty="0" err="1"/>
              <a:t>terbesar</a:t>
            </a:r>
            <a:r>
              <a:rPr lang="en-US" sz="1050" dirty="0"/>
              <a:t> di AS</a:t>
            </a:r>
            <a:r>
              <a:rPr lang="en-US" sz="1050" dirty="0" smtClean="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smtClean="0"/>
              <a:t>Term </a:t>
            </a:r>
            <a:r>
              <a:rPr lang="en-US" sz="1050" i="1" dirty="0"/>
              <a:t>premium</a:t>
            </a:r>
            <a:r>
              <a:rPr lang="en-US" sz="1050" dirty="0"/>
              <a:t>: </a:t>
            </a:r>
            <a:r>
              <a:rPr lang="en-US" sz="1050" dirty="0" err="1"/>
              <a:t>imbal</a:t>
            </a:r>
            <a:r>
              <a:rPr lang="en-US" sz="1050" dirty="0"/>
              <a:t> </a:t>
            </a:r>
            <a:r>
              <a:rPr lang="en-US" sz="1050" dirty="0" err="1"/>
              <a:t>hasil</a:t>
            </a:r>
            <a:r>
              <a:rPr lang="en-US" sz="1050" dirty="0"/>
              <a:t> </a:t>
            </a:r>
            <a:r>
              <a:rPr lang="en-US" sz="1050" dirty="0" err="1"/>
              <a:t>tambahan</a:t>
            </a:r>
            <a:r>
              <a:rPr lang="en-US" sz="1050" dirty="0"/>
              <a:t> </a:t>
            </a:r>
            <a:r>
              <a:rPr lang="en-US" sz="1050" dirty="0" err="1"/>
              <a:t>untuk</a:t>
            </a:r>
            <a:r>
              <a:rPr lang="en-US" sz="1050" dirty="0"/>
              <a:t> </a:t>
            </a:r>
            <a:r>
              <a:rPr lang="en-US" sz="1050" dirty="0" err="1"/>
              <a:t>memegang</a:t>
            </a:r>
            <a:r>
              <a:rPr lang="en-US" sz="1050" dirty="0"/>
              <a:t> </a:t>
            </a:r>
            <a:r>
              <a:rPr lang="en-US" sz="1050" dirty="0" err="1"/>
              <a:t>obligasi</a:t>
            </a:r>
            <a:r>
              <a:rPr lang="en-US" sz="1050" dirty="0"/>
              <a:t> </a:t>
            </a:r>
            <a:r>
              <a:rPr lang="en-US" sz="1050" dirty="0" err="1"/>
              <a:t>bertenor</a:t>
            </a:r>
            <a:r>
              <a:rPr lang="en-US" sz="1050" dirty="0"/>
              <a:t> </a:t>
            </a:r>
            <a:r>
              <a:rPr lang="en-US" sz="1050" dirty="0" err="1"/>
              <a:t>panjang</a:t>
            </a:r>
            <a:r>
              <a:rPr lang="en-US" sz="1050" dirty="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dirty="0">
                <a:solidFill>
                  <a:prstClr val="black"/>
                </a:solidFill>
              </a:rPr>
              <a:t>The Fed: bank </a:t>
            </a:r>
            <a:r>
              <a:rPr lang="en-US" sz="1050" dirty="0" err="1">
                <a:solidFill>
                  <a:prstClr val="black"/>
                </a:solidFill>
              </a:rPr>
              <a:t>sentral</a:t>
            </a:r>
            <a:r>
              <a:rPr lang="en-US" sz="1050" dirty="0">
                <a:solidFill>
                  <a:prstClr val="black"/>
                </a:solidFill>
              </a:rPr>
              <a:t> AS.</a:t>
            </a:r>
          </a:p>
          <a:p>
            <a:pPr marL="342900" indent="-342900" algn="just">
              <a:spcBef>
                <a:spcPts val="600"/>
              </a:spcBef>
              <a:buFont typeface="Arial" panose="020B0604020202020204" pitchFamily="34" charset="0"/>
              <a:buChar char="•"/>
              <a:tabLst>
                <a:tab pos="457200" algn="l"/>
              </a:tabLst>
            </a:pPr>
            <a:r>
              <a:rPr lang="en-US" sz="1050" i="1" dirty="0">
                <a:solidFill>
                  <a:prstClr val="black"/>
                </a:solidFill>
              </a:rPr>
              <a:t>US Treasury</a:t>
            </a:r>
            <a:r>
              <a:rPr lang="en-US" sz="1050" dirty="0">
                <a:solidFill>
                  <a:prstClr val="black"/>
                </a:solidFill>
              </a:rPr>
              <a:t>: </a:t>
            </a:r>
            <a:r>
              <a:rPr lang="en-US" sz="1050" dirty="0" err="1">
                <a:solidFill>
                  <a:prstClr val="black"/>
                </a:solidFill>
              </a:rPr>
              <a:t>obligasi</a:t>
            </a:r>
            <a:r>
              <a:rPr lang="en-US" sz="1050" dirty="0">
                <a:solidFill>
                  <a:prstClr val="black"/>
                </a:solidFill>
              </a:rPr>
              <a:t> </a:t>
            </a:r>
            <a:r>
              <a:rPr lang="en-US" sz="1050" dirty="0" err="1">
                <a:solidFill>
                  <a:prstClr val="black"/>
                </a:solidFill>
              </a:rPr>
              <a:t>pemerintah</a:t>
            </a:r>
            <a:r>
              <a:rPr lang="en-US" sz="1050" dirty="0">
                <a:solidFill>
                  <a:prstClr val="black"/>
                </a:solidFill>
              </a:rPr>
              <a:t> AS</a:t>
            </a:r>
            <a:r>
              <a:rPr lang="en-US" sz="1050" dirty="0" smtClean="0">
                <a:solidFill>
                  <a:prstClr val="black"/>
                </a:solidFill>
              </a:rPr>
              <a:t>.</a:t>
            </a:r>
          </a:p>
          <a:p>
            <a:pPr marL="342900" indent="-342900" algn="just">
              <a:spcBef>
                <a:spcPts val="600"/>
              </a:spcBef>
              <a:buFont typeface="Arial" panose="020B0604020202020204" pitchFamily="34" charset="0"/>
              <a:buChar char="•"/>
              <a:tabLst>
                <a:tab pos="457200" algn="l"/>
              </a:tabLst>
            </a:pPr>
            <a:r>
              <a:rPr lang="en-US" sz="1050" dirty="0"/>
              <a:t>VIX: </a:t>
            </a:r>
            <a:r>
              <a:rPr lang="en-US" sz="1050" dirty="0" err="1"/>
              <a:t>indeks</a:t>
            </a:r>
            <a:r>
              <a:rPr lang="en-US" sz="1050" dirty="0"/>
              <a:t> </a:t>
            </a:r>
            <a:r>
              <a:rPr lang="en-US" sz="1050" dirty="0" err="1"/>
              <a:t>volatilitas</a:t>
            </a:r>
            <a:r>
              <a:rPr lang="en-US" sz="1050" dirty="0"/>
              <a:t> </a:t>
            </a:r>
            <a:r>
              <a:rPr lang="en-US" sz="1050" dirty="0" err="1"/>
              <a:t>pasar</a:t>
            </a:r>
            <a:r>
              <a:rPr lang="en-US" sz="1050" dirty="0"/>
              <a:t> </a:t>
            </a:r>
            <a:r>
              <a:rPr lang="en-US" sz="1050" dirty="0" err="1"/>
              <a:t>saham</a:t>
            </a:r>
            <a:r>
              <a:rPr lang="en-US" sz="1050" dirty="0"/>
              <a:t> AS yang </a:t>
            </a:r>
            <a:r>
              <a:rPr lang="en-US" sz="1050" dirty="0" err="1"/>
              <a:t>dihitung</a:t>
            </a:r>
            <a:r>
              <a:rPr lang="en-US" sz="1050" dirty="0"/>
              <a:t> </a:t>
            </a:r>
            <a:r>
              <a:rPr lang="en-US" sz="1050" dirty="0" err="1"/>
              <a:t>dari</a:t>
            </a:r>
            <a:r>
              <a:rPr lang="en-US" sz="1050" dirty="0"/>
              <a:t> </a:t>
            </a:r>
            <a:r>
              <a:rPr lang="en-US" sz="1050" dirty="0" err="1"/>
              <a:t>harga</a:t>
            </a:r>
            <a:r>
              <a:rPr lang="en-US" sz="1050" dirty="0"/>
              <a:t> </a:t>
            </a:r>
            <a:r>
              <a:rPr lang="en-US" sz="1050" dirty="0" err="1"/>
              <a:t>opsi</a:t>
            </a:r>
            <a:r>
              <a:rPr lang="en-US" sz="1050" dirty="0"/>
              <a:t> S&amp;P 500</a:t>
            </a:r>
            <a:r>
              <a:rPr lang="en-US" sz="1050" dirty="0" smtClean="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a:solidFill>
                  <a:prstClr val="black"/>
                </a:solidFill>
              </a:rPr>
              <a:t>Yield</a:t>
            </a:r>
            <a:r>
              <a:rPr lang="en-US" sz="1050" dirty="0">
                <a:solidFill>
                  <a:prstClr val="black"/>
                </a:solidFill>
              </a:rPr>
              <a:t>: </a:t>
            </a:r>
            <a:r>
              <a:rPr lang="en-US" sz="1050" dirty="0" err="1">
                <a:solidFill>
                  <a:prstClr val="black"/>
                </a:solidFill>
              </a:rPr>
              <a:t>mengacu</a:t>
            </a:r>
            <a:r>
              <a:rPr lang="en-US" sz="1050" dirty="0">
                <a:solidFill>
                  <a:prstClr val="black"/>
                </a:solidFill>
              </a:rPr>
              <a:t> pada </a:t>
            </a:r>
            <a:r>
              <a:rPr lang="en-US" sz="1050" i="1" dirty="0">
                <a:solidFill>
                  <a:prstClr val="black"/>
                </a:solidFill>
              </a:rPr>
              <a:t>Yield-To-Maturity</a:t>
            </a:r>
            <a:r>
              <a:rPr lang="en-US" sz="1050" dirty="0">
                <a:solidFill>
                  <a:prstClr val="black"/>
                </a:solidFill>
              </a:rPr>
              <a:t> (YTM), yang </a:t>
            </a:r>
            <a:r>
              <a:rPr lang="en-US" sz="1050" dirty="0" err="1">
                <a:solidFill>
                  <a:prstClr val="black"/>
                </a:solidFill>
              </a:rPr>
              <a:t>didefinisikan</a:t>
            </a:r>
            <a:r>
              <a:rPr lang="en-US" sz="1050" dirty="0">
                <a:solidFill>
                  <a:prstClr val="black"/>
                </a:solidFill>
              </a:rPr>
              <a:t> </a:t>
            </a:r>
            <a:r>
              <a:rPr lang="en-US" sz="1050" dirty="0" err="1">
                <a:solidFill>
                  <a:prstClr val="black"/>
                </a:solidFill>
              </a:rPr>
              <a:t>sebagai</a:t>
            </a:r>
            <a:r>
              <a:rPr lang="en-US" sz="1050" dirty="0">
                <a:solidFill>
                  <a:prstClr val="black"/>
                </a:solidFill>
              </a:rPr>
              <a:t> total </a:t>
            </a:r>
            <a:r>
              <a:rPr lang="en-US" sz="1050" dirty="0" err="1">
                <a:solidFill>
                  <a:prstClr val="black"/>
                </a:solidFill>
              </a:rPr>
              <a:t>tingkat</a:t>
            </a:r>
            <a:r>
              <a:rPr lang="en-US" sz="1050" dirty="0">
                <a:solidFill>
                  <a:prstClr val="black"/>
                </a:solidFill>
              </a:rPr>
              <a:t> </a:t>
            </a:r>
            <a:r>
              <a:rPr lang="en-US" sz="1050" dirty="0" err="1">
                <a:solidFill>
                  <a:prstClr val="black"/>
                </a:solidFill>
              </a:rPr>
              <a:t>pengembalian</a:t>
            </a:r>
            <a:r>
              <a:rPr lang="en-US" sz="1050" dirty="0">
                <a:solidFill>
                  <a:prstClr val="black"/>
                </a:solidFill>
              </a:rPr>
              <a:t> </a:t>
            </a:r>
            <a:r>
              <a:rPr lang="en-US" sz="1050" dirty="0" err="1">
                <a:solidFill>
                  <a:prstClr val="black"/>
                </a:solidFill>
              </a:rPr>
              <a:t>obligasi</a:t>
            </a:r>
            <a:r>
              <a:rPr lang="en-US" sz="1050" dirty="0">
                <a:solidFill>
                  <a:prstClr val="black"/>
                </a:solidFill>
              </a:rPr>
              <a:t> </a:t>
            </a:r>
            <a:r>
              <a:rPr lang="en-US" sz="1050" dirty="0" err="1">
                <a:solidFill>
                  <a:prstClr val="black"/>
                </a:solidFill>
              </a:rPr>
              <a:t>jika</a:t>
            </a:r>
            <a:r>
              <a:rPr lang="en-US" sz="1050" dirty="0">
                <a:solidFill>
                  <a:prstClr val="black"/>
                </a:solidFill>
              </a:rPr>
              <a:t> </a:t>
            </a:r>
            <a:r>
              <a:rPr lang="en-US" sz="1050" dirty="0" err="1">
                <a:solidFill>
                  <a:prstClr val="black"/>
                </a:solidFill>
              </a:rPr>
              <a:t>dipegang</a:t>
            </a:r>
            <a:r>
              <a:rPr lang="en-US" sz="1050" dirty="0">
                <a:solidFill>
                  <a:prstClr val="black"/>
                </a:solidFill>
              </a:rPr>
              <a:t> </a:t>
            </a:r>
            <a:r>
              <a:rPr lang="en-US" sz="1050" dirty="0" err="1">
                <a:solidFill>
                  <a:prstClr val="black"/>
                </a:solidFill>
              </a:rPr>
              <a:t>hingga</a:t>
            </a:r>
            <a:r>
              <a:rPr lang="en-US" sz="1050" dirty="0">
                <a:solidFill>
                  <a:prstClr val="black"/>
                </a:solidFill>
              </a:rPr>
              <a:t> </a:t>
            </a:r>
            <a:r>
              <a:rPr lang="en-US" sz="1050" dirty="0" err="1">
                <a:solidFill>
                  <a:prstClr val="black"/>
                </a:solidFill>
              </a:rPr>
              <a:t>jatuh</a:t>
            </a:r>
            <a:r>
              <a:rPr lang="en-US" sz="1050" dirty="0">
                <a:solidFill>
                  <a:prstClr val="black"/>
                </a:solidFill>
              </a:rPr>
              <a:t> tempo</a:t>
            </a:r>
            <a:r>
              <a:rPr lang="en-US" sz="1050" dirty="0" smtClean="0">
                <a:solidFill>
                  <a:prstClr val="black"/>
                </a:solidFill>
              </a:rPr>
              <a:t>.</a:t>
            </a:r>
            <a:endParaRPr lang="en-US" sz="1050" dirty="0">
              <a:solidFill>
                <a:prstClr val="black"/>
              </a:solidFill>
            </a:endParaRPr>
          </a:p>
        </p:txBody>
      </p:sp>
    </p:spTree>
    <p:extLst>
      <p:ext uri="{BB962C8B-B14F-4D97-AF65-F5344CB8AC3E}">
        <p14:creationId xmlns:p14="http://schemas.microsoft.com/office/powerpoint/2010/main" val="1108191516"/>
      </p:ext>
    </p:extLst>
  </p:cSld>
  <p:clrMapOvr>
    <a:masterClrMapping/>
  </p:clrMapOvr>
  <p:timing>
    <p:tnLst>
      <p:par>
        <p:cTn id="1" dur="indefinite" restart="never" nodeType="tmRoot"/>
      </p:par>
    </p:tnLst>
  </p:timing>
</p:sld>
</file>

<file path=ppt/theme/theme1.xml><?xml version="1.0" encoding="utf-8"?>
<a:theme xmlns:a="http://schemas.openxmlformats.org/drawingml/2006/main" name="1_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b5ab3276-f2a2-4d17-8a8e-f371ed2f17c5</TitusGUID>
  <TitusMetadata xmlns="">eyJucyI6IkJDQSIsInByb3BzIjpbeyJuIjoiQkNBQ2xhc3NpZmljYXRpb24iLCJ2YWxzIjpbeyJ2YWx1ZSI6IkludGVybmFsIn1dfSx7Im4iOiJCQ0FPd25lciIsInZhbHMiOlt7InZhbHVlIjoiVTA3MTk3MiJ9XX1dfQ==</TitusMetadata>
</titus>
</file>

<file path=customXml/itemProps1.xml><?xml version="1.0" encoding="utf-8"?>
<ds:datastoreItem xmlns:ds="http://schemas.openxmlformats.org/officeDocument/2006/customXml" ds:itemID="{F8909E01-8042-4DC9-9ABC-AF1BB90863E0}">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otalTime>5001</TotalTime>
  <Words>2933</Words>
  <Application>Microsoft Office PowerPoint</Application>
  <PresentationFormat>On-screen Show (4:3)</PresentationFormat>
  <Paragraphs>575</Paragraphs>
  <Slides>6</Slides>
  <Notes>6</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6</vt:i4>
      </vt:variant>
    </vt:vector>
  </HeadingPairs>
  <TitlesOfParts>
    <vt:vector size="19" baseType="lpstr">
      <vt:lpstr>Arial</vt:lpstr>
      <vt:lpstr>Calibri</vt:lpstr>
      <vt:lpstr>Calibri Light</vt:lpstr>
      <vt:lpstr>MS Mincho</vt:lpstr>
      <vt:lpstr>Times New Roman</vt:lpstr>
      <vt:lpstr>Wingdings</vt:lpstr>
      <vt:lpstr>1_Cover</vt:lpstr>
      <vt:lpstr>Cover</vt:lpstr>
      <vt:lpstr>2_Content</vt:lpstr>
      <vt:lpstr>3_Content</vt:lpstr>
      <vt:lpstr>4_Content</vt:lpstr>
      <vt:lpstr>5_Content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Tako</dc:creator>
  <cp:lastModifiedBy>ABI HISKIA CHANDRA</cp:lastModifiedBy>
  <cp:revision>2399</cp:revision>
  <dcterms:created xsi:type="dcterms:W3CDTF">2018-10-24T01:42:20Z</dcterms:created>
  <dcterms:modified xsi:type="dcterms:W3CDTF">2026-09-29T02:25:49Z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b5ab3276-f2a2-4d17-8a8e-f371ed2f17c5</vt:lpwstr>
  </property>
  <property fmtid="{D5CDD505-2E9C-101B-9397-08002B2CF9AE}" pid="3" name="BCAClassification">
    <vt:lpwstr>Internal</vt:lpwstr>
  </property>
  <property fmtid="{D5CDD505-2E9C-101B-9397-08002B2CF9AE}" pid="4" name="BCAOwner">
    <vt:lpwstr>U071972</vt:lpwstr>
  </property>
  <property fmtid="{D5CDD505-2E9C-101B-9397-08002B2CF9AE}" pid="5" name="ICV">
    <vt:lpwstr>b53bd25687e643118693a27ceaac7f1d</vt:lpwstr>
  </property>
</Properties>
</file>