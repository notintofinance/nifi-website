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9" autoAdjust="0"/>
    <p:restoredTop sz="94660"/>
  </p:normalViewPr>
  <p:slideViewPr>
    <p:cSldViewPr snapToGrid="0">
      <p:cViewPr>
        <p:scale>
          <a:sx n="100" d="100"/>
          <a:sy n="100" d="100"/>
        </p:scale>
        <p:origin x="1686" y="-102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a:t>
            </a:r>
          </a:p>
        </c:rich>
      </c:tx>
      <c:layout>
        <c:manualLayout>
          <c:xMode val="edge"/>
          <c:yMode val="edge"/>
          <c:x val="0.02"/>
          <c:y val="0.0"/>
        </c:manualLayout>
      </c:layout>
      <c:overlay val="0"/>
    </c:title>
    <c:autoTitleDeleted val="0"/>
    <c:plotArea>
      <c:layout>
        <c:manualLayout>
          <c:layoutTarget val="inner"/>
          <c:xMode val="edge"/>
          <c:yMode val="edge"/>
          <c:x val="0.1"/>
          <c:y val="0.17"/>
          <c:w val="0.86"/>
          <c:h val="0.6"/>
        </c:manualLayout>
      </c:layout>
      <c:barChart>
        <c:barDir val="col"/>
        <c:grouping val="clustered"/>
        <c:varyColors val="0"/>
        <c:ser>
          <c:idx val="0"/>
          <c:order val="0"/>
          <c:tx>
            <c:strRef>
              <c:f>Sheet1!$B$1</c:f>
              <c:strCache>
                <c:ptCount val="1"/>
                <c:pt idx="0">
                  <c:v>P(target rate ≥4.00%)</c:v>
                </c:pt>
              </c:strCache>
            </c:strRef>
          </c:tx>
          <c:spPr>
            <a:solidFill>
              <a:srgbClr val="0051A2"/>
            </a:solidFill>
            <a:ln>
              <a:noFill/>
            </a:ln>
          </c:spPr>
          <c:invertIfNegative val="0"/>
          <c:dLbls>
            <c:numFmt formatCode="0.0" sourceLinked="0"/>
            <c:spPr>
              <a:noFill/>
              <a:ln>
                <a:noFill/>
              </a:ln>
            </c:spPr>
            <c:txPr>
              <a:bodyPr/>
              <a:lstStyle/>
              <a:p>
                <a:pPr>
                  <a:defRPr sz="900" b="1" i="0">
                    <a:solidFill>
                      <a:srgbClr val="000000"/>
                    </a:solidFill>
                    <a:latin typeface="Calibri"/>
                  </a:defRPr>
                </a:pPr>
                <a:endParaRPr lang="en-US"/>
              </a:p>
            </c:txPr>
            <c:dLblPos val="outEnd"/>
            <c:showLegendKey val="0"/>
            <c:showVal val="1"/>
            <c:showCatName val="0"/>
            <c:showSerName val="0"/>
            <c:showPercent val="0"/>
            <c:showBubbleSize val="0"/>
          </c:dLbls>
          <c:cat>
            <c:strRef>
              <c:f>Sheet1!$A$2:$A$3</c:f>
              <c:strCache>
                <c:ptCount val="2"/>
                <c:pt idx="0">
                  <c:v>28 Oct 2026</c:v>
                </c:pt>
                <c:pt idx="1">
                  <c:v>9 Dec 2026</c:v>
                </c:pt>
              </c:strCache>
            </c:strRef>
          </c:cat>
          <c:val>
            <c:numRef>
              <c:f>Sheet1!$B$2:$B$3</c:f>
              <c:numCache>
                <c:formatCode>0.0</c:formatCode>
                <c:ptCount val="2"/>
                <c:pt idx="0">
                  <c:v>20.5</c:v>
                </c:pt>
                <c:pt idx="1">
                  <c:v>81.7</c:v>
                </c:pt>
              </c:numCache>
            </c:numRef>
          </c:val>
        </c:ser>
        <c:gapWidth val="120"/>
        <c:axId val="5001"/>
        <c:axId val="5002"/>
      </c:barChart>
      <c:catAx>
        <c:axId val="5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5002"/>
        <c:crosses val="autoZero"/>
        <c:auto val="1"/>
        <c:lblAlgn val="ctr"/>
        <c:lblOffset val="100"/>
        <c:noMultiLvlLbl val="1"/>
      </c:catAx>
      <c:valAx>
        <c:axId val="5002"/>
        <c:scaling>
          <c:orientation val="minMax"/>
          <c:max val="1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5001"/>
        <c:crosses val="autoZero"/>
        <c:crossBetween val="between"/>
        <c:majorUnit val="2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05"/>
          <c:y val="0.17"/>
          <c:w val="0.77"/>
          <c:h val="0.6"/>
        </c:manualLayout>
      </c:layout>
      <c:lineChart>
        <c:grouping val="standard"/>
        <c:varyColors val="0"/>
        <c:ser>
          <c:idx val="0"/>
          <c:order val="0"/>
          <c:tx>
            <c:strRef>
              <c:f>Sheet1!$B$1</c:f>
              <c:strCache>
                <c:ptCount val="1"/>
                <c:pt idx="0">
                  <c:v>Oct Target Rate ≥4.00% Prob. (L)</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5"/>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Sheet1!$A$2:$A$7</c:f>
              <c:strCache>
                <c:ptCount val="6"/>
                <c:pt idx="0">
                  <c:v>25 Sep</c:v>
                </c:pt>
                <c:pt idx="1">
                  <c:v>28 Sep</c:v>
                </c:pt>
                <c:pt idx="2">
                  <c:v>29 Sep</c:v>
                </c:pt>
                <c:pt idx="3">
                  <c:v>30 Sep</c:v>
                </c:pt>
                <c:pt idx="4">
                  <c:v>1 Oct</c:v>
                </c:pt>
                <c:pt idx="5">
                  <c:v>2 Oct</c:v>
                </c:pt>
              </c:strCache>
            </c:strRef>
          </c:cat>
          <c:val>
            <c:numRef>
              <c:f>Sheet1!$B$2:$B$7</c:f>
              <c:numCache>
                <c:formatCode>0.0000</c:formatCode>
                <c:ptCount val="6"/>
                <c:pt idx="0">
                  <c:v>64.2143</c:v>
                </c:pt>
                <c:pt idx="1">
                  <c:v>70.8571</c:v>
                </c:pt>
                <c:pt idx="2">
                  <c:v>50.9286</c:v>
                </c:pt>
                <c:pt idx="3">
                  <c:v>37.6429</c:v>
                </c:pt>
                <c:pt idx="4">
                  <c:v>24.3571</c:v>
                </c:pt>
                <c:pt idx="5">
                  <c:v>22.1429</c:v>
                </c:pt>
              </c:numCache>
            </c:numRef>
          </c:val>
          <c:smooth val="0"/>
        </c:ser>
        <c:marker val="1"/>
        <c:axId val="6001"/>
        <c:axId val="60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circle"/>
            <c:size val="4"/>
            <c:spPr>
              <a:solidFill>
                <a:srgbClr val="ED7D31"/>
              </a:solidFill>
              <a:ln>
                <a:noFill/>
              </a:ln>
            </c:spPr>
          </c:marker>
          <c:dLbls>
            <c:dLbl>
              <c:idx val="0"/>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dLbl>
              <c:idx val="1"/>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dLbl>
              <c:idx val="5"/>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Sheet1!$A$2:$A$7</c:f>
              <c:strCache>
                <c:ptCount val="6"/>
                <c:pt idx="0">
                  <c:v>25 Sep</c:v>
                </c:pt>
                <c:pt idx="1">
                  <c:v>28 Sep</c:v>
                </c:pt>
                <c:pt idx="2">
                  <c:v>29 Sep</c:v>
                </c:pt>
                <c:pt idx="3">
                  <c:v>30 Sep</c:v>
                </c:pt>
                <c:pt idx="4">
                  <c:v>1 Oct</c:v>
                </c:pt>
                <c:pt idx="5">
                  <c:v>2 Oct</c:v>
                </c:pt>
              </c:strCache>
            </c:strRef>
          </c:cat>
          <c:val>
            <c:numRef>
              <c:f>Sheet1!$C$2:$C$7</c:f>
              <c:numCache>
                <c:formatCode>0.0000</c:formatCode>
                <c:ptCount val="6"/>
                <c:pt idx="0">
                  <c:v>5.1604</c:v>
                </c:pt>
                <c:pt idx="1">
                  <c:v>5.2361</c:v>
                </c:pt>
                <c:pt idx="2">
                  <c:v>5.2362</c:v>
                </c:pt>
                <c:pt idx="3">
                  <c:v>5.2849</c:v>
                </c:pt>
                <c:pt idx="4">
                  <c:v>5.2407</c:v>
                </c:pt>
                <c:pt idx="5">
                  <c:v>5.2706</c:v>
                </c:pt>
              </c:numCache>
            </c:numRef>
          </c:val>
          <c:smooth val="0"/>
        </c:ser>
        <c:marker val="1"/>
        <c:axId val="6003"/>
        <c:axId val="6004"/>
      </c:lineChart>
      <c:catAx>
        <c:axId val="6001"/>
        <c:scaling>
          <c:orientation val="minMax"/>
        </c:scaling>
        <c:delete val="0"/>
        <c:axPos val="b"/>
        <c:numFmt formatCode="General" sourceLinked="1"/>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6002"/>
        <c:crosses val="autoZero"/>
        <c:auto val="1"/>
        <c:lblAlgn val="ctr"/>
        <c:lblOffset val="100"/>
        <c:noMultiLvlLbl val="1"/>
      </c:catAx>
      <c:valAx>
        <c:axId val="6002"/>
        <c:scaling>
          <c:orientation val="minMax"/>
          <c:max val="1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6001"/>
        <c:crosses val="autoZero"/>
        <c:crossBetween val="between"/>
        <c:majorUnit val="20"/>
      </c:valAx>
      <c:catAx>
        <c:axId val="6003"/>
        <c:scaling>
          <c:orientation val="minMax"/>
        </c:scaling>
        <c:delete val="1"/>
        <c:axPos val="b"/>
        <c:numFmt formatCode="General" sourceLinked="1"/>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6004"/>
        <c:crosses val="autoZero"/>
        <c:auto val="1"/>
        <c:lblAlgn val="ctr"/>
        <c:lblOffset val="100"/>
        <c:noMultiLvlLbl val="1"/>
      </c:catAx>
      <c:valAx>
        <c:axId val="6004"/>
        <c:scaling>
          <c:orientation val="minMax"/>
          <c:max val="5.4"/>
          <c:min val="5.0"/>
        </c:scaling>
        <c:delete val="0"/>
        <c:axPos val="r"/>
        <c:numFmt formatCode="0.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6003"/>
        <c:crosses val="max"/>
        <c:crossBetween val="between"/>
        <c:majorUnit val="0.1"/>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A6A6A6"/>
                </a:solidFill>
                <a:latin typeface="Calibri"/>
              </a:defRPr>
            </a:pPr>
            <a:r>
              <a:rPr lang="en-US" sz="700" b="0" i="1">
                <a:solidFill>
                  <a:srgbClr val="A6A6A6"/>
                </a:solidFill>
                <a:latin typeface="Calibri"/>
              </a:rPr>
              <a:t>BI SBN data pending — cutoff required: 2 Oct 2026</a:t>
            </a:r>
          </a:p>
        </c:rich>
      </c:tx>
      <c:layout>
        <c:manualLayout>
          <c:xMode val="edge"/>
          <c:yMode val="edge"/>
          <c:x val="0.02"/>
          <c:y val="0.0"/>
        </c:manualLayout>
      </c:layout>
      <c:overlay val="0"/>
    </c:title>
    <c:autoTitleDeleted val="0"/>
    <c:plotArea>
      <c:layout>
        <c:manualLayout>
          <c:layoutTarget val="inner"/>
          <c:xMode val="edge"/>
          <c:yMode val="edge"/>
          <c:x val="0.04"/>
          <c:y val="0.17"/>
          <c:w val="0.79"/>
          <c:h val="0.6"/>
        </c:manualLayout>
      </c:layout>
      <c:lineChart>
        <c:grouping val="standard"/>
        <c:varyColors val="0"/>
        <c:ser>
          <c:idx val="0"/>
          <c:order val="0"/>
          <c:tx>
            <c:strRef>
              <c:f>Sheet1!$C$1</c:f>
              <c:strCache>
                <c:ptCount val="1"/>
                <c:pt idx="0">
                  <c:v>USD/IDR (R)</c:v>
                </c:pt>
              </c:strCache>
            </c:strRef>
          </c:tx>
          <c:spPr>
            <a:ln w="22225">
              <a:solidFill>
                <a:srgbClr val="ED7D31"/>
              </a:solidFill>
              <a:prstDash val="solid"/>
            </a:ln>
          </c:spPr>
          <c:marker>
            <c:symbol val="none"/>
          </c:marker>
          <c:dLbls>
            <c:dLbl>
              <c:idx val="67"/>
              <c:layout>
                <c:manualLayout>
                  <c:x val="-0.10"/>
                  <c:y val="-0.07"/>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Sheet1!$A$2:$A$69</c:f>
              <c:numCache>
                <c:formatCode>dd\-mmm\-yy</c:formatCode>
                <c:ptCount val="68"/>
                <c:pt idx="0">
                  <c:v>46204</c:v>
                </c:pt>
                <c:pt idx="1">
                  <c:v>46205</c:v>
                </c:pt>
                <c:pt idx="2">
                  <c:v>46206</c:v>
                </c:pt>
                <c:pt idx="3">
                  <c:v>46209</c:v>
                </c:pt>
                <c:pt idx="4">
                  <c:v>46210</c:v>
                </c:pt>
                <c:pt idx="5">
                  <c:v>46211</c:v>
                </c:pt>
                <c:pt idx="6">
                  <c:v>46212</c:v>
                </c:pt>
                <c:pt idx="7">
                  <c:v>46213</c:v>
                </c:pt>
                <c:pt idx="8">
                  <c:v>46216</c:v>
                </c:pt>
                <c:pt idx="9">
                  <c:v>46217</c:v>
                </c:pt>
                <c:pt idx="10">
                  <c:v>46218</c:v>
                </c:pt>
                <c:pt idx="11">
                  <c:v>46219</c:v>
                </c:pt>
                <c:pt idx="12">
                  <c:v>46220</c:v>
                </c:pt>
                <c:pt idx="13">
                  <c:v>46223</c:v>
                </c:pt>
                <c:pt idx="14">
                  <c:v>46224</c:v>
                </c:pt>
                <c:pt idx="15">
                  <c:v>46225</c:v>
                </c:pt>
                <c:pt idx="16">
                  <c:v>46226</c:v>
                </c:pt>
                <c:pt idx="17">
                  <c:v>46227</c:v>
                </c:pt>
                <c:pt idx="18">
                  <c:v>46230</c:v>
                </c:pt>
                <c:pt idx="19">
                  <c:v>46231</c:v>
                </c:pt>
                <c:pt idx="20">
                  <c:v>46232</c:v>
                </c:pt>
                <c:pt idx="21">
                  <c:v>46233</c:v>
                </c:pt>
                <c:pt idx="22">
                  <c:v>46234</c:v>
                </c:pt>
                <c:pt idx="23">
                  <c:v>46237</c:v>
                </c:pt>
                <c:pt idx="24">
                  <c:v>46238</c:v>
                </c:pt>
                <c:pt idx="25">
                  <c:v>46239</c:v>
                </c:pt>
                <c:pt idx="26">
                  <c:v>46240</c:v>
                </c:pt>
                <c:pt idx="27">
                  <c:v>46241</c:v>
                </c:pt>
                <c:pt idx="28">
                  <c:v>46244</c:v>
                </c:pt>
                <c:pt idx="29">
                  <c:v>46245</c:v>
                </c:pt>
                <c:pt idx="30">
                  <c:v>46246</c:v>
                </c:pt>
                <c:pt idx="31">
                  <c:v>46247</c:v>
                </c:pt>
                <c:pt idx="32">
                  <c:v>46248</c:v>
                </c:pt>
                <c:pt idx="33">
                  <c:v>46251</c:v>
                </c:pt>
                <c:pt idx="34">
                  <c:v>46252</c:v>
                </c:pt>
                <c:pt idx="35">
                  <c:v>46253</c:v>
                </c:pt>
                <c:pt idx="36">
                  <c:v>46254</c:v>
                </c:pt>
                <c:pt idx="37">
                  <c:v>46255</c:v>
                </c:pt>
                <c:pt idx="38">
                  <c:v>46258</c:v>
                </c:pt>
                <c:pt idx="39">
                  <c:v>46259</c:v>
                </c:pt>
                <c:pt idx="40">
                  <c:v>46260</c:v>
                </c:pt>
                <c:pt idx="41">
                  <c:v>46261</c:v>
                </c:pt>
                <c:pt idx="42">
                  <c:v>46262</c:v>
                </c:pt>
                <c:pt idx="43">
                  <c:v>46265</c:v>
                </c:pt>
                <c:pt idx="44">
                  <c:v>46266</c:v>
                </c:pt>
                <c:pt idx="45">
                  <c:v>46267</c:v>
                </c:pt>
                <c:pt idx="46">
                  <c:v>46268</c:v>
                </c:pt>
                <c:pt idx="47">
                  <c:v>46269</c:v>
                </c:pt>
                <c:pt idx="48">
                  <c:v>46272</c:v>
                </c:pt>
                <c:pt idx="49">
                  <c:v>46273</c:v>
                </c:pt>
                <c:pt idx="50">
                  <c:v>46274</c:v>
                </c:pt>
                <c:pt idx="51">
                  <c:v>46275</c:v>
                </c:pt>
                <c:pt idx="52">
                  <c:v>46276</c:v>
                </c:pt>
                <c:pt idx="53">
                  <c:v>46279</c:v>
                </c:pt>
                <c:pt idx="54">
                  <c:v>46280</c:v>
                </c:pt>
                <c:pt idx="55">
                  <c:v>46281</c:v>
                </c:pt>
                <c:pt idx="56">
                  <c:v>46282</c:v>
                </c:pt>
                <c:pt idx="57">
                  <c:v>46283</c:v>
                </c:pt>
                <c:pt idx="58">
                  <c:v>46286</c:v>
                </c:pt>
                <c:pt idx="59">
                  <c:v>46287</c:v>
                </c:pt>
                <c:pt idx="60">
                  <c:v>46288</c:v>
                </c:pt>
                <c:pt idx="61">
                  <c:v>46289</c:v>
                </c:pt>
                <c:pt idx="62">
                  <c:v>46290</c:v>
                </c:pt>
                <c:pt idx="63">
                  <c:v>46293</c:v>
                </c:pt>
                <c:pt idx="64">
                  <c:v>46294</c:v>
                </c:pt>
                <c:pt idx="65">
                  <c:v>46295</c:v>
                </c:pt>
                <c:pt idx="66">
                  <c:v>46296</c:v>
                </c:pt>
                <c:pt idx="67">
                  <c:v>46297</c:v>
                </c:pt>
              </c:numCache>
            </c:numRef>
          </c:cat>
          <c:val>
            <c:numRef>
              <c:f>Sheet1!$C$2:$C$69</c:f>
              <c:numCache>
                <c:formatCode>#,##0.0</c:formatCode>
                <c:ptCount val="68"/>
                <c:pt idx="0">
                  <c:v>17935.0</c:v>
                </c:pt>
                <c:pt idx="1">
                  <c:v>17998.0</c:v>
                </c:pt>
                <c:pt idx="2">
                  <c:v>17787.9</c:v>
                </c:pt>
                <c:pt idx="3">
                  <c:v>17998.0</c:v>
                </c:pt>
                <c:pt idx="4">
                  <c:v>18046.0</c:v>
                </c:pt>
                <c:pt idx="5">
                  <c:v>17979.0</c:v>
                </c:pt>
                <c:pt idx="6">
                  <c:v>18125.0</c:v>
                </c:pt>
                <c:pt idx="7">
                  <c:v>18125.0</c:v>
                </c:pt>
                <c:pt idx="8">
                  <c:v>18065.0</c:v>
                </c:pt>
                <c:pt idx="9">
                  <c:v>18111.0</c:v>
                </c:pt>
                <c:pt idx="10">
                  <c:v>18157.0</c:v>
                </c:pt>
                <c:pt idx="11">
                  <c:v>18068.8</c:v>
                </c:pt>
                <c:pt idx="12">
                  <c:v>17985.0</c:v>
                </c:pt>
                <c:pt idx="13">
                  <c:v>17934.0</c:v>
                </c:pt>
                <c:pt idx="14">
                  <c:v>17931.0</c:v>
                </c:pt>
                <c:pt idx="15">
                  <c:v>17911.0</c:v>
                </c:pt>
                <c:pt idx="16">
                  <c:v>17917.0</c:v>
                </c:pt>
                <c:pt idx="17">
                  <c:v>17967.0</c:v>
                </c:pt>
                <c:pt idx="18">
                  <c:v>17958.0</c:v>
                </c:pt>
                <c:pt idx="19">
                  <c:v>18053.0</c:v>
                </c:pt>
                <c:pt idx="20">
                  <c:v>18053.0</c:v>
                </c:pt>
                <c:pt idx="21">
                  <c:v>18079.0</c:v>
                </c:pt>
                <c:pt idx="22">
                  <c:v>18040.1</c:v>
                </c:pt>
                <c:pt idx="23">
                  <c:v>18030.0</c:v>
                </c:pt>
                <c:pt idx="24">
                  <c:v>17963.3</c:v>
                </c:pt>
                <c:pt idx="25">
                  <c:v>17963.0</c:v>
                </c:pt>
                <c:pt idx="26">
                  <c:v>17873.0</c:v>
                </c:pt>
                <c:pt idx="27">
                  <c:v>17912.0</c:v>
                </c:pt>
                <c:pt idx="28">
                  <c:v>17794.0</c:v>
                </c:pt>
                <c:pt idx="29">
                  <c:v>17791.0</c:v>
                </c:pt>
                <c:pt idx="30">
                  <c:v>17822.0</c:v>
                </c:pt>
                <c:pt idx="31">
                  <c:v>17853.0</c:v>
                </c:pt>
                <c:pt idx="32">
                  <c:v>17863.0</c:v>
                </c:pt>
                <c:pt idx="33">
                  <c:v>17830.0</c:v>
                </c:pt>
                <c:pt idx="34">
                  <c:v>17824.0</c:v>
                </c:pt>
                <c:pt idx="35">
                  <c:v>17768.5</c:v>
                </c:pt>
                <c:pt idx="36">
                  <c:v>17807.0</c:v>
                </c:pt>
                <c:pt idx="37">
                  <c:v>17755.0</c:v>
                </c:pt>
                <c:pt idx="38">
                  <c:v>17655.0</c:v>
                </c:pt>
                <c:pt idx="39">
                  <c:v>17714.6</c:v>
                </c:pt>
                <c:pt idx="40">
                  <c:v>17695.0</c:v>
                </c:pt>
                <c:pt idx="41">
                  <c:v>17778.0</c:v>
                </c:pt>
                <c:pt idx="42">
                  <c:v>17749.0</c:v>
                </c:pt>
                <c:pt idx="43">
                  <c:v>17749.0</c:v>
                </c:pt>
                <c:pt idx="44">
                  <c:v>17689.9003906</c:v>
                </c:pt>
                <c:pt idx="45">
                  <c:v>17697.1992188</c:v>
                </c:pt>
                <c:pt idx="46">
                  <c:v>17723.0</c:v>
                </c:pt>
                <c:pt idx="47">
                  <c:v>17618.0996094</c:v>
                </c:pt>
                <c:pt idx="48">
                  <c:v>17638.0</c:v>
                </c:pt>
                <c:pt idx="49">
                  <c:v>17664.0</c:v>
                </c:pt>
                <c:pt idx="50">
                  <c:v>17588.0</c:v>
                </c:pt>
                <c:pt idx="51">
                  <c:v>17501.0</c:v>
                </c:pt>
                <c:pt idx="52">
                  <c:v>17588.0996094</c:v>
                </c:pt>
                <c:pt idx="53">
                  <c:v>17630.0</c:v>
                </c:pt>
                <c:pt idx="54">
                  <c:v>17636.0</c:v>
                </c:pt>
                <c:pt idx="55">
                  <c:v>17665.0</c:v>
                </c:pt>
                <c:pt idx="56">
                  <c:v>17718.0</c:v>
                </c:pt>
                <c:pt idx="57">
                  <c:v>17757.0</c:v>
                </c:pt>
                <c:pt idx="58">
                  <c:v>17806.0</c:v>
                </c:pt>
                <c:pt idx="59">
                  <c:v>17846.0</c:v>
                </c:pt>
                <c:pt idx="60">
                  <c:v>17805.0</c:v>
                </c:pt>
                <c:pt idx="61">
                  <c:v>17837.3007812</c:v>
                </c:pt>
                <c:pt idx="62">
                  <c:v>17559.5</c:v>
                </c:pt>
                <c:pt idx="63">
                  <c:v>17950.0</c:v>
                </c:pt>
                <c:pt idx="64">
                  <c:v>17980.3007812</c:v>
                </c:pt>
                <c:pt idx="65">
                  <c:v>17736.4003906</c:v>
                </c:pt>
                <c:pt idx="66">
                  <c:v>17884.8007812</c:v>
                </c:pt>
                <c:pt idx="67">
                  <c:v>17922.8007812</c:v>
                </c:pt>
              </c:numCache>
            </c:numRef>
          </c:val>
          <c:smooth val="0"/>
        </c:ser>
        <c:marker val="1"/>
        <c:axId val="7001"/>
        <c:axId val="7002"/>
      </c:lineChart>
      <c:dateAx>
        <c:axId val="70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7002"/>
        <c:crosses val="autoZero"/>
        <c:auto val="1"/>
        <c:lblOffset val="100"/>
        <c:baseTimeUnit val="days"/>
        <c:majorUnit val="1"/>
        <c:majorTimeUnit val="months"/>
      </c:dateAx>
      <c:valAx>
        <c:axId val="7002"/>
        <c:scaling>
          <c:orientation val="minMax"/>
          <c:max val="18200"/>
          <c:min val="17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7001"/>
        <c:crosses val="max"/>
        <c:crossBetween val="between"/>
        <c:majorUnit val="200"/>
      </c:valAx>
      <c:spPr>
        <a:noFill/>
        <a:ln>
          <a:noFill/>
        </a:ln>
      </c:spPr>
    </c:plotArea>
    <c:legend>
      <c:legendPos val="t"/>
      <c:layout>
        <c:manualLayout>
          <c:xMode val="edge"/>
          <c:yMode val="edge"/>
          <c:x val="0.68"/>
          <c:y val="0.0"/>
          <c:w val="0.32"/>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9/29/2026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9/29/2026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29 September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29 September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29 September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29 September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29 September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29 September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29 September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29 September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29 September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29 September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29 September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29 September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29 September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29 September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29 September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29 September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29 September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29 September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29 September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29 September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29 September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29 September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29 September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29 September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29 September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29 September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29 September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29 September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29 September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29 September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29 September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29 September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29/09/2026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21" Type="http://schemas.openxmlformats.org/officeDocument/2006/relationships/chart" Target="../charts/chart1.xml"/><Relationship Id="rId22"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23"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Near-Term Fed Pricing Eases, Long Yields Stay Elevated</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October Fades, December Remains in Play.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Berdasarkan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CME FedWatch 5 Oktober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intraday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waktu pengambilan belum terverifikasi),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≥4,00% pada FOMC 28 Oktober hanya 20,5%, sementara pada FOMC 9 Desember mencapai 81,7% (4,00–4,25%: 65,9%; 4,25–4,50%: 15,8%)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Artinya,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yang lebih tinggi masih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priced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hingga Desember, meski peluangnya pada Oktober relatif kecil. Angka Desember menggambarkan distribusi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pertemuan tersebut, bukan peluang perubahan khusus di Desember, dan satu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cukup untuk menyimpulkan pergeseran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timing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Lower Policy Pricing, Sticky Long Yields.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Sepanjang 28 September–2 Oktober,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pada 4,00–4,25% turun dari 70,9%, setara level tertinggi dalam data sejak Oktober 2025, menjadi 22,1%. Namun, UST 10YR justru naik dari 5,2361% menjadi 5,2706%, atau sekitar 3,5 bps. Perbedaan arah ini menunjukkan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kebijakan jangka pendek belum diikuti penurunan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Treasury jangka panjang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periode 25 September–2 Oktober, probabilitas tersebut turun 42,1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percentage points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sementara UST 10YR naik 11,0 bps.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Still Above 5%.</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10YR masih berada di 5,2644% pada 5 Oktober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intraday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dan bertahan di atas 5% sejak 23 September. Data pekan ini belum mengukur penyebabnya secara langsung.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 inflation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10YR yang stabil di 2,33% dan lemahnya permintaan lelang UST yang kami catat pada edisi 28 September konsisten dengan peran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tetapi perlu dikonfirmasi ulang dengan data terbaru.</a:t>
            </a:r>
          </a:p>
          <a:p>
            <a:pPr marL="0" indent="0" algn="just">
              <a:lnSpc>
                <a:spcPct val="100000"/>
              </a:lnSpc>
              <a:spcBef>
                <a:spcPts val="0"/>
              </a:spcBef>
              <a:spcAft>
                <a:spcPts val="0"/>
              </a:spcAft>
              <a:buNone/>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Bottom Line: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kebijakan jangka pendek menurun, tetapi UST 10YR belum ikut turun. Selama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jangka panjang bertahan di atas 5%, penurunan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belum berarti biaya pendanaan jangka panjang lebih murah.</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Probabilitas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target rate</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Oktober pada 4,00–4,25% turun tajam sepanjang 28 September–2 Oktober, sementara UST 10YR tetap di atas 5%.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Repricing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kebijakan jangka pendek belum diikuti penurunan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jangka panjang.</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Probability of Fed Target Rate ≥4.00% (%)</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Probability of October Target Rate ≥4.00% vs. UST 10YR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CME FedWatch; Bloomberg, USGG10YR Index; supplied exports</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21"/>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22"/>
          </a:graphicData>
        </a:graphic>
      </p:graphicFrame>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Investors Are Buying the Index, Not the Market</a:t>
            </a:r>
            <a:endParaRPr lang="en-US" b="1" i="1" dirty="0"/>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Big Money, Narrow Door.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Investor masih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exposure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conviction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semakin terkonsentrasi pada segelintir saham.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Weekly fund flows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menunjukkan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net inflow</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([USD XX bn]), namun sebagian besar dana masuk ke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large-cap funds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sementara beberapa kategori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sector funds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melemah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Pola ini menunjukkan investor belum berada dalam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broad risk-on mode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lebih memilih perusahaan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scale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kuat,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tinggi. Alhasil,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headline inflow</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positif justru menyembunyikan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 leadership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semakin sempit.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AI Is Becoming Its Own Rate Problem.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AI yang selama ini menopang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mulai menciptakan tekanan baru melalui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bond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terus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untuk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data centers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compute capacity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chips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infrastructure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sehingga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corporate bond supply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meningkat ketika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sovereign funding needs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masih besar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Kondisi ini memperketat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competition for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menjaga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long-term funding costs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tinggi. Alhasil, AI kini bekerja dua arah: mendukung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sisi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menambah tekanan pada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cost of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melalui pasar obligasi.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Good Earnings Are No Longer Enough.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Saat ekspektasi sudah tinggi, kinerja di atas konsensus tidak lagi cukup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upside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besar. Micron menunjukkan kuatnya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demand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melalui kinerja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atas ekspektasi, tetapi respons saham yang terbatas ([XX%] dalam sepekan) menunjukkan optimisme sudah tercermin dalam valuasi.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long-term yields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elevated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investor akan mencermati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kemampuan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return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memadai. Alhasil,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fundamental delivery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harus semakin kuat untuk mempertahankan valuasi premium.</a:t>
            </a:r>
          </a:p>
          <a:p>
            <a:pPr marL="0" indent="0" algn="just">
              <a:lnSpc>
                <a:spcPct val="100000"/>
              </a:lnSpc>
              <a:spcBef>
                <a:spcPts val="0"/>
              </a:spcBef>
              <a:spcAft>
                <a:spcPts val="0"/>
              </a:spcAft>
              <a:buNone/>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Bottom Line: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Dana belum keluar dari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terkonsentrasi pada emiten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terbaik. AI tetap menjadi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 driver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namun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rising funding costs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menaikkan standar valuasi.</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Dana masih masuk ke </a:t>
            </a:r>
            <a:r>
              <a:rPr lang="en-US" sz="1100" b="1" dirty="0" i="1">
                <a:latin typeface="Calibri" panose="020F0502020204030204" pitchFamily="34" charset="0"/>
                <a:ea typeface="MS Mincho" panose="02020609040205080304" pitchFamily="49" charset="-128"/>
                <a:cs typeface="Times New Roman" panose="02020603050405020304" pitchFamily="18" charset="0"/>
              </a:rPr>
              <a:t>US equities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meskipun </a:t>
            </a:r>
            <a:r>
              <a:rPr lang="en-US" sz="1100" b="1" dirty="0" i="1">
                <a:latin typeface="Calibri" panose="020F0502020204030204" pitchFamily="34" charset="0"/>
                <a:ea typeface="MS Mincho" panose="02020609040205080304" pitchFamily="49" charset="-128"/>
                <a:cs typeface="Times New Roman" panose="02020603050405020304" pitchFamily="18" charset="0"/>
              </a:rPr>
              <a:t>bond yields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meningkat, tetapi alirannya semakin terkonsentrasi pada </a:t>
            </a:r>
            <a:r>
              <a:rPr lang="en-US" sz="1100" b="1" dirty="0" i="1">
                <a:latin typeface="Calibri" panose="020F0502020204030204" pitchFamily="34" charset="0"/>
                <a:ea typeface="MS Mincho" panose="02020609040205080304" pitchFamily="49" charset="-128"/>
                <a:cs typeface="Times New Roman" panose="02020603050405020304" pitchFamily="18" charset="0"/>
              </a:rPr>
              <a:t>large caps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Di saat yang sama, besarnya kebutuhan pendanaan AI mulai mendorong naik </a:t>
            </a:r>
            <a:r>
              <a:rPr lang="en-US" sz="1100" b="1" dirty="0" i="1">
                <a:latin typeface="Calibri" panose="020F0502020204030204" pitchFamily="34" charset="0"/>
                <a:ea typeface="MS Mincho" panose="02020609040205080304" pitchFamily="49" charset="-128"/>
                <a:cs typeface="Times New Roman" panose="02020603050405020304" pitchFamily="18" charset="0"/>
              </a:rPr>
              <a:t>cost of capital</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membuat </a:t>
            </a:r>
            <a:r>
              <a:rPr lang="en-US" sz="1100" b="1" dirty="0" i="1">
                <a:latin typeface="Calibri" panose="020F0502020204030204" pitchFamily="34" charset="0"/>
                <a:ea typeface="MS Mincho" panose="02020609040205080304" pitchFamily="49" charset="-128"/>
                <a:cs typeface="Times New Roman" panose="02020603050405020304" pitchFamily="18" charset="0"/>
              </a:rPr>
              <a:t>earnings delivery</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semakin penting.</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Debt Issuance (USD Bn)</a:t>
            </a:r>
            <a:endParaRPr lang="en-US" sz="1100" b="1" i="1" dirty="0"/>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US Equity Fund Flows by Category (USD Bn)</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2097155" name="Exhibit 3 Placeholder"/>
          <p:cNvSpPr/>
          <p:nvPr/>
        </p:nvSpPr>
        <p:spPr>
          <a:xfrm>
            <a:off x="354579"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
        <p:nvSpPr>
          <p:cNvPr id="2097156" name="Exhibit 4 Placeholder"/>
          <p:cNvSpPr/>
          <p:nvPr/>
        </p:nvSpPr>
        <p:spPr>
          <a:xfrm>
            <a:off x="3530765"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Tree>
    <p:extLst>
      <p:ext uri="{BB962C8B-B14F-4D97-AF65-F5344CB8AC3E}">
        <p14:creationId xmlns:p14="http://schemas.microsoft.com/office/powerpoint/2010/main" val="3227655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BI meningkatkan pembelian SBN untuk menjaga likuiditas domestik ketika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global yields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tetap tinggi. Namun, tekanan masih terlihat pada rupiah dan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foreign flow</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sementara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trade surplus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yang membaik baru memberikan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temporary buffer</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bagi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external balance</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Liquidity Has a Price</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Yahoo Finance IDR=X (as of 2 Oct 2026); BI SBN data pending</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BI Government Bond Purchases vs. USD/IDR</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Bond Market Has a Buyer.</a:t>
            </a:r>
            <a:r>
              <a:rPr lang="en-US" sz="1100" b="0" i="0" dirty="0">
                <a:ea typeface="MS Mincho" panose="02020609040205080304" pitchFamily="49" charset="-128"/>
                <a:cs typeface="Times New Roman" panose="02020603050405020304" pitchFamily="18" charset="0"/>
              </a:rPr>
              <a:t xml:space="preserve"> Ketika </a:t>
            </a:r>
            <a:r>
              <a:rPr lang="en-US" sz="1100" b="0" i="1" dirty="0">
                <a:ea typeface="MS Mincho" panose="02020609040205080304" pitchFamily="49" charset="-128"/>
                <a:cs typeface="Times New Roman" panose="02020603050405020304" pitchFamily="18" charset="0"/>
              </a:rPr>
              <a:t>global investors</a:t>
            </a:r>
            <a:r>
              <a:rPr lang="en-US" sz="1100" b="0" i="0" dirty="0">
                <a:ea typeface="MS Mincho" panose="02020609040205080304" pitchFamily="49" charset="-128"/>
                <a:cs typeface="Times New Roman" panose="02020603050405020304" pitchFamily="18" charset="0"/>
              </a:rPr>
              <a:t xml:space="preserve"> meminta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lebih tinggi, BI semakin aktif menjaga likuiditas melalui pembelian SBN di pasar domestik ([IDR XX tn] YTD). Langkah ini meredam tekanan pada </a:t>
            </a:r>
            <a:r>
              <a:rPr lang="en-US" sz="1100" b="0" i="1" dirty="0">
                <a:ea typeface="MS Mincho" panose="02020609040205080304" pitchFamily="49" charset="-128"/>
                <a:cs typeface="Times New Roman" panose="02020603050405020304" pitchFamily="18" charset="0"/>
              </a:rPr>
              <a:t>domestic funding conditions</a:t>
            </a:r>
            <a:r>
              <a:rPr lang="en-US" sz="1100" b="0" i="0" dirty="0">
                <a:ea typeface="MS Mincho" panose="02020609040205080304" pitchFamily="49" charset="-128"/>
                <a:cs typeface="Times New Roman" panose="02020603050405020304" pitchFamily="18" charset="0"/>
              </a:rPr>
              <a:t xml:space="preserve"> dan menjaga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SBN relatif stabil, tetapi rupiah tetap sensitif terhadap UST dan harga energi. Alhasil, ketika </a:t>
            </a:r>
            <a:r>
              <a:rPr lang="en-US" sz="1100" b="0" i="1" dirty="0">
                <a:ea typeface="MS Mincho" panose="02020609040205080304" pitchFamily="49" charset="-128"/>
                <a:cs typeface="Times New Roman" panose="02020603050405020304" pitchFamily="18" charset="0"/>
              </a:rPr>
              <a:t>adjustment</a:t>
            </a:r>
            <a:r>
              <a:rPr lang="en-US" sz="1100" b="0" i="0" dirty="0">
                <a:ea typeface="MS Mincho" panose="02020609040205080304" pitchFamily="49" charset="-128"/>
                <a:cs typeface="Times New Roman" panose="02020603050405020304" pitchFamily="18" charset="0"/>
              </a:rPr>
              <a:t xml:space="preserve"> di pasar obligasi diredam oleh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sebagian tekanan berpotensi berpindah ke </a:t>
            </a:r>
            <a:r>
              <a:rPr lang="en-US" sz="1100" b="0" i="1" dirty="0">
                <a:ea typeface="MS Mincho" panose="02020609040205080304" pitchFamily="49" charset="-128"/>
                <a:cs typeface="Times New Roman" panose="02020603050405020304" pitchFamily="18" charset="0"/>
              </a:rPr>
              <a:t>FX market</a:t>
            </a:r>
            <a:r>
              <a:rPr lang="en-US" sz="1100" b="0" i="0" dirty="0">
                <a:ea typeface="MS Mincho" panose="02020609040205080304" pitchFamily="49" charset="-128"/>
                <a:cs typeface="Times New Roman" panose="02020603050405020304" pitchFamily="18" charset="0"/>
              </a:rPr>
              <a:t xml:space="preserve"> </a:t>
            </a:r>
            <a:r>
              <a:rPr lang="en-US" sz="1100" b="1" i="0" dirty="0">
                <a:ea typeface="MS Mincho" panose="02020609040205080304" pitchFamily="49" charset="-128"/>
                <a:cs typeface="Times New Roman" panose="02020603050405020304" pitchFamily="18" charset="0"/>
              </a:rPr>
              <a:t>(Exhibit 5).</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Surplus Buys Time, Not Safety.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Agustus yang naik ke [USD XX bn] menambah </a:t>
            </a:r>
            <a:r>
              <a:rPr lang="en-US" sz="1100" b="0" i="1" dirty="0">
                <a:ea typeface="MS Mincho" panose="02020609040205080304" pitchFamily="49" charset="-128"/>
                <a:cs typeface="Times New Roman" panose="02020603050405020304" pitchFamily="18" charset="0"/>
              </a:rPr>
              <a:t>external buffer</a:t>
            </a:r>
            <a:r>
              <a:rPr lang="en-US" sz="1100" b="0" i="0" dirty="0">
                <a:ea typeface="MS Mincho" panose="02020609040205080304" pitchFamily="49" charset="-128"/>
                <a:cs typeface="Times New Roman" panose="02020603050405020304" pitchFamily="18" charset="0"/>
              </a:rPr>
              <a:t xml:space="preserve"> rupiah, tetapi kualitasnya tidak sekuat </a:t>
            </a:r>
            <a:r>
              <a:rPr lang="en-US" sz="1100" b="0" i="1" dirty="0">
                <a:ea typeface="MS Mincho" panose="02020609040205080304" pitchFamily="49" charset="-128"/>
                <a:cs typeface="Times New Roman" panose="02020603050405020304" pitchFamily="18" charset="0"/>
              </a:rPr>
              <a:t>headline</a:t>
            </a:r>
            <a:r>
              <a:rPr lang="en-US" sz="1100" b="0" i="0" dirty="0">
                <a:ea typeface="MS Mincho" panose="02020609040205080304" pitchFamily="49" charset="-128"/>
                <a:cs typeface="Times New Roman" panose="02020603050405020304" pitchFamily="18" charset="0"/>
              </a:rPr>
              <a:t xml:space="preserve">. Ekspor masih tumbuh, namun </a:t>
            </a:r>
            <a:r>
              <a:rPr lang="en-US" sz="1100" b="0" i="1" dirty="0">
                <a:ea typeface="MS Mincho" panose="02020609040205080304" pitchFamily="49" charset="-128"/>
                <a:cs typeface="Times New Roman" panose="02020603050405020304" pitchFamily="18" charset="0"/>
              </a:rPr>
              <a:t>surprise</a:t>
            </a:r>
            <a:r>
              <a:rPr lang="en-US" sz="1100" b="0" i="0" dirty="0">
                <a:ea typeface="MS Mincho" panose="02020609040205080304" pitchFamily="49" charset="-128"/>
                <a:cs typeface="Times New Roman" panose="02020603050405020304" pitchFamily="18" charset="0"/>
              </a:rPr>
              <a:t xml:space="preserve"> terutama datang dari impor yang jauh di bawah ekspektasi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Ini belum menandakan perbaikan struktural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 xml:space="preserve">, apalagi saat harga minyak tinggi berpotensi menambah </a:t>
            </a:r>
            <a:r>
              <a:rPr lang="en-US" sz="1100" b="0" i="1" dirty="0">
                <a:ea typeface="MS Mincho" panose="02020609040205080304" pitchFamily="49" charset="-128"/>
                <a:cs typeface="Times New Roman" panose="02020603050405020304" pitchFamily="18" charset="0"/>
              </a:rPr>
              <a:t>import bill</a:t>
            </a:r>
            <a:r>
              <a:rPr lang="en-US" sz="1100" b="0" i="0" dirty="0">
                <a:ea typeface="MS Mincho" panose="02020609040205080304" pitchFamily="49" charset="-128"/>
                <a:cs typeface="Times New Roman" panose="02020603050405020304" pitchFamily="18" charset="0"/>
              </a:rPr>
              <a:t xml:space="preserve">. Alhasil,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lebih banyak membeli waktu bagi rupiah, bukan menghapus </a:t>
            </a:r>
            <a:r>
              <a:rPr lang="en-US" sz="1100" b="0" i="1" dirty="0">
                <a:ea typeface="MS Mincho" panose="02020609040205080304" pitchFamily="49" charset="-128"/>
                <a:cs typeface="Times New Roman" panose="02020603050405020304" pitchFamily="18" charset="0"/>
              </a:rPr>
              <a:t>external vulnerability</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Inflation Gives BI Room, Markets Take It Away.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Core inflation</a:t>
            </a:r>
            <a:r>
              <a:rPr lang="en-US" sz="1100" b="0" i="0" dirty="0">
                <a:ea typeface="MS Mincho" panose="02020609040205080304" pitchFamily="49" charset="-128"/>
                <a:cs typeface="Times New Roman" panose="02020603050405020304" pitchFamily="18" charset="0"/>
              </a:rPr>
              <a:t xml:space="preserve"> September yang terkendali ([XX%] YoY) menunjukkan </a:t>
            </a:r>
            <a:r>
              <a:rPr lang="en-US" sz="1100" b="0" i="1" dirty="0">
                <a:ea typeface="MS Mincho" panose="02020609040205080304" pitchFamily="49" charset="-128"/>
                <a:cs typeface="Times New Roman" panose="02020603050405020304" pitchFamily="18" charset="0"/>
              </a:rPr>
              <a:t>domestic demand</a:t>
            </a:r>
            <a:r>
              <a:rPr lang="en-US" sz="1100" b="0" i="0" dirty="0">
                <a:ea typeface="MS Mincho" panose="02020609040205080304" pitchFamily="49" charset="-128"/>
                <a:cs typeface="Times New Roman" panose="02020603050405020304" pitchFamily="18" charset="0"/>
              </a:rPr>
              <a:t xml:space="preserve"> belum memicu </a:t>
            </a:r>
            <a:r>
              <a:rPr lang="en-US" sz="1100" b="0" i="1" dirty="0">
                <a:ea typeface="MS Mincho" panose="02020609040205080304" pitchFamily="49" charset="-128"/>
                <a:cs typeface="Times New Roman" panose="02020603050405020304" pitchFamily="18" charset="0"/>
              </a:rPr>
              <a:t>overheating</a:t>
            </a:r>
            <a:r>
              <a:rPr lang="en-US" sz="1100" b="0" i="0" dirty="0">
                <a:ea typeface="MS Mincho" panose="02020609040205080304" pitchFamily="49" charset="-128"/>
                <a:cs typeface="Times New Roman" panose="02020603050405020304" pitchFamily="18" charset="0"/>
              </a:rPr>
              <a:t xml:space="preserve">, meski tekanan </a:t>
            </a:r>
            <a:r>
              <a:rPr lang="en-US" sz="1100" b="0" i="1" dirty="0">
                <a:ea typeface="MS Mincho" panose="02020609040205080304" pitchFamily="49" charset="-128"/>
                <a:cs typeface="Times New Roman" panose="02020603050405020304" pitchFamily="18" charset="0"/>
              </a:rPr>
              <a:t>wholesale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input prices</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imported inflation</a:t>
            </a:r>
            <a:r>
              <a:rPr lang="en-US" sz="1100" b="0" i="0" dirty="0">
                <a:ea typeface="MS Mincho" panose="02020609040205080304" pitchFamily="49" charset="-128"/>
                <a:cs typeface="Times New Roman" panose="02020603050405020304" pitchFamily="18" charset="0"/>
              </a:rPr>
              <a:t xml:space="preserve"> belum hilang. Dengan rupiah yang sensitif terhadap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harga energi, </a:t>
            </a:r>
            <a:r>
              <a:rPr lang="en-US" sz="1100" b="0" i="1" dirty="0">
                <a:ea typeface="MS Mincho" panose="02020609040205080304" pitchFamily="49" charset="-128"/>
                <a:cs typeface="Times New Roman" panose="02020603050405020304" pitchFamily="18" charset="0"/>
              </a:rPr>
              <a:t>policy constraint</a:t>
            </a:r>
            <a:r>
              <a:rPr lang="en-US" sz="1100" b="0" i="0" dirty="0">
                <a:ea typeface="MS Mincho" panose="02020609040205080304" pitchFamily="49" charset="-128"/>
                <a:cs typeface="Times New Roman" panose="02020603050405020304" pitchFamily="18" charset="0"/>
              </a:rPr>
              <a:t xml:space="preserve"> BI lebih banyak datang dari </a:t>
            </a:r>
            <a:r>
              <a:rPr lang="en-US" sz="1100" b="0" i="1" dirty="0">
                <a:ea typeface="MS Mincho" panose="02020609040205080304" pitchFamily="49" charset="-128"/>
                <a:cs typeface="Times New Roman" panose="02020603050405020304" pitchFamily="18" charset="0"/>
              </a:rPr>
              <a:t>external stability</a:t>
            </a:r>
            <a:r>
              <a:rPr lang="en-US" sz="1100" b="0" i="0" dirty="0">
                <a:ea typeface="MS Mincho" panose="02020609040205080304" pitchFamily="49" charset="-128"/>
                <a:cs typeface="Times New Roman" panose="02020603050405020304" pitchFamily="18" charset="0"/>
              </a:rPr>
              <a:t xml:space="preserve">. Alhasil, ruang </a:t>
            </a:r>
            <a:r>
              <a:rPr lang="en-US" sz="1100" b="0" i="1" dirty="0">
                <a:ea typeface="MS Mincho" panose="02020609040205080304" pitchFamily="49" charset="-128"/>
                <a:cs typeface="Times New Roman" panose="02020603050405020304" pitchFamily="18" charset="0"/>
              </a:rPr>
              <a:t>easing</a:t>
            </a:r>
            <a:r>
              <a:rPr lang="en-US" sz="1100" b="0" i="0" dirty="0">
                <a:ea typeface="MS Mincho" panose="02020609040205080304" pitchFamily="49" charset="-128"/>
                <a:cs typeface="Times New Roman" panose="02020603050405020304" pitchFamily="18" charset="0"/>
              </a:rPr>
              <a:t xml:space="preserve"> tetap terbatas meskipun inflasi domestik bukan masalah utama.</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Good Macro, Bad Tape.</a:t>
            </a:r>
            <a:r>
              <a:rPr lang="en-US" sz="1100" b="0" i="0" dirty="0">
                <a:ea typeface="MS Mincho" panose="02020609040205080304" pitchFamily="49" charset="-128"/>
                <a:cs typeface="Times New Roman" panose="02020603050405020304" pitchFamily="18" charset="0"/>
              </a:rPr>
              <a:t xml:space="preserve"> Data makro membaik, tetapi investor asing belum menunjukkan </a:t>
            </a:r>
            <a:r>
              <a:rPr lang="en-US" sz="1100" b="0" i="1" dirty="0">
                <a:ea typeface="MS Mincho" panose="02020609040205080304" pitchFamily="49" charset="-128"/>
                <a:cs typeface="Times New Roman" panose="02020603050405020304" pitchFamily="18" charset="0"/>
              </a:rPr>
              <a:t>conviction</a:t>
            </a:r>
            <a:r>
              <a:rPr lang="en-US" sz="1100" b="0" i="0" dirty="0">
                <a:ea typeface="MS Mincho" panose="02020609040205080304" pitchFamily="49" charset="-128"/>
                <a:cs typeface="Times New Roman" panose="02020603050405020304" pitchFamily="18" charset="0"/>
              </a:rPr>
              <a:t xml:space="preserve"> untuk kembali ke saham Indonesia. </a:t>
            </a:r>
            <a:r>
              <a:rPr lang="en-US" sz="1100" b="0" i="1" dirty="0">
                <a:ea typeface="MS Mincho" panose="02020609040205080304" pitchFamily="49" charset="-128"/>
                <a:cs typeface="Times New Roman" panose="02020603050405020304" pitchFamily="18" charset="0"/>
              </a:rPr>
              <a:t>Foreign selling</a:t>
            </a:r>
            <a:r>
              <a:rPr lang="en-US" sz="1100" b="0" i="0" dirty="0">
                <a:ea typeface="MS Mincho" panose="02020609040205080304" pitchFamily="49" charset="-128"/>
                <a:cs typeface="Times New Roman" panose="02020603050405020304" pitchFamily="18" charset="0"/>
              </a:rPr>
              <a:t xml:space="preserve"> ([IDR XX tn] dalam sepekan) berlanjut di saham </a:t>
            </a:r>
            <a:r>
              <a:rPr lang="en-US" sz="1100" b="0" i="1" dirty="0">
                <a:ea typeface="MS Mincho" panose="02020609040205080304" pitchFamily="49" charset="-128"/>
                <a:cs typeface="Times New Roman" panose="02020603050405020304" pitchFamily="18" charset="0"/>
              </a:rPr>
              <a:t>large-cap</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positioning</a:t>
            </a:r>
            <a:r>
              <a:rPr lang="en-US" sz="1100" b="0" i="0" dirty="0">
                <a:ea typeface="MS Mincho" panose="02020609040205080304" pitchFamily="49" charset="-128"/>
                <a:cs typeface="Times New Roman" panose="02020603050405020304" pitchFamily="18" charset="0"/>
              </a:rPr>
              <a:t xml:space="preserve"> lebih ditentukan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relative return</a:t>
            </a:r>
            <a:r>
              <a:rPr lang="en-US" sz="1100" b="0" i="0" dirty="0">
                <a:ea typeface="MS Mincho" panose="02020609040205080304" pitchFamily="49" charset="-128"/>
                <a:cs typeface="Times New Roman" panose="02020603050405020304" pitchFamily="18" charset="0"/>
              </a:rPr>
              <a:t xml:space="preserve">. Alhasil, pelemahan pasar mencerminkan </a:t>
            </a:r>
            <a:r>
              <a:rPr lang="en-US" sz="1100" b="0" i="1" dirty="0">
                <a:ea typeface="MS Mincho" panose="02020609040205080304" pitchFamily="49" charset="-128"/>
                <a:cs typeface="Times New Roman" panose="02020603050405020304" pitchFamily="18" charset="0"/>
              </a:rPr>
              <a:t>external pressure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bukan </a:t>
            </a:r>
            <a:r>
              <a:rPr lang="en-US" sz="1100" b="0" i="1" dirty="0">
                <a:ea typeface="MS Mincho" panose="02020609040205080304" pitchFamily="49" charset="-128"/>
                <a:cs typeface="Times New Roman" panose="02020603050405020304" pitchFamily="18" charset="0"/>
              </a:rPr>
              <a:t>deterioration</a:t>
            </a:r>
            <a:r>
              <a:rPr lang="en-US" sz="1100" b="0" i="0" dirty="0">
                <a:ea typeface="MS Mincho" panose="02020609040205080304" pitchFamily="49" charset="-128"/>
                <a:cs typeface="Times New Roman" panose="02020603050405020304" pitchFamily="18" charset="0"/>
              </a:rPr>
              <a:t xml:space="preserve"> fundamental domestik.</a:t>
            </a:r>
          </a:p>
          <a:p>
            <a:pPr marL="0" indent="0" algn="just">
              <a:lnSpc>
                <a:spcPct val="100000"/>
              </a:lnSpc>
              <a:spcBef>
                <a:spcPts val="0"/>
              </a:spcBef>
              <a:spcAft>
                <a:spcPts val="0"/>
              </a:spcAft>
              <a:buNone/>
            </a:pPr>
            <a:r>
              <a:rPr lang="en-US" sz="1100" b="1" i="1" dirty="0">
                <a:ea typeface="MS Mincho" panose="02020609040205080304" pitchFamily="49" charset="-128"/>
                <a:cs typeface="Times New Roman" panose="02020603050405020304" pitchFamily="18" charset="0"/>
              </a:rPr>
              <a:t>Bottom Line:</a:t>
            </a:r>
            <a:r>
              <a:rPr lang="en-US" sz="1100" b="0" i="0" dirty="0">
                <a:ea typeface="MS Mincho" panose="02020609040205080304" pitchFamily="49" charset="-128"/>
                <a:cs typeface="Times New Roman" panose="02020603050405020304" pitchFamily="18" charset="0"/>
              </a:rPr>
              <a:t xml:space="preserve"> Fundamental domestik belum menjadi sumber tekanan utama; tantangan datang dari </a:t>
            </a:r>
            <a:r>
              <a:rPr lang="en-US" sz="1100" b="0" i="1" dirty="0">
                <a:ea typeface="MS Mincho" panose="02020609040205080304" pitchFamily="49" charset="-128"/>
                <a:cs typeface="Times New Roman" panose="02020603050405020304" pitchFamily="18" charset="0"/>
              </a:rPr>
              <a:t>high global yields</a:t>
            </a:r>
            <a:r>
              <a:rPr lang="en-US" sz="1100" b="0" i="0" dirty="0">
                <a:ea typeface="MS Mincho" panose="02020609040205080304" pitchFamily="49" charset="-128"/>
                <a:cs typeface="Times New Roman" panose="02020603050405020304" pitchFamily="18" charset="0"/>
              </a:rPr>
              <a:t xml:space="preserve">, rupiah,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BI perlu menyeimbangkan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FX stability</a:t>
            </a:r>
            <a:r>
              <a:rPr lang="en-US" sz="1100" b="0" i="0" dirty="0">
                <a:ea typeface="MS Mincho" panose="02020609040205080304" pitchFamily="49" charset="-128"/>
                <a:cs typeface="Times New Roman" panose="02020603050405020304" pitchFamily="18" charset="0"/>
              </a:rPr>
              <a:t>.</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23"/>
          </a:graphicData>
        </a:graphic>
      </p:graphicFrame>
      <p:sp>
        <p:nvSpPr>
          <p:cNvPr id="1048602" name="Exhibit 6 Placeholder"/>
          <p:cNvSpPr/>
          <p:nvPr/>
        </p:nvSpPr>
        <p:spPr>
          <a:xfrm>
            <a:off x="3530765"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Tree>
    <p:extLst>
      <p:ext uri="{BB962C8B-B14F-4D97-AF65-F5344CB8AC3E}">
        <p14:creationId xmlns:p14="http://schemas.microsoft.com/office/powerpoint/2010/main" val="2377642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extLst/>
          </p:nvPr>
        </p:nvGraphicFramePr>
        <p:xfrm>
          <a:off x="295219" y="4843314"/>
          <a:ext cx="2997281" cy="1612011"/>
        </p:xfrm>
        <a:graphic>
          <a:graphicData uri="http://schemas.openxmlformats.org/drawingml/2006/table">
            <a:tbl>
              <a:tblPr/>
              <a:tblGrid>
                <a:gridCol w="1080100">
                  <a:extLst>
                    <a:ext uri="{9D8B030D-6E8A-4147-A177-3AD203B41FA5}">
                      <a16:colId xmlns="" xmlns:a16="http://schemas.microsoft.com/office/drawing/2014/main" val="20000"/>
                    </a:ext>
                  </a:extLst>
                </a:gridCol>
                <a:gridCol w="6350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6" name="Table 5"/>
          <p:cNvGraphicFramePr>
            <a:graphicFrameLocks noGrp="1"/>
          </p:cNvGraphicFramePr>
          <p:nvPr>
            <p:extLst/>
          </p:nvPr>
        </p:nvGraphicFramePr>
        <p:xfrm>
          <a:off x="3505197" y="4843314"/>
          <a:ext cx="3127377" cy="1612123"/>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9">
                  <a:extLst>
                    <a:ext uri="{9D8B030D-6E8A-4147-A177-3AD203B41FA5}">
                      <a16:colId xmlns="" xmlns:a16="http://schemas.microsoft.com/office/drawing/2014/main" val="20001"/>
                    </a:ext>
                  </a:extLst>
                </a:gridCol>
                <a:gridCol w="427011">
                  <a:extLst>
                    <a:ext uri="{9D8B030D-6E8A-4147-A177-3AD203B41FA5}">
                      <a16:colId xmlns="" xmlns:a16="http://schemas.microsoft.com/office/drawing/2014/main" val="20002"/>
                    </a:ext>
                  </a:extLst>
                </a:gridCol>
                <a:gridCol w="427011">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8" name="Table 7"/>
          <p:cNvGraphicFramePr>
            <a:graphicFrameLocks noGrp="1"/>
          </p:cNvGraphicFramePr>
          <p:nvPr>
            <p:extLst/>
          </p:nvPr>
        </p:nvGraphicFramePr>
        <p:xfrm>
          <a:off x="3505197" y="2330278"/>
          <a:ext cx="3127377" cy="2047201"/>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7">
                  <a:extLst>
                    <a:ext uri="{9D8B030D-6E8A-4147-A177-3AD203B41FA5}">
                      <a16:colId xmlns="" xmlns:a16="http://schemas.microsoft.com/office/drawing/2014/main" val="20001"/>
                    </a:ext>
                  </a:extLst>
                </a:gridCol>
                <a:gridCol w="427012">
                  <a:extLst>
                    <a:ext uri="{9D8B030D-6E8A-4147-A177-3AD203B41FA5}">
                      <a16:colId xmlns="" xmlns:a16="http://schemas.microsoft.com/office/drawing/2014/main" val="20002"/>
                    </a:ext>
                  </a:extLst>
                </a:gridCol>
                <a:gridCol w="427012">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2"/>
                  </a:ext>
                </a:extLst>
              </a:tr>
            </a:tbl>
          </a:graphicData>
        </a:graphic>
      </p:graphicFrame>
      <p:graphicFrame>
        <p:nvGraphicFramePr>
          <p:cNvPr id="10" name="Table 9"/>
          <p:cNvGraphicFramePr>
            <a:graphicFrameLocks noGrp="1"/>
          </p:cNvGraphicFramePr>
          <p:nvPr>
            <p:extLst/>
          </p:nvPr>
        </p:nvGraphicFramePr>
        <p:xfrm>
          <a:off x="290457" y="2331639"/>
          <a:ext cx="2994081" cy="173077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0"/>
                  </a:ext>
                </a:extLst>
              </a:tr>
            </a:tbl>
          </a:graphicData>
        </a:graphic>
      </p:graphicFrame>
      <p:graphicFrame>
        <p:nvGraphicFramePr>
          <p:cNvPr id="14" name="Table 13"/>
          <p:cNvGraphicFramePr>
            <a:graphicFrameLocks noGrp="1"/>
          </p:cNvGraphicFramePr>
          <p:nvPr>
            <p:extLst/>
          </p:nvPr>
        </p:nvGraphicFramePr>
        <p:xfrm>
          <a:off x="290457" y="7045746"/>
          <a:ext cx="2994081" cy="126005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8"/>
                  </a:ext>
                </a:extLst>
              </a:tr>
            </a:tbl>
          </a:graphicData>
        </a:graphic>
      </p:graphicFrame>
      <p:graphicFrame>
        <p:nvGraphicFramePr>
          <p:cNvPr id="22" name="Table 21"/>
          <p:cNvGraphicFramePr>
            <a:graphicFrameLocks noGrp="1"/>
          </p:cNvGraphicFramePr>
          <p:nvPr>
            <p:extLst/>
          </p:nvPr>
        </p:nvGraphicFramePr>
        <p:xfrm>
          <a:off x="3505199" y="7045747"/>
          <a:ext cx="3127377" cy="609600"/>
        </p:xfrm>
        <a:graphic>
          <a:graphicData uri="http://schemas.openxmlformats.org/drawingml/2006/table">
            <a:tbl>
              <a:tblPr/>
              <a:tblGrid>
                <a:gridCol w="1295401">
                  <a:extLst>
                    <a:ext uri="{9D8B030D-6E8A-4147-A177-3AD203B41FA5}">
                      <a16:colId xmlns="" xmlns:a16="http://schemas.microsoft.com/office/drawing/2014/main" val="20000"/>
                    </a:ext>
                  </a:extLst>
                </a:gridCol>
                <a:gridCol w="457994">
                  <a:extLst>
                    <a:ext uri="{9D8B030D-6E8A-4147-A177-3AD203B41FA5}">
                      <a16:colId xmlns="" xmlns:a16="http://schemas.microsoft.com/office/drawing/2014/main" val="20001"/>
                    </a:ext>
                  </a:extLst>
                </a:gridCol>
                <a:gridCol w="457994">
                  <a:extLst>
                    <a:ext uri="{9D8B030D-6E8A-4147-A177-3AD203B41FA5}">
                      <a16:colId xmlns="" xmlns:a16="http://schemas.microsoft.com/office/drawing/2014/main" val="20002"/>
                    </a:ext>
                  </a:extLst>
                </a:gridCol>
                <a:gridCol w="457994">
                  <a:extLst>
                    <a:ext uri="{9D8B030D-6E8A-4147-A177-3AD203B41FA5}">
                      <a16:colId xmlns="" xmlns:a16="http://schemas.microsoft.com/office/drawing/2014/main" val="20003"/>
                    </a:ext>
                  </a:extLst>
                </a:gridCol>
                <a:gridCol w="457994">
                  <a:extLst>
                    <a:ext uri="{9D8B030D-6E8A-4147-A177-3AD203B41FA5}">
                      <a16:colId xmlns=""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2"/>
                  </a:ext>
                </a:extLst>
              </a:tr>
            </a:tbl>
          </a:graphicData>
        </a:graphic>
      </p:graphicFrame>
      <p:grpSp>
        <p:nvGrpSpPr>
          <p:cNvPr id="20" name="Group 19">
            <a:extLst>
              <a:ext uri="{FF2B5EF4-FFF2-40B4-BE49-F238E27FC236}">
                <a16:creationId xmlns=""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 xmlns:a16="http://schemas.microsoft.com/office/drawing/2014/main" id="{92C92BE2-1A26-DCA2-1425-0AA1741325AB}"/>
              </a:ext>
            </a:extLst>
          </p:cNvPr>
          <p:cNvGraphicFramePr>
            <a:graphicFrameLocks noGrp="1"/>
          </p:cNvGraphicFramePr>
          <p:nvPr>
            <p:extLst/>
          </p:nvPr>
        </p:nvGraphicFramePr>
        <p:xfrm>
          <a:off x="327025" y="1905000"/>
          <a:ext cx="6305549" cy="2759975"/>
        </p:xfrm>
        <a:graphic>
          <a:graphicData uri="http://schemas.openxmlformats.org/drawingml/2006/table">
            <a:tbl>
              <a:tblPr/>
              <a:tblGrid>
                <a:gridCol w="2378781">
                  <a:extLst>
                    <a:ext uri="{9D8B030D-6E8A-4147-A177-3AD203B41FA5}">
                      <a16:colId xmlns="" xmlns:a16="http://schemas.microsoft.com/office/drawing/2014/main" val="3984479303"/>
                    </a:ext>
                  </a:extLst>
                </a:gridCol>
                <a:gridCol w="490011">
                  <a:extLst>
                    <a:ext uri="{9D8B030D-6E8A-4147-A177-3AD203B41FA5}">
                      <a16:colId xmlns="" xmlns:a16="http://schemas.microsoft.com/office/drawing/2014/main" val="1443360456"/>
                    </a:ext>
                  </a:extLst>
                </a:gridCol>
                <a:gridCol w="543467">
                  <a:extLst>
                    <a:ext uri="{9D8B030D-6E8A-4147-A177-3AD203B41FA5}">
                      <a16:colId xmlns="" xmlns:a16="http://schemas.microsoft.com/office/drawing/2014/main" val="3887741517"/>
                    </a:ext>
                  </a:extLst>
                </a:gridCol>
                <a:gridCol w="490011">
                  <a:extLst>
                    <a:ext uri="{9D8B030D-6E8A-4147-A177-3AD203B41FA5}">
                      <a16:colId xmlns="" xmlns:a16="http://schemas.microsoft.com/office/drawing/2014/main" val="474306127"/>
                    </a:ext>
                  </a:extLst>
                </a:gridCol>
                <a:gridCol w="490011">
                  <a:extLst>
                    <a:ext uri="{9D8B030D-6E8A-4147-A177-3AD203B41FA5}">
                      <a16:colId xmlns="" xmlns:a16="http://schemas.microsoft.com/office/drawing/2014/main" val="3509474900"/>
                    </a:ext>
                  </a:extLst>
                </a:gridCol>
                <a:gridCol w="490011">
                  <a:extLst>
                    <a:ext uri="{9D8B030D-6E8A-4147-A177-3AD203B41FA5}">
                      <a16:colId xmlns="" xmlns:a16="http://schemas.microsoft.com/office/drawing/2014/main" val="1189944801"/>
                    </a:ext>
                  </a:extLst>
                </a:gridCol>
                <a:gridCol w="474419">
                  <a:extLst>
                    <a:ext uri="{9D8B030D-6E8A-4147-A177-3AD203B41FA5}">
                      <a16:colId xmlns="" xmlns:a16="http://schemas.microsoft.com/office/drawing/2014/main" val="149569299"/>
                    </a:ext>
                  </a:extLst>
                </a:gridCol>
                <a:gridCol w="474419">
                  <a:extLst>
                    <a:ext uri="{9D8B030D-6E8A-4147-A177-3AD203B41FA5}">
                      <a16:colId xmlns="" xmlns:a16="http://schemas.microsoft.com/office/drawing/2014/main" val="432537367"/>
                    </a:ext>
                  </a:extLst>
                </a:gridCol>
                <a:gridCol w="474419">
                  <a:extLst>
                    <a:ext uri="{9D8B030D-6E8A-4147-A177-3AD203B41FA5}">
                      <a16:colId xmlns=""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 xmlns:a16="http://schemas.microsoft.com/office/drawing/2014/main" val="2569539944"/>
                  </a:ext>
                </a:extLst>
              </a:tr>
            </a:tbl>
          </a:graphicData>
        </a:graphic>
      </p:graphicFrame>
      <p:graphicFrame>
        <p:nvGraphicFramePr>
          <p:cNvPr id="13" name="Table 12">
            <a:extLst>
              <a:ext uri="{FF2B5EF4-FFF2-40B4-BE49-F238E27FC236}">
                <a16:creationId xmlns="" xmlns:a16="http://schemas.microsoft.com/office/drawing/2014/main" id="{631383FA-742C-FAA0-6E10-A0E2EB999ADC}"/>
              </a:ext>
            </a:extLst>
          </p:cNvPr>
          <p:cNvGraphicFramePr>
            <a:graphicFrameLocks noGrp="1"/>
          </p:cNvGraphicFramePr>
          <p:nvPr>
            <p:extLst/>
          </p:nvPr>
        </p:nvGraphicFramePr>
        <p:xfrm>
          <a:off x="327025" y="5048423"/>
          <a:ext cx="6327775" cy="3127178"/>
        </p:xfrm>
        <a:graphic>
          <a:graphicData uri="http://schemas.openxmlformats.org/drawingml/2006/table">
            <a:tbl>
              <a:tblPr/>
              <a:tblGrid>
                <a:gridCol w="1240350">
                  <a:extLst>
                    <a:ext uri="{9D8B030D-6E8A-4147-A177-3AD203B41FA5}">
                      <a16:colId xmlns="" xmlns:a16="http://schemas.microsoft.com/office/drawing/2014/main" val="20000"/>
                    </a:ext>
                  </a:extLst>
                </a:gridCol>
                <a:gridCol w="2275081">
                  <a:extLst>
                    <a:ext uri="{9D8B030D-6E8A-4147-A177-3AD203B41FA5}">
                      <a16:colId xmlns="" xmlns:a16="http://schemas.microsoft.com/office/drawing/2014/main" val="20001"/>
                    </a:ext>
                  </a:extLst>
                </a:gridCol>
                <a:gridCol w="937448">
                  <a:extLst>
                    <a:ext uri="{9D8B030D-6E8A-4147-A177-3AD203B41FA5}">
                      <a16:colId xmlns="" xmlns:a16="http://schemas.microsoft.com/office/drawing/2014/main" val="20002"/>
                    </a:ext>
                  </a:extLst>
                </a:gridCol>
                <a:gridCol w="937448">
                  <a:extLst>
                    <a:ext uri="{9D8B030D-6E8A-4147-A177-3AD203B41FA5}">
                      <a16:colId xmlns="" xmlns:a16="http://schemas.microsoft.com/office/drawing/2014/main" val="20003"/>
                    </a:ext>
                  </a:extLst>
                </a:gridCol>
                <a:gridCol w="937448">
                  <a:extLst>
                    <a:ext uri="{9D8B030D-6E8A-4147-A177-3AD203B41FA5}">
                      <a16:colId xmlns=""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2752028498"/>
                  </a:ext>
                </a:extLst>
              </a:tr>
            </a:tbl>
          </a:graphicData>
        </a:graphic>
      </p:graphicFrame>
      <p:pic>
        <p:nvPicPr>
          <p:cNvPr id="2097157" name="Picture 15">
            <a:extLst>
              <a:ext uri="{FF2B5EF4-FFF2-40B4-BE49-F238E27FC236}">
                <a16:creationId xmlns=""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smtClean="0"/>
              <a:t>.</a:t>
            </a:r>
            <a:endParaRPr lang="en-US" sz="1050" i="1" dirty="0" smtClean="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smtClean="0"/>
              <a:t>Dot </a:t>
            </a:r>
            <a:r>
              <a:rPr lang="en-US" sz="1050" i="1" dirty="0"/>
              <a:t>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Earnings </a:t>
            </a:r>
            <a:r>
              <a:rPr lang="en-US" sz="1050" i="1" dirty="0"/>
              <a:t>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smtClean="0"/>
              <a:t>Term </a:t>
            </a:r>
            <a:r>
              <a:rPr lang="en-US" sz="1050" i="1" dirty="0"/>
              <a:t>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r>
              <a:rPr lang="en-US" sz="1050" dirty="0" smtClean="0">
                <a:solidFill>
                  <a:prstClr val="black"/>
                </a:solidFill>
              </a:rPr>
              <a:t>.</a:t>
            </a:r>
            <a:endParaRPr lang="en-US" sz="1050" dirty="0">
              <a:solidFill>
                <a:prstClr val="black"/>
              </a:solidFill>
            </a:endParaRPr>
          </a:p>
        </p:txBody>
      </p:sp>
    </p:spTree>
    <p:extLst>
      <p:ext uri="{BB962C8B-B14F-4D97-AF65-F5344CB8AC3E}">
        <p14:creationId xmlns:p14="http://schemas.microsoft.com/office/powerpoint/2010/main" val="110819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2933</Words>
  <Application>Microsoft Office PowerPoint</Application>
  <PresentationFormat>On-screen Show (4:3)</PresentationFormat>
  <Paragraphs>575</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Wingdings</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ABI HISKIA CHANDRA</cp:lastModifiedBy>
  <cp:revision>2399</cp:revision>
  <dcterms:created xsi:type="dcterms:W3CDTF">2018-10-24T01:42:20Z</dcterms:created>
  <dcterms:modified xsi:type="dcterms:W3CDTF">2026-09-29T02:25:49Z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