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3.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4.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5.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6.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2.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3.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2"/>
    <p:sldMasterId id="2147483649" r:id="rId3"/>
    <p:sldMasterId id="2147483650" r:id="rId4"/>
    <p:sldMasterId id="2147483651" r:id="rId5"/>
    <p:sldMasterId id="2147483652" r:id="rId6"/>
    <p:sldMasterId id="2147483653" r:id="rId7"/>
    <p:sldMasterId id="2147483654" r:id="rId8"/>
  </p:sldMasterIdLst>
  <p:notesMasterIdLst>
    <p:notesMasterId r:id="rId15"/>
  </p:notesMasterIdLst>
  <p:handoutMasterIdLst>
    <p:handoutMasterId r:id="rId16"/>
  </p:handoutMasterIdLst>
  <p:sldIdLst>
    <p:sldId id="350" r:id="rId9"/>
    <p:sldId id="355" r:id="rId10"/>
    <p:sldId id="345" r:id="rId11"/>
    <p:sldId id="353" r:id="rId12"/>
    <p:sldId id="354" r:id="rId13"/>
    <p:sldId id="285" r:id="rId14"/>
  </p:sldIdLst>
  <p:sldSz cx="6858000" cy="9144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632" userDrawn="1">
          <p15:clr>
            <a:srgbClr val="A4A3A4"/>
          </p15:clr>
        </p15:guide>
        <p15:guide id="2" pos="4176" userDrawn="1">
          <p15:clr>
            <a:srgbClr val="A4A3A4"/>
          </p15:clr>
        </p15:guide>
        <p15:guide id="3" pos="192">
          <p15:clr>
            <a:srgbClr val="A4A3A4"/>
          </p15:clr>
        </p15:guide>
        <p15:guide id="4" pos="48">
          <p15:clr>
            <a:srgbClr val="A4A3A4"/>
          </p15:clr>
        </p15:guide>
        <p15:guide id="5" pos="2256">
          <p15:clr>
            <a:srgbClr val="A4A3A4"/>
          </p15:clr>
        </p15:guide>
        <p15:guide id="6" pos="2115"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eggy Widjaja" initials="PW" lastIdx="1" clrIdx="0"/>
  <p:cmAuthor id="2" name="Richie Norbert Tandias" initials="RNT" lastIdx="1" clrIdx="1"/>
  <p:cmAuthor id="3" name="ely.id@outlook.com" initials="e" lastIdx="20" clrIdx="2"/>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7D31"/>
    <a:srgbClr val="0051A2"/>
    <a:srgbClr val="E7E6E6"/>
    <a:srgbClr val="FFFFFF"/>
    <a:srgbClr val="E8E8E7"/>
    <a:srgbClr val="FFCCCC"/>
    <a:srgbClr val="2F5597"/>
    <a:srgbClr val="A7A7A7"/>
    <a:srgbClr val="A5A5A5"/>
    <a:srgbClr val="E8EC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386" autoAdjust="0"/>
    <p:restoredTop sz="94660"/>
  </p:normalViewPr>
  <p:slideViewPr>
    <p:cSldViewPr snapToGrid="0">
      <p:cViewPr varScale="1">
        <p:scale>
          <a:sx n="98" d="100"/>
          <a:sy n="98" d="100"/>
        </p:scale>
        <p:origin x="3208" y="200"/>
      </p:cViewPr>
      <p:guideLst>
        <p:guide orient="horz" pos="4632"/>
        <p:guide pos="4176"/>
        <p:guide pos="192"/>
        <p:guide pos="48"/>
        <p:guide pos="2256"/>
        <p:guide pos="2115"/>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7.xml"/><Relationship Id="rId13" Type="http://schemas.openxmlformats.org/officeDocument/2006/relationships/slide" Target="slides/slide5.xml"/><Relationship Id="rId18" Type="http://schemas.openxmlformats.org/officeDocument/2006/relationships/presProps" Target="presProps.xml"/><Relationship Id="rId3" Type="http://schemas.openxmlformats.org/officeDocument/2006/relationships/slideMaster" Target="slideMasters/slideMaster2.xml"/><Relationship Id="rId21" Type="http://schemas.openxmlformats.org/officeDocument/2006/relationships/tableStyles" Target="tableStyles.xml"/><Relationship Id="rId7" Type="http://schemas.openxmlformats.org/officeDocument/2006/relationships/slideMaster" Target="slideMasters/slideMaster6.xml"/><Relationship Id="rId12" Type="http://schemas.openxmlformats.org/officeDocument/2006/relationships/slide" Target="slides/slide4.xml"/><Relationship Id="rId17" Type="http://schemas.openxmlformats.org/officeDocument/2006/relationships/commentAuthors" Target="commentAuthors.xml"/><Relationship Id="rId2" Type="http://schemas.openxmlformats.org/officeDocument/2006/relationships/slideMaster" Target="slideMasters/slideMaster1.xml"/><Relationship Id="rId16" Type="http://schemas.openxmlformats.org/officeDocument/2006/relationships/handoutMaster" Target="handoutMasters/handout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5.xml"/><Relationship Id="rId11" Type="http://schemas.openxmlformats.org/officeDocument/2006/relationships/slide" Target="slides/slide3.xml"/><Relationship Id="rId5" Type="http://schemas.openxmlformats.org/officeDocument/2006/relationships/slideMaster" Target="slideMasters/slideMaster4.xml"/><Relationship Id="rId15" Type="http://schemas.openxmlformats.org/officeDocument/2006/relationships/notesMaster" Target="notesMasters/notesMaster1.xml"/><Relationship Id="rId10" Type="http://schemas.openxmlformats.org/officeDocument/2006/relationships/slide" Target="slides/slide2.xml"/><Relationship Id="rId19" Type="http://schemas.openxmlformats.org/officeDocument/2006/relationships/viewProps" Target="viewProps.xml"/><Relationship Id="rId4" Type="http://schemas.openxmlformats.org/officeDocument/2006/relationships/slideMaster" Target="slideMasters/slideMaster3.xml"/><Relationship Id="rId9" Type="http://schemas.openxmlformats.org/officeDocument/2006/relationships/slide" Target="slides/slide1.xml"/><Relationship Id="rId14" Type="http://schemas.openxmlformats.org/officeDocument/2006/relationships/slide" Target="slides/slide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title>
      <c:tx>
        <c:rich>
          <a:bodyPr/>
          <a:lstStyle/>
          <a:p>
            <a:pPr>
              <a:defRPr sz="700" b="0" i="1">
                <a:solidFill>
                  <a:srgbClr val="ED7D31"/>
                </a:solidFill>
                <a:latin typeface="Calibri"/>
              </a:defRPr>
            </a:pPr>
            <a:r>
              <a:rPr lang="en-US" sz="700" b="0" i="1">
                <a:solidFill>
                  <a:srgbClr val="ED7D31"/>
                </a:solidFill>
                <a:latin typeface="Calibri"/>
              </a:rPr>
              <a:t>Draft – CME snapshot 5 Oct 2026, intraday; time unverified. Probability-weighted range midpoint.</a:t>
            </a:r>
          </a:p>
        </c:rich>
      </c:tx>
      <c:layout>
        <c:manualLayout>
          <c:xMode val="edge"/>
          <c:yMode val="edge"/>
          <c:x val="0.02"/>
          <c:y val="0"/>
        </c:manualLayout>
      </c:layout>
      <c:overlay val="0"/>
    </c:title>
    <c:autoTitleDeleted val="0"/>
    <c:plotArea>
      <c:layout>
        <c:manualLayout>
          <c:layoutTarget val="inner"/>
          <c:xMode val="edge"/>
          <c:yMode val="edge"/>
          <c:x val="0.09"/>
          <c:y val="0.15"/>
          <c:w val="0.88"/>
          <c:h val="0.57999999999999996"/>
        </c:manualLayout>
      </c:layout>
      <c:lineChart>
        <c:grouping val="standard"/>
        <c:varyColors val="0"/>
        <c:ser>
          <c:idx val="0"/>
          <c:order val="0"/>
          <c:tx>
            <c:strRef>
              <c:f>Sheet1!$B$1</c:f>
              <c:strCache>
                <c:ptCount val="1"/>
                <c:pt idx="0">
                  <c:v>Probability-weighted target rate midpoint</c:v>
                </c:pt>
              </c:strCache>
            </c:strRef>
          </c:tx>
          <c:spPr>
            <a:ln w="25400" cap="rnd">
              <a:solidFill>
                <a:srgbClr val="0051A2"/>
              </a:solidFill>
              <a:prstDash val="solid"/>
              <a:round/>
            </a:ln>
          </c:spPr>
          <c:marker>
            <c:symbol val="circle"/>
            <c:size val="4"/>
            <c:spPr>
              <a:solidFill>
                <a:srgbClr val="0051A2"/>
              </a:solidFill>
              <a:ln>
                <a:noFill/>
              </a:ln>
            </c:spPr>
          </c:marker>
          <c:dLbls>
            <c:dLbl>
              <c:idx val="0"/>
              <c:numFmt formatCode="0.00" sourceLinked="0"/>
              <c:spPr>
                <a:solidFill>
                  <a:srgbClr val="0051A2"/>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3A5D-E84E-9BB6-2CCAC32DB177}"/>
                </c:ext>
              </c:extLst>
            </c:dLbl>
            <c:dLbl>
              <c:idx val="1"/>
              <c:numFmt formatCode="0.00" sourceLinked="0"/>
              <c:spPr>
                <a:solidFill>
                  <a:srgbClr val="0051A2"/>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3A5D-E84E-9BB6-2CCAC32DB177}"/>
                </c:ext>
              </c:extLst>
            </c:dLbl>
            <c:dLbl>
              <c:idx val="3"/>
              <c:numFmt formatCode="0.00" sourceLinked="0"/>
              <c:spPr>
                <a:solidFill>
                  <a:srgbClr val="0051A2"/>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3A5D-E84E-9BB6-2CCAC32DB177}"/>
                </c:ext>
              </c:extLst>
            </c:dLbl>
            <c:dLbl>
              <c:idx val="9"/>
              <c:numFmt formatCode="0.00" sourceLinked="0"/>
              <c:spPr>
                <a:solidFill>
                  <a:srgbClr val="0051A2"/>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3A5D-E84E-9BB6-2CCAC32DB177}"/>
                </c:ext>
              </c:extLst>
            </c:dLbl>
            <c:spPr>
              <a:noFill/>
              <a:ln>
                <a:noFill/>
              </a:ln>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Sheet1!$A$2:$A$11</c:f>
              <c:strCache>
                <c:ptCount val="10"/>
                <c:pt idx="0">
                  <c:v>Oct-26</c:v>
                </c:pt>
                <c:pt idx="1">
                  <c:v>Dec-26</c:v>
                </c:pt>
                <c:pt idx="2">
                  <c:v>Jan-27</c:v>
                </c:pt>
                <c:pt idx="3">
                  <c:v>Mar-27</c:v>
                </c:pt>
                <c:pt idx="4">
                  <c:v>Apr-27</c:v>
                </c:pt>
                <c:pt idx="5">
                  <c:v>Jun-27</c:v>
                </c:pt>
                <c:pt idx="6">
                  <c:v>Jul-27</c:v>
                </c:pt>
                <c:pt idx="7">
                  <c:v>Sep-27</c:v>
                </c:pt>
                <c:pt idx="8">
                  <c:v>Oct-27</c:v>
                </c:pt>
                <c:pt idx="9">
                  <c:v>Dec-27</c:v>
                </c:pt>
              </c:strCache>
            </c:strRef>
          </c:cat>
          <c:val>
            <c:numRef>
              <c:f>Sheet1!$B$2:$B$11</c:f>
              <c:numCache>
                <c:formatCode>0.0000</c:formatCode>
                <c:ptCount val="10"/>
                <c:pt idx="0">
                  <c:v>3.9262999999999999</c:v>
                </c:pt>
                <c:pt idx="1">
                  <c:v>4.1188000000000002</c:v>
                </c:pt>
                <c:pt idx="2">
                  <c:v>4.2161999999999997</c:v>
                </c:pt>
                <c:pt idx="3">
                  <c:v>4.3899999999999997</c:v>
                </c:pt>
                <c:pt idx="4">
                  <c:v>4.4856999999999996</c:v>
                </c:pt>
                <c:pt idx="5">
                  <c:v>4.5990000000000002</c:v>
                </c:pt>
                <c:pt idx="6">
                  <c:v>4.6467000000000001</c:v>
                </c:pt>
                <c:pt idx="7">
                  <c:v>4.6866000000000003</c:v>
                </c:pt>
                <c:pt idx="8">
                  <c:v>4.6978</c:v>
                </c:pt>
                <c:pt idx="9">
                  <c:v>4.6818999999999997</c:v>
                </c:pt>
              </c:numCache>
            </c:numRef>
          </c:val>
          <c:smooth val="0"/>
          <c:extLst>
            <c:ext xmlns:c16="http://schemas.microsoft.com/office/drawing/2014/chart" uri="{C3380CC4-5D6E-409C-BE32-E72D297353CC}">
              <c16:uniqueId val="{00000004-3A5D-E84E-9BB6-2CCAC32DB177}"/>
            </c:ext>
          </c:extLst>
        </c:ser>
        <c:dLbls>
          <c:showLegendKey val="0"/>
          <c:showVal val="0"/>
          <c:showCatName val="0"/>
          <c:showSerName val="0"/>
          <c:showPercent val="0"/>
          <c:showBubbleSize val="0"/>
        </c:dLbls>
        <c:marker val="1"/>
        <c:smooth val="0"/>
        <c:axId val="1101"/>
        <c:axId val="1102"/>
      </c:lineChart>
      <c:catAx>
        <c:axId val="1101"/>
        <c:scaling>
          <c:orientation val="minMax"/>
        </c:scaling>
        <c:delete val="0"/>
        <c:axPos val="b"/>
        <c:numFmt formatCode="General" sourceLinked="1"/>
        <c:majorTickMark val="out"/>
        <c:minorTickMark val="none"/>
        <c:tickLblPos val="low"/>
        <c:spPr>
          <a:ln w="9525">
            <a:solidFill>
              <a:srgbClr val="000000"/>
            </a:solidFill>
            <a:prstDash val="solid"/>
          </a:ln>
        </c:spPr>
        <c:txPr>
          <a:bodyPr rot="-2700000" vert="horz"/>
          <a:lstStyle/>
          <a:p>
            <a:pPr>
              <a:defRPr sz="700" b="0">
                <a:solidFill>
                  <a:srgbClr val="000000"/>
                </a:solidFill>
                <a:latin typeface="Calibri"/>
              </a:defRPr>
            </a:pPr>
            <a:endParaRPr lang="en-US"/>
          </a:p>
        </c:txPr>
        <c:crossAx val="1102"/>
        <c:crosses val="autoZero"/>
        <c:auto val="1"/>
        <c:lblAlgn val="ctr"/>
        <c:lblOffset val="100"/>
        <c:noMultiLvlLbl val="1"/>
      </c:catAx>
      <c:valAx>
        <c:axId val="1102"/>
        <c:scaling>
          <c:orientation val="minMax"/>
          <c:max val="5"/>
          <c:min val="3.8"/>
        </c:scaling>
        <c:delete val="0"/>
        <c:axPos val="l"/>
        <c:numFmt formatCode="0.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1101"/>
        <c:crosses val="autoZero"/>
        <c:crossBetween val="between"/>
        <c:majorUnit val="0.2"/>
      </c:valAx>
      <c:spPr>
        <a:noFill/>
        <a:ln>
          <a:noFill/>
        </a:ln>
      </c:spPr>
    </c:plotArea>
    <c:plotVisOnly val="1"/>
    <c:dispBlanksAs val="gap"/>
    <c:showDLblsOverMax val="1"/>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1"/>
          <c:y val="0.17"/>
          <c:w val="0.77"/>
          <c:h val="0.6"/>
        </c:manualLayout>
      </c:layout>
      <c:lineChart>
        <c:grouping val="standard"/>
        <c:varyColors val="0"/>
        <c:ser>
          <c:idx val="0"/>
          <c:order val="0"/>
          <c:tx>
            <c:strRef>
              <c:f>Sheet1!$B$1</c:f>
              <c:strCache>
                <c:ptCount val="1"/>
                <c:pt idx="0">
                  <c:v>ACM 10YR Term Premium (L)</c:v>
                </c:pt>
              </c:strCache>
            </c:strRef>
          </c:tx>
          <c:spPr>
            <a:ln w="25400" cap="rnd">
              <a:solidFill>
                <a:srgbClr val="0051A2"/>
              </a:solidFill>
              <a:prstDash val="solid"/>
              <a:round/>
            </a:ln>
          </c:spPr>
          <c:marker>
            <c:symbol val="none"/>
          </c:marker>
          <c:dLbls>
            <c:dLbl>
              <c:idx val="65"/>
              <c:layout>
                <c:manualLayout>
                  <c:x val="-0.09"/>
                  <c:y val="0.14000000000000001"/>
                </c:manualLayout>
              </c:layout>
              <c:numFmt formatCode="0.00" sourceLinked="0"/>
              <c:spPr>
                <a:solidFill>
                  <a:srgbClr val="0051A2"/>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F2EF-2D4A-ACED-288581C871D4}"/>
                </c:ext>
              </c:extLst>
            </c:dLbl>
            <c:spPr>
              <a:noFill/>
              <a:ln>
                <a:noFill/>
              </a:ln>
            </c:spPr>
            <c:showLegendKey val="0"/>
            <c:showVal val="0"/>
            <c:showCatName val="0"/>
            <c:showSerName val="0"/>
            <c:showPercent val="0"/>
            <c:showBubbleSize val="0"/>
            <c:extLst>
              <c:ext xmlns:c15="http://schemas.microsoft.com/office/drawing/2012/chart" uri="{CE6537A1-D6FC-4f65-9D91-7224C49458BB}">
                <c15:showLeaderLines val="0"/>
              </c:ext>
            </c:extLst>
          </c:dLbls>
          <c:cat>
            <c:numRef>
              <c:f>Sheet1!$A$2:$A$67</c:f>
              <c:numCache>
                <c:formatCode>dd\-mmm\-yy</c:formatCode>
                <c:ptCount val="66"/>
                <c:pt idx="0">
                  <c:v>46204</c:v>
                </c:pt>
                <c:pt idx="1">
                  <c:v>46205</c:v>
                </c:pt>
                <c:pt idx="2">
                  <c:v>46209</c:v>
                </c:pt>
                <c:pt idx="3">
                  <c:v>46210</c:v>
                </c:pt>
                <c:pt idx="4">
                  <c:v>46211</c:v>
                </c:pt>
                <c:pt idx="5">
                  <c:v>46212</c:v>
                </c:pt>
                <c:pt idx="6">
                  <c:v>46213</c:v>
                </c:pt>
                <c:pt idx="7">
                  <c:v>46216</c:v>
                </c:pt>
                <c:pt idx="8">
                  <c:v>46217</c:v>
                </c:pt>
                <c:pt idx="9">
                  <c:v>46218</c:v>
                </c:pt>
                <c:pt idx="10">
                  <c:v>46219</c:v>
                </c:pt>
                <c:pt idx="11">
                  <c:v>46220</c:v>
                </c:pt>
                <c:pt idx="12">
                  <c:v>46223</c:v>
                </c:pt>
                <c:pt idx="13">
                  <c:v>46224</c:v>
                </c:pt>
                <c:pt idx="14">
                  <c:v>46225</c:v>
                </c:pt>
                <c:pt idx="15">
                  <c:v>46226</c:v>
                </c:pt>
                <c:pt idx="16">
                  <c:v>46227</c:v>
                </c:pt>
                <c:pt idx="17">
                  <c:v>46230</c:v>
                </c:pt>
                <c:pt idx="18">
                  <c:v>46231</c:v>
                </c:pt>
                <c:pt idx="19">
                  <c:v>46232</c:v>
                </c:pt>
                <c:pt idx="20">
                  <c:v>46233</c:v>
                </c:pt>
                <c:pt idx="21">
                  <c:v>46234</c:v>
                </c:pt>
                <c:pt idx="22">
                  <c:v>46237</c:v>
                </c:pt>
                <c:pt idx="23">
                  <c:v>46238</c:v>
                </c:pt>
                <c:pt idx="24">
                  <c:v>46239</c:v>
                </c:pt>
                <c:pt idx="25">
                  <c:v>46240</c:v>
                </c:pt>
                <c:pt idx="26">
                  <c:v>46241</c:v>
                </c:pt>
                <c:pt idx="27">
                  <c:v>46244</c:v>
                </c:pt>
                <c:pt idx="28">
                  <c:v>46245</c:v>
                </c:pt>
                <c:pt idx="29">
                  <c:v>46246</c:v>
                </c:pt>
                <c:pt idx="30">
                  <c:v>46247</c:v>
                </c:pt>
                <c:pt idx="31">
                  <c:v>46248</c:v>
                </c:pt>
                <c:pt idx="32">
                  <c:v>46251</c:v>
                </c:pt>
                <c:pt idx="33">
                  <c:v>46252</c:v>
                </c:pt>
                <c:pt idx="34">
                  <c:v>46253</c:v>
                </c:pt>
                <c:pt idx="35">
                  <c:v>46254</c:v>
                </c:pt>
                <c:pt idx="36">
                  <c:v>46255</c:v>
                </c:pt>
                <c:pt idx="37">
                  <c:v>46258</c:v>
                </c:pt>
                <c:pt idx="38">
                  <c:v>46259</c:v>
                </c:pt>
                <c:pt idx="39">
                  <c:v>46260</c:v>
                </c:pt>
                <c:pt idx="40">
                  <c:v>46261</c:v>
                </c:pt>
                <c:pt idx="41">
                  <c:v>46262</c:v>
                </c:pt>
                <c:pt idx="42">
                  <c:v>46265</c:v>
                </c:pt>
                <c:pt idx="43">
                  <c:v>46266</c:v>
                </c:pt>
                <c:pt idx="44">
                  <c:v>46267</c:v>
                </c:pt>
                <c:pt idx="45">
                  <c:v>46268</c:v>
                </c:pt>
                <c:pt idx="46">
                  <c:v>46269</c:v>
                </c:pt>
                <c:pt idx="47">
                  <c:v>46273</c:v>
                </c:pt>
                <c:pt idx="48">
                  <c:v>46274</c:v>
                </c:pt>
                <c:pt idx="49">
                  <c:v>46275</c:v>
                </c:pt>
                <c:pt idx="50">
                  <c:v>46276</c:v>
                </c:pt>
                <c:pt idx="51">
                  <c:v>46279</c:v>
                </c:pt>
                <c:pt idx="52">
                  <c:v>46280</c:v>
                </c:pt>
                <c:pt idx="53">
                  <c:v>46281</c:v>
                </c:pt>
                <c:pt idx="54">
                  <c:v>46282</c:v>
                </c:pt>
                <c:pt idx="55">
                  <c:v>46283</c:v>
                </c:pt>
                <c:pt idx="56">
                  <c:v>46286</c:v>
                </c:pt>
                <c:pt idx="57">
                  <c:v>46287</c:v>
                </c:pt>
                <c:pt idx="58">
                  <c:v>46288</c:v>
                </c:pt>
                <c:pt idx="59">
                  <c:v>46289</c:v>
                </c:pt>
                <c:pt idx="60">
                  <c:v>46290</c:v>
                </c:pt>
                <c:pt idx="61">
                  <c:v>46293</c:v>
                </c:pt>
                <c:pt idx="62">
                  <c:v>46294</c:v>
                </c:pt>
                <c:pt idx="63">
                  <c:v>46295</c:v>
                </c:pt>
                <c:pt idx="64">
                  <c:v>46296</c:v>
                </c:pt>
                <c:pt idx="65">
                  <c:v>46297</c:v>
                </c:pt>
              </c:numCache>
            </c:numRef>
          </c:cat>
          <c:val>
            <c:numRef>
              <c:f>Sheet1!$B$2:$B$67</c:f>
              <c:numCache>
                <c:formatCode>0.0000</c:formatCode>
                <c:ptCount val="66"/>
                <c:pt idx="0">
                  <c:v>0.54239999999999999</c:v>
                </c:pt>
                <c:pt idx="1">
                  <c:v>0.58409999999999995</c:v>
                </c:pt>
                <c:pt idx="2">
                  <c:v>0.58760000000000001</c:v>
                </c:pt>
                <c:pt idx="3">
                  <c:v>0.62429999999999997</c:v>
                </c:pt>
                <c:pt idx="4">
                  <c:v>0.6421</c:v>
                </c:pt>
                <c:pt idx="5">
                  <c:v>0.64539999999999997</c:v>
                </c:pt>
                <c:pt idx="6">
                  <c:v>0.6431</c:v>
                </c:pt>
                <c:pt idx="7">
                  <c:v>0.65759999999999996</c:v>
                </c:pt>
                <c:pt idx="8">
                  <c:v>0.67459999999999998</c:v>
                </c:pt>
                <c:pt idx="9">
                  <c:v>0.67879999999999996</c:v>
                </c:pt>
                <c:pt idx="10">
                  <c:v>0.68559999999999999</c:v>
                </c:pt>
                <c:pt idx="11">
                  <c:v>0.64790000000000003</c:v>
                </c:pt>
                <c:pt idx="12">
                  <c:v>0.68130000000000002</c:v>
                </c:pt>
                <c:pt idx="13">
                  <c:v>0.68789999999999996</c:v>
                </c:pt>
                <c:pt idx="14">
                  <c:v>0.7</c:v>
                </c:pt>
                <c:pt idx="15">
                  <c:v>0.71430000000000005</c:v>
                </c:pt>
                <c:pt idx="16">
                  <c:v>0.7</c:v>
                </c:pt>
                <c:pt idx="17">
                  <c:v>0.65900000000000003</c:v>
                </c:pt>
                <c:pt idx="18">
                  <c:v>0.64359999999999995</c:v>
                </c:pt>
                <c:pt idx="19">
                  <c:v>0.76770000000000005</c:v>
                </c:pt>
                <c:pt idx="20">
                  <c:v>0.77959999999999996</c:v>
                </c:pt>
                <c:pt idx="21">
                  <c:v>0.83320000000000005</c:v>
                </c:pt>
                <c:pt idx="22">
                  <c:v>0.78400000000000003</c:v>
                </c:pt>
                <c:pt idx="23">
                  <c:v>0.748</c:v>
                </c:pt>
                <c:pt idx="24">
                  <c:v>0.75139999999999996</c:v>
                </c:pt>
                <c:pt idx="25">
                  <c:v>0.77059999999999995</c:v>
                </c:pt>
                <c:pt idx="26">
                  <c:v>0.77590000000000003</c:v>
                </c:pt>
                <c:pt idx="27">
                  <c:v>0.81679999999999997</c:v>
                </c:pt>
                <c:pt idx="28">
                  <c:v>0.81459999999999999</c:v>
                </c:pt>
                <c:pt idx="29">
                  <c:v>0.82199999999999995</c:v>
                </c:pt>
                <c:pt idx="30">
                  <c:v>0.79969999999999997</c:v>
                </c:pt>
                <c:pt idx="31">
                  <c:v>0.84809999999999997</c:v>
                </c:pt>
                <c:pt idx="32">
                  <c:v>0.89039999999999997</c:v>
                </c:pt>
                <c:pt idx="33">
                  <c:v>0.86629999999999996</c:v>
                </c:pt>
                <c:pt idx="34">
                  <c:v>0.76739999999999997</c:v>
                </c:pt>
                <c:pt idx="35">
                  <c:v>0.8115</c:v>
                </c:pt>
                <c:pt idx="36">
                  <c:v>0.83550000000000002</c:v>
                </c:pt>
                <c:pt idx="37">
                  <c:v>0.78380000000000005</c:v>
                </c:pt>
                <c:pt idx="38">
                  <c:v>0.73350000000000004</c:v>
                </c:pt>
                <c:pt idx="39">
                  <c:v>0.74519999999999997</c:v>
                </c:pt>
                <c:pt idx="40">
                  <c:v>0.75319999999999998</c:v>
                </c:pt>
                <c:pt idx="41">
                  <c:v>0.72360000000000002</c:v>
                </c:pt>
                <c:pt idx="42">
                  <c:v>0.75939999999999996</c:v>
                </c:pt>
                <c:pt idx="43">
                  <c:v>0.77900000000000003</c:v>
                </c:pt>
                <c:pt idx="44">
                  <c:v>0.7198</c:v>
                </c:pt>
                <c:pt idx="45">
                  <c:v>0.75349999999999995</c:v>
                </c:pt>
                <c:pt idx="46">
                  <c:v>0.67669999999999997</c:v>
                </c:pt>
                <c:pt idx="47">
                  <c:v>0.75580000000000003</c:v>
                </c:pt>
                <c:pt idx="48">
                  <c:v>0.70340000000000003</c:v>
                </c:pt>
                <c:pt idx="49">
                  <c:v>0.75639999999999996</c:v>
                </c:pt>
                <c:pt idx="50">
                  <c:v>0.7137</c:v>
                </c:pt>
                <c:pt idx="51">
                  <c:v>0.69310000000000005</c:v>
                </c:pt>
                <c:pt idx="52">
                  <c:v>0.70530000000000004</c:v>
                </c:pt>
                <c:pt idx="53">
                  <c:v>0.66579999999999995</c:v>
                </c:pt>
                <c:pt idx="54">
                  <c:v>0.60680000000000001</c:v>
                </c:pt>
                <c:pt idx="55">
                  <c:v>0.63200000000000001</c:v>
                </c:pt>
                <c:pt idx="56">
                  <c:v>0.57579999999999998</c:v>
                </c:pt>
                <c:pt idx="57">
                  <c:v>0.57169999999999999</c:v>
                </c:pt>
                <c:pt idx="58">
                  <c:v>0.64180000000000004</c:v>
                </c:pt>
                <c:pt idx="59">
                  <c:v>0.72650000000000003</c:v>
                </c:pt>
                <c:pt idx="60">
                  <c:v>0.77149999999999996</c:v>
                </c:pt>
                <c:pt idx="61">
                  <c:v>0.78969999999999996</c:v>
                </c:pt>
                <c:pt idx="62">
                  <c:v>0.84379999999999999</c:v>
                </c:pt>
                <c:pt idx="63">
                  <c:v>0.88500000000000001</c:v>
                </c:pt>
                <c:pt idx="64">
                  <c:v>0.90469999999999995</c:v>
                </c:pt>
                <c:pt idx="65">
                  <c:v>0.91369999999999996</c:v>
                </c:pt>
              </c:numCache>
            </c:numRef>
          </c:val>
          <c:smooth val="0"/>
          <c:extLst>
            <c:ext xmlns:c16="http://schemas.microsoft.com/office/drawing/2014/chart" uri="{C3380CC4-5D6E-409C-BE32-E72D297353CC}">
              <c16:uniqueId val="{00000001-F2EF-2D4A-ACED-288581C871D4}"/>
            </c:ext>
          </c:extLst>
        </c:ser>
        <c:dLbls>
          <c:showLegendKey val="0"/>
          <c:showVal val="0"/>
          <c:showCatName val="0"/>
          <c:showSerName val="0"/>
          <c:showPercent val="0"/>
          <c:showBubbleSize val="0"/>
        </c:dLbls>
        <c:marker val="1"/>
        <c:smooth val="0"/>
        <c:axId val="1201"/>
        <c:axId val="1202"/>
      </c:lineChart>
      <c:lineChart>
        <c:grouping val="standard"/>
        <c:varyColors val="0"/>
        <c:ser>
          <c:idx val="1"/>
          <c:order val="1"/>
          <c:tx>
            <c:strRef>
              <c:f>Sheet1!$C$1</c:f>
              <c:strCache>
                <c:ptCount val="1"/>
                <c:pt idx="0">
                  <c:v>UST 10YR Yield (R)</c:v>
                </c:pt>
              </c:strCache>
            </c:strRef>
          </c:tx>
          <c:spPr>
            <a:ln w="22225" cap="rnd">
              <a:solidFill>
                <a:srgbClr val="ED7D31"/>
              </a:solidFill>
              <a:prstDash val="solid"/>
              <a:round/>
            </a:ln>
          </c:spPr>
          <c:marker>
            <c:symbol val="none"/>
          </c:marker>
          <c:dLbls>
            <c:dLbl>
              <c:idx val="65"/>
              <c:layout>
                <c:manualLayout>
                  <c:x val="-7.0000000000000007E-2"/>
                  <c:y val="-0.01"/>
                </c:manualLayout>
              </c:layout>
              <c:numFmt formatCode="0.00" sourceLinked="0"/>
              <c:spPr>
                <a:solidFill>
                  <a:srgbClr val="ED7D31"/>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F2EF-2D4A-ACED-288581C871D4}"/>
                </c:ext>
              </c:extLst>
            </c:dLbl>
            <c:spPr>
              <a:noFill/>
              <a:ln>
                <a:noFill/>
              </a:ln>
            </c:spPr>
            <c:showLegendKey val="0"/>
            <c:showVal val="0"/>
            <c:showCatName val="0"/>
            <c:showSerName val="0"/>
            <c:showPercent val="0"/>
            <c:showBubbleSize val="0"/>
            <c:extLst>
              <c:ext xmlns:c15="http://schemas.microsoft.com/office/drawing/2012/chart" uri="{CE6537A1-D6FC-4f65-9D91-7224C49458BB}">
                <c15:showLeaderLines val="0"/>
              </c:ext>
            </c:extLst>
          </c:dLbls>
          <c:cat>
            <c:numRef>
              <c:f>Sheet1!$A$2:$A$67</c:f>
              <c:numCache>
                <c:formatCode>dd\-mmm\-yy</c:formatCode>
                <c:ptCount val="66"/>
                <c:pt idx="0">
                  <c:v>46204</c:v>
                </c:pt>
                <c:pt idx="1">
                  <c:v>46205</c:v>
                </c:pt>
                <c:pt idx="2">
                  <c:v>46209</c:v>
                </c:pt>
                <c:pt idx="3">
                  <c:v>46210</c:v>
                </c:pt>
                <c:pt idx="4">
                  <c:v>46211</c:v>
                </c:pt>
                <c:pt idx="5">
                  <c:v>46212</c:v>
                </c:pt>
                <c:pt idx="6">
                  <c:v>46213</c:v>
                </c:pt>
                <c:pt idx="7">
                  <c:v>46216</c:v>
                </c:pt>
                <c:pt idx="8">
                  <c:v>46217</c:v>
                </c:pt>
                <c:pt idx="9">
                  <c:v>46218</c:v>
                </c:pt>
                <c:pt idx="10">
                  <c:v>46219</c:v>
                </c:pt>
                <c:pt idx="11">
                  <c:v>46220</c:v>
                </c:pt>
                <c:pt idx="12">
                  <c:v>46223</c:v>
                </c:pt>
                <c:pt idx="13">
                  <c:v>46224</c:v>
                </c:pt>
                <c:pt idx="14">
                  <c:v>46225</c:v>
                </c:pt>
                <c:pt idx="15">
                  <c:v>46226</c:v>
                </c:pt>
                <c:pt idx="16">
                  <c:v>46227</c:v>
                </c:pt>
                <c:pt idx="17">
                  <c:v>46230</c:v>
                </c:pt>
                <c:pt idx="18">
                  <c:v>46231</c:v>
                </c:pt>
                <c:pt idx="19">
                  <c:v>46232</c:v>
                </c:pt>
                <c:pt idx="20">
                  <c:v>46233</c:v>
                </c:pt>
                <c:pt idx="21">
                  <c:v>46234</c:v>
                </c:pt>
                <c:pt idx="22">
                  <c:v>46237</c:v>
                </c:pt>
                <c:pt idx="23">
                  <c:v>46238</c:v>
                </c:pt>
                <c:pt idx="24">
                  <c:v>46239</c:v>
                </c:pt>
                <c:pt idx="25">
                  <c:v>46240</c:v>
                </c:pt>
                <c:pt idx="26">
                  <c:v>46241</c:v>
                </c:pt>
                <c:pt idx="27">
                  <c:v>46244</c:v>
                </c:pt>
                <c:pt idx="28">
                  <c:v>46245</c:v>
                </c:pt>
                <c:pt idx="29">
                  <c:v>46246</c:v>
                </c:pt>
                <c:pt idx="30">
                  <c:v>46247</c:v>
                </c:pt>
                <c:pt idx="31">
                  <c:v>46248</c:v>
                </c:pt>
                <c:pt idx="32">
                  <c:v>46251</c:v>
                </c:pt>
                <c:pt idx="33">
                  <c:v>46252</c:v>
                </c:pt>
                <c:pt idx="34">
                  <c:v>46253</c:v>
                </c:pt>
                <c:pt idx="35">
                  <c:v>46254</c:v>
                </c:pt>
                <c:pt idx="36">
                  <c:v>46255</c:v>
                </c:pt>
                <c:pt idx="37">
                  <c:v>46258</c:v>
                </c:pt>
                <c:pt idx="38">
                  <c:v>46259</c:v>
                </c:pt>
                <c:pt idx="39">
                  <c:v>46260</c:v>
                </c:pt>
                <c:pt idx="40">
                  <c:v>46261</c:v>
                </c:pt>
                <c:pt idx="41">
                  <c:v>46262</c:v>
                </c:pt>
                <c:pt idx="42">
                  <c:v>46265</c:v>
                </c:pt>
                <c:pt idx="43">
                  <c:v>46266</c:v>
                </c:pt>
                <c:pt idx="44">
                  <c:v>46267</c:v>
                </c:pt>
                <c:pt idx="45">
                  <c:v>46268</c:v>
                </c:pt>
                <c:pt idx="46">
                  <c:v>46269</c:v>
                </c:pt>
                <c:pt idx="47">
                  <c:v>46273</c:v>
                </c:pt>
                <c:pt idx="48">
                  <c:v>46274</c:v>
                </c:pt>
                <c:pt idx="49">
                  <c:v>46275</c:v>
                </c:pt>
                <c:pt idx="50">
                  <c:v>46276</c:v>
                </c:pt>
                <c:pt idx="51">
                  <c:v>46279</c:v>
                </c:pt>
                <c:pt idx="52">
                  <c:v>46280</c:v>
                </c:pt>
                <c:pt idx="53">
                  <c:v>46281</c:v>
                </c:pt>
                <c:pt idx="54">
                  <c:v>46282</c:v>
                </c:pt>
                <c:pt idx="55">
                  <c:v>46283</c:v>
                </c:pt>
                <c:pt idx="56">
                  <c:v>46286</c:v>
                </c:pt>
                <c:pt idx="57">
                  <c:v>46287</c:v>
                </c:pt>
                <c:pt idx="58">
                  <c:v>46288</c:v>
                </c:pt>
                <c:pt idx="59">
                  <c:v>46289</c:v>
                </c:pt>
                <c:pt idx="60">
                  <c:v>46290</c:v>
                </c:pt>
                <c:pt idx="61">
                  <c:v>46293</c:v>
                </c:pt>
                <c:pt idx="62">
                  <c:v>46294</c:v>
                </c:pt>
                <c:pt idx="63">
                  <c:v>46295</c:v>
                </c:pt>
                <c:pt idx="64">
                  <c:v>46296</c:v>
                </c:pt>
                <c:pt idx="65">
                  <c:v>46297</c:v>
                </c:pt>
              </c:numCache>
            </c:numRef>
          </c:cat>
          <c:val>
            <c:numRef>
              <c:f>Sheet1!$C$2:$C$67</c:f>
              <c:numCache>
                <c:formatCode>0.0000</c:formatCode>
                <c:ptCount val="66"/>
                <c:pt idx="0">
                  <c:v>4.4790999999999999</c:v>
                </c:pt>
                <c:pt idx="1">
                  <c:v>4.4832000000000001</c:v>
                </c:pt>
                <c:pt idx="2">
                  <c:v>4.4692999999999996</c:v>
                </c:pt>
                <c:pt idx="3">
                  <c:v>4.5510999999999999</c:v>
                </c:pt>
                <c:pt idx="4">
                  <c:v>4.5792000000000002</c:v>
                </c:pt>
                <c:pt idx="5">
                  <c:v>4.5510999999999999</c:v>
                </c:pt>
                <c:pt idx="6">
                  <c:v>4.5612000000000004</c:v>
                </c:pt>
                <c:pt idx="7">
                  <c:v>4.6237000000000004</c:v>
                </c:pt>
                <c:pt idx="8">
                  <c:v>4.5894000000000004</c:v>
                </c:pt>
                <c:pt idx="9">
                  <c:v>4.5472999999999999</c:v>
                </c:pt>
                <c:pt idx="10">
                  <c:v>4.5533999999999999</c:v>
                </c:pt>
                <c:pt idx="11">
                  <c:v>4.5473999999999997</c:v>
                </c:pt>
                <c:pt idx="12">
                  <c:v>4.5917000000000003</c:v>
                </c:pt>
                <c:pt idx="13">
                  <c:v>4.6280999999999999</c:v>
                </c:pt>
                <c:pt idx="14">
                  <c:v>4.6544999999999996</c:v>
                </c:pt>
                <c:pt idx="15">
                  <c:v>4.6932</c:v>
                </c:pt>
                <c:pt idx="16">
                  <c:v>4.6771000000000003</c:v>
                </c:pt>
                <c:pt idx="17">
                  <c:v>4.6486999999999998</c:v>
                </c:pt>
                <c:pt idx="18">
                  <c:v>4.6062000000000003</c:v>
                </c:pt>
                <c:pt idx="19">
                  <c:v>4.6772999999999998</c:v>
                </c:pt>
                <c:pt idx="20">
                  <c:v>4.6733000000000002</c:v>
                </c:pt>
                <c:pt idx="21">
                  <c:v>4.7347000000000001</c:v>
                </c:pt>
                <c:pt idx="22">
                  <c:v>4.6755000000000004</c:v>
                </c:pt>
                <c:pt idx="23">
                  <c:v>4.6125999999999996</c:v>
                </c:pt>
                <c:pt idx="24">
                  <c:v>4.6127000000000002</c:v>
                </c:pt>
                <c:pt idx="25">
                  <c:v>4.6778000000000004</c:v>
                </c:pt>
                <c:pt idx="26">
                  <c:v>4.6454000000000004</c:v>
                </c:pt>
                <c:pt idx="27">
                  <c:v>4.7066999999999997</c:v>
                </c:pt>
                <c:pt idx="28">
                  <c:v>4.6882999999999999</c:v>
                </c:pt>
                <c:pt idx="29">
                  <c:v>4.6924999999999999</c:v>
                </c:pt>
                <c:pt idx="30">
                  <c:v>4.6426999999999996</c:v>
                </c:pt>
                <c:pt idx="31">
                  <c:v>4.6921999999999997</c:v>
                </c:pt>
                <c:pt idx="32">
                  <c:v>4.7218999999999998</c:v>
                </c:pt>
                <c:pt idx="33">
                  <c:v>4.7041000000000004</c:v>
                </c:pt>
                <c:pt idx="34">
                  <c:v>4.6466000000000003</c:v>
                </c:pt>
                <c:pt idx="35">
                  <c:v>4.7041000000000004</c:v>
                </c:pt>
                <c:pt idx="36">
                  <c:v>4.7339000000000002</c:v>
                </c:pt>
                <c:pt idx="37">
                  <c:v>4.6961000000000004</c:v>
                </c:pt>
                <c:pt idx="38">
                  <c:v>4.6288</c:v>
                </c:pt>
                <c:pt idx="39">
                  <c:v>4.6464999999999996</c:v>
                </c:pt>
                <c:pt idx="40">
                  <c:v>4.6761999999999997</c:v>
                </c:pt>
                <c:pt idx="41">
                  <c:v>4.718</c:v>
                </c:pt>
                <c:pt idx="42">
                  <c:v>4.75</c:v>
                </c:pt>
                <c:pt idx="43">
                  <c:v>4.7980999999999998</c:v>
                </c:pt>
                <c:pt idx="44">
                  <c:v>4.7779999999999996</c:v>
                </c:pt>
                <c:pt idx="45">
                  <c:v>4.7679999999999998</c:v>
                </c:pt>
                <c:pt idx="46">
                  <c:v>4.7820999999999998</c:v>
                </c:pt>
                <c:pt idx="47">
                  <c:v>4.7881999999999998</c:v>
                </c:pt>
                <c:pt idx="48">
                  <c:v>4.8406000000000002</c:v>
                </c:pt>
                <c:pt idx="49">
                  <c:v>4.9626000000000001</c:v>
                </c:pt>
                <c:pt idx="50">
                  <c:v>4.9668999999999999</c:v>
                </c:pt>
                <c:pt idx="51">
                  <c:v>4.9874999999999998</c:v>
                </c:pt>
                <c:pt idx="52">
                  <c:v>5.0019</c:v>
                </c:pt>
                <c:pt idx="53">
                  <c:v>5.0225</c:v>
                </c:pt>
                <c:pt idx="54">
                  <c:v>4.9303999999999997</c:v>
                </c:pt>
                <c:pt idx="55">
                  <c:v>4.9961000000000002</c:v>
                </c:pt>
                <c:pt idx="56">
                  <c:v>4.9509999999999996</c:v>
                </c:pt>
                <c:pt idx="57">
                  <c:v>4.9612999999999996</c:v>
                </c:pt>
                <c:pt idx="58">
                  <c:v>5.1142000000000003</c:v>
                </c:pt>
                <c:pt idx="59">
                  <c:v>5.1978</c:v>
                </c:pt>
                <c:pt idx="60">
                  <c:v>5.1604000000000001</c:v>
                </c:pt>
                <c:pt idx="61">
                  <c:v>5.2361000000000004</c:v>
                </c:pt>
                <c:pt idx="62">
                  <c:v>5.2362000000000002</c:v>
                </c:pt>
                <c:pt idx="63">
                  <c:v>5.2849000000000004</c:v>
                </c:pt>
                <c:pt idx="64">
                  <c:v>5.2407000000000004</c:v>
                </c:pt>
                <c:pt idx="65">
                  <c:v>5.2706</c:v>
                </c:pt>
              </c:numCache>
            </c:numRef>
          </c:val>
          <c:smooth val="0"/>
          <c:extLst>
            <c:ext xmlns:c16="http://schemas.microsoft.com/office/drawing/2014/chart" uri="{C3380CC4-5D6E-409C-BE32-E72D297353CC}">
              <c16:uniqueId val="{00000003-F2EF-2D4A-ACED-288581C871D4}"/>
            </c:ext>
          </c:extLst>
        </c:ser>
        <c:dLbls>
          <c:showLegendKey val="0"/>
          <c:showVal val="0"/>
          <c:showCatName val="0"/>
          <c:showSerName val="0"/>
          <c:showPercent val="0"/>
          <c:showBubbleSize val="0"/>
        </c:dLbls>
        <c:marker val="1"/>
        <c:smooth val="0"/>
        <c:axId val="1203"/>
        <c:axId val="1204"/>
      </c:lineChart>
      <c:dateAx>
        <c:axId val="1201"/>
        <c:scaling>
          <c:orientation val="minMax"/>
          <c:max val="46297"/>
          <c:min val="46204"/>
        </c:scaling>
        <c:delete val="0"/>
        <c:axPos val="b"/>
        <c:numFmt formatCode="[$-409]mmm\-yy" sourceLinked="0"/>
        <c:majorTickMark val="out"/>
        <c:minorTickMark val="none"/>
        <c:tickLblPos val="low"/>
        <c:spPr>
          <a:ln w="9525">
            <a:solidFill>
              <a:srgbClr val="000000"/>
            </a:solidFill>
            <a:prstDash val="solid"/>
          </a:ln>
        </c:spPr>
        <c:txPr>
          <a:bodyPr/>
          <a:lstStyle/>
          <a:p>
            <a:pPr>
              <a:defRPr sz="800" b="0" i="0">
                <a:solidFill>
                  <a:srgbClr val="000000"/>
                </a:solidFill>
                <a:latin typeface="Calibri"/>
              </a:defRPr>
            </a:pPr>
            <a:endParaRPr lang="en-US"/>
          </a:p>
        </c:txPr>
        <c:crossAx val="1202"/>
        <c:crosses val="autoZero"/>
        <c:auto val="1"/>
        <c:lblOffset val="100"/>
        <c:baseTimeUnit val="days"/>
        <c:majorUnit val="1"/>
        <c:majorTimeUnit val="months"/>
      </c:dateAx>
      <c:valAx>
        <c:axId val="1202"/>
        <c:scaling>
          <c:orientation val="minMax"/>
          <c:max val="1"/>
          <c:min val="0.4"/>
        </c:scaling>
        <c:delete val="0"/>
        <c:axPos val="l"/>
        <c:numFmt formatCode="0.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1201"/>
        <c:crosses val="autoZero"/>
        <c:crossBetween val="between"/>
        <c:majorUnit val="0.1"/>
      </c:valAx>
      <c:dateAx>
        <c:axId val="1203"/>
        <c:scaling>
          <c:orientation val="minMax"/>
          <c:max val="46297"/>
          <c:min val="46204"/>
        </c:scaling>
        <c:delete val="1"/>
        <c:axPos val="b"/>
        <c:numFmt formatCode="[$-409]mmm\-yy" sourceLinked="0"/>
        <c:majorTickMark val="out"/>
        <c:minorTickMark val="none"/>
        <c:tickLblPos val="low"/>
        <c:crossAx val="1204"/>
        <c:crosses val="autoZero"/>
        <c:auto val="1"/>
        <c:lblOffset val="100"/>
        <c:baseTimeUnit val="days"/>
        <c:majorUnit val="1"/>
        <c:majorTimeUnit val="months"/>
      </c:dateAx>
      <c:valAx>
        <c:axId val="1204"/>
        <c:scaling>
          <c:orientation val="minMax"/>
          <c:max val="5.6"/>
          <c:min val="4.2"/>
        </c:scaling>
        <c:delete val="0"/>
        <c:axPos val="r"/>
        <c:numFmt formatCode="0.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1203"/>
        <c:crosses val="max"/>
        <c:crossBetween val="between"/>
        <c:majorUnit val="0.2"/>
      </c:valAx>
      <c:spPr>
        <a:noFill/>
        <a:ln>
          <a:noFill/>
        </a:ln>
      </c:spPr>
    </c:plotArea>
    <c:legend>
      <c:legendPos val="t"/>
      <c:layout>
        <c:manualLayout>
          <c:xMode val="edge"/>
          <c:yMode val="edge"/>
          <c:x val="0"/>
          <c:y val="0"/>
          <c:w val="1"/>
          <c:h val="0.11"/>
        </c:manualLayout>
      </c:layout>
      <c:overlay val="0"/>
      <c:txPr>
        <a:bodyPr/>
        <a:lstStyle/>
        <a:p>
          <a:pPr>
            <a:defRPr sz="800" b="1" i="0">
              <a:solidFill>
                <a:srgbClr val="000000"/>
              </a:solidFill>
              <a:latin typeface="Calibri"/>
            </a:defRPr>
          </a:pPr>
          <a:endParaRPr lang="en-US"/>
        </a:p>
      </c:txPr>
    </c:legend>
    <c:plotVisOnly val="1"/>
    <c:dispBlanksAs val="gap"/>
    <c:showDLblsOverMax val="1"/>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02"/>
          <c:y val="0.06"/>
          <c:w val="0.96"/>
          <c:h val="0.66"/>
        </c:manualLayout>
      </c:layout>
      <c:barChart>
        <c:barDir val="col"/>
        <c:grouping val="clustered"/>
        <c:varyColors val="0"/>
        <c:ser>
          <c:idx val="0"/>
          <c:order val="0"/>
          <c:tx>
            <c:strRef>
              <c:f>Sheet1!$B$1</c:f>
              <c:strCache>
                <c:ptCount val="1"/>
                <c:pt idx="0">
                  <c:v>YTD performance (%)</c:v>
                </c:pt>
              </c:strCache>
            </c:strRef>
          </c:tx>
          <c:spPr>
            <a:solidFill>
              <a:srgbClr val="0051A2"/>
            </a:solidFill>
            <a:ln>
              <a:noFill/>
            </a:ln>
          </c:spPr>
          <c:invertIfNegative val="0"/>
          <c:dPt>
            <c:idx val="0"/>
            <c:invertIfNegative val="0"/>
            <c:bubble3D val="0"/>
            <c:spPr>
              <a:solidFill>
                <a:srgbClr val="ED7D31"/>
              </a:solidFill>
              <a:ln>
                <a:noFill/>
              </a:ln>
            </c:spPr>
            <c:extLst>
              <c:ext xmlns:c16="http://schemas.microsoft.com/office/drawing/2014/chart" uri="{C3380CC4-5D6E-409C-BE32-E72D297353CC}">
                <c16:uniqueId val="{00000001-040B-F642-ABE1-192ED6ADFBC8}"/>
              </c:ext>
            </c:extLst>
          </c:dPt>
          <c:dPt>
            <c:idx val="1"/>
            <c:invertIfNegative val="0"/>
            <c:bubble3D val="0"/>
            <c:spPr>
              <a:solidFill>
                <a:srgbClr val="002060"/>
              </a:solidFill>
              <a:ln>
                <a:noFill/>
              </a:ln>
            </c:spPr>
            <c:extLst>
              <c:ext xmlns:c16="http://schemas.microsoft.com/office/drawing/2014/chart" uri="{C3380CC4-5D6E-409C-BE32-E72D297353CC}">
                <c16:uniqueId val="{00000003-040B-F642-ABE1-192ED6ADFBC8}"/>
              </c:ext>
            </c:extLst>
          </c:dPt>
          <c:dPt>
            <c:idx val="2"/>
            <c:invertIfNegative val="0"/>
            <c:bubble3D val="0"/>
            <c:extLst>
              <c:ext xmlns:c16="http://schemas.microsoft.com/office/drawing/2014/chart" uri="{C3380CC4-5D6E-409C-BE32-E72D297353CC}">
                <c16:uniqueId val="{00000005-040B-F642-ABE1-192ED6ADFBC8}"/>
              </c:ext>
            </c:extLst>
          </c:dPt>
          <c:dPt>
            <c:idx val="3"/>
            <c:invertIfNegative val="0"/>
            <c:bubble3D val="0"/>
            <c:extLst>
              <c:ext xmlns:c16="http://schemas.microsoft.com/office/drawing/2014/chart" uri="{C3380CC4-5D6E-409C-BE32-E72D297353CC}">
                <c16:uniqueId val="{00000007-040B-F642-ABE1-192ED6ADFBC8}"/>
              </c:ext>
            </c:extLst>
          </c:dPt>
          <c:dPt>
            <c:idx val="4"/>
            <c:invertIfNegative val="0"/>
            <c:bubble3D val="0"/>
            <c:extLst>
              <c:ext xmlns:c16="http://schemas.microsoft.com/office/drawing/2014/chart" uri="{C3380CC4-5D6E-409C-BE32-E72D297353CC}">
                <c16:uniqueId val="{00000009-040B-F642-ABE1-192ED6ADFBC8}"/>
              </c:ext>
            </c:extLst>
          </c:dPt>
          <c:dPt>
            <c:idx val="5"/>
            <c:invertIfNegative val="0"/>
            <c:bubble3D val="0"/>
            <c:extLst>
              <c:ext xmlns:c16="http://schemas.microsoft.com/office/drawing/2014/chart" uri="{C3380CC4-5D6E-409C-BE32-E72D297353CC}">
                <c16:uniqueId val="{0000000B-040B-F642-ABE1-192ED6ADFBC8}"/>
              </c:ext>
            </c:extLst>
          </c:dPt>
          <c:dPt>
            <c:idx val="6"/>
            <c:invertIfNegative val="0"/>
            <c:bubble3D val="0"/>
            <c:extLst>
              <c:ext xmlns:c16="http://schemas.microsoft.com/office/drawing/2014/chart" uri="{C3380CC4-5D6E-409C-BE32-E72D297353CC}">
                <c16:uniqueId val="{0000000D-040B-F642-ABE1-192ED6ADFBC8}"/>
              </c:ext>
            </c:extLst>
          </c:dPt>
          <c:dLbls>
            <c:numFmt formatCode="0.0" sourceLinked="0"/>
            <c:spPr>
              <a:noFill/>
              <a:ln>
                <a:noFill/>
              </a:ln>
            </c:spPr>
            <c:txPr>
              <a:bodyPr/>
              <a:lstStyle/>
              <a:p>
                <a:pPr>
                  <a:defRPr sz="800" b="1" i="0">
                    <a:solidFill>
                      <a:srgbClr val="000000"/>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SOX</c:v>
                </c:pt>
                <c:pt idx="1">
                  <c:v>Hyperscalers (avg.)</c:v>
                </c:pt>
                <c:pt idx="2">
                  <c:v>Meta</c:v>
                </c:pt>
                <c:pt idx="3">
                  <c:v>Amazon</c:v>
                </c:pt>
                <c:pt idx="4">
                  <c:v>Alphabet</c:v>
                </c:pt>
                <c:pt idx="5">
                  <c:v>Microsoft</c:v>
                </c:pt>
                <c:pt idx="6">
                  <c:v>Oracle</c:v>
                </c:pt>
              </c:strCache>
            </c:strRef>
          </c:cat>
          <c:val>
            <c:numRef>
              <c:f>Sheet1!$B$2:$B$8</c:f>
              <c:numCache>
                <c:formatCode>0.00</c:formatCode>
                <c:ptCount val="7"/>
                <c:pt idx="0">
                  <c:v>85.464168317654995</c:v>
                </c:pt>
                <c:pt idx="1">
                  <c:v>1.5497398175096102</c:v>
                </c:pt>
                <c:pt idx="2">
                  <c:v>10.300110590980015</c:v>
                </c:pt>
                <c:pt idx="3">
                  <c:v>8.9680270340525059</c:v>
                </c:pt>
                <c:pt idx="4">
                  <c:v>8.4608030592734362</c:v>
                </c:pt>
                <c:pt idx="5">
                  <c:v>7.0117034034986148</c:v>
                </c:pt>
                <c:pt idx="6">
                  <c:v>-26.991945000256521</c:v>
                </c:pt>
              </c:numCache>
            </c:numRef>
          </c:val>
          <c:extLst>
            <c:ext xmlns:c16="http://schemas.microsoft.com/office/drawing/2014/chart" uri="{C3380CC4-5D6E-409C-BE32-E72D297353CC}">
              <c16:uniqueId val="{0000000E-040B-F642-ABE1-192ED6ADFBC8}"/>
            </c:ext>
          </c:extLst>
        </c:ser>
        <c:dLbls>
          <c:showLegendKey val="0"/>
          <c:showVal val="0"/>
          <c:showCatName val="0"/>
          <c:showSerName val="0"/>
          <c:showPercent val="0"/>
          <c:showBubbleSize val="0"/>
        </c:dLbls>
        <c:gapWidth val="60"/>
        <c:axId val="1301"/>
        <c:axId val="1302"/>
      </c:barChart>
      <c:catAx>
        <c:axId val="1301"/>
        <c:scaling>
          <c:orientation val="minMax"/>
        </c:scaling>
        <c:delete val="0"/>
        <c:axPos val="b"/>
        <c:numFmt formatCode="General" sourceLinked="1"/>
        <c:majorTickMark val="none"/>
        <c:minorTickMark val="none"/>
        <c:tickLblPos val="low"/>
        <c:spPr>
          <a:ln w="9525">
            <a:solidFill>
              <a:srgbClr val="000000"/>
            </a:solidFill>
            <a:prstDash val="solid"/>
          </a:ln>
        </c:spPr>
        <c:txPr>
          <a:bodyPr rot="-2700000" vert="horz"/>
          <a:lstStyle/>
          <a:p>
            <a:pPr>
              <a:defRPr sz="700" b="0">
                <a:solidFill>
                  <a:srgbClr val="000000"/>
                </a:solidFill>
                <a:latin typeface="Calibri"/>
              </a:defRPr>
            </a:pPr>
            <a:endParaRPr lang="en-US"/>
          </a:p>
        </c:txPr>
        <c:crossAx val="1302"/>
        <c:crosses val="autoZero"/>
        <c:auto val="1"/>
        <c:lblAlgn val="ctr"/>
        <c:lblOffset val="100"/>
        <c:noMultiLvlLbl val="1"/>
      </c:catAx>
      <c:valAx>
        <c:axId val="1302"/>
        <c:scaling>
          <c:orientation val="minMax"/>
          <c:max val="100"/>
          <c:min val="-40"/>
        </c:scaling>
        <c:delete val="1"/>
        <c:axPos val="l"/>
        <c:numFmt formatCode="0" sourceLinked="0"/>
        <c:majorTickMark val="out"/>
        <c:minorTickMark val="none"/>
        <c:tickLblPos val="nextTo"/>
        <c:crossAx val="1301"/>
        <c:crosses val="autoZero"/>
        <c:crossBetween val="between"/>
        <c:majorUnit val="20"/>
      </c:valAx>
      <c:spPr>
        <a:noFill/>
        <a:ln>
          <a:noFill/>
        </a:ln>
      </c:spPr>
    </c:plotArea>
    <c:plotVisOnly val="1"/>
    <c:dispBlanksAs val="gap"/>
    <c:showDLblsOverMax val="1"/>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02"/>
          <c:y val="0.25"/>
          <c:w val="0.96"/>
          <c:h val="0.54"/>
        </c:manualLayout>
      </c:layout>
      <c:barChart>
        <c:barDir val="col"/>
        <c:grouping val="stacked"/>
        <c:varyColors val="0"/>
        <c:ser>
          <c:idx val="0"/>
          <c:order val="0"/>
          <c:tx>
            <c:strRef>
              <c:f>Sheet1!$B$1</c:f>
              <c:strCache>
                <c:ptCount val="1"/>
                <c:pt idx="0">
                  <c:v>Amazon</c:v>
                </c:pt>
              </c:strCache>
            </c:strRef>
          </c:tx>
          <c:spPr>
            <a:solidFill>
              <a:srgbClr val="0051A2"/>
            </a:solidFill>
            <a:ln w="6350">
              <a:solidFill>
                <a:srgbClr val="FFFFFF"/>
              </a:solidFill>
            </a:ln>
          </c:spPr>
          <c:invertIfNegative val="0"/>
          <c:dLbls>
            <c:numFmt formatCode="0.00" sourceLinked="0"/>
            <c:spPr>
              <a:noFill/>
              <a:ln>
                <a:noFill/>
              </a:ln>
            </c:spPr>
            <c:txPr>
              <a:bodyPr/>
              <a:lstStyle/>
              <a:p>
                <a:pPr>
                  <a:defRPr sz="700" b="1" i="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2025</c:v>
                </c:pt>
                <c:pt idx="1">
                  <c:v>2026 YTD</c:v>
                </c:pt>
              </c:strCache>
            </c:strRef>
          </c:cat>
          <c:val>
            <c:numRef>
              <c:f>Sheet1!$B$2:$B$3</c:f>
              <c:numCache>
                <c:formatCode>0.00</c:formatCode>
                <c:ptCount val="2"/>
                <c:pt idx="0">
                  <c:v>15</c:v>
                </c:pt>
                <c:pt idx="1">
                  <c:v>62</c:v>
                </c:pt>
              </c:numCache>
            </c:numRef>
          </c:val>
          <c:extLst>
            <c:ext xmlns:c16="http://schemas.microsoft.com/office/drawing/2014/chart" uri="{C3380CC4-5D6E-409C-BE32-E72D297353CC}">
              <c16:uniqueId val="{00000000-C4EF-554A-B497-D429B916A814}"/>
            </c:ext>
          </c:extLst>
        </c:ser>
        <c:ser>
          <c:idx val="1"/>
          <c:order val="1"/>
          <c:tx>
            <c:strRef>
              <c:f>Sheet1!$C$1</c:f>
              <c:strCache>
                <c:ptCount val="1"/>
                <c:pt idx="0">
                  <c:v>Alphabet</c:v>
                </c:pt>
              </c:strCache>
            </c:strRef>
          </c:tx>
          <c:spPr>
            <a:solidFill>
              <a:srgbClr val="002060"/>
            </a:solidFill>
            <a:ln w="6350">
              <a:solidFill>
                <a:srgbClr val="FFFFFF"/>
              </a:solidFill>
            </a:ln>
          </c:spPr>
          <c:invertIfNegative val="0"/>
          <c:dLbls>
            <c:numFmt formatCode="0.00" sourceLinked="0"/>
            <c:spPr>
              <a:noFill/>
              <a:ln>
                <a:noFill/>
              </a:ln>
            </c:spPr>
            <c:txPr>
              <a:bodyPr/>
              <a:lstStyle/>
              <a:p>
                <a:pPr>
                  <a:defRPr sz="700" b="1" i="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2025</c:v>
                </c:pt>
                <c:pt idx="1">
                  <c:v>2026 YTD</c:v>
                </c:pt>
              </c:strCache>
            </c:strRef>
          </c:cat>
          <c:val>
            <c:numRef>
              <c:f>Sheet1!$C$2:$C$3</c:f>
              <c:numCache>
                <c:formatCode>0.00</c:formatCode>
                <c:ptCount val="2"/>
                <c:pt idx="0">
                  <c:v>22.5</c:v>
                </c:pt>
                <c:pt idx="1">
                  <c:v>45</c:v>
                </c:pt>
              </c:numCache>
            </c:numRef>
          </c:val>
          <c:extLst>
            <c:ext xmlns:c16="http://schemas.microsoft.com/office/drawing/2014/chart" uri="{C3380CC4-5D6E-409C-BE32-E72D297353CC}">
              <c16:uniqueId val="{00000001-C4EF-554A-B497-D429B916A814}"/>
            </c:ext>
          </c:extLst>
        </c:ser>
        <c:ser>
          <c:idx val="2"/>
          <c:order val="2"/>
          <c:tx>
            <c:strRef>
              <c:f>Sheet1!$D$1</c:f>
              <c:strCache>
                <c:ptCount val="1"/>
                <c:pt idx="0">
                  <c:v>Meta</c:v>
                </c:pt>
              </c:strCache>
            </c:strRef>
          </c:tx>
          <c:spPr>
            <a:solidFill>
              <a:srgbClr val="ED7D31"/>
            </a:solidFill>
            <a:ln w="6350">
              <a:solidFill>
                <a:srgbClr val="FFFFFF"/>
              </a:solidFill>
            </a:ln>
          </c:spPr>
          <c:invertIfNegative val="0"/>
          <c:dLbls>
            <c:numFmt formatCode="0.00" sourceLinked="0"/>
            <c:spPr>
              <a:noFill/>
              <a:ln>
                <a:noFill/>
              </a:ln>
            </c:spPr>
            <c:txPr>
              <a:bodyPr/>
              <a:lstStyle/>
              <a:p>
                <a:pPr>
                  <a:defRPr sz="700" b="1" i="0">
                    <a:solidFill>
                      <a:srgbClr val="FFFFFF"/>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2025</c:v>
                </c:pt>
                <c:pt idx="1">
                  <c:v>2026 YTD</c:v>
                </c:pt>
              </c:strCache>
            </c:strRef>
          </c:cat>
          <c:val>
            <c:numRef>
              <c:f>Sheet1!$D$2:$D$3</c:f>
              <c:numCache>
                <c:formatCode>0.00</c:formatCode>
                <c:ptCount val="2"/>
                <c:pt idx="0">
                  <c:v>30</c:v>
                </c:pt>
                <c:pt idx="1">
                  <c:v>25</c:v>
                </c:pt>
              </c:numCache>
            </c:numRef>
          </c:val>
          <c:extLst>
            <c:ext xmlns:c16="http://schemas.microsoft.com/office/drawing/2014/chart" uri="{C3380CC4-5D6E-409C-BE32-E72D297353CC}">
              <c16:uniqueId val="{00000002-C4EF-554A-B497-D429B916A814}"/>
            </c:ext>
          </c:extLst>
        </c:ser>
        <c:ser>
          <c:idx val="3"/>
          <c:order val="3"/>
          <c:tx>
            <c:strRef>
              <c:f>Sheet1!$E$1</c:f>
              <c:strCache>
                <c:ptCount val="1"/>
                <c:pt idx="0">
                  <c:v>Oracle</c:v>
                </c:pt>
              </c:strCache>
            </c:strRef>
          </c:tx>
          <c:spPr>
            <a:solidFill>
              <a:srgbClr val="A5A5A5"/>
            </a:solidFill>
            <a:ln w="6350">
              <a:solidFill>
                <a:srgbClr val="FFFFFF"/>
              </a:solidFill>
            </a:ln>
          </c:spPr>
          <c:invertIfNegative val="0"/>
          <c:dLbls>
            <c:numFmt formatCode="0.00" sourceLinked="0"/>
            <c:spPr>
              <a:noFill/>
              <a:ln>
                <a:noFill/>
              </a:ln>
            </c:spPr>
            <c:txPr>
              <a:bodyPr/>
              <a:lstStyle/>
              <a:p>
                <a:pPr>
                  <a:defRPr sz="700" b="1" i="0">
                    <a:solidFill>
                      <a:srgbClr val="000000"/>
                    </a:solidFill>
                    <a:latin typeface="Calibri"/>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2025</c:v>
                </c:pt>
                <c:pt idx="1">
                  <c:v>2026 YTD</c:v>
                </c:pt>
              </c:strCache>
            </c:strRef>
          </c:cat>
          <c:val>
            <c:numRef>
              <c:f>Sheet1!$E$2:$E$3</c:f>
              <c:numCache>
                <c:formatCode>0.00</c:formatCode>
                <c:ptCount val="2"/>
                <c:pt idx="0">
                  <c:v>25.75</c:v>
                </c:pt>
                <c:pt idx="1">
                  <c:v>25</c:v>
                </c:pt>
              </c:numCache>
            </c:numRef>
          </c:val>
          <c:extLst>
            <c:ext xmlns:c16="http://schemas.microsoft.com/office/drawing/2014/chart" uri="{C3380CC4-5D6E-409C-BE32-E72D297353CC}">
              <c16:uniqueId val="{00000003-C4EF-554A-B497-D429B916A814}"/>
            </c:ext>
          </c:extLst>
        </c:ser>
        <c:dLbls>
          <c:showLegendKey val="0"/>
          <c:showVal val="0"/>
          <c:showCatName val="0"/>
          <c:showSerName val="0"/>
          <c:showPercent val="0"/>
          <c:showBubbleSize val="0"/>
        </c:dLbls>
        <c:gapWidth val="70"/>
        <c:overlap val="100"/>
        <c:axId val="8001"/>
        <c:axId val="8002"/>
      </c:barChart>
      <c:lineChart>
        <c:grouping val="standard"/>
        <c:varyColors val="0"/>
        <c:ser>
          <c:idx val="4"/>
          <c:order val="4"/>
          <c:tx>
            <c:strRef>
              <c:f>Sheet1!$F$1</c:f>
              <c:strCache>
                <c:ptCount val="1"/>
                <c:pt idx="0">
                  <c:v>Total</c:v>
                </c:pt>
              </c:strCache>
            </c:strRef>
          </c:tx>
          <c:spPr>
            <a:ln>
              <a:noFill/>
            </a:ln>
          </c:spPr>
          <c:marker>
            <c:symbol val="none"/>
          </c:marker>
          <c:dLbls>
            <c:dLbl>
              <c:idx val="0"/>
              <c:dLblPos val="t"/>
              <c:showLegendKey val="0"/>
              <c:showVal val="1"/>
              <c:showCatName val="0"/>
              <c:showSerName val="0"/>
              <c:showPercent val="0"/>
              <c:showBubbleSize val="0"/>
              <c:extLst>
                <c:ext xmlns:c15="http://schemas.microsoft.com/office/drawing/2012/chart" uri="{CE6537A1-D6FC-4f65-9D91-7224C49458BB}">
                  <c15:layout>
                    <c:manualLayout>
                      <c:w val="0.36"/>
                      <c:h val="0.11"/>
                    </c:manualLayout>
                  </c15:layout>
                </c:ext>
                <c:ext xmlns:c16="http://schemas.microsoft.com/office/drawing/2014/chart" uri="{C3380CC4-5D6E-409C-BE32-E72D297353CC}">
                  <c16:uniqueId val="{00000004-C4EF-554A-B497-D429B916A814}"/>
                </c:ext>
              </c:extLst>
            </c:dLbl>
            <c:dLbl>
              <c:idx val="1"/>
              <c:dLblPos val="t"/>
              <c:showLegendKey val="0"/>
              <c:showVal val="1"/>
              <c:showCatName val="0"/>
              <c:showSerName val="0"/>
              <c:showPercent val="0"/>
              <c:showBubbleSize val="0"/>
              <c:extLst>
                <c:ext xmlns:c15="http://schemas.microsoft.com/office/drawing/2012/chart" uri="{CE6537A1-D6FC-4f65-9D91-7224C49458BB}">
                  <c15:layout>
                    <c:manualLayout>
                      <c:w val="0.36"/>
                      <c:h val="0.11"/>
                    </c:manualLayout>
                  </c15:layout>
                </c:ext>
                <c:ext xmlns:c16="http://schemas.microsoft.com/office/drawing/2014/chart" uri="{C3380CC4-5D6E-409C-BE32-E72D297353CC}">
                  <c16:uniqueId val="{00000005-C4EF-554A-B497-D429B916A814}"/>
                </c:ext>
              </c:extLst>
            </c:dLbl>
            <c:numFmt formatCode="&quot;USD &quot;0.00&quot; Bn&quot;" sourceLinked="0"/>
            <c:spPr>
              <a:noFill/>
              <a:ln>
                <a:noFill/>
              </a:ln>
            </c:spPr>
            <c:txPr>
              <a:bodyPr/>
              <a:lstStyle/>
              <a:p>
                <a:pPr>
                  <a:defRPr sz="800" b="1" i="0">
                    <a:solidFill>
                      <a:srgbClr val="000000"/>
                    </a:solidFill>
                    <a:latin typeface="Calibri"/>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2025</c:v>
                </c:pt>
                <c:pt idx="1">
                  <c:v>2026 YTD</c:v>
                </c:pt>
              </c:strCache>
            </c:strRef>
          </c:cat>
          <c:val>
            <c:numRef>
              <c:f>Sheet1!$F$2:$F$3</c:f>
              <c:numCache>
                <c:formatCode>0.00</c:formatCode>
                <c:ptCount val="2"/>
                <c:pt idx="0">
                  <c:v>93.25</c:v>
                </c:pt>
                <c:pt idx="1">
                  <c:v>157</c:v>
                </c:pt>
              </c:numCache>
            </c:numRef>
          </c:val>
          <c:smooth val="0"/>
          <c:extLst>
            <c:ext xmlns:c16="http://schemas.microsoft.com/office/drawing/2014/chart" uri="{C3380CC4-5D6E-409C-BE32-E72D297353CC}">
              <c16:uniqueId val="{00000006-C4EF-554A-B497-D429B916A814}"/>
            </c:ext>
          </c:extLst>
        </c:ser>
        <c:dLbls>
          <c:showLegendKey val="0"/>
          <c:showVal val="0"/>
          <c:showCatName val="0"/>
          <c:showSerName val="0"/>
          <c:showPercent val="0"/>
          <c:showBubbleSize val="0"/>
        </c:dLbls>
        <c:marker val="1"/>
        <c:smooth val="0"/>
        <c:axId val="8001"/>
        <c:axId val="8002"/>
      </c:lineChart>
      <c:catAx>
        <c:axId val="8001"/>
        <c:scaling>
          <c:orientation val="minMax"/>
        </c:scaling>
        <c:delete val="0"/>
        <c:axPos val="b"/>
        <c:numFmt formatCode="General" sourceLinked="1"/>
        <c:majorTickMark val="none"/>
        <c:minorTickMark val="none"/>
        <c:tickLblPos val="low"/>
        <c:spPr>
          <a:ln w="9525">
            <a:solidFill>
              <a:srgbClr val="000000"/>
            </a:solidFill>
            <a:prstDash val="solid"/>
          </a:ln>
        </c:spPr>
        <c:txPr>
          <a:bodyPr/>
          <a:lstStyle/>
          <a:p>
            <a:pPr>
              <a:defRPr sz="800" b="0" i="0">
                <a:solidFill>
                  <a:srgbClr val="000000"/>
                </a:solidFill>
                <a:latin typeface="Calibri"/>
              </a:defRPr>
            </a:pPr>
            <a:endParaRPr lang="en-US"/>
          </a:p>
        </c:txPr>
        <c:crossAx val="8002"/>
        <c:crosses val="autoZero"/>
        <c:auto val="1"/>
        <c:lblAlgn val="ctr"/>
        <c:lblOffset val="100"/>
        <c:noMultiLvlLbl val="1"/>
      </c:catAx>
      <c:valAx>
        <c:axId val="8002"/>
        <c:scaling>
          <c:orientation val="minMax"/>
          <c:max val="180"/>
          <c:min val="0"/>
        </c:scaling>
        <c:delete val="1"/>
        <c:axPos val="l"/>
        <c:numFmt formatCode="0" sourceLinked="0"/>
        <c:majorTickMark val="out"/>
        <c:minorTickMark val="none"/>
        <c:tickLblPos val="nextTo"/>
        <c:crossAx val="8001"/>
        <c:crosses val="autoZero"/>
        <c:crossBetween val="between"/>
        <c:majorUnit val="20"/>
      </c:valAx>
      <c:spPr>
        <a:noFill/>
        <a:ln>
          <a:noFill/>
        </a:ln>
      </c:spPr>
    </c:plotArea>
    <c:legend>
      <c:legendPos val="t"/>
      <c:legendEntry>
        <c:idx val="4"/>
        <c:delete val="1"/>
      </c:legendEntry>
      <c:layout>
        <c:manualLayout>
          <c:xMode val="edge"/>
          <c:yMode val="edge"/>
          <c:x val="0"/>
          <c:y val="0"/>
          <c:w val="1"/>
          <c:h val="0.11"/>
        </c:manualLayout>
      </c:layout>
      <c:overlay val="0"/>
      <c:txPr>
        <a:bodyPr/>
        <a:lstStyle/>
        <a:p>
          <a:pPr>
            <a:defRPr sz="800" b="1" i="0">
              <a:solidFill>
                <a:srgbClr val="000000"/>
              </a:solidFill>
              <a:latin typeface="Calibri"/>
            </a:defRPr>
          </a:pPr>
          <a:endParaRPr lang="en-US"/>
        </a:p>
      </c:txPr>
    </c:legend>
    <c:plotVisOnly val="1"/>
    <c:dispBlanksAs val="gap"/>
    <c:showDLblsOverMax val="1"/>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1"/>
          <c:y val="0.15"/>
          <c:w val="0.76"/>
          <c:h val="0.56000000000000005"/>
        </c:manualLayout>
      </c:layout>
      <c:lineChart>
        <c:grouping val="standard"/>
        <c:varyColors val="0"/>
        <c:ser>
          <c:idx val="0"/>
          <c:order val="0"/>
          <c:tx>
            <c:strRef>
              <c:f>Sheet1!$B$1</c:f>
              <c:strCache>
                <c:ptCount val="1"/>
                <c:pt idx="0">
                  <c:v>FX Reserves, USD Bn (L)</c:v>
                </c:pt>
              </c:strCache>
            </c:strRef>
          </c:tx>
          <c:spPr>
            <a:ln w="25400" cap="rnd">
              <a:solidFill>
                <a:srgbClr val="0051A2"/>
              </a:solidFill>
              <a:prstDash val="solid"/>
              <a:round/>
            </a:ln>
          </c:spPr>
          <c:marker>
            <c:symbol val="circle"/>
            <c:size val="4"/>
            <c:spPr>
              <a:solidFill>
                <a:srgbClr val="0051A2"/>
              </a:solidFill>
              <a:ln>
                <a:noFill/>
              </a:ln>
            </c:spPr>
          </c:marker>
          <c:dLbls>
            <c:dLbl>
              <c:idx val="2"/>
              <c:numFmt formatCode="0.0" sourceLinked="0"/>
              <c:spPr>
                <a:solidFill>
                  <a:srgbClr val="0051A2"/>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325D-1645-A70B-9239E5225ECF}"/>
                </c:ext>
              </c:extLst>
            </c:dLbl>
            <c:dLbl>
              <c:idx val="10"/>
              <c:numFmt formatCode="0.0" sourceLinked="0"/>
              <c:spPr>
                <a:solidFill>
                  <a:srgbClr val="0051A2"/>
                </a:solidFill>
                <a:ln>
                  <a:noFill/>
                </a:ln>
              </c:spPr>
              <c:txPr>
                <a:bodyPr/>
                <a:lstStyle/>
                <a:p>
                  <a:pPr>
                    <a:defRPr sz="800" b="1" i="0">
                      <a:solidFill>
                        <a:srgbClr val="FFFFFF"/>
                      </a:solidFill>
                      <a:latin typeface="Calibri"/>
                    </a:defRPr>
                  </a:pPr>
                  <a:endParaRPr lang="en-US"/>
                </a:p>
              </c:txPr>
              <c:dLblPos val="b"/>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325D-1645-A70B-9239E5225ECF}"/>
                </c:ext>
              </c:extLst>
            </c:dLbl>
            <c:spPr>
              <a:noFill/>
              <a:ln>
                <a:noFill/>
              </a:ln>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Sheet1!$A$2:$A$12</c:f>
              <c:strCache>
                <c:ptCount val="11"/>
                <c:pt idx="0">
                  <c:v>Oct-25</c:v>
                </c:pt>
                <c:pt idx="1">
                  <c:v>Nov-25</c:v>
                </c:pt>
                <c:pt idx="2">
                  <c:v>Dec-25</c:v>
                </c:pt>
                <c:pt idx="3">
                  <c:v>Jan-26</c:v>
                </c:pt>
                <c:pt idx="4">
                  <c:v>Feb-26</c:v>
                </c:pt>
                <c:pt idx="5">
                  <c:v>Mar-26</c:v>
                </c:pt>
                <c:pt idx="6">
                  <c:v>Apr-26</c:v>
                </c:pt>
                <c:pt idx="7">
                  <c:v>May-26</c:v>
                </c:pt>
                <c:pt idx="8">
                  <c:v>Jun-26</c:v>
                </c:pt>
                <c:pt idx="9">
                  <c:v>Jul-26</c:v>
                </c:pt>
                <c:pt idx="10">
                  <c:v>Aug-26</c:v>
                </c:pt>
              </c:strCache>
            </c:strRef>
          </c:cat>
          <c:val>
            <c:numRef>
              <c:f>Sheet1!$B$2:$B$12</c:f>
              <c:numCache>
                <c:formatCode>0.0000</c:formatCode>
                <c:ptCount val="11"/>
                <c:pt idx="0">
                  <c:v>149.93260000000001</c:v>
                </c:pt>
                <c:pt idx="1">
                  <c:v>150.06100000000001</c:v>
                </c:pt>
                <c:pt idx="2">
                  <c:v>156.471</c:v>
                </c:pt>
                <c:pt idx="3">
                  <c:v>154.5805</c:v>
                </c:pt>
                <c:pt idx="4">
                  <c:v>151.90119999999999</c:v>
                </c:pt>
                <c:pt idx="5">
                  <c:v>148.15020000000001</c:v>
                </c:pt>
                <c:pt idx="6">
                  <c:v>146.202</c:v>
                </c:pt>
                <c:pt idx="7">
                  <c:v>144.89840000000001</c:v>
                </c:pt>
                <c:pt idx="8">
                  <c:v>145.59360000000001</c:v>
                </c:pt>
                <c:pt idx="9">
                  <c:v>145.34379999999999</c:v>
                </c:pt>
                <c:pt idx="10">
                  <c:v>146.5076</c:v>
                </c:pt>
              </c:numCache>
            </c:numRef>
          </c:val>
          <c:smooth val="0"/>
          <c:extLst>
            <c:ext xmlns:c16="http://schemas.microsoft.com/office/drawing/2014/chart" uri="{C3380CC4-5D6E-409C-BE32-E72D297353CC}">
              <c16:uniqueId val="{00000002-325D-1645-A70B-9239E5225ECF}"/>
            </c:ext>
          </c:extLst>
        </c:ser>
        <c:dLbls>
          <c:showLegendKey val="0"/>
          <c:showVal val="0"/>
          <c:showCatName val="0"/>
          <c:showSerName val="0"/>
          <c:showPercent val="0"/>
          <c:showBubbleSize val="0"/>
        </c:dLbls>
        <c:marker val="1"/>
        <c:smooth val="0"/>
        <c:axId val="1501"/>
        <c:axId val="1502"/>
      </c:lineChart>
      <c:lineChart>
        <c:grouping val="standard"/>
        <c:varyColors val="0"/>
        <c:ser>
          <c:idx val="1"/>
          <c:order val="1"/>
          <c:tx>
            <c:strRef>
              <c:f>Sheet1!$C$1</c:f>
              <c:strCache>
                <c:ptCount val="1"/>
                <c:pt idx="0">
                  <c:v>USD/IDR (R)</c:v>
                </c:pt>
              </c:strCache>
            </c:strRef>
          </c:tx>
          <c:spPr>
            <a:ln w="22225" cap="rnd">
              <a:solidFill>
                <a:srgbClr val="ED7D31"/>
              </a:solidFill>
              <a:prstDash val="solid"/>
              <a:round/>
            </a:ln>
          </c:spPr>
          <c:marker>
            <c:symbol val="circle"/>
            <c:size val="4"/>
            <c:spPr>
              <a:solidFill>
                <a:srgbClr val="ED7D31"/>
              </a:solidFill>
              <a:ln>
                <a:noFill/>
              </a:ln>
            </c:spPr>
          </c:marker>
          <c:dLbls>
            <c:dLbl>
              <c:idx val="10"/>
              <c:numFmt formatCode="#,##0" sourceLinked="0"/>
              <c:spPr>
                <a:solidFill>
                  <a:srgbClr val="ED7D31"/>
                </a:solidFill>
                <a:ln>
                  <a:noFill/>
                </a:ln>
              </c:spPr>
              <c:txPr>
                <a:bodyPr/>
                <a:lstStyle/>
                <a:p>
                  <a:pPr>
                    <a:defRPr sz="800" b="1" i="0">
                      <a:solidFill>
                        <a:srgbClr val="FFFFFF"/>
                      </a:solidFill>
                      <a:latin typeface="Calibri"/>
                    </a:defRPr>
                  </a:pPr>
                  <a:endParaRPr lang="en-US"/>
                </a:p>
              </c:txPr>
              <c:dLblPos val="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325D-1645-A70B-9239E5225ECF}"/>
                </c:ext>
              </c:extLst>
            </c:dLbl>
            <c:spPr>
              <a:noFill/>
              <a:ln>
                <a:noFill/>
              </a:ln>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Sheet1!$A$2:$A$12</c:f>
              <c:strCache>
                <c:ptCount val="11"/>
                <c:pt idx="0">
                  <c:v>Oct-25</c:v>
                </c:pt>
                <c:pt idx="1">
                  <c:v>Nov-25</c:v>
                </c:pt>
                <c:pt idx="2">
                  <c:v>Dec-25</c:v>
                </c:pt>
                <c:pt idx="3">
                  <c:v>Jan-26</c:v>
                </c:pt>
                <c:pt idx="4">
                  <c:v>Feb-26</c:v>
                </c:pt>
                <c:pt idx="5">
                  <c:v>Mar-26</c:v>
                </c:pt>
                <c:pt idx="6">
                  <c:v>Apr-26</c:v>
                </c:pt>
                <c:pt idx="7">
                  <c:v>May-26</c:v>
                </c:pt>
                <c:pt idx="8">
                  <c:v>Jun-26</c:v>
                </c:pt>
                <c:pt idx="9">
                  <c:v>Jul-26</c:v>
                </c:pt>
                <c:pt idx="10">
                  <c:v>Aug-26</c:v>
                </c:pt>
              </c:strCache>
            </c:strRef>
          </c:cat>
          <c:val>
            <c:numRef>
              <c:f>Sheet1!$C$2:$C$12</c:f>
              <c:numCache>
                <c:formatCode>0.0000</c:formatCode>
                <c:ptCount val="11"/>
                <c:pt idx="0">
                  <c:v>16630</c:v>
                </c:pt>
                <c:pt idx="1">
                  <c:v>16660</c:v>
                </c:pt>
                <c:pt idx="2">
                  <c:v>16690</c:v>
                </c:pt>
                <c:pt idx="3">
                  <c:v>16785</c:v>
                </c:pt>
                <c:pt idx="4">
                  <c:v>16771</c:v>
                </c:pt>
                <c:pt idx="5">
                  <c:v>16995</c:v>
                </c:pt>
                <c:pt idx="6">
                  <c:v>17353</c:v>
                </c:pt>
                <c:pt idx="7">
                  <c:v>17874</c:v>
                </c:pt>
                <c:pt idx="8">
                  <c:v>17882</c:v>
                </c:pt>
                <c:pt idx="9">
                  <c:v>18000</c:v>
                </c:pt>
                <c:pt idx="10">
                  <c:v>17720</c:v>
                </c:pt>
              </c:numCache>
            </c:numRef>
          </c:val>
          <c:smooth val="0"/>
          <c:extLst>
            <c:ext xmlns:c16="http://schemas.microsoft.com/office/drawing/2014/chart" uri="{C3380CC4-5D6E-409C-BE32-E72D297353CC}">
              <c16:uniqueId val="{00000004-325D-1645-A70B-9239E5225ECF}"/>
            </c:ext>
          </c:extLst>
        </c:ser>
        <c:dLbls>
          <c:showLegendKey val="0"/>
          <c:showVal val="0"/>
          <c:showCatName val="0"/>
          <c:showSerName val="0"/>
          <c:showPercent val="0"/>
          <c:showBubbleSize val="0"/>
        </c:dLbls>
        <c:marker val="1"/>
        <c:smooth val="0"/>
        <c:axId val="1503"/>
        <c:axId val="1504"/>
      </c:lineChart>
      <c:catAx>
        <c:axId val="1501"/>
        <c:scaling>
          <c:orientation val="minMax"/>
        </c:scaling>
        <c:delete val="0"/>
        <c:axPos val="b"/>
        <c:numFmt formatCode="General" sourceLinked="1"/>
        <c:majorTickMark val="out"/>
        <c:minorTickMark val="none"/>
        <c:tickLblPos val="low"/>
        <c:spPr>
          <a:ln w="9525">
            <a:solidFill>
              <a:srgbClr val="000000"/>
            </a:solidFill>
            <a:prstDash val="solid"/>
          </a:ln>
        </c:spPr>
        <c:txPr>
          <a:bodyPr rot="-2700000" vert="horz"/>
          <a:lstStyle/>
          <a:p>
            <a:pPr>
              <a:defRPr sz="700" b="0">
                <a:solidFill>
                  <a:srgbClr val="000000"/>
                </a:solidFill>
                <a:latin typeface="Calibri"/>
              </a:defRPr>
            </a:pPr>
            <a:endParaRPr lang="en-US"/>
          </a:p>
        </c:txPr>
        <c:crossAx val="1502"/>
        <c:crosses val="autoZero"/>
        <c:auto val="1"/>
        <c:lblAlgn val="ctr"/>
        <c:lblOffset val="100"/>
        <c:noMultiLvlLbl val="1"/>
      </c:catAx>
      <c:valAx>
        <c:axId val="1502"/>
        <c:scaling>
          <c:orientation val="minMax"/>
          <c:max val="160"/>
          <c:min val="140"/>
        </c:scaling>
        <c:delete val="0"/>
        <c:axPos val="l"/>
        <c:numFmt formatCode="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1501"/>
        <c:crosses val="autoZero"/>
        <c:crossBetween val="between"/>
        <c:majorUnit val="5"/>
      </c:valAx>
      <c:catAx>
        <c:axId val="1503"/>
        <c:scaling>
          <c:orientation val="minMax"/>
        </c:scaling>
        <c:delete val="1"/>
        <c:axPos val="b"/>
        <c:numFmt formatCode="General" sourceLinked="1"/>
        <c:majorTickMark val="none"/>
        <c:minorTickMark val="none"/>
        <c:tickLblPos val="low"/>
        <c:crossAx val="1504"/>
        <c:crosses val="autoZero"/>
        <c:auto val="1"/>
        <c:lblAlgn val="ctr"/>
        <c:lblOffset val="100"/>
        <c:noMultiLvlLbl val="1"/>
      </c:catAx>
      <c:valAx>
        <c:axId val="1504"/>
        <c:scaling>
          <c:orientation val="minMax"/>
          <c:max val="18400"/>
          <c:min val="16400"/>
        </c:scaling>
        <c:delete val="0"/>
        <c:axPos val="r"/>
        <c:numFmt formatCode="#,##0" sourceLinked="0"/>
        <c:majorTickMark val="out"/>
        <c:minorTickMark val="none"/>
        <c:tickLblPos val="nextTo"/>
        <c:spPr>
          <a:ln w="9525">
            <a:solidFill>
              <a:srgbClr val="000000"/>
            </a:solidFill>
            <a:prstDash val="solid"/>
          </a:ln>
        </c:spPr>
        <c:txPr>
          <a:bodyPr/>
          <a:lstStyle/>
          <a:p>
            <a:pPr>
              <a:defRPr sz="800" b="0" i="0">
                <a:solidFill>
                  <a:srgbClr val="000000"/>
                </a:solidFill>
                <a:latin typeface="Calibri"/>
              </a:defRPr>
            </a:pPr>
            <a:endParaRPr lang="en-US"/>
          </a:p>
        </c:txPr>
        <c:crossAx val="1503"/>
        <c:crosses val="max"/>
        <c:crossBetween val="between"/>
        <c:majorUnit val="500"/>
      </c:valAx>
      <c:spPr>
        <a:noFill/>
        <a:ln>
          <a:noFill/>
        </a:ln>
      </c:spPr>
    </c:plotArea>
    <c:legend>
      <c:legendPos val="t"/>
      <c:layout>
        <c:manualLayout>
          <c:xMode val="edge"/>
          <c:yMode val="edge"/>
          <c:x val="0"/>
          <c:y val="0"/>
          <c:w val="1"/>
          <c:h val="0.11"/>
        </c:manualLayout>
      </c:layout>
      <c:overlay val="0"/>
      <c:txPr>
        <a:bodyPr/>
        <a:lstStyle/>
        <a:p>
          <a:pPr>
            <a:defRPr sz="800" b="1" i="0">
              <a:solidFill>
                <a:srgbClr val="000000"/>
              </a:solidFill>
              <a:latin typeface="Calibri"/>
            </a:defRPr>
          </a:pPr>
          <a:endParaRPr lang="en-US"/>
        </a:p>
      </c:txPr>
    </c:legend>
    <c:plotVisOnly val="1"/>
    <c:dispBlanksAs val="gap"/>
    <c:showDLblsOverMax val="1"/>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manualLayout>
          <c:layoutTarget val="inner"/>
          <c:xMode val="edge"/>
          <c:yMode val="edge"/>
          <c:x val="0.02"/>
          <c:y val="0.06"/>
          <c:w val="0.96"/>
          <c:h val="0.66"/>
        </c:manualLayout>
      </c:layout>
      <c:barChart>
        <c:barDir val="col"/>
        <c:grouping val="clustered"/>
        <c:varyColors val="0"/>
        <c:ser>
          <c:idx val="0"/>
          <c:order val="0"/>
          <c:tx>
            <c:strRef>
              <c:f>Sheet1!$B$1</c:f>
              <c:strCache>
                <c:ptCount val="1"/>
                <c:pt idx="0">
                  <c:v>Trade balance (USD bn)</c:v>
                </c:pt>
              </c:strCache>
            </c:strRef>
          </c:tx>
          <c:spPr>
            <a:solidFill>
              <a:srgbClr val="0051A2"/>
            </a:solidFill>
            <a:ln>
              <a:noFill/>
            </a:ln>
          </c:spPr>
          <c:invertIfNegative val="0"/>
          <c:dPt>
            <c:idx val="11"/>
            <c:invertIfNegative val="0"/>
            <c:bubble3D val="0"/>
            <c:spPr>
              <a:solidFill>
                <a:srgbClr val="ED7D31"/>
              </a:solidFill>
              <a:ln>
                <a:noFill/>
              </a:ln>
            </c:spPr>
            <c:extLst>
              <c:ext xmlns:c16="http://schemas.microsoft.com/office/drawing/2014/chart" uri="{C3380CC4-5D6E-409C-BE32-E72D297353CC}">
                <c16:uniqueId val="{00000001-4E7C-AD4B-8D85-E46A2EA4921A}"/>
              </c:ext>
            </c:extLst>
          </c:dPt>
          <c:dLbls>
            <c:dLbl>
              <c:idx val="11"/>
              <c:numFmt formatCode="0.00" sourceLinked="0"/>
              <c:spPr>
                <a:solidFill>
                  <a:srgbClr val="ED7D31"/>
                </a:solidFill>
                <a:ln>
                  <a:noFill/>
                </a:ln>
              </c:spPr>
              <c:txPr>
                <a:bodyPr/>
                <a:lstStyle/>
                <a:p>
                  <a:pPr>
                    <a:defRPr sz="800" b="1" i="0">
                      <a:solidFill>
                        <a:srgbClr val="FFFFFF"/>
                      </a:solidFill>
                      <a:latin typeface="Calibri"/>
                    </a:defRPr>
                  </a:pPr>
                  <a:endParaRPr lang="en-US"/>
                </a:p>
              </c:txPr>
              <c:dLblPos val="outEnd"/>
              <c:showLegendKey val="0"/>
              <c:showVal val="1"/>
              <c:showCatName val="0"/>
              <c:showSerName val="0"/>
              <c:showPercent val="0"/>
              <c:showBubbleSize val="0"/>
              <c:extLst>
                <c:ext xmlns:c16="http://schemas.microsoft.com/office/drawing/2014/chart" uri="{C3380CC4-5D6E-409C-BE32-E72D297353CC}">
                  <c16:uniqueId val="{00000001-4E7C-AD4B-8D85-E46A2EA4921A}"/>
                </c:ext>
              </c:extLst>
            </c:dLbl>
            <c:numFmt formatCode="0.0" sourceLinked="0"/>
            <c:spPr>
              <a:noFill/>
              <a:ln>
                <a:noFill/>
              </a:ln>
            </c:spPr>
            <c:txPr>
              <a:bodyPr/>
              <a:lstStyle/>
              <a:p>
                <a:pPr>
                  <a:defRPr sz="700" b="1" i="0">
                    <a:solidFill>
                      <a:srgbClr val="000000"/>
                    </a:solidFill>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Sheet1!$A$2:$A$13</c:f>
              <c:strCache>
                <c:ptCount val="12"/>
                <c:pt idx="0">
                  <c:v>Sep-25</c:v>
                </c:pt>
                <c:pt idx="1">
                  <c:v>Oct-25</c:v>
                </c:pt>
                <c:pt idx="2">
                  <c:v>Nov-25</c:v>
                </c:pt>
                <c:pt idx="3">
                  <c:v>Dec-25</c:v>
                </c:pt>
                <c:pt idx="4">
                  <c:v>Jan-26</c:v>
                </c:pt>
                <c:pt idx="5">
                  <c:v>Feb-26</c:v>
                </c:pt>
                <c:pt idx="6">
                  <c:v>Mar-26</c:v>
                </c:pt>
                <c:pt idx="7">
                  <c:v>Apr-26</c:v>
                </c:pt>
                <c:pt idx="8">
                  <c:v>May-26</c:v>
                </c:pt>
                <c:pt idx="9">
                  <c:v>Jun-26</c:v>
                </c:pt>
                <c:pt idx="10">
                  <c:v>Jul-26</c:v>
                </c:pt>
                <c:pt idx="11">
                  <c:v>Aug-26</c:v>
                </c:pt>
              </c:strCache>
            </c:strRef>
          </c:cat>
          <c:val>
            <c:numRef>
              <c:f>Sheet1!$B$2:$B$13</c:f>
              <c:numCache>
                <c:formatCode>0.00</c:formatCode>
                <c:ptCount val="12"/>
                <c:pt idx="0">
                  <c:v>4.1980000000000004</c:v>
                </c:pt>
                <c:pt idx="1">
                  <c:v>2.3738000000000001</c:v>
                </c:pt>
                <c:pt idx="2">
                  <c:v>2.7048999999999999</c:v>
                </c:pt>
                <c:pt idx="3">
                  <c:v>2.5190999999999999</c:v>
                </c:pt>
                <c:pt idx="4">
                  <c:v>0.95430000000000004</c:v>
                </c:pt>
                <c:pt idx="5">
                  <c:v>1.2733000000000001</c:v>
                </c:pt>
                <c:pt idx="6">
                  <c:v>3.3210000000000002</c:v>
                </c:pt>
                <c:pt idx="7">
                  <c:v>8.9099999999999999E-2</c:v>
                </c:pt>
                <c:pt idx="8">
                  <c:v>-1.6102000000000001</c:v>
                </c:pt>
                <c:pt idx="9">
                  <c:v>-0.45050000000000001</c:v>
                </c:pt>
                <c:pt idx="10">
                  <c:v>0.12189999999999999</c:v>
                </c:pt>
                <c:pt idx="11">
                  <c:v>3.5522</c:v>
                </c:pt>
              </c:numCache>
            </c:numRef>
          </c:val>
          <c:extLst>
            <c:ext xmlns:c16="http://schemas.microsoft.com/office/drawing/2014/chart" uri="{C3380CC4-5D6E-409C-BE32-E72D297353CC}">
              <c16:uniqueId val="{00000002-4E7C-AD4B-8D85-E46A2EA4921A}"/>
            </c:ext>
          </c:extLst>
        </c:ser>
        <c:dLbls>
          <c:showLegendKey val="0"/>
          <c:showVal val="0"/>
          <c:showCatName val="0"/>
          <c:showSerName val="0"/>
          <c:showPercent val="0"/>
          <c:showBubbleSize val="0"/>
        </c:dLbls>
        <c:gapWidth val="50"/>
        <c:axId val="9001"/>
        <c:axId val="9002"/>
      </c:barChart>
      <c:catAx>
        <c:axId val="9001"/>
        <c:scaling>
          <c:orientation val="minMax"/>
        </c:scaling>
        <c:delete val="0"/>
        <c:axPos val="b"/>
        <c:numFmt formatCode="General" sourceLinked="1"/>
        <c:majorTickMark val="none"/>
        <c:minorTickMark val="none"/>
        <c:tickLblPos val="low"/>
        <c:spPr>
          <a:ln w="9525">
            <a:solidFill>
              <a:srgbClr val="000000"/>
            </a:solidFill>
            <a:prstDash val="solid"/>
          </a:ln>
        </c:spPr>
        <c:txPr>
          <a:bodyPr rot="-2700000" vert="horz"/>
          <a:lstStyle/>
          <a:p>
            <a:pPr>
              <a:defRPr sz="700" b="0">
                <a:solidFill>
                  <a:srgbClr val="000000"/>
                </a:solidFill>
                <a:latin typeface="Calibri"/>
              </a:defRPr>
            </a:pPr>
            <a:endParaRPr lang="en-US"/>
          </a:p>
        </c:txPr>
        <c:crossAx val="9002"/>
        <c:crosses val="autoZero"/>
        <c:auto val="1"/>
        <c:lblAlgn val="ctr"/>
        <c:lblOffset val="100"/>
        <c:noMultiLvlLbl val="1"/>
      </c:catAx>
      <c:valAx>
        <c:axId val="9002"/>
        <c:scaling>
          <c:orientation val="minMax"/>
          <c:max val="5"/>
          <c:min val="-2.5"/>
        </c:scaling>
        <c:delete val="1"/>
        <c:axPos val="l"/>
        <c:numFmt formatCode="0.0" sourceLinked="0"/>
        <c:majorTickMark val="out"/>
        <c:minorTickMark val="none"/>
        <c:tickLblPos val="nextTo"/>
        <c:crossAx val="9001"/>
        <c:crosses val="autoZero"/>
        <c:crossBetween val="between"/>
        <c:majorUnit val="1"/>
      </c:valAx>
      <c:spPr>
        <a:noFill/>
        <a:ln>
          <a:noFill/>
        </a:ln>
      </c:spPr>
    </c:plotArea>
    <c:plotVisOnly val="1"/>
    <c:dispBlanksAs val="gap"/>
    <c:showDLblsOverMax val="1"/>
  </c:chart>
  <c:spPr>
    <a:solidFill>
      <a:srgbClr val="FFFFFF"/>
    </a:solidFill>
    <a:ln>
      <a:noFill/>
    </a:ln>
  </c:spPr>
  <c:txPr>
    <a:bodyPr/>
    <a:lstStyle/>
    <a:p>
      <a:pPr>
        <a:defRPr sz="800" b="0" i="0">
          <a:solidFill>
            <a:srgbClr val="000000"/>
          </a:solidFill>
          <a:latin typeface="Calibri"/>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907"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1048908"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C9A8AE1-4BCC-1947-B019-350BB873436E}" type="datetimeFigureOut">
              <a:rPr lang="en-US" smtClean="0"/>
              <a:t>10/6/26</a:t>
            </a:fld>
            <a:endParaRPr lang="en-US"/>
          </a:p>
        </p:txBody>
      </p:sp>
      <p:sp>
        <p:nvSpPr>
          <p:cNvPr id="1048909"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1048910"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AC3932C-02E6-FF41-B5D9-852B3DF5DCC8}"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901"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1048902" name="Date Placeholder 2"/>
          <p:cNvSpPr>
            <a:spLocks noGrp="1"/>
          </p:cNvSpPr>
          <p:nvPr>
            <p:ph type="dt" idx="1"/>
          </p:nvPr>
        </p:nvSpPr>
        <p:spPr>
          <a:xfrm>
            <a:off x="3885010" y="0"/>
            <a:ext cx="2971800" cy="457200"/>
          </a:xfrm>
          <a:prstGeom prst="rect">
            <a:avLst/>
          </a:prstGeom>
        </p:spPr>
        <p:txBody>
          <a:bodyPr vert="horz" lIns="91440" tIns="45720" rIns="91440" bIns="45720" rtlCol="0"/>
          <a:lstStyle>
            <a:lvl1pPr algn="r">
              <a:defRPr sz="1200"/>
            </a:lvl1pPr>
          </a:lstStyle>
          <a:p>
            <a:fld id="{49CCFED1-E03E-462D-962A-1A36BFBBCABD}" type="datetimeFigureOut">
              <a:rPr lang="en-US" smtClean="0"/>
              <a:t>10/6/26</a:t>
            </a:fld>
            <a:endParaRPr lang="en-US"/>
          </a:p>
        </p:txBody>
      </p:sp>
      <p:sp>
        <p:nvSpPr>
          <p:cNvPr id="1048903" name="Slide Image Placeholder 3"/>
          <p:cNvSpPr>
            <a:spLocks noGrp="1" noRot="1" noChangeAspect="1"/>
          </p:cNvSpPr>
          <p:nvPr>
            <p:ph type="sldImg" idx="2"/>
          </p:nvPr>
        </p:nvSpPr>
        <p:spPr>
          <a:xfrm>
            <a:off x="2143125" y="685800"/>
            <a:ext cx="2571750" cy="3429000"/>
          </a:xfrm>
          <a:prstGeom prst="rect">
            <a:avLst/>
          </a:prstGeom>
          <a:noFill/>
          <a:ln w="12700">
            <a:solidFill>
              <a:prstClr val="black"/>
            </a:solidFill>
          </a:ln>
        </p:spPr>
        <p:txBody>
          <a:bodyPr vert="horz" lIns="91440" tIns="45720" rIns="91440" bIns="45720" rtlCol="0" anchor="ctr"/>
          <a:lstStyle/>
          <a:p>
            <a:endParaRPr lang="en-US"/>
          </a:p>
        </p:txBody>
      </p:sp>
      <p:sp>
        <p:nvSpPr>
          <p:cNvPr id="1048904"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905" name="Footer Placeholder 5"/>
          <p:cNvSpPr>
            <a:spLocks noGrp="1"/>
          </p:cNvSpPr>
          <p:nvPr>
            <p:ph type="ftr" sz="quarter" idx="4"/>
          </p:nvPr>
        </p:nvSpPr>
        <p:spPr>
          <a:xfrm>
            <a:off x="0" y="8684684"/>
            <a:ext cx="2971800" cy="457200"/>
          </a:xfrm>
          <a:prstGeom prst="rect">
            <a:avLst/>
          </a:prstGeom>
        </p:spPr>
        <p:txBody>
          <a:bodyPr vert="horz" lIns="91440" tIns="45720" rIns="91440" bIns="45720" rtlCol="0" anchor="b"/>
          <a:lstStyle>
            <a:lvl1pPr algn="l">
              <a:defRPr sz="1200"/>
            </a:lvl1pPr>
          </a:lstStyle>
          <a:p>
            <a:endParaRPr lang="en-US"/>
          </a:p>
        </p:txBody>
      </p:sp>
      <p:sp>
        <p:nvSpPr>
          <p:cNvPr id="1048906" name="Slide Number Placeholder 6"/>
          <p:cNvSpPr>
            <a:spLocks noGrp="1"/>
          </p:cNvSpPr>
          <p:nvPr>
            <p:ph type="sldNum" sz="quarter" idx="5"/>
          </p:nvPr>
        </p:nvSpPr>
        <p:spPr>
          <a:xfrm>
            <a:off x="3885010" y="8684684"/>
            <a:ext cx="2971800" cy="457200"/>
          </a:xfrm>
          <a:prstGeom prst="rect">
            <a:avLst/>
          </a:prstGeom>
        </p:spPr>
        <p:txBody>
          <a:bodyPr vert="horz" lIns="91440" tIns="45720" rIns="91440" bIns="45720" rtlCol="0" anchor="b"/>
          <a:lstStyle>
            <a:lvl1pPr algn="r">
              <a:defRPr sz="1200"/>
            </a:lvl1pPr>
          </a:lstStyle>
          <a:p>
            <a:fld id="{84D0BFC2-306C-464A-8BE3-5C53A71A5A13}" type="slidenum">
              <a:rPr lang="en-US" smtClean="0"/>
              <a:t>‹#›</a:t>
            </a:fld>
            <a:endParaRPr lang="en-US"/>
          </a:p>
        </p:txBody>
      </p:sp>
    </p:spTree>
    <p:extLst>
      <p:ext uri="{BB962C8B-B14F-4D97-AF65-F5344CB8AC3E}">
        <p14:creationId xmlns:p14="http://schemas.microsoft.com/office/powerpoint/2010/main" val="3219639215"/>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EC2344-3C30-5C47-CA13-930648AF6E82}"/>
            </a:ext>
          </a:extLst>
        </p:cNvPr>
        <p:cNvGrpSpPr/>
        <p:nvPr/>
      </p:nvGrpSpPr>
      <p:grpSpPr>
        <a:xfrm>
          <a:off x="0" y="0"/>
          <a:ext cx="0" cy="0"/>
          <a:chOff x="0" y="0"/>
          <a:chExt cx="0" cy="0"/>
        </a:xfrm>
      </p:grpSpPr>
      <p:sp>
        <p:nvSpPr>
          <p:cNvPr id="1048602" name="Slide Image Placeholder 1">
            <a:extLst>
              <a:ext uri="{FF2B5EF4-FFF2-40B4-BE49-F238E27FC236}">
                <a16:creationId xmlns:a16="http://schemas.microsoft.com/office/drawing/2014/main" id="{F3BCE434-94AA-B577-15E0-25FF1E4F1615}"/>
              </a:ext>
            </a:extLst>
          </p:cNvPr>
          <p:cNvSpPr>
            <a:spLocks noGrp="1" noRot="1" noChangeAspect="1"/>
          </p:cNvSpPr>
          <p:nvPr>
            <p:ph type="sldImg"/>
          </p:nvPr>
        </p:nvSpPr>
        <p:spPr/>
      </p:sp>
      <p:sp>
        <p:nvSpPr>
          <p:cNvPr id="1048603" name="Notes Placeholder 2">
            <a:extLst>
              <a:ext uri="{FF2B5EF4-FFF2-40B4-BE49-F238E27FC236}">
                <a16:creationId xmlns:a16="http://schemas.microsoft.com/office/drawing/2014/main" id="{82B0C9AC-4632-788B-6ABE-71A282CCF302}"/>
              </a:ext>
            </a:extLst>
          </p:cNvPr>
          <p:cNvSpPr>
            <a:spLocks noGrp="1"/>
          </p:cNvSpPr>
          <p:nvPr>
            <p:ph type="body" idx="1"/>
          </p:nvPr>
        </p:nvSpPr>
        <p:spPr/>
        <p:txBody>
          <a:bodyPr/>
          <a:lstStyle/>
          <a:p>
            <a:endParaRPr lang="id-ID" dirty="0"/>
          </a:p>
        </p:txBody>
      </p:sp>
      <p:sp>
        <p:nvSpPr>
          <p:cNvPr id="1048604" name="Slide Number Placeholder 3">
            <a:extLst>
              <a:ext uri="{FF2B5EF4-FFF2-40B4-BE49-F238E27FC236}">
                <a16:creationId xmlns:a16="http://schemas.microsoft.com/office/drawing/2014/main" id="{E4B97CB0-51C4-0175-97C4-CB0C18B5CBB6}"/>
              </a:ext>
            </a:extLst>
          </p:cNvPr>
          <p:cNvSpPr>
            <a:spLocks noGrp="1"/>
          </p:cNvSpPr>
          <p:nvPr>
            <p:ph type="sldNum" sz="quarter" idx="10"/>
          </p:nvPr>
        </p:nvSpPr>
        <p:spPr/>
        <p:txBody>
          <a:bodyPr/>
          <a:lstStyle/>
          <a:p>
            <a:fld id="{F4576B7D-FFCE-497E-994F-ED8CF7DB0CE2}" type="slidenum">
              <a:rPr lang="id-ID" smtClean="0">
                <a:solidFill>
                  <a:prstClr val="black"/>
                </a:solidFill>
              </a:rPr>
              <a:t>1</a:t>
            </a:fld>
            <a:endParaRPr lang="id-ID">
              <a:solidFill>
                <a:prstClr val="black"/>
              </a:solidFill>
            </a:endParaRPr>
          </a:p>
        </p:txBody>
      </p:sp>
    </p:spTree>
    <p:extLst>
      <p:ext uri="{BB962C8B-B14F-4D97-AF65-F5344CB8AC3E}">
        <p14:creationId xmlns:p14="http://schemas.microsoft.com/office/powerpoint/2010/main" val="10679706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3A28BF-F638-7EAA-4003-CDEF5C993CFD}"/>
            </a:ext>
          </a:extLst>
        </p:cNvPr>
        <p:cNvGrpSpPr/>
        <p:nvPr/>
      </p:nvGrpSpPr>
      <p:grpSpPr>
        <a:xfrm>
          <a:off x="0" y="0"/>
          <a:ext cx="0" cy="0"/>
          <a:chOff x="0" y="0"/>
          <a:chExt cx="0" cy="0"/>
        </a:xfrm>
      </p:grpSpPr>
      <p:sp>
        <p:nvSpPr>
          <p:cNvPr id="1048602" name="Slide Image Placeholder 1">
            <a:extLst>
              <a:ext uri="{FF2B5EF4-FFF2-40B4-BE49-F238E27FC236}">
                <a16:creationId xmlns:a16="http://schemas.microsoft.com/office/drawing/2014/main" id="{1CAC56A9-CBBF-FA04-750E-F101663BE2F5}"/>
              </a:ext>
            </a:extLst>
          </p:cNvPr>
          <p:cNvSpPr>
            <a:spLocks noGrp="1" noRot="1" noChangeAspect="1"/>
          </p:cNvSpPr>
          <p:nvPr>
            <p:ph type="sldImg"/>
          </p:nvPr>
        </p:nvSpPr>
        <p:spPr/>
      </p:sp>
      <p:sp>
        <p:nvSpPr>
          <p:cNvPr id="1048603" name="Notes Placeholder 2">
            <a:extLst>
              <a:ext uri="{FF2B5EF4-FFF2-40B4-BE49-F238E27FC236}">
                <a16:creationId xmlns:a16="http://schemas.microsoft.com/office/drawing/2014/main" id="{3A31FA8D-0923-8C16-ABAF-4DDE17583123}"/>
              </a:ext>
            </a:extLst>
          </p:cNvPr>
          <p:cNvSpPr>
            <a:spLocks noGrp="1"/>
          </p:cNvSpPr>
          <p:nvPr>
            <p:ph type="body" idx="1"/>
          </p:nvPr>
        </p:nvSpPr>
        <p:spPr/>
        <p:txBody>
          <a:bodyPr/>
          <a:lstStyle/>
          <a:p>
            <a:endParaRPr lang="id-ID" dirty="0"/>
          </a:p>
        </p:txBody>
      </p:sp>
      <p:sp>
        <p:nvSpPr>
          <p:cNvPr id="1048604" name="Slide Number Placeholder 3">
            <a:extLst>
              <a:ext uri="{FF2B5EF4-FFF2-40B4-BE49-F238E27FC236}">
                <a16:creationId xmlns:a16="http://schemas.microsoft.com/office/drawing/2014/main" id="{91277AB1-7333-FA67-E3BE-FF6C017EFCE2}"/>
              </a:ext>
            </a:extLst>
          </p:cNvPr>
          <p:cNvSpPr>
            <a:spLocks noGrp="1"/>
          </p:cNvSpPr>
          <p:nvPr>
            <p:ph type="sldNum" sz="quarter" idx="10"/>
          </p:nvPr>
        </p:nvSpPr>
        <p:spPr/>
        <p:txBody>
          <a:bodyPr/>
          <a:lstStyle/>
          <a:p>
            <a:fld id="{F4576B7D-FFCE-497E-994F-ED8CF7DB0CE2}" type="slidenum">
              <a:rPr lang="id-ID" smtClean="0">
                <a:solidFill>
                  <a:prstClr val="black"/>
                </a:solidFill>
              </a:rPr>
              <a:t>2</a:t>
            </a:fld>
            <a:endParaRPr lang="id-ID">
              <a:solidFill>
                <a:prstClr val="black"/>
              </a:solidFill>
            </a:endParaRPr>
          </a:p>
        </p:txBody>
      </p:sp>
    </p:spTree>
    <p:extLst>
      <p:ext uri="{BB962C8B-B14F-4D97-AF65-F5344CB8AC3E}">
        <p14:creationId xmlns:p14="http://schemas.microsoft.com/office/powerpoint/2010/main" val="15977781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2" name="Slide Image Placeholder 1"/>
          <p:cNvSpPr>
            <a:spLocks noGrp="1" noRot="1" noChangeAspect="1"/>
          </p:cNvSpPr>
          <p:nvPr>
            <p:ph type="sldImg"/>
          </p:nvPr>
        </p:nvSpPr>
        <p:spPr/>
      </p:sp>
      <p:sp>
        <p:nvSpPr>
          <p:cNvPr id="1048603" name="Notes Placeholder 2"/>
          <p:cNvSpPr>
            <a:spLocks noGrp="1"/>
          </p:cNvSpPr>
          <p:nvPr>
            <p:ph type="body" idx="1"/>
          </p:nvPr>
        </p:nvSpPr>
        <p:spPr/>
        <p:txBody>
          <a:bodyPr/>
          <a:lstStyle/>
          <a:p>
            <a:endParaRPr lang="id-ID" dirty="0"/>
          </a:p>
        </p:txBody>
      </p:sp>
      <p:sp>
        <p:nvSpPr>
          <p:cNvPr id="1048604" name="Slide Number Placeholder 3"/>
          <p:cNvSpPr>
            <a:spLocks noGrp="1"/>
          </p:cNvSpPr>
          <p:nvPr>
            <p:ph type="sldNum" sz="quarter" idx="10"/>
          </p:nvPr>
        </p:nvSpPr>
        <p:spPr/>
        <p:txBody>
          <a:bodyPr/>
          <a:lstStyle/>
          <a:p>
            <a:fld id="{F4576B7D-FFCE-497E-994F-ED8CF7DB0CE2}" type="slidenum">
              <a:rPr lang="id-ID" smtClean="0">
                <a:solidFill>
                  <a:prstClr val="black"/>
                </a:solidFill>
              </a:rPr>
              <a:t>3</a:t>
            </a:fld>
            <a:endParaRPr lang="id-ID">
              <a:solidFill>
                <a:prstClr val="black"/>
              </a:solidFill>
            </a:endParaRPr>
          </a:p>
        </p:txBody>
      </p:sp>
    </p:spTree>
    <p:extLst>
      <p:ext uri="{BB962C8B-B14F-4D97-AF65-F5344CB8AC3E}">
        <p14:creationId xmlns:p14="http://schemas.microsoft.com/office/powerpoint/2010/main" val="5414801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D"/>
          </a:p>
        </p:txBody>
      </p:sp>
      <p:sp>
        <p:nvSpPr>
          <p:cNvPr id="3" name="Notes Placeholder 2"/>
          <p:cNvSpPr>
            <a:spLocks noGrp="1"/>
          </p:cNvSpPr>
          <p:nvPr>
            <p:ph type="body" idx="1"/>
          </p:nvPr>
        </p:nvSpPr>
        <p:spPr/>
        <p:txBody>
          <a:bodyPr/>
          <a:lstStyle/>
          <a:p>
            <a:endParaRPr lang="id-ID"/>
          </a:p>
        </p:txBody>
      </p:sp>
      <p:sp>
        <p:nvSpPr>
          <p:cNvPr id="4" name="Slide Number Placeholder 3"/>
          <p:cNvSpPr>
            <a:spLocks noGrp="1"/>
          </p:cNvSpPr>
          <p:nvPr>
            <p:ph type="sldNum" sz="quarter" idx="10"/>
          </p:nvPr>
        </p:nvSpPr>
        <p:spPr/>
        <p:txBody>
          <a:bodyPr/>
          <a:lstStyle/>
          <a:p>
            <a:fld id="{F4576B7D-FFCE-497E-994F-ED8CF7DB0CE2}" type="slidenum">
              <a:rPr lang="id-ID" smtClean="0">
                <a:solidFill>
                  <a:prstClr val="black"/>
                </a:solidFill>
              </a:rPr>
              <a:pPr/>
              <a:t>4</a:t>
            </a:fld>
            <a:endParaRPr lang="id-ID">
              <a:solidFill>
                <a:prstClr val="black"/>
              </a:solidFill>
            </a:endParaRPr>
          </a:p>
        </p:txBody>
      </p:sp>
    </p:spTree>
    <p:extLst>
      <p:ext uri="{BB962C8B-B14F-4D97-AF65-F5344CB8AC3E}">
        <p14:creationId xmlns:p14="http://schemas.microsoft.com/office/powerpoint/2010/main" val="35740040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DB0CF7-CFC1-C754-992D-D2F0037F1E97}"/>
            </a:ext>
          </a:extLst>
        </p:cNvPr>
        <p:cNvGrpSpPr/>
        <p:nvPr/>
      </p:nvGrpSpPr>
      <p:grpSpPr>
        <a:xfrm>
          <a:off x="0" y="0"/>
          <a:ext cx="0" cy="0"/>
          <a:chOff x="0" y="0"/>
          <a:chExt cx="0" cy="0"/>
        </a:xfrm>
      </p:grpSpPr>
      <p:sp>
        <p:nvSpPr>
          <p:cNvPr id="1048633" name="Slide Image Placeholder 1">
            <a:extLst>
              <a:ext uri="{FF2B5EF4-FFF2-40B4-BE49-F238E27FC236}">
                <a16:creationId xmlns:a16="http://schemas.microsoft.com/office/drawing/2014/main" id="{CFC85132-1EE1-D730-B15B-EDFAAF6B127B}"/>
              </a:ext>
            </a:extLst>
          </p:cNvPr>
          <p:cNvSpPr>
            <a:spLocks noGrp="1" noRot="1" noChangeAspect="1"/>
          </p:cNvSpPr>
          <p:nvPr>
            <p:ph type="sldImg"/>
          </p:nvPr>
        </p:nvSpPr>
        <p:spPr/>
      </p:sp>
      <p:sp>
        <p:nvSpPr>
          <p:cNvPr id="1048634" name="Notes Placeholder 2">
            <a:extLst>
              <a:ext uri="{FF2B5EF4-FFF2-40B4-BE49-F238E27FC236}">
                <a16:creationId xmlns:a16="http://schemas.microsoft.com/office/drawing/2014/main" id="{B42AB014-AE05-6014-58C7-70EA73F241D7}"/>
              </a:ext>
            </a:extLst>
          </p:cNvPr>
          <p:cNvSpPr>
            <a:spLocks noGrp="1"/>
          </p:cNvSpPr>
          <p:nvPr>
            <p:ph type="body" idx="1"/>
          </p:nvPr>
        </p:nvSpPr>
        <p:spPr/>
        <p:txBody>
          <a:bodyPr/>
          <a:lstStyle/>
          <a:p>
            <a:endParaRPr lang="id-ID"/>
          </a:p>
        </p:txBody>
      </p:sp>
      <p:sp>
        <p:nvSpPr>
          <p:cNvPr id="1048635" name="Slide Number Placeholder 3">
            <a:extLst>
              <a:ext uri="{FF2B5EF4-FFF2-40B4-BE49-F238E27FC236}">
                <a16:creationId xmlns:a16="http://schemas.microsoft.com/office/drawing/2014/main" id="{3A220D18-8624-D94F-D073-B4E335E2F8A2}"/>
              </a:ext>
            </a:extLst>
          </p:cNvPr>
          <p:cNvSpPr>
            <a:spLocks noGrp="1"/>
          </p:cNvSpPr>
          <p:nvPr>
            <p:ph type="sldNum" sz="quarter" idx="10"/>
          </p:nvPr>
        </p:nvSpPr>
        <p:spPr/>
        <p:txBody>
          <a:bodyPr/>
          <a:lstStyle/>
          <a:p>
            <a:fld id="{F4576B7D-FFCE-497E-994F-ED8CF7DB0CE2}" type="slidenum">
              <a:rPr lang="id-ID" smtClean="0">
                <a:solidFill>
                  <a:prstClr val="black"/>
                </a:solidFill>
              </a:rPr>
              <a:t>5</a:t>
            </a:fld>
            <a:endParaRPr lang="id-ID">
              <a:solidFill>
                <a:prstClr val="black"/>
              </a:solidFill>
            </a:endParaRPr>
          </a:p>
        </p:txBody>
      </p:sp>
    </p:spTree>
    <p:extLst>
      <p:ext uri="{BB962C8B-B14F-4D97-AF65-F5344CB8AC3E}">
        <p14:creationId xmlns:p14="http://schemas.microsoft.com/office/powerpoint/2010/main" val="36884763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4" name="Slide Image Placeholder 1"/>
          <p:cNvSpPr>
            <a:spLocks noGrp="1" noRot="1" noChangeAspect="1"/>
          </p:cNvSpPr>
          <p:nvPr>
            <p:ph type="sldImg"/>
          </p:nvPr>
        </p:nvSpPr>
        <p:spPr/>
      </p:sp>
      <p:sp>
        <p:nvSpPr>
          <p:cNvPr id="1048645" name="Notes Placeholder 2"/>
          <p:cNvSpPr>
            <a:spLocks noGrp="1"/>
          </p:cNvSpPr>
          <p:nvPr>
            <p:ph type="body" idx="1"/>
          </p:nvPr>
        </p:nvSpPr>
        <p:spPr/>
        <p:txBody>
          <a:bodyPr/>
          <a:lstStyle/>
          <a:p>
            <a:endParaRPr lang="id-ID"/>
          </a:p>
        </p:txBody>
      </p:sp>
      <p:sp>
        <p:nvSpPr>
          <p:cNvPr id="1048646" name="Slide Number Placeholder 3"/>
          <p:cNvSpPr>
            <a:spLocks noGrp="1"/>
          </p:cNvSpPr>
          <p:nvPr>
            <p:ph type="sldNum" sz="quarter" idx="10"/>
          </p:nvPr>
        </p:nvSpPr>
        <p:spPr/>
        <p:txBody>
          <a:bodyPr/>
          <a:lstStyle/>
          <a:p>
            <a:fld id="{F4576B7D-FFCE-497E-994F-ED8CF7DB0CE2}" type="slidenum">
              <a:rPr lang="id-ID" smtClean="0">
                <a:solidFill>
                  <a:prstClr val="black"/>
                </a:solidFill>
              </a:rPr>
              <a:pPr/>
              <a:t>6</a:t>
            </a:fld>
            <a:endParaRPr lang="id-ID">
              <a:solidFill>
                <a:prstClr val="black"/>
              </a:solidFill>
            </a:endParaRPr>
          </a:p>
        </p:txBody>
      </p:sp>
    </p:spTree>
    <p:extLst>
      <p:ext uri="{BB962C8B-B14F-4D97-AF65-F5344CB8AC3E}">
        <p14:creationId xmlns:p14="http://schemas.microsoft.com/office/powerpoint/2010/main" val="38701668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1048758" name="Title 1"/>
          <p:cNvSpPr>
            <a:spLocks noGrp="1"/>
          </p:cNvSpPr>
          <p:nvPr>
            <p:ph type="ctrTitle" hasCustomPrompt="1"/>
          </p:nvPr>
        </p:nvSpPr>
        <p:spPr>
          <a:xfrm>
            <a:off x="609600" y="3556001"/>
            <a:ext cx="5791200" cy="812800"/>
          </a:xfrm>
          <a:prstGeom prst="rect">
            <a:avLst/>
          </a:prstGeom>
        </p:spPr>
        <p:txBody>
          <a:bodyPr anchor="ctr"/>
          <a:lstStyle>
            <a:lvl1pPr algn="l">
              <a:defRPr sz="4000" b="1">
                <a:solidFill>
                  <a:schemeClr val="bg1"/>
                </a:solidFill>
              </a:defRPr>
            </a:lvl1pPr>
          </a:lstStyle>
          <a:p>
            <a:r>
              <a:rPr lang="en-US"/>
              <a:t>Presentation Title</a:t>
            </a:r>
          </a:p>
        </p:txBody>
      </p:sp>
      <p:sp>
        <p:nvSpPr>
          <p:cNvPr id="1048759" name="Subtitle 2"/>
          <p:cNvSpPr>
            <a:spLocks noGrp="1"/>
          </p:cNvSpPr>
          <p:nvPr>
            <p:ph type="subTitle" idx="1" hasCustomPrompt="1"/>
          </p:nvPr>
        </p:nvSpPr>
        <p:spPr>
          <a:xfrm>
            <a:off x="609600" y="4470400"/>
            <a:ext cx="2971800" cy="304800"/>
          </a:xfrm>
          <a:prstGeom prst="rect">
            <a:avLst/>
          </a:prstGeom>
        </p:spPr>
        <p:txBody>
          <a:bodyPr anchor="ctr"/>
          <a:lstStyle>
            <a:lvl1pPr marL="0" indent="0" algn="l">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Division</a:t>
            </a:r>
          </a:p>
        </p:txBody>
      </p:sp>
      <p:sp>
        <p:nvSpPr>
          <p:cNvPr id="1048760" name="Date Placeholder 3"/>
          <p:cNvSpPr>
            <a:spLocks noGrp="1"/>
          </p:cNvSpPr>
          <p:nvPr>
            <p:ph type="dt" sz="half" idx="10"/>
          </p:nvPr>
        </p:nvSpPr>
        <p:spPr>
          <a:xfrm>
            <a:off x="609600" y="4876800"/>
            <a:ext cx="2133600" cy="228600"/>
          </a:xfrm>
          <a:prstGeom prst="rect">
            <a:avLst/>
          </a:prstGeom>
        </p:spPr>
        <p:txBody>
          <a:bodyPr anchor="ctr"/>
          <a:lstStyle>
            <a:lvl1pPr>
              <a:defRPr sz="1200">
                <a:solidFill>
                  <a:schemeClr val="bg1"/>
                </a:solidFill>
              </a:defRPr>
            </a:lvl1pPr>
          </a:lstStyle>
          <a:p>
            <a:fld id="{6AF4A877-4CFA-B240-851D-E713A68D39BD}" type="datetime3">
              <a:rPr lang="en-ID" smtClean="0"/>
              <a:t>6 October 2026</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1048761" name="Title 1"/>
          <p:cNvSpPr>
            <a:spLocks noGrp="1"/>
          </p:cNvSpPr>
          <p:nvPr>
            <p:ph type="ctrTitle" hasCustomPrompt="1"/>
          </p:nvPr>
        </p:nvSpPr>
        <p:spPr>
          <a:xfrm>
            <a:off x="609600" y="3556001"/>
            <a:ext cx="5791200" cy="812800"/>
          </a:xfrm>
          <a:prstGeom prst="rect">
            <a:avLst/>
          </a:prstGeom>
        </p:spPr>
        <p:txBody>
          <a:bodyPr anchor="ctr"/>
          <a:lstStyle>
            <a:lvl1pPr algn="l">
              <a:defRPr sz="4000" b="1">
                <a:solidFill>
                  <a:schemeClr val="bg1"/>
                </a:solidFill>
              </a:defRPr>
            </a:lvl1pPr>
          </a:lstStyle>
          <a:p>
            <a:r>
              <a:rPr lang="en-US"/>
              <a:t>Thank You</a:t>
            </a:r>
          </a:p>
        </p:txBody>
      </p:sp>
      <p:sp>
        <p:nvSpPr>
          <p:cNvPr id="1048762" name="Subtitle 2"/>
          <p:cNvSpPr>
            <a:spLocks noGrp="1"/>
          </p:cNvSpPr>
          <p:nvPr>
            <p:ph type="subTitle" idx="1" hasCustomPrompt="1"/>
          </p:nvPr>
        </p:nvSpPr>
        <p:spPr>
          <a:xfrm>
            <a:off x="609600" y="4470400"/>
            <a:ext cx="2971800" cy="304800"/>
          </a:xfrm>
          <a:prstGeom prst="rect">
            <a:avLst/>
          </a:prstGeom>
        </p:spPr>
        <p:txBody>
          <a:bodyPr anchor="ctr"/>
          <a:lstStyle>
            <a:lvl1pPr marL="0" indent="0" algn="l">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Division</a:t>
            </a:r>
          </a:p>
        </p:txBody>
      </p:sp>
      <p:sp>
        <p:nvSpPr>
          <p:cNvPr id="1048763" name="Date Placeholder 3"/>
          <p:cNvSpPr>
            <a:spLocks noGrp="1"/>
          </p:cNvSpPr>
          <p:nvPr>
            <p:ph type="dt" sz="half" idx="10"/>
          </p:nvPr>
        </p:nvSpPr>
        <p:spPr>
          <a:xfrm>
            <a:off x="609600" y="4876800"/>
            <a:ext cx="2133600" cy="228600"/>
          </a:xfrm>
          <a:prstGeom prst="rect">
            <a:avLst/>
          </a:prstGeom>
        </p:spPr>
        <p:txBody>
          <a:bodyPr anchor="ctr"/>
          <a:lstStyle>
            <a:lvl1pPr>
              <a:defRPr sz="1200">
                <a:solidFill>
                  <a:schemeClr val="bg1"/>
                </a:solidFill>
              </a:defRPr>
            </a:lvl1pPr>
          </a:lstStyle>
          <a:p>
            <a:fld id="{6C72D3B6-04C4-A547-A6E1-D74627D29B57}" type="datetime3">
              <a:rPr lang="en-ID" smtClean="0"/>
              <a:t>6 October 2026</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1048697" name="Title 1"/>
          <p:cNvSpPr>
            <a:spLocks noGrp="1"/>
          </p:cNvSpPr>
          <p:nvPr>
            <p:ph type="ctrTitle" hasCustomPrompt="1"/>
          </p:nvPr>
        </p:nvSpPr>
        <p:spPr>
          <a:xfrm>
            <a:off x="609600" y="3556001"/>
            <a:ext cx="5791200" cy="812800"/>
          </a:xfrm>
          <a:prstGeom prst="rect">
            <a:avLst/>
          </a:prstGeom>
        </p:spPr>
        <p:txBody>
          <a:bodyPr anchor="ctr"/>
          <a:lstStyle>
            <a:lvl1pPr algn="l">
              <a:defRPr sz="4000" b="1">
                <a:solidFill>
                  <a:srgbClr val="0C5EA8"/>
                </a:solidFill>
              </a:defRPr>
            </a:lvl1pPr>
          </a:lstStyle>
          <a:p>
            <a:r>
              <a:rPr lang="en-US"/>
              <a:t>Presentation Title</a:t>
            </a:r>
          </a:p>
        </p:txBody>
      </p:sp>
      <p:sp>
        <p:nvSpPr>
          <p:cNvPr id="1048698" name="Subtitle 2"/>
          <p:cNvSpPr>
            <a:spLocks noGrp="1"/>
          </p:cNvSpPr>
          <p:nvPr>
            <p:ph type="subTitle" idx="1" hasCustomPrompt="1"/>
          </p:nvPr>
        </p:nvSpPr>
        <p:spPr>
          <a:xfrm>
            <a:off x="609600" y="4470400"/>
            <a:ext cx="2971800" cy="304800"/>
          </a:xfrm>
          <a:prstGeom prst="rect">
            <a:avLst/>
          </a:prstGeom>
        </p:spPr>
        <p:txBody>
          <a:bodyPr anchor="ctr"/>
          <a:lstStyle>
            <a:lvl1pPr marL="0" indent="0" algn="l">
              <a:buNone/>
              <a:defRPr sz="1800">
                <a:solidFill>
                  <a:srgbClr val="0C5EA8"/>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Division</a:t>
            </a:r>
          </a:p>
        </p:txBody>
      </p:sp>
      <p:sp>
        <p:nvSpPr>
          <p:cNvPr id="1048699" name="Date Placeholder 3"/>
          <p:cNvSpPr>
            <a:spLocks noGrp="1"/>
          </p:cNvSpPr>
          <p:nvPr>
            <p:ph type="dt" sz="half" idx="10"/>
          </p:nvPr>
        </p:nvSpPr>
        <p:spPr>
          <a:xfrm>
            <a:off x="609600" y="4876800"/>
            <a:ext cx="2133600" cy="304800"/>
          </a:xfrm>
          <a:prstGeom prst="rect">
            <a:avLst/>
          </a:prstGeom>
        </p:spPr>
        <p:txBody>
          <a:bodyPr anchor="ctr"/>
          <a:lstStyle>
            <a:lvl1pPr>
              <a:defRPr sz="1200">
                <a:solidFill>
                  <a:srgbClr val="0C5EA8"/>
                </a:solidFill>
              </a:defRPr>
            </a:lvl1pPr>
          </a:lstStyle>
          <a:p>
            <a:fld id="{E94A5A6D-BF95-7742-956B-FA8E6D6D7A8E}" type="datetime3">
              <a:rPr lang="en-ID" smtClean="0"/>
              <a:t>6 October 2026</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ack Cover">
    <p:spTree>
      <p:nvGrpSpPr>
        <p:cNvPr id="1" name=""/>
        <p:cNvGrpSpPr/>
        <p:nvPr/>
      </p:nvGrpSpPr>
      <p:grpSpPr>
        <a:xfrm>
          <a:off x="0" y="0"/>
          <a:ext cx="0" cy="0"/>
          <a:chOff x="0" y="0"/>
          <a:chExt cx="0" cy="0"/>
        </a:xfrm>
      </p:grpSpPr>
      <p:sp>
        <p:nvSpPr>
          <p:cNvPr id="1048700" name="Title 1"/>
          <p:cNvSpPr>
            <a:spLocks noGrp="1"/>
          </p:cNvSpPr>
          <p:nvPr>
            <p:ph type="ctrTitle" hasCustomPrompt="1"/>
          </p:nvPr>
        </p:nvSpPr>
        <p:spPr>
          <a:xfrm>
            <a:off x="609600" y="3556001"/>
            <a:ext cx="5791200" cy="812800"/>
          </a:xfrm>
          <a:prstGeom prst="rect">
            <a:avLst/>
          </a:prstGeom>
        </p:spPr>
        <p:txBody>
          <a:bodyPr anchor="ctr"/>
          <a:lstStyle>
            <a:lvl1pPr algn="l">
              <a:defRPr sz="4000" b="1">
                <a:solidFill>
                  <a:srgbClr val="0C5EA8"/>
                </a:solidFill>
              </a:defRPr>
            </a:lvl1pPr>
          </a:lstStyle>
          <a:p>
            <a:r>
              <a:rPr lang="en-US"/>
              <a:t>Thank You</a:t>
            </a:r>
          </a:p>
        </p:txBody>
      </p:sp>
      <p:sp>
        <p:nvSpPr>
          <p:cNvPr id="1048701" name="Subtitle 2"/>
          <p:cNvSpPr>
            <a:spLocks noGrp="1"/>
          </p:cNvSpPr>
          <p:nvPr>
            <p:ph type="subTitle" idx="1" hasCustomPrompt="1"/>
          </p:nvPr>
        </p:nvSpPr>
        <p:spPr>
          <a:xfrm>
            <a:off x="609600" y="4470400"/>
            <a:ext cx="2971800" cy="304800"/>
          </a:xfrm>
          <a:prstGeom prst="rect">
            <a:avLst/>
          </a:prstGeom>
        </p:spPr>
        <p:txBody>
          <a:bodyPr anchor="ctr"/>
          <a:lstStyle>
            <a:lvl1pPr marL="0" indent="0" algn="l">
              <a:buNone/>
              <a:defRPr sz="1800">
                <a:solidFill>
                  <a:srgbClr val="0C5EA8"/>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Division</a:t>
            </a:r>
          </a:p>
        </p:txBody>
      </p:sp>
      <p:sp>
        <p:nvSpPr>
          <p:cNvPr id="1048702" name="Date Placeholder 3"/>
          <p:cNvSpPr>
            <a:spLocks noGrp="1"/>
          </p:cNvSpPr>
          <p:nvPr>
            <p:ph type="dt" sz="half" idx="10"/>
          </p:nvPr>
        </p:nvSpPr>
        <p:spPr>
          <a:xfrm>
            <a:off x="609600" y="4876800"/>
            <a:ext cx="2133600" cy="304800"/>
          </a:xfrm>
          <a:prstGeom prst="rect">
            <a:avLst/>
          </a:prstGeom>
        </p:spPr>
        <p:txBody>
          <a:bodyPr anchor="ctr"/>
          <a:lstStyle>
            <a:lvl1pPr>
              <a:defRPr sz="1200">
                <a:solidFill>
                  <a:srgbClr val="0C5EA8"/>
                </a:solidFill>
              </a:defRPr>
            </a:lvl1pPr>
          </a:lstStyle>
          <a:p>
            <a:fld id="{7A021BF0-8602-EB42-865E-596B138771F1}" type="datetime3">
              <a:rPr lang="en-ID" smtClean="0"/>
              <a:t>6 October 2026</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048836" name="Text Placeholder 2"/>
          <p:cNvSpPr>
            <a:spLocks noGrp="1"/>
          </p:cNvSpPr>
          <p:nvPr>
            <p:ph type="body" idx="1"/>
          </p:nvPr>
        </p:nvSpPr>
        <p:spPr>
          <a:xfrm>
            <a:off x="541735" y="3874916"/>
            <a:ext cx="5829300" cy="2000955"/>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837"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38" name="Text Placeholder 27"/>
          <p:cNvSpPr>
            <a:spLocks noGrp="1"/>
          </p:cNvSpPr>
          <p:nvPr>
            <p:ph type="body" sz="quarter" idx="13" hasCustomPrompt="1"/>
          </p:nvPr>
        </p:nvSpPr>
        <p:spPr>
          <a:xfrm>
            <a:off x="285750" y="508000"/>
            <a:ext cx="1600200" cy="406400"/>
          </a:xfrm>
          <a:prstGeom prst="rect">
            <a:avLst/>
          </a:prstGeom>
        </p:spPr>
        <p:txBody>
          <a:bodyPr anchor="ctr"/>
          <a:lstStyle/>
          <a:p>
            <a:pPr lvl="0"/>
            <a:r>
              <a:rPr lang="en-US"/>
              <a:t>Presentation Title</a:t>
            </a:r>
          </a:p>
        </p:txBody>
      </p:sp>
      <p:sp>
        <p:nvSpPr>
          <p:cNvPr id="1048839"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23757B1C-AB4D-7C4F-8DFC-B8E086E8997F}" type="datetime3">
              <a:rPr lang="en-ID" smtClean="0"/>
              <a:t>6 October 2026</a:t>
            </a:fld>
            <a:endParaRPr lang="en-US"/>
          </a:p>
        </p:txBody>
      </p:sp>
      <p:sp>
        <p:nvSpPr>
          <p:cNvPr id="1048840" name="Slide Number Placeholder 5"/>
          <p:cNvSpPr>
            <a:spLocks noGrp="1"/>
          </p:cNvSpPr>
          <p:nvPr>
            <p:ph type="sldNum" sz="quarter" idx="12"/>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41" name="TextBox 17"/>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sp>
        <p:nvSpPr>
          <p:cNvPr id="1048810" name="Text Placeholder 5"/>
          <p:cNvSpPr>
            <a:spLocks noGrp="1"/>
          </p:cNvSpPr>
          <p:nvPr>
            <p:ph type="body" sz="quarter" idx="12"/>
          </p:nvPr>
        </p:nvSpPr>
        <p:spPr>
          <a:xfrm>
            <a:off x="285750" y="1862668"/>
            <a:ext cx="6286500" cy="6231467"/>
          </a:xfrm>
          <a:prstGeom prst="rect">
            <a:avLst/>
          </a:prstGeom>
        </p:spPr>
        <p:txBody>
          <a:bodyPr numCol="2"/>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11"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E642D845-69F1-714E-9475-635242E76DC6}" type="datetime3">
              <a:rPr lang="en-ID" smtClean="0"/>
              <a:t>6 October 2026</a:t>
            </a:fld>
            <a:endParaRPr lang="en-US"/>
          </a:p>
        </p:txBody>
      </p:sp>
      <p:sp>
        <p:nvSpPr>
          <p:cNvPr id="1048812"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13"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14"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15"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ree Columns Text">
    <p:spTree>
      <p:nvGrpSpPr>
        <p:cNvPr id="1" name=""/>
        <p:cNvGrpSpPr/>
        <p:nvPr/>
      </p:nvGrpSpPr>
      <p:grpSpPr>
        <a:xfrm>
          <a:off x="0" y="0"/>
          <a:ext cx="0" cy="0"/>
          <a:chOff x="0" y="0"/>
          <a:chExt cx="0" cy="0"/>
        </a:xfrm>
      </p:grpSpPr>
      <p:sp>
        <p:nvSpPr>
          <p:cNvPr id="1048842"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05113538-E476-FC42-B125-F4082E6CC220}" type="datetime3">
              <a:rPr lang="en-ID" smtClean="0"/>
              <a:t>6 October 2026</a:t>
            </a:fld>
            <a:endParaRPr lang="en-US"/>
          </a:p>
        </p:txBody>
      </p:sp>
      <p:sp>
        <p:nvSpPr>
          <p:cNvPr id="1048843"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44"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45"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46"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
        <p:nvSpPr>
          <p:cNvPr id="1048847" name="Text Placeholder 5"/>
          <p:cNvSpPr>
            <a:spLocks noGrp="1"/>
          </p:cNvSpPr>
          <p:nvPr>
            <p:ph type="body" sz="quarter" idx="12"/>
          </p:nvPr>
        </p:nvSpPr>
        <p:spPr>
          <a:xfrm>
            <a:off x="285750" y="1862668"/>
            <a:ext cx="6286500" cy="6231467"/>
          </a:xfrm>
          <a:prstGeom prst="rect">
            <a:avLst/>
          </a:prstGeom>
        </p:spPr>
        <p:txBody>
          <a:bodyPr numCol="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048848" name="Content Placeholder 2"/>
          <p:cNvSpPr>
            <a:spLocks noGrp="1"/>
          </p:cNvSpPr>
          <p:nvPr>
            <p:ph sz="half" idx="1"/>
          </p:nvPr>
        </p:nvSpPr>
        <p:spPr>
          <a:xfrm>
            <a:off x="34290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49" name="Content Placeholder 3"/>
          <p:cNvSpPr>
            <a:spLocks noGrp="1"/>
          </p:cNvSpPr>
          <p:nvPr>
            <p:ph sz="half" idx="2"/>
          </p:nvPr>
        </p:nvSpPr>
        <p:spPr>
          <a:xfrm>
            <a:off x="348615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50"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64A715AE-818F-6440-AFBB-A39CB3A47C06}" type="datetime3">
              <a:rPr lang="en-ID" smtClean="0"/>
              <a:t>6 October 2026</a:t>
            </a:fld>
            <a:endParaRPr lang="en-US"/>
          </a:p>
        </p:txBody>
      </p:sp>
      <p:sp>
        <p:nvSpPr>
          <p:cNvPr id="1048851"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52"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53"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54"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48821" name="Text Placeholder 2"/>
          <p:cNvSpPr>
            <a:spLocks noGrp="1"/>
          </p:cNvSpPr>
          <p:nvPr>
            <p:ph type="body" idx="1"/>
          </p:nvPr>
        </p:nvSpPr>
        <p:spPr>
          <a:xfrm>
            <a:off x="342901" y="1955803"/>
            <a:ext cx="303014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22" name="Content Placeholder 3"/>
          <p:cNvSpPr>
            <a:spLocks noGrp="1"/>
          </p:cNvSpPr>
          <p:nvPr>
            <p:ph sz="half" idx="2"/>
          </p:nvPr>
        </p:nvSpPr>
        <p:spPr>
          <a:xfrm>
            <a:off x="342901" y="2810935"/>
            <a:ext cx="303014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23" name="Text Placeholder 4"/>
          <p:cNvSpPr>
            <a:spLocks noGrp="1"/>
          </p:cNvSpPr>
          <p:nvPr>
            <p:ph type="body" sz="quarter" idx="3"/>
          </p:nvPr>
        </p:nvSpPr>
        <p:spPr>
          <a:xfrm>
            <a:off x="3483773" y="1955803"/>
            <a:ext cx="303133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24" name="Content Placeholder 5"/>
          <p:cNvSpPr>
            <a:spLocks noGrp="1"/>
          </p:cNvSpPr>
          <p:nvPr>
            <p:ph sz="quarter" idx="4"/>
          </p:nvPr>
        </p:nvSpPr>
        <p:spPr>
          <a:xfrm>
            <a:off x="3483773" y="2810935"/>
            <a:ext cx="303133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25"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00E42B3C-B422-504E-9EED-7AACCF2B5E44}" type="datetime3">
              <a:rPr lang="en-ID" smtClean="0"/>
              <a:t>6 October 2026</a:t>
            </a:fld>
            <a:endParaRPr lang="en-US"/>
          </a:p>
        </p:txBody>
      </p:sp>
      <p:sp>
        <p:nvSpPr>
          <p:cNvPr id="1048826"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27" name="TextBox 13"/>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28"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29"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048830" name="Picture Placeholder 2"/>
          <p:cNvSpPr>
            <a:spLocks noGrp="1"/>
          </p:cNvSpPr>
          <p:nvPr>
            <p:ph type="pic" idx="1"/>
          </p:nvPr>
        </p:nvSpPr>
        <p:spPr>
          <a:xfrm>
            <a:off x="0" y="5"/>
            <a:ext cx="6858000" cy="9143999"/>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831"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5F7101B9-0C97-964E-A88D-0AC093AF6B5C}" type="datetime3">
              <a:rPr lang="en-ID" smtClean="0"/>
              <a:t>6 October 2026</a:t>
            </a:fld>
            <a:endParaRPr lang="en-US"/>
          </a:p>
        </p:txBody>
      </p:sp>
      <p:sp>
        <p:nvSpPr>
          <p:cNvPr id="1048832"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33"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34"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35"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ustom">
    <p:spTree>
      <p:nvGrpSpPr>
        <p:cNvPr id="1" name=""/>
        <p:cNvGrpSpPr/>
        <p:nvPr/>
      </p:nvGrpSpPr>
      <p:grpSpPr>
        <a:xfrm>
          <a:off x="0" y="0"/>
          <a:ext cx="0" cy="0"/>
          <a:chOff x="0" y="0"/>
          <a:chExt cx="0" cy="0"/>
        </a:xfrm>
      </p:grpSpPr>
      <p:sp>
        <p:nvSpPr>
          <p:cNvPr id="1048816"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4276A6DD-0719-DE4A-805F-F977A7208FC1}" type="datetime3">
              <a:rPr lang="en-ID" smtClean="0"/>
              <a:t>6 October 2026</a:t>
            </a:fld>
            <a:endParaRPr lang="en-US"/>
          </a:p>
        </p:txBody>
      </p:sp>
      <p:sp>
        <p:nvSpPr>
          <p:cNvPr id="1048817"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18" name="TextBox 12"/>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19"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20"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048867" name="Text Placeholder 2"/>
          <p:cNvSpPr>
            <a:spLocks noGrp="1"/>
          </p:cNvSpPr>
          <p:nvPr>
            <p:ph type="body" idx="1"/>
          </p:nvPr>
        </p:nvSpPr>
        <p:spPr>
          <a:xfrm>
            <a:off x="541735" y="3874916"/>
            <a:ext cx="5829300" cy="2000955"/>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868"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69" name="Text Placeholder 27"/>
          <p:cNvSpPr>
            <a:spLocks noGrp="1"/>
          </p:cNvSpPr>
          <p:nvPr>
            <p:ph type="body" sz="quarter" idx="13" hasCustomPrompt="1"/>
          </p:nvPr>
        </p:nvSpPr>
        <p:spPr>
          <a:xfrm>
            <a:off x="285750" y="508000"/>
            <a:ext cx="1600200" cy="406400"/>
          </a:xfrm>
          <a:prstGeom prst="rect">
            <a:avLst/>
          </a:prstGeom>
        </p:spPr>
        <p:txBody>
          <a:bodyPr anchor="ctr"/>
          <a:lstStyle/>
          <a:p>
            <a:pPr lvl="0"/>
            <a:r>
              <a:rPr lang="en-US" dirty="0"/>
              <a:t>Presentation Title</a:t>
            </a:r>
          </a:p>
        </p:txBody>
      </p:sp>
      <p:sp>
        <p:nvSpPr>
          <p:cNvPr id="1048870"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6EF6109C-FED9-BB47-B7E0-A96B0C3A3715}" type="datetime3">
              <a:rPr lang="en-ID" smtClean="0"/>
              <a:t>6 October 2026</a:t>
            </a:fld>
            <a:endParaRPr lang="en-US"/>
          </a:p>
        </p:txBody>
      </p:sp>
      <p:sp>
        <p:nvSpPr>
          <p:cNvPr id="1048871" name="Slide Number Placeholder 5"/>
          <p:cNvSpPr>
            <a:spLocks noGrp="1"/>
          </p:cNvSpPr>
          <p:nvPr>
            <p:ph type="sldNum" sz="quarter" idx="12"/>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72" name="TextBox 17"/>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sp>
        <p:nvSpPr>
          <p:cNvPr id="1048861" name="Text Placeholder 5"/>
          <p:cNvSpPr>
            <a:spLocks noGrp="1"/>
          </p:cNvSpPr>
          <p:nvPr>
            <p:ph type="body" sz="quarter" idx="12"/>
          </p:nvPr>
        </p:nvSpPr>
        <p:spPr>
          <a:xfrm>
            <a:off x="285750" y="1862668"/>
            <a:ext cx="6286500" cy="6231467"/>
          </a:xfrm>
          <a:prstGeom prst="rect">
            <a:avLst/>
          </a:prstGeom>
        </p:spPr>
        <p:txBody>
          <a:bodyPr numCol="2"/>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62"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20AB3E7D-631D-674D-ACFC-9060208EC6DA}" type="datetime3">
              <a:rPr lang="en-ID" smtClean="0"/>
              <a:t>6 October 2026</a:t>
            </a:fld>
            <a:endParaRPr lang="en-US"/>
          </a:p>
        </p:txBody>
      </p:sp>
      <p:sp>
        <p:nvSpPr>
          <p:cNvPr id="1048863"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64"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65"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66"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ree Columns Text">
    <p:spTree>
      <p:nvGrpSpPr>
        <p:cNvPr id="1" name=""/>
        <p:cNvGrpSpPr/>
        <p:nvPr/>
      </p:nvGrpSpPr>
      <p:grpSpPr>
        <a:xfrm>
          <a:off x="0" y="0"/>
          <a:ext cx="0" cy="0"/>
          <a:chOff x="0" y="0"/>
          <a:chExt cx="0" cy="0"/>
        </a:xfrm>
      </p:grpSpPr>
      <p:sp>
        <p:nvSpPr>
          <p:cNvPr id="1048880"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10036071-6960-5444-8E6F-8EC74E87B3F1}" type="datetime3">
              <a:rPr lang="en-ID" smtClean="0"/>
              <a:t>6 October 2026</a:t>
            </a:fld>
            <a:endParaRPr lang="en-US"/>
          </a:p>
        </p:txBody>
      </p:sp>
      <p:sp>
        <p:nvSpPr>
          <p:cNvPr id="1048881"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82"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83"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84"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
        <p:nvSpPr>
          <p:cNvPr id="1048885" name="Text Placeholder 5"/>
          <p:cNvSpPr>
            <a:spLocks noGrp="1"/>
          </p:cNvSpPr>
          <p:nvPr>
            <p:ph type="body" sz="quarter" idx="12"/>
          </p:nvPr>
        </p:nvSpPr>
        <p:spPr>
          <a:xfrm>
            <a:off x="285750" y="1862668"/>
            <a:ext cx="6286500" cy="6231467"/>
          </a:xfrm>
          <a:prstGeom prst="rect">
            <a:avLst/>
          </a:prstGeom>
        </p:spPr>
        <p:txBody>
          <a:bodyPr numCol="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048873" name="Content Placeholder 2"/>
          <p:cNvSpPr>
            <a:spLocks noGrp="1"/>
          </p:cNvSpPr>
          <p:nvPr>
            <p:ph sz="half" idx="1"/>
          </p:nvPr>
        </p:nvSpPr>
        <p:spPr>
          <a:xfrm>
            <a:off x="34290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74" name="Content Placeholder 3"/>
          <p:cNvSpPr>
            <a:spLocks noGrp="1"/>
          </p:cNvSpPr>
          <p:nvPr>
            <p:ph sz="half" idx="2"/>
          </p:nvPr>
        </p:nvSpPr>
        <p:spPr>
          <a:xfrm>
            <a:off x="348615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75"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16F62AD8-6F13-D341-BC8C-6372B8758D67}" type="datetime3">
              <a:rPr lang="en-ID" smtClean="0"/>
              <a:t>6 October 2026</a:t>
            </a:fld>
            <a:endParaRPr lang="en-US"/>
          </a:p>
        </p:txBody>
      </p:sp>
      <p:sp>
        <p:nvSpPr>
          <p:cNvPr id="1048876"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77"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78"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79"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48892" name="Text Placeholder 2"/>
          <p:cNvSpPr>
            <a:spLocks noGrp="1"/>
          </p:cNvSpPr>
          <p:nvPr>
            <p:ph type="body" idx="1"/>
          </p:nvPr>
        </p:nvSpPr>
        <p:spPr>
          <a:xfrm>
            <a:off x="342901" y="1955803"/>
            <a:ext cx="303014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93" name="Content Placeholder 3"/>
          <p:cNvSpPr>
            <a:spLocks noGrp="1"/>
          </p:cNvSpPr>
          <p:nvPr>
            <p:ph sz="half" idx="2"/>
          </p:nvPr>
        </p:nvSpPr>
        <p:spPr>
          <a:xfrm>
            <a:off x="342901" y="2810935"/>
            <a:ext cx="303014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94" name="Text Placeholder 4"/>
          <p:cNvSpPr>
            <a:spLocks noGrp="1"/>
          </p:cNvSpPr>
          <p:nvPr>
            <p:ph type="body" sz="quarter" idx="3"/>
          </p:nvPr>
        </p:nvSpPr>
        <p:spPr>
          <a:xfrm>
            <a:off x="3483773" y="1955803"/>
            <a:ext cx="303133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95" name="Content Placeholder 5"/>
          <p:cNvSpPr>
            <a:spLocks noGrp="1"/>
          </p:cNvSpPr>
          <p:nvPr>
            <p:ph sz="quarter" idx="4"/>
          </p:nvPr>
        </p:nvSpPr>
        <p:spPr>
          <a:xfrm>
            <a:off x="3483773" y="2810935"/>
            <a:ext cx="303133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96"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13B804BE-6D8A-E949-B805-DCC667F60605}" type="datetime3">
              <a:rPr lang="en-ID" smtClean="0"/>
              <a:t>6 October 2026</a:t>
            </a:fld>
            <a:endParaRPr lang="en-US"/>
          </a:p>
        </p:txBody>
      </p:sp>
      <p:sp>
        <p:nvSpPr>
          <p:cNvPr id="1048897"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98" name="TextBox 13"/>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99"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900"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048886" name="Picture Placeholder 2"/>
          <p:cNvSpPr>
            <a:spLocks noGrp="1"/>
          </p:cNvSpPr>
          <p:nvPr>
            <p:ph type="pic" idx="1"/>
          </p:nvPr>
        </p:nvSpPr>
        <p:spPr>
          <a:xfrm>
            <a:off x="0" y="5"/>
            <a:ext cx="6858000" cy="9143999"/>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887"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6C05EDBD-FBF2-074E-9570-59748DA90955}" type="datetime3">
              <a:rPr lang="en-ID" smtClean="0"/>
              <a:t>6 October 2026</a:t>
            </a:fld>
            <a:endParaRPr lang="en-US"/>
          </a:p>
        </p:txBody>
      </p:sp>
      <p:sp>
        <p:nvSpPr>
          <p:cNvPr id="1048888"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89"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90"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91"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ustom">
    <p:spTree>
      <p:nvGrpSpPr>
        <p:cNvPr id="1" name=""/>
        <p:cNvGrpSpPr/>
        <p:nvPr/>
      </p:nvGrpSpPr>
      <p:grpSpPr>
        <a:xfrm>
          <a:off x="0" y="0"/>
          <a:ext cx="0" cy="0"/>
          <a:chOff x="0" y="0"/>
          <a:chExt cx="0" cy="0"/>
        </a:xfrm>
      </p:grpSpPr>
      <p:sp>
        <p:nvSpPr>
          <p:cNvPr id="1048856"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570D93E9-C376-A947-8A1C-35F0E1B29729}" type="datetime3">
              <a:rPr lang="en-ID" smtClean="0"/>
              <a:t>6 October 2026</a:t>
            </a:fld>
            <a:endParaRPr lang="en-US"/>
          </a:p>
        </p:txBody>
      </p:sp>
      <p:sp>
        <p:nvSpPr>
          <p:cNvPr id="1048857"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58" name="TextBox 12"/>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59"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60"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048687" name="Text Placeholder 2"/>
          <p:cNvSpPr>
            <a:spLocks noGrp="1"/>
          </p:cNvSpPr>
          <p:nvPr>
            <p:ph type="body" idx="1"/>
          </p:nvPr>
        </p:nvSpPr>
        <p:spPr>
          <a:xfrm>
            <a:off x="541735" y="3874916"/>
            <a:ext cx="5829300" cy="2000955"/>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688"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89" name="Text Placeholder 27"/>
          <p:cNvSpPr>
            <a:spLocks noGrp="1"/>
          </p:cNvSpPr>
          <p:nvPr>
            <p:ph type="body" sz="quarter" idx="13" hasCustomPrompt="1"/>
          </p:nvPr>
        </p:nvSpPr>
        <p:spPr>
          <a:xfrm>
            <a:off x="285750" y="508000"/>
            <a:ext cx="1600200" cy="406400"/>
          </a:xfrm>
          <a:prstGeom prst="rect">
            <a:avLst/>
          </a:prstGeom>
        </p:spPr>
        <p:txBody>
          <a:bodyPr anchor="ctr"/>
          <a:lstStyle/>
          <a:p>
            <a:pPr lvl="0"/>
            <a:r>
              <a:rPr lang="en-US"/>
              <a:t>Presentation Title</a:t>
            </a:r>
          </a:p>
        </p:txBody>
      </p:sp>
      <p:sp>
        <p:nvSpPr>
          <p:cNvPr id="1048690"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817FFA5C-C6C6-A049-B744-29447C458644}" type="datetime3">
              <a:rPr lang="en-ID" smtClean="0"/>
              <a:t>6 October 2026</a:t>
            </a:fld>
            <a:endParaRPr lang="en-US"/>
          </a:p>
        </p:txBody>
      </p:sp>
      <p:sp>
        <p:nvSpPr>
          <p:cNvPr id="1048691" name="Slide Number Placeholder 5"/>
          <p:cNvSpPr>
            <a:spLocks noGrp="1"/>
          </p:cNvSpPr>
          <p:nvPr>
            <p:ph type="sldNum" sz="quarter" idx="12"/>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92" name="TextBox 17"/>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sp>
        <p:nvSpPr>
          <p:cNvPr id="1048668" name="Text Placeholder 5"/>
          <p:cNvSpPr>
            <a:spLocks noGrp="1"/>
          </p:cNvSpPr>
          <p:nvPr>
            <p:ph type="body" sz="quarter" idx="12"/>
          </p:nvPr>
        </p:nvSpPr>
        <p:spPr>
          <a:xfrm>
            <a:off x="285750" y="1862668"/>
            <a:ext cx="6286500" cy="6231467"/>
          </a:xfrm>
          <a:prstGeom prst="rect">
            <a:avLst/>
          </a:prstGeom>
        </p:spPr>
        <p:txBody>
          <a:bodyPr numCol="2"/>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69"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7400B4C7-443F-D545-9067-F911AF81B13F}" type="datetime3">
              <a:rPr lang="en-ID" smtClean="0"/>
              <a:t>6 October 2026</a:t>
            </a:fld>
            <a:endParaRPr lang="en-US"/>
          </a:p>
        </p:txBody>
      </p:sp>
      <p:sp>
        <p:nvSpPr>
          <p:cNvPr id="1048670"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71"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72"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73"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hree Columns Text">
    <p:spTree>
      <p:nvGrpSpPr>
        <p:cNvPr id="1" name=""/>
        <p:cNvGrpSpPr/>
        <p:nvPr/>
      </p:nvGrpSpPr>
      <p:grpSpPr>
        <a:xfrm>
          <a:off x="0" y="0"/>
          <a:ext cx="0" cy="0"/>
          <a:chOff x="0" y="0"/>
          <a:chExt cx="0" cy="0"/>
        </a:xfrm>
      </p:grpSpPr>
      <p:sp>
        <p:nvSpPr>
          <p:cNvPr id="1048674"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313A75C9-8B1A-B540-88B7-B4A1312D022A}" type="datetime3">
              <a:rPr lang="en-ID" smtClean="0"/>
              <a:t>6 October 2026</a:t>
            </a:fld>
            <a:endParaRPr lang="en-US"/>
          </a:p>
        </p:txBody>
      </p:sp>
      <p:sp>
        <p:nvSpPr>
          <p:cNvPr id="1048675"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76"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77"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78"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
        <p:nvSpPr>
          <p:cNvPr id="1048679" name="Text Placeholder 5"/>
          <p:cNvSpPr>
            <a:spLocks noGrp="1"/>
          </p:cNvSpPr>
          <p:nvPr>
            <p:ph type="body" sz="quarter" idx="12"/>
          </p:nvPr>
        </p:nvSpPr>
        <p:spPr>
          <a:xfrm>
            <a:off x="285750" y="1862668"/>
            <a:ext cx="6286500" cy="6231467"/>
          </a:xfrm>
          <a:prstGeom prst="rect">
            <a:avLst/>
          </a:prstGeom>
        </p:spPr>
        <p:txBody>
          <a:bodyPr numCol="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048680" name="Content Placeholder 2"/>
          <p:cNvSpPr>
            <a:spLocks noGrp="1"/>
          </p:cNvSpPr>
          <p:nvPr>
            <p:ph sz="half" idx="1"/>
          </p:nvPr>
        </p:nvSpPr>
        <p:spPr>
          <a:xfrm>
            <a:off x="34290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81" name="Content Placeholder 3"/>
          <p:cNvSpPr>
            <a:spLocks noGrp="1"/>
          </p:cNvSpPr>
          <p:nvPr>
            <p:ph sz="half" idx="2"/>
          </p:nvPr>
        </p:nvSpPr>
        <p:spPr>
          <a:xfrm>
            <a:off x="348615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82"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E1975889-09EE-344A-82C9-1D49023CE12A}" type="datetime3">
              <a:rPr lang="en-ID" smtClean="0"/>
              <a:t>6 October 2026</a:t>
            </a:fld>
            <a:endParaRPr lang="en-US"/>
          </a:p>
        </p:txBody>
      </p:sp>
      <p:sp>
        <p:nvSpPr>
          <p:cNvPr id="1048683"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84"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85"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86"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48659" name="Text Placeholder 2"/>
          <p:cNvSpPr>
            <a:spLocks noGrp="1"/>
          </p:cNvSpPr>
          <p:nvPr>
            <p:ph type="body" idx="1"/>
          </p:nvPr>
        </p:nvSpPr>
        <p:spPr>
          <a:xfrm>
            <a:off x="342901" y="1955803"/>
            <a:ext cx="303014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60" name="Content Placeholder 3"/>
          <p:cNvSpPr>
            <a:spLocks noGrp="1"/>
          </p:cNvSpPr>
          <p:nvPr>
            <p:ph sz="half" idx="2"/>
          </p:nvPr>
        </p:nvSpPr>
        <p:spPr>
          <a:xfrm>
            <a:off x="342901" y="2810935"/>
            <a:ext cx="303014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61" name="Text Placeholder 4"/>
          <p:cNvSpPr>
            <a:spLocks noGrp="1"/>
          </p:cNvSpPr>
          <p:nvPr>
            <p:ph type="body" sz="quarter" idx="3"/>
          </p:nvPr>
        </p:nvSpPr>
        <p:spPr>
          <a:xfrm>
            <a:off x="3483773" y="1955803"/>
            <a:ext cx="303133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662" name="Content Placeholder 5"/>
          <p:cNvSpPr>
            <a:spLocks noGrp="1"/>
          </p:cNvSpPr>
          <p:nvPr>
            <p:ph sz="quarter" idx="4"/>
          </p:nvPr>
        </p:nvSpPr>
        <p:spPr>
          <a:xfrm>
            <a:off x="3483773" y="2810935"/>
            <a:ext cx="303133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63"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78FEB24A-3A7F-8A4E-A3AB-E47BDBB22021}" type="datetime3">
              <a:rPr lang="en-ID" smtClean="0"/>
              <a:t>6 October 2026</a:t>
            </a:fld>
            <a:endParaRPr lang="en-US"/>
          </a:p>
        </p:txBody>
      </p:sp>
      <p:sp>
        <p:nvSpPr>
          <p:cNvPr id="1048664"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65" name="TextBox 13"/>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66"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67"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048648" name="Picture Placeholder 2"/>
          <p:cNvSpPr>
            <a:spLocks noGrp="1"/>
          </p:cNvSpPr>
          <p:nvPr>
            <p:ph type="pic" idx="1"/>
          </p:nvPr>
        </p:nvSpPr>
        <p:spPr>
          <a:xfrm>
            <a:off x="0" y="5"/>
            <a:ext cx="6858000" cy="9143999"/>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649"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61FEB1A1-3392-7A40-B9C8-F71E47AB4BCA}" type="datetime3">
              <a:rPr lang="en-ID" smtClean="0"/>
              <a:t>6 October 2026</a:t>
            </a:fld>
            <a:endParaRPr lang="en-US"/>
          </a:p>
        </p:txBody>
      </p:sp>
      <p:sp>
        <p:nvSpPr>
          <p:cNvPr id="1048650"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51"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52"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53"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ustom">
    <p:spTree>
      <p:nvGrpSpPr>
        <p:cNvPr id="1" name=""/>
        <p:cNvGrpSpPr/>
        <p:nvPr/>
      </p:nvGrpSpPr>
      <p:grpSpPr>
        <a:xfrm>
          <a:off x="0" y="0"/>
          <a:ext cx="0" cy="0"/>
          <a:chOff x="0" y="0"/>
          <a:chExt cx="0" cy="0"/>
        </a:xfrm>
      </p:grpSpPr>
      <p:sp>
        <p:nvSpPr>
          <p:cNvPr id="1048654"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BB780499-43E8-C941-A319-959BC27AE094}" type="datetime3">
              <a:rPr lang="en-ID" smtClean="0"/>
              <a:t>6 October 2026</a:t>
            </a:fld>
            <a:endParaRPr lang="en-US"/>
          </a:p>
        </p:txBody>
      </p:sp>
      <p:sp>
        <p:nvSpPr>
          <p:cNvPr id="1048655"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656" name="TextBox 12"/>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657"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658"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1048782" name="Text Placeholder 2"/>
          <p:cNvSpPr>
            <a:spLocks noGrp="1"/>
          </p:cNvSpPr>
          <p:nvPr>
            <p:ph type="body" idx="1"/>
          </p:nvPr>
        </p:nvSpPr>
        <p:spPr>
          <a:xfrm>
            <a:off x="541735" y="3874916"/>
            <a:ext cx="5829300" cy="2000955"/>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783"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784" name="Text Placeholder 27"/>
          <p:cNvSpPr>
            <a:spLocks noGrp="1"/>
          </p:cNvSpPr>
          <p:nvPr>
            <p:ph type="body" sz="quarter" idx="13" hasCustomPrompt="1"/>
          </p:nvPr>
        </p:nvSpPr>
        <p:spPr>
          <a:xfrm>
            <a:off x="285750" y="508000"/>
            <a:ext cx="1600200" cy="406400"/>
          </a:xfrm>
          <a:prstGeom prst="rect">
            <a:avLst/>
          </a:prstGeom>
        </p:spPr>
        <p:txBody>
          <a:bodyPr anchor="ctr"/>
          <a:lstStyle/>
          <a:p>
            <a:pPr lvl="0"/>
            <a:r>
              <a:rPr lang="en-US"/>
              <a:t>Presentation Title</a:t>
            </a:r>
          </a:p>
        </p:txBody>
      </p:sp>
      <p:sp>
        <p:nvSpPr>
          <p:cNvPr id="1048785"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792E1114-433A-1A43-AA36-5DE7D47A4699}" type="datetime3">
              <a:rPr lang="en-ID" smtClean="0"/>
              <a:t>6 October 2026</a:t>
            </a:fld>
            <a:endParaRPr lang="en-US"/>
          </a:p>
        </p:txBody>
      </p:sp>
      <p:sp>
        <p:nvSpPr>
          <p:cNvPr id="1048786" name="Slide Number Placeholder 5"/>
          <p:cNvSpPr>
            <a:spLocks noGrp="1"/>
          </p:cNvSpPr>
          <p:nvPr>
            <p:ph type="sldNum" sz="quarter" idx="12"/>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87" name="TextBox 17"/>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wo Columns Text">
    <p:spTree>
      <p:nvGrpSpPr>
        <p:cNvPr id="1" name=""/>
        <p:cNvGrpSpPr/>
        <p:nvPr/>
      </p:nvGrpSpPr>
      <p:grpSpPr>
        <a:xfrm>
          <a:off x="0" y="0"/>
          <a:ext cx="0" cy="0"/>
          <a:chOff x="0" y="0"/>
          <a:chExt cx="0" cy="0"/>
        </a:xfrm>
      </p:grpSpPr>
      <p:sp>
        <p:nvSpPr>
          <p:cNvPr id="1048776" name="Text Placeholder 5"/>
          <p:cNvSpPr>
            <a:spLocks noGrp="1"/>
          </p:cNvSpPr>
          <p:nvPr>
            <p:ph type="body" sz="quarter" idx="12"/>
          </p:nvPr>
        </p:nvSpPr>
        <p:spPr>
          <a:xfrm>
            <a:off x="285750" y="1862668"/>
            <a:ext cx="6286500" cy="6231467"/>
          </a:xfrm>
          <a:prstGeom prst="rect">
            <a:avLst/>
          </a:prstGeom>
        </p:spPr>
        <p:txBody>
          <a:bodyPr numCol="2"/>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77"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52E54845-308A-7F41-AA99-FA7CEE6CF869}" type="datetime3">
              <a:rPr lang="en-ID" smtClean="0"/>
              <a:t>6 October 2026</a:t>
            </a:fld>
            <a:endParaRPr lang="en-US"/>
          </a:p>
        </p:txBody>
      </p:sp>
      <p:sp>
        <p:nvSpPr>
          <p:cNvPr id="1048778"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79"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780"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781"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hree Columns Text">
    <p:spTree>
      <p:nvGrpSpPr>
        <p:cNvPr id="1" name=""/>
        <p:cNvGrpSpPr/>
        <p:nvPr/>
      </p:nvGrpSpPr>
      <p:grpSpPr>
        <a:xfrm>
          <a:off x="0" y="0"/>
          <a:ext cx="0" cy="0"/>
          <a:chOff x="0" y="0"/>
          <a:chExt cx="0" cy="0"/>
        </a:xfrm>
      </p:grpSpPr>
      <p:sp>
        <p:nvSpPr>
          <p:cNvPr id="1048788"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1071103D-81C7-2A4F-A1D3-3B2820EDC6F0}" type="datetime3">
              <a:rPr lang="en-ID" smtClean="0"/>
              <a:t>6 October 2026</a:t>
            </a:fld>
            <a:endParaRPr lang="en-US"/>
          </a:p>
        </p:txBody>
      </p:sp>
      <p:sp>
        <p:nvSpPr>
          <p:cNvPr id="1048789"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90" name="TextBox 8"/>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791"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792"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
        <p:nvSpPr>
          <p:cNvPr id="1048793" name="Text Placeholder 5"/>
          <p:cNvSpPr>
            <a:spLocks noGrp="1"/>
          </p:cNvSpPr>
          <p:nvPr>
            <p:ph type="body" sz="quarter" idx="12"/>
          </p:nvPr>
        </p:nvSpPr>
        <p:spPr>
          <a:xfrm>
            <a:off x="285750" y="1862668"/>
            <a:ext cx="6286500" cy="6231467"/>
          </a:xfrm>
          <a:prstGeom prst="rect">
            <a:avLst/>
          </a:prstGeom>
        </p:spPr>
        <p:txBody>
          <a:bodyPr numCol="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1048794" name="Content Placeholder 2"/>
          <p:cNvSpPr>
            <a:spLocks noGrp="1"/>
          </p:cNvSpPr>
          <p:nvPr>
            <p:ph sz="half" idx="1"/>
          </p:nvPr>
        </p:nvSpPr>
        <p:spPr>
          <a:xfrm>
            <a:off x="34290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95" name="Content Placeholder 3"/>
          <p:cNvSpPr>
            <a:spLocks noGrp="1"/>
          </p:cNvSpPr>
          <p:nvPr>
            <p:ph sz="half" idx="2"/>
          </p:nvPr>
        </p:nvSpPr>
        <p:spPr>
          <a:xfrm>
            <a:off x="3486150" y="1998138"/>
            <a:ext cx="3028950" cy="6169377"/>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96"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3A93F5F3-9B97-8344-B1B4-ABE2473A197A}" type="datetime3">
              <a:rPr lang="en-ID" smtClean="0"/>
              <a:t>6 October 2026</a:t>
            </a:fld>
            <a:endParaRPr lang="en-US"/>
          </a:p>
        </p:txBody>
      </p:sp>
      <p:sp>
        <p:nvSpPr>
          <p:cNvPr id="1048797"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98"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799"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00"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48801" name="Text Placeholder 2"/>
          <p:cNvSpPr>
            <a:spLocks noGrp="1"/>
          </p:cNvSpPr>
          <p:nvPr>
            <p:ph type="body" idx="1"/>
          </p:nvPr>
        </p:nvSpPr>
        <p:spPr>
          <a:xfrm>
            <a:off x="342901" y="1955803"/>
            <a:ext cx="303014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02" name="Content Placeholder 3"/>
          <p:cNvSpPr>
            <a:spLocks noGrp="1"/>
          </p:cNvSpPr>
          <p:nvPr>
            <p:ph sz="half" idx="2"/>
          </p:nvPr>
        </p:nvSpPr>
        <p:spPr>
          <a:xfrm>
            <a:off x="342901" y="2810935"/>
            <a:ext cx="303014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03" name="Text Placeholder 4"/>
          <p:cNvSpPr>
            <a:spLocks noGrp="1"/>
          </p:cNvSpPr>
          <p:nvPr>
            <p:ph type="body" sz="quarter" idx="3"/>
          </p:nvPr>
        </p:nvSpPr>
        <p:spPr>
          <a:xfrm>
            <a:off x="3483773" y="1955803"/>
            <a:ext cx="3031331" cy="85513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804" name="Content Placeholder 5"/>
          <p:cNvSpPr>
            <a:spLocks noGrp="1"/>
          </p:cNvSpPr>
          <p:nvPr>
            <p:ph sz="quarter" idx="4"/>
          </p:nvPr>
        </p:nvSpPr>
        <p:spPr>
          <a:xfrm>
            <a:off x="3483773" y="2810935"/>
            <a:ext cx="3031331" cy="5147733"/>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05"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F22E47FA-41D4-404E-87E9-7D1F6BDC88C0}" type="datetime3">
              <a:rPr lang="en-ID" smtClean="0"/>
              <a:t>6 October 2026</a:t>
            </a:fld>
            <a:endParaRPr lang="en-US"/>
          </a:p>
        </p:txBody>
      </p:sp>
      <p:sp>
        <p:nvSpPr>
          <p:cNvPr id="1048806"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807" name="TextBox 13"/>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808"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809"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1048765" name="Picture Placeholder 2"/>
          <p:cNvSpPr>
            <a:spLocks noGrp="1"/>
          </p:cNvSpPr>
          <p:nvPr>
            <p:ph type="pic" idx="1"/>
          </p:nvPr>
        </p:nvSpPr>
        <p:spPr>
          <a:xfrm>
            <a:off x="0" y="5"/>
            <a:ext cx="6858000" cy="9143999"/>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766"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CF54DA69-1ED2-EC4D-9A71-82EC9B98A11B}" type="datetime3">
              <a:rPr lang="en-ID" smtClean="0"/>
              <a:t>6 October 2026</a:t>
            </a:fld>
            <a:endParaRPr lang="en-US"/>
          </a:p>
        </p:txBody>
      </p:sp>
      <p:sp>
        <p:nvSpPr>
          <p:cNvPr id="1048767"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68" name="TextBox 11"/>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769"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770"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a:t>Presentation Title</a:t>
            </a: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ustom">
    <p:spTree>
      <p:nvGrpSpPr>
        <p:cNvPr id="1" name=""/>
        <p:cNvGrpSpPr/>
        <p:nvPr/>
      </p:nvGrpSpPr>
      <p:grpSpPr>
        <a:xfrm>
          <a:off x="0" y="0"/>
          <a:ext cx="0" cy="0"/>
          <a:chOff x="0" y="0"/>
          <a:chExt cx="0" cy="0"/>
        </a:xfrm>
      </p:grpSpPr>
      <p:sp>
        <p:nvSpPr>
          <p:cNvPr id="1048771" name="Date Placeholder 3"/>
          <p:cNvSpPr>
            <a:spLocks noGrp="1"/>
          </p:cNvSpPr>
          <p:nvPr>
            <p:ph type="dt" sz="half" idx="10"/>
          </p:nvPr>
        </p:nvSpPr>
        <p:spPr>
          <a:xfrm>
            <a:off x="628650" y="8365072"/>
            <a:ext cx="1314450" cy="352777"/>
          </a:xfrm>
          <a:prstGeom prst="rect">
            <a:avLst/>
          </a:prstGeom>
        </p:spPr>
        <p:txBody>
          <a:bodyPr/>
          <a:lstStyle>
            <a:lvl1pPr>
              <a:defRPr sz="800"/>
            </a:lvl1pPr>
          </a:lstStyle>
          <a:p>
            <a:fld id="{97535B67-28D6-4D40-8A20-4DB7314F65D6}" type="datetime3">
              <a:rPr lang="en-ID" smtClean="0"/>
              <a:t>6 October 2026</a:t>
            </a:fld>
            <a:endParaRPr lang="en-US"/>
          </a:p>
        </p:txBody>
      </p:sp>
      <p:sp>
        <p:nvSpPr>
          <p:cNvPr id="1048772" name="Slide Number Placeholder 5"/>
          <p:cNvSpPr>
            <a:spLocks noGrp="1"/>
          </p:cNvSpPr>
          <p:nvPr>
            <p:ph type="sldNum" sz="quarter" idx="13"/>
          </p:nvPr>
        </p:nvSpPr>
        <p:spPr>
          <a:xfrm>
            <a:off x="285750" y="8365072"/>
            <a:ext cx="342900" cy="352777"/>
          </a:xfrm>
          <a:prstGeom prst="rect">
            <a:avLst/>
          </a:prstGeom>
        </p:spPr>
        <p:txBody>
          <a:bodyPr/>
          <a:lstStyle>
            <a:lvl1pPr>
              <a:defRPr sz="800"/>
            </a:lvl1pPr>
          </a:lstStyle>
          <a:p>
            <a:fld id="{06795ACB-A6A7-4E93-8CA8-292ED1AD1443}" type="slidenum">
              <a:rPr lang="en-US" smtClean="0"/>
              <a:t>‹#›</a:t>
            </a:fld>
            <a:endParaRPr lang="en-US"/>
          </a:p>
        </p:txBody>
      </p:sp>
      <p:sp>
        <p:nvSpPr>
          <p:cNvPr id="1048773" name="TextBox 12"/>
          <p:cNvSpPr txBox="1"/>
          <p:nvPr userDrawn="1"/>
        </p:nvSpPr>
        <p:spPr>
          <a:xfrm>
            <a:off x="5372100" y="8365067"/>
            <a:ext cx="12573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t>PT. Bank Central Asia </a:t>
            </a:r>
            <a:r>
              <a:rPr lang="en-US" sz="800" err="1"/>
              <a:t>Tbk</a:t>
            </a:r>
            <a:endParaRPr lang="en-US" sz="800"/>
          </a:p>
        </p:txBody>
      </p:sp>
      <p:sp>
        <p:nvSpPr>
          <p:cNvPr id="1048774" name="Title Placeholder 14"/>
          <p:cNvSpPr>
            <a:spLocks noGrp="1"/>
          </p:cNvSpPr>
          <p:nvPr>
            <p:ph type="title"/>
          </p:nvPr>
        </p:nvSpPr>
        <p:spPr>
          <a:xfrm>
            <a:off x="285750" y="1185333"/>
            <a:ext cx="2000250" cy="406400"/>
          </a:xfrm>
          <a:prstGeom prst="rect">
            <a:avLst/>
          </a:prstGeom>
        </p:spPr>
        <p:txBody>
          <a:bodyPr vert="horz" lIns="91440" tIns="45720" rIns="91440" bIns="45720" rtlCol="0" anchor="ctr">
            <a:noAutofit/>
          </a:bodyPr>
          <a:lstStyle>
            <a:lvl1pPr>
              <a:defRPr sz="1600" b="1">
                <a:solidFill>
                  <a:srgbClr val="0C5EA8"/>
                </a:solidFill>
              </a:defRPr>
            </a:lvl1pPr>
          </a:lstStyle>
          <a:p>
            <a:r>
              <a:rPr lang="en-US"/>
              <a:t>Slide Title</a:t>
            </a:r>
          </a:p>
        </p:txBody>
      </p:sp>
      <p:sp>
        <p:nvSpPr>
          <p:cNvPr id="1048775" name="Text Placeholder 27"/>
          <p:cNvSpPr>
            <a:spLocks noGrp="1"/>
          </p:cNvSpPr>
          <p:nvPr>
            <p:ph type="body" sz="quarter" idx="15" hasCustomPrompt="1"/>
          </p:nvPr>
        </p:nvSpPr>
        <p:spPr>
          <a:xfrm>
            <a:off x="285750" y="508000"/>
            <a:ext cx="1600200" cy="406400"/>
          </a:xfrm>
          <a:prstGeom prst="rect">
            <a:avLst/>
          </a:prstGeom>
        </p:spPr>
        <p:txBody>
          <a:bodyPr anchor="ctr"/>
          <a:lstStyle/>
          <a:p>
            <a:pPr lvl="0"/>
            <a:r>
              <a:rPr lang="en-US" dirty="0"/>
              <a:t>Presentation Title</a:t>
            </a: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585" name="Title 1"/>
          <p:cNvSpPr>
            <a:spLocks noGrp="1"/>
          </p:cNvSpPr>
          <p:nvPr>
            <p:ph type="ctrTitle"/>
          </p:nvPr>
        </p:nvSpPr>
        <p:spPr>
          <a:xfrm>
            <a:off x="514350" y="1496484"/>
            <a:ext cx="5829301" cy="3183466"/>
          </a:xfrm>
        </p:spPr>
        <p:txBody>
          <a:bodyPr anchor="b"/>
          <a:lstStyle>
            <a:lvl1pPr algn="ctr">
              <a:defRPr sz="4500"/>
            </a:lvl1pPr>
          </a:lstStyle>
          <a:p>
            <a:r>
              <a:rPr lang="en-US" dirty="0"/>
              <a:t>Click to edit Master title style</a:t>
            </a:r>
          </a:p>
        </p:txBody>
      </p:sp>
      <p:sp>
        <p:nvSpPr>
          <p:cNvPr id="1048586" name="Subtitle 2"/>
          <p:cNvSpPr>
            <a:spLocks noGrp="1"/>
          </p:cNvSpPr>
          <p:nvPr>
            <p:ph type="subTitle" idx="1"/>
          </p:nvPr>
        </p:nvSpPr>
        <p:spPr>
          <a:xfrm>
            <a:off x="857251" y="4802718"/>
            <a:ext cx="5143500" cy="2207683"/>
          </a:xfrm>
        </p:spPr>
        <p:txBody>
          <a:bodyPr/>
          <a:lstStyle>
            <a:lvl1pPr marL="0" indent="0" algn="ctr">
              <a:buNone/>
              <a:defRPr sz="1800"/>
            </a:lvl1pPr>
            <a:lvl2pPr marL="342871" indent="0" algn="ctr">
              <a:buNone/>
              <a:defRPr sz="1500"/>
            </a:lvl2pPr>
            <a:lvl3pPr marL="685740" indent="0" algn="ctr">
              <a:buNone/>
              <a:defRPr sz="1300"/>
            </a:lvl3pPr>
            <a:lvl4pPr marL="1028611" indent="0" algn="ctr">
              <a:buNone/>
              <a:defRPr sz="1200"/>
            </a:lvl4pPr>
            <a:lvl5pPr marL="1371481" indent="0" algn="ctr">
              <a:buNone/>
              <a:defRPr sz="1200"/>
            </a:lvl5pPr>
            <a:lvl6pPr marL="1714352" indent="0" algn="ctr">
              <a:buNone/>
              <a:defRPr sz="1200"/>
            </a:lvl6pPr>
            <a:lvl7pPr marL="2057223" indent="0" algn="ctr">
              <a:buNone/>
              <a:defRPr sz="1200"/>
            </a:lvl7pPr>
            <a:lvl8pPr marL="2400092" indent="0" algn="ctr">
              <a:buNone/>
              <a:defRPr sz="1200"/>
            </a:lvl8pPr>
            <a:lvl9pPr marL="2742963" indent="0" algn="ctr">
              <a:buNone/>
              <a:defRPr sz="1200"/>
            </a:lvl9pPr>
          </a:lstStyle>
          <a:p>
            <a:r>
              <a:rPr lang="en-US"/>
              <a:t>Click to edit Master subtitle style</a:t>
            </a:r>
          </a:p>
        </p:txBody>
      </p:sp>
      <p:sp>
        <p:nvSpPr>
          <p:cNvPr id="1048587" name="Date Placeholder 3"/>
          <p:cNvSpPr>
            <a:spLocks noGrp="1"/>
          </p:cNvSpPr>
          <p:nvPr>
            <p:ph type="dt" sz="half" idx="10"/>
          </p:nvPr>
        </p:nvSpPr>
        <p:spPr/>
        <p:txBody>
          <a:bodyPr/>
          <a:lstStyle/>
          <a:p>
            <a:fld id="{BC9D7FC2-0FF7-41D9-9E23-6B9F3C380436}" type="datetimeFigureOut">
              <a:rPr lang="id-ID" smtClean="0">
                <a:solidFill>
                  <a:prstClr val="black">
                    <a:tint val="75000"/>
                  </a:prstClr>
                </a:solidFill>
              </a:rPr>
              <a:t>06/10/26</a:t>
            </a:fld>
            <a:endParaRPr lang="id-ID">
              <a:solidFill>
                <a:prstClr val="black">
                  <a:tint val="75000"/>
                </a:prstClr>
              </a:solidFill>
            </a:endParaRPr>
          </a:p>
        </p:txBody>
      </p:sp>
      <p:sp>
        <p:nvSpPr>
          <p:cNvPr id="1048588" name="Footer Placeholder 4"/>
          <p:cNvSpPr>
            <a:spLocks noGrp="1"/>
          </p:cNvSpPr>
          <p:nvPr>
            <p:ph type="ftr" sz="quarter" idx="11"/>
          </p:nvPr>
        </p:nvSpPr>
        <p:spPr/>
        <p:txBody>
          <a:bodyPr/>
          <a:lstStyle/>
          <a:p>
            <a:endParaRPr lang="id-ID">
              <a:solidFill>
                <a:prstClr val="black">
                  <a:tint val="75000"/>
                </a:prstClr>
              </a:solidFill>
            </a:endParaRPr>
          </a:p>
        </p:txBody>
      </p:sp>
      <p:sp>
        <p:nvSpPr>
          <p:cNvPr id="1048589" name="Slide Number Placeholder 5"/>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740" name="Title 1"/>
          <p:cNvSpPr>
            <a:spLocks noGrp="1"/>
          </p:cNvSpPr>
          <p:nvPr>
            <p:ph type="title"/>
          </p:nvPr>
        </p:nvSpPr>
        <p:spPr/>
        <p:txBody>
          <a:bodyPr/>
          <a:lstStyle/>
          <a:p>
            <a:r>
              <a:rPr lang="en-US" dirty="0"/>
              <a:t>Click to edit Master title style</a:t>
            </a:r>
          </a:p>
        </p:txBody>
      </p:sp>
      <p:sp>
        <p:nvSpPr>
          <p:cNvPr id="1048741"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42" name="Date Placeholder 3"/>
          <p:cNvSpPr>
            <a:spLocks noGrp="1"/>
          </p:cNvSpPr>
          <p:nvPr>
            <p:ph type="dt" sz="half" idx="10"/>
          </p:nvPr>
        </p:nvSpPr>
        <p:spPr/>
        <p:txBody>
          <a:bodyPr/>
          <a:lstStyle/>
          <a:p>
            <a:fld id="{BC9D7FC2-0FF7-41D9-9E23-6B9F3C380436}" type="datetimeFigureOut">
              <a:rPr lang="id-ID" smtClean="0">
                <a:solidFill>
                  <a:prstClr val="black">
                    <a:tint val="75000"/>
                  </a:prstClr>
                </a:solidFill>
              </a:rPr>
              <a:t>06/10/26</a:t>
            </a:fld>
            <a:endParaRPr lang="id-ID">
              <a:solidFill>
                <a:prstClr val="black">
                  <a:tint val="75000"/>
                </a:prstClr>
              </a:solidFill>
            </a:endParaRPr>
          </a:p>
        </p:txBody>
      </p:sp>
      <p:sp>
        <p:nvSpPr>
          <p:cNvPr id="1048743" name="Footer Placeholder 4"/>
          <p:cNvSpPr>
            <a:spLocks noGrp="1"/>
          </p:cNvSpPr>
          <p:nvPr>
            <p:ph type="ftr" sz="quarter" idx="11"/>
          </p:nvPr>
        </p:nvSpPr>
        <p:spPr/>
        <p:txBody>
          <a:bodyPr/>
          <a:lstStyle/>
          <a:p>
            <a:endParaRPr lang="id-ID">
              <a:solidFill>
                <a:prstClr val="black">
                  <a:tint val="75000"/>
                </a:prstClr>
              </a:solidFill>
            </a:endParaRPr>
          </a:p>
        </p:txBody>
      </p:sp>
      <p:sp>
        <p:nvSpPr>
          <p:cNvPr id="1048744" name="Slide Number Placeholder 5"/>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708" name="Title 1"/>
          <p:cNvSpPr>
            <a:spLocks noGrp="1"/>
          </p:cNvSpPr>
          <p:nvPr>
            <p:ph type="title"/>
          </p:nvPr>
        </p:nvSpPr>
        <p:spPr>
          <a:xfrm>
            <a:off x="467916" y="2279653"/>
            <a:ext cx="5915025" cy="3803650"/>
          </a:xfrm>
        </p:spPr>
        <p:txBody>
          <a:bodyPr anchor="b"/>
          <a:lstStyle>
            <a:lvl1pPr>
              <a:defRPr sz="4500"/>
            </a:lvl1pPr>
          </a:lstStyle>
          <a:p>
            <a:r>
              <a:rPr lang="en-US"/>
              <a:t>Click to edit Master title style</a:t>
            </a:r>
          </a:p>
        </p:txBody>
      </p:sp>
      <p:sp>
        <p:nvSpPr>
          <p:cNvPr id="1048709" name="Text Placeholder 2"/>
          <p:cNvSpPr>
            <a:spLocks noGrp="1"/>
          </p:cNvSpPr>
          <p:nvPr>
            <p:ph type="body" idx="1"/>
          </p:nvPr>
        </p:nvSpPr>
        <p:spPr>
          <a:xfrm>
            <a:off x="467916" y="6119287"/>
            <a:ext cx="5915025" cy="2000249"/>
          </a:xfrm>
        </p:spPr>
        <p:txBody>
          <a:bodyPr/>
          <a:lstStyle>
            <a:lvl1pPr marL="0" indent="0">
              <a:buNone/>
              <a:defRPr sz="1800">
                <a:solidFill>
                  <a:schemeClr val="tx1"/>
                </a:solidFill>
              </a:defRPr>
            </a:lvl1pPr>
            <a:lvl2pPr marL="342871" indent="0">
              <a:buNone/>
              <a:defRPr sz="1500">
                <a:solidFill>
                  <a:schemeClr val="tx1">
                    <a:tint val="75000"/>
                  </a:schemeClr>
                </a:solidFill>
              </a:defRPr>
            </a:lvl2pPr>
            <a:lvl3pPr marL="685740" indent="0">
              <a:buNone/>
              <a:defRPr sz="1300">
                <a:solidFill>
                  <a:schemeClr val="tx1">
                    <a:tint val="75000"/>
                  </a:schemeClr>
                </a:solidFill>
              </a:defRPr>
            </a:lvl3pPr>
            <a:lvl4pPr marL="1028611" indent="0">
              <a:buNone/>
              <a:defRPr sz="1200">
                <a:solidFill>
                  <a:schemeClr val="tx1">
                    <a:tint val="75000"/>
                  </a:schemeClr>
                </a:solidFill>
              </a:defRPr>
            </a:lvl4pPr>
            <a:lvl5pPr marL="1371481" indent="0">
              <a:buNone/>
              <a:defRPr sz="1200">
                <a:solidFill>
                  <a:schemeClr val="tx1">
                    <a:tint val="75000"/>
                  </a:schemeClr>
                </a:solidFill>
              </a:defRPr>
            </a:lvl5pPr>
            <a:lvl6pPr marL="1714352" indent="0">
              <a:buNone/>
              <a:defRPr sz="1200">
                <a:solidFill>
                  <a:schemeClr val="tx1">
                    <a:tint val="75000"/>
                  </a:schemeClr>
                </a:solidFill>
              </a:defRPr>
            </a:lvl6pPr>
            <a:lvl7pPr marL="2057223" indent="0">
              <a:buNone/>
              <a:defRPr sz="1200">
                <a:solidFill>
                  <a:schemeClr val="tx1">
                    <a:tint val="75000"/>
                  </a:schemeClr>
                </a:solidFill>
              </a:defRPr>
            </a:lvl7pPr>
            <a:lvl8pPr marL="2400092" indent="0">
              <a:buNone/>
              <a:defRPr sz="1200">
                <a:solidFill>
                  <a:schemeClr val="tx1">
                    <a:tint val="75000"/>
                  </a:schemeClr>
                </a:solidFill>
              </a:defRPr>
            </a:lvl8pPr>
            <a:lvl9pPr marL="2742963" indent="0">
              <a:buNone/>
              <a:defRPr sz="1200">
                <a:solidFill>
                  <a:schemeClr val="tx1">
                    <a:tint val="75000"/>
                  </a:schemeClr>
                </a:solidFill>
              </a:defRPr>
            </a:lvl9pPr>
          </a:lstStyle>
          <a:p>
            <a:pPr lvl="0"/>
            <a:r>
              <a:rPr lang="en-US"/>
              <a:t>Click to edit Master text styles</a:t>
            </a:r>
          </a:p>
        </p:txBody>
      </p:sp>
      <p:sp>
        <p:nvSpPr>
          <p:cNvPr id="1048710" name="Date Placeholder 3"/>
          <p:cNvSpPr>
            <a:spLocks noGrp="1"/>
          </p:cNvSpPr>
          <p:nvPr>
            <p:ph type="dt" sz="half" idx="10"/>
          </p:nvPr>
        </p:nvSpPr>
        <p:spPr/>
        <p:txBody>
          <a:bodyPr/>
          <a:lstStyle/>
          <a:p>
            <a:fld id="{BC9D7FC2-0FF7-41D9-9E23-6B9F3C380436}" type="datetimeFigureOut">
              <a:rPr lang="id-ID" smtClean="0">
                <a:solidFill>
                  <a:prstClr val="black">
                    <a:tint val="75000"/>
                  </a:prstClr>
                </a:solidFill>
              </a:rPr>
              <a:t>06/10/26</a:t>
            </a:fld>
            <a:endParaRPr lang="id-ID">
              <a:solidFill>
                <a:prstClr val="black">
                  <a:tint val="75000"/>
                </a:prstClr>
              </a:solidFill>
            </a:endParaRPr>
          </a:p>
        </p:txBody>
      </p:sp>
      <p:sp>
        <p:nvSpPr>
          <p:cNvPr id="1048711" name="Footer Placeholder 4"/>
          <p:cNvSpPr>
            <a:spLocks noGrp="1"/>
          </p:cNvSpPr>
          <p:nvPr>
            <p:ph type="ftr" sz="quarter" idx="11"/>
          </p:nvPr>
        </p:nvSpPr>
        <p:spPr/>
        <p:txBody>
          <a:bodyPr/>
          <a:lstStyle/>
          <a:p>
            <a:endParaRPr lang="id-ID">
              <a:solidFill>
                <a:prstClr val="black">
                  <a:tint val="75000"/>
                </a:prstClr>
              </a:solidFill>
            </a:endParaRPr>
          </a:p>
        </p:txBody>
      </p:sp>
      <p:sp>
        <p:nvSpPr>
          <p:cNvPr id="1048712" name="Slide Number Placeholder 5"/>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725" name="Title 1"/>
          <p:cNvSpPr>
            <a:spLocks noGrp="1"/>
          </p:cNvSpPr>
          <p:nvPr>
            <p:ph type="title"/>
          </p:nvPr>
        </p:nvSpPr>
        <p:spPr/>
        <p:txBody>
          <a:bodyPr/>
          <a:lstStyle/>
          <a:p>
            <a:r>
              <a:rPr lang="en-US"/>
              <a:t>Click to edit Master title style</a:t>
            </a:r>
          </a:p>
        </p:txBody>
      </p:sp>
      <p:sp>
        <p:nvSpPr>
          <p:cNvPr id="1048726" name="Content Placeholder 2"/>
          <p:cNvSpPr>
            <a:spLocks noGrp="1"/>
          </p:cNvSpPr>
          <p:nvPr>
            <p:ph sz="half" idx="1"/>
          </p:nvPr>
        </p:nvSpPr>
        <p:spPr>
          <a:xfrm>
            <a:off x="471488" y="2434166"/>
            <a:ext cx="291465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27" name="Content Placeholder 3"/>
          <p:cNvSpPr>
            <a:spLocks noGrp="1"/>
          </p:cNvSpPr>
          <p:nvPr>
            <p:ph sz="half" idx="2"/>
          </p:nvPr>
        </p:nvSpPr>
        <p:spPr>
          <a:xfrm>
            <a:off x="3471863" y="2434166"/>
            <a:ext cx="2914650" cy="5801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28" name="Date Placeholder 4"/>
          <p:cNvSpPr>
            <a:spLocks noGrp="1"/>
          </p:cNvSpPr>
          <p:nvPr>
            <p:ph type="dt" sz="half" idx="10"/>
          </p:nvPr>
        </p:nvSpPr>
        <p:spPr/>
        <p:txBody>
          <a:bodyPr/>
          <a:lstStyle/>
          <a:p>
            <a:fld id="{BC9D7FC2-0FF7-41D9-9E23-6B9F3C380436}" type="datetimeFigureOut">
              <a:rPr lang="id-ID" smtClean="0">
                <a:solidFill>
                  <a:prstClr val="black">
                    <a:tint val="75000"/>
                  </a:prstClr>
                </a:solidFill>
              </a:rPr>
              <a:t>06/10/26</a:t>
            </a:fld>
            <a:endParaRPr lang="id-ID">
              <a:solidFill>
                <a:prstClr val="black">
                  <a:tint val="75000"/>
                </a:prstClr>
              </a:solidFill>
            </a:endParaRPr>
          </a:p>
        </p:txBody>
      </p:sp>
      <p:sp>
        <p:nvSpPr>
          <p:cNvPr id="1048729" name="Footer Placeholder 5"/>
          <p:cNvSpPr>
            <a:spLocks noGrp="1"/>
          </p:cNvSpPr>
          <p:nvPr>
            <p:ph type="ftr" sz="quarter" idx="11"/>
          </p:nvPr>
        </p:nvSpPr>
        <p:spPr/>
        <p:txBody>
          <a:bodyPr/>
          <a:lstStyle/>
          <a:p>
            <a:endParaRPr lang="id-ID">
              <a:solidFill>
                <a:prstClr val="black">
                  <a:tint val="75000"/>
                </a:prstClr>
              </a:solidFill>
            </a:endParaRPr>
          </a:p>
        </p:txBody>
      </p:sp>
      <p:sp>
        <p:nvSpPr>
          <p:cNvPr id="1048730" name="Slide Number Placeholder 6"/>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717" name="Title 1"/>
          <p:cNvSpPr>
            <a:spLocks noGrp="1"/>
          </p:cNvSpPr>
          <p:nvPr>
            <p:ph type="title"/>
          </p:nvPr>
        </p:nvSpPr>
        <p:spPr>
          <a:xfrm>
            <a:off x="472381" y="486836"/>
            <a:ext cx="5915025" cy="1767417"/>
          </a:xfrm>
        </p:spPr>
        <p:txBody>
          <a:bodyPr/>
          <a:lstStyle/>
          <a:p>
            <a:r>
              <a:rPr lang="en-US" dirty="0"/>
              <a:t>Click to edit Master title style</a:t>
            </a:r>
          </a:p>
        </p:txBody>
      </p:sp>
      <p:sp>
        <p:nvSpPr>
          <p:cNvPr id="1048718" name="Text Placeholder 2"/>
          <p:cNvSpPr>
            <a:spLocks noGrp="1"/>
          </p:cNvSpPr>
          <p:nvPr>
            <p:ph type="body" idx="1"/>
          </p:nvPr>
        </p:nvSpPr>
        <p:spPr>
          <a:xfrm>
            <a:off x="472382" y="2241551"/>
            <a:ext cx="2901255" cy="1098549"/>
          </a:xfrm>
        </p:spPr>
        <p:txBody>
          <a:bodyPr anchor="b"/>
          <a:lstStyle>
            <a:lvl1pPr marL="0" indent="0">
              <a:buNone/>
              <a:defRPr sz="1800" b="1"/>
            </a:lvl1pPr>
            <a:lvl2pPr marL="342871" indent="0">
              <a:buNone/>
              <a:defRPr sz="1500" b="1"/>
            </a:lvl2pPr>
            <a:lvl3pPr marL="685740" indent="0">
              <a:buNone/>
              <a:defRPr sz="1300" b="1"/>
            </a:lvl3pPr>
            <a:lvl4pPr marL="1028611" indent="0">
              <a:buNone/>
              <a:defRPr sz="1200" b="1"/>
            </a:lvl4pPr>
            <a:lvl5pPr marL="1371481" indent="0">
              <a:buNone/>
              <a:defRPr sz="1200" b="1"/>
            </a:lvl5pPr>
            <a:lvl6pPr marL="1714352" indent="0">
              <a:buNone/>
              <a:defRPr sz="1200" b="1"/>
            </a:lvl6pPr>
            <a:lvl7pPr marL="2057223" indent="0">
              <a:buNone/>
              <a:defRPr sz="1200" b="1"/>
            </a:lvl7pPr>
            <a:lvl8pPr marL="2400092" indent="0">
              <a:buNone/>
              <a:defRPr sz="1200" b="1"/>
            </a:lvl8pPr>
            <a:lvl9pPr marL="2742963" indent="0">
              <a:buNone/>
              <a:defRPr sz="1200" b="1"/>
            </a:lvl9pPr>
          </a:lstStyle>
          <a:p>
            <a:pPr lvl="0"/>
            <a:r>
              <a:rPr lang="en-US"/>
              <a:t>Click to edit Master text styles</a:t>
            </a:r>
          </a:p>
        </p:txBody>
      </p:sp>
      <p:sp>
        <p:nvSpPr>
          <p:cNvPr id="1048719" name="Content Placeholder 3"/>
          <p:cNvSpPr>
            <a:spLocks noGrp="1"/>
          </p:cNvSpPr>
          <p:nvPr>
            <p:ph sz="half" idx="2"/>
          </p:nvPr>
        </p:nvSpPr>
        <p:spPr>
          <a:xfrm>
            <a:off x="472382" y="3340100"/>
            <a:ext cx="2901255"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20" name="Text Placeholder 4"/>
          <p:cNvSpPr>
            <a:spLocks noGrp="1"/>
          </p:cNvSpPr>
          <p:nvPr>
            <p:ph type="body" sz="quarter" idx="3"/>
          </p:nvPr>
        </p:nvSpPr>
        <p:spPr>
          <a:xfrm>
            <a:off x="3471863" y="2241551"/>
            <a:ext cx="2915543" cy="1098549"/>
          </a:xfrm>
        </p:spPr>
        <p:txBody>
          <a:bodyPr anchor="b"/>
          <a:lstStyle>
            <a:lvl1pPr marL="0" indent="0">
              <a:buNone/>
              <a:defRPr sz="1800" b="1"/>
            </a:lvl1pPr>
            <a:lvl2pPr marL="342871" indent="0">
              <a:buNone/>
              <a:defRPr sz="1500" b="1"/>
            </a:lvl2pPr>
            <a:lvl3pPr marL="685740" indent="0">
              <a:buNone/>
              <a:defRPr sz="1300" b="1"/>
            </a:lvl3pPr>
            <a:lvl4pPr marL="1028611" indent="0">
              <a:buNone/>
              <a:defRPr sz="1200" b="1"/>
            </a:lvl4pPr>
            <a:lvl5pPr marL="1371481" indent="0">
              <a:buNone/>
              <a:defRPr sz="1200" b="1"/>
            </a:lvl5pPr>
            <a:lvl6pPr marL="1714352" indent="0">
              <a:buNone/>
              <a:defRPr sz="1200" b="1"/>
            </a:lvl6pPr>
            <a:lvl7pPr marL="2057223" indent="0">
              <a:buNone/>
              <a:defRPr sz="1200" b="1"/>
            </a:lvl7pPr>
            <a:lvl8pPr marL="2400092" indent="0">
              <a:buNone/>
              <a:defRPr sz="1200" b="1"/>
            </a:lvl8pPr>
            <a:lvl9pPr marL="2742963" indent="0">
              <a:buNone/>
              <a:defRPr sz="1200" b="1"/>
            </a:lvl9pPr>
          </a:lstStyle>
          <a:p>
            <a:pPr lvl="0"/>
            <a:r>
              <a:rPr lang="en-US"/>
              <a:t>Click to edit Master text styles</a:t>
            </a:r>
          </a:p>
        </p:txBody>
      </p:sp>
      <p:sp>
        <p:nvSpPr>
          <p:cNvPr id="1048721" name="Content Placeholder 5"/>
          <p:cNvSpPr>
            <a:spLocks noGrp="1"/>
          </p:cNvSpPr>
          <p:nvPr>
            <p:ph sz="quarter" idx="4"/>
          </p:nvPr>
        </p:nvSpPr>
        <p:spPr>
          <a:xfrm>
            <a:off x="3471863" y="3340100"/>
            <a:ext cx="2915543" cy="49127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22" name="Date Placeholder 6"/>
          <p:cNvSpPr>
            <a:spLocks noGrp="1"/>
          </p:cNvSpPr>
          <p:nvPr>
            <p:ph type="dt" sz="half" idx="10"/>
          </p:nvPr>
        </p:nvSpPr>
        <p:spPr/>
        <p:txBody>
          <a:bodyPr/>
          <a:lstStyle/>
          <a:p>
            <a:fld id="{BC9D7FC2-0FF7-41D9-9E23-6B9F3C380436}" type="datetimeFigureOut">
              <a:rPr lang="id-ID" smtClean="0">
                <a:solidFill>
                  <a:prstClr val="black">
                    <a:tint val="75000"/>
                  </a:prstClr>
                </a:solidFill>
              </a:rPr>
              <a:t>06/10/26</a:t>
            </a:fld>
            <a:endParaRPr lang="id-ID">
              <a:solidFill>
                <a:prstClr val="black">
                  <a:tint val="75000"/>
                </a:prstClr>
              </a:solidFill>
            </a:endParaRPr>
          </a:p>
        </p:txBody>
      </p:sp>
      <p:sp>
        <p:nvSpPr>
          <p:cNvPr id="1048723" name="Footer Placeholder 7"/>
          <p:cNvSpPr>
            <a:spLocks noGrp="1"/>
          </p:cNvSpPr>
          <p:nvPr>
            <p:ph type="ftr" sz="quarter" idx="11"/>
          </p:nvPr>
        </p:nvSpPr>
        <p:spPr/>
        <p:txBody>
          <a:bodyPr/>
          <a:lstStyle/>
          <a:p>
            <a:endParaRPr lang="id-ID">
              <a:solidFill>
                <a:prstClr val="black">
                  <a:tint val="75000"/>
                </a:prstClr>
              </a:solidFill>
            </a:endParaRPr>
          </a:p>
        </p:txBody>
      </p:sp>
      <p:sp>
        <p:nvSpPr>
          <p:cNvPr id="1048724" name="Slide Number Placeholder 8"/>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713" name="Title 1"/>
          <p:cNvSpPr>
            <a:spLocks noGrp="1"/>
          </p:cNvSpPr>
          <p:nvPr>
            <p:ph type="title"/>
          </p:nvPr>
        </p:nvSpPr>
        <p:spPr/>
        <p:txBody>
          <a:bodyPr/>
          <a:lstStyle/>
          <a:p>
            <a:r>
              <a:rPr lang="en-US" dirty="0"/>
              <a:t>Click to edit Master title style</a:t>
            </a:r>
          </a:p>
        </p:txBody>
      </p:sp>
      <p:sp>
        <p:nvSpPr>
          <p:cNvPr id="1048714" name="Date Placeholder 2"/>
          <p:cNvSpPr>
            <a:spLocks noGrp="1"/>
          </p:cNvSpPr>
          <p:nvPr>
            <p:ph type="dt" sz="half" idx="10"/>
          </p:nvPr>
        </p:nvSpPr>
        <p:spPr/>
        <p:txBody>
          <a:bodyPr/>
          <a:lstStyle/>
          <a:p>
            <a:fld id="{BC9D7FC2-0FF7-41D9-9E23-6B9F3C380436}" type="datetimeFigureOut">
              <a:rPr lang="id-ID" smtClean="0">
                <a:solidFill>
                  <a:prstClr val="black">
                    <a:tint val="75000"/>
                  </a:prstClr>
                </a:solidFill>
              </a:rPr>
              <a:t>06/10/26</a:t>
            </a:fld>
            <a:endParaRPr lang="id-ID">
              <a:solidFill>
                <a:prstClr val="black">
                  <a:tint val="75000"/>
                </a:prstClr>
              </a:solidFill>
            </a:endParaRPr>
          </a:p>
        </p:txBody>
      </p:sp>
      <p:sp>
        <p:nvSpPr>
          <p:cNvPr id="1048715" name="Footer Placeholder 3"/>
          <p:cNvSpPr>
            <a:spLocks noGrp="1"/>
          </p:cNvSpPr>
          <p:nvPr>
            <p:ph type="ftr" sz="quarter" idx="11"/>
          </p:nvPr>
        </p:nvSpPr>
        <p:spPr/>
        <p:txBody>
          <a:bodyPr/>
          <a:lstStyle/>
          <a:p>
            <a:endParaRPr lang="id-ID">
              <a:solidFill>
                <a:prstClr val="black">
                  <a:tint val="75000"/>
                </a:prstClr>
              </a:solidFill>
            </a:endParaRPr>
          </a:p>
        </p:txBody>
      </p:sp>
      <p:sp>
        <p:nvSpPr>
          <p:cNvPr id="1048716" name="Slide Number Placeholder 4"/>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731" name="Date Placeholder 1"/>
          <p:cNvSpPr>
            <a:spLocks noGrp="1"/>
          </p:cNvSpPr>
          <p:nvPr>
            <p:ph type="dt" sz="half" idx="10"/>
          </p:nvPr>
        </p:nvSpPr>
        <p:spPr/>
        <p:txBody>
          <a:bodyPr/>
          <a:lstStyle/>
          <a:p>
            <a:fld id="{BC9D7FC2-0FF7-41D9-9E23-6B9F3C380436}" type="datetimeFigureOut">
              <a:rPr lang="id-ID" smtClean="0">
                <a:solidFill>
                  <a:prstClr val="black">
                    <a:tint val="75000"/>
                  </a:prstClr>
                </a:solidFill>
              </a:rPr>
              <a:t>06/10/26</a:t>
            </a:fld>
            <a:endParaRPr lang="id-ID">
              <a:solidFill>
                <a:prstClr val="black">
                  <a:tint val="75000"/>
                </a:prstClr>
              </a:solidFill>
            </a:endParaRPr>
          </a:p>
        </p:txBody>
      </p:sp>
      <p:sp>
        <p:nvSpPr>
          <p:cNvPr id="1048732" name="Footer Placeholder 2"/>
          <p:cNvSpPr>
            <a:spLocks noGrp="1"/>
          </p:cNvSpPr>
          <p:nvPr>
            <p:ph type="ftr" sz="quarter" idx="11"/>
          </p:nvPr>
        </p:nvSpPr>
        <p:spPr/>
        <p:txBody>
          <a:bodyPr/>
          <a:lstStyle/>
          <a:p>
            <a:endParaRPr lang="id-ID">
              <a:solidFill>
                <a:prstClr val="black">
                  <a:tint val="75000"/>
                </a:prstClr>
              </a:solidFill>
            </a:endParaRPr>
          </a:p>
        </p:txBody>
      </p:sp>
      <p:sp>
        <p:nvSpPr>
          <p:cNvPr id="1048733" name="Slide Number Placeholder 3"/>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734" name="Title 1"/>
          <p:cNvSpPr>
            <a:spLocks noGrp="1"/>
          </p:cNvSpPr>
          <p:nvPr>
            <p:ph type="title"/>
          </p:nvPr>
        </p:nvSpPr>
        <p:spPr>
          <a:xfrm>
            <a:off x="472381" y="609600"/>
            <a:ext cx="2211883" cy="2133600"/>
          </a:xfrm>
        </p:spPr>
        <p:txBody>
          <a:bodyPr anchor="b"/>
          <a:lstStyle>
            <a:lvl1pPr>
              <a:defRPr sz="2400"/>
            </a:lvl1pPr>
          </a:lstStyle>
          <a:p>
            <a:r>
              <a:rPr lang="en-US"/>
              <a:t>Click to edit Master title style</a:t>
            </a:r>
          </a:p>
        </p:txBody>
      </p:sp>
      <p:sp>
        <p:nvSpPr>
          <p:cNvPr id="1048735" name="Content Placeholder 2"/>
          <p:cNvSpPr>
            <a:spLocks noGrp="1"/>
          </p:cNvSpPr>
          <p:nvPr>
            <p:ph idx="1"/>
          </p:nvPr>
        </p:nvSpPr>
        <p:spPr>
          <a:xfrm>
            <a:off x="2915544" y="1316569"/>
            <a:ext cx="3471863" cy="6498166"/>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36" name="Text Placeholder 3"/>
          <p:cNvSpPr>
            <a:spLocks noGrp="1"/>
          </p:cNvSpPr>
          <p:nvPr>
            <p:ph type="body" sz="half" idx="2"/>
          </p:nvPr>
        </p:nvSpPr>
        <p:spPr>
          <a:xfrm>
            <a:off x="472381" y="2743201"/>
            <a:ext cx="2211883" cy="5082117"/>
          </a:xfrm>
        </p:spPr>
        <p:txBody>
          <a:bodyPr/>
          <a:lstStyle>
            <a:lvl1pPr marL="0" indent="0">
              <a:buNone/>
              <a:defRPr sz="1200"/>
            </a:lvl1pPr>
            <a:lvl2pPr marL="342871" indent="0">
              <a:buNone/>
              <a:defRPr sz="1000"/>
            </a:lvl2pPr>
            <a:lvl3pPr marL="685740" indent="0">
              <a:buNone/>
              <a:defRPr sz="900"/>
            </a:lvl3pPr>
            <a:lvl4pPr marL="1028611" indent="0">
              <a:buNone/>
              <a:defRPr sz="700"/>
            </a:lvl4pPr>
            <a:lvl5pPr marL="1371481" indent="0">
              <a:buNone/>
              <a:defRPr sz="700"/>
            </a:lvl5pPr>
            <a:lvl6pPr marL="1714352" indent="0">
              <a:buNone/>
              <a:defRPr sz="700"/>
            </a:lvl6pPr>
            <a:lvl7pPr marL="2057223" indent="0">
              <a:buNone/>
              <a:defRPr sz="700"/>
            </a:lvl7pPr>
            <a:lvl8pPr marL="2400092" indent="0">
              <a:buNone/>
              <a:defRPr sz="700"/>
            </a:lvl8pPr>
            <a:lvl9pPr marL="2742963" indent="0">
              <a:buNone/>
              <a:defRPr sz="700"/>
            </a:lvl9pPr>
          </a:lstStyle>
          <a:p>
            <a:pPr lvl="0"/>
            <a:r>
              <a:rPr lang="en-US"/>
              <a:t>Click to edit Master text styles</a:t>
            </a:r>
          </a:p>
        </p:txBody>
      </p:sp>
      <p:sp>
        <p:nvSpPr>
          <p:cNvPr id="1048737" name="Date Placeholder 4"/>
          <p:cNvSpPr>
            <a:spLocks noGrp="1"/>
          </p:cNvSpPr>
          <p:nvPr>
            <p:ph type="dt" sz="half" idx="10"/>
          </p:nvPr>
        </p:nvSpPr>
        <p:spPr/>
        <p:txBody>
          <a:bodyPr/>
          <a:lstStyle/>
          <a:p>
            <a:fld id="{BC9D7FC2-0FF7-41D9-9E23-6B9F3C380436}" type="datetimeFigureOut">
              <a:rPr lang="id-ID" smtClean="0">
                <a:solidFill>
                  <a:prstClr val="black">
                    <a:tint val="75000"/>
                  </a:prstClr>
                </a:solidFill>
              </a:rPr>
              <a:t>06/10/26</a:t>
            </a:fld>
            <a:endParaRPr lang="id-ID">
              <a:solidFill>
                <a:prstClr val="black">
                  <a:tint val="75000"/>
                </a:prstClr>
              </a:solidFill>
            </a:endParaRPr>
          </a:p>
        </p:txBody>
      </p:sp>
      <p:sp>
        <p:nvSpPr>
          <p:cNvPr id="1048738" name="Footer Placeholder 5"/>
          <p:cNvSpPr>
            <a:spLocks noGrp="1"/>
          </p:cNvSpPr>
          <p:nvPr>
            <p:ph type="ftr" sz="quarter" idx="11"/>
          </p:nvPr>
        </p:nvSpPr>
        <p:spPr/>
        <p:txBody>
          <a:bodyPr/>
          <a:lstStyle/>
          <a:p>
            <a:endParaRPr lang="id-ID">
              <a:solidFill>
                <a:prstClr val="black">
                  <a:tint val="75000"/>
                </a:prstClr>
              </a:solidFill>
            </a:endParaRPr>
          </a:p>
        </p:txBody>
      </p:sp>
      <p:sp>
        <p:nvSpPr>
          <p:cNvPr id="1048739" name="Slide Number Placeholder 6"/>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745" name="Title 1"/>
          <p:cNvSpPr>
            <a:spLocks noGrp="1"/>
          </p:cNvSpPr>
          <p:nvPr>
            <p:ph type="title"/>
          </p:nvPr>
        </p:nvSpPr>
        <p:spPr>
          <a:xfrm>
            <a:off x="472381" y="609600"/>
            <a:ext cx="2211883" cy="2133600"/>
          </a:xfrm>
        </p:spPr>
        <p:txBody>
          <a:bodyPr anchor="b"/>
          <a:lstStyle>
            <a:lvl1pPr>
              <a:defRPr sz="2400"/>
            </a:lvl1pPr>
          </a:lstStyle>
          <a:p>
            <a:r>
              <a:rPr lang="en-US"/>
              <a:t>Click to edit Master title style</a:t>
            </a:r>
          </a:p>
        </p:txBody>
      </p:sp>
      <p:sp>
        <p:nvSpPr>
          <p:cNvPr id="1048746" name="Picture Placeholder 2"/>
          <p:cNvSpPr>
            <a:spLocks noGrp="1" noChangeAspect="1"/>
          </p:cNvSpPr>
          <p:nvPr>
            <p:ph type="pic" idx="1"/>
          </p:nvPr>
        </p:nvSpPr>
        <p:spPr>
          <a:xfrm>
            <a:off x="2915544" y="1316569"/>
            <a:ext cx="3471863" cy="6498166"/>
          </a:xfrm>
        </p:spPr>
        <p:txBody>
          <a:bodyPr anchor="t"/>
          <a:lstStyle>
            <a:lvl1pPr marL="0" indent="0">
              <a:buNone/>
              <a:defRPr sz="2400"/>
            </a:lvl1pPr>
            <a:lvl2pPr marL="342871" indent="0">
              <a:buNone/>
              <a:defRPr sz="2100"/>
            </a:lvl2pPr>
            <a:lvl3pPr marL="685740" indent="0">
              <a:buNone/>
              <a:defRPr sz="1800"/>
            </a:lvl3pPr>
            <a:lvl4pPr marL="1028611" indent="0">
              <a:buNone/>
              <a:defRPr sz="1500"/>
            </a:lvl4pPr>
            <a:lvl5pPr marL="1371481" indent="0">
              <a:buNone/>
              <a:defRPr sz="1500"/>
            </a:lvl5pPr>
            <a:lvl6pPr marL="1714352" indent="0">
              <a:buNone/>
              <a:defRPr sz="1500"/>
            </a:lvl6pPr>
            <a:lvl7pPr marL="2057223" indent="0">
              <a:buNone/>
              <a:defRPr sz="1500"/>
            </a:lvl7pPr>
            <a:lvl8pPr marL="2400092" indent="0">
              <a:buNone/>
              <a:defRPr sz="1500"/>
            </a:lvl8pPr>
            <a:lvl9pPr marL="2742963" indent="0">
              <a:buNone/>
              <a:defRPr sz="1500"/>
            </a:lvl9pPr>
          </a:lstStyle>
          <a:p>
            <a:r>
              <a:rPr lang="en-US"/>
              <a:t>Click icon to add picture</a:t>
            </a:r>
          </a:p>
        </p:txBody>
      </p:sp>
      <p:sp>
        <p:nvSpPr>
          <p:cNvPr id="1048747" name="Text Placeholder 3"/>
          <p:cNvSpPr>
            <a:spLocks noGrp="1"/>
          </p:cNvSpPr>
          <p:nvPr>
            <p:ph type="body" sz="half" idx="2"/>
          </p:nvPr>
        </p:nvSpPr>
        <p:spPr>
          <a:xfrm>
            <a:off x="472381" y="2743201"/>
            <a:ext cx="2211883" cy="5082117"/>
          </a:xfrm>
        </p:spPr>
        <p:txBody>
          <a:bodyPr/>
          <a:lstStyle>
            <a:lvl1pPr marL="0" indent="0">
              <a:buNone/>
              <a:defRPr sz="1200"/>
            </a:lvl1pPr>
            <a:lvl2pPr marL="342871" indent="0">
              <a:buNone/>
              <a:defRPr sz="1000"/>
            </a:lvl2pPr>
            <a:lvl3pPr marL="685740" indent="0">
              <a:buNone/>
              <a:defRPr sz="900"/>
            </a:lvl3pPr>
            <a:lvl4pPr marL="1028611" indent="0">
              <a:buNone/>
              <a:defRPr sz="700"/>
            </a:lvl4pPr>
            <a:lvl5pPr marL="1371481" indent="0">
              <a:buNone/>
              <a:defRPr sz="700"/>
            </a:lvl5pPr>
            <a:lvl6pPr marL="1714352" indent="0">
              <a:buNone/>
              <a:defRPr sz="700"/>
            </a:lvl6pPr>
            <a:lvl7pPr marL="2057223" indent="0">
              <a:buNone/>
              <a:defRPr sz="700"/>
            </a:lvl7pPr>
            <a:lvl8pPr marL="2400092" indent="0">
              <a:buNone/>
              <a:defRPr sz="700"/>
            </a:lvl8pPr>
            <a:lvl9pPr marL="2742963" indent="0">
              <a:buNone/>
              <a:defRPr sz="700"/>
            </a:lvl9pPr>
          </a:lstStyle>
          <a:p>
            <a:pPr lvl="0"/>
            <a:r>
              <a:rPr lang="en-US"/>
              <a:t>Click to edit Master text styles</a:t>
            </a:r>
          </a:p>
        </p:txBody>
      </p:sp>
      <p:sp>
        <p:nvSpPr>
          <p:cNvPr id="1048748" name="Date Placeholder 4"/>
          <p:cNvSpPr>
            <a:spLocks noGrp="1"/>
          </p:cNvSpPr>
          <p:nvPr>
            <p:ph type="dt" sz="half" idx="10"/>
          </p:nvPr>
        </p:nvSpPr>
        <p:spPr/>
        <p:txBody>
          <a:bodyPr/>
          <a:lstStyle/>
          <a:p>
            <a:fld id="{BC9D7FC2-0FF7-41D9-9E23-6B9F3C380436}" type="datetimeFigureOut">
              <a:rPr lang="id-ID" smtClean="0">
                <a:solidFill>
                  <a:prstClr val="black">
                    <a:tint val="75000"/>
                  </a:prstClr>
                </a:solidFill>
              </a:rPr>
              <a:t>06/10/26</a:t>
            </a:fld>
            <a:endParaRPr lang="id-ID">
              <a:solidFill>
                <a:prstClr val="black">
                  <a:tint val="75000"/>
                </a:prstClr>
              </a:solidFill>
            </a:endParaRPr>
          </a:p>
        </p:txBody>
      </p:sp>
      <p:sp>
        <p:nvSpPr>
          <p:cNvPr id="1048749" name="Footer Placeholder 5"/>
          <p:cNvSpPr>
            <a:spLocks noGrp="1"/>
          </p:cNvSpPr>
          <p:nvPr>
            <p:ph type="ftr" sz="quarter" idx="11"/>
          </p:nvPr>
        </p:nvSpPr>
        <p:spPr/>
        <p:txBody>
          <a:bodyPr/>
          <a:lstStyle/>
          <a:p>
            <a:endParaRPr lang="id-ID">
              <a:solidFill>
                <a:prstClr val="black">
                  <a:tint val="75000"/>
                </a:prstClr>
              </a:solidFill>
            </a:endParaRPr>
          </a:p>
        </p:txBody>
      </p:sp>
      <p:sp>
        <p:nvSpPr>
          <p:cNvPr id="1048750" name="Slide Number Placeholder 6"/>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751" name="Title 1"/>
          <p:cNvSpPr>
            <a:spLocks noGrp="1"/>
          </p:cNvSpPr>
          <p:nvPr>
            <p:ph type="title"/>
          </p:nvPr>
        </p:nvSpPr>
        <p:spPr/>
        <p:txBody>
          <a:bodyPr/>
          <a:lstStyle/>
          <a:p>
            <a:r>
              <a:rPr lang="en-US"/>
              <a:t>Click to edit Master title style</a:t>
            </a:r>
          </a:p>
        </p:txBody>
      </p:sp>
      <p:sp>
        <p:nvSpPr>
          <p:cNvPr id="1048752"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53" name="Date Placeholder 3"/>
          <p:cNvSpPr>
            <a:spLocks noGrp="1"/>
          </p:cNvSpPr>
          <p:nvPr>
            <p:ph type="dt" sz="half" idx="10"/>
          </p:nvPr>
        </p:nvSpPr>
        <p:spPr/>
        <p:txBody>
          <a:bodyPr/>
          <a:lstStyle/>
          <a:p>
            <a:fld id="{BC9D7FC2-0FF7-41D9-9E23-6B9F3C380436}" type="datetimeFigureOut">
              <a:rPr lang="id-ID" smtClean="0">
                <a:solidFill>
                  <a:prstClr val="black">
                    <a:tint val="75000"/>
                  </a:prstClr>
                </a:solidFill>
              </a:rPr>
              <a:t>06/10/26</a:t>
            </a:fld>
            <a:endParaRPr lang="id-ID">
              <a:solidFill>
                <a:prstClr val="black">
                  <a:tint val="75000"/>
                </a:prstClr>
              </a:solidFill>
            </a:endParaRPr>
          </a:p>
        </p:txBody>
      </p:sp>
      <p:sp>
        <p:nvSpPr>
          <p:cNvPr id="1048754" name="Footer Placeholder 4"/>
          <p:cNvSpPr>
            <a:spLocks noGrp="1"/>
          </p:cNvSpPr>
          <p:nvPr>
            <p:ph type="ftr" sz="quarter" idx="11"/>
          </p:nvPr>
        </p:nvSpPr>
        <p:spPr/>
        <p:txBody>
          <a:bodyPr/>
          <a:lstStyle/>
          <a:p>
            <a:endParaRPr lang="id-ID">
              <a:solidFill>
                <a:prstClr val="black">
                  <a:tint val="75000"/>
                </a:prstClr>
              </a:solidFill>
            </a:endParaRPr>
          </a:p>
        </p:txBody>
      </p:sp>
      <p:sp>
        <p:nvSpPr>
          <p:cNvPr id="1048755" name="Slide Number Placeholder 5"/>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703" name="Vertical Title 1"/>
          <p:cNvSpPr>
            <a:spLocks noGrp="1"/>
          </p:cNvSpPr>
          <p:nvPr>
            <p:ph type="title" orient="vert"/>
          </p:nvPr>
        </p:nvSpPr>
        <p:spPr>
          <a:xfrm>
            <a:off x="4907757" y="486834"/>
            <a:ext cx="1478756" cy="7749117"/>
          </a:xfrm>
        </p:spPr>
        <p:txBody>
          <a:bodyPr vert="eaVert"/>
          <a:lstStyle/>
          <a:p>
            <a:r>
              <a:rPr lang="en-US"/>
              <a:t>Click to edit Master title style</a:t>
            </a:r>
          </a:p>
        </p:txBody>
      </p:sp>
      <p:sp>
        <p:nvSpPr>
          <p:cNvPr id="1048704" name="Vertical Text Placeholder 2"/>
          <p:cNvSpPr>
            <a:spLocks noGrp="1"/>
          </p:cNvSpPr>
          <p:nvPr>
            <p:ph type="body" orient="vert" idx="1"/>
          </p:nvPr>
        </p:nvSpPr>
        <p:spPr>
          <a:xfrm>
            <a:off x="471489" y="486834"/>
            <a:ext cx="4350543" cy="77491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05" name="Date Placeholder 3"/>
          <p:cNvSpPr>
            <a:spLocks noGrp="1"/>
          </p:cNvSpPr>
          <p:nvPr>
            <p:ph type="dt" sz="half" idx="10"/>
          </p:nvPr>
        </p:nvSpPr>
        <p:spPr/>
        <p:txBody>
          <a:bodyPr/>
          <a:lstStyle/>
          <a:p>
            <a:fld id="{BC9D7FC2-0FF7-41D9-9E23-6B9F3C380436}" type="datetimeFigureOut">
              <a:rPr lang="id-ID" smtClean="0">
                <a:solidFill>
                  <a:prstClr val="black">
                    <a:tint val="75000"/>
                  </a:prstClr>
                </a:solidFill>
              </a:rPr>
              <a:t>06/10/26</a:t>
            </a:fld>
            <a:endParaRPr lang="id-ID">
              <a:solidFill>
                <a:prstClr val="black">
                  <a:tint val="75000"/>
                </a:prstClr>
              </a:solidFill>
            </a:endParaRPr>
          </a:p>
        </p:txBody>
      </p:sp>
      <p:sp>
        <p:nvSpPr>
          <p:cNvPr id="1048706" name="Footer Placeholder 4"/>
          <p:cNvSpPr>
            <a:spLocks noGrp="1"/>
          </p:cNvSpPr>
          <p:nvPr>
            <p:ph type="ftr" sz="quarter" idx="11"/>
          </p:nvPr>
        </p:nvSpPr>
        <p:spPr/>
        <p:txBody>
          <a:bodyPr/>
          <a:lstStyle/>
          <a:p>
            <a:endParaRPr lang="id-ID">
              <a:solidFill>
                <a:prstClr val="black">
                  <a:tint val="75000"/>
                </a:prstClr>
              </a:solidFill>
            </a:endParaRPr>
          </a:p>
        </p:txBody>
      </p:sp>
      <p:sp>
        <p:nvSpPr>
          <p:cNvPr id="1048707" name="Slide Number Placeholder 5"/>
          <p:cNvSpPr>
            <a:spLocks noGrp="1"/>
          </p:cNvSpPr>
          <p:nvPr>
            <p:ph type="sldNum" sz="quarter" idx="12"/>
          </p:nvPr>
        </p:nvSpPr>
        <p:spPr/>
        <p:txBody>
          <a:bodyPr/>
          <a:lstStyle/>
          <a:p>
            <a:fld id="{477D8BF5-2754-4CFE-9C4A-CCAF84A93D96}" type="slidenum">
              <a:rPr lang="id-ID" smtClean="0">
                <a:solidFill>
                  <a:prstClr val="black">
                    <a:tint val="75000"/>
                  </a:prstClr>
                </a:solidFill>
              </a:rPr>
              <a:t>‹#›</a:t>
            </a:fld>
            <a:endParaRPr lang="id-ID">
              <a:solidFill>
                <a:prstClr val="black">
                  <a:tint val="75000"/>
                </a:prstClr>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3" Type="http://schemas.openxmlformats.org/officeDocument/2006/relationships/slideLayout" Target="../slideLayouts/slideLayout7.xml"/><Relationship Id="rId7" Type="http://schemas.openxmlformats.org/officeDocument/2006/relationships/slideLayout" Target="../slideLayouts/slideLayout11.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5" Type="http://schemas.openxmlformats.org/officeDocument/2006/relationships/slideLayout" Target="../slideLayouts/slideLayout9.xml"/><Relationship Id="rId4" Type="http://schemas.openxmlformats.org/officeDocument/2006/relationships/slideLayout" Target="../slideLayouts/slideLayout8.xml"/><Relationship Id="rId9" Type="http://schemas.openxmlformats.org/officeDocument/2006/relationships/image" Target="../media/image4.png"/></Relationships>
</file>

<file path=ppt/slideMasters/_rels/slideMaster4.xml.rels><?xml version="1.0" encoding="UTF-8" standalone="yes"?>
<Relationships xmlns="http://schemas.openxmlformats.org/package/2006/relationships"><Relationship Id="rId8" Type="http://schemas.openxmlformats.org/officeDocument/2006/relationships/theme" Target="../theme/theme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9" Type="http://schemas.openxmlformats.org/officeDocument/2006/relationships/image" Target="../media/image4.png"/></Relationships>
</file>

<file path=ppt/slideMasters/_rels/slideMaster5.xml.rels><?xml version="1.0" encoding="UTF-8" standalone="yes"?>
<Relationships xmlns="http://schemas.openxmlformats.org/package/2006/relationships"><Relationship Id="rId8" Type="http://schemas.openxmlformats.org/officeDocument/2006/relationships/theme" Target="../theme/theme5.xml"/><Relationship Id="rId3" Type="http://schemas.openxmlformats.org/officeDocument/2006/relationships/slideLayout" Target="../slideLayouts/slideLayout21.xml"/><Relationship Id="rId7" Type="http://schemas.openxmlformats.org/officeDocument/2006/relationships/slideLayout" Target="../slideLayouts/slideLayout25.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5" Type="http://schemas.openxmlformats.org/officeDocument/2006/relationships/slideLayout" Target="../slideLayouts/slideLayout23.xml"/><Relationship Id="rId4" Type="http://schemas.openxmlformats.org/officeDocument/2006/relationships/slideLayout" Target="../slideLayouts/slideLayout22.xml"/><Relationship Id="rId9" Type="http://schemas.openxmlformats.org/officeDocument/2006/relationships/image" Target="../media/image4.png"/></Relationships>
</file>

<file path=ppt/slideMasters/_rels/slideMaster6.xml.rels><?xml version="1.0" encoding="UTF-8" standalone="yes"?>
<Relationships xmlns="http://schemas.openxmlformats.org/package/2006/relationships"><Relationship Id="rId8" Type="http://schemas.openxmlformats.org/officeDocument/2006/relationships/theme" Target="../theme/theme6.xml"/><Relationship Id="rId3" Type="http://schemas.openxmlformats.org/officeDocument/2006/relationships/slideLayout" Target="../slideLayouts/slideLayout28.xml"/><Relationship Id="rId7" Type="http://schemas.openxmlformats.org/officeDocument/2006/relationships/slideLayout" Target="../slideLayouts/slideLayout32.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5" Type="http://schemas.openxmlformats.org/officeDocument/2006/relationships/slideLayout" Target="../slideLayouts/slideLayout30.xml"/><Relationship Id="rId4" Type="http://schemas.openxmlformats.org/officeDocument/2006/relationships/slideLayout" Target="../slideLayouts/slideLayout29.xml"/><Relationship Id="rId9" Type="http://schemas.openxmlformats.org/officeDocument/2006/relationships/image" Target="../media/image4.png"/></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40.xml"/><Relationship Id="rId13" Type="http://schemas.openxmlformats.org/officeDocument/2006/relationships/image" Target="../media/image5.png"/><Relationship Id="rId3" Type="http://schemas.openxmlformats.org/officeDocument/2006/relationships/slideLayout" Target="../slideLayouts/slideLayout35.xml"/><Relationship Id="rId7" Type="http://schemas.openxmlformats.org/officeDocument/2006/relationships/slideLayout" Target="../slideLayouts/slideLayout39.xml"/><Relationship Id="rId12" Type="http://schemas.openxmlformats.org/officeDocument/2006/relationships/theme" Target="../theme/theme7.xml"/><Relationship Id="rId2" Type="http://schemas.openxmlformats.org/officeDocument/2006/relationships/slideLayout" Target="../slideLayouts/slideLayout34.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5" Type="http://schemas.openxmlformats.org/officeDocument/2006/relationships/slideLayout" Target="../slideLayouts/slideLayout37.xml"/><Relationship Id="rId10" Type="http://schemas.openxmlformats.org/officeDocument/2006/relationships/slideLayout" Target="../slideLayouts/slideLayout42.xml"/><Relationship Id="rId4" Type="http://schemas.openxmlformats.org/officeDocument/2006/relationships/slideLayout" Target="../slideLayouts/slideLayout36.xml"/><Relationship Id="rId9" Type="http://schemas.openxmlformats.org/officeDocument/2006/relationships/slideLayout" Target="../slideLayouts/slideLayout41.xml"/><Relationship Id="rId14" Type="http://schemas.openxmlformats.org/officeDocument/2006/relationships/image" Target="../media/image6.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097167" name="BCA_BACKGROUND.jpg" descr="BCA_BACKGROUND.jpg"/>
          <p:cNvPicPr>
            <a:picLocks/>
          </p:cNvPicPr>
          <p:nvPr userDrawn="1"/>
        </p:nvPicPr>
        <p:blipFill>
          <a:blip r:embed="rId4"/>
          <a:srcRect t="79" b="79"/>
          <a:stretch>
            <a:fillRect/>
          </a:stretch>
        </p:blipFill>
        <p:spPr>
          <a:xfrm>
            <a:off x="0" y="0"/>
            <a:ext cx="6858000" cy="9144000"/>
          </a:xfrm>
          <a:prstGeom prst="rect">
            <a:avLst/>
          </a:prstGeom>
          <a:ln w="12700">
            <a:miter lim="400000"/>
          </a:ln>
        </p:spPr>
      </p:pic>
      <p:sp>
        <p:nvSpPr>
          <p:cNvPr id="1048756" name="TextBox 12"/>
          <p:cNvSpPr txBox="1"/>
          <p:nvPr userDrawn="1"/>
        </p:nvSpPr>
        <p:spPr>
          <a:xfrm>
            <a:off x="4953000" y="8699956"/>
            <a:ext cx="1676400" cy="215444"/>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pPr>
            <a:r>
              <a:rPr lang="en-US" sz="800">
                <a:solidFill>
                  <a:schemeClr val="bg1"/>
                </a:solidFill>
              </a:rPr>
              <a:t>PT. Bank Central Asia </a:t>
            </a:r>
            <a:r>
              <a:rPr lang="en-US" sz="800" err="1">
                <a:solidFill>
                  <a:schemeClr val="bg1"/>
                </a:solidFill>
              </a:rPr>
              <a:t>Tbk</a:t>
            </a:r>
            <a:endParaRPr lang="en-US" sz="800">
              <a:solidFill>
                <a:schemeClr val="bg1"/>
              </a:solidFill>
            </a:endParaRPr>
          </a:p>
        </p:txBody>
      </p:sp>
      <p:sp>
        <p:nvSpPr>
          <p:cNvPr id="1048757" name="TextBox 13"/>
          <p:cNvSpPr txBox="1"/>
          <p:nvPr userDrawn="1"/>
        </p:nvSpPr>
        <p:spPr>
          <a:xfrm>
            <a:off x="304800" y="8699956"/>
            <a:ext cx="1981200" cy="215444"/>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pPr>
            <a:r>
              <a:rPr lang="en-US" sz="800" dirty="0">
                <a:solidFill>
                  <a:schemeClr val="bg1"/>
                </a:solidFill>
              </a:rPr>
              <a:t>CONFIDENTIAL – FOR INTERNAL USE ONLY</a:t>
            </a:r>
          </a:p>
        </p:txBody>
      </p:sp>
      <p:pic>
        <p:nvPicPr>
          <p:cNvPr id="2097168" name="Picture 2" descr="D:\Work\BCA\Lockup-Blue-no-tagline.png"/>
          <p:cNvPicPr>
            <a:picLocks noChangeAspect="1" noChangeArrowheads="1"/>
          </p:cNvPicPr>
          <p:nvPr userDrawn="1"/>
        </p:nvPicPr>
        <p:blipFill>
          <a:blip r:embed="rId5"/>
          <a:srcRect/>
          <a:stretch>
            <a:fillRect/>
          </a:stretch>
        </p:blipFill>
        <p:spPr bwMode="auto">
          <a:xfrm>
            <a:off x="4419601" y="-400048"/>
            <a:ext cx="2738437" cy="2453911"/>
          </a:xfrm>
          <a:prstGeom prst="rect">
            <a:avLst/>
          </a:prstGeom>
          <a:noFill/>
        </p:spPr>
      </p:pic>
    </p:spTree>
  </p:cSld>
  <p:clrMap bg1="lt1" tx1="dk1" bg2="lt2" tx2="dk2" accent1="accent1" accent2="accent2" accent3="accent3" accent4="accent4" accent5="accent5" accent6="accent6" hlink="hlink" folHlink="folHlink"/>
  <p:sldLayoutIdLst>
    <p:sldLayoutId id="2147483676" r:id="rId1"/>
    <p:sldLayoutId id="2147483677" r:id="rId2"/>
  </p:sldLayoutIdLst>
  <p:hf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097165" name="Picture 2" descr="D:\Work\BCA\Lockup-Blue-no-tagline.png"/>
          <p:cNvPicPr>
            <a:picLocks noChangeAspect="1" noChangeArrowheads="1"/>
          </p:cNvPicPr>
          <p:nvPr userDrawn="1"/>
        </p:nvPicPr>
        <p:blipFill>
          <a:blip r:embed="rId4"/>
          <a:srcRect/>
          <a:stretch>
            <a:fillRect/>
          </a:stretch>
        </p:blipFill>
        <p:spPr bwMode="auto">
          <a:xfrm>
            <a:off x="5029173" y="-304800"/>
            <a:ext cx="2057428" cy="1843659"/>
          </a:xfrm>
          <a:prstGeom prst="rect">
            <a:avLst/>
          </a:prstGeom>
          <a:noFill/>
        </p:spPr>
      </p:pic>
      <p:cxnSp>
        <p:nvCxnSpPr>
          <p:cNvPr id="3145728" name="Straight Connector 3"/>
          <p:cNvCxnSpPr>
            <a:cxnSpLocks/>
          </p:cNvCxnSpPr>
          <p:nvPr userDrawn="1"/>
        </p:nvCxnSpPr>
        <p:spPr>
          <a:xfrm>
            <a:off x="533400" y="8686800"/>
            <a:ext cx="6019800" cy="0"/>
          </a:xfrm>
          <a:prstGeom prst="line">
            <a:avLst/>
          </a:prstGeom>
        </p:spPr>
        <p:style>
          <a:lnRef idx="1">
            <a:schemeClr val="accent1"/>
          </a:lnRef>
          <a:fillRef idx="0">
            <a:schemeClr val="accent1"/>
          </a:fillRef>
          <a:effectRef idx="0">
            <a:schemeClr val="accent1"/>
          </a:effectRef>
          <a:fontRef idx="minor">
            <a:schemeClr val="tx1"/>
          </a:fontRef>
        </p:style>
      </p:cxnSp>
      <p:sp>
        <p:nvSpPr>
          <p:cNvPr id="1048693" name="Title 3"/>
          <p:cNvSpPr txBox="1"/>
          <p:nvPr userDrawn="1"/>
        </p:nvSpPr>
        <p:spPr>
          <a:xfrm>
            <a:off x="457200" y="0"/>
            <a:ext cx="5791200" cy="812800"/>
          </a:xfrm>
          <a:prstGeom prst="rect">
            <a:avLst/>
          </a:prstGeom>
        </p:spPr>
        <p:txBody>
          <a:bodyPr anchor="ctr"/>
          <a:lstStyle>
            <a:lvl1pPr algn="l" defTabSz="914400" rtl="0" eaLnBrk="1" latinLnBrk="0" hangingPunct="1">
              <a:spcBef>
                <a:spcPct val="0"/>
              </a:spcBef>
              <a:buNone/>
              <a:defRPr sz="4000" b="1" kern="1200">
                <a:solidFill>
                  <a:srgbClr val="0C5EA8"/>
                </a:solidFill>
                <a:latin typeface="+mj-lt"/>
                <a:ea typeface="+mj-ea"/>
                <a:cs typeface="+mj-cs"/>
              </a:defRPr>
            </a:lvl1pPr>
          </a:lstStyle>
          <a:p>
            <a:r>
              <a:rPr lang="en-US" sz="2800">
                <a:solidFill>
                  <a:schemeClr val="bg1"/>
                </a:solidFill>
              </a:rPr>
              <a:t>Weekly Market Overview</a:t>
            </a:r>
          </a:p>
        </p:txBody>
      </p:sp>
      <p:sp>
        <p:nvSpPr>
          <p:cNvPr id="1048694" name="Rectangle 1"/>
          <p:cNvSpPr/>
          <p:nvPr userDrawn="1"/>
        </p:nvSpPr>
        <p:spPr>
          <a:xfrm>
            <a:off x="6337756" y="8686801"/>
            <a:ext cx="215444" cy="215444"/>
          </a:xfrm>
          <a:prstGeom prst="rect">
            <a:avLst/>
          </a:prstGeom>
          <a:solidFill>
            <a:srgbClr val="0C5E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97166" name="Picture 2"/>
          <p:cNvPicPr>
            <a:picLocks noChangeAspect="1" noChangeArrowheads="1"/>
          </p:cNvPicPr>
          <p:nvPr userDrawn="1"/>
        </p:nvPicPr>
        <p:blipFill>
          <a:blip r:embed="rId5"/>
          <a:srcRect/>
          <a:stretch>
            <a:fillRect/>
          </a:stretch>
        </p:blipFill>
        <p:spPr bwMode="auto">
          <a:xfrm>
            <a:off x="0" y="0"/>
            <a:ext cx="6858000" cy="1493408"/>
          </a:xfrm>
          <a:prstGeom prst="rect">
            <a:avLst/>
          </a:prstGeom>
          <a:noFill/>
          <a:ln>
            <a:noFill/>
          </a:ln>
        </p:spPr>
      </p:pic>
      <p:sp>
        <p:nvSpPr>
          <p:cNvPr id="1048695" name="Date Placeholder 3"/>
          <p:cNvSpPr txBox="1"/>
          <p:nvPr userDrawn="1"/>
        </p:nvSpPr>
        <p:spPr>
          <a:xfrm>
            <a:off x="429768" y="1379108"/>
            <a:ext cx="990600" cy="228600"/>
          </a:xfrm>
          <a:prstGeom prst="rect">
            <a:avLst/>
          </a:prstGeom>
          <a:solidFill>
            <a:srgbClr val="0051A2"/>
          </a:solidFill>
        </p:spPr>
        <p:txBody>
          <a:bodyPr anchor="ctr"/>
          <a:lstStyle>
            <a:defPPr>
              <a:defRPr lang="en-US"/>
            </a:defPPr>
            <a:lvl1pPr marL="0" algn="l"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100" b="1" dirty="0">
                <a:solidFill>
                  <a:schemeClr val="bg1"/>
                </a:solidFill>
                <a:latin typeface="+mj-lt"/>
              </a:rPr>
              <a:t>6 July 2026</a:t>
            </a:r>
          </a:p>
        </p:txBody>
      </p:sp>
      <p:sp>
        <p:nvSpPr>
          <p:cNvPr id="1048696" name="TextBox 14"/>
          <p:cNvSpPr txBox="1"/>
          <p:nvPr userDrawn="1"/>
        </p:nvSpPr>
        <p:spPr>
          <a:xfrm>
            <a:off x="457200" y="8699956"/>
            <a:ext cx="1676400" cy="215444"/>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pPr>
            <a:r>
              <a:rPr lang="en-US" sz="800" b="1">
                <a:solidFill>
                  <a:srgbClr val="0C5EA8"/>
                </a:solidFill>
              </a:rPr>
              <a:t>PT. Bank Central Asia </a:t>
            </a:r>
            <a:r>
              <a:rPr lang="en-US" sz="800" b="1" err="1">
                <a:solidFill>
                  <a:srgbClr val="0C5EA8"/>
                </a:solidFill>
              </a:rPr>
              <a:t>Tbk</a:t>
            </a:r>
            <a:endParaRPr lang="en-US" sz="800" b="1">
              <a:solidFill>
                <a:srgbClr val="0C5EA8"/>
              </a:solidFill>
            </a:endParaRPr>
          </a:p>
        </p:txBody>
      </p:sp>
    </p:spTree>
  </p:cSld>
  <p:clrMap bg1="lt1" tx1="dk1" bg2="lt2" tx2="dk2" accent1="accent1" accent2="accent2" accent3="accent3" accent4="accent4" accent5="accent5" accent6="accent6" hlink="hlink" folHlink="folHlink"/>
  <p:sldLayoutIdLst>
    <p:sldLayoutId id="2147483674" r:id="rId1"/>
    <p:sldLayoutId id="2147483675" r:id="rId2"/>
  </p:sldLayoutIdLst>
  <p:hf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097170" name="Picture 2" descr="D:\Download\BCA Shield Line.png"/>
          <p:cNvPicPr>
            <a:picLocks noChangeAspect="1" noChangeArrowheads="1"/>
          </p:cNvPicPr>
          <p:nvPr userDrawn="1"/>
        </p:nvPicPr>
        <p:blipFill>
          <a:blip r:embed="rId9"/>
          <a:srcRect/>
          <a:stretch>
            <a:fillRect/>
          </a:stretch>
        </p:blipFill>
        <p:spPr bwMode="auto">
          <a:xfrm>
            <a:off x="5334000" y="1"/>
            <a:ext cx="1524000" cy="1144117"/>
          </a:xfrm>
          <a:prstGeom prst="rect">
            <a:avLst/>
          </a:prstGeom>
          <a:noFill/>
        </p:spPr>
      </p:pic>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Lst>
  <p:hf hdr="0" ftr="0"/>
  <p:txStyles>
    <p:titleStyle>
      <a:lvl1pPr algn="l" defTabSz="914400" rtl="0" eaLnBrk="1" latinLnBrk="0" hangingPunct="1">
        <a:spcBef>
          <a:spcPct val="0"/>
        </a:spcBef>
        <a:buNone/>
        <a:defRPr sz="1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None/>
        <a:defRPr sz="1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48855" name="TextBox 5"/>
          <p:cNvSpPr txBox="1"/>
          <p:nvPr userDrawn="1"/>
        </p:nvSpPr>
        <p:spPr>
          <a:xfrm>
            <a:off x="2514600" y="8686800"/>
            <a:ext cx="2057400" cy="215444"/>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pPr>
            <a:r>
              <a:rPr lang="en-US" sz="800" dirty="0"/>
              <a:t>CONFIDENTIAL – FOR INTERNAL USE ONLY</a:t>
            </a:r>
          </a:p>
        </p:txBody>
      </p:sp>
      <p:pic>
        <p:nvPicPr>
          <p:cNvPr id="2097171" name="Picture 2" descr="D:\Download\BCA Shield Line.png"/>
          <p:cNvPicPr>
            <a:picLocks noChangeAspect="1" noChangeArrowheads="1"/>
          </p:cNvPicPr>
          <p:nvPr userDrawn="1"/>
        </p:nvPicPr>
        <p:blipFill>
          <a:blip r:embed="rId9"/>
          <a:srcRect/>
          <a:stretch>
            <a:fillRect/>
          </a:stretch>
        </p:blipFill>
        <p:spPr bwMode="auto">
          <a:xfrm flipH="1">
            <a:off x="0" y="1"/>
            <a:ext cx="1524000" cy="1144117"/>
          </a:xfrm>
          <a:prstGeom prst="rect">
            <a:avLst/>
          </a:prstGeom>
          <a:noFill/>
        </p:spPr>
      </p:pic>
    </p:spTree>
  </p:cSld>
  <p:clrMap bg1="lt1" tx1="dk1" bg2="lt2" tx2="dk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 id="2147483696" r:id="rId5"/>
    <p:sldLayoutId id="2147483697" r:id="rId6"/>
    <p:sldLayoutId id="2147483698" r:id="rId7"/>
  </p:sldLayoutIdLst>
  <p:hf hdr="0" ftr="0"/>
  <p:txStyles>
    <p:titleStyle>
      <a:lvl1pPr algn="l" defTabSz="914400" rtl="0" eaLnBrk="1" latinLnBrk="0" hangingPunct="1">
        <a:spcBef>
          <a:spcPct val="0"/>
        </a:spcBef>
        <a:buNone/>
        <a:defRPr sz="1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None/>
        <a:defRPr sz="1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48647" name="TextBox 5"/>
          <p:cNvSpPr txBox="1"/>
          <p:nvPr userDrawn="1"/>
        </p:nvSpPr>
        <p:spPr>
          <a:xfrm>
            <a:off x="2514600" y="8686800"/>
            <a:ext cx="2057400" cy="215444"/>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pPr>
            <a:r>
              <a:rPr lang="en-US" sz="800" dirty="0"/>
              <a:t>CONFIDENTIAL – FOR INTERNAL USE ONLY</a:t>
            </a:r>
          </a:p>
        </p:txBody>
      </p:sp>
      <p:pic>
        <p:nvPicPr>
          <p:cNvPr id="2097164" name="Picture 2" descr="D:\Download\BCA Shield Line.png"/>
          <p:cNvPicPr>
            <a:picLocks noChangeAspect="1" noChangeArrowheads="1"/>
          </p:cNvPicPr>
          <p:nvPr userDrawn="1"/>
        </p:nvPicPr>
        <p:blipFill>
          <a:blip r:embed="rId9"/>
          <a:srcRect/>
          <a:stretch>
            <a:fillRect/>
          </a:stretch>
        </p:blipFill>
        <p:spPr bwMode="auto">
          <a:xfrm flipH="1" flipV="1">
            <a:off x="0" y="7999884"/>
            <a:ext cx="1524000" cy="1144117"/>
          </a:xfrm>
          <a:prstGeom prst="rect">
            <a:avLst/>
          </a:prstGeom>
          <a:noFill/>
        </p:spPr>
      </p:pic>
    </p:spTree>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Lst>
  <p:hf hdr="0" ftr="0"/>
  <p:txStyles>
    <p:titleStyle>
      <a:lvl1pPr algn="l" defTabSz="914400" rtl="0" eaLnBrk="1" latinLnBrk="0" hangingPunct="1">
        <a:spcBef>
          <a:spcPct val="0"/>
        </a:spcBef>
        <a:buNone/>
        <a:defRPr sz="1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None/>
        <a:defRPr sz="1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48764" name="TextBox 5"/>
          <p:cNvSpPr txBox="1"/>
          <p:nvPr userDrawn="1"/>
        </p:nvSpPr>
        <p:spPr>
          <a:xfrm>
            <a:off x="2514600" y="8686800"/>
            <a:ext cx="2057400" cy="215444"/>
          </a:xfrm>
          <a:prstGeom prst="rect">
            <a:avLst/>
          </a:prstGeom>
          <a:noFill/>
        </p:spPr>
        <p:txBody>
          <a:bodyPr wrap="square" rtlCol="0">
            <a:spAutoFit/>
          </a:bodyPr>
          <a:lstStyle/>
          <a:p>
            <a:pPr marL="0" marR="0" indent="0" algn="ctr" defTabSz="914400" rtl="0" eaLnBrk="1" fontAlgn="auto" latinLnBrk="0" hangingPunct="1">
              <a:lnSpc>
                <a:spcPct val="100000"/>
              </a:lnSpc>
              <a:spcBef>
                <a:spcPts val="0"/>
              </a:spcBef>
              <a:spcAft>
                <a:spcPts val="0"/>
              </a:spcAft>
              <a:buClrTx/>
              <a:buSzTx/>
              <a:buFontTx/>
              <a:buNone/>
            </a:pPr>
            <a:r>
              <a:rPr lang="en-US" sz="800"/>
              <a:t>CONFIDENTIAL – FOR INTERNAL USE ONLY</a:t>
            </a:r>
          </a:p>
        </p:txBody>
      </p:sp>
      <p:pic>
        <p:nvPicPr>
          <p:cNvPr id="2097169" name="Picture 2" descr="D:\Download\BCA Shield Line.png"/>
          <p:cNvPicPr>
            <a:picLocks noChangeAspect="1" noChangeArrowheads="1"/>
          </p:cNvPicPr>
          <p:nvPr userDrawn="1"/>
        </p:nvPicPr>
        <p:blipFill>
          <a:blip r:embed="rId9"/>
          <a:srcRect/>
          <a:stretch>
            <a:fillRect/>
          </a:stretch>
        </p:blipFill>
        <p:spPr bwMode="auto">
          <a:xfrm flipV="1">
            <a:off x="5334000" y="7999884"/>
            <a:ext cx="1524000" cy="1144117"/>
          </a:xfrm>
          <a:prstGeom prst="rect">
            <a:avLst/>
          </a:prstGeom>
          <a:noFill/>
        </p:spPr>
      </p:pic>
    </p:spTree>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Lst>
  <p:hf hdr="0" ftr="0"/>
  <p:txStyles>
    <p:titleStyle>
      <a:lvl1pPr algn="l" defTabSz="914400" rtl="0" eaLnBrk="1" latinLnBrk="0" hangingPunct="1">
        <a:spcBef>
          <a:spcPct val="0"/>
        </a:spcBef>
        <a:buNone/>
        <a:defRPr sz="1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None/>
        <a:defRPr sz="1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Title Placeholder 1"/>
          <p:cNvSpPr>
            <a:spLocks noGrp="1"/>
          </p:cNvSpPr>
          <p:nvPr>
            <p:ph type="title"/>
          </p:nvPr>
        </p:nvSpPr>
        <p:spPr>
          <a:xfrm>
            <a:off x="471488" y="486836"/>
            <a:ext cx="5915025" cy="1767417"/>
          </a:xfrm>
          <a:prstGeom prst="rect">
            <a:avLst/>
          </a:prstGeom>
        </p:spPr>
        <p:txBody>
          <a:bodyPr vert="horz" lIns="116623" tIns="58311" rIns="116623" bIns="58311" rtlCol="0" anchor="ctr">
            <a:normAutofit/>
          </a:bodyPr>
          <a:lstStyle/>
          <a:p>
            <a:r>
              <a:rPr lang="en-US" dirty="0"/>
              <a:t>Click to edit Master title style</a:t>
            </a:r>
          </a:p>
        </p:txBody>
      </p:sp>
      <p:sp>
        <p:nvSpPr>
          <p:cNvPr id="1048577" name="Text Placeholder 2"/>
          <p:cNvSpPr>
            <a:spLocks noGrp="1"/>
          </p:cNvSpPr>
          <p:nvPr>
            <p:ph type="body" idx="1"/>
          </p:nvPr>
        </p:nvSpPr>
        <p:spPr>
          <a:xfrm>
            <a:off x="471488" y="2434166"/>
            <a:ext cx="5915025" cy="5801784"/>
          </a:xfrm>
          <a:prstGeom prst="rect">
            <a:avLst/>
          </a:prstGeom>
        </p:spPr>
        <p:txBody>
          <a:bodyPr vert="horz" lIns="116623" tIns="58311" rIns="116623" bIns="58311"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48578" name="Date Placeholder 3"/>
          <p:cNvSpPr>
            <a:spLocks noGrp="1"/>
          </p:cNvSpPr>
          <p:nvPr>
            <p:ph type="dt" sz="half" idx="2"/>
          </p:nvPr>
        </p:nvSpPr>
        <p:spPr>
          <a:xfrm>
            <a:off x="471487" y="8475135"/>
            <a:ext cx="1543050" cy="486834"/>
          </a:xfrm>
          <a:prstGeom prst="rect">
            <a:avLst/>
          </a:prstGeom>
        </p:spPr>
        <p:txBody>
          <a:bodyPr vert="horz" lIns="116623" tIns="58311" rIns="116623" bIns="58311" rtlCol="0" anchor="ctr"/>
          <a:lstStyle>
            <a:lvl1pPr algn="l">
              <a:defRPr sz="900">
                <a:solidFill>
                  <a:schemeClr val="tx1">
                    <a:tint val="75000"/>
                  </a:schemeClr>
                </a:solidFill>
              </a:defRPr>
            </a:lvl1pPr>
          </a:lstStyle>
          <a:p>
            <a:pPr defTabSz="1166226"/>
            <a:fld id="{BC9D7FC2-0FF7-41D9-9E23-6B9F3C380436}" type="datetimeFigureOut">
              <a:rPr lang="id-ID" smtClean="0">
                <a:solidFill>
                  <a:prstClr val="black">
                    <a:tint val="75000"/>
                  </a:prstClr>
                </a:solidFill>
              </a:rPr>
              <a:pPr defTabSz="1166226"/>
              <a:t>06/10/26</a:t>
            </a:fld>
            <a:endParaRPr lang="id-ID">
              <a:solidFill>
                <a:prstClr val="black">
                  <a:tint val="75000"/>
                </a:prstClr>
              </a:solidFill>
            </a:endParaRPr>
          </a:p>
        </p:txBody>
      </p:sp>
      <p:sp>
        <p:nvSpPr>
          <p:cNvPr id="1048579" name="Footer Placeholder 4"/>
          <p:cNvSpPr>
            <a:spLocks noGrp="1"/>
          </p:cNvSpPr>
          <p:nvPr>
            <p:ph type="ftr" sz="quarter" idx="3"/>
          </p:nvPr>
        </p:nvSpPr>
        <p:spPr>
          <a:xfrm>
            <a:off x="2271713" y="8475135"/>
            <a:ext cx="2314575" cy="486834"/>
          </a:xfrm>
          <a:prstGeom prst="rect">
            <a:avLst/>
          </a:prstGeom>
        </p:spPr>
        <p:txBody>
          <a:bodyPr vert="horz" lIns="116623" tIns="58311" rIns="116623" bIns="58311" rtlCol="0" anchor="ctr"/>
          <a:lstStyle>
            <a:lvl1pPr algn="ctr">
              <a:defRPr sz="900">
                <a:solidFill>
                  <a:schemeClr val="tx1">
                    <a:tint val="75000"/>
                  </a:schemeClr>
                </a:solidFill>
              </a:defRPr>
            </a:lvl1pPr>
          </a:lstStyle>
          <a:p>
            <a:pPr defTabSz="1166226"/>
            <a:endParaRPr lang="id-ID">
              <a:solidFill>
                <a:prstClr val="black">
                  <a:tint val="75000"/>
                </a:prstClr>
              </a:solidFill>
            </a:endParaRPr>
          </a:p>
        </p:txBody>
      </p:sp>
      <p:sp>
        <p:nvSpPr>
          <p:cNvPr id="1048580" name="Slide Number Placeholder 5"/>
          <p:cNvSpPr>
            <a:spLocks noGrp="1"/>
          </p:cNvSpPr>
          <p:nvPr>
            <p:ph type="sldNum" sz="quarter" idx="4"/>
          </p:nvPr>
        </p:nvSpPr>
        <p:spPr>
          <a:xfrm>
            <a:off x="4843463" y="8475135"/>
            <a:ext cx="1543050" cy="486834"/>
          </a:xfrm>
          <a:prstGeom prst="rect">
            <a:avLst/>
          </a:prstGeom>
        </p:spPr>
        <p:txBody>
          <a:bodyPr vert="horz" lIns="116623" tIns="58311" rIns="116623" bIns="58311" rtlCol="0" anchor="ctr"/>
          <a:lstStyle>
            <a:lvl1pPr algn="r">
              <a:defRPr sz="900">
                <a:solidFill>
                  <a:schemeClr val="tx1">
                    <a:tint val="75000"/>
                  </a:schemeClr>
                </a:solidFill>
              </a:defRPr>
            </a:lvl1pPr>
          </a:lstStyle>
          <a:p>
            <a:pPr defTabSz="1166226"/>
            <a:fld id="{477D8BF5-2754-4CFE-9C4A-CCAF84A93D96}" type="slidenum">
              <a:rPr lang="id-ID" smtClean="0">
                <a:solidFill>
                  <a:prstClr val="black">
                    <a:tint val="75000"/>
                  </a:prstClr>
                </a:solidFill>
              </a:rPr>
              <a:pPr defTabSz="1166226"/>
              <a:t>‹#›</a:t>
            </a:fld>
            <a:endParaRPr lang="id-ID">
              <a:solidFill>
                <a:prstClr val="black">
                  <a:tint val="75000"/>
                </a:prstClr>
              </a:solidFill>
            </a:endParaRPr>
          </a:p>
        </p:txBody>
      </p:sp>
      <p:pic>
        <p:nvPicPr>
          <p:cNvPr id="2097152" name="Picture 6"/>
          <p:cNvPicPr>
            <a:picLocks noChangeAspect="1"/>
          </p:cNvPicPr>
          <p:nvPr userDrawn="1"/>
        </p:nvPicPr>
        <p:blipFill>
          <a:blip r:embed="rId13" cstate="print"/>
          <a:stretch>
            <a:fillRect/>
          </a:stretch>
        </p:blipFill>
        <p:spPr>
          <a:xfrm>
            <a:off x="-2" y="2250"/>
            <a:ext cx="6858000" cy="1657375"/>
          </a:xfrm>
          <a:prstGeom prst="rect">
            <a:avLst/>
          </a:prstGeom>
        </p:spPr>
      </p:pic>
      <p:sp>
        <p:nvSpPr>
          <p:cNvPr id="1048581" name="TextBox 7"/>
          <p:cNvSpPr txBox="1"/>
          <p:nvPr userDrawn="1"/>
        </p:nvSpPr>
        <p:spPr>
          <a:xfrm>
            <a:off x="325876" y="68605"/>
            <a:ext cx="4802351" cy="1071868"/>
          </a:xfrm>
          <a:prstGeom prst="rect">
            <a:avLst/>
          </a:prstGeom>
          <a:noFill/>
        </p:spPr>
        <p:txBody>
          <a:bodyPr wrap="square" lIns="116612" tIns="58306" rIns="116612" bIns="58306" rtlCol="0">
            <a:spAutoFit/>
          </a:bodyPr>
          <a:lstStyle/>
          <a:p>
            <a:pPr defTabSz="1166125"/>
            <a:r>
              <a:rPr lang="id-ID" sz="3100" b="1">
                <a:solidFill>
                  <a:prstClr val="white"/>
                </a:solidFill>
              </a:rPr>
              <a:t>Weekly</a:t>
            </a:r>
          </a:p>
          <a:p>
            <a:pPr defTabSz="1166125"/>
            <a:r>
              <a:rPr lang="id-ID" sz="3100" b="1">
                <a:solidFill>
                  <a:prstClr val="white"/>
                </a:solidFill>
              </a:rPr>
              <a:t>Market Overview</a:t>
            </a:r>
          </a:p>
        </p:txBody>
      </p:sp>
      <p:sp>
        <p:nvSpPr>
          <p:cNvPr id="1048582" name="TextBox 8"/>
          <p:cNvSpPr txBox="1"/>
          <p:nvPr userDrawn="1"/>
        </p:nvSpPr>
        <p:spPr>
          <a:xfrm>
            <a:off x="325874" y="996200"/>
            <a:ext cx="3103126" cy="353303"/>
          </a:xfrm>
          <a:prstGeom prst="rect">
            <a:avLst/>
          </a:prstGeom>
          <a:noFill/>
        </p:spPr>
        <p:txBody>
          <a:bodyPr wrap="square" lIns="116612" tIns="58306" rIns="116612" bIns="58306" rtlCol="0">
            <a:spAutoFit/>
          </a:bodyPr>
          <a:lstStyle/>
          <a:p>
            <a:pPr defTabSz="1166125"/>
            <a:r>
              <a:rPr lang="id-ID" sz="1500" b="1">
                <a:solidFill>
                  <a:prstClr val="white"/>
                </a:solidFill>
              </a:rPr>
              <a:t>Wealth Management Division</a:t>
            </a:r>
          </a:p>
        </p:txBody>
      </p:sp>
      <p:sp>
        <p:nvSpPr>
          <p:cNvPr id="1048583" name="Rectangle 9"/>
          <p:cNvSpPr/>
          <p:nvPr userDrawn="1"/>
        </p:nvSpPr>
        <p:spPr>
          <a:xfrm>
            <a:off x="429768" y="1373499"/>
            <a:ext cx="1295400" cy="201168"/>
          </a:xfrm>
          <a:prstGeom prst="rect">
            <a:avLst/>
          </a:prstGeom>
          <a:solidFill>
            <a:srgbClr val="0051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8584" name="Date Placeholder 3"/>
          <p:cNvSpPr txBox="1"/>
          <p:nvPr userDrawn="1"/>
        </p:nvSpPr>
        <p:spPr>
          <a:xfrm>
            <a:off x="367349" y="1330070"/>
            <a:ext cx="1420237" cy="288025"/>
          </a:xfrm>
          <a:prstGeom prst="rect">
            <a:avLst/>
          </a:prstGeom>
          <a:noFill/>
        </p:spPr>
        <p:txBody>
          <a:bodyPr anchor="ctr"/>
          <a:lstStyle>
            <a:defPPr>
              <a:defRPr lang="en-US"/>
            </a:defPPr>
            <a:lvl1pPr marL="0" algn="l"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000" b="1" baseline="0" dirty="0">
                <a:solidFill>
                  <a:schemeClr val="bg1"/>
                </a:solidFill>
                <a:latin typeface="+mn-lt"/>
              </a:rPr>
              <a:t>28 September 2026</a:t>
            </a:r>
            <a:endParaRPr lang="en-US" sz="1000" b="1" dirty="0">
              <a:solidFill>
                <a:schemeClr val="bg1"/>
              </a:solidFill>
              <a:latin typeface="+mn-lt"/>
            </a:endParaRPr>
          </a:p>
        </p:txBody>
      </p:sp>
      <p:pic>
        <p:nvPicPr>
          <p:cNvPr id="2097153" name="Picture 11"/>
          <p:cNvPicPr>
            <a:picLocks noChangeAspect="1"/>
          </p:cNvPicPr>
          <p:nvPr userDrawn="1"/>
        </p:nvPicPr>
        <p:blipFill>
          <a:blip r:embed="rId14" cstate="print"/>
          <a:stretch>
            <a:fillRect/>
          </a:stretch>
        </p:blipFill>
        <p:spPr>
          <a:xfrm>
            <a:off x="5050631" y="-4628"/>
            <a:ext cx="1807369" cy="1376228"/>
          </a:xfrm>
          <a:prstGeom prst="rect">
            <a:avLst/>
          </a:prstGeom>
        </p:spPr>
      </p:pic>
    </p:spTree>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 id="2147483662" r:id="rId7"/>
    <p:sldLayoutId id="2147483663" r:id="rId8"/>
    <p:sldLayoutId id="2147483664" r:id="rId9"/>
    <p:sldLayoutId id="2147483665" r:id="rId10"/>
    <p:sldLayoutId id="2147483666" r:id="rId11"/>
  </p:sldLayoutIdLst>
  <p:txStyles>
    <p:titleStyle>
      <a:lvl1pPr algn="l" defTabSz="68574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35" indent="-171435" algn="l" defTabSz="68574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05" indent="-171435" algn="l" defTabSz="68574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176" indent="-171435" algn="l" defTabSz="68574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047"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4pPr>
      <a:lvl5pPr marL="1542916"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5pPr>
      <a:lvl6pPr marL="1885787"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6pPr>
      <a:lvl7pPr marL="2228657"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7pPr>
      <a:lvl8pPr marL="2571528"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8pPr>
      <a:lvl9pPr marL="2914399" indent="-171435" algn="l" defTabSz="685740" rtl="0" eaLnBrk="1" latinLnBrk="0" hangingPunct="1">
        <a:lnSpc>
          <a:spcPct val="90000"/>
        </a:lnSpc>
        <a:spcBef>
          <a:spcPts val="375"/>
        </a:spcBef>
        <a:buFont typeface="Arial" panose="020B0604020202020204" pitchFamily="34" charset="0"/>
        <a:buChar char="•"/>
        <a:defRPr sz="1300" kern="1200">
          <a:solidFill>
            <a:schemeClr val="tx1"/>
          </a:solidFill>
          <a:latin typeface="+mn-lt"/>
          <a:ea typeface="+mn-ea"/>
          <a:cs typeface="+mn-cs"/>
        </a:defRPr>
      </a:lvl9pPr>
    </p:bodyStyle>
    <p:otherStyle>
      <a:defPPr>
        <a:defRPr lang="en-US"/>
      </a:defPPr>
      <a:lvl1pPr marL="0" algn="l" defTabSz="685740" rtl="0" eaLnBrk="1" latinLnBrk="0" hangingPunct="1">
        <a:defRPr sz="1300" kern="1200">
          <a:solidFill>
            <a:schemeClr val="tx1"/>
          </a:solidFill>
          <a:latin typeface="+mn-lt"/>
          <a:ea typeface="+mn-ea"/>
          <a:cs typeface="+mn-cs"/>
        </a:defRPr>
      </a:lvl1pPr>
      <a:lvl2pPr marL="342871" algn="l" defTabSz="685740" rtl="0" eaLnBrk="1" latinLnBrk="0" hangingPunct="1">
        <a:defRPr sz="1300" kern="1200">
          <a:solidFill>
            <a:schemeClr val="tx1"/>
          </a:solidFill>
          <a:latin typeface="+mn-lt"/>
          <a:ea typeface="+mn-ea"/>
          <a:cs typeface="+mn-cs"/>
        </a:defRPr>
      </a:lvl2pPr>
      <a:lvl3pPr marL="685740" algn="l" defTabSz="685740" rtl="0" eaLnBrk="1" latinLnBrk="0" hangingPunct="1">
        <a:defRPr sz="1300" kern="1200">
          <a:solidFill>
            <a:schemeClr val="tx1"/>
          </a:solidFill>
          <a:latin typeface="+mn-lt"/>
          <a:ea typeface="+mn-ea"/>
          <a:cs typeface="+mn-cs"/>
        </a:defRPr>
      </a:lvl3pPr>
      <a:lvl4pPr marL="1028611" algn="l" defTabSz="685740" rtl="0" eaLnBrk="1" latinLnBrk="0" hangingPunct="1">
        <a:defRPr sz="1300" kern="1200">
          <a:solidFill>
            <a:schemeClr val="tx1"/>
          </a:solidFill>
          <a:latin typeface="+mn-lt"/>
          <a:ea typeface="+mn-ea"/>
          <a:cs typeface="+mn-cs"/>
        </a:defRPr>
      </a:lvl4pPr>
      <a:lvl5pPr marL="1371481" algn="l" defTabSz="685740" rtl="0" eaLnBrk="1" latinLnBrk="0" hangingPunct="1">
        <a:defRPr sz="1300" kern="1200">
          <a:solidFill>
            <a:schemeClr val="tx1"/>
          </a:solidFill>
          <a:latin typeface="+mn-lt"/>
          <a:ea typeface="+mn-ea"/>
          <a:cs typeface="+mn-cs"/>
        </a:defRPr>
      </a:lvl5pPr>
      <a:lvl6pPr marL="1714352" algn="l" defTabSz="685740" rtl="0" eaLnBrk="1" latinLnBrk="0" hangingPunct="1">
        <a:defRPr sz="1300" kern="1200">
          <a:solidFill>
            <a:schemeClr val="tx1"/>
          </a:solidFill>
          <a:latin typeface="+mn-lt"/>
          <a:ea typeface="+mn-ea"/>
          <a:cs typeface="+mn-cs"/>
        </a:defRPr>
      </a:lvl6pPr>
      <a:lvl7pPr marL="2057223" algn="l" defTabSz="685740" rtl="0" eaLnBrk="1" latinLnBrk="0" hangingPunct="1">
        <a:defRPr sz="1300" kern="1200">
          <a:solidFill>
            <a:schemeClr val="tx1"/>
          </a:solidFill>
          <a:latin typeface="+mn-lt"/>
          <a:ea typeface="+mn-ea"/>
          <a:cs typeface="+mn-cs"/>
        </a:defRPr>
      </a:lvl7pPr>
      <a:lvl8pPr marL="2400092" algn="l" defTabSz="685740" rtl="0" eaLnBrk="1" latinLnBrk="0" hangingPunct="1">
        <a:defRPr sz="1300" kern="1200">
          <a:solidFill>
            <a:schemeClr val="tx1"/>
          </a:solidFill>
          <a:latin typeface="+mn-lt"/>
          <a:ea typeface="+mn-ea"/>
          <a:cs typeface="+mn-cs"/>
        </a:defRPr>
      </a:lvl8pPr>
      <a:lvl9pPr marL="2742963" algn="l" defTabSz="685740" rtl="0" eaLnBrk="1" latinLnBrk="0" hangingPunct="1">
        <a:defRPr sz="13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80" userDrawn="1">
          <p15:clr>
            <a:srgbClr val="F26B43"/>
          </p15:clr>
        </p15:guide>
        <p15:guide id="2" pos="216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xml"/><Relationship Id="rId1" Type="http://schemas.openxmlformats.org/officeDocument/2006/relationships/slideLayout" Target="../slideLayouts/slideLayout33.xml"/><Relationship Id="rId5" Type="http://schemas.openxmlformats.org/officeDocument/2006/relationships/image" Target="../media/image7.png"/><Relationship Id="rId4" Type="http://schemas.openxmlformats.org/officeDocument/2006/relationships/chart" Target="../charts/chart2.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33.xml"/><Relationship Id="rId5" Type="http://schemas.openxmlformats.org/officeDocument/2006/relationships/chart" Target="../charts/chart4.xml"/><Relationship Id="rId4" Type="http://schemas.openxmlformats.org/officeDocument/2006/relationships/chart" Target="../charts/chart3.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33.xml"/><Relationship Id="rId5" Type="http://schemas.openxmlformats.org/officeDocument/2006/relationships/chart" Target="../charts/chart6.xml"/><Relationship Id="rId4" Type="http://schemas.openxmlformats.org/officeDocument/2006/relationships/chart" Target="../charts/chart5.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33.xml"/></Relationships>
</file>

<file path=ppt/slides/_rels/slide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33.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3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A3D354-8BCD-AEA6-8291-770CF570A6FA}"/>
            </a:ext>
          </a:extLst>
        </p:cNvPr>
        <p:cNvGrpSpPr/>
        <p:nvPr/>
      </p:nvGrpSpPr>
      <p:grpSpPr>
        <a:xfrm>
          <a:off x="0" y="0"/>
          <a:ext cx="0" cy="0"/>
          <a:chOff x="0" y="0"/>
          <a:chExt cx="0" cy="0"/>
        </a:xfrm>
      </p:grpSpPr>
      <p:sp>
        <p:nvSpPr>
          <p:cNvPr id="1048603" name="Date Tab"/>
          <p:cNvSpPr/>
          <p:nvPr/>
        </p:nvSpPr>
        <p:spPr>
          <a:xfrm>
            <a:off x="429768" y="1373499"/>
            <a:ext cx="1295400" cy="201168"/>
          </a:xfrm>
          <a:prstGeom prst="rect">
            <a:avLst/>
          </a:prstGeom>
          <a:solidFill>
            <a:srgbClr val="0051A2"/>
          </a:solidFill>
          <a:ln>
            <a:noFill/>
          </a:ln>
        </p:spPr>
        <p:txBody>
          <a:bodyPr wrap="none" lIns="0" tIns="0" rIns="0" bIns="0" rtlCol="0" anchor="ctr"/>
          <a:lstStyle/>
          <a:p>
            <a:pPr algn="ctr"/>
            <a:r>
              <a:rPr lang="en-US" sz="1000" b="1" dirty="0">
                <a:solidFill>
                  <a:schemeClr val="bg1"/>
                </a:solidFill>
                <a:latin typeface="+mn-lt"/>
              </a:rPr>
              <a:t>5 October 2026</a:t>
            </a:r>
          </a:p>
        </p:txBody>
      </p:sp>
      <p:sp>
        <p:nvSpPr>
          <p:cNvPr id="1048593" name="AutoShape 2" descr="ready">
            <a:extLst>
              <a:ext uri="{FF2B5EF4-FFF2-40B4-BE49-F238E27FC236}">
                <a16:creationId xmlns:a16="http://schemas.microsoft.com/office/drawing/2014/main" id="{8AF2A150-BA6F-1131-F1B7-3D952C15F9EF}"/>
              </a:ext>
            </a:extLst>
          </p:cNvPr>
          <p:cNvSpPr>
            <a:spLocks noChangeAspect="1" noChangeArrowheads="1"/>
          </p:cNvSpPr>
          <p:nvPr/>
        </p:nvSpPr>
        <p:spPr bwMode="auto">
          <a:xfrm>
            <a:off x="8594725"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4" name="AutoShape 3" descr="viewed">
            <a:extLst>
              <a:ext uri="{FF2B5EF4-FFF2-40B4-BE49-F238E27FC236}">
                <a16:creationId xmlns:a16="http://schemas.microsoft.com/office/drawing/2014/main" id="{7B140D9F-5D65-3951-6C22-9AD76A0BBC96}"/>
              </a:ext>
            </a:extLst>
          </p:cNvPr>
          <p:cNvSpPr>
            <a:spLocks noChangeAspect="1" noChangeArrowheads="1"/>
          </p:cNvSpPr>
          <p:nvPr/>
        </p:nvSpPr>
        <p:spPr bwMode="auto">
          <a:xfrm>
            <a:off x="8704263"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6" name="TextBox 18">
            <a:extLst>
              <a:ext uri="{FF2B5EF4-FFF2-40B4-BE49-F238E27FC236}">
                <a16:creationId xmlns:a16="http://schemas.microsoft.com/office/drawing/2014/main" id="{4064EA44-2393-C6D7-353F-1AED27249558}"/>
              </a:ext>
            </a:extLst>
          </p:cNvPr>
          <p:cNvSpPr txBox="1"/>
          <p:nvPr/>
        </p:nvSpPr>
        <p:spPr>
          <a:xfrm>
            <a:off x="228600" y="1585892"/>
            <a:ext cx="6477000" cy="394750"/>
          </a:xfrm>
          <a:prstGeom prst="rect">
            <a:avLst/>
          </a:prstGeom>
          <a:noFill/>
        </p:spPr>
        <p:txBody>
          <a:bodyPr wrap="square" lIns="116612" tIns="58306" rIns="116612" bIns="58306"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166125"/>
            <a:r>
              <a:rPr lang="en-US" b="1" i="1" dirty="0"/>
              <a:t>Global: Delayed, Not Denied</a:t>
            </a:r>
          </a:p>
        </p:txBody>
      </p:sp>
      <p:sp>
        <p:nvSpPr>
          <p:cNvPr id="1048600" name="Rectangle 1" hidden="1">
            <a:extLst>
              <a:ext uri="{FF2B5EF4-FFF2-40B4-BE49-F238E27FC236}">
                <a16:creationId xmlns:a16="http://schemas.microsoft.com/office/drawing/2014/main" id="{CF6E507A-6E48-8447-9CF0-55DF2D2EE4E5}"/>
              </a:ext>
            </a:extLst>
          </p:cNvPr>
          <p:cNvSpPr/>
          <p:nvPr/>
        </p:nvSpPr>
        <p:spPr>
          <a:xfrm>
            <a:off x="3200400" y="6893909"/>
            <a:ext cx="190816" cy="127358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endParaRPr lang="en-US" sz="900" b="1" i="1">
              <a:solidFill>
                <a:schemeClr val="tx1"/>
              </a:solidFill>
            </a:endParaRPr>
          </a:p>
        </p:txBody>
      </p:sp>
      <p:sp>
        <p:nvSpPr>
          <p:cNvPr id="3" name="Rectangle 1">
            <a:extLst>
              <a:ext uri="{FF2B5EF4-FFF2-40B4-BE49-F238E27FC236}">
                <a16:creationId xmlns:a16="http://schemas.microsoft.com/office/drawing/2014/main" id="{5EEBA54D-D173-849E-1A04-ADCC7871DF7D}"/>
              </a:ext>
            </a:extLst>
          </p:cNvPr>
          <p:cNvSpPr>
            <a:spLocks noChangeArrowheads="1"/>
          </p:cNvSpPr>
          <p:nvPr/>
        </p:nvSpPr>
        <p:spPr bwMode="auto">
          <a:xfrm>
            <a:off x="0" y="110933"/>
            <a:ext cx="65" cy="235334"/>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20631" rIns="0" bIns="-206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Kotak Teks 18">
            <a:extLst>
              <a:ext uri="{FF2B5EF4-FFF2-40B4-BE49-F238E27FC236}">
                <a16:creationId xmlns:a16="http://schemas.microsoft.com/office/drawing/2014/main" id="{176D383B-253F-73B0-7483-5820625180BC}"/>
              </a:ext>
            </a:extLst>
          </p:cNvPr>
          <p:cNvSpPr txBox="1"/>
          <p:nvPr/>
        </p:nvSpPr>
        <p:spPr>
          <a:xfrm>
            <a:off x="267148" y="2641487"/>
            <a:ext cx="6321467" cy="4152328"/>
          </a:xfrm>
          <a:prstGeom prst="rect">
            <a:avLst/>
          </a:prstGeom>
          <a:solidFill>
            <a:schemeClr val="bg1"/>
          </a:solidFill>
        </p:spPr>
        <p:txBody>
          <a:bodyPr wrap="square" lIns="91440" tIns="45720" rIns="91440" bIns="45720" anchor="t">
            <a:spAutoFit/>
          </a:bodyPr>
          <a:lstStyle/>
          <a:p>
            <a:pPr lvl="0" algn="just">
              <a:spcBef>
                <a:spcPts val="600"/>
              </a:spcBef>
              <a:spcAft>
                <a:spcPts val="300"/>
              </a:spcAft>
              <a:buClr>
                <a:srgbClr val="000000"/>
              </a:buClr>
            </a:pPr>
            <a:r>
              <a:rPr lang="en-US" sz="1400" b="1" i="1" kern="0" dirty="0">
                <a:solidFill>
                  <a:srgbClr val="2F5496"/>
                </a:solidFill>
                <a:ea typeface="Calibri"/>
                <a:cs typeface="Calibri"/>
                <a:sym typeface="Calibri"/>
              </a:rPr>
              <a:t>Key Highlights:</a:t>
            </a:r>
          </a:p>
          <a:p>
            <a:pPr marL="228600" indent="-228600" algn="just">
              <a:lnSpc>
                <a:spcPct val="100000"/>
              </a:lnSpc>
              <a:spcBef>
                <a:spcPts val="0"/>
              </a:spcBef>
              <a:spcAft>
                <a:spcPts val="600"/>
              </a:spcAft>
              <a:buFont typeface="+mj-lt"/>
              <a:buAutoNum type="arabicPeriod"/>
            </a:pPr>
            <a:r>
              <a:rPr lang="en-US" sz="1100" b="1" i="1" dirty="0">
                <a:effectLst/>
                <a:latin typeface="Calibri" panose="020F0502020204030204" pitchFamily="34" charset="0"/>
                <a:ea typeface="MS Mincho" panose="02020609040205080304" pitchFamily="49" charset="-128"/>
                <a:cs typeface="Times New Roman" panose="02020603050405020304" pitchFamily="18" charset="0"/>
              </a:rPr>
              <a:t>Moved, Not Removed.</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Sepanjang 25 September–2 Oktober, pasar meninggalkan skenario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target rate</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yang lebih tinggi pada Oktober: probabilitasnya turun dari 64,2% ke 22,1%. Namun, gambaran jangka panjangnya belum berubah.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Snapshot</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CME FedWatch 5 Oktober menunjukkan rata-rata tertimbang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target rate</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menanjak dari 3,93% pada FOMC Oktober ke 4,12% pada Desember dan 4,68% pada Desember 2027 </a:t>
            </a:r>
            <a:r>
              <a:rPr lang="en-US" sz="1100" b="1" i="0" dirty="0">
                <a:effectLst/>
                <a:latin typeface="Calibri" panose="020F0502020204030204" pitchFamily="34" charset="0"/>
                <a:ea typeface="MS Mincho" panose="02020609040205080304" pitchFamily="49" charset="-128"/>
                <a:cs typeface="Times New Roman" panose="02020603050405020304" pitchFamily="18" charset="0"/>
              </a:rPr>
              <a:t>(Exhibit 1).</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Probabilitas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target rate</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≥4,00% pada FOMC Desember pun masih 81,7%. Pasar hanya menggeser jadwal, bukan menghapus pengetatan.</a:t>
            </a:r>
          </a:p>
          <a:p>
            <a:pPr marL="228600" indent="-228600" algn="just">
              <a:lnSpc>
                <a:spcPct val="100000"/>
              </a:lnSpc>
              <a:spcBef>
                <a:spcPts val="0"/>
              </a:spcBef>
              <a:spcAft>
                <a:spcPts val="600"/>
              </a:spcAft>
              <a:buFont typeface="+mj-lt"/>
              <a:buAutoNum type="arabicPeriod"/>
            </a:pPr>
            <a:r>
              <a:rPr lang="en-US" sz="1100" b="1" i="1" dirty="0">
                <a:effectLst/>
                <a:latin typeface="Calibri" panose="020F0502020204030204" pitchFamily="34" charset="0"/>
                <a:ea typeface="MS Mincho" panose="02020609040205080304" pitchFamily="49" charset="-128"/>
                <a:cs typeface="Times New Roman" panose="02020603050405020304" pitchFamily="18" charset="0"/>
              </a:rPr>
              <a:t>The Premium Did the Lifting.</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Jika ekspektasi kebijakan melunak, wajar bila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yield</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jangka panjang ikut turun. Yang terjadi justru sebaliknya: pada periode yang sama, UST 10YR naik 11,0 bps ke 5,27%, sementara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term premium</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10YR (model ACM) naik 14,2 bps ke 0,91%, tertinggi dalam setahun terakhir </a:t>
            </a:r>
            <a:r>
              <a:rPr lang="en-US" sz="1100" b="1" i="0" dirty="0">
                <a:effectLst/>
                <a:latin typeface="Calibri" panose="020F0502020204030204" pitchFamily="34" charset="0"/>
                <a:ea typeface="MS Mincho" panose="02020609040205080304" pitchFamily="49" charset="-128"/>
                <a:cs typeface="Times New Roman" panose="02020603050405020304" pitchFamily="18" charset="0"/>
              </a:rPr>
              <a:t>(Exhibit 2).</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Komponen ekspektasi suku bunga justru turun sekitar 3 bps. Ini pergeseran penting: sepanjang 2026,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term premium</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hanya menyumbang 16,6 bps dari kenaikan UST 10YR sebesar 110,4 bps, tetapi sejak akhir Juni porsinya membesar menjadi sekitar separuh (+40,8 dari +80,5 bps), dan pada pekan lalu seluruhnya.</a:t>
            </a:r>
          </a:p>
          <a:p>
            <a:pPr marL="228600" indent="-228600" algn="just">
              <a:lnSpc>
                <a:spcPct val="100000"/>
              </a:lnSpc>
              <a:spcBef>
                <a:spcPts val="0"/>
              </a:spcBef>
              <a:spcAft>
                <a:spcPts val="600"/>
              </a:spcAft>
              <a:buFont typeface="+mj-lt"/>
              <a:buAutoNum type="arabicPeriod"/>
            </a:pPr>
            <a:r>
              <a:rPr lang="en-US" sz="1100" b="1" i="1" dirty="0">
                <a:effectLst/>
                <a:latin typeface="Calibri" panose="020F0502020204030204" pitchFamily="34" charset="0"/>
                <a:ea typeface="MS Mincho" panose="02020609040205080304" pitchFamily="49" charset="-128"/>
                <a:cs typeface="Times New Roman" panose="02020603050405020304" pitchFamily="18" charset="0"/>
              </a:rPr>
              <a:t>Two Ends, Two Stories.</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Perbedaan arah tersebut tergambar jelas pada kurva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yield</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UST 2YR turun 2,7 bps mengikuti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repricing</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The Fed, sementara 10YR naik, sehingga </a:t>
            </a:r>
            <a:r>
              <a:rPr lang="en-US" sz="1100" b="0" i="1" dirty="0">
                <a:effectLst/>
                <a:latin typeface="Calibri" panose="020F0502020204030204" pitchFamily="34" charset="0"/>
                <a:ea typeface="MS Mincho" panose="02020609040205080304" pitchFamily="49" charset="-128"/>
                <a:cs typeface="Times New Roman" panose="02020603050405020304" pitchFamily="18" charset="0"/>
              </a:rPr>
              <a:t>spread</a:t>
            </a:r>
            <a:r>
              <a:rPr lang="en-US" sz="1100" b="0" i="0" dirty="0">
                <a:effectLst/>
                <a:latin typeface="Calibri" panose="020F0502020204030204" pitchFamily="34" charset="0"/>
                <a:ea typeface="MS Mincho" panose="02020609040205080304" pitchFamily="49" charset="-128"/>
                <a:cs typeface="Times New Roman" panose="02020603050405020304" pitchFamily="18" charset="0"/>
              </a:rPr>
              <a:t> 2s10s melebar dari 30,9 bps menjadi 44,6 bps dalam sepekan. Risiko kebijakan dan risiko durasi kini bergerak berlawanan: tenor pendek diuntungkan oleh The Fed yang lebih sabar, sedangkan pendanaan jangka panjang, baik bagi pemerintah maupun korporasi, menjadi lebih mahal. Pertanyaannya kini bukan lagi arah suku bunga The Fed, melainkan berapa kompensasi yang diminta investor untuk dana jangka panjang.</a:t>
            </a:r>
          </a:p>
        </p:txBody>
      </p:sp>
      <p:sp>
        <p:nvSpPr>
          <p:cNvPr id="5" name="TextBox 14">
            <a:extLst>
              <a:ext uri="{FF2B5EF4-FFF2-40B4-BE49-F238E27FC236}">
                <a16:creationId xmlns:a16="http://schemas.microsoft.com/office/drawing/2014/main" id="{D4B8596B-26A2-A107-9491-F77413FD73E9}"/>
              </a:ext>
            </a:extLst>
          </p:cNvPr>
          <p:cNvSpPr txBox="1"/>
          <p:nvPr/>
        </p:nvSpPr>
        <p:spPr>
          <a:xfrm>
            <a:off x="357470" y="1991541"/>
            <a:ext cx="6140824" cy="671338"/>
          </a:xfrm>
          <a:prstGeom prst="rect">
            <a:avLst/>
          </a:prstGeom>
          <a:solidFill>
            <a:srgbClr val="002060"/>
          </a:solidFill>
        </p:spPr>
        <p:style>
          <a:lnRef idx="0">
            <a:schemeClr val="accent5"/>
          </a:lnRef>
          <a:fillRef idx="3">
            <a:schemeClr val="accent5"/>
          </a:fillRef>
          <a:effectRef idx="3">
            <a:schemeClr val="accent5"/>
          </a:effectRef>
          <a:fontRef idx="minor">
            <a:schemeClr val="lt1"/>
          </a:fontRef>
        </p:style>
        <p:txBody>
          <a:bodyPr wrap="square" lIns="91440" tIns="45720" rIns="91440" bIns="45720" rtlCol="0" anchor="t">
            <a:spAutoFit/>
          </a:bodyPr>
          <a:lstStyle/>
          <a:p>
            <a:pPr algn="just">
              <a:lnSpc>
                <a:spcPct val="114000"/>
              </a:lnSpc>
              <a:spcAft>
                <a:spcPts val="600"/>
              </a:spcAft>
              <a:buNone/>
            </a:pPr>
            <a:r>
              <a:rPr lang="en-ID" sz="1100" b="1" i="0" kern="100" dirty="0">
                <a:latin typeface="Calibri" panose="020F0502020204030204" pitchFamily="34" charset="0"/>
                <a:ea typeface="Calibri" panose="020F0502020204030204" pitchFamily="34" charset="0"/>
                <a:cs typeface="Times New Roman" panose="02020603050405020304" pitchFamily="18" charset="0"/>
              </a:rPr>
              <a:t>Pasar memundurkan ekspektasi </a:t>
            </a:r>
            <a:r>
              <a:rPr lang="en-ID" sz="1100" b="1" i="1" kern="100" dirty="0">
                <a:latin typeface="Calibri" panose="020F0502020204030204" pitchFamily="34" charset="0"/>
                <a:ea typeface="Calibri" panose="020F0502020204030204" pitchFamily="34" charset="0"/>
                <a:cs typeface="Times New Roman" panose="02020603050405020304" pitchFamily="18" charset="0"/>
              </a:rPr>
              <a:t>target rate</a:t>
            </a:r>
            <a:r>
              <a:rPr lang="en-ID" sz="1100" b="1" i="0" kern="100" dirty="0">
                <a:latin typeface="Calibri" panose="020F0502020204030204" pitchFamily="34" charset="0"/>
                <a:ea typeface="Calibri" panose="020F0502020204030204" pitchFamily="34" charset="0"/>
                <a:cs typeface="Times New Roman" panose="02020603050405020304" pitchFamily="18" charset="0"/>
              </a:rPr>
              <a:t> yang lebih tinggi dari Oktober, namun jalur suku bunga hingga 2027 tetap menanjak. Pasar obligasi pun tidak ikut merayakan: kenaikan UST 10YR sepenuhnya berasal dari </a:t>
            </a:r>
            <a:r>
              <a:rPr lang="en-ID" sz="1100" b="1" i="1" kern="100" dirty="0">
                <a:latin typeface="Calibri" panose="020F0502020204030204" pitchFamily="34" charset="0"/>
                <a:ea typeface="Calibri" panose="020F0502020204030204" pitchFamily="34" charset="0"/>
                <a:cs typeface="Times New Roman" panose="02020603050405020304" pitchFamily="18" charset="0"/>
              </a:rPr>
              <a:t>term premium</a:t>
            </a:r>
            <a:r>
              <a:rPr lang="en-ID" sz="1100" b="1" i="0" kern="100" dirty="0">
                <a:latin typeface="Calibri" panose="020F0502020204030204" pitchFamily="34" charset="0"/>
                <a:ea typeface="Calibri" panose="020F0502020204030204" pitchFamily="34" charset="0"/>
                <a:cs typeface="Times New Roman" panose="02020603050405020304" pitchFamily="18" charset="0"/>
              </a:rPr>
              <a:t>, sehingga biaya pendanaan jangka panjang tetap naik.</a:t>
            </a:r>
            <a:endParaRPr lang="en-ID" sz="1100" kern="100" dirty="0">
              <a:latin typeface="Calibri" panose="020F0502020204030204" pitchFamily="34" charset="0"/>
              <a:ea typeface="Calibri" panose="020F0502020204030204" pitchFamily="34" charset="0"/>
              <a:cs typeface="Times New Roman" panose="02020603050405020304" pitchFamily="18" charset="0"/>
            </a:endParaRPr>
          </a:p>
        </p:txBody>
      </p:sp>
      <p:sp>
        <p:nvSpPr>
          <p:cNvPr id="10" name="Rectangle 9">
            <a:extLst>
              <a:ext uri="{FF2B5EF4-FFF2-40B4-BE49-F238E27FC236}">
                <a16:creationId xmlns:a16="http://schemas.microsoft.com/office/drawing/2014/main" id="{9364F82B-6A7E-C001-7CA3-8B7539E1A9F3}"/>
              </a:ext>
            </a:extLst>
          </p:cNvPr>
          <p:cNvSpPr/>
          <p:nvPr/>
        </p:nvSpPr>
        <p:spPr>
          <a:xfrm>
            <a:off x="354579" y="6802959"/>
            <a:ext cx="3035808"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1: CME-Implied Fed Target Rate Path by FOMC Meeting (%)</a:t>
            </a:r>
          </a:p>
        </p:txBody>
      </p:sp>
      <p:sp>
        <p:nvSpPr>
          <p:cNvPr id="16" name="Rectangle 15">
            <a:extLst>
              <a:ext uri="{FF2B5EF4-FFF2-40B4-BE49-F238E27FC236}">
                <a16:creationId xmlns:a16="http://schemas.microsoft.com/office/drawing/2014/main" id="{521BD689-A1BE-2C80-CD40-347502682528}"/>
              </a:ext>
            </a:extLst>
          </p:cNvPr>
          <p:cNvSpPr/>
          <p:nvPr/>
        </p:nvSpPr>
        <p:spPr>
          <a:xfrm>
            <a:off x="3530766" y="6802959"/>
            <a:ext cx="3035807"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2: UST 10YR Yield vs. ACM 10YR Term Premium (%)</a:t>
            </a:r>
          </a:p>
        </p:txBody>
      </p:sp>
      <p:sp>
        <p:nvSpPr>
          <p:cNvPr id="17" name="TextBox 16">
            <a:extLst>
              <a:ext uri="{FF2B5EF4-FFF2-40B4-BE49-F238E27FC236}">
                <a16:creationId xmlns:a16="http://schemas.microsoft.com/office/drawing/2014/main" id="{4633A3AC-8636-4AE6-02AA-E5E621B95435}"/>
              </a:ext>
            </a:extLst>
          </p:cNvPr>
          <p:cNvSpPr txBox="1"/>
          <p:nvPr/>
        </p:nvSpPr>
        <p:spPr>
          <a:xfrm>
            <a:off x="354579" y="8611853"/>
            <a:ext cx="2826478" cy="200055"/>
          </a:xfrm>
          <a:prstGeom prst="rect">
            <a:avLst/>
          </a:prstGeom>
          <a:noFill/>
        </p:spPr>
        <p:txBody>
          <a:bodyPr wrap="square" rtlCol="0">
            <a:spAutoFit/>
          </a:bodyPr>
          <a:lstStyle/>
          <a:p>
            <a:r>
              <a:rPr lang="en-US" sz="700" i="1" dirty="0">
                <a:solidFill>
                  <a:schemeClr val="bg1">
                    <a:lumMod val="75000"/>
                  </a:schemeClr>
                </a:solidFill>
              </a:rPr>
              <a:t>Source: CME FedWatch, supplied screenshot; calculations</a:t>
            </a:r>
          </a:p>
        </p:txBody>
      </p:sp>
      <p:sp>
        <p:nvSpPr>
          <p:cNvPr id="18" name="TextBox 17">
            <a:extLst>
              <a:ext uri="{FF2B5EF4-FFF2-40B4-BE49-F238E27FC236}">
                <a16:creationId xmlns:a16="http://schemas.microsoft.com/office/drawing/2014/main" id="{D0453F5D-6FFC-500A-82C8-673EF390E1E2}"/>
              </a:ext>
            </a:extLst>
          </p:cNvPr>
          <p:cNvSpPr txBox="1"/>
          <p:nvPr/>
        </p:nvSpPr>
        <p:spPr>
          <a:xfrm>
            <a:off x="3530766" y="8606207"/>
            <a:ext cx="2798648" cy="200055"/>
          </a:xfrm>
          <a:prstGeom prst="rect">
            <a:avLst/>
          </a:prstGeom>
          <a:noFill/>
        </p:spPr>
        <p:txBody>
          <a:bodyPr wrap="square" rtlCol="0">
            <a:spAutoFit/>
          </a:bodyPr>
          <a:lstStyle/>
          <a:p>
            <a:r>
              <a:rPr lang="en-US" sz="700" i="1" dirty="0">
                <a:solidFill>
                  <a:schemeClr val="bg1">
                    <a:lumMod val="75000"/>
                  </a:schemeClr>
                </a:solidFill>
              </a:rPr>
              <a:t>Source: Bloomberg (2 October 2026)</a:t>
            </a:r>
          </a:p>
        </p:txBody>
      </p:sp>
      <p:sp>
        <p:nvSpPr>
          <p:cNvPr id="8" name="TextBox 16">
            <a:extLst>
              <a:ext uri="{FF2B5EF4-FFF2-40B4-BE49-F238E27FC236}">
                <a16:creationId xmlns:a16="http://schemas.microsoft.com/office/drawing/2014/main" id="{F32355F2-740C-F04B-B0F1-EB806AD7E26A}"/>
              </a:ext>
            </a:extLst>
          </p:cNvPr>
          <p:cNvSpPr txBox="1"/>
          <p:nvPr/>
        </p:nvSpPr>
        <p:spPr>
          <a:xfrm>
            <a:off x="5966339" y="8792881"/>
            <a:ext cx="645196" cy="271639"/>
          </a:xfrm>
          <a:prstGeom prst="rect">
            <a:avLst/>
          </a:prstGeom>
          <a:noFill/>
        </p:spPr>
        <p:txBody>
          <a:bodyPr wrap="square" lIns="116612" tIns="58306" rIns="116612" bIns="58306" rtlCol="0">
            <a:spAutoFit/>
          </a:bodyPr>
          <a:lstStyle/>
          <a:p>
            <a:pPr algn="ctr"/>
            <a:fld id="{477D8BF5-2754-4CFE-9C4A-CCAF84A93D96}" type="slidenum">
              <a:rPr lang="id-ID" sz="1000">
                <a:solidFill>
                  <a:schemeClr val="bg1"/>
                </a:solidFill>
              </a:rPr>
              <a:pPr algn="ctr"/>
              <a:t>1</a:t>
            </a:fld>
            <a:endParaRPr lang="id-ID" sz="1000" dirty="0">
              <a:solidFill>
                <a:schemeClr val="bg1"/>
              </a:solidFill>
            </a:endParaRPr>
          </a:p>
        </p:txBody>
      </p:sp>
      <p:graphicFrame>
        <p:nvGraphicFramePr>
          <p:cNvPr id="1048604" name="Exhibit 1 Chart"/>
          <p:cNvGraphicFramePr>
            <a:graphicFrameLocks noGrp="1"/>
          </p:cNvGraphicFramePr>
          <p:nvPr/>
        </p:nvGraphicFramePr>
        <p:xfrm>
          <a:off x="354579" y="7167732"/>
          <a:ext cx="3035808" cy="149590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48605" name="Exhibit 2 Chart"/>
          <p:cNvGraphicFramePr>
            <a:graphicFrameLocks noGrp="1"/>
          </p:cNvGraphicFramePr>
          <p:nvPr/>
        </p:nvGraphicFramePr>
        <p:xfrm>
          <a:off x="3530765" y="7167732"/>
          <a:ext cx="3035808" cy="1495904"/>
        </p:xfrm>
        <a:graphic>
          <a:graphicData uri="http://schemas.openxmlformats.org/drawingml/2006/chart">
            <c:chart xmlns:c="http://schemas.openxmlformats.org/drawingml/2006/chart" xmlns:r="http://schemas.openxmlformats.org/officeDocument/2006/relationships" r:id="rId4"/>
          </a:graphicData>
        </a:graphic>
      </p:graphicFrame>
      <p:pic>
        <p:nvPicPr>
          <p:cNvPr id="26" name="Picture 15">
            <a:extLst>
              <a:ext uri="{FF2B5EF4-FFF2-40B4-BE49-F238E27FC236}">
                <a16:creationId xmlns:a16="http://schemas.microsoft.com/office/drawing/2014/main" id="{FA3E071E-8624-2961-6E00-0A1F6DC56878}"/>
              </a:ext>
            </a:extLst>
          </p:cNvPr>
          <p:cNvPicPr>
            <a:picLocks noChangeAspect="1"/>
          </p:cNvPicPr>
          <p:nvPr/>
        </p:nvPicPr>
        <p:blipFill>
          <a:blip r:embed="rId5"/>
          <a:stretch>
            <a:fillRect/>
          </a:stretch>
        </p:blipFill>
        <p:spPr>
          <a:xfrm>
            <a:off x="424493" y="8786563"/>
            <a:ext cx="6009012" cy="267729"/>
          </a:xfrm>
          <a:prstGeom prst="rect">
            <a:avLst/>
          </a:prstGeom>
        </p:spPr>
      </p:pic>
      <p:sp>
        <p:nvSpPr>
          <p:cNvPr id="27" name="TextBox 17">
            <a:extLst>
              <a:ext uri="{FF2B5EF4-FFF2-40B4-BE49-F238E27FC236}">
                <a16:creationId xmlns:a16="http://schemas.microsoft.com/office/drawing/2014/main" id="{6EB98A60-1CE9-EA09-6826-D05E99DD6574}"/>
              </a:ext>
            </a:extLst>
          </p:cNvPr>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dirty="0">
                <a:solidFill>
                  <a:srgbClr val="175FAB"/>
                </a:solidFill>
              </a:rPr>
              <a:t>PT</a:t>
            </a:r>
            <a:r>
              <a:rPr lang="en-US" sz="1000" dirty="0">
                <a:solidFill>
                  <a:srgbClr val="175FAB"/>
                </a:solidFill>
              </a:rPr>
              <a:t> </a:t>
            </a:r>
            <a:r>
              <a:rPr lang="id-ID" sz="1000" dirty="0">
                <a:solidFill>
                  <a:srgbClr val="175FAB"/>
                </a:solidFill>
              </a:rPr>
              <a:t>Bank Central Asia</a:t>
            </a:r>
            <a:r>
              <a:rPr lang="en-US" sz="1000" dirty="0">
                <a:solidFill>
                  <a:srgbClr val="175FAB"/>
                </a:solidFill>
              </a:rPr>
              <a:t> </a:t>
            </a:r>
            <a:r>
              <a:rPr lang="en-US" sz="1000" dirty="0" err="1">
                <a:solidFill>
                  <a:srgbClr val="175FAB"/>
                </a:solidFill>
              </a:rPr>
              <a:t>Tbk</a:t>
            </a:r>
            <a:r>
              <a:rPr lang="en-US" sz="1000" dirty="0">
                <a:solidFill>
                  <a:srgbClr val="175FAB"/>
                </a:solidFill>
              </a:rPr>
              <a:t>.</a:t>
            </a:r>
            <a:endParaRPr lang="id-ID" sz="1000" dirty="0">
              <a:solidFill>
                <a:srgbClr val="175FAB"/>
              </a:solidFill>
            </a:endParaRPr>
          </a:p>
        </p:txBody>
      </p:sp>
    </p:spTree>
    <p:extLst>
      <p:ext uri="{BB962C8B-B14F-4D97-AF65-F5344CB8AC3E}">
        <p14:creationId xmlns:p14="http://schemas.microsoft.com/office/powerpoint/2010/main" val="20214989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9C8450-D8E1-A3AC-0F5B-7FC7E6284222}"/>
            </a:ext>
          </a:extLst>
        </p:cNvPr>
        <p:cNvGrpSpPr/>
        <p:nvPr/>
      </p:nvGrpSpPr>
      <p:grpSpPr>
        <a:xfrm>
          <a:off x="0" y="0"/>
          <a:ext cx="0" cy="0"/>
          <a:chOff x="0" y="0"/>
          <a:chExt cx="0" cy="0"/>
        </a:xfrm>
      </p:grpSpPr>
      <p:sp>
        <p:nvSpPr>
          <p:cNvPr id="2097157" name="Date Tab"/>
          <p:cNvSpPr/>
          <p:nvPr/>
        </p:nvSpPr>
        <p:spPr>
          <a:xfrm>
            <a:off x="429768" y="1373499"/>
            <a:ext cx="1295400" cy="201168"/>
          </a:xfrm>
          <a:prstGeom prst="rect">
            <a:avLst/>
          </a:prstGeom>
          <a:solidFill>
            <a:srgbClr val="0051A2"/>
          </a:solidFill>
          <a:ln>
            <a:noFill/>
          </a:ln>
        </p:spPr>
        <p:txBody>
          <a:bodyPr wrap="none" lIns="0" tIns="0" rIns="0" bIns="0" rtlCol="0" anchor="ctr"/>
          <a:lstStyle/>
          <a:p>
            <a:pPr algn="ctr"/>
            <a:r>
              <a:rPr lang="en-US" sz="1000" b="1" dirty="0">
                <a:solidFill>
                  <a:schemeClr val="bg1"/>
                </a:solidFill>
                <a:latin typeface="+mn-lt"/>
              </a:rPr>
              <a:t>5 October 2026</a:t>
            </a:r>
          </a:p>
        </p:txBody>
      </p:sp>
      <p:sp>
        <p:nvSpPr>
          <p:cNvPr id="1048593" name="AutoShape 2" descr="ready">
            <a:extLst>
              <a:ext uri="{FF2B5EF4-FFF2-40B4-BE49-F238E27FC236}">
                <a16:creationId xmlns:a16="http://schemas.microsoft.com/office/drawing/2014/main" id="{EEA7578E-139D-ADAC-DF76-92A90E103C68}"/>
              </a:ext>
            </a:extLst>
          </p:cNvPr>
          <p:cNvSpPr>
            <a:spLocks noChangeAspect="1" noChangeArrowheads="1"/>
          </p:cNvSpPr>
          <p:nvPr/>
        </p:nvSpPr>
        <p:spPr bwMode="auto">
          <a:xfrm>
            <a:off x="8594725"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4" name="AutoShape 3" descr="viewed">
            <a:extLst>
              <a:ext uri="{FF2B5EF4-FFF2-40B4-BE49-F238E27FC236}">
                <a16:creationId xmlns:a16="http://schemas.microsoft.com/office/drawing/2014/main" id="{1ADFF4F1-DB48-4000-7B3F-5F2FE9315194}"/>
              </a:ext>
            </a:extLst>
          </p:cNvPr>
          <p:cNvSpPr>
            <a:spLocks noChangeAspect="1" noChangeArrowheads="1"/>
          </p:cNvSpPr>
          <p:nvPr/>
        </p:nvSpPr>
        <p:spPr bwMode="auto">
          <a:xfrm>
            <a:off x="8704263"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6" name="TextBox 18">
            <a:extLst>
              <a:ext uri="{FF2B5EF4-FFF2-40B4-BE49-F238E27FC236}">
                <a16:creationId xmlns:a16="http://schemas.microsoft.com/office/drawing/2014/main" id="{02B742B4-5BBF-CB82-5E42-997145DC802D}"/>
              </a:ext>
            </a:extLst>
          </p:cNvPr>
          <p:cNvSpPr txBox="1"/>
          <p:nvPr/>
        </p:nvSpPr>
        <p:spPr>
          <a:xfrm>
            <a:off x="228600" y="1585892"/>
            <a:ext cx="6477000" cy="394750"/>
          </a:xfrm>
          <a:prstGeom prst="rect">
            <a:avLst/>
          </a:prstGeom>
          <a:noFill/>
        </p:spPr>
        <p:txBody>
          <a:bodyPr wrap="square" lIns="116612" tIns="58306" rIns="116612" bIns="58306"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166125"/>
            <a:r>
              <a:rPr lang="en-US" b="1" i="1" dirty="0"/>
              <a:t>Global: AI Sellers Get Paid, AI Spenders Pay</a:t>
            </a:r>
          </a:p>
        </p:txBody>
      </p:sp>
      <p:sp>
        <p:nvSpPr>
          <p:cNvPr id="1048600" name="Rectangle 1" hidden="1">
            <a:extLst>
              <a:ext uri="{FF2B5EF4-FFF2-40B4-BE49-F238E27FC236}">
                <a16:creationId xmlns:a16="http://schemas.microsoft.com/office/drawing/2014/main" id="{C9600879-7D9D-DDA8-6014-71CA1503C382}"/>
              </a:ext>
            </a:extLst>
          </p:cNvPr>
          <p:cNvSpPr/>
          <p:nvPr/>
        </p:nvSpPr>
        <p:spPr>
          <a:xfrm>
            <a:off x="3200400" y="6893909"/>
            <a:ext cx="190816" cy="127358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endParaRPr lang="en-US" sz="900" b="1" i="1">
              <a:solidFill>
                <a:schemeClr val="tx1"/>
              </a:solidFill>
            </a:endParaRPr>
          </a:p>
        </p:txBody>
      </p:sp>
      <p:sp>
        <p:nvSpPr>
          <p:cNvPr id="3" name="Rectangle 1">
            <a:extLst>
              <a:ext uri="{FF2B5EF4-FFF2-40B4-BE49-F238E27FC236}">
                <a16:creationId xmlns:a16="http://schemas.microsoft.com/office/drawing/2014/main" id="{50B53999-22F3-D434-AB67-27BE468C503C}"/>
              </a:ext>
            </a:extLst>
          </p:cNvPr>
          <p:cNvSpPr>
            <a:spLocks noChangeArrowheads="1"/>
          </p:cNvSpPr>
          <p:nvPr/>
        </p:nvSpPr>
        <p:spPr bwMode="auto">
          <a:xfrm>
            <a:off x="0" y="110933"/>
            <a:ext cx="65" cy="235334"/>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20631" rIns="0" bIns="-206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4" name="Kotak Teks 18">
            <a:extLst>
              <a:ext uri="{FF2B5EF4-FFF2-40B4-BE49-F238E27FC236}">
                <a16:creationId xmlns:a16="http://schemas.microsoft.com/office/drawing/2014/main" id="{97971A31-5694-E124-772C-CCCC3C1B53FF}"/>
              </a:ext>
            </a:extLst>
          </p:cNvPr>
          <p:cNvSpPr txBox="1"/>
          <p:nvPr/>
        </p:nvSpPr>
        <p:spPr>
          <a:xfrm>
            <a:off x="267148" y="2610752"/>
            <a:ext cx="6321467" cy="4183063"/>
          </a:xfrm>
          <a:prstGeom prst="rect">
            <a:avLst/>
          </a:prstGeom>
          <a:solidFill>
            <a:schemeClr val="bg1"/>
          </a:solidFill>
        </p:spPr>
        <p:txBody>
          <a:bodyPr wrap="square" lIns="91440" tIns="45720" rIns="91440" bIns="45720" anchor="t">
            <a:spAutoFit/>
          </a:bodyPr>
          <a:lstStyle/>
          <a:p>
            <a:pPr lvl="0" algn="just">
              <a:spcBef>
                <a:spcPts val="600"/>
              </a:spcBef>
              <a:spcAft>
                <a:spcPts val="300"/>
              </a:spcAft>
              <a:buClr>
                <a:srgbClr val="000000"/>
              </a:buClr>
            </a:pPr>
            <a:r>
              <a:rPr lang="en-US" sz="1400" b="1" i="1" kern="0" dirty="0">
                <a:solidFill>
                  <a:srgbClr val="2F5496"/>
                </a:solidFill>
                <a:ea typeface="Calibri"/>
                <a:cs typeface="Calibri"/>
                <a:sym typeface="Calibri"/>
              </a:rPr>
              <a:t>Key Highlights:</a:t>
            </a:r>
          </a:p>
          <a:p>
            <a:pPr marL="228600" indent="-228600" algn="just">
              <a:lnSpc>
                <a:spcPct val="100000"/>
              </a:lnSpc>
              <a:spcBef>
                <a:spcPts val="0"/>
              </a:spcBef>
              <a:spcAft>
                <a:spcPts val="600"/>
              </a:spcAft>
              <a:buFont typeface="+mj-lt"/>
              <a:buAutoNum type="arabicPeriod"/>
            </a:pPr>
            <a:r>
              <a:rPr lang="en-ID" sz="1100" b="1" i="1" kern="100" dirty="0">
                <a:latin typeface="Calibri" panose="020F0502020204030204" pitchFamily="34" charset="0"/>
                <a:ea typeface="Calibri" panose="020F0502020204030204" pitchFamily="34" charset="0"/>
                <a:cs typeface="Times New Roman" panose="02020603050405020304" pitchFamily="18" charset="0"/>
              </a:rPr>
              <a:t>Follow the Capex.</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Per 2 Oktober, SOX telah naik 85,5% YTD, jauh meninggalkan rata-rata lima hyperscalers yang hanya naik 1,5%, dengan Oracle justru turun 27,0% </a:t>
            </a:r>
            <a:r>
              <a:rPr lang="en-ID" sz="1100" b="1" i="0" kern="100" dirty="0">
                <a:latin typeface="Calibri" panose="020F0502020204030204" pitchFamily="34" charset="0"/>
                <a:ea typeface="Calibri" panose="020F0502020204030204" pitchFamily="34" charset="0"/>
                <a:cs typeface="Times New Roman" panose="02020603050405020304" pitchFamily="18" charset="0"/>
              </a:rPr>
              <a:t>(Exhibit 3).</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Semikonduktor sempat tertinggal pada Q3, tetapi kembali menguat 3,7% dalam sepekan setelah Micron membukukan EPS kuartalan USD 33,36, melonjak dari USD 2,86 setahun sebelumnya, dan estimasi EPS konsensus (BEst) direvisi naik 8,5% hanya dalam beberapa hari. Pesannya jelas: pasar memberi premi kepada penerima capex yang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earnings</a:t>
            </a:r>
            <a:r>
              <a:rPr lang="en-ID" sz="1100" b="0" i="0" kern="100" dirty="0">
                <a:latin typeface="Calibri" panose="020F0502020204030204" pitchFamily="34" charset="0"/>
                <a:ea typeface="Calibri" panose="020F0502020204030204" pitchFamily="34" charset="0"/>
                <a:cs typeface="Times New Roman" panose="02020603050405020304" pitchFamily="18" charset="0"/>
              </a:rPr>
              <a:t>-nya sudah terlihat.</a:t>
            </a:r>
          </a:p>
          <a:p>
            <a:pPr marL="228600" indent="-228600" algn="just">
              <a:lnSpc>
                <a:spcPct val="100000"/>
              </a:lnSpc>
              <a:spcBef>
                <a:spcPts val="0"/>
              </a:spcBef>
              <a:spcAft>
                <a:spcPts val="600"/>
              </a:spcAft>
              <a:buFont typeface="+mj-lt"/>
              <a:buAutoNum type="arabicPeriod"/>
            </a:pPr>
            <a:r>
              <a:rPr lang="en-ID" sz="1100" b="1" i="1" kern="100" dirty="0">
                <a:latin typeface="Calibri" panose="020F0502020204030204" pitchFamily="34" charset="0"/>
                <a:ea typeface="Calibri" panose="020F0502020204030204" pitchFamily="34" charset="0"/>
                <a:cs typeface="Times New Roman" panose="02020603050405020304" pitchFamily="18" charset="0"/>
              </a:rPr>
              <a:t>Capex Goes to the Bond Market.</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Di sisi lain transaksi tersebut, para pembelanja terus menambah investasi. Capex Alphabet, Microsoft, Amazon, dan Meta naik dari USD 118,63 miliar pada Q4 2025 menjadi USD 165,05 miliar pada Q2 2026 (+39,1%), sementara capex kuartalan Oracle naik lebih dari dua kali lipat. Sebagian kebutuhan ini dibiayai melalui pasar obligasi: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amount outstanding active USD bonds</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hyperscalers yang terbit 2026 YTD mencapai USD 157,00 miliar, naik 68,4% dibandingkan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2025 vintage</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a:t>
            </a:r>
            <a:r>
              <a:rPr lang="en-ID" sz="1100" b="1" i="0" kern="100" dirty="0">
                <a:latin typeface="Calibri" panose="020F0502020204030204" pitchFamily="34" charset="0"/>
                <a:ea typeface="Calibri" panose="020F0502020204030204" pitchFamily="34" charset="0"/>
                <a:cs typeface="Times New Roman" panose="02020603050405020304" pitchFamily="18" charset="0"/>
              </a:rPr>
              <a:t>(Exhibit 4).</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Artinya, AI ikut menambah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supply</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obligasi tepat ketika investor meminta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term premium</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yang lebih tinggi.</a:t>
            </a:r>
          </a:p>
          <a:p>
            <a:pPr marL="228600" indent="-228600" algn="just">
              <a:lnSpc>
                <a:spcPct val="100000"/>
              </a:lnSpc>
              <a:spcBef>
                <a:spcPts val="0"/>
              </a:spcBef>
              <a:spcAft>
                <a:spcPts val="600"/>
              </a:spcAft>
              <a:buFont typeface="+mj-lt"/>
              <a:buAutoNum type="arabicPeriod"/>
            </a:pPr>
            <a:r>
              <a:rPr lang="en-ID" sz="1100" b="1" i="1" kern="100" dirty="0">
                <a:latin typeface="Calibri" panose="020F0502020204030204" pitchFamily="34" charset="0"/>
                <a:ea typeface="Calibri" panose="020F0502020204030204" pitchFamily="34" charset="0"/>
                <a:cs typeface="Times New Roman" panose="02020603050405020304" pitchFamily="18" charset="0"/>
              </a:rPr>
              <a:t>Credit Is Doing the Due Diligence.</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Pasar kredit kemudian memberikan penilaiannya sendiri, dan yang dinilai adalah neraca, bukan narasi AI. </a:t>
            </a:r>
            <a:r>
              <a:rPr lang="en-ID" sz="1100" b="0" i="1" kern="100" dirty="0">
                <a:latin typeface="Calibri" panose="020F0502020204030204" pitchFamily="34" charset="0"/>
                <a:ea typeface="Calibri" panose="020F0502020204030204" pitchFamily="34" charset="0"/>
                <a:cs typeface="Times New Roman" panose="02020603050405020304" pitchFamily="18" charset="0"/>
              </a:rPr>
              <a:t>Yield</a:t>
            </a:r>
            <a:r>
              <a:rPr lang="en-ID" sz="1100" b="0" i="0" kern="100" dirty="0">
                <a:latin typeface="Calibri" panose="020F0502020204030204" pitchFamily="34" charset="0"/>
                <a:ea typeface="Calibri" panose="020F0502020204030204" pitchFamily="34" charset="0"/>
                <a:cs typeface="Times New Roman" panose="02020603050405020304" pitchFamily="18" charset="0"/>
              </a:rPr>
              <a:t> obligasi USD jatuh tempo 2036 berkisar 5,6% untuk Microsoft (AAA) hingga 7,5% untuk Oracle (BBB-), atau selisih sekitar 190 bps. Pasar saham sampai pada kesimpulan serupa: sejak akhir Juni, Microsoft dan Meta (AA-) naik 38,7% dan 29,3%, sedangkan Oracle turun 2,9% dan menjadi satu-satunya hyperscaler yang melemah YTD. Dengan demikian, pasar tidak menghukum capex itu sendiri, melainkan capex yang ditopang neraca lebih lemah.</a:t>
            </a:r>
          </a:p>
        </p:txBody>
      </p:sp>
      <p:sp>
        <p:nvSpPr>
          <p:cNvPr id="5" name="TextBox 14">
            <a:extLst>
              <a:ext uri="{FF2B5EF4-FFF2-40B4-BE49-F238E27FC236}">
                <a16:creationId xmlns:a16="http://schemas.microsoft.com/office/drawing/2014/main" id="{21AB08E0-6722-8ED3-29AF-C5C3DE5AF6C1}"/>
              </a:ext>
            </a:extLst>
          </p:cNvPr>
          <p:cNvSpPr txBox="1"/>
          <p:nvPr/>
        </p:nvSpPr>
        <p:spPr>
          <a:xfrm>
            <a:off x="357470" y="1991541"/>
            <a:ext cx="6140824" cy="627736"/>
          </a:xfrm>
          <a:prstGeom prst="rect">
            <a:avLst/>
          </a:prstGeom>
          <a:solidFill>
            <a:srgbClr val="002060"/>
          </a:solidFill>
        </p:spPr>
        <p:style>
          <a:lnRef idx="0">
            <a:schemeClr val="accent5"/>
          </a:lnRef>
          <a:fillRef idx="3">
            <a:schemeClr val="accent5"/>
          </a:fillRef>
          <a:effectRef idx="3">
            <a:schemeClr val="accent5"/>
          </a:effectRef>
          <a:fontRef idx="minor">
            <a:schemeClr val="lt1"/>
          </a:fontRef>
        </p:style>
        <p:txBody>
          <a:bodyPr wrap="square" lIns="91440" tIns="45720" rIns="91440" bIns="45720" rtlCol="0" anchor="t">
            <a:spAutoFit/>
          </a:bodyPr>
          <a:lstStyle/>
          <a:p>
            <a:pPr algn="just">
              <a:lnSpc>
                <a:spcPct val="107000"/>
              </a:lnSpc>
              <a:spcAft>
                <a:spcPts val="600"/>
              </a:spcAft>
              <a:buNone/>
            </a:pPr>
            <a:r>
              <a:rPr lang="en-US" sz="1100" b="1" i="0" dirty="0">
                <a:latin typeface="Calibri" panose="020F0502020204030204" pitchFamily="34" charset="0"/>
                <a:ea typeface="MS Mincho" panose="02020609040205080304" pitchFamily="49" charset="-128"/>
                <a:cs typeface="Times New Roman" panose="02020603050405020304" pitchFamily="18" charset="0"/>
              </a:rPr>
              <a:t>Ketika biaya pendanaan jangka panjang naik, pasar mulai memilah pemain AI. Penjual AI menikmati premi terbesar, dengan SOX naik 85,5% YTD, sementara pembelanja AI menanggung capex yang terus membesar dan semakin bergantung pada pasar obligasi, tempat kekuatan neraca menentukan harga.</a:t>
            </a:r>
          </a:p>
        </p:txBody>
      </p:sp>
      <p:sp>
        <p:nvSpPr>
          <p:cNvPr id="23" name="Rectangle 22">
            <a:extLst>
              <a:ext uri="{FF2B5EF4-FFF2-40B4-BE49-F238E27FC236}">
                <a16:creationId xmlns:a16="http://schemas.microsoft.com/office/drawing/2014/main" id="{9BEC99D9-435F-04D4-A2BA-741342AE43A5}"/>
              </a:ext>
            </a:extLst>
          </p:cNvPr>
          <p:cNvSpPr/>
          <p:nvPr/>
        </p:nvSpPr>
        <p:spPr>
          <a:xfrm>
            <a:off x="3530766" y="6802959"/>
            <a:ext cx="3035807"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4: Hyperscaler USD Bonds Outstanding by Issue Year (USD Bn)</a:t>
            </a:r>
          </a:p>
        </p:txBody>
      </p:sp>
      <p:sp>
        <p:nvSpPr>
          <p:cNvPr id="19" name="Rectangle 18">
            <a:extLst>
              <a:ext uri="{FF2B5EF4-FFF2-40B4-BE49-F238E27FC236}">
                <a16:creationId xmlns:a16="http://schemas.microsoft.com/office/drawing/2014/main" id="{3695F0D5-4618-1656-ADB9-93963C68CFB1}"/>
              </a:ext>
            </a:extLst>
          </p:cNvPr>
          <p:cNvSpPr/>
          <p:nvPr/>
        </p:nvSpPr>
        <p:spPr>
          <a:xfrm>
            <a:off x="354579" y="6802959"/>
            <a:ext cx="3035808"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3: Semiconductors vs. Hyperscalers YTD Performance (%)</a:t>
            </a:r>
          </a:p>
        </p:txBody>
      </p:sp>
      <p:grpSp>
        <p:nvGrpSpPr>
          <p:cNvPr id="10" name="Group 9">
            <a:extLst>
              <a:ext uri="{FF2B5EF4-FFF2-40B4-BE49-F238E27FC236}">
                <a16:creationId xmlns:a16="http://schemas.microsoft.com/office/drawing/2014/main" id="{BD720CA6-F6F0-FEFE-71DF-C1919A6B1B44}"/>
              </a:ext>
            </a:extLst>
          </p:cNvPr>
          <p:cNvGrpSpPr/>
          <p:nvPr/>
        </p:nvGrpSpPr>
        <p:grpSpPr>
          <a:xfrm>
            <a:off x="424492" y="8779499"/>
            <a:ext cx="6197464" cy="281857"/>
            <a:chOff x="424492" y="8779499"/>
            <a:chExt cx="6197464" cy="281857"/>
          </a:xfrm>
        </p:grpSpPr>
        <p:grpSp>
          <p:nvGrpSpPr>
            <p:cNvPr id="9" name="Group 8">
              <a:extLst>
                <a:ext uri="{FF2B5EF4-FFF2-40B4-BE49-F238E27FC236}">
                  <a16:creationId xmlns:a16="http://schemas.microsoft.com/office/drawing/2014/main" id="{595591FE-7050-5062-9761-FD722F238C80}"/>
                </a:ext>
              </a:extLst>
            </p:cNvPr>
            <p:cNvGrpSpPr/>
            <p:nvPr/>
          </p:nvGrpSpPr>
          <p:grpSpPr>
            <a:xfrm>
              <a:off x="424492" y="8779499"/>
              <a:ext cx="6009013" cy="274793"/>
              <a:chOff x="424492" y="8779499"/>
              <a:chExt cx="6009013" cy="274793"/>
            </a:xfrm>
          </p:grpSpPr>
          <p:pic>
            <p:nvPicPr>
              <p:cNvPr id="2097154" name="Picture 15">
                <a:extLst>
                  <a:ext uri="{FF2B5EF4-FFF2-40B4-BE49-F238E27FC236}">
                    <a16:creationId xmlns:a16="http://schemas.microsoft.com/office/drawing/2014/main" id="{FA3E071E-8624-2961-6E00-0A1F6DC56878}"/>
                  </a:ext>
                </a:extLst>
              </p:cNvPr>
              <p:cNvPicPr>
                <a:picLocks noChangeAspect="1"/>
              </p:cNvPicPr>
              <p:nvPr/>
            </p:nvPicPr>
            <p:blipFill>
              <a:blip r:embed="rId3"/>
              <a:stretch>
                <a:fillRect/>
              </a:stretch>
            </p:blipFill>
            <p:spPr>
              <a:xfrm>
                <a:off x="424493" y="8786563"/>
                <a:ext cx="6009012" cy="267729"/>
              </a:xfrm>
              <a:prstGeom prst="rect">
                <a:avLst/>
              </a:prstGeom>
            </p:spPr>
          </p:pic>
          <p:sp>
            <p:nvSpPr>
              <p:cNvPr id="1048591" name="TextBox 17">
                <a:extLst>
                  <a:ext uri="{FF2B5EF4-FFF2-40B4-BE49-F238E27FC236}">
                    <a16:creationId xmlns:a16="http://schemas.microsoft.com/office/drawing/2014/main" id="{6EB98A60-1CE9-EA09-6826-D05E99DD6574}"/>
                  </a:ext>
                </a:extLst>
              </p:cNvPr>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dirty="0">
                    <a:solidFill>
                      <a:srgbClr val="175FAB"/>
                    </a:solidFill>
                  </a:rPr>
                  <a:t>PT</a:t>
                </a:r>
                <a:r>
                  <a:rPr lang="en-US" sz="1000" dirty="0">
                    <a:solidFill>
                      <a:srgbClr val="175FAB"/>
                    </a:solidFill>
                  </a:rPr>
                  <a:t> </a:t>
                </a:r>
                <a:r>
                  <a:rPr lang="id-ID" sz="1000" dirty="0">
                    <a:solidFill>
                      <a:srgbClr val="175FAB"/>
                    </a:solidFill>
                  </a:rPr>
                  <a:t>Bank Central Asia</a:t>
                </a:r>
                <a:r>
                  <a:rPr lang="en-US" sz="1000" dirty="0">
                    <a:solidFill>
                      <a:srgbClr val="175FAB"/>
                    </a:solidFill>
                  </a:rPr>
                  <a:t> </a:t>
                </a:r>
                <a:r>
                  <a:rPr lang="en-US" sz="1000" dirty="0" err="1">
                    <a:solidFill>
                      <a:srgbClr val="175FAB"/>
                    </a:solidFill>
                  </a:rPr>
                  <a:t>Tbk</a:t>
                </a:r>
                <a:r>
                  <a:rPr lang="en-US" sz="1000" dirty="0">
                    <a:solidFill>
                      <a:srgbClr val="175FAB"/>
                    </a:solidFill>
                  </a:rPr>
                  <a:t>.</a:t>
                </a:r>
                <a:endParaRPr lang="id-ID" sz="1000" dirty="0">
                  <a:solidFill>
                    <a:srgbClr val="175FAB"/>
                  </a:solidFill>
                </a:endParaRPr>
              </a:p>
            </p:txBody>
          </p:sp>
        </p:grpSp>
        <p:sp>
          <p:nvSpPr>
            <p:cNvPr id="8" name="TextBox 16">
              <a:extLst>
                <a:ext uri="{FF2B5EF4-FFF2-40B4-BE49-F238E27FC236}">
                  <a16:creationId xmlns:a16="http://schemas.microsoft.com/office/drawing/2014/main" id="{9B60571A-08C2-7AEE-BF8A-BB6A9CBF0DEF}"/>
                </a:ext>
              </a:extLst>
            </p:cNvPr>
            <p:cNvSpPr txBox="1"/>
            <p:nvPr/>
          </p:nvSpPr>
          <p:spPr>
            <a:xfrm>
              <a:off x="5976760" y="8789717"/>
              <a:ext cx="645196" cy="271639"/>
            </a:xfrm>
            <a:prstGeom prst="rect">
              <a:avLst/>
            </a:prstGeom>
            <a:noFill/>
          </p:spPr>
          <p:txBody>
            <a:bodyPr wrap="square" lIns="116612" tIns="58306" rIns="116612" bIns="58306" rtlCol="0">
              <a:spAutoFit/>
            </a:bodyPr>
            <a:lstStyle/>
            <a:p>
              <a:pPr algn="ctr"/>
              <a:fld id="{477D8BF5-2754-4CFE-9C4A-CCAF84A93D96}" type="slidenum">
                <a:rPr lang="id-ID" sz="1000">
                  <a:solidFill>
                    <a:schemeClr val="bg1"/>
                  </a:solidFill>
                </a:rPr>
                <a:pPr algn="ctr"/>
                <a:t>2</a:t>
              </a:fld>
              <a:endParaRPr lang="id-ID" sz="1000" dirty="0">
                <a:solidFill>
                  <a:schemeClr val="bg1"/>
                </a:solidFill>
              </a:endParaRPr>
            </a:p>
          </p:txBody>
        </p:sp>
      </p:grpSp>
      <p:sp>
        <p:nvSpPr>
          <p:cNvPr id="12" name="TextBox 11">
            <a:extLst>
              <a:ext uri="{FF2B5EF4-FFF2-40B4-BE49-F238E27FC236}">
                <a16:creationId xmlns:a16="http://schemas.microsoft.com/office/drawing/2014/main" id="{FF204A18-5FB8-26E5-1B60-AA36AB80687F}"/>
              </a:ext>
            </a:extLst>
          </p:cNvPr>
          <p:cNvSpPr txBox="1"/>
          <p:nvPr/>
        </p:nvSpPr>
        <p:spPr>
          <a:xfrm>
            <a:off x="354579" y="8611853"/>
            <a:ext cx="2826478" cy="200055"/>
          </a:xfrm>
          <a:prstGeom prst="rect">
            <a:avLst/>
          </a:prstGeom>
          <a:noFill/>
        </p:spPr>
        <p:txBody>
          <a:bodyPr wrap="square" rtlCol="0">
            <a:spAutoFit/>
          </a:bodyPr>
          <a:lstStyle/>
          <a:p>
            <a:r>
              <a:rPr lang="en-US" sz="700" i="1" dirty="0">
                <a:solidFill>
                  <a:schemeClr val="bg1">
                    <a:lumMod val="75000"/>
                  </a:schemeClr>
                </a:solidFill>
              </a:rPr>
              <a:t>Source: Bloomberg (2 October 2026)</a:t>
            </a:r>
          </a:p>
        </p:txBody>
      </p:sp>
      <p:sp>
        <p:nvSpPr>
          <p:cNvPr id="14" name="TextBox 13">
            <a:extLst>
              <a:ext uri="{FF2B5EF4-FFF2-40B4-BE49-F238E27FC236}">
                <a16:creationId xmlns:a16="http://schemas.microsoft.com/office/drawing/2014/main" id="{A78846AF-0BC5-D3C3-6771-5FE986D3FAC4}"/>
              </a:ext>
            </a:extLst>
          </p:cNvPr>
          <p:cNvSpPr txBox="1"/>
          <p:nvPr/>
        </p:nvSpPr>
        <p:spPr>
          <a:xfrm>
            <a:off x="3530766" y="8606207"/>
            <a:ext cx="2798648" cy="200055"/>
          </a:xfrm>
          <a:prstGeom prst="rect">
            <a:avLst/>
          </a:prstGeom>
          <a:noFill/>
        </p:spPr>
        <p:txBody>
          <a:bodyPr wrap="square" rtlCol="0">
            <a:spAutoFit/>
          </a:bodyPr>
          <a:lstStyle/>
          <a:p>
            <a:r>
              <a:rPr lang="en-US" sz="700" i="1" dirty="0">
                <a:solidFill>
                  <a:schemeClr val="bg1">
                    <a:lumMod val="75000"/>
                  </a:schemeClr>
                </a:solidFill>
              </a:rPr>
              <a:t>Source: Bloomberg (5 October 2026)</a:t>
            </a:r>
          </a:p>
        </p:txBody>
      </p:sp>
      <p:graphicFrame>
        <p:nvGraphicFramePr>
          <p:cNvPr id="2097158" name="Exhibit 3 Chart"/>
          <p:cNvGraphicFramePr>
            <a:graphicFrameLocks noGrp="1"/>
          </p:cNvGraphicFramePr>
          <p:nvPr/>
        </p:nvGraphicFramePr>
        <p:xfrm>
          <a:off x="354579" y="7167732"/>
          <a:ext cx="3035808" cy="1495904"/>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097159" name="Exhibit 4 Chart"/>
          <p:cNvGraphicFramePr>
            <a:graphicFrameLocks noGrp="1"/>
          </p:cNvGraphicFramePr>
          <p:nvPr/>
        </p:nvGraphicFramePr>
        <p:xfrm>
          <a:off x="3530765" y="7167732"/>
          <a:ext cx="3035808" cy="1495904"/>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32276553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3" name="Date Tab"/>
          <p:cNvSpPr/>
          <p:nvPr/>
        </p:nvSpPr>
        <p:spPr>
          <a:xfrm>
            <a:off x="429768" y="1373499"/>
            <a:ext cx="1295400" cy="201168"/>
          </a:xfrm>
          <a:prstGeom prst="rect">
            <a:avLst/>
          </a:prstGeom>
          <a:solidFill>
            <a:srgbClr val="0051A2"/>
          </a:solidFill>
          <a:ln>
            <a:noFill/>
          </a:ln>
        </p:spPr>
        <p:txBody>
          <a:bodyPr wrap="none" lIns="0" tIns="0" rIns="0" bIns="0" rtlCol="0" anchor="ctr"/>
          <a:lstStyle/>
          <a:p>
            <a:pPr algn="ctr"/>
            <a:r>
              <a:rPr lang="en-US" sz="1000" b="1" dirty="0">
                <a:solidFill>
                  <a:schemeClr val="bg1"/>
                </a:solidFill>
                <a:latin typeface="+mn-lt"/>
              </a:rPr>
              <a:t>5 October 2026</a:t>
            </a:r>
          </a:p>
        </p:txBody>
      </p:sp>
      <p:sp>
        <p:nvSpPr>
          <p:cNvPr id="1048592" name="TextBox 16"/>
          <p:cNvSpPr txBox="1"/>
          <p:nvPr/>
        </p:nvSpPr>
        <p:spPr>
          <a:xfrm>
            <a:off x="5791200" y="8779499"/>
            <a:ext cx="645196" cy="271639"/>
          </a:xfrm>
          <a:prstGeom prst="rect">
            <a:avLst/>
          </a:prstGeom>
          <a:noFill/>
        </p:spPr>
        <p:txBody>
          <a:bodyPr wrap="square" lIns="116612" tIns="58306" rIns="116612" bIns="58306" rtlCol="0">
            <a:spAutoFit/>
          </a:bodyPr>
          <a:lstStyle/>
          <a:p>
            <a:pPr algn="r"/>
            <a:fld id="{477D8BF5-2754-4CFE-9C4A-CCAF84A93D96}" type="slidenum">
              <a:rPr lang="id-ID" sz="1000">
                <a:solidFill>
                  <a:schemeClr val="bg1"/>
                </a:solidFill>
              </a:rPr>
              <a:pPr algn="r"/>
              <a:t>3</a:t>
            </a:fld>
            <a:endParaRPr lang="id-ID" sz="1000" dirty="0">
              <a:solidFill>
                <a:schemeClr val="bg1"/>
              </a:solidFill>
            </a:endParaRPr>
          </a:p>
        </p:txBody>
      </p:sp>
      <p:sp>
        <p:nvSpPr>
          <p:cNvPr id="1048593" name="AutoShape 2" descr="ready"/>
          <p:cNvSpPr>
            <a:spLocks noChangeAspect="1" noChangeArrowheads="1"/>
          </p:cNvSpPr>
          <p:nvPr/>
        </p:nvSpPr>
        <p:spPr bwMode="auto">
          <a:xfrm>
            <a:off x="8594725"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4" name="AutoShape 3" descr="viewed"/>
          <p:cNvSpPr>
            <a:spLocks noChangeAspect="1" noChangeArrowheads="1"/>
          </p:cNvSpPr>
          <p:nvPr/>
        </p:nvSpPr>
        <p:spPr bwMode="auto">
          <a:xfrm>
            <a:off x="8704263" y="449263"/>
            <a:ext cx="304800" cy="304800"/>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8595" name="TextBox 14"/>
          <p:cNvSpPr txBox="1"/>
          <p:nvPr/>
        </p:nvSpPr>
        <p:spPr>
          <a:xfrm>
            <a:off x="358588" y="1991541"/>
            <a:ext cx="6140824" cy="664926"/>
          </a:xfrm>
          <a:prstGeom prst="rect">
            <a:avLst/>
          </a:prstGeom>
          <a:solidFill>
            <a:srgbClr val="002060"/>
          </a:solidFill>
        </p:spPr>
        <p:style>
          <a:lnRef idx="0">
            <a:schemeClr val="accent5"/>
          </a:lnRef>
          <a:fillRef idx="3">
            <a:schemeClr val="accent5"/>
          </a:fillRef>
          <a:effectRef idx="3">
            <a:schemeClr val="accent5"/>
          </a:effectRef>
          <a:fontRef idx="minor">
            <a:schemeClr val="lt1"/>
          </a:fontRef>
        </p:style>
        <p:txBody>
          <a:bodyPr wrap="square" lIns="91440" tIns="45720" rIns="91440" bIns="45720" rtlCol="0" anchor="t">
            <a:spAutoFit/>
          </a:bodyPr>
          <a:lstStyle/>
          <a:p>
            <a:pPr algn="just">
              <a:lnSpc>
                <a:spcPct val="115000"/>
              </a:lnSpc>
              <a:spcAft>
                <a:spcPts val="600"/>
              </a:spcAft>
              <a:buNone/>
            </a:pPr>
            <a:r>
              <a:rPr lang="en-US" sz="1100" b="1" i="0" dirty="0">
                <a:effectLst/>
                <a:latin typeface="Calibri" panose="020F0502020204030204" pitchFamily="34" charset="0"/>
                <a:ea typeface="MS Mincho" panose="02020609040205080304" pitchFamily="49" charset="-128"/>
                <a:cs typeface="Times New Roman" panose="02020603050405020304" pitchFamily="18" charset="0"/>
              </a:rPr>
              <a:t>Naiknya harga modal global ikut terasa di Indonesia. Rupiah lebih tenang sepanjang September, namun ketenangan itu datang bersama cadangan devisa yang hampir USD 10 miliar lebih rendah dari akhir 2025, premi </a:t>
            </a:r>
            <a:r>
              <a:rPr lang="en-US" sz="1100" b="1" i="1" dirty="0">
                <a:effectLst/>
                <a:latin typeface="Calibri" panose="020F0502020204030204" pitchFamily="34" charset="0"/>
                <a:ea typeface="MS Mincho" panose="02020609040205080304" pitchFamily="49" charset="-128"/>
                <a:cs typeface="Times New Roman" panose="02020603050405020304" pitchFamily="18" charset="0"/>
              </a:rPr>
              <a:t>yield</a:t>
            </a:r>
            <a:r>
              <a:rPr lang="en-US" sz="1100" b="1" i="0" dirty="0">
                <a:effectLst/>
                <a:latin typeface="Calibri" panose="020F0502020204030204" pitchFamily="34" charset="0"/>
                <a:ea typeface="MS Mincho" panose="02020609040205080304" pitchFamily="49" charset="-128"/>
                <a:cs typeface="Times New Roman" panose="02020603050405020304" pitchFamily="18" charset="0"/>
              </a:rPr>
              <a:t> SBN yang menipis, dan surplus dagang kumulatif yang mengecil.</a:t>
            </a:r>
            <a:endParaRPr lang="en-ID" sz="1100" dirty="0">
              <a:effectLst/>
              <a:latin typeface="Calibri" panose="020F0502020204030204" pitchFamily="34" charset="0"/>
              <a:ea typeface="MS Mincho" panose="02020609040205080304" pitchFamily="49" charset="-128"/>
              <a:cs typeface="Times New Roman" panose="02020603050405020304" pitchFamily="18" charset="0"/>
            </a:endParaRPr>
          </a:p>
        </p:txBody>
      </p:sp>
      <p:sp>
        <p:nvSpPr>
          <p:cNvPr id="1048596" name="TextBox 18"/>
          <p:cNvSpPr txBox="1"/>
          <p:nvPr/>
        </p:nvSpPr>
        <p:spPr>
          <a:xfrm>
            <a:off x="228600" y="1585892"/>
            <a:ext cx="6477000" cy="394750"/>
          </a:xfrm>
          <a:prstGeom prst="rect">
            <a:avLst/>
          </a:prstGeom>
          <a:noFill/>
        </p:spPr>
        <p:txBody>
          <a:bodyPr wrap="square" lIns="116612" tIns="58306" rIns="116612" bIns="58306"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166125"/>
            <a:r>
              <a:rPr lang="en-US" b="1" i="1" dirty="0"/>
              <a:t>Indonesia: The Cost of Calm</a:t>
            </a:r>
          </a:p>
        </p:txBody>
      </p:sp>
      <p:sp>
        <p:nvSpPr>
          <p:cNvPr id="1048600" name="Rectangle 1" hidden="1"/>
          <p:cNvSpPr/>
          <p:nvPr/>
        </p:nvSpPr>
        <p:spPr>
          <a:xfrm>
            <a:off x="3200400" y="6893909"/>
            <a:ext cx="190816" cy="127358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endParaRPr lang="en-US" sz="900" b="1" i="1">
              <a:solidFill>
                <a:schemeClr val="tx1"/>
              </a:solidFill>
            </a:endParaRPr>
          </a:p>
        </p:txBody>
      </p:sp>
      <p:sp>
        <p:nvSpPr>
          <p:cNvPr id="3" name="Rectangle 1"/>
          <p:cNvSpPr>
            <a:spLocks noChangeArrowheads="1"/>
          </p:cNvSpPr>
          <p:nvPr/>
        </p:nvSpPr>
        <p:spPr bwMode="auto">
          <a:xfrm>
            <a:off x="0" y="110933"/>
            <a:ext cx="65" cy="235334"/>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20631" rIns="0" bIns="-20631"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pSp>
        <p:nvGrpSpPr>
          <p:cNvPr id="11" name="Group 10">
            <a:extLst>
              <a:ext uri="{FF2B5EF4-FFF2-40B4-BE49-F238E27FC236}">
                <a16:creationId xmlns:a16="http://schemas.microsoft.com/office/drawing/2014/main" id="{38A896CA-A41A-EB40-87C3-52549A35F369}"/>
              </a:ext>
            </a:extLst>
          </p:cNvPr>
          <p:cNvGrpSpPr/>
          <p:nvPr/>
        </p:nvGrpSpPr>
        <p:grpSpPr>
          <a:xfrm>
            <a:off x="424492" y="8779499"/>
            <a:ext cx="6197464" cy="281857"/>
            <a:chOff x="424492" y="8779499"/>
            <a:chExt cx="6197464" cy="281857"/>
          </a:xfrm>
        </p:grpSpPr>
        <p:grpSp>
          <p:nvGrpSpPr>
            <p:cNvPr id="12" name="Group 11">
              <a:extLst>
                <a:ext uri="{FF2B5EF4-FFF2-40B4-BE49-F238E27FC236}">
                  <a16:creationId xmlns:a16="http://schemas.microsoft.com/office/drawing/2014/main" id="{36B7E4E1-8946-652E-5D8E-C89C8C9D8722}"/>
                </a:ext>
              </a:extLst>
            </p:cNvPr>
            <p:cNvGrpSpPr/>
            <p:nvPr/>
          </p:nvGrpSpPr>
          <p:grpSpPr>
            <a:xfrm>
              <a:off x="424492" y="8779499"/>
              <a:ext cx="6009013" cy="274793"/>
              <a:chOff x="424492" y="8779499"/>
              <a:chExt cx="6009013" cy="274793"/>
            </a:xfrm>
          </p:grpSpPr>
          <p:pic>
            <p:nvPicPr>
              <p:cNvPr id="14" name="Picture 15">
                <a:extLst>
                  <a:ext uri="{FF2B5EF4-FFF2-40B4-BE49-F238E27FC236}">
                    <a16:creationId xmlns:a16="http://schemas.microsoft.com/office/drawing/2014/main" id="{60793C5F-EED1-6682-2354-7CF814B4F19A}"/>
                  </a:ext>
                </a:extLst>
              </p:cNvPr>
              <p:cNvPicPr>
                <a:picLocks noChangeAspect="1"/>
              </p:cNvPicPr>
              <p:nvPr/>
            </p:nvPicPr>
            <p:blipFill>
              <a:blip r:embed="rId3"/>
              <a:stretch>
                <a:fillRect/>
              </a:stretch>
            </p:blipFill>
            <p:spPr>
              <a:xfrm>
                <a:off x="424493" y="8786563"/>
                <a:ext cx="6009012" cy="267729"/>
              </a:xfrm>
              <a:prstGeom prst="rect">
                <a:avLst/>
              </a:prstGeom>
            </p:spPr>
          </p:pic>
          <p:sp>
            <p:nvSpPr>
              <p:cNvPr id="15" name="TextBox 17">
                <a:extLst>
                  <a:ext uri="{FF2B5EF4-FFF2-40B4-BE49-F238E27FC236}">
                    <a16:creationId xmlns:a16="http://schemas.microsoft.com/office/drawing/2014/main" id="{A336713E-3B8C-EBCC-87EB-7D3CA5145D75}"/>
                  </a:ext>
                </a:extLst>
              </p:cNvPr>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dirty="0">
                    <a:solidFill>
                      <a:srgbClr val="175FAB"/>
                    </a:solidFill>
                  </a:rPr>
                  <a:t>PT</a:t>
                </a:r>
                <a:r>
                  <a:rPr lang="en-US" sz="1000" dirty="0">
                    <a:solidFill>
                      <a:srgbClr val="175FAB"/>
                    </a:solidFill>
                  </a:rPr>
                  <a:t> </a:t>
                </a:r>
                <a:r>
                  <a:rPr lang="id-ID" sz="1000" dirty="0">
                    <a:solidFill>
                      <a:srgbClr val="175FAB"/>
                    </a:solidFill>
                  </a:rPr>
                  <a:t>Bank Central Asia</a:t>
                </a:r>
                <a:r>
                  <a:rPr lang="en-US" sz="1000" dirty="0">
                    <a:solidFill>
                      <a:srgbClr val="175FAB"/>
                    </a:solidFill>
                  </a:rPr>
                  <a:t> </a:t>
                </a:r>
                <a:r>
                  <a:rPr lang="en-US" sz="1000" dirty="0" err="1">
                    <a:solidFill>
                      <a:srgbClr val="175FAB"/>
                    </a:solidFill>
                  </a:rPr>
                  <a:t>Tbk</a:t>
                </a:r>
                <a:r>
                  <a:rPr lang="en-US" sz="1000" dirty="0">
                    <a:solidFill>
                      <a:srgbClr val="175FAB"/>
                    </a:solidFill>
                  </a:rPr>
                  <a:t>.</a:t>
                </a:r>
                <a:endParaRPr lang="id-ID" sz="1000" dirty="0">
                  <a:solidFill>
                    <a:srgbClr val="175FAB"/>
                  </a:solidFill>
                </a:endParaRPr>
              </a:p>
            </p:txBody>
          </p:sp>
        </p:grpSp>
        <p:sp>
          <p:nvSpPr>
            <p:cNvPr id="13" name="TextBox 16">
              <a:extLst>
                <a:ext uri="{FF2B5EF4-FFF2-40B4-BE49-F238E27FC236}">
                  <a16:creationId xmlns:a16="http://schemas.microsoft.com/office/drawing/2014/main" id="{E75FC1CF-4196-AE66-1211-62E5787FEB87}"/>
                </a:ext>
              </a:extLst>
            </p:cNvPr>
            <p:cNvSpPr txBox="1"/>
            <p:nvPr/>
          </p:nvSpPr>
          <p:spPr>
            <a:xfrm>
              <a:off x="5976760" y="8789717"/>
              <a:ext cx="645196" cy="271639"/>
            </a:xfrm>
            <a:prstGeom prst="rect">
              <a:avLst/>
            </a:prstGeom>
            <a:noFill/>
          </p:spPr>
          <p:txBody>
            <a:bodyPr wrap="square" lIns="116612" tIns="58306" rIns="116612" bIns="58306" rtlCol="0">
              <a:spAutoFit/>
            </a:bodyPr>
            <a:lstStyle/>
            <a:p>
              <a:pPr algn="ctr"/>
              <a:fld id="{477D8BF5-2754-4CFE-9C4A-CCAF84A93D96}" type="slidenum">
                <a:rPr lang="id-ID" sz="1000">
                  <a:solidFill>
                    <a:schemeClr val="bg1"/>
                  </a:solidFill>
                </a:rPr>
                <a:pPr algn="ctr"/>
                <a:t>3</a:t>
              </a:fld>
              <a:endParaRPr lang="id-ID" sz="1000" dirty="0">
                <a:solidFill>
                  <a:schemeClr val="bg1"/>
                </a:solidFill>
              </a:endParaRPr>
            </a:p>
          </p:txBody>
        </p:sp>
      </p:grpSp>
      <p:sp>
        <p:nvSpPr>
          <p:cNvPr id="19" name="TextBox 18">
            <a:extLst>
              <a:ext uri="{FF2B5EF4-FFF2-40B4-BE49-F238E27FC236}">
                <a16:creationId xmlns:a16="http://schemas.microsoft.com/office/drawing/2014/main" id="{0CE97E63-E73E-4F26-51DE-7F7C13A3160D}"/>
              </a:ext>
            </a:extLst>
          </p:cNvPr>
          <p:cNvSpPr txBox="1"/>
          <p:nvPr/>
        </p:nvSpPr>
        <p:spPr>
          <a:xfrm>
            <a:off x="354579" y="8611853"/>
            <a:ext cx="2826478" cy="200055"/>
          </a:xfrm>
          <a:prstGeom prst="rect">
            <a:avLst/>
          </a:prstGeom>
          <a:noFill/>
        </p:spPr>
        <p:txBody>
          <a:bodyPr wrap="square" rtlCol="0">
            <a:spAutoFit/>
          </a:bodyPr>
          <a:lstStyle/>
          <a:p>
            <a:r>
              <a:rPr lang="en-US" sz="700" i="1" dirty="0">
                <a:solidFill>
                  <a:schemeClr val="bg1">
                    <a:lumMod val="75000"/>
                  </a:schemeClr>
                </a:solidFill>
              </a:rPr>
              <a:t>Source: Bloomberg (2 October 2026)</a:t>
            </a:r>
          </a:p>
        </p:txBody>
      </p:sp>
      <p:sp>
        <p:nvSpPr>
          <p:cNvPr id="21" name="TextBox 20">
            <a:extLst>
              <a:ext uri="{FF2B5EF4-FFF2-40B4-BE49-F238E27FC236}">
                <a16:creationId xmlns:a16="http://schemas.microsoft.com/office/drawing/2014/main" id="{27241F1B-3987-24F5-CBF1-401157C7B8E9}"/>
              </a:ext>
            </a:extLst>
          </p:cNvPr>
          <p:cNvSpPr txBox="1"/>
          <p:nvPr/>
        </p:nvSpPr>
        <p:spPr>
          <a:xfrm>
            <a:off x="3530766" y="8606207"/>
            <a:ext cx="2798648" cy="200055"/>
          </a:xfrm>
          <a:prstGeom prst="rect">
            <a:avLst/>
          </a:prstGeom>
          <a:noFill/>
        </p:spPr>
        <p:txBody>
          <a:bodyPr wrap="square" rtlCol="0">
            <a:spAutoFit/>
          </a:bodyPr>
          <a:lstStyle/>
          <a:p>
            <a:r>
              <a:rPr lang="en-US" sz="700" i="1" dirty="0">
                <a:solidFill>
                  <a:schemeClr val="bg1">
                    <a:lumMod val="75000"/>
                  </a:schemeClr>
                </a:solidFill>
              </a:rPr>
              <a:t>Source: Bloomberg (5 October 2026)</a:t>
            </a:r>
          </a:p>
        </p:txBody>
      </p:sp>
      <p:sp>
        <p:nvSpPr>
          <p:cNvPr id="4" name="Rectangle 3">
            <a:extLst>
              <a:ext uri="{FF2B5EF4-FFF2-40B4-BE49-F238E27FC236}">
                <a16:creationId xmlns:a16="http://schemas.microsoft.com/office/drawing/2014/main" id="{24BA601E-CB3D-A1C3-5BED-3DF78B2CC1CC}"/>
              </a:ext>
            </a:extLst>
          </p:cNvPr>
          <p:cNvSpPr/>
          <p:nvPr/>
        </p:nvSpPr>
        <p:spPr>
          <a:xfrm>
            <a:off x="354579" y="6802959"/>
            <a:ext cx="3035808"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5: Indonesia FX Reserves (USD Bn) vs. USD/IDR</a:t>
            </a:r>
          </a:p>
        </p:txBody>
      </p:sp>
      <p:sp>
        <p:nvSpPr>
          <p:cNvPr id="6" name="Rectangle 5">
            <a:extLst>
              <a:ext uri="{FF2B5EF4-FFF2-40B4-BE49-F238E27FC236}">
                <a16:creationId xmlns:a16="http://schemas.microsoft.com/office/drawing/2014/main" id="{174864D4-F972-8D31-BF83-DD3AB7C2372F}"/>
              </a:ext>
            </a:extLst>
          </p:cNvPr>
          <p:cNvSpPr/>
          <p:nvPr/>
        </p:nvSpPr>
        <p:spPr>
          <a:xfrm>
            <a:off x="3530766" y="6802959"/>
            <a:ext cx="3035807" cy="370288"/>
          </a:xfrm>
          <a:prstGeom prst="rect">
            <a:avLst/>
          </a:prstGeom>
          <a:solidFill>
            <a:srgbClr val="0051A2"/>
          </a:solidFill>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just"/>
            <a:r>
              <a:rPr lang="en-US" sz="1100" b="1" i="1" dirty="0"/>
              <a:t>Exhibit 6: Indonesia Trade Balance (USD Bn)</a:t>
            </a:r>
          </a:p>
        </p:txBody>
      </p:sp>
      <p:sp>
        <p:nvSpPr>
          <p:cNvPr id="22" name="Kotak Teks 18">
            <a:extLst>
              <a:ext uri="{FF2B5EF4-FFF2-40B4-BE49-F238E27FC236}">
                <a16:creationId xmlns:a16="http://schemas.microsoft.com/office/drawing/2014/main" id="{52C5CF14-D0F4-D748-D504-AD1E8F9E557D}"/>
              </a:ext>
            </a:extLst>
          </p:cNvPr>
          <p:cNvSpPr txBox="1"/>
          <p:nvPr/>
        </p:nvSpPr>
        <p:spPr>
          <a:xfrm>
            <a:off x="268267" y="2611351"/>
            <a:ext cx="6321467" cy="4182464"/>
          </a:xfrm>
          <a:prstGeom prst="rect">
            <a:avLst/>
          </a:prstGeom>
          <a:noFill/>
        </p:spPr>
        <p:txBody>
          <a:bodyPr wrap="square" lIns="91440" tIns="45720" rIns="91440" bIns="45720" anchor="t">
            <a:spAutoFit/>
          </a:bodyPr>
          <a:lstStyle/>
          <a:p>
            <a:pPr lvl="0" algn="just">
              <a:spcBef>
                <a:spcPts val="300"/>
              </a:spcBef>
              <a:buClr>
                <a:srgbClr val="000000"/>
              </a:buClr>
            </a:pPr>
            <a:r>
              <a:rPr lang="en-US" sz="1400" b="1" i="1" kern="0" dirty="0">
                <a:solidFill>
                  <a:srgbClr val="2F5496"/>
                </a:solidFill>
                <a:ea typeface="Calibri"/>
                <a:cs typeface="Calibri"/>
                <a:sym typeface="Calibri"/>
              </a:rPr>
              <a:t>Key Highlights:</a:t>
            </a:r>
          </a:p>
          <a:p>
            <a:pPr marL="228600" indent="-228600" algn="just">
              <a:lnSpc>
                <a:spcPct val="100000"/>
              </a:lnSpc>
              <a:spcBef>
                <a:spcPts val="0"/>
              </a:spcBef>
              <a:spcAft>
                <a:spcPts val="400"/>
              </a:spcAft>
              <a:buFont typeface="+mj-lt"/>
              <a:buAutoNum type="arabicPeriod"/>
            </a:pPr>
            <a:r>
              <a:rPr lang="en-US" sz="1100" b="1" i="1" dirty="0">
                <a:ea typeface="MS Mincho" panose="02020609040205080304" pitchFamily="49" charset="-128"/>
                <a:cs typeface="Times New Roman" panose="02020603050405020304" pitchFamily="18" charset="0"/>
              </a:rPr>
              <a:t>Calm, Not Cheap.</a:t>
            </a:r>
            <a:r>
              <a:rPr lang="en-US" sz="1100" b="0" i="0" dirty="0">
                <a:ea typeface="MS Mincho" panose="02020609040205080304" pitchFamily="49" charset="-128"/>
                <a:cs typeface="Times New Roman" panose="02020603050405020304" pitchFamily="18" charset="0"/>
              </a:rPr>
              <a:t> Di permukaan, rupiah tampak stabil: USD/IDR bergerak di kisaran 17.513–17.975 sepanjang September dan ditutup di 17.875 per 2 Oktober, di bawah puncak 18.178 pada Juni. Namun, di balik ketenangan itu, cadangan devisa per Agustus berada di USD 146,51 miliar, turun USD 9,96 miliar dari akhir 2025 setelah sempat menyentuh USD 144,90 miliar pada Mei, sementara rupiah masih melemah 7,1% YTD </a:t>
            </a:r>
            <a:r>
              <a:rPr lang="en-US" sz="1100" b="1" i="0" dirty="0">
                <a:ea typeface="MS Mincho" panose="02020609040205080304" pitchFamily="49" charset="-128"/>
                <a:cs typeface="Times New Roman" panose="02020603050405020304" pitchFamily="18" charset="0"/>
              </a:rPr>
              <a:t>(Exhibit 5).</a:t>
            </a:r>
            <a:r>
              <a:rPr lang="en-US" sz="1100" b="0" i="0" dirty="0">
                <a:ea typeface="MS Mincho" panose="02020609040205080304" pitchFamily="49" charset="-128"/>
                <a:cs typeface="Times New Roman" panose="02020603050405020304" pitchFamily="18" charset="0"/>
              </a:rPr>
              <a:t> Stabilitas ini dicapai dengan cadangan yang lebih tipis, sehingga ruang meredam guncangan berikutnya lebih terbatas.</a:t>
            </a:r>
          </a:p>
          <a:p>
            <a:pPr marL="228600" indent="-228600" algn="just">
              <a:lnSpc>
                <a:spcPct val="100000"/>
              </a:lnSpc>
              <a:spcBef>
                <a:spcPts val="0"/>
              </a:spcBef>
              <a:spcAft>
                <a:spcPts val="400"/>
              </a:spcAft>
              <a:buFont typeface="+mj-lt"/>
              <a:buAutoNum type="arabicPeriod"/>
            </a:pPr>
            <a:r>
              <a:rPr lang="en-US" sz="1100" b="1" i="1" dirty="0">
                <a:ea typeface="MS Mincho" panose="02020609040205080304" pitchFamily="49" charset="-128"/>
                <a:cs typeface="Times New Roman" panose="02020603050405020304" pitchFamily="18" charset="0"/>
              </a:rPr>
              <a:t>One Good Month.</a:t>
            </a:r>
            <a:r>
              <a:rPr lang="en-US" sz="1100" b="0" i="0" dirty="0">
                <a:ea typeface="MS Mincho" panose="02020609040205080304" pitchFamily="49" charset="-128"/>
                <a:cs typeface="Times New Roman" panose="02020603050405020304" pitchFamily="18" charset="0"/>
              </a:rPr>
              <a:t> Kabar baik datang dari neraca dagang. </a:t>
            </a:r>
            <a:r>
              <a:rPr lang="en-US" sz="1100" b="0" i="1" dirty="0">
                <a:ea typeface="MS Mincho" panose="02020609040205080304" pitchFamily="49" charset="-128"/>
                <a:cs typeface="Times New Roman" panose="02020603050405020304" pitchFamily="18" charset="0"/>
              </a:rPr>
              <a:t>Trade surplus</a:t>
            </a:r>
            <a:r>
              <a:rPr lang="en-US" sz="1100" b="0" i="0" dirty="0">
                <a:ea typeface="MS Mincho" panose="02020609040205080304" pitchFamily="49" charset="-128"/>
                <a:cs typeface="Times New Roman" panose="02020603050405020304" pitchFamily="18" charset="0"/>
              </a:rPr>
              <a:t> melebar ke USD 3,55 miliar pada Agustus 2026 dari USD 0,12 miliar pada Juli, tertinggi sejak September 2025 setelah defisit pada Mei hingga Juni </a:t>
            </a:r>
            <a:r>
              <a:rPr lang="en-US" sz="1100" b="1" i="0" dirty="0">
                <a:ea typeface="MS Mincho" panose="02020609040205080304" pitchFamily="49" charset="-128"/>
                <a:cs typeface="Times New Roman" panose="02020603050405020304" pitchFamily="18" charset="0"/>
              </a:rPr>
              <a:t>(Exhibit 6).</a:t>
            </a:r>
            <a:r>
              <a:rPr lang="en-US" sz="1100" b="0" i="0" dirty="0">
                <a:ea typeface="MS Mincho" panose="02020609040205080304" pitchFamily="49" charset="-128"/>
                <a:cs typeface="Times New Roman" panose="02020603050405020304" pitchFamily="18" charset="0"/>
              </a:rPr>
              <a:t> Namun, satu bulan belum mengubah gambaran besar: surplus 12 bulan terakhir hanya USD 19,05 miliar, kurang dari separuh 12 bulan sebelumnya (USD 41,67 miliar), dan surplus kumulatif Januari hingga Agustus 2026 turun 75,3% ke USD 7,25 miliar. Surplus ini membantu rupiah dalam jangka pendek, tetapi belum mencerminkan perbaikan struktural </a:t>
            </a:r>
            <a:r>
              <a:rPr lang="en-US" sz="1100" b="0" i="1" dirty="0">
                <a:ea typeface="MS Mincho" panose="02020609040205080304" pitchFamily="49" charset="-128"/>
                <a:cs typeface="Times New Roman" panose="02020603050405020304" pitchFamily="18" charset="0"/>
              </a:rPr>
              <a:t>current account</a:t>
            </a:r>
            <a:r>
              <a:rPr lang="en-US" sz="1100" b="0" i="0" dirty="0">
                <a:ea typeface="MS Mincho" panose="02020609040205080304" pitchFamily="49" charset="-128"/>
                <a:cs typeface="Times New Roman" panose="02020603050405020304" pitchFamily="18" charset="0"/>
              </a:rPr>
              <a:t>.</a:t>
            </a:r>
          </a:p>
          <a:p>
            <a:pPr marL="228600" indent="-228600" algn="just">
              <a:lnSpc>
                <a:spcPct val="100000"/>
              </a:lnSpc>
              <a:spcBef>
                <a:spcPts val="0"/>
              </a:spcBef>
              <a:spcAft>
                <a:spcPts val="400"/>
              </a:spcAft>
              <a:buFont typeface="+mj-lt"/>
              <a:buAutoNum type="arabicPeriod"/>
            </a:pPr>
            <a:r>
              <a:rPr lang="en-US" sz="1100" b="1" i="1" dirty="0">
                <a:ea typeface="MS Mincho" panose="02020609040205080304" pitchFamily="49" charset="-128"/>
                <a:cs typeface="Times New Roman" panose="02020603050405020304" pitchFamily="18" charset="0"/>
              </a:rPr>
              <a:t>Less Pay, Less Room.</a:t>
            </a:r>
            <a:r>
              <a:rPr lang="en-US" sz="1100" b="0" i="0" dirty="0">
                <a:ea typeface="MS Mincho" panose="02020609040205080304" pitchFamily="49" charset="-128"/>
                <a:cs typeface="Times New Roman" panose="02020603050405020304" pitchFamily="18" charset="0"/>
              </a:rPr>
              <a:t> Bagi investor asing, imbal hasil SBN juga semakin kurang menarik. Selisih </a:t>
            </a:r>
            <a:r>
              <a:rPr lang="en-US" sz="1100" b="0" i="1" dirty="0">
                <a:ea typeface="MS Mincho" panose="02020609040205080304" pitchFamily="49" charset="-128"/>
                <a:cs typeface="Times New Roman" panose="02020603050405020304" pitchFamily="18" charset="0"/>
              </a:rPr>
              <a:t>yield</a:t>
            </a:r>
            <a:r>
              <a:rPr lang="en-US" sz="1100" b="0" i="0" dirty="0">
                <a:ea typeface="MS Mincho" panose="02020609040205080304" pitchFamily="49" charset="-128"/>
                <a:cs typeface="Times New Roman" panose="02020603050405020304" pitchFamily="18" charset="0"/>
              </a:rPr>
              <a:t> FR 10YR terhadap UST 10YR menyempit dari 298 bps pada 11 Juni menjadi 190 bps per 2 Oktober, karena </a:t>
            </a:r>
            <a:r>
              <a:rPr lang="en-US" sz="1100" b="0" i="1" dirty="0">
                <a:ea typeface="MS Mincho" panose="02020609040205080304" pitchFamily="49" charset="-128"/>
                <a:cs typeface="Times New Roman" panose="02020603050405020304" pitchFamily="18" charset="0"/>
              </a:rPr>
              <a:t>yield</a:t>
            </a:r>
            <a:r>
              <a:rPr lang="en-US" sz="1100" b="0" i="0" dirty="0">
                <a:ea typeface="MS Mincho" panose="02020609040205080304" pitchFamily="49" charset="-128"/>
                <a:cs typeface="Times New Roman" panose="02020603050405020304" pitchFamily="18" charset="0"/>
              </a:rPr>
              <a:t> UST naik 81 bps sementara FR 10YR turun 27,9 bps, padahal risiko kurs belum hilang. Di saat yang sama, inflasi September naik ke 3,28% YoY dari 2,88% pada Juli, mendekati batas atas target BI 3,5%, sehingga </a:t>
            </a:r>
            <a:r>
              <a:rPr lang="en-US" sz="1100" b="0" i="1" dirty="0">
                <a:ea typeface="MS Mincho" panose="02020609040205080304" pitchFamily="49" charset="-128"/>
                <a:cs typeface="Times New Roman" panose="02020603050405020304" pitchFamily="18" charset="0"/>
              </a:rPr>
              <a:t>real yield</a:t>
            </a:r>
            <a:r>
              <a:rPr lang="en-US" sz="1100" b="0" i="0" dirty="0">
                <a:ea typeface="MS Mincho" panose="02020609040205080304" pitchFamily="49" charset="-128"/>
                <a:cs typeface="Times New Roman" panose="02020603050405020304" pitchFamily="18" charset="0"/>
              </a:rPr>
              <a:t> FR 10YR tinggal sekitar 3,9%. Dengan kombinasi ini, menjaga stabilitas rupiah kemungkinan tetap menjadi prioritas BI dibanding melonggarkan kebijakan, dan selama </a:t>
            </a:r>
            <a:r>
              <a:rPr lang="en-US" sz="1100" b="0" i="1" dirty="0">
                <a:ea typeface="MS Mincho" panose="02020609040205080304" pitchFamily="49" charset="-128"/>
                <a:cs typeface="Times New Roman" panose="02020603050405020304" pitchFamily="18" charset="0"/>
              </a:rPr>
              <a:t>term premium</a:t>
            </a:r>
            <a:r>
              <a:rPr lang="en-US" sz="1100" b="0" i="0" dirty="0">
                <a:ea typeface="MS Mincho" panose="02020609040205080304" pitchFamily="49" charset="-128"/>
                <a:cs typeface="Times New Roman" panose="02020603050405020304" pitchFamily="18" charset="0"/>
              </a:rPr>
              <a:t> UST masih naik, Indonesia perlu menawarkan kompensasi lebih tinggi untuk menarik modal asing.</a:t>
            </a:r>
          </a:p>
        </p:txBody>
      </p:sp>
      <p:graphicFrame>
        <p:nvGraphicFramePr>
          <p:cNvPr id="1048604" name="Exhibit 5 Chart"/>
          <p:cNvGraphicFramePr>
            <a:graphicFrameLocks noGrp="1"/>
          </p:cNvGraphicFramePr>
          <p:nvPr/>
        </p:nvGraphicFramePr>
        <p:xfrm>
          <a:off x="354579" y="7167732"/>
          <a:ext cx="3035808" cy="1495904"/>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048605" name="Exhibit 6 Chart"/>
          <p:cNvGraphicFramePr>
            <a:graphicFrameLocks noGrp="1"/>
          </p:cNvGraphicFramePr>
          <p:nvPr/>
        </p:nvGraphicFramePr>
        <p:xfrm>
          <a:off x="3530765" y="7167732"/>
          <a:ext cx="3035808" cy="1495904"/>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23776426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p:cNvPicPr>
            <a:picLocks noChangeAspect="1"/>
          </p:cNvPicPr>
          <p:nvPr/>
        </p:nvPicPr>
        <p:blipFill>
          <a:blip r:embed="rId3"/>
          <a:stretch>
            <a:fillRect/>
          </a:stretch>
        </p:blipFill>
        <p:spPr>
          <a:xfrm>
            <a:off x="424493" y="8786563"/>
            <a:ext cx="6009012" cy="267729"/>
          </a:xfrm>
          <a:prstGeom prst="rect">
            <a:avLst/>
          </a:prstGeom>
        </p:spPr>
      </p:pic>
      <p:sp>
        <p:nvSpPr>
          <p:cNvPr id="18" name="TextBox 17"/>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a:solidFill>
                  <a:srgbClr val="175FAB"/>
                </a:solidFill>
              </a:rPr>
              <a:t>PT</a:t>
            </a:r>
            <a:r>
              <a:rPr lang="en-US" sz="1000">
                <a:solidFill>
                  <a:srgbClr val="175FAB"/>
                </a:solidFill>
              </a:rPr>
              <a:t> </a:t>
            </a:r>
            <a:r>
              <a:rPr lang="id-ID" sz="1000">
                <a:solidFill>
                  <a:srgbClr val="175FAB"/>
                </a:solidFill>
              </a:rPr>
              <a:t>Bank Central Asia</a:t>
            </a:r>
            <a:r>
              <a:rPr lang="en-US" sz="1000">
                <a:solidFill>
                  <a:srgbClr val="175FAB"/>
                </a:solidFill>
              </a:rPr>
              <a:t> Tbk</a:t>
            </a:r>
            <a:r>
              <a:rPr lang="en-US" sz="1000" dirty="0">
                <a:solidFill>
                  <a:srgbClr val="175FAB"/>
                </a:solidFill>
              </a:rPr>
              <a:t>.</a:t>
            </a:r>
            <a:endParaRPr lang="id-ID" sz="1000" dirty="0">
              <a:solidFill>
                <a:srgbClr val="175FAB"/>
              </a:solidFill>
            </a:endParaRPr>
          </a:p>
        </p:txBody>
      </p:sp>
      <p:sp>
        <p:nvSpPr>
          <p:cNvPr id="33" name="TextBox 32"/>
          <p:cNvSpPr txBox="1"/>
          <p:nvPr/>
        </p:nvSpPr>
        <p:spPr>
          <a:xfrm>
            <a:off x="5791200" y="8779499"/>
            <a:ext cx="645196" cy="271639"/>
          </a:xfrm>
          <a:prstGeom prst="rect">
            <a:avLst/>
          </a:prstGeom>
          <a:noFill/>
        </p:spPr>
        <p:txBody>
          <a:bodyPr wrap="square" lIns="116612" tIns="58306" rIns="116612" bIns="58306" rtlCol="0">
            <a:spAutoFit/>
          </a:bodyPr>
          <a:lstStyle/>
          <a:p>
            <a:pPr algn="r"/>
            <a:r>
              <a:rPr lang="en-US" sz="1000">
                <a:solidFill>
                  <a:schemeClr val="bg1"/>
                </a:solidFill>
              </a:rPr>
              <a:t>4</a:t>
            </a:r>
            <a:endParaRPr lang="id-ID" sz="1000">
              <a:solidFill>
                <a:schemeClr val="bg1"/>
              </a:solidFill>
            </a:endParaRPr>
          </a:p>
        </p:txBody>
      </p:sp>
      <p:sp>
        <p:nvSpPr>
          <p:cNvPr id="28" name="TextBox 23">
            <a:extLst>
              <a:ext uri="{FF2B5EF4-FFF2-40B4-BE49-F238E27FC236}">
                <a16:creationId xmlns:a16="http://schemas.microsoft.com/office/drawing/2014/main" id="{83F7A790-E963-F486-BE81-58E2B5E03CCB}"/>
              </a:ext>
            </a:extLst>
          </p:cNvPr>
          <p:cNvSpPr txBox="1"/>
          <p:nvPr/>
        </p:nvSpPr>
        <p:spPr>
          <a:xfrm>
            <a:off x="240718" y="6762619"/>
            <a:ext cx="1359668" cy="261610"/>
          </a:xfrm>
          <a:prstGeom prst="rect">
            <a:avLst/>
          </a:prstGeom>
          <a:noFill/>
        </p:spPr>
        <p:txBody>
          <a:bodyPr wrap="none" rtlCol="0">
            <a:spAutoFit/>
          </a:bodyPr>
          <a:lstStyle/>
          <a:p>
            <a:r>
              <a:rPr lang="en-US" sz="1100" b="1">
                <a:solidFill>
                  <a:srgbClr val="0C5EA8"/>
                </a:solidFill>
              </a:rPr>
              <a:t>World Commodities</a:t>
            </a:r>
            <a:endParaRPr lang="en-US" sz="1100" b="1" dirty="0">
              <a:solidFill>
                <a:srgbClr val="0C5EA8"/>
              </a:solidFill>
            </a:endParaRPr>
          </a:p>
        </p:txBody>
      </p:sp>
      <p:sp>
        <p:nvSpPr>
          <p:cNvPr id="29" name="TextBox 25">
            <a:extLst>
              <a:ext uri="{FF2B5EF4-FFF2-40B4-BE49-F238E27FC236}">
                <a16:creationId xmlns:a16="http://schemas.microsoft.com/office/drawing/2014/main" id="{9A0CB0B1-E2A0-1969-AE01-B9EB70102F27}"/>
              </a:ext>
            </a:extLst>
          </p:cNvPr>
          <p:cNvSpPr txBox="1"/>
          <p:nvPr/>
        </p:nvSpPr>
        <p:spPr>
          <a:xfrm>
            <a:off x="240717" y="4571005"/>
            <a:ext cx="801823" cy="261610"/>
          </a:xfrm>
          <a:prstGeom prst="rect">
            <a:avLst/>
          </a:prstGeom>
          <a:noFill/>
        </p:spPr>
        <p:txBody>
          <a:bodyPr wrap="none" rtlCol="0">
            <a:spAutoFit/>
          </a:bodyPr>
          <a:lstStyle/>
          <a:p>
            <a:r>
              <a:rPr lang="en-US" sz="1100" b="1" dirty="0">
                <a:solidFill>
                  <a:srgbClr val="0C5EA8"/>
                </a:solidFill>
              </a:rPr>
              <a:t>Currencies</a:t>
            </a:r>
          </a:p>
        </p:txBody>
      </p:sp>
      <p:sp>
        <p:nvSpPr>
          <p:cNvPr id="32" name="TextBox 29">
            <a:extLst>
              <a:ext uri="{FF2B5EF4-FFF2-40B4-BE49-F238E27FC236}">
                <a16:creationId xmlns:a16="http://schemas.microsoft.com/office/drawing/2014/main" id="{C2A669C1-0352-0FC6-CA1E-9FCA9FFAC850}"/>
              </a:ext>
            </a:extLst>
          </p:cNvPr>
          <p:cNvSpPr txBox="1"/>
          <p:nvPr/>
        </p:nvSpPr>
        <p:spPr>
          <a:xfrm>
            <a:off x="3417527" y="6762619"/>
            <a:ext cx="1577676" cy="261610"/>
          </a:xfrm>
          <a:prstGeom prst="rect">
            <a:avLst/>
          </a:prstGeom>
          <a:noFill/>
        </p:spPr>
        <p:txBody>
          <a:bodyPr wrap="none" rtlCol="0">
            <a:spAutoFit/>
          </a:bodyPr>
          <a:lstStyle/>
          <a:p>
            <a:r>
              <a:rPr lang="en-US" sz="1100" b="1">
                <a:solidFill>
                  <a:srgbClr val="0C5EA8"/>
                </a:solidFill>
              </a:rPr>
              <a:t>Foreign Trading Activity</a:t>
            </a:r>
            <a:endParaRPr lang="en-US" sz="800" b="1" dirty="0">
              <a:solidFill>
                <a:srgbClr val="0C5EA8"/>
              </a:solidFill>
            </a:endParaRPr>
          </a:p>
        </p:txBody>
      </p:sp>
      <p:sp>
        <p:nvSpPr>
          <p:cNvPr id="42" name="TextBox 20">
            <a:extLst>
              <a:ext uri="{FF2B5EF4-FFF2-40B4-BE49-F238E27FC236}">
                <a16:creationId xmlns:a16="http://schemas.microsoft.com/office/drawing/2014/main" id="{01EBC932-EC7B-481D-A8D4-7C8055645BA1}"/>
              </a:ext>
            </a:extLst>
          </p:cNvPr>
          <p:cNvSpPr txBox="1"/>
          <p:nvPr/>
        </p:nvSpPr>
        <p:spPr>
          <a:xfrm>
            <a:off x="233917" y="2066875"/>
            <a:ext cx="958917" cy="261610"/>
          </a:xfrm>
          <a:prstGeom prst="rect">
            <a:avLst/>
          </a:prstGeom>
          <a:noFill/>
        </p:spPr>
        <p:txBody>
          <a:bodyPr wrap="none" rtlCol="0">
            <a:spAutoFit/>
          </a:bodyPr>
          <a:lstStyle/>
          <a:p>
            <a:r>
              <a:rPr lang="en-US" sz="1100" b="1">
                <a:solidFill>
                  <a:srgbClr val="0C5EA8"/>
                </a:solidFill>
              </a:rPr>
              <a:t>Fixed Income</a:t>
            </a:r>
            <a:endParaRPr lang="en-US" sz="1100" b="1" dirty="0">
              <a:solidFill>
                <a:srgbClr val="0C5EA8"/>
              </a:solidFill>
            </a:endParaRPr>
          </a:p>
        </p:txBody>
      </p:sp>
      <p:sp>
        <p:nvSpPr>
          <p:cNvPr id="43" name="TextBox 22">
            <a:extLst>
              <a:ext uri="{FF2B5EF4-FFF2-40B4-BE49-F238E27FC236}">
                <a16:creationId xmlns:a16="http://schemas.microsoft.com/office/drawing/2014/main" id="{1FBDAAF2-D118-FC2D-6871-99076259FAE3}"/>
              </a:ext>
            </a:extLst>
          </p:cNvPr>
          <p:cNvSpPr txBox="1"/>
          <p:nvPr/>
        </p:nvSpPr>
        <p:spPr>
          <a:xfrm>
            <a:off x="3442325" y="2068668"/>
            <a:ext cx="556563" cy="261610"/>
          </a:xfrm>
          <a:prstGeom prst="rect">
            <a:avLst/>
          </a:prstGeom>
          <a:noFill/>
        </p:spPr>
        <p:txBody>
          <a:bodyPr wrap="none" rtlCol="0">
            <a:spAutoFit/>
          </a:bodyPr>
          <a:lstStyle/>
          <a:p>
            <a:r>
              <a:rPr lang="en-US" sz="1100" b="1" dirty="0">
                <a:solidFill>
                  <a:srgbClr val="0C5EA8"/>
                </a:solidFill>
              </a:rPr>
              <a:t>Equity</a:t>
            </a:r>
          </a:p>
        </p:txBody>
      </p:sp>
      <p:sp>
        <p:nvSpPr>
          <p:cNvPr id="2" name="TextBox 1"/>
          <p:cNvSpPr txBox="1"/>
          <p:nvPr/>
        </p:nvSpPr>
        <p:spPr>
          <a:xfrm>
            <a:off x="233917" y="1719590"/>
            <a:ext cx="5785883" cy="261610"/>
          </a:xfrm>
          <a:prstGeom prst="rect">
            <a:avLst/>
          </a:prstGeom>
          <a:noFill/>
        </p:spPr>
        <p:txBody>
          <a:bodyPr wrap="square" rtlCol="0">
            <a:spAutoFit/>
          </a:bodyPr>
          <a:lstStyle/>
          <a:p>
            <a:pPr>
              <a:spcBef>
                <a:spcPts val="300"/>
              </a:spcBef>
            </a:pPr>
            <a:r>
              <a:rPr lang="en-US" sz="1100" b="1" u="sng" dirty="0">
                <a:solidFill>
                  <a:srgbClr val="0C5EA8"/>
                </a:solidFill>
              </a:rPr>
              <a:t>Per 25 September 2026</a:t>
            </a:r>
          </a:p>
        </p:txBody>
      </p:sp>
      <p:graphicFrame>
        <p:nvGraphicFramePr>
          <p:cNvPr id="4" name="Table 3"/>
          <p:cNvGraphicFramePr>
            <a:graphicFrameLocks noGrp="1"/>
          </p:cNvGraphicFramePr>
          <p:nvPr/>
        </p:nvGraphicFramePr>
        <p:xfrm>
          <a:off x="295219" y="4843314"/>
          <a:ext cx="2997281" cy="1612011"/>
        </p:xfrm>
        <a:graphic>
          <a:graphicData uri="http://schemas.openxmlformats.org/drawingml/2006/table">
            <a:tbl>
              <a:tblPr/>
              <a:tblGrid>
                <a:gridCol w="1080100">
                  <a:extLst>
                    <a:ext uri="{9D8B030D-6E8A-4147-A177-3AD203B41FA5}">
                      <a16:colId xmlns:a16="http://schemas.microsoft.com/office/drawing/2014/main" val="20000"/>
                    </a:ext>
                  </a:extLst>
                </a:gridCol>
                <a:gridCol w="635000">
                  <a:extLst>
                    <a:ext uri="{9D8B030D-6E8A-4147-A177-3AD203B41FA5}">
                      <a16:colId xmlns:a16="http://schemas.microsoft.com/office/drawing/2014/main" val="20001"/>
                    </a:ext>
                  </a:extLst>
                </a:gridCol>
                <a:gridCol w="408811">
                  <a:extLst>
                    <a:ext uri="{9D8B030D-6E8A-4147-A177-3AD203B41FA5}">
                      <a16:colId xmlns:a16="http://schemas.microsoft.com/office/drawing/2014/main" val="20002"/>
                    </a:ext>
                  </a:extLst>
                </a:gridCol>
                <a:gridCol w="408811">
                  <a:extLst>
                    <a:ext uri="{9D8B030D-6E8A-4147-A177-3AD203B41FA5}">
                      <a16:colId xmlns:a16="http://schemas.microsoft.com/office/drawing/2014/main" val="20003"/>
                    </a:ext>
                  </a:extLst>
                </a:gridCol>
                <a:gridCol w="464559">
                  <a:extLst>
                    <a:ext uri="{9D8B030D-6E8A-4147-A177-3AD203B41FA5}">
                      <a16:colId xmlns:a16="http://schemas.microsoft.com/office/drawing/2014/main" val="20004"/>
                    </a:ext>
                  </a:extLst>
                </a:gridCol>
              </a:tblGrid>
              <a:tr h="134376">
                <a:tc>
                  <a:txBody>
                    <a:bodyPr/>
                    <a:lstStyle/>
                    <a:p>
                      <a:pPr algn="ctr" fontAlgn="ctr"/>
                      <a:r>
                        <a:rPr lang="en-US" sz="800" b="1" i="0" u="none" strike="noStrike" dirty="0">
                          <a:solidFill>
                            <a:srgbClr val="FFFFFF"/>
                          </a:solidFill>
                          <a:effectLst/>
                          <a:latin typeface="Calibri" panose="020F0502020204030204" pitchFamily="34" charset="0"/>
                        </a:rPr>
                        <a:t>Currencies</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Last Close</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1D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5D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 YTD</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a16="http://schemas.microsoft.com/office/drawing/2014/main" val="10000"/>
                  </a:ext>
                </a:extLst>
              </a:tr>
              <a:tr h="134376">
                <a:tc>
                  <a:txBody>
                    <a:bodyPr/>
                    <a:lstStyle/>
                    <a:p>
                      <a:pPr algn="ctr" fontAlgn="ctr"/>
                      <a:r>
                        <a:rPr lang="en-US" sz="800" b="0" i="0" u="none" strike="noStrike" dirty="0">
                          <a:solidFill>
                            <a:srgbClr val="000000"/>
                          </a:solidFill>
                          <a:effectLst/>
                          <a:latin typeface="Calibri" panose="020F0502020204030204" pitchFamily="34" charset="0"/>
                        </a:rPr>
                        <a:t>US Dollar Index</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100.97</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(0.31)</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0.75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2.69</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1"/>
                  </a:ext>
                </a:extLst>
              </a:tr>
              <a:tr h="134376">
                <a:tc>
                  <a:txBody>
                    <a:bodyPr/>
                    <a:lstStyle/>
                    <a:p>
                      <a:pPr algn="ctr" fontAlgn="ctr"/>
                      <a:r>
                        <a:rPr lang="en-US" sz="800" b="0" i="0" u="none" strike="noStrike" dirty="0">
                          <a:solidFill>
                            <a:srgbClr val="000000"/>
                          </a:solidFill>
                          <a:effectLst/>
                          <a:latin typeface="Calibri" panose="020F0502020204030204" pitchFamily="34" charset="0"/>
                        </a:rPr>
                        <a:t>GBP/USD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1.32</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0.21</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(1.10)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(1.69)</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val="10002"/>
                  </a:ext>
                </a:extLst>
              </a:tr>
              <a:tr h="134376">
                <a:tc>
                  <a:txBody>
                    <a:bodyPr/>
                    <a:lstStyle/>
                    <a:p>
                      <a:pPr algn="ctr" fontAlgn="ctr"/>
                      <a:r>
                        <a:rPr lang="en-US" sz="800" b="0" i="0" u="none" strike="noStrike">
                          <a:solidFill>
                            <a:srgbClr val="000000"/>
                          </a:solidFill>
                          <a:effectLst/>
                          <a:latin typeface="Calibri" panose="020F0502020204030204" pitchFamily="34" charset="0"/>
                        </a:rPr>
                        <a:t>EUR/USD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1.14</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0.10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(0.83)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(3.02)</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3"/>
                  </a:ext>
                </a:extLst>
              </a:tr>
              <a:tr h="134376">
                <a:tc>
                  <a:txBody>
                    <a:bodyPr/>
                    <a:lstStyle/>
                    <a:p>
                      <a:pPr algn="ctr" fontAlgn="ctr"/>
                      <a:r>
                        <a:rPr lang="en-US" sz="800" b="0" i="0" u="none" strike="noStrike">
                          <a:solidFill>
                            <a:srgbClr val="000000"/>
                          </a:solidFill>
                          <a:effectLst/>
                          <a:latin typeface="Calibri" panose="020F0502020204030204" pitchFamily="34" charset="0"/>
                        </a:rPr>
                        <a:t>AUD/USD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0.70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0.16</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0.75</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5.25</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val="10004"/>
                  </a:ext>
                </a:extLst>
              </a:tr>
              <a:tr h="134376">
                <a:tc>
                  <a:txBody>
                    <a:bodyPr/>
                    <a:lstStyle/>
                    <a:p>
                      <a:pPr algn="ctr" fontAlgn="ctr"/>
                      <a:r>
                        <a:rPr lang="en-US" sz="800" b="0" i="0" u="none" strike="noStrike" dirty="0">
                          <a:solidFill>
                            <a:srgbClr val="000000"/>
                          </a:solidFill>
                          <a:effectLst/>
                          <a:latin typeface="Calibri" panose="020F0502020204030204" pitchFamily="34" charset="0"/>
                        </a:rPr>
                        <a:t>NZD/USD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0.57</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0.02</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(1.03)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(1.65)</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5"/>
                  </a:ext>
                </a:extLst>
              </a:tr>
              <a:tr h="134376">
                <a:tc>
                  <a:txBody>
                    <a:bodyPr/>
                    <a:lstStyle/>
                    <a:p>
                      <a:pPr algn="ctr" fontAlgn="ctr"/>
                      <a:r>
                        <a:rPr lang="en-US" sz="800" b="0" i="0" u="none" strike="noStrike">
                          <a:solidFill>
                            <a:srgbClr val="000000"/>
                          </a:solidFill>
                          <a:effectLst/>
                          <a:latin typeface="Calibri" panose="020F0502020204030204" pitchFamily="34" charset="0"/>
                        </a:rPr>
                        <a:t>USD/JPY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157.28</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(0.99)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0.25</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0.36</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val="10006"/>
                  </a:ext>
                </a:extLst>
              </a:tr>
              <a:tr h="134376">
                <a:tc>
                  <a:txBody>
                    <a:bodyPr/>
                    <a:lstStyle/>
                    <a:p>
                      <a:pPr algn="ctr" fontAlgn="ctr"/>
                      <a:r>
                        <a:rPr lang="en-US" sz="800" b="0" i="0" u="none" strike="noStrike">
                          <a:solidFill>
                            <a:srgbClr val="000000"/>
                          </a:solidFill>
                          <a:effectLst/>
                          <a:latin typeface="Calibri" panose="020F0502020204030204" pitchFamily="34" charset="0"/>
                        </a:rPr>
                        <a:t>USD/HKD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7.84</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0.02</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(0.01)</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0.79</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7"/>
                  </a:ext>
                </a:extLst>
              </a:tr>
              <a:tr h="134376">
                <a:tc>
                  <a:txBody>
                    <a:bodyPr/>
                    <a:lstStyle/>
                    <a:p>
                      <a:pPr algn="ctr" fontAlgn="ctr"/>
                      <a:r>
                        <a:rPr lang="en-US" sz="800" b="0" i="0" u="none" strike="noStrike">
                          <a:solidFill>
                            <a:srgbClr val="000000"/>
                          </a:solidFill>
                          <a:effectLst/>
                          <a:latin typeface="Calibri" panose="020F0502020204030204" pitchFamily="34" charset="0"/>
                        </a:rPr>
                        <a:t>USD/KRW</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1,358.60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(0.75)</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(2.04)</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(5.64)</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val="10008"/>
                  </a:ext>
                </a:extLst>
              </a:tr>
              <a:tr h="134376">
                <a:tc>
                  <a:txBody>
                    <a:bodyPr/>
                    <a:lstStyle/>
                    <a:p>
                      <a:pPr algn="ctr" fontAlgn="ctr"/>
                      <a:r>
                        <a:rPr lang="en-US" sz="800" b="0" i="0" u="none" strike="noStrike">
                          <a:solidFill>
                            <a:srgbClr val="000000"/>
                          </a:solidFill>
                          <a:effectLst/>
                          <a:latin typeface="Calibri" panose="020F0502020204030204" pitchFamily="34" charset="0"/>
                        </a:rPr>
                        <a:t>USD/CNY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6.71</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0.00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0.23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(3.94)</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9"/>
                  </a:ext>
                </a:extLst>
              </a:tr>
              <a:tr h="133875">
                <a:tc>
                  <a:txBody>
                    <a:bodyPr/>
                    <a:lstStyle/>
                    <a:p>
                      <a:pPr algn="ctr" fontAlgn="ctr"/>
                      <a:r>
                        <a:rPr lang="en-US" sz="800" b="0" i="0" u="none" strike="noStrike">
                          <a:solidFill>
                            <a:srgbClr val="000000"/>
                          </a:solidFill>
                          <a:effectLst/>
                          <a:latin typeface="Calibri" panose="020F0502020204030204" pitchFamily="34" charset="0"/>
                        </a:rPr>
                        <a:t>USD/SGD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1.28</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(0.16)</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0.09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(0.63)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val="10010"/>
                  </a:ext>
                </a:extLst>
              </a:tr>
              <a:tr h="134376">
                <a:tc>
                  <a:txBody>
                    <a:bodyPr/>
                    <a:lstStyle/>
                    <a:p>
                      <a:pPr algn="ctr" fontAlgn="ctr"/>
                      <a:r>
                        <a:rPr lang="en-US" sz="800" b="0" i="0" u="none" strike="noStrike" dirty="0">
                          <a:solidFill>
                            <a:srgbClr val="000000"/>
                          </a:solidFill>
                          <a:effectLst/>
                          <a:latin typeface="Calibri" panose="020F0502020204030204" pitchFamily="34" charset="0"/>
                        </a:rPr>
                        <a:t>USD/IDR</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17,893.00</a:t>
                      </a: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en-ID" sz="800" b="0" i="0" u="none" strike="noStrike">
                          <a:solidFill>
                            <a:srgbClr val="FF0000"/>
                          </a:solidFill>
                          <a:effectLst/>
                          <a:latin typeface="Calibri" panose="020F0502020204030204" pitchFamily="34" charset="0"/>
                        </a:rPr>
                        <a:t>(0.04)</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0.85</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7.21</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bl>
          </a:graphicData>
        </a:graphic>
      </p:graphicFrame>
      <p:graphicFrame>
        <p:nvGraphicFramePr>
          <p:cNvPr id="6" name="Table 5"/>
          <p:cNvGraphicFramePr>
            <a:graphicFrameLocks noGrp="1"/>
          </p:cNvGraphicFramePr>
          <p:nvPr/>
        </p:nvGraphicFramePr>
        <p:xfrm>
          <a:off x="3505197" y="4843314"/>
          <a:ext cx="3127377" cy="1612123"/>
        </p:xfrm>
        <a:graphic>
          <a:graphicData uri="http://schemas.openxmlformats.org/drawingml/2006/table">
            <a:tbl>
              <a:tblPr/>
              <a:tblGrid>
                <a:gridCol w="1128185">
                  <a:extLst>
                    <a:ext uri="{9D8B030D-6E8A-4147-A177-3AD203B41FA5}">
                      <a16:colId xmlns:a16="http://schemas.microsoft.com/office/drawing/2014/main" val="20000"/>
                    </a:ext>
                  </a:extLst>
                </a:gridCol>
                <a:gridCol w="659929">
                  <a:extLst>
                    <a:ext uri="{9D8B030D-6E8A-4147-A177-3AD203B41FA5}">
                      <a16:colId xmlns:a16="http://schemas.microsoft.com/office/drawing/2014/main" val="20001"/>
                    </a:ext>
                  </a:extLst>
                </a:gridCol>
                <a:gridCol w="427011">
                  <a:extLst>
                    <a:ext uri="{9D8B030D-6E8A-4147-A177-3AD203B41FA5}">
                      <a16:colId xmlns:a16="http://schemas.microsoft.com/office/drawing/2014/main" val="20002"/>
                    </a:ext>
                  </a:extLst>
                </a:gridCol>
                <a:gridCol w="427011">
                  <a:extLst>
                    <a:ext uri="{9D8B030D-6E8A-4147-A177-3AD203B41FA5}">
                      <a16:colId xmlns:a16="http://schemas.microsoft.com/office/drawing/2014/main" val="20003"/>
                    </a:ext>
                  </a:extLst>
                </a:gridCol>
                <a:gridCol w="485241">
                  <a:extLst>
                    <a:ext uri="{9D8B030D-6E8A-4147-A177-3AD203B41FA5}">
                      <a16:colId xmlns:a16="http://schemas.microsoft.com/office/drawing/2014/main" val="20004"/>
                    </a:ext>
                  </a:extLst>
                </a:gridCol>
              </a:tblGrid>
              <a:tr h="133284">
                <a:tc>
                  <a:txBody>
                    <a:bodyPr/>
                    <a:lstStyle/>
                    <a:p>
                      <a:pPr algn="ctr" fontAlgn="ctr"/>
                      <a:r>
                        <a:rPr lang="en-US" sz="800" b="1" i="0" u="none" strike="noStrike" dirty="0">
                          <a:solidFill>
                            <a:srgbClr val="FFFFFF"/>
                          </a:solidFill>
                          <a:effectLst/>
                          <a:latin typeface="Calibri" panose="020F0502020204030204" pitchFamily="34" charset="0"/>
                        </a:rPr>
                        <a:t>JCI Sectoral</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Last Close</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1D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5D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YTD</a:t>
                      </a:r>
                      <a:endParaRPr lang="en-US" sz="800" b="1" i="0" u="none" strike="noStrike" dirty="0">
                        <a:solidFill>
                          <a:srgbClr val="FFFFFF"/>
                        </a:solidFill>
                        <a:effectLst/>
                        <a:latin typeface="Calibri" panose="020F0502020204030204" pitchFamily="34" charset="0"/>
                      </a:endParaRP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a16="http://schemas.microsoft.com/office/drawing/2014/main" val="10000"/>
                  </a:ext>
                </a:extLst>
              </a:tr>
              <a:tr h="133284">
                <a:tc>
                  <a:txBody>
                    <a:bodyPr/>
                    <a:lstStyle/>
                    <a:p>
                      <a:pPr algn="ctr" fontAlgn="ctr"/>
                      <a:r>
                        <a:rPr lang="en-US" sz="800" b="0" i="0" u="none" strike="noStrike" dirty="0">
                          <a:solidFill>
                            <a:srgbClr val="000000"/>
                          </a:solidFill>
                          <a:effectLst/>
                          <a:latin typeface="Calibri" panose="020F0502020204030204" pitchFamily="34" charset="0"/>
                        </a:rPr>
                        <a:t>Financial</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1,331.60</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(0.45)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(2.41)</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(14.09)</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1"/>
                  </a:ext>
                </a:extLst>
              </a:tr>
              <a:tr h="133284">
                <a:tc>
                  <a:txBody>
                    <a:bodyPr/>
                    <a:lstStyle/>
                    <a:p>
                      <a:pPr algn="ctr" fontAlgn="ctr"/>
                      <a:r>
                        <a:rPr lang="en-US" sz="800" b="0" i="0" u="none" strike="noStrike" dirty="0">
                          <a:solidFill>
                            <a:srgbClr val="000000"/>
                          </a:solidFill>
                          <a:effectLst/>
                          <a:latin typeface="Calibri" panose="020F0502020204030204" pitchFamily="34" charset="0"/>
                        </a:rPr>
                        <a:t>Consumer Non Cyclical</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683.40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(1.37)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(3.50)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(14.55)</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val="10002"/>
                  </a:ext>
                </a:extLst>
              </a:tr>
              <a:tr h="140840">
                <a:tc>
                  <a:txBody>
                    <a:bodyPr/>
                    <a:lstStyle/>
                    <a:p>
                      <a:pPr algn="ctr" fontAlgn="ctr"/>
                      <a:r>
                        <a:rPr lang="en-US" sz="800" b="0" i="0" u="none" strike="noStrike" dirty="0">
                          <a:solidFill>
                            <a:srgbClr val="000000"/>
                          </a:solidFill>
                          <a:effectLst/>
                          <a:latin typeface="Calibri" panose="020F0502020204030204" pitchFamily="34" charset="0"/>
                        </a:rPr>
                        <a:t>Infrastructure</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1,755.80</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(2.22)</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(4.10)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(34.27)</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3"/>
                  </a:ext>
                </a:extLst>
              </a:tr>
              <a:tr h="133284">
                <a:tc>
                  <a:txBody>
                    <a:bodyPr/>
                    <a:lstStyle/>
                    <a:p>
                      <a:pPr algn="ctr" fontAlgn="ctr"/>
                      <a:r>
                        <a:rPr lang="en-US" sz="800" b="0" i="0" u="none" strike="noStrike" dirty="0">
                          <a:solidFill>
                            <a:srgbClr val="000000"/>
                          </a:solidFill>
                          <a:effectLst/>
                          <a:latin typeface="Calibri" panose="020F0502020204030204" pitchFamily="34" charset="0"/>
                        </a:rPr>
                        <a:t>Basic Material</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1,734.36</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(0.97)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(2.59)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(15.73)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val="10004"/>
                  </a:ext>
                </a:extLst>
              </a:tr>
              <a:tr h="133284">
                <a:tc>
                  <a:txBody>
                    <a:bodyPr/>
                    <a:lstStyle/>
                    <a:p>
                      <a:pPr algn="ctr" fontAlgn="ctr"/>
                      <a:r>
                        <a:rPr lang="en-US" sz="800" b="0" i="0" u="none" strike="noStrike" dirty="0">
                          <a:solidFill>
                            <a:srgbClr val="000000"/>
                          </a:solidFill>
                          <a:effectLst/>
                          <a:latin typeface="Calibri" panose="020F0502020204030204" pitchFamily="34" charset="0"/>
                        </a:rPr>
                        <a:t>Energy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3,167.10</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(1.18)</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(2.94)</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(28.88)</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5"/>
                  </a:ext>
                </a:extLst>
              </a:tr>
              <a:tr h="133284">
                <a:tc>
                  <a:txBody>
                    <a:bodyPr/>
                    <a:lstStyle/>
                    <a:p>
                      <a:pPr algn="ctr" fontAlgn="ctr"/>
                      <a:r>
                        <a:rPr lang="en-US" sz="800" b="0" i="0" u="none" strike="noStrike">
                          <a:solidFill>
                            <a:srgbClr val="000000"/>
                          </a:solidFill>
                          <a:effectLst/>
                          <a:latin typeface="Calibri" panose="020F0502020204030204" pitchFamily="34" charset="0"/>
                        </a:rPr>
                        <a:t>Consumer Cyclical</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947.27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(1.03)</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0.02</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(22.76)</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val="10006"/>
                  </a:ext>
                </a:extLst>
              </a:tr>
              <a:tr h="133284">
                <a:tc>
                  <a:txBody>
                    <a:bodyPr/>
                    <a:lstStyle/>
                    <a:p>
                      <a:pPr algn="ctr" fontAlgn="ctr"/>
                      <a:r>
                        <a:rPr lang="en-US" sz="800" b="0" i="0" u="none" strike="noStrike">
                          <a:solidFill>
                            <a:srgbClr val="000000"/>
                          </a:solidFill>
                          <a:effectLst/>
                          <a:latin typeface="Calibri" panose="020F0502020204030204" pitchFamily="34" charset="0"/>
                        </a:rPr>
                        <a:t>Technology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6,538.61</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(1.73)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(3.96)</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(31.38)</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7"/>
                  </a:ext>
                </a:extLst>
              </a:tr>
              <a:tr h="133284">
                <a:tc>
                  <a:txBody>
                    <a:bodyPr/>
                    <a:lstStyle/>
                    <a:p>
                      <a:pPr algn="ctr" fontAlgn="ctr"/>
                      <a:r>
                        <a:rPr lang="en-US" sz="800" b="0" i="0" u="none" strike="noStrike">
                          <a:solidFill>
                            <a:srgbClr val="000000"/>
                          </a:solidFill>
                          <a:effectLst/>
                          <a:latin typeface="Calibri" panose="020F0502020204030204" pitchFamily="34" charset="0"/>
                        </a:rPr>
                        <a:t>Healthcare</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1,435.80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(0.77)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(2.37)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(30.45)</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val="10008"/>
                  </a:ext>
                </a:extLst>
              </a:tr>
              <a:tr h="138443">
                <a:tc>
                  <a:txBody>
                    <a:bodyPr/>
                    <a:lstStyle/>
                    <a:p>
                      <a:pPr algn="ctr" fontAlgn="ctr"/>
                      <a:r>
                        <a:rPr lang="en-US" sz="800" b="0" i="0" u="none" strike="noStrike" dirty="0">
                          <a:solidFill>
                            <a:srgbClr val="000000"/>
                          </a:solidFill>
                          <a:effectLst/>
                          <a:latin typeface="Calibri" panose="020F0502020204030204" pitchFamily="34" charset="0"/>
                        </a:rPr>
                        <a:t>Property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766.96</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(1.26)</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(2.95)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(34.61)</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9"/>
                  </a:ext>
                </a:extLst>
              </a:tr>
              <a:tr h="133284">
                <a:tc>
                  <a:txBody>
                    <a:bodyPr/>
                    <a:lstStyle/>
                    <a:p>
                      <a:pPr algn="ctr" fontAlgn="ctr"/>
                      <a:r>
                        <a:rPr lang="en-US" sz="800" b="0" i="0" u="none" strike="noStrike" dirty="0">
                          <a:solidFill>
                            <a:srgbClr val="000000"/>
                          </a:solidFill>
                          <a:effectLst/>
                          <a:latin typeface="Calibri" panose="020F0502020204030204" pitchFamily="34" charset="0"/>
                        </a:rPr>
                        <a:t>Industrial</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1,610.32</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(2.52)</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(5.48)</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(25.28)</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val="10010"/>
                  </a:ext>
                </a:extLst>
              </a:tr>
              <a:tr h="133284">
                <a:tc>
                  <a:txBody>
                    <a:bodyPr/>
                    <a:lstStyle/>
                    <a:p>
                      <a:pPr algn="ctr" fontAlgn="ctr"/>
                      <a:r>
                        <a:rPr lang="en-US" sz="800" b="0" i="0" u="none" strike="noStrike" dirty="0">
                          <a:solidFill>
                            <a:srgbClr val="000000"/>
                          </a:solidFill>
                          <a:effectLst/>
                          <a:latin typeface="Calibri" panose="020F0502020204030204" pitchFamily="34" charset="0"/>
                        </a:rPr>
                        <a:t>Transportation</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1,744.56</a:t>
                      </a: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en-ID" sz="800" b="0" i="0" u="none" strike="noStrike">
                          <a:solidFill>
                            <a:srgbClr val="FF0000"/>
                          </a:solidFill>
                          <a:effectLst/>
                          <a:latin typeface="Calibri" panose="020F0502020204030204" pitchFamily="34" charset="0"/>
                        </a:rPr>
                        <a:t>(1.84)</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(2.47)</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ID" sz="800" b="0" i="0" u="none" strike="noStrike" dirty="0">
                          <a:solidFill>
                            <a:srgbClr val="FF0000"/>
                          </a:solidFill>
                          <a:effectLst/>
                          <a:latin typeface="Calibri" panose="020F0502020204030204" pitchFamily="34" charset="0"/>
                        </a:rPr>
                        <a:t>(11.27)</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bl>
          </a:graphicData>
        </a:graphic>
      </p:graphicFrame>
      <p:graphicFrame>
        <p:nvGraphicFramePr>
          <p:cNvPr id="8" name="Table 7"/>
          <p:cNvGraphicFramePr>
            <a:graphicFrameLocks noGrp="1"/>
          </p:cNvGraphicFramePr>
          <p:nvPr/>
        </p:nvGraphicFramePr>
        <p:xfrm>
          <a:off x="3505197" y="2330278"/>
          <a:ext cx="3127377" cy="2047201"/>
        </p:xfrm>
        <a:graphic>
          <a:graphicData uri="http://schemas.openxmlformats.org/drawingml/2006/table">
            <a:tbl>
              <a:tblPr/>
              <a:tblGrid>
                <a:gridCol w="1128185">
                  <a:extLst>
                    <a:ext uri="{9D8B030D-6E8A-4147-A177-3AD203B41FA5}">
                      <a16:colId xmlns:a16="http://schemas.microsoft.com/office/drawing/2014/main" val="20000"/>
                    </a:ext>
                  </a:extLst>
                </a:gridCol>
                <a:gridCol w="659927">
                  <a:extLst>
                    <a:ext uri="{9D8B030D-6E8A-4147-A177-3AD203B41FA5}">
                      <a16:colId xmlns:a16="http://schemas.microsoft.com/office/drawing/2014/main" val="20001"/>
                    </a:ext>
                  </a:extLst>
                </a:gridCol>
                <a:gridCol w="427012">
                  <a:extLst>
                    <a:ext uri="{9D8B030D-6E8A-4147-A177-3AD203B41FA5}">
                      <a16:colId xmlns:a16="http://schemas.microsoft.com/office/drawing/2014/main" val="20002"/>
                    </a:ext>
                  </a:extLst>
                </a:gridCol>
                <a:gridCol w="427012">
                  <a:extLst>
                    <a:ext uri="{9D8B030D-6E8A-4147-A177-3AD203B41FA5}">
                      <a16:colId xmlns:a16="http://schemas.microsoft.com/office/drawing/2014/main" val="20003"/>
                    </a:ext>
                  </a:extLst>
                </a:gridCol>
                <a:gridCol w="485241">
                  <a:extLst>
                    <a:ext uri="{9D8B030D-6E8A-4147-A177-3AD203B41FA5}">
                      <a16:colId xmlns:a16="http://schemas.microsoft.com/office/drawing/2014/main" val="20004"/>
                    </a:ext>
                  </a:extLst>
                </a:gridCol>
              </a:tblGrid>
              <a:tr h="157477">
                <a:tc>
                  <a:txBody>
                    <a:bodyPr/>
                    <a:lstStyle/>
                    <a:p>
                      <a:pPr algn="ctr" fontAlgn="ctr"/>
                      <a:r>
                        <a:rPr lang="en-US" sz="800" b="1" i="0" u="none" strike="noStrike" dirty="0">
                          <a:solidFill>
                            <a:srgbClr val="FFFFFF"/>
                          </a:solidFill>
                          <a:effectLst/>
                          <a:latin typeface="Calibri" panose="020F0502020204030204" pitchFamily="34" charset="0"/>
                        </a:rPr>
                        <a:t>Equity Indices</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Last Close</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1D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5D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YTD</a:t>
                      </a:r>
                      <a:endParaRPr lang="en-US" sz="800" b="1" i="0" u="none" strike="noStrike" dirty="0">
                        <a:solidFill>
                          <a:srgbClr val="FFFFFF"/>
                        </a:solidFill>
                        <a:effectLst/>
                        <a:latin typeface="Calibri" panose="020F0502020204030204" pitchFamily="34" charset="0"/>
                      </a:endParaRP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a16="http://schemas.microsoft.com/office/drawing/2014/main" val="10000"/>
                  </a:ext>
                </a:extLst>
              </a:tr>
              <a:tr h="157477">
                <a:tc>
                  <a:txBody>
                    <a:bodyPr/>
                    <a:lstStyle/>
                    <a:p>
                      <a:pPr algn="ctr" fontAlgn="ctr"/>
                      <a:r>
                        <a:rPr lang="en-US" sz="800" b="0" i="0" u="none" strike="noStrike" dirty="0">
                          <a:solidFill>
                            <a:srgbClr val="000000"/>
                          </a:solidFill>
                          <a:effectLst/>
                          <a:latin typeface="Calibri" panose="020F0502020204030204" pitchFamily="34" charset="0"/>
                        </a:rPr>
                        <a:t>Dow Jones</a:t>
                      </a: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000000"/>
                          </a:solidFill>
                          <a:effectLst/>
                          <a:latin typeface="Calibri" panose="020F0502020204030204" pitchFamily="34" charset="0"/>
                        </a:rPr>
                        <a:t>51,828.62</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0.93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0.28</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7.83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1"/>
                  </a:ext>
                </a:extLst>
              </a:tr>
              <a:tr h="157477">
                <a:tc>
                  <a:txBody>
                    <a:bodyPr/>
                    <a:lstStyle/>
                    <a:p>
                      <a:pPr algn="ctr" fontAlgn="ctr"/>
                      <a:r>
                        <a:rPr lang="en-US" sz="800" b="0" i="0" u="none" strike="noStrike" dirty="0">
                          <a:solidFill>
                            <a:srgbClr val="000000"/>
                          </a:solidFill>
                          <a:effectLst/>
                          <a:latin typeface="Calibri" panose="020F0502020204030204" pitchFamily="34" charset="0"/>
                        </a:rPr>
                        <a:t>S&amp;P 500</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7,743.41</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0.51</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1.21</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13.12</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val="10002"/>
                  </a:ext>
                </a:extLst>
              </a:tr>
              <a:tr h="157477">
                <a:tc>
                  <a:txBody>
                    <a:bodyPr/>
                    <a:lstStyle/>
                    <a:p>
                      <a:pPr algn="ctr" fontAlgn="ctr"/>
                      <a:r>
                        <a:rPr lang="en-US" sz="800" b="0" i="0" u="none" strike="noStrike" dirty="0">
                          <a:solidFill>
                            <a:srgbClr val="000000"/>
                          </a:solidFill>
                          <a:effectLst/>
                          <a:latin typeface="Calibri" panose="020F0502020204030204" pitchFamily="34" charset="0"/>
                        </a:rPr>
                        <a:t>Nasdaq</a:t>
                      </a: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000000"/>
                          </a:solidFill>
                          <a:effectLst/>
                          <a:latin typeface="Calibri" panose="020F0502020204030204" pitchFamily="34" charset="0"/>
                        </a:rPr>
                        <a:t>27,068.72</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0.48</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2.06</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16.46</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3"/>
                  </a:ext>
                </a:extLst>
              </a:tr>
              <a:tr h="157477">
                <a:tc>
                  <a:txBody>
                    <a:bodyPr/>
                    <a:lstStyle/>
                    <a:p>
                      <a:pPr algn="ctr" fontAlgn="ctr"/>
                      <a:r>
                        <a:rPr lang="en-US" sz="800" b="0" i="0" u="none" strike="noStrike" dirty="0">
                          <a:solidFill>
                            <a:srgbClr val="000000"/>
                          </a:solidFill>
                          <a:effectLst/>
                          <a:latin typeface="Calibri" panose="020F0502020204030204" pitchFamily="34" charset="0"/>
                        </a:rPr>
                        <a:t>FTSE 100 Index</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10,695.25</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0.14</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0.34</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7.69</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val="10004"/>
                  </a:ext>
                </a:extLst>
              </a:tr>
              <a:tr h="157477">
                <a:tc>
                  <a:txBody>
                    <a:bodyPr/>
                    <a:lstStyle/>
                    <a:p>
                      <a:pPr algn="ctr" fontAlgn="ctr"/>
                      <a:r>
                        <a:rPr lang="en-US" sz="800" b="0" i="0" u="none" strike="noStrike">
                          <a:solidFill>
                            <a:srgbClr val="000000"/>
                          </a:solidFill>
                          <a:effectLst/>
                          <a:latin typeface="Calibri" panose="020F0502020204030204" pitchFamily="34" charset="0"/>
                        </a:rPr>
                        <a:t>Euro STOXX 600</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000000"/>
                          </a:solidFill>
                          <a:effectLst/>
                          <a:latin typeface="Calibri" panose="020F0502020204030204" pitchFamily="34" charset="0"/>
                        </a:rPr>
                        <a:t>638.65</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0.35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0.50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7.85</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5"/>
                  </a:ext>
                </a:extLst>
              </a:tr>
              <a:tr h="157477">
                <a:tc>
                  <a:txBody>
                    <a:bodyPr/>
                    <a:lstStyle/>
                    <a:p>
                      <a:pPr algn="ctr" fontAlgn="ctr"/>
                      <a:r>
                        <a:rPr lang="en-US" sz="800" b="0" i="0" u="none" strike="noStrike">
                          <a:solidFill>
                            <a:srgbClr val="000000"/>
                          </a:solidFill>
                          <a:effectLst/>
                          <a:latin typeface="Calibri" panose="020F0502020204030204" pitchFamily="34" charset="0"/>
                        </a:rPr>
                        <a:t>SSE Composite Index</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3,888.37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0.00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(0.60)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(2.03)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val="10006"/>
                  </a:ext>
                </a:extLst>
              </a:tr>
              <a:tr h="157477">
                <a:tc>
                  <a:txBody>
                    <a:bodyPr/>
                    <a:lstStyle/>
                    <a:p>
                      <a:pPr algn="ctr" fontAlgn="ctr"/>
                      <a:r>
                        <a:rPr lang="en-US" sz="800" b="0" i="0" u="none" strike="noStrike">
                          <a:solidFill>
                            <a:srgbClr val="000000"/>
                          </a:solidFill>
                          <a:effectLst/>
                          <a:latin typeface="Calibri" panose="020F0502020204030204" pitchFamily="34" charset="0"/>
                        </a:rPr>
                        <a:t>Nikkei 225</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000000"/>
                          </a:solidFill>
                          <a:effectLst/>
                          <a:latin typeface="Calibri" panose="020F0502020204030204" pitchFamily="34" charset="0"/>
                        </a:rPr>
                        <a:t>66,364.20</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1.30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2.07</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31.83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7"/>
                  </a:ext>
                </a:extLst>
              </a:tr>
              <a:tr h="157477">
                <a:tc>
                  <a:txBody>
                    <a:bodyPr/>
                    <a:lstStyle/>
                    <a:p>
                      <a:pPr algn="ctr" fontAlgn="ctr"/>
                      <a:r>
                        <a:rPr lang="en-US" sz="800" b="0" i="0" u="none" strike="noStrike">
                          <a:solidFill>
                            <a:srgbClr val="000000"/>
                          </a:solidFill>
                          <a:effectLst/>
                          <a:latin typeface="Calibri" panose="020F0502020204030204" pitchFamily="34" charset="0"/>
                        </a:rPr>
                        <a:t>Hang Seng</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24,510.09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(1.01)</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(0.97)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(4.37)</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val="10008"/>
                  </a:ext>
                </a:extLst>
              </a:tr>
              <a:tr h="157477">
                <a:tc>
                  <a:txBody>
                    <a:bodyPr/>
                    <a:lstStyle/>
                    <a:p>
                      <a:pPr algn="ctr" fontAlgn="ctr"/>
                      <a:r>
                        <a:rPr lang="en-US" sz="800" b="0" i="0" u="none" strike="noStrike" dirty="0" err="1">
                          <a:solidFill>
                            <a:srgbClr val="000000"/>
                          </a:solidFill>
                          <a:effectLst/>
                          <a:latin typeface="Calibri" panose="020F0502020204030204" pitchFamily="34" charset="0"/>
                        </a:rPr>
                        <a:t>Kospi</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000000"/>
                          </a:solidFill>
                          <a:effectLst/>
                          <a:latin typeface="Calibri" panose="020F0502020204030204" pitchFamily="34" charset="0"/>
                        </a:rPr>
                        <a:t>7,080.92</a:t>
                      </a:r>
                    </a:p>
                  </a:txBody>
                  <a:tcPr marL="0" marR="0" marT="0" marB="0" anchor="ctr">
                    <a:lnL>
                      <a:noFill/>
                    </a:lnL>
                    <a:lnR>
                      <a:noFill/>
                    </a:lnR>
                    <a:lnT>
                      <a:noFill/>
                    </a:lnT>
                    <a:lnB>
                      <a:noFill/>
                    </a:lnB>
                  </a:tcPr>
                </a:tc>
                <a:tc>
                  <a:txBody>
                    <a:bodyPr/>
                    <a:lstStyle/>
                    <a:p>
                      <a:pPr algn="ctr" fontAlgn="ctr"/>
                      <a:r>
                        <a:rPr lang="en-ID" sz="800" b="0" i="0" u="none" strike="noStrike">
                          <a:solidFill>
                            <a:srgbClr val="000000"/>
                          </a:solidFill>
                          <a:effectLst/>
                          <a:latin typeface="Calibri" panose="020F0502020204030204" pitchFamily="34" charset="0"/>
                        </a:rPr>
                        <a:t>0.00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2.71</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68.03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9"/>
                  </a:ext>
                </a:extLst>
              </a:tr>
              <a:tr h="157477">
                <a:tc>
                  <a:txBody>
                    <a:bodyPr/>
                    <a:lstStyle/>
                    <a:p>
                      <a:pPr algn="ctr" fontAlgn="ctr"/>
                      <a:r>
                        <a:rPr lang="en-US" sz="800" b="0" i="0" u="none" strike="noStrike">
                          <a:solidFill>
                            <a:srgbClr val="000000"/>
                          </a:solidFill>
                          <a:effectLst/>
                          <a:latin typeface="Calibri" panose="020F0502020204030204" pitchFamily="34" charset="0"/>
                        </a:rPr>
                        <a:t>IDX Composite</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6,241.89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(0.90)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(3.09)</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(27.81)</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val="10010"/>
                  </a:ext>
                </a:extLst>
              </a:tr>
              <a:tr h="157477">
                <a:tc>
                  <a:txBody>
                    <a:bodyPr/>
                    <a:lstStyle/>
                    <a:p>
                      <a:pPr algn="ctr" fontAlgn="ctr"/>
                      <a:r>
                        <a:rPr lang="en-US" sz="800" b="0" i="0" u="none" strike="noStrike">
                          <a:solidFill>
                            <a:srgbClr val="000000"/>
                          </a:solidFill>
                          <a:effectLst/>
                          <a:latin typeface="Calibri" panose="020F0502020204030204" pitchFamily="34" charset="0"/>
                        </a:rPr>
                        <a:t>Indonesia (</a:t>
                      </a:r>
                      <a:r>
                        <a:rPr lang="en-US" sz="800" b="0" i="0" u="none" strike="noStrike" dirty="0">
                          <a:solidFill>
                            <a:srgbClr val="000000"/>
                          </a:solidFill>
                          <a:effectLst/>
                          <a:latin typeface="Calibri" panose="020F0502020204030204" pitchFamily="34" charset="0"/>
                        </a:rPr>
                        <a:t>LQ45)</a:t>
                      </a: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000000"/>
                          </a:solidFill>
                          <a:effectLst/>
                          <a:latin typeface="Calibri" panose="020F0502020204030204" pitchFamily="34" charset="0"/>
                        </a:rPr>
                        <a:t>621.11</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(0.35)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(2.99)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(26.63)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11"/>
                  </a:ext>
                </a:extLst>
              </a:tr>
              <a:tr h="157477">
                <a:tc>
                  <a:txBody>
                    <a:bodyPr/>
                    <a:lstStyle/>
                    <a:p>
                      <a:pPr algn="ctr" fontAlgn="ctr"/>
                      <a:r>
                        <a:rPr lang="en-US" sz="800" b="0" i="0" u="none" strike="noStrike">
                          <a:solidFill>
                            <a:srgbClr val="000000"/>
                          </a:solidFill>
                          <a:effectLst/>
                          <a:latin typeface="Calibri" panose="020F0502020204030204" pitchFamily="34" charset="0"/>
                        </a:rPr>
                        <a:t>Indonesia (</a:t>
                      </a:r>
                      <a:r>
                        <a:rPr lang="en-US" sz="800" b="0" i="0" u="none" strike="noStrike" dirty="0">
                          <a:solidFill>
                            <a:srgbClr val="000000"/>
                          </a:solidFill>
                          <a:effectLst/>
                          <a:latin typeface="Calibri" panose="020F0502020204030204" pitchFamily="34" charset="0"/>
                        </a:rPr>
                        <a:t>IDXSMC)</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393.60</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(1.27)</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(2.58)</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dirty="0">
                          <a:solidFill>
                            <a:srgbClr val="FF0000"/>
                          </a:solidFill>
                          <a:effectLst/>
                          <a:latin typeface="Calibri" panose="020F0502020204030204" pitchFamily="34" charset="0"/>
                        </a:rPr>
                        <a:t>(21.80)</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CECEC"/>
                    </a:solidFill>
                  </a:tcPr>
                </a:tc>
                <a:extLst>
                  <a:ext uri="{0D108BD9-81ED-4DB2-BD59-A6C34878D82A}">
                    <a16:rowId xmlns:a16="http://schemas.microsoft.com/office/drawing/2014/main" val="10012"/>
                  </a:ext>
                </a:extLst>
              </a:tr>
            </a:tbl>
          </a:graphicData>
        </a:graphic>
      </p:graphicFrame>
      <p:graphicFrame>
        <p:nvGraphicFramePr>
          <p:cNvPr id="10" name="Table 9"/>
          <p:cNvGraphicFramePr>
            <a:graphicFrameLocks noGrp="1"/>
          </p:cNvGraphicFramePr>
          <p:nvPr/>
        </p:nvGraphicFramePr>
        <p:xfrm>
          <a:off x="290457" y="2331639"/>
          <a:ext cx="2994081" cy="1730774"/>
        </p:xfrm>
        <a:graphic>
          <a:graphicData uri="http://schemas.openxmlformats.org/drawingml/2006/table">
            <a:tbl>
              <a:tblPr/>
              <a:tblGrid>
                <a:gridCol w="1080100">
                  <a:extLst>
                    <a:ext uri="{9D8B030D-6E8A-4147-A177-3AD203B41FA5}">
                      <a16:colId xmlns:a16="http://schemas.microsoft.com/office/drawing/2014/main" val="20000"/>
                    </a:ext>
                  </a:extLst>
                </a:gridCol>
                <a:gridCol w="631800">
                  <a:extLst>
                    <a:ext uri="{9D8B030D-6E8A-4147-A177-3AD203B41FA5}">
                      <a16:colId xmlns:a16="http://schemas.microsoft.com/office/drawing/2014/main" val="20001"/>
                    </a:ext>
                  </a:extLst>
                </a:gridCol>
                <a:gridCol w="408811">
                  <a:extLst>
                    <a:ext uri="{9D8B030D-6E8A-4147-A177-3AD203B41FA5}">
                      <a16:colId xmlns:a16="http://schemas.microsoft.com/office/drawing/2014/main" val="20002"/>
                    </a:ext>
                  </a:extLst>
                </a:gridCol>
                <a:gridCol w="408811">
                  <a:extLst>
                    <a:ext uri="{9D8B030D-6E8A-4147-A177-3AD203B41FA5}">
                      <a16:colId xmlns:a16="http://schemas.microsoft.com/office/drawing/2014/main" val="20003"/>
                    </a:ext>
                  </a:extLst>
                </a:gridCol>
                <a:gridCol w="464559">
                  <a:extLst>
                    <a:ext uri="{9D8B030D-6E8A-4147-A177-3AD203B41FA5}">
                      <a16:colId xmlns:a16="http://schemas.microsoft.com/office/drawing/2014/main" val="20004"/>
                    </a:ext>
                  </a:extLst>
                </a:gridCol>
              </a:tblGrid>
              <a:tr h="156767">
                <a:tc>
                  <a:txBody>
                    <a:bodyPr/>
                    <a:lstStyle/>
                    <a:p>
                      <a:pPr algn="ctr" fontAlgn="ctr"/>
                      <a:r>
                        <a:rPr lang="en-US" sz="800" b="1" i="0" u="none" strike="noStrike" dirty="0">
                          <a:solidFill>
                            <a:srgbClr val="FFFFFF"/>
                          </a:solidFill>
                          <a:effectLst/>
                          <a:latin typeface="Calibri" panose="020F0502020204030204" pitchFamily="34" charset="0"/>
                        </a:rPr>
                        <a:t>Government Bond Yield</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Last Yield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1D (</a:t>
                      </a:r>
                      <a:r>
                        <a:rPr lang="en-US" sz="800" b="1" i="0" u="none" strike="noStrike" dirty="0">
                          <a:solidFill>
                            <a:srgbClr val="FFFFFF"/>
                          </a:solidFill>
                          <a:effectLst/>
                          <a:latin typeface="Calibri" panose="020F0502020204030204" pitchFamily="34" charset="0"/>
                        </a:rPr>
                        <a:t>bps)</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5D (bps)</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YTD (</a:t>
                      </a:r>
                      <a:r>
                        <a:rPr lang="en-US" sz="800" b="1" i="0" u="none" strike="noStrike" dirty="0">
                          <a:solidFill>
                            <a:srgbClr val="FFFFFF"/>
                          </a:solidFill>
                          <a:effectLst/>
                          <a:latin typeface="Calibri" panose="020F0502020204030204" pitchFamily="34" charset="0"/>
                        </a:rPr>
                        <a:t>bps)</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a16="http://schemas.microsoft.com/office/drawing/2014/main" val="10000"/>
                  </a:ext>
                </a:extLst>
              </a:tr>
              <a:tr h="159544">
                <a:tc>
                  <a:txBody>
                    <a:bodyPr/>
                    <a:lstStyle/>
                    <a:p>
                      <a:pPr algn="ctr" fontAlgn="ctr"/>
                      <a:r>
                        <a:rPr lang="en-US" sz="800" b="0" i="0" u="none" strike="noStrike" dirty="0">
                          <a:solidFill>
                            <a:srgbClr val="000000"/>
                          </a:solidFill>
                          <a:effectLst/>
                          <a:latin typeface="Calibri" panose="020F0502020204030204" pitchFamily="34" charset="0"/>
                        </a:rPr>
                        <a:t>IndoGB 5Y (IDR)</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6.98</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1.20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(2.30)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142.50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1"/>
                  </a:ext>
                </a:extLst>
              </a:tr>
              <a:tr h="154781">
                <a:tc>
                  <a:txBody>
                    <a:bodyPr/>
                    <a:lstStyle/>
                    <a:p>
                      <a:pPr algn="ctr" fontAlgn="ctr"/>
                      <a:r>
                        <a:rPr lang="en-US" sz="800" b="0" i="0" u="none" strike="noStrike" dirty="0">
                          <a:solidFill>
                            <a:srgbClr val="000000"/>
                          </a:solidFill>
                          <a:effectLst/>
                          <a:latin typeface="Calibri" panose="020F0502020204030204" pitchFamily="34" charset="0"/>
                        </a:rPr>
                        <a:t>IndoGB 10Y (IDR)</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7.10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0.00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(2.50)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102.70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val="10002"/>
                  </a:ext>
                </a:extLst>
              </a:tr>
              <a:tr h="157163">
                <a:tc>
                  <a:txBody>
                    <a:bodyPr/>
                    <a:lstStyle/>
                    <a:p>
                      <a:pPr algn="ctr" fontAlgn="ctr"/>
                      <a:r>
                        <a:rPr lang="en-US" sz="800" b="0" i="0" u="none" strike="noStrike" dirty="0">
                          <a:solidFill>
                            <a:srgbClr val="000000"/>
                          </a:solidFill>
                          <a:effectLst/>
                          <a:latin typeface="Calibri" panose="020F0502020204030204" pitchFamily="34" charset="0"/>
                        </a:rPr>
                        <a:t>IndoGB 20Y (IDR)</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7.18</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0.00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(2.50)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67.20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3"/>
                  </a:ext>
                </a:extLst>
              </a:tr>
              <a:tr h="154781">
                <a:tc>
                  <a:txBody>
                    <a:bodyPr/>
                    <a:lstStyle/>
                    <a:p>
                      <a:pPr algn="ctr" fontAlgn="ctr"/>
                      <a:r>
                        <a:rPr lang="en-US" sz="800" b="0" i="0" u="none" strike="noStrike" dirty="0">
                          <a:solidFill>
                            <a:srgbClr val="000000"/>
                          </a:solidFill>
                          <a:effectLst/>
                          <a:latin typeface="Calibri" panose="020F0502020204030204" pitchFamily="34" charset="0"/>
                        </a:rPr>
                        <a:t>IndoGB 5Y (USD)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5.64</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3.70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22.90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115.40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val="10004"/>
                  </a:ext>
                </a:extLst>
              </a:tr>
              <a:tr h="159543">
                <a:tc>
                  <a:txBody>
                    <a:bodyPr/>
                    <a:lstStyle/>
                    <a:p>
                      <a:pPr algn="ctr" fontAlgn="ctr"/>
                      <a:r>
                        <a:rPr lang="en-US" sz="800" b="0" i="0" u="none" strike="noStrike" dirty="0">
                          <a:solidFill>
                            <a:srgbClr val="000000"/>
                          </a:solidFill>
                          <a:effectLst/>
                          <a:latin typeface="Calibri" panose="020F0502020204030204" pitchFamily="34" charset="0"/>
                        </a:rPr>
                        <a:t>IndoGB 10Y (USD)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6.09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1.50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18.50</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121.10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5"/>
                  </a:ext>
                </a:extLst>
              </a:tr>
              <a:tr h="159545">
                <a:tc>
                  <a:txBody>
                    <a:bodyPr/>
                    <a:lstStyle/>
                    <a:p>
                      <a:pPr algn="ctr" fontAlgn="ctr"/>
                      <a:r>
                        <a:rPr lang="en-US" sz="800" b="0" i="0" u="none" strike="noStrike" dirty="0">
                          <a:solidFill>
                            <a:srgbClr val="000000"/>
                          </a:solidFill>
                          <a:effectLst/>
                          <a:latin typeface="Calibri" panose="020F0502020204030204" pitchFamily="34" charset="0"/>
                        </a:rPr>
                        <a:t>IndoGB 30Y (USD)</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6.27</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2.80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14.60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93.40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val="10006"/>
                  </a:ext>
                </a:extLst>
              </a:tr>
              <a:tr h="157162">
                <a:tc>
                  <a:txBody>
                    <a:bodyPr/>
                    <a:lstStyle/>
                    <a:p>
                      <a:pPr algn="ctr" fontAlgn="ctr"/>
                      <a:r>
                        <a:rPr lang="en-US" sz="800" b="0" i="0" u="none" strike="noStrike" dirty="0">
                          <a:solidFill>
                            <a:srgbClr val="000000"/>
                          </a:solidFill>
                          <a:effectLst/>
                          <a:latin typeface="Calibri" panose="020F0502020204030204" pitchFamily="34" charset="0"/>
                        </a:rPr>
                        <a:t>US Treasury 5Y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4.99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(7.15)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13.15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126.23</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7"/>
                  </a:ext>
                </a:extLst>
              </a:tr>
              <a:tr h="159544">
                <a:tc>
                  <a:txBody>
                    <a:bodyPr/>
                    <a:lstStyle/>
                    <a:p>
                      <a:pPr algn="ctr" fontAlgn="ctr"/>
                      <a:r>
                        <a:rPr lang="en-US" sz="800" b="0" i="0" u="none" strike="noStrike" dirty="0">
                          <a:solidFill>
                            <a:srgbClr val="000000"/>
                          </a:solidFill>
                          <a:effectLst/>
                          <a:latin typeface="Calibri" panose="020F0502020204030204" pitchFamily="34" charset="0"/>
                        </a:rPr>
                        <a:t>US Treasury 10Y</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5.16</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(3.74)</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16.43</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99.34</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val="10008"/>
                  </a:ext>
                </a:extLst>
              </a:tr>
              <a:tr h="157162">
                <a:tc>
                  <a:txBody>
                    <a:bodyPr/>
                    <a:lstStyle/>
                    <a:p>
                      <a:pPr algn="ctr" fontAlgn="ctr"/>
                      <a:r>
                        <a:rPr lang="en-US" sz="800" b="0" i="0" u="none" strike="noStrike">
                          <a:solidFill>
                            <a:srgbClr val="000000"/>
                          </a:solidFill>
                          <a:effectLst/>
                          <a:latin typeface="Calibri" panose="020F0502020204030204" pitchFamily="34" charset="0"/>
                        </a:rPr>
                        <a:t>US Treasury 30Y</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5.49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1.45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16.53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64.69</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9"/>
                  </a:ext>
                </a:extLst>
              </a:tr>
              <a:tr h="154782">
                <a:tc>
                  <a:txBody>
                    <a:bodyPr/>
                    <a:lstStyle/>
                    <a:p>
                      <a:pPr algn="ctr" fontAlgn="ctr"/>
                      <a:r>
                        <a:rPr lang="en-US" sz="800" b="0" i="0" u="none" strike="noStrike" dirty="0">
                          <a:solidFill>
                            <a:srgbClr val="000000"/>
                          </a:solidFill>
                          <a:effectLst/>
                          <a:latin typeface="Calibri" panose="020F0502020204030204" pitchFamily="34" charset="0"/>
                        </a:rPr>
                        <a:t>Indo CDS (USD) 5Y</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88.28</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(0.14)</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6.27</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19.42</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CECEC"/>
                    </a:solidFill>
                  </a:tcPr>
                </a:tc>
                <a:extLst>
                  <a:ext uri="{0D108BD9-81ED-4DB2-BD59-A6C34878D82A}">
                    <a16:rowId xmlns:a16="http://schemas.microsoft.com/office/drawing/2014/main" val="10010"/>
                  </a:ext>
                </a:extLst>
              </a:tr>
            </a:tbl>
          </a:graphicData>
        </a:graphic>
      </p:graphicFrame>
      <p:graphicFrame>
        <p:nvGraphicFramePr>
          <p:cNvPr id="14" name="Table 13"/>
          <p:cNvGraphicFramePr>
            <a:graphicFrameLocks noGrp="1"/>
          </p:cNvGraphicFramePr>
          <p:nvPr/>
        </p:nvGraphicFramePr>
        <p:xfrm>
          <a:off x="290457" y="7045746"/>
          <a:ext cx="2994081" cy="1260054"/>
        </p:xfrm>
        <a:graphic>
          <a:graphicData uri="http://schemas.openxmlformats.org/drawingml/2006/table">
            <a:tbl>
              <a:tblPr/>
              <a:tblGrid>
                <a:gridCol w="1080100">
                  <a:extLst>
                    <a:ext uri="{9D8B030D-6E8A-4147-A177-3AD203B41FA5}">
                      <a16:colId xmlns:a16="http://schemas.microsoft.com/office/drawing/2014/main" val="20000"/>
                    </a:ext>
                  </a:extLst>
                </a:gridCol>
                <a:gridCol w="631800">
                  <a:extLst>
                    <a:ext uri="{9D8B030D-6E8A-4147-A177-3AD203B41FA5}">
                      <a16:colId xmlns:a16="http://schemas.microsoft.com/office/drawing/2014/main" val="20001"/>
                    </a:ext>
                  </a:extLst>
                </a:gridCol>
                <a:gridCol w="408811">
                  <a:extLst>
                    <a:ext uri="{9D8B030D-6E8A-4147-A177-3AD203B41FA5}">
                      <a16:colId xmlns:a16="http://schemas.microsoft.com/office/drawing/2014/main" val="20002"/>
                    </a:ext>
                  </a:extLst>
                </a:gridCol>
                <a:gridCol w="408811">
                  <a:extLst>
                    <a:ext uri="{9D8B030D-6E8A-4147-A177-3AD203B41FA5}">
                      <a16:colId xmlns:a16="http://schemas.microsoft.com/office/drawing/2014/main" val="20003"/>
                    </a:ext>
                  </a:extLst>
                </a:gridCol>
                <a:gridCol w="464559">
                  <a:extLst>
                    <a:ext uri="{9D8B030D-6E8A-4147-A177-3AD203B41FA5}">
                      <a16:colId xmlns:a16="http://schemas.microsoft.com/office/drawing/2014/main" val="20004"/>
                    </a:ext>
                  </a:extLst>
                </a:gridCol>
              </a:tblGrid>
              <a:tr h="140006">
                <a:tc>
                  <a:txBody>
                    <a:bodyPr/>
                    <a:lstStyle/>
                    <a:p>
                      <a:pPr algn="ctr" fontAlgn="ctr"/>
                      <a:r>
                        <a:rPr lang="en-US" sz="800" b="1" i="0" u="none" strike="noStrike" dirty="0">
                          <a:solidFill>
                            <a:srgbClr val="FFFFFF"/>
                          </a:solidFill>
                          <a:effectLst/>
                          <a:latin typeface="Calibri" panose="020F0502020204030204" pitchFamily="34" charset="0"/>
                        </a:rPr>
                        <a:t>Commodities</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Last Price</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1D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5D</a:t>
                      </a:r>
                      <a:endParaRPr lang="en-US" sz="800" b="1" i="0" u="none" strike="noStrike" dirty="0">
                        <a:solidFill>
                          <a:srgbClr val="FFFFFF"/>
                        </a:solidFill>
                        <a:effectLst/>
                        <a:latin typeface="Calibri" panose="020F0502020204030204" pitchFamily="34" charset="0"/>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 YTD</a:t>
                      </a:r>
                      <a:endParaRPr lang="en-US" sz="800" b="1" i="0" u="none" strike="noStrike" dirty="0">
                        <a:solidFill>
                          <a:srgbClr val="FFFFFF"/>
                        </a:solidFill>
                        <a:effectLst/>
                        <a:latin typeface="Calibri" panose="020F0502020204030204" pitchFamily="34" charset="0"/>
                      </a:endParaRP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a16="http://schemas.microsoft.com/office/drawing/2014/main" val="10000"/>
                  </a:ext>
                </a:extLst>
              </a:tr>
              <a:tr h="140006">
                <a:tc>
                  <a:txBody>
                    <a:bodyPr/>
                    <a:lstStyle/>
                    <a:p>
                      <a:pPr algn="ctr" fontAlgn="ctr"/>
                      <a:r>
                        <a:rPr lang="en-US" sz="800" b="0" i="0" u="none" strike="noStrike">
                          <a:solidFill>
                            <a:srgbClr val="000000"/>
                          </a:solidFill>
                          <a:effectLst/>
                          <a:latin typeface="Calibri" panose="020F0502020204030204" pitchFamily="34" charset="0"/>
                        </a:rPr>
                        <a:t>WTI Oil</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92.41</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(2.33)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(3.82)</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62.35</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1"/>
                  </a:ext>
                </a:extLst>
              </a:tr>
              <a:tr h="140006">
                <a:tc>
                  <a:txBody>
                    <a:bodyPr/>
                    <a:lstStyle/>
                    <a:p>
                      <a:pPr algn="ctr" fontAlgn="ctr"/>
                      <a:r>
                        <a:rPr lang="en-US" sz="800" b="0" i="0" u="none" strike="noStrike">
                          <a:solidFill>
                            <a:srgbClr val="000000"/>
                          </a:solidFill>
                          <a:effectLst/>
                          <a:latin typeface="Calibri" panose="020F0502020204030204" pitchFamily="34" charset="0"/>
                        </a:rPr>
                        <a:t>Brent Oil</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104.32</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(2.14)</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0.43</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73.32</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val="10002"/>
                  </a:ext>
                </a:extLst>
              </a:tr>
              <a:tr h="140006">
                <a:tc>
                  <a:txBody>
                    <a:bodyPr/>
                    <a:lstStyle/>
                    <a:p>
                      <a:pPr algn="ctr" fontAlgn="ctr"/>
                      <a:r>
                        <a:rPr lang="en-US" sz="800" b="0" i="0" u="none" strike="noStrike">
                          <a:solidFill>
                            <a:srgbClr val="000000"/>
                          </a:solidFill>
                          <a:effectLst/>
                          <a:latin typeface="Calibri" panose="020F0502020204030204" pitchFamily="34" charset="0"/>
                        </a:rPr>
                        <a:t>Gold </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dirty="0">
                          <a:solidFill>
                            <a:srgbClr val="000000"/>
                          </a:solidFill>
                          <a:effectLst/>
                          <a:latin typeface="Calibri" panose="020F0502020204030204" pitchFamily="34" charset="0"/>
                        </a:rPr>
                        <a:t>4,284.81</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0.23</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(2.14)</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(0.80)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3"/>
                  </a:ext>
                </a:extLst>
              </a:tr>
              <a:tr h="140006">
                <a:tc>
                  <a:txBody>
                    <a:bodyPr/>
                    <a:lstStyle/>
                    <a:p>
                      <a:pPr algn="ctr" fontAlgn="ctr"/>
                      <a:r>
                        <a:rPr lang="en-US" sz="800" b="0" i="0" u="none" strike="noStrike">
                          <a:solidFill>
                            <a:srgbClr val="000000"/>
                          </a:solidFill>
                          <a:effectLst/>
                          <a:latin typeface="Calibri" panose="020F0502020204030204" pitchFamily="34" charset="0"/>
                        </a:rPr>
                        <a:t>Natural Gas</a:t>
                      </a:r>
                      <a:endParaRPr lang="en-US" sz="8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3.20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(3.06)</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9.75</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(15.02)</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val="10004"/>
                  </a:ext>
                </a:extLst>
              </a:tr>
              <a:tr h="140006">
                <a:tc>
                  <a:txBody>
                    <a:bodyPr/>
                    <a:lstStyle/>
                    <a:p>
                      <a:pPr algn="ctr" fontAlgn="ctr"/>
                      <a:r>
                        <a:rPr lang="en-US" sz="800" b="0" i="0" u="none" strike="noStrike">
                          <a:solidFill>
                            <a:srgbClr val="000000"/>
                          </a:solidFill>
                          <a:effectLst/>
                          <a:latin typeface="Calibri" panose="020F0502020204030204" pitchFamily="34" charset="0"/>
                        </a:rPr>
                        <a:t>Coal</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145.85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0.59</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1.28</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35.67</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5"/>
                  </a:ext>
                </a:extLst>
              </a:tr>
              <a:tr h="140006">
                <a:tc>
                  <a:txBody>
                    <a:bodyPr/>
                    <a:lstStyle/>
                    <a:p>
                      <a:pPr algn="ctr" fontAlgn="ctr"/>
                      <a:r>
                        <a:rPr lang="en-US" sz="800" b="0" i="0" u="none" strike="noStrike">
                          <a:solidFill>
                            <a:srgbClr val="000000"/>
                          </a:solidFill>
                          <a:effectLst/>
                          <a:latin typeface="Calibri" panose="020F0502020204030204" pitchFamily="34" charset="0"/>
                        </a:rPr>
                        <a:t>Nickel</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16,203.85</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(1.10)</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0.83</a:t>
                      </a:r>
                    </a:p>
                  </a:txBody>
                  <a:tcPr marL="0" marR="0" marT="0" marB="0" anchor="ctr">
                    <a:lnL>
                      <a:noFill/>
                    </a:lnL>
                    <a:lnR>
                      <a:noFill/>
                    </a:lnR>
                    <a:lnT>
                      <a:noFill/>
                    </a:lnT>
                    <a:lnB>
                      <a:noFill/>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(2.07)</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val="10006"/>
                  </a:ext>
                </a:extLst>
              </a:tr>
              <a:tr h="140006">
                <a:tc>
                  <a:txBody>
                    <a:bodyPr/>
                    <a:lstStyle/>
                    <a:p>
                      <a:pPr algn="ctr" fontAlgn="ctr"/>
                      <a:r>
                        <a:rPr lang="en-US" sz="800" b="0" i="0" u="none" strike="noStrike">
                          <a:solidFill>
                            <a:srgbClr val="000000"/>
                          </a:solidFill>
                          <a:effectLst/>
                          <a:latin typeface="Calibri" panose="020F0502020204030204" pitchFamily="34" charset="0"/>
                        </a:rPr>
                        <a:t>Copper</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669.55</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FF0000"/>
                          </a:solidFill>
                          <a:effectLst/>
                          <a:latin typeface="Calibri" panose="020F0502020204030204" pitchFamily="34" charset="0"/>
                        </a:rPr>
                        <a:t>(0.34)</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1.22</a:t>
                      </a:r>
                    </a:p>
                  </a:txBody>
                  <a:tcPr marL="0" marR="0" marT="0" marB="0" anchor="ctr">
                    <a:lnL>
                      <a:noFill/>
                    </a:lnL>
                    <a:lnR>
                      <a:noFill/>
                    </a:lnR>
                    <a:lnT>
                      <a:noFill/>
                    </a:lnT>
                    <a:lnB>
                      <a:noFill/>
                    </a:lnB>
                    <a:solidFill>
                      <a:srgbClr val="FFFFFF"/>
                    </a:solidFill>
                  </a:tcPr>
                </a:tc>
                <a:tc>
                  <a:txBody>
                    <a:bodyPr/>
                    <a:lstStyle/>
                    <a:p>
                      <a:pPr algn="ctr" fontAlgn="ctr"/>
                      <a:r>
                        <a:rPr lang="en-ID" sz="800" b="0" i="0" u="none" strike="noStrike">
                          <a:solidFill>
                            <a:srgbClr val="000000"/>
                          </a:solidFill>
                          <a:effectLst/>
                          <a:latin typeface="Calibri" panose="020F0502020204030204" pitchFamily="34" charset="0"/>
                        </a:rPr>
                        <a:t>17.84</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FFFFFF"/>
                    </a:solidFill>
                  </a:tcPr>
                </a:tc>
                <a:extLst>
                  <a:ext uri="{0D108BD9-81ED-4DB2-BD59-A6C34878D82A}">
                    <a16:rowId xmlns:a16="http://schemas.microsoft.com/office/drawing/2014/main" val="10007"/>
                  </a:ext>
                </a:extLst>
              </a:tr>
              <a:tr h="140006">
                <a:tc>
                  <a:txBody>
                    <a:bodyPr/>
                    <a:lstStyle/>
                    <a:p>
                      <a:pPr algn="ctr" fontAlgn="ctr"/>
                      <a:r>
                        <a:rPr lang="en-US" sz="800" b="0" i="0" u="none" strike="noStrike">
                          <a:solidFill>
                            <a:srgbClr val="000000"/>
                          </a:solidFill>
                          <a:effectLst/>
                          <a:latin typeface="Calibri" panose="020F0502020204030204" pitchFamily="34" charset="0"/>
                        </a:rPr>
                        <a:t>CPO</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4,475.00</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(1.95)</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(1.95)</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11.93</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CECEC"/>
                    </a:solidFill>
                  </a:tcPr>
                </a:tc>
                <a:extLst>
                  <a:ext uri="{0D108BD9-81ED-4DB2-BD59-A6C34878D82A}">
                    <a16:rowId xmlns:a16="http://schemas.microsoft.com/office/drawing/2014/main" val="10008"/>
                  </a:ext>
                </a:extLst>
              </a:tr>
            </a:tbl>
          </a:graphicData>
        </a:graphic>
      </p:graphicFrame>
      <p:graphicFrame>
        <p:nvGraphicFramePr>
          <p:cNvPr id="22" name="Table 21"/>
          <p:cNvGraphicFramePr>
            <a:graphicFrameLocks noGrp="1"/>
          </p:cNvGraphicFramePr>
          <p:nvPr/>
        </p:nvGraphicFramePr>
        <p:xfrm>
          <a:off x="3505199" y="7045747"/>
          <a:ext cx="3127377" cy="609600"/>
        </p:xfrm>
        <a:graphic>
          <a:graphicData uri="http://schemas.openxmlformats.org/drawingml/2006/table">
            <a:tbl>
              <a:tblPr/>
              <a:tblGrid>
                <a:gridCol w="1295401">
                  <a:extLst>
                    <a:ext uri="{9D8B030D-6E8A-4147-A177-3AD203B41FA5}">
                      <a16:colId xmlns:a16="http://schemas.microsoft.com/office/drawing/2014/main" val="20000"/>
                    </a:ext>
                  </a:extLst>
                </a:gridCol>
                <a:gridCol w="457994">
                  <a:extLst>
                    <a:ext uri="{9D8B030D-6E8A-4147-A177-3AD203B41FA5}">
                      <a16:colId xmlns:a16="http://schemas.microsoft.com/office/drawing/2014/main" val="20001"/>
                    </a:ext>
                  </a:extLst>
                </a:gridCol>
                <a:gridCol w="457994">
                  <a:extLst>
                    <a:ext uri="{9D8B030D-6E8A-4147-A177-3AD203B41FA5}">
                      <a16:colId xmlns:a16="http://schemas.microsoft.com/office/drawing/2014/main" val="20002"/>
                    </a:ext>
                  </a:extLst>
                </a:gridCol>
                <a:gridCol w="457994">
                  <a:extLst>
                    <a:ext uri="{9D8B030D-6E8A-4147-A177-3AD203B41FA5}">
                      <a16:colId xmlns:a16="http://schemas.microsoft.com/office/drawing/2014/main" val="20003"/>
                    </a:ext>
                  </a:extLst>
                </a:gridCol>
                <a:gridCol w="457994">
                  <a:extLst>
                    <a:ext uri="{9D8B030D-6E8A-4147-A177-3AD203B41FA5}">
                      <a16:colId xmlns:a16="http://schemas.microsoft.com/office/drawing/2014/main" val="20004"/>
                    </a:ext>
                  </a:extLst>
                </a:gridCol>
              </a:tblGrid>
              <a:tr h="105083">
                <a:tc>
                  <a:txBody>
                    <a:bodyPr/>
                    <a:lstStyle/>
                    <a:p>
                      <a:pPr algn="ctr" fontAlgn="ctr"/>
                      <a:r>
                        <a:rPr lang="en-US" sz="800" b="1" i="0" u="none" strike="noStrike" dirty="0">
                          <a:solidFill>
                            <a:srgbClr val="FFFFFF"/>
                          </a:solidFill>
                          <a:effectLst/>
                          <a:latin typeface="Calibri" panose="020F0502020204030204" pitchFamily="34" charset="0"/>
                        </a:rPr>
                        <a:t>Asset Class</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1D</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WTD</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a:solidFill>
                            <a:srgbClr val="FFFFFF"/>
                          </a:solidFill>
                          <a:effectLst/>
                          <a:latin typeface="Calibri" panose="020F0502020204030204" pitchFamily="34" charset="0"/>
                        </a:rPr>
                        <a:t>MTD</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US" sz="800" b="1" i="0" u="none" strike="noStrike" dirty="0">
                          <a:solidFill>
                            <a:srgbClr val="FFFFFF"/>
                          </a:solidFill>
                          <a:effectLst/>
                          <a:latin typeface="Calibri" panose="020F0502020204030204" pitchFamily="34" charset="0"/>
                        </a:rPr>
                        <a:t>YTD</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a16="http://schemas.microsoft.com/office/drawing/2014/main" val="10000"/>
                  </a:ext>
                </a:extLst>
              </a:tr>
              <a:tr h="202835">
                <a:tc>
                  <a:txBody>
                    <a:bodyPr/>
                    <a:lstStyle/>
                    <a:p>
                      <a:pPr algn="ctr" fontAlgn="ctr"/>
                      <a:r>
                        <a:rPr lang="en-US" sz="800" b="0" i="0" u="none" strike="noStrike" dirty="0">
                          <a:solidFill>
                            <a:srgbClr val="000000"/>
                          </a:solidFill>
                          <a:effectLst/>
                          <a:latin typeface="Calibri" panose="020F0502020204030204" pitchFamily="34" charset="0"/>
                        </a:rPr>
                        <a:t>Equity</a:t>
                      </a:r>
                    </a:p>
                    <a:p>
                      <a:pPr algn="ctr" fontAlgn="ctr"/>
                      <a:r>
                        <a:rPr lang="en-US" sz="800" b="0" i="1" u="none" strike="noStrike" dirty="0">
                          <a:solidFill>
                            <a:srgbClr val="000000"/>
                          </a:solidFill>
                          <a:effectLst/>
                          <a:latin typeface="Calibri" panose="020F0502020204030204" pitchFamily="34" charset="0"/>
                        </a:rPr>
                        <a:t>(as of 25-September-26)</a:t>
                      </a: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800" b="0" i="0" u="none" strike="noStrike" dirty="0">
                          <a:solidFill>
                            <a:srgbClr val="FF0000"/>
                          </a:solidFill>
                          <a:effectLst/>
                          <a:latin typeface="Calibri" panose="020F0502020204030204" pitchFamily="34" charset="0"/>
                        </a:rPr>
                        <a:t>(0.56)</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(3.16)</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(6.79)</a:t>
                      </a:r>
                    </a:p>
                  </a:txBody>
                  <a:tcPr marL="0" marR="0" marT="0" marB="0" anchor="ctr">
                    <a:lnL>
                      <a:noFill/>
                    </a:lnL>
                    <a:lnR>
                      <a:noFill/>
                    </a:lnR>
                    <a:lnT>
                      <a:noFill/>
                    </a:lnT>
                    <a:lnB>
                      <a:noFill/>
                    </a:lnB>
                  </a:tcPr>
                </a:tc>
                <a:tc>
                  <a:txBody>
                    <a:bodyPr/>
                    <a:lstStyle/>
                    <a:p>
                      <a:pPr algn="ctr" fontAlgn="ctr"/>
                      <a:r>
                        <a:rPr lang="en-ID" sz="800" b="0" i="0" u="none" strike="noStrike">
                          <a:solidFill>
                            <a:srgbClr val="FF0000"/>
                          </a:solidFill>
                          <a:effectLst/>
                          <a:latin typeface="Calibri" panose="020F0502020204030204" pitchFamily="34" charset="0"/>
                        </a:rPr>
                        <a:t>(80.27)</a:t>
                      </a:r>
                    </a:p>
                  </a:txBody>
                  <a:tcPr marL="0" marR="0" marT="0" marB="0" anchor="ctr">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1"/>
                  </a:ext>
                </a:extLst>
              </a:tr>
              <a:tr h="42494">
                <a:tc>
                  <a:txBody>
                    <a:bodyPr/>
                    <a:lstStyle/>
                    <a:p>
                      <a:pPr algn="ctr" fontAlgn="ctr"/>
                      <a:r>
                        <a:rPr lang="en-US" sz="800" b="0" i="0" u="none" strike="noStrike" dirty="0">
                          <a:solidFill>
                            <a:srgbClr val="000000"/>
                          </a:solidFill>
                          <a:effectLst/>
                          <a:latin typeface="Calibri" panose="020F0502020204030204" pitchFamily="34" charset="0"/>
                        </a:rPr>
                        <a:t>Fixed Income</a:t>
                      </a:r>
                    </a:p>
                    <a:p>
                      <a:pPr algn="ctr" fontAlgn="ctr"/>
                      <a:r>
                        <a:rPr lang="en-US" sz="800" b="0" i="1" u="none" strike="noStrike" dirty="0">
                          <a:solidFill>
                            <a:srgbClr val="000000"/>
                          </a:solidFill>
                          <a:effectLst/>
                          <a:latin typeface="Calibri" panose="020F0502020204030204" pitchFamily="34" charset="0"/>
                        </a:rPr>
                        <a:t>(as of 24-September-26)</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(0.22)</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FF0000"/>
                          </a:solidFill>
                          <a:effectLst/>
                          <a:latin typeface="Calibri" panose="020F0502020204030204" pitchFamily="34" charset="0"/>
                        </a:rPr>
                        <a:t>(3.97)</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a:solidFill>
                            <a:srgbClr val="000000"/>
                          </a:solidFill>
                          <a:effectLst/>
                          <a:latin typeface="Calibri" panose="020F0502020204030204" pitchFamily="34" charset="0"/>
                        </a:rPr>
                        <a:t>0.72</a:t>
                      </a:r>
                    </a:p>
                  </a:txBody>
                  <a:tcPr marL="0" marR="0" marT="0" marB="0" anchor="ctr">
                    <a:lnL>
                      <a:noFill/>
                    </a:lnL>
                    <a:lnR>
                      <a:noFill/>
                    </a:lnR>
                    <a:lnT>
                      <a:noFill/>
                    </a:lnT>
                    <a:lnB w="6350" cap="flat" cmpd="sng" algn="ctr">
                      <a:solidFill>
                        <a:srgbClr val="000000"/>
                      </a:solidFill>
                      <a:prstDash val="solid"/>
                      <a:round/>
                      <a:headEnd type="none" w="med" len="med"/>
                      <a:tailEnd type="none" w="med" len="med"/>
                    </a:lnB>
                    <a:solidFill>
                      <a:srgbClr val="ECECEC"/>
                    </a:solidFill>
                  </a:tcPr>
                </a:tc>
                <a:tc>
                  <a:txBody>
                    <a:bodyPr/>
                    <a:lstStyle/>
                    <a:p>
                      <a:pPr algn="ctr" fontAlgn="ctr"/>
                      <a:r>
                        <a:rPr lang="en-ID" sz="800" b="0" i="0" u="none" strike="noStrike" dirty="0">
                          <a:solidFill>
                            <a:srgbClr val="000000"/>
                          </a:solidFill>
                          <a:effectLst/>
                          <a:latin typeface="Calibri" panose="020F0502020204030204" pitchFamily="34" charset="0"/>
                        </a:rPr>
                        <a:t>29.06</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ECECEC"/>
                    </a:solidFill>
                  </a:tcPr>
                </a:tc>
                <a:extLst>
                  <a:ext uri="{0D108BD9-81ED-4DB2-BD59-A6C34878D82A}">
                    <a16:rowId xmlns:a16="http://schemas.microsoft.com/office/drawing/2014/main" val="10002"/>
                  </a:ext>
                </a:extLst>
              </a:tr>
            </a:tbl>
          </a:graphicData>
        </a:graphic>
      </p:graphicFrame>
      <p:grpSp>
        <p:nvGrpSpPr>
          <p:cNvPr id="20" name="Group 19">
            <a:extLst>
              <a:ext uri="{FF2B5EF4-FFF2-40B4-BE49-F238E27FC236}">
                <a16:creationId xmlns:a16="http://schemas.microsoft.com/office/drawing/2014/main" id="{C6D63C31-C634-9431-C44D-F4360FFE17BA}"/>
              </a:ext>
            </a:extLst>
          </p:cNvPr>
          <p:cNvGrpSpPr/>
          <p:nvPr/>
        </p:nvGrpSpPr>
        <p:grpSpPr>
          <a:xfrm>
            <a:off x="424492" y="1352226"/>
            <a:ext cx="1308514" cy="246221"/>
            <a:chOff x="432982" y="1349096"/>
            <a:chExt cx="1308514" cy="246221"/>
          </a:xfrm>
        </p:grpSpPr>
        <p:sp>
          <p:nvSpPr>
            <p:cNvPr id="23" name="Rectangle 22">
              <a:extLst>
                <a:ext uri="{FF2B5EF4-FFF2-40B4-BE49-F238E27FC236}">
                  <a16:creationId xmlns:a16="http://schemas.microsoft.com/office/drawing/2014/main" id="{B8873FCB-3B47-3353-6E5E-8644C4894C78}"/>
                </a:ext>
              </a:extLst>
            </p:cNvPr>
            <p:cNvSpPr/>
            <p:nvPr/>
          </p:nvSpPr>
          <p:spPr>
            <a:xfrm>
              <a:off x="540663" y="1394217"/>
              <a:ext cx="1099508" cy="160796"/>
            </a:xfrm>
            <a:prstGeom prst="rect">
              <a:avLst/>
            </a:prstGeom>
            <a:solidFill>
              <a:srgbClr val="0051A2"/>
            </a:solidFill>
            <a:ln>
              <a:solidFill>
                <a:srgbClr val="0051A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F908AC75-40AA-5789-1A9F-4E0663226C3A}"/>
                </a:ext>
              </a:extLst>
            </p:cNvPr>
            <p:cNvSpPr txBox="1"/>
            <p:nvPr/>
          </p:nvSpPr>
          <p:spPr>
            <a:xfrm>
              <a:off x="432982" y="1349096"/>
              <a:ext cx="1308514" cy="246221"/>
            </a:xfrm>
            <a:prstGeom prst="rect">
              <a:avLst/>
            </a:prstGeom>
            <a:noFill/>
          </p:spPr>
          <p:txBody>
            <a:bodyPr wrap="square" rtlCol="0">
              <a:spAutoFit/>
            </a:bodyPr>
            <a:lstStyle/>
            <a:p>
              <a:pPr algn="ctr"/>
              <a:r>
                <a:rPr lang="en-US" sz="1000" b="1" dirty="0">
                  <a:solidFill>
                    <a:schemeClr val="bg1"/>
                  </a:solidFill>
                </a:rPr>
                <a:t>28 September 2026</a:t>
              </a:r>
            </a:p>
          </p:txBody>
        </p:sp>
      </p:grpSp>
    </p:spTree>
    <p:extLst>
      <p:ext uri="{BB962C8B-B14F-4D97-AF65-F5344CB8AC3E}">
        <p14:creationId xmlns:p14="http://schemas.microsoft.com/office/powerpoint/2010/main" val="19268401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35F96D-1A71-58E3-E1FF-DE0868712A15}"/>
            </a:ext>
          </a:extLst>
        </p:cNvPr>
        <p:cNvGrpSpPr/>
        <p:nvPr/>
      </p:nvGrpSpPr>
      <p:grpSpPr>
        <a:xfrm>
          <a:off x="0" y="0"/>
          <a:ext cx="0" cy="0"/>
          <a:chOff x="0" y="0"/>
          <a:chExt cx="0" cy="0"/>
        </a:xfrm>
      </p:grpSpPr>
      <p:graphicFrame>
        <p:nvGraphicFramePr>
          <p:cNvPr id="16" name="Table 15">
            <a:extLst>
              <a:ext uri="{FF2B5EF4-FFF2-40B4-BE49-F238E27FC236}">
                <a16:creationId xmlns:a16="http://schemas.microsoft.com/office/drawing/2014/main" id="{92C92BE2-1A26-DCA2-1425-0AA1741325AB}"/>
              </a:ext>
            </a:extLst>
          </p:cNvPr>
          <p:cNvGraphicFramePr>
            <a:graphicFrameLocks noGrp="1"/>
          </p:cNvGraphicFramePr>
          <p:nvPr/>
        </p:nvGraphicFramePr>
        <p:xfrm>
          <a:off x="327025" y="1905000"/>
          <a:ext cx="6305549" cy="2759975"/>
        </p:xfrm>
        <a:graphic>
          <a:graphicData uri="http://schemas.openxmlformats.org/drawingml/2006/table">
            <a:tbl>
              <a:tblPr/>
              <a:tblGrid>
                <a:gridCol w="2378781">
                  <a:extLst>
                    <a:ext uri="{9D8B030D-6E8A-4147-A177-3AD203B41FA5}">
                      <a16:colId xmlns:a16="http://schemas.microsoft.com/office/drawing/2014/main" val="3984479303"/>
                    </a:ext>
                  </a:extLst>
                </a:gridCol>
                <a:gridCol w="490011">
                  <a:extLst>
                    <a:ext uri="{9D8B030D-6E8A-4147-A177-3AD203B41FA5}">
                      <a16:colId xmlns:a16="http://schemas.microsoft.com/office/drawing/2014/main" val="1443360456"/>
                    </a:ext>
                  </a:extLst>
                </a:gridCol>
                <a:gridCol w="543467">
                  <a:extLst>
                    <a:ext uri="{9D8B030D-6E8A-4147-A177-3AD203B41FA5}">
                      <a16:colId xmlns:a16="http://schemas.microsoft.com/office/drawing/2014/main" val="3887741517"/>
                    </a:ext>
                  </a:extLst>
                </a:gridCol>
                <a:gridCol w="490011">
                  <a:extLst>
                    <a:ext uri="{9D8B030D-6E8A-4147-A177-3AD203B41FA5}">
                      <a16:colId xmlns:a16="http://schemas.microsoft.com/office/drawing/2014/main" val="474306127"/>
                    </a:ext>
                  </a:extLst>
                </a:gridCol>
                <a:gridCol w="490011">
                  <a:extLst>
                    <a:ext uri="{9D8B030D-6E8A-4147-A177-3AD203B41FA5}">
                      <a16:colId xmlns:a16="http://schemas.microsoft.com/office/drawing/2014/main" val="3509474900"/>
                    </a:ext>
                  </a:extLst>
                </a:gridCol>
                <a:gridCol w="490011">
                  <a:extLst>
                    <a:ext uri="{9D8B030D-6E8A-4147-A177-3AD203B41FA5}">
                      <a16:colId xmlns:a16="http://schemas.microsoft.com/office/drawing/2014/main" val="1189944801"/>
                    </a:ext>
                  </a:extLst>
                </a:gridCol>
                <a:gridCol w="474419">
                  <a:extLst>
                    <a:ext uri="{9D8B030D-6E8A-4147-A177-3AD203B41FA5}">
                      <a16:colId xmlns:a16="http://schemas.microsoft.com/office/drawing/2014/main" val="149569299"/>
                    </a:ext>
                  </a:extLst>
                </a:gridCol>
                <a:gridCol w="474419">
                  <a:extLst>
                    <a:ext uri="{9D8B030D-6E8A-4147-A177-3AD203B41FA5}">
                      <a16:colId xmlns:a16="http://schemas.microsoft.com/office/drawing/2014/main" val="432537367"/>
                    </a:ext>
                  </a:extLst>
                </a:gridCol>
                <a:gridCol w="474419">
                  <a:extLst>
                    <a:ext uri="{9D8B030D-6E8A-4147-A177-3AD203B41FA5}">
                      <a16:colId xmlns:a16="http://schemas.microsoft.com/office/drawing/2014/main" val="1907178657"/>
                    </a:ext>
                  </a:extLst>
                </a:gridCol>
              </a:tblGrid>
              <a:tr h="306663">
                <a:tc>
                  <a:txBody>
                    <a:bodyPr/>
                    <a:lstStyle/>
                    <a:p>
                      <a:pPr algn="ctr" fontAlgn="ctr"/>
                      <a:r>
                        <a:rPr lang="en-ID" sz="1000" b="1" i="0" u="none" strike="noStrike" dirty="0">
                          <a:solidFill>
                            <a:srgbClr val="FFFFFF"/>
                          </a:solidFill>
                          <a:effectLst/>
                          <a:latin typeface="Calibri" panose="020F0502020204030204" pitchFamily="34" charset="0"/>
                        </a:rPr>
                        <a:t>Macro Indicator</a:t>
                      </a:r>
                    </a:p>
                  </a:txBody>
                  <a:tcPr marL="0" marR="0" marT="0"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2019</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2020</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2021</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2022</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2023</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2024</a:t>
                      </a:r>
                    </a:p>
                  </a:txBody>
                  <a:tcPr marL="0" marR="0" marT="0" marB="0" anchor="ctr">
                    <a:lnL>
                      <a:noFill/>
                    </a:lnL>
                    <a:lnR>
                      <a:noFill/>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dirty="0">
                          <a:solidFill>
                            <a:srgbClr val="FFFFFF"/>
                          </a:solidFill>
                          <a:effectLst/>
                          <a:latin typeface="Calibri" panose="020F0502020204030204" pitchFamily="34" charset="0"/>
                        </a:rPr>
                        <a:t>2025</a:t>
                      </a:r>
                    </a:p>
                  </a:txBody>
                  <a:tcPr marL="0" marR="0" marT="0" marB="0" anchor="ctr">
                    <a:lnL>
                      <a:noFill/>
                    </a:lnL>
                    <a:lnR w="6350" cap="flat" cmpd="sng" algn="ctr">
                      <a:no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tc>
                  <a:txBody>
                    <a:bodyPr/>
                    <a:lstStyle/>
                    <a:p>
                      <a:pPr algn="ctr" fontAlgn="ctr"/>
                      <a:r>
                        <a:rPr lang="en-ID" sz="900" b="1" i="0" u="none" strike="noStrike" dirty="0">
                          <a:solidFill>
                            <a:srgbClr val="FFFFFF"/>
                          </a:solidFill>
                          <a:effectLst/>
                          <a:latin typeface="Calibri" panose="020F0502020204030204" pitchFamily="34" charset="0"/>
                        </a:rPr>
                        <a:t>2026E</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005CAC"/>
                    </a:solidFill>
                  </a:tcPr>
                </a:tc>
                <a:extLst>
                  <a:ext uri="{0D108BD9-81ED-4DB2-BD59-A6C34878D82A}">
                    <a16:rowId xmlns:a16="http://schemas.microsoft.com/office/drawing/2014/main" val="1661807329"/>
                  </a:ext>
                </a:extLst>
              </a:tr>
              <a:tr h="229998">
                <a:tc>
                  <a:txBody>
                    <a:bodyPr/>
                    <a:lstStyle/>
                    <a:p>
                      <a:pPr algn="l" fontAlgn="ctr"/>
                      <a:r>
                        <a:rPr lang="en-ID" sz="900" b="0" i="0" u="none" strike="noStrike">
                          <a:solidFill>
                            <a:srgbClr val="000000"/>
                          </a:solidFill>
                          <a:effectLst/>
                          <a:latin typeface="Calibri" panose="020F0502020204030204" pitchFamily="34" charset="0"/>
                        </a:rPr>
                        <a:t> Real Gross Domestic Product Growth (% YoY</a:t>
                      </a:r>
                      <a:r>
                        <a:rPr lang="en-ID" sz="900" b="0" i="0" u="none" strike="noStrike" dirty="0">
                          <a:solidFill>
                            <a:srgbClr val="000000"/>
                          </a:solidFill>
                          <a:effectLst/>
                          <a:latin typeface="Calibri" panose="020F0502020204030204" pitchFamily="34" charset="0"/>
                        </a:rPr>
                        <a:t>)</a:t>
                      </a: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-2,1</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3,7</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5,3</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5,1</a:t>
                      </a:r>
                    </a:p>
                  </a:txBody>
                  <a:tcPr marL="0" marR="0" marT="0" marB="0" anchor="ctr">
                    <a:lnL>
                      <a:noFill/>
                    </a:lnL>
                    <a:lnR w="6350" cap="flat" cmpd="sng" algn="ctr">
                      <a:noFill/>
                      <a:prstDash val="solid"/>
                      <a:round/>
                      <a:headEnd type="none" w="med" len="med"/>
                      <a:tailEnd type="none" w="med" len="med"/>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5,1</a:t>
                      </a:r>
                    </a:p>
                  </a:txBody>
                  <a:tcPr marL="0" marR="0" marT="0" marB="0" anchor="ctr">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817212798"/>
                  </a:ext>
                </a:extLst>
              </a:tr>
              <a:tr h="229998">
                <a:tc>
                  <a:txBody>
                    <a:bodyPr/>
                    <a:lstStyle/>
                    <a:p>
                      <a:pPr algn="l" fontAlgn="ctr"/>
                      <a:r>
                        <a:rPr lang="en-ID" sz="900" b="0" i="0" u="none" strike="noStrike">
                          <a:solidFill>
                            <a:srgbClr val="000000"/>
                          </a:solidFill>
                          <a:effectLst/>
                          <a:latin typeface="Calibri" panose="020F0502020204030204" pitchFamily="34" charset="0"/>
                        </a:rPr>
                        <a:t> Nominal Gross Domestic Product Growth (% YoY</a:t>
                      </a:r>
                      <a:r>
                        <a:rPr lang="en-ID" sz="900" b="0" i="0" u="none" strike="noStrike" dirty="0">
                          <a:solidFill>
                            <a:srgbClr val="000000"/>
                          </a:solidFill>
                          <a:effectLst/>
                          <a:latin typeface="Calibri" panose="020F0502020204030204" pitchFamily="34" charset="0"/>
                        </a:rPr>
                        <a:t>)</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6,7</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-2,5</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9,9</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15,4</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6,7</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6,0</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7,6</a:t>
                      </a:r>
                    </a:p>
                  </a:txBody>
                  <a:tcPr marL="0" marR="0" marT="0" marB="0" anchor="ctr">
                    <a:lnL>
                      <a:noFill/>
                    </a:lnL>
                    <a:lnR w="6350" cap="flat" cmpd="sng" algn="ctr">
                      <a:noFill/>
                      <a:prstDash val="solid"/>
                      <a:round/>
                      <a:headEnd type="none" w="med" len="med"/>
                      <a:tailEnd type="none" w="med" len="med"/>
                    </a:lnR>
                    <a:lnT>
                      <a:noFill/>
                    </a:lnT>
                    <a:lnB>
                      <a:noFill/>
                    </a:lnB>
                    <a:solidFill>
                      <a:srgbClr val="ECECEC"/>
                    </a:solidFill>
                  </a:tcPr>
                </a:tc>
                <a:tc>
                  <a:txBody>
                    <a:bodyPr/>
                    <a:lstStyle/>
                    <a:p>
                      <a:pPr algn="ctr" fontAlgn="ctr"/>
                      <a:r>
                        <a:rPr lang="en-US" sz="900" b="0" i="0" u="none" strike="noStrike" dirty="0">
                          <a:solidFill>
                            <a:srgbClr val="000000"/>
                          </a:solidFill>
                          <a:effectLst/>
                          <a:latin typeface="Calibri" panose="020F0502020204030204" pitchFamily="34" charset="0"/>
                        </a:rPr>
                        <a:t>9</a:t>
                      </a:r>
                      <a:r>
                        <a:rPr lang="en-ID" sz="900" b="0" i="0" u="none" strike="noStrike" dirty="0">
                          <a:solidFill>
                            <a:srgbClr val="000000"/>
                          </a:solidFill>
                          <a:effectLst/>
                          <a:latin typeface="Calibri" panose="020F0502020204030204" pitchFamily="34" charset="0"/>
                        </a:rPr>
                        <a:t>,0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val="3615074162"/>
                  </a:ext>
                </a:extLst>
              </a:tr>
              <a:tr h="229998">
                <a:tc>
                  <a:txBody>
                    <a:bodyPr/>
                    <a:lstStyle/>
                    <a:p>
                      <a:pPr algn="l" fontAlgn="ctr"/>
                      <a:r>
                        <a:rPr lang="en-ID" sz="900" b="0" i="0" u="none" strike="noStrike" dirty="0">
                          <a:solidFill>
                            <a:srgbClr val="000000"/>
                          </a:solidFill>
                          <a:effectLst/>
                          <a:latin typeface="Calibri" panose="020F0502020204030204" pitchFamily="34" charset="0"/>
                        </a:rPr>
                        <a:t> GDP per capita (US$)</a:t>
                      </a: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4.175</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3.912</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4.350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4.784</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4.920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4.960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5.083</a:t>
                      </a:r>
                    </a:p>
                  </a:txBody>
                  <a:tcPr marL="0" marR="0" marT="0" marB="0" anchor="ctr">
                    <a:lnL>
                      <a:noFill/>
                    </a:lnL>
                    <a:lnR w="6350" cap="flat" cmpd="sng" algn="ctr">
                      <a:noFill/>
                      <a:prstDash val="solid"/>
                      <a:round/>
                      <a:headEnd type="none" w="med" len="med"/>
                      <a:tailEnd type="none" w="med" len="med"/>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5.128</a:t>
                      </a:r>
                    </a:p>
                  </a:txBody>
                  <a:tcPr marL="0" marR="0" marT="0" marB="0" anchor="ctr">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3087802317"/>
                  </a:ext>
                </a:extLst>
              </a:tr>
              <a:tr h="229998">
                <a:tc>
                  <a:txBody>
                    <a:bodyPr/>
                    <a:lstStyle/>
                    <a:p>
                      <a:pPr algn="l" fontAlgn="ctr"/>
                      <a:r>
                        <a:rPr lang="en-ID" sz="900" b="0" i="0" u="none" strike="noStrike">
                          <a:solidFill>
                            <a:srgbClr val="000000"/>
                          </a:solidFill>
                          <a:effectLst/>
                          <a:latin typeface="Calibri" panose="020F0502020204030204" pitchFamily="34" charset="0"/>
                        </a:rPr>
                        <a:t> Consumer Price Index Inflation (% YoY</a:t>
                      </a:r>
                      <a:r>
                        <a:rPr lang="en-ID" sz="900" b="0" i="0" u="none" strike="noStrike" dirty="0">
                          <a:solidFill>
                            <a:srgbClr val="000000"/>
                          </a:solidFill>
                          <a:effectLst/>
                          <a:latin typeface="Calibri" panose="020F0502020204030204" pitchFamily="34" charset="0"/>
                        </a:rPr>
                        <a:t>)</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2,7</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1,7</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1,9</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5,5</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2,6</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1,6</a:t>
                      </a:r>
                    </a:p>
                  </a:txBody>
                  <a:tcPr marL="0" marR="0" marT="0" marB="0" anchor="ctr">
                    <a:lnL>
                      <a:noFill/>
                    </a:lnL>
                    <a:lnR>
                      <a:noFill/>
                    </a:lnR>
                    <a:lnT>
                      <a:noFill/>
                    </a:lnT>
                    <a:lnB>
                      <a:noFill/>
                    </a:lnB>
                    <a:solidFill>
                      <a:srgbClr val="ECECEC"/>
                    </a:solidFill>
                  </a:tcPr>
                </a:tc>
                <a:tc>
                  <a:txBody>
                    <a:bodyPr/>
                    <a:lstStyle/>
                    <a:p>
                      <a:pPr algn="ctr" fontAlgn="ctr"/>
                      <a:r>
                        <a:rPr lang="en-ID" sz="900" b="0" i="0" u="none" strike="noStrike" dirty="0">
                          <a:solidFill>
                            <a:srgbClr val="000000"/>
                          </a:solidFill>
                          <a:effectLst/>
                          <a:latin typeface="Calibri" panose="020F0502020204030204" pitchFamily="34" charset="0"/>
                        </a:rPr>
                        <a:t>2,9</a:t>
                      </a:r>
                    </a:p>
                  </a:txBody>
                  <a:tcPr marL="0" marR="0" marT="0" marB="0" anchor="ctr">
                    <a:lnL>
                      <a:noFill/>
                    </a:lnL>
                    <a:lnR w="6350" cap="flat" cmpd="sng" algn="ctr">
                      <a:noFill/>
                      <a:prstDash val="solid"/>
                      <a:round/>
                      <a:headEnd type="none" w="med" len="med"/>
                      <a:tailEnd type="none" w="med" len="med"/>
                    </a:lnR>
                    <a:lnT>
                      <a:noFill/>
                    </a:lnT>
                    <a:lnB>
                      <a:noFill/>
                    </a:lnB>
                    <a:solidFill>
                      <a:srgbClr val="ECECEC"/>
                    </a:solidFill>
                  </a:tcPr>
                </a:tc>
                <a:tc>
                  <a:txBody>
                    <a:bodyPr/>
                    <a:lstStyle/>
                    <a:p>
                      <a:pPr algn="ctr" fontAlgn="ctr"/>
                      <a:r>
                        <a:rPr lang="en-US" sz="900" b="0" i="0" u="none" strike="noStrike" dirty="0">
                          <a:solidFill>
                            <a:srgbClr val="000000"/>
                          </a:solidFill>
                          <a:effectLst/>
                          <a:latin typeface="Calibri" panose="020F0502020204030204" pitchFamily="34" charset="0"/>
                        </a:rPr>
                        <a:t>4,5</a:t>
                      </a:r>
                      <a:endParaRPr lang="en-ID" sz="900" b="0" i="0" u="none" strike="noStrike" dirty="0">
                        <a:solidFill>
                          <a:srgbClr val="000000"/>
                        </a:solidFill>
                        <a:effectLst/>
                        <a:latin typeface="Calibri" panose="020F0502020204030204" pitchFamily="34" charset="0"/>
                      </a:endParaRP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rgbClr val="ECECEC"/>
                    </a:solidFill>
                  </a:tcPr>
                </a:tc>
                <a:extLst>
                  <a:ext uri="{0D108BD9-81ED-4DB2-BD59-A6C34878D82A}">
                    <a16:rowId xmlns:a16="http://schemas.microsoft.com/office/drawing/2014/main" val="2484791044"/>
                  </a:ext>
                </a:extLst>
              </a:tr>
              <a:tr h="229998">
                <a:tc>
                  <a:txBody>
                    <a:bodyPr/>
                    <a:lstStyle/>
                    <a:p>
                      <a:pPr algn="l" fontAlgn="ctr"/>
                      <a:r>
                        <a:rPr lang="en-ID" sz="900" b="0" i="0" u="none" strike="noStrike">
                          <a:solidFill>
                            <a:srgbClr val="000000"/>
                          </a:solidFill>
                          <a:effectLst/>
                          <a:latin typeface="Calibri" panose="020F0502020204030204" pitchFamily="34" charset="0"/>
                        </a:rPr>
                        <a:t> BI Rate (%)</a:t>
                      </a:r>
                      <a:endParaRPr lang="en-ID" sz="9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5,00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3,75</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3,50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5,50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6,00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6,00</a:t>
                      </a:r>
                    </a:p>
                  </a:txBody>
                  <a:tcPr marL="0" marR="0" marT="0" marB="0" anchor="ctr">
                    <a:lnL>
                      <a:noFill/>
                    </a:lnL>
                    <a:lnR>
                      <a:noFill/>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4,75</a:t>
                      </a:r>
                    </a:p>
                  </a:txBody>
                  <a:tcPr marL="0" marR="0" marT="0" marB="0" anchor="ctr">
                    <a:lnL>
                      <a:noFill/>
                    </a:lnL>
                    <a:lnR w="6350" cap="flat" cmpd="sng" algn="ctr">
                      <a:noFill/>
                      <a:prstDash val="solid"/>
                      <a:round/>
                      <a:headEnd type="none" w="med" len="med"/>
                      <a:tailEnd type="none" w="med" len="med"/>
                    </a:lnR>
                    <a:lnT>
                      <a:noFill/>
                    </a:lnT>
                    <a:lnB>
                      <a:noFill/>
                    </a:lnB>
                  </a:tcPr>
                </a:tc>
                <a:tc>
                  <a:txBody>
                    <a:bodyPr/>
                    <a:lstStyle/>
                    <a:p>
                      <a:pPr algn="ctr" fontAlgn="ctr"/>
                      <a:r>
                        <a:rPr lang="en-ID" sz="900" b="0" i="0" u="none" strike="noStrike" dirty="0">
                          <a:solidFill>
                            <a:srgbClr val="000000"/>
                          </a:solidFill>
                          <a:effectLst/>
                          <a:latin typeface="Calibri" panose="020F0502020204030204" pitchFamily="34" charset="0"/>
                        </a:rPr>
                        <a:t>6,00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577388193"/>
                  </a:ext>
                </a:extLst>
              </a:tr>
              <a:tr h="229998">
                <a:tc>
                  <a:txBody>
                    <a:bodyPr/>
                    <a:lstStyle/>
                    <a:p>
                      <a:pPr algn="l" fontAlgn="ctr"/>
                      <a:r>
                        <a:rPr lang="en-ID" sz="900" b="0" i="0" u="none" strike="noStrike">
                          <a:solidFill>
                            <a:srgbClr val="000000"/>
                          </a:solidFill>
                          <a:effectLst/>
                          <a:latin typeface="Calibri" panose="020F0502020204030204" pitchFamily="34" charset="0"/>
                        </a:rPr>
                        <a:t> SBN 10Y yield (%)</a:t>
                      </a:r>
                      <a:endParaRPr lang="en-ID" sz="900" b="0" i="0" u="none" strike="noStrike" dirty="0">
                        <a:solidFill>
                          <a:srgbClr val="000000"/>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7,04</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5,86</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6,36</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6,92</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6,45</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6,97</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6,05</a:t>
                      </a:r>
                    </a:p>
                  </a:txBody>
                  <a:tcPr marL="0" marR="0" marT="0" marB="0" anchor="ctr">
                    <a:lnL>
                      <a:noFill/>
                    </a:lnL>
                    <a:lnR w="6350" cap="flat" cmpd="sng" algn="ctr">
                      <a:noFill/>
                      <a:prstDash val="solid"/>
                      <a:round/>
                      <a:headEnd type="none" w="med" len="med"/>
                      <a:tailEnd type="none" w="med" len="med"/>
                    </a:lnR>
                    <a:lnT>
                      <a:noFill/>
                    </a:lnT>
                    <a:lnB>
                      <a:noFill/>
                    </a:lnB>
                    <a:solidFill>
                      <a:schemeClr val="bg1">
                        <a:lumMod val="95000"/>
                      </a:schemeClr>
                    </a:solidFill>
                  </a:tcPr>
                </a:tc>
                <a:tc>
                  <a:txBody>
                    <a:bodyPr/>
                    <a:lstStyle/>
                    <a:p>
                      <a:pPr algn="ctr" fontAlgn="ctr"/>
                      <a:r>
                        <a:rPr lang="en-US" sz="900" b="0" i="0" u="none" strike="noStrike" dirty="0">
                          <a:solidFill>
                            <a:srgbClr val="000000"/>
                          </a:solidFill>
                          <a:effectLst/>
                          <a:latin typeface="Calibri" panose="020F0502020204030204" pitchFamily="34" charset="0"/>
                        </a:rPr>
                        <a:t>8,01</a:t>
                      </a:r>
                      <a:endParaRPr lang="en-ID" sz="900" b="0" i="0" u="none" strike="noStrike" dirty="0">
                        <a:solidFill>
                          <a:srgbClr val="000000"/>
                        </a:solidFill>
                        <a:effectLst/>
                        <a:latin typeface="Calibri" panose="020F0502020204030204" pitchFamily="34" charset="0"/>
                      </a:endParaRP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chemeClr val="bg1">
                        <a:lumMod val="95000"/>
                      </a:schemeClr>
                    </a:solidFill>
                  </a:tcPr>
                </a:tc>
                <a:extLst>
                  <a:ext uri="{0D108BD9-81ED-4DB2-BD59-A6C34878D82A}">
                    <a16:rowId xmlns:a16="http://schemas.microsoft.com/office/drawing/2014/main" val="3547017892"/>
                  </a:ext>
                </a:extLst>
              </a:tr>
              <a:tr h="229998">
                <a:tc>
                  <a:txBody>
                    <a:bodyPr/>
                    <a:lstStyle/>
                    <a:p>
                      <a:pPr algn="l" fontAlgn="ctr"/>
                      <a:r>
                        <a:rPr lang="en-ID" sz="900" b="0" i="0" u="none" strike="noStrike">
                          <a:solidFill>
                            <a:srgbClr val="000000"/>
                          </a:solidFill>
                          <a:effectLst/>
                          <a:latin typeface="Calibri" panose="020F0502020204030204" pitchFamily="34" charset="0"/>
                        </a:rPr>
                        <a:t> USD/IDR Exchange Rate (</a:t>
                      </a:r>
                      <a:r>
                        <a:rPr lang="en-ID" sz="900" b="0" i="0" u="none" strike="noStrike" dirty="0">
                          <a:solidFill>
                            <a:srgbClr val="000000"/>
                          </a:solidFill>
                          <a:effectLst/>
                          <a:latin typeface="Calibri" panose="020F0502020204030204" pitchFamily="34" charset="0"/>
                        </a:rPr>
                        <a:t>average)**</a:t>
                      </a:r>
                    </a:p>
                  </a:txBody>
                  <a:tcPr marL="0" marR="0" marT="0" marB="0" anchor="ctr">
                    <a:lnL w="6350" cap="flat" cmpd="sng" algn="ctr">
                      <a:solidFill>
                        <a:srgbClr val="000000"/>
                      </a:solidFill>
                      <a:prstDash val="solid"/>
                      <a:round/>
                      <a:headEnd type="none" w="med" len="med"/>
                      <a:tailEnd type="none" w="med" len="med"/>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14.141</a:t>
                      </a:r>
                    </a:p>
                  </a:txBody>
                  <a:tcPr marL="0" marR="0" marT="0" marB="0" anchor="ctr">
                    <a:lnL>
                      <a:noFill/>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14.529</a:t>
                      </a:r>
                    </a:p>
                  </a:txBody>
                  <a:tcPr marL="0" marR="0" marT="0" marB="0" anchor="ctr">
                    <a:lnL>
                      <a:noFill/>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14.297</a:t>
                      </a:r>
                    </a:p>
                  </a:txBody>
                  <a:tcPr marL="0" marR="0" marT="0" marB="0" anchor="ctr">
                    <a:lnL>
                      <a:noFill/>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14.874</a:t>
                      </a:r>
                    </a:p>
                  </a:txBody>
                  <a:tcPr marL="0" marR="0" marT="0" marB="0" anchor="ctr">
                    <a:lnL>
                      <a:noFill/>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15.248</a:t>
                      </a:r>
                    </a:p>
                  </a:txBody>
                  <a:tcPr marL="0" marR="0" marT="0" marB="0" anchor="ctr">
                    <a:lnL>
                      <a:noFill/>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15.841</a:t>
                      </a:r>
                    </a:p>
                  </a:txBody>
                  <a:tcPr marL="0" marR="0" marT="0" marB="0" anchor="ctr">
                    <a:lnL>
                      <a:noFill/>
                    </a:lnL>
                    <a:lnR>
                      <a:noFill/>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16.468</a:t>
                      </a:r>
                    </a:p>
                  </a:txBody>
                  <a:tcPr marL="0" marR="0" marT="0" marB="0" anchor="ctr">
                    <a:lnL>
                      <a:noFill/>
                    </a:lnL>
                    <a:lnR w="6350" cap="flat" cmpd="sng" algn="ctr">
                      <a:noFill/>
                      <a:prstDash val="solid"/>
                      <a:round/>
                      <a:headEnd type="none" w="med" len="med"/>
                      <a:tailEnd type="none" w="med" len="med"/>
                    </a:lnR>
                    <a:lnT>
                      <a:noFill/>
                    </a:lnT>
                    <a:lnB>
                      <a:noFill/>
                    </a:lnB>
                    <a:noFill/>
                  </a:tcPr>
                </a:tc>
                <a:tc>
                  <a:txBody>
                    <a:bodyPr/>
                    <a:lstStyle/>
                    <a:p>
                      <a:pPr algn="ctr" fontAlgn="ctr"/>
                      <a:r>
                        <a:rPr lang="en-ID" sz="900" b="0" i="0" u="none" strike="noStrike" dirty="0">
                          <a:solidFill>
                            <a:srgbClr val="000000"/>
                          </a:solidFill>
                          <a:effectLst/>
                          <a:latin typeface="Calibri" panose="020F0502020204030204" pitchFamily="34" charset="0"/>
                        </a:rPr>
                        <a:t>17.600</a:t>
                      </a:r>
                    </a:p>
                  </a:txBody>
                  <a:tcPr marL="0" marR="0" marT="0" marB="0" anchor="ctr">
                    <a:lnL>
                      <a:noFill/>
                    </a:lnL>
                    <a:lnR w="6350" cap="flat" cmpd="sng" algn="ctr">
                      <a:solidFill>
                        <a:srgbClr val="000000"/>
                      </a:solidFill>
                      <a:prstDash val="solid"/>
                      <a:round/>
                      <a:headEnd type="none" w="med" len="med"/>
                      <a:tailEnd type="none" w="med" len="med"/>
                    </a:lnR>
                    <a:lnT>
                      <a:noFill/>
                    </a:lnT>
                    <a:lnB>
                      <a:noFill/>
                    </a:lnB>
                    <a:noFill/>
                  </a:tcPr>
                </a:tc>
                <a:extLst>
                  <a:ext uri="{0D108BD9-81ED-4DB2-BD59-A6C34878D82A}">
                    <a16:rowId xmlns:a16="http://schemas.microsoft.com/office/drawing/2014/main" val="1594310054"/>
                  </a:ext>
                </a:extLst>
              </a:tr>
              <a:tr h="229998">
                <a:tc>
                  <a:txBody>
                    <a:bodyPr/>
                    <a:lstStyle/>
                    <a:p>
                      <a:pPr algn="l" fontAlgn="ctr"/>
                      <a:r>
                        <a:rPr lang="en-ID" sz="900" b="0" i="0" u="none" strike="noStrike" dirty="0">
                          <a:solidFill>
                            <a:srgbClr val="000000"/>
                          </a:solidFill>
                          <a:effectLst/>
                          <a:latin typeface="Calibri" panose="020F0502020204030204" pitchFamily="34" charset="0"/>
                        </a:rPr>
                        <a:t> USD/IDR Exchange Rate (end of year)**</a:t>
                      </a:r>
                    </a:p>
                  </a:txBody>
                  <a:tcPr marL="0" marR="0" marT="0" marB="0" anchor="ctr">
                    <a:lnL w="6350" cap="flat" cmpd="sng" algn="ctr">
                      <a:solidFill>
                        <a:srgbClr val="000000"/>
                      </a:solidFill>
                      <a:prstDash val="solid"/>
                      <a:round/>
                      <a:headEnd type="none" w="med" len="med"/>
                      <a:tailEnd type="none" w="med" len="med"/>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13.866</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14.050</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14.262</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15.568</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15.397</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16.102</a:t>
                      </a:r>
                    </a:p>
                  </a:txBody>
                  <a:tcPr marL="0" marR="0" marT="0" marB="0" anchor="ctr">
                    <a:lnL>
                      <a:noFill/>
                    </a:lnL>
                    <a:lnR>
                      <a:noFill/>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16.690</a:t>
                      </a:r>
                    </a:p>
                  </a:txBody>
                  <a:tcPr marL="0" marR="0" marT="0" marB="0" anchor="ctr">
                    <a:lnL>
                      <a:noFill/>
                    </a:lnL>
                    <a:lnR w="6350" cap="flat" cmpd="sng" algn="ctr">
                      <a:noFill/>
                      <a:prstDash val="solid"/>
                      <a:round/>
                      <a:headEnd type="none" w="med" len="med"/>
                      <a:tailEnd type="none" w="med" len="med"/>
                    </a:lnR>
                    <a:lnT>
                      <a:noFill/>
                    </a:lnT>
                    <a:lnB>
                      <a:noFill/>
                    </a:lnB>
                    <a:solidFill>
                      <a:schemeClr val="bg1">
                        <a:lumMod val="95000"/>
                      </a:schemeClr>
                    </a:solidFill>
                  </a:tcPr>
                </a:tc>
                <a:tc>
                  <a:txBody>
                    <a:bodyPr/>
                    <a:lstStyle/>
                    <a:p>
                      <a:pPr algn="ctr" fontAlgn="ctr"/>
                      <a:r>
                        <a:rPr lang="en-ID" sz="900" b="0" i="0" u="none" strike="noStrike" dirty="0">
                          <a:solidFill>
                            <a:srgbClr val="000000"/>
                          </a:solidFill>
                          <a:effectLst/>
                          <a:latin typeface="Calibri" panose="020F0502020204030204" pitchFamily="34" charset="0"/>
                        </a:rPr>
                        <a:t>18.171</a:t>
                      </a:r>
                    </a:p>
                  </a:txBody>
                  <a:tcPr marL="0" marR="0" marT="0" marB="0" anchor="ctr">
                    <a:lnL>
                      <a:noFill/>
                    </a:lnL>
                    <a:lnR w="6350" cap="flat" cmpd="sng" algn="ctr">
                      <a:solidFill>
                        <a:srgbClr val="000000"/>
                      </a:solidFill>
                      <a:prstDash val="solid"/>
                      <a:round/>
                      <a:headEnd type="none" w="med" len="med"/>
                      <a:tailEnd type="none" w="med" len="med"/>
                    </a:lnR>
                    <a:lnT>
                      <a:noFill/>
                    </a:lnT>
                    <a:lnB>
                      <a:noFill/>
                    </a:lnB>
                    <a:solidFill>
                      <a:schemeClr val="bg1">
                        <a:lumMod val="95000"/>
                      </a:schemeClr>
                    </a:solidFill>
                  </a:tcPr>
                </a:tc>
                <a:extLst>
                  <a:ext uri="{0D108BD9-81ED-4DB2-BD59-A6C34878D82A}">
                    <a16:rowId xmlns:a16="http://schemas.microsoft.com/office/drawing/2014/main" val="1338991972"/>
                  </a:ext>
                </a:extLst>
              </a:tr>
              <a:tr h="229998">
                <a:tc>
                  <a:txBody>
                    <a:bodyPr/>
                    <a:lstStyle/>
                    <a:p>
                      <a:pPr algn="l" fontAlgn="ctr"/>
                      <a:r>
                        <a:rPr lang="en-ID" sz="900" b="0" i="0" u="none" strike="noStrike" dirty="0">
                          <a:solidFill>
                            <a:srgbClr val="000000"/>
                          </a:solidFill>
                          <a:effectLst/>
                          <a:latin typeface="Calibri" panose="020F0502020204030204" pitchFamily="34" charset="0"/>
                        </a:rPr>
                        <a:t> Trade Balance (US$ billion)</a:t>
                      </a:r>
                    </a:p>
                  </a:txBody>
                  <a:tcPr marL="0" marR="0" marT="0" marB="0" anchor="ctr">
                    <a:lnL w="6350" cap="flat" cmpd="sng" algn="ctr">
                      <a:solidFill>
                        <a:srgbClr val="000000"/>
                      </a:solidFill>
                      <a:prstDash val="solid"/>
                      <a:round/>
                      <a:headEnd type="none" w="med" len="med"/>
                      <a:tailEnd type="none" w="med" len="med"/>
                    </a:lnL>
                    <a:lnR>
                      <a:noFill/>
                    </a:lnR>
                    <a:lnT>
                      <a:noFill/>
                    </a:lnT>
                    <a:lnB w="6350" cap="flat" cmpd="sng" algn="ctr">
                      <a:no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-3,2</a:t>
                      </a:r>
                    </a:p>
                  </a:txBody>
                  <a:tcPr marL="0" marR="0" marT="0" marB="0" anchor="ctr">
                    <a:lnL>
                      <a:noFill/>
                    </a:lnL>
                    <a:lnR>
                      <a:noFill/>
                    </a:lnR>
                    <a:lnT>
                      <a:noFill/>
                    </a:lnT>
                    <a:lnB w="6350" cap="flat" cmpd="sng" algn="ctr">
                      <a:no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21,7</a:t>
                      </a:r>
                    </a:p>
                  </a:txBody>
                  <a:tcPr marL="0" marR="0" marT="0" marB="0" anchor="ctr">
                    <a:lnL>
                      <a:noFill/>
                    </a:lnL>
                    <a:lnR>
                      <a:noFill/>
                    </a:lnR>
                    <a:lnT>
                      <a:noFill/>
                    </a:lnT>
                    <a:lnB w="6350" cap="flat" cmpd="sng" algn="ctr">
                      <a:no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35,3</a:t>
                      </a:r>
                    </a:p>
                  </a:txBody>
                  <a:tcPr marL="0" marR="0" marT="0" marB="0" anchor="ctr">
                    <a:lnL>
                      <a:noFill/>
                    </a:lnL>
                    <a:lnR>
                      <a:noFill/>
                    </a:lnR>
                    <a:lnT>
                      <a:noFill/>
                    </a:lnT>
                    <a:lnB w="6350" cap="flat" cmpd="sng" algn="ctr">
                      <a:no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54,5</a:t>
                      </a:r>
                    </a:p>
                  </a:txBody>
                  <a:tcPr marL="0" marR="0" marT="0" marB="0" anchor="ctr">
                    <a:lnL>
                      <a:noFill/>
                    </a:lnL>
                    <a:lnR>
                      <a:noFill/>
                    </a:lnR>
                    <a:lnT>
                      <a:noFill/>
                    </a:lnT>
                    <a:lnB w="6350" cap="flat" cmpd="sng" algn="ctr">
                      <a:no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37,0</a:t>
                      </a:r>
                    </a:p>
                  </a:txBody>
                  <a:tcPr marL="0" marR="0" marT="0" marB="0" anchor="ctr">
                    <a:lnL>
                      <a:noFill/>
                    </a:lnL>
                    <a:lnR>
                      <a:noFill/>
                    </a:lnR>
                    <a:lnT>
                      <a:noFill/>
                    </a:lnT>
                    <a:lnB w="6350" cap="flat" cmpd="sng" algn="ctr">
                      <a:no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31,0</a:t>
                      </a:r>
                    </a:p>
                  </a:txBody>
                  <a:tcPr marL="0" marR="0" marT="0" marB="0" anchor="ctr">
                    <a:lnL>
                      <a:noFill/>
                    </a:lnL>
                    <a:lnR>
                      <a:noFill/>
                    </a:lnR>
                    <a:lnT>
                      <a:noFill/>
                    </a:lnT>
                    <a:lnB w="6350" cap="flat" cmpd="sng" algn="ctr">
                      <a:no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41,1</a:t>
                      </a:r>
                    </a:p>
                  </a:txBody>
                  <a:tcPr marL="0" marR="0" marT="0" marB="0" anchor="ctr">
                    <a:lnL>
                      <a:noFill/>
                    </a:lnL>
                    <a:lnR w="6350" cap="flat" cmpd="sng" algn="ctr">
                      <a:noFill/>
                      <a:prstDash val="solid"/>
                      <a:round/>
                      <a:headEnd type="none" w="med" len="med"/>
                      <a:tailEnd type="none" w="med" len="med"/>
                    </a:lnR>
                    <a:lnT>
                      <a:noFill/>
                    </a:lnT>
                    <a:lnB w="6350" cap="flat" cmpd="sng" algn="ctr">
                      <a:noFill/>
                      <a:prstDash val="solid"/>
                      <a:round/>
                      <a:headEnd type="none" w="med" len="med"/>
                      <a:tailEnd type="none" w="med" len="med"/>
                    </a:lnB>
                    <a:noFill/>
                  </a:tcPr>
                </a:tc>
                <a:tc>
                  <a:txBody>
                    <a:bodyPr/>
                    <a:lstStyle/>
                    <a:p>
                      <a:pPr algn="ctr" fontAlgn="ctr"/>
                      <a:r>
                        <a:rPr lang="en-ID" sz="900" b="0" i="0" u="none" strike="noStrike" dirty="0">
                          <a:solidFill>
                            <a:srgbClr val="000000"/>
                          </a:solidFill>
                          <a:effectLst/>
                          <a:latin typeface="Calibri" panose="020F0502020204030204" pitchFamily="34" charset="0"/>
                        </a:rPr>
                        <a:t>19,2</a:t>
                      </a:r>
                    </a:p>
                  </a:txBody>
                  <a:tcPr marL="0" marR="0" marT="0" marB="0" anchor="ctr">
                    <a:lnL>
                      <a:noFill/>
                    </a:lnL>
                    <a:lnR w="6350" cap="flat" cmpd="sng" algn="ctr">
                      <a:solidFill>
                        <a:srgbClr val="000000"/>
                      </a:solidFill>
                      <a:prstDash val="solid"/>
                      <a:round/>
                      <a:headEnd type="none" w="med" len="med"/>
                      <a:tailEnd type="none" w="med" len="med"/>
                    </a:lnR>
                    <a:lnT>
                      <a:noFill/>
                    </a:lnT>
                    <a:lnB w="6350" cap="flat" cmpd="sng" algn="ctr">
                      <a:noFill/>
                      <a:prstDash val="solid"/>
                      <a:round/>
                      <a:headEnd type="none" w="med" len="med"/>
                      <a:tailEnd type="none" w="med" len="med"/>
                    </a:lnB>
                    <a:noFill/>
                  </a:tcPr>
                </a:tc>
                <a:extLst>
                  <a:ext uri="{0D108BD9-81ED-4DB2-BD59-A6C34878D82A}">
                    <a16:rowId xmlns:a16="http://schemas.microsoft.com/office/drawing/2014/main" val="10009"/>
                  </a:ext>
                </a:extLst>
              </a:tr>
              <a:tr h="229998">
                <a:tc>
                  <a:txBody>
                    <a:bodyPr/>
                    <a:lstStyle/>
                    <a:p>
                      <a:pPr algn="l" fontAlgn="ctr"/>
                      <a:r>
                        <a:rPr lang="en-US" sz="900" b="0" i="0" u="none" strike="noStrike" dirty="0">
                          <a:solidFill>
                            <a:srgbClr val="000000"/>
                          </a:solidFill>
                          <a:effectLst/>
                          <a:latin typeface="Calibri" panose="020F0502020204030204" pitchFamily="34" charset="0"/>
                        </a:rPr>
                        <a:t> Current account balance (% of GDP) </a:t>
                      </a:r>
                      <a:endParaRPr lang="en-ID" sz="900" b="0" i="0" u="none" strike="noStrike" dirty="0">
                        <a:solidFill>
                          <a:srgbClr val="000000"/>
                        </a:solidFill>
                        <a:effectLst/>
                        <a:latin typeface="Calibri" panose="020F0502020204030204" pitchFamily="34" charset="0"/>
                      </a:endParaRPr>
                    </a:p>
                  </a:txBody>
                  <a:tcPr marL="0" marR="0" marT="0" marB="0" anchor="ctr">
                    <a:lnL w="6350" cap="flat" cmpd="sng" algn="ctr">
                      <a:solidFill>
                        <a:schemeClr val="tx1"/>
                      </a:solid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dirty="0">
                          <a:solidFill>
                            <a:srgbClr val="000000"/>
                          </a:solidFill>
                          <a:effectLst/>
                          <a:latin typeface="Calibri" panose="020F0502020204030204" pitchFamily="34" charset="0"/>
                        </a:rPr>
                        <a:t>-2,70</a:t>
                      </a:r>
                      <a:endParaRPr lang="en-ID" sz="900" b="0" i="0" u="none" strike="noStrike" dirty="0">
                        <a:solidFill>
                          <a:srgbClr val="000000"/>
                        </a:solidFill>
                        <a:effectLst/>
                        <a:latin typeface="Calibri" panose="020F0502020204030204" pitchFamily="34" charset="0"/>
                      </a:endParaRPr>
                    </a:p>
                  </a:txBody>
                  <a:tcPr marL="0" marR="0" marT="0" marB="0" anchor="ctr">
                    <a:lnL>
                      <a:noFill/>
                    </a:lnL>
                    <a:lnR>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dirty="0">
                          <a:solidFill>
                            <a:srgbClr val="000000"/>
                          </a:solidFill>
                          <a:effectLst/>
                          <a:latin typeface="Calibri" panose="020F0502020204030204" pitchFamily="34" charset="0"/>
                        </a:rPr>
                        <a:t>-0,40</a:t>
                      </a:r>
                      <a:endParaRPr lang="en-ID" sz="900" b="0" i="0" u="none" strike="noStrike" dirty="0">
                        <a:solidFill>
                          <a:srgbClr val="000000"/>
                        </a:solidFill>
                        <a:effectLst/>
                        <a:latin typeface="Calibri" panose="020F0502020204030204" pitchFamily="34" charset="0"/>
                      </a:endParaRPr>
                    </a:p>
                  </a:txBody>
                  <a:tcPr marL="0" marR="0" marT="0" marB="0" anchor="ctr">
                    <a:lnL>
                      <a:noFill/>
                    </a:lnL>
                    <a:lnR>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dirty="0">
                          <a:solidFill>
                            <a:srgbClr val="000000"/>
                          </a:solidFill>
                          <a:effectLst/>
                          <a:latin typeface="Calibri" panose="020F0502020204030204" pitchFamily="34" charset="0"/>
                        </a:rPr>
                        <a:t>0,30</a:t>
                      </a:r>
                      <a:endParaRPr lang="en-ID" sz="900" b="0" i="0" u="none" strike="noStrike" dirty="0">
                        <a:solidFill>
                          <a:srgbClr val="000000"/>
                        </a:solidFill>
                        <a:effectLst/>
                        <a:latin typeface="Calibri" panose="020F0502020204030204" pitchFamily="34" charset="0"/>
                      </a:endParaRPr>
                    </a:p>
                  </a:txBody>
                  <a:tcPr marL="0" marR="0" marT="0" marB="0" anchor="ctr">
                    <a:lnL>
                      <a:noFill/>
                    </a:lnL>
                    <a:lnR>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dirty="0">
                          <a:solidFill>
                            <a:srgbClr val="000000"/>
                          </a:solidFill>
                          <a:effectLst/>
                          <a:latin typeface="Calibri" panose="020F0502020204030204" pitchFamily="34" charset="0"/>
                        </a:rPr>
                        <a:t>1,00</a:t>
                      </a:r>
                      <a:endParaRPr lang="en-ID" sz="900" b="0" i="0" u="none" strike="noStrike" dirty="0">
                        <a:solidFill>
                          <a:srgbClr val="000000"/>
                        </a:solidFill>
                        <a:effectLst/>
                        <a:latin typeface="Calibri" panose="020F0502020204030204" pitchFamily="34" charset="0"/>
                      </a:endParaRPr>
                    </a:p>
                  </a:txBody>
                  <a:tcPr marL="0" marR="0" marT="0" marB="0" anchor="ctr">
                    <a:lnL>
                      <a:noFill/>
                    </a:lnL>
                    <a:lnR>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dirty="0">
                          <a:solidFill>
                            <a:srgbClr val="000000"/>
                          </a:solidFill>
                          <a:effectLst/>
                          <a:latin typeface="Calibri" panose="020F0502020204030204" pitchFamily="34" charset="0"/>
                        </a:rPr>
                        <a:t>-0,10</a:t>
                      </a:r>
                      <a:endParaRPr lang="en-ID" sz="900" b="0" i="0" u="none" strike="noStrike" dirty="0">
                        <a:solidFill>
                          <a:srgbClr val="000000"/>
                        </a:solidFill>
                        <a:effectLst/>
                        <a:latin typeface="Calibri" panose="020F0502020204030204" pitchFamily="34" charset="0"/>
                      </a:endParaRPr>
                    </a:p>
                  </a:txBody>
                  <a:tcPr marL="0" marR="0" marT="0" marB="0" anchor="ctr">
                    <a:lnL>
                      <a:noFill/>
                    </a:lnL>
                    <a:lnR>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dirty="0">
                          <a:solidFill>
                            <a:srgbClr val="000000"/>
                          </a:solidFill>
                          <a:effectLst/>
                          <a:latin typeface="Calibri" panose="020F0502020204030204" pitchFamily="34" charset="0"/>
                        </a:rPr>
                        <a:t>-0,60</a:t>
                      </a:r>
                      <a:endParaRPr lang="en-ID" sz="900" b="0" i="0" u="none" strike="noStrike" dirty="0">
                        <a:solidFill>
                          <a:srgbClr val="000000"/>
                        </a:solidFill>
                        <a:effectLst/>
                        <a:latin typeface="Calibri" panose="020F0502020204030204" pitchFamily="34" charset="0"/>
                      </a:endParaRPr>
                    </a:p>
                  </a:txBody>
                  <a:tcPr marL="0" marR="0" marT="0" marB="0" anchor="ctr">
                    <a:lnL>
                      <a:noFill/>
                    </a:lnL>
                    <a:lnR>
                      <a:noFill/>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dirty="0">
                          <a:solidFill>
                            <a:srgbClr val="000000"/>
                          </a:solidFill>
                          <a:effectLst/>
                          <a:latin typeface="Calibri" panose="020F0502020204030204" pitchFamily="34" charset="0"/>
                        </a:rPr>
                        <a:t>-0,10</a:t>
                      </a:r>
                      <a:endParaRPr lang="en-ID" sz="900" b="0" i="0" u="none" strike="noStrike" dirty="0">
                        <a:solidFill>
                          <a:srgbClr val="000000"/>
                        </a:solidFill>
                        <a:effectLst/>
                        <a:latin typeface="Calibri" panose="020F0502020204030204" pitchFamily="34" charset="0"/>
                      </a:endParaRPr>
                    </a:p>
                  </a:txBody>
                  <a:tcPr marL="0" marR="0" marT="0" marB="0" anchor="ctr">
                    <a:lnL>
                      <a:noFill/>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fontAlgn="ctr"/>
                      <a:r>
                        <a:rPr lang="en-US" sz="900" b="0" i="0" u="none" strike="noStrike" dirty="0">
                          <a:solidFill>
                            <a:srgbClr val="000000"/>
                          </a:solidFill>
                          <a:effectLst/>
                          <a:latin typeface="Calibri" panose="020F0502020204030204" pitchFamily="34" charset="0"/>
                        </a:rPr>
                        <a:t>-1,30</a:t>
                      </a:r>
                      <a:endParaRPr lang="en-ID" sz="900" b="0" i="0" u="none" strike="noStrike" dirty="0">
                        <a:solidFill>
                          <a:srgbClr val="000000"/>
                        </a:solidFill>
                        <a:effectLst/>
                        <a:latin typeface="Calibri" panose="020F0502020204030204" pitchFamily="34" charset="0"/>
                      </a:endParaRPr>
                    </a:p>
                  </a:txBody>
                  <a:tcPr marL="0" marR="0" marT="0" marB="0" anchor="ctr">
                    <a:lnL>
                      <a:noFill/>
                    </a:lnL>
                    <a:lnR w="6350" cap="flat" cmpd="sng" algn="ctr">
                      <a:solidFill>
                        <a:schemeClr val="tx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39409088"/>
                  </a:ext>
                </a:extLst>
              </a:tr>
              <a:tr h="153332">
                <a:tc>
                  <a:txBody>
                    <a:bodyPr/>
                    <a:lstStyle/>
                    <a:p>
                      <a:pPr algn="l" fontAlgn="b"/>
                      <a:r>
                        <a:rPr lang="en-ID" sz="700" b="0" i="1" u="none" strike="noStrike" dirty="0">
                          <a:solidFill>
                            <a:srgbClr val="000000"/>
                          </a:solidFill>
                          <a:effectLst/>
                          <a:latin typeface="Calibri" panose="020F0502020204030204" pitchFamily="34" charset="0"/>
                        </a:rPr>
                        <a:t>**Estimation of Rupiah’s fundamental exchange rate</a:t>
                      </a: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tc>
                  <a:txBody>
                    <a:bodyPr/>
                    <a:lstStyle/>
                    <a:p>
                      <a:pPr algn="l" fontAlgn="b"/>
                      <a:endParaRPr lang="en-ID" sz="800" b="0" i="0" u="none" strike="noStrike" dirty="0">
                        <a:solidFill>
                          <a:srgbClr val="000000"/>
                        </a:solidFill>
                        <a:effectLst/>
                        <a:latin typeface="Calibri" panose="020F0502020204030204" pitchFamily="34" charset="0"/>
                      </a:endParaRPr>
                    </a:p>
                  </a:txBody>
                  <a:tcPr marL="0" marR="0" marT="0" marB="0" anchor="b">
                    <a:lnL>
                      <a:noFill/>
                    </a:lnL>
                    <a:lnR>
                      <a:noFill/>
                    </a:lnR>
                    <a:lnT w="6350" cap="flat" cmpd="sng" algn="ctr">
                      <a:solidFill>
                        <a:schemeClr val="tx1"/>
                      </a:solidFill>
                      <a:prstDash val="solid"/>
                      <a:round/>
                      <a:headEnd type="none" w="med" len="med"/>
                      <a:tailEnd type="none" w="med" len="med"/>
                    </a:lnT>
                    <a:lnB>
                      <a:noFill/>
                    </a:lnB>
                  </a:tcPr>
                </a:tc>
                <a:extLst>
                  <a:ext uri="{0D108BD9-81ED-4DB2-BD59-A6C34878D82A}">
                    <a16:rowId xmlns:a16="http://schemas.microsoft.com/office/drawing/2014/main" val="2569539944"/>
                  </a:ext>
                </a:extLst>
              </a:tr>
            </a:tbl>
          </a:graphicData>
        </a:graphic>
      </p:graphicFrame>
      <p:graphicFrame>
        <p:nvGraphicFramePr>
          <p:cNvPr id="13" name="Table 12">
            <a:extLst>
              <a:ext uri="{FF2B5EF4-FFF2-40B4-BE49-F238E27FC236}">
                <a16:creationId xmlns:a16="http://schemas.microsoft.com/office/drawing/2014/main" id="{631383FA-742C-FAA0-6E10-A0E2EB999ADC}"/>
              </a:ext>
            </a:extLst>
          </p:cNvPr>
          <p:cNvGraphicFramePr>
            <a:graphicFrameLocks noGrp="1"/>
          </p:cNvGraphicFramePr>
          <p:nvPr/>
        </p:nvGraphicFramePr>
        <p:xfrm>
          <a:off x="327025" y="5048423"/>
          <a:ext cx="6327775" cy="3127178"/>
        </p:xfrm>
        <a:graphic>
          <a:graphicData uri="http://schemas.openxmlformats.org/drawingml/2006/table">
            <a:tbl>
              <a:tblPr/>
              <a:tblGrid>
                <a:gridCol w="1240350">
                  <a:extLst>
                    <a:ext uri="{9D8B030D-6E8A-4147-A177-3AD203B41FA5}">
                      <a16:colId xmlns:a16="http://schemas.microsoft.com/office/drawing/2014/main" val="20000"/>
                    </a:ext>
                  </a:extLst>
                </a:gridCol>
                <a:gridCol w="2275081">
                  <a:extLst>
                    <a:ext uri="{9D8B030D-6E8A-4147-A177-3AD203B41FA5}">
                      <a16:colId xmlns:a16="http://schemas.microsoft.com/office/drawing/2014/main" val="20001"/>
                    </a:ext>
                  </a:extLst>
                </a:gridCol>
                <a:gridCol w="937448">
                  <a:extLst>
                    <a:ext uri="{9D8B030D-6E8A-4147-A177-3AD203B41FA5}">
                      <a16:colId xmlns:a16="http://schemas.microsoft.com/office/drawing/2014/main" val="20002"/>
                    </a:ext>
                  </a:extLst>
                </a:gridCol>
                <a:gridCol w="937448">
                  <a:extLst>
                    <a:ext uri="{9D8B030D-6E8A-4147-A177-3AD203B41FA5}">
                      <a16:colId xmlns:a16="http://schemas.microsoft.com/office/drawing/2014/main" val="20003"/>
                    </a:ext>
                  </a:extLst>
                </a:gridCol>
                <a:gridCol w="937448">
                  <a:extLst>
                    <a:ext uri="{9D8B030D-6E8A-4147-A177-3AD203B41FA5}">
                      <a16:colId xmlns:a16="http://schemas.microsoft.com/office/drawing/2014/main" val="20004"/>
                    </a:ext>
                  </a:extLst>
                </a:gridCol>
              </a:tblGrid>
              <a:tr h="173994">
                <a:tc>
                  <a:txBody>
                    <a:bodyPr/>
                    <a:lstStyle/>
                    <a:p>
                      <a:pPr algn="ctr" fontAlgn="ctr"/>
                      <a:r>
                        <a:rPr lang="en-ID" sz="900" b="1" i="0" u="none" strike="noStrike" dirty="0">
                          <a:solidFill>
                            <a:srgbClr val="FFFFFF"/>
                          </a:solidFill>
                          <a:effectLst/>
                          <a:latin typeface="Calibri" panose="020F0502020204030204" pitchFamily="34" charset="0"/>
                        </a:rPr>
                        <a:t>Country</a:t>
                      </a:r>
                    </a:p>
                  </a:txBody>
                  <a:tcPr marL="0" marR="0" marT="0" marB="0" anchor="ctr">
                    <a:lnL w="12700" cap="flat" cmpd="sng" algn="ctr">
                      <a:solidFill>
                        <a:schemeClr val="tx1"/>
                      </a:solidFill>
                      <a:prstDash val="solid"/>
                      <a:round/>
                      <a:headEnd type="none" w="med" len="med"/>
                      <a:tailEnd type="none" w="med" len="med"/>
                    </a:lnL>
                    <a:lnR>
                      <a:noFill/>
                      <a:headEnd type="none" w="med" len="med"/>
                      <a:tailEnd type="none" w="med" len="med"/>
                    </a:lnR>
                    <a:lnT w="12700" cap="flat" cmpd="sng" algn="ctr">
                      <a:solidFill>
                        <a:schemeClr val="tx1"/>
                      </a:solidFill>
                      <a:prstDash val="solid"/>
                      <a:round/>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005CAC"/>
                    </a:solidFill>
                  </a:tcPr>
                </a:tc>
                <a:tc>
                  <a:txBody>
                    <a:bodyPr/>
                    <a:lstStyle/>
                    <a:p>
                      <a:pPr algn="ctr" fontAlgn="ctr"/>
                      <a:r>
                        <a:rPr lang="en-ID" sz="900" b="1" i="0" u="none" strike="noStrike" dirty="0">
                          <a:solidFill>
                            <a:srgbClr val="FFFFFF"/>
                          </a:solidFill>
                          <a:effectLst/>
                          <a:latin typeface="Calibri" panose="020F0502020204030204" pitchFamily="34" charset="0"/>
                        </a:rPr>
                        <a:t>Data</a:t>
                      </a:r>
                    </a:p>
                  </a:txBody>
                  <a:tcPr marL="0" marR="0" marT="0" marB="0" anchor="ctr">
                    <a:lnL>
                      <a:noFill/>
                    </a:lnL>
                    <a:lnR>
                      <a:noFill/>
                    </a:lnR>
                    <a:lnT w="12700" cap="flat" cmpd="sng" algn="ctr">
                      <a:solidFill>
                        <a:schemeClr val="tx1"/>
                      </a:solidFill>
                      <a:prstDash val="solid"/>
                      <a:round/>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005CAC"/>
                    </a:solidFill>
                  </a:tcPr>
                </a:tc>
                <a:tc>
                  <a:txBody>
                    <a:bodyPr/>
                    <a:lstStyle/>
                    <a:p>
                      <a:pPr algn="ctr" fontAlgn="ctr"/>
                      <a:r>
                        <a:rPr lang="en-ID" sz="900" b="1" i="0" u="none" strike="noStrike" dirty="0">
                          <a:solidFill>
                            <a:srgbClr val="FFFFFF"/>
                          </a:solidFill>
                          <a:effectLst/>
                          <a:latin typeface="Calibri" panose="020F0502020204030204" pitchFamily="34" charset="0"/>
                        </a:rPr>
                        <a:t>Previous</a:t>
                      </a:r>
                    </a:p>
                  </a:txBody>
                  <a:tcPr marL="0" marR="0" marT="0" marB="0" anchor="ctr">
                    <a:lnL>
                      <a:noFill/>
                    </a:lnL>
                    <a:lnR>
                      <a:noFill/>
                    </a:lnR>
                    <a:lnT w="12700" cap="flat" cmpd="sng" algn="ctr">
                      <a:solidFill>
                        <a:schemeClr val="tx1"/>
                      </a:solidFill>
                      <a:prstDash val="solid"/>
                      <a:round/>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005CAC"/>
                    </a:solidFill>
                  </a:tcPr>
                </a:tc>
                <a:tc>
                  <a:txBody>
                    <a:bodyPr/>
                    <a:lstStyle/>
                    <a:p>
                      <a:pPr algn="ctr" fontAlgn="ctr"/>
                      <a:r>
                        <a:rPr lang="en-ID" sz="900" b="1" i="0" u="none" strike="noStrike">
                          <a:solidFill>
                            <a:srgbClr val="FFFFFF"/>
                          </a:solidFill>
                          <a:effectLst/>
                          <a:latin typeface="Calibri" panose="020F0502020204030204" pitchFamily="34" charset="0"/>
                        </a:rPr>
                        <a:t>Forecast</a:t>
                      </a:r>
                    </a:p>
                  </a:txBody>
                  <a:tcPr marL="0" marR="0" marT="0" marB="0" anchor="ctr">
                    <a:lnL>
                      <a:noFill/>
                    </a:lnL>
                    <a:lnR>
                      <a:noFill/>
                    </a:lnR>
                    <a:lnT w="12700" cap="flat" cmpd="sng" algn="ctr">
                      <a:solidFill>
                        <a:schemeClr val="tx1"/>
                      </a:solidFill>
                      <a:prstDash val="solid"/>
                      <a:round/>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005CAC"/>
                    </a:solidFill>
                  </a:tcPr>
                </a:tc>
                <a:tc>
                  <a:txBody>
                    <a:bodyPr/>
                    <a:lstStyle/>
                    <a:p>
                      <a:pPr algn="ctr" fontAlgn="ctr"/>
                      <a:r>
                        <a:rPr lang="en-ID" sz="900" b="1" i="0" u="none" strike="noStrike" dirty="0">
                          <a:solidFill>
                            <a:srgbClr val="FFFFFF"/>
                          </a:solidFill>
                          <a:effectLst/>
                          <a:latin typeface="Calibri" panose="020F0502020204030204" pitchFamily="34" charset="0"/>
                        </a:rPr>
                        <a:t>Release Date*</a:t>
                      </a:r>
                    </a:p>
                  </a:txBody>
                  <a:tcPr marL="0" marR="0" marT="0"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005CAC"/>
                    </a:solidFill>
                  </a:tcPr>
                </a:tc>
                <a:extLst>
                  <a:ext uri="{0D108BD9-81ED-4DB2-BD59-A6C34878D82A}">
                    <a16:rowId xmlns:a16="http://schemas.microsoft.com/office/drawing/2014/main" val="10000"/>
                  </a:ext>
                </a:extLst>
              </a:tr>
              <a:tr h="170658">
                <a:tc rowSpan="5">
                  <a:txBody>
                    <a:bodyPr/>
                    <a:lstStyle/>
                    <a:p>
                      <a:pPr algn="ctr"/>
                      <a:r>
                        <a:rPr lang="en-US" sz="800" dirty="0">
                          <a:solidFill>
                            <a:schemeClr val="tx1"/>
                          </a:solidFill>
                        </a:rPr>
                        <a:t>US</a:t>
                      </a:r>
                    </a:p>
                  </a:txBody>
                  <a:tcPr anchor="ctr">
                    <a:lnR w="12700" cap="flat" cmpd="sng" algn="ctr">
                      <a:noFill/>
                      <a:prstDash val="solid"/>
                      <a:round/>
                      <a:headEnd type="none" w="med" len="med"/>
                      <a:tailEnd type="none" w="med" len="med"/>
                    </a:lnR>
                    <a:lnT w="12700" cmpd="sng">
                      <a:noFill/>
                      <a:prstDash val="solid"/>
                    </a:lnT>
                    <a:lnB w="12700" cmpd="sng">
                      <a:noFill/>
                      <a:prstDash val="solid"/>
                    </a:lnB>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CB Consumer Confidence September 2026</a:t>
                      </a:r>
                    </a:p>
                  </a:txBody>
                  <a:tcPr marL="0" marR="0" marT="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algn="ctr"/>
                      <a:r>
                        <a:rPr lang="en-US" sz="800" dirty="0"/>
                        <a:t>89,40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800" dirty="0"/>
                        <a:t>90,10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29-Sep-26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tcPr>
                </a:tc>
                <a:extLst>
                  <a:ext uri="{0D108BD9-81ED-4DB2-BD59-A6C34878D82A}">
                    <a16:rowId xmlns:a16="http://schemas.microsoft.com/office/drawing/2014/main" val="1745984785"/>
                  </a:ext>
                </a:extLst>
              </a:tr>
              <a:tr h="170658">
                <a:tc vMerge="1">
                  <a:txBody>
                    <a:bodyPr/>
                    <a:lstStyle/>
                    <a:p>
                      <a:pPr algn="ctr"/>
                      <a:endParaRPr lang="en-US" sz="800" dirty="0">
                        <a:solidFill>
                          <a:schemeClr val="tx1"/>
                        </a:solidFill>
                      </a:endParaRPr>
                    </a:p>
                  </a:txBody>
                  <a:tcPr anchor="ctr">
                    <a:lnR w="12700" cap="flat" cmpd="sng" algn="ctr">
                      <a:noFill/>
                      <a:prstDash val="solid"/>
                      <a:round/>
                      <a:headEnd type="none" w="med" len="med"/>
                      <a:tailEnd type="none" w="med" len="med"/>
                    </a:lnR>
                    <a:lnT w="12700" cmpd="sng">
                      <a:noFill/>
                      <a:prstDash val="solid"/>
                    </a:lnT>
                    <a:lnB w="12700" cmpd="sng">
                      <a:noFill/>
                      <a:prstDash val="solid"/>
                    </a:lnB>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GDP Q2 2026 (QoQ)</a:t>
                      </a:r>
                    </a:p>
                  </a:txBody>
                  <a:tcPr marL="0" marR="0" marT="0" marB="0" anchor="ctr">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algn="ctr"/>
                      <a:r>
                        <a:rPr lang="en-US" sz="800" dirty="0"/>
                        <a:t>1,50%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800" dirty="0"/>
                        <a:t>1,50%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30-Sep-26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tcPr>
                </a:tc>
                <a:extLst>
                  <a:ext uri="{0D108BD9-81ED-4DB2-BD59-A6C34878D82A}">
                    <a16:rowId xmlns:a16="http://schemas.microsoft.com/office/drawing/2014/main" val="1278894911"/>
                  </a:ext>
                </a:extLst>
              </a:tr>
              <a:tr h="170658">
                <a:tc vMerge="1">
                  <a:txBody>
                    <a:bodyPr/>
                    <a:lstStyle/>
                    <a:p>
                      <a:endParaRPr lang="en-ID"/>
                    </a:p>
                  </a:txBody>
                  <a:tcPr>
                    <a:lnT w="12700" cmpd="sng">
                      <a:noFill/>
                      <a:prstDash val="solid"/>
                    </a:lnT>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Initial Jobless Claims</a:t>
                      </a:r>
                    </a:p>
                  </a:txBody>
                  <a:tcPr marL="0" marR="0" marT="0" marB="0" anchor="ctr">
                    <a:lnL w="12700" cmpd="sng">
                      <a:noFill/>
                      <a:prstDash val="solid"/>
                    </a:lnL>
                    <a:lnR>
                      <a:noFill/>
                    </a:lnR>
                    <a:lnT>
                      <a:noFill/>
                    </a:lnT>
                    <a:lnB>
                      <a:noFill/>
                    </a:lnB>
                    <a:lnTlToBr w="12700" cmpd="sng">
                      <a:noFill/>
                      <a:prstDash val="solid"/>
                    </a:lnTlToBr>
                    <a:lnBlToTr w="12700" cmpd="sng">
                      <a:noFill/>
                      <a:prstDash val="solid"/>
                    </a:lnBlToTr>
                  </a:tcPr>
                </a:tc>
                <a:tc>
                  <a:txBody>
                    <a:bodyPr/>
                    <a:lstStyle/>
                    <a:p>
                      <a:pPr algn="ctr"/>
                      <a:r>
                        <a:rPr lang="en-US" sz="800" dirty="0"/>
                        <a:t>197,00K</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800" dirty="0"/>
                        <a:t>199,00K</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1-Oct-26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tcPr>
                </a:tc>
                <a:extLst>
                  <a:ext uri="{0D108BD9-81ED-4DB2-BD59-A6C34878D82A}">
                    <a16:rowId xmlns:a16="http://schemas.microsoft.com/office/drawing/2014/main" val="297878780"/>
                  </a:ext>
                </a:extLst>
              </a:tr>
              <a:tr h="170658">
                <a:tc vMerge="1">
                  <a:txBody>
                    <a:bodyPr/>
                    <a:lstStyle/>
                    <a:p>
                      <a:endParaRPr lang="en-ID"/>
                    </a:p>
                  </a:txBody>
                  <a:tcPr>
                    <a:lnT w="12700" cmpd="sng">
                      <a:noFill/>
                      <a:prstDash val="solid"/>
                    </a:lnT>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S&amp;P Global Manufacturing PMI September 2026</a:t>
                      </a:r>
                    </a:p>
                  </a:txBody>
                  <a:tcPr marL="0" marR="0" marT="0" marB="0" anchor="ctr">
                    <a:lnL w="12700" cmpd="sng">
                      <a:noFill/>
                      <a:prstDash val="solid"/>
                    </a:lnL>
                    <a:lnR>
                      <a:noFill/>
                    </a:lnR>
                    <a:lnT>
                      <a:noFill/>
                    </a:lnT>
                    <a:lnB>
                      <a:noFill/>
                    </a:lnB>
                    <a:lnTlToBr w="12700" cmpd="sng">
                      <a:noFill/>
                      <a:prstDash val="solid"/>
                    </a:lnTlToBr>
                    <a:lnBlToTr w="12700" cmpd="sng">
                      <a:noFill/>
                      <a:prstDash val="solid"/>
                    </a:lnBlToTr>
                  </a:tcPr>
                </a:tc>
                <a:tc>
                  <a:txBody>
                    <a:bodyPr/>
                    <a:lstStyle/>
                    <a:p>
                      <a:pPr algn="ctr"/>
                      <a:r>
                        <a:rPr lang="en-US" sz="800" dirty="0"/>
                        <a:t>57,00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800" dirty="0"/>
                        <a:t>57,00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1-Oct-26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tcPr>
                </a:tc>
                <a:extLst>
                  <a:ext uri="{0D108BD9-81ED-4DB2-BD59-A6C34878D82A}">
                    <a16:rowId xmlns:a16="http://schemas.microsoft.com/office/drawing/2014/main" val="3775520957"/>
                  </a:ext>
                </a:extLst>
              </a:tr>
              <a:tr h="170658">
                <a:tc vMerge="1">
                  <a:txBody>
                    <a:bodyPr/>
                    <a:lstStyle/>
                    <a:p>
                      <a:pPr algn="ctr"/>
                      <a:endParaRPr lang="en-US" sz="800" dirty="0">
                        <a:solidFill>
                          <a:schemeClr val="tx1"/>
                        </a:solidFill>
                      </a:endParaRPr>
                    </a:p>
                  </a:txBody>
                  <a:tcPr anchor="ctr">
                    <a:lnR w="12700" cap="flat" cmpd="sng" algn="ctr">
                      <a:noFill/>
                      <a:prstDash val="solid"/>
                      <a:round/>
                      <a:headEnd type="none" w="med" len="med"/>
                      <a:tailEnd type="none" w="med" len="med"/>
                    </a:lnR>
                    <a:lnT w="12700" cmpd="sng">
                      <a:noFill/>
                      <a:prstDash val="solid"/>
                    </a:lnT>
                    <a:lnB w="12700" cmpd="sng">
                      <a:noFill/>
                      <a:prstDash val="solid"/>
                    </a:lnB>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Nonfarm Payrolls September 2026</a:t>
                      </a:r>
                    </a:p>
                  </a:txBody>
                  <a:tcPr marL="0" marR="0" marT="0" marB="0" anchor="ctr">
                    <a:lnL w="3175"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algn="ctr"/>
                      <a:r>
                        <a:rPr lang="en-US" sz="800" dirty="0"/>
                        <a:t>162,00K</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800" dirty="0"/>
                        <a:t>98,00K</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2-Oct-26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tcPr>
                </a:tc>
                <a:extLst>
                  <a:ext uri="{0D108BD9-81ED-4DB2-BD59-A6C34878D82A}">
                    <a16:rowId xmlns:a16="http://schemas.microsoft.com/office/drawing/2014/main" val="425152781"/>
                  </a:ext>
                </a:extLst>
              </a:tr>
              <a:tr h="170658">
                <a:tc>
                  <a:txBody>
                    <a:bodyPr/>
                    <a:lstStyle/>
                    <a:p>
                      <a:pPr algn="ctr"/>
                      <a:endParaRPr lang="en-US" sz="800" dirty="0">
                        <a:solidFill>
                          <a:schemeClr val="tx1"/>
                        </a:solidFill>
                      </a:endParaRPr>
                    </a:p>
                  </a:txBody>
                  <a:tcPr anchor="ctr">
                    <a:lnR w="12700" cap="flat" cmpd="sng" algn="ctr">
                      <a:noFill/>
                      <a:prstDash val="solid"/>
                      <a:round/>
                      <a:headEnd type="none" w="med" len="med"/>
                      <a:tailEnd type="none" w="med" len="med"/>
                    </a:lnR>
                    <a:lnT w="12700" cmpd="sng">
                      <a:noFill/>
                      <a:prstDash val="solid"/>
                    </a:lnT>
                    <a:lnB w="12700" cmpd="sng">
                      <a:noFill/>
                      <a:prstDash val="solid"/>
                    </a:lnB>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Unemployment Rate September 2026</a:t>
                      </a:r>
                    </a:p>
                  </a:txBody>
                  <a:tcPr marL="0" marR="0" marT="0" marB="0" anchor="ctr">
                    <a:lnL w="3175"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algn="ctr"/>
                      <a:r>
                        <a:rPr lang="en-US" sz="800" dirty="0"/>
                        <a:t>4,10%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algn="ctr"/>
                      <a:r>
                        <a:rPr lang="en-US" sz="800" dirty="0"/>
                        <a:t>4,10%</a:t>
                      </a:r>
                    </a:p>
                  </a:txBody>
                  <a:tcPr marL="0" marR="0" marT="0" marB="0" anchor="ctr">
                    <a:lnL>
                      <a:noFill/>
                    </a:lnL>
                    <a:lnR>
                      <a:noFill/>
                    </a:lnR>
                    <a:lnT>
                      <a:noFill/>
                    </a:lnT>
                    <a:lnB>
                      <a:noFill/>
                    </a:lnB>
                    <a:lnTlToBr w="12700" cmpd="sng">
                      <a:noFill/>
                      <a:prstDash val="solid"/>
                    </a:lnTlToBr>
                    <a:lnBlToTr w="12700" cmpd="sng">
                      <a:noFill/>
                      <a:prstDash val="solid"/>
                    </a:lnBlToTr>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t>2-Oct-26</a:t>
                      </a:r>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tcPr>
                </a:tc>
                <a:extLst>
                  <a:ext uri="{0D108BD9-81ED-4DB2-BD59-A6C34878D82A}">
                    <a16:rowId xmlns:a16="http://schemas.microsoft.com/office/drawing/2014/main" val="3900081421"/>
                  </a:ext>
                </a:extLst>
              </a:tr>
              <a:tr h="170658">
                <a:tc rowSpan="3">
                  <a:txBody>
                    <a:bodyPr/>
                    <a:lstStyle/>
                    <a:p>
                      <a:pPr algn="ctr"/>
                      <a:r>
                        <a:rPr lang="en-US" sz="800" dirty="0">
                          <a:latin typeface="+mn-lt"/>
                        </a:rPr>
                        <a:t>EU</a:t>
                      </a:r>
                      <a:endParaRPr lang="en-US" sz="800" dirty="0">
                        <a:solidFill>
                          <a:schemeClr val="tx1"/>
                        </a:solidFill>
                      </a:endParaRPr>
                    </a:p>
                  </a:txBody>
                  <a:tcPr anchor="ctr">
                    <a:lnR w="12700" cap="flat" cmpd="sng" algn="ctr">
                      <a:noFill/>
                      <a:prstDash val="solid"/>
                      <a:round/>
                      <a:headEnd type="none" w="med" len="med"/>
                      <a:tailEnd type="none" w="med" len="med"/>
                    </a:lnR>
                    <a:lnT w="12700" cmpd="sng">
                      <a:noFill/>
                      <a:prstDash val="solid"/>
                    </a:lnT>
                    <a:lnB w="12700" cmpd="sng">
                      <a:noFill/>
                      <a:prstDash val="solid"/>
                    </a:lnB>
                    <a:solidFill>
                      <a:srgbClr val="A7A7A7"/>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baseline="0" dirty="0"/>
                        <a:t>HCOB Eurozone Manufacturing PMI September 2026</a:t>
                      </a:r>
                    </a:p>
                  </a:txBody>
                  <a:tcPr marL="0" marR="0" marT="0" marB="0" anchor="ctr">
                    <a:lnL w="12700" cmpd="sng">
                      <a:noFill/>
                      <a:prstDash val="solid"/>
                    </a:lnL>
                    <a:lnR>
                      <a:noFill/>
                    </a:lnR>
                    <a:lnT>
                      <a:noFill/>
                    </a:lnT>
                    <a:lnB>
                      <a:noFill/>
                    </a:lnB>
                    <a:lnTlToBr w="12700" cmpd="sng">
                      <a:noFill/>
                      <a:prstDash val="solid"/>
                    </a:lnTlToBr>
                    <a:lnBlToTr w="12700" cmpd="sng">
                      <a:noFill/>
                      <a:prstDash val="solid"/>
                    </a:lnBlToTr>
                    <a:solidFill>
                      <a:srgbClr val="A7A7A7"/>
                    </a:solidFill>
                  </a:tcPr>
                </a:tc>
                <a:tc>
                  <a:txBody>
                    <a:bodyPr/>
                    <a:lstStyle/>
                    <a:p>
                      <a:pPr algn="ctr"/>
                      <a:r>
                        <a:rPr lang="en-US" sz="800" dirty="0"/>
                        <a:t>52,70</a:t>
                      </a:r>
                    </a:p>
                  </a:txBody>
                  <a:tcPr marL="0" marR="0" marT="0" marB="0" anchor="ctr">
                    <a:lnL>
                      <a:noFill/>
                    </a:lnL>
                    <a:lnR>
                      <a:noFill/>
                    </a:lnR>
                    <a:lnT>
                      <a:noFill/>
                    </a:lnT>
                    <a:lnB>
                      <a:noFill/>
                    </a:lnB>
                    <a:lnTlToBr w="12700" cmpd="sng">
                      <a:noFill/>
                      <a:prstDash val="solid"/>
                    </a:lnTlToBr>
                    <a:lnBlToTr w="12700" cmpd="sng">
                      <a:noFill/>
                      <a:prstDash val="solid"/>
                    </a:lnBlToTr>
                    <a:solidFill>
                      <a:srgbClr val="A7A7A7"/>
                    </a:solidFill>
                  </a:tcPr>
                </a:tc>
                <a:tc>
                  <a:txBody>
                    <a:bodyPr/>
                    <a:lstStyle/>
                    <a:p>
                      <a:pPr algn="ctr"/>
                      <a:r>
                        <a:rPr lang="en-US" sz="800" dirty="0"/>
                        <a:t>52,70</a:t>
                      </a:r>
                    </a:p>
                  </a:txBody>
                  <a:tcPr marL="0" marR="0" marT="0" marB="0" anchor="ctr">
                    <a:lnL>
                      <a:noFill/>
                    </a:lnL>
                    <a:lnR>
                      <a:noFill/>
                    </a:lnR>
                    <a:lnT>
                      <a:noFill/>
                    </a:lnT>
                    <a:lnB>
                      <a:noFill/>
                    </a:lnB>
                    <a:lnTlToBr w="12700" cmpd="sng">
                      <a:noFill/>
                      <a:prstDash val="solid"/>
                    </a:lnTlToBr>
                    <a:lnBlToTr w="12700" cmpd="sng">
                      <a:noFill/>
                      <a:prstDash val="solid"/>
                    </a:lnBlToTr>
                    <a:solidFill>
                      <a:srgbClr val="A7A7A7"/>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1-Oct-26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7A7A7"/>
                    </a:solidFill>
                  </a:tcPr>
                </a:tc>
                <a:extLst>
                  <a:ext uri="{0D108BD9-81ED-4DB2-BD59-A6C34878D82A}">
                    <a16:rowId xmlns:a16="http://schemas.microsoft.com/office/drawing/2014/main" val="1747879190"/>
                  </a:ext>
                </a:extLst>
              </a:tr>
              <a:tr h="170658">
                <a:tc vMerge="1">
                  <a:txBody>
                    <a:bodyPr/>
                    <a:lstStyle/>
                    <a:p>
                      <a:endParaRPr dirty="0"/>
                    </a:p>
                  </a:txBody>
                  <a:tcPr anchor="ctr">
                    <a:lnR w="12700" cap="flat" cmpd="sng" algn="ctr">
                      <a:noFill/>
                      <a:prstDash val="solid"/>
                      <a:round/>
                      <a:headEnd type="none" w="med" len="med"/>
                      <a:tailEnd type="none" w="med" len="med"/>
                    </a:lnR>
                    <a:lnT w="12700" cmpd="sng">
                      <a:noFill/>
                      <a:prstDash val="solid"/>
                    </a:lnT>
                    <a:lnB w="12700" cmpd="sng">
                      <a:noFill/>
                      <a:prstDash val="solid"/>
                    </a:lnB>
                    <a:solidFill>
                      <a:srgbClr val="A7A7A7"/>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baseline="0" dirty="0"/>
                        <a:t>CPI September 2026 (YoY) </a:t>
                      </a:r>
                      <a:r>
                        <a:rPr lang="en-US" sz="800" b="1" baseline="0" dirty="0"/>
                        <a:t>P</a:t>
                      </a:r>
                    </a:p>
                  </a:txBody>
                  <a:tcPr marL="0" marR="0" marT="0" marB="0" anchor="ctr">
                    <a:lnL w="12700" cmpd="sng">
                      <a:noFill/>
                      <a:prstDash val="solid"/>
                    </a:lnL>
                    <a:lnR>
                      <a:noFill/>
                    </a:lnR>
                    <a:lnT>
                      <a:noFill/>
                    </a:lnT>
                    <a:lnB>
                      <a:noFill/>
                    </a:lnB>
                    <a:lnTlToBr w="12700" cmpd="sng">
                      <a:noFill/>
                      <a:prstDash val="solid"/>
                    </a:lnTlToBr>
                    <a:lnBlToTr w="12700" cmpd="sng">
                      <a:noFill/>
                      <a:prstDash val="solid"/>
                    </a:lnBlToTr>
                    <a:solidFill>
                      <a:srgbClr val="A7A7A7"/>
                    </a:solidFill>
                  </a:tcPr>
                </a:tc>
                <a:tc>
                  <a:txBody>
                    <a:bodyPr/>
                    <a:lstStyle/>
                    <a:p>
                      <a:pPr algn="ctr"/>
                      <a:r>
                        <a:rPr lang="en-US" sz="800" dirty="0"/>
                        <a:t>3,20%</a:t>
                      </a:r>
                    </a:p>
                  </a:txBody>
                  <a:tcPr marL="0" marR="0" marT="0" marB="0" anchor="ctr">
                    <a:lnL>
                      <a:noFill/>
                    </a:lnL>
                    <a:lnR>
                      <a:noFill/>
                    </a:lnR>
                    <a:lnT>
                      <a:noFill/>
                    </a:lnT>
                    <a:lnB>
                      <a:noFill/>
                    </a:lnB>
                    <a:lnTlToBr w="12700" cmpd="sng">
                      <a:noFill/>
                      <a:prstDash val="solid"/>
                    </a:lnTlToBr>
                    <a:lnBlToTr w="12700" cmpd="sng">
                      <a:noFill/>
                      <a:prstDash val="solid"/>
                    </a:lnBlToTr>
                    <a:solidFill>
                      <a:srgbClr val="A7A7A7"/>
                    </a:solidFill>
                  </a:tcPr>
                </a:tc>
                <a:tc>
                  <a:txBody>
                    <a:bodyPr/>
                    <a:lstStyle/>
                    <a:p>
                      <a:pPr algn="ctr"/>
                      <a:r>
                        <a:rPr lang="en-US" sz="800" dirty="0"/>
                        <a:t>3,70%</a:t>
                      </a:r>
                    </a:p>
                  </a:txBody>
                  <a:tcPr marL="0" marR="0" marT="0" marB="0" anchor="ctr">
                    <a:lnL>
                      <a:noFill/>
                    </a:lnL>
                    <a:lnR>
                      <a:noFill/>
                    </a:lnR>
                    <a:lnT>
                      <a:noFill/>
                    </a:lnT>
                    <a:lnB>
                      <a:noFill/>
                    </a:lnB>
                    <a:lnTlToBr w="12700" cmpd="sng">
                      <a:noFill/>
                      <a:prstDash val="solid"/>
                    </a:lnTlToBr>
                    <a:lnBlToTr w="12700" cmpd="sng">
                      <a:noFill/>
                      <a:prstDash val="solid"/>
                    </a:lnBlToTr>
                    <a:solidFill>
                      <a:srgbClr val="A7A7A7"/>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2-Oct-26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7A7A7"/>
                    </a:solidFill>
                  </a:tcPr>
                </a:tc>
                <a:extLst>
                  <a:ext uri="{0D108BD9-81ED-4DB2-BD59-A6C34878D82A}">
                    <a16:rowId xmlns:a16="http://schemas.microsoft.com/office/drawing/2014/main" val="2183262965"/>
                  </a:ext>
                </a:extLst>
              </a:tr>
              <a:tr h="170658">
                <a:tc vMerge="1">
                  <a:txBody>
                    <a:bodyPr/>
                    <a:lstStyle/>
                    <a:p>
                      <a:pPr algn="ctr"/>
                      <a:endParaRPr lang="en-US" sz="800" dirty="0">
                        <a:solidFill>
                          <a:schemeClr val="tx1"/>
                        </a:solidFill>
                      </a:endParaRPr>
                    </a:p>
                  </a:txBody>
                  <a:tcPr anchor="ctr">
                    <a:lnR w="12700" cap="flat" cmpd="sng" algn="ctr">
                      <a:noFill/>
                      <a:prstDash val="solid"/>
                      <a:round/>
                      <a:headEnd type="none" w="med" len="med"/>
                      <a:tailEnd type="none" w="med" len="med"/>
                    </a:lnR>
                    <a:lnT w="12700" cmpd="sng">
                      <a:noFill/>
                      <a:prstDash val="solid"/>
                    </a:lnT>
                    <a:lnB w="12700" cmpd="sng">
                      <a:noFill/>
                      <a:prstDash val="solid"/>
                    </a:lnB>
                    <a:solidFill>
                      <a:srgbClr val="A7A7A7"/>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baseline="0" dirty="0"/>
                        <a:t>CFTC EUR Speculative Net Positions</a:t>
                      </a:r>
                    </a:p>
                  </a:txBody>
                  <a:tcPr marL="0" marR="0" marT="0" marB="0" anchor="ctr">
                    <a:lnL w="12700" cmpd="sng">
                      <a:noFill/>
                      <a:prstDash val="solid"/>
                    </a:lnL>
                    <a:lnR>
                      <a:noFill/>
                    </a:lnR>
                    <a:lnT>
                      <a:noFill/>
                    </a:lnT>
                    <a:lnB>
                      <a:noFill/>
                    </a:lnB>
                    <a:lnTlToBr w="12700" cmpd="sng">
                      <a:noFill/>
                      <a:prstDash val="solid"/>
                    </a:lnTlToBr>
                    <a:lnBlToTr w="12700" cmpd="sng">
                      <a:noFill/>
                      <a:prstDash val="solid"/>
                    </a:lnBlToTr>
                    <a:solidFill>
                      <a:srgbClr val="A7A7A7"/>
                    </a:solidFill>
                  </a:tcPr>
                </a:tc>
                <a:tc>
                  <a:txBody>
                    <a:bodyPr/>
                    <a:lstStyle/>
                    <a:p>
                      <a:pPr algn="ctr"/>
                      <a:r>
                        <a:rPr lang="en-US" sz="800" dirty="0"/>
                        <a:t>-52,30K</a:t>
                      </a:r>
                    </a:p>
                  </a:txBody>
                  <a:tcPr marL="0" marR="0" marT="0" marB="0" anchor="ctr">
                    <a:lnL>
                      <a:noFill/>
                    </a:lnL>
                    <a:lnR>
                      <a:noFill/>
                    </a:lnR>
                    <a:lnT>
                      <a:noFill/>
                    </a:lnT>
                    <a:lnB>
                      <a:noFill/>
                    </a:lnB>
                    <a:lnTlToBr w="12700" cmpd="sng">
                      <a:noFill/>
                      <a:prstDash val="solid"/>
                    </a:lnTlToBr>
                    <a:lnBlToTr w="12700" cmpd="sng">
                      <a:noFill/>
                      <a:prstDash val="solid"/>
                    </a:lnBlToTr>
                    <a:solidFill>
                      <a:srgbClr val="A7A7A7"/>
                    </a:solidFill>
                  </a:tcPr>
                </a:tc>
                <a:tc>
                  <a:txBody>
                    <a:bodyPr/>
                    <a:lstStyle/>
                    <a:p>
                      <a:pPr algn="ctr"/>
                      <a:r>
                        <a:rPr lang="en-US" sz="800" dirty="0"/>
                        <a:t>-</a:t>
                      </a:r>
                    </a:p>
                  </a:txBody>
                  <a:tcPr marL="0" marR="0" marT="0" marB="0" anchor="ctr">
                    <a:lnL>
                      <a:noFill/>
                    </a:lnL>
                    <a:lnR>
                      <a:noFill/>
                    </a:lnR>
                    <a:lnT>
                      <a:noFill/>
                    </a:lnT>
                    <a:lnB>
                      <a:noFill/>
                    </a:lnB>
                    <a:lnTlToBr w="12700" cmpd="sng">
                      <a:noFill/>
                      <a:prstDash val="solid"/>
                    </a:lnTlToBr>
                    <a:lnBlToTr w="12700" cmpd="sng">
                      <a:noFill/>
                      <a:prstDash val="solid"/>
                    </a:lnBlToTr>
                    <a:solidFill>
                      <a:srgbClr val="A7A7A7"/>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3-Oct-26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7A7A7"/>
                    </a:solidFill>
                  </a:tcPr>
                </a:tc>
                <a:extLst>
                  <a:ext uri="{0D108BD9-81ED-4DB2-BD59-A6C34878D82A}">
                    <a16:rowId xmlns:a16="http://schemas.microsoft.com/office/drawing/2014/main" val="753966804"/>
                  </a:ext>
                </a:extLst>
              </a:tr>
              <a:tr h="175306">
                <a:tc rowSpan="2">
                  <a:txBody>
                    <a:bodyPr/>
                    <a:lstStyle/>
                    <a:p>
                      <a:pPr algn="ctr" fontAlgn="ctr"/>
                      <a:r>
                        <a:rPr lang="en-ID" sz="800" b="0" i="0" u="none" strike="noStrike" dirty="0">
                          <a:solidFill>
                            <a:srgbClr val="000000"/>
                          </a:solidFill>
                          <a:effectLst/>
                          <a:latin typeface="Calibri" panose="020F0502020204030204" pitchFamily="34" charset="0"/>
                        </a:rPr>
                        <a:t>Japan</a:t>
                      </a:r>
                    </a:p>
                  </a:txBody>
                  <a:tcPr marL="0" marR="0" marT="0" marB="0" anchor="ctr">
                    <a:lnL w="12700" cap="flat" cmpd="sng" algn="ctr">
                      <a:solidFill>
                        <a:schemeClr val="tx1"/>
                      </a:solidFill>
                      <a:prstDash val="solid"/>
                      <a:round/>
                      <a:headEnd type="none" w="med" len="med"/>
                      <a:tailEnd type="none" w="med" len="med"/>
                    </a:lnL>
                    <a:lnR>
                      <a:noFill/>
                      <a:headEnd type="none" w="med" len="med"/>
                      <a:tailEnd type="none" w="med" len="med"/>
                    </a:lnR>
                    <a:lnT>
                      <a:noFill/>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Industrial Production August 2026 (MoM) </a:t>
                      </a:r>
                      <a:r>
                        <a:rPr lang="en-US" sz="800" b="1" dirty="0"/>
                        <a:t>P</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lang="en-US" sz="800" dirty="0"/>
                        <a:t>-0,20%</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lang="en-US" sz="800" dirty="0"/>
                        <a:t>1,20%</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Calibri"/>
                          <a:ea typeface="+mn-ea"/>
                          <a:cs typeface="+mn-cs"/>
                        </a:rPr>
                        <a:t>30-Sep-26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extLst>
                  <a:ext uri="{0D108BD9-81ED-4DB2-BD59-A6C34878D82A}">
                    <a16:rowId xmlns:a16="http://schemas.microsoft.com/office/drawing/2014/main" val="3193980066"/>
                  </a:ext>
                </a:extLst>
              </a:tr>
              <a:tr h="175306">
                <a:tc vMerge="1">
                  <a:txBody>
                    <a:bodyPr/>
                    <a:lstStyle/>
                    <a:p>
                      <a:pPr algn="ctr" fontAlgn="ctr"/>
                      <a:endParaRPr lang="en-ID" sz="8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a:noFill/>
                      <a:headEnd type="none" w="med" len="med"/>
                      <a:tailEnd type="none" w="med" len="med"/>
                    </a:lnR>
                    <a:lnT>
                      <a:noFill/>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Tokyo Core CPI September 2026 (YoY)</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lang="en-US" sz="800" dirty="0"/>
                        <a:t>1,80%</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algn="ctr"/>
                      <a:r>
                        <a:rPr lang="en-US" sz="800" dirty="0"/>
                        <a:t>2,40%</a:t>
                      </a:r>
                    </a:p>
                  </a:txBody>
                  <a:tcPr marL="0" marR="0" marT="0" marB="0" anchor="ctr">
                    <a:lnL>
                      <a:noFill/>
                    </a:lnL>
                    <a:lnR>
                      <a:noFill/>
                    </a:lnR>
                    <a:lnT>
                      <a:noFill/>
                    </a:lnT>
                    <a:lnB>
                      <a:noFill/>
                    </a:lnB>
                    <a:lnTlToBr w="12700" cmpd="sng">
                      <a:noFill/>
                      <a:prstDash val="solid"/>
                    </a:lnTlToBr>
                    <a:lnBlToTr w="12700" cmpd="sng">
                      <a:noFill/>
                      <a:prstDash val="solid"/>
                    </a:lnBlToTr>
                    <a:solidFill>
                      <a:schemeClr val="bg1"/>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2-Oct-26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a:noFill/>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solidFill>
                  </a:tcPr>
                </a:tc>
                <a:extLst>
                  <a:ext uri="{0D108BD9-81ED-4DB2-BD59-A6C34878D82A}">
                    <a16:rowId xmlns:a16="http://schemas.microsoft.com/office/drawing/2014/main" val="1438621321"/>
                  </a:ext>
                </a:extLst>
              </a:tr>
              <a:tr h="170658">
                <a:tc rowSpan="3">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solidFill>
                            <a:schemeClr val="tx1"/>
                          </a:solidFill>
                        </a:rPr>
                        <a:t>China</a:t>
                      </a:r>
                      <a:endParaRPr lang="en-US" sz="800"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7A7A7"/>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Manufacturing PMI September 2026</a:t>
                      </a:r>
                    </a:p>
                  </a:txBody>
                  <a:tcPr marL="0" marR="0" marT="0" marB="0" anchor="ctr">
                    <a:lnL w="12700" cap="flat" cmpd="sng" algn="ctr">
                      <a:noFill/>
                      <a:prstDash val="solid"/>
                      <a:round/>
                      <a:headEnd type="none" w="med" len="med"/>
                      <a:tailEnd type="none" w="med" len="med"/>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tc>
                  <a:txBody>
                    <a:bodyPr/>
                    <a:lstStyle/>
                    <a:p>
                      <a:pPr algn="ctr"/>
                      <a:r>
                        <a:rPr lang="en-US" sz="800" dirty="0"/>
                        <a:t>49,80</a:t>
                      </a:r>
                    </a:p>
                  </a:txBody>
                  <a:tcPr marL="0" marR="0" marT="0" marB="0" anchor="ctr">
                    <a:lnL>
                      <a:noFill/>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tc>
                  <a:txBody>
                    <a:bodyPr/>
                    <a:lstStyle/>
                    <a:p>
                      <a:pPr algn="ctr"/>
                      <a:r>
                        <a:rPr lang="en-US" sz="800" dirty="0"/>
                        <a:t>50,10</a:t>
                      </a:r>
                    </a:p>
                  </a:txBody>
                  <a:tcPr marL="0" marR="0" marT="0" marB="0" anchor="ctr">
                    <a:lnL>
                      <a:noFill/>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30-Sep-26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extLst>
                  <a:ext uri="{0D108BD9-81ED-4DB2-BD59-A6C34878D82A}">
                    <a16:rowId xmlns:a16="http://schemas.microsoft.com/office/drawing/2014/main" val="10013"/>
                  </a:ext>
                </a:extLst>
              </a:tr>
              <a:tr h="170658">
                <a:tc vMerge="1">
                  <a:txBody>
                    <a:bodyPr/>
                    <a:lstStyle/>
                    <a:p>
                      <a:endParaRPr lang="en-ID"/>
                    </a:p>
                  </a:txBody>
                  <a:tcPr>
                    <a:lnT w="12700" cmpd="sng">
                      <a:noFill/>
                      <a:prstDash val="solid"/>
                    </a:lnT>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Non-Manufacturing PMI September 2026</a:t>
                      </a:r>
                    </a:p>
                  </a:txBody>
                  <a:tcPr marL="0" marR="0" marT="0" marB="0" anchor="ctr">
                    <a:lnL w="12700" cmpd="sng">
                      <a:noFill/>
                      <a:prstDash val="solid"/>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tc>
                  <a:txBody>
                    <a:bodyPr/>
                    <a:lstStyle/>
                    <a:p>
                      <a:pPr algn="ctr"/>
                      <a:r>
                        <a:rPr lang="en-US" sz="800" dirty="0"/>
                        <a:t>49,00</a:t>
                      </a:r>
                    </a:p>
                  </a:txBody>
                  <a:tcPr marL="0" marR="0" marT="0" marB="0" anchor="ctr">
                    <a:lnL>
                      <a:noFill/>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tc>
                  <a:txBody>
                    <a:bodyPr/>
                    <a:lstStyle/>
                    <a:p>
                      <a:pPr algn="ctr"/>
                      <a:r>
                        <a:rPr lang="en-US" sz="800" dirty="0"/>
                        <a:t>49,30</a:t>
                      </a:r>
                    </a:p>
                  </a:txBody>
                  <a:tcPr marL="0" marR="0" marT="0" marB="0" anchor="ctr">
                    <a:lnL>
                      <a:noFill/>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30-Sep-26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extLst>
                  <a:ext uri="{0D108BD9-81ED-4DB2-BD59-A6C34878D82A}">
                    <a16:rowId xmlns:a16="http://schemas.microsoft.com/office/drawing/2014/main" val="3133507307"/>
                  </a:ext>
                </a:extLst>
              </a:tr>
              <a:tr h="170658">
                <a:tc vMerge="1">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endParaRPr lang="en-US" sz="800" dirty="0"/>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A7A7A7"/>
                    </a:solid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Chinese Composite PMI September 2026</a:t>
                      </a:r>
                    </a:p>
                  </a:txBody>
                  <a:tcPr marL="0" marR="0" marT="0" marB="0" anchor="ctr">
                    <a:lnL w="12700" cap="flat" cmpd="sng" algn="ctr">
                      <a:noFill/>
                      <a:prstDash val="solid"/>
                      <a:round/>
                      <a:headEnd type="none" w="med" len="med"/>
                      <a:tailEnd type="none" w="med" len="med"/>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tc>
                  <a:txBody>
                    <a:bodyPr/>
                    <a:lstStyle/>
                    <a:p>
                      <a:pPr algn="ctr"/>
                      <a:r>
                        <a:rPr lang="en-US" sz="800" dirty="0"/>
                        <a:t>49,50</a:t>
                      </a:r>
                    </a:p>
                  </a:txBody>
                  <a:tcPr marL="0" marR="0" marT="0" marB="0" anchor="ctr">
                    <a:lnL>
                      <a:noFill/>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tc>
                  <a:txBody>
                    <a:bodyPr/>
                    <a:lstStyle/>
                    <a:p>
                      <a:pPr algn="ctr"/>
                      <a:r>
                        <a:rPr lang="en-US" sz="800" dirty="0"/>
                        <a:t>-</a:t>
                      </a:r>
                    </a:p>
                  </a:txBody>
                  <a:tcPr marL="0" marR="0" marT="0" marB="0" anchor="ctr">
                    <a:lnL>
                      <a:noFill/>
                    </a:lnL>
                    <a:lnR>
                      <a:noFill/>
                    </a:lnR>
                    <a:lnT>
                      <a:noFill/>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30-Sep-26</a:t>
                      </a:r>
                      <a:endParaRPr lang="en-US" sz="800" dirty="0"/>
                    </a:p>
                  </a:txBody>
                  <a:tcPr marL="0" marR="0" marT="0" marB="0" anchor="ctr">
                    <a:lnL>
                      <a:noFill/>
                    </a:lnL>
                    <a:lnR w="12700" cap="flat" cmpd="sng" algn="ctr">
                      <a:solidFill>
                        <a:schemeClr val="tx1"/>
                      </a:solidFill>
                      <a:prstDash val="solid"/>
                      <a:round/>
                      <a:headEnd type="none" w="med" len="med"/>
                      <a:tailEnd type="none" w="med" len="med"/>
                    </a:lnR>
                    <a:lnT>
                      <a:noFill/>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rgbClr val="A5A5A5"/>
                    </a:solidFill>
                  </a:tcPr>
                </a:tc>
                <a:extLst>
                  <a:ext uri="{0D108BD9-81ED-4DB2-BD59-A6C34878D82A}">
                    <a16:rowId xmlns:a16="http://schemas.microsoft.com/office/drawing/2014/main" val="2850440914"/>
                  </a:ext>
                </a:extLst>
              </a:tr>
              <a:tr h="170658">
                <a:tc rowSpan="3">
                  <a:txBody>
                    <a:bodyPr/>
                    <a:lstStyle/>
                    <a:p>
                      <a:pPr algn="ctr" fontAlgn="ctr"/>
                      <a:r>
                        <a:rPr lang="en-ID" sz="800" b="0" i="0" u="none" strike="noStrike" dirty="0">
                          <a:solidFill>
                            <a:srgbClr val="000000"/>
                          </a:solidFill>
                          <a:effectLst/>
                          <a:latin typeface="Calibri" panose="020F0502020204030204" pitchFamily="34" charset="0"/>
                        </a:rPr>
                        <a:t>Indonesia</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S&amp;P Global Manufacturing PMI September 2026</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t>49,80</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t>-</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1-Oct-26</a:t>
                      </a:r>
                      <a:endParaRPr lang="en-US" sz="800" dirty="0"/>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extLst>
                  <a:ext uri="{0D108BD9-81ED-4DB2-BD59-A6C34878D82A}">
                    <a16:rowId xmlns:a16="http://schemas.microsoft.com/office/drawing/2014/main" val="10020"/>
                  </a:ext>
                </a:extLst>
              </a:tr>
              <a:tr h="170658">
                <a:tc vMerge="1">
                  <a:txBody>
                    <a:bodyPr/>
                    <a:lstStyle/>
                    <a:p>
                      <a:endParaRPr lang="en-ID"/>
                    </a:p>
                  </a:txBody>
                  <a:tcPr>
                    <a:lnT w="12700" cap="flat" cmpd="sng" algn="ctr">
                      <a:solidFill>
                        <a:schemeClr val="tx1"/>
                      </a:solidFill>
                      <a:prstDash val="solid"/>
                      <a:round/>
                      <a:headEnd type="none" w="med" len="med"/>
                      <a:tailEnd type="none" w="med" len="med"/>
                    </a:lnT>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Inflation September 2026 (YoY)</a:t>
                      </a:r>
                    </a:p>
                  </a:txBody>
                  <a:tcPr marL="0" marR="0" marT="0" marB="0" anchor="ctr">
                    <a:lnL w="12700" cmpd="sng">
                      <a:noFill/>
                      <a:prstDash val="soli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t>3,19%</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t>-</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1-Oct-26</a:t>
                      </a:r>
                      <a:endParaRPr lang="en-US" sz="800" dirty="0"/>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extLst>
                  <a:ext uri="{0D108BD9-81ED-4DB2-BD59-A6C34878D82A}">
                    <a16:rowId xmlns:a16="http://schemas.microsoft.com/office/drawing/2014/main" val="1216946848"/>
                  </a:ext>
                </a:extLst>
              </a:tr>
              <a:tr h="170658">
                <a:tc vMerge="1">
                  <a:txBody>
                    <a:bodyPr/>
                    <a:lstStyle/>
                    <a:p>
                      <a:pPr algn="ctr" fontAlgn="ctr"/>
                      <a:endParaRPr lang="en-ID" sz="800" b="0" i="0" u="none" strike="noStrike" dirty="0">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l" defTabSz="685740" rtl="0" eaLnBrk="1" fontAlgn="auto" latinLnBrk="0" hangingPunct="1">
                        <a:lnSpc>
                          <a:spcPct val="100000"/>
                        </a:lnSpc>
                        <a:spcBef>
                          <a:spcPts val="0"/>
                        </a:spcBef>
                        <a:spcAft>
                          <a:spcPts val="0"/>
                        </a:spcAft>
                        <a:buClrTx/>
                        <a:buSzTx/>
                        <a:buFontTx/>
                        <a:buNone/>
                        <a:tabLst/>
                        <a:defRPr/>
                      </a:pPr>
                      <a:r>
                        <a:rPr lang="en-US" sz="800" b="0" dirty="0"/>
                        <a:t>Trade Balance August 2026 </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a:t>USD 0,13 Bn</a:t>
                      </a:r>
                      <a:endParaRPr lang="en-US" sz="800"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lang="en-US" sz="800" dirty="0"/>
                        <a:t>-</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ctr" defTabSz="68574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prstClr val="black"/>
                          </a:solidFill>
                          <a:effectLst/>
                          <a:uLnTx/>
                          <a:uFillTx/>
                          <a:latin typeface="+mn-lt"/>
                          <a:ea typeface="+mn-ea"/>
                          <a:cs typeface="+mn-cs"/>
                        </a:rPr>
                        <a:t>1-Oct-26</a:t>
                      </a:r>
                      <a:endParaRPr lang="en-US" sz="800" dirty="0"/>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extLst>
                  <a:ext uri="{0D108BD9-81ED-4DB2-BD59-A6C34878D82A}">
                    <a16:rowId xmlns:a16="http://schemas.microsoft.com/office/drawing/2014/main" val="2752028498"/>
                  </a:ext>
                </a:extLst>
              </a:tr>
            </a:tbl>
          </a:graphicData>
        </a:graphic>
      </p:graphicFrame>
      <p:pic>
        <p:nvPicPr>
          <p:cNvPr id="2097157" name="Picture 15">
            <a:extLst>
              <a:ext uri="{FF2B5EF4-FFF2-40B4-BE49-F238E27FC236}">
                <a16:creationId xmlns:a16="http://schemas.microsoft.com/office/drawing/2014/main" id="{F65C2A15-E8A1-6360-F2E9-1FA5F1267E02}"/>
              </a:ext>
            </a:extLst>
          </p:cNvPr>
          <p:cNvPicPr>
            <a:picLocks noChangeAspect="1"/>
          </p:cNvPicPr>
          <p:nvPr/>
        </p:nvPicPr>
        <p:blipFill>
          <a:blip r:embed="rId3"/>
          <a:stretch>
            <a:fillRect/>
          </a:stretch>
        </p:blipFill>
        <p:spPr>
          <a:xfrm>
            <a:off x="424493" y="8786563"/>
            <a:ext cx="6009012" cy="267729"/>
          </a:xfrm>
          <a:prstGeom prst="rect">
            <a:avLst/>
          </a:prstGeom>
        </p:spPr>
      </p:pic>
      <p:sp>
        <p:nvSpPr>
          <p:cNvPr id="1048627" name="TextBox 17">
            <a:extLst>
              <a:ext uri="{FF2B5EF4-FFF2-40B4-BE49-F238E27FC236}">
                <a16:creationId xmlns:a16="http://schemas.microsoft.com/office/drawing/2014/main" id="{44515946-B3BD-45BA-05B9-37D8A538FBB8}"/>
              </a:ext>
            </a:extLst>
          </p:cNvPr>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dirty="0">
                <a:solidFill>
                  <a:srgbClr val="175FAB"/>
                </a:solidFill>
              </a:rPr>
              <a:t>PT</a:t>
            </a:r>
            <a:r>
              <a:rPr lang="en-US" sz="1000" dirty="0">
                <a:solidFill>
                  <a:srgbClr val="175FAB"/>
                </a:solidFill>
              </a:rPr>
              <a:t> </a:t>
            </a:r>
            <a:r>
              <a:rPr lang="id-ID" sz="1000" dirty="0">
                <a:solidFill>
                  <a:srgbClr val="175FAB"/>
                </a:solidFill>
              </a:rPr>
              <a:t>Bank</a:t>
            </a:r>
            <a:r>
              <a:rPr lang="en-US" sz="1000" dirty="0">
                <a:solidFill>
                  <a:srgbClr val="175FAB"/>
                </a:solidFill>
              </a:rPr>
              <a:t> </a:t>
            </a:r>
            <a:r>
              <a:rPr lang="id-ID" sz="1000" dirty="0">
                <a:solidFill>
                  <a:srgbClr val="175FAB"/>
                </a:solidFill>
              </a:rPr>
              <a:t>Central</a:t>
            </a:r>
            <a:r>
              <a:rPr lang="en-US" sz="1000" dirty="0">
                <a:solidFill>
                  <a:srgbClr val="175FAB"/>
                </a:solidFill>
              </a:rPr>
              <a:t> </a:t>
            </a:r>
            <a:r>
              <a:rPr lang="id-ID" sz="1000" dirty="0">
                <a:solidFill>
                  <a:srgbClr val="175FAB"/>
                </a:solidFill>
              </a:rPr>
              <a:t>Asia</a:t>
            </a:r>
            <a:r>
              <a:rPr lang="en-US" sz="1000" dirty="0">
                <a:solidFill>
                  <a:srgbClr val="175FAB"/>
                </a:solidFill>
              </a:rPr>
              <a:t> </a:t>
            </a:r>
            <a:r>
              <a:rPr lang="en-US" sz="1000" dirty="0" err="1">
                <a:solidFill>
                  <a:srgbClr val="175FAB"/>
                </a:solidFill>
              </a:rPr>
              <a:t>Tbk</a:t>
            </a:r>
            <a:r>
              <a:rPr lang="en-US" sz="1000" dirty="0">
                <a:solidFill>
                  <a:srgbClr val="175FAB"/>
                </a:solidFill>
              </a:rPr>
              <a:t>.</a:t>
            </a:r>
            <a:endParaRPr lang="id-ID" sz="1000" dirty="0">
              <a:solidFill>
                <a:srgbClr val="175FAB"/>
              </a:solidFill>
            </a:endParaRPr>
          </a:p>
        </p:txBody>
      </p:sp>
      <p:sp>
        <p:nvSpPr>
          <p:cNvPr id="1048629" name="TextBox 22">
            <a:extLst>
              <a:ext uri="{FF2B5EF4-FFF2-40B4-BE49-F238E27FC236}">
                <a16:creationId xmlns:a16="http://schemas.microsoft.com/office/drawing/2014/main" id="{126D34C4-CEFC-6A61-6959-A343F8B08237}"/>
              </a:ext>
            </a:extLst>
          </p:cNvPr>
          <p:cNvSpPr txBox="1"/>
          <p:nvPr/>
        </p:nvSpPr>
        <p:spPr>
          <a:xfrm>
            <a:off x="5791200" y="8779499"/>
            <a:ext cx="645196" cy="271639"/>
          </a:xfrm>
          <a:prstGeom prst="rect">
            <a:avLst/>
          </a:prstGeom>
          <a:noFill/>
        </p:spPr>
        <p:txBody>
          <a:bodyPr wrap="square" lIns="116612" tIns="58306" rIns="116612" bIns="58306" rtlCol="0">
            <a:spAutoFit/>
          </a:bodyPr>
          <a:lstStyle/>
          <a:p>
            <a:pPr algn="r"/>
            <a:r>
              <a:rPr lang="en-US" sz="1000">
                <a:solidFill>
                  <a:schemeClr val="bg1"/>
                </a:solidFill>
              </a:rPr>
              <a:t>5</a:t>
            </a:r>
            <a:endParaRPr lang="id-ID" sz="1000">
              <a:solidFill>
                <a:schemeClr val="bg1"/>
              </a:solidFill>
            </a:endParaRPr>
          </a:p>
        </p:txBody>
      </p:sp>
      <p:sp>
        <p:nvSpPr>
          <p:cNvPr id="1048630" name="Rectangle 48">
            <a:extLst>
              <a:ext uri="{FF2B5EF4-FFF2-40B4-BE49-F238E27FC236}">
                <a16:creationId xmlns:a16="http://schemas.microsoft.com/office/drawing/2014/main" id="{C5406D2C-6EA2-372F-FCD0-D8F2DE40E32D}"/>
              </a:ext>
            </a:extLst>
          </p:cNvPr>
          <p:cNvSpPr>
            <a:spLocks noChangeArrowheads="1"/>
          </p:cNvSpPr>
          <p:nvPr/>
        </p:nvSpPr>
        <p:spPr bwMode="auto">
          <a:xfrm>
            <a:off x="0" y="49530"/>
            <a:ext cx="182881" cy="358140"/>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endParaRPr lang="en-US"/>
          </a:p>
        </p:txBody>
      </p:sp>
      <p:sp>
        <p:nvSpPr>
          <p:cNvPr id="17" name="TextBox 16">
            <a:extLst>
              <a:ext uri="{FF2B5EF4-FFF2-40B4-BE49-F238E27FC236}">
                <a16:creationId xmlns:a16="http://schemas.microsoft.com/office/drawing/2014/main" id="{9DDA1BDE-0F82-65DE-0027-7A8FB700223C}"/>
              </a:ext>
            </a:extLst>
          </p:cNvPr>
          <p:cNvSpPr txBox="1"/>
          <p:nvPr/>
        </p:nvSpPr>
        <p:spPr>
          <a:xfrm>
            <a:off x="304800" y="1638397"/>
            <a:ext cx="1534394" cy="2616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0C5EA8"/>
                </a:solidFill>
                <a:effectLst/>
                <a:uLnTx/>
                <a:uFillTx/>
                <a:latin typeface="Calibri"/>
                <a:ea typeface="+mn-ea"/>
                <a:cs typeface="+mn-cs"/>
              </a:rPr>
              <a:t>Proyeksi Data Ekonomi</a:t>
            </a:r>
            <a:endParaRPr kumimoji="0" lang="en-US" sz="1100" b="1" i="0" u="none" strike="noStrike" kern="1200" cap="none" spc="0" normalizeH="0" baseline="0" noProof="0" dirty="0">
              <a:ln>
                <a:noFill/>
              </a:ln>
              <a:solidFill>
                <a:srgbClr val="0C5EA8"/>
              </a:solidFill>
              <a:effectLst/>
              <a:uLnTx/>
              <a:uFillTx/>
              <a:latin typeface="Calibri"/>
              <a:ea typeface="+mn-ea"/>
              <a:cs typeface="+mn-cs"/>
            </a:endParaRPr>
          </a:p>
        </p:txBody>
      </p:sp>
      <p:sp>
        <p:nvSpPr>
          <p:cNvPr id="20" name="Rectangle 19">
            <a:extLst>
              <a:ext uri="{FF2B5EF4-FFF2-40B4-BE49-F238E27FC236}">
                <a16:creationId xmlns:a16="http://schemas.microsoft.com/office/drawing/2014/main" id="{61ED816A-40D6-D4B1-7F93-DE7BFEA3488C}"/>
              </a:ext>
            </a:extLst>
          </p:cNvPr>
          <p:cNvSpPr/>
          <p:nvPr/>
        </p:nvSpPr>
        <p:spPr>
          <a:xfrm>
            <a:off x="536068" y="1395494"/>
            <a:ext cx="1099508" cy="160796"/>
          </a:xfrm>
          <a:prstGeom prst="rect">
            <a:avLst/>
          </a:prstGeom>
          <a:solidFill>
            <a:srgbClr val="0051A2"/>
          </a:solidFill>
          <a:ln>
            <a:solidFill>
              <a:srgbClr val="0051A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31">
            <a:extLst>
              <a:ext uri="{FF2B5EF4-FFF2-40B4-BE49-F238E27FC236}">
                <a16:creationId xmlns:a16="http://schemas.microsoft.com/office/drawing/2014/main" id="{5F935AB8-4CE1-D254-7223-E63C9C83C7CC}"/>
              </a:ext>
            </a:extLst>
          </p:cNvPr>
          <p:cNvSpPr txBox="1"/>
          <p:nvPr/>
        </p:nvSpPr>
        <p:spPr>
          <a:xfrm>
            <a:off x="304800" y="8178752"/>
            <a:ext cx="4792633" cy="200055"/>
          </a:xfrm>
          <a:prstGeom prst="rect">
            <a:avLst/>
          </a:prstGeom>
          <a:noFill/>
        </p:spPr>
        <p:txBody>
          <a:bodyPr wrap="square" rtlCol="0">
            <a:spAutoFit/>
          </a:bodyPr>
          <a:lstStyle/>
          <a:p>
            <a:r>
              <a:rPr lang="en-US" sz="700" i="1" dirty="0"/>
              <a:t>*adjusted to Indonesian time</a:t>
            </a:r>
          </a:p>
        </p:txBody>
      </p:sp>
      <p:sp>
        <p:nvSpPr>
          <p:cNvPr id="21" name="Rectangle 20">
            <a:extLst>
              <a:ext uri="{FF2B5EF4-FFF2-40B4-BE49-F238E27FC236}">
                <a16:creationId xmlns:a16="http://schemas.microsoft.com/office/drawing/2014/main" id="{B8873FCB-3B47-3353-6E5E-8644C4894C78}"/>
              </a:ext>
            </a:extLst>
          </p:cNvPr>
          <p:cNvSpPr/>
          <p:nvPr/>
        </p:nvSpPr>
        <p:spPr>
          <a:xfrm>
            <a:off x="532173" y="1397347"/>
            <a:ext cx="1099508" cy="160796"/>
          </a:xfrm>
          <a:prstGeom prst="rect">
            <a:avLst/>
          </a:prstGeom>
          <a:solidFill>
            <a:srgbClr val="0051A2"/>
          </a:solidFill>
          <a:ln>
            <a:solidFill>
              <a:srgbClr val="0051A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F908AC75-40AA-5789-1A9F-4E0663226C3A}"/>
              </a:ext>
            </a:extLst>
          </p:cNvPr>
          <p:cNvSpPr txBox="1"/>
          <p:nvPr/>
        </p:nvSpPr>
        <p:spPr>
          <a:xfrm>
            <a:off x="424492" y="1352226"/>
            <a:ext cx="1308514" cy="246221"/>
          </a:xfrm>
          <a:prstGeom prst="rect">
            <a:avLst/>
          </a:prstGeom>
          <a:noFill/>
        </p:spPr>
        <p:txBody>
          <a:bodyPr wrap="square" rtlCol="0">
            <a:spAutoFit/>
          </a:bodyPr>
          <a:lstStyle/>
          <a:p>
            <a:pPr algn="ctr"/>
            <a:r>
              <a:rPr lang="en-US" sz="1000" b="1" dirty="0">
                <a:solidFill>
                  <a:schemeClr val="bg1"/>
                </a:solidFill>
              </a:rPr>
              <a:t>28 September 2026</a:t>
            </a:r>
          </a:p>
        </p:txBody>
      </p:sp>
      <p:sp>
        <p:nvSpPr>
          <p:cNvPr id="2" name="TextBox 1">
            <a:extLst>
              <a:ext uri="{FF2B5EF4-FFF2-40B4-BE49-F238E27FC236}">
                <a16:creationId xmlns:a16="http://schemas.microsoft.com/office/drawing/2014/main" id="{6BF49385-9C4C-9BE5-92C1-FD7DB3660EF9}"/>
              </a:ext>
            </a:extLst>
          </p:cNvPr>
          <p:cNvSpPr txBox="1"/>
          <p:nvPr/>
        </p:nvSpPr>
        <p:spPr>
          <a:xfrm>
            <a:off x="306430" y="4808801"/>
            <a:ext cx="1688256" cy="261610"/>
          </a:xfrm>
          <a:prstGeom prst="rect">
            <a:avLst/>
          </a:prstGeom>
          <a:noFill/>
        </p:spPr>
        <p:txBody>
          <a:bodyPr wrap="square" rtlCol="0">
            <a:spAutoFit/>
          </a:bodyPr>
          <a:lstStyle/>
          <a:p>
            <a:pPr lvl="0">
              <a:defRPr/>
            </a:pPr>
            <a:r>
              <a:rPr lang="en-US" sz="1100" b="1">
                <a:solidFill>
                  <a:srgbClr val="0C5EA8"/>
                </a:solidFill>
              </a:rPr>
              <a:t>Data Rilis Minggu Ini</a:t>
            </a:r>
            <a:endParaRPr lang="en-US" sz="1100" b="1" dirty="0">
              <a:solidFill>
                <a:srgbClr val="0C5EA8"/>
              </a:solidFill>
            </a:endParaRPr>
          </a:p>
        </p:txBody>
      </p:sp>
      <p:pic>
        <p:nvPicPr>
          <p:cNvPr id="14" name="Picture 23" descr="C:\Users\u062353\Downloads\usa-today.png">
            <a:extLst>
              <a:ext uri="{FF2B5EF4-FFF2-40B4-BE49-F238E27FC236}">
                <a16:creationId xmlns:a16="http://schemas.microsoft.com/office/drawing/2014/main" id="{554FB8FF-B950-0DC1-5110-367175277929}"/>
              </a:ext>
            </a:extLst>
          </p:cNvPr>
          <p:cNvPicPr>
            <a:picLocks noChangeAspect="1" noChangeArrowheads="1"/>
          </p:cNvPicPr>
          <p:nvPr/>
        </p:nvPicPr>
        <p:blipFill>
          <a:blip r:embed="rId4" cstate="print"/>
          <a:srcRect/>
          <a:stretch>
            <a:fillRect/>
          </a:stretch>
        </p:blipFill>
        <p:spPr bwMode="auto">
          <a:xfrm>
            <a:off x="424492" y="5522807"/>
            <a:ext cx="259471" cy="252000"/>
          </a:xfrm>
          <a:prstGeom prst="rect">
            <a:avLst/>
          </a:prstGeom>
          <a:noFill/>
        </p:spPr>
      </p:pic>
      <p:pic>
        <p:nvPicPr>
          <p:cNvPr id="15" name="Picture 26" descr="C:\Users\u062353\Downloads\europe.png">
            <a:extLst>
              <a:ext uri="{FF2B5EF4-FFF2-40B4-BE49-F238E27FC236}">
                <a16:creationId xmlns:a16="http://schemas.microsoft.com/office/drawing/2014/main" id="{C0E53487-0FE9-DD9A-856A-927CC354F353}"/>
              </a:ext>
            </a:extLst>
          </p:cNvPr>
          <p:cNvPicPr>
            <a:picLocks noChangeAspect="1" noChangeArrowheads="1"/>
          </p:cNvPicPr>
          <p:nvPr/>
        </p:nvPicPr>
        <p:blipFill>
          <a:blip r:embed="rId5" cstate="print"/>
          <a:srcRect/>
          <a:stretch>
            <a:fillRect/>
          </a:stretch>
        </p:blipFill>
        <p:spPr bwMode="auto">
          <a:xfrm>
            <a:off x="424492" y="6424125"/>
            <a:ext cx="258296" cy="245478"/>
          </a:xfrm>
          <a:prstGeom prst="rect">
            <a:avLst/>
          </a:prstGeom>
          <a:noFill/>
        </p:spPr>
      </p:pic>
      <p:pic>
        <p:nvPicPr>
          <p:cNvPr id="22" name="image4.png">
            <a:extLst>
              <a:ext uri="{FF2B5EF4-FFF2-40B4-BE49-F238E27FC236}">
                <a16:creationId xmlns:a16="http://schemas.microsoft.com/office/drawing/2014/main" id="{D00B4B8B-4F51-55F0-2270-D64E262469E9}"/>
              </a:ext>
            </a:extLst>
          </p:cNvPr>
          <p:cNvPicPr preferRelativeResize="0">
            <a:picLocks noChangeAspect="1"/>
          </p:cNvPicPr>
          <p:nvPr/>
        </p:nvPicPr>
        <p:blipFill>
          <a:blip r:embed="rId6" cstate="print"/>
          <a:stretch>
            <a:fillRect/>
          </a:stretch>
        </p:blipFill>
        <p:spPr>
          <a:xfrm>
            <a:off x="425532" y="7277585"/>
            <a:ext cx="252000" cy="252000"/>
          </a:xfrm>
          <a:prstGeom prst="rect">
            <a:avLst/>
          </a:prstGeom>
          <a:noFill/>
        </p:spPr>
      </p:pic>
      <p:pic>
        <p:nvPicPr>
          <p:cNvPr id="24" name="Picture 29">
            <a:extLst>
              <a:ext uri="{FF2B5EF4-FFF2-40B4-BE49-F238E27FC236}">
                <a16:creationId xmlns:a16="http://schemas.microsoft.com/office/drawing/2014/main" id="{724CA62C-6225-F1CF-53F5-BE0644A9C7A9}"/>
              </a:ext>
            </a:extLst>
          </p:cNvPr>
          <p:cNvPicPr>
            <a:picLocks noChangeAspect="1"/>
          </p:cNvPicPr>
          <p:nvPr/>
        </p:nvPicPr>
        <p:blipFill>
          <a:blip r:embed="rId7"/>
          <a:stretch>
            <a:fillRect/>
          </a:stretch>
        </p:blipFill>
        <p:spPr>
          <a:xfrm>
            <a:off x="418357" y="7791774"/>
            <a:ext cx="259175" cy="259175"/>
          </a:xfrm>
          <a:prstGeom prst="rect">
            <a:avLst/>
          </a:prstGeom>
        </p:spPr>
      </p:pic>
      <p:pic>
        <p:nvPicPr>
          <p:cNvPr id="3" name="Picture 27" descr="C:\Users\u062353\Downloads\japan.png">
            <a:extLst>
              <a:ext uri="{FF2B5EF4-FFF2-40B4-BE49-F238E27FC236}">
                <a16:creationId xmlns:a16="http://schemas.microsoft.com/office/drawing/2014/main" id="{BD7F973C-41A4-C2A9-BDFC-6EBE0AC3DD59}"/>
              </a:ext>
            </a:extLst>
          </p:cNvPr>
          <p:cNvPicPr>
            <a:picLocks noChangeAspect="1" noChangeArrowheads="1"/>
          </p:cNvPicPr>
          <p:nvPr/>
        </p:nvPicPr>
        <p:blipFill>
          <a:blip r:embed="rId8" cstate="print"/>
          <a:srcRect/>
          <a:stretch>
            <a:fillRect/>
          </a:stretch>
        </p:blipFill>
        <p:spPr bwMode="auto">
          <a:xfrm>
            <a:off x="424492" y="6849803"/>
            <a:ext cx="254081" cy="252000"/>
          </a:xfrm>
          <a:prstGeom prst="rect">
            <a:avLst/>
          </a:prstGeom>
          <a:noFill/>
        </p:spPr>
      </p:pic>
    </p:spTree>
    <p:extLst>
      <p:ext uri="{BB962C8B-B14F-4D97-AF65-F5344CB8AC3E}">
        <p14:creationId xmlns:p14="http://schemas.microsoft.com/office/powerpoint/2010/main" val="28157809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6" name="TextBox 4"/>
          <p:cNvSpPr txBox="1"/>
          <p:nvPr/>
        </p:nvSpPr>
        <p:spPr>
          <a:xfrm>
            <a:off x="325876" y="68605"/>
            <a:ext cx="4802351" cy="1071868"/>
          </a:xfrm>
          <a:prstGeom prst="rect">
            <a:avLst/>
          </a:prstGeom>
          <a:noFill/>
        </p:spPr>
        <p:txBody>
          <a:bodyPr wrap="square" lIns="116612" tIns="58306" rIns="116612" bIns="58306" rtlCol="0">
            <a:spAutoFit/>
          </a:bodyPr>
          <a:lstStyle/>
          <a:p>
            <a:pPr defTabSz="1166125"/>
            <a:r>
              <a:rPr lang="id-ID" sz="3100" b="1">
                <a:solidFill>
                  <a:prstClr val="white"/>
                </a:solidFill>
              </a:rPr>
              <a:t>Weekly</a:t>
            </a:r>
          </a:p>
          <a:p>
            <a:pPr defTabSz="1166125"/>
            <a:r>
              <a:rPr lang="id-ID" sz="3100" b="1">
                <a:solidFill>
                  <a:prstClr val="white"/>
                </a:solidFill>
              </a:rPr>
              <a:t>Market Overview</a:t>
            </a:r>
          </a:p>
        </p:txBody>
      </p:sp>
      <p:sp>
        <p:nvSpPr>
          <p:cNvPr id="1048637" name="TextBox 6"/>
          <p:cNvSpPr txBox="1"/>
          <p:nvPr/>
        </p:nvSpPr>
        <p:spPr>
          <a:xfrm>
            <a:off x="325874" y="996200"/>
            <a:ext cx="3103126" cy="353303"/>
          </a:xfrm>
          <a:prstGeom prst="rect">
            <a:avLst/>
          </a:prstGeom>
          <a:noFill/>
        </p:spPr>
        <p:txBody>
          <a:bodyPr wrap="square" lIns="116612" tIns="58306" rIns="116612" bIns="58306" rtlCol="0">
            <a:spAutoFit/>
          </a:bodyPr>
          <a:lstStyle/>
          <a:p>
            <a:pPr defTabSz="1166125"/>
            <a:r>
              <a:rPr lang="id-ID" sz="1500" b="1" dirty="0">
                <a:solidFill>
                  <a:prstClr val="white"/>
                </a:solidFill>
              </a:rPr>
              <a:t>Wealth Management Division</a:t>
            </a:r>
          </a:p>
        </p:txBody>
      </p:sp>
      <p:pic>
        <p:nvPicPr>
          <p:cNvPr id="2097163" name="Picture 15"/>
          <p:cNvPicPr>
            <a:picLocks noChangeAspect="1"/>
          </p:cNvPicPr>
          <p:nvPr/>
        </p:nvPicPr>
        <p:blipFill>
          <a:blip r:embed="rId3"/>
          <a:stretch>
            <a:fillRect/>
          </a:stretch>
        </p:blipFill>
        <p:spPr>
          <a:xfrm>
            <a:off x="424493" y="8786563"/>
            <a:ext cx="6009012" cy="267729"/>
          </a:xfrm>
          <a:prstGeom prst="rect">
            <a:avLst/>
          </a:prstGeom>
        </p:spPr>
      </p:pic>
      <p:sp>
        <p:nvSpPr>
          <p:cNvPr id="1048638" name="TextBox 17"/>
          <p:cNvSpPr txBox="1"/>
          <p:nvPr/>
        </p:nvSpPr>
        <p:spPr>
          <a:xfrm>
            <a:off x="424492" y="8779499"/>
            <a:ext cx="1861508" cy="271639"/>
          </a:xfrm>
          <a:prstGeom prst="rect">
            <a:avLst/>
          </a:prstGeom>
          <a:noFill/>
        </p:spPr>
        <p:txBody>
          <a:bodyPr wrap="square" lIns="116612" tIns="58306" rIns="116612" bIns="58306" rtlCol="0">
            <a:spAutoFit/>
          </a:bodyPr>
          <a:lstStyle/>
          <a:p>
            <a:pPr defTabSz="1166125"/>
            <a:r>
              <a:rPr lang="id-ID" sz="1000">
                <a:solidFill>
                  <a:srgbClr val="175FAB"/>
                </a:solidFill>
              </a:rPr>
              <a:t>PT</a:t>
            </a:r>
            <a:r>
              <a:rPr lang="en-US" sz="1000">
                <a:solidFill>
                  <a:srgbClr val="175FAB"/>
                </a:solidFill>
              </a:rPr>
              <a:t> </a:t>
            </a:r>
            <a:r>
              <a:rPr lang="id-ID" sz="1000">
                <a:solidFill>
                  <a:srgbClr val="175FAB"/>
                </a:solidFill>
              </a:rPr>
              <a:t>Bank </a:t>
            </a:r>
            <a:r>
              <a:rPr lang="id-ID" sz="1000" err="1">
                <a:solidFill>
                  <a:srgbClr val="175FAB"/>
                </a:solidFill>
              </a:rPr>
              <a:t>Central</a:t>
            </a:r>
            <a:r>
              <a:rPr lang="id-ID" sz="1000">
                <a:solidFill>
                  <a:srgbClr val="175FAB"/>
                </a:solidFill>
              </a:rPr>
              <a:t> Asia</a:t>
            </a:r>
            <a:r>
              <a:rPr lang="en-US" sz="1000">
                <a:solidFill>
                  <a:srgbClr val="175FAB"/>
                </a:solidFill>
              </a:rPr>
              <a:t> </a:t>
            </a:r>
            <a:r>
              <a:rPr lang="en-US" sz="1000" err="1">
                <a:solidFill>
                  <a:srgbClr val="175FAB"/>
                </a:solidFill>
              </a:rPr>
              <a:t>Tbk</a:t>
            </a:r>
            <a:r>
              <a:rPr lang="en-US" sz="1000">
                <a:solidFill>
                  <a:srgbClr val="175FAB"/>
                </a:solidFill>
              </a:rPr>
              <a:t>.</a:t>
            </a:r>
            <a:endParaRPr lang="id-ID" sz="1000">
              <a:solidFill>
                <a:srgbClr val="175FAB"/>
              </a:solidFill>
            </a:endParaRPr>
          </a:p>
        </p:txBody>
      </p:sp>
      <p:sp>
        <p:nvSpPr>
          <p:cNvPr id="1048639" name="TextBox 22"/>
          <p:cNvSpPr txBox="1"/>
          <p:nvPr/>
        </p:nvSpPr>
        <p:spPr>
          <a:xfrm>
            <a:off x="5791200" y="8779499"/>
            <a:ext cx="645196" cy="271639"/>
          </a:xfrm>
          <a:prstGeom prst="rect">
            <a:avLst/>
          </a:prstGeom>
          <a:noFill/>
        </p:spPr>
        <p:txBody>
          <a:bodyPr wrap="square" lIns="116612" tIns="58306" rIns="116612" bIns="58306" rtlCol="0">
            <a:spAutoFit/>
          </a:bodyPr>
          <a:lstStyle/>
          <a:p>
            <a:pPr algn="r"/>
            <a:fld id="{477D8BF5-2754-4CFE-9C4A-CCAF84A93D96}" type="slidenum">
              <a:rPr lang="id-ID" sz="1000">
                <a:solidFill>
                  <a:prstClr val="white"/>
                </a:solidFill>
              </a:rPr>
              <a:pPr algn="r"/>
              <a:t>6</a:t>
            </a:fld>
            <a:endParaRPr lang="id-ID" sz="1000">
              <a:solidFill>
                <a:prstClr val="white"/>
              </a:solidFill>
            </a:endParaRPr>
          </a:p>
        </p:txBody>
      </p:sp>
      <p:sp>
        <p:nvSpPr>
          <p:cNvPr id="1048640" name="Rectangle 48"/>
          <p:cNvSpPr>
            <a:spLocks noChangeArrowheads="1"/>
          </p:cNvSpPr>
          <p:nvPr/>
        </p:nvSpPr>
        <p:spPr bwMode="auto">
          <a:xfrm>
            <a:off x="0" y="49530"/>
            <a:ext cx="182881" cy="358140"/>
          </a:xfrm>
          <a:prstGeom prst="rect">
            <a:avLst/>
          </a:prstGeom>
          <a:noFill/>
          <a:ln>
            <a:noFill/>
          </a:ln>
          <a:effectLst/>
        </p:spPr>
        <p:txBody>
          <a:bodyPr vert="horz" wrap="none" lIns="91440" tIns="45720" rIns="91440" bIns="45720" numCol="1" anchor="ctr" anchorCtr="0" compatLnSpc="1">
            <a:prstTxWarp prst="textNoShape">
              <a:avLst/>
            </a:prstTxWarp>
            <a:spAutoFit/>
          </a:bodyPr>
          <a:lstStyle/>
          <a:p>
            <a:endParaRPr lang="en-US">
              <a:solidFill>
                <a:prstClr val="black"/>
              </a:solidFill>
            </a:endParaRPr>
          </a:p>
        </p:txBody>
      </p:sp>
      <p:sp>
        <p:nvSpPr>
          <p:cNvPr id="1048641" name="Rectangle 20"/>
          <p:cNvSpPr/>
          <p:nvPr/>
        </p:nvSpPr>
        <p:spPr>
          <a:xfrm>
            <a:off x="533400" y="6609457"/>
            <a:ext cx="5791200" cy="2263140"/>
          </a:xfrm>
          <a:prstGeom prst="rect">
            <a:avLst/>
          </a:prstGeom>
        </p:spPr>
        <p:txBody>
          <a:bodyPr wrap="square">
            <a:spAutoFit/>
          </a:bodyPr>
          <a:lstStyle/>
          <a:p>
            <a:pPr algn="just">
              <a:tabLst>
                <a:tab pos="2971800" algn="ctr"/>
                <a:tab pos="5943600" algn="r"/>
              </a:tabLst>
            </a:pPr>
            <a:r>
              <a:rPr lang="en-US" sz="800" b="1" dirty="0">
                <a:solidFill>
                  <a:prstClr val="black">
                    <a:lumMod val="65000"/>
                    <a:lumOff val="35000"/>
                  </a:prstClr>
                </a:solidFill>
                <a:ea typeface="Calibri" panose="020F0502020204030204" pitchFamily="34" charset="0"/>
                <a:cs typeface="Arial" panose="020B0604020202020204" pitchFamily="34" charset="0"/>
              </a:rPr>
              <a:t>EDITOR: </a:t>
            </a:r>
            <a:r>
              <a:rPr lang="en-US" sz="800" dirty="0">
                <a:solidFill>
                  <a:prstClr val="black">
                    <a:lumMod val="65000"/>
                    <a:lumOff val="35000"/>
                  </a:prstClr>
                </a:solidFill>
                <a:ea typeface="Calibri" panose="020F0502020204030204" pitchFamily="34" charset="0"/>
                <a:cs typeface="Arial" panose="020B0604020202020204" pitchFamily="34" charset="0"/>
              </a:rPr>
              <a:t>Wealth Management Division </a:t>
            </a:r>
            <a:r>
              <a:rPr lang="en-US" sz="800" b="1" dirty="0">
                <a:solidFill>
                  <a:prstClr val="black">
                    <a:lumMod val="65000"/>
                    <a:lumOff val="35000"/>
                  </a:prstClr>
                </a:solidFill>
                <a:ea typeface="Calibri" panose="020F0502020204030204" pitchFamily="34" charset="0"/>
                <a:cs typeface="Arial" panose="020B0604020202020204" pitchFamily="34" charset="0"/>
              </a:rPr>
              <a:t>DISCLAIMER</a:t>
            </a:r>
            <a:r>
              <a:rPr lang="en-US" sz="800" dirty="0">
                <a:solidFill>
                  <a:prstClr val="black">
                    <a:lumMod val="65000"/>
                    <a:lumOff val="35000"/>
                  </a:prstClr>
                </a:solidFill>
                <a:ea typeface="Calibri" panose="020F0502020204030204" pitchFamily="34" charset="0"/>
                <a:cs typeface="Arial" panose="020B0604020202020204" pitchFamily="34" charset="0"/>
              </a:rPr>
              <a:t>: This report is for information only, and is not intended as an offer or solicitation with respect to the purchase or sale of any commodities, securities, or currencies. We deem that the information contained in this report has been taken from sources which we deem reliable. However, we do not guarantee their accuracy, and any such information may be incomplete or condensed. None of PT. Bank Central Asia </a:t>
            </a:r>
            <a:r>
              <a:rPr lang="en-US" sz="800" dirty="0" err="1">
                <a:solidFill>
                  <a:prstClr val="black">
                    <a:lumMod val="65000"/>
                    <a:lumOff val="35000"/>
                  </a:prstClr>
                </a:solidFill>
                <a:ea typeface="Calibri" panose="020F0502020204030204" pitchFamily="34" charset="0"/>
                <a:cs typeface="Arial" panose="020B0604020202020204" pitchFamily="34" charset="0"/>
              </a:rPr>
              <a:t>Tbk</a:t>
            </a:r>
            <a:r>
              <a:rPr lang="en-US" sz="800" dirty="0">
                <a:solidFill>
                  <a:prstClr val="black">
                    <a:lumMod val="65000"/>
                    <a:lumOff val="35000"/>
                  </a:prstClr>
                </a:solidFill>
                <a:ea typeface="Calibri" panose="020F0502020204030204" pitchFamily="34" charset="0"/>
                <a:cs typeface="Arial" panose="020B0604020202020204" pitchFamily="34" charset="0"/>
              </a:rPr>
              <a:t> (“BCA”), and/or its affiliated companies, and/or their respective employees and/or agents makes any representation or warranty (express or implied) or accepts any responsibility or liability as to, or in relation to, the accuracy or completeness of the information and opinions contained in this report or as to any information contained in this report or any other such information or opinions remaining unchanged after the issue thereof. BCA, or any of its related companies or any individuals connected with BCA or BCA group accepts no liability for any direct, special, indirect, consequential, incidental damages or any other loss or damages of any kind arising from any use of the information herein (including any error, omission or misstatement herein, negligent or otherwise) or further communication thereof, even if the BCA or any other person has been advised of the possibility thereof. Opinion expressed is the analysts’ current personal views as of the date appearing on this material only, and subject to change without notice. It is intended for the use by recipient only and may not be reproduced or copied/photocopied or duplicated or made available in any form, by any means, or redistributed to others without written permission of PT Bank Central Asia </a:t>
            </a:r>
            <a:r>
              <a:rPr lang="en-US" sz="800" dirty="0" err="1">
                <a:solidFill>
                  <a:prstClr val="black">
                    <a:lumMod val="65000"/>
                    <a:lumOff val="35000"/>
                  </a:prstClr>
                </a:solidFill>
                <a:ea typeface="Calibri" panose="020F0502020204030204" pitchFamily="34" charset="0"/>
                <a:cs typeface="Arial" panose="020B0604020202020204" pitchFamily="34" charset="0"/>
              </a:rPr>
              <a:t>Tbk</a:t>
            </a:r>
            <a:r>
              <a:rPr lang="en-US" sz="800" dirty="0">
                <a:solidFill>
                  <a:prstClr val="black">
                    <a:lumMod val="65000"/>
                    <a:lumOff val="35000"/>
                  </a:prstClr>
                </a:solidFill>
                <a:ea typeface="Calibri" panose="020F0502020204030204" pitchFamily="34" charset="0"/>
                <a:cs typeface="Arial" panose="020B0604020202020204" pitchFamily="34" charset="0"/>
              </a:rPr>
              <a:t>. </a:t>
            </a:r>
          </a:p>
          <a:p>
            <a:pPr algn="just">
              <a:tabLst>
                <a:tab pos="2971800" algn="ctr"/>
                <a:tab pos="5943600" algn="r"/>
              </a:tabLst>
            </a:pPr>
            <a:endParaRPr lang="en-US" sz="800" dirty="0">
              <a:solidFill>
                <a:prstClr val="black">
                  <a:lumMod val="65000"/>
                  <a:lumOff val="35000"/>
                </a:prstClr>
              </a:solidFill>
              <a:ea typeface="Calibri" panose="020F0502020204030204" pitchFamily="34" charset="0"/>
              <a:cs typeface="Arial" panose="020B0604020202020204" pitchFamily="34" charset="0"/>
            </a:endParaRPr>
          </a:p>
          <a:p>
            <a:pPr algn="just">
              <a:tabLst>
                <a:tab pos="2971800" algn="ctr"/>
                <a:tab pos="5943600" algn="r"/>
              </a:tabLst>
            </a:pPr>
            <a:r>
              <a:rPr lang="en-US" sz="800" dirty="0">
                <a:solidFill>
                  <a:prstClr val="black">
                    <a:lumMod val="65000"/>
                    <a:lumOff val="35000"/>
                  </a:prstClr>
                </a:solidFill>
                <a:ea typeface="Calibri" panose="020F0502020204030204" pitchFamily="34" charset="0"/>
                <a:cs typeface="Arial" panose="020B0604020202020204" pitchFamily="34" charset="0"/>
              </a:rPr>
              <a:t>All opinions and estimates included in this report are based on certain assumptions. Actual results may differ materially. In considering any investments you should make your own independent assessment and seek your own professional financial and legal advice. </a:t>
            </a:r>
            <a:endParaRPr lang="en-AU" sz="3200" dirty="0">
              <a:solidFill>
                <a:prstClr val="black">
                  <a:lumMod val="65000"/>
                  <a:lumOff val="35000"/>
                </a:prstClr>
              </a:solidFill>
              <a:ea typeface="Calibri" panose="020F0502020204030204" pitchFamily="34" charset="0"/>
              <a:cs typeface="Arial" panose="020B0604020202020204" pitchFamily="34" charset="0"/>
            </a:endParaRPr>
          </a:p>
        </p:txBody>
      </p:sp>
      <p:sp>
        <p:nvSpPr>
          <p:cNvPr id="1048642" name="TextBox 21"/>
          <p:cNvSpPr txBox="1"/>
          <p:nvPr/>
        </p:nvSpPr>
        <p:spPr>
          <a:xfrm>
            <a:off x="533400" y="6385560"/>
            <a:ext cx="5715000" cy="320040"/>
          </a:xfrm>
          <a:prstGeom prst="rect">
            <a:avLst/>
          </a:prstGeom>
          <a:noFill/>
        </p:spPr>
        <p:txBody>
          <a:bodyPr wrap="square" rtlCol="0">
            <a:spAutoFit/>
          </a:bodyPr>
          <a:lstStyle/>
          <a:p>
            <a:pPr algn="just">
              <a:spcAft>
                <a:spcPts val="800"/>
              </a:spcAft>
            </a:pPr>
            <a:r>
              <a:rPr lang="en-US" sz="800" b="1" dirty="0">
                <a:solidFill>
                  <a:prstClr val="black"/>
                </a:solidFill>
              </a:rPr>
              <a:t>SOURCE:</a:t>
            </a:r>
            <a:r>
              <a:rPr lang="en-US" sz="800" dirty="0">
                <a:solidFill>
                  <a:prstClr val="black"/>
                </a:solidFill>
              </a:rPr>
              <a:t> Economic Banking &amp; Industry Research of BCA Group, Bloomberg, Reuters, </a:t>
            </a:r>
            <a:r>
              <a:rPr lang="en-US" sz="800" dirty="0" err="1">
                <a:solidFill>
                  <a:prstClr val="black"/>
                </a:solidFill>
              </a:rPr>
              <a:t>Bisnis</a:t>
            </a:r>
            <a:r>
              <a:rPr lang="en-US" sz="800" dirty="0">
                <a:solidFill>
                  <a:prstClr val="black"/>
                </a:solidFill>
              </a:rPr>
              <a:t> Indonesia, </a:t>
            </a:r>
            <a:r>
              <a:rPr lang="en-US" sz="800" dirty="0" err="1">
                <a:solidFill>
                  <a:prstClr val="black"/>
                </a:solidFill>
              </a:rPr>
              <a:t>Kontan</a:t>
            </a:r>
            <a:r>
              <a:rPr lang="en-US" sz="800" dirty="0">
                <a:solidFill>
                  <a:prstClr val="black"/>
                </a:solidFill>
              </a:rPr>
              <a:t>, CME Group</a:t>
            </a:r>
          </a:p>
        </p:txBody>
      </p:sp>
      <p:sp>
        <p:nvSpPr>
          <p:cNvPr id="1048643" name="TextBox 11"/>
          <p:cNvSpPr txBox="1"/>
          <p:nvPr/>
        </p:nvSpPr>
        <p:spPr>
          <a:xfrm>
            <a:off x="608076" y="1676400"/>
            <a:ext cx="5716524" cy="4124206"/>
          </a:xfrm>
          <a:prstGeom prst="rect">
            <a:avLst/>
          </a:prstGeom>
          <a:noFill/>
        </p:spPr>
        <p:txBody>
          <a:bodyPr wrap="square" lIns="91440" tIns="45720" rIns="91440" bIns="45720" anchor="t">
            <a:spAutoFit/>
          </a:bodyPr>
          <a:lstStyle/>
          <a:p>
            <a:pPr algn="just">
              <a:spcAft>
                <a:spcPts val="600"/>
              </a:spcAft>
            </a:pPr>
            <a:r>
              <a:rPr lang="en-AU" sz="1400" b="1" i="1" dirty="0">
                <a:solidFill>
                  <a:srgbClr val="4472C4">
                    <a:lumMod val="75000"/>
                  </a:srgbClr>
                </a:solidFill>
              </a:rPr>
              <a:t>Glossary</a:t>
            </a:r>
            <a:endParaRPr lang="en-US" sz="1050" i="1" dirty="0">
              <a:solidFill>
                <a:prstClr val="black"/>
              </a:solidFill>
            </a:endParaRPr>
          </a:p>
          <a:p>
            <a:pPr marL="342900" indent="-342900" algn="just">
              <a:spcBef>
                <a:spcPts val="600"/>
              </a:spcBef>
              <a:buFont typeface="Arial" panose="020B0604020202020204" pitchFamily="34" charset="0"/>
              <a:buChar char="•"/>
              <a:tabLst>
                <a:tab pos="457200" algn="l"/>
              </a:tabLst>
            </a:pPr>
            <a:r>
              <a:rPr lang="en-US" sz="1050" i="1" dirty="0"/>
              <a:t>Bid to cover ratio</a:t>
            </a:r>
            <a:r>
              <a:rPr lang="en-US" sz="1050" dirty="0"/>
              <a:t>: </a:t>
            </a:r>
            <a:r>
              <a:rPr lang="en-US" sz="1050" dirty="0" err="1"/>
              <a:t>rasio</a:t>
            </a:r>
            <a:r>
              <a:rPr lang="en-US" sz="1050" dirty="0"/>
              <a:t> total </a:t>
            </a:r>
            <a:r>
              <a:rPr lang="en-US" sz="1050" dirty="0" err="1"/>
              <a:t>penawaran</a:t>
            </a:r>
            <a:r>
              <a:rPr lang="en-US" sz="1050" dirty="0"/>
              <a:t> </a:t>
            </a:r>
            <a:r>
              <a:rPr lang="en-US" sz="1050" dirty="0" err="1"/>
              <a:t>terhadap</a:t>
            </a:r>
            <a:r>
              <a:rPr lang="en-US" sz="1050" dirty="0"/>
              <a:t> </a:t>
            </a:r>
            <a:r>
              <a:rPr lang="en-US" sz="1050" dirty="0" err="1"/>
              <a:t>jumlah</a:t>
            </a:r>
            <a:r>
              <a:rPr lang="en-US" sz="1050" dirty="0"/>
              <a:t> yang </a:t>
            </a:r>
            <a:r>
              <a:rPr lang="en-US" sz="1050" dirty="0" err="1"/>
              <a:t>dimenangkan</a:t>
            </a:r>
            <a:r>
              <a:rPr lang="en-US" sz="1050" dirty="0"/>
              <a:t> </a:t>
            </a:r>
            <a:r>
              <a:rPr lang="en-US" sz="1050" dirty="0" err="1"/>
              <a:t>dalam</a:t>
            </a:r>
            <a:r>
              <a:rPr lang="en-US" sz="1050" dirty="0"/>
              <a:t> </a:t>
            </a:r>
            <a:r>
              <a:rPr lang="en-US" sz="1050" dirty="0" err="1"/>
              <a:t>lelang</a:t>
            </a:r>
            <a:r>
              <a:rPr lang="en-US" sz="1050" dirty="0"/>
              <a:t>.</a:t>
            </a:r>
            <a:endParaRPr lang="en-US" sz="1050" i="1" dirty="0"/>
          </a:p>
          <a:p>
            <a:pPr marL="342900" indent="-342900" algn="just">
              <a:spcBef>
                <a:spcPts val="600"/>
              </a:spcBef>
              <a:buFont typeface="Arial" panose="020B0604020202020204" pitchFamily="34" charset="0"/>
              <a:buChar char="•"/>
              <a:tabLst>
                <a:tab pos="457200" algn="l"/>
              </a:tabLst>
            </a:pPr>
            <a:r>
              <a:rPr lang="en-US" sz="1050" i="1" dirty="0"/>
              <a:t>Breakeven inflation</a:t>
            </a:r>
            <a:r>
              <a:rPr lang="en-US" sz="1050" dirty="0"/>
              <a:t>: </a:t>
            </a:r>
            <a:r>
              <a:rPr lang="en-US" sz="1050" dirty="0" err="1"/>
              <a:t>selisih</a:t>
            </a:r>
            <a:r>
              <a:rPr lang="en-US" sz="1050" dirty="0"/>
              <a:t> </a:t>
            </a:r>
            <a:r>
              <a:rPr lang="en-US" sz="1050" i="1" dirty="0"/>
              <a:t>yield</a:t>
            </a:r>
            <a:r>
              <a:rPr lang="en-US" sz="1050" dirty="0"/>
              <a:t> UST nominal </a:t>
            </a:r>
            <a:r>
              <a:rPr lang="en-US" sz="1050" dirty="0" err="1"/>
              <a:t>dan</a:t>
            </a:r>
            <a:r>
              <a:rPr lang="en-US" sz="1050" dirty="0"/>
              <a:t> UST yang </a:t>
            </a:r>
            <a:r>
              <a:rPr lang="en-US" sz="1050" dirty="0" err="1"/>
              <a:t>dilindungi</a:t>
            </a:r>
            <a:r>
              <a:rPr lang="en-US" sz="1050" dirty="0"/>
              <a:t> </a:t>
            </a:r>
            <a:r>
              <a:rPr lang="en-US" sz="1050" dirty="0" err="1"/>
              <a:t>inflasi</a:t>
            </a:r>
            <a:r>
              <a:rPr lang="en-US" sz="1050" dirty="0"/>
              <a:t> (TIPS).</a:t>
            </a:r>
          </a:p>
          <a:p>
            <a:pPr marL="342900" indent="-342900" algn="just">
              <a:spcBef>
                <a:spcPts val="600"/>
              </a:spcBef>
              <a:buFont typeface="Arial" panose="020B0604020202020204" pitchFamily="34" charset="0"/>
              <a:buChar char="•"/>
              <a:tabLst>
                <a:tab pos="457200" algn="l"/>
              </a:tabLst>
            </a:pPr>
            <a:r>
              <a:rPr lang="en-US" sz="1050" i="1" dirty="0"/>
              <a:t>Dot plot</a:t>
            </a:r>
            <a:r>
              <a:rPr lang="en-US" sz="1050" dirty="0"/>
              <a:t>: </a:t>
            </a:r>
            <a:r>
              <a:rPr lang="en-US" sz="1050" dirty="0" err="1"/>
              <a:t>proyeksi</a:t>
            </a:r>
            <a:r>
              <a:rPr lang="en-US" sz="1050" dirty="0"/>
              <a:t> </a:t>
            </a:r>
            <a:r>
              <a:rPr lang="en-US" sz="1050" dirty="0" err="1"/>
              <a:t>suku</a:t>
            </a:r>
            <a:r>
              <a:rPr lang="en-US" sz="1050" dirty="0"/>
              <a:t> </a:t>
            </a:r>
            <a:r>
              <a:rPr lang="en-US" sz="1050" dirty="0" err="1"/>
              <a:t>bunga</a:t>
            </a:r>
            <a:r>
              <a:rPr lang="en-US" sz="1050" dirty="0"/>
              <a:t> </a:t>
            </a:r>
            <a:r>
              <a:rPr lang="en-US" sz="1050" dirty="0" err="1"/>
              <a:t>acuan</a:t>
            </a:r>
            <a:r>
              <a:rPr lang="en-US" sz="1050" dirty="0"/>
              <a:t> </a:t>
            </a:r>
            <a:r>
              <a:rPr lang="en-US" sz="1050" dirty="0" err="1"/>
              <a:t>dari</a:t>
            </a:r>
            <a:r>
              <a:rPr lang="en-US" sz="1050" dirty="0"/>
              <a:t> </a:t>
            </a:r>
            <a:r>
              <a:rPr lang="en-US" sz="1050" dirty="0" err="1"/>
              <a:t>setiap</a:t>
            </a:r>
            <a:r>
              <a:rPr lang="en-US" sz="1050" dirty="0"/>
              <a:t> </a:t>
            </a:r>
            <a:r>
              <a:rPr lang="en-US" sz="1050" dirty="0" err="1"/>
              <a:t>anggota</a:t>
            </a:r>
            <a:r>
              <a:rPr lang="en-US" sz="1050" dirty="0"/>
              <a:t> FOMC yang </a:t>
            </a:r>
            <a:r>
              <a:rPr lang="en-US" sz="1050" dirty="0" err="1"/>
              <a:t>dirilis</a:t>
            </a:r>
            <a:r>
              <a:rPr lang="en-US" sz="1050" dirty="0"/>
              <a:t> </a:t>
            </a:r>
            <a:r>
              <a:rPr lang="en-US" sz="1050" dirty="0" err="1"/>
              <a:t>setiap</a:t>
            </a:r>
            <a:r>
              <a:rPr lang="en-US" sz="1050" dirty="0"/>
              <a:t> </a:t>
            </a:r>
            <a:r>
              <a:rPr lang="en-US" sz="1050" dirty="0" err="1"/>
              <a:t>kuartal</a:t>
            </a:r>
            <a:r>
              <a:rPr lang="en-US" sz="1050" dirty="0"/>
              <a:t>.</a:t>
            </a:r>
          </a:p>
          <a:p>
            <a:pPr marL="342900" indent="-342900" algn="just">
              <a:spcBef>
                <a:spcPts val="600"/>
              </a:spcBef>
              <a:buFont typeface="Arial" panose="020B0604020202020204" pitchFamily="34" charset="0"/>
              <a:buChar char="•"/>
              <a:tabLst>
                <a:tab pos="457200" algn="l"/>
              </a:tabLst>
            </a:pPr>
            <a:r>
              <a:rPr lang="en-US" sz="1050" i="1" dirty="0"/>
              <a:t>Earnings yield</a:t>
            </a:r>
            <a:r>
              <a:rPr lang="en-US" sz="1050" dirty="0"/>
              <a:t>: </a:t>
            </a:r>
            <a:r>
              <a:rPr lang="en-US" sz="1050" dirty="0" err="1"/>
              <a:t>rasio</a:t>
            </a:r>
            <a:r>
              <a:rPr lang="en-US" sz="1050" dirty="0"/>
              <a:t> </a:t>
            </a:r>
            <a:r>
              <a:rPr lang="en-US" sz="1050" dirty="0" err="1"/>
              <a:t>laba</a:t>
            </a:r>
            <a:r>
              <a:rPr lang="en-US" sz="1050" dirty="0"/>
              <a:t> per </a:t>
            </a:r>
            <a:r>
              <a:rPr lang="en-US" sz="1050" dirty="0" err="1"/>
              <a:t>saham</a:t>
            </a:r>
            <a:r>
              <a:rPr lang="en-US" sz="1050" dirty="0"/>
              <a:t> </a:t>
            </a:r>
            <a:r>
              <a:rPr lang="en-US" sz="1050" dirty="0" err="1"/>
              <a:t>terhadap</a:t>
            </a:r>
            <a:r>
              <a:rPr lang="en-US" sz="1050" dirty="0"/>
              <a:t> </a:t>
            </a:r>
            <a:r>
              <a:rPr lang="en-US" sz="1050" dirty="0" err="1"/>
              <a:t>harga</a:t>
            </a:r>
            <a:r>
              <a:rPr lang="en-US" sz="1050" dirty="0"/>
              <a:t> </a:t>
            </a:r>
            <a:r>
              <a:rPr lang="en-US" sz="1050" dirty="0" err="1"/>
              <a:t>saham</a:t>
            </a:r>
            <a:r>
              <a:rPr lang="en-US" sz="1050" dirty="0"/>
              <a:t>; </a:t>
            </a:r>
            <a:r>
              <a:rPr lang="en-US" sz="1050" dirty="0" err="1"/>
              <a:t>kebalikan</a:t>
            </a:r>
            <a:r>
              <a:rPr lang="en-US" sz="1050" dirty="0"/>
              <a:t> </a:t>
            </a:r>
            <a:r>
              <a:rPr lang="en-US" sz="1050" dirty="0" err="1"/>
              <a:t>dari</a:t>
            </a:r>
            <a:r>
              <a:rPr lang="en-US" sz="1050" dirty="0"/>
              <a:t> P/E.</a:t>
            </a:r>
          </a:p>
          <a:p>
            <a:pPr marL="342900" indent="-342900" algn="just">
              <a:spcBef>
                <a:spcPts val="600"/>
              </a:spcBef>
              <a:buFont typeface="Arial" panose="020B0604020202020204" pitchFamily="34" charset="0"/>
              <a:buChar char="•"/>
              <a:tabLst>
                <a:tab pos="457200" algn="l"/>
              </a:tabLst>
            </a:pPr>
            <a:r>
              <a:rPr lang="en-US" sz="1050" i="1" dirty="0"/>
              <a:t>Equal weight</a:t>
            </a:r>
            <a:r>
              <a:rPr lang="en-US" sz="1050" dirty="0"/>
              <a:t>: </a:t>
            </a:r>
            <a:r>
              <a:rPr lang="en-US" sz="1050" dirty="0" err="1"/>
              <a:t>metode</a:t>
            </a:r>
            <a:r>
              <a:rPr lang="en-US" sz="1050" dirty="0"/>
              <a:t> </a:t>
            </a:r>
            <a:r>
              <a:rPr lang="en-US" sz="1050" dirty="0" err="1"/>
              <a:t>perhitungan</a:t>
            </a:r>
            <a:r>
              <a:rPr lang="en-US" sz="1050" dirty="0"/>
              <a:t> </a:t>
            </a:r>
            <a:r>
              <a:rPr lang="en-US" sz="1050" dirty="0" err="1"/>
              <a:t>indeks</a:t>
            </a:r>
            <a:r>
              <a:rPr lang="en-US" sz="1050" dirty="0"/>
              <a:t> yang </a:t>
            </a:r>
            <a:r>
              <a:rPr lang="en-US" sz="1050" dirty="0" err="1"/>
              <a:t>memberi</a:t>
            </a:r>
            <a:r>
              <a:rPr lang="en-US" sz="1050" dirty="0"/>
              <a:t> </a:t>
            </a:r>
            <a:r>
              <a:rPr lang="en-US" sz="1050" dirty="0" err="1"/>
              <a:t>bobot</a:t>
            </a:r>
            <a:r>
              <a:rPr lang="en-US" sz="1050" dirty="0"/>
              <a:t> </a:t>
            </a:r>
            <a:r>
              <a:rPr lang="en-US" sz="1050" dirty="0" err="1"/>
              <a:t>sama</a:t>
            </a:r>
            <a:r>
              <a:rPr lang="en-US" sz="1050" dirty="0"/>
              <a:t> </a:t>
            </a:r>
            <a:r>
              <a:rPr lang="en-US" sz="1050" dirty="0" err="1"/>
              <a:t>pada</a:t>
            </a:r>
            <a:r>
              <a:rPr lang="en-US" sz="1050" dirty="0"/>
              <a:t> </a:t>
            </a:r>
            <a:r>
              <a:rPr lang="en-US" sz="1050" dirty="0" err="1"/>
              <a:t>setiap</a:t>
            </a:r>
            <a:r>
              <a:rPr lang="en-US" sz="1050" dirty="0"/>
              <a:t> </a:t>
            </a:r>
            <a:r>
              <a:rPr lang="en-US" sz="1050" dirty="0" err="1"/>
              <a:t>saham</a:t>
            </a:r>
            <a:r>
              <a:rPr lang="en-US" sz="1050" dirty="0"/>
              <a:t>.</a:t>
            </a:r>
          </a:p>
          <a:p>
            <a:pPr marL="342900" indent="-342900" algn="just">
              <a:spcBef>
                <a:spcPts val="600"/>
              </a:spcBef>
              <a:buFont typeface="Arial" panose="020B0604020202020204" pitchFamily="34" charset="0"/>
              <a:buChar char="•"/>
              <a:tabLst>
                <a:tab pos="457200" algn="l"/>
              </a:tabLst>
            </a:pPr>
            <a:r>
              <a:rPr lang="en-US" sz="1050" i="1" dirty="0"/>
              <a:t>Hawkish</a:t>
            </a:r>
            <a:r>
              <a:rPr lang="en-US" sz="1050" dirty="0"/>
              <a:t>: </a:t>
            </a:r>
            <a:r>
              <a:rPr lang="en-US" sz="1050" dirty="0" err="1"/>
              <a:t>sikap</a:t>
            </a:r>
            <a:r>
              <a:rPr lang="en-US" sz="1050" dirty="0"/>
              <a:t> bank </a:t>
            </a:r>
            <a:r>
              <a:rPr lang="en-US" sz="1050" dirty="0" err="1"/>
              <a:t>sentral</a:t>
            </a:r>
            <a:r>
              <a:rPr lang="en-US" sz="1050" dirty="0"/>
              <a:t> yang </a:t>
            </a:r>
            <a:r>
              <a:rPr lang="en-US" sz="1050" dirty="0" err="1"/>
              <a:t>condong</a:t>
            </a:r>
            <a:r>
              <a:rPr lang="en-US" sz="1050" dirty="0"/>
              <a:t> </a:t>
            </a:r>
            <a:r>
              <a:rPr lang="en-US" sz="1050" dirty="0" err="1"/>
              <a:t>pada</a:t>
            </a:r>
            <a:r>
              <a:rPr lang="en-US" sz="1050" dirty="0"/>
              <a:t> </a:t>
            </a:r>
            <a:r>
              <a:rPr lang="en-US" sz="1050" dirty="0" err="1"/>
              <a:t>pengetatan</a:t>
            </a:r>
            <a:r>
              <a:rPr lang="en-US" sz="1050" dirty="0"/>
              <a:t> </a:t>
            </a:r>
            <a:r>
              <a:rPr lang="en-US" sz="1050" dirty="0" err="1"/>
              <a:t>kebijakan</a:t>
            </a:r>
            <a:r>
              <a:rPr lang="en-US" sz="1050" dirty="0"/>
              <a:t> </a:t>
            </a:r>
            <a:r>
              <a:rPr lang="en-US" sz="1050" dirty="0" err="1"/>
              <a:t>moneter</a:t>
            </a:r>
            <a:r>
              <a:rPr lang="en-US" sz="1050" dirty="0"/>
              <a:t>.</a:t>
            </a:r>
          </a:p>
          <a:p>
            <a:pPr marL="342900" indent="-342900" algn="just">
              <a:spcBef>
                <a:spcPts val="600"/>
              </a:spcBef>
              <a:buFont typeface="Arial" panose="020B0604020202020204" pitchFamily="34" charset="0"/>
              <a:buChar char="•"/>
              <a:tabLst>
                <a:tab pos="457200" algn="l"/>
              </a:tabLst>
            </a:pPr>
            <a:r>
              <a:rPr lang="en-US" sz="1050" i="1" dirty="0"/>
              <a:t>Inflow</a:t>
            </a:r>
            <a:r>
              <a:rPr lang="en-US" sz="1050" dirty="0"/>
              <a:t>: </a:t>
            </a:r>
            <a:r>
              <a:rPr lang="en-US" sz="1050" dirty="0" err="1"/>
              <a:t>aliran</a:t>
            </a:r>
            <a:r>
              <a:rPr lang="en-US" sz="1050" dirty="0"/>
              <a:t> dana </a:t>
            </a:r>
            <a:r>
              <a:rPr lang="en-US" sz="1050" dirty="0" err="1"/>
              <a:t>masuk</a:t>
            </a:r>
            <a:r>
              <a:rPr lang="en-US" sz="1050" dirty="0"/>
              <a:t>.</a:t>
            </a:r>
          </a:p>
          <a:p>
            <a:pPr marL="342900" indent="-342900" algn="just">
              <a:spcBef>
                <a:spcPts val="600"/>
              </a:spcBef>
              <a:buFont typeface="Arial" panose="020B0604020202020204" pitchFamily="34" charset="0"/>
              <a:buChar char="•"/>
              <a:tabLst>
                <a:tab pos="457200" algn="l"/>
              </a:tabLst>
            </a:pPr>
            <a:r>
              <a:rPr lang="en-US" sz="1050" dirty="0"/>
              <a:t>MOVE </a:t>
            </a:r>
            <a:r>
              <a:rPr lang="en-US" sz="1050" i="1" dirty="0"/>
              <a:t>Index</a:t>
            </a:r>
            <a:r>
              <a:rPr lang="en-US" sz="1050" dirty="0"/>
              <a:t>: </a:t>
            </a:r>
            <a:r>
              <a:rPr lang="en-US" sz="1050" dirty="0" err="1"/>
              <a:t>indeks</a:t>
            </a:r>
            <a:r>
              <a:rPr lang="en-US" sz="1050" dirty="0"/>
              <a:t> </a:t>
            </a:r>
            <a:r>
              <a:rPr lang="en-US" sz="1050" dirty="0" err="1"/>
              <a:t>volatilitas</a:t>
            </a:r>
            <a:r>
              <a:rPr lang="en-US" sz="1050" dirty="0"/>
              <a:t> </a:t>
            </a:r>
            <a:r>
              <a:rPr lang="en-US" sz="1050" dirty="0" err="1"/>
              <a:t>pasar</a:t>
            </a:r>
            <a:r>
              <a:rPr lang="en-US" sz="1050" dirty="0"/>
              <a:t> </a:t>
            </a:r>
            <a:r>
              <a:rPr lang="en-US" sz="1050" dirty="0" err="1"/>
              <a:t>obligasi</a:t>
            </a:r>
            <a:r>
              <a:rPr lang="en-US" sz="1050" dirty="0"/>
              <a:t> AS yang </a:t>
            </a:r>
            <a:r>
              <a:rPr lang="en-US" sz="1050" dirty="0" err="1"/>
              <a:t>dihitung</a:t>
            </a:r>
            <a:r>
              <a:rPr lang="en-US" sz="1050" dirty="0"/>
              <a:t> </a:t>
            </a:r>
            <a:r>
              <a:rPr lang="en-US" sz="1050" dirty="0" err="1"/>
              <a:t>dari</a:t>
            </a:r>
            <a:r>
              <a:rPr lang="en-US" sz="1050" dirty="0"/>
              <a:t> </a:t>
            </a:r>
            <a:r>
              <a:rPr lang="en-US" sz="1050" dirty="0" err="1"/>
              <a:t>harga</a:t>
            </a:r>
            <a:r>
              <a:rPr lang="en-US" sz="1050" dirty="0"/>
              <a:t> </a:t>
            </a:r>
            <a:r>
              <a:rPr lang="en-US" sz="1050" dirty="0" err="1"/>
              <a:t>opsi</a:t>
            </a:r>
            <a:r>
              <a:rPr lang="en-US" sz="1050" dirty="0"/>
              <a:t> UST.</a:t>
            </a:r>
          </a:p>
          <a:p>
            <a:pPr marL="342900" indent="-342900" algn="just">
              <a:spcBef>
                <a:spcPts val="600"/>
              </a:spcBef>
              <a:buFont typeface="Arial" panose="020B0604020202020204" pitchFamily="34" charset="0"/>
              <a:buChar char="•"/>
              <a:tabLst>
                <a:tab pos="457200" algn="l"/>
              </a:tabLst>
            </a:pPr>
            <a:r>
              <a:rPr lang="en-US" sz="1050" i="1" dirty="0">
                <a:solidFill>
                  <a:prstClr val="black"/>
                </a:solidFill>
              </a:rPr>
              <a:t>Outflow</a:t>
            </a:r>
            <a:r>
              <a:rPr lang="en-US" sz="1050" dirty="0">
                <a:solidFill>
                  <a:prstClr val="black"/>
                </a:solidFill>
              </a:rPr>
              <a:t>: </a:t>
            </a:r>
            <a:r>
              <a:rPr lang="en-US" sz="1050" dirty="0" err="1">
                <a:solidFill>
                  <a:prstClr val="black"/>
                </a:solidFill>
              </a:rPr>
              <a:t>aliran</a:t>
            </a:r>
            <a:r>
              <a:rPr lang="en-US" sz="1050" dirty="0">
                <a:solidFill>
                  <a:prstClr val="black"/>
                </a:solidFill>
              </a:rPr>
              <a:t> dana </a:t>
            </a:r>
            <a:r>
              <a:rPr lang="en-US" sz="1050" dirty="0" err="1">
                <a:solidFill>
                  <a:prstClr val="black"/>
                </a:solidFill>
              </a:rPr>
              <a:t>keluar</a:t>
            </a:r>
            <a:r>
              <a:rPr lang="en-US" sz="1050" dirty="0">
                <a:solidFill>
                  <a:prstClr val="black"/>
                </a:solidFill>
              </a:rPr>
              <a:t>.</a:t>
            </a:r>
          </a:p>
          <a:p>
            <a:pPr marL="342900" indent="-342900" algn="just">
              <a:spcBef>
                <a:spcPts val="600"/>
              </a:spcBef>
              <a:buFont typeface="Arial" panose="020B0604020202020204" pitchFamily="34" charset="0"/>
              <a:buChar char="•"/>
              <a:tabLst>
                <a:tab pos="457200" algn="l"/>
              </a:tabLst>
            </a:pPr>
            <a:r>
              <a:rPr lang="en-US" sz="1050" dirty="0"/>
              <a:t>SOX (</a:t>
            </a:r>
            <a:r>
              <a:rPr lang="en-US" sz="1050" i="1" dirty="0"/>
              <a:t>PHLX Semiconductor Index</a:t>
            </a:r>
            <a:r>
              <a:rPr lang="en-US" sz="1050" dirty="0"/>
              <a:t>): </a:t>
            </a:r>
            <a:r>
              <a:rPr lang="en-US" sz="1050" dirty="0" err="1"/>
              <a:t>indeks</a:t>
            </a:r>
            <a:r>
              <a:rPr lang="en-US" sz="1050" dirty="0"/>
              <a:t> 30 </a:t>
            </a:r>
            <a:r>
              <a:rPr lang="en-US" sz="1050" dirty="0" err="1"/>
              <a:t>saham</a:t>
            </a:r>
            <a:r>
              <a:rPr lang="en-US" sz="1050" dirty="0"/>
              <a:t> </a:t>
            </a:r>
            <a:r>
              <a:rPr lang="en-US" sz="1050" dirty="0" err="1"/>
              <a:t>semikonduktor</a:t>
            </a:r>
            <a:r>
              <a:rPr lang="en-US" sz="1050" dirty="0"/>
              <a:t> </a:t>
            </a:r>
            <a:r>
              <a:rPr lang="en-US" sz="1050" dirty="0" err="1"/>
              <a:t>terbesar</a:t>
            </a:r>
            <a:r>
              <a:rPr lang="en-US" sz="1050" dirty="0"/>
              <a:t> di AS.</a:t>
            </a:r>
            <a:endParaRPr lang="en-US" sz="1050" dirty="0">
              <a:solidFill>
                <a:prstClr val="black"/>
              </a:solidFill>
            </a:endParaRPr>
          </a:p>
          <a:p>
            <a:pPr marL="342900" indent="-342900" algn="just">
              <a:spcBef>
                <a:spcPts val="600"/>
              </a:spcBef>
              <a:buFont typeface="Arial" panose="020B0604020202020204" pitchFamily="34" charset="0"/>
              <a:buChar char="•"/>
              <a:tabLst>
                <a:tab pos="457200" algn="l"/>
              </a:tabLst>
            </a:pPr>
            <a:r>
              <a:rPr lang="en-US" sz="1050" i="1" dirty="0"/>
              <a:t>Term premium</a:t>
            </a:r>
            <a:r>
              <a:rPr lang="en-US" sz="1050" dirty="0"/>
              <a:t>: </a:t>
            </a:r>
            <a:r>
              <a:rPr lang="en-US" sz="1050" dirty="0" err="1"/>
              <a:t>imbal</a:t>
            </a:r>
            <a:r>
              <a:rPr lang="en-US" sz="1050" dirty="0"/>
              <a:t> </a:t>
            </a:r>
            <a:r>
              <a:rPr lang="en-US" sz="1050" dirty="0" err="1"/>
              <a:t>hasil</a:t>
            </a:r>
            <a:r>
              <a:rPr lang="en-US" sz="1050" dirty="0"/>
              <a:t> </a:t>
            </a:r>
            <a:r>
              <a:rPr lang="en-US" sz="1050" dirty="0" err="1"/>
              <a:t>tambahan</a:t>
            </a:r>
            <a:r>
              <a:rPr lang="en-US" sz="1050" dirty="0"/>
              <a:t> </a:t>
            </a:r>
            <a:r>
              <a:rPr lang="en-US" sz="1050" dirty="0" err="1"/>
              <a:t>untuk</a:t>
            </a:r>
            <a:r>
              <a:rPr lang="en-US" sz="1050" dirty="0"/>
              <a:t> </a:t>
            </a:r>
            <a:r>
              <a:rPr lang="en-US" sz="1050" dirty="0" err="1"/>
              <a:t>memegang</a:t>
            </a:r>
            <a:r>
              <a:rPr lang="en-US" sz="1050" dirty="0"/>
              <a:t> </a:t>
            </a:r>
            <a:r>
              <a:rPr lang="en-US" sz="1050" dirty="0" err="1"/>
              <a:t>obligasi</a:t>
            </a:r>
            <a:r>
              <a:rPr lang="en-US" sz="1050" dirty="0"/>
              <a:t> </a:t>
            </a:r>
            <a:r>
              <a:rPr lang="en-US" sz="1050" dirty="0" err="1"/>
              <a:t>bertenor</a:t>
            </a:r>
            <a:r>
              <a:rPr lang="en-US" sz="1050" dirty="0"/>
              <a:t> </a:t>
            </a:r>
            <a:r>
              <a:rPr lang="en-US" sz="1050" dirty="0" err="1"/>
              <a:t>panjang</a:t>
            </a:r>
            <a:r>
              <a:rPr lang="en-US" sz="1050" dirty="0"/>
              <a:t>.</a:t>
            </a:r>
            <a:endParaRPr lang="en-US" sz="1050" dirty="0">
              <a:solidFill>
                <a:prstClr val="black"/>
              </a:solidFill>
            </a:endParaRPr>
          </a:p>
          <a:p>
            <a:pPr marL="342900" indent="-342900" algn="just">
              <a:spcBef>
                <a:spcPts val="600"/>
              </a:spcBef>
              <a:buFont typeface="Arial" panose="020B0604020202020204" pitchFamily="34" charset="0"/>
              <a:buChar char="•"/>
              <a:tabLst>
                <a:tab pos="457200" algn="l"/>
              </a:tabLst>
            </a:pPr>
            <a:r>
              <a:rPr lang="en-US" sz="1050" dirty="0">
                <a:solidFill>
                  <a:prstClr val="black"/>
                </a:solidFill>
              </a:rPr>
              <a:t>The Fed: bank </a:t>
            </a:r>
            <a:r>
              <a:rPr lang="en-US" sz="1050" dirty="0" err="1">
                <a:solidFill>
                  <a:prstClr val="black"/>
                </a:solidFill>
              </a:rPr>
              <a:t>sentral</a:t>
            </a:r>
            <a:r>
              <a:rPr lang="en-US" sz="1050" dirty="0">
                <a:solidFill>
                  <a:prstClr val="black"/>
                </a:solidFill>
              </a:rPr>
              <a:t> AS.</a:t>
            </a:r>
          </a:p>
          <a:p>
            <a:pPr marL="342900" indent="-342900" algn="just">
              <a:spcBef>
                <a:spcPts val="600"/>
              </a:spcBef>
              <a:buFont typeface="Arial" panose="020B0604020202020204" pitchFamily="34" charset="0"/>
              <a:buChar char="•"/>
              <a:tabLst>
                <a:tab pos="457200" algn="l"/>
              </a:tabLst>
            </a:pPr>
            <a:r>
              <a:rPr lang="en-US" sz="1050" i="1" dirty="0">
                <a:solidFill>
                  <a:prstClr val="black"/>
                </a:solidFill>
              </a:rPr>
              <a:t>US Treasury</a:t>
            </a:r>
            <a:r>
              <a:rPr lang="en-US" sz="1050" dirty="0">
                <a:solidFill>
                  <a:prstClr val="black"/>
                </a:solidFill>
              </a:rPr>
              <a:t>: </a:t>
            </a:r>
            <a:r>
              <a:rPr lang="en-US" sz="1050" dirty="0" err="1">
                <a:solidFill>
                  <a:prstClr val="black"/>
                </a:solidFill>
              </a:rPr>
              <a:t>obligasi</a:t>
            </a:r>
            <a:r>
              <a:rPr lang="en-US" sz="1050" dirty="0">
                <a:solidFill>
                  <a:prstClr val="black"/>
                </a:solidFill>
              </a:rPr>
              <a:t> </a:t>
            </a:r>
            <a:r>
              <a:rPr lang="en-US" sz="1050" dirty="0" err="1">
                <a:solidFill>
                  <a:prstClr val="black"/>
                </a:solidFill>
              </a:rPr>
              <a:t>pemerintah</a:t>
            </a:r>
            <a:r>
              <a:rPr lang="en-US" sz="1050" dirty="0">
                <a:solidFill>
                  <a:prstClr val="black"/>
                </a:solidFill>
              </a:rPr>
              <a:t> AS.</a:t>
            </a:r>
          </a:p>
          <a:p>
            <a:pPr marL="342900" indent="-342900" algn="just">
              <a:spcBef>
                <a:spcPts val="600"/>
              </a:spcBef>
              <a:buFont typeface="Arial" panose="020B0604020202020204" pitchFamily="34" charset="0"/>
              <a:buChar char="•"/>
              <a:tabLst>
                <a:tab pos="457200" algn="l"/>
              </a:tabLst>
            </a:pPr>
            <a:r>
              <a:rPr lang="en-US" sz="1050" dirty="0"/>
              <a:t>VIX: </a:t>
            </a:r>
            <a:r>
              <a:rPr lang="en-US" sz="1050" dirty="0" err="1"/>
              <a:t>indeks</a:t>
            </a:r>
            <a:r>
              <a:rPr lang="en-US" sz="1050" dirty="0"/>
              <a:t> </a:t>
            </a:r>
            <a:r>
              <a:rPr lang="en-US" sz="1050" dirty="0" err="1"/>
              <a:t>volatilitas</a:t>
            </a:r>
            <a:r>
              <a:rPr lang="en-US" sz="1050" dirty="0"/>
              <a:t> </a:t>
            </a:r>
            <a:r>
              <a:rPr lang="en-US" sz="1050" dirty="0" err="1"/>
              <a:t>pasar</a:t>
            </a:r>
            <a:r>
              <a:rPr lang="en-US" sz="1050" dirty="0"/>
              <a:t> </a:t>
            </a:r>
            <a:r>
              <a:rPr lang="en-US" sz="1050" dirty="0" err="1"/>
              <a:t>saham</a:t>
            </a:r>
            <a:r>
              <a:rPr lang="en-US" sz="1050" dirty="0"/>
              <a:t> AS yang </a:t>
            </a:r>
            <a:r>
              <a:rPr lang="en-US" sz="1050" dirty="0" err="1"/>
              <a:t>dihitung</a:t>
            </a:r>
            <a:r>
              <a:rPr lang="en-US" sz="1050" dirty="0"/>
              <a:t> </a:t>
            </a:r>
            <a:r>
              <a:rPr lang="en-US" sz="1050" dirty="0" err="1"/>
              <a:t>dari</a:t>
            </a:r>
            <a:r>
              <a:rPr lang="en-US" sz="1050" dirty="0"/>
              <a:t> </a:t>
            </a:r>
            <a:r>
              <a:rPr lang="en-US" sz="1050" dirty="0" err="1"/>
              <a:t>harga</a:t>
            </a:r>
            <a:r>
              <a:rPr lang="en-US" sz="1050" dirty="0"/>
              <a:t> </a:t>
            </a:r>
            <a:r>
              <a:rPr lang="en-US" sz="1050" dirty="0" err="1"/>
              <a:t>opsi</a:t>
            </a:r>
            <a:r>
              <a:rPr lang="en-US" sz="1050" dirty="0"/>
              <a:t> S&amp;P 500.</a:t>
            </a:r>
            <a:endParaRPr lang="en-US" sz="1050" dirty="0">
              <a:solidFill>
                <a:prstClr val="black"/>
              </a:solidFill>
            </a:endParaRPr>
          </a:p>
          <a:p>
            <a:pPr marL="342900" indent="-342900" algn="just">
              <a:spcBef>
                <a:spcPts val="600"/>
              </a:spcBef>
              <a:buFont typeface="Arial" panose="020B0604020202020204" pitchFamily="34" charset="0"/>
              <a:buChar char="•"/>
              <a:tabLst>
                <a:tab pos="457200" algn="l"/>
              </a:tabLst>
            </a:pPr>
            <a:r>
              <a:rPr lang="en-US" sz="1050" i="1" dirty="0">
                <a:solidFill>
                  <a:prstClr val="black"/>
                </a:solidFill>
              </a:rPr>
              <a:t>Yield</a:t>
            </a:r>
            <a:r>
              <a:rPr lang="en-US" sz="1050" dirty="0">
                <a:solidFill>
                  <a:prstClr val="black"/>
                </a:solidFill>
              </a:rPr>
              <a:t>: </a:t>
            </a:r>
            <a:r>
              <a:rPr lang="en-US" sz="1050" dirty="0" err="1">
                <a:solidFill>
                  <a:prstClr val="black"/>
                </a:solidFill>
              </a:rPr>
              <a:t>mengacu</a:t>
            </a:r>
            <a:r>
              <a:rPr lang="en-US" sz="1050" dirty="0">
                <a:solidFill>
                  <a:prstClr val="black"/>
                </a:solidFill>
              </a:rPr>
              <a:t> pada </a:t>
            </a:r>
            <a:r>
              <a:rPr lang="en-US" sz="1050" i="1" dirty="0">
                <a:solidFill>
                  <a:prstClr val="black"/>
                </a:solidFill>
              </a:rPr>
              <a:t>Yield-To-Maturity</a:t>
            </a:r>
            <a:r>
              <a:rPr lang="en-US" sz="1050" dirty="0">
                <a:solidFill>
                  <a:prstClr val="black"/>
                </a:solidFill>
              </a:rPr>
              <a:t> (YTM), yang </a:t>
            </a:r>
            <a:r>
              <a:rPr lang="en-US" sz="1050" dirty="0" err="1">
                <a:solidFill>
                  <a:prstClr val="black"/>
                </a:solidFill>
              </a:rPr>
              <a:t>didefinisikan</a:t>
            </a:r>
            <a:r>
              <a:rPr lang="en-US" sz="1050" dirty="0">
                <a:solidFill>
                  <a:prstClr val="black"/>
                </a:solidFill>
              </a:rPr>
              <a:t> </a:t>
            </a:r>
            <a:r>
              <a:rPr lang="en-US" sz="1050" dirty="0" err="1">
                <a:solidFill>
                  <a:prstClr val="black"/>
                </a:solidFill>
              </a:rPr>
              <a:t>sebagai</a:t>
            </a:r>
            <a:r>
              <a:rPr lang="en-US" sz="1050" dirty="0">
                <a:solidFill>
                  <a:prstClr val="black"/>
                </a:solidFill>
              </a:rPr>
              <a:t> total </a:t>
            </a:r>
            <a:r>
              <a:rPr lang="en-US" sz="1050" dirty="0" err="1">
                <a:solidFill>
                  <a:prstClr val="black"/>
                </a:solidFill>
              </a:rPr>
              <a:t>tingkat</a:t>
            </a:r>
            <a:r>
              <a:rPr lang="en-US" sz="1050" dirty="0">
                <a:solidFill>
                  <a:prstClr val="black"/>
                </a:solidFill>
              </a:rPr>
              <a:t> </a:t>
            </a:r>
            <a:r>
              <a:rPr lang="en-US" sz="1050" dirty="0" err="1">
                <a:solidFill>
                  <a:prstClr val="black"/>
                </a:solidFill>
              </a:rPr>
              <a:t>pengembalian</a:t>
            </a:r>
            <a:r>
              <a:rPr lang="en-US" sz="1050" dirty="0">
                <a:solidFill>
                  <a:prstClr val="black"/>
                </a:solidFill>
              </a:rPr>
              <a:t> </a:t>
            </a:r>
            <a:r>
              <a:rPr lang="en-US" sz="1050" dirty="0" err="1">
                <a:solidFill>
                  <a:prstClr val="black"/>
                </a:solidFill>
              </a:rPr>
              <a:t>obligasi</a:t>
            </a:r>
            <a:r>
              <a:rPr lang="en-US" sz="1050" dirty="0">
                <a:solidFill>
                  <a:prstClr val="black"/>
                </a:solidFill>
              </a:rPr>
              <a:t> </a:t>
            </a:r>
            <a:r>
              <a:rPr lang="en-US" sz="1050" dirty="0" err="1">
                <a:solidFill>
                  <a:prstClr val="black"/>
                </a:solidFill>
              </a:rPr>
              <a:t>jika</a:t>
            </a:r>
            <a:r>
              <a:rPr lang="en-US" sz="1050" dirty="0">
                <a:solidFill>
                  <a:prstClr val="black"/>
                </a:solidFill>
              </a:rPr>
              <a:t> </a:t>
            </a:r>
            <a:r>
              <a:rPr lang="en-US" sz="1050" dirty="0" err="1">
                <a:solidFill>
                  <a:prstClr val="black"/>
                </a:solidFill>
              </a:rPr>
              <a:t>dipegang</a:t>
            </a:r>
            <a:r>
              <a:rPr lang="en-US" sz="1050" dirty="0">
                <a:solidFill>
                  <a:prstClr val="black"/>
                </a:solidFill>
              </a:rPr>
              <a:t> </a:t>
            </a:r>
            <a:r>
              <a:rPr lang="en-US" sz="1050" dirty="0" err="1">
                <a:solidFill>
                  <a:prstClr val="black"/>
                </a:solidFill>
              </a:rPr>
              <a:t>hingga</a:t>
            </a:r>
            <a:r>
              <a:rPr lang="en-US" sz="1050" dirty="0">
                <a:solidFill>
                  <a:prstClr val="black"/>
                </a:solidFill>
              </a:rPr>
              <a:t> </a:t>
            </a:r>
            <a:r>
              <a:rPr lang="en-US" sz="1050" dirty="0" err="1">
                <a:solidFill>
                  <a:prstClr val="black"/>
                </a:solidFill>
              </a:rPr>
              <a:t>jatuh</a:t>
            </a:r>
            <a:r>
              <a:rPr lang="en-US" sz="1050" dirty="0">
                <a:solidFill>
                  <a:prstClr val="black"/>
                </a:solidFill>
              </a:rPr>
              <a:t> tempo.</a:t>
            </a:r>
          </a:p>
        </p:txBody>
      </p:sp>
    </p:spTree>
    <p:extLst>
      <p:ext uri="{BB962C8B-B14F-4D97-AF65-F5344CB8AC3E}">
        <p14:creationId xmlns:p14="http://schemas.microsoft.com/office/powerpoint/2010/main" val="1108191516"/>
      </p:ext>
    </p:extLst>
  </p:cSld>
  <p:clrMapOvr>
    <a:masterClrMapping/>
  </p:clrMapOvr>
</p:sld>
</file>

<file path=ppt/theme/theme1.xml><?xml version="1.0" encoding="utf-8"?>
<a:theme xmlns:a="http://schemas.openxmlformats.org/drawingml/2006/main" name="1_Cov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over">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Conten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3_Conten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4_Conten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5_Conten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titus xmlns="http://schemas.titus.com/TitusProperties/">
  <TitusGUID xmlns="">b5ab3276-f2a2-4d17-8a8e-f371ed2f17c5</TitusGUID>
  <TitusMetadata xmlns="">eyJucyI6IkJDQSIsInByb3BzIjpbeyJuIjoiQkNBQ2xhc3NpZmljYXRpb24iLCJ2YWxzIjpbeyJ2YWx1ZSI6IkludGVybmFsIn1dfSx7Im4iOiJCQ0FPd25lciIsInZhbHMiOlt7InZhbHVlIjoiVTA3MTk3MiJ9XX1dfQ==</TitusMetadata>
</titus>
</file>

<file path=customXml/itemProps1.xml><?xml version="1.0" encoding="utf-8"?>
<ds:datastoreItem xmlns:ds="http://schemas.openxmlformats.org/officeDocument/2006/customXml" ds:itemID="{F8909E01-8042-4DC9-9ABC-AF1BB90863E0}">
  <ds:schemaRefs>
    <ds:schemaRef ds:uri="http://schemas.titus.com/TitusProperties/"/>
    <ds:schemaRef ds:uri=""/>
  </ds:schemaRefs>
</ds:datastoreItem>
</file>

<file path=docProps/app.xml><?xml version="1.0" encoding="utf-8"?>
<Properties xmlns="http://schemas.openxmlformats.org/officeDocument/2006/extended-properties" xmlns:vt="http://schemas.openxmlformats.org/officeDocument/2006/docPropsVTypes">
  <TotalTime>5590</TotalTime>
  <Words>2883</Words>
  <Application>Microsoft Macintosh PowerPoint</Application>
  <PresentationFormat>On-screen Show (4:3)</PresentationFormat>
  <Paragraphs>579</Paragraphs>
  <Slides>6</Slides>
  <Notes>6</Notes>
  <HiddenSlides>0</HiddenSlides>
  <MMClips>0</MMClips>
  <ScaleCrop>false</ScaleCrop>
  <HeadingPairs>
    <vt:vector size="6" baseType="variant">
      <vt:variant>
        <vt:lpstr>Fonts Used</vt:lpstr>
      </vt:variant>
      <vt:variant>
        <vt:i4>3</vt:i4>
      </vt:variant>
      <vt:variant>
        <vt:lpstr>Theme</vt:lpstr>
      </vt:variant>
      <vt:variant>
        <vt:i4>7</vt:i4>
      </vt:variant>
      <vt:variant>
        <vt:lpstr>Slide Titles</vt:lpstr>
      </vt:variant>
      <vt:variant>
        <vt:i4>6</vt:i4>
      </vt:variant>
    </vt:vector>
  </HeadingPairs>
  <TitlesOfParts>
    <vt:vector size="16" baseType="lpstr">
      <vt:lpstr>Arial</vt:lpstr>
      <vt:lpstr>Calibri</vt:lpstr>
      <vt:lpstr>Calibri Light</vt:lpstr>
      <vt:lpstr>1_Cover</vt:lpstr>
      <vt:lpstr>Cover</vt:lpstr>
      <vt:lpstr>2_Content</vt:lpstr>
      <vt:lpstr>3_Content</vt:lpstr>
      <vt:lpstr>4_Content</vt:lpstr>
      <vt:lpstr>5_Content</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Tako</dc:creator>
  <cp:lastModifiedBy>Microsoft Office User</cp:lastModifiedBy>
  <cp:revision>2399</cp:revision>
  <dcterms:created xsi:type="dcterms:W3CDTF">2018-10-24T01:42:20Z</dcterms:created>
  <dcterms:modified xsi:type="dcterms:W3CDTF">2026-10-06T17:44:46Z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b5ab3276-f2a2-4d17-8a8e-f371ed2f17c5</vt:lpwstr>
  </property>
  <property fmtid="{D5CDD505-2E9C-101B-9397-08002B2CF9AE}" pid="3" name="BCAClassification">
    <vt:lpwstr>Internal</vt:lpwstr>
  </property>
  <property fmtid="{D5CDD505-2E9C-101B-9397-08002B2CF9AE}" pid="4" name="BCAOwner">
    <vt:lpwstr>U071972</vt:lpwstr>
  </property>
  <property fmtid="{D5CDD505-2E9C-101B-9397-08002B2CF9AE}" pid="5" name="ICV">
    <vt:lpwstr>b53bd25687e643118693a27ceaac7f1d</vt:lpwstr>
  </property>
</Properties>
</file>