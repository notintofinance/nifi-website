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30" d="100"/>
          <a:sy n="130" d="100"/>
        </p:scale>
        <p:origin x="2512" y="-960"/>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9"/>
          <c:y val="0.15"/>
          <c:w val="0.88"/>
          <c:h val="0.57999999999999996"/>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8C0-EB4C-B342-3B65793A0F4B}"/>
                </c:ext>
              </c:extLst>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8C0-EB4C-B342-3B65793A0F4B}"/>
                </c:ext>
              </c:extLst>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8C0-EB4C-B342-3B65793A0F4B}"/>
                </c:ext>
              </c:extLst>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8C0-EB4C-B342-3B65793A0F4B}"/>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3.9262999999999999</c:v>
                </c:pt>
                <c:pt idx="1">
                  <c:v>4.1188000000000002</c:v>
                </c:pt>
                <c:pt idx="2">
                  <c:v>4.2161999999999997</c:v>
                </c:pt>
                <c:pt idx="3">
                  <c:v>4.3899999999999997</c:v>
                </c:pt>
                <c:pt idx="4">
                  <c:v>4.4856999999999996</c:v>
                </c:pt>
                <c:pt idx="5">
                  <c:v>4.5990000000000002</c:v>
                </c:pt>
                <c:pt idx="6">
                  <c:v>4.6467000000000001</c:v>
                </c:pt>
                <c:pt idx="7">
                  <c:v>4.6866000000000003</c:v>
                </c:pt>
                <c:pt idx="8">
                  <c:v>4.6978</c:v>
                </c:pt>
                <c:pt idx="9">
                  <c:v>4.6818999999999997</c:v>
                </c:pt>
              </c:numCache>
            </c:numRef>
          </c:val>
          <c:smooth val="0"/>
          <c:extLst>
            <c:ext xmlns:c16="http://schemas.microsoft.com/office/drawing/2014/chart" uri="{C3380CC4-5D6E-409C-BE32-E72D297353CC}">
              <c16:uniqueId val="{00000004-B8C0-EB4C-B342-3B65793A0F4B}"/>
            </c:ext>
          </c:extLst>
        </c:ser>
        <c:dLbls>
          <c:showLegendKey val="0"/>
          <c:showVal val="0"/>
          <c:showCatName val="0"/>
          <c:showSerName val="0"/>
          <c:showPercent val="0"/>
          <c:showBubbleSize val="0"/>
        </c:dLbls>
        <c:marker val="1"/>
        <c:smooth val="0"/>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000000000000001"/>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92-6846-9915-73B46E07B615}"/>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0.54239999999999999</c:v>
                </c:pt>
                <c:pt idx="1">
                  <c:v>0.58409999999999995</c:v>
                </c:pt>
                <c:pt idx="2">
                  <c:v>0.58760000000000001</c:v>
                </c:pt>
                <c:pt idx="3">
                  <c:v>0.62429999999999997</c:v>
                </c:pt>
                <c:pt idx="4">
                  <c:v>0.6421</c:v>
                </c:pt>
                <c:pt idx="5">
                  <c:v>0.64539999999999997</c:v>
                </c:pt>
                <c:pt idx="6">
                  <c:v>0.6431</c:v>
                </c:pt>
                <c:pt idx="7">
                  <c:v>0.65759999999999996</c:v>
                </c:pt>
                <c:pt idx="8">
                  <c:v>0.67459999999999998</c:v>
                </c:pt>
                <c:pt idx="9">
                  <c:v>0.67879999999999996</c:v>
                </c:pt>
                <c:pt idx="10">
                  <c:v>0.68559999999999999</c:v>
                </c:pt>
                <c:pt idx="11">
                  <c:v>0.64790000000000003</c:v>
                </c:pt>
                <c:pt idx="12">
                  <c:v>0.68130000000000002</c:v>
                </c:pt>
                <c:pt idx="13">
                  <c:v>0.68789999999999996</c:v>
                </c:pt>
                <c:pt idx="14">
                  <c:v>0.7</c:v>
                </c:pt>
                <c:pt idx="15">
                  <c:v>0.71430000000000005</c:v>
                </c:pt>
                <c:pt idx="16">
                  <c:v>0.7</c:v>
                </c:pt>
                <c:pt idx="17">
                  <c:v>0.65900000000000003</c:v>
                </c:pt>
                <c:pt idx="18">
                  <c:v>0.64359999999999995</c:v>
                </c:pt>
                <c:pt idx="19">
                  <c:v>0.76770000000000005</c:v>
                </c:pt>
                <c:pt idx="20">
                  <c:v>0.77959999999999996</c:v>
                </c:pt>
                <c:pt idx="21">
                  <c:v>0.83320000000000005</c:v>
                </c:pt>
                <c:pt idx="22">
                  <c:v>0.78400000000000003</c:v>
                </c:pt>
                <c:pt idx="23">
                  <c:v>0.748</c:v>
                </c:pt>
                <c:pt idx="24">
                  <c:v>0.75139999999999996</c:v>
                </c:pt>
                <c:pt idx="25">
                  <c:v>0.77059999999999995</c:v>
                </c:pt>
                <c:pt idx="26">
                  <c:v>0.77590000000000003</c:v>
                </c:pt>
                <c:pt idx="27">
                  <c:v>0.81679999999999997</c:v>
                </c:pt>
                <c:pt idx="28">
                  <c:v>0.81459999999999999</c:v>
                </c:pt>
                <c:pt idx="29">
                  <c:v>0.82199999999999995</c:v>
                </c:pt>
                <c:pt idx="30">
                  <c:v>0.79969999999999997</c:v>
                </c:pt>
                <c:pt idx="31">
                  <c:v>0.84809999999999997</c:v>
                </c:pt>
                <c:pt idx="32">
                  <c:v>0.89039999999999997</c:v>
                </c:pt>
                <c:pt idx="33">
                  <c:v>0.86629999999999996</c:v>
                </c:pt>
                <c:pt idx="34">
                  <c:v>0.76739999999999997</c:v>
                </c:pt>
                <c:pt idx="35">
                  <c:v>0.8115</c:v>
                </c:pt>
                <c:pt idx="36">
                  <c:v>0.83550000000000002</c:v>
                </c:pt>
                <c:pt idx="37">
                  <c:v>0.78380000000000005</c:v>
                </c:pt>
                <c:pt idx="38">
                  <c:v>0.73350000000000004</c:v>
                </c:pt>
                <c:pt idx="39">
                  <c:v>0.74519999999999997</c:v>
                </c:pt>
                <c:pt idx="40">
                  <c:v>0.75319999999999998</c:v>
                </c:pt>
                <c:pt idx="41">
                  <c:v>0.72360000000000002</c:v>
                </c:pt>
                <c:pt idx="42">
                  <c:v>0.75939999999999996</c:v>
                </c:pt>
                <c:pt idx="43">
                  <c:v>0.77900000000000003</c:v>
                </c:pt>
                <c:pt idx="44">
                  <c:v>0.7198</c:v>
                </c:pt>
                <c:pt idx="45">
                  <c:v>0.75349999999999995</c:v>
                </c:pt>
                <c:pt idx="46">
                  <c:v>0.67669999999999997</c:v>
                </c:pt>
                <c:pt idx="47">
                  <c:v>0.75580000000000003</c:v>
                </c:pt>
                <c:pt idx="48">
                  <c:v>0.70340000000000003</c:v>
                </c:pt>
                <c:pt idx="49">
                  <c:v>0.75639999999999996</c:v>
                </c:pt>
                <c:pt idx="50">
                  <c:v>0.7137</c:v>
                </c:pt>
                <c:pt idx="51">
                  <c:v>0.69310000000000005</c:v>
                </c:pt>
                <c:pt idx="52">
                  <c:v>0.70530000000000004</c:v>
                </c:pt>
                <c:pt idx="53">
                  <c:v>0.66579999999999995</c:v>
                </c:pt>
                <c:pt idx="54">
                  <c:v>0.60680000000000001</c:v>
                </c:pt>
                <c:pt idx="55">
                  <c:v>0.63200000000000001</c:v>
                </c:pt>
                <c:pt idx="56">
                  <c:v>0.57579999999999998</c:v>
                </c:pt>
                <c:pt idx="57">
                  <c:v>0.57169999999999999</c:v>
                </c:pt>
                <c:pt idx="58">
                  <c:v>0.64180000000000004</c:v>
                </c:pt>
                <c:pt idx="59">
                  <c:v>0.72650000000000003</c:v>
                </c:pt>
                <c:pt idx="60">
                  <c:v>0.77149999999999996</c:v>
                </c:pt>
                <c:pt idx="61">
                  <c:v>0.78969999999999996</c:v>
                </c:pt>
                <c:pt idx="62">
                  <c:v>0.84379999999999999</c:v>
                </c:pt>
                <c:pt idx="63">
                  <c:v>0.88500000000000001</c:v>
                </c:pt>
                <c:pt idx="64">
                  <c:v>0.90469999999999995</c:v>
                </c:pt>
                <c:pt idx="65">
                  <c:v>0.91369999999999996</c:v>
                </c:pt>
              </c:numCache>
            </c:numRef>
          </c:val>
          <c:smooth val="0"/>
          <c:extLst>
            <c:ext xmlns:c16="http://schemas.microsoft.com/office/drawing/2014/chart" uri="{C3380CC4-5D6E-409C-BE32-E72D297353CC}">
              <c16:uniqueId val="{00000001-4B92-6846-9915-73B46E07B615}"/>
            </c:ext>
          </c:extLst>
        </c:ser>
        <c:dLbls>
          <c:showLegendKey val="0"/>
          <c:showVal val="0"/>
          <c:showCatName val="0"/>
          <c:showSerName val="0"/>
          <c:showPercent val="0"/>
          <c:showBubbleSize val="0"/>
        </c:dLbls>
        <c:marker val="1"/>
        <c:smooth val="0"/>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7.0000000000000007E-2"/>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92-6846-9915-73B46E07B615}"/>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4.4790999999999999</c:v>
                </c:pt>
                <c:pt idx="1">
                  <c:v>4.4832000000000001</c:v>
                </c:pt>
                <c:pt idx="2">
                  <c:v>4.4692999999999996</c:v>
                </c:pt>
                <c:pt idx="3">
                  <c:v>4.5510999999999999</c:v>
                </c:pt>
                <c:pt idx="4">
                  <c:v>4.5792000000000002</c:v>
                </c:pt>
                <c:pt idx="5">
                  <c:v>4.5510999999999999</c:v>
                </c:pt>
                <c:pt idx="6">
                  <c:v>4.5612000000000004</c:v>
                </c:pt>
                <c:pt idx="7">
                  <c:v>4.6237000000000004</c:v>
                </c:pt>
                <c:pt idx="8">
                  <c:v>4.5894000000000004</c:v>
                </c:pt>
                <c:pt idx="9">
                  <c:v>4.5472999999999999</c:v>
                </c:pt>
                <c:pt idx="10">
                  <c:v>4.5533999999999999</c:v>
                </c:pt>
                <c:pt idx="11">
                  <c:v>4.5473999999999997</c:v>
                </c:pt>
                <c:pt idx="12">
                  <c:v>4.5917000000000003</c:v>
                </c:pt>
                <c:pt idx="13">
                  <c:v>4.6280999999999999</c:v>
                </c:pt>
                <c:pt idx="14">
                  <c:v>4.6544999999999996</c:v>
                </c:pt>
                <c:pt idx="15">
                  <c:v>4.6932</c:v>
                </c:pt>
                <c:pt idx="16">
                  <c:v>4.6771000000000003</c:v>
                </c:pt>
                <c:pt idx="17">
                  <c:v>4.6486999999999998</c:v>
                </c:pt>
                <c:pt idx="18">
                  <c:v>4.6062000000000003</c:v>
                </c:pt>
                <c:pt idx="19">
                  <c:v>4.6772999999999998</c:v>
                </c:pt>
                <c:pt idx="20">
                  <c:v>4.6733000000000002</c:v>
                </c:pt>
                <c:pt idx="21">
                  <c:v>4.7347000000000001</c:v>
                </c:pt>
                <c:pt idx="22">
                  <c:v>4.6755000000000004</c:v>
                </c:pt>
                <c:pt idx="23">
                  <c:v>4.6125999999999996</c:v>
                </c:pt>
                <c:pt idx="24">
                  <c:v>4.6127000000000002</c:v>
                </c:pt>
                <c:pt idx="25">
                  <c:v>4.6778000000000004</c:v>
                </c:pt>
                <c:pt idx="26">
                  <c:v>4.6454000000000004</c:v>
                </c:pt>
                <c:pt idx="27">
                  <c:v>4.7066999999999997</c:v>
                </c:pt>
                <c:pt idx="28">
                  <c:v>4.6882999999999999</c:v>
                </c:pt>
                <c:pt idx="29">
                  <c:v>4.6924999999999999</c:v>
                </c:pt>
                <c:pt idx="30">
                  <c:v>4.6426999999999996</c:v>
                </c:pt>
                <c:pt idx="31">
                  <c:v>4.6921999999999997</c:v>
                </c:pt>
                <c:pt idx="32">
                  <c:v>4.7218999999999998</c:v>
                </c:pt>
                <c:pt idx="33">
                  <c:v>4.7041000000000004</c:v>
                </c:pt>
                <c:pt idx="34">
                  <c:v>4.6466000000000003</c:v>
                </c:pt>
                <c:pt idx="35">
                  <c:v>4.7041000000000004</c:v>
                </c:pt>
                <c:pt idx="36">
                  <c:v>4.7339000000000002</c:v>
                </c:pt>
                <c:pt idx="37">
                  <c:v>4.6961000000000004</c:v>
                </c:pt>
                <c:pt idx="38">
                  <c:v>4.6288</c:v>
                </c:pt>
                <c:pt idx="39">
                  <c:v>4.6464999999999996</c:v>
                </c:pt>
                <c:pt idx="40">
                  <c:v>4.6761999999999997</c:v>
                </c:pt>
                <c:pt idx="41">
                  <c:v>4.718</c:v>
                </c:pt>
                <c:pt idx="42">
                  <c:v>4.75</c:v>
                </c:pt>
                <c:pt idx="43">
                  <c:v>4.7980999999999998</c:v>
                </c:pt>
                <c:pt idx="44">
                  <c:v>4.7779999999999996</c:v>
                </c:pt>
                <c:pt idx="45">
                  <c:v>4.7679999999999998</c:v>
                </c:pt>
                <c:pt idx="46">
                  <c:v>4.7820999999999998</c:v>
                </c:pt>
                <c:pt idx="47">
                  <c:v>4.7881999999999998</c:v>
                </c:pt>
                <c:pt idx="48">
                  <c:v>4.8406000000000002</c:v>
                </c:pt>
                <c:pt idx="49">
                  <c:v>4.9626000000000001</c:v>
                </c:pt>
                <c:pt idx="50">
                  <c:v>4.9668999999999999</c:v>
                </c:pt>
                <c:pt idx="51">
                  <c:v>4.9874999999999998</c:v>
                </c:pt>
                <c:pt idx="52">
                  <c:v>5.0019</c:v>
                </c:pt>
                <c:pt idx="53">
                  <c:v>5.0225</c:v>
                </c:pt>
                <c:pt idx="54">
                  <c:v>4.9303999999999997</c:v>
                </c:pt>
                <c:pt idx="55">
                  <c:v>4.9961000000000002</c:v>
                </c:pt>
                <c:pt idx="56">
                  <c:v>4.9509999999999996</c:v>
                </c:pt>
                <c:pt idx="57">
                  <c:v>4.9612999999999996</c:v>
                </c:pt>
                <c:pt idx="58">
                  <c:v>5.1142000000000003</c:v>
                </c:pt>
                <c:pt idx="59">
                  <c:v>5.1978</c:v>
                </c:pt>
                <c:pt idx="60">
                  <c:v>5.1604000000000001</c:v>
                </c:pt>
                <c:pt idx="61">
                  <c:v>5.2361000000000004</c:v>
                </c:pt>
                <c:pt idx="62">
                  <c:v>5.2362000000000002</c:v>
                </c:pt>
                <c:pt idx="63">
                  <c:v>5.2849000000000004</c:v>
                </c:pt>
                <c:pt idx="64">
                  <c:v>5.2407000000000004</c:v>
                </c:pt>
                <c:pt idx="65">
                  <c:v>5.2706</c:v>
                </c:pt>
              </c:numCache>
            </c:numRef>
          </c:val>
          <c:smooth val="0"/>
          <c:extLst>
            <c:ext xmlns:c16="http://schemas.microsoft.com/office/drawing/2014/chart" uri="{C3380CC4-5D6E-409C-BE32-E72D297353CC}">
              <c16:uniqueId val="{00000003-4B92-6846-9915-73B46E07B615}"/>
            </c:ext>
          </c:extLst>
        </c:ser>
        <c:dLbls>
          <c:showLegendKey val="0"/>
          <c:showVal val="0"/>
          <c:showCatName val="0"/>
          <c:showSerName val="0"/>
          <c:showPercent val="0"/>
          <c:showBubbleSize val="0"/>
        </c:dLbls>
        <c:marker val="1"/>
        <c:smooth val="0"/>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extLst>
              <c:ext xmlns:c16="http://schemas.microsoft.com/office/drawing/2014/chart" uri="{C3380CC4-5D6E-409C-BE32-E72D297353CC}">
                <c16:uniqueId val="{00000001-739D-CD47-AFD7-CA1BC6FEED5E}"/>
              </c:ext>
            </c:extLst>
          </c:dPt>
          <c:dPt>
            <c:idx val="1"/>
            <c:invertIfNegative val="0"/>
            <c:bubble3D val="0"/>
            <c:spPr>
              <a:solidFill>
                <a:srgbClr val="002060"/>
              </a:solidFill>
              <a:ln>
                <a:noFill/>
              </a:ln>
            </c:spPr>
            <c:extLst>
              <c:ext xmlns:c16="http://schemas.microsoft.com/office/drawing/2014/chart" uri="{C3380CC4-5D6E-409C-BE32-E72D297353CC}">
                <c16:uniqueId val="{00000003-739D-CD47-AFD7-CA1BC6FEED5E}"/>
              </c:ext>
            </c:extLst>
          </c:dPt>
          <c:dPt>
            <c:idx val="2"/>
            <c:invertIfNegative val="0"/>
            <c:bubble3D val="0"/>
            <c:spPr>
              <a:solidFill>
                <a:srgbClr val="0051A2"/>
              </a:solidFill>
              <a:ln>
                <a:noFill/>
              </a:ln>
            </c:spPr>
            <c:extLst>
              <c:ext xmlns:c16="http://schemas.microsoft.com/office/drawing/2014/chart" uri="{C3380CC4-5D6E-409C-BE32-E72D297353CC}">
                <c16:uniqueId val="{00000005-739D-CD47-AFD7-CA1BC6FEED5E}"/>
              </c:ext>
            </c:extLst>
          </c:dPt>
          <c:dPt>
            <c:idx val="3"/>
            <c:invertIfNegative val="0"/>
            <c:bubble3D val="0"/>
            <c:spPr>
              <a:solidFill>
                <a:srgbClr val="0051A2"/>
              </a:solidFill>
              <a:ln>
                <a:noFill/>
              </a:ln>
            </c:spPr>
            <c:extLst>
              <c:ext xmlns:c16="http://schemas.microsoft.com/office/drawing/2014/chart" uri="{C3380CC4-5D6E-409C-BE32-E72D297353CC}">
                <c16:uniqueId val="{00000007-739D-CD47-AFD7-CA1BC6FEED5E}"/>
              </c:ext>
            </c:extLst>
          </c:dPt>
          <c:dPt>
            <c:idx val="4"/>
            <c:invertIfNegative val="0"/>
            <c:bubble3D val="0"/>
            <c:spPr>
              <a:solidFill>
                <a:srgbClr val="0051A2"/>
              </a:solidFill>
              <a:ln>
                <a:noFill/>
              </a:ln>
            </c:spPr>
            <c:extLst>
              <c:ext xmlns:c16="http://schemas.microsoft.com/office/drawing/2014/chart" uri="{C3380CC4-5D6E-409C-BE32-E72D297353CC}">
                <c16:uniqueId val="{00000009-739D-CD47-AFD7-CA1BC6FEED5E}"/>
              </c:ext>
            </c:extLst>
          </c:dPt>
          <c:dPt>
            <c:idx val="5"/>
            <c:invertIfNegative val="0"/>
            <c:bubble3D val="0"/>
            <c:spPr>
              <a:solidFill>
                <a:srgbClr val="0051A2"/>
              </a:solidFill>
              <a:ln>
                <a:noFill/>
              </a:ln>
            </c:spPr>
            <c:extLst>
              <c:ext xmlns:c16="http://schemas.microsoft.com/office/drawing/2014/chart" uri="{C3380CC4-5D6E-409C-BE32-E72D297353CC}">
                <c16:uniqueId val="{0000000B-739D-CD47-AFD7-CA1BC6FEED5E}"/>
              </c:ext>
            </c:extLst>
          </c:dPt>
          <c:dPt>
            <c:idx val="6"/>
            <c:invertIfNegative val="0"/>
            <c:bubble3D val="0"/>
            <c:spPr>
              <a:solidFill>
                <a:srgbClr val="0051A2"/>
              </a:solidFill>
              <a:ln>
                <a:noFill/>
              </a:ln>
            </c:spPr>
            <c:extLst>
              <c:ext xmlns:c16="http://schemas.microsoft.com/office/drawing/2014/chart" uri="{C3380CC4-5D6E-409C-BE32-E72D297353CC}">
                <c16:uniqueId val="{0000000D-739D-CD47-AFD7-CA1BC6FEED5E}"/>
              </c:ext>
            </c:extLst>
          </c:dPt>
          <c:dLbls>
            <c:dLbl>
              <c:idx val="0"/>
              <c:layout>
                <c:manualLayout>
                  <c:x val="0"/>
                  <c:y val="9.3388345776199547E-2"/>
                </c:manualLayout>
              </c:layout>
              <c:numFmt formatCode="0.0" sourceLinked="0"/>
              <c:spPr>
                <a:noFill/>
                <a:ln>
                  <a:noFill/>
                </a:ln>
              </c:spPr>
              <c:txPr>
                <a:bodyPr/>
                <a:lstStyle/>
                <a:p>
                  <a:pPr>
                    <a:defRPr sz="800" b="1" i="0">
                      <a:solidFill>
                        <a:schemeClr val="bg1"/>
                      </a:solidFill>
                      <a:latin typeface="Calibri"/>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39D-CD47-AFD7-CA1BC6FEED5E}"/>
                </c:ext>
              </c:extLst>
            </c:dLbl>
            <c:dLbl>
              <c:idx val="6"/>
              <c:layout>
                <c:manualLayout>
                  <c:x val="0"/>
                  <c:y val="2.54695488480544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39D-CD47-AFD7-CA1BC6FEED5E}"/>
                </c:ext>
              </c:extLst>
            </c:dLbl>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85.464168317654995</c:v>
                </c:pt>
                <c:pt idx="1">
                  <c:v>1.5497398175096102</c:v>
                </c:pt>
                <c:pt idx="2">
                  <c:v>10.300110590980015</c:v>
                </c:pt>
                <c:pt idx="3">
                  <c:v>8.9680270340525059</c:v>
                </c:pt>
                <c:pt idx="4">
                  <c:v>8.4608030592734362</c:v>
                </c:pt>
                <c:pt idx="5">
                  <c:v>7.0117034034986148</c:v>
                </c:pt>
                <c:pt idx="6">
                  <c:v>-26.991945000256521</c:v>
                </c:pt>
              </c:numCache>
            </c:numRef>
          </c:val>
          <c:extLst>
            <c:ext xmlns:c16="http://schemas.microsoft.com/office/drawing/2014/chart" uri="{C3380CC4-5D6E-409C-BE32-E72D297353CC}">
              <c16:uniqueId val="{0000000E-739D-CD47-AFD7-CA1BC6FEED5E}"/>
            </c:ext>
          </c:extLst>
        </c:ser>
        <c:dLbls>
          <c:showLegendKey val="0"/>
          <c:showVal val="0"/>
          <c:showCatName val="0"/>
          <c:showSerName val="0"/>
          <c:showPercent val="0"/>
          <c:showBubbleSize val="0"/>
        </c:dLbls>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crossAx val="1301"/>
        <c:crosses val="autoZero"/>
        <c:crossBetween val="between"/>
        <c:majorUnit val="2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Sheet1!$B$2:$B$3</c:f>
              <c:numCache>
                <c:formatCode>0.00</c:formatCode>
                <c:ptCount val="2"/>
                <c:pt idx="0">
                  <c:v>15</c:v>
                </c:pt>
                <c:pt idx="1">
                  <c:v>62</c:v>
                </c:pt>
              </c:numCache>
            </c:numRef>
          </c:val>
          <c:extLst>
            <c:ext xmlns:c16="http://schemas.microsoft.com/office/drawing/2014/chart" uri="{C3380CC4-5D6E-409C-BE32-E72D297353CC}">
              <c16:uniqueId val="{00000000-E3D5-3B4D-B5F6-0A7B4F64CBB6}"/>
            </c:ext>
          </c:extLst>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Sheet1!$C$2:$C$3</c:f>
              <c:numCache>
                <c:formatCode>0.00</c:formatCode>
                <c:ptCount val="2"/>
                <c:pt idx="0">
                  <c:v>22.5</c:v>
                </c:pt>
                <c:pt idx="1">
                  <c:v>45</c:v>
                </c:pt>
              </c:numCache>
            </c:numRef>
          </c:val>
          <c:extLst>
            <c:ext xmlns:c16="http://schemas.microsoft.com/office/drawing/2014/chart" uri="{C3380CC4-5D6E-409C-BE32-E72D297353CC}">
              <c16:uniqueId val="{00000001-E3D5-3B4D-B5F6-0A7B4F64CBB6}"/>
            </c:ext>
          </c:extLst>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Sheet1!$D$2:$D$3</c:f>
              <c:numCache>
                <c:formatCode>0.00</c:formatCode>
                <c:ptCount val="2"/>
                <c:pt idx="0">
                  <c:v>30</c:v>
                </c:pt>
                <c:pt idx="1">
                  <c:v>25</c:v>
                </c:pt>
              </c:numCache>
            </c:numRef>
          </c:val>
          <c:extLst>
            <c:ext xmlns:c16="http://schemas.microsoft.com/office/drawing/2014/chart" uri="{C3380CC4-5D6E-409C-BE32-E72D297353CC}">
              <c16:uniqueId val="{00000002-E3D5-3B4D-B5F6-0A7B4F64CBB6}"/>
            </c:ext>
          </c:extLst>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Sheet1!$E$2:$E$3</c:f>
              <c:numCache>
                <c:formatCode>0.00</c:formatCode>
                <c:ptCount val="2"/>
                <c:pt idx="0">
                  <c:v>25.75</c:v>
                </c:pt>
                <c:pt idx="1">
                  <c:v>25</c:v>
                </c:pt>
              </c:numCache>
            </c:numRef>
          </c:val>
          <c:extLst>
            <c:ext xmlns:c16="http://schemas.microsoft.com/office/drawing/2014/chart" uri="{C3380CC4-5D6E-409C-BE32-E72D297353CC}">
              <c16:uniqueId val="{00000003-E3D5-3B4D-B5F6-0A7B4F64CBB6}"/>
            </c:ext>
          </c:extLst>
        </c:ser>
        <c:dLbls>
          <c:showLegendKey val="0"/>
          <c:showVal val="0"/>
          <c:showCatName val="0"/>
          <c:showSerName val="0"/>
          <c:showPercent val="0"/>
          <c:showBubbleSize val="0"/>
        </c:dLbls>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4-E3D5-3B4D-B5F6-0A7B4F64CBB6}"/>
                </c:ext>
              </c:extLst>
            </c:dLbl>
            <c:dLbl>
              <c:idx val="1"/>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5-E3D5-3B4D-B5F6-0A7B4F64CBB6}"/>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Sheet1!$F$2:$F$3</c:f>
              <c:numCache>
                <c:formatCode>0.00</c:formatCode>
                <c:ptCount val="2"/>
                <c:pt idx="0">
                  <c:v>93.25</c:v>
                </c:pt>
                <c:pt idx="1">
                  <c:v>157</c:v>
                </c:pt>
              </c:numCache>
            </c:numRef>
          </c:val>
          <c:smooth val="0"/>
          <c:extLst>
            <c:ext xmlns:c16="http://schemas.microsoft.com/office/drawing/2014/chart" uri="{C3380CC4-5D6E-409C-BE32-E72D297353CC}">
              <c16:uniqueId val="{00000006-E3D5-3B4D-B5F6-0A7B4F64CBB6}"/>
            </c:ext>
          </c:extLst>
        </c:ser>
        <c:dLbls>
          <c:showLegendKey val="0"/>
          <c:showVal val="0"/>
          <c:showCatName val="0"/>
          <c:showSerName val="0"/>
          <c:showPercent val="0"/>
          <c:showBubbleSize val="0"/>
        </c:dLbls>
        <c:marker val="1"/>
        <c:smooth val="0"/>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5"/>
          <c:w val="0.76"/>
          <c:h val="0.56000000000000005"/>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8A-A64A-82B2-25811682798F}"/>
                </c:ext>
              </c:extLst>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8A-A64A-82B2-25811682798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149.93260000000001</c:v>
                </c:pt>
                <c:pt idx="1">
                  <c:v>150.06100000000001</c:v>
                </c:pt>
                <c:pt idx="2">
                  <c:v>156.471</c:v>
                </c:pt>
                <c:pt idx="3">
                  <c:v>154.5805</c:v>
                </c:pt>
                <c:pt idx="4">
                  <c:v>151.90119999999999</c:v>
                </c:pt>
                <c:pt idx="5">
                  <c:v>148.15020000000001</c:v>
                </c:pt>
                <c:pt idx="6">
                  <c:v>146.202</c:v>
                </c:pt>
                <c:pt idx="7">
                  <c:v>144.89840000000001</c:v>
                </c:pt>
                <c:pt idx="8">
                  <c:v>145.59360000000001</c:v>
                </c:pt>
                <c:pt idx="9">
                  <c:v>145.34379999999999</c:v>
                </c:pt>
                <c:pt idx="10">
                  <c:v>146.5076</c:v>
                </c:pt>
              </c:numCache>
            </c:numRef>
          </c:val>
          <c:smooth val="0"/>
          <c:extLst>
            <c:ext xmlns:c16="http://schemas.microsoft.com/office/drawing/2014/chart" uri="{C3380CC4-5D6E-409C-BE32-E72D297353CC}">
              <c16:uniqueId val="{00000002-EA8A-A64A-82B2-25811682798F}"/>
            </c:ext>
          </c:extLst>
        </c:ser>
        <c:dLbls>
          <c:showLegendKey val="0"/>
          <c:showVal val="0"/>
          <c:showCatName val="0"/>
          <c:showSerName val="0"/>
          <c:showPercent val="0"/>
          <c:showBubbleSize val="0"/>
        </c:dLbls>
        <c:marker val="1"/>
        <c:smooth val="0"/>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8A-A64A-82B2-25811682798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c:v>
                </c:pt>
                <c:pt idx="1">
                  <c:v>16660</c:v>
                </c:pt>
                <c:pt idx="2">
                  <c:v>16690</c:v>
                </c:pt>
                <c:pt idx="3">
                  <c:v>16785</c:v>
                </c:pt>
                <c:pt idx="4">
                  <c:v>16771</c:v>
                </c:pt>
                <c:pt idx="5">
                  <c:v>16995</c:v>
                </c:pt>
                <c:pt idx="6">
                  <c:v>17353</c:v>
                </c:pt>
                <c:pt idx="7">
                  <c:v>17874</c:v>
                </c:pt>
                <c:pt idx="8">
                  <c:v>17882</c:v>
                </c:pt>
                <c:pt idx="9">
                  <c:v>18000</c:v>
                </c:pt>
                <c:pt idx="10">
                  <c:v>17720</c:v>
                </c:pt>
              </c:numCache>
            </c:numRef>
          </c:val>
          <c:smooth val="0"/>
          <c:extLst>
            <c:ext xmlns:c16="http://schemas.microsoft.com/office/drawing/2014/chart" uri="{C3380CC4-5D6E-409C-BE32-E72D297353CC}">
              <c16:uniqueId val="{00000004-EA8A-A64A-82B2-25811682798F}"/>
            </c:ext>
          </c:extLst>
        </c:ser>
        <c:dLbls>
          <c:showLegendKey val="0"/>
          <c:showVal val="0"/>
          <c:showCatName val="0"/>
          <c:showSerName val="0"/>
          <c:showPercent val="0"/>
          <c:showBubbleSize val="0"/>
        </c:dLbls>
        <c:marker val="1"/>
        <c:smooth val="0"/>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extLst>
              <c:ext xmlns:c16="http://schemas.microsoft.com/office/drawing/2014/chart" uri="{C3380CC4-5D6E-409C-BE32-E72D297353CC}">
                <c16:uniqueId val="{00000001-A298-0346-BBFF-A4696BFCC69C}"/>
              </c:ext>
            </c:extLst>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A298-0346-BBFF-A4696BFCC69C}"/>
                </c:ext>
              </c:extLst>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4.1980000000000004</c:v>
                </c:pt>
                <c:pt idx="1">
                  <c:v>2.3738000000000001</c:v>
                </c:pt>
                <c:pt idx="2">
                  <c:v>2.7048999999999999</c:v>
                </c:pt>
                <c:pt idx="3">
                  <c:v>2.5190999999999999</c:v>
                </c:pt>
                <c:pt idx="4">
                  <c:v>0.95430000000000004</c:v>
                </c:pt>
                <c:pt idx="5">
                  <c:v>1.2733000000000001</c:v>
                </c:pt>
                <c:pt idx="6">
                  <c:v>3.3210000000000002</c:v>
                </c:pt>
                <c:pt idx="7">
                  <c:v>8.9099999999999999E-2</c:v>
                </c:pt>
                <c:pt idx="8">
                  <c:v>-1.6102000000000001</c:v>
                </c:pt>
                <c:pt idx="9">
                  <c:v>-0.45050000000000001</c:v>
                </c:pt>
                <c:pt idx="10">
                  <c:v>0.12189999999999999</c:v>
                </c:pt>
                <c:pt idx="11">
                  <c:v>3.5522</c:v>
                </c:pt>
              </c:numCache>
            </c:numRef>
          </c:val>
          <c:extLst>
            <c:ext xmlns:c16="http://schemas.microsoft.com/office/drawing/2014/chart" uri="{C3380CC4-5D6E-409C-BE32-E72D297353CC}">
              <c16:uniqueId val="{00000002-A298-0346-BBFF-A4696BFCC69C}"/>
            </c:ext>
          </c:extLst>
        </c:ser>
        <c:dLbls>
          <c:showLegendKey val="0"/>
          <c:showVal val="0"/>
          <c:showCatName val="0"/>
          <c:showSerName val="0"/>
          <c:showPercent val="0"/>
          <c:showBubbleSize val="0"/>
        </c:dLbls>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10/7/26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10/7/26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7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7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7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7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7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7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7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7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7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7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7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7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7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7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7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7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7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7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7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7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7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7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7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7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7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7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7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7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7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7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7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7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07/10/26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07/10/26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chart" Target="../charts/chart6.xml"/><Relationship Id="rId4" Type="http://schemas.openxmlformats.org/officeDocument/2006/relationships/chart" Target="../charts/char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3885679"/>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Dalam seminggu sampai 2 Oktober, peluang suku bunga The Fed ada di 4,00% atau lebih pada Oktober turun drastis dari 64,2% ke 22,1%. Pemicunya datang dari The Fed sendiri: pada 29 September, Presiden NY Fed John Williams bilang tidak perlu buru‑buru, dan hari itu peluangnya turun dari 70,9% ke 50,9%. NFP September yang hanya +29 ribu (konsensus +90 ribu) ikut memperkuat sinyal itu. Tapi Williams juga bilang satu kenaikan lagi mungkin tepat di akhir tahun. Data CME FedWatch per 5 Oktober menunjukkan suku bunga yang diperkirakan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market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masih naik bertahap, dari 3,93% di pertemuan Oktober ke 4,12% di Desember, lalu 4,68% di akhir 2027, dan peluang 4,00% atau lebih di Desember masih 81,7%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Jadi, kenaikannya hanya di-</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delay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bukan dibatalkan.</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Jika The Fed sudah terlihat mulai lebih konservatif dalam menaikkan suku bunga,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obligasi jangka panjang akan ikut turun. Tapi kali ini kebalikannya. Di periode yang sama, UST 10YR justru naik 11,0 bps ke 5,27%. Penyebabnya ada 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yaitu “bayaran tambahan” yang diminta investor karena uangnya dipinjamkan lebih 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(model ACM) naik 14,2 bps ke 0,91%, menuju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all time high</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dalam setahun terakhir, bahkan kenaikannya lebih besar dari kenaikan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itu sendiri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Sebagian besar kenaikannya (9,5 bps) terjadi pada 29 dan 30 September, saat Williams memberi sinyal tidak buru‑buru dan PCE Agustus menunjukkan inflasi AS masih 3,4%. Investor tampaknya khawatir The Fed terlalu sabar menghadapi inflasi.</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Efeknya kelihatan jelas di obligasi 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tenor 2 tahun, yang paling sensitif terhadap The Fed, turun 2,7 bps, sementara tenor 10 tahun naik. Selisih keduanya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2s10s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pun melebar dari 30,9 bps ke 44,6 bps dalam seminggu. Peminjam jangka pendek sedikit lega, tapi bagi pemerintah dan perusahaan yang butuh dana jangka panjang, biayanya malah makin mahal. Kini biaya pinjaman tidak lagi hanya ditentukan The Fed, tapi juga “bayaran tambahan” yang diminta investor.</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Market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mulai yakin suku bunga The Fed tidak akan lebih tinggi di Oktober, tapi arah suku bunga sampai 2027 masih naik. Yang menarik,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obligasi AS 10 tahun justru naik, karena investor minta “bayaran tambahan” untuk meminjamkan uangnya lebih lama.</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extLst>
              <p:ext uri="{D42A27DB-BD31-4B8C-83A1-F6EECF244321}">
                <p14:modId xmlns:p14="http://schemas.microsoft.com/office/powerpoint/2010/main" val="2864472505"/>
              </p:ext>
            </p:extLst>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10752"/>
            <a:ext cx="6321467" cy="4054956"/>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tengah maraknya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boom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paling menikmati hasilnya justru para penjual “sekop”, yaitu produsen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 2 Oktober, SOX (indeks saham semikonduktor AS) naik 85,5% YTD, jauh di atas rata‑rata lima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hanya naik 1,5%, dan Oracle malah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Contoh terbarunya Micron, EPS kuartalnya mencapai USD 33,36, padahal setahun sebelumnya hanya di angka USD 2,86. Perkiraan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dari analis pun direvisi naik 8,5% dalam beberapa hari, dan SOX yang sempat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lagging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Q3 kembali naik 3,7% dalam seminggu.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jelas lebih suka perusahaan yang sudah benar‑benar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dari AI.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Spending on Borrowed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sisi pembeli,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AI terus membengkak.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Alphabet, Microsoft, Amazon, dan Meta naik dari USD 118,63 miliar di Q4 2025 ke USD 165,05 miliar di Q2 2026, atau +39,1%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hanya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dalam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dua kuartal.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Oracle per kuartal bahkan naik lebih dari dua kali lipat, dari USD 12,03 miliar ke USD 28,50 miliar dalam tiga kuartal. Sebagian dananya dipinjam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lewat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obligasi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Obligasi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USD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terbit sepanjang 2026 dan masih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beredar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sudah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mencapai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USD 157,00 miliar, naik 68,4% dibanding obligasi terbitan 2025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Artinya, AI ikut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menambah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demand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pinjaman</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pasar obligasi,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disaat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investor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sedang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meminta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term premium </a:t>
            </a:r>
            <a:r>
              <a:rPr lang="en-ID" sz="1100" b="0" kern="100" dirty="0">
                <a:latin typeface="Calibri" panose="020F0502020204030204" pitchFamily="34" charset="0"/>
                <a:ea typeface="Calibri" panose="020F0502020204030204" pitchFamily="34" charset="0"/>
                <a:cs typeface="Times New Roman" panose="02020603050405020304" pitchFamily="18" charset="0"/>
              </a:rPr>
              <a:t>yang</a:t>
            </a:r>
            <a:r>
              <a:rPr lang="en-ID" sz="1100" b="0" i="1"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lebih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0" i="0" kern="100" dirty="0" err="1">
                <a:latin typeface="Calibri" panose="020F0502020204030204" pitchFamily="34" charset="0"/>
                <a:ea typeface="Calibri" panose="020F0502020204030204" pitchFamily="34" charset="0"/>
                <a:cs typeface="Times New Roman" panose="02020603050405020304" pitchFamily="18" charset="0"/>
              </a:rPr>
              <a:t>tinggi</a:t>
            </a:r>
            <a:r>
              <a:rPr lang="en-ID" sz="1100" b="0" i="0" kern="100" dirty="0">
                <a:latin typeface="Calibri" panose="020F0502020204030204" pitchFamily="34" charset="0"/>
                <a:ea typeface="Calibri" panose="020F0502020204030204" pitchFamily="34" charset="0"/>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Lenders Read the 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Pemberi pinjaman tidak ikut terbawa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euphoria</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dari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boom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mereka lihat adalah kondisi keuangan tiap perusahaan.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USD yang jatuh tempo 2036 ada di kisaran 5,6% untuk Microsoft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AAA) sampai 7,5% untuk Oracle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BBB-), selisihnya sekitar 190 bps. Alasannya ada di arus kas: di kuartal yang berakhir Agustus,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free cash flow</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Oracle minus USD 5,40 miliar karena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melebihi arus kas operasinya. Pasar saham juga menunjukkan hal yang serupa. Sejak akhir Juni, saham Microsoft dan Meta naik 38,7% dan 29,3%, sementara Oracle turun 2,9% dan jadi satu‑satunya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turun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year to date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Jadi, yang terkena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punishment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oleh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bukan yang belanja untuk AI, tapi yang belanja AI dengan keuangan yang lebih lemah.</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Saat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biaya</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1" dirty="0">
                <a:latin typeface="Calibri" panose="020F0502020204030204" pitchFamily="34" charset="0"/>
                <a:ea typeface="MS Mincho" panose="02020609040205080304" pitchFamily="49" charset="-128"/>
                <a:cs typeface="Times New Roman" panose="02020603050405020304" pitchFamily="18" charset="0"/>
              </a:rPr>
              <a:t>term premium</a:t>
            </a:r>
            <a:r>
              <a:rPr lang="en-US" sz="1100" b="1" i="0" dirty="0">
                <a:latin typeface="Calibri" panose="020F0502020204030204" pitchFamily="34" charset="0"/>
                <a:ea typeface="MS Mincho" panose="02020609040205080304" pitchFamily="49" charset="-128"/>
                <a:cs typeface="Times New Roman" panose="02020603050405020304" pitchFamily="18" charset="0"/>
              </a:rPr>
              <a:t> naik, </a:t>
            </a:r>
            <a:r>
              <a:rPr lang="en-US" sz="1100" b="1" i="1" dirty="0">
                <a:latin typeface="Calibri" panose="020F0502020204030204" pitchFamily="34" charset="0"/>
                <a:ea typeface="MS Mincho" panose="02020609040205080304" pitchFamily="49" charset="-128"/>
                <a:cs typeface="Times New Roman" panose="02020603050405020304" pitchFamily="18" charset="0"/>
              </a:rPr>
              <a:t>market</a:t>
            </a:r>
            <a:r>
              <a:rPr lang="en-US" sz="1100" b="1" i="0" dirty="0">
                <a:latin typeface="Calibri" panose="020F0502020204030204" pitchFamily="34" charset="0"/>
                <a:ea typeface="MS Mincho" panose="02020609040205080304" pitchFamily="49" charset="-128"/>
                <a:cs typeface="Times New Roman" panose="02020603050405020304" pitchFamily="18" charset="0"/>
              </a:rPr>
              <a:t> mulai memilah siapa yang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diuntungkan</a:t>
            </a:r>
            <a:r>
              <a:rPr lang="en-US" sz="1100" b="1" i="0" dirty="0">
                <a:latin typeface="Calibri" panose="020F0502020204030204" pitchFamily="34" charset="0"/>
                <a:ea typeface="MS Mincho" panose="02020609040205080304" pitchFamily="49" charset="-128"/>
                <a:cs typeface="Times New Roman" panose="02020603050405020304" pitchFamily="18" charset="0"/>
              </a:rPr>
              <a:t> dari </a:t>
            </a:r>
            <a:r>
              <a:rPr lang="en-US" sz="1100" b="1" i="1" dirty="0">
                <a:latin typeface="Calibri" panose="020F0502020204030204" pitchFamily="34" charset="0"/>
                <a:ea typeface="MS Mincho" panose="02020609040205080304" pitchFamily="49" charset="-128"/>
                <a:cs typeface="Times New Roman" panose="02020603050405020304" pitchFamily="18" charset="0"/>
              </a:rPr>
              <a:t>AI boom</a:t>
            </a:r>
            <a:r>
              <a:rPr lang="en-US" sz="1100" b="1" i="0" dirty="0">
                <a:latin typeface="Calibri" panose="020F0502020204030204" pitchFamily="34" charset="0"/>
                <a:ea typeface="MS Mincho" panose="02020609040205080304" pitchFamily="49" charset="-128"/>
                <a:cs typeface="Times New Roman" panose="02020603050405020304" pitchFamily="18" charset="0"/>
              </a:rPr>
              <a:t> dan siapa yang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menanggung</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seluruh</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biayanya</a:t>
            </a:r>
            <a:r>
              <a:rPr lang="en-US" sz="1100" b="1" i="0" dirty="0">
                <a:latin typeface="Calibri" panose="020F0502020204030204" pitchFamily="34" charset="0"/>
                <a:ea typeface="MS Mincho" panose="02020609040205080304" pitchFamily="49" charset="-128"/>
                <a:cs typeface="Times New Roman" panose="02020603050405020304" pitchFamily="18" charset="0"/>
              </a:rPr>
              <a:t>. Penjual </a:t>
            </a:r>
            <a:r>
              <a:rPr lang="en-US" sz="1100" b="1" i="1" dirty="0">
                <a:latin typeface="Calibri" panose="020F0502020204030204" pitchFamily="34" charset="0"/>
                <a:ea typeface="MS Mincho" panose="02020609040205080304" pitchFamily="49" charset="-128"/>
                <a:cs typeface="Times New Roman" panose="02020603050405020304" pitchFamily="18" charset="0"/>
              </a:rPr>
              <a:t>chip</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jadi</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1" dirty="0">
                <a:latin typeface="Calibri" panose="020F0502020204030204" pitchFamily="34" charset="0"/>
                <a:ea typeface="MS Mincho" panose="02020609040205080304" pitchFamily="49" charset="-128"/>
                <a:cs typeface="Times New Roman" panose="02020603050405020304" pitchFamily="18" charset="0"/>
              </a:rPr>
              <a:t>the winners</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dengan</a:t>
            </a:r>
            <a:r>
              <a:rPr lang="en-US" sz="1100" b="1" i="0" dirty="0">
                <a:latin typeface="Calibri" panose="020F0502020204030204" pitchFamily="34" charset="0"/>
                <a:ea typeface="MS Mincho" panose="02020609040205080304" pitchFamily="49" charset="-128"/>
                <a:cs typeface="Times New Roman" panose="02020603050405020304" pitchFamily="18" charset="0"/>
              </a:rPr>
              <a:t> SOX Index naik 85,5% YTD, sementara perusahaan yang </a:t>
            </a:r>
            <a:r>
              <a:rPr lang="en-US" sz="1100" b="1" i="0" dirty="0" err="1">
                <a:latin typeface="Calibri" panose="020F0502020204030204" pitchFamily="34" charset="0"/>
                <a:ea typeface="MS Mincho" panose="02020609040205080304" pitchFamily="49" charset="-128"/>
                <a:cs typeface="Times New Roman" panose="02020603050405020304" pitchFamily="18" charset="0"/>
              </a:rPr>
              <a:t>memiliki</a:t>
            </a:r>
            <a:r>
              <a:rPr lang="en-US" sz="1100" b="1" i="0" dirty="0">
                <a:latin typeface="Calibri" panose="020F0502020204030204" pitchFamily="34" charset="0"/>
                <a:ea typeface="MS Mincho" panose="02020609040205080304" pitchFamily="49" charset="-128"/>
                <a:cs typeface="Times New Roman" panose="02020603050405020304" pitchFamily="18" charset="0"/>
              </a:rPr>
              <a:t> </a:t>
            </a:r>
            <a:r>
              <a:rPr lang="en-US" sz="1100" b="1" i="1" dirty="0">
                <a:latin typeface="Calibri" panose="020F0502020204030204" pitchFamily="34" charset="0"/>
                <a:ea typeface="MS Mincho" panose="02020609040205080304" pitchFamily="49" charset="-128"/>
                <a:cs typeface="Times New Roman" panose="02020603050405020304" pitchFamily="18" charset="0"/>
              </a:rPr>
              <a:t>capex</a:t>
            </a:r>
            <a:r>
              <a:rPr lang="en-US" sz="1100" b="1" i="0" dirty="0">
                <a:latin typeface="Calibri" panose="020F0502020204030204" pitchFamily="34" charset="0"/>
                <a:ea typeface="MS Mincho" panose="02020609040205080304" pitchFamily="49" charset="-128"/>
                <a:cs typeface="Times New Roman" panose="02020603050405020304" pitchFamily="18" charset="0"/>
              </a:rPr>
              <a:t> besar untuk AI makin bergantung pada utang obligasi.</a:t>
            </a: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extLst>
              <p:ext uri="{D42A27DB-BD31-4B8C-83A1-F6EECF244321}">
                <p14:modId xmlns:p14="http://schemas.microsoft.com/office/powerpoint/2010/main" val="1320486587"/>
              </p:ext>
            </p:extLst>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Mahalnya modal global ikut terasa di Indonesia. Rupiah memang lebih tenang di September, tapi cadangan devisa sudah hampir USD 10 miliar lebih rendah dari akhir 2025, “bonus”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SBN dibanding obligasi AS makin tipis, dan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makin kecil.</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id="{52C5CF14-D0F4-D748-D504-AD1E8F9E557D}"/>
              </a:ext>
            </a:extLst>
          </p:cNvPr>
          <p:cNvSpPr txBox="1"/>
          <p:nvPr/>
        </p:nvSpPr>
        <p:spPr>
          <a:xfrm>
            <a:off x="268267" y="2611351"/>
            <a:ext cx="6321467" cy="3795911"/>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xml:space="preserve"> Rupiah bergerak </a:t>
            </a:r>
            <a:r>
              <a:rPr lang="en-US" sz="1100" b="0" i="1" dirty="0">
                <a:ea typeface="MS Mincho" panose="02020609040205080304" pitchFamily="49" charset="-128"/>
                <a:cs typeface="Times New Roman" panose="02020603050405020304" pitchFamily="18" charset="0"/>
              </a:rPr>
              <a:t>ranging</a:t>
            </a:r>
            <a:r>
              <a:rPr lang="en-US" sz="1100" b="0" i="0" dirty="0">
                <a:ea typeface="MS Mincho" panose="02020609040205080304" pitchFamily="49" charset="-128"/>
                <a:cs typeface="Times New Roman" panose="02020603050405020304" pitchFamily="18" charset="0"/>
              </a:rPr>
              <a:t xml:space="preserve"> di USD/IDR 17.513–17.975 sepanjang September dan ditutup di 17.875 per 2 Oktober, lebih baik dari </a:t>
            </a:r>
            <a:r>
              <a:rPr lang="en-US" sz="1100" b="0" i="1" dirty="0">
                <a:ea typeface="MS Mincho" panose="02020609040205080304" pitchFamily="49" charset="-128"/>
                <a:cs typeface="Times New Roman" panose="02020603050405020304" pitchFamily="18" charset="0"/>
              </a:rPr>
              <a:t>all time high</a:t>
            </a:r>
            <a:r>
              <a:rPr lang="en-US" sz="1100" b="0" i="0" dirty="0">
                <a:ea typeface="MS Mincho" panose="02020609040205080304" pitchFamily="49" charset="-128"/>
                <a:cs typeface="Times New Roman" panose="02020603050405020304" pitchFamily="18" charset="0"/>
              </a:rPr>
              <a:t xml:space="preserve">-nya di 18.178 pada Juni. Salah satu penopangnya adalah dana asing: kepemilikan asing di SBN naik dari Rp 885,65 triliun di akhir Juni ke Rp 917,71 triliun per 4 September, tertinggi dalam setahun. Tapi di balik itu semua, cadangan devisa Indonesia turun USD 9,96 miliar dari akhir 2025 ke USD 146,51 miliar per Agustus, dan sempat USD 144,90 miliar di bulan Mei, yang menurut BI karena pembayaran utang luar negeri pemerintah dan stabilisasi rupiah. Rupiah sendiri masih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Dengan cadangan devisa yang semakin menipis, ruang untuk menahan </a:t>
            </a:r>
            <a:r>
              <a:rPr lang="en-US" sz="1100" b="0" i="1" dirty="0">
                <a:ea typeface="MS Mincho" panose="02020609040205080304" pitchFamily="49" charset="-128"/>
                <a:cs typeface="Times New Roman" panose="02020603050405020304" pitchFamily="18" charset="0"/>
              </a:rPr>
              <a:t>volatility</a:t>
            </a:r>
            <a:r>
              <a:rPr lang="en-US" sz="1100" b="0" i="0" dirty="0">
                <a:ea typeface="MS Mincho" panose="02020609040205080304" pitchFamily="49" charset="-128"/>
                <a:cs typeface="Times New Roman" panose="02020603050405020304" pitchFamily="18" charset="0"/>
              </a:rPr>
              <a:t xml:space="preserve"> berikutnya juga semakin berat.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xml:space="preserve"> Kabar baiknya datang dari </a:t>
            </a:r>
            <a:r>
              <a:rPr lang="en-US" sz="1100" b="0" i="1" dirty="0">
                <a:ea typeface="MS Mincho" panose="02020609040205080304" pitchFamily="49" charset="-128"/>
                <a:cs typeface="Times New Roman" panose="02020603050405020304" pitchFamily="18" charset="0"/>
              </a:rPr>
              <a:t>trade balance</a:t>
            </a:r>
            <a:r>
              <a:rPr lang="en-US" sz="1100" b="0" i="0" dirty="0">
                <a:ea typeface="MS Mincho" panose="02020609040205080304" pitchFamily="49" charset="-128"/>
                <a:cs typeface="Times New Roman" panose="02020603050405020304" pitchFamily="18" charset="0"/>
              </a:rPr>
              <a:t xml:space="preserve"> Indonesia.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Agustus naik ke USD 3,55 miliar dari hanya USD 0,12 miliar di Juli, tertinggi sejak September 2025, setelah sempat defisit di Mei dan 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Pemicunya impor yang turun USD 3,03 miliar dari Juli, sementara ekspor hanya naik USD 0,39 miliar. Tapi satu bulan memiliki performa yang baik belum bisa mengubah gambaran besarnya. Total surplus 12 bulan terakhir hanya USD 19,05 miliar, kurang dari separuh 12 bulan sebelumnya (USD 41,67 miliar), dan surplus Januari sampai Agustus 2026 turun 75,3% ke USD 7,25 miliar karena impor tumbuh 19,84% YoY, jauh di atas ekspor (4,74%). Surplus ini dapat membantu rupiah untuk sementara, tapi belum berarti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xml:space="preserve"> membaik secara menyeluruh.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Less Room.</a:t>
            </a:r>
            <a:r>
              <a:rPr lang="en-US" sz="1100" b="0" i="0" dirty="0">
                <a:ea typeface="MS Mincho" panose="02020609040205080304" pitchFamily="49" charset="-128"/>
                <a:cs typeface="Times New Roman" panose="02020603050405020304" pitchFamily="18" charset="0"/>
              </a:rPr>
              <a:t xml:space="preserve"> Masalahnya, “bonus” memegang SBN makin tipis.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dan obligasi AS tenor 10 tahun turun dari 298 bps pada 11 Juni ke 190 bps per 2 Oktober, karena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obligasi AS naik 81 bps sementara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turun 27,9 bps. Padahal, risiko pelemahan rupiah masih belum mereda. Inflasi September juga naik ke 3,28% dari 2,88% di Juli, mendekati batas atas target BI di 3,5%, sehingga </a:t>
            </a:r>
            <a:r>
              <a:rPr lang="en-US" sz="1100" b="0" i="1" dirty="0">
                <a:ea typeface="MS Mincho" panose="02020609040205080304" pitchFamily="49" charset="-128"/>
                <a:cs typeface="Times New Roman" panose="02020603050405020304" pitchFamily="18" charset="0"/>
              </a:rPr>
              <a:t>real yield</a:t>
            </a:r>
            <a:r>
              <a:rPr lang="en-US" sz="1100" b="0" i="0" dirty="0">
                <a:ea typeface="MS Mincho" panose="02020609040205080304" pitchFamily="49" charset="-128"/>
                <a:cs typeface="Times New Roman" panose="02020603050405020304" pitchFamily="18" charset="0"/>
              </a:rPr>
              <a:t xml:space="preserve"> SBN bersisa sekitar 3,9%. Tidak heran BI menahan BI‑Rate di 5,75% pada 23 September demi menjaga rupiah, dan Indonesia perlu menawarkan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lebih tinggi agar dana asing bertahan.</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val="20000"/>
                    </a:ext>
                  </a:extLst>
                </a:gridCol>
                <a:gridCol w="659929">
                  <a:extLst>
                    <a:ext uri="{9D8B030D-6E8A-4147-A177-3AD203B41FA5}">
                      <a16:colId xmlns:a16="http://schemas.microsoft.com/office/drawing/2014/main" val="20001"/>
                    </a:ext>
                  </a:extLst>
                </a:gridCol>
                <a:gridCol w="427011">
                  <a:extLst>
                    <a:ext uri="{9D8B030D-6E8A-4147-A177-3AD203B41FA5}">
                      <a16:colId xmlns:a16="http://schemas.microsoft.com/office/drawing/2014/main" val="20002"/>
                    </a:ext>
                  </a:extLst>
                </a:gridCol>
                <a:gridCol w="427011">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val="20000"/>
                    </a:ext>
                  </a:extLst>
                </a:gridCol>
                <a:gridCol w="659927">
                  <a:extLst>
                    <a:ext uri="{9D8B030D-6E8A-4147-A177-3AD203B41FA5}">
                      <a16:colId xmlns:a16="http://schemas.microsoft.com/office/drawing/2014/main" val="20001"/>
                    </a:ext>
                  </a:extLst>
                </a:gridCol>
                <a:gridCol w="427012">
                  <a:extLst>
                    <a:ext uri="{9D8B030D-6E8A-4147-A177-3AD203B41FA5}">
                      <a16:colId xmlns:a16="http://schemas.microsoft.com/office/drawing/2014/main" val="20002"/>
                    </a:ext>
                  </a:extLst>
                </a:gridCol>
                <a:gridCol w="427012">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val="20000"/>
                    </a:ext>
                  </a:extLst>
                </a:gridCol>
                <a:gridCol w="457994">
                  <a:extLst>
                    <a:ext uri="{9D8B030D-6E8A-4147-A177-3AD203B41FA5}">
                      <a16:colId xmlns:a16="http://schemas.microsoft.com/office/drawing/2014/main" val="20001"/>
                    </a:ext>
                  </a:extLst>
                </a:gridCol>
                <a:gridCol w="457994">
                  <a:extLst>
                    <a:ext uri="{9D8B030D-6E8A-4147-A177-3AD203B41FA5}">
                      <a16:colId xmlns:a16="http://schemas.microsoft.com/office/drawing/2014/main" val="20002"/>
                    </a:ext>
                  </a:extLst>
                </a:gridCol>
                <a:gridCol w="457994">
                  <a:extLst>
                    <a:ext uri="{9D8B030D-6E8A-4147-A177-3AD203B41FA5}">
                      <a16:colId xmlns:a16="http://schemas.microsoft.com/office/drawing/2014/main" val="20003"/>
                    </a:ext>
                  </a:extLst>
                </a:gridCol>
                <a:gridCol w="457994">
                  <a:extLst>
                    <a:ext uri="{9D8B030D-6E8A-4147-A177-3AD203B41FA5}">
                      <a16:colId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2"/>
                  </a:ext>
                </a:extLst>
              </a:tr>
            </a:tbl>
          </a:graphicData>
        </a:graphic>
      </p:graphicFrame>
      <p:grpSp>
        <p:nvGrpSpPr>
          <p:cNvPr id="20" name="Group 19">
            <a:extLst>
              <a:ext uri="{FF2B5EF4-FFF2-40B4-BE49-F238E27FC236}">
                <a16:creationId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5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val="3984479303"/>
                    </a:ext>
                  </a:extLst>
                </a:gridCol>
                <a:gridCol w="490011">
                  <a:extLst>
                    <a:ext uri="{9D8B030D-6E8A-4147-A177-3AD203B41FA5}">
                      <a16:colId xmlns:a16="http://schemas.microsoft.com/office/drawing/2014/main" val="1443360456"/>
                    </a:ext>
                  </a:extLst>
                </a:gridCol>
                <a:gridCol w="543467">
                  <a:extLst>
                    <a:ext uri="{9D8B030D-6E8A-4147-A177-3AD203B41FA5}">
                      <a16:colId xmlns:a16="http://schemas.microsoft.com/office/drawing/2014/main" val="3887741517"/>
                    </a:ext>
                  </a:extLst>
                </a:gridCol>
                <a:gridCol w="490011">
                  <a:extLst>
                    <a:ext uri="{9D8B030D-6E8A-4147-A177-3AD203B41FA5}">
                      <a16:colId xmlns:a16="http://schemas.microsoft.com/office/drawing/2014/main" val="474306127"/>
                    </a:ext>
                  </a:extLst>
                </a:gridCol>
                <a:gridCol w="490011">
                  <a:extLst>
                    <a:ext uri="{9D8B030D-6E8A-4147-A177-3AD203B41FA5}">
                      <a16:colId xmlns:a16="http://schemas.microsoft.com/office/drawing/2014/main" val="3509474900"/>
                    </a:ext>
                  </a:extLst>
                </a:gridCol>
                <a:gridCol w="490011">
                  <a:extLst>
                    <a:ext uri="{9D8B030D-6E8A-4147-A177-3AD203B41FA5}">
                      <a16:colId xmlns:a16="http://schemas.microsoft.com/office/drawing/2014/main" val="1189944801"/>
                    </a:ext>
                  </a:extLst>
                </a:gridCol>
                <a:gridCol w="474419">
                  <a:extLst>
                    <a:ext uri="{9D8B030D-6E8A-4147-A177-3AD203B41FA5}">
                      <a16:colId xmlns:a16="http://schemas.microsoft.com/office/drawing/2014/main" val="149569299"/>
                    </a:ext>
                  </a:extLst>
                </a:gridCol>
                <a:gridCol w="474419">
                  <a:extLst>
                    <a:ext uri="{9D8B030D-6E8A-4147-A177-3AD203B41FA5}">
                      <a16:colId xmlns:a16="http://schemas.microsoft.com/office/drawing/2014/main" val="432537367"/>
                    </a:ext>
                  </a:extLst>
                </a:gridCol>
                <a:gridCol w="474419">
                  <a:extLst>
                    <a:ext uri="{9D8B030D-6E8A-4147-A177-3AD203B41FA5}">
                      <a16:colId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2569539944"/>
                  </a:ext>
                </a:extLst>
              </a:tr>
            </a:tbl>
          </a:graphicData>
        </a:graphic>
      </p:graphicFrame>
      <p:graphicFrame>
        <p:nvGraphicFramePr>
          <p:cNvPr id="13" name="Table 12">
            <a:extLst>
              <a:ext uri="{FF2B5EF4-FFF2-40B4-BE49-F238E27FC236}">
                <a16:creationId xmlns:a16="http://schemas.microsoft.com/office/drawing/2014/main" id="{631383FA-742C-FAA0-6E10-A0E2EB999ADC}"/>
              </a:ext>
            </a:extLst>
          </p:cNvPr>
          <p:cNvGraphicFramePr>
            <a:graphicFrameLocks noGrp="1"/>
          </p:cNvGraphicFramePr>
          <p:nvPr/>
        </p:nvGraphicFramePr>
        <p:xfrm>
          <a:off x="327025" y="4818425"/>
          <a:ext cx="6327775" cy="2892450"/>
        </p:xfrm>
        <a:graphic>
          <a:graphicData uri="http://schemas.openxmlformats.org/drawingml/2006/table">
            <a:tbl>
              <a:tblPr/>
              <a:tblGrid>
                <a:gridCol w="1240350">
                  <a:extLst>
                    <a:ext uri="{9D8B030D-6E8A-4147-A177-3AD203B41FA5}">
                      <a16:colId xmlns:a16="http://schemas.microsoft.com/office/drawing/2014/main" val="20000"/>
                    </a:ext>
                  </a:extLst>
                </a:gridCol>
                <a:gridCol w="2275081">
                  <a:extLst>
                    <a:ext uri="{9D8B030D-6E8A-4147-A177-3AD203B41FA5}">
                      <a16:colId xmlns:a16="http://schemas.microsoft.com/office/drawing/2014/main" val="20001"/>
                    </a:ext>
                  </a:extLst>
                </a:gridCol>
                <a:gridCol w="937448">
                  <a:extLst>
                    <a:ext uri="{9D8B030D-6E8A-4147-A177-3AD203B41FA5}">
                      <a16:colId xmlns:a16="http://schemas.microsoft.com/office/drawing/2014/main" val="20002"/>
                    </a:ext>
                  </a:extLst>
                </a:gridCol>
                <a:gridCol w="937448">
                  <a:extLst>
                    <a:ext uri="{9D8B030D-6E8A-4147-A177-3AD203B41FA5}">
                      <a16:colId xmlns:a16="http://schemas.microsoft.com/office/drawing/2014/main" val="20003"/>
                    </a:ext>
                  </a:extLst>
                </a:gridCol>
                <a:gridCol w="937448">
                  <a:extLst>
                    <a:ext uri="{9D8B030D-6E8A-4147-A177-3AD203B41FA5}">
                      <a16:colId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0786800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2023283864"/>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83588552"/>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009071441"/>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636673274"/>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4091166241"/>
                  </a:ext>
                </a:extLst>
              </a:tr>
            </a:tbl>
          </a:graphicData>
        </a:graphic>
      </p:graphicFrame>
      <p:pic>
        <p:nvPicPr>
          <p:cNvPr id="2097157" name="Picture 15">
            <a:extLst>
              <a:ext uri="{FF2B5EF4-FFF2-40B4-BE49-F238E27FC236}">
                <a16:creationId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5 October 2026</a:t>
            </a:r>
          </a:p>
        </p:txBody>
      </p:sp>
      <p:sp>
        <p:nvSpPr>
          <p:cNvPr id="2" name="TextBox 1">
            <a:extLst>
              <a:ext uri="{FF2B5EF4-FFF2-40B4-BE49-F238E27FC236}">
                <a16:creationId xmlns:a16="http://schemas.microsoft.com/office/drawing/2014/main"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2s10s</a:t>
            </a:r>
            <a:r>
              <a:rPr lang="en-US" sz="1050" b="0" i="0" dirty="0"/>
              <a:t>: selisih </a:t>
            </a:r>
            <a:r>
              <a:rPr lang="en-US" sz="1050" b="0" i="1" dirty="0"/>
              <a:t>yield</a:t>
            </a:r>
            <a:r>
              <a:rPr lang="en-US" sz="1050" b="0" i="0" dirty="0"/>
              <a:t> UST tenor 10 tahun dan 2 tahun.</a:t>
            </a:r>
          </a:p>
          <a:p>
            <a:pPr marL="342900" indent="-342900" algn="just">
              <a:spcBef>
                <a:spcPts val="600"/>
              </a:spcBef>
              <a:buFont typeface="Arial" panose="020B0604020202020204" pitchFamily="34" charset="0"/>
              <a:buChar char="•"/>
              <a:tabLst>
                <a:tab pos="457200" algn="l"/>
              </a:tabLst>
            </a:pPr>
            <a:r>
              <a:rPr lang="en-US" sz="1050" b="0" i="0" dirty="0"/>
              <a:t>ACM: model NY Fed untuk memecah </a:t>
            </a:r>
            <a:r>
              <a:rPr lang="en-US" sz="1050" b="0" i="1" dirty="0"/>
              <a:t>yield</a:t>
            </a:r>
            <a:r>
              <a:rPr lang="en-US" sz="1050" b="0" i="0" dirty="0"/>
              <a:t> jadi ekspektasi suku bunga dan </a:t>
            </a:r>
            <a:r>
              <a:rPr lang="en-US" sz="1050" b="0" i="1" dirty="0"/>
              <a:t>term premium</a:t>
            </a:r>
            <a:r>
              <a:rPr lang="en-US" sz="1050" b="0" i="0" dirty="0"/>
              <a:t>.</a:t>
            </a:r>
          </a:p>
          <a:p>
            <a:pPr marL="342900" indent="-342900" algn="just">
              <a:spcBef>
                <a:spcPts val="600"/>
              </a:spcBef>
              <a:buFont typeface="Arial" panose="020B0604020202020204" pitchFamily="34" charset="0"/>
              <a:buChar char="•"/>
              <a:tabLst>
                <a:tab pos="457200" algn="l"/>
              </a:tabLst>
            </a:pPr>
            <a:r>
              <a:rPr lang="en-US" sz="1050" b="0" i="1" dirty="0"/>
              <a:t>Bonds outstanding</a:t>
            </a:r>
            <a:r>
              <a:rPr lang="en-US" sz="1050" b="0" i="0" dirty="0"/>
              <a:t>: nilai pokok obligasi yang masih beredar.</a:t>
            </a:r>
          </a:p>
          <a:p>
            <a:pPr marL="342900" indent="-342900" algn="just">
              <a:spcBef>
                <a:spcPts val="600"/>
              </a:spcBef>
              <a:buFont typeface="Arial" panose="020B0604020202020204" pitchFamily="34" charset="0"/>
              <a:buChar char="•"/>
              <a:tabLst>
                <a:tab pos="457200" algn="l"/>
              </a:tabLst>
            </a:pPr>
            <a:r>
              <a:rPr lang="en-US" sz="1050" b="0" i="1" dirty="0"/>
              <a:t>Capex</a:t>
            </a:r>
            <a:r>
              <a:rPr lang="en-US" sz="1050" b="0" i="0" dirty="0"/>
              <a:t>: belanja modal untuk aset jangka panjang, seperti </a:t>
            </a:r>
            <a:r>
              <a:rPr lang="en-US" sz="1050" b="0" i="1" dirty="0"/>
              <a:t>data center</a:t>
            </a:r>
            <a:r>
              <a:rPr lang="en-US" sz="1050" b="0" i="0" dirty="0"/>
              <a:t> dan </a:t>
            </a:r>
            <a:r>
              <a:rPr lang="en-US" sz="1050" b="0" i="1" dirty="0"/>
              <a:t>chip</a:t>
            </a:r>
            <a:r>
              <a:rPr lang="en-US" sz="1050" b="0" i="0" dirty="0"/>
              <a:t>.</a:t>
            </a:r>
          </a:p>
          <a:p>
            <a:pPr marL="342900" indent="-342900" algn="just">
              <a:spcBef>
                <a:spcPts val="600"/>
              </a:spcBef>
              <a:buFont typeface="Arial" panose="020B0604020202020204" pitchFamily="34" charset="0"/>
              <a:buChar char="•"/>
              <a:tabLst>
                <a:tab pos="457200" algn="l"/>
              </a:tabLst>
            </a:pPr>
            <a:r>
              <a:rPr lang="en-US" sz="1050" b="0" i="0" dirty="0"/>
              <a:t>CME FedWatch: alat CME Group yang menghitung peluang suku bunga The Fed per rapat.</a:t>
            </a:r>
          </a:p>
          <a:p>
            <a:pPr marL="342900" indent="-342900" algn="just">
              <a:spcBef>
                <a:spcPts val="600"/>
              </a:spcBef>
              <a:buFont typeface="Arial" panose="020B0604020202020204" pitchFamily="34" charset="0"/>
              <a:buChar char="•"/>
              <a:tabLst>
                <a:tab pos="457200" algn="l"/>
              </a:tabLst>
            </a:pPr>
            <a:r>
              <a:rPr lang="en-US" sz="1050" b="0" i="1" dirty="0"/>
              <a:t>Current account</a:t>
            </a:r>
            <a:r>
              <a:rPr lang="en-US" sz="1050" b="0" i="0" dirty="0"/>
              <a:t>: transaksi berjalan (neraca barang, jasa, pendapatan primer, dan sekunder).</a:t>
            </a:r>
          </a:p>
          <a:p>
            <a:pPr marL="342900" indent="-342900" algn="just">
              <a:spcBef>
                <a:spcPts val="600"/>
              </a:spcBef>
              <a:buFont typeface="Arial" panose="020B0604020202020204" pitchFamily="34" charset="0"/>
              <a:buChar char="•"/>
              <a:tabLst>
                <a:tab pos="457200" algn="l"/>
              </a:tabLst>
            </a:pPr>
            <a:r>
              <a:rPr lang="en-US" sz="1050" b="0" i="1" dirty="0"/>
              <a:t>Earnings Per Share</a:t>
            </a:r>
            <a:r>
              <a:rPr lang="en-US" sz="1050" b="0" i="0" dirty="0"/>
              <a:t> (EPS): laba per lembar saham.</a:t>
            </a:r>
          </a:p>
          <a:p>
            <a:pPr marL="342900" indent="-342900" algn="just">
              <a:spcBef>
                <a:spcPts val="600"/>
              </a:spcBef>
              <a:buFont typeface="Arial" panose="020B0604020202020204" pitchFamily="34" charset="0"/>
              <a:buChar char="•"/>
              <a:tabLst>
                <a:tab pos="457200" algn="l"/>
              </a:tabLst>
            </a:pPr>
            <a:r>
              <a:rPr lang="en-US" sz="1050" b="0" i="1" dirty="0"/>
              <a:t>Hyperscalers</a:t>
            </a:r>
            <a:r>
              <a:rPr lang="en-US" sz="1050" b="0" i="0" dirty="0"/>
              <a:t>: penyedia </a:t>
            </a:r>
            <a:r>
              <a:rPr lang="en-US" sz="1050" b="0" i="1" dirty="0"/>
              <a:t>cloud</a:t>
            </a:r>
            <a:r>
              <a:rPr lang="en-US" sz="1050" b="0" i="0" dirty="0"/>
              <a:t> raksasa (Alphabet, Amazon, Microsoft, Meta, dan Oracle).</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a:t>
            </a:r>
            <a:r>
              <a:rPr lang="en-US" sz="1050" b="0" i="1" dirty="0"/>
              <a:t>yield</a:t>
            </a:r>
            <a:r>
              <a:rPr lang="en-US" sz="1050" b="0" i="0" dirty="0"/>
              <a:t> nominal dikurangi inflasi.</a:t>
            </a:r>
          </a:p>
          <a:p>
            <a:pPr marL="342900" indent="-342900" algn="just">
              <a:spcBef>
                <a:spcPts val="600"/>
              </a:spcBef>
              <a:buFont typeface="Arial" panose="020B0604020202020204" pitchFamily="34" charset="0"/>
              <a:buChar char="•"/>
              <a:tabLst>
                <a:tab pos="457200" algn="l"/>
              </a:tabLst>
            </a:pPr>
            <a:r>
              <a:rPr lang="en-US" sz="1050" b="0" i="0" dirty="0"/>
              <a:t>SOX (</a:t>
            </a:r>
            <a:r>
              <a:rPr lang="en-US" sz="1050" b="0" i="1" dirty="0"/>
              <a:t>Philadelphia Semiconductor Index</a:t>
            </a:r>
            <a:r>
              <a:rPr lang="en-US" sz="1050" b="0" i="0" dirty="0"/>
              <a:t>): indeks 30 saham semikonduktor terbesar di AS.</a:t>
            </a:r>
          </a:p>
          <a:p>
            <a:pPr marL="342900" indent="-342900" algn="just">
              <a:spcBef>
                <a:spcPts val="600"/>
              </a:spcBef>
              <a:buFont typeface="Arial" panose="020B0604020202020204" pitchFamily="34" charset="0"/>
              <a:buChar char="•"/>
              <a:tabLst>
                <a:tab pos="457200" algn="l"/>
              </a:tabLst>
            </a:pPr>
            <a:r>
              <a:rPr lang="en-US" sz="1050" b="0" i="1" dirty="0"/>
              <a:t>Term premium</a:t>
            </a:r>
            <a:r>
              <a:rPr lang="en-US" sz="1050" b="0" i="0" dirty="0"/>
              <a:t>: imbal hasil tambahan untuk memegang obligasi bertenor panjang.</a:t>
            </a:r>
          </a:p>
          <a:p>
            <a:pPr marL="342900" indent="-342900" algn="just">
              <a:spcBef>
                <a:spcPts val="600"/>
              </a:spcBef>
              <a:buFont typeface="Arial" panose="020B0604020202020204" pitchFamily="34" charset="0"/>
              <a:buChar char="•"/>
              <a:tabLst>
                <a:tab pos="457200" algn="l"/>
              </a:tabLst>
            </a:pPr>
            <a:r>
              <a:rPr lang="en-US" sz="1050" b="0" i="0" dirty="0"/>
              <a:t>The Fed: bank sentral AS.</a:t>
            </a:r>
          </a:p>
          <a:p>
            <a:pPr marL="342900" indent="-342900" algn="just">
              <a:spcBef>
                <a:spcPts val="600"/>
              </a:spcBef>
              <a:buFont typeface="Arial" panose="020B0604020202020204" pitchFamily="34" charset="0"/>
              <a:buChar char="•"/>
              <a:tabLst>
                <a:tab pos="457200" algn="l"/>
              </a:tabLst>
            </a:pPr>
            <a:r>
              <a:rPr lang="en-US" sz="1050" b="0" i="1" dirty="0"/>
              <a:t>Trade surplus</a:t>
            </a:r>
            <a:r>
              <a:rPr lang="en-US" sz="1050" b="0" i="0" dirty="0"/>
              <a:t>: kondisi ketika nilai ekspor lebih besar dari impor.</a:t>
            </a:r>
          </a:p>
          <a:p>
            <a:pPr marL="342900" indent="-342900" algn="just">
              <a:spcBef>
                <a:spcPts val="600"/>
              </a:spcBef>
              <a:buFont typeface="Arial" panose="020B0604020202020204" pitchFamily="34" charset="0"/>
              <a:buChar char="•"/>
              <a:tabLst>
                <a:tab pos="457200" algn="l"/>
              </a:tabLst>
            </a:pPr>
            <a:r>
              <a:rPr lang="en-US" sz="1050" b="0" i="1" dirty="0"/>
              <a:t>US Treasury</a:t>
            </a:r>
            <a:r>
              <a:rPr lang="en-US" sz="1050" b="0" i="0" dirty="0"/>
              <a:t> (UST): obligasi pemerintah AS.</a:t>
            </a:r>
          </a:p>
          <a:p>
            <a:pPr marL="342900" indent="-342900" algn="just">
              <a:spcBef>
                <a:spcPts val="600"/>
              </a:spcBef>
              <a:buFont typeface="Arial" panose="020B0604020202020204" pitchFamily="34" charset="0"/>
              <a:buChar char="•"/>
              <a:tabLst>
                <a:tab pos="457200" algn="l"/>
              </a:tabLst>
            </a:pPr>
            <a:r>
              <a:rPr lang="en-US" sz="1050" b="0" i="1" dirty="0"/>
              <a:t>Yield</a:t>
            </a:r>
            <a:r>
              <a:rPr lang="en-US" sz="1050" b="0" i="0" dirty="0"/>
              <a:t>: mengacu pada </a:t>
            </a:r>
            <a:r>
              <a:rPr lang="en-US" sz="1050" b="0" i="1" dirty="0"/>
              <a:t>Yield-To-Maturity</a:t>
            </a:r>
            <a:r>
              <a:rPr lang="en-US" sz="1050" b="0" i="0" dirty="0"/>
              <a:t> (YTM), yang didefinisikan sebagai total tingkat pengembalian obligasi jika dipegang hingga jatuh tempo.</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5716</TotalTime>
  <Words>2950</Words>
  <Application>Microsoft Macintosh PowerPoint</Application>
  <PresentationFormat>On-screen Show (4:3)</PresentationFormat>
  <Paragraphs>563</Paragraphs>
  <Slides>6</Slides>
  <Notes>6</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6</vt:i4>
      </vt:variant>
    </vt:vector>
  </HeadingPairs>
  <TitlesOfParts>
    <vt:vector size="16"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2406</cp:revision>
  <dcterms:created xsi:type="dcterms:W3CDTF">2018-10-24T01:42:20Z</dcterms:created>
  <dcterms:modified xsi:type="dcterms:W3CDTF">2026-10-07T06:03:21Z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