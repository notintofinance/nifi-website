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9" autoAdjust="0"/>
    <p:restoredTop sz="94660"/>
  </p:normalViewPr>
  <p:slideViewPr>
    <p:cSldViewPr snapToGrid="0">
      <p:cViewPr>
        <p:scale>
          <a:sx n="100" d="100"/>
          <a:sy n="100" d="100"/>
        </p:scale>
        <p:origin x="1686" y="-102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9/29/2026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9/29/2026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 xmlns:a16="http://schemas.microsoft.com/office/drawing/2014/main" id="{CFC85132-1EE1-D730-B15B-EDFAAF6B127B}"/>
              </a:ext>
            </a:extLst>
          </p:cNvPr>
          <p:cNvSpPr>
            <a:spLocks noGrp="1" noRot="1" noChangeAspect="1"/>
          </p:cNvSpPr>
          <p:nvPr>
            <p:ph type="sldImg"/>
          </p:nvPr>
        </p:nvSpPr>
        <p:spPr/>
      </p:sp>
      <p:sp>
        <p:nvSpPr>
          <p:cNvPr id="1048634" name="Notes Placeholder 2">
            <a:extLst>
              <a:ext uri="{FF2B5EF4-FFF2-40B4-BE49-F238E27FC236}">
                <a16:creationId xmlns="" xmlns:a16="http://schemas.microsoft.com/office/drawing/2014/main"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 xmlns:a16="http://schemas.microsoft.com/office/drawing/2014/main"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29 September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29 September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29 September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29 September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29 September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29 September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29 September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29 September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29 September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29 September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29 September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29 September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29 September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29 September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29 September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29 September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29 September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29 September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29 September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29 September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29 September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29 September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29 September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29 September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29 September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29 September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29 September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29 September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29 September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29 September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29 September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29 September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29/09/2026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A3D354-8BCD-AEA6-8291-770CF570A6FA}"/>
            </a:ext>
          </a:extLst>
        </p:cNvPr>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The Fed Blinks, Bonds Don’t</a:t>
            </a:r>
          </a:p>
        </p:txBody>
      </p:sp>
      <p:sp>
        <p:nvSpPr>
          <p:cNvPr id="1048600" name="Rectangle 1" hidden="1">
            <a:extLst>
              <a:ext uri="{FF2B5EF4-FFF2-40B4-BE49-F238E27FC236}">
                <a16:creationId xmlns:a16="http://schemas.microsoft.com/office/drawing/2014/main" xmlns=""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176D383B-253F-73B0-7483-5820625180BC}"/>
              </a:ext>
            </a:extLst>
          </p:cNvPr>
          <p:cNvSpPr txBox="1"/>
          <p:nvPr/>
        </p:nvSpPr>
        <p:spPr>
          <a:xfrm>
            <a:off x="267148" y="2641487"/>
            <a:ext cx="6321467" cy="4152328"/>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October Is Dead, December Isn’t.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Pasar hampir menghapus peluang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Fed hike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Oktober, tetapi belum berani menyatakan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tightening cycle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selesai. Ekspektasi tersebut berubah setelah komentar pejabat The Fed yang lebih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cautious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inflasi PCE Agustus yang lebih rendah dari perkiraan, serta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nonfarm payrolls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September ([XX K]) yang menunjukkan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hiring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mulai kehilangan momentum. Namun,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core inflation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masih di atas target dan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consumer spending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tetap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resilient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sehingga pelemahan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demand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belum cukup besar untuk membuka ruang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dovish pivot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Alhasil, pasar lebih banyak menggeser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timing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kenaikan berikutnya dari Oktober ke Desember, bukan menghapus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tightening risk</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sepenuhnya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Fed Is Losing the Long End.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Ekspektasi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Fed hike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turun tajam, tetapi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bond market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tidak memberikan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relief</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yang sama pada biaya pendanaan jangka panjang. UST 10YR tetap tertahan di [XX%] meskipun peluang kenaikan Oktober menurun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Tekanan serupa terlihat pada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sovereign bonds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di beberapa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developed markets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Artinya,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long-end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semakin dipengaruhi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fiscal risk</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sovereign issuance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competition for capital</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bukan hanya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expected Fed Funds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Alhasil,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lower policy risk</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belum diterjemahkan menjadi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meaningful easing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pada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financial conditions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Oil Supply Is Back. Cheap Oil Isn’t.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Pasokan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crude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Timur Tengah mulai pulih, tetapi biaya energi belum kembali normal. Pemulihan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physical supply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masih dihadapkan pada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tanker attacks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freight costs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insurance costs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bottleneck</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logistik yang menjaga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delivered oil costs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tetap tinggi. Artinya, tekanan inflasi energi dapat bertahan meskipun risiko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shortage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pada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crude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mulai berkurang. Alhasil,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energy inflation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tetap menjadi salah satu faktor yang membatasi ruang The Fed untuk berubah terlalu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dovish</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a:t>
            </a:r>
          </a:p>
          <a:p>
            <a:pPr marL="0" indent="0" algn="just">
              <a:lnSpc>
                <a:spcPct val="100000"/>
              </a:lnSpc>
              <a:spcBef>
                <a:spcPts val="0"/>
              </a:spcBef>
              <a:spcAft>
                <a:spcPts val="0"/>
              </a:spcAft>
              <a:buNone/>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Bottom Line: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Pasar memisahkan risiko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Fed hike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jangka pendek dari risiko inflasi dan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long-term yields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Oktober nyaris tertutup, tetapi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fiscal pressure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energy costs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membuat kondisi keuangan tetap ketat.</a:t>
            </a:r>
          </a:p>
        </p:txBody>
      </p:sp>
      <p:sp>
        <p:nvSpPr>
          <p:cNvPr id="5" name="TextBox 14">
            <a:extLst>
              <a:ext uri="{FF2B5EF4-FFF2-40B4-BE49-F238E27FC236}">
                <a16:creationId xmlns:a16="http://schemas.microsoft.com/office/drawing/2014/main" xmlns=""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Inflasi dan tenaga kerja AS yang melemah hampir menghapus risiko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Fed hike</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Oktober, tetapi kenaikan Desember masih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heavily priced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Sementara itu,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long-end 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tetap tinggi akibat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fiscal risk</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term premium</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dan tekanan energi, sehingga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financial conditions</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belum banyak melonggar.</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xmlns="" id="{9364F82B-6A7E-C001-7CA3-8B7539E1A9F3}"/>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Fed Rate Hike Probability by FOMC Meeting (%)</a:t>
            </a:r>
          </a:p>
        </p:txBody>
      </p:sp>
      <p:sp>
        <p:nvSpPr>
          <p:cNvPr id="16" name="Rectangle 15">
            <a:extLst>
              <a:ext uri="{FF2B5EF4-FFF2-40B4-BE49-F238E27FC236}">
                <a16:creationId xmlns:a16="http://schemas.microsoft.com/office/drawing/2014/main" xmlns="" id="{521BD689-A1BE-2C80-CD40-347502682528}"/>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October Fed Hike Probability vs. UST 10YR Yield (%)</a:t>
            </a:r>
          </a:p>
        </p:txBody>
      </p:sp>
      <p:sp>
        <p:nvSpPr>
          <p:cNvPr id="17" name="TextBox 16">
            <a:extLst>
              <a:ext uri="{FF2B5EF4-FFF2-40B4-BE49-F238E27FC236}">
                <a16:creationId xmlns:a16="http://schemas.microsoft.com/office/drawing/2014/main" xmlns=""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18" name="TextBox 17">
            <a:extLst>
              <a:ext uri="{FF2B5EF4-FFF2-40B4-BE49-F238E27FC236}">
                <a16:creationId xmlns:a16="http://schemas.microsoft.com/office/drawing/2014/main" xmlns=""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8" name="TextBox 16">
            <a:extLst>
              <a:ext uri="{FF2B5EF4-FFF2-40B4-BE49-F238E27FC236}">
                <a16:creationId xmlns:a16="http://schemas.microsoft.com/office/drawing/2014/main" xmlns=""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sp>
        <p:nvSpPr>
          <p:cNvPr id="1048601" name="Exhibit 1 Placeholder"/>
          <p:cNvSpPr/>
          <p:nvPr/>
        </p:nvSpPr>
        <p:spPr>
          <a:xfrm>
            <a:off x="354579"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sp>
        <p:nvSpPr>
          <p:cNvPr id="1048602" name="Exhibit 2 Placeholder"/>
          <p:cNvSpPr/>
          <p:nvPr/>
        </p:nvSpPr>
        <p:spPr>
          <a:xfrm>
            <a:off x="3530765"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pic>
        <p:nvPicPr>
          <p:cNvPr id="26"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Tree>
    <p:extLst>
      <p:ext uri="{BB962C8B-B14F-4D97-AF65-F5344CB8AC3E}">
        <p14:creationId xmlns:p14="http://schemas.microsoft.com/office/powerpoint/2010/main" val="20214989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9C8450-D8E1-A3AC-0F5B-7FC7E6284222}"/>
            </a:ext>
          </a:extLst>
        </p:cNvPr>
        <p:cNvGrpSpPr/>
        <p:nvPr/>
      </p:nvGrpSpPr>
      <p:grpSpPr>
        <a:xfrm>
          <a:off x="0" y="0"/>
          <a:ext cx="0" cy="0"/>
          <a:chOff x="0" y="0"/>
          <a:chExt cx="0" cy="0"/>
        </a:xfrm>
      </p:grpSpPr>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Investors Are Buying the Index, Not the Market</a:t>
            </a:r>
            <a:endParaRPr lang="en-US" b="1" i="1" dirty="0"/>
          </a:p>
        </p:txBody>
      </p:sp>
      <p:sp>
        <p:nvSpPr>
          <p:cNvPr id="1048600" name="Rectangle 1" hidden="1">
            <a:extLst>
              <a:ext uri="{FF2B5EF4-FFF2-40B4-BE49-F238E27FC236}">
                <a16:creationId xmlns:a16="http://schemas.microsoft.com/office/drawing/2014/main" xmlns=""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97971A31-5694-E124-772C-CCCC3C1B53FF}"/>
              </a:ext>
            </a:extLst>
          </p:cNvPr>
          <p:cNvSpPr txBox="1"/>
          <p:nvPr/>
        </p:nvSpPr>
        <p:spPr>
          <a:xfrm>
            <a:off x="267148" y="2610752"/>
            <a:ext cx="6321467" cy="418306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Big Money, Narrow Door.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Investor masih menambah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exposure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US equities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conviction</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semakin terkonsentrasi pada segelintir saham.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Weekly fund flows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menunjukkan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net inflow</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([USD XX bn]), namun sebagian besar dana masuk ke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large-cap funds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sementara beberapa kategori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sector funds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melemah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Pola ini menunjukkan investor belum berada dalam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broad risk-on mode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lebih memilih perusahaan dengan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scale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balance sheet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kuat,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 visibility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tinggi. Alhasil,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headline inflow</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positif justru menyembunyikan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market leadership</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semakin sempit.</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AI Is Becoming Its Own Rate Problem.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AI yang selama ini menopang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equity 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mulai menciptakan tekanan baru melalui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bond 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Hyperscalers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terus menambah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funding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untuk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data centers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compute capacity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chips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infrastructure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sehingga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corporate bond supply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meningkat ketika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sovereign funding needs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masih besar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Kondisi ini memperketat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competition for capital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menjaga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long-term funding costs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tinggi. Alhasil, AI kini bekerja dua arah: mendukung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growth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sisi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equity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tetapi menambah tekanan pada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cost of capital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melalui pasar obligasi.</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Good Earnings Are No Longer Enough.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Saat ekspektasi sudah tinggi, kinerja di atas konsensus tidak lagi cukup menghasilkan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upside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besar. Micron menunjukkan kuatnya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demand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melalui kinerja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guidance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atas ekspektasi, tetapi respons saham yang terbatas ([XX%] dalam sepekan) menunjukkan optimisme sudah tercermin dalam valuasi. Dengan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long-term yields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elevated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investor akan mencermati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guidance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 visibility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kemampuan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menghasilkan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return</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memadai. Alhasil,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fundamental delivery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harus semakin kuat untuk mempertahankan valuasi premium.</a:t>
            </a:r>
          </a:p>
          <a:p>
            <a:pPr marL="0" indent="0" algn="just">
              <a:lnSpc>
                <a:spcPct val="100000"/>
              </a:lnSpc>
              <a:spcBef>
                <a:spcPts val="0"/>
              </a:spcBef>
              <a:spcAft>
                <a:spcPts val="0"/>
              </a:spcAft>
              <a:buNone/>
            </a:pPr>
            <a:r>
              <a:rPr lang="en-ID" sz="1100" b="1" i="1" kern="100" dirty="0">
                <a:latin typeface="Calibri" panose="020F0502020204030204" pitchFamily="34" charset="0"/>
                <a:ea typeface="Calibri" panose="020F0502020204030204" pitchFamily="34" charset="0"/>
                <a:cs typeface="Times New Roman" panose="02020603050405020304" pitchFamily="18" charset="0"/>
              </a:rPr>
              <a:t>Bottom Line: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Dana belum keluar dari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US equities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tetapi terkonsentrasi pada emiten dengan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 visibility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terbaik. AI tetap menjadi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growth driver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namun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rising funding costs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menaikkan standar valuasi.</a:t>
            </a:r>
          </a:p>
        </p:txBody>
      </p:sp>
      <p:sp>
        <p:nvSpPr>
          <p:cNvPr id="5" name="TextBox 14">
            <a:extLst>
              <a:ext uri="{FF2B5EF4-FFF2-40B4-BE49-F238E27FC236}">
                <a16:creationId xmlns:a16="http://schemas.microsoft.com/office/drawing/2014/main" xmlns=""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Dana masih masuk ke </a:t>
            </a:r>
            <a:r>
              <a:rPr lang="en-US" sz="1100" b="1" dirty="0" i="1">
                <a:latin typeface="Calibri" panose="020F0502020204030204" pitchFamily="34" charset="0"/>
                <a:ea typeface="MS Mincho" panose="02020609040205080304" pitchFamily="49" charset="-128"/>
                <a:cs typeface="Times New Roman" panose="02020603050405020304" pitchFamily="18" charset="0"/>
              </a:rPr>
              <a:t>US equities</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meskipun </a:t>
            </a:r>
            <a:r>
              <a:rPr lang="en-US" sz="1100" b="1" dirty="0" i="1">
                <a:latin typeface="Calibri" panose="020F0502020204030204" pitchFamily="34" charset="0"/>
                <a:ea typeface="MS Mincho" panose="02020609040205080304" pitchFamily="49" charset="-128"/>
                <a:cs typeface="Times New Roman" panose="02020603050405020304" pitchFamily="18" charset="0"/>
              </a:rPr>
              <a:t>bond yields</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meningkat, tetapi alirannya semakin terkonsentrasi pada </a:t>
            </a:r>
            <a:r>
              <a:rPr lang="en-US" sz="1100" b="1" dirty="0" i="1">
                <a:latin typeface="Calibri" panose="020F0502020204030204" pitchFamily="34" charset="0"/>
                <a:ea typeface="MS Mincho" panose="02020609040205080304" pitchFamily="49" charset="-128"/>
                <a:cs typeface="Times New Roman" panose="02020603050405020304" pitchFamily="18" charset="0"/>
              </a:rPr>
              <a:t>large caps</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Di saat yang sama, besarnya kebutuhan pendanaan AI mulai mendorong naik </a:t>
            </a:r>
            <a:r>
              <a:rPr lang="en-US" sz="1100" b="1" dirty="0" i="1">
                <a:latin typeface="Calibri" panose="020F0502020204030204" pitchFamily="34" charset="0"/>
                <a:ea typeface="MS Mincho" panose="02020609040205080304" pitchFamily="49" charset="-128"/>
                <a:cs typeface="Times New Roman" panose="02020603050405020304" pitchFamily="18" charset="0"/>
              </a:rPr>
              <a:t>cost of capital</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membuat </a:t>
            </a:r>
            <a:r>
              <a:rPr lang="en-US" sz="1100" b="1" dirty="0" i="1">
                <a:latin typeface="Calibri" panose="020F0502020204030204" pitchFamily="34" charset="0"/>
                <a:ea typeface="MS Mincho" panose="02020609040205080304" pitchFamily="49" charset="-128"/>
                <a:cs typeface="Times New Roman" panose="02020603050405020304" pitchFamily="18" charset="0"/>
              </a:rPr>
              <a:t>earnings delivery</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semakin penting.</a:t>
            </a:r>
          </a:p>
        </p:txBody>
      </p:sp>
      <p:sp>
        <p:nvSpPr>
          <p:cNvPr id="23" name="Rectangle 22">
            <a:extLst>
              <a:ext uri="{FF2B5EF4-FFF2-40B4-BE49-F238E27FC236}">
                <a16:creationId xmlns:a16="http://schemas.microsoft.com/office/drawing/2014/main" xmlns="" id="{9BEC99D9-435F-04D4-A2BA-741342AE43A5}"/>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Hyperscaler Debt Issuance (USD Bn)</a:t>
            </a:r>
            <a:endParaRPr lang="en-US" sz="1100" b="1" i="1" dirty="0"/>
          </a:p>
        </p:txBody>
      </p:sp>
      <p:sp>
        <p:nvSpPr>
          <p:cNvPr id="19" name="Rectangle 18">
            <a:extLst>
              <a:ext uri="{FF2B5EF4-FFF2-40B4-BE49-F238E27FC236}">
                <a16:creationId xmlns:a16="http://schemas.microsoft.com/office/drawing/2014/main" xmlns="" id="{3695F0D5-4618-1656-ADB9-93963C68CFB1}"/>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US Equity Fund Flows by Category (USD Bn)</a:t>
            </a:r>
          </a:p>
        </p:txBody>
      </p:sp>
      <p:grpSp>
        <p:nvGrpSpPr>
          <p:cNvPr id="10" name="Group 9">
            <a:extLst>
              <a:ext uri="{FF2B5EF4-FFF2-40B4-BE49-F238E27FC236}">
                <a16:creationId xmlns:a16="http://schemas.microsoft.com/office/drawing/2014/main" xmlns=""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xmlns=""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xmlns="" id="{FA3E071E-8624-2961-6E00-0A1F6DC56878}"/>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xmlns=""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xmlns=""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14" name="TextBox 13">
            <a:extLst>
              <a:ext uri="{FF2B5EF4-FFF2-40B4-BE49-F238E27FC236}">
                <a16:creationId xmlns:a16="http://schemas.microsoft.com/office/drawing/2014/main" xmlns=""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2097155" name="Exhibit 3 Placeholder"/>
          <p:cNvSpPr/>
          <p:nvPr/>
        </p:nvSpPr>
        <p:spPr>
          <a:xfrm>
            <a:off x="354579"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sp>
        <p:nvSpPr>
          <p:cNvPr id="2097156" name="Exhibit 4 Placeholder"/>
          <p:cNvSpPr/>
          <p:nvPr/>
        </p:nvSpPr>
        <p:spPr>
          <a:xfrm>
            <a:off x="3530765"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spTree>
    <p:extLst>
      <p:ext uri="{BB962C8B-B14F-4D97-AF65-F5344CB8AC3E}">
        <p14:creationId xmlns:p14="http://schemas.microsoft.com/office/powerpoint/2010/main" val="32276553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BI meningkatkan pembelian SBN untuk menjaga likuiditas domestik ketika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global yields</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tetap tinggi. Namun, tekanan masih terlihat pada rupiah dan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foreign flow</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sementara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trade surplus</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yang membaik baru memberikan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temporary buffer</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bagi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external balance</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Liquidity Has a Price</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xmlns=""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xmlns=""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xmlns="" id="{60793C5F-EED1-6682-2354-7CF814B4F19A}"/>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xmlns=""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xmlns=""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xmlns=""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BI] ([DD Month 2026])</a:t>
            </a:r>
          </a:p>
        </p:txBody>
      </p:sp>
      <p:sp>
        <p:nvSpPr>
          <p:cNvPr id="21" name="TextBox 20">
            <a:extLst>
              <a:ext uri="{FF2B5EF4-FFF2-40B4-BE49-F238E27FC236}">
                <a16:creationId xmlns:a16="http://schemas.microsoft.com/office/drawing/2014/main" xmlns=""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4" name="Rectangle 3">
            <a:extLst>
              <a:ext uri="{FF2B5EF4-FFF2-40B4-BE49-F238E27FC236}">
                <a16:creationId xmlns:a16="http://schemas.microsoft.com/office/drawing/2014/main" xmlns="" id="{24BA601E-CB3D-A1C3-5BED-3DF78B2CC1CC}"/>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BI Government Bond Purchases vs. USD/IDR</a:t>
            </a:r>
          </a:p>
        </p:txBody>
      </p:sp>
      <p:sp>
        <p:nvSpPr>
          <p:cNvPr id="6" name="Rectangle 5">
            <a:extLst>
              <a:ext uri="{FF2B5EF4-FFF2-40B4-BE49-F238E27FC236}">
                <a16:creationId xmlns:a16="http://schemas.microsoft.com/office/drawing/2014/main" xmlns="" id="{174864D4-F972-8D31-BF83-DD3AB7C2372F}"/>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Indonesia Trade Balance (USD Bn)</a:t>
            </a:r>
          </a:p>
        </p:txBody>
      </p:sp>
      <p:sp>
        <p:nvSpPr>
          <p:cNvPr id="22" name="Kotak Teks 18">
            <a:extLst>
              <a:ext uri="{FF2B5EF4-FFF2-40B4-BE49-F238E27FC236}">
                <a16:creationId xmlns:a16="http://schemas.microsoft.com/office/drawing/2014/main" xmlns="" id="{52C5CF14-D0F4-D748-D504-AD1E8F9E557D}"/>
              </a:ext>
            </a:extLst>
          </p:cNvPr>
          <p:cNvSpPr txBox="1"/>
          <p:nvPr/>
        </p:nvSpPr>
        <p:spPr>
          <a:xfrm>
            <a:off x="268267" y="2611351"/>
            <a:ext cx="6321467" cy="4182464"/>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Bond Market Has a Buyer.</a:t>
            </a:r>
            <a:r>
              <a:rPr lang="en-US" sz="1100" b="0" i="0" dirty="0">
                <a:ea typeface="MS Mincho" panose="02020609040205080304" pitchFamily="49" charset="-128"/>
                <a:cs typeface="Times New Roman" panose="02020603050405020304" pitchFamily="18" charset="0"/>
              </a:rPr>
              <a:t xml:space="preserve"> Ketika </a:t>
            </a:r>
            <a:r>
              <a:rPr lang="en-US" sz="1100" b="0" i="1" dirty="0">
                <a:ea typeface="MS Mincho" panose="02020609040205080304" pitchFamily="49" charset="-128"/>
                <a:cs typeface="Times New Roman" panose="02020603050405020304" pitchFamily="18" charset="0"/>
              </a:rPr>
              <a:t>global investors</a:t>
            </a:r>
            <a:r>
              <a:rPr lang="en-US" sz="1100" b="0" i="0" dirty="0">
                <a:ea typeface="MS Mincho" panose="02020609040205080304" pitchFamily="49" charset="-128"/>
                <a:cs typeface="Times New Roman" panose="02020603050405020304" pitchFamily="18" charset="0"/>
              </a:rPr>
              <a:t xml:space="preserve"> meminta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lebih tinggi, BI semakin aktif menjaga likuiditas melalui pembelian SBN di pasar domestik ([IDR XX tn] YTD). Langkah ini meredam tekanan pada </a:t>
            </a:r>
            <a:r>
              <a:rPr lang="en-US" sz="1100" b="0" i="1" dirty="0">
                <a:ea typeface="MS Mincho" panose="02020609040205080304" pitchFamily="49" charset="-128"/>
                <a:cs typeface="Times New Roman" panose="02020603050405020304" pitchFamily="18" charset="0"/>
              </a:rPr>
              <a:t>domestic funding conditions</a:t>
            </a:r>
            <a:r>
              <a:rPr lang="en-US" sz="1100" b="0" i="0" dirty="0">
                <a:ea typeface="MS Mincho" panose="02020609040205080304" pitchFamily="49" charset="-128"/>
                <a:cs typeface="Times New Roman" panose="02020603050405020304" pitchFamily="18" charset="0"/>
              </a:rPr>
              <a:t xml:space="preserve"> dan menjaga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SBN relatif stabil, tetapi rupiah tetap sensitif terhadap UST dan harga energi. Alhasil, ketika </a:t>
            </a:r>
            <a:r>
              <a:rPr lang="en-US" sz="1100" b="0" i="1" dirty="0">
                <a:ea typeface="MS Mincho" panose="02020609040205080304" pitchFamily="49" charset="-128"/>
                <a:cs typeface="Times New Roman" panose="02020603050405020304" pitchFamily="18" charset="0"/>
              </a:rPr>
              <a:t>adjustment</a:t>
            </a:r>
            <a:r>
              <a:rPr lang="en-US" sz="1100" b="0" i="0" dirty="0">
                <a:ea typeface="MS Mincho" panose="02020609040205080304" pitchFamily="49" charset="-128"/>
                <a:cs typeface="Times New Roman" panose="02020603050405020304" pitchFamily="18" charset="0"/>
              </a:rPr>
              <a:t xml:space="preserve"> di pasar obligasi diredam oleh </a:t>
            </a:r>
            <a:r>
              <a:rPr lang="en-US" sz="1100" b="0" i="1" dirty="0">
                <a:ea typeface="MS Mincho" panose="02020609040205080304" pitchFamily="49" charset="-128"/>
                <a:cs typeface="Times New Roman" panose="02020603050405020304" pitchFamily="18" charset="0"/>
              </a:rPr>
              <a:t>liquidity support</a:t>
            </a:r>
            <a:r>
              <a:rPr lang="en-US" sz="1100" b="0" i="0" dirty="0">
                <a:ea typeface="MS Mincho" panose="02020609040205080304" pitchFamily="49" charset="-128"/>
                <a:cs typeface="Times New Roman" panose="02020603050405020304" pitchFamily="18" charset="0"/>
              </a:rPr>
              <a:t xml:space="preserve">, sebagian tekanan berpotensi berpindah ke </a:t>
            </a:r>
            <a:r>
              <a:rPr lang="en-US" sz="1100" b="0" i="1" dirty="0">
                <a:ea typeface="MS Mincho" panose="02020609040205080304" pitchFamily="49" charset="-128"/>
                <a:cs typeface="Times New Roman" panose="02020603050405020304" pitchFamily="18" charset="0"/>
              </a:rPr>
              <a:t>FX market</a:t>
            </a:r>
            <a:r>
              <a:rPr lang="en-US" sz="1100" b="0" i="0" dirty="0">
                <a:ea typeface="MS Mincho" panose="02020609040205080304" pitchFamily="49" charset="-128"/>
                <a:cs typeface="Times New Roman" panose="02020603050405020304" pitchFamily="18" charset="0"/>
              </a:rPr>
              <a:t xml:space="preserve"> </a:t>
            </a:r>
            <a:r>
              <a:rPr lang="en-US" sz="1100" b="1" i="0" dirty="0">
                <a:ea typeface="MS Mincho" panose="02020609040205080304" pitchFamily="49" charset="-128"/>
                <a:cs typeface="Times New Roman" panose="02020603050405020304" pitchFamily="18" charset="0"/>
              </a:rPr>
              <a:t>(Exhibit 5).</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Surplus Buys Time, Not Safety.</a:t>
            </a:r>
            <a:r>
              <a:rPr lang="en-US" sz="1100" b="0" i="0" dirty="0">
                <a:ea typeface="MS Mincho" panose="02020609040205080304" pitchFamily="49" charset="-128"/>
                <a:cs typeface="Times New Roman" panose="02020603050405020304" pitchFamily="18" charset="0"/>
              </a:rPr>
              <a:t xml:space="preserve">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xml:space="preserve"> Agustus yang naik ke [USD XX bn] menambah </a:t>
            </a:r>
            <a:r>
              <a:rPr lang="en-US" sz="1100" b="0" i="1" dirty="0">
                <a:ea typeface="MS Mincho" panose="02020609040205080304" pitchFamily="49" charset="-128"/>
                <a:cs typeface="Times New Roman" panose="02020603050405020304" pitchFamily="18" charset="0"/>
              </a:rPr>
              <a:t>external buffer</a:t>
            </a:r>
            <a:r>
              <a:rPr lang="en-US" sz="1100" b="0" i="0" dirty="0">
                <a:ea typeface="MS Mincho" panose="02020609040205080304" pitchFamily="49" charset="-128"/>
                <a:cs typeface="Times New Roman" panose="02020603050405020304" pitchFamily="18" charset="0"/>
              </a:rPr>
              <a:t xml:space="preserve"> rupiah, tetapi kualitasnya tidak sekuat </a:t>
            </a:r>
            <a:r>
              <a:rPr lang="en-US" sz="1100" b="0" i="1" dirty="0">
                <a:ea typeface="MS Mincho" panose="02020609040205080304" pitchFamily="49" charset="-128"/>
                <a:cs typeface="Times New Roman" panose="02020603050405020304" pitchFamily="18" charset="0"/>
              </a:rPr>
              <a:t>headline</a:t>
            </a:r>
            <a:r>
              <a:rPr lang="en-US" sz="1100" b="0" i="0" dirty="0">
                <a:ea typeface="MS Mincho" panose="02020609040205080304" pitchFamily="49" charset="-128"/>
                <a:cs typeface="Times New Roman" panose="02020603050405020304" pitchFamily="18" charset="0"/>
              </a:rPr>
              <a:t xml:space="preserve">. Ekspor masih tumbuh, namun </a:t>
            </a:r>
            <a:r>
              <a:rPr lang="en-US" sz="1100" b="0" i="1" dirty="0">
                <a:ea typeface="MS Mincho" panose="02020609040205080304" pitchFamily="49" charset="-128"/>
                <a:cs typeface="Times New Roman" panose="02020603050405020304" pitchFamily="18" charset="0"/>
              </a:rPr>
              <a:t>surprise</a:t>
            </a:r>
            <a:r>
              <a:rPr lang="en-US" sz="1100" b="0" i="0" dirty="0">
                <a:ea typeface="MS Mincho" panose="02020609040205080304" pitchFamily="49" charset="-128"/>
                <a:cs typeface="Times New Roman" panose="02020603050405020304" pitchFamily="18" charset="0"/>
              </a:rPr>
              <a:t xml:space="preserve"> terutama datang dari impor yang jauh di bawah ekspektasi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Ini belum menandakan perbaikan struktural </a:t>
            </a:r>
            <a:r>
              <a:rPr lang="en-US" sz="1100" b="0" i="1" dirty="0">
                <a:ea typeface="MS Mincho" panose="02020609040205080304" pitchFamily="49" charset="-128"/>
                <a:cs typeface="Times New Roman" panose="02020603050405020304" pitchFamily="18" charset="0"/>
              </a:rPr>
              <a:t>current account</a:t>
            </a:r>
            <a:r>
              <a:rPr lang="en-US" sz="1100" b="0" i="0" dirty="0">
                <a:ea typeface="MS Mincho" panose="02020609040205080304" pitchFamily="49" charset="-128"/>
                <a:cs typeface="Times New Roman" panose="02020603050405020304" pitchFamily="18" charset="0"/>
              </a:rPr>
              <a:t xml:space="preserve">, apalagi saat harga minyak tinggi berpotensi menambah </a:t>
            </a:r>
            <a:r>
              <a:rPr lang="en-US" sz="1100" b="0" i="1" dirty="0">
                <a:ea typeface="MS Mincho" panose="02020609040205080304" pitchFamily="49" charset="-128"/>
                <a:cs typeface="Times New Roman" panose="02020603050405020304" pitchFamily="18" charset="0"/>
              </a:rPr>
              <a:t>import bill</a:t>
            </a:r>
            <a:r>
              <a:rPr lang="en-US" sz="1100" b="0" i="0" dirty="0">
                <a:ea typeface="MS Mincho" panose="02020609040205080304" pitchFamily="49" charset="-128"/>
                <a:cs typeface="Times New Roman" panose="02020603050405020304" pitchFamily="18" charset="0"/>
              </a:rPr>
              <a:t xml:space="preserve">. Alhasil,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xml:space="preserve"> lebih banyak membeli waktu bagi rupiah, bukan menghapus </a:t>
            </a:r>
            <a:r>
              <a:rPr lang="en-US" sz="1100" b="0" i="1" dirty="0">
                <a:ea typeface="MS Mincho" panose="02020609040205080304" pitchFamily="49" charset="-128"/>
                <a:cs typeface="Times New Roman" panose="02020603050405020304" pitchFamily="18" charset="0"/>
              </a:rPr>
              <a:t>external vulnerability</a:t>
            </a:r>
            <a:r>
              <a:rPr lang="en-US" sz="1100" b="0" i="0" dirty="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Inflation Gives BI Room, Markets Take It Away.</a:t>
            </a:r>
            <a:r>
              <a:rPr lang="en-US" sz="1100" b="0" i="0" dirty="0">
                <a:ea typeface="MS Mincho" panose="02020609040205080304" pitchFamily="49" charset="-128"/>
                <a:cs typeface="Times New Roman" panose="02020603050405020304" pitchFamily="18" charset="0"/>
              </a:rPr>
              <a:t xml:space="preserve"> </a:t>
            </a:r>
            <a:r>
              <a:rPr lang="en-US" sz="1100" b="0" i="1" dirty="0">
                <a:ea typeface="MS Mincho" panose="02020609040205080304" pitchFamily="49" charset="-128"/>
                <a:cs typeface="Times New Roman" panose="02020603050405020304" pitchFamily="18" charset="0"/>
              </a:rPr>
              <a:t>Core inflation</a:t>
            </a:r>
            <a:r>
              <a:rPr lang="en-US" sz="1100" b="0" i="0" dirty="0">
                <a:ea typeface="MS Mincho" panose="02020609040205080304" pitchFamily="49" charset="-128"/>
                <a:cs typeface="Times New Roman" panose="02020603050405020304" pitchFamily="18" charset="0"/>
              </a:rPr>
              <a:t xml:space="preserve"> September yang terkendali ([XX%] YoY) menunjukkan </a:t>
            </a:r>
            <a:r>
              <a:rPr lang="en-US" sz="1100" b="0" i="1" dirty="0">
                <a:ea typeface="MS Mincho" panose="02020609040205080304" pitchFamily="49" charset="-128"/>
                <a:cs typeface="Times New Roman" panose="02020603050405020304" pitchFamily="18" charset="0"/>
              </a:rPr>
              <a:t>domestic demand</a:t>
            </a:r>
            <a:r>
              <a:rPr lang="en-US" sz="1100" b="0" i="0" dirty="0">
                <a:ea typeface="MS Mincho" panose="02020609040205080304" pitchFamily="49" charset="-128"/>
                <a:cs typeface="Times New Roman" panose="02020603050405020304" pitchFamily="18" charset="0"/>
              </a:rPr>
              <a:t xml:space="preserve"> belum memicu </a:t>
            </a:r>
            <a:r>
              <a:rPr lang="en-US" sz="1100" b="0" i="1" dirty="0">
                <a:ea typeface="MS Mincho" panose="02020609040205080304" pitchFamily="49" charset="-128"/>
                <a:cs typeface="Times New Roman" panose="02020603050405020304" pitchFamily="18" charset="0"/>
              </a:rPr>
              <a:t>overheating</a:t>
            </a:r>
            <a:r>
              <a:rPr lang="en-US" sz="1100" b="0" i="0" dirty="0">
                <a:ea typeface="MS Mincho" panose="02020609040205080304" pitchFamily="49" charset="-128"/>
                <a:cs typeface="Times New Roman" panose="02020603050405020304" pitchFamily="18" charset="0"/>
              </a:rPr>
              <a:t xml:space="preserve">, meski tekanan </a:t>
            </a:r>
            <a:r>
              <a:rPr lang="en-US" sz="1100" b="0" i="1" dirty="0">
                <a:ea typeface="MS Mincho" panose="02020609040205080304" pitchFamily="49" charset="-128"/>
                <a:cs typeface="Times New Roman" panose="02020603050405020304" pitchFamily="18" charset="0"/>
              </a:rPr>
              <a:t>wholesale</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input prices</a:t>
            </a:r>
            <a:r>
              <a:rPr lang="en-US" sz="1100" b="0" i="0" dirty="0">
                <a:ea typeface="MS Mincho" panose="02020609040205080304" pitchFamily="49" charset="-128"/>
                <a:cs typeface="Times New Roman" panose="02020603050405020304" pitchFamily="18" charset="0"/>
              </a:rPr>
              <a:t xml:space="preserve"> menandakan </a:t>
            </a:r>
            <a:r>
              <a:rPr lang="en-US" sz="1100" b="0" i="1" dirty="0">
                <a:ea typeface="MS Mincho" panose="02020609040205080304" pitchFamily="49" charset="-128"/>
                <a:cs typeface="Times New Roman" panose="02020603050405020304" pitchFamily="18" charset="0"/>
              </a:rPr>
              <a:t>imported inflation</a:t>
            </a:r>
            <a:r>
              <a:rPr lang="en-US" sz="1100" b="0" i="0" dirty="0">
                <a:ea typeface="MS Mincho" panose="02020609040205080304" pitchFamily="49" charset="-128"/>
                <a:cs typeface="Times New Roman" panose="02020603050405020304" pitchFamily="18" charset="0"/>
              </a:rPr>
              <a:t xml:space="preserve"> belum hilang. Dengan rupiah yang sensitif terhadap </a:t>
            </a:r>
            <a:r>
              <a:rPr lang="en-US" sz="1100" b="0" i="1" dirty="0">
                <a:ea typeface="MS Mincho" panose="02020609040205080304" pitchFamily="49" charset="-128"/>
                <a:cs typeface="Times New Roman" panose="02020603050405020304" pitchFamily="18" charset="0"/>
              </a:rPr>
              <a:t>global yields</a:t>
            </a:r>
            <a:r>
              <a:rPr lang="en-US" sz="1100" b="0" i="0" dirty="0">
                <a:ea typeface="MS Mincho" panose="02020609040205080304" pitchFamily="49" charset="-128"/>
                <a:cs typeface="Times New Roman" panose="02020603050405020304" pitchFamily="18" charset="0"/>
              </a:rPr>
              <a:t xml:space="preserve"> dan harga energi, </a:t>
            </a:r>
            <a:r>
              <a:rPr lang="en-US" sz="1100" b="0" i="1" dirty="0">
                <a:ea typeface="MS Mincho" panose="02020609040205080304" pitchFamily="49" charset="-128"/>
                <a:cs typeface="Times New Roman" panose="02020603050405020304" pitchFamily="18" charset="0"/>
              </a:rPr>
              <a:t>policy constraint</a:t>
            </a:r>
            <a:r>
              <a:rPr lang="en-US" sz="1100" b="0" i="0" dirty="0">
                <a:ea typeface="MS Mincho" panose="02020609040205080304" pitchFamily="49" charset="-128"/>
                <a:cs typeface="Times New Roman" panose="02020603050405020304" pitchFamily="18" charset="0"/>
              </a:rPr>
              <a:t xml:space="preserve"> BI lebih banyak datang dari </a:t>
            </a:r>
            <a:r>
              <a:rPr lang="en-US" sz="1100" b="0" i="1" dirty="0">
                <a:ea typeface="MS Mincho" panose="02020609040205080304" pitchFamily="49" charset="-128"/>
                <a:cs typeface="Times New Roman" panose="02020603050405020304" pitchFamily="18" charset="0"/>
              </a:rPr>
              <a:t>external stability</a:t>
            </a:r>
            <a:r>
              <a:rPr lang="en-US" sz="1100" b="0" i="0" dirty="0">
                <a:ea typeface="MS Mincho" panose="02020609040205080304" pitchFamily="49" charset="-128"/>
                <a:cs typeface="Times New Roman" panose="02020603050405020304" pitchFamily="18" charset="0"/>
              </a:rPr>
              <a:t xml:space="preserve">. Alhasil, ruang </a:t>
            </a:r>
            <a:r>
              <a:rPr lang="en-US" sz="1100" b="0" i="1" dirty="0">
                <a:ea typeface="MS Mincho" panose="02020609040205080304" pitchFamily="49" charset="-128"/>
                <a:cs typeface="Times New Roman" panose="02020603050405020304" pitchFamily="18" charset="0"/>
              </a:rPr>
              <a:t>easing</a:t>
            </a:r>
            <a:r>
              <a:rPr lang="en-US" sz="1100" b="0" i="0" dirty="0">
                <a:ea typeface="MS Mincho" panose="02020609040205080304" pitchFamily="49" charset="-128"/>
                <a:cs typeface="Times New Roman" panose="02020603050405020304" pitchFamily="18" charset="0"/>
              </a:rPr>
              <a:t xml:space="preserve"> tetap terbatas meskipun inflasi domestik bukan masalah utama.</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Good Macro, Bad Tape.</a:t>
            </a:r>
            <a:r>
              <a:rPr lang="en-US" sz="1100" b="0" i="0" dirty="0">
                <a:ea typeface="MS Mincho" panose="02020609040205080304" pitchFamily="49" charset="-128"/>
                <a:cs typeface="Times New Roman" panose="02020603050405020304" pitchFamily="18" charset="0"/>
              </a:rPr>
              <a:t xml:space="preserve"> Data makro membaik, tetapi investor asing belum menunjukkan </a:t>
            </a:r>
            <a:r>
              <a:rPr lang="en-US" sz="1100" b="0" i="1" dirty="0">
                <a:ea typeface="MS Mincho" panose="02020609040205080304" pitchFamily="49" charset="-128"/>
                <a:cs typeface="Times New Roman" panose="02020603050405020304" pitchFamily="18" charset="0"/>
              </a:rPr>
              <a:t>conviction</a:t>
            </a:r>
            <a:r>
              <a:rPr lang="en-US" sz="1100" b="0" i="0" dirty="0">
                <a:ea typeface="MS Mincho" panose="02020609040205080304" pitchFamily="49" charset="-128"/>
                <a:cs typeface="Times New Roman" panose="02020603050405020304" pitchFamily="18" charset="0"/>
              </a:rPr>
              <a:t xml:space="preserve"> untuk kembali ke saham Indonesia. </a:t>
            </a:r>
            <a:r>
              <a:rPr lang="en-US" sz="1100" b="0" i="1" dirty="0">
                <a:ea typeface="MS Mincho" panose="02020609040205080304" pitchFamily="49" charset="-128"/>
                <a:cs typeface="Times New Roman" panose="02020603050405020304" pitchFamily="18" charset="0"/>
              </a:rPr>
              <a:t>Foreign selling</a:t>
            </a:r>
            <a:r>
              <a:rPr lang="en-US" sz="1100" b="0" i="0" dirty="0">
                <a:ea typeface="MS Mincho" panose="02020609040205080304" pitchFamily="49" charset="-128"/>
                <a:cs typeface="Times New Roman" panose="02020603050405020304" pitchFamily="18" charset="0"/>
              </a:rPr>
              <a:t xml:space="preserve"> ([IDR XX tn] dalam sepekan) berlanjut di saham </a:t>
            </a:r>
            <a:r>
              <a:rPr lang="en-US" sz="1100" b="0" i="1" dirty="0">
                <a:ea typeface="MS Mincho" panose="02020609040205080304" pitchFamily="49" charset="-128"/>
                <a:cs typeface="Times New Roman" panose="02020603050405020304" pitchFamily="18" charset="0"/>
              </a:rPr>
              <a:t>large-cap</a:t>
            </a:r>
            <a:r>
              <a:rPr lang="en-US" sz="1100" b="0" i="0" dirty="0">
                <a:ea typeface="MS Mincho" panose="02020609040205080304" pitchFamily="49" charset="-128"/>
                <a:cs typeface="Times New Roman" panose="02020603050405020304" pitchFamily="18" charset="0"/>
              </a:rPr>
              <a:t xml:space="preserve">, menandakan </a:t>
            </a:r>
            <a:r>
              <a:rPr lang="en-US" sz="1100" b="0" i="1" dirty="0">
                <a:ea typeface="MS Mincho" panose="02020609040205080304" pitchFamily="49" charset="-128"/>
                <a:cs typeface="Times New Roman" panose="02020603050405020304" pitchFamily="18" charset="0"/>
              </a:rPr>
              <a:t>positioning</a:t>
            </a:r>
            <a:r>
              <a:rPr lang="en-US" sz="1100" b="0" i="0" dirty="0">
                <a:ea typeface="MS Mincho" panose="02020609040205080304" pitchFamily="49" charset="-128"/>
                <a:cs typeface="Times New Roman" panose="02020603050405020304" pitchFamily="18" charset="0"/>
              </a:rPr>
              <a:t xml:space="preserve"> lebih ditentukan </a:t>
            </a:r>
            <a:r>
              <a:rPr lang="en-US" sz="1100" b="0" i="1" dirty="0">
                <a:ea typeface="MS Mincho" panose="02020609040205080304" pitchFamily="49" charset="-128"/>
                <a:cs typeface="Times New Roman" panose="02020603050405020304" pitchFamily="18" charset="0"/>
              </a:rPr>
              <a:t>global yields</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relative return</a:t>
            </a:r>
            <a:r>
              <a:rPr lang="en-US" sz="1100" b="0" i="0" dirty="0">
                <a:ea typeface="MS Mincho" panose="02020609040205080304" pitchFamily="49" charset="-128"/>
                <a:cs typeface="Times New Roman" panose="02020603050405020304" pitchFamily="18" charset="0"/>
              </a:rPr>
              <a:t xml:space="preserve">. Alhasil, pelemahan pasar mencerminkan </a:t>
            </a:r>
            <a:r>
              <a:rPr lang="en-US" sz="1100" b="0" i="1" dirty="0">
                <a:ea typeface="MS Mincho" panose="02020609040205080304" pitchFamily="49" charset="-128"/>
                <a:cs typeface="Times New Roman" panose="02020603050405020304" pitchFamily="18" charset="0"/>
              </a:rPr>
              <a:t>external pressure</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foreign flow</a:t>
            </a:r>
            <a:r>
              <a:rPr lang="en-US" sz="1100" b="0" i="0" dirty="0">
                <a:ea typeface="MS Mincho" panose="02020609040205080304" pitchFamily="49" charset="-128"/>
                <a:cs typeface="Times New Roman" panose="02020603050405020304" pitchFamily="18" charset="0"/>
              </a:rPr>
              <a:t xml:space="preserve">, bukan </a:t>
            </a:r>
            <a:r>
              <a:rPr lang="en-US" sz="1100" b="0" i="1" dirty="0">
                <a:ea typeface="MS Mincho" panose="02020609040205080304" pitchFamily="49" charset="-128"/>
                <a:cs typeface="Times New Roman" panose="02020603050405020304" pitchFamily="18" charset="0"/>
              </a:rPr>
              <a:t>deterioration</a:t>
            </a:r>
            <a:r>
              <a:rPr lang="en-US" sz="1100" b="0" i="0" dirty="0">
                <a:ea typeface="MS Mincho" panose="02020609040205080304" pitchFamily="49" charset="-128"/>
                <a:cs typeface="Times New Roman" panose="02020603050405020304" pitchFamily="18" charset="0"/>
              </a:rPr>
              <a:t xml:space="preserve"> fundamental domestik.</a:t>
            </a:r>
          </a:p>
          <a:p>
            <a:pPr marL="0" indent="0" algn="just">
              <a:lnSpc>
                <a:spcPct val="100000"/>
              </a:lnSpc>
              <a:spcBef>
                <a:spcPts val="0"/>
              </a:spcBef>
              <a:spcAft>
                <a:spcPts val="0"/>
              </a:spcAft>
              <a:buNone/>
            </a:pPr>
            <a:r>
              <a:rPr lang="en-US" sz="1100" b="1" i="1" dirty="0">
                <a:ea typeface="MS Mincho" panose="02020609040205080304" pitchFamily="49" charset="-128"/>
                <a:cs typeface="Times New Roman" panose="02020603050405020304" pitchFamily="18" charset="0"/>
              </a:rPr>
              <a:t>Bottom Line:</a:t>
            </a:r>
            <a:r>
              <a:rPr lang="en-US" sz="1100" b="0" i="0" dirty="0">
                <a:ea typeface="MS Mincho" panose="02020609040205080304" pitchFamily="49" charset="-128"/>
                <a:cs typeface="Times New Roman" panose="02020603050405020304" pitchFamily="18" charset="0"/>
              </a:rPr>
              <a:t xml:space="preserve"> Fundamental domestik belum menjadi sumber tekanan utama; tantangan datang dari </a:t>
            </a:r>
            <a:r>
              <a:rPr lang="en-US" sz="1100" b="0" i="1" dirty="0">
                <a:ea typeface="MS Mincho" panose="02020609040205080304" pitchFamily="49" charset="-128"/>
                <a:cs typeface="Times New Roman" panose="02020603050405020304" pitchFamily="18" charset="0"/>
              </a:rPr>
              <a:t>high global yields</a:t>
            </a:r>
            <a:r>
              <a:rPr lang="en-US" sz="1100" b="0" i="0" dirty="0">
                <a:ea typeface="MS Mincho" panose="02020609040205080304" pitchFamily="49" charset="-128"/>
                <a:cs typeface="Times New Roman" panose="02020603050405020304" pitchFamily="18" charset="0"/>
              </a:rPr>
              <a:t xml:space="preserve">, rupiah, dan </a:t>
            </a:r>
            <a:r>
              <a:rPr lang="en-US" sz="1100" b="0" i="1" dirty="0">
                <a:ea typeface="MS Mincho" panose="02020609040205080304" pitchFamily="49" charset="-128"/>
                <a:cs typeface="Times New Roman" panose="02020603050405020304" pitchFamily="18" charset="0"/>
              </a:rPr>
              <a:t>foreign flow</a:t>
            </a:r>
            <a:r>
              <a:rPr lang="en-US" sz="1100" b="0" i="0" dirty="0">
                <a:ea typeface="MS Mincho" panose="02020609040205080304" pitchFamily="49" charset="-128"/>
                <a:cs typeface="Times New Roman" panose="02020603050405020304" pitchFamily="18" charset="0"/>
              </a:rPr>
              <a:t xml:space="preserve">. BI perlu menyeimbangkan </a:t>
            </a:r>
            <a:r>
              <a:rPr lang="en-US" sz="1100" b="0" i="1" dirty="0">
                <a:ea typeface="MS Mincho" panose="02020609040205080304" pitchFamily="49" charset="-128"/>
                <a:cs typeface="Times New Roman" panose="02020603050405020304" pitchFamily="18" charset="0"/>
              </a:rPr>
              <a:t>liquidity support</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FX stability</a:t>
            </a:r>
            <a:r>
              <a:rPr lang="en-US" sz="1100" b="0" i="0" dirty="0">
                <a:ea typeface="MS Mincho" panose="02020609040205080304" pitchFamily="49" charset="-128"/>
                <a:cs typeface="Times New Roman" panose="02020603050405020304" pitchFamily="18" charset="0"/>
              </a:rPr>
              <a:t>.</a:t>
            </a:r>
          </a:p>
        </p:txBody>
      </p:sp>
      <p:sp>
        <p:nvSpPr>
          <p:cNvPr id="1048601" name="Exhibit 5 Placeholder"/>
          <p:cNvSpPr/>
          <p:nvPr/>
        </p:nvSpPr>
        <p:spPr>
          <a:xfrm>
            <a:off x="354579"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sp>
        <p:nvSpPr>
          <p:cNvPr id="1048602" name="Exhibit 6 Placeholder"/>
          <p:cNvSpPr/>
          <p:nvPr/>
        </p:nvSpPr>
        <p:spPr>
          <a:xfrm>
            <a:off x="3530765"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spTree>
    <p:extLst>
      <p:ext uri="{BB962C8B-B14F-4D97-AF65-F5344CB8AC3E}">
        <p14:creationId xmlns:p14="http://schemas.microsoft.com/office/powerpoint/2010/main" val="23776426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 xmlns:a16="http://schemas.microsoft.com/office/drawing/2014/main"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 xmlns:a16="http://schemas.microsoft.com/office/drawing/2014/main"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 xmlns:a16="http://schemas.microsoft.com/office/drawing/2014/main"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 xmlns:a16="http://schemas.microsoft.com/office/drawing/2014/main"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 xmlns:a16="http://schemas.microsoft.com/office/drawing/2014/main"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25 September 2026</a:t>
            </a:r>
          </a:p>
        </p:txBody>
      </p:sp>
      <p:graphicFrame>
        <p:nvGraphicFramePr>
          <p:cNvPr id="4" name="Table 3"/>
          <p:cNvGraphicFramePr>
            <a:graphicFrameLocks noGrp="1"/>
          </p:cNvGraphicFramePr>
          <p:nvPr>
            <p:extLst/>
          </p:nvPr>
        </p:nvGraphicFramePr>
        <p:xfrm>
          <a:off x="295219" y="4843314"/>
          <a:ext cx="2997281" cy="1612011"/>
        </p:xfrm>
        <a:graphic>
          <a:graphicData uri="http://schemas.openxmlformats.org/drawingml/2006/table">
            <a:tbl>
              <a:tblPr/>
              <a:tblGrid>
                <a:gridCol w="1080100">
                  <a:extLst>
                    <a:ext uri="{9D8B030D-6E8A-4147-A177-3AD203B41FA5}">
                      <a16:colId xmlns="" xmlns:a16="http://schemas.microsoft.com/office/drawing/2014/main" val="20000"/>
                    </a:ext>
                  </a:extLst>
                </a:gridCol>
                <a:gridCol w="6350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100.97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0.57</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(1.65)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(0.01)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1,358.60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(5.64)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17,893.00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(0.04)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7.21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6" name="Table 5"/>
          <p:cNvGraphicFramePr>
            <a:graphicFrameLocks noGrp="1"/>
          </p:cNvGraphicFramePr>
          <p:nvPr>
            <p:extLst/>
          </p:nvPr>
        </p:nvGraphicFramePr>
        <p:xfrm>
          <a:off x="3505197" y="4843314"/>
          <a:ext cx="3127377" cy="1612123"/>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9">
                  <a:extLst>
                    <a:ext uri="{9D8B030D-6E8A-4147-A177-3AD203B41FA5}">
                      <a16:colId xmlns="" xmlns:a16="http://schemas.microsoft.com/office/drawing/2014/main" val="20001"/>
                    </a:ext>
                  </a:extLst>
                </a:gridCol>
                <a:gridCol w="427011">
                  <a:extLst>
                    <a:ext uri="{9D8B030D-6E8A-4147-A177-3AD203B41FA5}">
                      <a16:colId xmlns="" xmlns:a16="http://schemas.microsoft.com/office/drawing/2014/main" val="20002"/>
                    </a:ext>
                  </a:extLst>
                </a:gridCol>
                <a:gridCol w="427011">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1,331.60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(14.09)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683.40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(14.55)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1,755.80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(2.22)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1,734.36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3,167.10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(28.88)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947.27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(22.76)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6,538.61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(1.73)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(31.38)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1,435.80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(30.45)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766.96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1,610.32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(5.48)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1,744.56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(1.84)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(11.27)</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8" name="Table 7"/>
          <p:cNvGraphicFramePr>
            <a:graphicFrameLocks noGrp="1"/>
          </p:cNvGraphicFramePr>
          <p:nvPr>
            <p:extLst/>
          </p:nvPr>
        </p:nvGraphicFramePr>
        <p:xfrm>
          <a:off x="3505197" y="2330278"/>
          <a:ext cx="3127377" cy="2047201"/>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7">
                  <a:extLst>
                    <a:ext uri="{9D8B030D-6E8A-4147-A177-3AD203B41FA5}">
                      <a16:colId xmlns="" xmlns:a16="http://schemas.microsoft.com/office/drawing/2014/main" val="20001"/>
                    </a:ext>
                  </a:extLst>
                </a:gridCol>
                <a:gridCol w="427012">
                  <a:extLst>
                    <a:ext uri="{9D8B030D-6E8A-4147-A177-3AD203B41FA5}">
                      <a16:colId xmlns="" xmlns:a16="http://schemas.microsoft.com/office/drawing/2014/main" val="20002"/>
                    </a:ext>
                  </a:extLst>
                </a:gridCol>
                <a:gridCol w="427012">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51,828.62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7,743.41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13.12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27,068.72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16.46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10,695.25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638.65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3,888.37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66,364.20</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31.83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24,510.09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7,080.92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2.71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68.03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6,241.89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621.11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(26.63)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393.60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(21.80)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2"/>
                  </a:ext>
                </a:extLst>
              </a:tr>
            </a:tbl>
          </a:graphicData>
        </a:graphic>
      </p:graphicFrame>
      <p:graphicFrame>
        <p:nvGraphicFramePr>
          <p:cNvPr id="10" name="Table 9"/>
          <p:cNvGraphicFramePr>
            <a:graphicFrameLocks noGrp="1"/>
          </p:cNvGraphicFramePr>
          <p:nvPr>
            <p:extLst/>
          </p:nvPr>
        </p:nvGraphicFramePr>
        <p:xfrm>
          <a:off x="290457" y="2331639"/>
          <a:ext cx="2994081" cy="173077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6.98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142.50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5.64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115.40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18.50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121.10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14.60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93.40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(7.15)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126.23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(3.74)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16.43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99.34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16.53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88.28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19.42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0"/>
                  </a:ext>
                </a:extLst>
              </a:tr>
            </a:tbl>
          </a:graphicData>
        </a:graphic>
      </p:graphicFrame>
      <p:graphicFrame>
        <p:nvGraphicFramePr>
          <p:cNvPr id="14" name="Table 13"/>
          <p:cNvGraphicFramePr>
            <a:graphicFrameLocks noGrp="1"/>
          </p:cNvGraphicFramePr>
          <p:nvPr>
            <p:extLst/>
          </p:nvPr>
        </p:nvGraphicFramePr>
        <p:xfrm>
          <a:off x="290457" y="7045746"/>
          <a:ext cx="2994081" cy="126005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(3.82)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62.35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104.32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73.32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4,284.81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145.85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16,203.85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669.55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(0.34)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17.84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4,475.00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11.93</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8"/>
                  </a:ext>
                </a:extLst>
              </a:tr>
            </a:tbl>
          </a:graphicData>
        </a:graphic>
      </p:graphicFrame>
      <p:graphicFrame>
        <p:nvGraphicFramePr>
          <p:cNvPr id="22" name="Table 21"/>
          <p:cNvGraphicFramePr>
            <a:graphicFrameLocks noGrp="1"/>
          </p:cNvGraphicFramePr>
          <p:nvPr>
            <p:extLst/>
          </p:nvPr>
        </p:nvGraphicFramePr>
        <p:xfrm>
          <a:off x="3505199" y="7045747"/>
          <a:ext cx="3127377" cy="609600"/>
        </p:xfrm>
        <a:graphic>
          <a:graphicData uri="http://schemas.openxmlformats.org/drawingml/2006/table">
            <a:tbl>
              <a:tblPr/>
              <a:tblGrid>
                <a:gridCol w="1295401">
                  <a:extLst>
                    <a:ext uri="{9D8B030D-6E8A-4147-A177-3AD203B41FA5}">
                      <a16:colId xmlns="" xmlns:a16="http://schemas.microsoft.com/office/drawing/2014/main" val="20000"/>
                    </a:ext>
                  </a:extLst>
                </a:gridCol>
                <a:gridCol w="457994">
                  <a:extLst>
                    <a:ext uri="{9D8B030D-6E8A-4147-A177-3AD203B41FA5}">
                      <a16:colId xmlns="" xmlns:a16="http://schemas.microsoft.com/office/drawing/2014/main" val="20001"/>
                    </a:ext>
                  </a:extLst>
                </a:gridCol>
                <a:gridCol w="457994">
                  <a:extLst>
                    <a:ext uri="{9D8B030D-6E8A-4147-A177-3AD203B41FA5}">
                      <a16:colId xmlns="" xmlns:a16="http://schemas.microsoft.com/office/drawing/2014/main" val="20002"/>
                    </a:ext>
                  </a:extLst>
                </a:gridCol>
                <a:gridCol w="457994">
                  <a:extLst>
                    <a:ext uri="{9D8B030D-6E8A-4147-A177-3AD203B41FA5}">
                      <a16:colId xmlns="" xmlns:a16="http://schemas.microsoft.com/office/drawing/2014/main" val="20003"/>
                    </a:ext>
                  </a:extLst>
                </a:gridCol>
                <a:gridCol w="457994">
                  <a:extLst>
                    <a:ext uri="{9D8B030D-6E8A-4147-A177-3AD203B41FA5}">
                      <a16:colId xmlns="" xmlns:a16="http://schemas.microsoft.com/office/drawing/2014/main"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25-September-26)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(3.16)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(6.79)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(80.27)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24-September-26)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(3.97)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29.06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2"/>
                  </a:ext>
                </a:extLst>
              </a:tr>
            </a:tbl>
          </a:graphicData>
        </a:graphic>
      </p:graphicFrame>
      <p:grpSp>
        <p:nvGrpSpPr>
          <p:cNvPr id="20" name="Group 19">
            <a:extLst>
              <a:ext uri="{FF2B5EF4-FFF2-40B4-BE49-F238E27FC236}">
                <a16:creationId xmlns="" xmlns:a16="http://schemas.microsoft.com/office/drawing/2014/main"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 xmlns:a16="http://schemas.microsoft.com/office/drawing/2014/main"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 xmlns:a16="http://schemas.microsoft.com/office/drawing/2014/main"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grpSp>
    </p:spTree>
    <p:extLst>
      <p:ext uri="{BB962C8B-B14F-4D97-AF65-F5344CB8AC3E}">
        <p14:creationId xmlns:p14="http://schemas.microsoft.com/office/powerpoint/2010/main" val="19268401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 xmlns:a16="http://schemas.microsoft.com/office/drawing/2014/main" id="{92C92BE2-1A26-DCA2-1425-0AA1741325AB}"/>
              </a:ext>
            </a:extLst>
          </p:cNvPr>
          <p:cNvGraphicFramePr>
            <a:graphicFrameLocks noGrp="1"/>
          </p:cNvGraphicFramePr>
          <p:nvPr>
            <p:extLst/>
          </p:nvPr>
        </p:nvGraphicFramePr>
        <p:xfrm>
          <a:off x="327025" y="1905000"/>
          <a:ext cx="6305549" cy="2759975"/>
        </p:xfrm>
        <a:graphic>
          <a:graphicData uri="http://schemas.openxmlformats.org/drawingml/2006/table">
            <a:tbl>
              <a:tblPr/>
              <a:tblGrid>
                <a:gridCol w="2378781">
                  <a:extLst>
                    <a:ext uri="{9D8B030D-6E8A-4147-A177-3AD203B41FA5}">
                      <a16:colId xmlns="" xmlns:a16="http://schemas.microsoft.com/office/drawing/2014/main" val="3984479303"/>
                    </a:ext>
                  </a:extLst>
                </a:gridCol>
                <a:gridCol w="490011">
                  <a:extLst>
                    <a:ext uri="{9D8B030D-6E8A-4147-A177-3AD203B41FA5}">
                      <a16:colId xmlns="" xmlns:a16="http://schemas.microsoft.com/office/drawing/2014/main" val="1443360456"/>
                    </a:ext>
                  </a:extLst>
                </a:gridCol>
                <a:gridCol w="543467">
                  <a:extLst>
                    <a:ext uri="{9D8B030D-6E8A-4147-A177-3AD203B41FA5}">
                      <a16:colId xmlns="" xmlns:a16="http://schemas.microsoft.com/office/drawing/2014/main" val="3887741517"/>
                    </a:ext>
                  </a:extLst>
                </a:gridCol>
                <a:gridCol w="490011">
                  <a:extLst>
                    <a:ext uri="{9D8B030D-6E8A-4147-A177-3AD203B41FA5}">
                      <a16:colId xmlns="" xmlns:a16="http://schemas.microsoft.com/office/drawing/2014/main" val="474306127"/>
                    </a:ext>
                  </a:extLst>
                </a:gridCol>
                <a:gridCol w="490011">
                  <a:extLst>
                    <a:ext uri="{9D8B030D-6E8A-4147-A177-3AD203B41FA5}">
                      <a16:colId xmlns="" xmlns:a16="http://schemas.microsoft.com/office/drawing/2014/main" val="3509474900"/>
                    </a:ext>
                  </a:extLst>
                </a:gridCol>
                <a:gridCol w="490011">
                  <a:extLst>
                    <a:ext uri="{9D8B030D-6E8A-4147-A177-3AD203B41FA5}">
                      <a16:colId xmlns="" xmlns:a16="http://schemas.microsoft.com/office/drawing/2014/main" val="1189944801"/>
                    </a:ext>
                  </a:extLst>
                </a:gridCol>
                <a:gridCol w="474419">
                  <a:extLst>
                    <a:ext uri="{9D8B030D-6E8A-4147-A177-3AD203B41FA5}">
                      <a16:colId xmlns="" xmlns:a16="http://schemas.microsoft.com/office/drawing/2014/main" val="149569299"/>
                    </a:ext>
                  </a:extLst>
                </a:gridCol>
                <a:gridCol w="474419">
                  <a:extLst>
                    <a:ext uri="{9D8B030D-6E8A-4147-A177-3AD203B41FA5}">
                      <a16:colId xmlns="" xmlns:a16="http://schemas.microsoft.com/office/drawing/2014/main" val="432537367"/>
                    </a:ext>
                  </a:extLst>
                </a:gridCol>
                <a:gridCol w="474419">
                  <a:extLst>
                    <a:ext uri="{9D8B030D-6E8A-4147-A177-3AD203B41FA5}">
                      <a16:colId xmlns="" xmlns:a16="http://schemas.microsoft.com/office/drawing/2014/main"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a:t>
                      </a:r>
                      <a:r>
                        <a:rPr lang="en-ID" sz="900" b="0" i="0" u="none" strike="noStrike" dirty="0">
                          <a:solidFill>
                            <a:srgbClr val="000000"/>
                          </a:solidFill>
                          <a:effectLst/>
                          <a:latin typeface="Calibri" panose="020F0502020204030204" pitchFamily="34" charset="0"/>
                        </a:rPr>
                        <a:t>,0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4,5</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8,01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 xmlns:a16="http://schemas.microsoft.com/office/drawing/2014/main"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18.171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noFill/>
                      <a:prstDash val="solid"/>
                      <a:round/>
                      <a:headEnd type="none" w="med" len="med"/>
                      <a:tailEnd type="none" w="med" len="med"/>
                    </a:lnB>
                    <a:noFill/>
                  </a:tcPr>
                </a:tc>
                <a:extLst>
                  <a:ext uri="{0D108BD9-81ED-4DB2-BD59-A6C34878D82A}">
                    <a16:rowId xmlns="" xmlns:a16="http://schemas.microsoft.com/office/drawing/2014/main" val="10009"/>
                  </a:ext>
                </a:extLst>
              </a:tr>
              <a:tr h="229998">
                <a:tc>
                  <a:txBody>
                    <a:bodyPr/>
                    <a:lstStyle/>
                    <a:p>
                      <a:pPr algn="l" fontAlgn="ctr"/>
                      <a:r>
                        <a:rPr lang="en-US" sz="900" b="0" i="0" u="none" strike="noStrike" dirty="0">
                          <a:solidFill>
                            <a:srgbClr val="000000"/>
                          </a:solidFill>
                          <a:effectLst/>
                          <a:latin typeface="Calibri" panose="020F0502020204030204" pitchFamily="34" charset="0"/>
                        </a:rPr>
                        <a:t> Current account balance (% of GDP)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-2,70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-0,40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1,00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-0,60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 xmlns:a16="http://schemas.microsoft.com/office/drawing/2014/main" val="1039409088"/>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 xmlns:a16="http://schemas.microsoft.com/office/drawing/2014/main" val="2569539944"/>
                  </a:ext>
                </a:extLst>
              </a:tr>
            </a:tbl>
          </a:graphicData>
        </a:graphic>
      </p:graphicFrame>
      <p:graphicFrame>
        <p:nvGraphicFramePr>
          <p:cNvPr id="13" name="Table 12">
            <a:extLst>
              <a:ext uri="{FF2B5EF4-FFF2-40B4-BE49-F238E27FC236}">
                <a16:creationId xmlns="" xmlns:a16="http://schemas.microsoft.com/office/drawing/2014/main" id="{631383FA-742C-FAA0-6E10-A0E2EB999ADC}"/>
              </a:ext>
            </a:extLst>
          </p:cNvPr>
          <p:cNvGraphicFramePr>
            <a:graphicFrameLocks noGrp="1"/>
          </p:cNvGraphicFramePr>
          <p:nvPr>
            <p:extLst/>
          </p:nvPr>
        </p:nvGraphicFramePr>
        <p:xfrm>
          <a:off x="327025" y="5048423"/>
          <a:ext cx="6327775" cy="3127178"/>
        </p:xfrm>
        <a:graphic>
          <a:graphicData uri="http://schemas.openxmlformats.org/drawingml/2006/table">
            <a:tbl>
              <a:tblPr/>
              <a:tblGrid>
                <a:gridCol w="1240350">
                  <a:extLst>
                    <a:ext uri="{9D8B030D-6E8A-4147-A177-3AD203B41FA5}">
                      <a16:colId xmlns="" xmlns:a16="http://schemas.microsoft.com/office/drawing/2014/main" val="20000"/>
                    </a:ext>
                  </a:extLst>
                </a:gridCol>
                <a:gridCol w="2275081">
                  <a:extLst>
                    <a:ext uri="{9D8B030D-6E8A-4147-A177-3AD203B41FA5}">
                      <a16:colId xmlns="" xmlns:a16="http://schemas.microsoft.com/office/drawing/2014/main" val="20001"/>
                    </a:ext>
                  </a:extLst>
                </a:gridCol>
                <a:gridCol w="937448">
                  <a:extLst>
                    <a:ext uri="{9D8B030D-6E8A-4147-A177-3AD203B41FA5}">
                      <a16:colId xmlns="" xmlns:a16="http://schemas.microsoft.com/office/drawing/2014/main" val="20002"/>
                    </a:ext>
                  </a:extLst>
                </a:gridCol>
                <a:gridCol w="937448">
                  <a:extLst>
                    <a:ext uri="{9D8B030D-6E8A-4147-A177-3AD203B41FA5}">
                      <a16:colId xmlns="" xmlns:a16="http://schemas.microsoft.com/office/drawing/2014/main" val="20003"/>
                    </a:ext>
                  </a:extLst>
                </a:gridCol>
                <a:gridCol w="937448">
                  <a:extLst>
                    <a:ext uri="{9D8B030D-6E8A-4147-A177-3AD203B41FA5}">
                      <a16:colId xmlns="" xmlns:a16="http://schemas.microsoft.com/office/drawing/2014/main"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 xmlns:a16="http://schemas.microsoft.com/office/drawing/2014/main"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CB Consumer Confidence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89,40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90,10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29-Sep-26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GDP Q2 2026 (QoQ)</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278894911"/>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Initial Jobless Claims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199,00K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297878780"/>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S&amp;P Global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775520957"/>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Nonfarm Payrolls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162,00K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98,00K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425152781"/>
                  </a:ext>
                </a:extLst>
              </a:tr>
              <a:tr h="170658">
                <a:tc>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Unemployment Rate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2-Oct-26</a:t>
                      </a:r>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900081421"/>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CPI September 2026 (YoY) </a:t>
                      </a:r>
                      <a:r>
                        <a:rPr lang="en-US" sz="800" b="1" baseline="0" dirty="0"/>
                        <a:t>P</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3,20%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218326296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753966804"/>
                  </a:ext>
                </a:extLst>
              </a:tr>
              <a:tr h="175306">
                <a:tc rowSpan="2">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Industrial Production August 2026 (MoM) </a:t>
                      </a:r>
                      <a:r>
                        <a:rPr lang="en-US" sz="800" b="1" dirty="0"/>
                        <a:t>P</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-0,20%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3193980066"/>
                  </a:ext>
                </a:extLst>
              </a:tr>
              <a:tr h="175306">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Tokyo Core CPI September 2026 (YoY)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1,80%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2,40%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1438621321"/>
                  </a:ext>
                </a:extLst>
              </a:tr>
              <a:tr h="170658">
                <a:tc rowSpan="3">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Manufacturing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49,80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50,10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10013"/>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Non-Manufacturing PMI September 2026</a:t>
                      </a:r>
                    </a:p>
                  </a:txBody>
                  <a:tcPr marL="0" marR="0" marT="0" marB="0" anchor="ctr">
                    <a:lnL w="12700" cmpd="sng">
                      <a:noFill/>
                      <a:prstDash val="soli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49,00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49,30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3133507307"/>
                  </a:ext>
                </a:extLst>
              </a:tr>
              <a:tr h="170658">
                <a:tc vMerge="1">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Chinese Composite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49,50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2850440914"/>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Manufacturing PMI September 2026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49,80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Inflation September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3,19%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216946848"/>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Trade Balance August 2026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a:t>USD 0,13 Bn</a:t>
                      </a:r>
                      <a:endParaRPr lang="en-US" sz="8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2752028498"/>
                  </a:ext>
                </a:extLst>
              </a:tr>
            </a:tbl>
          </a:graphicData>
        </a:graphic>
      </p:graphicFrame>
      <p:pic>
        <p:nvPicPr>
          <p:cNvPr id="2097157" name="Picture 15">
            <a:extLst>
              <a:ext uri="{FF2B5EF4-FFF2-40B4-BE49-F238E27FC236}">
                <a16:creationId xmlns="" xmlns:a16="http://schemas.microsoft.com/office/drawing/2014/main"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 xmlns:a16="http://schemas.microsoft.com/office/drawing/2014/main"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 xmlns:a16="http://schemas.microsoft.com/office/drawing/2014/main"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 xmlns:a16="http://schemas.microsoft.com/office/drawing/2014/main"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 xmlns:a16="http://schemas.microsoft.com/office/drawing/2014/main"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 xmlns:a16="http://schemas.microsoft.com/office/drawing/2014/main"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 xmlns:a16="http://schemas.microsoft.com/office/drawing/2014/main" id="{5F935AB8-4CE1-D254-7223-E63C9C83C7CC}"/>
              </a:ext>
            </a:extLst>
          </p:cNvPr>
          <p:cNvSpPr txBox="1"/>
          <p:nvPr/>
        </p:nvSpPr>
        <p:spPr>
          <a:xfrm>
            <a:off x="304800" y="8178752"/>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 xmlns:a16="http://schemas.microsoft.com/office/drawing/2014/main"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 xmlns:a16="http://schemas.microsoft.com/office/drawing/2014/main"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sp>
        <p:nvSpPr>
          <p:cNvPr id="2" name="TextBox 1">
            <a:extLst>
              <a:ext uri="{FF2B5EF4-FFF2-40B4-BE49-F238E27FC236}">
                <a16:creationId xmlns="" xmlns:a16="http://schemas.microsoft.com/office/drawing/2014/main" id="{6BF49385-9C4C-9BE5-92C1-FD7DB3660EF9}"/>
              </a:ext>
            </a:extLst>
          </p:cNvPr>
          <p:cNvSpPr txBox="1"/>
          <p:nvPr/>
        </p:nvSpPr>
        <p:spPr>
          <a:xfrm>
            <a:off x="306430" y="4808801"/>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 xmlns:a16="http://schemas.microsoft.com/office/drawing/2014/main" id="{554FB8FF-B950-0DC1-5110-367175277929}"/>
              </a:ext>
            </a:extLst>
          </p:cNvPr>
          <p:cNvPicPr>
            <a:picLocks noChangeAspect="1" noChangeArrowheads="1"/>
          </p:cNvPicPr>
          <p:nvPr/>
        </p:nvPicPr>
        <p:blipFill>
          <a:blip r:embed="rId4" cstate="print"/>
          <a:srcRect/>
          <a:stretch>
            <a:fillRect/>
          </a:stretch>
        </p:blipFill>
        <p:spPr bwMode="auto">
          <a:xfrm>
            <a:off x="424492" y="5522807"/>
            <a:ext cx="259471" cy="252000"/>
          </a:xfrm>
          <a:prstGeom prst="rect">
            <a:avLst/>
          </a:prstGeom>
          <a:noFill/>
        </p:spPr>
      </p:pic>
      <p:pic>
        <p:nvPicPr>
          <p:cNvPr id="15" name="Picture 26" descr="C:\Users\u062353\Downloads\europe.png">
            <a:extLst>
              <a:ext uri="{FF2B5EF4-FFF2-40B4-BE49-F238E27FC236}">
                <a16:creationId xmlns="" xmlns:a16="http://schemas.microsoft.com/office/drawing/2014/main" id="{C0E53487-0FE9-DD9A-856A-927CC354F353}"/>
              </a:ext>
            </a:extLst>
          </p:cNvPr>
          <p:cNvPicPr>
            <a:picLocks noChangeAspect="1" noChangeArrowheads="1"/>
          </p:cNvPicPr>
          <p:nvPr/>
        </p:nvPicPr>
        <p:blipFill>
          <a:blip r:embed="rId5" cstate="print"/>
          <a:srcRect/>
          <a:stretch>
            <a:fillRect/>
          </a:stretch>
        </p:blipFill>
        <p:spPr bwMode="auto">
          <a:xfrm>
            <a:off x="424492" y="6424125"/>
            <a:ext cx="258296" cy="245478"/>
          </a:xfrm>
          <a:prstGeom prst="rect">
            <a:avLst/>
          </a:prstGeom>
          <a:noFill/>
        </p:spPr>
      </p:pic>
      <p:pic>
        <p:nvPicPr>
          <p:cNvPr id="22" name="image4.png">
            <a:extLst>
              <a:ext uri="{FF2B5EF4-FFF2-40B4-BE49-F238E27FC236}">
                <a16:creationId xmlns="" xmlns:a16="http://schemas.microsoft.com/office/drawing/2014/main" id="{D00B4B8B-4F51-55F0-2270-D64E262469E9}"/>
              </a:ext>
            </a:extLst>
          </p:cNvPr>
          <p:cNvPicPr preferRelativeResize="0">
            <a:picLocks noChangeAspect="1"/>
          </p:cNvPicPr>
          <p:nvPr/>
        </p:nvPicPr>
        <p:blipFill>
          <a:blip r:embed="rId6" cstate="print"/>
          <a:stretch>
            <a:fillRect/>
          </a:stretch>
        </p:blipFill>
        <p:spPr>
          <a:xfrm>
            <a:off x="425532" y="7277585"/>
            <a:ext cx="252000" cy="252000"/>
          </a:xfrm>
          <a:prstGeom prst="rect">
            <a:avLst/>
          </a:prstGeom>
          <a:noFill/>
        </p:spPr>
      </p:pic>
      <p:pic>
        <p:nvPicPr>
          <p:cNvPr id="24" name="Picture 29">
            <a:extLst>
              <a:ext uri="{FF2B5EF4-FFF2-40B4-BE49-F238E27FC236}">
                <a16:creationId xmlns="" xmlns:a16="http://schemas.microsoft.com/office/drawing/2014/main" id="{724CA62C-6225-F1CF-53F5-BE0644A9C7A9}"/>
              </a:ext>
            </a:extLst>
          </p:cNvPr>
          <p:cNvPicPr>
            <a:picLocks noChangeAspect="1"/>
          </p:cNvPicPr>
          <p:nvPr/>
        </p:nvPicPr>
        <p:blipFill>
          <a:blip r:embed="rId7"/>
          <a:stretch>
            <a:fillRect/>
          </a:stretch>
        </p:blipFill>
        <p:spPr>
          <a:xfrm>
            <a:off x="418357" y="7791774"/>
            <a:ext cx="259175" cy="259175"/>
          </a:xfrm>
          <a:prstGeom prst="rect">
            <a:avLst/>
          </a:prstGeom>
        </p:spPr>
      </p:pic>
      <p:pic>
        <p:nvPicPr>
          <p:cNvPr id="3" name="Picture 27" descr="C:\Users\u062353\Downloads\japan.png">
            <a:extLst>
              <a:ext uri="{FF2B5EF4-FFF2-40B4-BE49-F238E27FC236}">
                <a16:creationId xmlns="" xmlns:a16="http://schemas.microsoft.com/office/drawing/2014/main" id="{BD7F973C-41A4-C2A9-BDFC-6EBE0AC3DD59}"/>
              </a:ext>
            </a:extLst>
          </p:cNvPr>
          <p:cNvPicPr>
            <a:picLocks noChangeAspect="1" noChangeArrowheads="1"/>
          </p:cNvPicPr>
          <p:nvPr/>
        </p:nvPicPr>
        <p:blipFill>
          <a:blip r:embed="rId8" cstate="print"/>
          <a:srcRect/>
          <a:stretch>
            <a:fillRect/>
          </a:stretch>
        </p:blipFill>
        <p:spPr bwMode="auto">
          <a:xfrm>
            <a:off x="424492" y="6849803"/>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a:t>
            </a:r>
            <a:r>
              <a:rPr lang="en-US" sz="800" dirty="0" err="1">
                <a:solidFill>
                  <a:prstClr val="black"/>
                </a:solidFill>
              </a:rPr>
              <a:t>Bisnis</a:t>
            </a:r>
            <a:r>
              <a:rPr lang="en-US" sz="800" dirty="0">
                <a:solidFill>
                  <a:prstClr val="black"/>
                </a:solidFill>
              </a:rPr>
              <a:t> Indonesia, </a:t>
            </a:r>
            <a:r>
              <a:rPr lang="en-US" sz="800" dirty="0" err="1">
                <a:solidFill>
                  <a:prstClr val="black"/>
                </a:solidFill>
              </a:rPr>
              <a:t>Kontan</a:t>
            </a:r>
            <a:r>
              <a:rPr lang="en-US" sz="800" dirty="0">
                <a:solidFill>
                  <a:prstClr val="black"/>
                </a:solidFill>
              </a:rPr>
              <a:t>, CME Group</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t>Bid to cover ratio</a:t>
            </a:r>
            <a:r>
              <a:rPr lang="en-US" sz="1050" dirty="0"/>
              <a:t>: </a:t>
            </a:r>
            <a:r>
              <a:rPr lang="en-US" sz="1050" dirty="0" err="1"/>
              <a:t>rasio</a:t>
            </a:r>
            <a:r>
              <a:rPr lang="en-US" sz="1050" dirty="0"/>
              <a:t> total </a:t>
            </a:r>
            <a:r>
              <a:rPr lang="en-US" sz="1050" dirty="0" err="1"/>
              <a:t>penawaran</a:t>
            </a:r>
            <a:r>
              <a:rPr lang="en-US" sz="1050" dirty="0"/>
              <a:t> </a:t>
            </a:r>
            <a:r>
              <a:rPr lang="en-US" sz="1050" dirty="0" err="1"/>
              <a:t>terhadap</a:t>
            </a:r>
            <a:r>
              <a:rPr lang="en-US" sz="1050" dirty="0"/>
              <a:t> </a:t>
            </a:r>
            <a:r>
              <a:rPr lang="en-US" sz="1050" dirty="0" err="1"/>
              <a:t>jumlah</a:t>
            </a:r>
            <a:r>
              <a:rPr lang="en-US" sz="1050" dirty="0"/>
              <a:t> yang </a:t>
            </a:r>
            <a:r>
              <a:rPr lang="en-US" sz="1050" dirty="0" err="1"/>
              <a:t>dimenangkan</a:t>
            </a:r>
            <a:r>
              <a:rPr lang="en-US" sz="1050" dirty="0"/>
              <a:t> </a:t>
            </a:r>
            <a:r>
              <a:rPr lang="en-US" sz="1050" dirty="0" err="1"/>
              <a:t>dalam</a:t>
            </a:r>
            <a:r>
              <a:rPr lang="en-US" sz="1050" dirty="0"/>
              <a:t> </a:t>
            </a:r>
            <a:r>
              <a:rPr lang="en-US" sz="1050" dirty="0" err="1"/>
              <a:t>lelang</a:t>
            </a:r>
            <a:r>
              <a:rPr lang="en-US" sz="1050" dirty="0" smtClean="0"/>
              <a:t>.</a:t>
            </a:r>
            <a:endParaRPr lang="en-US" sz="1050" i="1" dirty="0" smtClean="0"/>
          </a:p>
          <a:p>
            <a:pPr marL="342900" indent="-342900" algn="just">
              <a:spcBef>
                <a:spcPts val="600"/>
              </a:spcBef>
              <a:buFont typeface="Arial" panose="020B0604020202020204" pitchFamily="34" charset="0"/>
              <a:buChar char="•"/>
              <a:tabLst>
                <a:tab pos="457200" algn="l"/>
              </a:tabLst>
            </a:pPr>
            <a:r>
              <a:rPr lang="en-US" sz="1050" i="1" dirty="0"/>
              <a:t>Breakeven inflation</a:t>
            </a:r>
            <a:r>
              <a:rPr lang="en-US" sz="1050" dirty="0"/>
              <a:t>: </a:t>
            </a:r>
            <a:r>
              <a:rPr lang="en-US" sz="1050" dirty="0" err="1"/>
              <a:t>selisih</a:t>
            </a:r>
            <a:r>
              <a:rPr lang="en-US" sz="1050" dirty="0"/>
              <a:t> </a:t>
            </a:r>
            <a:r>
              <a:rPr lang="en-US" sz="1050" i="1" dirty="0"/>
              <a:t>yield</a:t>
            </a:r>
            <a:r>
              <a:rPr lang="en-US" sz="1050" dirty="0"/>
              <a:t> UST nominal </a:t>
            </a:r>
            <a:r>
              <a:rPr lang="en-US" sz="1050" dirty="0" err="1"/>
              <a:t>dan</a:t>
            </a:r>
            <a:r>
              <a:rPr lang="en-US" sz="1050" dirty="0"/>
              <a:t> UST yang </a:t>
            </a:r>
            <a:r>
              <a:rPr lang="en-US" sz="1050" dirty="0" err="1"/>
              <a:t>dilindungi</a:t>
            </a:r>
            <a:r>
              <a:rPr lang="en-US" sz="1050" dirty="0"/>
              <a:t> </a:t>
            </a:r>
            <a:r>
              <a:rPr lang="en-US" sz="1050" dirty="0" err="1"/>
              <a:t>inflasi</a:t>
            </a:r>
            <a:r>
              <a:rPr lang="en-US" sz="1050" dirty="0"/>
              <a:t> (TIPS).</a:t>
            </a:r>
          </a:p>
          <a:p>
            <a:pPr marL="342900" indent="-342900" algn="just">
              <a:spcBef>
                <a:spcPts val="600"/>
              </a:spcBef>
              <a:buFont typeface="Arial" panose="020B0604020202020204" pitchFamily="34" charset="0"/>
              <a:buChar char="•"/>
              <a:tabLst>
                <a:tab pos="457200" algn="l"/>
              </a:tabLst>
            </a:pPr>
            <a:r>
              <a:rPr lang="en-US" sz="1050" i="1" dirty="0" smtClean="0"/>
              <a:t>Dot </a:t>
            </a:r>
            <a:r>
              <a:rPr lang="en-US" sz="1050" i="1" dirty="0"/>
              <a:t>plot</a:t>
            </a:r>
            <a:r>
              <a:rPr lang="en-US" sz="1050" dirty="0"/>
              <a:t>: </a:t>
            </a:r>
            <a:r>
              <a:rPr lang="en-US" sz="1050" dirty="0" err="1"/>
              <a:t>proyeksi</a:t>
            </a:r>
            <a:r>
              <a:rPr lang="en-US" sz="1050" dirty="0"/>
              <a:t> </a:t>
            </a:r>
            <a:r>
              <a:rPr lang="en-US" sz="1050" dirty="0" err="1"/>
              <a:t>suku</a:t>
            </a:r>
            <a:r>
              <a:rPr lang="en-US" sz="1050" dirty="0"/>
              <a:t> </a:t>
            </a:r>
            <a:r>
              <a:rPr lang="en-US" sz="1050" dirty="0" err="1"/>
              <a:t>bunga</a:t>
            </a:r>
            <a:r>
              <a:rPr lang="en-US" sz="1050" dirty="0"/>
              <a:t> </a:t>
            </a:r>
            <a:r>
              <a:rPr lang="en-US" sz="1050" dirty="0" err="1"/>
              <a:t>acuan</a:t>
            </a:r>
            <a:r>
              <a:rPr lang="en-US" sz="1050" dirty="0"/>
              <a:t> </a:t>
            </a:r>
            <a:r>
              <a:rPr lang="en-US" sz="1050" dirty="0" err="1"/>
              <a:t>dari</a:t>
            </a:r>
            <a:r>
              <a:rPr lang="en-US" sz="1050" dirty="0"/>
              <a:t> </a:t>
            </a:r>
            <a:r>
              <a:rPr lang="en-US" sz="1050" dirty="0" err="1"/>
              <a:t>setiap</a:t>
            </a:r>
            <a:r>
              <a:rPr lang="en-US" sz="1050" dirty="0"/>
              <a:t> </a:t>
            </a:r>
            <a:r>
              <a:rPr lang="en-US" sz="1050" dirty="0" err="1"/>
              <a:t>anggota</a:t>
            </a:r>
            <a:r>
              <a:rPr lang="en-US" sz="1050" dirty="0"/>
              <a:t> FOMC yang </a:t>
            </a:r>
            <a:r>
              <a:rPr lang="en-US" sz="1050" dirty="0" err="1"/>
              <a:t>dirilis</a:t>
            </a:r>
            <a:r>
              <a:rPr lang="en-US" sz="1050" dirty="0"/>
              <a:t> </a:t>
            </a:r>
            <a:r>
              <a:rPr lang="en-US" sz="1050" dirty="0" err="1"/>
              <a:t>setiap</a:t>
            </a:r>
            <a:r>
              <a:rPr lang="en-US" sz="1050" dirty="0"/>
              <a:t> </a:t>
            </a:r>
            <a:r>
              <a:rPr lang="en-US" sz="1050" dirty="0" err="1"/>
              <a:t>kuartal</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Earnings </a:t>
            </a:r>
            <a:r>
              <a:rPr lang="en-US" sz="1050" i="1" dirty="0"/>
              <a:t>yield</a:t>
            </a:r>
            <a:r>
              <a:rPr lang="en-US" sz="1050" dirty="0"/>
              <a:t>: </a:t>
            </a:r>
            <a:r>
              <a:rPr lang="en-US" sz="1050" dirty="0" err="1"/>
              <a:t>rasio</a:t>
            </a:r>
            <a:r>
              <a:rPr lang="en-US" sz="1050" dirty="0"/>
              <a:t> </a:t>
            </a:r>
            <a:r>
              <a:rPr lang="en-US" sz="1050" dirty="0" err="1"/>
              <a:t>laba</a:t>
            </a:r>
            <a:r>
              <a:rPr lang="en-US" sz="1050" dirty="0"/>
              <a:t> per </a:t>
            </a:r>
            <a:r>
              <a:rPr lang="en-US" sz="1050" dirty="0" err="1"/>
              <a:t>saham</a:t>
            </a:r>
            <a:r>
              <a:rPr lang="en-US" sz="1050" dirty="0"/>
              <a:t> </a:t>
            </a:r>
            <a:r>
              <a:rPr lang="en-US" sz="1050" dirty="0" err="1"/>
              <a:t>terhadap</a:t>
            </a:r>
            <a:r>
              <a:rPr lang="en-US" sz="1050" dirty="0"/>
              <a:t> </a:t>
            </a:r>
            <a:r>
              <a:rPr lang="en-US" sz="1050" dirty="0" err="1"/>
              <a:t>harga</a:t>
            </a:r>
            <a:r>
              <a:rPr lang="en-US" sz="1050" dirty="0"/>
              <a:t> </a:t>
            </a:r>
            <a:r>
              <a:rPr lang="en-US" sz="1050" dirty="0" err="1"/>
              <a:t>saham</a:t>
            </a:r>
            <a:r>
              <a:rPr lang="en-US" sz="1050" dirty="0"/>
              <a:t>; </a:t>
            </a:r>
            <a:r>
              <a:rPr lang="en-US" sz="1050" dirty="0" err="1"/>
              <a:t>kebalikan</a:t>
            </a:r>
            <a:r>
              <a:rPr lang="en-US" sz="1050" dirty="0"/>
              <a:t> </a:t>
            </a:r>
            <a:r>
              <a:rPr lang="en-US" sz="1050" dirty="0" err="1"/>
              <a:t>dari</a:t>
            </a:r>
            <a:r>
              <a:rPr lang="en-US" sz="1050" dirty="0"/>
              <a:t> P/E</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i="1" dirty="0"/>
              <a:t>Equal weight</a:t>
            </a:r>
            <a:r>
              <a:rPr lang="en-US" sz="1050" dirty="0"/>
              <a:t>: </a:t>
            </a:r>
            <a:r>
              <a:rPr lang="en-US" sz="1050" dirty="0" err="1"/>
              <a:t>metode</a:t>
            </a:r>
            <a:r>
              <a:rPr lang="en-US" sz="1050" dirty="0"/>
              <a:t> </a:t>
            </a:r>
            <a:r>
              <a:rPr lang="en-US" sz="1050" dirty="0" err="1"/>
              <a:t>perhitungan</a:t>
            </a:r>
            <a:r>
              <a:rPr lang="en-US" sz="1050" dirty="0"/>
              <a:t> </a:t>
            </a:r>
            <a:r>
              <a:rPr lang="en-US" sz="1050" dirty="0" err="1"/>
              <a:t>indeks</a:t>
            </a:r>
            <a:r>
              <a:rPr lang="en-US" sz="1050" dirty="0"/>
              <a:t> yang </a:t>
            </a:r>
            <a:r>
              <a:rPr lang="en-US" sz="1050" dirty="0" err="1"/>
              <a:t>memberi</a:t>
            </a:r>
            <a:r>
              <a:rPr lang="en-US" sz="1050" dirty="0"/>
              <a:t> </a:t>
            </a:r>
            <a:r>
              <a:rPr lang="en-US" sz="1050" dirty="0" err="1"/>
              <a:t>bobot</a:t>
            </a:r>
            <a:r>
              <a:rPr lang="en-US" sz="1050" dirty="0"/>
              <a:t> </a:t>
            </a:r>
            <a:r>
              <a:rPr lang="en-US" sz="1050" dirty="0" err="1"/>
              <a:t>sama</a:t>
            </a:r>
            <a:r>
              <a:rPr lang="en-US" sz="1050" dirty="0"/>
              <a:t> </a:t>
            </a:r>
            <a:r>
              <a:rPr lang="en-US" sz="1050" dirty="0" err="1"/>
              <a:t>pada</a:t>
            </a:r>
            <a:r>
              <a:rPr lang="en-US" sz="1050" dirty="0"/>
              <a:t> </a:t>
            </a:r>
            <a:r>
              <a:rPr lang="en-US" sz="1050" dirty="0" err="1"/>
              <a:t>setiap</a:t>
            </a:r>
            <a:r>
              <a:rPr lang="en-US" sz="1050" dirty="0"/>
              <a:t> </a:t>
            </a:r>
            <a:r>
              <a:rPr lang="en-US" sz="1050" dirty="0" err="1"/>
              <a:t>saham</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Hawkish</a:t>
            </a:r>
            <a:r>
              <a:rPr lang="en-US" sz="1050" dirty="0"/>
              <a:t>: </a:t>
            </a:r>
            <a:r>
              <a:rPr lang="en-US" sz="1050" dirty="0" err="1"/>
              <a:t>sikap</a:t>
            </a:r>
            <a:r>
              <a:rPr lang="en-US" sz="1050" dirty="0"/>
              <a:t> bank </a:t>
            </a:r>
            <a:r>
              <a:rPr lang="en-US" sz="1050" dirty="0" err="1"/>
              <a:t>sentral</a:t>
            </a:r>
            <a:r>
              <a:rPr lang="en-US" sz="1050" dirty="0"/>
              <a:t> yang </a:t>
            </a:r>
            <a:r>
              <a:rPr lang="en-US" sz="1050" dirty="0" err="1"/>
              <a:t>condong</a:t>
            </a:r>
            <a:r>
              <a:rPr lang="en-US" sz="1050" dirty="0"/>
              <a:t> </a:t>
            </a:r>
            <a:r>
              <a:rPr lang="en-US" sz="1050" dirty="0" err="1"/>
              <a:t>pada</a:t>
            </a:r>
            <a:r>
              <a:rPr lang="en-US" sz="1050" dirty="0"/>
              <a:t> </a:t>
            </a:r>
            <a:r>
              <a:rPr lang="en-US" sz="1050" dirty="0" err="1"/>
              <a:t>pengetatan</a:t>
            </a:r>
            <a:r>
              <a:rPr lang="en-US" sz="1050" dirty="0"/>
              <a:t> </a:t>
            </a:r>
            <a:r>
              <a:rPr lang="en-US" sz="1050" dirty="0" err="1"/>
              <a:t>kebijakan</a:t>
            </a:r>
            <a:r>
              <a:rPr lang="en-US" sz="1050" dirty="0"/>
              <a:t> </a:t>
            </a:r>
            <a:r>
              <a:rPr lang="en-US" sz="1050" dirty="0" err="1"/>
              <a:t>moneter</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a:t>Inflow</a:t>
            </a:r>
            <a:r>
              <a:rPr lang="en-US" sz="1050" dirty="0"/>
              <a:t>: </a:t>
            </a:r>
            <a:r>
              <a:rPr lang="en-US" sz="1050" dirty="0" err="1"/>
              <a:t>aliran</a:t>
            </a:r>
            <a:r>
              <a:rPr lang="en-US" sz="1050" dirty="0"/>
              <a:t> dana </a:t>
            </a:r>
            <a:r>
              <a:rPr lang="en-US" sz="1050" dirty="0" err="1"/>
              <a:t>masuk</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dirty="0"/>
              <a:t>MOVE </a:t>
            </a:r>
            <a:r>
              <a:rPr lang="en-US" sz="1050" i="1" dirty="0"/>
              <a:t>Index</a:t>
            </a:r>
            <a:r>
              <a:rPr lang="en-US" sz="1050" dirty="0"/>
              <a:t>: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obligasi</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UST</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solidFill>
                  <a:prstClr val="black"/>
                </a:solidFill>
              </a:rPr>
              <a:t>Outflow</a:t>
            </a:r>
            <a:r>
              <a:rPr lang="en-US" sz="1050" dirty="0">
                <a:solidFill>
                  <a:prstClr val="black"/>
                </a:solidFill>
              </a:rPr>
              <a:t>: </a:t>
            </a:r>
            <a:r>
              <a:rPr lang="en-US" sz="1050" dirty="0" err="1">
                <a:solidFill>
                  <a:prstClr val="black"/>
                </a:solidFill>
              </a:rPr>
              <a:t>aliran</a:t>
            </a:r>
            <a:r>
              <a:rPr lang="en-US" sz="1050" dirty="0">
                <a:solidFill>
                  <a:prstClr val="black"/>
                </a:solidFill>
              </a:rPr>
              <a:t> dana </a:t>
            </a:r>
            <a:r>
              <a:rPr lang="en-US" sz="1050" dirty="0" err="1">
                <a:solidFill>
                  <a:prstClr val="black"/>
                </a:solidFill>
              </a:rPr>
              <a:t>keluar</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SOX (</a:t>
            </a:r>
            <a:r>
              <a:rPr lang="en-US" sz="1050" i="1" dirty="0"/>
              <a:t>PHLX Semiconductor Index</a:t>
            </a:r>
            <a:r>
              <a:rPr lang="en-US" sz="1050" dirty="0"/>
              <a:t>): </a:t>
            </a:r>
            <a:r>
              <a:rPr lang="en-US" sz="1050" dirty="0" err="1"/>
              <a:t>indeks</a:t>
            </a:r>
            <a:r>
              <a:rPr lang="en-US" sz="1050" dirty="0"/>
              <a:t> 30 </a:t>
            </a:r>
            <a:r>
              <a:rPr lang="en-US" sz="1050" dirty="0" err="1"/>
              <a:t>saham</a:t>
            </a:r>
            <a:r>
              <a:rPr lang="en-US" sz="1050" dirty="0"/>
              <a:t> </a:t>
            </a:r>
            <a:r>
              <a:rPr lang="en-US" sz="1050" dirty="0" err="1"/>
              <a:t>semikonduktor</a:t>
            </a:r>
            <a:r>
              <a:rPr lang="en-US" sz="1050" dirty="0"/>
              <a:t> </a:t>
            </a:r>
            <a:r>
              <a:rPr lang="en-US" sz="1050" dirty="0" err="1"/>
              <a:t>terbesar</a:t>
            </a:r>
            <a:r>
              <a:rPr lang="en-US" sz="1050" dirty="0"/>
              <a:t> di AS</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smtClean="0"/>
              <a:t>Term </a:t>
            </a:r>
            <a:r>
              <a:rPr lang="en-US" sz="1050" i="1" dirty="0"/>
              <a:t>premium</a:t>
            </a:r>
            <a:r>
              <a:rPr lang="en-US" sz="1050" dirty="0"/>
              <a:t>: </a:t>
            </a:r>
            <a:r>
              <a:rPr lang="en-US" sz="1050" dirty="0" err="1"/>
              <a:t>imbal</a:t>
            </a:r>
            <a:r>
              <a:rPr lang="en-US" sz="1050" dirty="0"/>
              <a:t> </a:t>
            </a:r>
            <a:r>
              <a:rPr lang="en-US" sz="1050" dirty="0" err="1"/>
              <a:t>hasil</a:t>
            </a:r>
            <a:r>
              <a:rPr lang="en-US" sz="1050" dirty="0"/>
              <a:t> </a:t>
            </a:r>
            <a:r>
              <a:rPr lang="en-US" sz="1050" dirty="0" err="1"/>
              <a:t>tambahan</a:t>
            </a:r>
            <a:r>
              <a:rPr lang="en-US" sz="1050" dirty="0"/>
              <a:t> </a:t>
            </a:r>
            <a:r>
              <a:rPr lang="en-US" sz="1050" dirty="0" err="1"/>
              <a:t>untuk</a:t>
            </a:r>
            <a:r>
              <a:rPr lang="en-US" sz="1050" dirty="0"/>
              <a:t> </a:t>
            </a:r>
            <a:r>
              <a:rPr lang="en-US" sz="1050" dirty="0" err="1"/>
              <a:t>memegang</a:t>
            </a:r>
            <a:r>
              <a:rPr lang="en-US" sz="1050" dirty="0"/>
              <a:t> </a:t>
            </a:r>
            <a:r>
              <a:rPr lang="en-US" sz="1050" dirty="0" err="1"/>
              <a:t>obligasi</a:t>
            </a:r>
            <a:r>
              <a:rPr lang="en-US" sz="1050" dirty="0"/>
              <a:t> </a:t>
            </a:r>
            <a:r>
              <a:rPr lang="en-US" sz="1050" dirty="0" err="1"/>
              <a:t>bertenor</a:t>
            </a:r>
            <a:r>
              <a:rPr lang="en-US" sz="1050" dirty="0"/>
              <a:t> </a:t>
            </a:r>
            <a:r>
              <a:rPr lang="en-US" sz="1050" dirty="0" err="1"/>
              <a:t>panjang</a:t>
            </a:r>
            <a:r>
              <a:rPr lang="en-US" sz="1050" dirty="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dirty="0">
                <a:solidFill>
                  <a:prstClr val="black"/>
                </a:solidFill>
              </a:rPr>
              <a:t>The Fed: bank </a:t>
            </a:r>
            <a:r>
              <a:rPr lang="en-US" sz="1050" dirty="0" err="1">
                <a:solidFill>
                  <a:prstClr val="black"/>
                </a:solidFill>
              </a:rPr>
              <a:t>sentral</a:t>
            </a:r>
            <a:r>
              <a:rPr lang="en-US" sz="1050" dirty="0">
                <a:solidFill>
                  <a:prstClr val="black"/>
                </a:solidFill>
              </a:rPr>
              <a:t> AS.</a:t>
            </a: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US Treasury</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pemerintah</a:t>
            </a:r>
            <a:r>
              <a:rPr lang="en-US" sz="1050" dirty="0">
                <a:solidFill>
                  <a:prstClr val="black"/>
                </a:solidFill>
              </a:rPr>
              <a:t> AS</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VIX: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saham</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S&amp;P 500</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Yield</a:t>
            </a:r>
            <a:r>
              <a:rPr lang="en-US" sz="1050" dirty="0">
                <a:solidFill>
                  <a:prstClr val="black"/>
                </a:solidFill>
              </a:rPr>
              <a:t>: </a:t>
            </a:r>
            <a:r>
              <a:rPr lang="en-US" sz="1050" dirty="0" err="1">
                <a:solidFill>
                  <a:prstClr val="black"/>
                </a:solidFill>
              </a:rPr>
              <a:t>mengacu</a:t>
            </a:r>
            <a:r>
              <a:rPr lang="en-US" sz="1050" dirty="0">
                <a:solidFill>
                  <a:prstClr val="black"/>
                </a:solidFill>
              </a:rPr>
              <a:t> pada </a:t>
            </a:r>
            <a:r>
              <a:rPr lang="en-US" sz="1050" i="1" dirty="0">
                <a:solidFill>
                  <a:prstClr val="black"/>
                </a:solidFill>
              </a:rPr>
              <a:t>Yield-To-Maturity</a:t>
            </a:r>
            <a:r>
              <a:rPr lang="en-US" sz="1050" dirty="0">
                <a:solidFill>
                  <a:prstClr val="black"/>
                </a:solidFill>
              </a:rPr>
              <a:t> (YTM), yang </a:t>
            </a:r>
            <a:r>
              <a:rPr lang="en-US" sz="1050" dirty="0" err="1">
                <a:solidFill>
                  <a:prstClr val="black"/>
                </a:solidFill>
              </a:rPr>
              <a:t>didefinisikan</a:t>
            </a:r>
            <a:r>
              <a:rPr lang="en-US" sz="1050" dirty="0">
                <a:solidFill>
                  <a:prstClr val="black"/>
                </a:solidFill>
              </a:rPr>
              <a:t> </a:t>
            </a:r>
            <a:r>
              <a:rPr lang="en-US" sz="1050" dirty="0" err="1">
                <a:solidFill>
                  <a:prstClr val="black"/>
                </a:solidFill>
              </a:rPr>
              <a:t>sebagai</a:t>
            </a:r>
            <a:r>
              <a:rPr lang="en-US" sz="1050" dirty="0">
                <a:solidFill>
                  <a:prstClr val="black"/>
                </a:solidFill>
              </a:rPr>
              <a:t> total </a:t>
            </a:r>
            <a:r>
              <a:rPr lang="en-US" sz="1050" dirty="0" err="1">
                <a:solidFill>
                  <a:prstClr val="black"/>
                </a:solidFill>
              </a:rPr>
              <a:t>tingkat</a:t>
            </a:r>
            <a:r>
              <a:rPr lang="en-US" sz="1050" dirty="0">
                <a:solidFill>
                  <a:prstClr val="black"/>
                </a:solidFill>
              </a:rPr>
              <a:t> </a:t>
            </a:r>
            <a:r>
              <a:rPr lang="en-US" sz="1050" dirty="0" err="1">
                <a:solidFill>
                  <a:prstClr val="black"/>
                </a:solidFill>
              </a:rPr>
              <a:t>pengembalian</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jika</a:t>
            </a:r>
            <a:r>
              <a:rPr lang="en-US" sz="1050" dirty="0">
                <a:solidFill>
                  <a:prstClr val="black"/>
                </a:solidFill>
              </a:rPr>
              <a:t> </a:t>
            </a:r>
            <a:r>
              <a:rPr lang="en-US" sz="1050" dirty="0" err="1">
                <a:solidFill>
                  <a:prstClr val="black"/>
                </a:solidFill>
              </a:rPr>
              <a:t>dipegang</a:t>
            </a:r>
            <a:r>
              <a:rPr lang="en-US" sz="1050" dirty="0">
                <a:solidFill>
                  <a:prstClr val="black"/>
                </a:solidFill>
              </a:rPr>
              <a:t> </a:t>
            </a:r>
            <a:r>
              <a:rPr lang="en-US" sz="1050" dirty="0" err="1">
                <a:solidFill>
                  <a:prstClr val="black"/>
                </a:solidFill>
              </a:rPr>
              <a:t>hingga</a:t>
            </a:r>
            <a:r>
              <a:rPr lang="en-US" sz="1050" dirty="0">
                <a:solidFill>
                  <a:prstClr val="black"/>
                </a:solidFill>
              </a:rPr>
              <a:t> </a:t>
            </a:r>
            <a:r>
              <a:rPr lang="en-US" sz="1050" dirty="0" err="1">
                <a:solidFill>
                  <a:prstClr val="black"/>
                </a:solidFill>
              </a:rPr>
              <a:t>jatuh</a:t>
            </a:r>
            <a:r>
              <a:rPr lang="en-US" sz="1050" dirty="0">
                <a:solidFill>
                  <a:prstClr val="black"/>
                </a:solidFill>
              </a:rPr>
              <a:t> tempo</a:t>
            </a:r>
            <a:r>
              <a:rPr lang="en-US" sz="1050" dirty="0" smtClean="0">
                <a:solidFill>
                  <a:prstClr val="black"/>
                </a:solidFill>
              </a:rPr>
              <a:t>.</a:t>
            </a:r>
            <a:endParaRPr lang="en-US" sz="1050" dirty="0">
              <a:solidFill>
                <a:prstClr val="black"/>
              </a:solidFill>
            </a:endParaRPr>
          </a:p>
        </p:txBody>
      </p:sp>
    </p:spTree>
    <p:extLst>
      <p:ext uri="{BB962C8B-B14F-4D97-AF65-F5344CB8AC3E}">
        <p14:creationId xmlns:p14="http://schemas.microsoft.com/office/powerpoint/2010/main" val="110819151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5001</TotalTime>
  <Words>2933</Words>
  <Application>Microsoft Office PowerPoint</Application>
  <PresentationFormat>On-screen Show (4:3)</PresentationFormat>
  <Paragraphs>575</Paragraphs>
  <Slides>6</Slides>
  <Notes>6</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vt:i4>
      </vt:variant>
    </vt:vector>
  </HeadingPairs>
  <TitlesOfParts>
    <vt:vector size="19" baseType="lpstr">
      <vt:lpstr>Arial</vt:lpstr>
      <vt:lpstr>Calibri</vt:lpstr>
      <vt:lpstr>Calibri Light</vt:lpstr>
      <vt:lpstr>MS Mincho</vt:lpstr>
      <vt:lpstr>Times New Roman</vt:lpstr>
      <vt:lpstr>Wingdings</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ABI HISKIA CHANDRA</cp:lastModifiedBy>
  <cp:revision>2399</cp:revision>
  <dcterms:created xsi:type="dcterms:W3CDTF">2018-10-24T01:42:20Z</dcterms:created>
  <dcterms:modified xsi:type="dcterms:W3CDTF">2026-09-29T02:25:49Z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