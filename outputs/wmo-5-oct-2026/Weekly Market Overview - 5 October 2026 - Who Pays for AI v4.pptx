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 Probability-weighted range midpoint.</a:t>
            </a:r>
          </a:p>
        </c:rich>
      </c:tx>
      <c:layout>
        <c:manualLayout>
          <c:xMode val="edge"/>
          <c:yMode val="edge"/>
          <c:x val="0.02"/>
          <c:y val="0.0"/>
        </c:manualLayout>
      </c:layout>
      <c:overlay val="0"/>
    </c:title>
    <c:autoTitleDeleted val="0"/>
    <c:plotArea>
      <c:layout>
        <c:manualLayout>
          <c:layoutTarget val="inner"/>
          <c:xMode val="edge"/>
          <c:yMode val="edge"/>
          <c:x val="0.09"/>
          <c:y val="0.15"/>
          <c:w val="0.88"/>
          <c:h val="0.58"/>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3.9263</c:v>
                </c:pt>
                <c:pt idx="1">
                  <c:v>4.1188</c:v>
                </c:pt>
                <c:pt idx="2">
                  <c:v>4.2162</c:v>
                </c:pt>
                <c:pt idx="3">
                  <c:v>4.39</c:v>
                </c:pt>
                <c:pt idx="4">
                  <c:v>4.4857</c:v>
                </c:pt>
                <c:pt idx="5">
                  <c:v>4.599</c:v>
                </c:pt>
                <c:pt idx="6">
                  <c:v>4.6467</c:v>
                </c:pt>
                <c:pt idx="7">
                  <c:v>4.6866</c:v>
                </c:pt>
                <c:pt idx="8">
                  <c:v>4.6978</c:v>
                </c:pt>
                <c:pt idx="9">
                  <c:v>4.6819</c:v>
                </c:pt>
              </c:numCache>
            </c:numRef>
          </c:val>
          <c:smooth val="0"/>
        </c:ser>
        <c:marker val="1"/>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0"/>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0.5424</c:v>
                </c:pt>
                <c:pt idx="1">
                  <c:v>0.5841</c:v>
                </c:pt>
                <c:pt idx="2">
                  <c:v>0.5876</c:v>
                </c:pt>
                <c:pt idx="3">
                  <c:v>0.6243</c:v>
                </c:pt>
                <c:pt idx="4">
                  <c:v>0.6421</c:v>
                </c:pt>
                <c:pt idx="5">
                  <c:v>0.6454</c:v>
                </c:pt>
                <c:pt idx="6">
                  <c:v>0.6431</c:v>
                </c:pt>
                <c:pt idx="7">
                  <c:v>0.6576</c:v>
                </c:pt>
                <c:pt idx="8">
                  <c:v>0.6746</c:v>
                </c:pt>
                <c:pt idx="9">
                  <c:v>0.6788</c:v>
                </c:pt>
                <c:pt idx="10">
                  <c:v>0.6856</c:v>
                </c:pt>
                <c:pt idx="11">
                  <c:v>0.6479</c:v>
                </c:pt>
                <c:pt idx="12">
                  <c:v>0.6813</c:v>
                </c:pt>
                <c:pt idx="13">
                  <c:v>0.6879</c:v>
                </c:pt>
                <c:pt idx="14">
                  <c:v>0.7</c:v>
                </c:pt>
                <c:pt idx="15">
                  <c:v>0.7143</c:v>
                </c:pt>
                <c:pt idx="16">
                  <c:v>0.7</c:v>
                </c:pt>
                <c:pt idx="17">
                  <c:v>0.659</c:v>
                </c:pt>
                <c:pt idx="18">
                  <c:v>0.6436</c:v>
                </c:pt>
                <c:pt idx="19">
                  <c:v>0.7677</c:v>
                </c:pt>
                <c:pt idx="20">
                  <c:v>0.7796</c:v>
                </c:pt>
                <c:pt idx="21">
                  <c:v>0.8332</c:v>
                </c:pt>
                <c:pt idx="22">
                  <c:v>0.784</c:v>
                </c:pt>
                <c:pt idx="23">
                  <c:v>0.748</c:v>
                </c:pt>
                <c:pt idx="24">
                  <c:v>0.7514</c:v>
                </c:pt>
                <c:pt idx="25">
                  <c:v>0.7706</c:v>
                </c:pt>
                <c:pt idx="26">
                  <c:v>0.7759</c:v>
                </c:pt>
                <c:pt idx="27">
                  <c:v>0.8168</c:v>
                </c:pt>
                <c:pt idx="28">
                  <c:v>0.8146</c:v>
                </c:pt>
                <c:pt idx="29">
                  <c:v>0.822</c:v>
                </c:pt>
                <c:pt idx="30">
                  <c:v>0.7997</c:v>
                </c:pt>
                <c:pt idx="31">
                  <c:v>0.8481</c:v>
                </c:pt>
                <c:pt idx="32">
                  <c:v>0.8904</c:v>
                </c:pt>
                <c:pt idx="33">
                  <c:v>0.8663</c:v>
                </c:pt>
                <c:pt idx="34">
                  <c:v>0.7674</c:v>
                </c:pt>
                <c:pt idx="35">
                  <c:v>0.8115</c:v>
                </c:pt>
                <c:pt idx="36">
                  <c:v>0.8355</c:v>
                </c:pt>
                <c:pt idx="37">
                  <c:v>0.7838</c:v>
                </c:pt>
                <c:pt idx="38">
                  <c:v>0.7335</c:v>
                </c:pt>
                <c:pt idx="39">
                  <c:v>0.7452</c:v>
                </c:pt>
                <c:pt idx="40">
                  <c:v>0.7532</c:v>
                </c:pt>
                <c:pt idx="41">
                  <c:v>0.7236</c:v>
                </c:pt>
                <c:pt idx="42">
                  <c:v>0.7594</c:v>
                </c:pt>
                <c:pt idx="43">
                  <c:v>0.779</c:v>
                </c:pt>
                <c:pt idx="44">
                  <c:v>0.7198</c:v>
                </c:pt>
                <c:pt idx="45">
                  <c:v>0.7535</c:v>
                </c:pt>
                <c:pt idx="46">
                  <c:v>0.6767</c:v>
                </c:pt>
                <c:pt idx="47">
                  <c:v>0.7558</c:v>
                </c:pt>
                <c:pt idx="48">
                  <c:v>0.7034</c:v>
                </c:pt>
                <c:pt idx="49">
                  <c:v>0.7564</c:v>
                </c:pt>
                <c:pt idx="50">
                  <c:v>0.7137</c:v>
                </c:pt>
                <c:pt idx="51">
                  <c:v>0.6931</c:v>
                </c:pt>
                <c:pt idx="52">
                  <c:v>0.7053</c:v>
                </c:pt>
                <c:pt idx="53">
                  <c:v>0.6658</c:v>
                </c:pt>
                <c:pt idx="54">
                  <c:v>0.6068</c:v>
                </c:pt>
                <c:pt idx="55">
                  <c:v>0.632</c:v>
                </c:pt>
                <c:pt idx="56">
                  <c:v>0.5758</c:v>
                </c:pt>
                <c:pt idx="57">
                  <c:v>0.5717</c:v>
                </c:pt>
                <c:pt idx="58">
                  <c:v>0.6418</c:v>
                </c:pt>
                <c:pt idx="59">
                  <c:v>0.7265</c:v>
                </c:pt>
                <c:pt idx="60">
                  <c:v>0.7715</c:v>
                </c:pt>
                <c:pt idx="61">
                  <c:v>0.7897</c:v>
                </c:pt>
                <c:pt idx="62">
                  <c:v>0.8438</c:v>
                </c:pt>
                <c:pt idx="63">
                  <c:v>0.885</c:v>
                </c:pt>
                <c:pt idx="64">
                  <c:v>0.9047</c:v>
                </c:pt>
                <c:pt idx="65">
                  <c:v>0.9137</c:v>
                </c:pt>
              </c:numCache>
            </c:numRef>
          </c:val>
          <c:smooth val="0"/>
        </c:ser>
        <c:marker val="1"/>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0.07"/>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4.4791</c:v>
                </c:pt>
                <c:pt idx="1">
                  <c:v>4.4832</c:v>
                </c:pt>
                <c:pt idx="2">
                  <c:v>4.4693</c:v>
                </c:pt>
                <c:pt idx="3">
                  <c:v>4.5511</c:v>
                </c:pt>
                <c:pt idx="4">
                  <c:v>4.5792</c:v>
                </c:pt>
                <c:pt idx="5">
                  <c:v>4.5511</c:v>
                </c:pt>
                <c:pt idx="6">
                  <c:v>4.5612</c:v>
                </c:pt>
                <c:pt idx="7">
                  <c:v>4.6237</c:v>
                </c:pt>
                <c:pt idx="8">
                  <c:v>4.5894</c:v>
                </c:pt>
                <c:pt idx="9">
                  <c:v>4.5473</c:v>
                </c:pt>
                <c:pt idx="10">
                  <c:v>4.5534</c:v>
                </c:pt>
                <c:pt idx="11">
                  <c:v>4.5474</c:v>
                </c:pt>
                <c:pt idx="12">
                  <c:v>4.5917</c:v>
                </c:pt>
                <c:pt idx="13">
                  <c:v>4.6281</c:v>
                </c:pt>
                <c:pt idx="14">
                  <c:v>4.6545</c:v>
                </c:pt>
                <c:pt idx="15">
                  <c:v>4.6932</c:v>
                </c:pt>
                <c:pt idx="16">
                  <c:v>4.6771</c:v>
                </c:pt>
                <c:pt idx="17">
                  <c:v>4.6487</c:v>
                </c:pt>
                <c:pt idx="18">
                  <c:v>4.6062</c:v>
                </c:pt>
                <c:pt idx="19">
                  <c:v>4.6773</c:v>
                </c:pt>
                <c:pt idx="20">
                  <c:v>4.6733</c:v>
                </c:pt>
                <c:pt idx="21">
                  <c:v>4.7347</c:v>
                </c:pt>
                <c:pt idx="22">
                  <c:v>4.6755</c:v>
                </c:pt>
                <c:pt idx="23">
                  <c:v>4.6126</c:v>
                </c:pt>
                <c:pt idx="24">
                  <c:v>4.6127</c:v>
                </c:pt>
                <c:pt idx="25">
                  <c:v>4.6778</c:v>
                </c:pt>
                <c:pt idx="26">
                  <c:v>4.6454</c:v>
                </c:pt>
                <c:pt idx="27">
                  <c:v>4.7067</c:v>
                </c:pt>
                <c:pt idx="28">
                  <c:v>4.6883</c:v>
                </c:pt>
                <c:pt idx="29">
                  <c:v>4.6925</c:v>
                </c:pt>
                <c:pt idx="30">
                  <c:v>4.6427</c:v>
                </c:pt>
                <c:pt idx="31">
                  <c:v>4.6922</c:v>
                </c:pt>
                <c:pt idx="32">
                  <c:v>4.7219</c:v>
                </c:pt>
                <c:pt idx="33">
                  <c:v>4.7041</c:v>
                </c:pt>
                <c:pt idx="34">
                  <c:v>4.6466</c:v>
                </c:pt>
                <c:pt idx="35">
                  <c:v>4.7041</c:v>
                </c:pt>
                <c:pt idx="36">
                  <c:v>4.7339</c:v>
                </c:pt>
                <c:pt idx="37">
                  <c:v>4.6961</c:v>
                </c:pt>
                <c:pt idx="38">
                  <c:v>4.6288</c:v>
                </c:pt>
                <c:pt idx="39">
                  <c:v>4.6465</c:v>
                </c:pt>
                <c:pt idx="40">
                  <c:v>4.6762</c:v>
                </c:pt>
                <c:pt idx="41">
                  <c:v>4.718</c:v>
                </c:pt>
                <c:pt idx="42">
                  <c:v>4.75</c:v>
                </c:pt>
                <c:pt idx="43">
                  <c:v>4.7981</c:v>
                </c:pt>
                <c:pt idx="44">
                  <c:v>4.778</c:v>
                </c:pt>
                <c:pt idx="45">
                  <c:v>4.768</c:v>
                </c:pt>
                <c:pt idx="46">
                  <c:v>4.7821</c:v>
                </c:pt>
                <c:pt idx="47">
                  <c:v>4.7882</c:v>
                </c:pt>
                <c:pt idx="48">
                  <c:v>4.8406</c:v>
                </c:pt>
                <c:pt idx="49">
                  <c:v>4.9626</c:v>
                </c:pt>
                <c:pt idx="50">
                  <c:v>4.9669</c:v>
                </c:pt>
                <c:pt idx="51">
                  <c:v>4.9875</c:v>
                </c:pt>
                <c:pt idx="52">
                  <c:v>5.0019</c:v>
                </c:pt>
                <c:pt idx="53">
                  <c:v>5.0225</c:v>
                </c:pt>
                <c:pt idx="54">
                  <c:v>4.9304</c:v>
                </c:pt>
                <c:pt idx="55">
                  <c:v>4.9961</c:v>
                </c:pt>
                <c:pt idx="56">
                  <c:v>4.951</c:v>
                </c:pt>
                <c:pt idx="57">
                  <c:v>4.9613</c:v>
                </c:pt>
                <c:pt idx="58">
                  <c:v>5.1142</c:v>
                </c:pt>
                <c:pt idx="59">
                  <c:v>5.1978</c:v>
                </c:pt>
                <c:pt idx="60">
                  <c:v>5.1604</c:v>
                </c:pt>
                <c:pt idx="61">
                  <c:v>5.2361</c:v>
                </c:pt>
                <c:pt idx="62">
                  <c:v>5.2362</c:v>
                </c:pt>
                <c:pt idx="63">
                  <c:v>5.2849</c:v>
                </c:pt>
                <c:pt idx="64">
                  <c:v>5.2407</c:v>
                </c:pt>
                <c:pt idx="65">
                  <c:v>5.2706</c:v>
                </c:pt>
              </c:numCache>
            </c:numRef>
          </c:val>
          <c:smooth val="0"/>
        </c:ser>
        <c:marker val="1"/>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0"/>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dPt>
          <c:dPt>
            <c:idx val="1"/>
            <c:invertIfNegative val="0"/>
            <c:bubble3D val="0"/>
            <c:spPr>
              <a:solidFill>
                <a:srgbClr val="002060"/>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0051A2"/>
              </a:solidFill>
              <a:ln>
                <a:noFill/>
              </a:ln>
            </c:spPr>
          </c:dPt>
          <c:dPt>
            <c:idx val="5"/>
            <c:invertIfNegative val="0"/>
            <c:bubble3D val="0"/>
            <c:spPr>
              <a:solidFill>
                <a:srgbClr val="0051A2"/>
              </a:solidFill>
              <a:ln>
                <a:noFill/>
              </a:ln>
            </c:spPr>
          </c:dPt>
          <c:dPt>
            <c:idx val="6"/>
            <c:invertIfNegative val="0"/>
            <c:bubble3D val="0"/>
            <c:spPr>
              <a:solidFill>
                <a:srgbClr val="0051A2"/>
              </a:solidFill>
              <a:ln>
                <a:noFill/>
              </a:ln>
            </c:spPr>
          </c:dPt>
          <c:dLbls>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85.464168317655</c:v>
                </c:pt>
                <c:pt idx="1">
                  <c:v>1.5497398175096102</c:v>
                </c:pt>
                <c:pt idx="2">
                  <c:v>10.300110590980015</c:v>
                </c:pt>
                <c:pt idx="3">
                  <c:v>8.968027034052506</c:v>
                </c:pt>
                <c:pt idx="4">
                  <c:v>8.460803059273436</c:v>
                </c:pt>
                <c:pt idx="5">
                  <c:v>7.011703403498615</c:v>
                </c:pt>
                <c:pt idx="6">
                  <c:v>-26.99194500025652</c:v>
                </c:pt>
              </c:numCache>
            </c:numRef>
          </c:val>
        </c:ser>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3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Sheet1!$B$2:$B$3</c:f>
              <c:numCache>
                <c:formatCode>0.00</c:formatCode>
                <c:ptCount val="2"/>
                <c:pt idx="0">
                  <c:v>15.0</c:v>
                </c:pt>
                <c:pt idx="1">
                  <c:v>62.0</c:v>
                </c:pt>
              </c:numCache>
            </c:numRef>
          </c:val>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Sheet1!$C$2:$C$3</c:f>
              <c:numCache>
                <c:formatCode>0.00</c:formatCode>
                <c:ptCount val="2"/>
                <c:pt idx="0">
                  <c:v>22.5</c:v>
                </c:pt>
                <c:pt idx="1">
                  <c:v>45.0</c:v>
                </c:pt>
              </c:numCache>
            </c:numRef>
          </c:val>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Sheet1!$D$2:$D$3</c:f>
              <c:numCache>
                <c:formatCode>0.00</c:formatCode>
                <c:ptCount val="2"/>
                <c:pt idx="0">
                  <c:v>30.0</c:v>
                </c:pt>
                <c:pt idx="1">
                  <c:v>25.0</c:v>
                </c:pt>
              </c:numCache>
            </c:numRef>
          </c:val>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Sheet1!$E$2:$E$3</c:f>
              <c:numCache>
                <c:formatCode>0.00</c:formatCode>
                <c:ptCount val="2"/>
                <c:pt idx="0">
                  <c:v>25.75</c:v>
                </c:pt>
                <c:pt idx="1">
                  <c:v>25.0</c:v>
                </c:pt>
              </c:numCache>
            </c:numRef>
          </c:val>
        </c:ser>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dLbl>
              <c:idx val="1"/>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dLbls>
          <c:cat>
            <c:strRef>
              <c:f>Sheet1!$A$2:$A$3</c:f>
              <c:strCache>
                <c:ptCount val="2"/>
                <c:pt idx="0">
                  <c:v>2025</c:v>
                </c:pt>
                <c:pt idx="1">
                  <c:v>2026 YTD</c:v>
                </c:pt>
              </c:strCache>
            </c:strRef>
          </c:cat>
          <c:val>
            <c:numRef>
              <c:f>Sheet1!$F$2:$F$3</c:f>
              <c:numCache>
                <c:formatCode>0.00</c:formatCode>
                <c:ptCount val="2"/>
                <c:pt idx="0">
                  <c:v>93.25</c:v>
                </c:pt>
                <c:pt idx="1">
                  <c:v>157.0</c:v>
                </c:pt>
              </c:numCache>
            </c:numRef>
          </c:val>
          <c:smooth val="0"/>
        </c:ser>
        <c:marker val="1"/>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
          <c:y val="0.15"/>
          <c:w val="0.76"/>
          <c:h val="0.56"/>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c:v>
                </c:pt>
                <c:pt idx="1">
                  <c:v>150.061</c:v>
                </c:pt>
                <c:pt idx="2">
                  <c:v>156.471</c:v>
                </c:pt>
                <c:pt idx="3">
                  <c:v>154.5805</c:v>
                </c:pt>
                <c:pt idx="4">
                  <c:v>151.9012</c:v>
                </c:pt>
                <c:pt idx="5">
                  <c:v>148.1502</c:v>
                </c:pt>
                <c:pt idx="6">
                  <c:v>146.202</c:v>
                </c:pt>
                <c:pt idx="7">
                  <c:v>144.8984</c:v>
                </c:pt>
                <c:pt idx="8">
                  <c:v>145.5936</c:v>
                </c:pt>
                <c:pt idx="9">
                  <c:v>145.3438</c:v>
                </c:pt>
                <c:pt idx="10">
                  <c:v>146.5076</c:v>
                </c:pt>
              </c:numCache>
            </c:numRef>
          </c:val>
          <c:smooth val="0"/>
        </c:ser>
        <c:marker val="1"/>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16630.0</c:v>
                </c:pt>
                <c:pt idx="1">
                  <c:v>16660.0</c:v>
                </c:pt>
                <c:pt idx="2">
                  <c:v>16690.0</c:v>
                </c:pt>
                <c:pt idx="3">
                  <c:v>16785.0</c:v>
                </c:pt>
                <c:pt idx="4">
                  <c:v>16771.0</c:v>
                </c:pt>
                <c:pt idx="5">
                  <c:v>16995.0</c:v>
                </c:pt>
                <c:pt idx="6">
                  <c:v>17353.0</c:v>
                </c:pt>
                <c:pt idx="7">
                  <c:v>17874.0</c:v>
                </c:pt>
                <c:pt idx="8">
                  <c:v>17882.0</c:v>
                </c:pt>
                <c:pt idx="9">
                  <c:v>18000.0</c:v>
                </c:pt>
                <c:pt idx="10">
                  <c:v>17720.0</c:v>
                </c:pt>
              </c:numCache>
            </c:numRef>
          </c:val>
          <c:smooth val="0"/>
        </c:ser>
        <c:marker val="1"/>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c:v>
                </c:pt>
                <c:pt idx="1">
                  <c:v>2.3738</c:v>
                </c:pt>
                <c:pt idx="2">
                  <c:v>2.7049</c:v>
                </c:pt>
                <c:pt idx="3">
                  <c:v>2.5191</c:v>
                </c:pt>
                <c:pt idx="4">
                  <c:v>0.9543</c:v>
                </c:pt>
                <c:pt idx="5">
                  <c:v>1.2733</c:v>
                </c:pt>
                <c:pt idx="6">
                  <c:v>3.321</c:v>
                </c:pt>
                <c:pt idx="7">
                  <c:v>0.0891</c:v>
                </c:pt>
                <c:pt idx="8">
                  <c:v>-1.6102</c:v>
                </c:pt>
                <c:pt idx="9">
                  <c:v>-0.4505</c:v>
                </c:pt>
                <c:pt idx="10">
                  <c:v>0.1219</c:v>
                </c:pt>
                <c:pt idx="11">
                  <c:v>3.5522</c:v>
                </c:pt>
              </c:numCache>
            </c:numRef>
          </c:val>
        </c:ser>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0"/>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31" Type="http://schemas.openxmlformats.org/officeDocument/2006/relationships/chart" Target="../charts/chart1.xml"/><Relationship Id="rId3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33" Type="http://schemas.openxmlformats.org/officeDocument/2006/relationships/chart" Target="../charts/chart3.xml"/><Relationship Id="rId3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35" Type="http://schemas.openxmlformats.org/officeDocument/2006/relationships/chart" Target="../charts/chart5.xml"/><Relationship Id="rId36"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Dalam sepekan hingga 2 Oktober, peluang suku bunga The Fed berada di 4,00% atau lebih pada Oktober anjlok dari 64,2% menjadi 22,1%. Kedengarannya seperti kabar baik, tetapi coba lihat lebih jauh ke depan. Data CME FedWatch per 5 Oktober menunjukkan suku bunga yang diperkirakan pasar tetap naik bertahap, dari sekitar 3,93% untuk pertemuan Oktober menjadi 4,12% pada Desember dan 4,68% pada akhir 2027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Peluang suku bunga di 4,00% atau lebih pada Desember pun masih 81,7%. Jadi, kenaikannya hanya ditunda, belum dibatalkan.</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Logikanya, kalau The Fed diperkirakan lebih jinak,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obligasi jangka panjang ikut turun. Kenyataannya terbalik: pada periode yang sama, UST 10YR naik 11,0 bps ke 5,27%. Penyebabnya ada pada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yaitu bayaran tambahan yang diminta investor karena meminjamkan uang dalam waktu 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(model ACM) naik 14,2 bps ke 0,91%, tertinggi dalam setahun terakhir dan bahkan lebih besar dari kenaikan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itu sendiri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Polanya pun berubah: sepanjang 2026,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hanya menyumbang 16,6 dari 110,4 bps kenaikan UST 10YR, tetapi sejak akhir Juni porsinya sekitar separuh, dan pekan lalu seluruhnya.</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Efeknya terlihat jelas di pasar obligasi 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tenor 2 tahun, yang paling peka terhadap The Fed, turun 2,7 bps, sementara tenor 10 tahun naik, sehingga selisih keduanya (2s10s) melebar dari 30,9 bps menjadi 44,6 bps dalam sepekan. Bagi peminjam jangka pendek, situasinya sedikit lebih ringan. Namun, bagi pemerintah dan perusahaan yang butuh dana jangka panjang, ongkosnya justru makin mahal. Kini, biaya pinjaman tidak lagi semata ditentukan The Fed, tetapi juga oleh seberapa besar bayaran tambahan yang diminta investor.</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Pasar mulai mencoret skenario suku bunga The Fed yang lebih tinggi pada Oktober, tetapi arah suku bunga hingga 2027 masih ke atas. Anehnya,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obligasi AS 10 tahun justru naik karena investor meminta “bayaran tambahan” untuk meminjamkan uangnya lebih lama.</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Dalam demam AI, yang paling menikmati hasilnya sejauh ini adalah para penjual “sekop”, yaitu produsen chip. Per 2 Oktober, indeks saham semikonduktor AS (SOX) naik 85,5% YTD, jauh di atas rata-rata lima hyperscalers yang hanya naik 1,5%, dan Oracle justru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Contoh terbarunya Micron: laba per saham (EPS) kuartalannya mencapai USD 33,36, dari hanya USD 2,86 setahun sebelumnya, dan perkiraan laba para analis langsung direvisi naik 8,5% dalam beberapa hari. SOX pun naik 3,7% dalam sepekan. Pasar menghargai perusahaan yang sudah mencetak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nyata dari AI.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Spending on Borrowed Money.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sisi pembeli, belanja modal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untuk AI terus membesar.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Alphabet, Microsoft, Amazon, dan Meta naik dari USD 118,63 miliar pada Q4 2025 menjadi USD 165,05 miliar pada Q2 2026, atau +39,1% hanya dalam dua kuartal, sementara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kuartalan Oracle naik lebih dari dua kali lipat. Sebagian dananya dipinjam lewat obligasi: nilai obligasi USD hyperscalers yang terbit sepanjang 2026 dan masih beredar mencapai USD 157,00 miliar, naik 68,4% dibanding obligasi terbitan 2025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Artinya, AI ikut menambah antrean peminjam di pasar obligasi tepat ketika investor sedang meminta bayaran lebih.</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Lenders Read the 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Pemberi pinjaman tidak ikut terbawa euforia; mereka melihat kekuatan keuangan tiap perusahaan.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USD jatuh tempo 2036 berkisar 5,6% untuk Microsoft yang berperingkat AAA hingga 7,5% untuk Oracle yang berperingkat BBB-, atau selisih sekitar 190 bps. Pasar saham berpikir serupa: sejak akhir Juni, saham Microsoft dan Meta naik 38,7% dan 29,3%, sedangkan Oracle turun 2,9% dan menjadi satu-satunya hyperscaler yang turun YTD. Jadi, yang dihukum pasar bukan belanja untuk AI, melainkan belanja AI dengan kondisi keuangan yang lebih lemah.</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Saat biaya pinjaman jangka panjang naik, pasar mulai membedakan siapa yang menikmati demam AI dan siapa yang menanggung ongkosnya. Penjual chip menjadi pemenang, dengan SOX naik 85,5% YTD, sementara perusahaan yang belanja besar untuk AI semakin bergantung pada utang obligasi.</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3"/>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4"/>
          </a:graphicData>
        </a:graphic>
      </p:graphicFrame>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Mahalnya modal global ikut terasa di Indonesia. Rupiah memang lebih tenang pada September, tetapi cadangan devisa hampir USD 10 miliar lebih rendah dari akhir 2025, “bonus” imbal hasil SBN dibanding obligasi AS menipis, dan surplus dagang makin kecil.</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xml:space="preserve"> Sekilas, rupiah terlihat tenang: USD/IDR bergerak di 17.513–17.975 sepanjang September dan ditutup di 17.875 per 2 Oktober, lebih baik dari puncaknya di 18.178 pada Juni. Namun, di balik ketenangan itu, cadangan devisa, yang ibarat tabungan dolar negara, tercatat USD 146,51 miliar per Agustus. Angka ini turun USD 9,96 miliar dari akhir 2025 dan sempat menyentuh USD 144,90 miliar pada Mei, sementara rupiah tetap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Dengan tabungan yang lebih tipis, ruang untuk meredam guncangan berikutnya juga lebih sempit.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xml:space="preserve"> Kabar baiknya datang dari perdagangan.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Agustus melonjak ke USD 3,55 miliar dari hanya USD 0,12 miliar pada Juli, tertinggi sejak September 2025 dan muncul setelah defisit pada Mei dan 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Namun, satu bulan yang bagus belum mengubah gambaran besar: total surplus 12 bulan terakhir hanya USD 19,05 miliar, kurang dari separuh 12 bulan sebelumnya (USD 41,67 miliar), dan surplus Januari hingga Agustus 2026 turun 75,3% ke USD 7,25 miliar. Surplus ini menolong rupiah sesaat, tetapi belum berarti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xml:space="preserve"> membaik secara mendasar.</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Less Room.</a:t>
            </a:r>
            <a:r>
              <a:rPr lang="en-US" sz="1100" b="0" i="0" dirty="0">
                <a:ea typeface="MS Mincho" panose="02020609040205080304" pitchFamily="49" charset="-128"/>
                <a:cs typeface="Times New Roman" panose="02020603050405020304" pitchFamily="18" charset="0"/>
              </a:rPr>
              <a:t xml:space="preserve"> Bagi investor asing, SBN juga makin kurang menarik.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dan obligasi AS bertenor 10 tahun, yaitu “bonus” yang didapat investor karena memegang aset Indonesia, menyusut dari 298 bps pada 11 Juni menjadi 190 bps per 2 Oktober, padahal risiko pelemahan rupiah belum hilang. Di dalam negeri, inflasi September naik ke 3,28% dari 2,88% pada Juli, mendekati batas atas target BI 3,5%, sehingga imbal hasil riil SBN tinggal sekitar 3,9%. Dengan kondisi ini, BI kemungkinan lebih fokus menjaga rupiah daripada menurunkan suku bunga, dan Indonesia perlu menawarkan imbal hasil lebih tinggi untuk menarik dana asing.</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5"/>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6"/>
          </a:graphicData>
        </a:graphic>
      </p:graphicFrame>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