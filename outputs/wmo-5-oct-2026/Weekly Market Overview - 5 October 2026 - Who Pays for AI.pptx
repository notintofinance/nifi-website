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4.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6.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
    <p:sldMasterId id="2147483649" r:id="rId3"/>
    <p:sldMasterId id="2147483650" r:id="rId4"/>
    <p:sldMasterId id="2147483651" r:id="rId5"/>
    <p:sldMasterId id="2147483652" r:id="rId6"/>
    <p:sldMasterId id="2147483653" r:id="rId7"/>
    <p:sldMasterId id="2147483654" r:id="rId8"/>
  </p:sldMasterIdLst>
  <p:notesMasterIdLst>
    <p:notesMasterId r:id="rId15"/>
  </p:notesMasterIdLst>
  <p:handoutMasterIdLst>
    <p:handoutMasterId r:id="rId16"/>
  </p:handoutMasterIdLst>
  <p:sldIdLst>
    <p:sldId id="350" r:id="rId9"/>
    <p:sldId id="355" r:id="rId10"/>
    <p:sldId id="345" r:id="rId11"/>
    <p:sldId id="353" r:id="rId12"/>
    <p:sldId id="354" r:id="rId13"/>
    <p:sldId id="285" r:id="rId14"/>
  </p:sldIdLst>
  <p:sldSz cx="6858000" cy="9144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632" userDrawn="1">
          <p15:clr>
            <a:srgbClr val="A4A3A4"/>
          </p15:clr>
        </p15:guide>
        <p15:guide id="2" pos="4176" userDrawn="1">
          <p15:clr>
            <a:srgbClr val="A4A3A4"/>
          </p15:clr>
        </p15:guide>
        <p15:guide id="3" pos="192">
          <p15:clr>
            <a:srgbClr val="A4A3A4"/>
          </p15:clr>
        </p15:guide>
        <p15:guide id="4" pos="48">
          <p15:clr>
            <a:srgbClr val="A4A3A4"/>
          </p15:clr>
        </p15:guide>
        <p15:guide id="5" pos="2256">
          <p15:clr>
            <a:srgbClr val="A4A3A4"/>
          </p15:clr>
        </p15:guide>
        <p15:guide id="6" pos="2115"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ggy Widjaja" initials="PW" lastIdx="1" clrIdx="0"/>
  <p:cmAuthor id="2" name="Richie Norbert Tandias" initials="RNT" lastIdx="1" clrIdx="1"/>
  <p:cmAuthor id="3" name="ely.id@outlook.com" initials="e" lastIdx="20" clrIdx="2"/>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0051A2"/>
    <a:srgbClr val="E7E6E6"/>
    <a:srgbClr val="FFFFFF"/>
    <a:srgbClr val="E8E8E7"/>
    <a:srgbClr val="FFCCCC"/>
    <a:srgbClr val="2F5597"/>
    <a:srgbClr val="A7A7A7"/>
    <a:srgbClr val="A5A5A5"/>
    <a:srgbClr val="E8E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399" autoAdjust="0"/>
    <p:restoredTop sz="94660"/>
  </p:normalViewPr>
  <p:slideViewPr>
    <p:cSldViewPr snapToGrid="0">
      <p:cViewPr>
        <p:scale>
          <a:sx n="100" d="100"/>
          <a:sy n="100" d="100"/>
        </p:scale>
        <p:origin x="1686" y="-1026"/>
      </p:cViewPr>
      <p:guideLst>
        <p:guide orient="horz" pos="4632"/>
        <p:guide pos="4176"/>
        <p:guide pos="192"/>
        <p:guide pos="48"/>
        <p:guide pos="2256"/>
        <p:guide pos="2115"/>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7.xml"/><Relationship Id="rId13" Type="http://schemas.openxmlformats.org/officeDocument/2006/relationships/slide" Target="slides/slide5.xml"/><Relationship Id="rId18" Type="http://schemas.openxmlformats.org/officeDocument/2006/relationships/presProps" Target="presProps.xml"/><Relationship Id="rId3" Type="http://schemas.openxmlformats.org/officeDocument/2006/relationships/slideMaster" Target="slideMasters/slideMaster2.xml"/><Relationship Id="rId21" Type="http://schemas.openxmlformats.org/officeDocument/2006/relationships/tableStyles" Target="tableStyles.xml"/><Relationship Id="rId7" Type="http://schemas.openxmlformats.org/officeDocument/2006/relationships/slideMaster" Target="slideMasters/slideMaster6.xml"/><Relationship Id="rId12" Type="http://schemas.openxmlformats.org/officeDocument/2006/relationships/slide" Target="slides/slide4.xml"/><Relationship Id="rId17" Type="http://schemas.openxmlformats.org/officeDocument/2006/relationships/commentAuthors" Target="commentAuthors.xml"/><Relationship Id="rId2" Type="http://schemas.openxmlformats.org/officeDocument/2006/relationships/slideMaster" Target="slideMasters/slideMaster1.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5.xml"/><Relationship Id="rId11" Type="http://schemas.openxmlformats.org/officeDocument/2006/relationships/slide" Target="slides/slide3.xml"/><Relationship Id="rId5" Type="http://schemas.openxmlformats.org/officeDocument/2006/relationships/slideMaster" Target="slideMasters/slideMaster4.xml"/><Relationship Id="rId15" Type="http://schemas.openxmlformats.org/officeDocument/2006/relationships/notesMaster" Target="notesMasters/notesMaster1.xml"/><Relationship Id="rId10" Type="http://schemas.openxmlformats.org/officeDocument/2006/relationships/slide" Target="slides/slide2.xml"/><Relationship Id="rId19" Type="http://schemas.openxmlformats.org/officeDocument/2006/relationships/viewProps" Target="viewProps.xml"/><Relationship Id="rId4" Type="http://schemas.openxmlformats.org/officeDocument/2006/relationships/slideMaster" Target="slideMasters/slideMaster3.xml"/><Relationship Id="rId9" Type="http://schemas.openxmlformats.org/officeDocument/2006/relationships/slide" Target="slides/slide1.xml"/><Relationship Id="rId14"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a:lstStyle/>
          <a:p>
            <a:pPr>
              <a:defRPr sz="700" b="0" i="1">
                <a:solidFill>
                  <a:srgbClr val="ED7D31"/>
                </a:solidFill>
                <a:latin typeface="Calibri"/>
              </a:defRPr>
            </a:pPr>
            <a:r>
              <a:rPr lang="en-US" sz="700" b="0" i="1">
                <a:solidFill>
                  <a:srgbClr val="ED7D31"/>
                </a:solidFill>
                <a:latin typeface="Calibri"/>
              </a:rPr>
              <a:t>Draft – CME snapshot 5 Oct 2026, intraday; time unverified. Probability-weighted range midpoint.</a:t>
            </a:r>
          </a:p>
        </c:rich>
      </c:tx>
      <c:layout>
        <c:manualLayout>
          <c:xMode val="edge"/>
          <c:yMode val="edge"/>
          <c:x val="0.02"/>
          <c:y val="0.0"/>
        </c:manualLayout>
      </c:layout>
      <c:overlay val="0"/>
    </c:title>
    <c:autoTitleDeleted val="0"/>
    <c:plotArea>
      <c:layout>
        <c:manualLayout>
          <c:layoutTarget val="inner"/>
          <c:xMode val="edge"/>
          <c:yMode val="edge"/>
          <c:x val="0.09"/>
          <c:y val="0.15"/>
          <c:w val="0.88"/>
          <c:h val="0.58"/>
        </c:manualLayout>
      </c:layout>
      <c:lineChart>
        <c:grouping val="standard"/>
        <c:varyColors val="0"/>
        <c:ser>
          <c:idx val="0"/>
          <c:order val="0"/>
          <c:tx>
            <c:strRef>
              <c:f>Sheet1!$B$1</c:f>
              <c:strCache>
                <c:ptCount val="1"/>
                <c:pt idx="0">
                  <c:v>Probability-weighted target rate midpoint</c:v>
                </c:pt>
              </c:strCache>
            </c:strRef>
          </c:tx>
          <c:spPr>
            <a:ln w="25400" cap="rnd">
              <a:solidFill>
                <a:srgbClr val="0051A2"/>
              </a:solidFill>
              <a:prstDash val="solid"/>
              <a:round/>
            </a:ln>
          </c:spPr>
          <c:marker>
            <c:symbol val="circle"/>
            <c:size val="4"/>
            <c:spPr>
              <a:solidFill>
                <a:srgbClr val="0051A2"/>
              </a:solidFill>
              <a:ln>
                <a:noFill/>
              </a:ln>
            </c:spPr>
          </c:marker>
          <c:dLbls>
            <c:dLbl>
              <c:idx val="0"/>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dLbl>
              <c:idx val="1"/>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dLbl>
              <c:idx val="3"/>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dLbl>
              <c:idx val="9"/>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strRef>
              <c:f>Sheet1!$A$2:$A$11</c:f>
              <c:strCache>
                <c:ptCount val="10"/>
                <c:pt idx="0">
                  <c:v>Oct-26</c:v>
                </c:pt>
                <c:pt idx="1">
                  <c:v>Dec-26</c:v>
                </c:pt>
                <c:pt idx="2">
                  <c:v>Jan-27</c:v>
                </c:pt>
                <c:pt idx="3">
                  <c:v>Mar-27</c:v>
                </c:pt>
                <c:pt idx="4">
                  <c:v>Apr-27</c:v>
                </c:pt>
                <c:pt idx="5">
                  <c:v>Jun-27</c:v>
                </c:pt>
                <c:pt idx="6">
                  <c:v>Jul-27</c:v>
                </c:pt>
                <c:pt idx="7">
                  <c:v>Sep-27</c:v>
                </c:pt>
                <c:pt idx="8">
                  <c:v>Oct-27</c:v>
                </c:pt>
                <c:pt idx="9">
                  <c:v>Dec-27</c:v>
                </c:pt>
              </c:strCache>
            </c:strRef>
          </c:cat>
          <c:val>
            <c:numRef>
              <c:f>Sheet1!$B$2:$B$11</c:f>
              <c:numCache>
                <c:formatCode>0.0000</c:formatCode>
                <c:ptCount val="10"/>
                <c:pt idx="0">
                  <c:v>3.9263</c:v>
                </c:pt>
                <c:pt idx="1">
                  <c:v>4.1188</c:v>
                </c:pt>
                <c:pt idx="2">
                  <c:v>4.2162</c:v>
                </c:pt>
                <c:pt idx="3">
                  <c:v>4.39</c:v>
                </c:pt>
                <c:pt idx="4">
                  <c:v>4.4857</c:v>
                </c:pt>
                <c:pt idx="5">
                  <c:v>4.599</c:v>
                </c:pt>
                <c:pt idx="6">
                  <c:v>4.6467</c:v>
                </c:pt>
                <c:pt idx="7">
                  <c:v>4.6866</c:v>
                </c:pt>
                <c:pt idx="8">
                  <c:v>4.6978</c:v>
                </c:pt>
                <c:pt idx="9">
                  <c:v>4.6819</c:v>
                </c:pt>
              </c:numCache>
            </c:numRef>
          </c:val>
          <c:smooth val="0"/>
        </c:ser>
        <c:marker val="1"/>
        <c:axId val="1101"/>
        <c:axId val="1102"/>
      </c:lineChart>
      <c:catAx>
        <c:axId val="1101"/>
        <c:scaling>
          <c:orientation val="minMax"/>
        </c:scaling>
        <c:delete val="0"/>
        <c:axPos val="b"/>
        <c:numFmt formatCode="General" sourceLinked="1"/>
        <c:majorTickMark val="out"/>
        <c:minorTickMark val="none"/>
        <c:tickLblPos val="low"/>
        <c:spPr>
          <a:ln w="9525">
            <a:solidFill>
              <a:srgbClr val="000000"/>
            </a:solidFill>
            <a:prstDash val="solid"/>
          </a:ln>
        </c:spPr>
        <c:txPr>
          <a:bodyPr rot="-2700000" vert="horz"/>
          <a:lstStyle/>
          <a:p>
            <a:pPr>
              <a:defRPr sz="700" b="0">
                <a:solidFill>
                  <a:srgbClr val="000000"/>
                </a:solidFill>
                <a:latin typeface="Calibri"/>
              </a:defRPr>
            </a:pPr>
            <a:endParaRPr lang="en-US"/>
          </a:p>
        </c:txPr>
        <c:crossAx val="1102"/>
        <c:crosses val="autoZero"/>
        <c:auto val="1"/>
        <c:lblAlgn val="ctr"/>
        <c:lblOffset val="100"/>
        <c:noMultiLvlLbl val="1"/>
      </c:catAx>
      <c:valAx>
        <c:axId val="1102"/>
        <c:scaling>
          <c:orientation val="minMax"/>
          <c:max val="5.0"/>
          <c:min val="3.8"/>
        </c:scaling>
        <c:delete val="0"/>
        <c:axPos val="l"/>
        <c:numFmt formatCode="0.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01"/>
        <c:crosses val="autoZero"/>
        <c:crossBetween val="between"/>
        <c:majorUnit val="0.2"/>
      </c:valAx>
      <c:spPr>
        <a:noFill/>
        <a:ln>
          <a:noFill/>
        </a:ln>
      </c:spPr>
    </c:plotArea>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layout>
        <c:manualLayout>
          <c:layoutTarget val="inner"/>
          <c:xMode val="edge"/>
          <c:yMode val="edge"/>
          <c:x val="0.1"/>
          <c:y val="0.17"/>
          <c:w val="0.77"/>
          <c:h val="0.6"/>
        </c:manualLayout>
      </c:layout>
      <c:lineChart>
        <c:grouping val="standard"/>
        <c:varyColors val="0"/>
        <c:ser>
          <c:idx val="0"/>
          <c:order val="0"/>
          <c:tx>
            <c:strRef>
              <c:f>Sheet1!$B$1</c:f>
              <c:strCache>
                <c:ptCount val="1"/>
                <c:pt idx="0">
                  <c:v>ACM 10YR Term Premium (L)</c:v>
                </c:pt>
              </c:strCache>
            </c:strRef>
          </c:tx>
          <c:spPr>
            <a:ln w="25400" cap="rnd">
              <a:solidFill>
                <a:srgbClr val="0051A2"/>
              </a:solidFill>
              <a:prstDash val="solid"/>
              <a:round/>
            </a:ln>
          </c:spPr>
          <c:marker>
            <c:symbol val="none"/>
          </c:marker>
          <c:dLbls>
            <c:dLbl>
              <c:idx val="65"/>
              <c:layout>
                <c:manualLayout>
                  <c:x val="-0.09"/>
                  <c:y val="0.14"/>
                </c:manualLayout>
              </c:layout>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numRef>
              <c:f>Sheet1!$A$2:$A$67</c:f>
              <c:numCache>
                <c:formatCode>dd\-mmm\-yy</c:formatCode>
                <c:ptCount val="66"/>
                <c:pt idx="0">
                  <c:v>46204</c:v>
                </c:pt>
                <c:pt idx="1">
                  <c:v>46205</c:v>
                </c:pt>
                <c:pt idx="2">
                  <c:v>46209</c:v>
                </c:pt>
                <c:pt idx="3">
                  <c:v>46210</c:v>
                </c:pt>
                <c:pt idx="4">
                  <c:v>46211</c:v>
                </c:pt>
                <c:pt idx="5">
                  <c:v>46212</c:v>
                </c:pt>
                <c:pt idx="6">
                  <c:v>46213</c:v>
                </c:pt>
                <c:pt idx="7">
                  <c:v>46216</c:v>
                </c:pt>
                <c:pt idx="8">
                  <c:v>46217</c:v>
                </c:pt>
                <c:pt idx="9">
                  <c:v>46218</c:v>
                </c:pt>
                <c:pt idx="10">
                  <c:v>46219</c:v>
                </c:pt>
                <c:pt idx="11">
                  <c:v>46220</c:v>
                </c:pt>
                <c:pt idx="12">
                  <c:v>46223</c:v>
                </c:pt>
                <c:pt idx="13">
                  <c:v>46224</c:v>
                </c:pt>
                <c:pt idx="14">
                  <c:v>46225</c:v>
                </c:pt>
                <c:pt idx="15">
                  <c:v>46226</c:v>
                </c:pt>
                <c:pt idx="16">
                  <c:v>46227</c:v>
                </c:pt>
                <c:pt idx="17">
                  <c:v>46230</c:v>
                </c:pt>
                <c:pt idx="18">
                  <c:v>46231</c:v>
                </c:pt>
                <c:pt idx="19">
                  <c:v>46232</c:v>
                </c:pt>
                <c:pt idx="20">
                  <c:v>46233</c:v>
                </c:pt>
                <c:pt idx="21">
                  <c:v>46234</c:v>
                </c:pt>
                <c:pt idx="22">
                  <c:v>46237</c:v>
                </c:pt>
                <c:pt idx="23">
                  <c:v>46238</c:v>
                </c:pt>
                <c:pt idx="24">
                  <c:v>46239</c:v>
                </c:pt>
                <c:pt idx="25">
                  <c:v>46240</c:v>
                </c:pt>
                <c:pt idx="26">
                  <c:v>46241</c:v>
                </c:pt>
                <c:pt idx="27">
                  <c:v>46244</c:v>
                </c:pt>
                <c:pt idx="28">
                  <c:v>46245</c:v>
                </c:pt>
                <c:pt idx="29">
                  <c:v>46246</c:v>
                </c:pt>
                <c:pt idx="30">
                  <c:v>46247</c:v>
                </c:pt>
                <c:pt idx="31">
                  <c:v>46248</c:v>
                </c:pt>
                <c:pt idx="32">
                  <c:v>46251</c:v>
                </c:pt>
                <c:pt idx="33">
                  <c:v>46252</c:v>
                </c:pt>
                <c:pt idx="34">
                  <c:v>46253</c:v>
                </c:pt>
                <c:pt idx="35">
                  <c:v>46254</c:v>
                </c:pt>
                <c:pt idx="36">
                  <c:v>46255</c:v>
                </c:pt>
                <c:pt idx="37">
                  <c:v>46258</c:v>
                </c:pt>
                <c:pt idx="38">
                  <c:v>46259</c:v>
                </c:pt>
                <c:pt idx="39">
                  <c:v>46260</c:v>
                </c:pt>
                <c:pt idx="40">
                  <c:v>46261</c:v>
                </c:pt>
                <c:pt idx="41">
                  <c:v>46262</c:v>
                </c:pt>
                <c:pt idx="42">
                  <c:v>46265</c:v>
                </c:pt>
                <c:pt idx="43">
                  <c:v>46266</c:v>
                </c:pt>
                <c:pt idx="44">
                  <c:v>46267</c:v>
                </c:pt>
                <c:pt idx="45">
                  <c:v>46268</c:v>
                </c:pt>
                <c:pt idx="46">
                  <c:v>46269</c:v>
                </c:pt>
                <c:pt idx="47">
                  <c:v>46273</c:v>
                </c:pt>
                <c:pt idx="48">
                  <c:v>46274</c:v>
                </c:pt>
                <c:pt idx="49">
                  <c:v>46275</c:v>
                </c:pt>
                <c:pt idx="50">
                  <c:v>46276</c:v>
                </c:pt>
                <c:pt idx="51">
                  <c:v>46279</c:v>
                </c:pt>
                <c:pt idx="52">
                  <c:v>46280</c:v>
                </c:pt>
                <c:pt idx="53">
                  <c:v>46281</c:v>
                </c:pt>
                <c:pt idx="54">
                  <c:v>46282</c:v>
                </c:pt>
                <c:pt idx="55">
                  <c:v>46283</c:v>
                </c:pt>
                <c:pt idx="56">
                  <c:v>46286</c:v>
                </c:pt>
                <c:pt idx="57">
                  <c:v>46287</c:v>
                </c:pt>
                <c:pt idx="58">
                  <c:v>46288</c:v>
                </c:pt>
                <c:pt idx="59">
                  <c:v>46289</c:v>
                </c:pt>
                <c:pt idx="60">
                  <c:v>46290</c:v>
                </c:pt>
                <c:pt idx="61">
                  <c:v>46293</c:v>
                </c:pt>
                <c:pt idx="62">
                  <c:v>46294</c:v>
                </c:pt>
                <c:pt idx="63">
                  <c:v>46295</c:v>
                </c:pt>
                <c:pt idx="64">
                  <c:v>46296</c:v>
                </c:pt>
                <c:pt idx="65">
                  <c:v>46297</c:v>
                </c:pt>
              </c:numCache>
            </c:numRef>
          </c:cat>
          <c:val>
            <c:numRef>
              <c:f>Sheet1!$B$2:$B$67</c:f>
              <c:numCache>
                <c:formatCode>0.0000</c:formatCode>
                <c:ptCount val="66"/>
                <c:pt idx="0">
                  <c:v>0.5424</c:v>
                </c:pt>
                <c:pt idx="1">
                  <c:v>0.5841</c:v>
                </c:pt>
                <c:pt idx="2">
                  <c:v>0.5876</c:v>
                </c:pt>
                <c:pt idx="3">
                  <c:v>0.6243</c:v>
                </c:pt>
                <c:pt idx="4">
                  <c:v>0.6421</c:v>
                </c:pt>
                <c:pt idx="5">
                  <c:v>0.6454</c:v>
                </c:pt>
                <c:pt idx="6">
                  <c:v>0.6431</c:v>
                </c:pt>
                <c:pt idx="7">
                  <c:v>0.6576</c:v>
                </c:pt>
                <c:pt idx="8">
                  <c:v>0.6746</c:v>
                </c:pt>
                <c:pt idx="9">
                  <c:v>0.6788</c:v>
                </c:pt>
                <c:pt idx="10">
                  <c:v>0.6856</c:v>
                </c:pt>
                <c:pt idx="11">
                  <c:v>0.6479</c:v>
                </c:pt>
                <c:pt idx="12">
                  <c:v>0.6813</c:v>
                </c:pt>
                <c:pt idx="13">
                  <c:v>0.6879</c:v>
                </c:pt>
                <c:pt idx="14">
                  <c:v>0.7</c:v>
                </c:pt>
                <c:pt idx="15">
                  <c:v>0.7143</c:v>
                </c:pt>
                <c:pt idx="16">
                  <c:v>0.7</c:v>
                </c:pt>
                <c:pt idx="17">
                  <c:v>0.659</c:v>
                </c:pt>
                <c:pt idx="18">
                  <c:v>0.6436</c:v>
                </c:pt>
                <c:pt idx="19">
                  <c:v>0.7677</c:v>
                </c:pt>
                <c:pt idx="20">
                  <c:v>0.7796</c:v>
                </c:pt>
                <c:pt idx="21">
                  <c:v>0.8332</c:v>
                </c:pt>
                <c:pt idx="22">
                  <c:v>0.784</c:v>
                </c:pt>
                <c:pt idx="23">
                  <c:v>0.748</c:v>
                </c:pt>
                <c:pt idx="24">
                  <c:v>0.7514</c:v>
                </c:pt>
                <c:pt idx="25">
                  <c:v>0.7706</c:v>
                </c:pt>
                <c:pt idx="26">
                  <c:v>0.7759</c:v>
                </c:pt>
                <c:pt idx="27">
                  <c:v>0.8168</c:v>
                </c:pt>
                <c:pt idx="28">
                  <c:v>0.8146</c:v>
                </c:pt>
                <c:pt idx="29">
                  <c:v>0.822</c:v>
                </c:pt>
                <c:pt idx="30">
                  <c:v>0.7997</c:v>
                </c:pt>
                <c:pt idx="31">
                  <c:v>0.8481</c:v>
                </c:pt>
                <c:pt idx="32">
                  <c:v>0.8904</c:v>
                </c:pt>
                <c:pt idx="33">
                  <c:v>0.8663</c:v>
                </c:pt>
                <c:pt idx="34">
                  <c:v>0.7674</c:v>
                </c:pt>
                <c:pt idx="35">
                  <c:v>0.8115</c:v>
                </c:pt>
                <c:pt idx="36">
                  <c:v>0.8355</c:v>
                </c:pt>
                <c:pt idx="37">
                  <c:v>0.7838</c:v>
                </c:pt>
                <c:pt idx="38">
                  <c:v>0.7335</c:v>
                </c:pt>
                <c:pt idx="39">
                  <c:v>0.7452</c:v>
                </c:pt>
                <c:pt idx="40">
                  <c:v>0.7532</c:v>
                </c:pt>
                <c:pt idx="41">
                  <c:v>0.7236</c:v>
                </c:pt>
                <c:pt idx="42">
                  <c:v>0.7594</c:v>
                </c:pt>
                <c:pt idx="43">
                  <c:v>0.779</c:v>
                </c:pt>
                <c:pt idx="44">
                  <c:v>0.7198</c:v>
                </c:pt>
                <c:pt idx="45">
                  <c:v>0.7535</c:v>
                </c:pt>
                <c:pt idx="46">
                  <c:v>0.6767</c:v>
                </c:pt>
                <c:pt idx="47">
                  <c:v>0.7558</c:v>
                </c:pt>
                <c:pt idx="48">
                  <c:v>0.7034</c:v>
                </c:pt>
                <c:pt idx="49">
                  <c:v>0.7564</c:v>
                </c:pt>
                <c:pt idx="50">
                  <c:v>0.7137</c:v>
                </c:pt>
                <c:pt idx="51">
                  <c:v>0.6931</c:v>
                </c:pt>
                <c:pt idx="52">
                  <c:v>0.7053</c:v>
                </c:pt>
                <c:pt idx="53">
                  <c:v>0.6658</c:v>
                </c:pt>
                <c:pt idx="54">
                  <c:v>0.6068</c:v>
                </c:pt>
                <c:pt idx="55">
                  <c:v>0.632</c:v>
                </c:pt>
                <c:pt idx="56">
                  <c:v>0.5758</c:v>
                </c:pt>
                <c:pt idx="57">
                  <c:v>0.5717</c:v>
                </c:pt>
                <c:pt idx="58">
                  <c:v>0.6418</c:v>
                </c:pt>
                <c:pt idx="59">
                  <c:v>0.7265</c:v>
                </c:pt>
                <c:pt idx="60">
                  <c:v>0.7715</c:v>
                </c:pt>
                <c:pt idx="61">
                  <c:v>0.7897</c:v>
                </c:pt>
                <c:pt idx="62">
                  <c:v>0.8438</c:v>
                </c:pt>
                <c:pt idx="63">
                  <c:v>0.885</c:v>
                </c:pt>
                <c:pt idx="64">
                  <c:v>0.9047</c:v>
                </c:pt>
                <c:pt idx="65">
                  <c:v>0.9137</c:v>
                </c:pt>
              </c:numCache>
            </c:numRef>
          </c:val>
          <c:smooth val="0"/>
        </c:ser>
        <c:marker val="1"/>
        <c:axId val="1201"/>
        <c:axId val="1202"/>
      </c:lineChart>
      <c:lineChart>
        <c:grouping val="standard"/>
        <c:varyColors val="0"/>
        <c:ser>
          <c:idx val="1"/>
          <c:order val="1"/>
          <c:tx>
            <c:strRef>
              <c:f>Sheet1!$C$1</c:f>
              <c:strCache>
                <c:ptCount val="1"/>
                <c:pt idx="0">
                  <c:v>UST 10YR Yield (R)</c:v>
                </c:pt>
              </c:strCache>
            </c:strRef>
          </c:tx>
          <c:spPr>
            <a:ln w="22225" cap="rnd">
              <a:solidFill>
                <a:srgbClr val="ED7D31"/>
              </a:solidFill>
              <a:prstDash val="solid"/>
              <a:round/>
            </a:ln>
          </c:spPr>
          <c:marker>
            <c:symbol val="none"/>
          </c:marker>
          <c:dLbls>
            <c:dLbl>
              <c:idx val="65"/>
              <c:layout>
                <c:manualLayout>
                  <c:x val="-0.07"/>
                  <c:y val="-0.01"/>
                </c:manualLayout>
              </c:layout>
              <c:numFmt formatCode="0.00" sourceLinked="0"/>
              <c:spPr>
                <a:solidFill>
                  <a:srgbClr val="ED7D31"/>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numRef>
              <c:f>Sheet1!$A$2:$A$67</c:f>
              <c:numCache>
                <c:formatCode>dd\-mmm\-yy</c:formatCode>
                <c:ptCount val="66"/>
                <c:pt idx="0">
                  <c:v>46204</c:v>
                </c:pt>
                <c:pt idx="1">
                  <c:v>46205</c:v>
                </c:pt>
                <c:pt idx="2">
                  <c:v>46209</c:v>
                </c:pt>
                <c:pt idx="3">
                  <c:v>46210</c:v>
                </c:pt>
                <c:pt idx="4">
                  <c:v>46211</c:v>
                </c:pt>
                <c:pt idx="5">
                  <c:v>46212</c:v>
                </c:pt>
                <c:pt idx="6">
                  <c:v>46213</c:v>
                </c:pt>
                <c:pt idx="7">
                  <c:v>46216</c:v>
                </c:pt>
                <c:pt idx="8">
                  <c:v>46217</c:v>
                </c:pt>
                <c:pt idx="9">
                  <c:v>46218</c:v>
                </c:pt>
                <c:pt idx="10">
                  <c:v>46219</c:v>
                </c:pt>
                <c:pt idx="11">
                  <c:v>46220</c:v>
                </c:pt>
                <c:pt idx="12">
                  <c:v>46223</c:v>
                </c:pt>
                <c:pt idx="13">
                  <c:v>46224</c:v>
                </c:pt>
                <c:pt idx="14">
                  <c:v>46225</c:v>
                </c:pt>
                <c:pt idx="15">
                  <c:v>46226</c:v>
                </c:pt>
                <c:pt idx="16">
                  <c:v>46227</c:v>
                </c:pt>
                <c:pt idx="17">
                  <c:v>46230</c:v>
                </c:pt>
                <c:pt idx="18">
                  <c:v>46231</c:v>
                </c:pt>
                <c:pt idx="19">
                  <c:v>46232</c:v>
                </c:pt>
                <c:pt idx="20">
                  <c:v>46233</c:v>
                </c:pt>
                <c:pt idx="21">
                  <c:v>46234</c:v>
                </c:pt>
                <c:pt idx="22">
                  <c:v>46237</c:v>
                </c:pt>
                <c:pt idx="23">
                  <c:v>46238</c:v>
                </c:pt>
                <c:pt idx="24">
                  <c:v>46239</c:v>
                </c:pt>
                <c:pt idx="25">
                  <c:v>46240</c:v>
                </c:pt>
                <c:pt idx="26">
                  <c:v>46241</c:v>
                </c:pt>
                <c:pt idx="27">
                  <c:v>46244</c:v>
                </c:pt>
                <c:pt idx="28">
                  <c:v>46245</c:v>
                </c:pt>
                <c:pt idx="29">
                  <c:v>46246</c:v>
                </c:pt>
                <c:pt idx="30">
                  <c:v>46247</c:v>
                </c:pt>
                <c:pt idx="31">
                  <c:v>46248</c:v>
                </c:pt>
                <c:pt idx="32">
                  <c:v>46251</c:v>
                </c:pt>
                <c:pt idx="33">
                  <c:v>46252</c:v>
                </c:pt>
                <c:pt idx="34">
                  <c:v>46253</c:v>
                </c:pt>
                <c:pt idx="35">
                  <c:v>46254</c:v>
                </c:pt>
                <c:pt idx="36">
                  <c:v>46255</c:v>
                </c:pt>
                <c:pt idx="37">
                  <c:v>46258</c:v>
                </c:pt>
                <c:pt idx="38">
                  <c:v>46259</c:v>
                </c:pt>
                <c:pt idx="39">
                  <c:v>46260</c:v>
                </c:pt>
                <c:pt idx="40">
                  <c:v>46261</c:v>
                </c:pt>
                <c:pt idx="41">
                  <c:v>46262</c:v>
                </c:pt>
                <c:pt idx="42">
                  <c:v>46265</c:v>
                </c:pt>
                <c:pt idx="43">
                  <c:v>46266</c:v>
                </c:pt>
                <c:pt idx="44">
                  <c:v>46267</c:v>
                </c:pt>
                <c:pt idx="45">
                  <c:v>46268</c:v>
                </c:pt>
                <c:pt idx="46">
                  <c:v>46269</c:v>
                </c:pt>
                <c:pt idx="47">
                  <c:v>46273</c:v>
                </c:pt>
                <c:pt idx="48">
                  <c:v>46274</c:v>
                </c:pt>
                <c:pt idx="49">
                  <c:v>46275</c:v>
                </c:pt>
                <c:pt idx="50">
                  <c:v>46276</c:v>
                </c:pt>
                <c:pt idx="51">
                  <c:v>46279</c:v>
                </c:pt>
                <c:pt idx="52">
                  <c:v>46280</c:v>
                </c:pt>
                <c:pt idx="53">
                  <c:v>46281</c:v>
                </c:pt>
                <c:pt idx="54">
                  <c:v>46282</c:v>
                </c:pt>
                <c:pt idx="55">
                  <c:v>46283</c:v>
                </c:pt>
                <c:pt idx="56">
                  <c:v>46286</c:v>
                </c:pt>
                <c:pt idx="57">
                  <c:v>46287</c:v>
                </c:pt>
                <c:pt idx="58">
                  <c:v>46288</c:v>
                </c:pt>
                <c:pt idx="59">
                  <c:v>46289</c:v>
                </c:pt>
                <c:pt idx="60">
                  <c:v>46290</c:v>
                </c:pt>
                <c:pt idx="61">
                  <c:v>46293</c:v>
                </c:pt>
                <c:pt idx="62">
                  <c:v>46294</c:v>
                </c:pt>
                <c:pt idx="63">
                  <c:v>46295</c:v>
                </c:pt>
                <c:pt idx="64">
                  <c:v>46296</c:v>
                </c:pt>
                <c:pt idx="65">
                  <c:v>46297</c:v>
                </c:pt>
              </c:numCache>
            </c:numRef>
          </c:cat>
          <c:val>
            <c:numRef>
              <c:f>Sheet1!$C$2:$C$67</c:f>
              <c:numCache>
                <c:formatCode>0.0000</c:formatCode>
                <c:ptCount val="66"/>
                <c:pt idx="0">
                  <c:v>4.4791</c:v>
                </c:pt>
                <c:pt idx="1">
                  <c:v>4.4832</c:v>
                </c:pt>
                <c:pt idx="2">
                  <c:v>4.4693</c:v>
                </c:pt>
                <c:pt idx="3">
                  <c:v>4.5511</c:v>
                </c:pt>
                <c:pt idx="4">
                  <c:v>4.5792</c:v>
                </c:pt>
                <c:pt idx="5">
                  <c:v>4.5511</c:v>
                </c:pt>
                <c:pt idx="6">
                  <c:v>4.5612</c:v>
                </c:pt>
                <c:pt idx="7">
                  <c:v>4.6237</c:v>
                </c:pt>
                <c:pt idx="8">
                  <c:v>4.5894</c:v>
                </c:pt>
                <c:pt idx="9">
                  <c:v>4.5473</c:v>
                </c:pt>
                <c:pt idx="10">
                  <c:v>4.5534</c:v>
                </c:pt>
                <c:pt idx="11">
                  <c:v>4.5474</c:v>
                </c:pt>
                <c:pt idx="12">
                  <c:v>4.5917</c:v>
                </c:pt>
                <c:pt idx="13">
                  <c:v>4.6281</c:v>
                </c:pt>
                <c:pt idx="14">
                  <c:v>4.6545</c:v>
                </c:pt>
                <c:pt idx="15">
                  <c:v>4.6932</c:v>
                </c:pt>
                <c:pt idx="16">
                  <c:v>4.6771</c:v>
                </c:pt>
                <c:pt idx="17">
                  <c:v>4.6487</c:v>
                </c:pt>
                <c:pt idx="18">
                  <c:v>4.6062</c:v>
                </c:pt>
                <c:pt idx="19">
                  <c:v>4.6773</c:v>
                </c:pt>
                <c:pt idx="20">
                  <c:v>4.6733</c:v>
                </c:pt>
                <c:pt idx="21">
                  <c:v>4.7347</c:v>
                </c:pt>
                <c:pt idx="22">
                  <c:v>4.6755</c:v>
                </c:pt>
                <c:pt idx="23">
                  <c:v>4.6126</c:v>
                </c:pt>
                <c:pt idx="24">
                  <c:v>4.6127</c:v>
                </c:pt>
                <c:pt idx="25">
                  <c:v>4.6778</c:v>
                </c:pt>
                <c:pt idx="26">
                  <c:v>4.6454</c:v>
                </c:pt>
                <c:pt idx="27">
                  <c:v>4.7067</c:v>
                </c:pt>
                <c:pt idx="28">
                  <c:v>4.6883</c:v>
                </c:pt>
                <c:pt idx="29">
                  <c:v>4.6925</c:v>
                </c:pt>
                <c:pt idx="30">
                  <c:v>4.6427</c:v>
                </c:pt>
                <c:pt idx="31">
                  <c:v>4.6922</c:v>
                </c:pt>
                <c:pt idx="32">
                  <c:v>4.7219</c:v>
                </c:pt>
                <c:pt idx="33">
                  <c:v>4.7041</c:v>
                </c:pt>
                <c:pt idx="34">
                  <c:v>4.6466</c:v>
                </c:pt>
                <c:pt idx="35">
                  <c:v>4.7041</c:v>
                </c:pt>
                <c:pt idx="36">
                  <c:v>4.7339</c:v>
                </c:pt>
                <c:pt idx="37">
                  <c:v>4.6961</c:v>
                </c:pt>
                <c:pt idx="38">
                  <c:v>4.6288</c:v>
                </c:pt>
                <c:pt idx="39">
                  <c:v>4.6465</c:v>
                </c:pt>
                <c:pt idx="40">
                  <c:v>4.6762</c:v>
                </c:pt>
                <c:pt idx="41">
                  <c:v>4.718</c:v>
                </c:pt>
                <c:pt idx="42">
                  <c:v>4.75</c:v>
                </c:pt>
                <c:pt idx="43">
                  <c:v>4.7981</c:v>
                </c:pt>
                <c:pt idx="44">
                  <c:v>4.778</c:v>
                </c:pt>
                <c:pt idx="45">
                  <c:v>4.768</c:v>
                </c:pt>
                <c:pt idx="46">
                  <c:v>4.7821</c:v>
                </c:pt>
                <c:pt idx="47">
                  <c:v>4.7882</c:v>
                </c:pt>
                <c:pt idx="48">
                  <c:v>4.8406</c:v>
                </c:pt>
                <c:pt idx="49">
                  <c:v>4.9626</c:v>
                </c:pt>
                <c:pt idx="50">
                  <c:v>4.9669</c:v>
                </c:pt>
                <c:pt idx="51">
                  <c:v>4.9875</c:v>
                </c:pt>
                <c:pt idx="52">
                  <c:v>5.0019</c:v>
                </c:pt>
                <c:pt idx="53">
                  <c:v>5.0225</c:v>
                </c:pt>
                <c:pt idx="54">
                  <c:v>4.9304</c:v>
                </c:pt>
                <c:pt idx="55">
                  <c:v>4.9961</c:v>
                </c:pt>
                <c:pt idx="56">
                  <c:v>4.951</c:v>
                </c:pt>
                <c:pt idx="57">
                  <c:v>4.9613</c:v>
                </c:pt>
                <c:pt idx="58">
                  <c:v>5.1142</c:v>
                </c:pt>
                <c:pt idx="59">
                  <c:v>5.1978</c:v>
                </c:pt>
                <c:pt idx="60">
                  <c:v>5.1604</c:v>
                </c:pt>
                <c:pt idx="61">
                  <c:v>5.2361</c:v>
                </c:pt>
                <c:pt idx="62">
                  <c:v>5.2362</c:v>
                </c:pt>
                <c:pt idx="63">
                  <c:v>5.2849</c:v>
                </c:pt>
                <c:pt idx="64">
                  <c:v>5.2407</c:v>
                </c:pt>
                <c:pt idx="65">
                  <c:v>5.2706</c:v>
                </c:pt>
              </c:numCache>
            </c:numRef>
          </c:val>
          <c:smooth val="0"/>
        </c:ser>
        <c:marker val="1"/>
        <c:axId val="1203"/>
        <c:axId val="1204"/>
      </c:lineChart>
      <c:dateAx>
        <c:axId val="1201"/>
        <c:scaling>
          <c:orientation val="minMax"/>
          <c:max val="46297"/>
          <c:min val="46204"/>
        </c:scaling>
        <c:delete val="0"/>
        <c:axPos val="b"/>
        <c:numFmt formatCode="[$-409]mmm\-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1202"/>
        <c:crosses val="autoZero"/>
        <c:auto val="1"/>
        <c:lblOffset val="100"/>
        <c:baseTimeUnit val="days"/>
        <c:majorUnit val="1"/>
        <c:majorTimeUnit val="months"/>
      </c:dateAx>
      <c:valAx>
        <c:axId val="1202"/>
        <c:scaling>
          <c:orientation val="minMax"/>
          <c:max val="1.0"/>
          <c:min val="0.4"/>
        </c:scaling>
        <c:delete val="0"/>
        <c:axPos val="l"/>
        <c:numFmt formatCode="0.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201"/>
        <c:crosses val="autoZero"/>
        <c:crossBetween val="between"/>
        <c:majorUnit val="0.1"/>
      </c:valAx>
      <c:dateAx>
        <c:axId val="1203"/>
        <c:scaling>
          <c:orientation val="minMax"/>
          <c:max val="46297"/>
          <c:min val="46204"/>
        </c:scaling>
        <c:delete val="1"/>
        <c:axPos val="b"/>
        <c:numFmt formatCode="[$-409]mmm\-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1204"/>
        <c:crosses val="autoZero"/>
        <c:auto val="1"/>
        <c:lblOffset val="100"/>
        <c:baseTimeUnit val="days"/>
        <c:majorUnit val="1"/>
        <c:majorTimeUnit val="months"/>
      </c:dateAx>
      <c:valAx>
        <c:axId val="1204"/>
        <c:scaling>
          <c:orientation val="minMax"/>
          <c:max val="5.6"/>
          <c:min val="4.2"/>
        </c:scaling>
        <c:delete val="0"/>
        <c:axPos val="r"/>
        <c:numFmt formatCode="0.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203"/>
        <c:crosses val="max"/>
        <c:crossBetween val="between"/>
        <c:majorUnit val="0.2"/>
      </c:valAx>
      <c:spPr>
        <a:noFill/>
        <a:ln>
          <a:noFill/>
        </a:ln>
      </c:spPr>
    </c:plotArea>
    <c:legend>
      <c:legendPos val="t"/>
      <c:layout>
        <c:manualLayout>
          <c:xMode val="edge"/>
          <c:yMode val="edge"/>
          <c:x val="0"/>
          <c:y val="0"/>
          <c:w val="1"/>
          <c:h val="0.11"/>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layout>
        <c:manualLayout>
          <c:layoutTarget val="inner"/>
          <c:xMode val="edge"/>
          <c:yMode val="edge"/>
          <c:x val="0.02"/>
          <c:y val="0.06"/>
          <c:w val="0.96"/>
          <c:h val="0.66"/>
        </c:manualLayout>
      </c:layout>
      <c:barChart>
        <c:barDir val="col"/>
        <c:grouping val="clustered"/>
        <c:varyColors val="0"/>
        <c:ser>
          <c:idx val="0"/>
          <c:order val="0"/>
          <c:tx>
            <c:strRef>
              <c:f>Sheet1!$B$1</c:f>
              <c:strCache>
                <c:ptCount val="1"/>
                <c:pt idx="0">
                  <c:v>YTD performance (%)</c:v>
                </c:pt>
              </c:strCache>
            </c:strRef>
          </c:tx>
          <c:spPr>
            <a:solidFill>
              <a:srgbClr val="0051A2"/>
            </a:solidFill>
            <a:ln>
              <a:noFill/>
            </a:ln>
          </c:spPr>
          <c:invertIfNegative val="0"/>
          <c:dPt>
            <c:idx val="0"/>
            <c:invertIfNegative val="0"/>
            <c:bubble3D val="0"/>
            <c:spPr>
              <a:solidFill>
                <a:srgbClr val="ED7D31"/>
              </a:solidFill>
              <a:ln>
                <a:noFill/>
              </a:ln>
            </c:spPr>
          </c:dPt>
          <c:dPt>
            <c:idx val="1"/>
            <c:invertIfNegative val="0"/>
            <c:bubble3D val="0"/>
            <c:spPr>
              <a:solidFill>
                <a:srgbClr val="002060"/>
              </a:solidFill>
              <a:ln>
                <a:noFill/>
              </a:ln>
            </c:spPr>
          </c:dPt>
          <c:dPt>
            <c:idx val="2"/>
            <c:invertIfNegative val="0"/>
            <c:bubble3D val="0"/>
            <c:spPr>
              <a:solidFill>
                <a:srgbClr val="0051A2"/>
              </a:solidFill>
              <a:ln>
                <a:noFill/>
              </a:ln>
            </c:spPr>
          </c:dPt>
          <c:dPt>
            <c:idx val="3"/>
            <c:invertIfNegative val="0"/>
            <c:bubble3D val="0"/>
            <c:spPr>
              <a:solidFill>
                <a:srgbClr val="0051A2"/>
              </a:solidFill>
              <a:ln>
                <a:noFill/>
              </a:ln>
            </c:spPr>
          </c:dPt>
          <c:dPt>
            <c:idx val="4"/>
            <c:invertIfNegative val="0"/>
            <c:bubble3D val="0"/>
            <c:spPr>
              <a:solidFill>
                <a:srgbClr val="0051A2"/>
              </a:solidFill>
              <a:ln>
                <a:noFill/>
              </a:ln>
            </c:spPr>
          </c:dPt>
          <c:dPt>
            <c:idx val="5"/>
            <c:invertIfNegative val="0"/>
            <c:bubble3D val="0"/>
            <c:spPr>
              <a:solidFill>
                <a:srgbClr val="0051A2"/>
              </a:solidFill>
              <a:ln>
                <a:noFill/>
              </a:ln>
            </c:spPr>
          </c:dPt>
          <c:dPt>
            <c:idx val="6"/>
            <c:invertIfNegative val="0"/>
            <c:bubble3D val="0"/>
            <c:spPr>
              <a:solidFill>
                <a:srgbClr val="0051A2"/>
              </a:solidFill>
              <a:ln>
                <a:noFill/>
              </a:ln>
            </c:spPr>
          </c:dPt>
          <c:dLbls>
            <c:numFmt formatCode="0.0" sourceLinked="0"/>
            <c:spPr>
              <a:noFill/>
              <a:ln>
                <a:noFill/>
              </a:ln>
            </c:spPr>
            <c:txPr>
              <a:bodyPr/>
              <a:lstStyle/>
              <a:p>
                <a:pPr>
                  <a:defRPr sz="800" b="1" i="0">
                    <a:solidFill>
                      <a:srgbClr val="000000"/>
                    </a:solidFill>
                    <a:latin typeface="Calibri"/>
                  </a:defRPr>
                </a:pPr>
                <a:endParaRPr lang="en-US"/>
              </a:p>
            </c:txPr>
            <c:dLblPos val="outEnd"/>
            <c:showLegendKey val="0"/>
            <c:showVal val="1"/>
            <c:showCatName val="0"/>
            <c:showSerName val="0"/>
            <c:showPercent val="0"/>
            <c:showBubbleSize val="0"/>
          </c:dLbls>
          <c:cat>
            <c:strRef>
              <c:f>Sheet1!$A$2:$A$8</c:f>
              <c:strCache>
                <c:ptCount val="7"/>
                <c:pt idx="0">
                  <c:v>SOX</c:v>
                </c:pt>
                <c:pt idx="1">
                  <c:v>Hyperscalers (avg.)</c:v>
                </c:pt>
                <c:pt idx="2">
                  <c:v>Meta</c:v>
                </c:pt>
                <c:pt idx="3">
                  <c:v>Amazon</c:v>
                </c:pt>
                <c:pt idx="4">
                  <c:v>Alphabet</c:v>
                </c:pt>
                <c:pt idx="5">
                  <c:v>Microsoft</c:v>
                </c:pt>
                <c:pt idx="6">
                  <c:v>Oracle</c:v>
                </c:pt>
              </c:strCache>
            </c:strRef>
          </c:cat>
          <c:val>
            <c:numRef>
              <c:f>Sheet1!$B$2:$B$8</c:f>
              <c:numCache>
                <c:formatCode>0.00</c:formatCode>
                <c:ptCount val="7"/>
                <c:pt idx="0">
                  <c:v>85.464168317655</c:v>
                </c:pt>
                <c:pt idx="1">
                  <c:v>1.5497398175096102</c:v>
                </c:pt>
                <c:pt idx="2">
                  <c:v>10.300110590980015</c:v>
                </c:pt>
                <c:pt idx="3">
                  <c:v>8.968027034052506</c:v>
                </c:pt>
                <c:pt idx="4">
                  <c:v>8.460803059273436</c:v>
                </c:pt>
                <c:pt idx="5">
                  <c:v>7.011703403498615</c:v>
                </c:pt>
                <c:pt idx="6">
                  <c:v>-26.99194500025652</c:v>
                </c:pt>
              </c:numCache>
            </c:numRef>
          </c:val>
        </c:ser>
        <c:gapWidth val="60"/>
        <c:axId val="1301"/>
        <c:axId val="1302"/>
      </c:barChart>
      <c:catAx>
        <c:axId val="1301"/>
        <c:scaling>
          <c:orientation val="minMax"/>
        </c:scaling>
        <c:delete val="0"/>
        <c:axPos val="b"/>
        <c:numFmt formatCode="General" sourceLinked="1"/>
        <c:majorTickMark val="none"/>
        <c:minorTickMark val="none"/>
        <c:tickLblPos val="low"/>
        <c:spPr>
          <a:ln w="9525">
            <a:solidFill>
              <a:srgbClr val="000000"/>
            </a:solidFill>
            <a:prstDash val="solid"/>
          </a:ln>
        </c:spPr>
        <c:txPr>
          <a:bodyPr rot="-2700000" vert="horz"/>
          <a:lstStyle/>
          <a:p>
            <a:pPr>
              <a:defRPr sz="700" b="0">
                <a:solidFill>
                  <a:srgbClr val="000000"/>
                </a:solidFill>
                <a:latin typeface="Calibri"/>
              </a:defRPr>
            </a:pPr>
            <a:endParaRPr lang="en-US"/>
          </a:p>
        </c:txPr>
        <c:crossAx val="1302"/>
        <c:crosses val="autoZero"/>
        <c:auto val="1"/>
        <c:lblAlgn val="ctr"/>
        <c:lblOffset val="100"/>
        <c:noMultiLvlLbl val="1"/>
      </c:catAx>
      <c:valAx>
        <c:axId val="1302"/>
        <c:scaling>
          <c:orientation val="minMax"/>
          <c:max val="100"/>
          <c:min val="-40"/>
        </c:scaling>
        <c:delete val="1"/>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301"/>
        <c:crosses val="autoZero"/>
        <c:crossBetween val="between"/>
        <c:majorUnit val="20"/>
      </c:valAx>
      <c:spPr>
        <a:noFill/>
        <a:ln>
          <a:noFill/>
        </a:ln>
      </c:spPr>
    </c:plotArea>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layout>
        <c:manualLayout>
          <c:layoutTarget val="inner"/>
          <c:xMode val="edge"/>
          <c:yMode val="edge"/>
          <c:x val="0.02"/>
          <c:y val="0.25"/>
          <c:w val="0.96"/>
          <c:h val="0.54"/>
        </c:manualLayout>
      </c:layout>
      <c:barChart>
        <c:barDir val="col"/>
        <c:grouping val="stacked"/>
        <c:varyColors val="0"/>
        <c:ser>
          <c:idx val="0"/>
          <c:order val="0"/>
          <c:tx>
            <c:strRef>
              <c:f>Sheet1!$B$1</c:f>
              <c:strCache>
                <c:ptCount val="1"/>
                <c:pt idx="0">
                  <c:v>Amazon</c:v>
                </c:pt>
              </c:strCache>
            </c:strRef>
          </c:tx>
          <c:spPr>
            <a:solidFill>
              <a:srgbClr val="0051A2"/>
            </a:solidFill>
            <a:ln w="6350">
              <a:solidFill>
                <a:srgbClr val="FFFFFF"/>
              </a:solidFill>
            </a:ln>
          </c:spPr>
          <c:invertIfNegative val="0"/>
          <c:dLbls>
            <c:numFmt formatCode="0.00" sourceLinked="0"/>
            <c:spPr>
              <a:noFill/>
              <a:ln>
                <a:noFill/>
              </a:ln>
            </c:spPr>
            <c:txPr>
              <a:bodyPr/>
              <a:lstStyle/>
              <a:p>
                <a:pPr>
                  <a:defRPr sz="700" b="1" i="0">
                    <a:solidFill>
                      <a:srgbClr val="FFFFFF"/>
                    </a:solidFill>
                    <a:latin typeface="Calibri"/>
                  </a:defRPr>
                </a:pPr>
                <a:endParaRPr lang="en-US"/>
              </a:p>
            </c:txPr>
            <c:dLblPos val="ctr"/>
            <c:showLegendKey val="0"/>
            <c:showVal val="1"/>
            <c:showCatName val="0"/>
            <c:showSerName val="0"/>
            <c:showPercent val="0"/>
            <c:showBubbleSize val="0"/>
          </c:dLbls>
          <c:cat>
            <c:strRef>
              <c:f>Sheet1!$A$2:$A$3</c:f>
              <c:strCache>
                <c:ptCount val="2"/>
                <c:pt idx="0">
                  <c:v>2025</c:v>
                </c:pt>
                <c:pt idx="1">
                  <c:v>2026 YTD</c:v>
                </c:pt>
              </c:strCache>
            </c:strRef>
          </c:cat>
          <c:val>
            <c:numRef>
              <c:f>Sheet1!$B$2:$B$3</c:f>
              <c:numCache>
                <c:formatCode>0.00</c:formatCode>
                <c:ptCount val="2"/>
                <c:pt idx="0">
                  <c:v>15.0</c:v>
                </c:pt>
                <c:pt idx="1">
                  <c:v>62.0</c:v>
                </c:pt>
              </c:numCache>
            </c:numRef>
          </c:val>
        </c:ser>
        <c:ser>
          <c:idx val="1"/>
          <c:order val="1"/>
          <c:tx>
            <c:strRef>
              <c:f>Sheet1!$C$1</c:f>
              <c:strCache>
                <c:ptCount val="1"/>
                <c:pt idx="0">
                  <c:v>Alphabet</c:v>
                </c:pt>
              </c:strCache>
            </c:strRef>
          </c:tx>
          <c:spPr>
            <a:solidFill>
              <a:srgbClr val="002060"/>
            </a:solidFill>
            <a:ln w="6350">
              <a:solidFill>
                <a:srgbClr val="FFFFFF"/>
              </a:solidFill>
            </a:ln>
          </c:spPr>
          <c:invertIfNegative val="0"/>
          <c:dLbls>
            <c:numFmt formatCode="0.00" sourceLinked="0"/>
            <c:spPr>
              <a:noFill/>
              <a:ln>
                <a:noFill/>
              </a:ln>
            </c:spPr>
            <c:txPr>
              <a:bodyPr/>
              <a:lstStyle/>
              <a:p>
                <a:pPr>
                  <a:defRPr sz="700" b="1" i="0">
                    <a:solidFill>
                      <a:srgbClr val="FFFFFF"/>
                    </a:solidFill>
                    <a:latin typeface="Calibri"/>
                  </a:defRPr>
                </a:pPr>
                <a:endParaRPr lang="en-US"/>
              </a:p>
            </c:txPr>
            <c:dLblPos val="ctr"/>
            <c:showLegendKey val="0"/>
            <c:showVal val="1"/>
            <c:showCatName val="0"/>
            <c:showSerName val="0"/>
            <c:showPercent val="0"/>
            <c:showBubbleSize val="0"/>
          </c:dLbls>
          <c:cat>
            <c:strRef>
              <c:f>Sheet1!$A$2:$A$3</c:f>
              <c:strCache>
                <c:ptCount val="2"/>
                <c:pt idx="0">
                  <c:v>2025</c:v>
                </c:pt>
                <c:pt idx="1">
                  <c:v>2026 YTD</c:v>
                </c:pt>
              </c:strCache>
            </c:strRef>
          </c:cat>
          <c:val>
            <c:numRef>
              <c:f>Sheet1!$C$2:$C$3</c:f>
              <c:numCache>
                <c:formatCode>0.00</c:formatCode>
                <c:ptCount val="2"/>
                <c:pt idx="0">
                  <c:v>22.5</c:v>
                </c:pt>
                <c:pt idx="1">
                  <c:v>45.0</c:v>
                </c:pt>
              </c:numCache>
            </c:numRef>
          </c:val>
        </c:ser>
        <c:ser>
          <c:idx val="2"/>
          <c:order val="2"/>
          <c:tx>
            <c:strRef>
              <c:f>Sheet1!$D$1</c:f>
              <c:strCache>
                <c:ptCount val="1"/>
                <c:pt idx="0">
                  <c:v>Meta</c:v>
                </c:pt>
              </c:strCache>
            </c:strRef>
          </c:tx>
          <c:spPr>
            <a:solidFill>
              <a:srgbClr val="ED7D31"/>
            </a:solidFill>
            <a:ln w="6350">
              <a:solidFill>
                <a:srgbClr val="FFFFFF"/>
              </a:solidFill>
            </a:ln>
          </c:spPr>
          <c:invertIfNegative val="0"/>
          <c:dLbls>
            <c:numFmt formatCode="0.00" sourceLinked="0"/>
            <c:spPr>
              <a:noFill/>
              <a:ln>
                <a:noFill/>
              </a:ln>
            </c:spPr>
            <c:txPr>
              <a:bodyPr/>
              <a:lstStyle/>
              <a:p>
                <a:pPr>
                  <a:defRPr sz="700" b="1" i="0">
                    <a:solidFill>
                      <a:srgbClr val="FFFFFF"/>
                    </a:solidFill>
                    <a:latin typeface="Calibri"/>
                  </a:defRPr>
                </a:pPr>
                <a:endParaRPr lang="en-US"/>
              </a:p>
            </c:txPr>
            <c:dLblPos val="ctr"/>
            <c:showLegendKey val="0"/>
            <c:showVal val="1"/>
            <c:showCatName val="0"/>
            <c:showSerName val="0"/>
            <c:showPercent val="0"/>
            <c:showBubbleSize val="0"/>
          </c:dLbls>
          <c:cat>
            <c:strRef>
              <c:f>Sheet1!$A$2:$A$3</c:f>
              <c:strCache>
                <c:ptCount val="2"/>
                <c:pt idx="0">
                  <c:v>2025</c:v>
                </c:pt>
                <c:pt idx="1">
                  <c:v>2026 YTD</c:v>
                </c:pt>
              </c:strCache>
            </c:strRef>
          </c:cat>
          <c:val>
            <c:numRef>
              <c:f>Sheet1!$D$2:$D$3</c:f>
              <c:numCache>
                <c:formatCode>0.00</c:formatCode>
                <c:ptCount val="2"/>
                <c:pt idx="0">
                  <c:v>30.0</c:v>
                </c:pt>
                <c:pt idx="1">
                  <c:v>25.0</c:v>
                </c:pt>
              </c:numCache>
            </c:numRef>
          </c:val>
        </c:ser>
        <c:ser>
          <c:idx val="3"/>
          <c:order val="3"/>
          <c:tx>
            <c:strRef>
              <c:f>Sheet1!$E$1</c:f>
              <c:strCache>
                <c:ptCount val="1"/>
                <c:pt idx="0">
                  <c:v>Oracle</c:v>
                </c:pt>
              </c:strCache>
            </c:strRef>
          </c:tx>
          <c:spPr>
            <a:solidFill>
              <a:srgbClr val="A5A5A5"/>
            </a:solidFill>
            <a:ln w="6350">
              <a:solidFill>
                <a:srgbClr val="FFFFFF"/>
              </a:solidFill>
            </a:ln>
          </c:spPr>
          <c:invertIfNegative val="0"/>
          <c:dLbls>
            <c:numFmt formatCode="0.00" sourceLinked="0"/>
            <c:spPr>
              <a:noFill/>
              <a:ln>
                <a:noFill/>
              </a:ln>
            </c:spPr>
            <c:txPr>
              <a:bodyPr/>
              <a:lstStyle/>
              <a:p>
                <a:pPr>
                  <a:defRPr sz="700" b="1" i="0">
                    <a:solidFill>
                      <a:srgbClr val="000000"/>
                    </a:solidFill>
                    <a:latin typeface="Calibri"/>
                  </a:defRPr>
                </a:pPr>
                <a:endParaRPr lang="en-US"/>
              </a:p>
            </c:txPr>
            <c:dLblPos val="ctr"/>
            <c:showLegendKey val="0"/>
            <c:showVal val="1"/>
            <c:showCatName val="0"/>
            <c:showSerName val="0"/>
            <c:showPercent val="0"/>
            <c:showBubbleSize val="0"/>
          </c:dLbls>
          <c:cat>
            <c:strRef>
              <c:f>Sheet1!$A$2:$A$3</c:f>
              <c:strCache>
                <c:ptCount val="2"/>
                <c:pt idx="0">
                  <c:v>2025</c:v>
                </c:pt>
                <c:pt idx="1">
                  <c:v>2026 YTD</c:v>
                </c:pt>
              </c:strCache>
            </c:strRef>
          </c:cat>
          <c:val>
            <c:numRef>
              <c:f>Sheet1!$E$2:$E$3</c:f>
              <c:numCache>
                <c:formatCode>0.00</c:formatCode>
                <c:ptCount val="2"/>
                <c:pt idx="0">
                  <c:v>25.75</c:v>
                </c:pt>
                <c:pt idx="1">
                  <c:v>25.0</c:v>
                </c:pt>
              </c:numCache>
            </c:numRef>
          </c:val>
        </c:ser>
        <c:gapWidth val="70"/>
        <c:overlap val="100"/>
        <c:axId val="8001"/>
        <c:axId val="8002"/>
      </c:barChart>
      <c:lineChart>
        <c:grouping val="standard"/>
        <c:varyColors val="0"/>
        <c:ser>
          <c:idx val="4"/>
          <c:order val="4"/>
          <c:tx>
            <c:strRef>
              <c:f>Sheet1!$F$1</c:f>
              <c:strCache>
                <c:ptCount val="1"/>
                <c:pt idx="0">
                  <c:v>Total</c:v>
                </c:pt>
              </c:strCache>
            </c:strRef>
          </c:tx>
          <c:spPr>
            <a:ln>
              <a:noFill/>
            </a:ln>
          </c:spPr>
          <c:marker>
            <c:symbol val="none"/>
          </c:marker>
          <c:dLbls>
            <c:dLbl>
              <c:idx val="0"/>
              <c:numFmt formatCode="&quot;USD &quot;0.00&quot; Bn&quot;" sourceLinked="0"/>
              <c:spPr>
                <a:noFill/>
                <a:ln>
                  <a:noFill/>
                </a:ln>
              </c:spPr>
              <c:txPr>
                <a:bodyPr/>
                <a:lstStyle/>
                <a:p>
                  <a:pPr>
                    <a:defRPr sz="800" b="1" i="0">
                      <a:solidFill>
                        <a:srgbClr val="000000"/>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15:layout>
                    <c:manualLayout>
                      <c:w val="0.36"/>
                      <c:h val="0.11"/>
                    </c:manualLayout>
                  </c15:layout>
                </c:ext>
              </c:extLst>
            </c:dLbl>
            <c:dLbl>
              <c:idx val="1"/>
              <c:numFmt formatCode="&quot;USD &quot;0.00&quot; Bn&quot;" sourceLinked="0"/>
              <c:spPr>
                <a:noFill/>
                <a:ln>
                  <a:noFill/>
                </a:ln>
              </c:spPr>
              <c:txPr>
                <a:bodyPr/>
                <a:lstStyle/>
                <a:p>
                  <a:pPr>
                    <a:defRPr sz="800" b="1" i="0">
                      <a:solidFill>
                        <a:srgbClr val="000000"/>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15:layout>
                    <c:manualLayout>
                      <c:w val="0.36"/>
                      <c:h val="0.11"/>
                    </c:manualLayout>
                  </c15:layout>
                </c:ext>
              </c:extLst>
            </c:dLbl>
            <c:numFmt formatCode="&quot;USD &quot;0.00&quot; Bn&quot;" sourceLinked="0"/>
            <c:spPr>
              <a:noFill/>
              <a:ln>
                <a:noFill/>
              </a:ln>
            </c:spPr>
            <c:txPr>
              <a:bodyPr/>
              <a:lstStyle/>
              <a:p>
                <a:pPr>
                  <a:defRPr sz="800" b="1" i="0">
                    <a:solidFill>
                      <a:srgbClr val="000000"/>
                    </a:solidFill>
                    <a:latin typeface="Calibri"/>
                  </a:defRPr>
                </a:pPr>
                <a:endParaRPr lang="en-US"/>
              </a:p>
            </c:txPr>
            <c:dLblPos val="t"/>
            <c:showLegendKey val="0"/>
            <c:showVal val="1"/>
            <c:showCatName val="0"/>
            <c:showSerName val="0"/>
            <c:showPercent val="0"/>
            <c:showBubbleSize val="0"/>
          </c:dLbls>
          <c:cat>
            <c:strRef>
              <c:f>Sheet1!$A$2:$A$3</c:f>
              <c:strCache>
                <c:ptCount val="2"/>
                <c:pt idx="0">
                  <c:v>2025</c:v>
                </c:pt>
                <c:pt idx="1">
                  <c:v>2026 YTD</c:v>
                </c:pt>
              </c:strCache>
            </c:strRef>
          </c:cat>
          <c:val>
            <c:numRef>
              <c:f>Sheet1!$F$2:$F$3</c:f>
              <c:numCache>
                <c:formatCode>0.00</c:formatCode>
                <c:ptCount val="2"/>
                <c:pt idx="0">
                  <c:v>93.25</c:v>
                </c:pt>
                <c:pt idx="1">
                  <c:v>157.0</c:v>
                </c:pt>
              </c:numCache>
            </c:numRef>
          </c:val>
          <c:smooth val="0"/>
        </c:ser>
        <c:marker val="1"/>
        <c:axId val="8001"/>
        <c:axId val="8002"/>
      </c:lineChart>
      <c:catAx>
        <c:axId val="8001"/>
        <c:scaling>
          <c:orientation val="minMax"/>
        </c:scaling>
        <c:delete val="0"/>
        <c:axPos val="b"/>
        <c:numFmt formatCode="General" sourceLinked="1"/>
        <c:majorTickMark val="none"/>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8002"/>
        <c:crosses val="autoZero"/>
        <c:auto val="1"/>
        <c:lblAlgn val="ctr"/>
        <c:lblOffset val="100"/>
        <c:noMultiLvlLbl val="1"/>
      </c:catAx>
      <c:valAx>
        <c:axId val="8002"/>
        <c:scaling>
          <c:orientation val="minMax"/>
          <c:max val="180"/>
          <c:min val="0"/>
        </c:scaling>
        <c:delete val="1"/>
        <c:axPos val="l"/>
        <c:numFmt formatCode="0" sourceLinked="0"/>
        <c:majorTickMark val="out"/>
        <c:minorTickMark val="none"/>
        <c:tickLblPos val="nextTo"/>
        <c:crossAx val="8001"/>
        <c:crosses val="autoZero"/>
        <c:crossBetween val="between"/>
        <c:majorUnit val="20"/>
      </c:valAx>
      <c:spPr>
        <a:noFill/>
        <a:ln>
          <a:noFill/>
        </a:ln>
      </c:spPr>
    </c:plotArea>
    <c:legend>
      <c:legendPos val="t"/>
      <c:legendEntry>
        <c:idx val="4"/>
        <c:delete val="1"/>
      </c:legendEntry>
      <c:layout>
        <c:manualLayout>
          <c:xMode val="edge"/>
          <c:yMode val="edge"/>
          <c:x val="0"/>
          <c:y val="0"/>
          <c:w val="1"/>
          <c:h val="0.11"/>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layout>
        <c:manualLayout>
          <c:layoutTarget val="inner"/>
          <c:xMode val="edge"/>
          <c:yMode val="edge"/>
          <c:x val="0.1"/>
          <c:y val="0.15"/>
          <c:w val="0.76"/>
          <c:h val="0.56"/>
        </c:manualLayout>
      </c:layout>
      <c:lineChart>
        <c:grouping val="standard"/>
        <c:varyColors val="0"/>
        <c:ser>
          <c:idx val="0"/>
          <c:order val="0"/>
          <c:tx>
            <c:strRef>
              <c:f>Sheet1!$B$1</c:f>
              <c:strCache>
                <c:ptCount val="1"/>
                <c:pt idx="0">
                  <c:v>FX Reserves, USD Bn (L)</c:v>
                </c:pt>
              </c:strCache>
            </c:strRef>
          </c:tx>
          <c:spPr>
            <a:ln w="25400" cap="rnd">
              <a:solidFill>
                <a:srgbClr val="0051A2"/>
              </a:solidFill>
              <a:prstDash val="solid"/>
              <a:round/>
            </a:ln>
          </c:spPr>
          <c:marker>
            <c:symbol val="circle"/>
            <c:size val="4"/>
            <c:spPr>
              <a:solidFill>
                <a:srgbClr val="0051A2"/>
              </a:solidFill>
              <a:ln>
                <a:noFill/>
              </a:ln>
            </c:spPr>
          </c:marker>
          <c:dLbls>
            <c:dLbl>
              <c:idx val="2"/>
              <c:numFmt formatCode="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dLbl>
              <c:idx val="10"/>
              <c:numFmt formatCode="0.0" sourceLinked="0"/>
              <c:spPr>
                <a:solidFill>
                  <a:srgbClr val="0051A2"/>
                </a:solidFill>
                <a:ln>
                  <a:noFill/>
                </a:ln>
              </c:spPr>
              <c:txPr>
                <a:bodyPr/>
                <a:lstStyle/>
                <a:p>
                  <a:pPr>
                    <a:defRPr sz="800" b="1" i="0">
                      <a:solidFill>
                        <a:srgbClr val="FFFFFF"/>
                      </a:solidFill>
                      <a:latin typeface="Calibri"/>
                    </a:defRPr>
                  </a:pPr>
                  <a:endParaRPr lang="en-US"/>
                </a:p>
              </c:txPr>
              <c:dLblPos val="b"/>
              <c:showLegendKey val="0"/>
              <c:showVal val="1"/>
              <c:showCatName val="0"/>
              <c:showSerName val="0"/>
              <c:showPercent val="0"/>
              <c:showBubbleSize val="0"/>
            </c:dLbl>
            <c:spPr>
              <a:noFill/>
              <a:ln>
                <a:noFill/>
              </a:ln>
            </c:spPr>
            <c:showLegendKey val="0"/>
            <c:showVal val="0"/>
            <c:showCatName val="0"/>
            <c:showSerName val="0"/>
            <c:showPercent val="0"/>
            <c:showBubbleSize val="0"/>
          </c:dLbls>
          <c:cat>
            <c:strRef>
              <c:f>Sheet1!$A$2:$A$12</c:f>
              <c:strCache>
                <c:ptCount val="11"/>
                <c:pt idx="0">
                  <c:v>Oct-25</c:v>
                </c:pt>
                <c:pt idx="1">
                  <c:v>Nov-25</c:v>
                </c:pt>
                <c:pt idx="2">
                  <c:v>Dec-25</c:v>
                </c:pt>
                <c:pt idx="3">
                  <c:v>Jan-26</c:v>
                </c:pt>
                <c:pt idx="4">
                  <c:v>Feb-26</c:v>
                </c:pt>
                <c:pt idx="5">
                  <c:v>Mar-26</c:v>
                </c:pt>
                <c:pt idx="6">
                  <c:v>Apr-26</c:v>
                </c:pt>
                <c:pt idx="7">
                  <c:v>May-26</c:v>
                </c:pt>
                <c:pt idx="8">
                  <c:v>Jun-26</c:v>
                </c:pt>
                <c:pt idx="9">
                  <c:v>Jul-26</c:v>
                </c:pt>
                <c:pt idx="10">
                  <c:v>Aug-26</c:v>
                </c:pt>
              </c:strCache>
            </c:strRef>
          </c:cat>
          <c:val>
            <c:numRef>
              <c:f>Sheet1!$B$2:$B$12</c:f>
              <c:numCache>
                <c:formatCode>0.0000</c:formatCode>
                <c:ptCount val="11"/>
                <c:pt idx="0">
                  <c:v>149.9326</c:v>
                </c:pt>
                <c:pt idx="1">
                  <c:v>150.061</c:v>
                </c:pt>
                <c:pt idx="2">
                  <c:v>156.471</c:v>
                </c:pt>
                <c:pt idx="3">
                  <c:v>154.5805</c:v>
                </c:pt>
                <c:pt idx="4">
                  <c:v>151.9012</c:v>
                </c:pt>
                <c:pt idx="5">
                  <c:v>148.1502</c:v>
                </c:pt>
                <c:pt idx="6">
                  <c:v>146.202</c:v>
                </c:pt>
                <c:pt idx="7">
                  <c:v>144.8984</c:v>
                </c:pt>
                <c:pt idx="8">
                  <c:v>145.5936</c:v>
                </c:pt>
                <c:pt idx="9">
                  <c:v>145.3438</c:v>
                </c:pt>
                <c:pt idx="10">
                  <c:v>146.5076</c:v>
                </c:pt>
              </c:numCache>
            </c:numRef>
          </c:val>
          <c:smooth val="0"/>
        </c:ser>
        <c:marker val="1"/>
        <c:axId val="1501"/>
        <c:axId val="1502"/>
      </c:lineChart>
      <c:lineChart>
        <c:grouping val="standard"/>
        <c:varyColors val="0"/>
        <c:ser>
          <c:idx val="1"/>
          <c:order val="1"/>
          <c:tx>
            <c:strRef>
              <c:f>Sheet1!$C$1</c:f>
              <c:strCache>
                <c:ptCount val="1"/>
                <c:pt idx="0">
                  <c:v>USD/IDR (R)</c:v>
                </c:pt>
              </c:strCache>
            </c:strRef>
          </c:tx>
          <c:spPr>
            <a:ln w="22225" cap="rnd">
              <a:solidFill>
                <a:srgbClr val="ED7D31"/>
              </a:solidFill>
              <a:prstDash val="solid"/>
              <a:round/>
            </a:ln>
          </c:spPr>
          <c:marker>
            <c:symbol val="circle"/>
            <c:size val="4"/>
            <c:spPr>
              <a:solidFill>
                <a:srgbClr val="ED7D31"/>
              </a:solidFill>
              <a:ln>
                <a:noFill/>
              </a:ln>
            </c:spPr>
          </c:marker>
          <c:dLbls>
            <c:dLbl>
              <c:idx val="10"/>
              <c:numFmt formatCode="#,##0" sourceLinked="0"/>
              <c:spPr>
                <a:solidFill>
                  <a:srgbClr val="ED7D31"/>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strRef>
              <c:f>Sheet1!$A$2:$A$12</c:f>
              <c:strCache>
                <c:ptCount val="11"/>
                <c:pt idx="0">
                  <c:v>Oct-25</c:v>
                </c:pt>
                <c:pt idx="1">
                  <c:v>Nov-25</c:v>
                </c:pt>
                <c:pt idx="2">
                  <c:v>Dec-25</c:v>
                </c:pt>
                <c:pt idx="3">
                  <c:v>Jan-26</c:v>
                </c:pt>
                <c:pt idx="4">
                  <c:v>Feb-26</c:v>
                </c:pt>
                <c:pt idx="5">
                  <c:v>Mar-26</c:v>
                </c:pt>
                <c:pt idx="6">
                  <c:v>Apr-26</c:v>
                </c:pt>
                <c:pt idx="7">
                  <c:v>May-26</c:v>
                </c:pt>
                <c:pt idx="8">
                  <c:v>Jun-26</c:v>
                </c:pt>
                <c:pt idx="9">
                  <c:v>Jul-26</c:v>
                </c:pt>
                <c:pt idx="10">
                  <c:v>Aug-26</c:v>
                </c:pt>
              </c:strCache>
            </c:strRef>
          </c:cat>
          <c:val>
            <c:numRef>
              <c:f>Sheet1!$C$2:$C$12</c:f>
              <c:numCache>
                <c:formatCode>0.0000</c:formatCode>
                <c:ptCount val="11"/>
                <c:pt idx="0">
                  <c:v>16630.0</c:v>
                </c:pt>
                <c:pt idx="1">
                  <c:v>16660.0</c:v>
                </c:pt>
                <c:pt idx="2">
                  <c:v>16690.0</c:v>
                </c:pt>
                <c:pt idx="3">
                  <c:v>16785.0</c:v>
                </c:pt>
                <c:pt idx="4">
                  <c:v>16771.0</c:v>
                </c:pt>
                <c:pt idx="5">
                  <c:v>16995.0</c:v>
                </c:pt>
                <c:pt idx="6">
                  <c:v>17353.0</c:v>
                </c:pt>
                <c:pt idx="7">
                  <c:v>17874.0</c:v>
                </c:pt>
                <c:pt idx="8">
                  <c:v>17882.0</c:v>
                </c:pt>
                <c:pt idx="9">
                  <c:v>18000.0</c:v>
                </c:pt>
                <c:pt idx="10">
                  <c:v>17720.0</c:v>
                </c:pt>
              </c:numCache>
            </c:numRef>
          </c:val>
          <c:smooth val="0"/>
        </c:ser>
        <c:marker val="1"/>
        <c:axId val="1503"/>
        <c:axId val="1504"/>
      </c:lineChart>
      <c:catAx>
        <c:axId val="1501"/>
        <c:scaling>
          <c:orientation val="minMax"/>
        </c:scaling>
        <c:delete val="0"/>
        <c:axPos val="b"/>
        <c:numFmt formatCode="General" sourceLinked="1"/>
        <c:majorTickMark val="out"/>
        <c:minorTickMark val="none"/>
        <c:tickLblPos val="low"/>
        <c:spPr>
          <a:ln w="9525">
            <a:solidFill>
              <a:srgbClr val="000000"/>
            </a:solidFill>
            <a:prstDash val="solid"/>
          </a:ln>
        </c:spPr>
        <c:txPr>
          <a:bodyPr rot="-2700000" vert="horz"/>
          <a:lstStyle/>
          <a:p>
            <a:pPr>
              <a:defRPr sz="700" b="0">
                <a:solidFill>
                  <a:srgbClr val="000000"/>
                </a:solidFill>
                <a:latin typeface="Calibri"/>
              </a:defRPr>
            </a:pPr>
            <a:endParaRPr lang="en-US"/>
          </a:p>
        </c:txPr>
        <c:crossAx val="1502"/>
        <c:crosses val="autoZero"/>
        <c:auto val="1"/>
        <c:lblAlgn val="ctr"/>
        <c:lblOffset val="100"/>
        <c:noMultiLvlLbl val="1"/>
      </c:catAx>
      <c:valAx>
        <c:axId val="1502"/>
        <c:scaling>
          <c:orientation val="minMax"/>
          <c:max val="160"/>
          <c:min val="14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501"/>
        <c:crosses val="autoZero"/>
        <c:crossBetween val="between"/>
        <c:majorUnit val="5"/>
      </c:valAx>
      <c:catAx>
        <c:axId val="1503"/>
        <c:scaling>
          <c:orientation val="minMax"/>
        </c:scaling>
        <c:delete val="1"/>
        <c:axPos val="b"/>
        <c:numFmt formatCode="General" sourceLinked="1"/>
        <c:majorTickMark val="none"/>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1504"/>
        <c:crosses val="autoZero"/>
        <c:auto val="1"/>
        <c:lblAlgn val="ctr"/>
        <c:lblOffset val="100"/>
        <c:noMultiLvlLbl val="1"/>
      </c:catAx>
      <c:valAx>
        <c:axId val="1504"/>
        <c:scaling>
          <c:orientation val="minMax"/>
          <c:max val="18400"/>
          <c:min val="16400"/>
        </c:scaling>
        <c:delete val="0"/>
        <c:axPos val="r"/>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503"/>
        <c:crosses val="max"/>
        <c:crossBetween val="between"/>
        <c:majorUnit val="500"/>
      </c:valAx>
      <c:spPr>
        <a:noFill/>
        <a:ln>
          <a:noFill/>
        </a:ln>
      </c:spPr>
    </c:plotArea>
    <c:legend>
      <c:legendPos val="t"/>
      <c:layout>
        <c:manualLayout>
          <c:xMode val="edge"/>
          <c:yMode val="edge"/>
          <c:x val="0"/>
          <c:y val="0"/>
          <c:w val="1"/>
          <c:h val="0.11"/>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layout>
        <c:manualLayout>
          <c:layoutTarget val="inner"/>
          <c:xMode val="edge"/>
          <c:yMode val="edge"/>
          <c:x val="0.02"/>
          <c:y val="0.06"/>
          <c:w val="0.96"/>
          <c:h val="0.66"/>
        </c:manualLayout>
      </c:layout>
      <c:barChart>
        <c:barDir val="col"/>
        <c:grouping val="clustered"/>
        <c:varyColors val="0"/>
        <c:ser>
          <c:idx val="0"/>
          <c:order val="0"/>
          <c:tx>
            <c:strRef>
              <c:f>Sheet1!$B$1</c:f>
              <c:strCache>
                <c:ptCount val="1"/>
                <c:pt idx="0">
                  <c:v>Trade balance (USD bn)</c:v>
                </c:pt>
              </c:strCache>
            </c:strRef>
          </c:tx>
          <c:spPr>
            <a:solidFill>
              <a:srgbClr val="0051A2"/>
            </a:solidFill>
            <a:ln>
              <a:noFill/>
            </a:ln>
          </c:spPr>
          <c:invertIfNegative val="0"/>
          <c:dPt>
            <c:idx val="11"/>
            <c:invertIfNegative val="0"/>
            <c:bubble3D val="0"/>
            <c:spPr>
              <a:solidFill>
                <a:srgbClr val="ED7D31"/>
              </a:solidFill>
              <a:ln>
                <a:noFill/>
              </a:ln>
            </c:spPr>
          </c:dPt>
          <c:dLbls>
            <c:dLbl>
              <c:idx val="11"/>
              <c:numFmt formatCode="0.00" sourceLinked="0"/>
              <c:spPr>
                <a:solidFill>
                  <a:srgbClr val="ED7D31"/>
                </a:solidFill>
                <a:ln>
                  <a:noFill/>
                </a:ln>
              </c:spPr>
              <c:txPr>
                <a:bodyPr/>
                <a:lstStyle/>
                <a:p>
                  <a:pPr>
                    <a:defRPr sz="800" b="1" i="0">
                      <a:solidFill>
                        <a:srgbClr val="FFFFFF"/>
                      </a:solidFill>
                      <a:latin typeface="Calibri"/>
                    </a:defRPr>
                  </a:pPr>
                  <a:endParaRPr lang="en-US"/>
                </a:p>
              </c:txPr>
              <c:dLblPos val="outEnd"/>
              <c:showLegendKey val="0"/>
              <c:showVal val="1"/>
              <c:showCatName val="0"/>
              <c:showSerName val="0"/>
              <c:showPercent val="0"/>
              <c:showBubbleSize val="0"/>
            </c:dLbl>
            <c:numFmt formatCode="0.0" sourceLinked="0"/>
            <c:spPr>
              <a:noFill/>
              <a:ln>
                <a:noFill/>
              </a:ln>
            </c:spPr>
            <c:txPr>
              <a:bodyPr/>
              <a:lstStyle/>
              <a:p>
                <a:pPr>
                  <a:defRPr sz="700" b="1" i="0">
                    <a:solidFill>
                      <a:srgbClr val="000000"/>
                    </a:solidFill>
                    <a:latin typeface="Calibri"/>
                  </a:defRPr>
                </a:pPr>
                <a:endParaRPr lang="en-US"/>
              </a:p>
            </c:txPr>
            <c:dLblPos val="outEnd"/>
            <c:showLegendKey val="0"/>
            <c:showVal val="1"/>
            <c:showCatName val="0"/>
            <c:showSerName val="0"/>
            <c:showPercent val="0"/>
            <c:showBubbleSize val="0"/>
          </c:dLbls>
          <c:cat>
            <c:strRef>
              <c:f>Sheet1!$A$2:$A$13</c:f>
              <c:strCache>
                <c:ptCount val="12"/>
                <c:pt idx="0">
                  <c:v>Sep-25</c:v>
                </c:pt>
                <c:pt idx="1">
                  <c:v>Oct-25</c:v>
                </c:pt>
                <c:pt idx="2">
                  <c:v>Nov-25</c:v>
                </c:pt>
                <c:pt idx="3">
                  <c:v>Dec-25</c:v>
                </c:pt>
                <c:pt idx="4">
                  <c:v>Jan-26</c:v>
                </c:pt>
                <c:pt idx="5">
                  <c:v>Feb-26</c:v>
                </c:pt>
                <c:pt idx="6">
                  <c:v>Mar-26</c:v>
                </c:pt>
                <c:pt idx="7">
                  <c:v>Apr-26</c:v>
                </c:pt>
                <c:pt idx="8">
                  <c:v>May-26</c:v>
                </c:pt>
                <c:pt idx="9">
                  <c:v>Jun-26</c:v>
                </c:pt>
                <c:pt idx="10">
                  <c:v>Jul-26</c:v>
                </c:pt>
                <c:pt idx="11">
                  <c:v>Aug-26</c:v>
                </c:pt>
              </c:strCache>
            </c:strRef>
          </c:cat>
          <c:val>
            <c:numRef>
              <c:f>Sheet1!$B$2:$B$13</c:f>
              <c:numCache>
                <c:formatCode>0.00</c:formatCode>
                <c:ptCount val="12"/>
                <c:pt idx="0">
                  <c:v>4.198</c:v>
                </c:pt>
                <c:pt idx="1">
                  <c:v>2.3738</c:v>
                </c:pt>
                <c:pt idx="2">
                  <c:v>2.7049</c:v>
                </c:pt>
                <c:pt idx="3">
                  <c:v>2.5191</c:v>
                </c:pt>
                <c:pt idx="4">
                  <c:v>0.9543</c:v>
                </c:pt>
                <c:pt idx="5">
                  <c:v>1.2733</c:v>
                </c:pt>
                <c:pt idx="6">
                  <c:v>3.321</c:v>
                </c:pt>
                <c:pt idx="7">
                  <c:v>0.0891</c:v>
                </c:pt>
                <c:pt idx="8">
                  <c:v>-1.6102</c:v>
                </c:pt>
                <c:pt idx="9">
                  <c:v>-0.4505</c:v>
                </c:pt>
                <c:pt idx="10">
                  <c:v>0.1219</c:v>
                </c:pt>
                <c:pt idx="11">
                  <c:v>3.5522</c:v>
                </c:pt>
              </c:numCache>
            </c:numRef>
          </c:val>
        </c:ser>
        <c:gapWidth val="50"/>
        <c:axId val="9001"/>
        <c:axId val="9002"/>
      </c:barChart>
      <c:catAx>
        <c:axId val="9001"/>
        <c:scaling>
          <c:orientation val="minMax"/>
        </c:scaling>
        <c:delete val="0"/>
        <c:axPos val="b"/>
        <c:numFmt formatCode="General" sourceLinked="1"/>
        <c:majorTickMark val="none"/>
        <c:minorTickMark val="none"/>
        <c:tickLblPos val="low"/>
        <c:spPr>
          <a:ln w="9525">
            <a:solidFill>
              <a:srgbClr val="000000"/>
            </a:solidFill>
            <a:prstDash val="solid"/>
          </a:ln>
        </c:spPr>
        <c:txPr>
          <a:bodyPr rot="-2700000" vert="horz"/>
          <a:lstStyle/>
          <a:p>
            <a:pPr>
              <a:defRPr sz="700" b="0">
                <a:solidFill>
                  <a:srgbClr val="000000"/>
                </a:solidFill>
                <a:latin typeface="Calibri"/>
              </a:defRPr>
            </a:pPr>
            <a:endParaRPr lang="en-US"/>
          </a:p>
        </c:txPr>
        <c:crossAx val="9002"/>
        <c:crosses val="autoZero"/>
        <c:auto val="1"/>
        <c:lblAlgn val="ctr"/>
        <c:lblOffset val="100"/>
        <c:noMultiLvlLbl val="1"/>
      </c:catAx>
      <c:valAx>
        <c:axId val="9002"/>
        <c:scaling>
          <c:orientation val="minMax"/>
          <c:max val="5.0"/>
          <c:min val="-2.5"/>
        </c:scaling>
        <c:delete val="1"/>
        <c:axPos val="l"/>
        <c:numFmt formatCode="0.0" sourceLinked="0"/>
        <c:majorTickMark val="out"/>
        <c:minorTickMark val="none"/>
        <c:tickLblPos val="nextTo"/>
        <c:crossAx val="9001"/>
        <c:crosses val="autoZero"/>
        <c:crossBetween val="between"/>
        <c:majorUnit val="1"/>
      </c:valAx>
      <c:spPr>
        <a:noFill/>
        <a:ln>
          <a:noFill/>
        </a:ln>
      </c:spPr>
    </c:plotArea>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7"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08"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C9A8AE1-4BCC-1947-B019-350BB873436E}" type="datetimeFigureOut">
              <a:rPr lang="en-US" smtClean="0"/>
              <a:t>9/29/2026</a:t>
            </a:fld>
            <a:endParaRPr lang="en-US"/>
          </a:p>
        </p:txBody>
      </p:sp>
      <p:sp>
        <p:nvSpPr>
          <p:cNvPr id="1048909"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1048910"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AC3932C-02E6-FF41-B5D9-852B3DF5DCC8}"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1"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02" name="Date Placeholder 2"/>
          <p:cNvSpPr>
            <a:spLocks noGrp="1"/>
          </p:cNvSpPr>
          <p:nvPr>
            <p:ph type="dt" idx="1"/>
          </p:nvPr>
        </p:nvSpPr>
        <p:spPr>
          <a:xfrm>
            <a:off x="3885010" y="0"/>
            <a:ext cx="2971800" cy="457200"/>
          </a:xfrm>
          <a:prstGeom prst="rect">
            <a:avLst/>
          </a:prstGeom>
        </p:spPr>
        <p:txBody>
          <a:bodyPr vert="horz" lIns="91440" tIns="45720" rIns="91440" bIns="45720" rtlCol="0"/>
          <a:lstStyle>
            <a:lvl1pPr algn="r">
              <a:defRPr sz="1200"/>
            </a:lvl1pPr>
          </a:lstStyle>
          <a:p>
            <a:fld id="{49CCFED1-E03E-462D-962A-1A36BFBBCABD}" type="datetimeFigureOut">
              <a:rPr lang="en-US" smtClean="0"/>
              <a:t>9/29/2026</a:t>
            </a:fld>
            <a:endParaRPr lang="en-US"/>
          </a:p>
        </p:txBody>
      </p:sp>
      <p:sp>
        <p:nvSpPr>
          <p:cNvPr id="1048903" name="Slide Image Placeholder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en-US"/>
          </a:p>
        </p:txBody>
      </p:sp>
      <p:sp>
        <p:nvSpPr>
          <p:cNvPr id="1048904"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05" name="Footer Placeholder 5"/>
          <p:cNvSpPr>
            <a:spLocks noGrp="1"/>
          </p:cNvSpPr>
          <p:nvPr>
            <p:ph type="ftr" sz="quarter" idx="4"/>
          </p:nvPr>
        </p:nvSpPr>
        <p:spPr>
          <a:xfrm>
            <a:off x="0" y="8684684"/>
            <a:ext cx="2971800" cy="457200"/>
          </a:xfrm>
          <a:prstGeom prst="rect">
            <a:avLst/>
          </a:prstGeom>
        </p:spPr>
        <p:txBody>
          <a:bodyPr vert="horz" lIns="91440" tIns="45720" rIns="91440" bIns="45720" rtlCol="0" anchor="b"/>
          <a:lstStyle>
            <a:lvl1pPr algn="l">
              <a:defRPr sz="1200"/>
            </a:lvl1pPr>
          </a:lstStyle>
          <a:p>
            <a:endParaRPr lang="en-US"/>
          </a:p>
        </p:txBody>
      </p:sp>
      <p:sp>
        <p:nvSpPr>
          <p:cNvPr id="1048906" name="Slide Number Placeholder 6"/>
          <p:cNvSpPr>
            <a:spLocks noGrp="1"/>
          </p:cNvSpPr>
          <p:nvPr>
            <p:ph type="sldNum" sz="quarter" idx="5"/>
          </p:nvPr>
        </p:nvSpPr>
        <p:spPr>
          <a:xfrm>
            <a:off x="3885010" y="8684684"/>
            <a:ext cx="2971800" cy="457200"/>
          </a:xfrm>
          <a:prstGeom prst="rect">
            <a:avLst/>
          </a:prstGeom>
        </p:spPr>
        <p:txBody>
          <a:bodyPr vert="horz" lIns="91440" tIns="45720" rIns="91440" bIns="45720" rtlCol="0" anchor="b"/>
          <a:lstStyle>
            <a:lvl1pPr algn="r">
              <a:defRPr sz="1200"/>
            </a:lvl1pPr>
          </a:lstStyle>
          <a:p>
            <a:fld id="{84D0BFC2-306C-464A-8BE3-5C53A71A5A13}" type="slidenum">
              <a:rPr lang="en-US" smtClean="0"/>
              <a:t>‹#›</a:t>
            </a:fld>
            <a:endParaRPr lang="en-US"/>
          </a:p>
        </p:txBody>
      </p:sp>
    </p:spTree>
    <p:extLst>
      <p:ext uri="{BB962C8B-B14F-4D97-AF65-F5344CB8AC3E}">
        <p14:creationId xmlns:p14="http://schemas.microsoft.com/office/powerpoint/2010/main" val="321963921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CEC2344-3C30-5C47-CA13-930648AF6E82}"/>
            </a:ext>
          </a:extLst>
        </p:cNvPr>
        <p:cNvGrpSpPr/>
        <p:nvPr/>
      </p:nvGrpSpPr>
      <p:grpSpPr>
        <a:xfrm>
          <a:off x="0" y="0"/>
          <a:ext cx="0" cy="0"/>
          <a:chOff x="0" y="0"/>
          <a:chExt cx="0" cy="0"/>
        </a:xfrm>
      </p:grpSpPr>
      <p:sp>
        <p:nvSpPr>
          <p:cNvPr id="1048602" name="Slide Image Placeholder 1">
            <a:extLst>
              <a:ext uri="{FF2B5EF4-FFF2-40B4-BE49-F238E27FC236}">
                <a16:creationId xmlns:a16="http://schemas.microsoft.com/office/drawing/2014/main" xmlns="" id="{F3BCE434-94AA-B577-15E0-25FF1E4F1615}"/>
              </a:ext>
            </a:extLst>
          </p:cNvPr>
          <p:cNvSpPr>
            <a:spLocks noGrp="1" noRot="1" noChangeAspect="1"/>
          </p:cNvSpPr>
          <p:nvPr>
            <p:ph type="sldImg"/>
          </p:nvPr>
        </p:nvSpPr>
        <p:spPr/>
      </p:sp>
      <p:sp>
        <p:nvSpPr>
          <p:cNvPr id="1048603" name="Notes Placeholder 2">
            <a:extLst>
              <a:ext uri="{FF2B5EF4-FFF2-40B4-BE49-F238E27FC236}">
                <a16:creationId xmlns:a16="http://schemas.microsoft.com/office/drawing/2014/main" xmlns="" id="{82B0C9AC-4632-788B-6ABE-71A282CCF302}"/>
              </a:ext>
            </a:extLst>
          </p:cNvPr>
          <p:cNvSpPr>
            <a:spLocks noGrp="1"/>
          </p:cNvSpPr>
          <p:nvPr>
            <p:ph type="body" idx="1"/>
          </p:nvPr>
        </p:nvSpPr>
        <p:spPr/>
        <p:txBody>
          <a:bodyPr/>
          <a:lstStyle/>
          <a:p>
            <a:endParaRPr lang="id-ID" dirty="0"/>
          </a:p>
        </p:txBody>
      </p:sp>
      <p:sp>
        <p:nvSpPr>
          <p:cNvPr id="1048604" name="Slide Number Placeholder 3">
            <a:extLst>
              <a:ext uri="{FF2B5EF4-FFF2-40B4-BE49-F238E27FC236}">
                <a16:creationId xmlns:a16="http://schemas.microsoft.com/office/drawing/2014/main" xmlns="" id="{E4B97CB0-51C4-0175-97C4-CB0C18B5CBB6}"/>
              </a:ext>
            </a:extLst>
          </p:cNvPr>
          <p:cNvSpPr>
            <a:spLocks noGrp="1"/>
          </p:cNvSpPr>
          <p:nvPr>
            <p:ph type="sldNum" sz="quarter" idx="10"/>
          </p:nvPr>
        </p:nvSpPr>
        <p:spPr/>
        <p:txBody>
          <a:bodyPr/>
          <a:lstStyle/>
          <a:p>
            <a:fld id="{F4576B7D-FFCE-497E-994F-ED8CF7DB0CE2}" type="slidenum">
              <a:rPr lang="id-ID" smtClean="0">
                <a:solidFill>
                  <a:prstClr val="black"/>
                </a:solidFill>
              </a:rPr>
              <a:t>1</a:t>
            </a:fld>
            <a:endParaRPr lang="id-ID">
              <a:solidFill>
                <a:prstClr val="black"/>
              </a:solidFill>
            </a:endParaRPr>
          </a:p>
        </p:txBody>
      </p:sp>
    </p:spTree>
    <p:extLst>
      <p:ext uri="{BB962C8B-B14F-4D97-AF65-F5344CB8AC3E}">
        <p14:creationId xmlns:p14="http://schemas.microsoft.com/office/powerpoint/2010/main" val="1067970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03A28BF-F638-7EAA-4003-CDEF5C993CFD}"/>
            </a:ext>
          </a:extLst>
        </p:cNvPr>
        <p:cNvGrpSpPr/>
        <p:nvPr/>
      </p:nvGrpSpPr>
      <p:grpSpPr>
        <a:xfrm>
          <a:off x="0" y="0"/>
          <a:ext cx="0" cy="0"/>
          <a:chOff x="0" y="0"/>
          <a:chExt cx="0" cy="0"/>
        </a:xfrm>
      </p:grpSpPr>
      <p:sp>
        <p:nvSpPr>
          <p:cNvPr id="1048602" name="Slide Image Placeholder 1">
            <a:extLst>
              <a:ext uri="{FF2B5EF4-FFF2-40B4-BE49-F238E27FC236}">
                <a16:creationId xmlns:a16="http://schemas.microsoft.com/office/drawing/2014/main" xmlns="" id="{1CAC56A9-CBBF-FA04-750E-F101663BE2F5}"/>
              </a:ext>
            </a:extLst>
          </p:cNvPr>
          <p:cNvSpPr>
            <a:spLocks noGrp="1" noRot="1" noChangeAspect="1"/>
          </p:cNvSpPr>
          <p:nvPr>
            <p:ph type="sldImg"/>
          </p:nvPr>
        </p:nvSpPr>
        <p:spPr/>
      </p:sp>
      <p:sp>
        <p:nvSpPr>
          <p:cNvPr id="1048603" name="Notes Placeholder 2">
            <a:extLst>
              <a:ext uri="{FF2B5EF4-FFF2-40B4-BE49-F238E27FC236}">
                <a16:creationId xmlns:a16="http://schemas.microsoft.com/office/drawing/2014/main" xmlns="" id="{3A31FA8D-0923-8C16-ABAF-4DDE17583123}"/>
              </a:ext>
            </a:extLst>
          </p:cNvPr>
          <p:cNvSpPr>
            <a:spLocks noGrp="1"/>
          </p:cNvSpPr>
          <p:nvPr>
            <p:ph type="body" idx="1"/>
          </p:nvPr>
        </p:nvSpPr>
        <p:spPr/>
        <p:txBody>
          <a:bodyPr/>
          <a:lstStyle/>
          <a:p>
            <a:endParaRPr lang="id-ID" dirty="0"/>
          </a:p>
        </p:txBody>
      </p:sp>
      <p:sp>
        <p:nvSpPr>
          <p:cNvPr id="1048604" name="Slide Number Placeholder 3">
            <a:extLst>
              <a:ext uri="{FF2B5EF4-FFF2-40B4-BE49-F238E27FC236}">
                <a16:creationId xmlns:a16="http://schemas.microsoft.com/office/drawing/2014/main" xmlns="" id="{91277AB1-7333-FA67-E3BE-FF6C017EFCE2}"/>
              </a:ext>
            </a:extLst>
          </p:cNvPr>
          <p:cNvSpPr>
            <a:spLocks noGrp="1"/>
          </p:cNvSpPr>
          <p:nvPr>
            <p:ph type="sldNum" sz="quarter" idx="10"/>
          </p:nvPr>
        </p:nvSpPr>
        <p:spPr/>
        <p:txBody>
          <a:bodyPr/>
          <a:lstStyle/>
          <a:p>
            <a:fld id="{F4576B7D-FFCE-497E-994F-ED8CF7DB0CE2}" type="slidenum">
              <a:rPr lang="id-ID" smtClean="0">
                <a:solidFill>
                  <a:prstClr val="black"/>
                </a:solidFill>
              </a:rPr>
              <a:t>2</a:t>
            </a:fld>
            <a:endParaRPr lang="id-ID">
              <a:solidFill>
                <a:prstClr val="black"/>
              </a:solidFill>
            </a:endParaRPr>
          </a:p>
        </p:txBody>
      </p:sp>
    </p:spTree>
    <p:extLst>
      <p:ext uri="{BB962C8B-B14F-4D97-AF65-F5344CB8AC3E}">
        <p14:creationId xmlns:p14="http://schemas.microsoft.com/office/powerpoint/2010/main" val="15977781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Slide Image Placeholder 1"/>
          <p:cNvSpPr>
            <a:spLocks noGrp="1" noRot="1" noChangeAspect="1"/>
          </p:cNvSpPr>
          <p:nvPr>
            <p:ph type="sldImg"/>
          </p:nvPr>
        </p:nvSpPr>
        <p:spPr/>
      </p:sp>
      <p:sp>
        <p:nvSpPr>
          <p:cNvPr id="1048603" name="Notes Placeholder 2"/>
          <p:cNvSpPr>
            <a:spLocks noGrp="1"/>
          </p:cNvSpPr>
          <p:nvPr>
            <p:ph type="body" idx="1"/>
          </p:nvPr>
        </p:nvSpPr>
        <p:spPr/>
        <p:txBody>
          <a:bodyPr/>
          <a:lstStyle/>
          <a:p>
            <a:endParaRPr lang="id-ID" dirty="0"/>
          </a:p>
        </p:txBody>
      </p:sp>
      <p:sp>
        <p:nvSpPr>
          <p:cNvPr id="1048604" name="Slide Number Placeholder 3"/>
          <p:cNvSpPr>
            <a:spLocks noGrp="1"/>
          </p:cNvSpPr>
          <p:nvPr>
            <p:ph type="sldNum" sz="quarter" idx="10"/>
          </p:nvPr>
        </p:nvSpPr>
        <p:spPr/>
        <p:txBody>
          <a:bodyPr/>
          <a:lstStyle/>
          <a:p>
            <a:fld id="{F4576B7D-FFCE-497E-994F-ED8CF7DB0CE2}" type="slidenum">
              <a:rPr lang="id-ID" smtClean="0">
                <a:solidFill>
                  <a:prstClr val="black"/>
                </a:solidFill>
              </a:rPr>
              <a:t>3</a:t>
            </a:fld>
            <a:endParaRPr lang="id-ID">
              <a:solidFill>
                <a:prstClr val="black"/>
              </a:solidFill>
            </a:endParaRPr>
          </a:p>
        </p:txBody>
      </p:sp>
    </p:spTree>
    <p:extLst>
      <p:ext uri="{BB962C8B-B14F-4D97-AF65-F5344CB8AC3E}">
        <p14:creationId xmlns:p14="http://schemas.microsoft.com/office/powerpoint/2010/main" val="5414801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D"/>
          </a:p>
        </p:txBody>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F4576B7D-FFCE-497E-994F-ED8CF7DB0CE2}" type="slidenum">
              <a:rPr lang="id-ID" smtClean="0">
                <a:solidFill>
                  <a:prstClr val="black"/>
                </a:solidFill>
              </a:rPr>
              <a:pPr/>
              <a:t>4</a:t>
            </a:fld>
            <a:endParaRPr lang="id-ID">
              <a:solidFill>
                <a:prstClr val="black"/>
              </a:solidFill>
            </a:endParaRPr>
          </a:p>
        </p:txBody>
      </p:sp>
    </p:spTree>
    <p:extLst>
      <p:ext uri="{BB962C8B-B14F-4D97-AF65-F5344CB8AC3E}">
        <p14:creationId xmlns:p14="http://schemas.microsoft.com/office/powerpoint/2010/main" val="3574004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7DB0CF7-CFC1-C754-992D-D2F0037F1E97}"/>
            </a:ext>
          </a:extLst>
        </p:cNvPr>
        <p:cNvGrpSpPr/>
        <p:nvPr/>
      </p:nvGrpSpPr>
      <p:grpSpPr>
        <a:xfrm>
          <a:off x="0" y="0"/>
          <a:ext cx="0" cy="0"/>
          <a:chOff x="0" y="0"/>
          <a:chExt cx="0" cy="0"/>
        </a:xfrm>
      </p:grpSpPr>
      <p:sp>
        <p:nvSpPr>
          <p:cNvPr id="1048633" name="Slide Image Placeholder 1">
            <a:extLst>
              <a:ext uri="{FF2B5EF4-FFF2-40B4-BE49-F238E27FC236}">
                <a16:creationId xmlns="" xmlns:a16="http://schemas.microsoft.com/office/drawing/2014/main" id="{CFC85132-1EE1-D730-B15B-EDFAAF6B127B}"/>
              </a:ext>
            </a:extLst>
          </p:cNvPr>
          <p:cNvSpPr>
            <a:spLocks noGrp="1" noRot="1" noChangeAspect="1"/>
          </p:cNvSpPr>
          <p:nvPr>
            <p:ph type="sldImg"/>
          </p:nvPr>
        </p:nvSpPr>
        <p:spPr/>
      </p:sp>
      <p:sp>
        <p:nvSpPr>
          <p:cNvPr id="1048634" name="Notes Placeholder 2">
            <a:extLst>
              <a:ext uri="{FF2B5EF4-FFF2-40B4-BE49-F238E27FC236}">
                <a16:creationId xmlns="" xmlns:a16="http://schemas.microsoft.com/office/drawing/2014/main" id="{B42AB014-AE05-6014-58C7-70EA73F241D7}"/>
              </a:ext>
            </a:extLst>
          </p:cNvPr>
          <p:cNvSpPr>
            <a:spLocks noGrp="1"/>
          </p:cNvSpPr>
          <p:nvPr>
            <p:ph type="body" idx="1"/>
          </p:nvPr>
        </p:nvSpPr>
        <p:spPr/>
        <p:txBody>
          <a:bodyPr/>
          <a:lstStyle/>
          <a:p>
            <a:endParaRPr lang="id-ID"/>
          </a:p>
        </p:txBody>
      </p:sp>
      <p:sp>
        <p:nvSpPr>
          <p:cNvPr id="1048635" name="Slide Number Placeholder 3">
            <a:extLst>
              <a:ext uri="{FF2B5EF4-FFF2-40B4-BE49-F238E27FC236}">
                <a16:creationId xmlns="" xmlns:a16="http://schemas.microsoft.com/office/drawing/2014/main" id="{3A220D18-8624-D94F-D073-B4E335E2F8A2}"/>
              </a:ext>
            </a:extLst>
          </p:cNvPr>
          <p:cNvSpPr>
            <a:spLocks noGrp="1"/>
          </p:cNvSpPr>
          <p:nvPr>
            <p:ph type="sldNum" sz="quarter" idx="10"/>
          </p:nvPr>
        </p:nvSpPr>
        <p:spPr/>
        <p:txBody>
          <a:bodyPr/>
          <a:lstStyle/>
          <a:p>
            <a:fld id="{F4576B7D-FFCE-497E-994F-ED8CF7DB0CE2}" type="slidenum">
              <a:rPr lang="id-ID" smtClean="0">
                <a:solidFill>
                  <a:prstClr val="black"/>
                </a:solidFill>
              </a:rPr>
              <a:t>5</a:t>
            </a:fld>
            <a:endParaRPr lang="id-ID">
              <a:solidFill>
                <a:prstClr val="black"/>
              </a:solidFill>
            </a:endParaRPr>
          </a:p>
        </p:txBody>
      </p:sp>
    </p:spTree>
    <p:extLst>
      <p:ext uri="{BB962C8B-B14F-4D97-AF65-F5344CB8AC3E}">
        <p14:creationId xmlns:p14="http://schemas.microsoft.com/office/powerpoint/2010/main" val="3688476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4" name="Slide Image Placeholder 1"/>
          <p:cNvSpPr>
            <a:spLocks noGrp="1" noRot="1" noChangeAspect="1"/>
          </p:cNvSpPr>
          <p:nvPr>
            <p:ph type="sldImg"/>
          </p:nvPr>
        </p:nvSpPr>
        <p:spPr/>
      </p:sp>
      <p:sp>
        <p:nvSpPr>
          <p:cNvPr id="1048645" name="Notes Placeholder 2"/>
          <p:cNvSpPr>
            <a:spLocks noGrp="1"/>
          </p:cNvSpPr>
          <p:nvPr>
            <p:ph type="body" idx="1"/>
          </p:nvPr>
        </p:nvSpPr>
        <p:spPr/>
        <p:txBody>
          <a:bodyPr/>
          <a:lstStyle/>
          <a:p>
            <a:endParaRPr lang="id-ID"/>
          </a:p>
        </p:txBody>
      </p:sp>
      <p:sp>
        <p:nvSpPr>
          <p:cNvPr id="1048646" name="Slide Number Placeholder 3"/>
          <p:cNvSpPr>
            <a:spLocks noGrp="1"/>
          </p:cNvSpPr>
          <p:nvPr>
            <p:ph type="sldNum" sz="quarter" idx="10"/>
          </p:nvPr>
        </p:nvSpPr>
        <p:spPr/>
        <p:txBody>
          <a:bodyPr/>
          <a:lstStyle/>
          <a:p>
            <a:fld id="{F4576B7D-FFCE-497E-994F-ED8CF7DB0CE2}" type="slidenum">
              <a:rPr lang="id-ID" smtClean="0">
                <a:solidFill>
                  <a:prstClr val="black"/>
                </a:solidFill>
              </a:rPr>
              <a:pPr/>
              <a:t>6</a:t>
            </a:fld>
            <a:endParaRPr lang="id-ID">
              <a:solidFill>
                <a:prstClr val="black"/>
              </a:solidFill>
            </a:endParaRPr>
          </a:p>
        </p:txBody>
      </p:sp>
    </p:spTree>
    <p:extLst>
      <p:ext uri="{BB962C8B-B14F-4D97-AF65-F5344CB8AC3E}">
        <p14:creationId xmlns:p14="http://schemas.microsoft.com/office/powerpoint/2010/main" val="38701668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048758"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chemeClr val="bg1"/>
                </a:solidFill>
              </a:defRPr>
            </a:lvl1pPr>
          </a:lstStyle>
          <a:p>
            <a:r>
              <a:rPr lang="en-US"/>
              <a:t>Presentation Title</a:t>
            </a:r>
          </a:p>
        </p:txBody>
      </p:sp>
      <p:sp>
        <p:nvSpPr>
          <p:cNvPr id="1048759"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60" name="Date Placeholder 3"/>
          <p:cNvSpPr>
            <a:spLocks noGrp="1"/>
          </p:cNvSpPr>
          <p:nvPr>
            <p:ph type="dt" sz="half" idx="10"/>
          </p:nvPr>
        </p:nvSpPr>
        <p:spPr>
          <a:xfrm>
            <a:off x="609600" y="4876800"/>
            <a:ext cx="2133600" cy="228600"/>
          </a:xfrm>
          <a:prstGeom prst="rect">
            <a:avLst/>
          </a:prstGeom>
        </p:spPr>
        <p:txBody>
          <a:bodyPr anchor="ctr"/>
          <a:lstStyle>
            <a:lvl1pPr>
              <a:defRPr sz="1200">
                <a:solidFill>
                  <a:schemeClr val="bg1"/>
                </a:solidFill>
              </a:defRPr>
            </a:lvl1pPr>
          </a:lstStyle>
          <a:p>
            <a:fld id="{6AF4A877-4CFA-B240-851D-E713A68D39BD}" type="datetime3">
              <a:rPr lang="en-ID" smtClean="0"/>
              <a:t>29 September 2026</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048761"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chemeClr val="bg1"/>
                </a:solidFill>
              </a:defRPr>
            </a:lvl1pPr>
          </a:lstStyle>
          <a:p>
            <a:r>
              <a:rPr lang="en-US"/>
              <a:t>Thank You</a:t>
            </a:r>
          </a:p>
        </p:txBody>
      </p:sp>
      <p:sp>
        <p:nvSpPr>
          <p:cNvPr id="1048762"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63" name="Date Placeholder 3"/>
          <p:cNvSpPr>
            <a:spLocks noGrp="1"/>
          </p:cNvSpPr>
          <p:nvPr>
            <p:ph type="dt" sz="half" idx="10"/>
          </p:nvPr>
        </p:nvSpPr>
        <p:spPr>
          <a:xfrm>
            <a:off x="609600" y="4876800"/>
            <a:ext cx="2133600" cy="228600"/>
          </a:xfrm>
          <a:prstGeom prst="rect">
            <a:avLst/>
          </a:prstGeom>
        </p:spPr>
        <p:txBody>
          <a:bodyPr anchor="ctr"/>
          <a:lstStyle>
            <a:lvl1pPr>
              <a:defRPr sz="1200">
                <a:solidFill>
                  <a:schemeClr val="bg1"/>
                </a:solidFill>
              </a:defRPr>
            </a:lvl1pPr>
          </a:lstStyle>
          <a:p>
            <a:fld id="{6C72D3B6-04C4-A547-A6E1-D74627D29B57}" type="datetime3">
              <a:rPr lang="en-ID" smtClean="0"/>
              <a:t>29 September 2026</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048697"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rgbClr val="0C5EA8"/>
                </a:solidFill>
              </a:defRPr>
            </a:lvl1pPr>
          </a:lstStyle>
          <a:p>
            <a:r>
              <a:rPr lang="en-US"/>
              <a:t>Presentation Title</a:t>
            </a:r>
          </a:p>
        </p:txBody>
      </p:sp>
      <p:sp>
        <p:nvSpPr>
          <p:cNvPr id="1048698"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rgbClr val="0C5EA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699" name="Date Placeholder 3"/>
          <p:cNvSpPr>
            <a:spLocks noGrp="1"/>
          </p:cNvSpPr>
          <p:nvPr>
            <p:ph type="dt" sz="half" idx="10"/>
          </p:nvPr>
        </p:nvSpPr>
        <p:spPr>
          <a:xfrm>
            <a:off x="609600" y="4876800"/>
            <a:ext cx="2133600" cy="304800"/>
          </a:xfrm>
          <a:prstGeom prst="rect">
            <a:avLst/>
          </a:prstGeom>
        </p:spPr>
        <p:txBody>
          <a:bodyPr anchor="ctr"/>
          <a:lstStyle>
            <a:lvl1pPr>
              <a:defRPr sz="1200">
                <a:solidFill>
                  <a:srgbClr val="0C5EA8"/>
                </a:solidFill>
              </a:defRPr>
            </a:lvl1pPr>
          </a:lstStyle>
          <a:p>
            <a:fld id="{E94A5A6D-BF95-7742-956B-FA8E6D6D7A8E}" type="datetime3">
              <a:rPr lang="en-ID" smtClean="0"/>
              <a:t>29 September 2026</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ck Cover">
    <p:spTree>
      <p:nvGrpSpPr>
        <p:cNvPr id="1" name=""/>
        <p:cNvGrpSpPr/>
        <p:nvPr/>
      </p:nvGrpSpPr>
      <p:grpSpPr>
        <a:xfrm>
          <a:off x="0" y="0"/>
          <a:ext cx="0" cy="0"/>
          <a:chOff x="0" y="0"/>
          <a:chExt cx="0" cy="0"/>
        </a:xfrm>
      </p:grpSpPr>
      <p:sp>
        <p:nvSpPr>
          <p:cNvPr id="1048700"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rgbClr val="0C5EA8"/>
                </a:solidFill>
              </a:defRPr>
            </a:lvl1pPr>
          </a:lstStyle>
          <a:p>
            <a:r>
              <a:rPr lang="en-US"/>
              <a:t>Thank You</a:t>
            </a:r>
          </a:p>
        </p:txBody>
      </p:sp>
      <p:sp>
        <p:nvSpPr>
          <p:cNvPr id="1048701"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rgbClr val="0C5EA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02" name="Date Placeholder 3"/>
          <p:cNvSpPr>
            <a:spLocks noGrp="1"/>
          </p:cNvSpPr>
          <p:nvPr>
            <p:ph type="dt" sz="half" idx="10"/>
          </p:nvPr>
        </p:nvSpPr>
        <p:spPr>
          <a:xfrm>
            <a:off x="609600" y="4876800"/>
            <a:ext cx="2133600" cy="304800"/>
          </a:xfrm>
          <a:prstGeom prst="rect">
            <a:avLst/>
          </a:prstGeom>
        </p:spPr>
        <p:txBody>
          <a:bodyPr anchor="ctr"/>
          <a:lstStyle>
            <a:lvl1pPr>
              <a:defRPr sz="1200">
                <a:solidFill>
                  <a:srgbClr val="0C5EA8"/>
                </a:solidFill>
              </a:defRPr>
            </a:lvl1pPr>
          </a:lstStyle>
          <a:p>
            <a:fld id="{7A021BF0-8602-EB42-865E-596B138771F1}" type="datetime3">
              <a:rPr lang="en-ID" smtClean="0"/>
              <a:t>29 September 2026</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36"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3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38"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83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23757B1C-AB4D-7C4F-8DFC-B8E086E8997F}" type="datetime3">
              <a:rPr lang="en-ID" smtClean="0"/>
              <a:t>29 September 2026</a:t>
            </a:fld>
            <a:endParaRPr lang="en-US"/>
          </a:p>
        </p:txBody>
      </p:sp>
      <p:sp>
        <p:nvSpPr>
          <p:cNvPr id="1048840"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41"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810"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1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E642D845-69F1-714E-9475-635242E76DC6}" type="datetime3">
              <a:rPr lang="en-ID" smtClean="0"/>
              <a:t>29 September 2026</a:t>
            </a:fld>
            <a:endParaRPr lang="en-US"/>
          </a:p>
        </p:txBody>
      </p:sp>
      <p:sp>
        <p:nvSpPr>
          <p:cNvPr id="104881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13"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1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1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84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05113538-E476-FC42-B125-F4082E6CC220}" type="datetime3">
              <a:rPr lang="en-ID" smtClean="0"/>
              <a:t>29 September 2026</a:t>
            </a:fld>
            <a:endParaRPr lang="en-US"/>
          </a:p>
        </p:txBody>
      </p:sp>
      <p:sp>
        <p:nvSpPr>
          <p:cNvPr id="104884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44"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4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4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847"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48"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49"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5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4A715AE-818F-6440-AFBB-A39CB3A47C06}" type="datetime3">
              <a:rPr lang="en-ID" smtClean="0"/>
              <a:t>29 September 2026</a:t>
            </a:fld>
            <a:endParaRPr lang="en-US"/>
          </a:p>
        </p:txBody>
      </p:sp>
      <p:sp>
        <p:nvSpPr>
          <p:cNvPr id="1048851"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52"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5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54"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21"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22"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3"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24"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00E42B3C-B422-504E-9EED-7AACCF2B5E44}" type="datetime3">
              <a:rPr lang="en-ID" smtClean="0"/>
              <a:t>29 September 2026</a:t>
            </a:fld>
            <a:endParaRPr lang="en-US"/>
          </a:p>
        </p:txBody>
      </p:sp>
      <p:sp>
        <p:nvSpPr>
          <p:cNvPr id="104882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27"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2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2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30"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3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F7101B9-0C97-964E-A88D-0AC093AF6B5C}" type="datetime3">
              <a:rPr lang="en-ID" smtClean="0"/>
              <a:t>29 September 2026</a:t>
            </a:fld>
            <a:endParaRPr lang="en-US"/>
          </a:p>
        </p:txBody>
      </p:sp>
      <p:sp>
        <p:nvSpPr>
          <p:cNvPr id="104883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33"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3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3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81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4276A6DD-0719-DE4A-805F-F977A7208FC1}" type="datetime3">
              <a:rPr lang="en-ID" smtClean="0"/>
              <a:t>29 September 2026</a:t>
            </a:fld>
            <a:endParaRPr lang="en-US"/>
          </a:p>
        </p:txBody>
      </p:sp>
      <p:sp>
        <p:nvSpPr>
          <p:cNvPr id="104881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18"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1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2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67"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6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9"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dirty="0"/>
              <a:t>Presentation Title</a:t>
            </a:r>
          </a:p>
        </p:txBody>
      </p:sp>
      <p:sp>
        <p:nvSpPr>
          <p:cNvPr id="104887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EF6109C-FED9-BB47-B7E0-A96B0C3A3715}" type="datetime3">
              <a:rPr lang="en-ID" smtClean="0"/>
              <a:t>29 September 2026</a:t>
            </a:fld>
            <a:endParaRPr lang="en-US"/>
          </a:p>
        </p:txBody>
      </p:sp>
      <p:sp>
        <p:nvSpPr>
          <p:cNvPr id="1048871"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72"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861"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6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20AB3E7D-631D-674D-ACFC-9060208EC6DA}" type="datetime3">
              <a:rPr lang="en-ID" smtClean="0"/>
              <a:t>29 September 2026</a:t>
            </a:fld>
            <a:endParaRPr lang="en-US"/>
          </a:p>
        </p:txBody>
      </p:sp>
      <p:sp>
        <p:nvSpPr>
          <p:cNvPr id="104886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64"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6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88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0036071-6960-5444-8E6F-8EC74E87B3F1}" type="datetime3">
              <a:rPr lang="en-ID" smtClean="0"/>
              <a:t>29 September 2026</a:t>
            </a:fld>
            <a:endParaRPr lang="en-US"/>
          </a:p>
        </p:txBody>
      </p:sp>
      <p:sp>
        <p:nvSpPr>
          <p:cNvPr id="1048881"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82"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8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84"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885"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73"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4"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6F62AD8-6F13-D341-BC8C-6372B8758D67}" type="datetime3">
              <a:rPr lang="en-ID" smtClean="0"/>
              <a:t>29 September 2026</a:t>
            </a:fld>
            <a:endParaRPr lang="en-US"/>
          </a:p>
        </p:txBody>
      </p:sp>
      <p:sp>
        <p:nvSpPr>
          <p:cNvPr id="104887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77"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7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7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92"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3"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4"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5"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3B804BE-6D8A-E949-B805-DCC667F60605}" type="datetime3">
              <a:rPr lang="en-ID" smtClean="0"/>
              <a:t>29 September 2026</a:t>
            </a:fld>
            <a:endParaRPr lang="en-US"/>
          </a:p>
        </p:txBody>
      </p:sp>
      <p:sp>
        <p:nvSpPr>
          <p:cNvPr id="104889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98"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9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90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86"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87"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C05EDBD-FBF2-074E-9570-59748DA90955}" type="datetime3">
              <a:rPr lang="en-ID" smtClean="0"/>
              <a:t>29 September 2026</a:t>
            </a:fld>
            <a:endParaRPr lang="en-US"/>
          </a:p>
        </p:txBody>
      </p:sp>
      <p:sp>
        <p:nvSpPr>
          <p:cNvPr id="1048888"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89"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90"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91"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85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70D93E9-C376-A947-8A1C-35F0E1B29729}" type="datetime3">
              <a:rPr lang="en-ID" smtClean="0"/>
              <a:t>29 September 2026</a:t>
            </a:fld>
            <a:endParaRPr lang="en-US"/>
          </a:p>
        </p:txBody>
      </p:sp>
      <p:sp>
        <p:nvSpPr>
          <p:cNvPr id="104885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58"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5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687"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68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89"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69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817FFA5C-C6C6-A049-B744-29447C458644}" type="datetime3">
              <a:rPr lang="en-ID" smtClean="0"/>
              <a:t>29 September 2026</a:t>
            </a:fld>
            <a:endParaRPr lang="en-US"/>
          </a:p>
        </p:txBody>
      </p:sp>
      <p:sp>
        <p:nvSpPr>
          <p:cNvPr id="1048691"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92"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668"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400B4C7-443F-D545-9067-F911AF81B13F}" type="datetime3">
              <a:rPr lang="en-ID" smtClean="0"/>
              <a:t>29 September 2026</a:t>
            </a:fld>
            <a:endParaRPr lang="en-US"/>
          </a:p>
        </p:txBody>
      </p:sp>
      <p:sp>
        <p:nvSpPr>
          <p:cNvPr id="1048670"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71"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72"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73"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674"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313A75C9-8B1A-B540-88B7-B4A1312D022A}" type="datetime3">
              <a:rPr lang="en-ID" smtClean="0"/>
              <a:t>29 September 2026</a:t>
            </a:fld>
            <a:endParaRPr lang="en-US"/>
          </a:p>
        </p:txBody>
      </p:sp>
      <p:sp>
        <p:nvSpPr>
          <p:cNvPr id="1048675"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76"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7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78"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679"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680"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1"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E1975889-09EE-344A-82C9-1D49023CE12A}" type="datetime3">
              <a:rPr lang="en-ID" smtClean="0"/>
              <a:t>29 September 2026</a:t>
            </a:fld>
            <a:endParaRPr lang="en-US"/>
          </a:p>
        </p:txBody>
      </p:sp>
      <p:sp>
        <p:nvSpPr>
          <p:cNvPr id="104868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84"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8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8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659"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0"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1"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2"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3"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8FEB24A-3A7F-8A4E-A3AB-E47BDBB22021}" type="datetime3">
              <a:rPr lang="en-ID" smtClean="0"/>
              <a:t>29 September 2026</a:t>
            </a:fld>
            <a:endParaRPr lang="en-US"/>
          </a:p>
        </p:txBody>
      </p:sp>
      <p:sp>
        <p:nvSpPr>
          <p:cNvPr id="1048664"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65"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66"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67"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648"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64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1FEB1A1-3392-7A40-B9C8-F71E47AB4BCA}" type="datetime3">
              <a:rPr lang="en-ID" smtClean="0"/>
              <a:t>29 September 2026</a:t>
            </a:fld>
            <a:endParaRPr lang="en-US"/>
          </a:p>
        </p:txBody>
      </p:sp>
      <p:sp>
        <p:nvSpPr>
          <p:cNvPr id="1048650"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51"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52"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53"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654"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BB780499-43E8-C941-A319-959BC27AE094}" type="datetime3">
              <a:rPr lang="en-ID" smtClean="0"/>
              <a:t>29 September 2026</a:t>
            </a:fld>
            <a:endParaRPr lang="en-US"/>
          </a:p>
        </p:txBody>
      </p:sp>
      <p:sp>
        <p:nvSpPr>
          <p:cNvPr id="1048655"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56"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5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58"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782"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78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84"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78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92E1114-433A-1A43-AA36-5DE7D47A4699}" type="datetime3">
              <a:rPr lang="en-ID" smtClean="0"/>
              <a:t>29 September 2026</a:t>
            </a:fld>
            <a:endParaRPr lang="en-US"/>
          </a:p>
        </p:txBody>
      </p:sp>
      <p:sp>
        <p:nvSpPr>
          <p:cNvPr id="1048786"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87"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776"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7"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2E54845-308A-7F41-AA99-FA7CEE6CF869}" type="datetime3">
              <a:rPr lang="en-ID" smtClean="0"/>
              <a:t>29 September 2026</a:t>
            </a:fld>
            <a:endParaRPr lang="en-US"/>
          </a:p>
        </p:txBody>
      </p:sp>
      <p:sp>
        <p:nvSpPr>
          <p:cNvPr id="1048778"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79"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80"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81"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788"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071103D-81C7-2A4F-A1D3-3B2820EDC6F0}" type="datetime3">
              <a:rPr lang="en-ID" smtClean="0"/>
              <a:t>29 September 2026</a:t>
            </a:fld>
            <a:endParaRPr lang="en-US"/>
          </a:p>
        </p:txBody>
      </p:sp>
      <p:sp>
        <p:nvSpPr>
          <p:cNvPr id="1048789"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90"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91"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92"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793"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794"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5"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3A93F5F3-9B97-8344-B1B4-ABE2473A197A}" type="datetime3">
              <a:rPr lang="en-ID" smtClean="0"/>
              <a:t>29 September 2026</a:t>
            </a:fld>
            <a:endParaRPr lang="en-US"/>
          </a:p>
        </p:txBody>
      </p:sp>
      <p:sp>
        <p:nvSpPr>
          <p:cNvPr id="104879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98"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9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0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01"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02"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3"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04"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F22E47FA-41D4-404E-87E9-7D1F6BDC88C0}" type="datetime3">
              <a:rPr lang="en-ID" smtClean="0"/>
              <a:t>29 September 2026</a:t>
            </a:fld>
            <a:endParaRPr lang="en-US"/>
          </a:p>
        </p:txBody>
      </p:sp>
      <p:sp>
        <p:nvSpPr>
          <p:cNvPr id="104880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07"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0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0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765"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76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CF54DA69-1ED2-EC4D-9A71-82EC9B98A11B}" type="datetime3">
              <a:rPr lang="en-ID" smtClean="0"/>
              <a:t>29 September 2026</a:t>
            </a:fld>
            <a:endParaRPr lang="en-US"/>
          </a:p>
        </p:txBody>
      </p:sp>
      <p:sp>
        <p:nvSpPr>
          <p:cNvPr id="104876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68"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6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7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77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97535B67-28D6-4D40-8A20-4DB7314F65D6}" type="datetime3">
              <a:rPr lang="en-ID" smtClean="0"/>
              <a:t>29 September 2026</a:t>
            </a:fld>
            <a:endParaRPr lang="en-US"/>
          </a:p>
        </p:txBody>
      </p:sp>
      <p:sp>
        <p:nvSpPr>
          <p:cNvPr id="104877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73"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7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7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dirty="0"/>
              <a:t>Presentation Title</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5" name="Title 1"/>
          <p:cNvSpPr>
            <a:spLocks noGrp="1"/>
          </p:cNvSpPr>
          <p:nvPr>
            <p:ph type="ctrTitle"/>
          </p:nvPr>
        </p:nvSpPr>
        <p:spPr>
          <a:xfrm>
            <a:off x="514350" y="1496484"/>
            <a:ext cx="5829301" cy="3183466"/>
          </a:xfrm>
        </p:spPr>
        <p:txBody>
          <a:bodyPr anchor="b"/>
          <a:lstStyle>
            <a:lvl1pPr algn="ctr">
              <a:defRPr sz="4500"/>
            </a:lvl1pPr>
          </a:lstStyle>
          <a:p>
            <a:r>
              <a:rPr lang="en-US" dirty="0"/>
              <a:t>Click to edit Master title style</a:t>
            </a:r>
          </a:p>
        </p:txBody>
      </p:sp>
      <p:sp>
        <p:nvSpPr>
          <p:cNvPr id="1048586" name="Subtitle 2"/>
          <p:cNvSpPr>
            <a:spLocks noGrp="1"/>
          </p:cNvSpPr>
          <p:nvPr>
            <p:ph type="subTitle" idx="1"/>
          </p:nvPr>
        </p:nvSpPr>
        <p:spPr>
          <a:xfrm>
            <a:off x="857251" y="4802718"/>
            <a:ext cx="5143500" cy="2207683"/>
          </a:xfrm>
        </p:spPr>
        <p:txBody>
          <a:bodyPr/>
          <a:lstStyle>
            <a:lvl1pPr marL="0" indent="0" algn="ctr">
              <a:buNone/>
              <a:defRPr sz="1800"/>
            </a:lvl1pPr>
            <a:lvl2pPr marL="342871" indent="0" algn="ctr">
              <a:buNone/>
              <a:defRPr sz="1500"/>
            </a:lvl2pPr>
            <a:lvl3pPr marL="685740" indent="0" algn="ctr">
              <a:buNone/>
              <a:defRPr sz="1300"/>
            </a:lvl3pPr>
            <a:lvl4pPr marL="1028611" indent="0" algn="ctr">
              <a:buNone/>
              <a:defRPr sz="1200"/>
            </a:lvl4pPr>
            <a:lvl5pPr marL="1371481" indent="0" algn="ctr">
              <a:buNone/>
              <a:defRPr sz="1200"/>
            </a:lvl5pPr>
            <a:lvl6pPr marL="1714352" indent="0" algn="ctr">
              <a:buNone/>
              <a:defRPr sz="1200"/>
            </a:lvl6pPr>
            <a:lvl7pPr marL="2057223" indent="0" algn="ctr">
              <a:buNone/>
              <a:defRPr sz="1200"/>
            </a:lvl7pPr>
            <a:lvl8pPr marL="2400092" indent="0" algn="ctr">
              <a:buNone/>
              <a:defRPr sz="1200"/>
            </a:lvl8pPr>
            <a:lvl9pPr marL="2742963" indent="0" algn="ctr">
              <a:buNone/>
              <a:defRPr sz="1200"/>
            </a:lvl9pPr>
          </a:lstStyle>
          <a:p>
            <a:r>
              <a:rPr lang="en-US"/>
              <a:t>Click to edit Master subtitle style</a:t>
            </a:r>
          </a:p>
        </p:txBody>
      </p:sp>
      <p:sp>
        <p:nvSpPr>
          <p:cNvPr id="1048587"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588"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589"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740" name="Title 1"/>
          <p:cNvSpPr>
            <a:spLocks noGrp="1"/>
          </p:cNvSpPr>
          <p:nvPr>
            <p:ph type="title"/>
          </p:nvPr>
        </p:nvSpPr>
        <p:spPr/>
        <p:txBody>
          <a:bodyPr/>
          <a:lstStyle/>
          <a:p>
            <a:r>
              <a:rPr lang="en-US" dirty="0"/>
              <a:t>Click to edit Master title style</a:t>
            </a:r>
          </a:p>
        </p:txBody>
      </p:sp>
      <p:sp>
        <p:nvSpPr>
          <p:cNvPr id="1048741"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42"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43"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44"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08" name="Title 1"/>
          <p:cNvSpPr>
            <a:spLocks noGrp="1"/>
          </p:cNvSpPr>
          <p:nvPr>
            <p:ph type="title"/>
          </p:nvPr>
        </p:nvSpPr>
        <p:spPr>
          <a:xfrm>
            <a:off x="467916" y="2279653"/>
            <a:ext cx="5915025" cy="3803650"/>
          </a:xfrm>
        </p:spPr>
        <p:txBody>
          <a:bodyPr anchor="b"/>
          <a:lstStyle>
            <a:lvl1pPr>
              <a:defRPr sz="4500"/>
            </a:lvl1pPr>
          </a:lstStyle>
          <a:p>
            <a:r>
              <a:rPr lang="en-US"/>
              <a:t>Click to edit Master title style</a:t>
            </a:r>
          </a:p>
        </p:txBody>
      </p:sp>
      <p:sp>
        <p:nvSpPr>
          <p:cNvPr id="1048709" name="Text Placeholder 2"/>
          <p:cNvSpPr>
            <a:spLocks noGrp="1"/>
          </p:cNvSpPr>
          <p:nvPr>
            <p:ph type="body" idx="1"/>
          </p:nvPr>
        </p:nvSpPr>
        <p:spPr>
          <a:xfrm>
            <a:off x="467916" y="6119287"/>
            <a:ext cx="5915025" cy="2000249"/>
          </a:xfrm>
        </p:spPr>
        <p:txBody>
          <a:bodyPr/>
          <a:lstStyle>
            <a:lvl1pPr marL="0" indent="0">
              <a:buNone/>
              <a:defRPr sz="1800">
                <a:solidFill>
                  <a:schemeClr val="tx1"/>
                </a:solidFill>
              </a:defRPr>
            </a:lvl1pPr>
            <a:lvl2pPr marL="342871" indent="0">
              <a:buNone/>
              <a:defRPr sz="1500">
                <a:solidFill>
                  <a:schemeClr val="tx1">
                    <a:tint val="75000"/>
                  </a:schemeClr>
                </a:solidFill>
              </a:defRPr>
            </a:lvl2pPr>
            <a:lvl3pPr marL="685740" indent="0">
              <a:buNone/>
              <a:defRPr sz="1300">
                <a:solidFill>
                  <a:schemeClr val="tx1">
                    <a:tint val="75000"/>
                  </a:schemeClr>
                </a:solidFill>
              </a:defRPr>
            </a:lvl3pPr>
            <a:lvl4pPr marL="1028611" indent="0">
              <a:buNone/>
              <a:defRPr sz="1200">
                <a:solidFill>
                  <a:schemeClr val="tx1">
                    <a:tint val="75000"/>
                  </a:schemeClr>
                </a:solidFill>
              </a:defRPr>
            </a:lvl4pPr>
            <a:lvl5pPr marL="1371481" indent="0">
              <a:buNone/>
              <a:defRPr sz="1200">
                <a:solidFill>
                  <a:schemeClr val="tx1">
                    <a:tint val="75000"/>
                  </a:schemeClr>
                </a:solidFill>
              </a:defRPr>
            </a:lvl5pPr>
            <a:lvl6pPr marL="1714352" indent="0">
              <a:buNone/>
              <a:defRPr sz="1200">
                <a:solidFill>
                  <a:schemeClr val="tx1">
                    <a:tint val="75000"/>
                  </a:schemeClr>
                </a:solidFill>
              </a:defRPr>
            </a:lvl6pPr>
            <a:lvl7pPr marL="2057223" indent="0">
              <a:buNone/>
              <a:defRPr sz="1200">
                <a:solidFill>
                  <a:schemeClr val="tx1">
                    <a:tint val="75000"/>
                  </a:schemeClr>
                </a:solidFill>
              </a:defRPr>
            </a:lvl7pPr>
            <a:lvl8pPr marL="2400092" indent="0">
              <a:buNone/>
              <a:defRPr sz="1200">
                <a:solidFill>
                  <a:schemeClr val="tx1">
                    <a:tint val="75000"/>
                  </a:schemeClr>
                </a:solidFill>
              </a:defRPr>
            </a:lvl8pPr>
            <a:lvl9pPr marL="2742963" indent="0">
              <a:buNone/>
              <a:defRPr sz="1200">
                <a:solidFill>
                  <a:schemeClr val="tx1">
                    <a:tint val="75000"/>
                  </a:schemeClr>
                </a:solidFill>
              </a:defRPr>
            </a:lvl9pPr>
          </a:lstStyle>
          <a:p>
            <a:pPr lvl="0"/>
            <a:r>
              <a:rPr lang="en-US"/>
              <a:t>Click to edit Master text styles</a:t>
            </a:r>
          </a:p>
        </p:txBody>
      </p:sp>
      <p:sp>
        <p:nvSpPr>
          <p:cNvPr id="1048710"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11"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12"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25" name="Title 1"/>
          <p:cNvSpPr>
            <a:spLocks noGrp="1"/>
          </p:cNvSpPr>
          <p:nvPr>
            <p:ph type="title"/>
          </p:nvPr>
        </p:nvSpPr>
        <p:spPr/>
        <p:txBody>
          <a:bodyPr/>
          <a:lstStyle/>
          <a:p>
            <a:r>
              <a:rPr lang="en-US"/>
              <a:t>Click to edit Master title style</a:t>
            </a:r>
          </a:p>
        </p:txBody>
      </p:sp>
      <p:sp>
        <p:nvSpPr>
          <p:cNvPr id="1048726" name="Content Placeholder 2"/>
          <p:cNvSpPr>
            <a:spLocks noGrp="1"/>
          </p:cNvSpPr>
          <p:nvPr>
            <p:ph sz="half" idx="1"/>
          </p:nvPr>
        </p:nvSpPr>
        <p:spPr>
          <a:xfrm>
            <a:off x="471488" y="2434166"/>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7" name="Content Placeholder 3"/>
          <p:cNvSpPr>
            <a:spLocks noGrp="1"/>
          </p:cNvSpPr>
          <p:nvPr>
            <p:ph sz="half" idx="2"/>
          </p:nvPr>
        </p:nvSpPr>
        <p:spPr>
          <a:xfrm>
            <a:off x="3471863" y="2434166"/>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8"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29"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30"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17" name="Title 1"/>
          <p:cNvSpPr>
            <a:spLocks noGrp="1"/>
          </p:cNvSpPr>
          <p:nvPr>
            <p:ph type="title"/>
          </p:nvPr>
        </p:nvSpPr>
        <p:spPr>
          <a:xfrm>
            <a:off x="472381" y="486836"/>
            <a:ext cx="5915025" cy="1767417"/>
          </a:xfrm>
        </p:spPr>
        <p:txBody>
          <a:bodyPr/>
          <a:lstStyle/>
          <a:p>
            <a:r>
              <a:rPr lang="en-US" dirty="0"/>
              <a:t>Click to edit Master title style</a:t>
            </a:r>
          </a:p>
        </p:txBody>
      </p:sp>
      <p:sp>
        <p:nvSpPr>
          <p:cNvPr id="1048718" name="Text Placeholder 2"/>
          <p:cNvSpPr>
            <a:spLocks noGrp="1"/>
          </p:cNvSpPr>
          <p:nvPr>
            <p:ph type="body" idx="1"/>
          </p:nvPr>
        </p:nvSpPr>
        <p:spPr>
          <a:xfrm>
            <a:off x="472382" y="2241551"/>
            <a:ext cx="2901255" cy="1098549"/>
          </a:xfrm>
        </p:spPr>
        <p:txBody>
          <a:bodyPr anchor="b"/>
          <a:lstStyle>
            <a:lvl1pPr marL="0" indent="0">
              <a:buNone/>
              <a:defRPr sz="1800" b="1"/>
            </a:lvl1pPr>
            <a:lvl2pPr marL="342871" indent="0">
              <a:buNone/>
              <a:defRPr sz="1500" b="1"/>
            </a:lvl2pPr>
            <a:lvl3pPr marL="685740" indent="0">
              <a:buNone/>
              <a:defRPr sz="1300" b="1"/>
            </a:lvl3pPr>
            <a:lvl4pPr marL="1028611" indent="0">
              <a:buNone/>
              <a:defRPr sz="1200" b="1"/>
            </a:lvl4pPr>
            <a:lvl5pPr marL="1371481" indent="0">
              <a:buNone/>
              <a:defRPr sz="1200" b="1"/>
            </a:lvl5pPr>
            <a:lvl6pPr marL="1714352" indent="0">
              <a:buNone/>
              <a:defRPr sz="1200" b="1"/>
            </a:lvl6pPr>
            <a:lvl7pPr marL="2057223" indent="0">
              <a:buNone/>
              <a:defRPr sz="1200" b="1"/>
            </a:lvl7pPr>
            <a:lvl8pPr marL="2400092" indent="0">
              <a:buNone/>
              <a:defRPr sz="1200" b="1"/>
            </a:lvl8pPr>
            <a:lvl9pPr marL="2742963" indent="0">
              <a:buNone/>
              <a:defRPr sz="1200" b="1"/>
            </a:lvl9pPr>
          </a:lstStyle>
          <a:p>
            <a:pPr lvl="0"/>
            <a:r>
              <a:rPr lang="en-US"/>
              <a:t>Click to edit Master text styles</a:t>
            </a:r>
          </a:p>
        </p:txBody>
      </p:sp>
      <p:sp>
        <p:nvSpPr>
          <p:cNvPr id="1048719" name="Content Placeholder 3"/>
          <p:cNvSpPr>
            <a:spLocks noGrp="1"/>
          </p:cNvSpPr>
          <p:nvPr>
            <p:ph sz="half" idx="2"/>
          </p:nvPr>
        </p:nvSpPr>
        <p:spPr>
          <a:xfrm>
            <a:off x="472382" y="3340100"/>
            <a:ext cx="2901255"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0"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871" indent="0">
              <a:buNone/>
              <a:defRPr sz="1500" b="1"/>
            </a:lvl2pPr>
            <a:lvl3pPr marL="685740" indent="0">
              <a:buNone/>
              <a:defRPr sz="1300" b="1"/>
            </a:lvl3pPr>
            <a:lvl4pPr marL="1028611" indent="0">
              <a:buNone/>
              <a:defRPr sz="1200" b="1"/>
            </a:lvl4pPr>
            <a:lvl5pPr marL="1371481" indent="0">
              <a:buNone/>
              <a:defRPr sz="1200" b="1"/>
            </a:lvl5pPr>
            <a:lvl6pPr marL="1714352" indent="0">
              <a:buNone/>
              <a:defRPr sz="1200" b="1"/>
            </a:lvl6pPr>
            <a:lvl7pPr marL="2057223" indent="0">
              <a:buNone/>
              <a:defRPr sz="1200" b="1"/>
            </a:lvl7pPr>
            <a:lvl8pPr marL="2400092" indent="0">
              <a:buNone/>
              <a:defRPr sz="1200" b="1"/>
            </a:lvl8pPr>
            <a:lvl9pPr marL="2742963" indent="0">
              <a:buNone/>
              <a:defRPr sz="1200" b="1"/>
            </a:lvl9pPr>
          </a:lstStyle>
          <a:p>
            <a:pPr lvl="0"/>
            <a:r>
              <a:rPr lang="en-US"/>
              <a:t>Click to edit Master text styles</a:t>
            </a:r>
          </a:p>
        </p:txBody>
      </p:sp>
      <p:sp>
        <p:nvSpPr>
          <p:cNvPr id="1048721" name="Content Placeholder 5"/>
          <p:cNvSpPr>
            <a:spLocks noGrp="1"/>
          </p:cNvSpPr>
          <p:nvPr>
            <p:ph sz="quarter" idx="4"/>
          </p:nvPr>
        </p:nvSpPr>
        <p:spPr>
          <a:xfrm>
            <a:off x="3471863" y="3340100"/>
            <a:ext cx="2915543"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2" name="Date Placeholder 6"/>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23" name="Footer Placeholder 7"/>
          <p:cNvSpPr>
            <a:spLocks noGrp="1"/>
          </p:cNvSpPr>
          <p:nvPr>
            <p:ph type="ftr" sz="quarter" idx="11"/>
          </p:nvPr>
        </p:nvSpPr>
        <p:spPr/>
        <p:txBody>
          <a:bodyPr/>
          <a:lstStyle/>
          <a:p>
            <a:endParaRPr lang="id-ID">
              <a:solidFill>
                <a:prstClr val="black">
                  <a:tint val="75000"/>
                </a:prstClr>
              </a:solidFill>
            </a:endParaRPr>
          </a:p>
        </p:txBody>
      </p:sp>
      <p:sp>
        <p:nvSpPr>
          <p:cNvPr id="1048724" name="Slide Number Placeholder 8"/>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13" name="Title 1"/>
          <p:cNvSpPr>
            <a:spLocks noGrp="1"/>
          </p:cNvSpPr>
          <p:nvPr>
            <p:ph type="title"/>
          </p:nvPr>
        </p:nvSpPr>
        <p:spPr/>
        <p:txBody>
          <a:bodyPr/>
          <a:lstStyle/>
          <a:p>
            <a:r>
              <a:rPr lang="en-US" dirty="0"/>
              <a:t>Click to edit Master title style</a:t>
            </a:r>
          </a:p>
        </p:txBody>
      </p:sp>
      <p:sp>
        <p:nvSpPr>
          <p:cNvPr id="1048714" name="Date Placeholder 2"/>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15" name="Footer Placeholder 3"/>
          <p:cNvSpPr>
            <a:spLocks noGrp="1"/>
          </p:cNvSpPr>
          <p:nvPr>
            <p:ph type="ftr" sz="quarter" idx="11"/>
          </p:nvPr>
        </p:nvSpPr>
        <p:spPr/>
        <p:txBody>
          <a:bodyPr/>
          <a:lstStyle/>
          <a:p>
            <a:endParaRPr lang="id-ID">
              <a:solidFill>
                <a:prstClr val="black">
                  <a:tint val="75000"/>
                </a:prstClr>
              </a:solidFill>
            </a:endParaRPr>
          </a:p>
        </p:txBody>
      </p:sp>
      <p:sp>
        <p:nvSpPr>
          <p:cNvPr id="1048716" name="Slide Number Placeholder 4"/>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31" name="Date Placeholder 1"/>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32" name="Footer Placeholder 2"/>
          <p:cNvSpPr>
            <a:spLocks noGrp="1"/>
          </p:cNvSpPr>
          <p:nvPr>
            <p:ph type="ftr" sz="quarter" idx="11"/>
          </p:nvPr>
        </p:nvSpPr>
        <p:spPr/>
        <p:txBody>
          <a:bodyPr/>
          <a:lstStyle/>
          <a:p>
            <a:endParaRPr lang="id-ID">
              <a:solidFill>
                <a:prstClr val="black">
                  <a:tint val="75000"/>
                </a:prstClr>
              </a:solidFill>
            </a:endParaRPr>
          </a:p>
        </p:txBody>
      </p:sp>
      <p:sp>
        <p:nvSpPr>
          <p:cNvPr id="1048733" name="Slide Number Placeholder 3"/>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34" name="Title 1"/>
          <p:cNvSpPr>
            <a:spLocks noGrp="1"/>
          </p:cNvSpPr>
          <p:nvPr>
            <p:ph type="title"/>
          </p:nvPr>
        </p:nvSpPr>
        <p:spPr>
          <a:xfrm>
            <a:off x="472381" y="609600"/>
            <a:ext cx="2211883" cy="2133600"/>
          </a:xfrm>
        </p:spPr>
        <p:txBody>
          <a:bodyPr anchor="b"/>
          <a:lstStyle>
            <a:lvl1pPr>
              <a:defRPr sz="2400"/>
            </a:lvl1pPr>
          </a:lstStyle>
          <a:p>
            <a:r>
              <a:rPr lang="en-US"/>
              <a:t>Click to edit Master title style</a:t>
            </a:r>
          </a:p>
        </p:txBody>
      </p:sp>
      <p:sp>
        <p:nvSpPr>
          <p:cNvPr id="1048735" name="Content Placeholder 2"/>
          <p:cNvSpPr>
            <a:spLocks noGrp="1"/>
          </p:cNvSpPr>
          <p:nvPr>
            <p:ph idx="1"/>
          </p:nvPr>
        </p:nvSpPr>
        <p:spPr>
          <a:xfrm>
            <a:off x="2915544" y="1316569"/>
            <a:ext cx="3471863" cy="6498166"/>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36" name="Text Placeholder 3"/>
          <p:cNvSpPr>
            <a:spLocks noGrp="1"/>
          </p:cNvSpPr>
          <p:nvPr>
            <p:ph type="body" sz="half" idx="2"/>
          </p:nvPr>
        </p:nvSpPr>
        <p:spPr>
          <a:xfrm>
            <a:off x="472381" y="2743201"/>
            <a:ext cx="2211883" cy="5082117"/>
          </a:xfrm>
        </p:spPr>
        <p:txBody>
          <a:bodyPr/>
          <a:lstStyle>
            <a:lvl1pPr marL="0" indent="0">
              <a:buNone/>
              <a:defRPr sz="1200"/>
            </a:lvl1pPr>
            <a:lvl2pPr marL="342871" indent="0">
              <a:buNone/>
              <a:defRPr sz="1000"/>
            </a:lvl2pPr>
            <a:lvl3pPr marL="685740" indent="0">
              <a:buNone/>
              <a:defRPr sz="900"/>
            </a:lvl3pPr>
            <a:lvl4pPr marL="1028611" indent="0">
              <a:buNone/>
              <a:defRPr sz="700"/>
            </a:lvl4pPr>
            <a:lvl5pPr marL="1371481" indent="0">
              <a:buNone/>
              <a:defRPr sz="700"/>
            </a:lvl5pPr>
            <a:lvl6pPr marL="1714352" indent="0">
              <a:buNone/>
              <a:defRPr sz="700"/>
            </a:lvl6pPr>
            <a:lvl7pPr marL="2057223" indent="0">
              <a:buNone/>
              <a:defRPr sz="700"/>
            </a:lvl7pPr>
            <a:lvl8pPr marL="2400092" indent="0">
              <a:buNone/>
              <a:defRPr sz="700"/>
            </a:lvl8pPr>
            <a:lvl9pPr marL="2742963" indent="0">
              <a:buNone/>
              <a:defRPr sz="700"/>
            </a:lvl9pPr>
          </a:lstStyle>
          <a:p>
            <a:pPr lvl="0"/>
            <a:r>
              <a:rPr lang="en-US"/>
              <a:t>Click to edit Master text styles</a:t>
            </a:r>
          </a:p>
        </p:txBody>
      </p:sp>
      <p:sp>
        <p:nvSpPr>
          <p:cNvPr id="1048737"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38"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39"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45" name="Title 1"/>
          <p:cNvSpPr>
            <a:spLocks noGrp="1"/>
          </p:cNvSpPr>
          <p:nvPr>
            <p:ph type="title"/>
          </p:nvPr>
        </p:nvSpPr>
        <p:spPr>
          <a:xfrm>
            <a:off x="472381" y="609600"/>
            <a:ext cx="2211883" cy="2133600"/>
          </a:xfrm>
        </p:spPr>
        <p:txBody>
          <a:bodyPr anchor="b"/>
          <a:lstStyle>
            <a:lvl1pPr>
              <a:defRPr sz="2400"/>
            </a:lvl1pPr>
          </a:lstStyle>
          <a:p>
            <a:r>
              <a:rPr lang="en-US"/>
              <a:t>Click to edit Master title style</a:t>
            </a:r>
          </a:p>
        </p:txBody>
      </p:sp>
      <p:sp>
        <p:nvSpPr>
          <p:cNvPr id="1048746" name="Picture Placeholder 2"/>
          <p:cNvSpPr>
            <a:spLocks noGrp="1" noChangeAspect="1"/>
          </p:cNvSpPr>
          <p:nvPr>
            <p:ph type="pic" idx="1"/>
          </p:nvPr>
        </p:nvSpPr>
        <p:spPr>
          <a:xfrm>
            <a:off x="2915544" y="1316569"/>
            <a:ext cx="3471863" cy="6498166"/>
          </a:xfrm>
        </p:spPr>
        <p:txBody>
          <a:bodyPr anchor="t"/>
          <a:lstStyle>
            <a:lvl1pPr marL="0" indent="0">
              <a:buNone/>
              <a:defRPr sz="2400"/>
            </a:lvl1pPr>
            <a:lvl2pPr marL="342871" indent="0">
              <a:buNone/>
              <a:defRPr sz="2100"/>
            </a:lvl2pPr>
            <a:lvl3pPr marL="685740" indent="0">
              <a:buNone/>
              <a:defRPr sz="1800"/>
            </a:lvl3pPr>
            <a:lvl4pPr marL="1028611" indent="0">
              <a:buNone/>
              <a:defRPr sz="1500"/>
            </a:lvl4pPr>
            <a:lvl5pPr marL="1371481" indent="0">
              <a:buNone/>
              <a:defRPr sz="1500"/>
            </a:lvl5pPr>
            <a:lvl6pPr marL="1714352" indent="0">
              <a:buNone/>
              <a:defRPr sz="1500"/>
            </a:lvl6pPr>
            <a:lvl7pPr marL="2057223" indent="0">
              <a:buNone/>
              <a:defRPr sz="1500"/>
            </a:lvl7pPr>
            <a:lvl8pPr marL="2400092" indent="0">
              <a:buNone/>
              <a:defRPr sz="1500"/>
            </a:lvl8pPr>
            <a:lvl9pPr marL="2742963" indent="0">
              <a:buNone/>
              <a:defRPr sz="1500"/>
            </a:lvl9pPr>
          </a:lstStyle>
          <a:p>
            <a:r>
              <a:rPr lang="en-US"/>
              <a:t>Click icon to add picture</a:t>
            </a:r>
          </a:p>
        </p:txBody>
      </p:sp>
      <p:sp>
        <p:nvSpPr>
          <p:cNvPr id="1048747" name="Text Placeholder 3"/>
          <p:cNvSpPr>
            <a:spLocks noGrp="1"/>
          </p:cNvSpPr>
          <p:nvPr>
            <p:ph type="body" sz="half" idx="2"/>
          </p:nvPr>
        </p:nvSpPr>
        <p:spPr>
          <a:xfrm>
            <a:off x="472381" y="2743201"/>
            <a:ext cx="2211883" cy="5082117"/>
          </a:xfrm>
        </p:spPr>
        <p:txBody>
          <a:bodyPr/>
          <a:lstStyle>
            <a:lvl1pPr marL="0" indent="0">
              <a:buNone/>
              <a:defRPr sz="1200"/>
            </a:lvl1pPr>
            <a:lvl2pPr marL="342871" indent="0">
              <a:buNone/>
              <a:defRPr sz="1000"/>
            </a:lvl2pPr>
            <a:lvl3pPr marL="685740" indent="0">
              <a:buNone/>
              <a:defRPr sz="900"/>
            </a:lvl3pPr>
            <a:lvl4pPr marL="1028611" indent="0">
              <a:buNone/>
              <a:defRPr sz="700"/>
            </a:lvl4pPr>
            <a:lvl5pPr marL="1371481" indent="0">
              <a:buNone/>
              <a:defRPr sz="700"/>
            </a:lvl5pPr>
            <a:lvl6pPr marL="1714352" indent="0">
              <a:buNone/>
              <a:defRPr sz="700"/>
            </a:lvl6pPr>
            <a:lvl7pPr marL="2057223" indent="0">
              <a:buNone/>
              <a:defRPr sz="700"/>
            </a:lvl7pPr>
            <a:lvl8pPr marL="2400092" indent="0">
              <a:buNone/>
              <a:defRPr sz="700"/>
            </a:lvl8pPr>
            <a:lvl9pPr marL="2742963" indent="0">
              <a:buNone/>
              <a:defRPr sz="700"/>
            </a:lvl9pPr>
          </a:lstStyle>
          <a:p>
            <a:pPr lvl="0"/>
            <a:r>
              <a:rPr lang="en-US"/>
              <a:t>Click to edit Master text styles</a:t>
            </a:r>
          </a:p>
        </p:txBody>
      </p:sp>
      <p:sp>
        <p:nvSpPr>
          <p:cNvPr id="1048748"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49"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50"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51" name="Title 1"/>
          <p:cNvSpPr>
            <a:spLocks noGrp="1"/>
          </p:cNvSpPr>
          <p:nvPr>
            <p:ph type="title"/>
          </p:nvPr>
        </p:nvSpPr>
        <p:spPr/>
        <p:txBody>
          <a:bodyPr/>
          <a:lstStyle/>
          <a:p>
            <a:r>
              <a:rPr lang="en-US"/>
              <a:t>Click to edit Master title style</a:t>
            </a:r>
          </a:p>
        </p:txBody>
      </p:sp>
      <p:sp>
        <p:nvSpPr>
          <p:cNvPr id="1048752"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53"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54"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55"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03" name="Vertical Title 1"/>
          <p:cNvSpPr>
            <a:spLocks noGrp="1"/>
          </p:cNvSpPr>
          <p:nvPr>
            <p:ph type="title" orient="vert"/>
          </p:nvPr>
        </p:nvSpPr>
        <p:spPr>
          <a:xfrm>
            <a:off x="4907757" y="486834"/>
            <a:ext cx="1478756" cy="7749117"/>
          </a:xfrm>
        </p:spPr>
        <p:txBody>
          <a:bodyPr vert="eaVert"/>
          <a:lstStyle/>
          <a:p>
            <a:r>
              <a:rPr lang="en-US"/>
              <a:t>Click to edit Master title style</a:t>
            </a:r>
          </a:p>
        </p:txBody>
      </p:sp>
      <p:sp>
        <p:nvSpPr>
          <p:cNvPr id="1048704" name="Vertical Text Placeholder 2"/>
          <p:cNvSpPr>
            <a:spLocks noGrp="1"/>
          </p:cNvSpPr>
          <p:nvPr>
            <p:ph type="body" orient="vert" idx="1"/>
          </p:nvPr>
        </p:nvSpPr>
        <p:spPr>
          <a:xfrm>
            <a:off x="471489" y="486834"/>
            <a:ext cx="4350543"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5"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06"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07"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9"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9" Type="http://schemas.openxmlformats.org/officeDocument/2006/relationships/image" Target="../media/image4.png"/></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3" Type="http://schemas.openxmlformats.org/officeDocument/2006/relationships/slideLayout" Target="../slideLayouts/slideLayout28.xml"/><Relationship Id="rId7" Type="http://schemas.openxmlformats.org/officeDocument/2006/relationships/slideLayout" Target="../slideLayouts/slideLayout3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9" Type="http://schemas.openxmlformats.org/officeDocument/2006/relationships/image" Target="../media/image4.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image" Target="../media/image5.png"/><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theme" Target="../theme/theme7.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67" name="BCA_BACKGROUND.jpg" descr="BCA_BACKGROUND.jpg"/>
          <p:cNvPicPr>
            <a:picLocks/>
          </p:cNvPicPr>
          <p:nvPr userDrawn="1"/>
        </p:nvPicPr>
        <p:blipFill>
          <a:blip r:embed="rId4"/>
          <a:srcRect t="79" b="79"/>
          <a:stretch>
            <a:fillRect/>
          </a:stretch>
        </p:blipFill>
        <p:spPr>
          <a:xfrm>
            <a:off x="0" y="0"/>
            <a:ext cx="6858000" cy="9144000"/>
          </a:xfrm>
          <a:prstGeom prst="rect">
            <a:avLst/>
          </a:prstGeom>
          <a:ln w="12700">
            <a:miter lim="400000"/>
          </a:ln>
        </p:spPr>
      </p:pic>
      <p:sp>
        <p:nvSpPr>
          <p:cNvPr id="1048756" name="TextBox 12"/>
          <p:cNvSpPr txBox="1"/>
          <p:nvPr userDrawn="1"/>
        </p:nvSpPr>
        <p:spPr>
          <a:xfrm>
            <a:off x="4953000" y="8699956"/>
            <a:ext cx="16764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solidFill>
                  <a:schemeClr val="bg1"/>
                </a:solidFill>
              </a:rPr>
              <a:t>PT. Bank Central Asia </a:t>
            </a:r>
            <a:r>
              <a:rPr lang="en-US" sz="800" err="1">
                <a:solidFill>
                  <a:schemeClr val="bg1"/>
                </a:solidFill>
              </a:rPr>
              <a:t>Tbk</a:t>
            </a:r>
            <a:endParaRPr lang="en-US" sz="800">
              <a:solidFill>
                <a:schemeClr val="bg1"/>
              </a:solidFill>
            </a:endParaRPr>
          </a:p>
        </p:txBody>
      </p:sp>
      <p:sp>
        <p:nvSpPr>
          <p:cNvPr id="1048757" name="TextBox 13"/>
          <p:cNvSpPr txBox="1"/>
          <p:nvPr userDrawn="1"/>
        </p:nvSpPr>
        <p:spPr>
          <a:xfrm>
            <a:off x="304800" y="8699956"/>
            <a:ext cx="1981200" cy="215444"/>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pPr>
            <a:r>
              <a:rPr lang="en-US" sz="800" dirty="0">
                <a:solidFill>
                  <a:schemeClr val="bg1"/>
                </a:solidFill>
              </a:rPr>
              <a:t>CONFIDENTIAL – FOR INTERNAL USE ONLY</a:t>
            </a:r>
          </a:p>
        </p:txBody>
      </p:sp>
      <p:pic>
        <p:nvPicPr>
          <p:cNvPr id="2097168" name="Picture 2" descr="D:\Work\BCA\Lockup-Blue-no-tagline.png"/>
          <p:cNvPicPr>
            <a:picLocks noChangeAspect="1" noChangeArrowheads="1"/>
          </p:cNvPicPr>
          <p:nvPr userDrawn="1"/>
        </p:nvPicPr>
        <p:blipFill>
          <a:blip r:embed="rId5"/>
          <a:srcRect/>
          <a:stretch>
            <a:fillRect/>
          </a:stretch>
        </p:blipFill>
        <p:spPr bwMode="auto">
          <a:xfrm>
            <a:off x="4419601" y="-400048"/>
            <a:ext cx="2738437" cy="2453911"/>
          </a:xfrm>
          <a:prstGeom prst="rect">
            <a:avLst/>
          </a:prstGeom>
          <a:noFill/>
        </p:spPr>
      </p:pic>
    </p:spTree>
  </p:cSld>
  <p:clrMap bg1="lt1" tx1="dk1" bg2="lt2" tx2="dk2" accent1="accent1" accent2="accent2" accent3="accent3" accent4="accent4" accent5="accent5" accent6="accent6" hlink="hlink" folHlink="folHlink"/>
  <p:sldLayoutIdLst>
    <p:sldLayoutId id="2147483676" r:id="rId1"/>
    <p:sldLayoutId id="2147483677"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65" name="Picture 2" descr="D:\Work\BCA\Lockup-Blue-no-tagline.png"/>
          <p:cNvPicPr>
            <a:picLocks noChangeAspect="1" noChangeArrowheads="1"/>
          </p:cNvPicPr>
          <p:nvPr userDrawn="1"/>
        </p:nvPicPr>
        <p:blipFill>
          <a:blip r:embed="rId4"/>
          <a:srcRect/>
          <a:stretch>
            <a:fillRect/>
          </a:stretch>
        </p:blipFill>
        <p:spPr bwMode="auto">
          <a:xfrm>
            <a:off x="5029173" y="-304800"/>
            <a:ext cx="2057428" cy="1843659"/>
          </a:xfrm>
          <a:prstGeom prst="rect">
            <a:avLst/>
          </a:prstGeom>
          <a:noFill/>
        </p:spPr>
      </p:pic>
      <p:cxnSp>
        <p:nvCxnSpPr>
          <p:cNvPr id="3145728" name="Straight Connector 3"/>
          <p:cNvCxnSpPr>
            <a:cxnSpLocks/>
          </p:cNvCxnSpPr>
          <p:nvPr userDrawn="1"/>
        </p:nvCxnSpPr>
        <p:spPr>
          <a:xfrm>
            <a:off x="533400" y="86868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1048693" name="Title 3"/>
          <p:cNvSpPr txBox="1"/>
          <p:nvPr userDrawn="1"/>
        </p:nvSpPr>
        <p:spPr>
          <a:xfrm>
            <a:off x="457200" y="0"/>
            <a:ext cx="5791200" cy="812800"/>
          </a:xfrm>
          <a:prstGeom prst="rect">
            <a:avLst/>
          </a:prstGeom>
        </p:spPr>
        <p:txBody>
          <a:bodyPr anchor="ctr"/>
          <a:lstStyle>
            <a:lvl1pPr algn="l" defTabSz="914400" rtl="0" eaLnBrk="1" latinLnBrk="0" hangingPunct="1">
              <a:spcBef>
                <a:spcPct val="0"/>
              </a:spcBef>
              <a:buNone/>
              <a:defRPr sz="4000" b="1" kern="1200">
                <a:solidFill>
                  <a:srgbClr val="0C5EA8"/>
                </a:solidFill>
                <a:latin typeface="+mj-lt"/>
                <a:ea typeface="+mj-ea"/>
                <a:cs typeface="+mj-cs"/>
              </a:defRPr>
            </a:lvl1pPr>
          </a:lstStyle>
          <a:p>
            <a:r>
              <a:rPr lang="en-US" sz="2800">
                <a:solidFill>
                  <a:schemeClr val="bg1"/>
                </a:solidFill>
              </a:rPr>
              <a:t>Weekly Market Overview</a:t>
            </a:r>
          </a:p>
        </p:txBody>
      </p:sp>
      <p:sp>
        <p:nvSpPr>
          <p:cNvPr id="1048694" name="Rectangle 1"/>
          <p:cNvSpPr/>
          <p:nvPr userDrawn="1"/>
        </p:nvSpPr>
        <p:spPr>
          <a:xfrm>
            <a:off x="6337756" y="8686801"/>
            <a:ext cx="215444" cy="215444"/>
          </a:xfrm>
          <a:prstGeom prst="rect">
            <a:avLst/>
          </a:prstGeom>
          <a:solidFill>
            <a:srgbClr val="0C5E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97166" name="Picture 2"/>
          <p:cNvPicPr>
            <a:picLocks noChangeAspect="1" noChangeArrowheads="1"/>
          </p:cNvPicPr>
          <p:nvPr userDrawn="1"/>
        </p:nvPicPr>
        <p:blipFill>
          <a:blip r:embed="rId5"/>
          <a:srcRect/>
          <a:stretch>
            <a:fillRect/>
          </a:stretch>
        </p:blipFill>
        <p:spPr bwMode="auto">
          <a:xfrm>
            <a:off x="0" y="0"/>
            <a:ext cx="6858000" cy="1493408"/>
          </a:xfrm>
          <a:prstGeom prst="rect">
            <a:avLst/>
          </a:prstGeom>
          <a:noFill/>
          <a:ln>
            <a:noFill/>
          </a:ln>
        </p:spPr>
      </p:pic>
      <p:sp>
        <p:nvSpPr>
          <p:cNvPr id="1048695" name="Date Placeholder 3"/>
          <p:cNvSpPr txBox="1"/>
          <p:nvPr userDrawn="1"/>
        </p:nvSpPr>
        <p:spPr>
          <a:xfrm>
            <a:off x="429768" y="1379108"/>
            <a:ext cx="990600" cy="228600"/>
          </a:xfrm>
          <a:prstGeom prst="rect">
            <a:avLst/>
          </a:prstGeom>
          <a:solidFill>
            <a:srgbClr val="0051A2"/>
          </a:solidFill>
        </p:spPr>
        <p:txBody>
          <a:bodyPr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b="1" dirty="0">
                <a:solidFill>
                  <a:schemeClr val="bg1"/>
                </a:solidFill>
                <a:latin typeface="+mj-lt"/>
              </a:rPr>
              <a:t>6 July 2026</a:t>
            </a:r>
          </a:p>
        </p:txBody>
      </p:sp>
      <p:sp>
        <p:nvSpPr>
          <p:cNvPr id="1048696" name="TextBox 14"/>
          <p:cNvSpPr txBox="1"/>
          <p:nvPr userDrawn="1"/>
        </p:nvSpPr>
        <p:spPr>
          <a:xfrm>
            <a:off x="457200" y="8699956"/>
            <a:ext cx="1676400" cy="215444"/>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pPr>
            <a:r>
              <a:rPr lang="en-US" sz="800" b="1">
                <a:solidFill>
                  <a:srgbClr val="0C5EA8"/>
                </a:solidFill>
              </a:rPr>
              <a:t>PT. Bank Central Asia </a:t>
            </a:r>
            <a:r>
              <a:rPr lang="en-US" sz="800" b="1" err="1">
                <a:solidFill>
                  <a:srgbClr val="0C5EA8"/>
                </a:solidFill>
              </a:rPr>
              <a:t>Tbk</a:t>
            </a:r>
            <a:endParaRPr lang="en-US" sz="800" b="1">
              <a:solidFill>
                <a:srgbClr val="0C5EA8"/>
              </a:solidFill>
            </a:endParaRP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70" name="Picture 2" descr="D:\Download\BCA Shield Line.png"/>
          <p:cNvPicPr>
            <a:picLocks noChangeAspect="1" noChangeArrowheads="1"/>
          </p:cNvPicPr>
          <p:nvPr userDrawn="1"/>
        </p:nvPicPr>
        <p:blipFill>
          <a:blip r:embed="rId9"/>
          <a:srcRect/>
          <a:stretch>
            <a:fillRect/>
          </a:stretch>
        </p:blipFill>
        <p:spPr bwMode="auto">
          <a:xfrm>
            <a:off x="5334000" y="1"/>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855"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dirty="0"/>
              <a:t>CONFIDENTIAL – FOR INTERNAL USE ONLY</a:t>
            </a:r>
          </a:p>
        </p:txBody>
      </p:sp>
      <p:pic>
        <p:nvPicPr>
          <p:cNvPr id="2097171" name="Picture 2" descr="D:\Download\BCA Shield Line.png"/>
          <p:cNvPicPr>
            <a:picLocks noChangeAspect="1" noChangeArrowheads="1"/>
          </p:cNvPicPr>
          <p:nvPr userDrawn="1"/>
        </p:nvPicPr>
        <p:blipFill>
          <a:blip r:embed="rId9"/>
          <a:srcRect/>
          <a:stretch>
            <a:fillRect/>
          </a:stretch>
        </p:blipFill>
        <p:spPr bwMode="auto">
          <a:xfrm flipH="1">
            <a:off x="0" y="1"/>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647"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dirty="0"/>
              <a:t>CONFIDENTIAL – FOR INTERNAL USE ONLY</a:t>
            </a:r>
          </a:p>
        </p:txBody>
      </p:sp>
      <p:pic>
        <p:nvPicPr>
          <p:cNvPr id="2097164" name="Picture 2" descr="D:\Download\BCA Shield Line.png"/>
          <p:cNvPicPr>
            <a:picLocks noChangeAspect="1" noChangeArrowheads="1"/>
          </p:cNvPicPr>
          <p:nvPr userDrawn="1"/>
        </p:nvPicPr>
        <p:blipFill>
          <a:blip r:embed="rId9"/>
          <a:srcRect/>
          <a:stretch>
            <a:fillRect/>
          </a:stretch>
        </p:blipFill>
        <p:spPr bwMode="auto">
          <a:xfrm flipH="1" flipV="1">
            <a:off x="0" y="7999884"/>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764"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a:t>CONFIDENTIAL – FOR INTERNAL USE ONLY</a:t>
            </a:r>
          </a:p>
        </p:txBody>
      </p:sp>
      <p:pic>
        <p:nvPicPr>
          <p:cNvPr id="2097169" name="Picture 2" descr="D:\Download\BCA Shield Line.png"/>
          <p:cNvPicPr>
            <a:picLocks noChangeAspect="1" noChangeArrowheads="1"/>
          </p:cNvPicPr>
          <p:nvPr userDrawn="1"/>
        </p:nvPicPr>
        <p:blipFill>
          <a:blip r:embed="rId9"/>
          <a:srcRect/>
          <a:stretch>
            <a:fillRect/>
          </a:stretch>
        </p:blipFill>
        <p:spPr bwMode="auto">
          <a:xfrm flipV="1">
            <a:off x="5334000" y="7999884"/>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71488" y="486836"/>
            <a:ext cx="5915025" cy="1767417"/>
          </a:xfrm>
          <a:prstGeom prst="rect">
            <a:avLst/>
          </a:prstGeom>
        </p:spPr>
        <p:txBody>
          <a:bodyPr vert="horz" lIns="116623" tIns="58311" rIns="116623" bIns="58311" rtlCol="0" anchor="ctr">
            <a:normAutofit/>
          </a:bodyPr>
          <a:lstStyle/>
          <a:p>
            <a:r>
              <a:rPr lang="en-US" dirty="0"/>
              <a:t>Click to edit Master title style</a:t>
            </a:r>
          </a:p>
        </p:txBody>
      </p:sp>
      <p:sp>
        <p:nvSpPr>
          <p:cNvPr id="1048577" name="Text Placeholder 2"/>
          <p:cNvSpPr>
            <a:spLocks noGrp="1"/>
          </p:cNvSpPr>
          <p:nvPr>
            <p:ph type="body" idx="1"/>
          </p:nvPr>
        </p:nvSpPr>
        <p:spPr>
          <a:xfrm>
            <a:off x="471488" y="2434166"/>
            <a:ext cx="5915025" cy="5801784"/>
          </a:xfrm>
          <a:prstGeom prst="rect">
            <a:avLst/>
          </a:prstGeom>
        </p:spPr>
        <p:txBody>
          <a:bodyPr vert="horz" lIns="116623" tIns="58311" rIns="116623" bIns="58311"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48578" name="Date Placeholder 3"/>
          <p:cNvSpPr>
            <a:spLocks noGrp="1"/>
          </p:cNvSpPr>
          <p:nvPr>
            <p:ph type="dt" sz="half" idx="2"/>
          </p:nvPr>
        </p:nvSpPr>
        <p:spPr>
          <a:xfrm>
            <a:off x="471487" y="8475135"/>
            <a:ext cx="1543050" cy="486834"/>
          </a:xfrm>
          <a:prstGeom prst="rect">
            <a:avLst/>
          </a:prstGeom>
        </p:spPr>
        <p:txBody>
          <a:bodyPr vert="horz" lIns="116623" tIns="58311" rIns="116623" bIns="58311" rtlCol="0" anchor="ctr"/>
          <a:lstStyle>
            <a:lvl1pPr algn="l">
              <a:defRPr sz="900">
                <a:solidFill>
                  <a:schemeClr val="tx1">
                    <a:tint val="75000"/>
                  </a:schemeClr>
                </a:solidFill>
              </a:defRPr>
            </a:lvl1pPr>
          </a:lstStyle>
          <a:p>
            <a:pPr defTabSz="1166226"/>
            <a:fld id="{BC9D7FC2-0FF7-41D9-9E23-6B9F3C380436}" type="datetimeFigureOut">
              <a:rPr lang="id-ID" smtClean="0">
                <a:solidFill>
                  <a:prstClr val="black">
                    <a:tint val="75000"/>
                  </a:prstClr>
                </a:solidFill>
              </a:rPr>
              <a:pPr defTabSz="1166226"/>
              <a:t>29/09/2026</a:t>
            </a:fld>
            <a:endParaRPr lang="id-ID">
              <a:solidFill>
                <a:prstClr val="black">
                  <a:tint val="75000"/>
                </a:prstClr>
              </a:solidFill>
            </a:endParaRPr>
          </a:p>
        </p:txBody>
      </p:sp>
      <p:sp>
        <p:nvSpPr>
          <p:cNvPr id="1048579" name="Footer Placeholder 4"/>
          <p:cNvSpPr>
            <a:spLocks noGrp="1"/>
          </p:cNvSpPr>
          <p:nvPr>
            <p:ph type="ftr" sz="quarter" idx="3"/>
          </p:nvPr>
        </p:nvSpPr>
        <p:spPr>
          <a:xfrm>
            <a:off x="2271713" y="8475135"/>
            <a:ext cx="2314575" cy="486834"/>
          </a:xfrm>
          <a:prstGeom prst="rect">
            <a:avLst/>
          </a:prstGeom>
        </p:spPr>
        <p:txBody>
          <a:bodyPr vert="horz" lIns="116623" tIns="58311" rIns="116623" bIns="58311" rtlCol="0" anchor="ctr"/>
          <a:lstStyle>
            <a:lvl1pPr algn="ctr">
              <a:defRPr sz="900">
                <a:solidFill>
                  <a:schemeClr val="tx1">
                    <a:tint val="75000"/>
                  </a:schemeClr>
                </a:solidFill>
              </a:defRPr>
            </a:lvl1pPr>
          </a:lstStyle>
          <a:p>
            <a:pPr defTabSz="1166226"/>
            <a:endParaRPr lang="id-ID">
              <a:solidFill>
                <a:prstClr val="black">
                  <a:tint val="75000"/>
                </a:prstClr>
              </a:solidFill>
            </a:endParaRPr>
          </a:p>
        </p:txBody>
      </p:sp>
      <p:sp>
        <p:nvSpPr>
          <p:cNvPr id="1048580" name="Slide Number Placeholder 5"/>
          <p:cNvSpPr>
            <a:spLocks noGrp="1"/>
          </p:cNvSpPr>
          <p:nvPr>
            <p:ph type="sldNum" sz="quarter" idx="4"/>
          </p:nvPr>
        </p:nvSpPr>
        <p:spPr>
          <a:xfrm>
            <a:off x="4843463" y="8475135"/>
            <a:ext cx="1543050" cy="486834"/>
          </a:xfrm>
          <a:prstGeom prst="rect">
            <a:avLst/>
          </a:prstGeom>
        </p:spPr>
        <p:txBody>
          <a:bodyPr vert="horz" lIns="116623" tIns="58311" rIns="116623" bIns="58311" rtlCol="0" anchor="ctr"/>
          <a:lstStyle>
            <a:lvl1pPr algn="r">
              <a:defRPr sz="900">
                <a:solidFill>
                  <a:schemeClr val="tx1">
                    <a:tint val="75000"/>
                  </a:schemeClr>
                </a:solidFill>
              </a:defRPr>
            </a:lvl1pPr>
          </a:lstStyle>
          <a:p>
            <a:pPr defTabSz="1166226"/>
            <a:fld id="{477D8BF5-2754-4CFE-9C4A-CCAF84A93D96}" type="slidenum">
              <a:rPr lang="id-ID" smtClean="0">
                <a:solidFill>
                  <a:prstClr val="black">
                    <a:tint val="75000"/>
                  </a:prstClr>
                </a:solidFill>
              </a:rPr>
              <a:pPr defTabSz="1166226"/>
              <a:t>‹#›</a:t>
            </a:fld>
            <a:endParaRPr lang="id-ID">
              <a:solidFill>
                <a:prstClr val="black">
                  <a:tint val="75000"/>
                </a:prstClr>
              </a:solidFill>
            </a:endParaRPr>
          </a:p>
        </p:txBody>
      </p:sp>
      <p:pic>
        <p:nvPicPr>
          <p:cNvPr id="2097152" name="Picture 6"/>
          <p:cNvPicPr>
            <a:picLocks noChangeAspect="1"/>
          </p:cNvPicPr>
          <p:nvPr userDrawn="1"/>
        </p:nvPicPr>
        <p:blipFill>
          <a:blip r:embed="rId13" cstate="print"/>
          <a:stretch>
            <a:fillRect/>
          </a:stretch>
        </p:blipFill>
        <p:spPr>
          <a:xfrm>
            <a:off x="-2" y="2250"/>
            <a:ext cx="6858000" cy="1657375"/>
          </a:xfrm>
          <a:prstGeom prst="rect">
            <a:avLst/>
          </a:prstGeom>
        </p:spPr>
      </p:pic>
      <p:sp>
        <p:nvSpPr>
          <p:cNvPr id="1048581" name="TextBox 7"/>
          <p:cNvSpPr txBox="1"/>
          <p:nvPr userDrawn="1"/>
        </p:nvSpPr>
        <p:spPr>
          <a:xfrm>
            <a:off x="325876" y="68605"/>
            <a:ext cx="4802351" cy="1071868"/>
          </a:xfrm>
          <a:prstGeom prst="rect">
            <a:avLst/>
          </a:prstGeom>
          <a:noFill/>
        </p:spPr>
        <p:txBody>
          <a:bodyPr wrap="square" lIns="116612" tIns="58306" rIns="116612" bIns="58306" rtlCol="0">
            <a:spAutoFit/>
          </a:bodyPr>
          <a:lstStyle/>
          <a:p>
            <a:pPr defTabSz="1166125"/>
            <a:r>
              <a:rPr lang="id-ID" sz="3100" b="1">
                <a:solidFill>
                  <a:prstClr val="white"/>
                </a:solidFill>
              </a:rPr>
              <a:t>Weekly</a:t>
            </a:r>
          </a:p>
          <a:p>
            <a:pPr defTabSz="1166125"/>
            <a:r>
              <a:rPr lang="id-ID" sz="3100" b="1">
                <a:solidFill>
                  <a:prstClr val="white"/>
                </a:solidFill>
              </a:rPr>
              <a:t>Market Overview</a:t>
            </a:r>
          </a:p>
        </p:txBody>
      </p:sp>
      <p:sp>
        <p:nvSpPr>
          <p:cNvPr id="1048582" name="TextBox 8"/>
          <p:cNvSpPr txBox="1"/>
          <p:nvPr userDrawn="1"/>
        </p:nvSpPr>
        <p:spPr>
          <a:xfrm>
            <a:off x="325874" y="996200"/>
            <a:ext cx="3103126" cy="353303"/>
          </a:xfrm>
          <a:prstGeom prst="rect">
            <a:avLst/>
          </a:prstGeom>
          <a:noFill/>
        </p:spPr>
        <p:txBody>
          <a:bodyPr wrap="square" lIns="116612" tIns="58306" rIns="116612" bIns="58306" rtlCol="0">
            <a:spAutoFit/>
          </a:bodyPr>
          <a:lstStyle/>
          <a:p>
            <a:pPr defTabSz="1166125"/>
            <a:r>
              <a:rPr lang="id-ID" sz="1500" b="1">
                <a:solidFill>
                  <a:prstClr val="white"/>
                </a:solidFill>
              </a:rPr>
              <a:t>Wealth Management Division</a:t>
            </a:r>
          </a:p>
        </p:txBody>
      </p:sp>
      <p:sp>
        <p:nvSpPr>
          <p:cNvPr id="1048583" name="Rectangle 9"/>
          <p:cNvSpPr/>
          <p:nvPr userDrawn="1"/>
        </p:nvSpPr>
        <p:spPr>
          <a:xfrm>
            <a:off x="429768" y="1373499"/>
            <a:ext cx="1295400" cy="201168"/>
          </a:xfrm>
          <a:prstGeom prst="rect">
            <a:avLst/>
          </a:prstGeom>
          <a:solidFill>
            <a:srgbClr val="0051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584" name="Date Placeholder 3"/>
          <p:cNvSpPr txBox="1"/>
          <p:nvPr userDrawn="1"/>
        </p:nvSpPr>
        <p:spPr>
          <a:xfrm>
            <a:off x="367349" y="1330070"/>
            <a:ext cx="1420237" cy="288025"/>
          </a:xfrm>
          <a:prstGeom prst="rect">
            <a:avLst/>
          </a:prstGeom>
          <a:noFill/>
        </p:spPr>
        <p:txBody>
          <a:bodyPr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b="1" baseline="0" dirty="0">
                <a:solidFill>
                  <a:schemeClr val="bg1"/>
                </a:solidFill>
                <a:latin typeface="+mn-lt"/>
              </a:rPr>
              <a:t>28 September 2026</a:t>
            </a:r>
            <a:endParaRPr lang="en-US" sz="1000" b="1" dirty="0">
              <a:solidFill>
                <a:schemeClr val="bg1"/>
              </a:solidFill>
              <a:latin typeface="+mn-lt"/>
            </a:endParaRPr>
          </a:p>
        </p:txBody>
      </p:sp>
      <p:pic>
        <p:nvPicPr>
          <p:cNvPr id="2097153" name="Picture 11"/>
          <p:cNvPicPr>
            <a:picLocks noChangeAspect="1"/>
          </p:cNvPicPr>
          <p:nvPr userDrawn="1"/>
        </p:nvPicPr>
        <p:blipFill>
          <a:blip r:embed="rId14" cstate="print"/>
          <a:stretch>
            <a:fillRect/>
          </a:stretch>
        </p:blipFill>
        <p:spPr>
          <a:xfrm>
            <a:off x="5050631" y="-4628"/>
            <a:ext cx="1807369" cy="1376228"/>
          </a:xfrm>
          <a:prstGeom prst="rect">
            <a:avLst/>
          </a:prstGeom>
        </p:spPr>
      </p:pic>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txStyles>
    <p:titleStyle>
      <a:lvl1pPr algn="l" defTabSz="68574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35" indent="-171435" algn="l" defTabSz="68574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05" indent="-171435" algn="l" defTabSz="68574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176" indent="-171435" algn="l" defTabSz="68574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4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4pPr>
      <a:lvl5pPr marL="1542916"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5pPr>
      <a:lvl6pPr marL="188578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6pPr>
      <a:lvl7pPr marL="222865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7pPr>
      <a:lvl8pPr marL="2571528"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8pPr>
      <a:lvl9pPr marL="2914399"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9pPr>
    </p:bodyStyle>
    <p:otherStyle>
      <a:defPPr>
        <a:defRPr lang="en-US"/>
      </a:defPPr>
      <a:lvl1pPr marL="0" algn="l" defTabSz="685740" rtl="0" eaLnBrk="1" latinLnBrk="0" hangingPunct="1">
        <a:defRPr sz="1300" kern="1200">
          <a:solidFill>
            <a:schemeClr val="tx1"/>
          </a:solidFill>
          <a:latin typeface="+mn-lt"/>
          <a:ea typeface="+mn-ea"/>
          <a:cs typeface="+mn-cs"/>
        </a:defRPr>
      </a:lvl1pPr>
      <a:lvl2pPr marL="342871" algn="l" defTabSz="685740" rtl="0" eaLnBrk="1" latinLnBrk="0" hangingPunct="1">
        <a:defRPr sz="1300" kern="1200">
          <a:solidFill>
            <a:schemeClr val="tx1"/>
          </a:solidFill>
          <a:latin typeface="+mn-lt"/>
          <a:ea typeface="+mn-ea"/>
          <a:cs typeface="+mn-cs"/>
        </a:defRPr>
      </a:lvl2pPr>
      <a:lvl3pPr marL="685740" algn="l" defTabSz="685740" rtl="0" eaLnBrk="1" latinLnBrk="0" hangingPunct="1">
        <a:defRPr sz="1300" kern="1200">
          <a:solidFill>
            <a:schemeClr val="tx1"/>
          </a:solidFill>
          <a:latin typeface="+mn-lt"/>
          <a:ea typeface="+mn-ea"/>
          <a:cs typeface="+mn-cs"/>
        </a:defRPr>
      </a:lvl3pPr>
      <a:lvl4pPr marL="1028611" algn="l" defTabSz="685740" rtl="0" eaLnBrk="1" latinLnBrk="0" hangingPunct="1">
        <a:defRPr sz="1300" kern="1200">
          <a:solidFill>
            <a:schemeClr val="tx1"/>
          </a:solidFill>
          <a:latin typeface="+mn-lt"/>
          <a:ea typeface="+mn-ea"/>
          <a:cs typeface="+mn-cs"/>
        </a:defRPr>
      </a:lvl4pPr>
      <a:lvl5pPr marL="1371481" algn="l" defTabSz="685740" rtl="0" eaLnBrk="1" latinLnBrk="0" hangingPunct="1">
        <a:defRPr sz="1300" kern="1200">
          <a:solidFill>
            <a:schemeClr val="tx1"/>
          </a:solidFill>
          <a:latin typeface="+mn-lt"/>
          <a:ea typeface="+mn-ea"/>
          <a:cs typeface="+mn-cs"/>
        </a:defRPr>
      </a:lvl5pPr>
      <a:lvl6pPr marL="1714352" algn="l" defTabSz="685740" rtl="0" eaLnBrk="1" latinLnBrk="0" hangingPunct="1">
        <a:defRPr sz="1300" kern="1200">
          <a:solidFill>
            <a:schemeClr val="tx1"/>
          </a:solidFill>
          <a:latin typeface="+mn-lt"/>
          <a:ea typeface="+mn-ea"/>
          <a:cs typeface="+mn-cs"/>
        </a:defRPr>
      </a:lvl6pPr>
      <a:lvl7pPr marL="2057223" algn="l" defTabSz="685740" rtl="0" eaLnBrk="1" latinLnBrk="0" hangingPunct="1">
        <a:defRPr sz="1300" kern="1200">
          <a:solidFill>
            <a:schemeClr val="tx1"/>
          </a:solidFill>
          <a:latin typeface="+mn-lt"/>
          <a:ea typeface="+mn-ea"/>
          <a:cs typeface="+mn-cs"/>
        </a:defRPr>
      </a:lvl7pPr>
      <a:lvl8pPr marL="2400092" algn="l" defTabSz="685740" rtl="0" eaLnBrk="1" latinLnBrk="0" hangingPunct="1">
        <a:defRPr sz="1300" kern="1200">
          <a:solidFill>
            <a:schemeClr val="tx1"/>
          </a:solidFill>
          <a:latin typeface="+mn-lt"/>
          <a:ea typeface="+mn-ea"/>
          <a:cs typeface="+mn-cs"/>
        </a:defRPr>
      </a:lvl8pPr>
      <a:lvl9pPr marL="2742963" algn="l" defTabSz="685740" rtl="0" eaLnBrk="1" latinLnBrk="0" hangingPunct="1">
        <a:defRPr sz="13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3.xml"/><Relationship Id="rId5" Type="http://schemas.openxmlformats.org/officeDocument/2006/relationships/image" Target="../media/image7.png"/><Relationship Id="rId31" Type="http://schemas.openxmlformats.org/officeDocument/2006/relationships/chart" Target="../charts/chart1.xml"/><Relationship Id="rId32" Type="http://schemas.openxmlformats.org/officeDocument/2006/relationships/chart" Target="../charts/char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3.xml"/><Relationship Id="rId33" Type="http://schemas.openxmlformats.org/officeDocument/2006/relationships/chart" Target="../charts/chart3.xml"/><Relationship Id="rId34" Type="http://schemas.openxmlformats.org/officeDocument/2006/relationships/chart" Target="../charts/chart4.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3.xml"/><Relationship Id="rId35" Type="http://schemas.openxmlformats.org/officeDocument/2006/relationships/chart" Target="../charts/chart5.xml"/><Relationship Id="rId36" Type="http://schemas.openxmlformats.org/officeDocument/2006/relationships/chart" Target="../charts/chart6.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A3D354-8BCD-AEA6-8291-770CF570A6FA}"/>
            </a:ext>
          </a:extLst>
        </p:cNvPr>
        <p:cNvGrpSpPr/>
        <p:nvPr/>
      </p:nvGrpSpPr>
      <p:grpSpPr>
        <a:xfrm>
          <a:off x="0" y="0"/>
          <a:ext cx="0" cy="0"/>
          <a:chOff x="0" y="0"/>
          <a:chExt cx="0" cy="0"/>
        </a:xfrm>
      </p:grpSpPr>
      <p:sp>
        <p:nvSpPr>
          <p:cNvPr id="1048603"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5 October 2026</a:t>
            </a:r>
          </a:p>
        </p:txBody>
      </p:sp>
      <p:sp>
        <p:nvSpPr>
          <p:cNvPr id="1048593" name="AutoShape 2" descr="ready">
            <a:extLst>
              <a:ext uri="{FF2B5EF4-FFF2-40B4-BE49-F238E27FC236}">
                <a16:creationId xmlns:a16="http://schemas.microsoft.com/office/drawing/2014/main" xmlns="" id="{8AF2A150-BA6F-1131-F1B7-3D952C15F9EF}"/>
              </a:ext>
            </a:extLst>
          </p:cNvPr>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a:extLst>
              <a:ext uri="{FF2B5EF4-FFF2-40B4-BE49-F238E27FC236}">
                <a16:creationId xmlns:a16="http://schemas.microsoft.com/office/drawing/2014/main" xmlns="" id="{7B140D9F-5D65-3951-6C22-9AD76A0BBC96}"/>
              </a:ext>
            </a:extLst>
          </p:cNvPr>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6" name="TextBox 18">
            <a:extLst>
              <a:ext uri="{FF2B5EF4-FFF2-40B4-BE49-F238E27FC236}">
                <a16:creationId xmlns:a16="http://schemas.microsoft.com/office/drawing/2014/main" xmlns="" id="{4064EA44-2393-C6D7-353F-1AED27249558}"/>
              </a:ext>
            </a:extLst>
          </p:cNvPr>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Global: Delayed, Not Denied</a:t>
            </a:r>
          </a:p>
        </p:txBody>
      </p:sp>
      <p:sp>
        <p:nvSpPr>
          <p:cNvPr id="1048600" name="Rectangle 1" hidden="1">
            <a:extLst>
              <a:ext uri="{FF2B5EF4-FFF2-40B4-BE49-F238E27FC236}">
                <a16:creationId xmlns:a16="http://schemas.microsoft.com/office/drawing/2014/main" xmlns="" id="{CF6E507A-6E48-8447-9CF0-55DF2D2EE4E5}"/>
              </a:ext>
            </a:extLst>
          </p:cNvPr>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a:extLst>
              <a:ext uri="{FF2B5EF4-FFF2-40B4-BE49-F238E27FC236}">
                <a16:creationId xmlns:a16="http://schemas.microsoft.com/office/drawing/2014/main" xmlns="" id="{5EEBA54D-D173-849E-1A04-ADCC7871DF7D}"/>
              </a:ext>
            </a:extLst>
          </p:cNvPr>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Kotak Teks 18">
            <a:extLst>
              <a:ext uri="{FF2B5EF4-FFF2-40B4-BE49-F238E27FC236}">
                <a16:creationId xmlns:a16="http://schemas.microsoft.com/office/drawing/2014/main" xmlns="" id="{176D383B-253F-73B0-7483-5820625180BC}"/>
              </a:ext>
            </a:extLst>
          </p:cNvPr>
          <p:cNvSpPr txBox="1"/>
          <p:nvPr/>
        </p:nvSpPr>
        <p:spPr>
          <a:xfrm>
            <a:off x="267148" y="2641487"/>
            <a:ext cx="6321467" cy="4152328"/>
          </a:xfrm>
          <a:prstGeom prst="rect">
            <a:avLst/>
          </a:prstGeom>
          <a:solidFill>
            <a:schemeClr val="bg1"/>
          </a:solidFill>
        </p:spPr>
        <p:txBody>
          <a:bodyPr wrap="square" lIns="91440" tIns="45720" rIns="91440" bIns="45720" anchor="t">
            <a:spAutoFit/>
          </a:bodyPr>
          <a:lstStyle/>
          <a:p>
            <a:pPr lvl="0" algn="just">
              <a:spcBef>
                <a:spcPts val="600"/>
              </a:spcBef>
              <a:spcAft>
                <a:spcPts val="300"/>
              </a:spcAft>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Moved, Not Removed.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Probabilitas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target rate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≥4,00% untuk FOMC Oktober turun dari 64,2% menjadi 22,1% sepanjang 25 September–2 Oktober. Namun,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snapshot</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CME FedWatch 5 Oktober menunjukkan rata-rata tertimbang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target rate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tetap menanjak, dari 3,93% pada FOMC Oktober ke 4,12% pada Desember dan 4,68% pada Desember 2027 </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(Exhibit 1).</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Artinya, pasar menggeser jadwal, bukan menghapus jalur pengetatan, sehingga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front end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belum memberi sinyal siklus pelonggaran.</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The Premium Did the Lifting.</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Pada periode yang sama, UST 10YR naik 11,0 bps ke 5,27%, sementara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term premium</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10YR (model ACM) naik 14,2 bps ke 0,91%, tertinggi dalam setahun terakhir </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(Exhibit 2).</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Dengan kata lain, komponen ekspektasi suku bunga justru turun sekitar 3 bps. Kenaikan yang bersumber dari kompensasi risiko seperti ini tidak otomatis berbalik hanya karena The Fed lebih sabar.</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Two Ends, Two Stories.</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UST 2YR turun 2,7 bps mengikuti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repricing</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The Fed, sementara 10YR naik, sehingga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spread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2s10s melebar dari 30,9 bps ke 44,6 bps dalam sepekan.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Steepening</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yang dipimpin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long end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ini memisahkan risiko kebijakan dari risiko durasi: tenor pendek diuntungkan The Fed yang lebih sabar, tetapi pendanaan jangka panjang, baik bagi pemerintah maupun korporasi, menjadi lebih mahal.</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The Driver Has Changed.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Sepanjang 2026, UST 10YR naik 110,4 bps YTD, sementara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term premium</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hanya bertambah 16,6 bps, sehingga sebagian besar kenaikan berasal dari ekspektasi suku bunga. Komposisinya berubah sejak akhir Juni: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term premium</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menyumbang sekitar separuh kenaikan UST 10YR (+40,8 dari +80,5 bps), dan seluruh kenaikan pada pekan lalu. Artinya, risiko utama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long end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kini bergeser dari jalur kebijakan ke kompensasi risiko yang diminta investor.</a:t>
            </a:r>
          </a:p>
          <a:p>
            <a:pPr marL="0" indent="0" algn="just">
              <a:lnSpc>
                <a:spcPct val="100000"/>
              </a:lnSpc>
              <a:spcBef>
                <a:spcPts val="0"/>
              </a:spcBef>
              <a:spcAft>
                <a:spcPts val="0"/>
              </a:spcAft>
              <a:buNone/>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Bottom Line: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The Fed memberi waktu, bukan keringanan. Risiko kebijakan jangka pendek mereda, tetapi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term premium</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membuat biaya modal jangka panjang tetap naik.</a:t>
            </a:r>
          </a:p>
        </p:txBody>
      </p:sp>
      <p:sp>
        <p:nvSpPr>
          <p:cNvPr id="5" name="TextBox 14">
            <a:extLst>
              <a:ext uri="{FF2B5EF4-FFF2-40B4-BE49-F238E27FC236}">
                <a16:creationId xmlns:a16="http://schemas.microsoft.com/office/drawing/2014/main" xmlns="" id="{D4B8596B-26A2-A107-9491-F77413FD73E9}"/>
              </a:ext>
            </a:extLst>
          </p:cNvPr>
          <p:cNvSpPr txBox="1"/>
          <p:nvPr/>
        </p:nvSpPr>
        <p:spPr>
          <a:xfrm>
            <a:off x="357470" y="1991541"/>
            <a:ext cx="6140824" cy="671338"/>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14000"/>
              </a:lnSpc>
              <a:spcAft>
                <a:spcPts val="600"/>
              </a:spcAft>
              <a:buNone/>
            </a:pP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Pasar memundurkan ekspektasi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target rate</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 yang lebih tinggi dari Oktober, tetapi jalur suku bunga hingga 2027 masih menanjak. Kenaikan UST 10YR pekan lalu sepenuhnya berasal dari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term premium</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sehingga biaya pendanaan jangka panjang tetap naik meski risiko kebijakan mereda.</a:t>
            </a:r>
            <a:endParaRPr lang="en-ID" sz="1100" kern="100" dirty="0">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xmlns="" id="{9364F82B-6A7E-C001-7CA3-8B7539E1A9F3}"/>
              </a:ext>
            </a:extLst>
          </p:cNvPr>
          <p:cNvSpPr/>
          <p:nvPr/>
        </p:nvSpPr>
        <p:spPr>
          <a:xfrm>
            <a:off x="354579" y="680295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1: CME-Implied Fed Target Rate Path by FOMC Meeting (%)</a:t>
            </a:r>
          </a:p>
        </p:txBody>
      </p:sp>
      <p:sp>
        <p:nvSpPr>
          <p:cNvPr id="16" name="Rectangle 15">
            <a:extLst>
              <a:ext uri="{FF2B5EF4-FFF2-40B4-BE49-F238E27FC236}">
                <a16:creationId xmlns:a16="http://schemas.microsoft.com/office/drawing/2014/main" xmlns="" id="{521BD689-A1BE-2C80-CD40-347502682528}"/>
              </a:ext>
            </a:extLst>
          </p:cNvPr>
          <p:cNvSpPr/>
          <p:nvPr/>
        </p:nvSpPr>
        <p:spPr>
          <a:xfrm>
            <a:off x="3530766" y="680295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2: UST 10YR Yield vs. ACM 10YR Term Premium (%)</a:t>
            </a:r>
          </a:p>
        </p:txBody>
      </p:sp>
      <p:sp>
        <p:nvSpPr>
          <p:cNvPr id="17" name="TextBox 16">
            <a:extLst>
              <a:ext uri="{FF2B5EF4-FFF2-40B4-BE49-F238E27FC236}">
                <a16:creationId xmlns:a16="http://schemas.microsoft.com/office/drawing/2014/main" xmlns="" id="{4633A3AC-8636-4AE6-02AA-E5E621B95435}"/>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CME FedWatch, supplied screenshot; calculations</a:t>
            </a:r>
          </a:p>
        </p:txBody>
      </p:sp>
      <p:sp>
        <p:nvSpPr>
          <p:cNvPr id="18" name="TextBox 17">
            <a:extLst>
              <a:ext uri="{FF2B5EF4-FFF2-40B4-BE49-F238E27FC236}">
                <a16:creationId xmlns:a16="http://schemas.microsoft.com/office/drawing/2014/main" xmlns="" id="{D0453F5D-6FFC-500A-82C8-673EF390E1E2}"/>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(2 October 2026)</a:t>
            </a:r>
          </a:p>
        </p:txBody>
      </p:sp>
      <p:sp>
        <p:nvSpPr>
          <p:cNvPr id="8" name="TextBox 16">
            <a:extLst>
              <a:ext uri="{FF2B5EF4-FFF2-40B4-BE49-F238E27FC236}">
                <a16:creationId xmlns:a16="http://schemas.microsoft.com/office/drawing/2014/main" xmlns="" id="{F32355F2-740C-F04B-B0F1-EB806AD7E26A}"/>
              </a:ext>
            </a:extLst>
          </p:cNvPr>
          <p:cNvSpPr txBox="1"/>
          <p:nvPr/>
        </p:nvSpPr>
        <p:spPr>
          <a:xfrm>
            <a:off x="5966339" y="8792881"/>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1</a:t>
            </a:fld>
            <a:endParaRPr lang="id-ID" sz="1000" dirty="0">
              <a:solidFill>
                <a:schemeClr val="bg1"/>
              </a:solidFill>
            </a:endParaRPr>
          </a:p>
        </p:txBody>
      </p:sp>
      <p:graphicFrame>
        <p:nvGraphicFramePr>
          <p:cNvPr id="1048604" name="Exhibit 1 Chart"/>
          <p:cNvGraphicFramePr>
            <a:graphicFrameLocks noGrp="1"/>
          </p:cNvGraphicFramePr>
          <p:nvPr/>
        </p:nvGraphicFramePr>
        <p:xfrm>
          <a:off x="354579" y="7167732"/>
          <a:ext cx="3035808" cy="1495904"/>
        </p:xfrm>
        <a:graphic>
          <a:graphicData uri="http://schemas.openxmlformats.org/drawingml/2006/chart">
            <c:chart xmlns:c="http://schemas.openxmlformats.org/drawingml/2006/chart" r:id="rId31"/>
          </a:graphicData>
        </a:graphic>
      </p:graphicFrame>
      <p:graphicFrame>
        <p:nvGraphicFramePr>
          <p:cNvPr id="1048605" name="Exhibit 2 Chart"/>
          <p:cNvGraphicFramePr>
            <a:graphicFrameLocks noGrp="1"/>
          </p:cNvGraphicFramePr>
          <p:nvPr/>
        </p:nvGraphicFramePr>
        <p:xfrm>
          <a:off x="3530765" y="7167732"/>
          <a:ext cx="3035808" cy="1495904"/>
        </p:xfrm>
        <a:graphic>
          <a:graphicData uri="http://schemas.openxmlformats.org/drawingml/2006/chart">
            <c:chart xmlns:c="http://schemas.openxmlformats.org/drawingml/2006/chart" r:id="rId32"/>
          </a:graphicData>
        </a:graphic>
      </p:graphicFrame>
      <p:pic>
        <p:nvPicPr>
          <p:cNvPr id="26" name="Picture 15">
            <a:extLst>
              <a:ext uri="{FF2B5EF4-FFF2-40B4-BE49-F238E27FC236}">
                <a16:creationId xmlns:a16="http://schemas.microsoft.com/office/drawing/2014/main" xmlns="" id="{FA3E071E-8624-2961-6E00-0A1F6DC56878}"/>
              </a:ext>
            </a:extLst>
          </p:cNvPr>
          <p:cNvPicPr>
            <a:picLocks noChangeAspect="1"/>
          </p:cNvPicPr>
          <p:nvPr/>
        </p:nvPicPr>
        <p:blipFill>
          <a:blip r:embed="rId5"/>
          <a:stretch>
            <a:fillRect/>
          </a:stretch>
        </p:blipFill>
        <p:spPr>
          <a:xfrm>
            <a:off x="424493" y="8786563"/>
            <a:ext cx="6009012" cy="267729"/>
          </a:xfrm>
          <a:prstGeom prst="rect">
            <a:avLst/>
          </a:prstGeom>
        </p:spPr>
      </p:pic>
      <p:sp>
        <p:nvSpPr>
          <p:cNvPr id="27" name="TextBox 17">
            <a:extLst>
              <a:ext uri="{FF2B5EF4-FFF2-40B4-BE49-F238E27FC236}">
                <a16:creationId xmlns:a16="http://schemas.microsoft.com/office/drawing/2014/main" xmlns="" id="{6EB98A60-1CE9-EA09-6826-D05E99DD6574}"/>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spTree>
    <p:extLst>
      <p:ext uri="{BB962C8B-B14F-4D97-AF65-F5344CB8AC3E}">
        <p14:creationId xmlns:p14="http://schemas.microsoft.com/office/powerpoint/2010/main" val="20214989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89C8450-D8E1-A3AC-0F5B-7FC7E6284222}"/>
            </a:ext>
          </a:extLst>
        </p:cNvPr>
        <p:cNvGrpSpPr/>
        <p:nvPr/>
      </p:nvGrpSpPr>
      <p:grpSpPr>
        <a:xfrm>
          <a:off x="0" y="0"/>
          <a:ext cx="0" cy="0"/>
          <a:chOff x="0" y="0"/>
          <a:chExt cx="0" cy="0"/>
        </a:xfrm>
      </p:grpSpPr>
      <p:sp>
        <p:nvSpPr>
          <p:cNvPr id="2097157"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5 October 2026</a:t>
            </a:r>
          </a:p>
        </p:txBody>
      </p:sp>
      <p:sp>
        <p:nvSpPr>
          <p:cNvPr id="1048593" name="AutoShape 2" descr="ready">
            <a:extLst>
              <a:ext uri="{FF2B5EF4-FFF2-40B4-BE49-F238E27FC236}">
                <a16:creationId xmlns:a16="http://schemas.microsoft.com/office/drawing/2014/main" xmlns="" id="{EEA7578E-139D-ADAC-DF76-92A90E103C68}"/>
              </a:ext>
            </a:extLst>
          </p:cNvPr>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a:extLst>
              <a:ext uri="{FF2B5EF4-FFF2-40B4-BE49-F238E27FC236}">
                <a16:creationId xmlns:a16="http://schemas.microsoft.com/office/drawing/2014/main" xmlns="" id="{1ADFF4F1-DB48-4000-7B3F-5F2FE9315194}"/>
              </a:ext>
            </a:extLst>
          </p:cNvPr>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6" name="TextBox 18">
            <a:extLst>
              <a:ext uri="{FF2B5EF4-FFF2-40B4-BE49-F238E27FC236}">
                <a16:creationId xmlns:a16="http://schemas.microsoft.com/office/drawing/2014/main" xmlns="" id="{02B742B4-5BBF-CB82-5E42-997145DC802D}"/>
              </a:ext>
            </a:extLst>
          </p:cNvPr>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Global: AI Sellers Get Paid, AI Spenders Pay</a:t>
            </a:r>
            <a:endParaRPr lang="en-US" b="1" i="1" dirty="0"/>
          </a:p>
        </p:txBody>
      </p:sp>
      <p:sp>
        <p:nvSpPr>
          <p:cNvPr id="1048600" name="Rectangle 1" hidden="1">
            <a:extLst>
              <a:ext uri="{FF2B5EF4-FFF2-40B4-BE49-F238E27FC236}">
                <a16:creationId xmlns:a16="http://schemas.microsoft.com/office/drawing/2014/main" xmlns="" id="{C9600879-7D9D-DDA8-6014-71CA1503C382}"/>
              </a:ext>
            </a:extLst>
          </p:cNvPr>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a:extLst>
              <a:ext uri="{FF2B5EF4-FFF2-40B4-BE49-F238E27FC236}">
                <a16:creationId xmlns:a16="http://schemas.microsoft.com/office/drawing/2014/main" xmlns="" id="{50B53999-22F3-D434-AB67-27BE468C503C}"/>
              </a:ext>
            </a:extLst>
          </p:cNvPr>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Kotak Teks 18">
            <a:extLst>
              <a:ext uri="{FF2B5EF4-FFF2-40B4-BE49-F238E27FC236}">
                <a16:creationId xmlns:a16="http://schemas.microsoft.com/office/drawing/2014/main" xmlns="" id="{97971A31-5694-E124-772C-CCCC3C1B53FF}"/>
              </a:ext>
            </a:extLst>
          </p:cNvPr>
          <p:cNvSpPr txBox="1"/>
          <p:nvPr/>
        </p:nvSpPr>
        <p:spPr>
          <a:xfrm>
            <a:off x="267148" y="2610752"/>
            <a:ext cx="6321467" cy="4183063"/>
          </a:xfrm>
          <a:prstGeom prst="rect">
            <a:avLst/>
          </a:prstGeom>
          <a:solidFill>
            <a:schemeClr val="bg1"/>
          </a:solidFill>
        </p:spPr>
        <p:txBody>
          <a:bodyPr wrap="square" lIns="91440" tIns="45720" rIns="91440" bIns="45720" anchor="t">
            <a:spAutoFit/>
          </a:bodyPr>
          <a:lstStyle/>
          <a:p>
            <a:pPr lvl="0" algn="just">
              <a:spcBef>
                <a:spcPts val="600"/>
              </a:spcBef>
              <a:spcAft>
                <a:spcPts val="300"/>
              </a:spcAft>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Follow the Capex.</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Per 2 Oktober, SOX naik 85,5% YTD, sementara rata-rata lima hyperscalers hanya 1,5%, dengan Oracle turun 27,0% </a:t>
            </a:r>
            <a:r>
              <a:rPr lang="en-ID" sz="1100" b="1" i="0" kern="100" dirty="0">
                <a:latin typeface="Calibri" panose="020F0502020204030204" pitchFamily="34" charset="0"/>
                <a:ea typeface="Calibri" panose="020F0502020204030204" pitchFamily="34" charset="0"/>
                <a:cs typeface="Times New Roman" panose="02020603050405020304" pitchFamily="18" charset="0"/>
              </a:rPr>
              <a:t>(Exhibit 3).</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Meski sempat tertinggal pada Q3, SOX kembali naik 3,7% dalam sepekan setelah Micron membukukan EPS kuartalan USD 33,36 (setahun sebelumnya: USD 2,86) dan estimasi EPS konsensus (BEst) direvisi naik 8,5% dalam beberapa hari. Artinya, pasar memberi premi pada penerima capex yang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earnings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-nya sudah terlihat.</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Capex Goes to the Bond Market.</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Capex Alphabet, Microsoft, Amazon, dan Meta naik dari USD 118,63 miliar pada Q4 2025 menjadi USD 165,05 miliar pada Q2 2026 (+39,1%), sementara capex kuartalan Oracle naik lebih dari dua kali lipat. Sebagian kebutuhan tersebut dibiayai lewat pasar obligasi: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amount outstanding active USD bonds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hyperscalers yang terbit 2026 YTD mencapai USD 157,00 miliar, naik 68,4% dibandingkan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2025 vintage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a:t>
            </a:r>
            <a:r>
              <a:rPr lang="en-ID" sz="1100" b="1" i="0" kern="100" dirty="0">
                <a:latin typeface="Calibri" panose="020F0502020204030204" pitchFamily="34" charset="0"/>
                <a:ea typeface="Calibri" panose="020F0502020204030204" pitchFamily="34" charset="0"/>
                <a:cs typeface="Times New Roman" panose="02020603050405020304" pitchFamily="18" charset="0"/>
              </a:rPr>
              <a:t>(Exhibit 4).</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Alhasil, AI ikut menambah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supply</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obligasi tepat ketika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term premium</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sedang naik.</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Credit Is Doing the Due Diligence.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Pasar kredit menilai neraca, bukan narasi AI: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yield</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obligasi USD jatuh tempo 2036 berkisar 5,6% untuk Microsoft (AAA) hingga 7,5% untuk Oracle (BBB-), selisih sekitar 190 bps. Pasar saham memberi penilaian serupa: sejak akhir Juni, Microsoft (AAA) dan Meta (AA-) naik 38,7% dan 29,3%, sedangkan Oracle (BBB-) turun 2,9% dan menjadi satu-satunya hyperscaler yang turun YTD. Artinya, pasar tidak menghukum capex itu sendiri, melainkan capex dengan neraca lebih lemah.</a:t>
            </a:r>
          </a:p>
          <a:p>
            <a:pPr marL="0" indent="0" algn="just">
              <a:lnSpc>
                <a:spcPct val="100000"/>
              </a:lnSpc>
              <a:spcBef>
                <a:spcPts val="0"/>
              </a:spcBef>
              <a:spcAft>
                <a:spcPts val="0"/>
              </a:spcAft>
              <a:buNone/>
            </a:pPr>
            <a:r>
              <a:rPr lang="en-ID" sz="1100" b="1" i="1" kern="100" dirty="0">
                <a:latin typeface="Calibri" panose="020F0502020204030204" pitchFamily="34" charset="0"/>
                <a:ea typeface="Calibri" panose="020F0502020204030204" pitchFamily="34" charset="0"/>
                <a:cs typeface="Times New Roman" panose="02020603050405020304" pitchFamily="18" charset="0"/>
              </a:rPr>
              <a:t>Bottom Line: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AI tetap menjadi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growth driver</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tetapi pasar kini memisahkan siapa yang dibayar dan siapa yang membayar. Selama capex terus naik dan sebagian dibiayai utang, kualitas neraca akan semakin menentukan valuasi.</a:t>
            </a:r>
          </a:p>
        </p:txBody>
      </p:sp>
      <p:sp>
        <p:nvSpPr>
          <p:cNvPr id="5" name="TextBox 14">
            <a:extLst>
              <a:ext uri="{FF2B5EF4-FFF2-40B4-BE49-F238E27FC236}">
                <a16:creationId xmlns:a16="http://schemas.microsoft.com/office/drawing/2014/main" xmlns="" id="{21AB08E0-6722-8ED3-29AF-C5C3DE5AF6C1}"/>
              </a:ext>
            </a:extLst>
          </p:cNvPr>
          <p:cNvSpPr txBox="1"/>
          <p:nvPr/>
        </p:nvSpPr>
        <p:spPr>
          <a:xfrm>
            <a:off x="357470" y="1991541"/>
            <a:ext cx="6140824" cy="627736"/>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07000"/>
              </a:lnSpc>
              <a:spcAft>
                <a:spcPts val="600"/>
              </a:spcAft>
              <a:buNone/>
            </a:pPr>
            <a:r>
              <a:rPr lang="en-US" sz="1100" b="1" dirty="0" i="0">
                <a:latin typeface="Calibri" panose="020F0502020204030204" pitchFamily="34" charset="0"/>
                <a:ea typeface="MS Mincho" panose="02020609040205080304" pitchFamily="49" charset="-128"/>
                <a:cs typeface="Times New Roman" panose="02020603050405020304" pitchFamily="18" charset="0"/>
              </a:rPr>
              <a:t>Pasar saham masih memberi premi terbesar pada penjual AI: SOX naik 85,5% YTD, jauh di atas rata-rata hyperscalers yang hanya 1,5%. Sebaliknya, pembelanja AI menanggung capex yang terus naik dan semakin bergantung pada pasar obligasi, tempat pasar kredit mulai membedakan kekuatan neraca.</a:t>
            </a:r>
          </a:p>
        </p:txBody>
      </p:sp>
      <p:sp>
        <p:nvSpPr>
          <p:cNvPr id="23" name="Rectangle 22">
            <a:extLst>
              <a:ext uri="{FF2B5EF4-FFF2-40B4-BE49-F238E27FC236}">
                <a16:creationId xmlns:a16="http://schemas.microsoft.com/office/drawing/2014/main" xmlns="" id="{9BEC99D9-435F-04D4-A2BA-741342AE43A5}"/>
              </a:ext>
            </a:extLst>
          </p:cNvPr>
          <p:cNvSpPr/>
          <p:nvPr/>
        </p:nvSpPr>
        <p:spPr>
          <a:xfrm>
            <a:off x="3530766" y="680295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4: Hyperscaler USD Bonds Outstanding by Issue Year (USD Bn)</a:t>
            </a:r>
            <a:endParaRPr lang="en-US" sz="1100" b="1" i="1" dirty="0"/>
          </a:p>
        </p:txBody>
      </p:sp>
      <p:sp>
        <p:nvSpPr>
          <p:cNvPr id="19" name="Rectangle 18">
            <a:extLst>
              <a:ext uri="{FF2B5EF4-FFF2-40B4-BE49-F238E27FC236}">
                <a16:creationId xmlns:a16="http://schemas.microsoft.com/office/drawing/2014/main" xmlns="" id="{3695F0D5-4618-1656-ADB9-93963C68CFB1}"/>
              </a:ext>
            </a:extLst>
          </p:cNvPr>
          <p:cNvSpPr/>
          <p:nvPr/>
        </p:nvSpPr>
        <p:spPr>
          <a:xfrm>
            <a:off x="354579" y="680295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3: Semiconductors vs. Hyperscalers YTD Performance (%)</a:t>
            </a:r>
          </a:p>
        </p:txBody>
      </p:sp>
      <p:grpSp>
        <p:nvGrpSpPr>
          <p:cNvPr id="10" name="Group 9">
            <a:extLst>
              <a:ext uri="{FF2B5EF4-FFF2-40B4-BE49-F238E27FC236}">
                <a16:creationId xmlns:a16="http://schemas.microsoft.com/office/drawing/2014/main" xmlns="" id="{BD720CA6-F6F0-FEFE-71DF-C1919A6B1B44}"/>
              </a:ext>
            </a:extLst>
          </p:cNvPr>
          <p:cNvGrpSpPr/>
          <p:nvPr/>
        </p:nvGrpSpPr>
        <p:grpSpPr>
          <a:xfrm>
            <a:off x="424492" y="8779499"/>
            <a:ext cx="6197464" cy="281857"/>
            <a:chOff x="424492" y="8779499"/>
            <a:chExt cx="6197464" cy="281857"/>
          </a:xfrm>
        </p:grpSpPr>
        <p:grpSp>
          <p:nvGrpSpPr>
            <p:cNvPr id="9" name="Group 8">
              <a:extLst>
                <a:ext uri="{FF2B5EF4-FFF2-40B4-BE49-F238E27FC236}">
                  <a16:creationId xmlns:a16="http://schemas.microsoft.com/office/drawing/2014/main" xmlns="" id="{595591FE-7050-5062-9761-FD722F238C80}"/>
                </a:ext>
              </a:extLst>
            </p:cNvPr>
            <p:cNvGrpSpPr/>
            <p:nvPr/>
          </p:nvGrpSpPr>
          <p:grpSpPr>
            <a:xfrm>
              <a:off x="424492" y="8779499"/>
              <a:ext cx="6009013" cy="274793"/>
              <a:chOff x="424492" y="8779499"/>
              <a:chExt cx="6009013" cy="274793"/>
            </a:xfrm>
          </p:grpSpPr>
          <p:pic>
            <p:nvPicPr>
              <p:cNvPr id="2097154" name="Picture 15">
                <a:extLst>
                  <a:ext uri="{FF2B5EF4-FFF2-40B4-BE49-F238E27FC236}">
                    <a16:creationId xmlns:a16="http://schemas.microsoft.com/office/drawing/2014/main" xmlns="" id="{FA3E071E-8624-2961-6E00-0A1F6DC56878}"/>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048591" name="TextBox 17">
                <a:extLst>
                  <a:ext uri="{FF2B5EF4-FFF2-40B4-BE49-F238E27FC236}">
                    <a16:creationId xmlns:a16="http://schemas.microsoft.com/office/drawing/2014/main" xmlns="" id="{6EB98A60-1CE9-EA09-6826-D05E99DD6574}"/>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grpSp>
        <p:sp>
          <p:nvSpPr>
            <p:cNvPr id="8" name="TextBox 16">
              <a:extLst>
                <a:ext uri="{FF2B5EF4-FFF2-40B4-BE49-F238E27FC236}">
                  <a16:creationId xmlns:a16="http://schemas.microsoft.com/office/drawing/2014/main" xmlns="" id="{9B60571A-08C2-7AEE-BF8A-BB6A9CBF0DEF}"/>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2</a:t>
              </a:fld>
              <a:endParaRPr lang="id-ID" sz="1000" dirty="0">
                <a:solidFill>
                  <a:schemeClr val="bg1"/>
                </a:solidFill>
              </a:endParaRPr>
            </a:p>
          </p:txBody>
        </p:sp>
      </p:grpSp>
      <p:sp>
        <p:nvSpPr>
          <p:cNvPr id="12" name="TextBox 11">
            <a:extLst>
              <a:ext uri="{FF2B5EF4-FFF2-40B4-BE49-F238E27FC236}">
                <a16:creationId xmlns:a16="http://schemas.microsoft.com/office/drawing/2014/main" xmlns="" id="{FF204A18-5FB8-26E5-1B60-AA36AB80687F}"/>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Bloomberg (2 October 2026)</a:t>
            </a:r>
          </a:p>
        </p:txBody>
      </p:sp>
      <p:sp>
        <p:nvSpPr>
          <p:cNvPr id="14" name="TextBox 13">
            <a:extLst>
              <a:ext uri="{FF2B5EF4-FFF2-40B4-BE49-F238E27FC236}">
                <a16:creationId xmlns:a16="http://schemas.microsoft.com/office/drawing/2014/main" xmlns="" id="{A78846AF-0BC5-D3C3-6771-5FE986D3FAC4}"/>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(5 October 2026)</a:t>
            </a:r>
          </a:p>
        </p:txBody>
      </p:sp>
      <p:graphicFrame>
        <p:nvGraphicFramePr>
          <p:cNvPr id="2097158" name="Exhibit 3 Chart"/>
          <p:cNvGraphicFramePr>
            <a:graphicFrameLocks noGrp="1"/>
          </p:cNvGraphicFramePr>
          <p:nvPr/>
        </p:nvGraphicFramePr>
        <p:xfrm>
          <a:off x="354579" y="7167732"/>
          <a:ext cx="3035808" cy="1495904"/>
        </p:xfrm>
        <a:graphic>
          <a:graphicData uri="http://schemas.openxmlformats.org/drawingml/2006/chart">
            <c:chart xmlns:c="http://schemas.openxmlformats.org/drawingml/2006/chart" r:id="rId33"/>
          </a:graphicData>
        </a:graphic>
      </p:graphicFrame>
      <p:graphicFrame>
        <p:nvGraphicFramePr>
          <p:cNvPr id="2097159" name="Exhibit 4 Chart"/>
          <p:cNvGraphicFramePr>
            <a:graphicFrameLocks noGrp="1"/>
          </p:cNvGraphicFramePr>
          <p:nvPr/>
        </p:nvGraphicFramePr>
        <p:xfrm>
          <a:off x="3530765" y="7167732"/>
          <a:ext cx="3035808" cy="1495904"/>
        </p:xfrm>
        <a:graphic>
          <a:graphicData uri="http://schemas.openxmlformats.org/drawingml/2006/chart">
            <c:chart xmlns:c="http://schemas.openxmlformats.org/drawingml/2006/chart" r:id="rId34"/>
          </a:graphicData>
        </a:graphic>
      </p:graphicFrame>
    </p:spTree>
    <p:extLst>
      <p:ext uri="{BB962C8B-B14F-4D97-AF65-F5344CB8AC3E}">
        <p14:creationId xmlns:p14="http://schemas.microsoft.com/office/powerpoint/2010/main" val="32276553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5 October 2026</a:t>
            </a:r>
          </a:p>
        </p:txBody>
      </p:sp>
      <p:sp>
        <p:nvSpPr>
          <p:cNvPr id="1048592" name="TextBox 16"/>
          <p:cNvSpPr txBox="1"/>
          <p:nvPr/>
        </p:nvSpPr>
        <p:spPr>
          <a:xfrm>
            <a:off x="5791200" y="8779499"/>
            <a:ext cx="645196" cy="271639"/>
          </a:xfrm>
          <a:prstGeom prst="rect">
            <a:avLst/>
          </a:prstGeom>
          <a:noFill/>
        </p:spPr>
        <p:txBody>
          <a:bodyPr wrap="square" lIns="116612" tIns="58306" rIns="116612" bIns="58306" rtlCol="0">
            <a:spAutoFit/>
          </a:bodyPr>
          <a:lstStyle/>
          <a:p>
            <a:pPr algn="r"/>
            <a:fld id="{477D8BF5-2754-4CFE-9C4A-CCAF84A93D96}" type="slidenum">
              <a:rPr lang="id-ID" sz="1000">
                <a:solidFill>
                  <a:schemeClr val="bg1"/>
                </a:solidFill>
              </a:rPr>
              <a:pPr algn="r"/>
              <a:t>3</a:t>
            </a:fld>
            <a:endParaRPr lang="id-ID" sz="1000" dirty="0">
              <a:solidFill>
                <a:schemeClr val="bg1"/>
              </a:solidFill>
            </a:endParaRPr>
          </a:p>
        </p:txBody>
      </p:sp>
      <p:sp>
        <p:nvSpPr>
          <p:cNvPr id="1048593" name="AutoShape 2" descr="ready"/>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5" name="TextBox 14"/>
          <p:cNvSpPr txBox="1"/>
          <p:nvPr/>
        </p:nvSpPr>
        <p:spPr>
          <a:xfrm>
            <a:off x="358588" y="1991541"/>
            <a:ext cx="6140824" cy="664926"/>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15000"/>
              </a:lnSpc>
              <a:spcAft>
                <a:spcPts val="600"/>
              </a:spcAft>
              <a:buNone/>
            </a:pPr>
            <a:r>
              <a:rPr lang="en-US" sz="1100" b="1" dirty="0" i="0">
                <a:effectLst/>
                <a:latin typeface="Calibri" panose="020F0502020204030204" pitchFamily="34" charset="0"/>
                <a:ea typeface="MS Mincho" panose="02020609040205080304" pitchFamily="49" charset="-128"/>
                <a:cs typeface="Times New Roman" panose="02020603050405020304" pitchFamily="18" charset="0"/>
              </a:rPr>
              <a:t xml:space="preserve">Rupiah lebih tenang sepanjang September, tetapi ketenangan itu datang bersama cadangan devisa yang hampir USD 10 miliar lebih rendah dibanding akhir 2025. Premi </a:t>
            </a:r>
            <a:r>
              <a:rPr lang="en-US" sz="1100" b="1" dirty="0" i="1">
                <a:effectLst/>
                <a:latin typeface="Calibri" panose="020F0502020204030204" pitchFamily="34" charset="0"/>
                <a:ea typeface="MS Mincho" panose="02020609040205080304" pitchFamily="49" charset="-128"/>
                <a:cs typeface="Times New Roman" panose="02020603050405020304" pitchFamily="18" charset="0"/>
              </a:rPr>
              <a:t>yield</a:t>
            </a:r>
            <a:r>
              <a:rPr lang="en-US" sz="1100" b="1" dirty="0" i="0">
                <a:effectLst/>
                <a:latin typeface="Calibri" panose="020F0502020204030204" pitchFamily="34" charset="0"/>
                <a:ea typeface="MS Mincho" panose="02020609040205080304" pitchFamily="49" charset="-128"/>
                <a:cs typeface="Times New Roman" panose="02020603050405020304" pitchFamily="18" charset="0"/>
              </a:rPr>
              <a:t xml:space="preserve"> SBN terhadap UST menipis dan surplus kumulatif jauh lebih kecil, sehingga ruang menyerap guncangan eksternal semakin sempit.</a:t>
            </a:r>
            <a:endParaRPr lang="en-ID" sz="11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048596" name="TextBox 18"/>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Indonesia: The Cost of Calm</a:t>
            </a:r>
          </a:p>
        </p:txBody>
      </p:sp>
      <p:sp>
        <p:nvSpPr>
          <p:cNvPr id="1048600" name="Rectangle 1" hidden="1"/>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11" name="Group 10">
            <a:extLst>
              <a:ext uri="{FF2B5EF4-FFF2-40B4-BE49-F238E27FC236}">
                <a16:creationId xmlns:a16="http://schemas.microsoft.com/office/drawing/2014/main" xmlns="" id="{38A896CA-A41A-EB40-87C3-52549A35F369}"/>
              </a:ext>
            </a:extLst>
          </p:cNvPr>
          <p:cNvGrpSpPr/>
          <p:nvPr/>
        </p:nvGrpSpPr>
        <p:grpSpPr>
          <a:xfrm>
            <a:off x="424492" y="8779499"/>
            <a:ext cx="6197464" cy="281857"/>
            <a:chOff x="424492" y="8779499"/>
            <a:chExt cx="6197464" cy="281857"/>
          </a:xfrm>
        </p:grpSpPr>
        <p:grpSp>
          <p:nvGrpSpPr>
            <p:cNvPr id="12" name="Group 11">
              <a:extLst>
                <a:ext uri="{FF2B5EF4-FFF2-40B4-BE49-F238E27FC236}">
                  <a16:creationId xmlns:a16="http://schemas.microsoft.com/office/drawing/2014/main" xmlns="" id="{36B7E4E1-8946-652E-5D8E-C89C8C9D8722}"/>
                </a:ext>
              </a:extLst>
            </p:cNvPr>
            <p:cNvGrpSpPr/>
            <p:nvPr/>
          </p:nvGrpSpPr>
          <p:grpSpPr>
            <a:xfrm>
              <a:off x="424492" y="8779499"/>
              <a:ext cx="6009013" cy="274793"/>
              <a:chOff x="424492" y="8779499"/>
              <a:chExt cx="6009013" cy="274793"/>
            </a:xfrm>
          </p:grpSpPr>
          <p:pic>
            <p:nvPicPr>
              <p:cNvPr id="14" name="Picture 15">
                <a:extLst>
                  <a:ext uri="{FF2B5EF4-FFF2-40B4-BE49-F238E27FC236}">
                    <a16:creationId xmlns:a16="http://schemas.microsoft.com/office/drawing/2014/main" xmlns="" id="{60793C5F-EED1-6682-2354-7CF814B4F19A}"/>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5" name="TextBox 17">
                <a:extLst>
                  <a:ext uri="{FF2B5EF4-FFF2-40B4-BE49-F238E27FC236}">
                    <a16:creationId xmlns:a16="http://schemas.microsoft.com/office/drawing/2014/main" xmlns="" id="{A336713E-3B8C-EBCC-87EB-7D3CA5145D75}"/>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grpSp>
        <p:sp>
          <p:nvSpPr>
            <p:cNvPr id="13" name="TextBox 16">
              <a:extLst>
                <a:ext uri="{FF2B5EF4-FFF2-40B4-BE49-F238E27FC236}">
                  <a16:creationId xmlns:a16="http://schemas.microsoft.com/office/drawing/2014/main" xmlns="" id="{E75FC1CF-4196-AE66-1211-62E5787FEB87}"/>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3</a:t>
              </a:fld>
              <a:endParaRPr lang="id-ID" sz="1000" dirty="0">
                <a:solidFill>
                  <a:schemeClr val="bg1"/>
                </a:solidFill>
              </a:endParaRPr>
            </a:p>
          </p:txBody>
        </p:sp>
      </p:grpSp>
      <p:sp>
        <p:nvSpPr>
          <p:cNvPr id="19" name="TextBox 18">
            <a:extLst>
              <a:ext uri="{FF2B5EF4-FFF2-40B4-BE49-F238E27FC236}">
                <a16:creationId xmlns:a16="http://schemas.microsoft.com/office/drawing/2014/main" xmlns="" id="{0CE97E63-E73E-4F26-51DE-7F7C13A3160D}"/>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Bloomberg (2 October 2026)</a:t>
            </a:r>
          </a:p>
        </p:txBody>
      </p:sp>
      <p:sp>
        <p:nvSpPr>
          <p:cNvPr id="21" name="TextBox 20">
            <a:extLst>
              <a:ext uri="{FF2B5EF4-FFF2-40B4-BE49-F238E27FC236}">
                <a16:creationId xmlns:a16="http://schemas.microsoft.com/office/drawing/2014/main" xmlns="" id="{27241F1B-3987-24F5-CBF1-401157C7B8E9}"/>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(5 October 2026)</a:t>
            </a:r>
          </a:p>
        </p:txBody>
      </p:sp>
      <p:sp>
        <p:nvSpPr>
          <p:cNvPr id="4" name="Rectangle 3">
            <a:extLst>
              <a:ext uri="{FF2B5EF4-FFF2-40B4-BE49-F238E27FC236}">
                <a16:creationId xmlns:a16="http://schemas.microsoft.com/office/drawing/2014/main" xmlns="" id="{24BA601E-CB3D-A1C3-5BED-3DF78B2CC1CC}"/>
              </a:ext>
            </a:extLst>
          </p:cNvPr>
          <p:cNvSpPr/>
          <p:nvPr/>
        </p:nvSpPr>
        <p:spPr>
          <a:xfrm>
            <a:off x="354579" y="680295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5: Indonesia FX Reserves (USD Bn) vs. USD/IDR</a:t>
            </a:r>
          </a:p>
        </p:txBody>
      </p:sp>
      <p:sp>
        <p:nvSpPr>
          <p:cNvPr id="6" name="Rectangle 5">
            <a:extLst>
              <a:ext uri="{FF2B5EF4-FFF2-40B4-BE49-F238E27FC236}">
                <a16:creationId xmlns:a16="http://schemas.microsoft.com/office/drawing/2014/main" xmlns="" id="{174864D4-F972-8D31-BF83-DD3AB7C2372F}"/>
              </a:ext>
            </a:extLst>
          </p:cNvPr>
          <p:cNvSpPr/>
          <p:nvPr/>
        </p:nvSpPr>
        <p:spPr>
          <a:xfrm>
            <a:off x="3530766" y="680295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6: Indonesia Trade Balance (USD Bn)</a:t>
            </a:r>
          </a:p>
        </p:txBody>
      </p:sp>
      <p:sp>
        <p:nvSpPr>
          <p:cNvPr id="22" name="Kotak Teks 18">
            <a:extLst>
              <a:ext uri="{FF2B5EF4-FFF2-40B4-BE49-F238E27FC236}">
                <a16:creationId xmlns:a16="http://schemas.microsoft.com/office/drawing/2014/main" xmlns="" id="{52C5CF14-D0F4-D748-D504-AD1E8F9E557D}"/>
              </a:ext>
            </a:extLst>
          </p:cNvPr>
          <p:cNvSpPr txBox="1"/>
          <p:nvPr/>
        </p:nvSpPr>
        <p:spPr>
          <a:xfrm>
            <a:off x="268267" y="2611351"/>
            <a:ext cx="6321467" cy="4182464"/>
          </a:xfrm>
          <a:prstGeom prst="rect">
            <a:avLst/>
          </a:prstGeom>
          <a:noFill/>
        </p:spPr>
        <p:txBody>
          <a:bodyPr wrap="square" lIns="91440" tIns="45720" rIns="91440" bIns="45720" anchor="t">
            <a:spAutoFit/>
          </a:bodyPr>
          <a:lstStyle/>
          <a:p>
            <a:pPr lvl="0" algn="just">
              <a:spcBef>
                <a:spcPts val="300"/>
              </a:spcBef>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Calm, Not Cheap.</a:t>
            </a:r>
            <a:r>
              <a:rPr lang="en-US" sz="1100" b="0" i="0" dirty="0">
                <a:ea typeface="MS Mincho" panose="02020609040205080304" pitchFamily="49" charset="-128"/>
                <a:cs typeface="Times New Roman" panose="02020603050405020304" pitchFamily="18" charset="0"/>
              </a:rPr>
              <a:t xml:space="preserve"> USD/IDR bergerak di kisaran 17.513–17.975 sepanjang September dan ditutup di 17.875 per 2 Oktober, di bawah puncak 18.178 pada Juni. Namun, cadangan devisa per Agustus berada di USD 146,51 miliar, turun USD 9,96 miliar dibanding akhir 2025, sementara rupiah masih melemah 7,1% YTD </a:t>
            </a:r>
            <a:r>
              <a:rPr lang="en-US" sz="1100" b="1" i="0" dirty="0">
                <a:ea typeface="MS Mincho" panose="02020609040205080304" pitchFamily="49" charset="-128"/>
                <a:cs typeface="Times New Roman" panose="02020603050405020304" pitchFamily="18" charset="0"/>
              </a:rPr>
              <a:t>(Exhibit 5).</a:t>
            </a:r>
            <a:r>
              <a:rPr lang="en-US" sz="1100" b="0" i="0" dirty="0">
                <a:ea typeface="MS Mincho" panose="02020609040205080304" pitchFamily="49" charset="-128"/>
                <a:cs typeface="Times New Roman" panose="02020603050405020304" pitchFamily="18" charset="0"/>
              </a:rPr>
              <a:t xml:space="preserve"> Artinya, stabilitas saat ini dicapai dengan cadangan yang lebih tipis, sehingga ruang untuk meredam guncangan baru lebih terbatas.</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Less Pay for the Same Risk.</a:t>
            </a:r>
            <a:r>
              <a:rPr lang="en-US" sz="1100" b="0" i="0" dirty="0">
                <a:ea typeface="MS Mincho" panose="02020609040205080304" pitchFamily="49" charset="-128"/>
                <a:cs typeface="Times New Roman" panose="02020603050405020304" pitchFamily="18" charset="0"/>
              </a:rPr>
              <a:t xml:space="preserve"> Selisih </a:t>
            </a:r>
            <a:r>
              <a:rPr lang="en-US" sz="1100" b="0" i="1" dirty="0">
                <a:ea typeface="MS Mincho" panose="02020609040205080304" pitchFamily="49" charset="-128"/>
                <a:cs typeface="Times New Roman" panose="02020603050405020304" pitchFamily="18" charset="0"/>
              </a:rPr>
              <a:t>yield</a:t>
            </a:r>
            <a:r>
              <a:rPr lang="en-US" sz="1100" b="0" i="0" dirty="0">
                <a:ea typeface="MS Mincho" panose="02020609040205080304" pitchFamily="49" charset="-128"/>
                <a:cs typeface="Times New Roman" panose="02020603050405020304" pitchFamily="18" charset="0"/>
              </a:rPr>
              <a:t xml:space="preserve"> FR 10YR terhadap UST 10YR menyempit dari 298 bps pada 11 Juni menjadi 190 bps per 2 Oktober, karena </a:t>
            </a:r>
            <a:r>
              <a:rPr lang="en-US" sz="1100" b="0" i="1" dirty="0">
                <a:ea typeface="MS Mincho" panose="02020609040205080304" pitchFamily="49" charset="-128"/>
                <a:cs typeface="Times New Roman" panose="02020603050405020304" pitchFamily="18" charset="0"/>
              </a:rPr>
              <a:t>yield</a:t>
            </a:r>
            <a:r>
              <a:rPr lang="en-US" sz="1100" b="0" i="0" dirty="0">
                <a:ea typeface="MS Mincho" panose="02020609040205080304" pitchFamily="49" charset="-128"/>
                <a:cs typeface="Times New Roman" panose="02020603050405020304" pitchFamily="18" charset="0"/>
              </a:rPr>
              <a:t xml:space="preserve"> UST naik 81 bps sementara FR 10YR turun 27,9 bps. Padahal, risiko kurs belum hilang. Dengan inflasi September 3,28%, </a:t>
            </a:r>
            <a:r>
              <a:rPr lang="en-US" sz="1100" b="0" i="1" dirty="0">
                <a:ea typeface="MS Mincho" panose="02020609040205080304" pitchFamily="49" charset="-128"/>
                <a:cs typeface="Times New Roman" panose="02020603050405020304" pitchFamily="18" charset="0"/>
              </a:rPr>
              <a:t>real yield</a:t>
            </a:r>
            <a:r>
              <a:rPr lang="en-US" sz="1100" b="0" i="0" dirty="0">
                <a:ea typeface="MS Mincho" panose="02020609040205080304" pitchFamily="49" charset="-128"/>
                <a:cs typeface="Times New Roman" panose="02020603050405020304" pitchFamily="18" charset="0"/>
              </a:rPr>
              <a:t xml:space="preserve"> FR 10YR kini sekitar 3,9%, sehingga daya tarik SBN bagi investor asing semakin bergantung pada stabilitas rupiah.</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One Good Month.</a:t>
            </a:r>
            <a:r>
              <a:rPr lang="en-US" sz="1100" b="0" i="0" dirty="0">
                <a:ea typeface="MS Mincho" panose="02020609040205080304" pitchFamily="49" charset="-128"/>
                <a:cs typeface="Times New Roman" panose="02020603050405020304" pitchFamily="18" charset="0"/>
              </a:rPr>
              <a:t xml:space="preserve"> </a:t>
            </a:r>
            <a:r>
              <a:rPr lang="en-US" sz="1100" b="0" i="1" dirty="0">
                <a:ea typeface="MS Mincho" panose="02020609040205080304" pitchFamily="49" charset="-128"/>
                <a:cs typeface="Times New Roman" panose="02020603050405020304" pitchFamily="18" charset="0"/>
              </a:rPr>
              <a:t>Trade surplus</a:t>
            </a:r>
            <a:r>
              <a:rPr lang="en-US" sz="1100" b="0" i="0" dirty="0">
                <a:ea typeface="MS Mincho" panose="02020609040205080304" pitchFamily="49" charset="-128"/>
                <a:cs typeface="Times New Roman" panose="02020603050405020304" pitchFamily="18" charset="0"/>
              </a:rPr>
              <a:t xml:space="preserve"> Indonesia melebar ke USD 3,55 miliar pada Agustus 2026 dari USD 0,12 miliar pada Juli, tertinggi sejak September 2025 dan setelah defisit pada Mei–Juni </a:t>
            </a:r>
            <a:r>
              <a:rPr lang="en-US" sz="1100" b="1" i="0" dirty="0">
                <a:ea typeface="MS Mincho" panose="02020609040205080304" pitchFamily="49" charset="-128"/>
                <a:cs typeface="Times New Roman" panose="02020603050405020304" pitchFamily="18" charset="0"/>
              </a:rPr>
              <a:t>(Exhibit 6).</a:t>
            </a:r>
            <a:r>
              <a:rPr lang="en-US" sz="1100" b="0" i="0" dirty="0">
                <a:ea typeface="MS Mincho" panose="02020609040205080304" pitchFamily="49" charset="-128"/>
                <a:cs typeface="Times New Roman" panose="02020603050405020304" pitchFamily="18" charset="0"/>
              </a:rPr>
              <a:t xml:space="preserve"> Namun, surplus kumulatif Januari–Agustus 2026 hanya USD 7,25 miliar, turun 75,3% dari periode yang sama 2025. Surplus Agustus menambah dukungan eksternal jangka pendek bagi rupiah, tetapi belum menunjukkan perbaikan struktural </a:t>
            </a:r>
            <a:r>
              <a:rPr lang="en-US" sz="1100" b="0" i="1" dirty="0">
                <a:ea typeface="MS Mincho" panose="02020609040205080304" pitchFamily="49" charset="-128"/>
                <a:cs typeface="Times New Roman" panose="02020603050405020304" pitchFamily="18" charset="0"/>
              </a:rPr>
              <a:t>current account</a:t>
            </a:r>
            <a:r>
              <a:rPr lang="en-US" sz="1100" b="0" i="0" dirty="0">
                <a:ea typeface="MS Mincho" panose="02020609040205080304" pitchFamily="49" charset="-128"/>
                <a:cs typeface="Times New Roman" panose="02020603050405020304" pitchFamily="18" charset="0"/>
              </a:rPr>
              <a:t>.</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Inflation Narrows the Exit.</a:t>
            </a:r>
            <a:r>
              <a:rPr lang="en-US" sz="1100" b="0" i="0" dirty="0">
                <a:ea typeface="MS Mincho" panose="02020609040205080304" pitchFamily="49" charset="-128"/>
                <a:cs typeface="Times New Roman" panose="02020603050405020304" pitchFamily="18" charset="0"/>
              </a:rPr>
              <a:t xml:space="preserve"> Inflasi September naik ke 3,28% YoY dari 2,88% pada Juli, mendekati batas atas target BI 3,5%. Dengan rupiah yang masih 7,1% lebih lemah YTD dan cadangan devisa yang lebih rendah, ruang BI untuk melonggarkan kebijakan menjadi terbatas, sehingga stabilitas rupiah tetap menjadi prioritas.</a:t>
            </a:r>
          </a:p>
          <a:p>
            <a:pPr marL="0" indent="0" algn="just">
              <a:lnSpc>
                <a:spcPct val="100000"/>
              </a:lnSpc>
              <a:spcBef>
                <a:spcPts val="0"/>
              </a:spcBef>
              <a:spcAft>
                <a:spcPts val="0"/>
              </a:spcAft>
              <a:buNone/>
            </a:pPr>
            <a:r>
              <a:rPr lang="en-US" sz="1100" b="1" i="1" dirty="0">
                <a:ea typeface="MS Mincho" panose="02020609040205080304" pitchFamily="49" charset="-128"/>
                <a:cs typeface="Times New Roman" panose="02020603050405020304" pitchFamily="18" charset="0"/>
              </a:rPr>
              <a:t>Bottom Line:</a:t>
            </a:r>
            <a:r>
              <a:rPr lang="en-US" sz="1100" b="0" i="0" dirty="0">
                <a:ea typeface="MS Mincho" panose="02020609040205080304" pitchFamily="49" charset="-128"/>
                <a:cs typeface="Times New Roman" panose="02020603050405020304" pitchFamily="18" charset="0"/>
              </a:rPr>
              <a:t xml:space="preserve"> Ketenangan rupiah belum ditopang pemulihan cadangan devisa maupun surplus dagang. Selama </a:t>
            </a:r>
            <a:r>
              <a:rPr lang="en-US" sz="1100" b="0" i="1" dirty="0">
                <a:ea typeface="MS Mincho" panose="02020609040205080304" pitchFamily="49" charset="-128"/>
                <a:cs typeface="Times New Roman" panose="02020603050405020304" pitchFamily="18" charset="0"/>
              </a:rPr>
              <a:t>term premium</a:t>
            </a:r>
            <a:r>
              <a:rPr lang="en-US" sz="1100" b="0" i="0" dirty="0">
                <a:ea typeface="MS Mincho" panose="02020609040205080304" pitchFamily="49" charset="-128"/>
                <a:cs typeface="Times New Roman" panose="02020603050405020304" pitchFamily="18" charset="0"/>
              </a:rPr>
              <a:t xml:space="preserve"> UST masih naik dan premi SBN tipis, Indonesia perlu menawarkan kompensasi lebih tinggi untuk menarik modal asing.</a:t>
            </a:r>
          </a:p>
        </p:txBody>
      </p:sp>
      <p:graphicFrame>
        <p:nvGraphicFramePr>
          <p:cNvPr id="1048604" name="Exhibit 5 Chart"/>
          <p:cNvGraphicFramePr>
            <a:graphicFrameLocks noGrp="1"/>
          </p:cNvGraphicFramePr>
          <p:nvPr/>
        </p:nvGraphicFramePr>
        <p:xfrm>
          <a:off x="354579" y="7167732"/>
          <a:ext cx="3035808" cy="1495904"/>
        </p:xfrm>
        <a:graphic>
          <a:graphicData uri="http://schemas.openxmlformats.org/drawingml/2006/chart">
            <c:chart xmlns:c="http://schemas.openxmlformats.org/drawingml/2006/chart" r:id="rId35"/>
          </a:graphicData>
        </a:graphic>
      </p:graphicFrame>
      <p:graphicFrame>
        <p:nvGraphicFramePr>
          <p:cNvPr id="1048605" name="Exhibit 6 Chart"/>
          <p:cNvGraphicFramePr>
            <a:graphicFrameLocks noGrp="1"/>
          </p:cNvGraphicFramePr>
          <p:nvPr/>
        </p:nvGraphicFramePr>
        <p:xfrm>
          <a:off x="3530765" y="7167732"/>
          <a:ext cx="3035808" cy="1495904"/>
        </p:xfrm>
        <a:graphic>
          <a:graphicData uri="http://schemas.openxmlformats.org/drawingml/2006/chart">
            <c:chart xmlns:c="http://schemas.openxmlformats.org/drawingml/2006/chart" r:id="rId36"/>
          </a:graphicData>
        </a:graphic>
      </p:graphicFrame>
    </p:spTree>
    <p:extLst>
      <p:ext uri="{BB962C8B-B14F-4D97-AF65-F5344CB8AC3E}">
        <p14:creationId xmlns:p14="http://schemas.microsoft.com/office/powerpoint/2010/main" val="23776426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3"/>
          <a:stretch>
            <a:fillRect/>
          </a:stretch>
        </p:blipFill>
        <p:spPr>
          <a:xfrm>
            <a:off x="424493" y="8786563"/>
            <a:ext cx="6009012" cy="267729"/>
          </a:xfrm>
          <a:prstGeom prst="rect">
            <a:avLst/>
          </a:prstGeom>
        </p:spPr>
      </p:pic>
      <p:sp>
        <p:nvSpPr>
          <p:cNvPr id="18" name="TextBox 17"/>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a:solidFill>
                  <a:srgbClr val="175FAB"/>
                </a:solidFill>
              </a:rPr>
              <a:t>PT</a:t>
            </a:r>
            <a:r>
              <a:rPr lang="en-US" sz="1000">
                <a:solidFill>
                  <a:srgbClr val="175FAB"/>
                </a:solidFill>
              </a:rPr>
              <a:t> </a:t>
            </a:r>
            <a:r>
              <a:rPr lang="id-ID" sz="1000">
                <a:solidFill>
                  <a:srgbClr val="175FAB"/>
                </a:solidFill>
              </a:rPr>
              <a:t>Bank Central Asia</a:t>
            </a:r>
            <a:r>
              <a:rPr lang="en-US" sz="1000">
                <a:solidFill>
                  <a:srgbClr val="175FAB"/>
                </a:solidFill>
              </a:rPr>
              <a:t> Tbk</a:t>
            </a:r>
            <a:r>
              <a:rPr lang="en-US" sz="1000" dirty="0">
                <a:solidFill>
                  <a:srgbClr val="175FAB"/>
                </a:solidFill>
              </a:rPr>
              <a:t>.</a:t>
            </a:r>
            <a:endParaRPr lang="id-ID" sz="1000" dirty="0">
              <a:solidFill>
                <a:srgbClr val="175FAB"/>
              </a:solidFill>
            </a:endParaRPr>
          </a:p>
        </p:txBody>
      </p:sp>
      <p:sp>
        <p:nvSpPr>
          <p:cNvPr id="33" name="TextBox 32"/>
          <p:cNvSpPr txBox="1"/>
          <p:nvPr/>
        </p:nvSpPr>
        <p:spPr>
          <a:xfrm>
            <a:off x="5791200" y="8779499"/>
            <a:ext cx="645196" cy="271639"/>
          </a:xfrm>
          <a:prstGeom prst="rect">
            <a:avLst/>
          </a:prstGeom>
          <a:noFill/>
        </p:spPr>
        <p:txBody>
          <a:bodyPr wrap="square" lIns="116612" tIns="58306" rIns="116612" bIns="58306" rtlCol="0">
            <a:spAutoFit/>
          </a:bodyPr>
          <a:lstStyle/>
          <a:p>
            <a:pPr algn="r"/>
            <a:r>
              <a:rPr lang="en-US" sz="1000">
                <a:solidFill>
                  <a:schemeClr val="bg1"/>
                </a:solidFill>
              </a:rPr>
              <a:t>4</a:t>
            </a:r>
            <a:endParaRPr lang="id-ID" sz="1000">
              <a:solidFill>
                <a:schemeClr val="bg1"/>
              </a:solidFill>
            </a:endParaRPr>
          </a:p>
        </p:txBody>
      </p:sp>
      <p:sp>
        <p:nvSpPr>
          <p:cNvPr id="28" name="TextBox 23">
            <a:extLst>
              <a:ext uri="{FF2B5EF4-FFF2-40B4-BE49-F238E27FC236}">
                <a16:creationId xmlns="" xmlns:a16="http://schemas.microsoft.com/office/drawing/2014/main" id="{83F7A790-E963-F486-BE81-58E2B5E03CCB}"/>
              </a:ext>
            </a:extLst>
          </p:cNvPr>
          <p:cNvSpPr txBox="1"/>
          <p:nvPr/>
        </p:nvSpPr>
        <p:spPr>
          <a:xfrm>
            <a:off x="240718" y="6762619"/>
            <a:ext cx="1359668" cy="261610"/>
          </a:xfrm>
          <a:prstGeom prst="rect">
            <a:avLst/>
          </a:prstGeom>
          <a:noFill/>
        </p:spPr>
        <p:txBody>
          <a:bodyPr wrap="none" rtlCol="0">
            <a:spAutoFit/>
          </a:bodyPr>
          <a:lstStyle/>
          <a:p>
            <a:r>
              <a:rPr lang="en-US" sz="1100" b="1">
                <a:solidFill>
                  <a:srgbClr val="0C5EA8"/>
                </a:solidFill>
              </a:rPr>
              <a:t>World Commodities</a:t>
            </a:r>
            <a:endParaRPr lang="en-US" sz="1100" b="1" dirty="0">
              <a:solidFill>
                <a:srgbClr val="0C5EA8"/>
              </a:solidFill>
            </a:endParaRPr>
          </a:p>
        </p:txBody>
      </p:sp>
      <p:sp>
        <p:nvSpPr>
          <p:cNvPr id="29" name="TextBox 25">
            <a:extLst>
              <a:ext uri="{FF2B5EF4-FFF2-40B4-BE49-F238E27FC236}">
                <a16:creationId xmlns="" xmlns:a16="http://schemas.microsoft.com/office/drawing/2014/main" id="{9A0CB0B1-E2A0-1969-AE01-B9EB70102F27}"/>
              </a:ext>
            </a:extLst>
          </p:cNvPr>
          <p:cNvSpPr txBox="1"/>
          <p:nvPr/>
        </p:nvSpPr>
        <p:spPr>
          <a:xfrm>
            <a:off x="240717" y="4571005"/>
            <a:ext cx="801823" cy="261610"/>
          </a:xfrm>
          <a:prstGeom prst="rect">
            <a:avLst/>
          </a:prstGeom>
          <a:noFill/>
        </p:spPr>
        <p:txBody>
          <a:bodyPr wrap="none" rtlCol="0">
            <a:spAutoFit/>
          </a:bodyPr>
          <a:lstStyle/>
          <a:p>
            <a:r>
              <a:rPr lang="en-US" sz="1100" b="1" dirty="0">
                <a:solidFill>
                  <a:srgbClr val="0C5EA8"/>
                </a:solidFill>
              </a:rPr>
              <a:t>Currencies</a:t>
            </a:r>
          </a:p>
        </p:txBody>
      </p:sp>
      <p:sp>
        <p:nvSpPr>
          <p:cNvPr id="32" name="TextBox 29">
            <a:extLst>
              <a:ext uri="{FF2B5EF4-FFF2-40B4-BE49-F238E27FC236}">
                <a16:creationId xmlns="" xmlns:a16="http://schemas.microsoft.com/office/drawing/2014/main" id="{C2A669C1-0352-0FC6-CA1E-9FCA9FFAC850}"/>
              </a:ext>
            </a:extLst>
          </p:cNvPr>
          <p:cNvSpPr txBox="1"/>
          <p:nvPr/>
        </p:nvSpPr>
        <p:spPr>
          <a:xfrm>
            <a:off x="3417527" y="6762619"/>
            <a:ext cx="1577676" cy="261610"/>
          </a:xfrm>
          <a:prstGeom prst="rect">
            <a:avLst/>
          </a:prstGeom>
          <a:noFill/>
        </p:spPr>
        <p:txBody>
          <a:bodyPr wrap="none" rtlCol="0">
            <a:spAutoFit/>
          </a:bodyPr>
          <a:lstStyle/>
          <a:p>
            <a:r>
              <a:rPr lang="en-US" sz="1100" b="1">
                <a:solidFill>
                  <a:srgbClr val="0C5EA8"/>
                </a:solidFill>
              </a:rPr>
              <a:t>Foreign Trading Activity</a:t>
            </a:r>
            <a:endParaRPr lang="en-US" sz="800" b="1" dirty="0">
              <a:solidFill>
                <a:srgbClr val="0C5EA8"/>
              </a:solidFill>
            </a:endParaRPr>
          </a:p>
        </p:txBody>
      </p:sp>
      <p:sp>
        <p:nvSpPr>
          <p:cNvPr id="42" name="TextBox 20">
            <a:extLst>
              <a:ext uri="{FF2B5EF4-FFF2-40B4-BE49-F238E27FC236}">
                <a16:creationId xmlns="" xmlns:a16="http://schemas.microsoft.com/office/drawing/2014/main" id="{01EBC932-EC7B-481D-A8D4-7C8055645BA1}"/>
              </a:ext>
            </a:extLst>
          </p:cNvPr>
          <p:cNvSpPr txBox="1"/>
          <p:nvPr/>
        </p:nvSpPr>
        <p:spPr>
          <a:xfrm>
            <a:off x="233917" y="2066875"/>
            <a:ext cx="958917" cy="261610"/>
          </a:xfrm>
          <a:prstGeom prst="rect">
            <a:avLst/>
          </a:prstGeom>
          <a:noFill/>
        </p:spPr>
        <p:txBody>
          <a:bodyPr wrap="none" rtlCol="0">
            <a:spAutoFit/>
          </a:bodyPr>
          <a:lstStyle/>
          <a:p>
            <a:r>
              <a:rPr lang="en-US" sz="1100" b="1">
                <a:solidFill>
                  <a:srgbClr val="0C5EA8"/>
                </a:solidFill>
              </a:rPr>
              <a:t>Fixed Income</a:t>
            </a:r>
            <a:endParaRPr lang="en-US" sz="1100" b="1" dirty="0">
              <a:solidFill>
                <a:srgbClr val="0C5EA8"/>
              </a:solidFill>
            </a:endParaRPr>
          </a:p>
        </p:txBody>
      </p:sp>
      <p:sp>
        <p:nvSpPr>
          <p:cNvPr id="43" name="TextBox 22">
            <a:extLst>
              <a:ext uri="{FF2B5EF4-FFF2-40B4-BE49-F238E27FC236}">
                <a16:creationId xmlns="" xmlns:a16="http://schemas.microsoft.com/office/drawing/2014/main" id="{1FBDAAF2-D118-FC2D-6871-99076259FAE3}"/>
              </a:ext>
            </a:extLst>
          </p:cNvPr>
          <p:cNvSpPr txBox="1"/>
          <p:nvPr/>
        </p:nvSpPr>
        <p:spPr>
          <a:xfrm>
            <a:off x="3442325" y="2068668"/>
            <a:ext cx="556563" cy="261610"/>
          </a:xfrm>
          <a:prstGeom prst="rect">
            <a:avLst/>
          </a:prstGeom>
          <a:noFill/>
        </p:spPr>
        <p:txBody>
          <a:bodyPr wrap="none" rtlCol="0">
            <a:spAutoFit/>
          </a:bodyPr>
          <a:lstStyle/>
          <a:p>
            <a:r>
              <a:rPr lang="en-US" sz="1100" b="1" dirty="0">
                <a:solidFill>
                  <a:srgbClr val="0C5EA8"/>
                </a:solidFill>
              </a:rPr>
              <a:t>Equity</a:t>
            </a:r>
          </a:p>
        </p:txBody>
      </p:sp>
      <p:sp>
        <p:nvSpPr>
          <p:cNvPr id="2" name="TextBox 1"/>
          <p:cNvSpPr txBox="1"/>
          <p:nvPr/>
        </p:nvSpPr>
        <p:spPr>
          <a:xfrm>
            <a:off x="233917" y="1719590"/>
            <a:ext cx="5785883" cy="261610"/>
          </a:xfrm>
          <a:prstGeom prst="rect">
            <a:avLst/>
          </a:prstGeom>
          <a:noFill/>
        </p:spPr>
        <p:txBody>
          <a:bodyPr wrap="square" rtlCol="0">
            <a:spAutoFit/>
          </a:bodyPr>
          <a:lstStyle/>
          <a:p>
            <a:pPr>
              <a:spcBef>
                <a:spcPts val="300"/>
              </a:spcBef>
            </a:pPr>
            <a:r>
              <a:rPr lang="en-US" sz="1100" b="1" u="sng" dirty="0">
                <a:solidFill>
                  <a:srgbClr val="0C5EA8"/>
                </a:solidFill>
              </a:rPr>
              <a:t>Per 25 September 2026</a:t>
            </a:r>
          </a:p>
        </p:txBody>
      </p:sp>
      <p:graphicFrame>
        <p:nvGraphicFramePr>
          <p:cNvPr id="4" name="Table 3"/>
          <p:cNvGraphicFramePr>
            <a:graphicFrameLocks noGrp="1"/>
          </p:cNvGraphicFramePr>
          <p:nvPr>
            <p:extLst/>
          </p:nvPr>
        </p:nvGraphicFramePr>
        <p:xfrm>
          <a:off x="295219" y="4843314"/>
          <a:ext cx="2997281" cy="1612011"/>
        </p:xfrm>
        <a:graphic>
          <a:graphicData uri="http://schemas.openxmlformats.org/drawingml/2006/table">
            <a:tbl>
              <a:tblPr/>
              <a:tblGrid>
                <a:gridCol w="1080100">
                  <a:extLst>
                    <a:ext uri="{9D8B030D-6E8A-4147-A177-3AD203B41FA5}">
                      <a16:colId xmlns="" xmlns:a16="http://schemas.microsoft.com/office/drawing/2014/main" val="20000"/>
                    </a:ext>
                  </a:extLst>
                </a:gridCol>
                <a:gridCol w="635000">
                  <a:extLst>
                    <a:ext uri="{9D8B030D-6E8A-4147-A177-3AD203B41FA5}">
                      <a16:colId xmlns="" xmlns:a16="http://schemas.microsoft.com/office/drawing/2014/main" val="20001"/>
                    </a:ext>
                  </a:extLst>
                </a:gridCol>
                <a:gridCol w="408811">
                  <a:extLst>
                    <a:ext uri="{9D8B030D-6E8A-4147-A177-3AD203B41FA5}">
                      <a16:colId xmlns="" xmlns:a16="http://schemas.microsoft.com/office/drawing/2014/main" val="20002"/>
                    </a:ext>
                  </a:extLst>
                </a:gridCol>
                <a:gridCol w="408811">
                  <a:extLst>
                    <a:ext uri="{9D8B030D-6E8A-4147-A177-3AD203B41FA5}">
                      <a16:colId xmlns="" xmlns:a16="http://schemas.microsoft.com/office/drawing/2014/main" val="20003"/>
                    </a:ext>
                  </a:extLst>
                </a:gridCol>
                <a:gridCol w="464559">
                  <a:extLst>
                    <a:ext uri="{9D8B030D-6E8A-4147-A177-3AD203B41FA5}">
                      <a16:colId xmlns="" xmlns:a16="http://schemas.microsoft.com/office/drawing/2014/main" val="20004"/>
                    </a:ext>
                  </a:extLst>
                </a:gridCol>
              </a:tblGrid>
              <a:tr h="134376">
                <a:tc>
                  <a:txBody>
                    <a:bodyPr/>
                    <a:lstStyle/>
                    <a:p>
                      <a:pPr algn="ctr" fontAlgn="ctr"/>
                      <a:r>
                        <a:rPr lang="en-US" sz="800" b="1" i="0" u="none" strike="noStrike" dirty="0">
                          <a:solidFill>
                            <a:srgbClr val="FFFFFF"/>
                          </a:solidFill>
                          <a:effectLst/>
                          <a:latin typeface="Calibri" panose="020F0502020204030204" pitchFamily="34" charset="0"/>
                        </a:rPr>
                        <a:t>Currencies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Close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 YTD</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134376">
                <a:tc>
                  <a:txBody>
                    <a:bodyPr/>
                    <a:lstStyle/>
                    <a:p>
                      <a:pPr algn="ctr" fontAlgn="ctr"/>
                      <a:r>
                        <a:rPr lang="en-US" sz="800" b="0" i="0" u="none" strike="noStrike" dirty="0">
                          <a:solidFill>
                            <a:srgbClr val="000000"/>
                          </a:solidFill>
                          <a:effectLst/>
                          <a:latin typeface="Calibri" panose="020F0502020204030204" pitchFamily="34" charset="0"/>
                        </a:rPr>
                        <a:t>US Dollar Index</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100.97</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(0.31)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0.75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2.69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1"/>
                  </a:ext>
                </a:extLst>
              </a:tr>
              <a:tr h="134376">
                <a:tc>
                  <a:txBody>
                    <a:bodyPr/>
                    <a:lstStyle/>
                    <a:p>
                      <a:pPr algn="ctr" fontAlgn="ctr"/>
                      <a:r>
                        <a:rPr lang="en-US" sz="800" b="0" i="0" u="none" strike="noStrike" dirty="0">
                          <a:solidFill>
                            <a:srgbClr val="000000"/>
                          </a:solidFill>
                          <a:effectLst/>
                          <a:latin typeface="Calibri" panose="020F0502020204030204" pitchFamily="34" charset="0"/>
                        </a:rPr>
                        <a:t>GBP/USD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0.21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(1.69)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2"/>
                  </a:ext>
                </a:extLst>
              </a:tr>
              <a:tr h="134376">
                <a:tc>
                  <a:txBody>
                    <a:bodyPr/>
                    <a:lstStyle/>
                    <a:p>
                      <a:pPr algn="ctr" fontAlgn="ctr"/>
                      <a:r>
                        <a:rPr lang="en-US" sz="800" b="0" i="0" u="none" strike="noStrike">
                          <a:solidFill>
                            <a:srgbClr val="000000"/>
                          </a:solidFill>
                          <a:effectLst/>
                          <a:latin typeface="Calibri" panose="020F0502020204030204" pitchFamily="34" charset="0"/>
                        </a:rPr>
                        <a:t>EUR/USD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1.14</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(0.83)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(3.02)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3"/>
                  </a:ext>
                </a:extLst>
              </a:tr>
              <a:tr h="134376">
                <a:tc>
                  <a:txBody>
                    <a:bodyPr/>
                    <a:lstStyle/>
                    <a:p>
                      <a:pPr algn="ctr" fontAlgn="ctr"/>
                      <a:r>
                        <a:rPr lang="en-US" sz="800" b="0" i="0" u="none" strike="noStrike">
                          <a:solidFill>
                            <a:srgbClr val="000000"/>
                          </a:solidFill>
                          <a:effectLst/>
                          <a:latin typeface="Calibri" panose="020F0502020204030204" pitchFamily="34" charset="0"/>
                        </a:rPr>
                        <a:t>AUD/USD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0.16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5.25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4"/>
                  </a:ext>
                </a:extLst>
              </a:tr>
              <a:tr h="134376">
                <a:tc>
                  <a:txBody>
                    <a:bodyPr/>
                    <a:lstStyle/>
                    <a:p>
                      <a:pPr algn="ctr" fontAlgn="ctr"/>
                      <a:r>
                        <a:rPr lang="en-US" sz="800" b="0" i="0" u="none" strike="noStrike" dirty="0">
                          <a:solidFill>
                            <a:srgbClr val="000000"/>
                          </a:solidFill>
                          <a:effectLst/>
                          <a:latin typeface="Calibri" panose="020F0502020204030204" pitchFamily="34" charset="0"/>
                        </a:rPr>
                        <a:t>NZD/USD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0.57</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(1.03)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(1.65)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5"/>
                  </a:ext>
                </a:extLst>
              </a:tr>
              <a:tr h="134376">
                <a:tc>
                  <a:txBody>
                    <a:bodyPr/>
                    <a:lstStyle/>
                    <a:p>
                      <a:pPr algn="ctr" fontAlgn="ctr"/>
                      <a:r>
                        <a:rPr lang="en-US" sz="800" b="0" i="0" u="none" strike="noStrike">
                          <a:solidFill>
                            <a:srgbClr val="000000"/>
                          </a:solidFill>
                          <a:effectLst/>
                          <a:latin typeface="Calibri" panose="020F0502020204030204" pitchFamily="34" charset="0"/>
                        </a:rPr>
                        <a:t>USD/JPY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157.28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0.25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6"/>
                  </a:ext>
                </a:extLst>
              </a:tr>
              <a:tr h="134376">
                <a:tc>
                  <a:txBody>
                    <a:bodyPr/>
                    <a:lstStyle/>
                    <a:p>
                      <a:pPr algn="ctr" fontAlgn="ctr"/>
                      <a:r>
                        <a:rPr lang="en-US" sz="800" b="0" i="0" u="none" strike="noStrike">
                          <a:solidFill>
                            <a:srgbClr val="000000"/>
                          </a:solidFill>
                          <a:effectLst/>
                          <a:latin typeface="Calibri" panose="020F0502020204030204" pitchFamily="34" charset="0"/>
                        </a:rPr>
                        <a:t>USD/HKD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7.84</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(0.01)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0.79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7"/>
                  </a:ext>
                </a:extLst>
              </a:tr>
              <a:tr h="134376">
                <a:tc>
                  <a:txBody>
                    <a:bodyPr/>
                    <a:lstStyle/>
                    <a:p>
                      <a:pPr algn="ctr" fontAlgn="ctr"/>
                      <a:r>
                        <a:rPr lang="en-US" sz="800" b="0" i="0" u="none" strike="noStrike">
                          <a:solidFill>
                            <a:srgbClr val="000000"/>
                          </a:solidFill>
                          <a:effectLst/>
                          <a:latin typeface="Calibri" panose="020F0502020204030204" pitchFamily="34" charset="0"/>
                        </a:rPr>
                        <a:t>USD/KRW</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1,358.60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(0.75)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(2.04)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(5.64)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8"/>
                  </a:ext>
                </a:extLst>
              </a:tr>
              <a:tr h="134376">
                <a:tc>
                  <a:txBody>
                    <a:bodyPr/>
                    <a:lstStyle/>
                    <a:p>
                      <a:pPr algn="ctr" fontAlgn="ctr"/>
                      <a:r>
                        <a:rPr lang="en-US" sz="800" b="0" i="0" u="none" strike="noStrike">
                          <a:solidFill>
                            <a:srgbClr val="000000"/>
                          </a:solidFill>
                          <a:effectLst/>
                          <a:latin typeface="Calibri" panose="020F0502020204030204" pitchFamily="34" charset="0"/>
                        </a:rPr>
                        <a:t>USD/CNY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6.71</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0.23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(3.94)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9"/>
                  </a:ext>
                </a:extLst>
              </a:tr>
              <a:tr h="133875">
                <a:tc>
                  <a:txBody>
                    <a:bodyPr/>
                    <a:lstStyle/>
                    <a:p>
                      <a:pPr algn="ctr" fontAlgn="ctr"/>
                      <a:r>
                        <a:rPr lang="en-US" sz="800" b="0" i="0" u="none" strike="noStrike">
                          <a:solidFill>
                            <a:srgbClr val="000000"/>
                          </a:solidFill>
                          <a:effectLst/>
                          <a:latin typeface="Calibri" panose="020F0502020204030204" pitchFamily="34" charset="0"/>
                        </a:rPr>
                        <a:t>USD/SGD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(0.16)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(0.63)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10"/>
                  </a:ext>
                </a:extLst>
              </a:tr>
              <a:tr h="134376">
                <a:tc>
                  <a:txBody>
                    <a:bodyPr/>
                    <a:lstStyle/>
                    <a:p>
                      <a:pPr algn="ctr" fontAlgn="ctr"/>
                      <a:r>
                        <a:rPr lang="en-US" sz="800" b="0" i="0" u="none" strike="noStrike" dirty="0">
                          <a:solidFill>
                            <a:srgbClr val="000000"/>
                          </a:solidFill>
                          <a:effectLst/>
                          <a:latin typeface="Calibri" panose="020F0502020204030204" pitchFamily="34" charset="0"/>
                        </a:rPr>
                        <a:t>USD/IDR</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17,893.00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ID" sz="800" b="0" i="0" u="none" strike="noStrike">
                          <a:solidFill>
                            <a:srgbClr val="FF0000"/>
                          </a:solidFill>
                          <a:effectLst/>
                          <a:latin typeface="Calibri" panose="020F0502020204030204" pitchFamily="34" charset="0"/>
                        </a:rPr>
                        <a:t>(0.04)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0.85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7.21</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11"/>
                  </a:ext>
                </a:extLst>
              </a:tr>
            </a:tbl>
          </a:graphicData>
        </a:graphic>
      </p:graphicFrame>
      <p:graphicFrame>
        <p:nvGraphicFramePr>
          <p:cNvPr id="6" name="Table 5"/>
          <p:cNvGraphicFramePr>
            <a:graphicFrameLocks noGrp="1"/>
          </p:cNvGraphicFramePr>
          <p:nvPr>
            <p:extLst/>
          </p:nvPr>
        </p:nvGraphicFramePr>
        <p:xfrm>
          <a:off x="3505197" y="4843314"/>
          <a:ext cx="3127377" cy="1612123"/>
        </p:xfrm>
        <a:graphic>
          <a:graphicData uri="http://schemas.openxmlformats.org/drawingml/2006/table">
            <a:tbl>
              <a:tblPr/>
              <a:tblGrid>
                <a:gridCol w="1128185">
                  <a:extLst>
                    <a:ext uri="{9D8B030D-6E8A-4147-A177-3AD203B41FA5}">
                      <a16:colId xmlns="" xmlns:a16="http://schemas.microsoft.com/office/drawing/2014/main" val="20000"/>
                    </a:ext>
                  </a:extLst>
                </a:gridCol>
                <a:gridCol w="659929">
                  <a:extLst>
                    <a:ext uri="{9D8B030D-6E8A-4147-A177-3AD203B41FA5}">
                      <a16:colId xmlns="" xmlns:a16="http://schemas.microsoft.com/office/drawing/2014/main" val="20001"/>
                    </a:ext>
                  </a:extLst>
                </a:gridCol>
                <a:gridCol w="427011">
                  <a:extLst>
                    <a:ext uri="{9D8B030D-6E8A-4147-A177-3AD203B41FA5}">
                      <a16:colId xmlns="" xmlns:a16="http://schemas.microsoft.com/office/drawing/2014/main" val="20002"/>
                    </a:ext>
                  </a:extLst>
                </a:gridCol>
                <a:gridCol w="427011">
                  <a:extLst>
                    <a:ext uri="{9D8B030D-6E8A-4147-A177-3AD203B41FA5}">
                      <a16:colId xmlns="" xmlns:a16="http://schemas.microsoft.com/office/drawing/2014/main" val="20003"/>
                    </a:ext>
                  </a:extLst>
                </a:gridCol>
                <a:gridCol w="485241">
                  <a:extLst>
                    <a:ext uri="{9D8B030D-6E8A-4147-A177-3AD203B41FA5}">
                      <a16:colId xmlns="" xmlns:a16="http://schemas.microsoft.com/office/drawing/2014/main" val="20004"/>
                    </a:ext>
                  </a:extLst>
                </a:gridCol>
              </a:tblGrid>
              <a:tr h="133284">
                <a:tc>
                  <a:txBody>
                    <a:bodyPr/>
                    <a:lstStyle/>
                    <a:p>
                      <a:pPr algn="ctr" fontAlgn="ctr"/>
                      <a:r>
                        <a:rPr lang="en-US" sz="800" b="1" i="0" u="none" strike="noStrike" dirty="0">
                          <a:solidFill>
                            <a:srgbClr val="FFFFFF"/>
                          </a:solidFill>
                          <a:effectLst/>
                          <a:latin typeface="Calibri" panose="020F0502020204030204" pitchFamily="34" charset="0"/>
                        </a:rPr>
                        <a:t>JCI Sectoral</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Last Close</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133284">
                <a:tc>
                  <a:txBody>
                    <a:bodyPr/>
                    <a:lstStyle/>
                    <a:p>
                      <a:pPr algn="ctr" fontAlgn="ctr"/>
                      <a:r>
                        <a:rPr lang="en-US" sz="800" b="0" i="0" u="none" strike="noStrike" dirty="0">
                          <a:solidFill>
                            <a:srgbClr val="000000"/>
                          </a:solidFill>
                          <a:effectLst/>
                          <a:latin typeface="Calibri" panose="020F0502020204030204" pitchFamily="34" charset="0"/>
                        </a:rPr>
                        <a:t>Financial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1,331.60</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(0.45)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(2.41)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(14.09)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1"/>
                  </a:ext>
                </a:extLst>
              </a:tr>
              <a:tr h="133284">
                <a:tc>
                  <a:txBody>
                    <a:bodyPr/>
                    <a:lstStyle/>
                    <a:p>
                      <a:pPr algn="ctr" fontAlgn="ctr"/>
                      <a:r>
                        <a:rPr lang="en-US" sz="800" b="0" i="0" u="none" strike="noStrike" dirty="0">
                          <a:solidFill>
                            <a:srgbClr val="000000"/>
                          </a:solidFill>
                          <a:effectLst/>
                          <a:latin typeface="Calibri" panose="020F0502020204030204" pitchFamily="34" charset="0"/>
                        </a:rPr>
                        <a:t>Consumer Non Cyclical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683.40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(1.37)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(3.50)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(14.55)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2"/>
                  </a:ext>
                </a:extLst>
              </a:tr>
              <a:tr h="140840">
                <a:tc>
                  <a:txBody>
                    <a:bodyPr/>
                    <a:lstStyle/>
                    <a:p>
                      <a:pPr algn="ctr" fontAlgn="ctr"/>
                      <a:r>
                        <a:rPr lang="en-US" sz="800" b="0" i="0" u="none" strike="noStrike" dirty="0">
                          <a:solidFill>
                            <a:srgbClr val="000000"/>
                          </a:solidFill>
                          <a:effectLst/>
                          <a:latin typeface="Calibri" panose="020F0502020204030204" pitchFamily="34" charset="0"/>
                        </a:rPr>
                        <a:t>Infrastructure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1,755.80</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(2.22)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(34.27)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3"/>
                  </a:ext>
                </a:extLst>
              </a:tr>
              <a:tr h="133284">
                <a:tc>
                  <a:txBody>
                    <a:bodyPr/>
                    <a:lstStyle/>
                    <a:p>
                      <a:pPr algn="ctr" fontAlgn="ctr"/>
                      <a:r>
                        <a:rPr lang="en-US" sz="800" b="0" i="0" u="none" strike="noStrike" dirty="0">
                          <a:solidFill>
                            <a:srgbClr val="000000"/>
                          </a:solidFill>
                          <a:effectLst/>
                          <a:latin typeface="Calibri" panose="020F0502020204030204" pitchFamily="34" charset="0"/>
                        </a:rPr>
                        <a:t>Basic Material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1,734.36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(15.73)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4"/>
                  </a:ext>
                </a:extLst>
              </a:tr>
              <a:tr h="133284">
                <a:tc>
                  <a:txBody>
                    <a:bodyPr/>
                    <a:lstStyle/>
                    <a:p>
                      <a:pPr algn="ctr" fontAlgn="ctr"/>
                      <a:r>
                        <a:rPr lang="en-US" sz="800" b="0" i="0" u="none" strike="noStrike" dirty="0">
                          <a:solidFill>
                            <a:srgbClr val="000000"/>
                          </a:solidFill>
                          <a:effectLst/>
                          <a:latin typeface="Calibri" panose="020F0502020204030204" pitchFamily="34" charset="0"/>
                        </a:rPr>
                        <a:t>Energy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3,167.10</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(1.18)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(28.88)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5"/>
                  </a:ext>
                </a:extLst>
              </a:tr>
              <a:tr h="133284">
                <a:tc>
                  <a:txBody>
                    <a:bodyPr/>
                    <a:lstStyle/>
                    <a:p>
                      <a:pPr algn="ctr" fontAlgn="ctr"/>
                      <a:r>
                        <a:rPr lang="en-US" sz="800" b="0" i="0" u="none" strike="noStrike">
                          <a:solidFill>
                            <a:srgbClr val="000000"/>
                          </a:solidFill>
                          <a:effectLst/>
                          <a:latin typeface="Calibri" panose="020F0502020204030204" pitchFamily="34" charset="0"/>
                        </a:rPr>
                        <a:t>Consumer Cyclical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947.27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(1.03)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(22.76)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6"/>
                  </a:ext>
                </a:extLst>
              </a:tr>
              <a:tr h="133284">
                <a:tc>
                  <a:txBody>
                    <a:bodyPr/>
                    <a:lstStyle/>
                    <a:p>
                      <a:pPr algn="ctr" fontAlgn="ctr"/>
                      <a:r>
                        <a:rPr lang="en-US" sz="800" b="0" i="0" u="none" strike="noStrike">
                          <a:solidFill>
                            <a:srgbClr val="000000"/>
                          </a:solidFill>
                          <a:effectLst/>
                          <a:latin typeface="Calibri" panose="020F0502020204030204" pitchFamily="34" charset="0"/>
                        </a:rPr>
                        <a:t>Technology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6,538.61</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(1.73)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(3.96)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(31.38)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7"/>
                  </a:ext>
                </a:extLst>
              </a:tr>
              <a:tr h="133284">
                <a:tc>
                  <a:txBody>
                    <a:bodyPr/>
                    <a:lstStyle/>
                    <a:p>
                      <a:pPr algn="ctr" fontAlgn="ctr"/>
                      <a:r>
                        <a:rPr lang="en-US" sz="800" b="0" i="0" u="none" strike="noStrike">
                          <a:solidFill>
                            <a:srgbClr val="000000"/>
                          </a:solidFill>
                          <a:effectLst/>
                          <a:latin typeface="Calibri" panose="020F0502020204030204" pitchFamily="34" charset="0"/>
                        </a:rPr>
                        <a:t>Healthcare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1,435.80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(0.77)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(2.37)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(30.45)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8"/>
                  </a:ext>
                </a:extLst>
              </a:tr>
              <a:tr h="138443">
                <a:tc>
                  <a:txBody>
                    <a:bodyPr/>
                    <a:lstStyle/>
                    <a:p>
                      <a:pPr algn="ctr" fontAlgn="ctr"/>
                      <a:r>
                        <a:rPr lang="en-US" sz="800" b="0" i="0" u="none" strike="noStrike" dirty="0">
                          <a:solidFill>
                            <a:srgbClr val="000000"/>
                          </a:solidFill>
                          <a:effectLst/>
                          <a:latin typeface="Calibri" panose="020F0502020204030204" pitchFamily="34" charset="0"/>
                        </a:rPr>
                        <a:t>Property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766.96</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(1.26)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(34.61)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9"/>
                  </a:ext>
                </a:extLst>
              </a:tr>
              <a:tr h="133284">
                <a:tc>
                  <a:txBody>
                    <a:bodyPr/>
                    <a:lstStyle/>
                    <a:p>
                      <a:pPr algn="ctr" fontAlgn="ctr"/>
                      <a:r>
                        <a:rPr lang="en-US" sz="800" b="0" i="0" u="none" strike="noStrike" dirty="0">
                          <a:solidFill>
                            <a:srgbClr val="000000"/>
                          </a:solidFill>
                          <a:effectLst/>
                          <a:latin typeface="Calibri" panose="020F0502020204030204" pitchFamily="34" charset="0"/>
                        </a:rPr>
                        <a:t>Industrial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1,610.32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(5.48)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(25.28)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10"/>
                  </a:ext>
                </a:extLst>
              </a:tr>
              <a:tr h="133284">
                <a:tc>
                  <a:txBody>
                    <a:bodyPr/>
                    <a:lstStyle/>
                    <a:p>
                      <a:pPr algn="ctr" fontAlgn="ctr"/>
                      <a:r>
                        <a:rPr lang="en-US" sz="800" b="0" i="0" u="none" strike="noStrike" dirty="0">
                          <a:solidFill>
                            <a:srgbClr val="000000"/>
                          </a:solidFill>
                          <a:effectLst/>
                          <a:latin typeface="Calibri" panose="020F0502020204030204" pitchFamily="34" charset="0"/>
                        </a:rPr>
                        <a:t>Transportation</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1,744.56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ID" sz="800" b="0" i="0" u="none" strike="noStrike">
                          <a:solidFill>
                            <a:srgbClr val="FF0000"/>
                          </a:solidFill>
                          <a:effectLst/>
                          <a:latin typeface="Calibri" panose="020F0502020204030204" pitchFamily="34" charset="0"/>
                        </a:rPr>
                        <a:t>(1.84)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(2.47)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FF0000"/>
                          </a:solidFill>
                          <a:effectLst/>
                          <a:latin typeface="Calibri" panose="020F0502020204030204" pitchFamily="34" charset="0"/>
                        </a:rPr>
                        <a:t>(11.27)</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11"/>
                  </a:ext>
                </a:extLst>
              </a:tr>
            </a:tbl>
          </a:graphicData>
        </a:graphic>
      </p:graphicFrame>
      <p:graphicFrame>
        <p:nvGraphicFramePr>
          <p:cNvPr id="8" name="Table 7"/>
          <p:cNvGraphicFramePr>
            <a:graphicFrameLocks noGrp="1"/>
          </p:cNvGraphicFramePr>
          <p:nvPr>
            <p:extLst/>
          </p:nvPr>
        </p:nvGraphicFramePr>
        <p:xfrm>
          <a:off x="3505197" y="2330278"/>
          <a:ext cx="3127377" cy="2047201"/>
        </p:xfrm>
        <a:graphic>
          <a:graphicData uri="http://schemas.openxmlformats.org/drawingml/2006/table">
            <a:tbl>
              <a:tblPr/>
              <a:tblGrid>
                <a:gridCol w="1128185">
                  <a:extLst>
                    <a:ext uri="{9D8B030D-6E8A-4147-A177-3AD203B41FA5}">
                      <a16:colId xmlns="" xmlns:a16="http://schemas.microsoft.com/office/drawing/2014/main" val="20000"/>
                    </a:ext>
                  </a:extLst>
                </a:gridCol>
                <a:gridCol w="659927">
                  <a:extLst>
                    <a:ext uri="{9D8B030D-6E8A-4147-A177-3AD203B41FA5}">
                      <a16:colId xmlns="" xmlns:a16="http://schemas.microsoft.com/office/drawing/2014/main" val="20001"/>
                    </a:ext>
                  </a:extLst>
                </a:gridCol>
                <a:gridCol w="427012">
                  <a:extLst>
                    <a:ext uri="{9D8B030D-6E8A-4147-A177-3AD203B41FA5}">
                      <a16:colId xmlns="" xmlns:a16="http://schemas.microsoft.com/office/drawing/2014/main" val="20002"/>
                    </a:ext>
                  </a:extLst>
                </a:gridCol>
                <a:gridCol w="427012">
                  <a:extLst>
                    <a:ext uri="{9D8B030D-6E8A-4147-A177-3AD203B41FA5}">
                      <a16:colId xmlns="" xmlns:a16="http://schemas.microsoft.com/office/drawing/2014/main" val="20003"/>
                    </a:ext>
                  </a:extLst>
                </a:gridCol>
                <a:gridCol w="485241">
                  <a:extLst>
                    <a:ext uri="{9D8B030D-6E8A-4147-A177-3AD203B41FA5}">
                      <a16:colId xmlns="" xmlns:a16="http://schemas.microsoft.com/office/drawing/2014/main" val="20004"/>
                    </a:ext>
                  </a:extLst>
                </a:gridCol>
              </a:tblGrid>
              <a:tr h="157477">
                <a:tc>
                  <a:txBody>
                    <a:bodyPr/>
                    <a:lstStyle/>
                    <a:p>
                      <a:pPr algn="ctr" fontAlgn="ctr"/>
                      <a:r>
                        <a:rPr lang="en-US" sz="800" b="1" i="0" u="none" strike="noStrike" dirty="0">
                          <a:solidFill>
                            <a:srgbClr val="FFFFFF"/>
                          </a:solidFill>
                          <a:effectLst/>
                          <a:latin typeface="Calibri" panose="020F0502020204030204" pitchFamily="34" charset="0"/>
                        </a:rPr>
                        <a:t>Equity Indices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Close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157477">
                <a:tc>
                  <a:txBody>
                    <a:bodyPr/>
                    <a:lstStyle/>
                    <a:p>
                      <a:pPr algn="ctr" fontAlgn="ctr"/>
                      <a:r>
                        <a:rPr lang="en-US" sz="800" b="0" i="0" u="none" strike="noStrike" dirty="0">
                          <a:solidFill>
                            <a:srgbClr val="000000"/>
                          </a:solidFill>
                          <a:effectLst/>
                          <a:latin typeface="Calibri" panose="020F0502020204030204" pitchFamily="34" charset="0"/>
                        </a:rPr>
                        <a:t>Dow Jones</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51,828.62</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0.93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0.28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7.83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1"/>
                  </a:ext>
                </a:extLst>
              </a:tr>
              <a:tr h="157477">
                <a:tc>
                  <a:txBody>
                    <a:bodyPr/>
                    <a:lstStyle/>
                    <a:p>
                      <a:pPr algn="ctr" fontAlgn="ctr"/>
                      <a:r>
                        <a:rPr lang="en-US" sz="800" b="0" i="0" u="none" strike="noStrike" dirty="0">
                          <a:solidFill>
                            <a:srgbClr val="000000"/>
                          </a:solidFill>
                          <a:effectLst/>
                          <a:latin typeface="Calibri" panose="020F0502020204030204" pitchFamily="34" charset="0"/>
                        </a:rPr>
                        <a:t>S&amp;P 500</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7,743.41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0.51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13.12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2"/>
                  </a:ext>
                </a:extLst>
              </a:tr>
              <a:tr h="157477">
                <a:tc>
                  <a:txBody>
                    <a:bodyPr/>
                    <a:lstStyle/>
                    <a:p>
                      <a:pPr algn="ctr" fontAlgn="ctr"/>
                      <a:r>
                        <a:rPr lang="en-US" sz="800" b="0" i="0" u="none" strike="noStrike" dirty="0">
                          <a:solidFill>
                            <a:srgbClr val="000000"/>
                          </a:solidFill>
                          <a:effectLst/>
                          <a:latin typeface="Calibri" panose="020F0502020204030204" pitchFamily="34" charset="0"/>
                        </a:rPr>
                        <a:t>Nasdaq</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27,068.72</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0.48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2.06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16.46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3"/>
                  </a:ext>
                </a:extLst>
              </a:tr>
              <a:tr h="157477">
                <a:tc>
                  <a:txBody>
                    <a:bodyPr/>
                    <a:lstStyle/>
                    <a:p>
                      <a:pPr algn="ctr" fontAlgn="ctr"/>
                      <a:r>
                        <a:rPr lang="en-US" sz="800" b="0" i="0" u="none" strike="noStrike" dirty="0">
                          <a:solidFill>
                            <a:srgbClr val="000000"/>
                          </a:solidFill>
                          <a:effectLst/>
                          <a:latin typeface="Calibri" panose="020F0502020204030204" pitchFamily="34" charset="0"/>
                        </a:rPr>
                        <a:t>FTSE 100 Index</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10,695.25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0.14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7.69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4"/>
                  </a:ext>
                </a:extLst>
              </a:tr>
              <a:tr h="157477">
                <a:tc>
                  <a:txBody>
                    <a:bodyPr/>
                    <a:lstStyle/>
                    <a:p>
                      <a:pPr algn="ctr" fontAlgn="ctr"/>
                      <a:r>
                        <a:rPr lang="en-US" sz="800" b="0" i="0" u="none" strike="noStrike">
                          <a:solidFill>
                            <a:srgbClr val="000000"/>
                          </a:solidFill>
                          <a:effectLst/>
                          <a:latin typeface="Calibri" panose="020F0502020204030204" pitchFamily="34" charset="0"/>
                        </a:rPr>
                        <a:t>Euro STOXX 600</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638.65</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0.35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0.50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7.85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5"/>
                  </a:ext>
                </a:extLst>
              </a:tr>
              <a:tr h="157477">
                <a:tc>
                  <a:txBody>
                    <a:bodyPr/>
                    <a:lstStyle/>
                    <a:p>
                      <a:pPr algn="ctr" fontAlgn="ctr"/>
                      <a:r>
                        <a:rPr lang="en-US" sz="800" b="0" i="0" u="none" strike="noStrike">
                          <a:solidFill>
                            <a:srgbClr val="000000"/>
                          </a:solidFill>
                          <a:effectLst/>
                          <a:latin typeface="Calibri" panose="020F0502020204030204" pitchFamily="34" charset="0"/>
                        </a:rPr>
                        <a:t>SSE Composite Index</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3,888.37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(0.60)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(2.03)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6"/>
                  </a:ext>
                </a:extLst>
              </a:tr>
              <a:tr h="157477">
                <a:tc>
                  <a:txBody>
                    <a:bodyPr/>
                    <a:lstStyle/>
                    <a:p>
                      <a:pPr algn="ctr" fontAlgn="ctr"/>
                      <a:r>
                        <a:rPr lang="en-US" sz="800" b="0" i="0" u="none" strike="noStrike">
                          <a:solidFill>
                            <a:srgbClr val="000000"/>
                          </a:solidFill>
                          <a:effectLst/>
                          <a:latin typeface="Calibri" panose="020F0502020204030204" pitchFamily="34" charset="0"/>
                        </a:rPr>
                        <a:t>Nikkei 225</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66,364.20</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1.30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2.07</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31.83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7"/>
                  </a:ext>
                </a:extLst>
              </a:tr>
              <a:tr h="157477">
                <a:tc>
                  <a:txBody>
                    <a:bodyPr/>
                    <a:lstStyle/>
                    <a:p>
                      <a:pPr algn="ctr" fontAlgn="ctr"/>
                      <a:r>
                        <a:rPr lang="en-US" sz="800" b="0" i="0" u="none" strike="noStrike">
                          <a:solidFill>
                            <a:srgbClr val="000000"/>
                          </a:solidFill>
                          <a:effectLst/>
                          <a:latin typeface="Calibri" panose="020F0502020204030204" pitchFamily="34" charset="0"/>
                        </a:rPr>
                        <a:t>Hang Seng</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24,510.09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(1.01)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(4.37)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8"/>
                  </a:ext>
                </a:extLst>
              </a:tr>
              <a:tr h="157477">
                <a:tc>
                  <a:txBody>
                    <a:bodyPr/>
                    <a:lstStyle/>
                    <a:p>
                      <a:pPr algn="ctr" fontAlgn="ctr"/>
                      <a:r>
                        <a:rPr lang="en-US" sz="800" b="0" i="0" u="none" strike="noStrike" dirty="0" err="1">
                          <a:solidFill>
                            <a:srgbClr val="000000"/>
                          </a:solidFill>
                          <a:effectLst/>
                          <a:latin typeface="Calibri" panose="020F0502020204030204" pitchFamily="34" charset="0"/>
                        </a:rPr>
                        <a:t>Kospi</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7,080.92</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2.71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68.03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9"/>
                  </a:ext>
                </a:extLst>
              </a:tr>
              <a:tr h="157477">
                <a:tc>
                  <a:txBody>
                    <a:bodyPr/>
                    <a:lstStyle/>
                    <a:p>
                      <a:pPr algn="ctr" fontAlgn="ctr"/>
                      <a:r>
                        <a:rPr lang="en-US" sz="800" b="0" i="0" u="none" strike="noStrike">
                          <a:solidFill>
                            <a:srgbClr val="000000"/>
                          </a:solidFill>
                          <a:effectLst/>
                          <a:latin typeface="Calibri" panose="020F0502020204030204" pitchFamily="34" charset="0"/>
                        </a:rPr>
                        <a:t>IDX Composite</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6,241.89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(3.09)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(27.81)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10"/>
                  </a:ext>
                </a:extLst>
              </a:tr>
              <a:tr h="157477">
                <a:tc>
                  <a:txBody>
                    <a:bodyPr/>
                    <a:lstStyle/>
                    <a:p>
                      <a:pPr algn="ctr" fontAlgn="ctr"/>
                      <a:r>
                        <a:rPr lang="en-US" sz="800" b="0" i="0" u="none" strike="noStrike">
                          <a:solidFill>
                            <a:srgbClr val="000000"/>
                          </a:solidFill>
                          <a:effectLst/>
                          <a:latin typeface="Calibri" panose="020F0502020204030204" pitchFamily="34" charset="0"/>
                        </a:rPr>
                        <a:t>Indonesia (</a:t>
                      </a:r>
                      <a:r>
                        <a:rPr lang="en-US" sz="800" b="0" i="0" u="none" strike="noStrike" dirty="0">
                          <a:solidFill>
                            <a:srgbClr val="000000"/>
                          </a:solidFill>
                          <a:effectLst/>
                          <a:latin typeface="Calibri" panose="020F0502020204030204" pitchFamily="34" charset="0"/>
                        </a:rPr>
                        <a:t>LQ45)</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621.11</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(0.35)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(26.63)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11"/>
                  </a:ext>
                </a:extLst>
              </a:tr>
              <a:tr h="157477">
                <a:tc>
                  <a:txBody>
                    <a:bodyPr/>
                    <a:lstStyle/>
                    <a:p>
                      <a:pPr algn="ctr" fontAlgn="ctr"/>
                      <a:r>
                        <a:rPr lang="en-US" sz="800" b="0" i="0" u="none" strike="noStrike">
                          <a:solidFill>
                            <a:srgbClr val="000000"/>
                          </a:solidFill>
                          <a:effectLst/>
                          <a:latin typeface="Calibri" panose="020F0502020204030204" pitchFamily="34" charset="0"/>
                        </a:rPr>
                        <a:t>Indonesia (</a:t>
                      </a:r>
                      <a:r>
                        <a:rPr lang="en-US" sz="800" b="0" i="0" u="none" strike="noStrike" dirty="0">
                          <a:solidFill>
                            <a:srgbClr val="000000"/>
                          </a:solidFill>
                          <a:effectLst/>
                          <a:latin typeface="Calibri" panose="020F0502020204030204" pitchFamily="34" charset="0"/>
                        </a:rPr>
                        <a:t>IDXSMC)</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393.60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(1.27)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(2.58)</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FF0000"/>
                          </a:solidFill>
                          <a:effectLst/>
                          <a:latin typeface="Calibri" panose="020F0502020204030204" pitchFamily="34" charset="0"/>
                        </a:rPr>
                        <a:t>(21.80)</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 xmlns:a16="http://schemas.microsoft.com/office/drawing/2014/main" val="10012"/>
                  </a:ext>
                </a:extLst>
              </a:tr>
            </a:tbl>
          </a:graphicData>
        </a:graphic>
      </p:graphicFrame>
      <p:graphicFrame>
        <p:nvGraphicFramePr>
          <p:cNvPr id="10" name="Table 9"/>
          <p:cNvGraphicFramePr>
            <a:graphicFrameLocks noGrp="1"/>
          </p:cNvGraphicFramePr>
          <p:nvPr>
            <p:extLst/>
          </p:nvPr>
        </p:nvGraphicFramePr>
        <p:xfrm>
          <a:off x="290457" y="2331639"/>
          <a:ext cx="2994081" cy="1730774"/>
        </p:xfrm>
        <a:graphic>
          <a:graphicData uri="http://schemas.openxmlformats.org/drawingml/2006/table">
            <a:tbl>
              <a:tblPr/>
              <a:tblGrid>
                <a:gridCol w="1080100">
                  <a:extLst>
                    <a:ext uri="{9D8B030D-6E8A-4147-A177-3AD203B41FA5}">
                      <a16:colId xmlns="" xmlns:a16="http://schemas.microsoft.com/office/drawing/2014/main" val="20000"/>
                    </a:ext>
                  </a:extLst>
                </a:gridCol>
                <a:gridCol w="631800">
                  <a:extLst>
                    <a:ext uri="{9D8B030D-6E8A-4147-A177-3AD203B41FA5}">
                      <a16:colId xmlns="" xmlns:a16="http://schemas.microsoft.com/office/drawing/2014/main" val="20001"/>
                    </a:ext>
                  </a:extLst>
                </a:gridCol>
                <a:gridCol w="408811">
                  <a:extLst>
                    <a:ext uri="{9D8B030D-6E8A-4147-A177-3AD203B41FA5}">
                      <a16:colId xmlns="" xmlns:a16="http://schemas.microsoft.com/office/drawing/2014/main" val="20002"/>
                    </a:ext>
                  </a:extLst>
                </a:gridCol>
                <a:gridCol w="408811">
                  <a:extLst>
                    <a:ext uri="{9D8B030D-6E8A-4147-A177-3AD203B41FA5}">
                      <a16:colId xmlns="" xmlns:a16="http://schemas.microsoft.com/office/drawing/2014/main" val="20003"/>
                    </a:ext>
                  </a:extLst>
                </a:gridCol>
                <a:gridCol w="464559">
                  <a:extLst>
                    <a:ext uri="{9D8B030D-6E8A-4147-A177-3AD203B41FA5}">
                      <a16:colId xmlns="" xmlns:a16="http://schemas.microsoft.com/office/drawing/2014/main" val="20004"/>
                    </a:ext>
                  </a:extLst>
                </a:gridCol>
              </a:tblGrid>
              <a:tr h="156767">
                <a:tc>
                  <a:txBody>
                    <a:bodyPr/>
                    <a:lstStyle/>
                    <a:p>
                      <a:pPr algn="ctr" fontAlgn="ctr"/>
                      <a:r>
                        <a:rPr lang="en-US" sz="800" b="1" i="0" u="none" strike="noStrike" dirty="0">
                          <a:solidFill>
                            <a:srgbClr val="FFFFFF"/>
                          </a:solidFill>
                          <a:effectLst/>
                          <a:latin typeface="Calibri" panose="020F0502020204030204" pitchFamily="34" charset="0"/>
                        </a:rPr>
                        <a:t>Government Bond Yield</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Yield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1D (</a:t>
                      </a:r>
                      <a:r>
                        <a:rPr lang="en-US" sz="800" b="1" i="0" u="none" strike="noStrike" dirty="0">
                          <a:solidFill>
                            <a:srgbClr val="FFFFFF"/>
                          </a:solidFill>
                          <a:effectLst/>
                          <a:latin typeface="Calibri" panose="020F0502020204030204" pitchFamily="34" charset="0"/>
                        </a:rPr>
                        <a:t>bps)</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5D (bps)</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YTD (</a:t>
                      </a:r>
                      <a:r>
                        <a:rPr lang="en-US" sz="800" b="1" i="0" u="none" strike="noStrike" dirty="0">
                          <a:solidFill>
                            <a:srgbClr val="FFFFFF"/>
                          </a:solidFill>
                          <a:effectLst/>
                          <a:latin typeface="Calibri" panose="020F0502020204030204" pitchFamily="34" charset="0"/>
                        </a:rPr>
                        <a:t>bps)</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159544">
                <a:tc>
                  <a:txBody>
                    <a:bodyPr/>
                    <a:lstStyle/>
                    <a:p>
                      <a:pPr algn="ctr" fontAlgn="ctr"/>
                      <a:r>
                        <a:rPr lang="en-US" sz="800" b="0" i="0" u="none" strike="noStrike" dirty="0">
                          <a:solidFill>
                            <a:srgbClr val="000000"/>
                          </a:solidFill>
                          <a:effectLst/>
                          <a:latin typeface="Calibri" panose="020F0502020204030204" pitchFamily="34" charset="0"/>
                        </a:rPr>
                        <a:t>IndoGB 5Y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6.98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(2.30)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142.50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1"/>
                  </a:ext>
                </a:extLst>
              </a:tr>
              <a:tr h="154781">
                <a:tc>
                  <a:txBody>
                    <a:bodyPr/>
                    <a:lstStyle/>
                    <a:p>
                      <a:pPr algn="ctr" fontAlgn="ctr"/>
                      <a:r>
                        <a:rPr lang="en-US" sz="800" b="0" i="0" u="none" strike="noStrike" dirty="0">
                          <a:solidFill>
                            <a:srgbClr val="000000"/>
                          </a:solidFill>
                          <a:effectLst/>
                          <a:latin typeface="Calibri" panose="020F0502020204030204" pitchFamily="34" charset="0"/>
                        </a:rPr>
                        <a:t>IndoGB 10Y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7.10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102.70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2"/>
                  </a:ext>
                </a:extLst>
              </a:tr>
              <a:tr h="157163">
                <a:tc>
                  <a:txBody>
                    <a:bodyPr/>
                    <a:lstStyle/>
                    <a:p>
                      <a:pPr algn="ctr" fontAlgn="ctr"/>
                      <a:r>
                        <a:rPr lang="en-US" sz="800" b="0" i="0" u="none" strike="noStrike" dirty="0">
                          <a:solidFill>
                            <a:srgbClr val="000000"/>
                          </a:solidFill>
                          <a:effectLst/>
                          <a:latin typeface="Calibri" panose="020F0502020204030204" pitchFamily="34" charset="0"/>
                        </a:rPr>
                        <a:t>IndoGB 20Y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7.18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(2.50)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67.20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3"/>
                  </a:ext>
                </a:extLst>
              </a:tr>
              <a:tr h="154781">
                <a:tc>
                  <a:txBody>
                    <a:bodyPr/>
                    <a:lstStyle/>
                    <a:p>
                      <a:pPr algn="ctr" fontAlgn="ctr"/>
                      <a:r>
                        <a:rPr lang="en-US" sz="800" b="0" i="0" u="none" strike="noStrike" dirty="0">
                          <a:solidFill>
                            <a:srgbClr val="000000"/>
                          </a:solidFill>
                          <a:effectLst/>
                          <a:latin typeface="Calibri" panose="020F0502020204030204" pitchFamily="34" charset="0"/>
                        </a:rPr>
                        <a:t>IndoGB 5Y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5.64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3.70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22.90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115.40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4"/>
                  </a:ext>
                </a:extLst>
              </a:tr>
              <a:tr h="159543">
                <a:tc>
                  <a:txBody>
                    <a:bodyPr/>
                    <a:lstStyle/>
                    <a:p>
                      <a:pPr algn="ctr" fontAlgn="ctr"/>
                      <a:r>
                        <a:rPr lang="en-US" sz="800" b="0" i="0" u="none" strike="noStrike" dirty="0">
                          <a:solidFill>
                            <a:srgbClr val="000000"/>
                          </a:solidFill>
                          <a:effectLst/>
                          <a:latin typeface="Calibri" panose="020F0502020204030204" pitchFamily="34" charset="0"/>
                        </a:rPr>
                        <a:t>IndoGB 10Y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6.09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1.50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18.50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121.10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5"/>
                  </a:ext>
                </a:extLst>
              </a:tr>
              <a:tr h="159545">
                <a:tc>
                  <a:txBody>
                    <a:bodyPr/>
                    <a:lstStyle/>
                    <a:p>
                      <a:pPr algn="ctr" fontAlgn="ctr"/>
                      <a:r>
                        <a:rPr lang="en-US" sz="800" b="0" i="0" u="none" strike="noStrike" dirty="0">
                          <a:solidFill>
                            <a:srgbClr val="000000"/>
                          </a:solidFill>
                          <a:effectLst/>
                          <a:latin typeface="Calibri" panose="020F0502020204030204" pitchFamily="34" charset="0"/>
                        </a:rPr>
                        <a:t>IndoGB 30Y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6.27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2.80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14.60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93.40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6"/>
                  </a:ext>
                </a:extLst>
              </a:tr>
              <a:tr h="157162">
                <a:tc>
                  <a:txBody>
                    <a:bodyPr/>
                    <a:lstStyle/>
                    <a:p>
                      <a:pPr algn="ctr" fontAlgn="ctr"/>
                      <a:r>
                        <a:rPr lang="en-US" sz="800" b="0" i="0" u="none" strike="noStrike" dirty="0">
                          <a:solidFill>
                            <a:srgbClr val="000000"/>
                          </a:solidFill>
                          <a:effectLst/>
                          <a:latin typeface="Calibri" panose="020F0502020204030204" pitchFamily="34" charset="0"/>
                        </a:rPr>
                        <a:t>US Treasury 5Y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4.99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(7.15)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13.15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126.23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7"/>
                  </a:ext>
                </a:extLst>
              </a:tr>
              <a:tr h="159544">
                <a:tc>
                  <a:txBody>
                    <a:bodyPr/>
                    <a:lstStyle/>
                    <a:p>
                      <a:pPr algn="ctr" fontAlgn="ctr"/>
                      <a:r>
                        <a:rPr lang="en-US" sz="800" b="0" i="0" u="none" strike="noStrike" dirty="0">
                          <a:solidFill>
                            <a:srgbClr val="000000"/>
                          </a:solidFill>
                          <a:effectLst/>
                          <a:latin typeface="Calibri" panose="020F0502020204030204" pitchFamily="34" charset="0"/>
                        </a:rPr>
                        <a:t>US Treasury 10Y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5.16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(3.74)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16.43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99.34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8"/>
                  </a:ext>
                </a:extLst>
              </a:tr>
              <a:tr h="157162">
                <a:tc>
                  <a:txBody>
                    <a:bodyPr/>
                    <a:lstStyle/>
                    <a:p>
                      <a:pPr algn="ctr" fontAlgn="ctr"/>
                      <a:r>
                        <a:rPr lang="en-US" sz="800" b="0" i="0" u="none" strike="noStrike">
                          <a:solidFill>
                            <a:srgbClr val="000000"/>
                          </a:solidFill>
                          <a:effectLst/>
                          <a:latin typeface="Calibri" panose="020F0502020204030204" pitchFamily="34" charset="0"/>
                        </a:rPr>
                        <a:t>US Treasury 30Y</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5.49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16.53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64.69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9"/>
                  </a:ext>
                </a:extLst>
              </a:tr>
              <a:tr h="154782">
                <a:tc>
                  <a:txBody>
                    <a:bodyPr/>
                    <a:lstStyle/>
                    <a:p>
                      <a:pPr algn="ctr" fontAlgn="ctr"/>
                      <a:r>
                        <a:rPr lang="en-US" sz="800" b="0" i="0" u="none" strike="noStrike" dirty="0">
                          <a:solidFill>
                            <a:srgbClr val="000000"/>
                          </a:solidFill>
                          <a:effectLst/>
                          <a:latin typeface="Calibri" panose="020F0502020204030204" pitchFamily="34" charset="0"/>
                        </a:rPr>
                        <a:t>Indo CDS (USD) 5Y</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88.28</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(0.14)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6.27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19.42</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 xmlns:a16="http://schemas.microsoft.com/office/drawing/2014/main" val="10010"/>
                  </a:ext>
                </a:extLst>
              </a:tr>
            </a:tbl>
          </a:graphicData>
        </a:graphic>
      </p:graphicFrame>
      <p:graphicFrame>
        <p:nvGraphicFramePr>
          <p:cNvPr id="14" name="Table 13"/>
          <p:cNvGraphicFramePr>
            <a:graphicFrameLocks noGrp="1"/>
          </p:cNvGraphicFramePr>
          <p:nvPr>
            <p:extLst/>
          </p:nvPr>
        </p:nvGraphicFramePr>
        <p:xfrm>
          <a:off x="290457" y="7045746"/>
          <a:ext cx="2994081" cy="1260054"/>
        </p:xfrm>
        <a:graphic>
          <a:graphicData uri="http://schemas.openxmlformats.org/drawingml/2006/table">
            <a:tbl>
              <a:tblPr/>
              <a:tblGrid>
                <a:gridCol w="1080100">
                  <a:extLst>
                    <a:ext uri="{9D8B030D-6E8A-4147-A177-3AD203B41FA5}">
                      <a16:colId xmlns="" xmlns:a16="http://schemas.microsoft.com/office/drawing/2014/main" val="20000"/>
                    </a:ext>
                  </a:extLst>
                </a:gridCol>
                <a:gridCol w="631800">
                  <a:extLst>
                    <a:ext uri="{9D8B030D-6E8A-4147-A177-3AD203B41FA5}">
                      <a16:colId xmlns="" xmlns:a16="http://schemas.microsoft.com/office/drawing/2014/main" val="20001"/>
                    </a:ext>
                  </a:extLst>
                </a:gridCol>
                <a:gridCol w="408811">
                  <a:extLst>
                    <a:ext uri="{9D8B030D-6E8A-4147-A177-3AD203B41FA5}">
                      <a16:colId xmlns="" xmlns:a16="http://schemas.microsoft.com/office/drawing/2014/main" val="20002"/>
                    </a:ext>
                  </a:extLst>
                </a:gridCol>
                <a:gridCol w="408811">
                  <a:extLst>
                    <a:ext uri="{9D8B030D-6E8A-4147-A177-3AD203B41FA5}">
                      <a16:colId xmlns="" xmlns:a16="http://schemas.microsoft.com/office/drawing/2014/main" val="20003"/>
                    </a:ext>
                  </a:extLst>
                </a:gridCol>
                <a:gridCol w="464559">
                  <a:extLst>
                    <a:ext uri="{9D8B030D-6E8A-4147-A177-3AD203B41FA5}">
                      <a16:colId xmlns="" xmlns:a16="http://schemas.microsoft.com/office/drawing/2014/main" val="20004"/>
                    </a:ext>
                  </a:extLst>
                </a:gridCol>
              </a:tblGrid>
              <a:tr h="140006">
                <a:tc>
                  <a:txBody>
                    <a:bodyPr/>
                    <a:lstStyle/>
                    <a:p>
                      <a:pPr algn="ctr" fontAlgn="ctr"/>
                      <a:r>
                        <a:rPr lang="en-US" sz="800" b="1" i="0" u="none" strike="noStrike" dirty="0">
                          <a:solidFill>
                            <a:srgbClr val="FFFFFF"/>
                          </a:solidFill>
                          <a:effectLst/>
                          <a:latin typeface="Calibri" panose="020F0502020204030204" pitchFamily="34" charset="0"/>
                        </a:rPr>
                        <a:t>Commodities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Price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140006">
                <a:tc>
                  <a:txBody>
                    <a:bodyPr/>
                    <a:lstStyle/>
                    <a:p>
                      <a:pPr algn="ctr" fontAlgn="ctr"/>
                      <a:r>
                        <a:rPr lang="en-US" sz="800" b="0" i="0" u="none" strike="noStrike">
                          <a:solidFill>
                            <a:srgbClr val="000000"/>
                          </a:solidFill>
                          <a:effectLst/>
                          <a:latin typeface="Calibri" panose="020F0502020204030204" pitchFamily="34" charset="0"/>
                        </a:rPr>
                        <a:t>WTI Oil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92.41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(2.33)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(3.82)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62.35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1"/>
                  </a:ext>
                </a:extLst>
              </a:tr>
              <a:tr h="140006">
                <a:tc>
                  <a:txBody>
                    <a:bodyPr/>
                    <a:lstStyle/>
                    <a:p>
                      <a:pPr algn="ctr" fontAlgn="ctr"/>
                      <a:r>
                        <a:rPr lang="en-US" sz="800" b="0" i="0" u="none" strike="noStrike">
                          <a:solidFill>
                            <a:srgbClr val="000000"/>
                          </a:solidFill>
                          <a:effectLst/>
                          <a:latin typeface="Calibri" panose="020F0502020204030204" pitchFamily="34" charset="0"/>
                        </a:rPr>
                        <a:t>Brent Oil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104.32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(2.14)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0.43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73.32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2"/>
                  </a:ext>
                </a:extLst>
              </a:tr>
              <a:tr h="140006">
                <a:tc>
                  <a:txBody>
                    <a:bodyPr/>
                    <a:lstStyle/>
                    <a:p>
                      <a:pPr algn="ctr" fontAlgn="ctr"/>
                      <a:r>
                        <a:rPr lang="en-US" sz="800" b="0" i="0" u="none" strike="noStrike">
                          <a:solidFill>
                            <a:srgbClr val="000000"/>
                          </a:solidFill>
                          <a:effectLst/>
                          <a:latin typeface="Calibri" panose="020F0502020204030204" pitchFamily="34" charset="0"/>
                        </a:rPr>
                        <a:t>Gold </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4,284.81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0.23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(2.14)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(0.80)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3"/>
                  </a:ext>
                </a:extLst>
              </a:tr>
              <a:tr h="140006">
                <a:tc>
                  <a:txBody>
                    <a:bodyPr/>
                    <a:lstStyle/>
                    <a:p>
                      <a:pPr algn="ctr" fontAlgn="ctr"/>
                      <a:r>
                        <a:rPr lang="en-US" sz="800" b="0" i="0" u="none" strike="noStrike">
                          <a:solidFill>
                            <a:srgbClr val="000000"/>
                          </a:solidFill>
                          <a:effectLst/>
                          <a:latin typeface="Calibri" panose="020F0502020204030204" pitchFamily="34" charset="0"/>
                        </a:rPr>
                        <a:t>Natural Gas</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3.20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(3.06)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9.75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(15.02)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4"/>
                  </a:ext>
                </a:extLst>
              </a:tr>
              <a:tr h="140006">
                <a:tc>
                  <a:txBody>
                    <a:bodyPr/>
                    <a:lstStyle/>
                    <a:p>
                      <a:pPr algn="ctr" fontAlgn="ctr"/>
                      <a:r>
                        <a:rPr lang="en-US" sz="800" b="0" i="0" u="none" strike="noStrike">
                          <a:solidFill>
                            <a:srgbClr val="000000"/>
                          </a:solidFill>
                          <a:effectLst/>
                          <a:latin typeface="Calibri" panose="020F0502020204030204" pitchFamily="34" charset="0"/>
                        </a:rPr>
                        <a:t>Coal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145.85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0.59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35.67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5"/>
                  </a:ext>
                </a:extLst>
              </a:tr>
              <a:tr h="140006">
                <a:tc>
                  <a:txBody>
                    <a:bodyPr/>
                    <a:lstStyle/>
                    <a:p>
                      <a:pPr algn="ctr" fontAlgn="ctr"/>
                      <a:r>
                        <a:rPr lang="en-US" sz="800" b="0" i="0" u="none" strike="noStrike">
                          <a:solidFill>
                            <a:srgbClr val="000000"/>
                          </a:solidFill>
                          <a:effectLst/>
                          <a:latin typeface="Calibri" panose="020F0502020204030204" pitchFamily="34" charset="0"/>
                        </a:rPr>
                        <a:t>Nickel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16,203.85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0.83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(2.07)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6"/>
                  </a:ext>
                </a:extLst>
              </a:tr>
              <a:tr h="140006">
                <a:tc>
                  <a:txBody>
                    <a:bodyPr/>
                    <a:lstStyle/>
                    <a:p>
                      <a:pPr algn="ctr" fontAlgn="ctr"/>
                      <a:r>
                        <a:rPr lang="en-US" sz="800" b="0" i="0" u="none" strike="noStrike">
                          <a:solidFill>
                            <a:srgbClr val="000000"/>
                          </a:solidFill>
                          <a:effectLst/>
                          <a:latin typeface="Calibri" panose="020F0502020204030204" pitchFamily="34" charset="0"/>
                        </a:rPr>
                        <a:t>Copper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669.55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(0.34)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17.84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7"/>
                  </a:ext>
                </a:extLst>
              </a:tr>
              <a:tr h="140006">
                <a:tc>
                  <a:txBody>
                    <a:bodyPr/>
                    <a:lstStyle/>
                    <a:p>
                      <a:pPr algn="ctr" fontAlgn="ctr"/>
                      <a:r>
                        <a:rPr lang="en-US" sz="800" b="0" i="0" u="none" strike="noStrike">
                          <a:solidFill>
                            <a:srgbClr val="000000"/>
                          </a:solidFill>
                          <a:effectLst/>
                          <a:latin typeface="Calibri" panose="020F0502020204030204" pitchFamily="34" charset="0"/>
                        </a:rPr>
                        <a:t>CPO</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4,475.00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(1.95)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(1.95)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11.93</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 xmlns:a16="http://schemas.microsoft.com/office/drawing/2014/main" val="10008"/>
                  </a:ext>
                </a:extLst>
              </a:tr>
            </a:tbl>
          </a:graphicData>
        </a:graphic>
      </p:graphicFrame>
      <p:graphicFrame>
        <p:nvGraphicFramePr>
          <p:cNvPr id="22" name="Table 21"/>
          <p:cNvGraphicFramePr>
            <a:graphicFrameLocks noGrp="1"/>
          </p:cNvGraphicFramePr>
          <p:nvPr>
            <p:extLst/>
          </p:nvPr>
        </p:nvGraphicFramePr>
        <p:xfrm>
          <a:off x="3505199" y="7045747"/>
          <a:ext cx="3127377" cy="609600"/>
        </p:xfrm>
        <a:graphic>
          <a:graphicData uri="http://schemas.openxmlformats.org/drawingml/2006/table">
            <a:tbl>
              <a:tblPr/>
              <a:tblGrid>
                <a:gridCol w="1295401">
                  <a:extLst>
                    <a:ext uri="{9D8B030D-6E8A-4147-A177-3AD203B41FA5}">
                      <a16:colId xmlns="" xmlns:a16="http://schemas.microsoft.com/office/drawing/2014/main" val="20000"/>
                    </a:ext>
                  </a:extLst>
                </a:gridCol>
                <a:gridCol w="457994">
                  <a:extLst>
                    <a:ext uri="{9D8B030D-6E8A-4147-A177-3AD203B41FA5}">
                      <a16:colId xmlns="" xmlns:a16="http://schemas.microsoft.com/office/drawing/2014/main" val="20001"/>
                    </a:ext>
                  </a:extLst>
                </a:gridCol>
                <a:gridCol w="457994">
                  <a:extLst>
                    <a:ext uri="{9D8B030D-6E8A-4147-A177-3AD203B41FA5}">
                      <a16:colId xmlns="" xmlns:a16="http://schemas.microsoft.com/office/drawing/2014/main" val="20002"/>
                    </a:ext>
                  </a:extLst>
                </a:gridCol>
                <a:gridCol w="457994">
                  <a:extLst>
                    <a:ext uri="{9D8B030D-6E8A-4147-A177-3AD203B41FA5}">
                      <a16:colId xmlns="" xmlns:a16="http://schemas.microsoft.com/office/drawing/2014/main" val="20003"/>
                    </a:ext>
                  </a:extLst>
                </a:gridCol>
                <a:gridCol w="457994">
                  <a:extLst>
                    <a:ext uri="{9D8B030D-6E8A-4147-A177-3AD203B41FA5}">
                      <a16:colId xmlns="" xmlns:a16="http://schemas.microsoft.com/office/drawing/2014/main" val="20004"/>
                    </a:ext>
                  </a:extLst>
                </a:gridCol>
              </a:tblGrid>
              <a:tr h="105083">
                <a:tc>
                  <a:txBody>
                    <a:bodyPr/>
                    <a:lstStyle/>
                    <a:p>
                      <a:pPr algn="ctr" fontAlgn="ctr"/>
                      <a:r>
                        <a:rPr lang="en-US" sz="800" b="1" i="0" u="none" strike="noStrike" dirty="0">
                          <a:solidFill>
                            <a:srgbClr val="FFFFFF"/>
                          </a:solidFill>
                          <a:effectLst/>
                          <a:latin typeface="Calibri" panose="020F0502020204030204" pitchFamily="34" charset="0"/>
                        </a:rPr>
                        <a:t>Asset Class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1D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WTD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MTD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YTD</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202835">
                <a:tc>
                  <a:txBody>
                    <a:bodyPr/>
                    <a:lstStyle/>
                    <a:p>
                      <a:pPr algn="ctr" fontAlgn="ctr"/>
                      <a:r>
                        <a:rPr lang="en-US" sz="800" b="0" i="0" u="none" strike="noStrike" dirty="0">
                          <a:solidFill>
                            <a:srgbClr val="000000"/>
                          </a:solidFill>
                          <a:effectLst/>
                          <a:latin typeface="Calibri" panose="020F0502020204030204" pitchFamily="34" charset="0"/>
                        </a:rPr>
                        <a:t>Equity</a:t>
                      </a:r>
                    </a:p>
                    <a:p>
                      <a:pPr algn="ctr" fontAlgn="ctr"/>
                      <a:r>
                        <a:rPr lang="en-US" sz="800" b="0" i="1" u="none" strike="noStrike" dirty="0">
                          <a:solidFill>
                            <a:srgbClr val="000000"/>
                          </a:solidFill>
                          <a:effectLst/>
                          <a:latin typeface="Calibri" panose="020F0502020204030204" pitchFamily="34" charset="0"/>
                        </a:rPr>
                        <a:t>(as of 25-September-26)</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FF0000"/>
                          </a:solidFill>
                          <a:effectLst/>
                          <a:latin typeface="Calibri" panose="020F0502020204030204" pitchFamily="34" charset="0"/>
                        </a:rPr>
                        <a:t>(0.56)</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(3.16)</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(6.79)</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(80.27)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10001"/>
                  </a:ext>
                </a:extLst>
              </a:tr>
              <a:tr h="42494">
                <a:tc>
                  <a:txBody>
                    <a:bodyPr/>
                    <a:lstStyle/>
                    <a:p>
                      <a:pPr algn="ctr" fontAlgn="ctr"/>
                      <a:r>
                        <a:rPr lang="en-US" sz="800" b="0" i="0" u="none" strike="noStrike" dirty="0">
                          <a:solidFill>
                            <a:srgbClr val="000000"/>
                          </a:solidFill>
                          <a:effectLst/>
                          <a:latin typeface="Calibri" panose="020F0502020204030204" pitchFamily="34" charset="0"/>
                        </a:rPr>
                        <a:t>Fixed Income</a:t>
                      </a:r>
                    </a:p>
                    <a:p>
                      <a:pPr algn="ctr" fontAlgn="ctr"/>
                      <a:r>
                        <a:rPr lang="en-US" sz="800" b="0" i="1" u="none" strike="noStrike" dirty="0">
                          <a:solidFill>
                            <a:srgbClr val="000000"/>
                          </a:solidFill>
                          <a:effectLst/>
                          <a:latin typeface="Calibri" panose="020F0502020204030204" pitchFamily="34" charset="0"/>
                        </a:rPr>
                        <a:t>(as of 24-September-26)</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(0.22)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(3.97)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29.06</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 xmlns:a16="http://schemas.microsoft.com/office/drawing/2014/main" val="10002"/>
                  </a:ext>
                </a:extLst>
              </a:tr>
            </a:tbl>
          </a:graphicData>
        </a:graphic>
      </p:graphicFrame>
      <p:grpSp>
        <p:nvGrpSpPr>
          <p:cNvPr id="20" name="Group 19">
            <a:extLst>
              <a:ext uri="{FF2B5EF4-FFF2-40B4-BE49-F238E27FC236}">
                <a16:creationId xmlns="" xmlns:a16="http://schemas.microsoft.com/office/drawing/2014/main" id="{C6D63C31-C634-9431-C44D-F4360FFE17BA}"/>
              </a:ext>
            </a:extLst>
          </p:cNvPr>
          <p:cNvGrpSpPr/>
          <p:nvPr/>
        </p:nvGrpSpPr>
        <p:grpSpPr>
          <a:xfrm>
            <a:off x="424492" y="1352226"/>
            <a:ext cx="1308514" cy="246221"/>
            <a:chOff x="432982" y="1349096"/>
            <a:chExt cx="1308514" cy="246221"/>
          </a:xfrm>
        </p:grpSpPr>
        <p:sp>
          <p:nvSpPr>
            <p:cNvPr id="23" name="Rectangle 22">
              <a:extLst>
                <a:ext uri="{FF2B5EF4-FFF2-40B4-BE49-F238E27FC236}">
                  <a16:creationId xmlns="" xmlns:a16="http://schemas.microsoft.com/office/drawing/2014/main" id="{B8873FCB-3B47-3353-6E5E-8644C4894C78}"/>
                </a:ext>
              </a:extLst>
            </p:cNvPr>
            <p:cNvSpPr/>
            <p:nvPr/>
          </p:nvSpPr>
          <p:spPr>
            <a:xfrm>
              <a:off x="540663" y="1394217"/>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 xmlns:a16="http://schemas.microsoft.com/office/drawing/2014/main" id="{F908AC75-40AA-5789-1A9F-4E0663226C3A}"/>
                </a:ext>
              </a:extLst>
            </p:cNvPr>
            <p:cNvSpPr txBox="1"/>
            <p:nvPr/>
          </p:nvSpPr>
          <p:spPr>
            <a:xfrm>
              <a:off x="432982" y="1349096"/>
              <a:ext cx="1308514" cy="246221"/>
            </a:xfrm>
            <a:prstGeom prst="rect">
              <a:avLst/>
            </a:prstGeom>
            <a:noFill/>
          </p:spPr>
          <p:txBody>
            <a:bodyPr wrap="square" rtlCol="0">
              <a:spAutoFit/>
            </a:bodyPr>
            <a:lstStyle/>
            <a:p>
              <a:pPr algn="ctr"/>
              <a:r>
                <a:rPr lang="en-US" sz="1000" b="1" dirty="0">
                  <a:solidFill>
                    <a:schemeClr val="bg1"/>
                  </a:solidFill>
                </a:rPr>
                <a:t>28 September 2026</a:t>
              </a:r>
            </a:p>
          </p:txBody>
        </p:sp>
      </p:grpSp>
    </p:spTree>
    <p:extLst>
      <p:ext uri="{BB962C8B-B14F-4D97-AF65-F5344CB8AC3E}">
        <p14:creationId xmlns:p14="http://schemas.microsoft.com/office/powerpoint/2010/main" val="19268401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235F96D-1A71-58E3-E1FF-DE0868712A15}"/>
            </a:ext>
          </a:extLst>
        </p:cNvPr>
        <p:cNvGrpSpPr/>
        <p:nvPr/>
      </p:nvGrpSpPr>
      <p:grpSpPr>
        <a:xfrm>
          <a:off x="0" y="0"/>
          <a:ext cx="0" cy="0"/>
          <a:chOff x="0" y="0"/>
          <a:chExt cx="0" cy="0"/>
        </a:xfrm>
      </p:grpSpPr>
      <p:graphicFrame>
        <p:nvGraphicFramePr>
          <p:cNvPr id="16" name="Table 15">
            <a:extLst>
              <a:ext uri="{FF2B5EF4-FFF2-40B4-BE49-F238E27FC236}">
                <a16:creationId xmlns="" xmlns:a16="http://schemas.microsoft.com/office/drawing/2014/main" id="{92C92BE2-1A26-DCA2-1425-0AA1741325AB}"/>
              </a:ext>
            </a:extLst>
          </p:cNvPr>
          <p:cNvGraphicFramePr>
            <a:graphicFrameLocks noGrp="1"/>
          </p:cNvGraphicFramePr>
          <p:nvPr>
            <p:extLst/>
          </p:nvPr>
        </p:nvGraphicFramePr>
        <p:xfrm>
          <a:off x="327025" y="1905000"/>
          <a:ext cx="6305549" cy="2759975"/>
        </p:xfrm>
        <a:graphic>
          <a:graphicData uri="http://schemas.openxmlformats.org/drawingml/2006/table">
            <a:tbl>
              <a:tblPr/>
              <a:tblGrid>
                <a:gridCol w="2378781">
                  <a:extLst>
                    <a:ext uri="{9D8B030D-6E8A-4147-A177-3AD203B41FA5}">
                      <a16:colId xmlns="" xmlns:a16="http://schemas.microsoft.com/office/drawing/2014/main" val="3984479303"/>
                    </a:ext>
                  </a:extLst>
                </a:gridCol>
                <a:gridCol w="490011">
                  <a:extLst>
                    <a:ext uri="{9D8B030D-6E8A-4147-A177-3AD203B41FA5}">
                      <a16:colId xmlns="" xmlns:a16="http://schemas.microsoft.com/office/drawing/2014/main" val="1443360456"/>
                    </a:ext>
                  </a:extLst>
                </a:gridCol>
                <a:gridCol w="543467">
                  <a:extLst>
                    <a:ext uri="{9D8B030D-6E8A-4147-A177-3AD203B41FA5}">
                      <a16:colId xmlns="" xmlns:a16="http://schemas.microsoft.com/office/drawing/2014/main" val="3887741517"/>
                    </a:ext>
                  </a:extLst>
                </a:gridCol>
                <a:gridCol w="490011">
                  <a:extLst>
                    <a:ext uri="{9D8B030D-6E8A-4147-A177-3AD203B41FA5}">
                      <a16:colId xmlns="" xmlns:a16="http://schemas.microsoft.com/office/drawing/2014/main" val="474306127"/>
                    </a:ext>
                  </a:extLst>
                </a:gridCol>
                <a:gridCol w="490011">
                  <a:extLst>
                    <a:ext uri="{9D8B030D-6E8A-4147-A177-3AD203B41FA5}">
                      <a16:colId xmlns="" xmlns:a16="http://schemas.microsoft.com/office/drawing/2014/main" val="3509474900"/>
                    </a:ext>
                  </a:extLst>
                </a:gridCol>
                <a:gridCol w="490011">
                  <a:extLst>
                    <a:ext uri="{9D8B030D-6E8A-4147-A177-3AD203B41FA5}">
                      <a16:colId xmlns="" xmlns:a16="http://schemas.microsoft.com/office/drawing/2014/main" val="1189944801"/>
                    </a:ext>
                  </a:extLst>
                </a:gridCol>
                <a:gridCol w="474419">
                  <a:extLst>
                    <a:ext uri="{9D8B030D-6E8A-4147-A177-3AD203B41FA5}">
                      <a16:colId xmlns="" xmlns:a16="http://schemas.microsoft.com/office/drawing/2014/main" val="149569299"/>
                    </a:ext>
                  </a:extLst>
                </a:gridCol>
                <a:gridCol w="474419">
                  <a:extLst>
                    <a:ext uri="{9D8B030D-6E8A-4147-A177-3AD203B41FA5}">
                      <a16:colId xmlns="" xmlns:a16="http://schemas.microsoft.com/office/drawing/2014/main" val="432537367"/>
                    </a:ext>
                  </a:extLst>
                </a:gridCol>
                <a:gridCol w="474419">
                  <a:extLst>
                    <a:ext uri="{9D8B030D-6E8A-4147-A177-3AD203B41FA5}">
                      <a16:colId xmlns="" xmlns:a16="http://schemas.microsoft.com/office/drawing/2014/main" val="1907178657"/>
                    </a:ext>
                  </a:extLst>
                </a:gridCol>
              </a:tblGrid>
              <a:tr h="306663">
                <a:tc>
                  <a:txBody>
                    <a:bodyPr/>
                    <a:lstStyle/>
                    <a:p>
                      <a:pPr algn="ctr" fontAlgn="ctr"/>
                      <a:r>
                        <a:rPr lang="en-ID" sz="1000" b="1" i="0" u="none" strike="noStrike" dirty="0">
                          <a:solidFill>
                            <a:srgbClr val="FFFFFF"/>
                          </a:solidFill>
                          <a:effectLst/>
                          <a:latin typeface="Calibri" panose="020F0502020204030204" pitchFamily="34" charset="0"/>
                        </a:rPr>
                        <a:t>Macro Indicator</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2019</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2020</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2021</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2022</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2023</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2024</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2025</a:t>
                      </a:r>
                    </a:p>
                  </a:txBody>
                  <a:tcPr marL="0" marR="0" marT="0" marB="0" anchor="ctr">
                    <a:lnL>
                      <a:noFill/>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2026E</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661807329"/>
                  </a:ext>
                </a:extLst>
              </a:tr>
              <a:tr h="229998">
                <a:tc>
                  <a:txBody>
                    <a:bodyPr/>
                    <a:lstStyle/>
                    <a:p>
                      <a:pPr algn="l" fontAlgn="ctr"/>
                      <a:r>
                        <a:rPr lang="en-ID" sz="900" b="0" i="0" u="none" strike="noStrike">
                          <a:solidFill>
                            <a:srgbClr val="000000"/>
                          </a:solidFill>
                          <a:effectLst/>
                          <a:latin typeface="Calibri" panose="020F0502020204030204" pitchFamily="34" charset="0"/>
                        </a:rPr>
                        <a:t> Real Gross Domestic Product Growth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-2,1</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3,7</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5,3</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817212798"/>
                  </a:ext>
                </a:extLst>
              </a:tr>
              <a:tr h="229998">
                <a:tc>
                  <a:txBody>
                    <a:bodyPr/>
                    <a:lstStyle/>
                    <a:p>
                      <a:pPr algn="l" fontAlgn="ctr"/>
                      <a:r>
                        <a:rPr lang="en-ID" sz="900" b="0" i="0" u="none" strike="noStrike">
                          <a:solidFill>
                            <a:srgbClr val="000000"/>
                          </a:solidFill>
                          <a:effectLst/>
                          <a:latin typeface="Calibri" panose="020F0502020204030204" pitchFamily="34" charset="0"/>
                        </a:rPr>
                        <a:t> Nominal Gross Domestic Product Growth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-2,5</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9,9</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15,4</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6,0</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7,6</a:t>
                      </a:r>
                    </a:p>
                  </a:txBody>
                  <a:tcPr marL="0" marR="0" marT="0" marB="0" anchor="ctr">
                    <a:lnL>
                      <a:noFill/>
                    </a:lnL>
                    <a:lnR w="6350" cap="flat" cmpd="sng" algn="ctr">
                      <a:noFill/>
                      <a:prstDash val="solid"/>
                      <a:round/>
                      <a:headEnd type="none" w="med" len="med"/>
                      <a:tailEnd type="none" w="med" len="med"/>
                    </a:lnR>
                    <a:lnT>
                      <a:noFill/>
                    </a:lnT>
                    <a:lnB>
                      <a:noFill/>
                    </a:lnB>
                    <a:solidFill>
                      <a:srgbClr val="ECECEC"/>
                    </a:solidFill>
                  </a:tcPr>
                </a:tc>
                <a:tc>
                  <a:txBody>
                    <a:bodyPr/>
                    <a:lstStyle/>
                    <a:p>
                      <a:pPr algn="ctr" fontAlgn="ctr"/>
                      <a:r>
                        <a:rPr lang="en-US" sz="900" b="0" i="0" u="none" strike="noStrike" dirty="0">
                          <a:solidFill>
                            <a:srgbClr val="000000"/>
                          </a:solidFill>
                          <a:effectLst/>
                          <a:latin typeface="Calibri" panose="020F0502020204030204" pitchFamily="34" charset="0"/>
                        </a:rPr>
                        <a:t>9</a:t>
                      </a:r>
                      <a:r>
                        <a:rPr lang="en-ID" sz="900" b="0" i="0" u="none" strike="noStrike" dirty="0">
                          <a:solidFill>
                            <a:srgbClr val="000000"/>
                          </a:solidFill>
                          <a:effectLst/>
                          <a:latin typeface="Calibri" panose="020F0502020204030204" pitchFamily="34" charset="0"/>
                        </a:rPr>
                        <a:t>,0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3615074162"/>
                  </a:ext>
                </a:extLst>
              </a:tr>
              <a:tr h="229998">
                <a:tc>
                  <a:txBody>
                    <a:bodyPr/>
                    <a:lstStyle/>
                    <a:p>
                      <a:pPr algn="l" fontAlgn="ctr"/>
                      <a:r>
                        <a:rPr lang="en-ID" sz="900" b="0" i="0" u="none" strike="noStrike" dirty="0">
                          <a:solidFill>
                            <a:srgbClr val="000000"/>
                          </a:solidFill>
                          <a:effectLst/>
                          <a:latin typeface="Calibri" panose="020F0502020204030204" pitchFamily="34" charset="0"/>
                        </a:rPr>
                        <a:t> GDP per capita (US$)</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4.175</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3.912</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4.350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4.784</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4.920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4.960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5.083</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5.128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3087802317"/>
                  </a:ext>
                </a:extLst>
              </a:tr>
              <a:tr h="229998">
                <a:tc>
                  <a:txBody>
                    <a:bodyPr/>
                    <a:lstStyle/>
                    <a:p>
                      <a:pPr algn="l" fontAlgn="ctr"/>
                      <a:r>
                        <a:rPr lang="en-ID" sz="900" b="0" i="0" u="none" strike="noStrike">
                          <a:solidFill>
                            <a:srgbClr val="000000"/>
                          </a:solidFill>
                          <a:effectLst/>
                          <a:latin typeface="Calibri" panose="020F0502020204030204" pitchFamily="34" charset="0"/>
                        </a:rPr>
                        <a:t> Consumer Price Index Inflation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1,9</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5,5</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2,6</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1,6</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2,9</a:t>
                      </a:r>
                    </a:p>
                  </a:txBody>
                  <a:tcPr marL="0" marR="0" marT="0" marB="0" anchor="ctr">
                    <a:lnL>
                      <a:noFill/>
                    </a:lnL>
                    <a:lnR w="6350" cap="flat" cmpd="sng" algn="ctr">
                      <a:noFill/>
                      <a:prstDash val="solid"/>
                      <a:round/>
                      <a:headEnd type="none" w="med" len="med"/>
                      <a:tailEnd type="none" w="med" len="med"/>
                    </a:lnR>
                    <a:lnT>
                      <a:noFill/>
                    </a:lnT>
                    <a:lnB>
                      <a:noFill/>
                    </a:lnB>
                    <a:solidFill>
                      <a:srgbClr val="ECECEC"/>
                    </a:solidFill>
                  </a:tcPr>
                </a:tc>
                <a:tc>
                  <a:txBody>
                    <a:bodyPr/>
                    <a:lstStyle/>
                    <a:p>
                      <a:pPr algn="ctr" fontAlgn="ctr"/>
                      <a:r>
                        <a:rPr lang="en-US" sz="900" b="0" i="0" u="none" strike="noStrike" dirty="0">
                          <a:solidFill>
                            <a:srgbClr val="000000"/>
                          </a:solidFill>
                          <a:effectLst/>
                          <a:latin typeface="Calibri" panose="020F0502020204030204" pitchFamily="34" charset="0"/>
                        </a:rPr>
                        <a:t>4,5</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2484791044"/>
                  </a:ext>
                </a:extLst>
              </a:tr>
              <a:tr h="229998">
                <a:tc>
                  <a:txBody>
                    <a:bodyPr/>
                    <a:lstStyle/>
                    <a:p>
                      <a:pPr algn="l" fontAlgn="ctr"/>
                      <a:r>
                        <a:rPr lang="en-ID" sz="900" b="0" i="0" u="none" strike="noStrike">
                          <a:solidFill>
                            <a:srgbClr val="000000"/>
                          </a:solidFill>
                          <a:effectLst/>
                          <a:latin typeface="Calibri" panose="020F0502020204030204" pitchFamily="34" charset="0"/>
                        </a:rPr>
                        <a:t> BI Rate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3,75</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4,75</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577388193"/>
                  </a:ext>
                </a:extLst>
              </a:tr>
              <a:tr h="229998">
                <a:tc>
                  <a:txBody>
                    <a:bodyPr/>
                    <a:lstStyle/>
                    <a:p>
                      <a:pPr algn="l" fontAlgn="ctr"/>
                      <a:r>
                        <a:rPr lang="en-ID" sz="900" b="0" i="0" u="none" strike="noStrike">
                          <a:solidFill>
                            <a:srgbClr val="000000"/>
                          </a:solidFill>
                          <a:effectLst/>
                          <a:latin typeface="Calibri" panose="020F0502020204030204" pitchFamily="34" charset="0"/>
                        </a:rPr>
                        <a:t> SBN 10Y yield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7,04</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5,86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6,36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6,92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6,45</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6,97</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6,05</a:t>
                      </a:r>
                    </a:p>
                  </a:txBody>
                  <a:tcPr marL="0" marR="0" marT="0" marB="0" anchor="ctr">
                    <a:lnL>
                      <a:noFill/>
                    </a:lnL>
                    <a:lnR w="6350" cap="flat" cmpd="sng" algn="ctr">
                      <a:noFill/>
                      <a:prstDash val="solid"/>
                      <a:round/>
                      <a:headEnd type="none" w="med" len="med"/>
                      <a:tailEnd type="none" w="med" len="med"/>
                    </a:lnR>
                    <a:lnT>
                      <a:noFill/>
                    </a:lnT>
                    <a:lnB>
                      <a:noFill/>
                    </a:lnB>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8,01</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 xmlns:a16="http://schemas.microsoft.com/office/drawing/2014/main" val="3547017892"/>
                  </a:ext>
                </a:extLst>
              </a:tr>
              <a:tr h="229998">
                <a:tc>
                  <a:txBody>
                    <a:bodyPr/>
                    <a:lstStyle/>
                    <a:p>
                      <a:pPr algn="l" fontAlgn="ctr"/>
                      <a:r>
                        <a:rPr lang="en-ID" sz="900" b="0" i="0" u="none" strike="noStrike">
                          <a:solidFill>
                            <a:srgbClr val="000000"/>
                          </a:solidFill>
                          <a:effectLst/>
                          <a:latin typeface="Calibri" panose="020F0502020204030204" pitchFamily="34" charset="0"/>
                        </a:rPr>
                        <a:t> USD/IDR Exchange Rate (</a:t>
                      </a:r>
                      <a:r>
                        <a:rPr lang="en-ID" sz="900" b="0" i="0" u="none" strike="noStrike" dirty="0">
                          <a:solidFill>
                            <a:srgbClr val="000000"/>
                          </a:solidFill>
                          <a:effectLst/>
                          <a:latin typeface="Calibri" panose="020F0502020204030204" pitchFamily="34" charset="0"/>
                        </a:rPr>
                        <a:t>average)**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14.141</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14.529</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14.297</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14.874</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15.248</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15.841</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16.468</a:t>
                      </a:r>
                    </a:p>
                  </a:txBody>
                  <a:tcPr marL="0" marR="0" marT="0" marB="0" anchor="ctr">
                    <a:lnL>
                      <a:noFill/>
                    </a:lnL>
                    <a:lnR w="6350" cap="flat" cmpd="sng" algn="ctr">
                      <a:noFill/>
                      <a:prstDash val="solid"/>
                      <a:round/>
                      <a:headEnd type="none" w="med" len="med"/>
                      <a:tailEnd type="none" w="med" len="med"/>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17.600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 xmlns:a16="http://schemas.microsoft.com/office/drawing/2014/main" val="1594310054"/>
                  </a:ext>
                </a:extLst>
              </a:tr>
              <a:tr h="229998">
                <a:tc>
                  <a:txBody>
                    <a:bodyPr/>
                    <a:lstStyle/>
                    <a:p>
                      <a:pPr algn="l" fontAlgn="ctr"/>
                      <a:r>
                        <a:rPr lang="en-ID" sz="900" b="0" i="0" u="none" strike="noStrike" dirty="0">
                          <a:solidFill>
                            <a:srgbClr val="000000"/>
                          </a:solidFill>
                          <a:effectLst/>
                          <a:latin typeface="Calibri" panose="020F0502020204030204" pitchFamily="34" charset="0"/>
                        </a:rPr>
                        <a:t> USD/IDR Exchange Rate (end of year)**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13.866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14.050</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14.262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15.568</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15.397</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16.102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16.690</a:t>
                      </a:r>
                    </a:p>
                  </a:txBody>
                  <a:tcPr marL="0" marR="0" marT="0" marB="0" anchor="ctr">
                    <a:lnL>
                      <a:noFill/>
                    </a:lnL>
                    <a:lnR w="6350" cap="flat" cmpd="sng" algn="ctr">
                      <a:noFill/>
                      <a:prstDash val="solid"/>
                      <a:round/>
                      <a:headEnd type="none" w="med" len="med"/>
                      <a:tailEnd type="none" w="med" len="med"/>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18.171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 xmlns:a16="http://schemas.microsoft.com/office/drawing/2014/main" val="1338991972"/>
                  </a:ext>
                </a:extLst>
              </a:tr>
              <a:tr h="229998">
                <a:tc>
                  <a:txBody>
                    <a:bodyPr/>
                    <a:lstStyle/>
                    <a:p>
                      <a:pPr algn="l" fontAlgn="ctr"/>
                      <a:r>
                        <a:rPr lang="en-ID" sz="900" b="0" i="0" u="none" strike="noStrike" dirty="0">
                          <a:solidFill>
                            <a:srgbClr val="000000"/>
                          </a:solidFill>
                          <a:effectLst/>
                          <a:latin typeface="Calibri" panose="020F0502020204030204" pitchFamily="34" charset="0"/>
                        </a:rPr>
                        <a:t> Trade Balance (US$ billion)</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-3,2</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21,7</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35,3</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54,5</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37,0</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31,0</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41,1</a:t>
                      </a:r>
                    </a:p>
                  </a:txBody>
                  <a:tcPr marL="0" marR="0" marT="0" marB="0" anchor="ctr">
                    <a:lnL>
                      <a:noFill/>
                    </a:lnL>
                    <a:lnR w="6350" cap="flat" cmpd="sng" algn="ctr">
                      <a:noFill/>
                      <a:prstDash val="solid"/>
                      <a:round/>
                      <a:headEnd type="none" w="med" len="med"/>
                      <a:tailEnd type="none" w="med" len="med"/>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19,2</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noFill/>
                      <a:prstDash val="solid"/>
                      <a:round/>
                      <a:headEnd type="none" w="med" len="med"/>
                      <a:tailEnd type="none" w="med" len="med"/>
                    </a:lnB>
                    <a:noFill/>
                  </a:tcPr>
                </a:tc>
                <a:extLst>
                  <a:ext uri="{0D108BD9-81ED-4DB2-BD59-A6C34878D82A}">
                    <a16:rowId xmlns="" xmlns:a16="http://schemas.microsoft.com/office/drawing/2014/main" val="10009"/>
                  </a:ext>
                </a:extLst>
              </a:tr>
              <a:tr h="229998">
                <a:tc>
                  <a:txBody>
                    <a:bodyPr/>
                    <a:lstStyle/>
                    <a:p>
                      <a:pPr algn="l" fontAlgn="ctr"/>
                      <a:r>
                        <a:rPr lang="en-US" sz="900" b="0" i="0" u="none" strike="noStrike" dirty="0">
                          <a:solidFill>
                            <a:srgbClr val="000000"/>
                          </a:solidFill>
                          <a:effectLst/>
                          <a:latin typeface="Calibri" panose="020F0502020204030204" pitchFamily="34" charset="0"/>
                        </a:rPr>
                        <a:t> Current account balance (% of GDP)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-2,70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-0,40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0,30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1,00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-0,10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-0,60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-0,10</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-1,30</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 xmlns:a16="http://schemas.microsoft.com/office/drawing/2014/main" val="1039409088"/>
                  </a:ext>
                </a:extLst>
              </a:tr>
              <a:tr h="153332">
                <a:tc>
                  <a:txBody>
                    <a:bodyPr/>
                    <a:lstStyle/>
                    <a:p>
                      <a:pPr algn="l" fontAlgn="b"/>
                      <a:r>
                        <a:rPr lang="en-ID" sz="700" b="0" i="1" u="none" strike="noStrike" dirty="0">
                          <a:solidFill>
                            <a:srgbClr val="000000"/>
                          </a:solidFill>
                          <a:effectLst/>
                          <a:latin typeface="Calibri" panose="020F0502020204030204" pitchFamily="34" charset="0"/>
                        </a:rPr>
                        <a:t>**Estimation of Rupiah’s fundamental exchange rate</a:t>
                      </a: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extLst>
                  <a:ext uri="{0D108BD9-81ED-4DB2-BD59-A6C34878D82A}">
                    <a16:rowId xmlns="" xmlns:a16="http://schemas.microsoft.com/office/drawing/2014/main" val="2569539944"/>
                  </a:ext>
                </a:extLst>
              </a:tr>
            </a:tbl>
          </a:graphicData>
        </a:graphic>
      </p:graphicFrame>
      <p:graphicFrame>
        <p:nvGraphicFramePr>
          <p:cNvPr id="13" name="Table 12">
            <a:extLst>
              <a:ext uri="{FF2B5EF4-FFF2-40B4-BE49-F238E27FC236}">
                <a16:creationId xmlns="" xmlns:a16="http://schemas.microsoft.com/office/drawing/2014/main" id="{631383FA-742C-FAA0-6E10-A0E2EB999ADC}"/>
              </a:ext>
            </a:extLst>
          </p:cNvPr>
          <p:cNvGraphicFramePr>
            <a:graphicFrameLocks noGrp="1"/>
          </p:cNvGraphicFramePr>
          <p:nvPr>
            <p:extLst/>
          </p:nvPr>
        </p:nvGraphicFramePr>
        <p:xfrm>
          <a:off x="327025" y="5048423"/>
          <a:ext cx="6327775" cy="3127178"/>
        </p:xfrm>
        <a:graphic>
          <a:graphicData uri="http://schemas.openxmlformats.org/drawingml/2006/table">
            <a:tbl>
              <a:tblPr/>
              <a:tblGrid>
                <a:gridCol w="1240350">
                  <a:extLst>
                    <a:ext uri="{9D8B030D-6E8A-4147-A177-3AD203B41FA5}">
                      <a16:colId xmlns="" xmlns:a16="http://schemas.microsoft.com/office/drawing/2014/main" val="20000"/>
                    </a:ext>
                  </a:extLst>
                </a:gridCol>
                <a:gridCol w="2275081">
                  <a:extLst>
                    <a:ext uri="{9D8B030D-6E8A-4147-A177-3AD203B41FA5}">
                      <a16:colId xmlns="" xmlns:a16="http://schemas.microsoft.com/office/drawing/2014/main" val="20001"/>
                    </a:ext>
                  </a:extLst>
                </a:gridCol>
                <a:gridCol w="937448">
                  <a:extLst>
                    <a:ext uri="{9D8B030D-6E8A-4147-A177-3AD203B41FA5}">
                      <a16:colId xmlns="" xmlns:a16="http://schemas.microsoft.com/office/drawing/2014/main" val="20002"/>
                    </a:ext>
                  </a:extLst>
                </a:gridCol>
                <a:gridCol w="937448">
                  <a:extLst>
                    <a:ext uri="{9D8B030D-6E8A-4147-A177-3AD203B41FA5}">
                      <a16:colId xmlns="" xmlns:a16="http://schemas.microsoft.com/office/drawing/2014/main" val="20003"/>
                    </a:ext>
                  </a:extLst>
                </a:gridCol>
                <a:gridCol w="937448">
                  <a:extLst>
                    <a:ext uri="{9D8B030D-6E8A-4147-A177-3AD203B41FA5}">
                      <a16:colId xmlns="" xmlns:a16="http://schemas.microsoft.com/office/drawing/2014/main" val="20004"/>
                    </a:ext>
                  </a:extLst>
                </a:gridCol>
              </a:tblGrid>
              <a:tr h="173994">
                <a:tc>
                  <a:txBody>
                    <a:bodyPr/>
                    <a:lstStyle/>
                    <a:p>
                      <a:pPr algn="ctr" fontAlgn="ctr"/>
                      <a:r>
                        <a:rPr lang="en-ID" sz="900" b="1" i="0" u="none" strike="noStrike" dirty="0">
                          <a:solidFill>
                            <a:srgbClr val="FFFFFF"/>
                          </a:solidFill>
                          <a:effectLst/>
                          <a:latin typeface="Calibri" panose="020F0502020204030204" pitchFamily="34" charset="0"/>
                        </a:rPr>
                        <a:t>Country</a:t>
                      </a: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Data</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Previous</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Forecast</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Release Date*</a:t>
                      </a: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extLst>
                  <a:ext uri="{0D108BD9-81ED-4DB2-BD59-A6C34878D82A}">
                    <a16:rowId xmlns="" xmlns:a16="http://schemas.microsoft.com/office/drawing/2014/main" val="10000"/>
                  </a:ext>
                </a:extLst>
              </a:tr>
              <a:tr h="170658">
                <a:tc rowSpan="5">
                  <a:txBody>
                    <a:bodyPr/>
                    <a:lstStyle/>
                    <a:p>
                      <a:pPr algn="ctr"/>
                      <a:r>
                        <a:rPr lang="en-US" sz="800" dirty="0">
                          <a:solidFill>
                            <a:schemeClr val="tx1"/>
                          </a:solidFill>
                        </a:rPr>
                        <a:t>US</a:t>
                      </a: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CB Consumer Confidence September 2026</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89,40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90,10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29-Sep-26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1745984785"/>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GDP Q2 2026 (QoQ)</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1,50%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1,50%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1278894911"/>
                  </a:ext>
                </a:extLst>
              </a:tr>
              <a:tr h="170658">
                <a:tc vMerge="1">
                  <a:txBody>
                    <a:bodyPr/>
                    <a:lstStyle/>
                    <a:p>
                      <a:endParaRPr lang="en-ID"/>
                    </a:p>
                  </a:txBody>
                  <a:tcPr>
                    <a:lnT w="12700" cmpd="sng">
                      <a:noFill/>
                      <a:prstDash val="soli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Initial Jobless Claims</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tcPr>
                </a:tc>
                <a:tc>
                  <a:txBody>
                    <a:bodyPr/>
                    <a:lstStyle/>
                    <a:p>
                      <a:pPr algn="ctr"/>
                      <a:r>
                        <a:rPr lang="en-US" sz="800" dirty="0"/>
                        <a:t>197,00K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199,00K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297878780"/>
                  </a:ext>
                </a:extLst>
              </a:tr>
              <a:tr h="170658">
                <a:tc vMerge="1">
                  <a:txBody>
                    <a:bodyPr/>
                    <a:lstStyle/>
                    <a:p>
                      <a:endParaRPr lang="en-ID"/>
                    </a:p>
                  </a:txBody>
                  <a:tcPr>
                    <a:lnT w="12700" cmpd="sng">
                      <a:noFill/>
                      <a:prstDash val="soli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S&amp;P Global Manufacturing PMI September 2026</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tcPr>
                </a:tc>
                <a:tc>
                  <a:txBody>
                    <a:bodyPr/>
                    <a:lstStyle/>
                    <a:p>
                      <a:pPr algn="ctr"/>
                      <a:r>
                        <a:rPr lang="en-US" sz="800" dirty="0"/>
                        <a:t>57,00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57,00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3775520957"/>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Nonfarm Payrolls September 2026</a:t>
                      </a:r>
                    </a:p>
                  </a:txBody>
                  <a:tcPr marL="0" marR="0" marT="0" marB="0" anchor="ctr">
                    <a:lnL w="3175"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162,00K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98,00K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2-Oct-26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425152781"/>
                  </a:ext>
                </a:extLst>
              </a:tr>
              <a:tr h="170658">
                <a:tc>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Unemployment Rate September 2026</a:t>
                      </a:r>
                    </a:p>
                  </a:txBody>
                  <a:tcPr marL="0" marR="0" marT="0" marB="0" anchor="ctr">
                    <a:lnL w="3175"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4,10%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4,10%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2-Oct-26</a:t>
                      </a:r>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3900081421"/>
                  </a:ext>
                </a:extLst>
              </a:tr>
              <a:tr h="170658">
                <a:tc rowSpan="3">
                  <a:txBody>
                    <a:bodyPr/>
                    <a:lstStyle/>
                    <a:p>
                      <a:pPr algn="ctr"/>
                      <a:r>
                        <a:rPr lang="en-US" sz="800" dirty="0">
                          <a:latin typeface="+mn-lt"/>
                        </a:rPr>
                        <a:t>EU</a:t>
                      </a: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HCOB Eurozone Manufacturing PMI September 2026</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52,70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52,70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 xmlns:a16="http://schemas.microsoft.com/office/drawing/2014/main" val="1747879190"/>
                  </a:ext>
                </a:extLst>
              </a:tr>
              <a:tr h="170658">
                <a:tc vMerge="1">
                  <a:txBody>
                    <a:bodyPr/>
                    <a:lstStyle/>
                    <a:p>
                      <a:endParaRPr dirty="0"/>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CPI September 2026 (YoY) </a:t>
                      </a:r>
                      <a:r>
                        <a:rPr lang="en-US" sz="800" b="1" baseline="0" dirty="0"/>
                        <a:t>P</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3,20%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3,70%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2-Oct-26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 xmlns:a16="http://schemas.microsoft.com/office/drawing/2014/main" val="2183262965"/>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CFTC EUR Speculative Net Positions</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-52,30K</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 xmlns:a16="http://schemas.microsoft.com/office/drawing/2014/main" val="753966804"/>
                  </a:ext>
                </a:extLst>
              </a:tr>
              <a:tr h="175306">
                <a:tc rowSpan="2">
                  <a:txBody>
                    <a:bodyPr/>
                    <a:lstStyle/>
                    <a:p>
                      <a:pPr algn="ctr" fontAlgn="ctr"/>
                      <a:r>
                        <a:rPr lang="en-ID" sz="800" b="0" i="0" u="none" strike="noStrike" dirty="0">
                          <a:solidFill>
                            <a:srgbClr val="000000"/>
                          </a:solidFill>
                          <a:effectLst/>
                          <a:latin typeface="Calibri" panose="020F0502020204030204" pitchFamily="34" charset="0"/>
                        </a:rPr>
                        <a:t>Japan</a:t>
                      </a: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Industrial Production August 2026 (MoM) </a:t>
                      </a:r>
                      <a:r>
                        <a:rPr lang="en-US" sz="800" b="1" dirty="0"/>
                        <a:t>P</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-0,20%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1,20%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 xmlns:a16="http://schemas.microsoft.com/office/drawing/2014/main" val="3193980066"/>
                  </a:ext>
                </a:extLst>
              </a:tr>
              <a:tr h="175306">
                <a:tc vMerge="1">
                  <a:txBody>
                    <a:bodyPr/>
                    <a:lstStyle/>
                    <a:p>
                      <a:pPr algn="ctr" fontAlgn="ctr"/>
                      <a:endParaRPr lang="en-ID" sz="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Tokyo Core CPI September 2026 (YoY)</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1,80%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2,40%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2-Oct-26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 xmlns:a16="http://schemas.microsoft.com/office/drawing/2014/main" val="1438621321"/>
                  </a:ext>
                </a:extLst>
              </a:tr>
              <a:tr h="170658">
                <a:tc rowSpan="3">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solidFill>
                            <a:schemeClr val="tx1"/>
                          </a:solidFill>
                        </a:rPr>
                        <a:t>China</a:t>
                      </a:r>
                      <a:endParaRPr lang="en-US" sz="80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Manufacturing PMI September 2026</a:t>
                      </a:r>
                    </a:p>
                  </a:txBody>
                  <a:tcPr marL="0" marR="0" marT="0" marB="0"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49,80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50,10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extLst>
                  <a:ext uri="{0D108BD9-81ED-4DB2-BD59-A6C34878D82A}">
                    <a16:rowId xmlns="" xmlns:a16="http://schemas.microsoft.com/office/drawing/2014/main" val="10013"/>
                  </a:ext>
                </a:extLst>
              </a:tr>
              <a:tr h="170658">
                <a:tc vMerge="1">
                  <a:txBody>
                    <a:bodyPr/>
                    <a:lstStyle/>
                    <a:p>
                      <a:endParaRPr lang="en-ID"/>
                    </a:p>
                  </a:txBody>
                  <a:tcPr>
                    <a:lnT w="12700" cmpd="sng">
                      <a:noFill/>
                      <a:prstDash val="soli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Non-Manufacturing PMI September 2026</a:t>
                      </a:r>
                    </a:p>
                  </a:txBody>
                  <a:tcPr marL="0" marR="0" marT="0" marB="0" anchor="ctr">
                    <a:lnL w="12700" cmpd="sng">
                      <a:noFill/>
                      <a:prstDash val="solid"/>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49,00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49,30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extLst>
                  <a:ext uri="{0D108BD9-81ED-4DB2-BD59-A6C34878D82A}">
                    <a16:rowId xmlns="" xmlns:a16="http://schemas.microsoft.com/office/drawing/2014/main" val="3133507307"/>
                  </a:ext>
                </a:extLst>
              </a:tr>
              <a:tr h="170658">
                <a:tc vMerge="1">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endParaRPr lang="en-US" sz="80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Chinese Composite PMI September 2026</a:t>
                      </a:r>
                    </a:p>
                  </a:txBody>
                  <a:tcPr marL="0" marR="0" marT="0" marB="0"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49,50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extLst>
                  <a:ext uri="{0D108BD9-81ED-4DB2-BD59-A6C34878D82A}">
                    <a16:rowId xmlns="" xmlns:a16="http://schemas.microsoft.com/office/drawing/2014/main" val="2850440914"/>
                  </a:ext>
                </a:extLst>
              </a:tr>
              <a:tr h="170658">
                <a:tc rowSpan="3">
                  <a:txBody>
                    <a:bodyPr/>
                    <a:lstStyle/>
                    <a:p>
                      <a:pPr algn="ctr" fontAlgn="ctr"/>
                      <a:r>
                        <a:rPr lang="en-ID" sz="800" b="0" i="0" u="none" strike="noStrike" dirty="0">
                          <a:solidFill>
                            <a:srgbClr val="000000"/>
                          </a:solidFill>
                          <a:effectLst/>
                          <a:latin typeface="Calibri" panose="020F0502020204030204" pitchFamily="34" charset="0"/>
                        </a:rPr>
                        <a:t>Indonesia</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S&amp;P Global Manufacturing PMI September 2026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49,80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 xmlns:a16="http://schemas.microsoft.com/office/drawing/2014/main" val="10020"/>
                  </a:ext>
                </a:extLst>
              </a:tr>
              <a:tr h="170658">
                <a:tc vMerge="1">
                  <a:txBody>
                    <a:bodyPr/>
                    <a:lstStyle/>
                    <a:p>
                      <a:endParaRPr lang="en-ID"/>
                    </a:p>
                  </a:txBody>
                  <a:tcPr>
                    <a:lnT w="12700" cap="flat" cmpd="sng" algn="ctr">
                      <a:solidFill>
                        <a:schemeClr val="tx1"/>
                      </a:solidFill>
                      <a:prstDash val="solid"/>
                      <a:round/>
                      <a:headEnd type="none" w="med" len="med"/>
                      <a:tailEnd type="none" w="med" len="me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Inflation September 2026 (YoY)</a:t>
                      </a:r>
                    </a:p>
                  </a:txBody>
                  <a:tcPr marL="0" marR="0" marT="0" marB="0" anchor="ctr">
                    <a:lnL w="12700" cmpd="sng">
                      <a:noFill/>
                      <a:prstDash val="soli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3,19%</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 xmlns:a16="http://schemas.microsoft.com/office/drawing/2014/main" val="1216946848"/>
                  </a:ext>
                </a:extLst>
              </a:tr>
              <a:tr h="170658">
                <a:tc vMerge="1">
                  <a:txBody>
                    <a:bodyPr/>
                    <a:lstStyle/>
                    <a:p>
                      <a:pPr algn="ctr" fontAlgn="ctr"/>
                      <a:endParaRPr lang="en-ID" sz="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Trade Balance August 2026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a:t>USD 0,13 Bn</a:t>
                      </a:r>
                      <a:endParaRPr lang="en-US" sz="80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 xmlns:a16="http://schemas.microsoft.com/office/drawing/2014/main" val="2752028498"/>
                  </a:ext>
                </a:extLst>
              </a:tr>
            </a:tbl>
          </a:graphicData>
        </a:graphic>
      </p:graphicFrame>
      <p:pic>
        <p:nvPicPr>
          <p:cNvPr id="2097157" name="Picture 15">
            <a:extLst>
              <a:ext uri="{FF2B5EF4-FFF2-40B4-BE49-F238E27FC236}">
                <a16:creationId xmlns="" xmlns:a16="http://schemas.microsoft.com/office/drawing/2014/main" id="{F65C2A15-E8A1-6360-F2E9-1FA5F1267E02}"/>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048627" name="TextBox 17">
            <a:extLst>
              <a:ext uri="{FF2B5EF4-FFF2-40B4-BE49-F238E27FC236}">
                <a16:creationId xmlns="" xmlns:a16="http://schemas.microsoft.com/office/drawing/2014/main" id="{44515946-B3BD-45BA-05B9-37D8A538FBB8}"/>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a:t>
            </a:r>
            <a:r>
              <a:rPr lang="en-US" sz="1000" dirty="0">
                <a:solidFill>
                  <a:srgbClr val="175FAB"/>
                </a:solidFill>
              </a:rPr>
              <a:t> </a:t>
            </a:r>
            <a:r>
              <a:rPr lang="id-ID" sz="1000" dirty="0">
                <a:solidFill>
                  <a:srgbClr val="175FAB"/>
                </a:solidFill>
              </a:rPr>
              <a:t>Central</a:t>
            </a:r>
            <a:r>
              <a:rPr lang="en-US" sz="1000" dirty="0">
                <a:solidFill>
                  <a:srgbClr val="175FAB"/>
                </a:solidFill>
              </a:rPr>
              <a:t> </a:t>
            </a:r>
            <a:r>
              <a:rPr lang="id-ID" sz="1000" dirty="0">
                <a:solidFill>
                  <a:srgbClr val="175FAB"/>
                </a:solidFill>
              </a:rPr>
              <a:t>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sp>
        <p:nvSpPr>
          <p:cNvPr id="1048629" name="TextBox 22">
            <a:extLst>
              <a:ext uri="{FF2B5EF4-FFF2-40B4-BE49-F238E27FC236}">
                <a16:creationId xmlns="" xmlns:a16="http://schemas.microsoft.com/office/drawing/2014/main" id="{126D34C4-CEFC-6A61-6959-A343F8B08237}"/>
              </a:ext>
            </a:extLst>
          </p:cNvPr>
          <p:cNvSpPr txBox="1"/>
          <p:nvPr/>
        </p:nvSpPr>
        <p:spPr>
          <a:xfrm>
            <a:off x="5791200" y="8779499"/>
            <a:ext cx="645196" cy="271639"/>
          </a:xfrm>
          <a:prstGeom prst="rect">
            <a:avLst/>
          </a:prstGeom>
          <a:noFill/>
        </p:spPr>
        <p:txBody>
          <a:bodyPr wrap="square" lIns="116612" tIns="58306" rIns="116612" bIns="58306" rtlCol="0">
            <a:spAutoFit/>
          </a:bodyPr>
          <a:lstStyle/>
          <a:p>
            <a:pPr algn="r"/>
            <a:r>
              <a:rPr lang="en-US" sz="1000">
                <a:solidFill>
                  <a:schemeClr val="bg1"/>
                </a:solidFill>
              </a:rPr>
              <a:t>5</a:t>
            </a:r>
            <a:endParaRPr lang="id-ID" sz="1000">
              <a:solidFill>
                <a:schemeClr val="bg1"/>
              </a:solidFill>
            </a:endParaRPr>
          </a:p>
        </p:txBody>
      </p:sp>
      <p:sp>
        <p:nvSpPr>
          <p:cNvPr id="1048630" name="Rectangle 48">
            <a:extLst>
              <a:ext uri="{FF2B5EF4-FFF2-40B4-BE49-F238E27FC236}">
                <a16:creationId xmlns="" xmlns:a16="http://schemas.microsoft.com/office/drawing/2014/main" id="{C5406D2C-6EA2-372F-FCD0-D8F2DE40E32D}"/>
              </a:ext>
            </a:extLst>
          </p:cNvPr>
          <p:cNvSpPr>
            <a:spLocks noChangeArrowheads="1"/>
          </p:cNvSpPr>
          <p:nvPr/>
        </p:nvSpPr>
        <p:spPr bwMode="auto">
          <a:xfrm>
            <a:off x="0" y="49530"/>
            <a:ext cx="182881" cy="35814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endParaRPr lang="en-US"/>
          </a:p>
        </p:txBody>
      </p:sp>
      <p:sp>
        <p:nvSpPr>
          <p:cNvPr id="17" name="TextBox 16">
            <a:extLst>
              <a:ext uri="{FF2B5EF4-FFF2-40B4-BE49-F238E27FC236}">
                <a16:creationId xmlns="" xmlns:a16="http://schemas.microsoft.com/office/drawing/2014/main" id="{9DDA1BDE-0F82-65DE-0027-7A8FB700223C}"/>
              </a:ext>
            </a:extLst>
          </p:cNvPr>
          <p:cNvSpPr txBox="1"/>
          <p:nvPr/>
        </p:nvSpPr>
        <p:spPr>
          <a:xfrm>
            <a:off x="304800" y="1638397"/>
            <a:ext cx="153439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C5EA8"/>
                </a:solidFill>
                <a:effectLst/>
                <a:uLnTx/>
                <a:uFillTx/>
                <a:latin typeface="Calibri"/>
                <a:ea typeface="+mn-ea"/>
                <a:cs typeface="+mn-cs"/>
              </a:rPr>
              <a:t>Proyeksi Data Ekonomi</a:t>
            </a:r>
            <a:endParaRPr kumimoji="0" lang="en-US" sz="1100" b="1" i="0" u="none" strike="noStrike" kern="1200" cap="none" spc="0" normalizeH="0" baseline="0" noProof="0" dirty="0">
              <a:ln>
                <a:noFill/>
              </a:ln>
              <a:solidFill>
                <a:srgbClr val="0C5EA8"/>
              </a:solidFill>
              <a:effectLst/>
              <a:uLnTx/>
              <a:uFillTx/>
              <a:latin typeface="Calibri"/>
              <a:ea typeface="+mn-ea"/>
              <a:cs typeface="+mn-cs"/>
            </a:endParaRPr>
          </a:p>
        </p:txBody>
      </p:sp>
      <p:sp>
        <p:nvSpPr>
          <p:cNvPr id="20" name="Rectangle 19">
            <a:extLst>
              <a:ext uri="{FF2B5EF4-FFF2-40B4-BE49-F238E27FC236}">
                <a16:creationId xmlns="" xmlns:a16="http://schemas.microsoft.com/office/drawing/2014/main" id="{61ED816A-40D6-D4B1-7F93-DE7BFEA3488C}"/>
              </a:ext>
            </a:extLst>
          </p:cNvPr>
          <p:cNvSpPr/>
          <p:nvPr/>
        </p:nvSpPr>
        <p:spPr>
          <a:xfrm>
            <a:off x="536068" y="1395494"/>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31">
            <a:extLst>
              <a:ext uri="{FF2B5EF4-FFF2-40B4-BE49-F238E27FC236}">
                <a16:creationId xmlns="" xmlns:a16="http://schemas.microsoft.com/office/drawing/2014/main" id="{5F935AB8-4CE1-D254-7223-E63C9C83C7CC}"/>
              </a:ext>
            </a:extLst>
          </p:cNvPr>
          <p:cNvSpPr txBox="1"/>
          <p:nvPr/>
        </p:nvSpPr>
        <p:spPr>
          <a:xfrm>
            <a:off x="304800" y="8178752"/>
            <a:ext cx="4792633" cy="200055"/>
          </a:xfrm>
          <a:prstGeom prst="rect">
            <a:avLst/>
          </a:prstGeom>
          <a:noFill/>
        </p:spPr>
        <p:txBody>
          <a:bodyPr wrap="square" rtlCol="0">
            <a:spAutoFit/>
          </a:bodyPr>
          <a:lstStyle/>
          <a:p>
            <a:r>
              <a:rPr lang="en-US" sz="700" i="1" dirty="0"/>
              <a:t>*adjusted to Indonesian time</a:t>
            </a:r>
          </a:p>
        </p:txBody>
      </p:sp>
      <p:sp>
        <p:nvSpPr>
          <p:cNvPr id="21" name="Rectangle 20">
            <a:extLst>
              <a:ext uri="{FF2B5EF4-FFF2-40B4-BE49-F238E27FC236}">
                <a16:creationId xmlns="" xmlns:a16="http://schemas.microsoft.com/office/drawing/2014/main" id="{B8873FCB-3B47-3353-6E5E-8644C4894C78}"/>
              </a:ext>
            </a:extLst>
          </p:cNvPr>
          <p:cNvSpPr/>
          <p:nvPr/>
        </p:nvSpPr>
        <p:spPr>
          <a:xfrm>
            <a:off x="532173" y="1397347"/>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 xmlns:a16="http://schemas.microsoft.com/office/drawing/2014/main" id="{F908AC75-40AA-5789-1A9F-4E0663226C3A}"/>
              </a:ext>
            </a:extLst>
          </p:cNvPr>
          <p:cNvSpPr txBox="1"/>
          <p:nvPr/>
        </p:nvSpPr>
        <p:spPr>
          <a:xfrm>
            <a:off x="424492" y="1352226"/>
            <a:ext cx="1308514" cy="246221"/>
          </a:xfrm>
          <a:prstGeom prst="rect">
            <a:avLst/>
          </a:prstGeom>
          <a:noFill/>
        </p:spPr>
        <p:txBody>
          <a:bodyPr wrap="square" rtlCol="0">
            <a:spAutoFit/>
          </a:bodyPr>
          <a:lstStyle/>
          <a:p>
            <a:pPr algn="ctr"/>
            <a:r>
              <a:rPr lang="en-US" sz="1000" b="1" dirty="0">
                <a:solidFill>
                  <a:schemeClr val="bg1"/>
                </a:solidFill>
              </a:rPr>
              <a:t>28 September 2026</a:t>
            </a:r>
          </a:p>
        </p:txBody>
      </p:sp>
      <p:sp>
        <p:nvSpPr>
          <p:cNvPr id="2" name="TextBox 1">
            <a:extLst>
              <a:ext uri="{FF2B5EF4-FFF2-40B4-BE49-F238E27FC236}">
                <a16:creationId xmlns="" xmlns:a16="http://schemas.microsoft.com/office/drawing/2014/main" id="{6BF49385-9C4C-9BE5-92C1-FD7DB3660EF9}"/>
              </a:ext>
            </a:extLst>
          </p:cNvPr>
          <p:cNvSpPr txBox="1"/>
          <p:nvPr/>
        </p:nvSpPr>
        <p:spPr>
          <a:xfrm>
            <a:off x="306430" y="4808801"/>
            <a:ext cx="1688256" cy="261610"/>
          </a:xfrm>
          <a:prstGeom prst="rect">
            <a:avLst/>
          </a:prstGeom>
          <a:noFill/>
        </p:spPr>
        <p:txBody>
          <a:bodyPr wrap="square" rtlCol="0">
            <a:spAutoFit/>
          </a:bodyPr>
          <a:lstStyle/>
          <a:p>
            <a:pPr lvl="0">
              <a:defRPr/>
            </a:pPr>
            <a:r>
              <a:rPr lang="en-US" sz="1100" b="1">
                <a:solidFill>
                  <a:srgbClr val="0C5EA8"/>
                </a:solidFill>
              </a:rPr>
              <a:t>Data Rilis Minggu Ini</a:t>
            </a:r>
            <a:endParaRPr lang="en-US" sz="1100" b="1" dirty="0">
              <a:solidFill>
                <a:srgbClr val="0C5EA8"/>
              </a:solidFill>
            </a:endParaRPr>
          </a:p>
        </p:txBody>
      </p:sp>
      <p:pic>
        <p:nvPicPr>
          <p:cNvPr id="14" name="Picture 23" descr="C:\Users\u062353\Downloads\usa-today.png">
            <a:extLst>
              <a:ext uri="{FF2B5EF4-FFF2-40B4-BE49-F238E27FC236}">
                <a16:creationId xmlns="" xmlns:a16="http://schemas.microsoft.com/office/drawing/2014/main" id="{554FB8FF-B950-0DC1-5110-367175277929}"/>
              </a:ext>
            </a:extLst>
          </p:cNvPr>
          <p:cNvPicPr>
            <a:picLocks noChangeAspect="1" noChangeArrowheads="1"/>
          </p:cNvPicPr>
          <p:nvPr/>
        </p:nvPicPr>
        <p:blipFill>
          <a:blip r:embed="rId4" cstate="print"/>
          <a:srcRect/>
          <a:stretch>
            <a:fillRect/>
          </a:stretch>
        </p:blipFill>
        <p:spPr bwMode="auto">
          <a:xfrm>
            <a:off x="424492" y="5522807"/>
            <a:ext cx="259471" cy="252000"/>
          </a:xfrm>
          <a:prstGeom prst="rect">
            <a:avLst/>
          </a:prstGeom>
          <a:noFill/>
        </p:spPr>
      </p:pic>
      <p:pic>
        <p:nvPicPr>
          <p:cNvPr id="15" name="Picture 26" descr="C:\Users\u062353\Downloads\europe.png">
            <a:extLst>
              <a:ext uri="{FF2B5EF4-FFF2-40B4-BE49-F238E27FC236}">
                <a16:creationId xmlns="" xmlns:a16="http://schemas.microsoft.com/office/drawing/2014/main" id="{C0E53487-0FE9-DD9A-856A-927CC354F353}"/>
              </a:ext>
            </a:extLst>
          </p:cNvPr>
          <p:cNvPicPr>
            <a:picLocks noChangeAspect="1" noChangeArrowheads="1"/>
          </p:cNvPicPr>
          <p:nvPr/>
        </p:nvPicPr>
        <p:blipFill>
          <a:blip r:embed="rId5" cstate="print"/>
          <a:srcRect/>
          <a:stretch>
            <a:fillRect/>
          </a:stretch>
        </p:blipFill>
        <p:spPr bwMode="auto">
          <a:xfrm>
            <a:off x="424492" y="6424125"/>
            <a:ext cx="258296" cy="245478"/>
          </a:xfrm>
          <a:prstGeom prst="rect">
            <a:avLst/>
          </a:prstGeom>
          <a:noFill/>
        </p:spPr>
      </p:pic>
      <p:pic>
        <p:nvPicPr>
          <p:cNvPr id="22" name="image4.png">
            <a:extLst>
              <a:ext uri="{FF2B5EF4-FFF2-40B4-BE49-F238E27FC236}">
                <a16:creationId xmlns="" xmlns:a16="http://schemas.microsoft.com/office/drawing/2014/main" id="{D00B4B8B-4F51-55F0-2270-D64E262469E9}"/>
              </a:ext>
            </a:extLst>
          </p:cNvPr>
          <p:cNvPicPr preferRelativeResize="0">
            <a:picLocks noChangeAspect="1"/>
          </p:cNvPicPr>
          <p:nvPr/>
        </p:nvPicPr>
        <p:blipFill>
          <a:blip r:embed="rId6" cstate="print"/>
          <a:stretch>
            <a:fillRect/>
          </a:stretch>
        </p:blipFill>
        <p:spPr>
          <a:xfrm>
            <a:off x="425532" y="7277585"/>
            <a:ext cx="252000" cy="252000"/>
          </a:xfrm>
          <a:prstGeom prst="rect">
            <a:avLst/>
          </a:prstGeom>
          <a:noFill/>
        </p:spPr>
      </p:pic>
      <p:pic>
        <p:nvPicPr>
          <p:cNvPr id="24" name="Picture 29">
            <a:extLst>
              <a:ext uri="{FF2B5EF4-FFF2-40B4-BE49-F238E27FC236}">
                <a16:creationId xmlns="" xmlns:a16="http://schemas.microsoft.com/office/drawing/2014/main" id="{724CA62C-6225-F1CF-53F5-BE0644A9C7A9}"/>
              </a:ext>
            </a:extLst>
          </p:cNvPr>
          <p:cNvPicPr>
            <a:picLocks noChangeAspect="1"/>
          </p:cNvPicPr>
          <p:nvPr/>
        </p:nvPicPr>
        <p:blipFill>
          <a:blip r:embed="rId7"/>
          <a:stretch>
            <a:fillRect/>
          </a:stretch>
        </p:blipFill>
        <p:spPr>
          <a:xfrm>
            <a:off x="418357" y="7791774"/>
            <a:ext cx="259175" cy="259175"/>
          </a:xfrm>
          <a:prstGeom prst="rect">
            <a:avLst/>
          </a:prstGeom>
        </p:spPr>
      </p:pic>
      <p:pic>
        <p:nvPicPr>
          <p:cNvPr id="3" name="Picture 27" descr="C:\Users\u062353\Downloads\japan.png">
            <a:extLst>
              <a:ext uri="{FF2B5EF4-FFF2-40B4-BE49-F238E27FC236}">
                <a16:creationId xmlns="" xmlns:a16="http://schemas.microsoft.com/office/drawing/2014/main" id="{BD7F973C-41A4-C2A9-BDFC-6EBE0AC3DD59}"/>
              </a:ext>
            </a:extLst>
          </p:cNvPr>
          <p:cNvPicPr>
            <a:picLocks noChangeAspect="1" noChangeArrowheads="1"/>
          </p:cNvPicPr>
          <p:nvPr/>
        </p:nvPicPr>
        <p:blipFill>
          <a:blip r:embed="rId8" cstate="print"/>
          <a:srcRect/>
          <a:stretch>
            <a:fillRect/>
          </a:stretch>
        </p:blipFill>
        <p:spPr bwMode="auto">
          <a:xfrm>
            <a:off x="424492" y="6849803"/>
            <a:ext cx="254081" cy="252000"/>
          </a:xfrm>
          <a:prstGeom prst="rect">
            <a:avLst/>
          </a:prstGeom>
          <a:noFill/>
        </p:spPr>
      </p:pic>
    </p:spTree>
    <p:extLst>
      <p:ext uri="{BB962C8B-B14F-4D97-AF65-F5344CB8AC3E}">
        <p14:creationId xmlns:p14="http://schemas.microsoft.com/office/powerpoint/2010/main" val="281578093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6" name="TextBox 4"/>
          <p:cNvSpPr txBox="1"/>
          <p:nvPr/>
        </p:nvSpPr>
        <p:spPr>
          <a:xfrm>
            <a:off x="325876" y="68605"/>
            <a:ext cx="4802351" cy="1071868"/>
          </a:xfrm>
          <a:prstGeom prst="rect">
            <a:avLst/>
          </a:prstGeom>
          <a:noFill/>
        </p:spPr>
        <p:txBody>
          <a:bodyPr wrap="square" lIns="116612" tIns="58306" rIns="116612" bIns="58306" rtlCol="0">
            <a:spAutoFit/>
          </a:bodyPr>
          <a:lstStyle/>
          <a:p>
            <a:pPr defTabSz="1166125"/>
            <a:r>
              <a:rPr lang="id-ID" sz="3100" b="1">
                <a:solidFill>
                  <a:prstClr val="white"/>
                </a:solidFill>
              </a:rPr>
              <a:t>Weekly</a:t>
            </a:r>
          </a:p>
          <a:p>
            <a:pPr defTabSz="1166125"/>
            <a:r>
              <a:rPr lang="id-ID" sz="3100" b="1">
                <a:solidFill>
                  <a:prstClr val="white"/>
                </a:solidFill>
              </a:rPr>
              <a:t>Market Overview</a:t>
            </a:r>
          </a:p>
        </p:txBody>
      </p:sp>
      <p:sp>
        <p:nvSpPr>
          <p:cNvPr id="1048637" name="TextBox 6"/>
          <p:cNvSpPr txBox="1"/>
          <p:nvPr/>
        </p:nvSpPr>
        <p:spPr>
          <a:xfrm>
            <a:off x="325874" y="996200"/>
            <a:ext cx="3103126" cy="353303"/>
          </a:xfrm>
          <a:prstGeom prst="rect">
            <a:avLst/>
          </a:prstGeom>
          <a:noFill/>
        </p:spPr>
        <p:txBody>
          <a:bodyPr wrap="square" lIns="116612" tIns="58306" rIns="116612" bIns="58306" rtlCol="0">
            <a:spAutoFit/>
          </a:bodyPr>
          <a:lstStyle/>
          <a:p>
            <a:pPr defTabSz="1166125"/>
            <a:r>
              <a:rPr lang="id-ID" sz="1500" b="1" dirty="0">
                <a:solidFill>
                  <a:prstClr val="white"/>
                </a:solidFill>
              </a:rPr>
              <a:t>Wealth Management Division</a:t>
            </a:r>
          </a:p>
        </p:txBody>
      </p:sp>
      <p:pic>
        <p:nvPicPr>
          <p:cNvPr id="2097163" name="Picture 15"/>
          <p:cNvPicPr>
            <a:picLocks noChangeAspect="1"/>
          </p:cNvPicPr>
          <p:nvPr/>
        </p:nvPicPr>
        <p:blipFill>
          <a:blip r:embed="rId3"/>
          <a:stretch>
            <a:fillRect/>
          </a:stretch>
        </p:blipFill>
        <p:spPr>
          <a:xfrm>
            <a:off x="424493" y="8786563"/>
            <a:ext cx="6009012" cy="267729"/>
          </a:xfrm>
          <a:prstGeom prst="rect">
            <a:avLst/>
          </a:prstGeom>
        </p:spPr>
      </p:pic>
      <p:sp>
        <p:nvSpPr>
          <p:cNvPr id="1048638" name="TextBox 17"/>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a:solidFill>
                  <a:srgbClr val="175FAB"/>
                </a:solidFill>
              </a:rPr>
              <a:t>PT</a:t>
            </a:r>
            <a:r>
              <a:rPr lang="en-US" sz="1000">
                <a:solidFill>
                  <a:srgbClr val="175FAB"/>
                </a:solidFill>
              </a:rPr>
              <a:t> </a:t>
            </a:r>
            <a:r>
              <a:rPr lang="id-ID" sz="1000">
                <a:solidFill>
                  <a:srgbClr val="175FAB"/>
                </a:solidFill>
              </a:rPr>
              <a:t>Bank </a:t>
            </a:r>
            <a:r>
              <a:rPr lang="id-ID" sz="1000" err="1">
                <a:solidFill>
                  <a:srgbClr val="175FAB"/>
                </a:solidFill>
              </a:rPr>
              <a:t>Central</a:t>
            </a:r>
            <a:r>
              <a:rPr lang="id-ID" sz="1000">
                <a:solidFill>
                  <a:srgbClr val="175FAB"/>
                </a:solidFill>
              </a:rPr>
              <a:t> Asia</a:t>
            </a:r>
            <a:r>
              <a:rPr lang="en-US" sz="1000">
                <a:solidFill>
                  <a:srgbClr val="175FAB"/>
                </a:solidFill>
              </a:rPr>
              <a:t> </a:t>
            </a:r>
            <a:r>
              <a:rPr lang="en-US" sz="1000" err="1">
                <a:solidFill>
                  <a:srgbClr val="175FAB"/>
                </a:solidFill>
              </a:rPr>
              <a:t>Tbk</a:t>
            </a:r>
            <a:r>
              <a:rPr lang="en-US" sz="1000">
                <a:solidFill>
                  <a:srgbClr val="175FAB"/>
                </a:solidFill>
              </a:rPr>
              <a:t>.</a:t>
            </a:r>
            <a:endParaRPr lang="id-ID" sz="1000">
              <a:solidFill>
                <a:srgbClr val="175FAB"/>
              </a:solidFill>
            </a:endParaRPr>
          </a:p>
        </p:txBody>
      </p:sp>
      <p:sp>
        <p:nvSpPr>
          <p:cNvPr id="1048639" name="TextBox 22"/>
          <p:cNvSpPr txBox="1"/>
          <p:nvPr/>
        </p:nvSpPr>
        <p:spPr>
          <a:xfrm>
            <a:off x="5791200" y="8779499"/>
            <a:ext cx="645196" cy="271639"/>
          </a:xfrm>
          <a:prstGeom prst="rect">
            <a:avLst/>
          </a:prstGeom>
          <a:noFill/>
        </p:spPr>
        <p:txBody>
          <a:bodyPr wrap="square" lIns="116612" tIns="58306" rIns="116612" bIns="58306" rtlCol="0">
            <a:spAutoFit/>
          </a:bodyPr>
          <a:lstStyle/>
          <a:p>
            <a:pPr algn="r"/>
            <a:fld id="{477D8BF5-2754-4CFE-9C4A-CCAF84A93D96}" type="slidenum">
              <a:rPr lang="id-ID" sz="1000">
                <a:solidFill>
                  <a:prstClr val="white"/>
                </a:solidFill>
              </a:rPr>
              <a:pPr algn="r"/>
              <a:t>6</a:t>
            </a:fld>
            <a:endParaRPr lang="id-ID" sz="1000">
              <a:solidFill>
                <a:prstClr val="white"/>
              </a:solidFill>
            </a:endParaRPr>
          </a:p>
        </p:txBody>
      </p:sp>
      <p:sp>
        <p:nvSpPr>
          <p:cNvPr id="1048640" name="Rectangle 48"/>
          <p:cNvSpPr>
            <a:spLocks noChangeArrowheads="1"/>
          </p:cNvSpPr>
          <p:nvPr/>
        </p:nvSpPr>
        <p:spPr bwMode="auto">
          <a:xfrm>
            <a:off x="0" y="49530"/>
            <a:ext cx="182881" cy="35814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endParaRPr lang="en-US">
              <a:solidFill>
                <a:prstClr val="black"/>
              </a:solidFill>
            </a:endParaRPr>
          </a:p>
        </p:txBody>
      </p:sp>
      <p:sp>
        <p:nvSpPr>
          <p:cNvPr id="1048641" name="Rectangle 20"/>
          <p:cNvSpPr/>
          <p:nvPr/>
        </p:nvSpPr>
        <p:spPr>
          <a:xfrm>
            <a:off x="533400" y="6609457"/>
            <a:ext cx="5791200" cy="2263140"/>
          </a:xfrm>
          <a:prstGeom prst="rect">
            <a:avLst/>
          </a:prstGeom>
        </p:spPr>
        <p:txBody>
          <a:bodyPr wrap="square">
            <a:spAutoFit/>
          </a:bodyPr>
          <a:lstStyle/>
          <a:p>
            <a:pPr algn="just">
              <a:tabLst>
                <a:tab pos="2971800" algn="ctr"/>
                <a:tab pos="5943600" algn="r"/>
              </a:tabLst>
            </a:pPr>
            <a:r>
              <a:rPr lang="en-US" sz="800" b="1" dirty="0">
                <a:solidFill>
                  <a:prstClr val="black">
                    <a:lumMod val="65000"/>
                    <a:lumOff val="35000"/>
                  </a:prstClr>
                </a:solidFill>
                <a:ea typeface="Calibri" panose="020F0502020204030204" pitchFamily="34" charset="0"/>
                <a:cs typeface="Arial" panose="020B0604020202020204" pitchFamily="34" charset="0"/>
              </a:rPr>
              <a:t>EDITOR: </a:t>
            </a:r>
            <a:r>
              <a:rPr lang="en-US" sz="800" dirty="0">
                <a:solidFill>
                  <a:prstClr val="black">
                    <a:lumMod val="65000"/>
                    <a:lumOff val="35000"/>
                  </a:prstClr>
                </a:solidFill>
                <a:ea typeface="Calibri" panose="020F0502020204030204" pitchFamily="34" charset="0"/>
                <a:cs typeface="Arial" panose="020B0604020202020204" pitchFamily="34" charset="0"/>
              </a:rPr>
              <a:t>Wealth Management Division </a:t>
            </a:r>
            <a:r>
              <a:rPr lang="en-US" sz="800" b="1" dirty="0">
                <a:solidFill>
                  <a:prstClr val="black">
                    <a:lumMod val="65000"/>
                    <a:lumOff val="35000"/>
                  </a:prstClr>
                </a:solidFill>
                <a:ea typeface="Calibri" panose="020F0502020204030204" pitchFamily="34" charset="0"/>
                <a:cs typeface="Arial" panose="020B0604020202020204" pitchFamily="34" charset="0"/>
              </a:rPr>
              <a:t>DISCLAIMER</a:t>
            </a:r>
            <a:r>
              <a:rPr lang="en-US" sz="800" dirty="0">
                <a:solidFill>
                  <a:prstClr val="black">
                    <a:lumMod val="65000"/>
                    <a:lumOff val="35000"/>
                  </a:prstClr>
                </a:solidFill>
                <a:ea typeface="Calibri" panose="020F0502020204030204" pitchFamily="34" charset="0"/>
                <a:cs typeface="Arial" panose="020B0604020202020204" pitchFamily="34" charset="0"/>
              </a:rPr>
              <a:t>: This report is for information only, and is not intended as an offer or solicitation with respect to the purchase or sale of any commodities, securities, or currencies. We deem that the information contained in this report has been taken from sources which we deem reliable. However, we do not guarantee their accuracy, and any such information may be incomplete or condensed. None of PT. Bank Central Asia </a:t>
            </a:r>
            <a:r>
              <a:rPr lang="en-US" sz="800" dirty="0" err="1">
                <a:solidFill>
                  <a:prstClr val="black">
                    <a:lumMod val="65000"/>
                    <a:lumOff val="35000"/>
                  </a:prstClr>
                </a:solidFill>
                <a:ea typeface="Calibri" panose="020F0502020204030204" pitchFamily="34" charset="0"/>
                <a:cs typeface="Arial" panose="020B0604020202020204" pitchFamily="34" charset="0"/>
              </a:rPr>
              <a:t>Tbk</a:t>
            </a:r>
            <a:r>
              <a:rPr lang="en-US" sz="800" dirty="0">
                <a:solidFill>
                  <a:prstClr val="black">
                    <a:lumMod val="65000"/>
                    <a:lumOff val="35000"/>
                  </a:prstClr>
                </a:solidFill>
                <a:ea typeface="Calibri" panose="020F0502020204030204" pitchFamily="34" charset="0"/>
                <a:cs typeface="Arial" panose="020B0604020202020204" pitchFamily="34" charset="0"/>
              </a:rPr>
              <a:t> (“BCA”), and/or its affiliated companies, and/or their respective employees and/or agents makes any representation or warranty (express or implied) or accepts any responsibility or liability as to, or in relation to, the accuracy or completeness of the information and opinions contained in this report or as to any information contained in this report or any other such information or opinions remaining unchanged after the issue thereof. BCA, or any of its related companies or any individuals connected with BCA or BCA group accepts no liability for any direct, special, indirect, consequential, incidental damages or any other loss or damages of any kind arising from any use of the information herein (including any error, omission or misstatement herein, negligent or otherwise) or further communication thereof, even if the BCA or any other person has been advised of the possibility thereof. Opinion expressed is the analysts’ current personal views as of the date appearing on this material only, and subject to change without notice. It is intended for the use by recipient only and may not be reproduced or copied/photocopied or duplicated or made available in any form, by any means, or redistributed to others without written permission of PT Bank Central Asia </a:t>
            </a:r>
            <a:r>
              <a:rPr lang="en-US" sz="800" dirty="0" err="1">
                <a:solidFill>
                  <a:prstClr val="black">
                    <a:lumMod val="65000"/>
                    <a:lumOff val="35000"/>
                  </a:prstClr>
                </a:solidFill>
                <a:ea typeface="Calibri" panose="020F0502020204030204" pitchFamily="34" charset="0"/>
                <a:cs typeface="Arial" panose="020B0604020202020204" pitchFamily="34" charset="0"/>
              </a:rPr>
              <a:t>Tbk</a:t>
            </a:r>
            <a:r>
              <a:rPr lang="en-US" sz="800" dirty="0">
                <a:solidFill>
                  <a:prstClr val="black">
                    <a:lumMod val="65000"/>
                    <a:lumOff val="35000"/>
                  </a:prstClr>
                </a:solidFill>
                <a:ea typeface="Calibri" panose="020F0502020204030204" pitchFamily="34" charset="0"/>
                <a:cs typeface="Arial" panose="020B0604020202020204" pitchFamily="34" charset="0"/>
              </a:rPr>
              <a:t>. </a:t>
            </a:r>
          </a:p>
          <a:p>
            <a:pPr algn="just">
              <a:tabLst>
                <a:tab pos="2971800" algn="ctr"/>
                <a:tab pos="5943600" algn="r"/>
              </a:tabLst>
            </a:pPr>
            <a:endParaRPr lang="en-US" sz="800" dirty="0">
              <a:solidFill>
                <a:prstClr val="black">
                  <a:lumMod val="65000"/>
                  <a:lumOff val="35000"/>
                </a:prstClr>
              </a:solidFill>
              <a:ea typeface="Calibri" panose="020F0502020204030204" pitchFamily="34" charset="0"/>
              <a:cs typeface="Arial" panose="020B0604020202020204" pitchFamily="34" charset="0"/>
            </a:endParaRPr>
          </a:p>
          <a:p>
            <a:pPr algn="just">
              <a:tabLst>
                <a:tab pos="2971800" algn="ctr"/>
                <a:tab pos="5943600" algn="r"/>
              </a:tabLst>
            </a:pPr>
            <a:r>
              <a:rPr lang="en-US" sz="800" dirty="0">
                <a:solidFill>
                  <a:prstClr val="black">
                    <a:lumMod val="65000"/>
                    <a:lumOff val="35000"/>
                  </a:prstClr>
                </a:solidFill>
                <a:ea typeface="Calibri" panose="020F0502020204030204" pitchFamily="34" charset="0"/>
                <a:cs typeface="Arial" panose="020B0604020202020204" pitchFamily="34" charset="0"/>
              </a:rPr>
              <a:t>All opinions and estimates included in this report are based on certain assumptions. Actual results may differ materially. In considering any investments you should make your own independent assessment and seek your own professional financial and legal advice. </a:t>
            </a:r>
            <a:endParaRPr lang="en-AU" sz="3200" dirty="0">
              <a:solidFill>
                <a:prstClr val="black">
                  <a:lumMod val="65000"/>
                  <a:lumOff val="35000"/>
                </a:prstClr>
              </a:solidFill>
              <a:ea typeface="Calibri" panose="020F0502020204030204" pitchFamily="34" charset="0"/>
              <a:cs typeface="Arial" panose="020B0604020202020204" pitchFamily="34" charset="0"/>
            </a:endParaRPr>
          </a:p>
        </p:txBody>
      </p:sp>
      <p:sp>
        <p:nvSpPr>
          <p:cNvPr id="1048642" name="TextBox 21"/>
          <p:cNvSpPr txBox="1"/>
          <p:nvPr/>
        </p:nvSpPr>
        <p:spPr>
          <a:xfrm>
            <a:off x="533400" y="6385560"/>
            <a:ext cx="5715000" cy="320040"/>
          </a:xfrm>
          <a:prstGeom prst="rect">
            <a:avLst/>
          </a:prstGeom>
          <a:noFill/>
        </p:spPr>
        <p:txBody>
          <a:bodyPr wrap="square" rtlCol="0">
            <a:spAutoFit/>
          </a:bodyPr>
          <a:lstStyle/>
          <a:p>
            <a:pPr algn="just">
              <a:spcAft>
                <a:spcPts val="800"/>
              </a:spcAft>
            </a:pPr>
            <a:r>
              <a:rPr lang="en-US" sz="800" b="1" dirty="0">
                <a:solidFill>
                  <a:prstClr val="black"/>
                </a:solidFill>
              </a:rPr>
              <a:t>SOURCE:</a:t>
            </a:r>
            <a:r>
              <a:rPr lang="en-US" sz="800" dirty="0">
                <a:solidFill>
                  <a:prstClr val="black"/>
                </a:solidFill>
              </a:rPr>
              <a:t> Economic Banking &amp; Industry Research of BCA Group, Bloomberg, Reuters, </a:t>
            </a:r>
            <a:r>
              <a:rPr lang="en-US" sz="800" dirty="0" err="1">
                <a:solidFill>
                  <a:prstClr val="black"/>
                </a:solidFill>
              </a:rPr>
              <a:t>Bisnis</a:t>
            </a:r>
            <a:r>
              <a:rPr lang="en-US" sz="800" dirty="0">
                <a:solidFill>
                  <a:prstClr val="black"/>
                </a:solidFill>
              </a:rPr>
              <a:t> Indonesia, </a:t>
            </a:r>
            <a:r>
              <a:rPr lang="en-US" sz="800" dirty="0" err="1">
                <a:solidFill>
                  <a:prstClr val="black"/>
                </a:solidFill>
              </a:rPr>
              <a:t>Kontan</a:t>
            </a:r>
            <a:r>
              <a:rPr lang="en-US" sz="800" dirty="0">
                <a:solidFill>
                  <a:prstClr val="black"/>
                </a:solidFill>
              </a:rPr>
              <a:t>, CME Group</a:t>
            </a:r>
          </a:p>
        </p:txBody>
      </p:sp>
      <p:sp>
        <p:nvSpPr>
          <p:cNvPr id="1048643" name="TextBox 11"/>
          <p:cNvSpPr txBox="1"/>
          <p:nvPr/>
        </p:nvSpPr>
        <p:spPr>
          <a:xfrm>
            <a:off x="608076" y="1676400"/>
            <a:ext cx="5716524" cy="4124206"/>
          </a:xfrm>
          <a:prstGeom prst="rect">
            <a:avLst/>
          </a:prstGeom>
          <a:noFill/>
        </p:spPr>
        <p:txBody>
          <a:bodyPr wrap="square" lIns="91440" tIns="45720" rIns="91440" bIns="45720" anchor="t">
            <a:spAutoFit/>
          </a:bodyPr>
          <a:lstStyle/>
          <a:p>
            <a:pPr algn="just">
              <a:spcAft>
                <a:spcPts val="600"/>
              </a:spcAft>
            </a:pPr>
            <a:r>
              <a:rPr lang="en-AU" sz="1400" b="1" i="1" dirty="0">
                <a:solidFill>
                  <a:srgbClr val="4472C4">
                    <a:lumMod val="75000"/>
                  </a:srgbClr>
                </a:solidFill>
              </a:rPr>
              <a:t>Glossary</a:t>
            </a:r>
            <a:endParaRPr lang="en-US" sz="1050" i="1"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i="1" dirty="0"/>
              <a:t>Bid to cover ratio</a:t>
            </a:r>
            <a:r>
              <a:rPr lang="en-US" sz="1050" dirty="0"/>
              <a:t>: </a:t>
            </a:r>
            <a:r>
              <a:rPr lang="en-US" sz="1050" dirty="0" err="1"/>
              <a:t>rasio</a:t>
            </a:r>
            <a:r>
              <a:rPr lang="en-US" sz="1050" dirty="0"/>
              <a:t> total </a:t>
            </a:r>
            <a:r>
              <a:rPr lang="en-US" sz="1050" dirty="0" err="1"/>
              <a:t>penawaran</a:t>
            </a:r>
            <a:r>
              <a:rPr lang="en-US" sz="1050" dirty="0"/>
              <a:t> </a:t>
            </a:r>
            <a:r>
              <a:rPr lang="en-US" sz="1050" dirty="0" err="1"/>
              <a:t>terhadap</a:t>
            </a:r>
            <a:r>
              <a:rPr lang="en-US" sz="1050" dirty="0"/>
              <a:t> </a:t>
            </a:r>
            <a:r>
              <a:rPr lang="en-US" sz="1050" dirty="0" err="1"/>
              <a:t>jumlah</a:t>
            </a:r>
            <a:r>
              <a:rPr lang="en-US" sz="1050" dirty="0"/>
              <a:t> yang </a:t>
            </a:r>
            <a:r>
              <a:rPr lang="en-US" sz="1050" dirty="0" err="1"/>
              <a:t>dimenangkan</a:t>
            </a:r>
            <a:r>
              <a:rPr lang="en-US" sz="1050" dirty="0"/>
              <a:t> </a:t>
            </a:r>
            <a:r>
              <a:rPr lang="en-US" sz="1050" dirty="0" err="1"/>
              <a:t>dalam</a:t>
            </a:r>
            <a:r>
              <a:rPr lang="en-US" sz="1050" dirty="0"/>
              <a:t> </a:t>
            </a:r>
            <a:r>
              <a:rPr lang="en-US" sz="1050" dirty="0" err="1"/>
              <a:t>lelang</a:t>
            </a:r>
            <a:r>
              <a:rPr lang="en-US" sz="1050" dirty="0" smtClean="0"/>
              <a:t>.</a:t>
            </a:r>
            <a:endParaRPr lang="en-US" sz="1050" i="1" dirty="0" smtClean="0"/>
          </a:p>
          <a:p>
            <a:pPr marL="342900" indent="-342900" algn="just">
              <a:spcBef>
                <a:spcPts val="600"/>
              </a:spcBef>
              <a:buFont typeface="Arial" panose="020B0604020202020204" pitchFamily="34" charset="0"/>
              <a:buChar char="•"/>
              <a:tabLst>
                <a:tab pos="457200" algn="l"/>
              </a:tabLst>
            </a:pPr>
            <a:r>
              <a:rPr lang="en-US" sz="1050" i="1" dirty="0"/>
              <a:t>Breakeven inflation</a:t>
            </a:r>
            <a:r>
              <a:rPr lang="en-US" sz="1050" dirty="0"/>
              <a:t>: </a:t>
            </a:r>
            <a:r>
              <a:rPr lang="en-US" sz="1050" dirty="0" err="1"/>
              <a:t>selisih</a:t>
            </a:r>
            <a:r>
              <a:rPr lang="en-US" sz="1050" dirty="0"/>
              <a:t> </a:t>
            </a:r>
            <a:r>
              <a:rPr lang="en-US" sz="1050" i="1" dirty="0"/>
              <a:t>yield</a:t>
            </a:r>
            <a:r>
              <a:rPr lang="en-US" sz="1050" dirty="0"/>
              <a:t> UST nominal </a:t>
            </a:r>
            <a:r>
              <a:rPr lang="en-US" sz="1050" dirty="0" err="1"/>
              <a:t>dan</a:t>
            </a:r>
            <a:r>
              <a:rPr lang="en-US" sz="1050" dirty="0"/>
              <a:t> UST yang </a:t>
            </a:r>
            <a:r>
              <a:rPr lang="en-US" sz="1050" dirty="0" err="1"/>
              <a:t>dilindungi</a:t>
            </a:r>
            <a:r>
              <a:rPr lang="en-US" sz="1050" dirty="0"/>
              <a:t> </a:t>
            </a:r>
            <a:r>
              <a:rPr lang="en-US" sz="1050" dirty="0" err="1"/>
              <a:t>inflasi</a:t>
            </a:r>
            <a:r>
              <a:rPr lang="en-US" sz="1050" dirty="0"/>
              <a:t> (TIPS).</a:t>
            </a:r>
          </a:p>
          <a:p>
            <a:pPr marL="342900" indent="-342900" algn="just">
              <a:spcBef>
                <a:spcPts val="600"/>
              </a:spcBef>
              <a:buFont typeface="Arial" panose="020B0604020202020204" pitchFamily="34" charset="0"/>
              <a:buChar char="•"/>
              <a:tabLst>
                <a:tab pos="457200" algn="l"/>
              </a:tabLst>
            </a:pPr>
            <a:r>
              <a:rPr lang="en-US" sz="1050" i="1" dirty="0" smtClean="0"/>
              <a:t>Dot </a:t>
            </a:r>
            <a:r>
              <a:rPr lang="en-US" sz="1050" i="1" dirty="0"/>
              <a:t>plot</a:t>
            </a:r>
            <a:r>
              <a:rPr lang="en-US" sz="1050" dirty="0"/>
              <a:t>: </a:t>
            </a:r>
            <a:r>
              <a:rPr lang="en-US" sz="1050" dirty="0" err="1"/>
              <a:t>proyeksi</a:t>
            </a:r>
            <a:r>
              <a:rPr lang="en-US" sz="1050" dirty="0"/>
              <a:t> </a:t>
            </a:r>
            <a:r>
              <a:rPr lang="en-US" sz="1050" dirty="0" err="1"/>
              <a:t>suku</a:t>
            </a:r>
            <a:r>
              <a:rPr lang="en-US" sz="1050" dirty="0"/>
              <a:t> </a:t>
            </a:r>
            <a:r>
              <a:rPr lang="en-US" sz="1050" dirty="0" err="1"/>
              <a:t>bunga</a:t>
            </a:r>
            <a:r>
              <a:rPr lang="en-US" sz="1050" dirty="0"/>
              <a:t> </a:t>
            </a:r>
            <a:r>
              <a:rPr lang="en-US" sz="1050" dirty="0" err="1"/>
              <a:t>acuan</a:t>
            </a:r>
            <a:r>
              <a:rPr lang="en-US" sz="1050" dirty="0"/>
              <a:t> </a:t>
            </a:r>
            <a:r>
              <a:rPr lang="en-US" sz="1050" dirty="0" err="1"/>
              <a:t>dari</a:t>
            </a:r>
            <a:r>
              <a:rPr lang="en-US" sz="1050" dirty="0"/>
              <a:t> </a:t>
            </a:r>
            <a:r>
              <a:rPr lang="en-US" sz="1050" dirty="0" err="1"/>
              <a:t>setiap</a:t>
            </a:r>
            <a:r>
              <a:rPr lang="en-US" sz="1050" dirty="0"/>
              <a:t> </a:t>
            </a:r>
            <a:r>
              <a:rPr lang="en-US" sz="1050" dirty="0" err="1"/>
              <a:t>anggota</a:t>
            </a:r>
            <a:r>
              <a:rPr lang="en-US" sz="1050" dirty="0"/>
              <a:t> FOMC yang </a:t>
            </a:r>
            <a:r>
              <a:rPr lang="en-US" sz="1050" dirty="0" err="1"/>
              <a:t>dirilis</a:t>
            </a:r>
            <a:r>
              <a:rPr lang="en-US" sz="1050" dirty="0"/>
              <a:t> </a:t>
            </a:r>
            <a:r>
              <a:rPr lang="en-US" sz="1050" dirty="0" err="1"/>
              <a:t>setiap</a:t>
            </a:r>
            <a:r>
              <a:rPr lang="en-US" sz="1050" dirty="0"/>
              <a:t> </a:t>
            </a:r>
            <a:r>
              <a:rPr lang="en-US" sz="1050" dirty="0" err="1"/>
              <a:t>kuartal</a:t>
            </a:r>
            <a:r>
              <a:rPr lang="en-US" sz="1050" dirty="0" smtClean="0"/>
              <a:t>.</a:t>
            </a:r>
            <a:endParaRPr lang="en-US" sz="1050" dirty="0"/>
          </a:p>
          <a:p>
            <a:pPr marL="342900" indent="-342900" algn="just">
              <a:spcBef>
                <a:spcPts val="600"/>
              </a:spcBef>
              <a:buFont typeface="Arial" panose="020B0604020202020204" pitchFamily="34" charset="0"/>
              <a:buChar char="•"/>
              <a:tabLst>
                <a:tab pos="457200" algn="l"/>
              </a:tabLst>
            </a:pPr>
            <a:r>
              <a:rPr lang="en-US" sz="1050" i="1" dirty="0" smtClean="0"/>
              <a:t>Earnings </a:t>
            </a:r>
            <a:r>
              <a:rPr lang="en-US" sz="1050" i="1" dirty="0"/>
              <a:t>yield</a:t>
            </a:r>
            <a:r>
              <a:rPr lang="en-US" sz="1050" dirty="0"/>
              <a:t>: </a:t>
            </a:r>
            <a:r>
              <a:rPr lang="en-US" sz="1050" dirty="0" err="1"/>
              <a:t>rasio</a:t>
            </a:r>
            <a:r>
              <a:rPr lang="en-US" sz="1050" dirty="0"/>
              <a:t> </a:t>
            </a:r>
            <a:r>
              <a:rPr lang="en-US" sz="1050" dirty="0" err="1"/>
              <a:t>laba</a:t>
            </a:r>
            <a:r>
              <a:rPr lang="en-US" sz="1050" dirty="0"/>
              <a:t> per </a:t>
            </a:r>
            <a:r>
              <a:rPr lang="en-US" sz="1050" dirty="0" err="1"/>
              <a:t>saham</a:t>
            </a:r>
            <a:r>
              <a:rPr lang="en-US" sz="1050" dirty="0"/>
              <a:t> </a:t>
            </a:r>
            <a:r>
              <a:rPr lang="en-US" sz="1050" dirty="0" err="1"/>
              <a:t>terhadap</a:t>
            </a:r>
            <a:r>
              <a:rPr lang="en-US" sz="1050" dirty="0"/>
              <a:t> </a:t>
            </a:r>
            <a:r>
              <a:rPr lang="en-US" sz="1050" dirty="0" err="1"/>
              <a:t>harga</a:t>
            </a:r>
            <a:r>
              <a:rPr lang="en-US" sz="1050" dirty="0"/>
              <a:t> </a:t>
            </a:r>
            <a:r>
              <a:rPr lang="en-US" sz="1050" dirty="0" err="1"/>
              <a:t>saham</a:t>
            </a:r>
            <a:r>
              <a:rPr lang="en-US" sz="1050" dirty="0"/>
              <a:t>; </a:t>
            </a:r>
            <a:r>
              <a:rPr lang="en-US" sz="1050" dirty="0" err="1"/>
              <a:t>kebalikan</a:t>
            </a:r>
            <a:r>
              <a:rPr lang="en-US" sz="1050" dirty="0"/>
              <a:t> </a:t>
            </a:r>
            <a:r>
              <a:rPr lang="en-US" sz="1050" dirty="0" err="1"/>
              <a:t>dari</a:t>
            </a:r>
            <a:r>
              <a:rPr lang="en-US" sz="1050" dirty="0"/>
              <a:t> P/E</a:t>
            </a:r>
            <a:r>
              <a:rPr lang="en-US" sz="1050" dirty="0" smtClean="0"/>
              <a:t>.</a:t>
            </a:r>
          </a:p>
          <a:p>
            <a:pPr marL="342900" indent="-342900" algn="just">
              <a:spcBef>
                <a:spcPts val="600"/>
              </a:spcBef>
              <a:buFont typeface="Arial" panose="020B0604020202020204" pitchFamily="34" charset="0"/>
              <a:buChar char="•"/>
              <a:tabLst>
                <a:tab pos="457200" algn="l"/>
              </a:tabLst>
            </a:pPr>
            <a:r>
              <a:rPr lang="en-US" sz="1050" i="1" dirty="0"/>
              <a:t>Equal weight</a:t>
            </a:r>
            <a:r>
              <a:rPr lang="en-US" sz="1050" dirty="0"/>
              <a:t>: </a:t>
            </a:r>
            <a:r>
              <a:rPr lang="en-US" sz="1050" dirty="0" err="1"/>
              <a:t>metode</a:t>
            </a:r>
            <a:r>
              <a:rPr lang="en-US" sz="1050" dirty="0"/>
              <a:t> </a:t>
            </a:r>
            <a:r>
              <a:rPr lang="en-US" sz="1050" dirty="0" err="1"/>
              <a:t>perhitungan</a:t>
            </a:r>
            <a:r>
              <a:rPr lang="en-US" sz="1050" dirty="0"/>
              <a:t> </a:t>
            </a:r>
            <a:r>
              <a:rPr lang="en-US" sz="1050" dirty="0" err="1"/>
              <a:t>indeks</a:t>
            </a:r>
            <a:r>
              <a:rPr lang="en-US" sz="1050" dirty="0"/>
              <a:t> yang </a:t>
            </a:r>
            <a:r>
              <a:rPr lang="en-US" sz="1050" dirty="0" err="1"/>
              <a:t>memberi</a:t>
            </a:r>
            <a:r>
              <a:rPr lang="en-US" sz="1050" dirty="0"/>
              <a:t> </a:t>
            </a:r>
            <a:r>
              <a:rPr lang="en-US" sz="1050" dirty="0" err="1"/>
              <a:t>bobot</a:t>
            </a:r>
            <a:r>
              <a:rPr lang="en-US" sz="1050" dirty="0"/>
              <a:t> </a:t>
            </a:r>
            <a:r>
              <a:rPr lang="en-US" sz="1050" dirty="0" err="1"/>
              <a:t>sama</a:t>
            </a:r>
            <a:r>
              <a:rPr lang="en-US" sz="1050" dirty="0"/>
              <a:t> </a:t>
            </a:r>
            <a:r>
              <a:rPr lang="en-US" sz="1050" dirty="0" err="1"/>
              <a:t>pada</a:t>
            </a:r>
            <a:r>
              <a:rPr lang="en-US" sz="1050" dirty="0"/>
              <a:t> </a:t>
            </a:r>
            <a:r>
              <a:rPr lang="en-US" sz="1050" dirty="0" err="1"/>
              <a:t>setiap</a:t>
            </a:r>
            <a:r>
              <a:rPr lang="en-US" sz="1050" dirty="0"/>
              <a:t> </a:t>
            </a:r>
            <a:r>
              <a:rPr lang="en-US" sz="1050" dirty="0" err="1"/>
              <a:t>saham</a:t>
            </a:r>
            <a:r>
              <a:rPr lang="en-US" sz="1050" dirty="0" smtClean="0"/>
              <a:t>.</a:t>
            </a:r>
            <a:endParaRPr lang="en-US" sz="1050" dirty="0"/>
          </a:p>
          <a:p>
            <a:pPr marL="342900" indent="-342900" algn="just">
              <a:spcBef>
                <a:spcPts val="600"/>
              </a:spcBef>
              <a:buFont typeface="Arial" panose="020B0604020202020204" pitchFamily="34" charset="0"/>
              <a:buChar char="•"/>
              <a:tabLst>
                <a:tab pos="457200" algn="l"/>
              </a:tabLst>
            </a:pPr>
            <a:r>
              <a:rPr lang="en-US" sz="1050" i="1" dirty="0" smtClean="0"/>
              <a:t>Hawkish</a:t>
            </a:r>
            <a:r>
              <a:rPr lang="en-US" sz="1050" dirty="0"/>
              <a:t>: </a:t>
            </a:r>
            <a:r>
              <a:rPr lang="en-US" sz="1050" dirty="0" err="1"/>
              <a:t>sikap</a:t>
            </a:r>
            <a:r>
              <a:rPr lang="en-US" sz="1050" dirty="0"/>
              <a:t> bank </a:t>
            </a:r>
            <a:r>
              <a:rPr lang="en-US" sz="1050" dirty="0" err="1"/>
              <a:t>sentral</a:t>
            </a:r>
            <a:r>
              <a:rPr lang="en-US" sz="1050" dirty="0"/>
              <a:t> yang </a:t>
            </a:r>
            <a:r>
              <a:rPr lang="en-US" sz="1050" dirty="0" err="1"/>
              <a:t>condong</a:t>
            </a:r>
            <a:r>
              <a:rPr lang="en-US" sz="1050" dirty="0"/>
              <a:t> </a:t>
            </a:r>
            <a:r>
              <a:rPr lang="en-US" sz="1050" dirty="0" err="1"/>
              <a:t>pada</a:t>
            </a:r>
            <a:r>
              <a:rPr lang="en-US" sz="1050" dirty="0"/>
              <a:t> </a:t>
            </a:r>
            <a:r>
              <a:rPr lang="en-US" sz="1050" dirty="0" err="1"/>
              <a:t>pengetatan</a:t>
            </a:r>
            <a:r>
              <a:rPr lang="en-US" sz="1050" dirty="0"/>
              <a:t> </a:t>
            </a:r>
            <a:r>
              <a:rPr lang="en-US" sz="1050" dirty="0" err="1"/>
              <a:t>kebijakan</a:t>
            </a:r>
            <a:r>
              <a:rPr lang="en-US" sz="1050" dirty="0"/>
              <a:t> </a:t>
            </a:r>
            <a:r>
              <a:rPr lang="en-US" sz="1050" dirty="0" err="1"/>
              <a:t>moneter</a:t>
            </a:r>
            <a:r>
              <a:rPr lang="en-US" sz="1050" dirty="0" smtClean="0"/>
              <a:t>.</a:t>
            </a:r>
            <a:endParaRPr lang="en-US" sz="1050" dirty="0"/>
          </a:p>
          <a:p>
            <a:pPr marL="342900" indent="-342900" algn="just">
              <a:spcBef>
                <a:spcPts val="600"/>
              </a:spcBef>
              <a:buFont typeface="Arial" panose="020B0604020202020204" pitchFamily="34" charset="0"/>
              <a:buChar char="•"/>
              <a:tabLst>
                <a:tab pos="457200" algn="l"/>
              </a:tabLst>
            </a:pPr>
            <a:r>
              <a:rPr lang="en-US" sz="1050" i="1" dirty="0"/>
              <a:t>Inflow</a:t>
            </a:r>
            <a:r>
              <a:rPr lang="en-US" sz="1050" dirty="0"/>
              <a:t>: </a:t>
            </a:r>
            <a:r>
              <a:rPr lang="en-US" sz="1050" dirty="0" err="1"/>
              <a:t>aliran</a:t>
            </a:r>
            <a:r>
              <a:rPr lang="en-US" sz="1050" dirty="0"/>
              <a:t> dana </a:t>
            </a:r>
            <a:r>
              <a:rPr lang="en-US" sz="1050" dirty="0" err="1"/>
              <a:t>masuk</a:t>
            </a:r>
            <a:r>
              <a:rPr lang="en-US" sz="1050" dirty="0" smtClean="0"/>
              <a:t>.</a:t>
            </a:r>
          </a:p>
          <a:p>
            <a:pPr marL="342900" indent="-342900" algn="just">
              <a:spcBef>
                <a:spcPts val="600"/>
              </a:spcBef>
              <a:buFont typeface="Arial" panose="020B0604020202020204" pitchFamily="34" charset="0"/>
              <a:buChar char="•"/>
              <a:tabLst>
                <a:tab pos="457200" algn="l"/>
              </a:tabLst>
            </a:pPr>
            <a:r>
              <a:rPr lang="en-US" sz="1050" dirty="0"/>
              <a:t>MOVE </a:t>
            </a:r>
            <a:r>
              <a:rPr lang="en-US" sz="1050" i="1" dirty="0"/>
              <a:t>Index</a:t>
            </a:r>
            <a:r>
              <a:rPr lang="en-US" sz="1050" dirty="0"/>
              <a:t>: </a:t>
            </a:r>
            <a:r>
              <a:rPr lang="en-US" sz="1050" dirty="0" err="1"/>
              <a:t>indeks</a:t>
            </a:r>
            <a:r>
              <a:rPr lang="en-US" sz="1050" dirty="0"/>
              <a:t> </a:t>
            </a:r>
            <a:r>
              <a:rPr lang="en-US" sz="1050" dirty="0" err="1"/>
              <a:t>volatilitas</a:t>
            </a:r>
            <a:r>
              <a:rPr lang="en-US" sz="1050" dirty="0"/>
              <a:t> </a:t>
            </a:r>
            <a:r>
              <a:rPr lang="en-US" sz="1050" dirty="0" err="1"/>
              <a:t>pasar</a:t>
            </a:r>
            <a:r>
              <a:rPr lang="en-US" sz="1050" dirty="0"/>
              <a:t> </a:t>
            </a:r>
            <a:r>
              <a:rPr lang="en-US" sz="1050" dirty="0" err="1"/>
              <a:t>obligasi</a:t>
            </a:r>
            <a:r>
              <a:rPr lang="en-US" sz="1050" dirty="0"/>
              <a:t> AS yang </a:t>
            </a:r>
            <a:r>
              <a:rPr lang="en-US" sz="1050" dirty="0" err="1"/>
              <a:t>dihitung</a:t>
            </a:r>
            <a:r>
              <a:rPr lang="en-US" sz="1050" dirty="0"/>
              <a:t> </a:t>
            </a:r>
            <a:r>
              <a:rPr lang="en-US" sz="1050" dirty="0" err="1"/>
              <a:t>dari</a:t>
            </a:r>
            <a:r>
              <a:rPr lang="en-US" sz="1050" dirty="0"/>
              <a:t> </a:t>
            </a:r>
            <a:r>
              <a:rPr lang="en-US" sz="1050" dirty="0" err="1"/>
              <a:t>harga</a:t>
            </a:r>
            <a:r>
              <a:rPr lang="en-US" sz="1050" dirty="0"/>
              <a:t> </a:t>
            </a:r>
            <a:r>
              <a:rPr lang="en-US" sz="1050" dirty="0" err="1"/>
              <a:t>opsi</a:t>
            </a:r>
            <a:r>
              <a:rPr lang="en-US" sz="1050" dirty="0"/>
              <a:t> UST</a:t>
            </a:r>
            <a:r>
              <a:rPr lang="en-US" sz="1050" dirty="0" smtClean="0"/>
              <a:t>.</a:t>
            </a:r>
            <a:endParaRPr lang="en-US" sz="1050" dirty="0"/>
          </a:p>
          <a:p>
            <a:pPr marL="342900" indent="-342900" algn="just">
              <a:spcBef>
                <a:spcPts val="600"/>
              </a:spcBef>
              <a:buFont typeface="Arial" panose="020B0604020202020204" pitchFamily="34" charset="0"/>
              <a:buChar char="•"/>
              <a:tabLst>
                <a:tab pos="457200" algn="l"/>
              </a:tabLst>
            </a:pPr>
            <a:r>
              <a:rPr lang="en-US" sz="1050" i="1" dirty="0" smtClean="0">
                <a:solidFill>
                  <a:prstClr val="black"/>
                </a:solidFill>
              </a:rPr>
              <a:t>Outflow</a:t>
            </a:r>
            <a:r>
              <a:rPr lang="en-US" sz="1050" dirty="0">
                <a:solidFill>
                  <a:prstClr val="black"/>
                </a:solidFill>
              </a:rPr>
              <a:t>: </a:t>
            </a:r>
            <a:r>
              <a:rPr lang="en-US" sz="1050" dirty="0" err="1">
                <a:solidFill>
                  <a:prstClr val="black"/>
                </a:solidFill>
              </a:rPr>
              <a:t>aliran</a:t>
            </a:r>
            <a:r>
              <a:rPr lang="en-US" sz="1050" dirty="0">
                <a:solidFill>
                  <a:prstClr val="black"/>
                </a:solidFill>
              </a:rPr>
              <a:t> dana </a:t>
            </a:r>
            <a:r>
              <a:rPr lang="en-US" sz="1050" dirty="0" err="1">
                <a:solidFill>
                  <a:prstClr val="black"/>
                </a:solidFill>
              </a:rPr>
              <a:t>keluar</a:t>
            </a:r>
            <a:r>
              <a:rPr lang="en-US" sz="1050" dirty="0" smtClean="0">
                <a:solidFill>
                  <a:prstClr val="black"/>
                </a:solidFill>
              </a:rPr>
              <a:t>.</a:t>
            </a:r>
          </a:p>
          <a:p>
            <a:pPr marL="342900" indent="-342900" algn="just">
              <a:spcBef>
                <a:spcPts val="600"/>
              </a:spcBef>
              <a:buFont typeface="Arial" panose="020B0604020202020204" pitchFamily="34" charset="0"/>
              <a:buChar char="•"/>
              <a:tabLst>
                <a:tab pos="457200" algn="l"/>
              </a:tabLst>
            </a:pPr>
            <a:r>
              <a:rPr lang="en-US" sz="1050" dirty="0"/>
              <a:t>SOX (</a:t>
            </a:r>
            <a:r>
              <a:rPr lang="en-US" sz="1050" i="1" dirty="0"/>
              <a:t>PHLX Semiconductor Index</a:t>
            </a:r>
            <a:r>
              <a:rPr lang="en-US" sz="1050" dirty="0"/>
              <a:t>): </a:t>
            </a:r>
            <a:r>
              <a:rPr lang="en-US" sz="1050" dirty="0" err="1"/>
              <a:t>indeks</a:t>
            </a:r>
            <a:r>
              <a:rPr lang="en-US" sz="1050" dirty="0"/>
              <a:t> 30 </a:t>
            </a:r>
            <a:r>
              <a:rPr lang="en-US" sz="1050" dirty="0" err="1"/>
              <a:t>saham</a:t>
            </a:r>
            <a:r>
              <a:rPr lang="en-US" sz="1050" dirty="0"/>
              <a:t> </a:t>
            </a:r>
            <a:r>
              <a:rPr lang="en-US" sz="1050" dirty="0" err="1"/>
              <a:t>semikonduktor</a:t>
            </a:r>
            <a:r>
              <a:rPr lang="en-US" sz="1050" dirty="0"/>
              <a:t> </a:t>
            </a:r>
            <a:r>
              <a:rPr lang="en-US" sz="1050" dirty="0" err="1"/>
              <a:t>terbesar</a:t>
            </a:r>
            <a:r>
              <a:rPr lang="en-US" sz="1050" dirty="0"/>
              <a:t> di AS</a:t>
            </a:r>
            <a:r>
              <a:rPr lang="en-US" sz="1050" dirty="0" smtClean="0"/>
              <a:t>.</a:t>
            </a:r>
            <a:endParaRPr lang="en-US" sz="1050"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i="1" dirty="0" smtClean="0"/>
              <a:t>Term </a:t>
            </a:r>
            <a:r>
              <a:rPr lang="en-US" sz="1050" i="1" dirty="0"/>
              <a:t>premium</a:t>
            </a:r>
            <a:r>
              <a:rPr lang="en-US" sz="1050" dirty="0"/>
              <a:t>: </a:t>
            </a:r>
            <a:r>
              <a:rPr lang="en-US" sz="1050" dirty="0" err="1"/>
              <a:t>imbal</a:t>
            </a:r>
            <a:r>
              <a:rPr lang="en-US" sz="1050" dirty="0"/>
              <a:t> </a:t>
            </a:r>
            <a:r>
              <a:rPr lang="en-US" sz="1050" dirty="0" err="1"/>
              <a:t>hasil</a:t>
            </a:r>
            <a:r>
              <a:rPr lang="en-US" sz="1050" dirty="0"/>
              <a:t> </a:t>
            </a:r>
            <a:r>
              <a:rPr lang="en-US" sz="1050" dirty="0" err="1"/>
              <a:t>tambahan</a:t>
            </a:r>
            <a:r>
              <a:rPr lang="en-US" sz="1050" dirty="0"/>
              <a:t> </a:t>
            </a:r>
            <a:r>
              <a:rPr lang="en-US" sz="1050" dirty="0" err="1"/>
              <a:t>untuk</a:t>
            </a:r>
            <a:r>
              <a:rPr lang="en-US" sz="1050" dirty="0"/>
              <a:t> </a:t>
            </a:r>
            <a:r>
              <a:rPr lang="en-US" sz="1050" dirty="0" err="1"/>
              <a:t>memegang</a:t>
            </a:r>
            <a:r>
              <a:rPr lang="en-US" sz="1050" dirty="0"/>
              <a:t> </a:t>
            </a:r>
            <a:r>
              <a:rPr lang="en-US" sz="1050" dirty="0" err="1"/>
              <a:t>obligasi</a:t>
            </a:r>
            <a:r>
              <a:rPr lang="en-US" sz="1050" dirty="0"/>
              <a:t> </a:t>
            </a:r>
            <a:r>
              <a:rPr lang="en-US" sz="1050" dirty="0" err="1"/>
              <a:t>bertenor</a:t>
            </a:r>
            <a:r>
              <a:rPr lang="en-US" sz="1050" dirty="0"/>
              <a:t> </a:t>
            </a:r>
            <a:r>
              <a:rPr lang="en-US" sz="1050" dirty="0" err="1"/>
              <a:t>panjang</a:t>
            </a:r>
            <a:r>
              <a:rPr lang="en-US" sz="1050" dirty="0"/>
              <a:t>.</a:t>
            </a:r>
            <a:endParaRPr lang="en-US" sz="1050"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dirty="0">
                <a:solidFill>
                  <a:prstClr val="black"/>
                </a:solidFill>
              </a:rPr>
              <a:t>The Fed: bank </a:t>
            </a:r>
            <a:r>
              <a:rPr lang="en-US" sz="1050" dirty="0" err="1">
                <a:solidFill>
                  <a:prstClr val="black"/>
                </a:solidFill>
              </a:rPr>
              <a:t>sentral</a:t>
            </a:r>
            <a:r>
              <a:rPr lang="en-US" sz="1050" dirty="0">
                <a:solidFill>
                  <a:prstClr val="black"/>
                </a:solidFill>
              </a:rPr>
              <a:t> AS.</a:t>
            </a:r>
          </a:p>
          <a:p>
            <a:pPr marL="342900" indent="-342900" algn="just">
              <a:spcBef>
                <a:spcPts val="600"/>
              </a:spcBef>
              <a:buFont typeface="Arial" panose="020B0604020202020204" pitchFamily="34" charset="0"/>
              <a:buChar char="•"/>
              <a:tabLst>
                <a:tab pos="457200" algn="l"/>
              </a:tabLst>
            </a:pPr>
            <a:r>
              <a:rPr lang="en-US" sz="1050" i="1" dirty="0">
                <a:solidFill>
                  <a:prstClr val="black"/>
                </a:solidFill>
              </a:rPr>
              <a:t>US Treasury</a:t>
            </a:r>
            <a:r>
              <a:rPr lang="en-US" sz="1050" dirty="0">
                <a:solidFill>
                  <a:prstClr val="black"/>
                </a:solidFill>
              </a:rPr>
              <a:t>: </a:t>
            </a:r>
            <a:r>
              <a:rPr lang="en-US" sz="1050" dirty="0" err="1">
                <a:solidFill>
                  <a:prstClr val="black"/>
                </a:solidFill>
              </a:rPr>
              <a:t>obligasi</a:t>
            </a:r>
            <a:r>
              <a:rPr lang="en-US" sz="1050" dirty="0">
                <a:solidFill>
                  <a:prstClr val="black"/>
                </a:solidFill>
              </a:rPr>
              <a:t> </a:t>
            </a:r>
            <a:r>
              <a:rPr lang="en-US" sz="1050" dirty="0" err="1">
                <a:solidFill>
                  <a:prstClr val="black"/>
                </a:solidFill>
              </a:rPr>
              <a:t>pemerintah</a:t>
            </a:r>
            <a:r>
              <a:rPr lang="en-US" sz="1050" dirty="0">
                <a:solidFill>
                  <a:prstClr val="black"/>
                </a:solidFill>
              </a:rPr>
              <a:t> AS</a:t>
            </a:r>
            <a:r>
              <a:rPr lang="en-US" sz="1050" dirty="0" smtClean="0">
                <a:solidFill>
                  <a:prstClr val="black"/>
                </a:solidFill>
              </a:rPr>
              <a:t>.</a:t>
            </a:r>
          </a:p>
          <a:p>
            <a:pPr marL="342900" indent="-342900" algn="just">
              <a:spcBef>
                <a:spcPts val="600"/>
              </a:spcBef>
              <a:buFont typeface="Arial" panose="020B0604020202020204" pitchFamily="34" charset="0"/>
              <a:buChar char="•"/>
              <a:tabLst>
                <a:tab pos="457200" algn="l"/>
              </a:tabLst>
            </a:pPr>
            <a:r>
              <a:rPr lang="en-US" sz="1050" dirty="0"/>
              <a:t>VIX: </a:t>
            </a:r>
            <a:r>
              <a:rPr lang="en-US" sz="1050" dirty="0" err="1"/>
              <a:t>indeks</a:t>
            </a:r>
            <a:r>
              <a:rPr lang="en-US" sz="1050" dirty="0"/>
              <a:t> </a:t>
            </a:r>
            <a:r>
              <a:rPr lang="en-US" sz="1050" dirty="0" err="1"/>
              <a:t>volatilitas</a:t>
            </a:r>
            <a:r>
              <a:rPr lang="en-US" sz="1050" dirty="0"/>
              <a:t> </a:t>
            </a:r>
            <a:r>
              <a:rPr lang="en-US" sz="1050" dirty="0" err="1"/>
              <a:t>pasar</a:t>
            </a:r>
            <a:r>
              <a:rPr lang="en-US" sz="1050" dirty="0"/>
              <a:t> </a:t>
            </a:r>
            <a:r>
              <a:rPr lang="en-US" sz="1050" dirty="0" err="1"/>
              <a:t>saham</a:t>
            </a:r>
            <a:r>
              <a:rPr lang="en-US" sz="1050" dirty="0"/>
              <a:t> AS yang </a:t>
            </a:r>
            <a:r>
              <a:rPr lang="en-US" sz="1050" dirty="0" err="1"/>
              <a:t>dihitung</a:t>
            </a:r>
            <a:r>
              <a:rPr lang="en-US" sz="1050" dirty="0"/>
              <a:t> </a:t>
            </a:r>
            <a:r>
              <a:rPr lang="en-US" sz="1050" dirty="0" err="1"/>
              <a:t>dari</a:t>
            </a:r>
            <a:r>
              <a:rPr lang="en-US" sz="1050" dirty="0"/>
              <a:t> </a:t>
            </a:r>
            <a:r>
              <a:rPr lang="en-US" sz="1050" dirty="0" err="1"/>
              <a:t>harga</a:t>
            </a:r>
            <a:r>
              <a:rPr lang="en-US" sz="1050" dirty="0"/>
              <a:t> </a:t>
            </a:r>
            <a:r>
              <a:rPr lang="en-US" sz="1050" dirty="0" err="1"/>
              <a:t>opsi</a:t>
            </a:r>
            <a:r>
              <a:rPr lang="en-US" sz="1050" dirty="0"/>
              <a:t> S&amp;P 500</a:t>
            </a:r>
            <a:r>
              <a:rPr lang="en-US" sz="1050" dirty="0" smtClean="0"/>
              <a:t>.</a:t>
            </a:r>
            <a:endParaRPr lang="en-US" sz="1050"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i="1" dirty="0">
                <a:solidFill>
                  <a:prstClr val="black"/>
                </a:solidFill>
              </a:rPr>
              <a:t>Yield</a:t>
            </a:r>
            <a:r>
              <a:rPr lang="en-US" sz="1050" dirty="0">
                <a:solidFill>
                  <a:prstClr val="black"/>
                </a:solidFill>
              </a:rPr>
              <a:t>: </a:t>
            </a:r>
            <a:r>
              <a:rPr lang="en-US" sz="1050" dirty="0" err="1">
                <a:solidFill>
                  <a:prstClr val="black"/>
                </a:solidFill>
              </a:rPr>
              <a:t>mengacu</a:t>
            </a:r>
            <a:r>
              <a:rPr lang="en-US" sz="1050" dirty="0">
                <a:solidFill>
                  <a:prstClr val="black"/>
                </a:solidFill>
              </a:rPr>
              <a:t> pada </a:t>
            </a:r>
            <a:r>
              <a:rPr lang="en-US" sz="1050" i="1" dirty="0">
                <a:solidFill>
                  <a:prstClr val="black"/>
                </a:solidFill>
              </a:rPr>
              <a:t>Yield-To-Maturity</a:t>
            </a:r>
            <a:r>
              <a:rPr lang="en-US" sz="1050" dirty="0">
                <a:solidFill>
                  <a:prstClr val="black"/>
                </a:solidFill>
              </a:rPr>
              <a:t> (YTM), yang </a:t>
            </a:r>
            <a:r>
              <a:rPr lang="en-US" sz="1050" dirty="0" err="1">
                <a:solidFill>
                  <a:prstClr val="black"/>
                </a:solidFill>
              </a:rPr>
              <a:t>didefinisikan</a:t>
            </a:r>
            <a:r>
              <a:rPr lang="en-US" sz="1050" dirty="0">
                <a:solidFill>
                  <a:prstClr val="black"/>
                </a:solidFill>
              </a:rPr>
              <a:t> </a:t>
            </a:r>
            <a:r>
              <a:rPr lang="en-US" sz="1050" dirty="0" err="1">
                <a:solidFill>
                  <a:prstClr val="black"/>
                </a:solidFill>
              </a:rPr>
              <a:t>sebagai</a:t>
            </a:r>
            <a:r>
              <a:rPr lang="en-US" sz="1050" dirty="0">
                <a:solidFill>
                  <a:prstClr val="black"/>
                </a:solidFill>
              </a:rPr>
              <a:t> total </a:t>
            </a:r>
            <a:r>
              <a:rPr lang="en-US" sz="1050" dirty="0" err="1">
                <a:solidFill>
                  <a:prstClr val="black"/>
                </a:solidFill>
              </a:rPr>
              <a:t>tingkat</a:t>
            </a:r>
            <a:r>
              <a:rPr lang="en-US" sz="1050" dirty="0">
                <a:solidFill>
                  <a:prstClr val="black"/>
                </a:solidFill>
              </a:rPr>
              <a:t> </a:t>
            </a:r>
            <a:r>
              <a:rPr lang="en-US" sz="1050" dirty="0" err="1">
                <a:solidFill>
                  <a:prstClr val="black"/>
                </a:solidFill>
              </a:rPr>
              <a:t>pengembalian</a:t>
            </a:r>
            <a:r>
              <a:rPr lang="en-US" sz="1050" dirty="0">
                <a:solidFill>
                  <a:prstClr val="black"/>
                </a:solidFill>
              </a:rPr>
              <a:t> </a:t>
            </a:r>
            <a:r>
              <a:rPr lang="en-US" sz="1050" dirty="0" err="1">
                <a:solidFill>
                  <a:prstClr val="black"/>
                </a:solidFill>
              </a:rPr>
              <a:t>obligasi</a:t>
            </a:r>
            <a:r>
              <a:rPr lang="en-US" sz="1050" dirty="0">
                <a:solidFill>
                  <a:prstClr val="black"/>
                </a:solidFill>
              </a:rPr>
              <a:t> </a:t>
            </a:r>
            <a:r>
              <a:rPr lang="en-US" sz="1050" dirty="0" err="1">
                <a:solidFill>
                  <a:prstClr val="black"/>
                </a:solidFill>
              </a:rPr>
              <a:t>jika</a:t>
            </a:r>
            <a:r>
              <a:rPr lang="en-US" sz="1050" dirty="0">
                <a:solidFill>
                  <a:prstClr val="black"/>
                </a:solidFill>
              </a:rPr>
              <a:t> </a:t>
            </a:r>
            <a:r>
              <a:rPr lang="en-US" sz="1050" dirty="0" err="1">
                <a:solidFill>
                  <a:prstClr val="black"/>
                </a:solidFill>
              </a:rPr>
              <a:t>dipegang</a:t>
            </a:r>
            <a:r>
              <a:rPr lang="en-US" sz="1050" dirty="0">
                <a:solidFill>
                  <a:prstClr val="black"/>
                </a:solidFill>
              </a:rPr>
              <a:t> </a:t>
            </a:r>
            <a:r>
              <a:rPr lang="en-US" sz="1050" dirty="0" err="1">
                <a:solidFill>
                  <a:prstClr val="black"/>
                </a:solidFill>
              </a:rPr>
              <a:t>hingga</a:t>
            </a:r>
            <a:r>
              <a:rPr lang="en-US" sz="1050" dirty="0">
                <a:solidFill>
                  <a:prstClr val="black"/>
                </a:solidFill>
              </a:rPr>
              <a:t> </a:t>
            </a:r>
            <a:r>
              <a:rPr lang="en-US" sz="1050" dirty="0" err="1">
                <a:solidFill>
                  <a:prstClr val="black"/>
                </a:solidFill>
              </a:rPr>
              <a:t>jatuh</a:t>
            </a:r>
            <a:r>
              <a:rPr lang="en-US" sz="1050" dirty="0">
                <a:solidFill>
                  <a:prstClr val="black"/>
                </a:solidFill>
              </a:rPr>
              <a:t> tempo</a:t>
            </a:r>
            <a:r>
              <a:rPr lang="en-US" sz="1050" dirty="0" smtClean="0">
                <a:solidFill>
                  <a:prstClr val="black"/>
                </a:solidFill>
              </a:rPr>
              <a:t>.</a:t>
            </a:r>
            <a:endParaRPr lang="en-US" sz="1050" dirty="0">
              <a:solidFill>
                <a:prstClr val="black"/>
              </a:solidFill>
            </a:endParaRPr>
          </a:p>
        </p:txBody>
      </p:sp>
    </p:spTree>
    <p:extLst>
      <p:ext uri="{BB962C8B-B14F-4D97-AF65-F5344CB8AC3E}">
        <p14:creationId xmlns:p14="http://schemas.microsoft.com/office/powerpoint/2010/main" val="1108191516"/>
      </p:ext>
    </p:extLst>
  </p:cSld>
  <p:clrMapOvr>
    <a:masterClrMapping/>
  </p:clrMapOvr>
  <p:timing>
    <p:tnLst>
      <p:par>
        <p:cTn id="1" dur="indefinite" restart="never" nodeType="tmRoot"/>
      </p:par>
    </p:tnLst>
  </p:timing>
</p:sld>
</file>

<file path=ppt/theme/theme1.xml><?xml version="1.0" encoding="utf-8"?>
<a:theme xmlns:a="http://schemas.openxmlformats.org/drawingml/2006/main" name="1_Cov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v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titus xmlns="http://schemas.titus.com/TitusProperties/">
  <TitusGUID xmlns="">b5ab3276-f2a2-4d17-8a8e-f371ed2f17c5</TitusGUID>
  <TitusMetadata xmlns="">eyJucyI6IkJDQSIsInByb3BzIjpbeyJuIjoiQkNBQ2xhc3NpZmljYXRpb24iLCJ2YWxzIjpbeyJ2YWx1ZSI6IkludGVybmFsIn1dfSx7Im4iOiJCQ0FPd25lciIsInZhbHMiOlt7InZhbHVlIjoiVTA3MTk3MiJ9XX1dfQ==</TitusMetadata>
</titus>
</file>

<file path=customXml/itemProps1.xml><?xml version="1.0" encoding="utf-8"?>
<ds:datastoreItem xmlns:ds="http://schemas.openxmlformats.org/officeDocument/2006/customXml" ds:itemID="{F8909E01-8042-4DC9-9ABC-AF1BB90863E0}">
  <ds:schemaRefs>
    <ds:schemaRef ds:uri="http://schemas.titus.com/TitusProperties/"/>
    <ds:schemaRef ds:uri=""/>
  </ds:schemaRefs>
</ds:datastoreItem>
</file>

<file path=docProps/app.xml><?xml version="1.0" encoding="utf-8"?>
<Properties xmlns="http://schemas.openxmlformats.org/officeDocument/2006/extended-properties" xmlns:vt="http://schemas.openxmlformats.org/officeDocument/2006/docPropsVTypes">
  <TotalTime>5001</TotalTime>
  <Words>2933</Words>
  <Application>Microsoft Office PowerPoint</Application>
  <PresentationFormat>On-screen Show (4:3)</PresentationFormat>
  <Paragraphs>575</Paragraphs>
  <Slides>6</Slides>
  <Notes>6</Notes>
  <HiddenSlides>0</HiddenSlides>
  <MMClips>0</MMClips>
  <ScaleCrop>false</ScaleCrop>
  <HeadingPairs>
    <vt:vector size="6" baseType="variant">
      <vt:variant>
        <vt:lpstr>Fonts Used</vt:lpstr>
      </vt:variant>
      <vt:variant>
        <vt:i4>6</vt:i4>
      </vt:variant>
      <vt:variant>
        <vt:lpstr>Theme</vt:lpstr>
      </vt:variant>
      <vt:variant>
        <vt:i4>7</vt:i4>
      </vt:variant>
      <vt:variant>
        <vt:lpstr>Slide Titles</vt:lpstr>
      </vt:variant>
      <vt:variant>
        <vt:i4>6</vt:i4>
      </vt:variant>
    </vt:vector>
  </HeadingPairs>
  <TitlesOfParts>
    <vt:vector size="19" baseType="lpstr">
      <vt:lpstr>Arial</vt:lpstr>
      <vt:lpstr>Calibri</vt:lpstr>
      <vt:lpstr>Calibri Light</vt:lpstr>
      <vt:lpstr>MS Mincho</vt:lpstr>
      <vt:lpstr>Times New Roman</vt:lpstr>
      <vt:lpstr>Wingdings</vt:lpstr>
      <vt:lpstr>1_Cover</vt:lpstr>
      <vt:lpstr>Cover</vt:lpstr>
      <vt:lpstr>2_Content</vt:lpstr>
      <vt:lpstr>3_Content</vt:lpstr>
      <vt:lpstr>4_Content</vt:lpstr>
      <vt:lpstr>5_Content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Tako</dc:creator>
  <cp:lastModifiedBy>ABI HISKIA CHANDRA</cp:lastModifiedBy>
  <cp:revision>2399</cp:revision>
  <dcterms:created xsi:type="dcterms:W3CDTF">2018-10-24T01:42:20Z</dcterms:created>
  <dcterms:modified xsi:type="dcterms:W3CDTF">2026-09-29T02:25:49Z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b5ab3276-f2a2-4d17-8a8e-f371ed2f17c5</vt:lpwstr>
  </property>
  <property fmtid="{D5CDD505-2E9C-101B-9397-08002B2CF9AE}" pid="3" name="BCAClassification">
    <vt:lpwstr>Internal</vt:lpwstr>
  </property>
  <property fmtid="{D5CDD505-2E9C-101B-9397-08002B2CF9AE}" pid="4" name="BCAOwner">
    <vt:lpwstr>U071972</vt:lpwstr>
  </property>
  <property fmtid="{D5CDD505-2E9C-101B-9397-08002B2CF9AE}" pid="5" name="ICV">
    <vt:lpwstr>b53bd25687e643118693a27ceaac7f1d</vt:lpwstr>
  </property>
</Properties>
</file>