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8" r:id="rId9"/>
    <p:sldId id="263" r:id="rId10"/>
    <p:sldId id="264" r:id="rId11"/>
    <p:sldId id="265"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2"/>
    <p:restoredTop sz="94674"/>
  </p:normalViewPr>
  <p:slideViewPr>
    <p:cSldViewPr snapToGrid="0">
      <p:cViewPr>
        <p:scale>
          <a:sx n="99" d="100"/>
          <a:sy n="99" d="100"/>
        </p:scale>
        <p:origin x="1160" y="7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bar"/>
        <c:grouping val="clustered"/>
        <c:varyColors val="0"/>
        <c:ser>
          <c:idx val="0"/>
          <c:order val="0"/>
          <c:tx>
            <c:v>Biaya Zoom / Rp jt</c:v>
          </c:tx>
          <c:spPr>
            <a:solidFill>
              <a:srgbClr val="6F9182"/>
            </a:solidFill>
          </c:spPr>
          <c:invertIfNegative val="1"/>
          <c:dPt>
            <c:idx val="0"/>
            <c:invertIfNegative val="0"/>
            <c:bubble3D val="0"/>
            <c:spPr>
              <a:solidFill>
                <a:srgbClr val="123F32"/>
              </a:solidFill>
            </c:spPr>
            <c:extLst>
              <c:ext xmlns:c16="http://schemas.microsoft.com/office/drawing/2014/chart" uri="{C3380CC4-5D6E-409C-BE32-E72D297353CC}">
                <c16:uniqueId val="{00000001-D461-074A-8B51-62A37C5FD0C2}"/>
              </c:ext>
            </c:extLst>
          </c:dPt>
          <c:dLbls>
            <c:spPr>
              <a:noFill/>
              <a:ln>
                <a:noFill/>
              </a:ln>
              <a:effectLst/>
            </c:spPr>
            <c:txPr>
              <a:bodyPr anchorCtr="1"/>
              <a:lstStyle/>
              <a:p>
                <a:pPr>
                  <a:defRPr sz="1875" b="1">
                    <a:solidFill>
                      <a:srgbClr val="123F32"/>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Subscribe / 1 bulan</c:v>
                </c:pt>
                <c:pt idx="1">
                  <c:v>Sewa / 8 sesi</c:v>
                </c:pt>
              </c:strCache>
            </c:strRef>
          </c:cat>
          <c:val>
            <c:numRef>
              <c:f>'Chart Data'!$B$2:$B$3</c:f>
              <c:numCache>
                <c:formatCode>0.00</c:formatCode>
                <c:ptCount val="2"/>
                <c:pt idx="0">
                  <c:v>2.6558389999999998</c:v>
                </c:pt>
                <c:pt idx="1">
                  <c:v>2.8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461-074A-8B51-62A37C5FD0C2}"/>
            </c:ext>
          </c:extLst>
        </c:ser>
        <c:dLbls>
          <c:dLblPos val="outEnd"/>
          <c:showLegendKey val="0"/>
          <c:showVal val="1"/>
          <c:showCatName val="0"/>
          <c:showSerName val="0"/>
          <c:showPercent val="0"/>
          <c:showBubbleSize val="0"/>
        </c:dLbls>
        <c:gapWidth val="90"/>
        <c:axId val="48650112"/>
        <c:axId val="48672768"/>
      </c:barChart>
      <c:catAx>
        <c:axId val="48650112"/>
        <c:scaling>
          <c:orientation val="minMax"/>
        </c:scaling>
        <c:delete val="0"/>
        <c:axPos val="l"/>
        <c:numFmt formatCode="General" sourceLinked="1"/>
        <c:majorTickMark val="none"/>
        <c:minorTickMark val="none"/>
        <c:tickLblPos val="nextTo"/>
        <c:spPr>
          <a:ln w="9525">
            <a:solidFill>
              <a:srgbClr val="DCE5DE"/>
            </a:solidFill>
          </a:ln>
        </c:spPr>
        <c:txPr>
          <a:bodyPr anchorCtr="1"/>
          <a:lstStyle/>
          <a:p>
            <a:pPr>
              <a:defRPr sz="1350">
                <a:solidFill>
                  <a:srgbClr val="66746B"/>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3.5"/>
          <c:min val="0"/>
        </c:scaling>
        <c:delete val="0"/>
        <c:axPos val="b"/>
        <c:numFmt formatCode="0.00" sourceLinked="1"/>
        <c:majorTickMark val="none"/>
        <c:minorTickMark val="none"/>
        <c:tickLblPos val="nextTo"/>
        <c:spPr>
          <a:ln w="9525">
            <a:solidFill>
              <a:srgbClr val="DCE5DE"/>
            </a:solidFill>
          </a:ln>
        </c:spPr>
        <c:txPr>
          <a:bodyPr anchorCtr="1"/>
          <a:lstStyle/>
          <a:p>
            <a:pPr>
              <a:defRPr sz="1350">
                <a:solidFill>
                  <a:srgbClr val="66746B"/>
                </a:solidFill>
                <a:latin typeface="Calibri"/>
                <a:ea typeface="Calibri"/>
                <a:cs typeface="Calibri"/>
              </a:defRPr>
            </a:pPr>
            <a:endParaRPr lang="en-US"/>
          </a:p>
        </c:txPr>
        <c:crossAx val="48650112"/>
        <c:crosses val="autoZero"/>
        <c:crossBetween val="between"/>
      </c:valAx>
      <c:spPr>
        <a:noFill/>
        <a:ln w="0">
          <a:noFill/>
        </a:ln>
      </c:spPr>
    </c:plotArea>
    <c:plotVisOnly val="1"/>
    <c:dispBlanksAs val="zero"/>
    <c:showDLblsOverMax val="1"/>
  </c:chart>
  <c:spPr>
    <a:no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Deck operasional berdasarkan arahan terbaru pengguna. Sertifikasi dan roadmap harga membership dikeluarkan. TOR Founder Live sudah dibuat; tahap selanjutnya outreach, matching speaker, konfirmasi jadwal/fee, dan keputusan Zoom. Logo asli pengguna dipasang tanpa mengubah desain logo.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Topik dan poin pembahasan mengikuti PDF terbaru.</a:t>
            </a:r>
          </a:p>
          <a:p>
            <a:r>
              <a:t>Sumber: /Users/agatbe/Library/Containers/net.whatsapp.WhatsApp/Data/tmp/documents/1F160F60-E831-4573-AEC2-7B56142FBECC/CEO Masterclass - Live Topic.pdf</a:t>
            </a:r>
          </a:p>
          <a:p>
            <a:endParaRPr/>
          </a:p>
          <a:p>
            <a:r>
              <a:t>CEO Masterclass | Founder Live </a:t>
            </a:r>
          </a:p>
          <a:p>
            <a:r>
              <a:t>Founder Live - 8 Topik Utama </a:t>
            </a:r>
          </a:p>
          <a:p>
            <a:r>
              <a:t>Mengacu pada 8 modul utama CEO Masterclass </a:t>
            </a:r>
          </a:p>
          <a:p>
            <a:r>
              <a:t>1. Kapan Harus Bertahan, Kapan Harus Berubah Arah? </a:t>
            </a:r>
          </a:p>
          <a:p>
            <a:r>
              <a:t>Modul 1 - Entrepreneurship Mentality </a:t>
            </a:r>
          </a:p>
          <a:p>
            <a:r>
              <a:t>• Tanda bisnis perlu pivot </a:t>
            </a:r>
          </a:p>
          <a:p>
            <a:r>
              <a:t>• Conviction vs keras kepala </a:t>
            </a:r>
          </a:p>
          <a:p>
            <a:r>
              <a:t>• Belajar dari keputusan yang salah </a:t>
            </a:r>
          </a:p>
          <a:p>
            <a:r>
              <a:t> </a:t>
            </a:r>
          </a:p>
          <a:p>
            <a:r>
              <a:t>2. Masalah Mana yang Harus Diselesaikan Dulu? </a:t>
            </a:r>
          </a:p>
          <a:p>
            <a:r>
              <a:t>Modul 2 - Problem Solving </a:t>
            </a:r>
          </a:p>
          <a:p>
            <a:r>
              <a:t>• Cari root problem </a:t>
            </a:r>
          </a:p>
          <a:p>
            <a:r>
              <a:t>• Tentukan prioritas </a:t>
            </a:r>
          </a:p>
          <a:p>
            <a:r>
              <a:t>• Putuskan dengan data terbatas </a:t>
            </a:r>
          </a:p>
          <a:p>
            <a:r>
              <a:t> </a:t>
            </a:r>
          </a:p>
          <a:p>
            <a:r>
              <a:t>3. Kapan Harus Mulai Bangun Team? </a:t>
            </a:r>
          </a:p>
          <a:p>
            <a:r>
              <a:t>Modul 3 - Team &amp; Networking Formation </a:t>
            </a:r>
          </a:p>
          <a:p>
            <a:r>
              <a:t>• Siapa yang direkrut dulu </a:t>
            </a:r>
          </a:p>
          <a:p>
            <a:r>
              <a:t>• Skill vs trust </a:t>
            </a:r>
          </a:p>
          <a:p>
            <a:r>
              <a:t>• Kapan founder mulai delegasi </a:t>
            </a:r>
          </a:p>
          <a:p>
            <a:r>
              <a:t> </a:t>
            </a:r>
          </a:p>
          <a:p>
            <a:r>
              <a:t>4. Apa yang Bikin Produk Benar-Benar Layak Dijual? </a:t>
            </a:r>
          </a:p>
          <a:p>
            <a:r>
              <a:t>Modul 4 - Minimum Sellable Product </a:t>
            </a:r>
          </a:p>
          <a:p>
            <a:r>
              <a:t>• Customer problem yang nyata </a:t>
            </a:r>
          </a:p>
          <a:p>
            <a:r>
              <a:t>• Minimum value sebelum launch </a:t>
            </a:r>
          </a:p>
          <a:p>
            <a:r>
              <a:t>• Value proposition yang jelas </a:t>
            </a:r>
          </a:p>
          <a:p>
            <a:r>
              <a:t> </a:t>
            </a:r>
          </a:p>
          <a:p>
            <a:r>
              <a:t>5. Gimana Menemukan Cara Jual yang Efektif? </a:t>
            </a:r>
          </a:p>
          <a:p>
            <a:r>
              <a:t>Modul 5 - Go-To-Market </a:t>
            </a:r>
          </a:p>
          <a:p>
            <a:r>
              <a:t>• Pilih channel yang tepat </a:t>
            </a:r>
          </a:p>
          <a:p>
            <a:r>
              <a:t>• Uji pricing dan sales approach </a:t>
            </a:r>
          </a:p>
          <a:p>
            <a:r>
              <a:t>• Bikin sales lebih repeatable </a:t>
            </a:r>
          </a:p>
          <a:p>
            <a:r>
              <a:t> </a:t>
            </a:r>
          </a:p>
          <a:p>
            <a:r>
              <a:t>6. Kapan Bisnis Harus Mulai Dibikin Lebih Rapi? </a:t>
            </a:r>
          </a:p>
          <a:p>
            <a:r>
              <a:t>Modul 6 - Operational &amp; Legal </a:t>
            </a:r>
          </a:p>
          <a:p>
            <a:r>
              <a:t>• SOP dan proses utama </a:t>
            </a:r>
          </a:p>
          <a:p>
            <a:r>
              <a:t>• Legalitas dan kontrak </a:t>
            </a:r>
          </a:p>
          <a:p>
            <a:r>
              <a:t>• Kurangi bottleneck operasional </a:t>
            </a:r>
          </a:p>
          <a:p>
            <a:r>
              <a:t> </a:t>
            </a:r>
          </a:p>
          <a:p>
            <a:endParaRPr/>
          </a:p>
          <a:p>
            <a:r>
              <a:t>CEO Masterclass | Founder Live </a:t>
            </a:r>
          </a:p>
          <a:p>
            <a:r>
              <a:t>7. Bisnis Untung, Tapi Kenapa Cash Liquid Nggak Ada? </a:t>
            </a:r>
          </a:p>
          <a:p>
            <a:r>
              <a:t>Modul 7 - Finance &amp; Tax </a:t>
            </a:r>
          </a:p>
          <a:p>
            <a:r>
              <a:t>• Profit vs cash flow </a:t>
            </a:r>
          </a:p>
          <a:p>
            <a:r>
              <a:t>• Working capital </a:t>
            </a:r>
          </a:p>
          <a:p>
            <a:r>
              <a:t>• Angka yang wajib dipantau </a:t>
            </a:r>
          </a:p>
          <a:p>
            <a:r>
              <a:t> </a:t>
            </a:r>
          </a:p>
          <a:p>
            <a:r>
              <a:t>8. Kapan Bisnis Sudah Siap untuk Scale dan Cari Modal? </a:t>
            </a:r>
          </a:p>
          <a:p>
            <a:r>
              <a:t>Modul 8 - Scale Up &amp; Fundraising </a:t>
            </a:r>
          </a:p>
          <a:p>
            <a:r>
              <a:t>• Cek kesiapan sebelum scale </a:t>
            </a:r>
          </a:p>
          <a:p>
            <a:r>
              <a:t>• Bootstrap vs external capital </a:t>
            </a:r>
          </a:p>
          <a:p>
            <a:r>
              <a:t>• Investor readiness </a:t>
            </a:r>
          </a:p>
          <a:p>
            <a:endParaRPr/>
          </a:p>
          <a:p>
            <a:r>
              <a:t>Format internal: 90 menit, 5 pembukaan + 20 cerita speaker + 60 tanya jawab/bedah kasus + 5 penutup. Usulan jadwal: Selasa dan Kamis, 3–26 November 2026, 19.00–20.30 WIB. Delapan sesi selesai dalam empat minggu; tanggal dan jam menunggu konfirmasi. Speaker dicocokkan dengan topik, bukan sebaliknya.</a:t>
            </a:r>
          </a:p>
          <a:p>
            <a:r>
              <a:t>Founder Live batch pertama termasuk membership saat ini Rp1,5 jt. Kapasitas Zoom 1.000 total koneksi termasuk host/speaker/tim. Speaker kandidat, belum booking. TOR sudah dibuat menurut konfirmasi pengguna.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RISET SPEAKER, diakses 6 Oktober 2026. Semua penempatan di bawah adalah rekomendasi, bukan bukti booking, kesediaan, fee atau ketersediaan tanggal. Jabatan berdasarkan sumber yang disebut, dapat berubah. Tidak menggunakan ukuran popularitas sebagai pengganti kecocokan case.</a:t>
            </a:r>
          </a:p>
          <a:p>
            <a:endParaRPr/>
          </a:p>
          <a:p>
            <a:r>
              <a:t>Yukka Harlanda — Utama 3 Nov / Mindset</a:t>
            </a:r>
          </a:p>
          <a:p>
            <a:r>
              <a:t>Brodo; co-founder, profil Endeavor. Pengalaman membangun brand cocok untuk membahas keputusan bertahan atau mengubah arah. Minta satu keputusan konkret beserta kondisi awal, opsi, dan hasil; jangan mengulang klaim jumlah toko tanpa bukti.</a:t>
            </a:r>
          </a:p>
          <a:p>
            <a:r>
              <a:t>Sumber: https://indonesia.endeavor.org/399628-2/</a:t>
            </a:r>
          </a:p>
          <a:p>
            <a:endParaRPr/>
          </a:p>
          <a:p>
            <a:r>
              <a:t>Dokter Tirta — Utama 5 Nov / Problem Solving</a:t>
            </a:r>
          </a:p>
          <a:p>
            <a:r>
              <a:t>Praktisi usaha Shoes and Care; sesi kewirausahaan UGM mendukung relevansi pengalaman bisnis. Fit untuk diagnosis masalah operasional, prioritas dan keputusan dengan informasi terbatas. Ini pemetaan editorial, bukan sertifikasi kompetensi.</a:t>
            </a:r>
          </a:p>
          <a:p>
            <a:r>
              <a:t>Sumber: https://feb.ugm.ac.id/id/berita/5000-dr-tirta-bagikan-tips-mengelola-usaha-di-era-digital</a:t>
            </a:r>
          </a:p>
          <a:p>
            <a:endParaRPr/>
          </a:p>
          <a:p>
            <a:r>
              <a:t>Anthony Soehartono — Utama 10 Nov / Team</a:t>
            </a:r>
          </a:p>
          <a:p>
            <a:r>
              <a:t>BP Consulting Group dan Komisaris Independen PT Mega Perintis Tbk, bukan jabatan korporat bernama Commissioner Manzone. Profil perusahaan mengonfirmasi pengalaman strategi. Brief diarahkan ke perekrutan pertama, skill/trust dan pembagian keputusan, bukan presentasi motivasi.</a:t>
            </a:r>
          </a:p>
          <a:p>
            <a:r>
              <a:t>Sumber: https://www.kaisar-ceramics.com/profile/board-of-commissioners/anthony-soehartono/</a:t>
            </a:r>
          </a:p>
          <a:p>
            <a:endParaRPr/>
          </a:p>
          <a:p>
            <a:r>
              <a:t>Christopher Aldo — Utama 12 Nov / Product</a:t>
            </a:r>
          </a:p>
          <a:p>
            <a:r>
              <a:t>Co-founder Yellow Fit Kitchen, terkonfirmasi rilis perusahaan. Pengalaman mengembangkan layanan makanan relevan untuk customer problem, minimum value dan value proposition. Klaim guarantee dan margin hanya dipakai jika speaker membawa data yang boleh dibagikan.</a:t>
            </a:r>
          </a:p>
          <a:p>
            <a:r>
              <a:t>Sumber: https://www.prnewswire.com/news-releases/yellow-fit-kitchens-founders-gregorius-ruben-and-christopher-aldo-announce-plan-to-tackle-increased-obesity-rate-in-indonesia-301400076.html</a:t>
            </a:r>
          </a:p>
          <a:p>
            <a:endParaRPr/>
          </a:p>
          <a:p>
            <a:r>
              <a:t>Aristia Chen — Utama 17 Nov / Go-to-Market</a:t>
            </a:r>
          </a:p>
          <a:p>
            <a:r>
              <a:t>CMO Mazuta Group Indonesia berdasarkan profil profesional mandiri. Fit marketing/distribusi untuk pilihan channel, uji pricing, sales approach dan repeatability. Status jabatan dikonfirmasi saat approach.</a:t>
            </a:r>
          </a:p>
          <a:p>
            <a:r>
              <a:t>Sumber: https://id.linkedin.com/in/aristia-chen-627609243</a:t>
            </a:r>
          </a:p>
          <a:p>
            <a:endParaRPr/>
          </a:p>
          <a:p>
            <a:r>
              <a:t>Daniel Sidik — Utama 19 Nov / Operations</a:t>
            </a:r>
          </a:p>
          <a:p>
            <a:r>
              <a:t>Co-founder Jago Coffee, profil resmi membahas peran COO/CMO, penyesuaian harga dan SOP. Cocok untuk bottleneck operasional dan standardisasi. Legalitas/kontrak perlu review materi oleh PIC yang kompeten, tidak diasumsikan sebagai keahlian hukum speaker.</a:t>
            </a:r>
          </a:p>
          <a:p>
            <a:r>
              <a:t>Sumber: https://www.jagocoffee.com/story/berkenalan-dengan-daniel-sidik-co-founder-terbaru-jago-coffee</a:t>
            </a:r>
          </a:p>
          <a:p>
            <a:endParaRPr/>
          </a:p>
          <a:p>
            <a:r>
              <a:t>Daniel Liu — Utama 24 Nov / Finance</a:t>
            </a:r>
          </a:p>
          <a:p>
            <a:r>
              <a:t>Nama Daniel Rocketindo dinormalisasi ke Daniel Liu. Situs Rocketindo memuat pengalaman bootstrap, profit dan kebutuhan modal. Ini mendukung case cash flow dan working capital; bukan bukti keahlian pajak. Minta contoh cash cycle sederhana dan angka yang boleh diungkap.</a:t>
            </a:r>
          </a:p>
          <a:p>
            <a:r>
              <a:t>Sumber: https://rocketindo.asia/blogs/news/ecommerce-enabler-rocketindo-bootstraps-its-way-to-300-growth-profitability</a:t>
            </a:r>
          </a:p>
          <a:p>
            <a:endParaRPr/>
          </a:p>
          <a:p>
            <a:r>
              <a:t>Winston Utomo — Utama 26 Nov / Scale</a:t>
            </a:r>
          </a:p>
          <a:p>
            <a:r>
              <a:t>Founder IDN; pengumuman resmi pendanaan Series D membuktikan pengalaman external capital dan scaling. Brief: readiness, trade-off bootstrap vs modal eksternal dan kesiapan investor. Jangan menyamakan besarnya funding dengan keberhasilan semua bisnis.</a:t>
            </a:r>
          </a:p>
          <a:p>
            <a:r>
              <a:t>Sumber: https://www.idn.media/news/222/idn-media-secures-a-series-d-investment</a:t>
            </a:r>
          </a:p>
          <a:p>
            <a:endParaRPr/>
          </a:p>
          <a:p>
            <a:r>
              <a:t>Nicholas Dennis — Alternatif GTM / Finance</a:t>
            </a:r>
          </a:p>
          <a:p>
            <a:r>
              <a:t>Founder BD Ekspor, berdasarkan situs resmi. Kuat untuk market entry ekspor, buyer, termin pembayaran dan kebutuhan modal kerja. Arah cash-flow adalah usulan case, bukan klaim bahwa ia ahli pajak. Layak diprioritaskan sebagai pengganti Finance jika bisa membawa case arus kas ekspor yang sesuai; jangan mengubah modul menjadi seminar ekspor saja.</a:t>
            </a:r>
          </a:p>
          <a:p>
            <a:r>
              <a:t>Sumber: https://bdekspor.com/</a:t>
            </a:r>
          </a:p>
          <a:p>
            <a:endParaRPr/>
          </a:p>
          <a:p>
            <a:r>
              <a:t>Purwa Hartono — Alternatif Mindset / Product</a:t>
            </a:r>
          </a:p>
          <a:p>
            <a:r>
              <a:t>Founder Purwadhika; sejarah organisasi dan pengembangan kurikulum memberi dasar untuk perubahan produk dan relevansi pasar.</a:t>
            </a:r>
          </a:p>
          <a:p>
            <a:r>
              <a:t>Sumber: https://www.purwadhika.com/about-us</a:t>
            </a:r>
          </a:p>
          <a:p>
            <a:endParaRPr/>
          </a:p>
          <a:p>
            <a:r>
              <a:t>Samuel Christ — Alternatif Go-to-Market</a:t>
            </a:r>
          </a:p>
          <a:p>
            <a:r>
              <a:t>Co-founder Seefluencer, dikonfirmasi halaman produk resmi. Fit untuk channel content, audience dan konversi. Brief wajib menghubungkan reach ke hasil penjualan, bukan hanya follower.</a:t>
            </a:r>
          </a:p>
          <a:p>
            <a:r>
              <a:t>Sumber: https://www.seefluencer.com/mcs</a:t>
            </a:r>
          </a:p>
          <a:p>
            <a:endParaRPr/>
          </a:p>
          <a:p>
            <a:r>
              <a:t>dr. Richard Lee — Alternatif Product / Go-to-Market</a:t>
            </a:r>
          </a:p>
          <a:p>
            <a:r>
              <a:t>Founder Athena berdasarkan halaman brand. Pengalaman brand/edukasi pasar dapat dipakai untuk case bisnis; jangan menjadikan sesi sebagai promosi atau pembahasan medis. Status availability dan scope perlu konfirmasi seperti kandidat lain.</a:t>
            </a:r>
          </a:p>
          <a:p>
            <a:r>
              <a:t>Sumber: https://athena-shop.id/about-us</a:t>
            </a:r>
          </a:p>
          <a:p>
            <a:endParaRPr/>
          </a:p>
          <a:p>
            <a:r>
              <a:t>Jill Gladys — Alternatif bersyarat Product / Operations</a:t>
            </a:r>
          </a:p>
          <a:p>
            <a:r>
              <a:t>Pengguna menyebut Wolf Gang Steak. Penelusuran belum menemukan sumber resmi yang mengonfirmasi hubungan ini. Jangan tulis founder/owner Wolfgang sebagai fakta. Minta nama badan usaha, jabatan dan contoh pengalaman mengelola F&amp;B sebelum menetapkan slot. Penempatan sementara berdasar konteks internal pengguna.</a:t>
            </a:r>
          </a:p>
          <a:p>
            <a:r>
              <a:t>Sumber: Belum ada sumber resmi yang memadai; daftar pengguna, 6 Oktober 2026.</a:t>
            </a:r>
          </a:p>
          <a:p>
            <a:endParaRPr/>
          </a:p>
          <a:p>
            <a:r>
              <a:t>FX Iwan — Alternatif bersyarat Finance / Scale</a:t>
            </a:r>
          </a:p>
          <a:p>
            <a:r>
              <a:t>Situs Trinity memuat FX Iwan sebagai CEO Jagartha Advisor, berbeda dari label umum Media Production yang diberikan. Kredit film dengan nama serupa belum cukup untuk menyamakan identitas. Konfirmasi orang, jabatan dan perusahaan terlebih dulu. Bila cocok, topik modal/investasi mungkin relevan.</a:t>
            </a:r>
          </a:p>
          <a:p>
            <a:r>
              <a:t>Sumber: https://www.trinityproduction.com/news/trinity-optima-production-da6202723632652b42000135</a:t>
            </a:r>
          </a:p>
          <a:p>
            <a:endParaRPr/>
          </a:p>
          <a:p>
            <a:r>
              <a:t>Cadangan lintas slot: Purwa untuk Mindset/Product; Samuel untuk GTM; Nicholas untuk GTM/Finance setelah brief; Daniel Liu untuk Scale bila Winston tidak tersedia; Anthony untuk Operations bila case sesuai. Jika kandidat utama dan cadangan sama-sama sudah mengisi, jangan otomatis memberi satu orang dua sesi. Kembali ke shortlist dan konfirmasi kapasitas.</a:t>
            </a:r>
          </a:p>
          <a:p>
            <a:r>
              <a:t>Batas penting: modul Operational &amp; Legal dan Finance &amp; Tax tetap mengikuti PDF. Speaker founder membahas keputusan bisnis. Detail hukum/pajak harus melalui review pihak yang kompeten sebelum dibagikan; ini kebutuhan review, bukan penambahan fee fiktif. Tidak semua kandidat otomatis bisa mengajar seluruh isi modul.</a:t>
            </a:r>
          </a:p>
          <a:p>
            <a:r>
              <a:t>Topik dan poin pembahasan mengikuti PDF terbaru.</a:t>
            </a:r>
          </a:p>
          <a:p>
            <a:r>
              <a:t>Sumber: /Users/agatbe/Library/Containers/net.whatsapp.WhatsApp/Data/tmp/documents/1F160F60-E831-4573-AEC2-7B56142FBECC/CEO Masterclass - Live Topic.pdf</a:t>
            </a:r>
          </a:p>
          <a:p>
            <a:endParaRPr/>
          </a:p>
          <a:p>
            <a:r>
              <a:t>CEO Masterclass | Founder Live </a:t>
            </a:r>
          </a:p>
          <a:p>
            <a:r>
              <a:t>Founder Live - 8 Topik Utama </a:t>
            </a:r>
          </a:p>
          <a:p>
            <a:r>
              <a:t>Mengacu pada 8 modul utama CEO Masterclass </a:t>
            </a:r>
          </a:p>
          <a:p>
            <a:r>
              <a:t>1. Kapan Harus Bertahan, Kapan Harus Berubah Arah? </a:t>
            </a:r>
          </a:p>
          <a:p>
            <a:r>
              <a:t>Modul 1 - Entrepreneurship Mentality </a:t>
            </a:r>
          </a:p>
          <a:p>
            <a:r>
              <a:t>• Tanda bisnis perlu pivot </a:t>
            </a:r>
          </a:p>
          <a:p>
            <a:r>
              <a:t>• Conviction vs keras kepala </a:t>
            </a:r>
          </a:p>
          <a:p>
            <a:r>
              <a:t>• Belajar dari keputusan yang salah </a:t>
            </a:r>
          </a:p>
          <a:p>
            <a:r>
              <a:t> </a:t>
            </a:r>
          </a:p>
          <a:p>
            <a:r>
              <a:t>2. Masalah Mana yang Harus Diselesaikan Dulu? </a:t>
            </a:r>
          </a:p>
          <a:p>
            <a:r>
              <a:t>Modul 2 - Problem Solving </a:t>
            </a:r>
          </a:p>
          <a:p>
            <a:r>
              <a:t>• Cari root problem </a:t>
            </a:r>
          </a:p>
          <a:p>
            <a:r>
              <a:t>• Tentukan prioritas </a:t>
            </a:r>
          </a:p>
          <a:p>
            <a:r>
              <a:t>• Putuskan dengan data terbatas </a:t>
            </a:r>
          </a:p>
          <a:p>
            <a:r>
              <a:t> </a:t>
            </a:r>
          </a:p>
          <a:p>
            <a:r>
              <a:t>3. Kapan Harus Mulai Bangun Team? </a:t>
            </a:r>
          </a:p>
          <a:p>
            <a:r>
              <a:t>Modul 3 - Team &amp; Networking Formation </a:t>
            </a:r>
          </a:p>
          <a:p>
            <a:r>
              <a:t>• Siapa yang direkrut dulu </a:t>
            </a:r>
          </a:p>
          <a:p>
            <a:r>
              <a:t>• Skill vs trust </a:t>
            </a:r>
          </a:p>
          <a:p>
            <a:r>
              <a:t>• Kapan founder mulai delegasi </a:t>
            </a:r>
          </a:p>
          <a:p>
            <a:r>
              <a:t> </a:t>
            </a:r>
          </a:p>
          <a:p>
            <a:r>
              <a:t>4. Apa yang Bikin Produk Benar-Benar Layak Dijual? </a:t>
            </a:r>
          </a:p>
          <a:p>
            <a:r>
              <a:t>Modul 4 - Minimum Sellable Product </a:t>
            </a:r>
          </a:p>
          <a:p>
            <a:r>
              <a:t>• Customer problem yang nyata </a:t>
            </a:r>
          </a:p>
          <a:p>
            <a:r>
              <a:t>• Minimum value sebelum launch </a:t>
            </a:r>
          </a:p>
          <a:p>
            <a:r>
              <a:t>• Value proposition yang jelas </a:t>
            </a:r>
          </a:p>
          <a:p>
            <a:r>
              <a:t> </a:t>
            </a:r>
          </a:p>
          <a:p>
            <a:r>
              <a:t>5. Gimana Menemukan Cara Jual yang Efektif? </a:t>
            </a:r>
          </a:p>
          <a:p>
            <a:r>
              <a:t>Modul 5 - Go-To-Market </a:t>
            </a:r>
          </a:p>
          <a:p>
            <a:r>
              <a:t>• Pilih channel yang tepat </a:t>
            </a:r>
          </a:p>
          <a:p>
            <a:r>
              <a:t>• Uji pricing dan sales approach </a:t>
            </a:r>
          </a:p>
          <a:p>
            <a:r>
              <a:t>• Bikin sales lebih repeatable </a:t>
            </a:r>
          </a:p>
          <a:p>
            <a:r>
              <a:t> </a:t>
            </a:r>
          </a:p>
          <a:p>
            <a:r>
              <a:t>6. Kapan Bisnis Harus Mulai Dibikin Lebih Rapi? </a:t>
            </a:r>
          </a:p>
          <a:p>
            <a:r>
              <a:t>Modul 6 - Operational &amp; Legal </a:t>
            </a:r>
          </a:p>
          <a:p>
            <a:r>
              <a:t>• SOP dan proses utama </a:t>
            </a:r>
          </a:p>
          <a:p>
            <a:r>
              <a:t>• Legalitas dan kontrak </a:t>
            </a:r>
          </a:p>
          <a:p>
            <a:r>
              <a:t>• Kurangi bottleneck operasional </a:t>
            </a:r>
          </a:p>
          <a:p>
            <a:r>
              <a:t> </a:t>
            </a:r>
          </a:p>
          <a:p>
            <a:endParaRPr/>
          </a:p>
          <a:p>
            <a:r>
              <a:t>CEO Masterclass | Founder Live </a:t>
            </a:r>
          </a:p>
          <a:p>
            <a:r>
              <a:t>7. Bisnis Untung, Tapi Kenapa Cash Liquid Nggak Ada? </a:t>
            </a:r>
          </a:p>
          <a:p>
            <a:r>
              <a:t>Modul 7 - Finance &amp; Tax </a:t>
            </a:r>
          </a:p>
          <a:p>
            <a:r>
              <a:t>• Profit vs cash flow </a:t>
            </a:r>
          </a:p>
          <a:p>
            <a:r>
              <a:t>• Working capital </a:t>
            </a:r>
          </a:p>
          <a:p>
            <a:r>
              <a:t>• Angka yang wajib dipantau </a:t>
            </a:r>
          </a:p>
          <a:p>
            <a:r>
              <a:t> </a:t>
            </a:r>
          </a:p>
          <a:p>
            <a:r>
              <a:t>8. Kapan Bisnis Sudah Siap untuk Scale dan Cari Modal? </a:t>
            </a:r>
          </a:p>
          <a:p>
            <a:r>
              <a:t>Modul 8 - Scale Up &amp; Fundraising </a:t>
            </a:r>
          </a:p>
          <a:p>
            <a:r>
              <a:t>• Cek kesiapan sebelum scale </a:t>
            </a:r>
          </a:p>
          <a:p>
            <a:r>
              <a:t>• Bootstrap vs external capital </a:t>
            </a:r>
          </a:p>
          <a:p>
            <a:r>
              <a:t>• Investor readiness </a:t>
            </a:r>
          </a:p>
          <a:p>
            <a:endParaRPr/>
          </a:p>
          <a:p>
            <a:r>
              <a:t>Format internal: 90 menit, 5 pembukaan + 20 cerita speaker + 60 tanya jawab/bedah kasus + 5 penutup. Usulan jadwal: Selasa dan Kamis, 3–26 November 2026, 19.00–20.30 WIB. Delapan sesi selesai dalam empat minggu; tanggal dan jam menunggu konfirmasi. Speaker dicocokkan dengan topik, bukan sebaliknya.</a:t>
            </a:r>
          </a:p>
          <a:p>
            <a:r>
              <a:t>Cadangan per sesi adalah rekomendasi pengganti, bukan booking ganda. Team: Winston alternatif berdasarkan pengalaman membangun organisasi IDN; pencocokan editorial. FX Iwan tetap alternatif Finance/Scale bersyarat verifikasi identitas. Jill Gladys alternatif Product/Operations bersyarat afiliasi. dr. Richard Lee alternatif Product/GTM. Semua 14 nama dari daftar pengguna tetap dipertimbangkan. Jadwal hanya hari Selasa/Kamis; konfirmasi ulang availability sebelum diumumkan.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RISET SPEAKER, diakses 6 Oktober 2026. Semua penempatan di bawah adalah rekomendasi, bukan bukti booking, kesediaan, fee atau ketersediaan tanggal. Jabatan berdasarkan sumber yang disebut, dapat berubah. Tidak menggunakan ukuran popularitas sebagai pengganti kecocokan case.</a:t>
            </a:r>
          </a:p>
          <a:p>
            <a:endParaRPr/>
          </a:p>
          <a:p>
            <a:r>
              <a:t>Yukka Harlanda — Utama 3 Nov / Mindset</a:t>
            </a:r>
          </a:p>
          <a:p>
            <a:r>
              <a:t>Brodo; co-founder, profil Endeavor. Pengalaman membangun brand cocok untuk membahas keputusan bertahan atau mengubah arah. Minta satu keputusan konkret beserta kondisi awal, opsi, dan hasil; jangan mengulang klaim jumlah toko tanpa bukti.</a:t>
            </a:r>
          </a:p>
          <a:p>
            <a:r>
              <a:t>Sumber: https://indonesia.endeavor.org/399628-2/</a:t>
            </a:r>
          </a:p>
          <a:p>
            <a:endParaRPr/>
          </a:p>
          <a:p>
            <a:r>
              <a:t>Dokter Tirta — Utama 5 Nov / Problem Solving</a:t>
            </a:r>
          </a:p>
          <a:p>
            <a:r>
              <a:t>Praktisi usaha Shoes and Care; sesi kewirausahaan UGM mendukung relevansi pengalaman bisnis. Fit untuk diagnosis masalah operasional, prioritas dan keputusan dengan informasi terbatas. Ini pemetaan editorial, bukan sertifikasi kompetensi.</a:t>
            </a:r>
          </a:p>
          <a:p>
            <a:r>
              <a:t>Sumber: https://feb.ugm.ac.id/id/berita/5000-dr-tirta-bagikan-tips-mengelola-usaha-di-era-digital</a:t>
            </a:r>
          </a:p>
          <a:p>
            <a:endParaRPr/>
          </a:p>
          <a:p>
            <a:r>
              <a:t>Anthony Soehartono — Utama 10 Nov / Team</a:t>
            </a:r>
          </a:p>
          <a:p>
            <a:r>
              <a:t>BP Consulting Group dan Komisaris Independen PT Mega Perintis Tbk, bukan jabatan korporat bernama Commissioner Manzone. Profil perusahaan mengonfirmasi pengalaman strategi. Brief diarahkan ke perekrutan pertama, skill/trust dan pembagian keputusan, bukan presentasi motivasi.</a:t>
            </a:r>
          </a:p>
          <a:p>
            <a:r>
              <a:t>Sumber: https://www.kaisar-ceramics.com/profile/board-of-commissioners/anthony-soehartono/</a:t>
            </a:r>
          </a:p>
          <a:p>
            <a:endParaRPr/>
          </a:p>
          <a:p>
            <a:r>
              <a:t>Christopher Aldo — Utama 12 Nov / Product</a:t>
            </a:r>
          </a:p>
          <a:p>
            <a:r>
              <a:t>Co-founder Yellow Fit Kitchen, terkonfirmasi rilis perusahaan. Pengalaman mengembangkan layanan makanan relevan untuk customer problem, minimum value dan value proposition. Klaim guarantee dan margin hanya dipakai jika speaker membawa data yang boleh dibagikan.</a:t>
            </a:r>
          </a:p>
          <a:p>
            <a:r>
              <a:t>Sumber: https://www.prnewswire.com/news-releases/yellow-fit-kitchens-founders-gregorius-ruben-and-christopher-aldo-announce-plan-to-tackle-increased-obesity-rate-in-indonesia-301400076.html</a:t>
            </a:r>
          </a:p>
          <a:p>
            <a:endParaRPr/>
          </a:p>
          <a:p>
            <a:r>
              <a:t>Aristia Chen — Utama 17 Nov / Go-to-Market</a:t>
            </a:r>
          </a:p>
          <a:p>
            <a:r>
              <a:t>CMO Mazuta Group Indonesia berdasarkan profil profesional mandiri. Fit marketing/distribusi untuk pilihan channel, uji pricing, sales approach dan repeatability. Status jabatan dikonfirmasi saat approach.</a:t>
            </a:r>
          </a:p>
          <a:p>
            <a:r>
              <a:t>Sumber: https://id.linkedin.com/in/aristia-chen-627609243</a:t>
            </a:r>
          </a:p>
          <a:p>
            <a:endParaRPr/>
          </a:p>
          <a:p>
            <a:r>
              <a:t>Daniel Sidik — Utama 19 Nov / Operations</a:t>
            </a:r>
          </a:p>
          <a:p>
            <a:r>
              <a:t>Co-founder Jago Coffee, profil resmi membahas peran COO/CMO, penyesuaian harga dan SOP. Cocok untuk bottleneck operasional dan standardisasi. Legalitas/kontrak perlu review materi oleh PIC yang kompeten, tidak diasumsikan sebagai keahlian hukum speaker.</a:t>
            </a:r>
          </a:p>
          <a:p>
            <a:r>
              <a:t>Sumber: https://www.jagocoffee.com/story/berkenalan-dengan-daniel-sidik-co-founder-terbaru-jago-coffee</a:t>
            </a:r>
          </a:p>
          <a:p>
            <a:endParaRPr/>
          </a:p>
          <a:p>
            <a:r>
              <a:t>Daniel Liu — Utama 24 Nov / Finance</a:t>
            </a:r>
          </a:p>
          <a:p>
            <a:r>
              <a:t>Nama Daniel Rocketindo dinormalisasi ke Daniel Liu. Situs Rocketindo memuat pengalaman bootstrap, profit dan kebutuhan modal. Ini mendukung case cash flow dan working capital; bukan bukti keahlian pajak. Minta contoh cash cycle sederhana dan angka yang boleh diungkap.</a:t>
            </a:r>
          </a:p>
          <a:p>
            <a:r>
              <a:t>Sumber: https://rocketindo.asia/blogs/news/ecommerce-enabler-rocketindo-bootstraps-its-way-to-300-growth-profitability</a:t>
            </a:r>
          </a:p>
          <a:p>
            <a:endParaRPr/>
          </a:p>
          <a:p>
            <a:r>
              <a:t>Winston Utomo — Utama 26 Nov / Scale</a:t>
            </a:r>
          </a:p>
          <a:p>
            <a:r>
              <a:t>Founder IDN; pengumuman resmi pendanaan Series D membuktikan pengalaman external capital dan scaling. Brief: readiness, trade-off bootstrap vs modal eksternal dan kesiapan investor. Jangan menyamakan besarnya funding dengan keberhasilan semua bisnis.</a:t>
            </a:r>
          </a:p>
          <a:p>
            <a:r>
              <a:t>Sumber: https://www.idn.media/news/222/idn-media-secures-a-series-d-investment</a:t>
            </a:r>
          </a:p>
          <a:p>
            <a:endParaRPr/>
          </a:p>
          <a:p>
            <a:r>
              <a:t>Nicholas Dennis — Alternatif GTM / Finance</a:t>
            </a:r>
          </a:p>
          <a:p>
            <a:r>
              <a:t>Founder BD Ekspor, berdasarkan situs resmi. Kuat untuk market entry ekspor, buyer, termin pembayaran dan kebutuhan modal kerja. Arah cash-flow adalah usulan case, bukan klaim bahwa ia ahli pajak. Layak diprioritaskan sebagai pengganti Finance jika bisa membawa case arus kas ekspor yang sesuai; jangan mengubah modul menjadi seminar ekspor saja.</a:t>
            </a:r>
          </a:p>
          <a:p>
            <a:r>
              <a:t>Sumber: https://bdekspor.com/</a:t>
            </a:r>
          </a:p>
          <a:p>
            <a:endParaRPr/>
          </a:p>
          <a:p>
            <a:r>
              <a:t>Purwa Hartono — Alternatif Mindset / Product</a:t>
            </a:r>
          </a:p>
          <a:p>
            <a:r>
              <a:t>Founder Purwadhika; sejarah organisasi dan pengembangan kurikulum memberi dasar untuk perubahan produk dan relevansi pasar.</a:t>
            </a:r>
          </a:p>
          <a:p>
            <a:r>
              <a:t>Sumber: https://www.purwadhika.com/about-us</a:t>
            </a:r>
          </a:p>
          <a:p>
            <a:endParaRPr/>
          </a:p>
          <a:p>
            <a:r>
              <a:t>Samuel Christ — Alternatif Go-to-Market</a:t>
            </a:r>
          </a:p>
          <a:p>
            <a:r>
              <a:t>Co-founder Seefluencer, dikonfirmasi halaman produk resmi. Fit untuk channel content, audience dan konversi. Brief wajib menghubungkan reach ke hasil penjualan, bukan hanya follower.</a:t>
            </a:r>
          </a:p>
          <a:p>
            <a:r>
              <a:t>Sumber: https://www.seefluencer.com/mcs</a:t>
            </a:r>
          </a:p>
          <a:p>
            <a:endParaRPr/>
          </a:p>
          <a:p>
            <a:r>
              <a:t>dr. Richard Lee — Alternatif Product / Go-to-Market</a:t>
            </a:r>
          </a:p>
          <a:p>
            <a:r>
              <a:t>Founder Athena berdasarkan halaman brand. Pengalaman brand/edukasi pasar dapat dipakai untuk case bisnis; jangan menjadikan sesi sebagai promosi atau pembahasan medis. Status availability dan scope perlu konfirmasi seperti kandidat lain.</a:t>
            </a:r>
          </a:p>
          <a:p>
            <a:r>
              <a:t>Sumber: https://athena-shop.id/about-us</a:t>
            </a:r>
          </a:p>
          <a:p>
            <a:endParaRPr/>
          </a:p>
          <a:p>
            <a:r>
              <a:t>Jill Gladys — Alternatif bersyarat Product / Operations</a:t>
            </a:r>
          </a:p>
          <a:p>
            <a:r>
              <a:t>Pengguna menyebut Wolf Gang Steak. Penelusuran belum menemukan sumber resmi yang mengonfirmasi hubungan ini. Jangan tulis founder/owner Wolfgang sebagai fakta. Minta nama badan usaha, jabatan dan contoh pengalaman mengelola F&amp;B sebelum menetapkan slot. Penempatan sementara berdasar konteks internal pengguna.</a:t>
            </a:r>
          </a:p>
          <a:p>
            <a:r>
              <a:t>Sumber: Belum ada sumber resmi yang memadai; daftar pengguna, 6 Oktober 2026.</a:t>
            </a:r>
          </a:p>
          <a:p>
            <a:endParaRPr/>
          </a:p>
          <a:p>
            <a:r>
              <a:t>FX Iwan — Alternatif bersyarat Finance / Scale</a:t>
            </a:r>
          </a:p>
          <a:p>
            <a:r>
              <a:t>Situs Trinity memuat FX Iwan sebagai CEO Jagartha Advisor, berbeda dari label umum Media Production yang diberikan. Kredit film dengan nama serupa belum cukup untuk menyamakan identitas. Konfirmasi orang, jabatan dan perusahaan terlebih dulu. Bila cocok, topik modal/investasi mungkin relevan.</a:t>
            </a:r>
          </a:p>
          <a:p>
            <a:r>
              <a:t>Sumber: https://www.trinityproduction.com/news/trinity-optima-production-da6202723632652b42000135</a:t>
            </a:r>
          </a:p>
          <a:p>
            <a:endParaRPr/>
          </a:p>
          <a:p>
            <a:r>
              <a:t>Cadangan lintas slot: Purwa untuk Mindset/Product; Samuel untuk GTM; Nicholas untuk GTM/Finance setelah brief; Daniel Liu untuk Scale bila Winston tidak tersedia; Anthony untuk Operations bila case sesuai. Jika kandidat utama dan cadangan sama-sama sudah mengisi, jangan otomatis memberi satu orang dua sesi. Kembali ke shortlist dan konfirmasi kapasitas.</a:t>
            </a:r>
          </a:p>
          <a:p>
            <a:r>
              <a:t>Batas penting: modul Operational &amp; Legal dan Finance &amp; Tax tetap mengikuti PDF. Speaker founder membahas keputusan bisnis. Detail hukum/pajak harus melalui review pihak yang kompeten sebelum dibagikan; ini kebutuhan review, bukan penambahan fee fiktif. Tidak semua kandidat otomatis bisa mengajar seluruh isi modul.</a:t>
            </a:r>
          </a:p>
          <a:p>
            <a:r>
              <a:t>Topik dan poin pembahasan mengikuti PDF terbaru.</a:t>
            </a:r>
          </a:p>
          <a:p>
            <a:r>
              <a:t>Sumber: /Users/agatbe/Library/Containers/net.whatsapp.WhatsApp/Data/tmp/documents/1F160F60-E831-4573-AEC2-7B56142FBECC/CEO Masterclass - Live Topic.pdf</a:t>
            </a:r>
          </a:p>
          <a:p>
            <a:endParaRPr/>
          </a:p>
          <a:p>
            <a:r>
              <a:t>CEO Masterclass | Founder Live </a:t>
            </a:r>
          </a:p>
          <a:p>
            <a:r>
              <a:t>Founder Live - 8 Topik Utama </a:t>
            </a:r>
          </a:p>
          <a:p>
            <a:r>
              <a:t>Mengacu pada 8 modul utama CEO Masterclass </a:t>
            </a:r>
          </a:p>
          <a:p>
            <a:r>
              <a:t>1. Kapan Harus Bertahan, Kapan Harus Berubah Arah? </a:t>
            </a:r>
          </a:p>
          <a:p>
            <a:r>
              <a:t>Modul 1 - Entrepreneurship Mentality </a:t>
            </a:r>
          </a:p>
          <a:p>
            <a:r>
              <a:t>• Tanda bisnis perlu pivot </a:t>
            </a:r>
          </a:p>
          <a:p>
            <a:r>
              <a:t>• Conviction vs keras kepala </a:t>
            </a:r>
          </a:p>
          <a:p>
            <a:r>
              <a:t>• Belajar dari keputusan yang salah </a:t>
            </a:r>
          </a:p>
          <a:p>
            <a:r>
              <a:t> </a:t>
            </a:r>
          </a:p>
          <a:p>
            <a:r>
              <a:t>2. Masalah Mana yang Harus Diselesaikan Dulu? </a:t>
            </a:r>
          </a:p>
          <a:p>
            <a:r>
              <a:t>Modul 2 - Problem Solving </a:t>
            </a:r>
          </a:p>
          <a:p>
            <a:r>
              <a:t>• Cari root problem </a:t>
            </a:r>
          </a:p>
          <a:p>
            <a:r>
              <a:t>• Tentukan prioritas </a:t>
            </a:r>
          </a:p>
          <a:p>
            <a:r>
              <a:t>• Putuskan dengan data terbatas </a:t>
            </a:r>
          </a:p>
          <a:p>
            <a:r>
              <a:t> </a:t>
            </a:r>
          </a:p>
          <a:p>
            <a:r>
              <a:t>3. Kapan Harus Mulai Bangun Team? </a:t>
            </a:r>
          </a:p>
          <a:p>
            <a:r>
              <a:t>Modul 3 - Team &amp; Networking Formation </a:t>
            </a:r>
          </a:p>
          <a:p>
            <a:r>
              <a:t>• Siapa yang direkrut dulu </a:t>
            </a:r>
          </a:p>
          <a:p>
            <a:r>
              <a:t>• Skill vs trust </a:t>
            </a:r>
          </a:p>
          <a:p>
            <a:r>
              <a:t>• Kapan founder mulai delegasi </a:t>
            </a:r>
          </a:p>
          <a:p>
            <a:r>
              <a:t> </a:t>
            </a:r>
          </a:p>
          <a:p>
            <a:r>
              <a:t>4. Apa yang Bikin Produk Benar-Benar Layak Dijual? </a:t>
            </a:r>
          </a:p>
          <a:p>
            <a:r>
              <a:t>Modul 4 - Minimum Sellable Product </a:t>
            </a:r>
          </a:p>
          <a:p>
            <a:r>
              <a:t>• Customer problem yang nyata </a:t>
            </a:r>
          </a:p>
          <a:p>
            <a:r>
              <a:t>• Minimum value sebelum launch </a:t>
            </a:r>
          </a:p>
          <a:p>
            <a:r>
              <a:t>• Value proposition yang jelas </a:t>
            </a:r>
          </a:p>
          <a:p>
            <a:r>
              <a:t> </a:t>
            </a:r>
          </a:p>
          <a:p>
            <a:r>
              <a:t>5. Gimana Menemukan Cara Jual yang Efektif? </a:t>
            </a:r>
          </a:p>
          <a:p>
            <a:r>
              <a:t>Modul 5 - Go-To-Market </a:t>
            </a:r>
          </a:p>
          <a:p>
            <a:r>
              <a:t>• Pilih channel yang tepat </a:t>
            </a:r>
          </a:p>
          <a:p>
            <a:r>
              <a:t>• Uji pricing dan sales approach </a:t>
            </a:r>
          </a:p>
          <a:p>
            <a:r>
              <a:t>• Bikin sales lebih repeatable </a:t>
            </a:r>
          </a:p>
          <a:p>
            <a:r>
              <a:t> </a:t>
            </a:r>
          </a:p>
          <a:p>
            <a:r>
              <a:t>6. Kapan Bisnis Harus Mulai Dibikin Lebih Rapi? </a:t>
            </a:r>
          </a:p>
          <a:p>
            <a:r>
              <a:t>Modul 6 - Operational &amp; Legal </a:t>
            </a:r>
          </a:p>
          <a:p>
            <a:r>
              <a:t>• SOP dan proses utama </a:t>
            </a:r>
          </a:p>
          <a:p>
            <a:r>
              <a:t>• Legalitas dan kontrak </a:t>
            </a:r>
          </a:p>
          <a:p>
            <a:r>
              <a:t>• Kurangi bottleneck operasional </a:t>
            </a:r>
          </a:p>
          <a:p>
            <a:r>
              <a:t> </a:t>
            </a:r>
          </a:p>
          <a:p>
            <a:endParaRPr/>
          </a:p>
          <a:p>
            <a:r>
              <a:t>CEO Masterclass | Founder Live </a:t>
            </a:r>
          </a:p>
          <a:p>
            <a:r>
              <a:t>7. Bisnis Untung, Tapi Kenapa Cash Liquid Nggak Ada? </a:t>
            </a:r>
          </a:p>
          <a:p>
            <a:r>
              <a:t>Modul 7 - Finance &amp; Tax </a:t>
            </a:r>
          </a:p>
          <a:p>
            <a:r>
              <a:t>• Profit vs cash flow </a:t>
            </a:r>
          </a:p>
          <a:p>
            <a:r>
              <a:t>• Working capital </a:t>
            </a:r>
          </a:p>
          <a:p>
            <a:r>
              <a:t>• Angka yang wajib dipantau </a:t>
            </a:r>
          </a:p>
          <a:p>
            <a:r>
              <a:t> </a:t>
            </a:r>
          </a:p>
          <a:p>
            <a:r>
              <a:t>8. Kapan Bisnis Sudah Siap untuk Scale dan Cari Modal? </a:t>
            </a:r>
          </a:p>
          <a:p>
            <a:r>
              <a:t>Modul 8 - Scale Up &amp; Fundraising </a:t>
            </a:r>
          </a:p>
          <a:p>
            <a:r>
              <a:t>• Cek kesiapan sebelum scale </a:t>
            </a:r>
          </a:p>
          <a:p>
            <a:r>
              <a:t>• Bootstrap vs external capital </a:t>
            </a:r>
          </a:p>
          <a:p>
            <a:r>
              <a:t>• Investor readiness </a:t>
            </a:r>
          </a:p>
          <a:p>
            <a:endParaRPr/>
          </a:p>
          <a:p>
            <a:r>
              <a:t>Format internal: 90 menit, 5 pembukaan + 20 cerita speaker + 60 tanya jawab/bedah kasus + 5 penutup. Usulan jadwal: Selasa dan Kamis, 3–26 November 2026, 19.00–20.30 WIB. Delapan sesi selesai dalam empat minggu; tanggal dan jam menunggu konfirmasi. Speaker dicocokkan dengan topik, bukan sebaliknya.</a:t>
            </a:r>
          </a:p>
          <a:p>
            <a:r>
              <a:t>Cadangan per sesi adalah rekomendasi pengganti, bukan booking ganda. Team: Winston alternatif berdasarkan pengalaman membangun organisasi IDN; pencocokan editorial. FX Iwan tetap alternatif Finance/Scale bersyarat verifikasi identitas. Jill Gladys alternatif Product/Operations bersyarat afiliasi. dr. Richard Lee alternatif Product/GTM. Semua 14 nama dari daftar pengguna tetap dipertimbangkan. Jadwal hanya hari Selasa/Kamis; konfirmasi ulang availability sebelum diumumkan.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KEBUTUHAN DAN ALUR OPERASIONAL</a:t>
            </a:r>
          </a:p>
          <a:p>
            <a:r>
              <a:t>Tools existing: Google Form untuk pertanyaan/profil usaha/feedback; Google Sheets untuk kurasi dan kehadiran; kanal WhatsApp/email CMC untuk reminder; Zoom kapasitas 1.000 untuk live/recording; LMS/Drive CMC untuk arsip sesuai akses dan storage yang tersedia. Tidak perlu Kahoot, Slido, sound system, hadiah/apresiasi speaker atau produksi tambahan di base.</a:t>
            </a:r>
          </a:p>
          <a:p>
            <a:r>
              <a:t>Peralatan: laptop host dan operator, headset/mic, internet stabil, jalur cadangan/hotspot, ruang tenang, power dan recording storage. Cek ketersediaan internal; jangan menganggap kebutuhan baru pasti gratis. Jika perlu pembelian baru gunakan actual quote, tidak dimasukkan secara fiktif ke base.</a:t>
            </a:r>
          </a:p>
          <a:p>
            <a:r>
              <a:t>PIC: product lead mengunci tujuan, jadwal, budget dan TOR; speaker coordinator mengurus briefing/approval materi; kurator mengelompokkan case; host memilih pertanyaan dan menjaga waktu; operator mengelola peserta, mute, share, rekaman dan backup link; admin mengirim reminder, merekap kehadiran dan mengunggah arsip. Finance mengonfirmasi gross/nett dan pajak. Nama personil TBD. Tim existing, tidak dibuat memo biaya jam kerja.</a:t>
            </a:r>
          </a:p>
          <a:p>
            <a:r>
              <a:t>H-7: buka form per sesi. H-3: shortlist dan case dikirim ke speaker, briefing 20–25 menit disepakati. H-1: uji akses, audio, slide/screen share, recording/storage, host/co-host dan recovery. Hari H: operator standby minimal 30 menit sebelum live, speaker masuk 10 menit sebelum mulai. H+1: feedback dan ringkasan awal. Maks H+3: rekaman berizin dan catatan di LMS. Dua pipeline sesi berjalan paralel.</a:t>
            </a:r>
          </a:p>
          <a:p>
            <a:r>
              <a:t>Contoh sesi 3 Nov: form 27 Okt, shortlist 31 Okt, tech check 2 Nov, live 3 Nov, unggah maksimal 6 Nov. Karena H-3 jatuh Sabtu, kurasi dan pengiriman bisa dimajukan ke Jumat 30 Okt. Sesi 5 Nov: form 29 Okt, shortlist 2 Nov, tech check 4 Nov, unggah maks 8 Nov atau dimajukan ke Jumat 6 Nov. Persiapan menyesuaikan hari kerja tim; kelas tetap weekday.</a:t>
            </a:r>
          </a:p>
          <a:p>
            <a:r>
              <a:t>Ketentuan rental: pastikan 1.000 total capacity, format Meeting/Webinar, host/co-host, operator jika termasuk, akses recording dan report, durasi slot yang mencakup backstage + 90 menit + buffer, seluruh tanggal, hak penggunaan akun dan dukungan jika ada gangguan. Jangan meminta atau menyimpan password vendor dalam deck.</a:t>
            </a:r>
          </a:p>
          <a:p>
            <a:r>
              <a:t>Ketentuan subscribe: aktifkan satu siklus yang mencakup seluruh kelas, cek auto-renew dan quota storage. Pro + Large Meeting tidak diasumsikan punya Q&amp;A terstruktur seperti Webinar; gunakan form, mic/chat dan raise hand terkurasi. Jika pengalaman Webinar dibutuhkan, anggarkan alternatif dengan sadar.</a:t>
            </a:r>
          </a:p>
          <a:p>
            <a:endParaRPr/>
          </a:p>
          <a:p>
            <a:r>
              <a:t>Kahoot bukan base tool karena bukan kebutuhan format ini; tidak ada biaya optional. Form dibuka H-7, shortlist H-3, tech check H-1, rekaman maksimal H+3. Peran internal harus ditugaskan meski tidak dibebankan biaya tunai tambahan.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PERHITUNGAN TERBARU, 1 BULAN / 8 SESI</a:t>
            </a:r>
          </a:p>
          <a:p>
            <a:r>
              <a:t>Budget internal speaker: optimis 8×Rp3.000.000=Rp24.000.000; base 8×Rp4.000.000=Rp32.000.000; pesimis 8×Rp5.000.000=Rp40.000.000. Bukan quotation atau market benchmark.</a:t>
            </a:r>
          </a:p>
          <a:p>
            <a:r>
              <a:t>Subscribe Pro+Large Meeting 1.000: Rp271.840 + Rp2.383.999 = Rp2,655,839/bulan. Ini acuan checkout sebelumnya yang disimpan dalam deck, bukan verifikasi tarif baru. Seluruh kelas harus tercakup dalam satu siklus.</a:t>
            </a:r>
          </a:p>
          <a:p>
            <a:r>
              <a:t>Sewa 1.000: Rp350.000/sesi ×8 = Rp2,800,000; angka pengguna sebagai asumsi, bukan quotation vendor.</a:t>
            </a:r>
          </a:p>
          <a:p>
            <a:r>
              <a:t>Selisih: Rp144,161; subscribe sekitar 5.15% lebih murah dari sewa menurut acuan tersebut.</a:t>
            </a:r>
          </a:p>
          <a:p>
            <a:r>
              <a:t>Total subscribe optimis/base/pesimis: Rp26.655.839 / Rp34.655.839 / Rp42.655.839. Total rental: Rp26.800.000 / Rp34.800.000 / Rp42.800.000. Pilih salah satu, tidak dijumlahkan.</a:t>
            </a:r>
          </a:p>
          <a:p>
            <a:r>
              <a:t>Sebelum pajak/gross-up jika fee disepakati nett. Belum mengklaim ceiling termasuk seluruh kewajiban pajak. Actual quote dan Finance menentukan final.</a:t>
            </a:r>
          </a:p>
          <a:p>
            <a:r>
              <a:t>Cost per peserta unik batch, bukan CAC dan bukan akumulasi absensi delapan sesi:</a:t>
            </a:r>
          </a:p>
          <a:p>
            <a:r>
              <a:t>500 peserta, subscribe optimis/base/pesimis = Rp53,312 / Rp69,312 / Rp85,312; rental = Rp53,600 / Rp69,600 / Rp85,600.</a:t>
            </a:r>
          </a:p>
          <a:p>
            <a:r>
              <a:t>750 peserta, subscribe optimis/base/pesimis = Rp35,541 / Rp46,208 / Rp56,874; rental = Rp35,733 / Rp46,400 / Rp57,067.</a:t>
            </a:r>
          </a:p>
          <a:p>
            <a:r>
              <a:t>1000 peserta, subscribe optimis/base/pesimis = Rp26,656 / Rp34,656 / Rp42,656; rental = Rp26,800 / Rp34,800 / Rp42,800.</a:t>
            </a:r>
          </a:p>
          <a:p>
            <a:r>
              <a:t>Tidak ada apresiasi speaker, internal team time non-cash, atau optional tools di RAB. Tools/tim existing tidak dibebankan biaya tambahan selama benar-benar tidak ada incremental cash cost. Jika fee aktual kandidat di atas budget, negosiasikan scope/kolaborasi atau pilih cadangan; tidak otomatis diasumsikan sesuai Rp3–5 jt.</a:t>
            </a:r>
          </a:p>
          <a:p>
            <a:r>
              <a:t>Subscribe Pro+Large Meeting 1.000 Rp2.655.839/bulan. Sewa 8×Rp350.000=Rp2.800.000. Selisih Rp144.161. Paket belum tentu setara: operator, hak host/co-host, durasi, rekaman dan report perlu dikonfirmasi. Semua sesi dan rehearsal harus tercakup satu siklus. Sumber acuan: https://www.zoom.com/en/products/virtual-meetings/features/large-meetings/ dan https://support.zoom.com/hc/en/article?id=zm_kb&amp;sysparm_article=KB0062404 . Harga tidak diverifikasi ulang di revisi ini.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PERHITUNGAN TERBARU, 1 BULAN / 8 SESI</a:t>
            </a:r>
          </a:p>
          <a:p>
            <a:r>
              <a:t>Budget internal speaker: optimis 8×Rp3.000.000=Rp24.000.000; base 8×Rp4.000.000=Rp32.000.000; pesimis 8×Rp5.000.000=Rp40.000.000. Bukan quotation atau market benchmark.</a:t>
            </a:r>
          </a:p>
          <a:p>
            <a:r>
              <a:t>Subscribe Pro+Large Meeting 1.000: Rp271.840 + Rp2.383.999 = Rp2,655,839/bulan. Ini acuan checkout sebelumnya yang disimpan dalam deck, bukan verifikasi tarif baru. Seluruh kelas harus tercakup dalam satu siklus.</a:t>
            </a:r>
          </a:p>
          <a:p>
            <a:r>
              <a:t>Sewa 1.000: Rp350.000/sesi ×8 = Rp2,800,000; angka pengguna sebagai asumsi, bukan quotation vendor.</a:t>
            </a:r>
          </a:p>
          <a:p>
            <a:r>
              <a:t>Selisih: Rp144,161; subscribe sekitar 5.15% lebih murah dari sewa menurut acuan tersebut.</a:t>
            </a:r>
          </a:p>
          <a:p>
            <a:r>
              <a:t>Total subscribe optimis/base/pesimis: Rp26.655.839 / Rp34.655.839 / Rp42.655.839. Total rental: Rp26.800.000 / Rp34.800.000 / Rp42.800.000. Pilih salah satu, tidak dijumlahkan.</a:t>
            </a:r>
          </a:p>
          <a:p>
            <a:r>
              <a:t>Sebelum pajak/gross-up jika fee disepakati nett. Belum mengklaim ceiling termasuk seluruh kewajiban pajak. Actual quote dan Finance menentukan final.</a:t>
            </a:r>
          </a:p>
          <a:p>
            <a:r>
              <a:t>Cost per peserta unik batch, bukan CAC dan bukan akumulasi absensi delapan sesi:</a:t>
            </a:r>
          </a:p>
          <a:p>
            <a:r>
              <a:t>500 peserta, subscribe optimis/base/pesimis = Rp53,312 / Rp69,312 / Rp85,312; rental = Rp53,600 / Rp69,600 / Rp85,600.</a:t>
            </a:r>
          </a:p>
          <a:p>
            <a:r>
              <a:t>750 peserta, subscribe optimis/base/pesimis = Rp35,541 / Rp46,208 / Rp56,874; rental = Rp35,733 / Rp46,400 / Rp57,067.</a:t>
            </a:r>
          </a:p>
          <a:p>
            <a:r>
              <a:t>1000 peserta, subscribe optimis/base/pesimis = Rp26,656 / Rp34,656 / Rp42,656; rental = Rp26,800 / Rp34,800 / Rp42,800.</a:t>
            </a:r>
          </a:p>
          <a:p>
            <a:r>
              <a:t>Tidak ada apresiasi speaker, internal team time non-cash, atau optional tools di RAB. Tools/tim existing tidak dibebankan biaya tambahan selama benar-benar tidak ada incremental cash cost. Jika fee aktual kandidat di atas budget, negosiasikan scope/kolaborasi atau pilih cadangan; tidak otomatis diasumsikan sesuai Rp3–5 jt.</a:t>
            </a:r>
          </a:p>
          <a:p>
            <a:r>
              <a:t>Total sewa mencakup honor+Rp2,8 jt rental. Total subscribe mencakup honor+Rp2.655.839. Angka slide dibulatkan dua desimal juta, perhitungan memakai rupiah penuh. TOR sudah dibuat; nilai akhir menunggu actual quote speaker dan keputusan platform.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Deck operasional berdasarkan arahan terbaru pengguna. Sertifikasi dan roadmap harga membership dikeluarkan. TOR Founder Live sudah dibuat; tahap selanjutnya outreach, matching speaker, konfirmasi jadwal/fee, dan keputusan Zoom. Logo asli pengguna dipasang tanpa mengubah desain logo.</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862570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Arahan internal terbaru: minimal satu Intimate Dinner setiap bulan, hard cap 20 paying participants. Usulan target pilot akhir November 2026, lalu minimal satu event setiap bulan berikutnya; belum ada tanggal/venue/Master confirmed. 24 headcount budgeting =20 peserta+1 Master+3 CMC; venue wajib muat seluruh headcount. Format confidential, no recording, application-based. Tiga sampai empat kasus terpilih, bukan konsultasi individual untuk seluruh20peserta. Jika demand penuh gunakan waitlist, bukan extra chairs. Hak foto penutup atas persetujuan peserta.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adalah working format. Apply: nama,bisnis,posisi,industri,stage,tantangan,pertanyaan untukMaster. Tim menyeleksi kesesuaianroom; setelah seat offered kirim paymentlink dengan usulanhold24jam, lalu confirmed/waitlist. Member punya priority access sesuai window yang akan ditetapkan. Bukan first come first served. Membership saja tidak menjamin seat. No recording; isi diskusi confidential. Foto hanya atas persetujuan.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Harga adalah usulan pilot dari arahan pengguna. Existing member: Dinner Rp1.500.000. Non-member tiket saja: Rp5.000.000. Member baru: membership saat ini Rp1.500.000 + satu seat Dinner Rp1.500.000 = Rp3.000.000. Tidak ada diskon bundle tambahan. Opsi ini memberi insentif bergabung menjadi member, tetapi conversion belum terbukti. Hemat member existing 70% dibanding tiket umum; member baru hemat Rp2 juta (40%) dibanding tiket umum. Tampilkan kedua pilihan secara transparan; jangan gunakan harga umum sebagai harga coret palsu atau benchmark pasar. Total Rp3 juta hanya berlaku selama harga membership Rp1,5 juta. Jika harga membership berubah, total harus dihitung ulang. Pembelian membership tidak menjamin admission; peserta tetap apply, direview, mendapat seat offer, lalu membayar. Ketentuan masa berlaku membership, pembatalan dan reschedule ditetapkan sebelum penjualan.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To-do sesuai arahan pengguna: TOR sudah dibuat. Pertama, product/speaker coordinator menghubungi kandidat dengan TOR, mengunci topik, tanggal dan cadangan; Finance mengonfirmasi gross/nett, pajak dan payment terms. Kedua, product dan operator membandingkan quotation subscribe/sewa Zoom serta lingkup layanan, lalu memutuskan dan melakukan tech check. Ketiga, sosialisasi Dinner dimulai hanya setelah sesi Founder Live pertama benar-benar berlangsung. Sesi pertama diusulkan 3 November 2026, sehingga sosialisasi dapat dimulai 4 November. Jika sesi pertama bergeser, sosialisasi ikut bergeser. Target pilot Dinner akhir November; tanggal belum confirmed. Sebelum membuka pembayaran Dinner, lock Master, venue untuk seluruh headcount, harga dan mekanisme seleksi. Komunikasikan membership + Dinner Rp3 juta hanya selama membership Rp1,5 juta. Ukur application, paid conversion, member baru, waitlist dan contribution per event.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Calibri"/>
          <a:ea typeface="Calibri"/>
          <a:cs typeface="Calibri"/>
        </a:defRPr>
      </a:lvl1pPr>
    </p:titleStyle>
    <p:bodyStyle>
      <a:lvl1pPr marL="228600" indent="-228600" algn="l">
        <a:lnSpc>
          <a:spcPct val="90000"/>
        </a:lnSpc>
        <a:spcBef>
          <a:spcPts val="1000"/>
        </a:spcBef>
        <a:buChar char="•"/>
        <a:defRPr sz="2800">
          <a:solidFill>
            <a:schemeClr val="tx1"/>
          </a:solidFill>
          <a:latin typeface="Calibri"/>
          <a:ea typeface="Calibri"/>
          <a:cs typeface="Calibri"/>
        </a:defRPr>
      </a:lvl1pPr>
      <a:lvl2pPr marL="685800" indent="-228600" algn="l">
        <a:lnSpc>
          <a:spcPct val="90000"/>
        </a:lnSpc>
        <a:spcBef>
          <a:spcPts val="500"/>
        </a:spcBef>
        <a:buChar char="•"/>
        <a:defRPr sz="2400">
          <a:solidFill>
            <a:schemeClr val="tx1"/>
          </a:solidFill>
          <a:latin typeface="Calibri"/>
          <a:ea typeface="Calibri"/>
          <a:cs typeface="Calibri"/>
        </a:defRPr>
      </a:lvl2pPr>
      <a:lvl3pPr marL="1143000" indent="-228600" algn="l">
        <a:lnSpc>
          <a:spcPct val="90000"/>
        </a:lnSpc>
        <a:spcBef>
          <a:spcPts val="500"/>
        </a:spcBef>
        <a:buChar char="•"/>
        <a:defRPr sz="2000">
          <a:solidFill>
            <a:schemeClr val="tx1"/>
          </a:solidFill>
          <a:latin typeface="Calibri"/>
          <a:ea typeface="Calibri"/>
          <a:cs typeface="Calibri"/>
        </a:defRPr>
      </a:lvl3pPr>
      <a:lvl4pPr marL="1600200" indent="-228600" algn="l">
        <a:lnSpc>
          <a:spcPct val="90000"/>
        </a:lnSpc>
        <a:spcBef>
          <a:spcPts val="500"/>
        </a:spcBef>
        <a:buChar char="•"/>
        <a:defRPr sz="1800">
          <a:solidFill>
            <a:schemeClr val="tx1"/>
          </a:solidFill>
          <a:latin typeface="Calibri"/>
          <a:ea typeface="Calibri"/>
          <a:cs typeface="Calibri"/>
        </a:defRPr>
      </a:lvl4pPr>
      <a:lvl5pPr marL="2057400" indent="-228600" algn="l">
        <a:lnSpc>
          <a:spcPct val="90000"/>
        </a:lnSpc>
        <a:spcBef>
          <a:spcPts val="500"/>
        </a:spcBef>
        <a:buChar char="•"/>
        <a:defRPr sz="1800">
          <a:solidFill>
            <a:schemeClr val="tx1"/>
          </a:solidFill>
          <a:latin typeface="Calibri"/>
          <a:ea typeface="Calibri"/>
          <a:cs typeface="Calibri"/>
        </a:defRPr>
      </a:lvl5pPr>
      <a:lvl6pPr marL="2514600" indent="-228600" algn="l">
        <a:lnSpc>
          <a:spcPct val="90000"/>
        </a:lnSpc>
        <a:spcBef>
          <a:spcPts val="500"/>
        </a:spcBef>
        <a:buChar char="•"/>
        <a:defRPr sz="1800">
          <a:solidFill>
            <a:schemeClr val="tx1"/>
          </a:solidFill>
          <a:latin typeface="Calibri"/>
          <a:ea typeface="Calibri"/>
          <a:cs typeface="Calibri"/>
        </a:defRPr>
      </a:lvl6pPr>
      <a:lvl7pPr marL="2971800" indent="-228600" algn="l">
        <a:lnSpc>
          <a:spcPct val="90000"/>
        </a:lnSpc>
        <a:spcBef>
          <a:spcPts val="500"/>
        </a:spcBef>
        <a:buChar char="•"/>
        <a:defRPr sz="1800">
          <a:solidFill>
            <a:schemeClr val="tx1"/>
          </a:solidFill>
          <a:latin typeface="Calibri"/>
          <a:ea typeface="Calibri"/>
          <a:cs typeface="Calibri"/>
        </a:defRPr>
      </a:lvl7pPr>
      <a:lvl8pPr marL="3429000" indent="-228600" algn="l">
        <a:lnSpc>
          <a:spcPct val="90000"/>
        </a:lnSpc>
        <a:spcBef>
          <a:spcPts val="500"/>
        </a:spcBef>
        <a:buChar char="•"/>
        <a:defRPr sz="1800">
          <a:solidFill>
            <a:schemeClr val="tx1"/>
          </a:solidFill>
          <a:latin typeface="Calibri"/>
          <a:ea typeface="Calibri"/>
          <a:cs typeface="Calibri"/>
        </a:defRPr>
      </a:lvl8pPr>
      <a:lvl9pPr marL="3886200" indent="-228600" algn="l">
        <a:lnSpc>
          <a:spcPct val="90000"/>
        </a:lnSpc>
        <a:spcBef>
          <a:spcPts val="500"/>
        </a:spcBef>
        <a:buChar char="•"/>
        <a:defRPr sz="1800">
          <a:solidFill>
            <a:schemeClr val="tx1"/>
          </a:solidFill>
          <a:latin typeface="Calibri"/>
          <a:ea typeface="Calibri"/>
          <a:cs typeface="Calibri"/>
        </a:defRPr>
      </a:lvl9pPr>
    </p:bodyStyle>
    <p:otherStyle>
      <a:lvl1pPr marL="0" algn="l">
        <a:buNone/>
        <a:defRPr sz="1800">
          <a:solidFill>
            <a:schemeClr val="tx1"/>
          </a:solidFill>
          <a:latin typeface="Calibri"/>
          <a:ea typeface="Calibri"/>
          <a:cs typeface="Calibri"/>
        </a:defRPr>
      </a:lvl1pPr>
      <a:lvl2pPr marL="457200" algn="l">
        <a:buNone/>
        <a:defRPr sz="1800">
          <a:solidFill>
            <a:schemeClr val="tx1"/>
          </a:solidFill>
          <a:latin typeface="Calibri"/>
          <a:ea typeface="Calibri"/>
          <a:cs typeface="Calibri"/>
        </a:defRPr>
      </a:lvl2pPr>
      <a:lvl3pPr marL="914400" algn="l">
        <a:buNone/>
        <a:defRPr sz="1800">
          <a:solidFill>
            <a:schemeClr val="tx1"/>
          </a:solidFill>
          <a:latin typeface="Calibri"/>
          <a:ea typeface="Calibri"/>
          <a:cs typeface="Calibri"/>
        </a:defRPr>
      </a:lvl3pPr>
      <a:lvl4pPr marL="1371600" algn="l">
        <a:buNone/>
        <a:defRPr sz="1800">
          <a:solidFill>
            <a:schemeClr val="tx1"/>
          </a:solidFill>
          <a:latin typeface="Calibri"/>
          <a:ea typeface="Calibri"/>
          <a:cs typeface="Calibri"/>
        </a:defRPr>
      </a:lvl4pPr>
      <a:lvl5pPr marL="1828800" algn="l">
        <a:buNone/>
        <a:defRPr sz="1800">
          <a:solidFill>
            <a:schemeClr val="tx1"/>
          </a:solidFill>
          <a:latin typeface="Calibri"/>
          <a:ea typeface="Calibri"/>
          <a:cs typeface="Calibri"/>
        </a:defRPr>
      </a:lvl5pPr>
      <a:lvl6pPr marL="2286000" algn="l">
        <a:buNone/>
        <a:defRPr sz="1800">
          <a:solidFill>
            <a:schemeClr val="tx1"/>
          </a:solidFill>
          <a:latin typeface="Calibri"/>
          <a:ea typeface="Calibri"/>
          <a:cs typeface="Calibri"/>
        </a:defRPr>
      </a:lvl6pPr>
      <a:lvl7pPr marL="2743200" algn="l">
        <a:buNone/>
        <a:defRPr sz="1800">
          <a:solidFill>
            <a:schemeClr val="tx1"/>
          </a:solidFill>
          <a:latin typeface="Calibri"/>
          <a:ea typeface="Calibri"/>
          <a:cs typeface="Calibri"/>
        </a:defRPr>
      </a:lvl7pPr>
      <a:lvl8pPr marL="3200400" algn="l">
        <a:buNone/>
        <a:defRPr sz="1800">
          <a:solidFill>
            <a:schemeClr val="tx1"/>
          </a:solidFill>
          <a:latin typeface="Calibri"/>
          <a:ea typeface="Calibri"/>
          <a:cs typeface="Calibri"/>
        </a:defRPr>
      </a:lvl8pPr>
      <a:lvl9pPr marL="3657600" algn="l">
        <a:buNone/>
        <a:defRPr sz="1800">
          <a:solidFill>
            <a:schemeClr val="tx1"/>
          </a:solidFill>
          <a:latin typeface="Calibri"/>
          <a:ea typeface="Calibri"/>
          <a:cs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p:blipFill>
        <p:spPr>
          <a:xfrm>
            <a:off x="8548340" y="2785266"/>
            <a:ext cx="3251258" cy="832639"/>
          </a:xfrm>
          <a:prstGeom prst="rect">
            <a:avLst/>
          </a:prstGeom>
        </p:spPr>
      </p:pic>
      <p:sp>
        <p:nvSpPr>
          <p:cNvPr id="3" name="text-2">
            <a:extLst>
              <a:ext uri="{FF2B5EF4-FFF2-40B4-BE49-F238E27FC236}">
                <a16:creationId xmlns:a16="http://schemas.microsoft.com/office/drawing/2014/main" id="{439C369E-261E-4505-8500-981910286803}"/>
              </a:ext>
            </a:extLst>
          </p:cNvPr>
          <p:cNvSpPr>
            <a:spLocks noGrp="1"/>
          </p:cNvSpPr>
          <p:nvPr/>
        </p:nvSpPr>
        <p:spPr>
          <a:xfrm>
            <a:off x="793811" y="2970953"/>
            <a:ext cx="5020638" cy="461267"/>
          </a:xfrm>
          <a:prstGeom prst="rect">
            <a:avLst/>
          </a:prstGeom>
          <a:noFill/>
          <a:ln w="0">
            <a:noFill/>
          </a:ln>
        </p:spPr>
        <p:txBody>
          <a:bodyPr wrap="square" lIns="0" tIns="0" rIns="0" bIns="0" anchor="t">
            <a:noAutofit/>
          </a:bodyPr>
          <a:lstStyle/>
          <a:p>
            <a:pPr>
              <a:defRPr sz="2850" b="1">
                <a:solidFill>
                  <a:srgbClr val="123F32"/>
                </a:solidFill>
                <a:latin typeface="Calibri"/>
                <a:ea typeface="Calibri"/>
                <a:cs typeface="Calibri"/>
              </a:defRPr>
            </a:pPr>
            <a:r>
              <a:rPr sz="2850" b="1" dirty="0">
                <a:solidFill>
                  <a:srgbClr val="123F32"/>
                </a:solidFill>
                <a:latin typeface="Calibri"/>
                <a:ea typeface="Calibri"/>
                <a:cs typeface="Calibri"/>
              </a:rPr>
              <a:t>Founder’s Live &amp; Intimate Dinner</a:t>
            </a:r>
          </a:p>
        </p:txBody>
      </p:sp>
    </p:spTree>
    <p:extLst>
      <p:ext uri="{BB962C8B-B14F-4D97-AF65-F5344CB8AC3E}">
        <p14:creationId xmlns:p14="http://schemas.microsoft.com/office/powerpoint/2010/main" val="781772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 name="Picture 27"/>
          <p:cNvPicPr>
            <a:picLocks noChangeAspect="1"/>
          </p:cNvPicPr>
          <p:nvPr/>
        </p:nvPicPr>
        <p:blipFill>
          <a:blip r:embed="rId3"/>
          <a:stretch/>
        </p:blipFill>
        <p:spPr>
          <a:xfrm>
            <a:off x="8340498" y="161925"/>
            <a:ext cx="3235779" cy="828675"/>
          </a:xfrm>
          <a:prstGeom prst="rect">
            <a:avLst/>
          </a:prstGeom>
        </p:spPr>
      </p:pic>
      <p:sp>
        <p:nvSpPr>
          <p:cNvPr id="2" name="text-9">
            <a:extLst>
              <a:ext uri="{FF2B5EF4-FFF2-40B4-BE49-F238E27FC236}">
                <a16:creationId xmlns:a16="http://schemas.microsoft.com/office/drawing/2014/main" id="{50C37171-D0FE-4074-88DC-D49EDA45027E}"/>
              </a:ext>
            </a:extLst>
          </p:cNvPr>
          <p:cNvSpPr>
            <a:spLocks noGrp="1"/>
          </p:cNvSpPr>
          <p:nvPr/>
        </p:nvSpPr>
        <p:spPr>
          <a:xfrm>
            <a:off x="609600" y="409575"/>
            <a:ext cx="7096125" cy="209550"/>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01 / FOUNDER’S LIVE</a:t>
            </a:r>
          </a:p>
        </p:txBody>
      </p:sp>
      <p:sp>
        <p:nvSpPr>
          <p:cNvPr id="3" name="text-10">
            <a:extLst>
              <a:ext uri="{FF2B5EF4-FFF2-40B4-BE49-F238E27FC236}">
                <a16:creationId xmlns:a16="http://schemas.microsoft.com/office/drawing/2014/main" id="{5234DDD4-25B5-460E-AF92-4C038C9BEB30}"/>
              </a:ext>
            </a:extLst>
          </p:cNvPr>
          <p:cNvSpPr>
            <a:spLocks noGrp="1"/>
          </p:cNvSpPr>
          <p:nvPr/>
        </p:nvSpPr>
        <p:spPr>
          <a:xfrm>
            <a:off x="609600" y="1143000"/>
            <a:ext cx="10858500" cy="876300"/>
          </a:xfrm>
          <a:prstGeom prst="rect">
            <a:avLst/>
          </a:prstGeom>
          <a:noFill/>
          <a:ln w="0">
            <a:noFill/>
          </a:ln>
        </p:spPr>
        <p:txBody>
          <a:bodyPr wrap="square" lIns="0" tIns="0" rIns="0" bIns="0" anchor="t">
            <a:noAutofit/>
          </a:bodyPr>
          <a:lstStyle/>
          <a:p>
            <a:pPr>
              <a:defRPr sz="2850" b="1">
                <a:solidFill>
                  <a:srgbClr val="123F32"/>
                </a:solidFill>
                <a:latin typeface="Calibri"/>
                <a:ea typeface="Calibri"/>
                <a:cs typeface="Calibri"/>
              </a:defRPr>
            </a:pPr>
            <a:r>
              <a:rPr lang="en-US" sz="2850" b="1" dirty="0">
                <a:solidFill>
                  <a:srgbClr val="123F32"/>
                </a:solidFill>
                <a:latin typeface="Calibri"/>
                <a:ea typeface="Calibri"/>
                <a:cs typeface="Calibri"/>
              </a:rPr>
              <a:t>Kita </a:t>
            </a:r>
            <a:r>
              <a:rPr lang="en-US" sz="2850" b="1" dirty="0" err="1">
                <a:solidFill>
                  <a:srgbClr val="123F32"/>
                </a:solidFill>
                <a:latin typeface="Calibri"/>
                <a:ea typeface="Calibri"/>
                <a:cs typeface="Calibri"/>
              </a:rPr>
              <a:t>akan</a:t>
            </a:r>
            <a:r>
              <a:rPr lang="en-US" sz="2850" b="1" dirty="0">
                <a:solidFill>
                  <a:srgbClr val="123F32"/>
                </a:solidFill>
                <a:latin typeface="Calibri"/>
                <a:ea typeface="Calibri"/>
                <a:cs typeface="Calibri"/>
              </a:rPr>
              <a:t> </a:t>
            </a:r>
            <a:r>
              <a:rPr lang="en-US" sz="2850" b="1" dirty="0" err="1">
                <a:solidFill>
                  <a:srgbClr val="123F32"/>
                </a:solidFill>
                <a:latin typeface="Calibri"/>
                <a:ea typeface="Calibri"/>
                <a:cs typeface="Calibri"/>
              </a:rPr>
              <a:t>mengadakan</a:t>
            </a:r>
            <a:r>
              <a:rPr lang="en-US" sz="2850" b="1" dirty="0">
                <a:solidFill>
                  <a:srgbClr val="123F32"/>
                </a:solidFill>
                <a:latin typeface="Calibri"/>
                <a:ea typeface="Calibri"/>
                <a:cs typeface="Calibri"/>
              </a:rPr>
              <a:t> 8x </a:t>
            </a:r>
            <a:r>
              <a:rPr lang="en-US" sz="2850" b="1" dirty="0" err="1">
                <a:solidFill>
                  <a:srgbClr val="123F32"/>
                </a:solidFill>
                <a:latin typeface="Calibri"/>
                <a:ea typeface="Calibri"/>
                <a:cs typeface="Calibri"/>
              </a:rPr>
              <a:t>pertemuan</a:t>
            </a:r>
            <a:r>
              <a:rPr lang="en-US" sz="2850" b="1" dirty="0">
                <a:solidFill>
                  <a:srgbClr val="123F32"/>
                </a:solidFill>
                <a:latin typeface="Calibri"/>
                <a:ea typeface="Calibri"/>
                <a:cs typeface="Calibri"/>
              </a:rPr>
              <a:t> </a:t>
            </a:r>
            <a:r>
              <a:rPr lang="en-US" sz="2850" b="1" dirty="0" err="1">
                <a:solidFill>
                  <a:srgbClr val="123F32"/>
                </a:solidFill>
                <a:latin typeface="Calibri"/>
                <a:ea typeface="Calibri"/>
                <a:cs typeface="Calibri"/>
              </a:rPr>
              <a:t>dalam</a:t>
            </a:r>
            <a:r>
              <a:rPr lang="en-US" sz="2850" b="1" dirty="0">
                <a:solidFill>
                  <a:srgbClr val="123F32"/>
                </a:solidFill>
                <a:latin typeface="Calibri"/>
                <a:ea typeface="Calibri"/>
                <a:cs typeface="Calibri"/>
              </a:rPr>
              <a:t> 1 </a:t>
            </a:r>
            <a:r>
              <a:rPr lang="en-US" sz="2850" b="1" dirty="0" err="1">
                <a:solidFill>
                  <a:srgbClr val="123F32"/>
                </a:solidFill>
                <a:latin typeface="Calibri"/>
                <a:ea typeface="Calibri"/>
                <a:cs typeface="Calibri"/>
              </a:rPr>
              <a:t>bulan</a:t>
            </a:r>
            <a:r>
              <a:rPr lang="en-US" sz="2850" b="1" dirty="0">
                <a:solidFill>
                  <a:srgbClr val="123F32"/>
                </a:solidFill>
                <a:latin typeface="Calibri"/>
                <a:ea typeface="Calibri"/>
                <a:cs typeface="Calibri"/>
              </a:rPr>
              <a:t>. </a:t>
            </a:r>
            <a:r>
              <a:rPr lang="en-US" sz="2850" b="1" dirty="0" err="1">
                <a:solidFill>
                  <a:srgbClr val="123F32"/>
                </a:solidFill>
                <a:latin typeface="Calibri"/>
                <a:ea typeface="Calibri"/>
                <a:cs typeface="Calibri"/>
              </a:rPr>
              <a:t>Setiap</a:t>
            </a:r>
            <a:r>
              <a:rPr lang="en-US" sz="2850" b="1" dirty="0">
                <a:solidFill>
                  <a:srgbClr val="123F32"/>
                </a:solidFill>
                <a:latin typeface="Calibri"/>
                <a:ea typeface="Calibri"/>
                <a:cs typeface="Calibri"/>
              </a:rPr>
              <a:t> weekdays. </a:t>
            </a:r>
            <a:endParaRPr sz="2850" b="1" dirty="0">
              <a:solidFill>
                <a:srgbClr val="123F32"/>
              </a:solidFill>
              <a:latin typeface="Calibri"/>
              <a:ea typeface="Calibri"/>
              <a:cs typeface="Calibri"/>
            </a:endParaRPr>
          </a:p>
        </p:txBody>
      </p:sp>
      <p:sp>
        <p:nvSpPr>
          <p:cNvPr id="4" name="text-11">
            <a:extLst>
              <a:ext uri="{FF2B5EF4-FFF2-40B4-BE49-F238E27FC236}">
                <a16:creationId xmlns:a16="http://schemas.microsoft.com/office/drawing/2014/main" id="{8F7CC53B-CBE6-4738-B087-BBEF70AD6EC0}"/>
              </a:ext>
            </a:extLst>
          </p:cNvPr>
          <p:cNvSpPr>
            <a:spLocks noGrp="1"/>
          </p:cNvSpPr>
          <p:nvPr/>
        </p:nvSpPr>
        <p:spPr>
          <a:xfrm>
            <a:off x="609600" y="1595437"/>
            <a:ext cx="10858500" cy="466725"/>
          </a:xfrm>
          <a:prstGeom prst="rect">
            <a:avLst/>
          </a:prstGeom>
          <a:noFill/>
          <a:ln w="0">
            <a:noFill/>
          </a:ln>
        </p:spPr>
        <p:txBody>
          <a:bodyPr wrap="square" lIns="0" tIns="0" rIns="0" bIns="0" anchor="t">
            <a:noAutofit/>
          </a:bodyPr>
          <a:lstStyle/>
          <a:p>
            <a:pPr>
              <a:defRPr sz="1500" b="0">
                <a:solidFill>
                  <a:srgbClr val="66746B"/>
                </a:solidFill>
                <a:latin typeface="Calibri"/>
                <a:ea typeface="Calibri"/>
                <a:cs typeface="Calibri"/>
              </a:defRPr>
            </a:pPr>
            <a:r>
              <a:rPr sz="1500" b="0" dirty="0" err="1">
                <a:solidFill>
                  <a:srgbClr val="66746B"/>
                </a:solidFill>
                <a:latin typeface="Calibri"/>
                <a:ea typeface="Calibri"/>
                <a:cs typeface="Calibri"/>
              </a:rPr>
              <a:t>Selasa</a:t>
            </a:r>
            <a:r>
              <a:rPr sz="1500" b="0" dirty="0">
                <a:solidFill>
                  <a:srgbClr val="66746B"/>
                </a:solidFill>
                <a:latin typeface="Calibri"/>
                <a:ea typeface="Calibri"/>
                <a:cs typeface="Calibri"/>
              </a:rPr>
              <a:t>–</a:t>
            </a:r>
            <a:r>
              <a:rPr sz="1500" b="0" dirty="0" err="1">
                <a:solidFill>
                  <a:srgbClr val="66746B"/>
                </a:solidFill>
                <a:latin typeface="Calibri"/>
                <a:ea typeface="Calibri"/>
                <a:cs typeface="Calibri"/>
              </a:rPr>
              <a:t>Kamis</a:t>
            </a:r>
            <a:r>
              <a:rPr sz="1500" b="0" dirty="0">
                <a:solidFill>
                  <a:srgbClr val="66746B"/>
                </a:solidFill>
                <a:latin typeface="Calibri"/>
                <a:ea typeface="Calibri"/>
                <a:cs typeface="Calibri"/>
              </a:rPr>
              <a:t>, 3–26 November 2026. </a:t>
            </a:r>
            <a:r>
              <a:rPr sz="1500" b="0" dirty="0" err="1">
                <a:solidFill>
                  <a:srgbClr val="66746B"/>
                </a:solidFill>
                <a:latin typeface="Calibri"/>
                <a:ea typeface="Calibri"/>
                <a:cs typeface="Calibri"/>
              </a:rPr>
              <a:t>Usulan</a:t>
            </a:r>
            <a:r>
              <a:rPr sz="1500" b="0" dirty="0">
                <a:solidFill>
                  <a:srgbClr val="66746B"/>
                </a:solidFill>
                <a:latin typeface="Calibri"/>
                <a:ea typeface="Calibri"/>
                <a:cs typeface="Calibri"/>
              </a:rPr>
              <a:t> jam 19.00–20.30 WIB.</a:t>
            </a:r>
          </a:p>
        </p:txBody>
      </p:sp>
      <p:sp>
        <p:nvSpPr>
          <p:cNvPr id="5" name="Straight Connector 4">
            <a:extLst>
              <a:ext uri="{FF2B5EF4-FFF2-40B4-BE49-F238E27FC236}">
                <a16:creationId xmlns:a16="http://schemas.microsoft.com/office/drawing/2014/main" id="{27EA86DB-DF00-4A71-A7C3-0A2A020609AF}"/>
              </a:ext>
            </a:extLst>
          </p:cNvPr>
          <p:cNvSpPr>
            <a:spLocks noGrp="1"/>
          </p:cNvSpPr>
          <p:nvPr/>
        </p:nvSpPr>
        <p:spPr>
          <a:xfrm>
            <a:off x="609600" y="6381750"/>
            <a:ext cx="10972800" cy="0"/>
          </a:xfrm>
          <a:prstGeom prst="line">
            <a:avLst/>
          </a:prstGeom>
          <a:noFill/>
          <a:ln w="9525">
            <a:solidFill>
              <a:srgbClr val="DCE5DE"/>
            </a:solidFill>
          </a:ln>
        </p:spPr>
      </p:sp>
      <p:sp>
        <p:nvSpPr>
          <p:cNvPr id="6" name="text-12">
            <a:extLst>
              <a:ext uri="{FF2B5EF4-FFF2-40B4-BE49-F238E27FC236}">
                <a16:creationId xmlns:a16="http://schemas.microsoft.com/office/drawing/2014/main" id="{14175EF1-B567-4015-BEB3-CF86B9E0D337}"/>
              </a:ext>
            </a:extLst>
          </p:cNvPr>
          <p:cNvSpPr>
            <a:spLocks noGrp="1"/>
          </p:cNvSpPr>
          <p:nvPr/>
        </p:nvSpPr>
        <p:spPr>
          <a:xfrm>
            <a:off x="609600" y="6505575"/>
            <a:ext cx="10191750" cy="209550"/>
          </a:xfrm>
          <a:prstGeom prst="rect">
            <a:avLst/>
          </a:prstGeom>
          <a:noFill/>
          <a:ln w="0">
            <a:noFill/>
          </a:ln>
        </p:spPr>
        <p:txBody>
          <a:bodyPr wrap="square" lIns="0" tIns="0" rIns="0" bIns="0" anchor="t">
            <a:noAutofit/>
          </a:bodyPr>
          <a:lstStyle/>
          <a:p>
            <a:pPr>
              <a:defRPr sz="825" b="0">
                <a:solidFill>
                  <a:srgbClr val="66746B"/>
                </a:solidFill>
                <a:latin typeface="Calibri"/>
                <a:ea typeface="Calibri"/>
                <a:cs typeface="Calibri"/>
              </a:defRPr>
            </a:pPr>
            <a:r>
              <a:rPr sz="825" b="0">
                <a:solidFill>
                  <a:srgbClr val="66746B"/>
                </a:solidFill>
                <a:latin typeface="Calibri"/>
                <a:ea typeface="Calibri"/>
                <a:cs typeface="Calibri"/>
              </a:rPr>
              <a:t>Rencana internal CMC. Speaker, tanggal dan harga pilot menunggu konfirmasi.</a:t>
            </a:r>
          </a:p>
        </p:txBody>
      </p:sp>
      <p:sp>
        <p:nvSpPr>
          <p:cNvPr id="7" name="text-13">
            <a:extLst>
              <a:ext uri="{FF2B5EF4-FFF2-40B4-BE49-F238E27FC236}">
                <a16:creationId xmlns:a16="http://schemas.microsoft.com/office/drawing/2014/main" id="{D204038C-E03D-4B2C-A10F-91E54C636EE1}"/>
              </a:ext>
            </a:extLst>
          </p:cNvPr>
          <p:cNvSpPr>
            <a:spLocks noGrp="1"/>
          </p:cNvSpPr>
          <p:nvPr/>
        </p:nvSpPr>
        <p:spPr>
          <a:xfrm>
            <a:off x="11125200" y="6486525"/>
            <a:ext cx="438150" cy="228600"/>
          </a:xfrm>
          <a:prstGeom prst="rect">
            <a:avLst/>
          </a:prstGeom>
          <a:noFill/>
          <a:ln w="0">
            <a:noFill/>
          </a:ln>
        </p:spPr>
        <p:txBody>
          <a:bodyPr wrap="square" lIns="0" tIns="0" rIns="0" bIns="0" anchor="t">
            <a:noAutofit/>
          </a:bodyPr>
          <a:lstStyle/>
          <a:p>
            <a:pPr>
              <a:defRPr sz="1050" b="1">
                <a:solidFill>
                  <a:srgbClr val="123F32"/>
                </a:solidFill>
                <a:latin typeface="Calibri"/>
                <a:ea typeface="Calibri"/>
                <a:cs typeface="Calibri"/>
              </a:defRPr>
            </a:pPr>
            <a:r>
              <a:rPr sz="1050" b="1">
                <a:solidFill>
                  <a:srgbClr val="123F32"/>
                </a:solidFill>
                <a:latin typeface="Calibri"/>
                <a:ea typeface="Calibri"/>
                <a:cs typeface="Calibri"/>
              </a:rPr>
              <a:t>02</a:t>
            </a:r>
          </a:p>
        </p:txBody>
      </p:sp>
      <p:sp>
        <p:nvSpPr>
          <p:cNvPr id="8" name="text-14">
            <a:extLst>
              <a:ext uri="{FF2B5EF4-FFF2-40B4-BE49-F238E27FC236}">
                <a16:creationId xmlns:a16="http://schemas.microsoft.com/office/drawing/2014/main" id="{63FF231B-86B4-47AE-8C93-5B2E4B2EFCE7}"/>
              </a:ext>
            </a:extLst>
          </p:cNvPr>
          <p:cNvSpPr>
            <a:spLocks noGrp="1"/>
          </p:cNvSpPr>
          <p:nvPr/>
        </p:nvSpPr>
        <p:spPr>
          <a:xfrm>
            <a:off x="609600" y="2705100"/>
            <a:ext cx="2428875" cy="952500"/>
          </a:xfrm>
          <a:prstGeom prst="rect">
            <a:avLst/>
          </a:prstGeom>
          <a:noFill/>
          <a:ln w="0">
            <a:noFill/>
          </a:ln>
        </p:spPr>
        <p:txBody>
          <a:bodyPr wrap="square" lIns="0" tIns="0" rIns="0" bIns="0" anchor="t">
            <a:noAutofit/>
          </a:bodyPr>
          <a:lstStyle/>
          <a:p>
            <a:pPr>
              <a:defRPr sz="6000" b="1">
                <a:solidFill>
                  <a:srgbClr val="123F32"/>
                </a:solidFill>
                <a:latin typeface="Calibri"/>
                <a:ea typeface="Calibri"/>
                <a:cs typeface="Calibri"/>
              </a:defRPr>
            </a:pPr>
            <a:r>
              <a:rPr sz="6000" b="1">
                <a:solidFill>
                  <a:srgbClr val="123F32"/>
                </a:solidFill>
                <a:latin typeface="Calibri"/>
                <a:ea typeface="Calibri"/>
                <a:cs typeface="Calibri"/>
              </a:rPr>
              <a:t>8</a:t>
            </a:r>
          </a:p>
        </p:txBody>
      </p:sp>
      <p:sp>
        <p:nvSpPr>
          <p:cNvPr id="9" name="text-15">
            <a:extLst>
              <a:ext uri="{FF2B5EF4-FFF2-40B4-BE49-F238E27FC236}">
                <a16:creationId xmlns:a16="http://schemas.microsoft.com/office/drawing/2014/main" id="{BD0A19CD-7D60-4C32-8EBE-09A1C9E91D8B}"/>
              </a:ext>
            </a:extLst>
          </p:cNvPr>
          <p:cNvSpPr>
            <a:spLocks noGrp="1"/>
          </p:cNvSpPr>
          <p:nvPr/>
        </p:nvSpPr>
        <p:spPr>
          <a:xfrm>
            <a:off x="609600" y="3714750"/>
            <a:ext cx="2428875" cy="352425"/>
          </a:xfrm>
          <a:prstGeom prst="rect">
            <a:avLst/>
          </a:prstGeom>
          <a:noFill/>
          <a:ln w="0">
            <a:noFill/>
          </a:ln>
        </p:spPr>
        <p:txBody>
          <a:bodyPr wrap="square" lIns="0" tIns="0" rIns="0" bIns="0" anchor="t">
            <a:noAutofit/>
          </a:bodyPr>
          <a:lstStyle/>
          <a:p>
            <a:pPr>
              <a:defRPr sz="2025" b="0">
                <a:solidFill>
                  <a:srgbClr val="293D34"/>
                </a:solidFill>
                <a:latin typeface="Calibri"/>
                <a:ea typeface="Calibri"/>
                <a:cs typeface="Calibri"/>
              </a:defRPr>
            </a:pPr>
            <a:r>
              <a:rPr sz="2025" b="0">
                <a:solidFill>
                  <a:srgbClr val="293D34"/>
                </a:solidFill>
                <a:latin typeface="Calibri"/>
                <a:ea typeface="Calibri"/>
                <a:cs typeface="Calibri"/>
              </a:rPr>
              <a:t>pertemuan</a:t>
            </a:r>
          </a:p>
        </p:txBody>
      </p:sp>
      <p:sp>
        <p:nvSpPr>
          <p:cNvPr id="10" name="text-16">
            <a:extLst>
              <a:ext uri="{FF2B5EF4-FFF2-40B4-BE49-F238E27FC236}">
                <a16:creationId xmlns:a16="http://schemas.microsoft.com/office/drawing/2014/main" id="{827A98F4-EB40-462F-BE12-CC6BB4C8B829}"/>
              </a:ext>
            </a:extLst>
          </p:cNvPr>
          <p:cNvSpPr>
            <a:spLocks noGrp="1"/>
          </p:cNvSpPr>
          <p:nvPr/>
        </p:nvSpPr>
        <p:spPr>
          <a:xfrm>
            <a:off x="4438650" y="2705100"/>
            <a:ext cx="2428875" cy="952500"/>
          </a:xfrm>
          <a:prstGeom prst="rect">
            <a:avLst/>
          </a:prstGeom>
          <a:noFill/>
          <a:ln w="0">
            <a:noFill/>
          </a:ln>
        </p:spPr>
        <p:txBody>
          <a:bodyPr wrap="square" lIns="0" tIns="0" rIns="0" bIns="0" anchor="t">
            <a:noAutofit/>
          </a:bodyPr>
          <a:lstStyle/>
          <a:p>
            <a:pPr>
              <a:defRPr sz="6000" b="1">
                <a:solidFill>
                  <a:srgbClr val="123F32"/>
                </a:solidFill>
                <a:latin typeface="Calibri"/>
                <a:ea typeface="Calibri"/>
                <a:cs typeface="Calibri"/>
              </a:defRPr>
            </a:pPr>
            <a:r>
              <a:rPr sz="6000" b="1">
                <a:solidFill>
                  <a:srgbClr val="123F32"/>
                </a:solidFill>
                <a:latin typeface="Calibri"/>
                <a:ea typeface="Calibri"/>
                <a:cs typeface="Calibri"/>
              </a:rPr>
              <a:t>2×</a:t>
            </a:r>
          </a:p>
        </p:txBody>
      </p:sp>
      <p:sp>
        <p:nvSpPr>
          <p:cNvPr id="11" name="text-17">
            <a:extLst>
              <a:ext uri="{FF2B5EF4-FFF2-40B4-BE49-F238E27FC236}">
                <a16:creationId xmlns:a16="http://schemas.microsoft.com/office/drawing/2014/main" id="{3563A435-2A3E-432F-9EC3-8854B295E2DC}"/>
              </a:ext>
            </a:extLst>
          </p:cNvPr>
          <p:cNvSpPr>
            <a:spLocks noGrp="1"/>
          </p:cNvSpPr>
          <p:nvPr/>
        </p:nvSpPr>
        <p:spPr>
          <a:xfrm>
            <a:off x="4438650" y="3714750"/>
            <a:ext cx="3333750" cy="352425"/>
          </a:xfrm>
          <a:prstGeom prst="rect">
            <a:avLst/>
          </a:prstGeom>
          <a:noFill/>
          <a:ln w="0">
            <a:noFill/>
          </a:ln>
        </p:spPr>
        <p:txBody>
          <a:bodyPr wrap="square" lIns="0" tIns="0" rIns="0" bIns="0" anchor="t">
            <a:noAutofit/>
          </a:bodyPr>
          <a:lstStyle/>
          <a:p>
            <a:pPr>
              <a:defRPr sz="2025" b="0">
                <a:solidFill>
                  <a:srgbClr val="293D34"/>
                </a:solidFill>
                <a:latin typeface="Calibri"/>
                <a:ea typeface="Calibri"/>
                <a:cs typeface="Calibri"/>
              </a:defRPr>
            </a:pPr>
            <a:r>
              <a:rPr sz="2025" b="0">
                <a:solidFill>
                  <a:srgbClr val="293D34"/>
                </a:solidFill>
                <a:latin typeface="Calibri"/>
                <a:ea typeface="Calibri"/>
                <a:cs typeface="Calibri"/>
              </a:rPr>
              <a:t>setiap minggu</a:t>
            </a:r>
          </a:p>
        </p:txBody>
      </p:sp>
      <p:sp>
        <p:nvSpPr>
          <p:cNvPr id="12" name="text-18">
            <a:extLst>
              <a:ext uri="{FF2B5EF4-FFF2-40B4-BE49-F238E27FC236}">
                <a16:creationId xmlns:a16="http://schemas.microsoft.com/office/drawing/2014/main" id="{81173BA2-F77E-4C73-B67D-3B5BD342794C}"/>
              </a:ext>
            </a:extLst>
          </p:cNvPr>
          <p:cNvSpPr>
            <a:spLocks noGrp="1"/>
          </p:cNvSpPr>
          <p:nvPr/>
        </p:nvSpPr>
        <p:spPr>
          <a:xfrm>
            <a:off x="8277225" y="2924175"/>
            <a:ext cx="3286125" cy="704850"/>
          </a:xfrm>
          <a:prstGeom prst="rect">
            <a:avLst/>
          </a:prstGeom>
          <a:noFill/>
          <a:ln w="0">
            <a:noFill/>
          </a:ln>
        </p:spPr>
        <p:txBody>
          <a:bodyPr wrap="square" lIns="0" tIns="0" rIns="0" bIns="0" anchor="t">
            <a:noAutofit/>
          </a:bodyPr>
          <a:lstStyle/>
          <a:p>
            <a:pPr>
              <a:defRPr sz="3675" b="1">
                <a:solidFill>
                  <a:srgbClr val="123F32"/>
                </a:solidFill>
                <a:latin typeface="Calibri"/>
                <a:ea typeface="Calibri"/>
                <a:cs typeface="Calibri"/>
              </a:defRPr>
            </a:pPr>
            <a:r>
              <a:rPr sz="3675" b="1">
                <a:solidFill>
                  <a:srgbClr val="123F32"/>
                </a:solidFill>
                <a:latin typeface="Calibri"/>
                <a:ea typeface="Calibri"/>
                <a:cs typeface="Calibri"/>
              </a:rPr>
              <a:t>90 menit</a:t>
            </a:r>
          </a:p>
        </p:txBody>
      </p:sp>
      <p:sp>
        <p:nvSpPr>
          <p:cNvPr id="13" name="text-19">
            <a:extLst>
              <a:ext uri="{FF2B5EF4-FFF2-40B4-BE49-F238E27FC236}">
                <a16:creationId xmlns:a16="http://schemas.microsoft.com/office/drawing/2014/main" id="{6FFA143B-BFA3-490F-B452-B1E4C0600C0B}"/>
              </a:ext>
            </a:extLst>
          </p:cNvPr>
          <p:cNvSpPr>
            <a:spLocks noGrp="1"/>
          </p:cNvSpPr>
          <p:nvPr/>
        </p:nvSpPr>
        <p:spPr>
          <a:xfrm>
            <a:off x="8277225" y="3714750"/>
            <a:ext cx="3286125" cy="352425"/>
          </a:xfrm>
          <a:prstGeom prst="rect">
            <a:avLst/>
          </a:prstGeom>
          <a:noFill/>
          <a:ln w="0">
            <a:noFill/>
          </a:ln>
        </p:spPr>
        <p:txBody>
          <a:bodyPr wrap="square" lIns="0" tIns="0" rIns="0" bIns="0" anchor="t">
            <a:noAutofit/>
          </a:bodyPr>
          <a:lstStyle/>
          <a:p>
            <a:pPr>
              <a:defRPr sz="2025" b="0">
                <a:solidFill>
                  <a:srgbClr val="293D34"/>
                </a:solidFill>
                <a:latin typeface="Calibri"/>
                <a:ea typeface="Calibri"/>
                <a:cs typeface="Calibri"/>
              </a:defRPr>
            </a:pPr>
            <a:r>
              <a:rPr sz="2025" b="0">
                <a:solidFill>
                  <a:srgbClr val="293D34"/>
                </a:solidFill>
                <a:latin typeface="Calibri"/>
                <a:ea typeface="Calibri"/>
                <a:cs typeface="Calibri"/>
              </a:rPr>
              <a:t>per sesi online</a:t>
            </a:r>
          </a:p>
        </p:txBody>
      </p:sp>
      <p:sp>
        <p:nvSpPr>
          <p:cNvPr id="14" name="Rectangle 13">
            <a:extLst>
              <a:ext uri="{FF2B5EF4-FFF2-40B4-BE49-F238E27FC236}">
                <a16:creationId xmlns:a16="http://schemas.microsoft.com/office/drawing/2014/main" id="{82DEE694-226E-43FD-865E-2B679E3E97BB}"/>
              </a:ext>
            </a:extLst>
          </p:cNvPr>
          <p:cNvSpPr>
            <a:spLocks noGrp="1"/>
          </p:cNvSpPr>
          <p:nvPr/>
        </p:nvSpPr>
        <p:spPr>
          <a:xfrm>
            <a:off x="609600" y="4524375"/>
            <a:ext cx="581025" cy="114300"/>
          </a:xfrm>
          <a:prstGeom prst="rect">
            <a:avLst/>
          </a:prstGeom>
          <a:solidFill>
            <a:srgbClr val="DCE5DE"/>
          </a:solidFill>
          <a:ln w="0">
            <a:noFill/>
          </a:ln>
        </p:spPr>
      </p:sp>
      <p:sp>
        <p:nvSpPr>
          <p:cNvPr id="15" name="text-20">
            <a:extLst>
              <a:ext uri="{FF2B5EF4-FFF2-40B4-BE49-F238E27FC236}">
                <a16:creationId xmlns:a16="http://schemas.microsoft.com/office/drawing/2014/main" id="{15273C29-1B7C-41AA-8853-D2203CFA4BC5}"/>
              </a:ext>
            </a:extLst>
          </p:cNvPr>
          <p:cNvSpPr>
            <a:spLocks noGrp="1"/>
          </p:cNvSpPr>
          <p:nvPr/>
        </p:nvSpPr>
        <p:spPr>
          <a:xfrm>
            <a:off x="609600" y="4819650"/>
            <a:ext cx="609600" cy="323850"/>
          </a:xfrm>
          <a:prstGeom prst="rect">
            <a:avLst/>
          </a:prstGeom>
          <a:noFill/>
          <a:ln w="0">
            <a:noFill/>
          </a:ln>
        </p:spPr>
        <p:txBody>
          <a:bodyPr wrap="square" lIns="0" tIns="0" rIns="0" bIns="0" anchor="t">
            <a:noAutofit/>
          </a:bodyPr>
          <a:lstStyle/>
          <a:p>
            <a:pPr>
              <a:defRPr sz="1950" b="1">
                <a:solidFill>
                  <a:srgbClr val="123F32"/>
                </a:solidFill>
                <a:latin typeface="Calibri"/>
                <a:ea typeface="Calibri"/>
                <a:cs typeface="Calibri"/>
              </a:defRPr>
            </a:pPr>
            <a:r>
              <a:rPr sz="1950" b="1">
                <a:solidFill>
                  <a:srgbClr val="123F32"/>
                </a:solidFill>
                <a:latin typeface="Calibri"/>
                <a:ea typeface="Calibri"/>
                <a:cs typeface="Calibri"/>
              </a:rPr>
              <a:t>5</a:t>
            </a:r>
          </a:p>
        </p:txBody>
      </p:sp>
      <p:sp>
        <p:nvSpPr>
          <p:cNvPr id="16" name="text-21">
            <a:extLst>
              <a:ext uri="{FF2B5EF4-FFF2-40B4-BE49-F238E27FC236}">
                <a16:creationId xmlns:a16="http://schemas.microsoft.com/office/drawing/2014/main" id="{D82C25EB-1B64-4650-AAE3-4883263A2B2B}"/>
              </a:ext>
            </a:extLst>
          </p:cNvPr>
          <p:cNvSpPr>
            <a:spLocks noGrp="1"/>
          </p:cNvSpPr>
          <p:nvPr/>
        </p:nvSpPr>
        <p:spPr>
          <a:xfrm>
            <a:off x="609600" y="5200650"/>
            <a:ext cx="685800" cy="400050"/>
          </a:xfrm>
          <a:prstGeom prst="rect">
            <a:avLst/>
          </a:prstGeom>
          <a:noFill/>
          <a:ln w="0">
            <a:noFill/>
          </a:ln>
        </p:spPr>
        <p:txBody>
          <a:bodyPr wrap="square" lIns="0" tIns="0" rIns="0" bIns="0" anchor="t">
            <a:noAutofit/>
          </a:bodyPr>
          <a:lstStyle/>
          <a:p>
            <a:pPr>
              <a:defRPr sz="1125" b="0">
                <a:solidFill>
                  <a:srgbClr val="66746B"/>
                </a:solidFill>
                <a:latin typeface="Calibri"/>
                <a:ea typeface="Calibri"/>
                <a:cs typeface="Calibri"/>
              </a:defRPr>
            </a:pPr>
            <a:r>
              <a:rPr sz="1125" b="0">
                <a:solidFill>
                  <a:srgbClr val="66746B"/>
                </a:solidFill>
                <a:latin typeface="Calibri"/>
                <a:ea typeface="Calibri"/>
                <a:cs typeface="Calibri"/>
              </a:rPr>
              <a:t>Buka</a:t>
            </a:r>
          </a:p>
        </p:txBody>
      </p:sp>
      <p:sp>
        <p:nvSpPr>
          <p:cNvPr id="17" name="Rectangle 16">
            <a:extLst>
              <a:ext uri="{FF2B5EF4-FFF2-40B4-BE49-F238E27FC236}">
                <a16:creationId xmlns:a16="http://schemas.microsoft.com/office/drawing/2014/main" id="{087E0176-1155-4FB5-8BCB-1AE9D21325FA}"/>
              </a:ext>
            </a:extLst>
          </p:cNvPr>
          <p:cNvSpPr>
            <a:spLocks noGrp="1"/>
          </p:cNvSpPr>
          <p:nvPr/>
        </p:nvSpPr>
        <p:spPr>
          <a:xfrm>
            <a:off x="1219200" y="4524375"/>
            <a:ext cx="2409825" cy="114300"/>
          </a:xfrm>
          <a:prstGeom prst="rect">
            <a:avLst/>
          </a:prstGeom>
          <a:solidFill>
            <a:srgbClr val="DCE5DE"/>
          </a:solidFill>
          <a:ln w="0">
            <a:noFill/>
          </a:ln>
        </p:spPr>
      </p:sp>
      <p:sp>
        <p:nvSpPr>
          <p:cNvPr id="18" name="text-22">
            <a:extLst>
              <a:ext uri="{FF2B5EF4-FFF2-40B4-BE49-F238E27FC236}">
                <a16:creationId xmlns:a16="http://schemas.microsoft.com/office/drawing/2014/main" id="{18127DEF-A4F2-45F8-AAAE-7A5A7A1D1F42}"/>
              </a:ext>
            </a:extLst>
          </p:cNvPr>
          <p:cNvSpPr>
            <a:spLocks noGrp="1"/>
          </p:cNvSpPr>
          <p:nvPr/>
        </p:nvSpPr>
        <p:spPr>
          <a:xfrm>
            <a:off x="1219200" y="4819650"/>
            <a:ext cx="2438400" cy="323850"/>
          </a:xfrm>
          <a:prstGeom prst="rect">
            <a:avLst/>
          </a:prstGeom>
          <a:noFill/>
          <a:ln w="0">
            <a:noFill/>
          </a:ln>
        </p:spPr>
        <p:txBody>
          <a:bodyPr wrap="square" lIns="0" tIns="0" rIns="0" bIns="0" anchor="t">
            <a:noAutofit/>
          </a:bodyPr>
          <a:lstStyle/>
          <a:p>
            <a:pPr>
              <a:defRPr sz="1950" b="1">
                <a:solidFill>
                  <a:srgbClr val="123F32"/>
                </a:solidFill>
                <a:latin typeface="Calibri"/>
                <a:ea typeface="Calibri"/>
                <a:cs typeface="Calibri"/>
              </a:defRPr>
            </a:pPr>
            <a:r>
              <a:rPr sz="1950" b="1">
                <a:solidFill>
                  <a:srgbClr val="123F32"/>
                </a:solidFill>
                <a:latin typeface="Calibri"/>
                <a:ea typeface="Calibri"/>
                <a:cs typeface="Calibri"/>
              </a:rPr>
              <a:t>20</a:t>
            </a:r>
          </a:p>
        </p:txBody>
      </p:sp>
      <p:sp>
        <p:nvSpPr>
          <p:cNvPr id="19" name="text-23">
            <a:extLst>
              <a:ext uri="{FF2B5EF4-FFF2-40B4-BE49-F238E27FC236}">
                <a16:creationId xmlns:a16="http://schemas.microsoft.com/office/drawing/2014/main" id="{EA2CD7DC-738E-42D8-B7F2-7F14AC933B44}"/>
              </a:ext>
            </a:extLst>
          </p:cNvPr>
          <p:cNvSpPr>
            <a:spLocks noGrp="1"/>
          </p:cNvSpPr>
          <p:nvPr/>
        </p:nvSpPr>
        <p:spPr>
          <a:xfrm>
            <a:off x="1219200" y="5200650"/>
            <a:ext cx="2409825" cy="400050"/>
          </a:xfrm>
          <a:prstGeom prst="rect">
            <a:avLst/>
          </a:prstGeom>
          <a:noFill/>
          <a:ln w="0">
            <a:noFill/>
          </a:ln>
        </p:spPr>
        <p:txBody>
          <a:bodyPr wrap="square" lIns="0" tIns="0" rIns="0" bIns="0" anchor="t">
            <a:noAutofit/>
          </a:bodyPr>
          <a:lstStyle/>
          <a:p>
            <a:pPr>
              <a:defRPr sz="1650" b="0">
                <a:solidFill>
                  <a:srgbClr val="66746B"/>
                </a:solidFill>
                <a:latin typeface="Calibri"/>
                <a:ea typeface="Calibri"/>
                <a:cs typeface="Calibri"/>
              </a:defRPr>
            </a:pPr>
            <a:r>
              <a:rPr sz="1650" b="0">
                <a:solidFill>
                  <a:srgbClr val="66746B"/>
                </a:solidFill>
                <a:latin typeface="Calibri"/>
                <a:ea typeface="Calibri"/>
                <a:cs typeface="Calibri"/>
              </a:rPr>
              <a:t>Cerita speaker</a:t>
            </a:r>
          </a:p>
        </p:txBody>
      </p:sp>
      <p:sp>
        <p:nvSpPr>
          <p:cNvPr id="20" name="Rectangle 19">
            <a:extLst>
              <a:ext uri="{FF2B5EF4-FFF2-40B4-BE49-F238E27FC236}">
                <a16:creationId xmlns:a16="http://schemas.microsoft.com/office/drawing/2014/main" id="{7769C603-585A-4610-90D3-4B1293626068}"/>
              </a:ext>
            </a:extLst>
          </p:cNvPr>
          <p:cNvSpPr>
            <a:spLocks noGrp="1"/>
          </p:cNvSpPr>
          <p:nvPr/>
        </p:nvSpPr>
        <p:spPr>
          <a:xfrm>
            <a:off x="3657600" y="4524375"/>
            <a:ext cx="7286625" cy="114300"/>
          </a:xfrm>
          <a:prstGeom prst="rect">
            <a:avLst/>
          </a:prstGeom>
          <a:solidFill>
            <a:srgbClr val="123F32"/>
          </a:solidFill>
          <a:ln w="0">
            <a:noFill/>
          </a:ln>
        </p:spPr>
      </p:sp>
      <p:sp>
        <p:nvSpPr>
          <p:cNvPr id="21" name="text-24">
            <a:extLst>
              <a:ext uri="{FF2B5EF4-FFF2-40B4-BE49-F238E27FC236}">
                <a16:creationId xmlns:a16="http://schemas.microsoft.com/office/drawing/2014/main" id="{B672F23F-9CA7-4352-B3FC-B4185172E095}"/>
              </a:ext>
            </a:extLst>
          </p:cNvPr>
          <p:cNvSpPr>
            <a:spLocks noGrp="1"/>
          </p:cNvSpPr>
          <p:nvPr/>
        </p:nvSpPr>
        <p:spPr>
          <a:xfrm>
            <a:off x="3657600" y="4819650"/>
            <a:ext cx="7315200" cy="323850"/>
          </a:xfrm>
          <a:prstGeom prst="rect">
            <a:avLst/>
          </a:prstGeom>
          <a:noFill/>
          <a:ln w="0">
            <a:noFill/>
          </a:ln>
        </p:spPr>
        <p:txBody>
          <a:bodyPr wrap="square" lIns="0" tIns="0" rIns="0" bIns="0" anchor="t">
            <a:noAutofit/>
          </a:bodyPr>
          <a:lstStyle/>
          <a:p>
            <a:pPr>
              <a:defRPr sz="1950" b="1">
                <a:solidFill>
                  <a:srgbClr val="123F32"/>
                </a:solidFill>
                <a:latin typeface="Calibri"/>
                <a:ea typeface="Calibri"/>
                <a:cs typeface="Calibri"/>
              </a:defRPr>
            </a:pPr>
            <a:r>
              <a:rPr sz="1950" b="1">
                <a:solidFill>
                  <a:srgbClr val="123F32"/>
                </a:solidFill>
                <a:latin typeface="Calibri"/>
                <a:ea typeface="Calibri"/>
                <a:cs typeface="Calibri"/>
              </a:rPr>
              <a:t>60</a:t>
            </a:r>
          </a:p>
        </p:txBody>
      </p:sp>
      <p:sp>
        <p:nvSpPr>
          <p:cNvPr id="22" name="text-25">
            <a:extLst>
              <a:ext uri="{FF2B5EF4-FFF2-40B4-BE49-F238E27FC236}">
                <a16:creationId xmlns:a16="http://schemas.microsoft.com/office/drawing/2014/main" id="{B4F4E27C-C5CC-4E76-856C-5BC0A3F0A899}"/>
              </a:ext>
            </a:extLst>
          </p:cNvPr>
          <p:cNvSpPr>
            <a:spLocks noGrp="1"/>
          </p:cNvSpPr>
          <p:nvPr/>
        </p:nvSpPr>
        <p:spPr>
          <a:xfrm>
            <a:off x="3657600" y="5200650"/>
            <a:ext cx="7286625" cy="400050"/>
          </a:xfrm>
          <a:prstGeom prst="rect">
            <a:avLst/>
          </a:prstGeom>
          <a:noFill/>
          <a:ln w="0">
            <a:noFill/>
          </a:ln>
        </p:spPr>
        <p:txBody>
          <a:bodyPr wrap="square" lIns="0" tIns="0" rIns="0" bIns="0" anchor="t">
            <a:noAutofit/>
          </a:bodyPr>
          <a:lstStyle/>
          <a:p>
            <a:pPr>
              <a:defRPr sz="1650" b="0">
                <a:solidFill>
                  <a:srgbClr val="66746B"/>
                </a:solidFill>
                <a:latin typeface="Calibri"/>
                <a:ea typeface="Calibri"/>
                <a:cs typeface="Calibri"/>
              </a:defRPr>
            </a:pPr>
            <a:r>
              <a:rPr sz="1650" b="0">
                <a:solidFill>
                  <a:srgbClr val="66746B"/>
                </a:solidFill>
                <a:latin typeface="Calibri"/>
                <a:ea typeface="Calibri"/>
                <a:cs typeface="Calibri"/>
              </a:rPr>
              <a:t>Q&amp;A + bedah kasus</a:t>
            </a:r>
          </a:p>
        </p:txBody>
      </p:sp>
      <p:sp>
        <p:nvSpPr>
          <p:cNvPr id="23" name="Rectangle 22">
            <a:extLst>
              <a:ext uri="{FF2B5EF4-FFF2-40B4-BE49-F238E27FC236}">
                <a16:creationId xmlns:a16="http://schemas.microsoft.com/office/drawing/2014/main" id="{8FD51F52-B5BA-4473-9F20-FEC538347B12}"/>
              </a:ext>
            </a:extLst>
          </p:cNvPr>
          <p:cNvSpPr>
            <a:spLocks noGrp="1"/>
          </p:cNvSpPr>
          <p:nvPr/>
        </p:nvSpPr>
        <p:spPr>
          <a:xfrm>
            <a:off x="10972800" y="4524375"/>
            <a:ext cx="581025" cy="114300"/>
          </a:xfrm>
          <a:prstGeom prst="rect">
            <a:avLst/>
          </a:prstGeom>
          <a:solidFill>
            <a:srgbClr val="DCE5DE"/>
          </a:solidFill>
          <a:ln w="0">
            <a:noFill/>
          </a:ln>
        </p:spPr>
      </p:sp>
      <p:sp>
        <p:nvSpPr>
          <p:cNvPr id="24" name="text-26">
            <a:extLst>
              <a:ext uri="{FF2B5EF4-FFF2-40B4-BE49-F238E27FC236}">
                <a16:creationId xmlns:a16="http://schemas.microsoft.com/office/drawing/2014/main" id="{B89CFD91-2025-4AC2-98CF-F8CA061FCC75}"/>
              </a:ext>
            </a:extLst>
          </p:cNvPr>
          <p:cNvSpPr>
            <a:spLocks noGrp="1"/>
          </p:cNvSpPr>
          <p:nvPr/>
        </p:nvSpPr>
        <p:spPr>
          <a:xfrm>
            <a:off x="10972800" y="4819650"/>
            <a:ext cx="609600" cy="323850"/>
          </a:xfrm>
          <a:prstGeom prst="rect">
            <a:avLst/>
          </a:prstGeom>
          <a:noFill/>
          <a:ln w="0">
            <a:noFill/>
          </a:ln>
        </p:spPr>
        <p:txBody>
          <a:bodyPr wrap="square" lIns="0" tIns="0" rIns="0" bIns="0" anchor="t">
            <a:noAutofit/>
          </a:bodyPr>
          <a:lstStyle/>
          <a:p>
            <a:pPr>
              <a:defRPr sz="1950" b="1">
                <a:solidFill>
                  <a:srgbClr val="123F32"/>
                </a:solidFill>
                <a:latin typeface="Calibri"/>
                <a:ea typeface="Calibri"/>
                <a:cs typeface="Calibri"/>
              </a:defRPr>
            </a:pPr>
            <a:r>
              <a:rPr sz="1950" b="1">
                <a:solidFill>
                  <a:srgbClr val="123F32"/>
                </a:solidFill>
                <a:latin typeface="Calibri"/>
                <a:ea typeface="Calibri"/>
                <a:cs typeface="Calibri"/>
              </a:rPr>
              <a:t>5</a:t>
            </a:r>
          </a:p>
        </p:txBody>
      </p:sp>
      <p:sp>
        <p:nvSpPr>
          <p:cNvPr id="25" name="text-27">
            <a:extLst>
              <a:ext uri="{FF2B5EF4-FFF2-40B4-BE49-F238E27FC236}">
                <a16:creationId xmlns:a16="http://schemas.microsoft.com/office/drawing/2014/main" id="{C87BC5D3-CBDA-4BD6-90B9-B49C5EC42A7D}"/>
              </a:ext>
            </a:extLst>
          </p:cNvPr>
          <p:cNvSpPr>
            <a:spLocks noGrp="1"/>
          </p:cNvSpPr>
          <p:nvPr/>
        </p:nvSpPr>
        <p:spPr>
          <a:xfrm>
            <a:off x="10972800" y="5200650"/>
            <a:ext cx="685800" cy="400050"/>
          </a:xfrm>
          <a:prstGeom prst="rect">
            <a:avLst/>
          </a:prstGeom>
          <a:noFill/>
          <a:ln w="0">
            <a:noFill/>
          </a:ln>
        </p:spPr>
        <p:txBody>
          <a:bodyPr wrap="square" lIns="0" tIns="0" rIns="0" bIns="0" anchor="t">
            <a:noAutofit/>
          </a:bodyPr>
          <a:lstStyle/>
          <a:p>
            <a:pPr>
              <a:defRPr sz="1125" b="0">
                <a:solidFill>
                  <a:srgbClr val="66746B"/>
                </a:solidFill>
                <a:latin typeface="Calibri"/>
                <a:ea typeface="Calibri"/>
                <a:cs typeface="Calibri"/>
              </a:defRPr>
            </a:pPr>
            <a:r>
              <a:rPr sz="1125" b="0">
                <a:solidFill>
                  <a:srgbClr val="66746B"/>
                </a:solidFill>
                <a:latin typeface="Calibri"/>
                <a:ea typeface="Calibri"/>
                <a:cs typeface="Calibri"/>
              </a:rPr>
              <a:t>Tutup</a:t>
            </a:r>
          </a:p>
        </p:txBody>
      </p:sp>
      <p:sp>
        <p:nvSpPr>
          <p:cNvPr id="26" name="Straight Connector 25">
            <a:extLst>
              <a:ext uri="{FF2B5EF4-FFF2-40B4-BE49-F238E27FC236}">
                <a16:creationId xmlns:a16="http://schemas.microsoft.com/office/drawing/2014/main" id="{A19E32D9-E8AD-4FBD-9F15-3ED9EB82C196}"/>
              </a:ext>
            </a:extLst>
          </p:cNvPr>
          <p:cNvSpPr>
            <a:spLocks noGrp="1"/>
          </p:cNvSpPr>
          <p:nvPr/>
        </p:nvSpPr>
        <p:spPr>
          <a:xfrm>
            <a:off x="609600" y="5762625"/>
            <a:ext cx="10972800" cy="0"/>
          </a:xfrm>
          <a:prstGeom prst="line">
            <a:avLst/>
          </a:prstGeom>
          <a:noFill/>
          <a:ln w="9525">
            <a:solidFill>
              <a:srgbClr val="DCE5DE"/>
            </a:solidFill>
          </a:ln>
        </p:spPr>
      </p:sp>
      <p:sp>
        <p:nvSpPr>
          <p:cNvPr id="27" name="text-28">
            <a:extLst>
              <a:ext uri="{FF2B5EF4-FFF2-40B4-BE49-F238E27FC236}">
                <a16:creationId xmlns:a16="http://schemas.microsoft.com/office/drawing/2014/main" id="{B27ED221-67FD-4B6A-BBAD-6B72CEC5B6D7}"/>
              </a:ext>
            </a:extLst>
          </p:cNvPr>
          <p:cNvSpPr>
            <a:spLocks noGrp="1"/>
          </p:cNvSpPr>
          <p:nvPr/>
        </p:nvSpPr>
        <p:spPr>
          <a:xfrm>
            <a:off x="609600" y="5953125"/>
            <a:ext cx="10906125" cy="323850"/>
          </a:xfrm>
          <a:prstGeom prst="rect">
            <a:avLst/>
          </a:prstGeom>
          <a:noFill/>
          <a:ln w="0">
            <a:noFill/>
          </a:ln>
        </p:spPr>
        <p:txBody>
          <a:bodyPr wrap="square" lIns="0" tIns="0" rIns="0" bIns="0" anchor="t">
            <a:noAutofit/>
          </a:bodyPr>
          <a:lstStyle/>
          <a:p>
            <a:pPr>
              <a:defRPr sz="1650" b="1">
                <a:solidFill>
                  <a:srgbClr val="123F32"/>
                </a:solidFill>
                <a:latin typeface="Calibri"/>
                <a:ea typeface="Calibri"/>
                <a:cs typeface="Calibri"/>
              </a:defRPr>
            </a:pPr>
            <a:r>
              <a:rPr sz="1650" b="1">
                <a:solidFill>
                  <a:srgbClr val="123F32"/>
                </a:solidFill>
                <a:latin typeface="Calibri"/>
                <a:ea typeface="Calibri"/>
                <a:cs typeface="Calibri"/>
              </a:rPr>
              <a:t>Member belajar dari case nyata, lalu menentukan langkah yang bisa dicoba di bisnisnya.</a:t>
            </a:r>
          </a:p>
        </p:txBody>
      </p:sp>
    </p:spTree>
    <p:extLst>
      <p:ext uri="{BB962C8B-B14F-4D97-AF65-F5344CB8AC3E}">
        <p14:creationId xmlns:p14="http://schemas.microsoft.com/office/powerpoint/2010/main" val="10587616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6" name="Picture 35"/>
          <p:cNvPicPr>
            <a:picLocks noChangeAspect="1"/>
          </p:cNvPicPr>
          <p:nvPr/>
        </p:nvPicPr>
        <p:blipFill>
          <a:blip r:embed="rId3"/>
          <a:stretch/>
        </p:blipFill>
        <p:spPr>
          <a:xfrm>
            <a:off x="8340498" y="161925"/>
            <a:ext cx="3235779" cy="828675"/>
          </a:xfrm>
          <a:prstGeom prst="rect">
            <a:avLst/>
          </a:prstGeom>
        </p:spPr>
      </p:pic>
      <p:sp>
        <p:nvSpPr>
          <p:cNvPr id="2" name="text-29">
            <a:extLst>
              <a:ext uri="{FF2B5EF4-FFF2-40B4-BE49-F238E27FC236}">
                <a16:creationId xmlns:a16="http://schemas.microsoft.com/office/drawing/2014/main" id="{EC12B373-263A-4622-BF57-CF5B36543001}"/>
              </a:ext>
            </a:extLst>
          </p:cNvPr>
          <p:cNvSpPr>
            <a:spLocks noGrp="1"/>
          </p:cNvSpPr>
          <p:nvPr/>
        </p:nvSpPr>
        <p:spPr>
          <a:xfrm>
            <a:off x="609600" y="409575"/>
            <a:ext cx="7096125" cy="209550"/>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01 / JADWAL &amp; SPEAKER</a:t>
            </a:r>
          </a:p>
        </p:txBody>
      </p:sp>
      <p:sp>
        <p:nvSpPr>
          <p:cNvPr id="3" name="text-30">
            <a:extLst>
              <a:ext uri="{FF2B5EF4-FFF2-40B4-BE49-F238E27FC236}">
                <a16:creationId xmlns:a16="http://schemas.microsoft.com/office/drawing/2014/main" id="{D7EC0C54-AAF8-497B-BA37-751FD5B62AC8}"/>
              </a:ext>
            </a:extLst>
          </p:cNvPr>
          <p:cNvSpPr>
            <a:spLocks noGrp="1"/>
          </p:cNvSpPr>
          <p:nvPr/>
        </p:nvSpPr>
        <p:spPr>
          <a:xfrm>
            <a:off x="609600" y="1143000"/>
            <a:ext cx="10858500" cy="876300"/>
          </a:xfrm>
          <a:prstGeom prst="rect">
            <a:avLst/>
          </a:prstGeom>
          <a:noFill/>
          <a:ln w="0">
            <a:noFill/>
          </a:ln>
        </p:spPr>
        <p:txBody>
          <a:bodyPr wrap="square" lIns="0" tIns="0" rIns="0" bIns="0" anchor="t">
            <a:noAutofit/>
          </a:bodyPr>
          <a:lstStyle/>
          <a:p>
            <a:pPr>
              <a:defRPr sz="2850" b="1">
                <a:solidFill>
                  <a:srgbClr val="123F32"/>
                </a:solidFill>
                <a:latin typeface="Calibri"/>
                <a:ea typeface="Calibri"/>
                <a:cs typeface="Calibri"/>
              </a:defRPr>
            </a:pPr>
            <a:r>
              <a:rPr sz="2850" b="1" dirty="0" err="1">
                <a:solidFill>
                  <a:srgbClr val="123F32"/>
                </a:solidFill>
                <a:latin typeface="Calibri"/>
                <a:ea typeface="Calibri"/>
                <a:cs typeface="Calibri"/>
              </a:rPr>
              <a:t>Dua</a:t>
            </a:r>
            <a:r>
              <a:rPr sz="2850" b="1" dirty="0">
                <a:solidFill>
                  <a:srgbClr val="123F32"/>
                </a:solidFill>
                <a:latin typeface="Calibri"/>
                <a:ea typeface="Calibri"/>
                <a:cs typeface="Calibri"/>
              </a:rPr>
              <a:t> </a:t>
            </a:r>
            <a:r>
              <a:rPr sz="2850" b="1" dirty="0" err="1">
                <a:solidFill>
                  <a:srgbClr val="123F32"/>
                </a:solidFill>
                <a:latin typeface="Calibri"/>
                <a:ea typeface="Calibri"/>
                <a:cs typeface="Calibri"/>
              </a:rPr>
              <a:t>minggu</a:t>
            </a:r>
            <a:r>
              <a:rPr sz="2850" b="1" dirty="0">
                <a:solidFill>
                  <a:srgbClr val="123F32"/>
                </a:solidFill>
                <a:latin typeface="Calibri"/>
                <a:ea typeface="Calibri"/>
                <a:cs typeface="Calibri"/>
              </a:rPr>
              <a:t> </a:t>
            </a:r>
            <a:r>
              <a:rPr sz="2850" b="1" dirty="0" err="1">
                <a:solidFill>
                  <a:srgbClr val="123F32"/>
                </a:solidFill>
                <a:latin typeface="Calibri"/>
                <a:ea typeface="Calibri"/>
                <a:cs typeface="Calibri"/>
              </a:rPr>
              <a:t>pertama</a:t>
            </a:r>
            <a:r>
              <a:rPr sz="2850" b="1" dirty="0">
                <a:solidFill>
                  <a:srgbClr val="123F32"/>
                </a:solidFill>
                <a:latin typeface="Calibri"/>
                <a:ea typeface="Calibri"/>
                <a:cs typeface="Calibri"/>
              </a:rPr>
              <a:t> </a:t>
            </a:r>
            <a:r>
              <a:rPr sz="2850" b="1" dirty="0" err="1">
                <a:solidFill>
                  <a:srgbClr val="123F32"/>
                </a:solidFill>
                <a:latin typeface="Calibri"/>
                <a:ea typeface="Calibri"/>
                <a:cs typeface="Calibri"/>
              </a:rPr>
              <a:t>membahas</a:t>
            </a:r>
            <a:r>
              <a:rPr sz="2850" b="1" dirty="0">
                <a:solidFill>
                  <a:srgbClr val="123F32"/>
                </a:solidFill>
                <a:latin typeface="Calibri"/>
                <a:ea typeface="Calibri"/>
                <a:cs typeface="Calibri"/>
              </a:rPr>
              <a:t> </a:t>
            </a:r>
            <a:r>
              <a:rPr lang="en-US" sz="2850" b="1" dirty="0">
                <a:solidFill>
                  <a:srgbClr val="123F32"/>
                </a:solidFill>
                <a:latin typeface="Calibri"/>
                <a:ea typeface="Calibri"/>
                <a:cs typeface="Calibri"/>
              </a:rPr>
              <a:t>Business Foundation</a:t>
            </a:r>
            <a:endParaRPr sz="2850" b="1" dirty="0">
              <a:solidFill>
                <a:srgbClr val="123F32"/>
              </a:solidFill>
              <a:latin typeface="Calibri"/>
              <a:ea typeface="Calibri"/>
              <a:cs typeface="Calibri"/>
            </a:endParaRPr>
          </a:p>
        </p:txBody>
      </p:sp>
      <p:sp>
        <p:nvSpPr>
          <p:cNvPr id="4" name="text-31">
            <a:extLst>
              <a:ext uri="{FF2B5EF4-FFF2-40B4-BE49-F238E27FC236}">
                <a16:creationId xmlns:a16="http://schemas.microsoft.com/office/drawing/2014/main" id="{6ED3D199-8E54-44A0-B56C-73A9D6D9AF50}"/>
              </a:ext>
            </a:extLst>
          </p:cNvPr>
          <p:cNvSpPr>
            <a:spLocks noGrp="1"/>
          </p:cNvSpPr>
          <p:nvPr/>
        </p:nvSpPr>
        <p:spPr>
          <a:xfrm>
            <a:off x="609600" y="1666875"/>
            <a:ext cx="10858500" cy="466725"/>
          </a:xfrm>
          <a:prstGeom prst="rect">
            <a:avLst/>
          </a:prstGeom>
          <a:noFill/>
          <a:ln w="0">
            <a:noFill/>
          </a:ln>
        </p:spPr>
        <p:txBody>
          <a:bodyPr wrap="square" lIns="0" tIns="0" rIns="0" bIns="0" anchor="t">
            <a:noAutofit/>
          </a:bodyPr>
          <a:lstStyle/>
          <a:p>
            <a:pPr>
              <a:defRPr sz="1500" b="0">
                <a:solidFill>
                  <a:srgbClr val="66746B"/>
                </a:solidFill>
                <a:latin typeface="Calibri"/>
                <a:ea typeface="Calibri"/>
                <a:cs typeface="Calibri"/>
              </a:defRPr>
            </a:pPr>
            <a:r>
              <a:rPr sz="1500" b="0" dirty="0" err="1">
                <a:solidFill>
                  <a:srgbClr val="66746B"/>
                </a:solidFill>
                <a:latin typeface="Calibri"/>
                <a:ea typeface="Calibri"/>
                <a:cs typeface="Calibri"/>
              </a:rPr>
              <a:t>Semua</a:t>
            </a:r>
            <a:r>
              <a:rPr sz="1500" b="0" dirty="0">
                <a:solidFill>
                  <a:srgbClr val="66746B"/>
                </a:solidFill>
                <a:latin typeface="Calibri"/>
                <a:ea typeface="Calibri"/>
                <a:cs typeface="Calibri"/>
              </a:rPr>
              <a:t> </a:t>
            </a:r>
            <a:r>
              <a:rPr sz="1500" b="0" dirty="0" err="1">
                <a:solidFill>
                  <a:srgbClr val="66746B"/>
                </a:solidFill>
                <a:latin typeface="Calibri"/>
                <a:ea typeface="Calibri"/>
                <a:cs typeface="Calibri"/>
              </a:rPr>
              <a:t>kelas</a:t>
            </a:r>
            <a:r>
              <a:rPr sz="1500" b="0" dirty="0">
                <a:solidFill>
                  <a:srgbClr val="66746B"/>
                </a:solidFill>
                <a:latin typeface="Calibri"/>
                <a:ea typeface="Calibri"/>
                <a:cs typeface="Calibri"/>
              </a:rPr>
              <a:t> 19.00–20.30 WIB (</a:t>
            </a:r>
            <a:r>
              <a:rPr sz="1500" b="0" dirty="0" err="1">
                <a:solidFill>
                  <a:srgbClr val="66746B"/>
                </a:solidFill>
                <a:latin typeface="Calibri"/>
                <a:ea typeface="Calibri"/>
                <a:cs typeface="Calibri"/>
              </a:rPr>
              <a:t>usulan</a:t>
            </a:r>
            <a:r>
              <a:rPr sz="1500" b="0" dirty="0">
                <a:solidFill>
                  <a:srgbClr val="66746B"/>
                </a:solidFill>
                <a:latin typeface="Calibri"/>
                <a:ea typeface="Calibri"/>
                <a:cs typeface="Calibri"/>
              </a:rPr>
              <a:t>). </a:t>
            </a:r>
            <a:r>
              <a:rPr lang="en-US" sz="1500" b="0" dirty="0">
                <a:solidFill>
                  <a:srgbClr val="66746B"/>
                </a:solidFill>
                <a:latin typeface="Calibri"/>
                <a:ea typeface="Calibri"/>
                <a:cs typeface="Calibri"/>
              </a:rPr>
              <a:t>Nama speaker </a:t>
            </a:r>
            <a:r>
              <a:rPr lang="en-US" sz="1500" b="0" dirty="0" err="1">
                <a:solidFill>
                  <a:srgbClr val="66746B"/>
                </a:solidFill>
                <a:latin typeface="Calibri"/>
                <a:ea typeface="Calibri"/>
                <a:cs typeface="Calibri"/>
              </a:rPr>
              <a:t>masih</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sebagai</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kandidat</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dari</a:t>
            </a:r>
            <a:r>
              <a:rPr lang="en-US" sz="1500" b="0" dirty="0">
                <a:solidFill>
                  <a:srgbClr val="66746B"/>
                </a:solidFill>
                <a:latin typeface="Calibri"/>
                <a:ea typeface="Calibri"/>
                <a:cs typeface="Calibri"/>
              </a:rPr>
              <a:t> following Instagram Ko Stanley</a:t>
            </a:r>
            <a:endParaRPr sz="1500" b="0" dirty="0">
              <a:solidFill>
                <a:srgbClr val="66746B"/>
              </a:solidFill>
              <a:latin typeface="Calibri"/>
              <a:ea typeface="Calibri"/>
              <a:cs typeface="Calibri"/>
            </a:endParaRPr>
          </a:p>
        </p:txBody>
      </p:sp>
      <p:sp>
        <p:nvSpPr>
          <p:cNvPr id="5" name="Straight Connector 4">
            <a:extLst>
              <a:ext uri="{FF2B5EF4-FFF2-40B4-BE49-F238E27FC236}">
                <a16:creationId xmlns:a16="http://schemas.microsoft.com/office/drawing/2014/main" id="{4512BB26-A73F-447F-BCB7-DB716C820717}"/>
              </a:ext>
            </a:extLst>
          </p:cNvPr>
          <p:cNvSpPr>
            <a:spLocks noGrp="1"/>
          </p:cNvSpPr>
          <p:nvPr/>
        </p:nvSpPr>
        <p:spPr>
          <a:xfrm>
            <a:off x="609600" y="6381750"/>
            <a:ext cx="10972800" cy="0"/>
          </a:xfrm>
          <a:prstGeom prst="line">
            <a:avLst/>
          </a:prstGeom>
          <a:noFill/>
          <a:ln w="9525">
            <a:solidFill>
              <a:srgbClr val="DCE5DE"/>
            </a:solidFill>
          </a:ln>
        </p:spPr>
      </p:sp>
      <p:sp>
        <p:nvSpPr>
          <p:cNvPr id="6" name="text-32">
            <a:extLst>
              <a:ext uri="{FF2B5EF4-FFF2-40B4-BE49-F238E27FC236}">
                <a16:creationId xmlns:a16="http://schemas.microsoft.com/office/drawing/2014/main" id="{19AEBE6B-4BC3-4586-A98D-9D6AEA719608}"/>
              </a:ext>
            </a:extLst>
          </p:cNvPr>
          <p:cNvSpPr>
            <a:spLocks noGrp="1"/>
          </p:cNvSpPr>
          <p:nvPr/>
        </p:nvSpPr>
        <p:spPr>
          <a:xfrm>
            <a:off x="609600" y="6505575"/>
            <a:ext cx="10191750" cy="209550"/>
          </a:xfrm>
          <a:prstGeom prst="rect">
            <a:avLst/>
          </a:prstGeom>
          <a:noFill/>
          <a:ln w="0">
            <a:noFill/>
          </a:ln>
        </p:spPr>
        <p:txBody>
          <a:bodyPr wrap="square" lIns="0" tIns="0" rIns="0" bIns="0" anchor="t">
            <a:noAutofit/>
          </a:bodyPr>
          <a:lstStyle/>
          <a:p>
            <a:pPr>
              <a:defRPr sz="825" b="0">
                <a:solidFill>
                  <a:srgbClr val="66746B"/>
                </a:solidFill>
                <a:latin typeface="Calibri"/>
                <a:ea typeface="Calibri"/>
                <a:cs typeface="Calibri"/>
              </a:defRPr>
            </a:pPr>
            <a:r>
              <a:rPr sz="825" b="0">
                <a:solidFill>
                  <a:srgbClr val="66746B"/>
                </a:solidFill>
                <a:latin typeface="Calibri"/>
                <a:ea typeface="Calibri"/>
                <a:cs typeface="Calibri"/>
              </a:rPr>
              <a:t>Sumber: CEO Masterclass - Live Topic.pdf; riset profil speaker 6 Okt 2026. Matching adalah rekomendasi.</a:t>
            </a:r>
          </a:p>
        </p:txBody>
      </p:sp>
      <p:sp>
        <p:nvSpPr>
          <p:cNvPr id="7" name="text-33">
            <a:extLst>
              <a:ext uri="{FF2B5EF4-FFF2-40B4-BE49-F238E27FC236}">
                <a16:creationId xmlns:a16="http://schemas.microsoft.com/office/drawing/2014/main" id="{A4907338-5E49-432D-96F2-F6C27F330003}"/>
              </a:ext>
            </a:extLst>
          </p:cNvPr>
          <p:cNvSpPr>
            <a:spLocks noGrp="1"/>
          </p:cNvSpPr>
          <p:nvPr/>
        </p:nvSpPr>
        <p:spPr>
          <a:xfrm>
            <a:off x="11125200" y="6486525"/>
            <a:ext cx="438150" cy="228600"/>
          </a:xfrm>
          <a:prstGeom prst="rect">
            <a:avLst/>
          </a:prstGeom>
          <a:noFill/>
          <a:ln w="0">
            <a:noFill/>
          </a:ln>
        </p:spPr>
        <p:txBody>
          <a:bodyPr wrap="square" lIns="0" tIns="0" rIns="0" bIns="0" anchor="t">
            <a:noAutofit/>
          </a:bodyPr>
          <a:lstStyle/>
          <a:p>
            <a:pPr>
              <a:defRPr sz="1050" b="1">
                <a:solidFill>
                  <a:srgbClr val="123F32"/>
                </a:solidFill>
                <a:latin typeface="Calibri"/>
                <a:ea typeface="Calibri"/>
                <a:cs typeface="Calibri"/>
              </a:defRPr>
            </a:pPr>
            <a:r>
              <a:rPr sz="1050" b="1">
                <a:solidFill>
                  <a:srgbClr val="123F32"/>
                </a:solidFill>
                <a:latin typeface="Calibri"/>
                <a:ea typeface="Calibri"/>
                <a:cs typeface="Calibri"/>
              </a:rPr>
              <a:t>03</a:t>
            </a:r>
          </a:p>
        </p:txBody>
      </p:sp>
      <p:sp>
        <p:nvSpPr>
          <p:cNvPr id="8" name="text-34">
            <a:extLst>
              <a:ext uri="{FF2B5EF4-FFF2-40B4-BE49-F238E27FC236}">
                <a16:creationId xmlns:a16="http://schemas.microsoft.com/office/drawing/2014/main" id="{0B973B22-71DA-4607-92F7-8D37B63E2314}"/>
              </a:ext>
            </a:extLst>
          </p:cNvPr>
          <p:cNvSpPr>
            <a:spLocks noGrp="1"/>
          </p:cNvSpPr>
          <p:nvPr/>
        </p:nvSpPr>
        <p:spPr>
          <a:xfrm>
            <a:off x="609600" y="2619375"/>
            <a:ext cx="1962150" cy="219075"/>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NOVEMBER 2026</a:t>
            </a:r>
          </a:p>
        </p:txBody>
      </p:sp>
      <p:sp>
        <p:nvSpPr>
          <p:cNvPr id="9" name="text-35">
            <a:extLst>
              <a:ext uri="{FF2B5EF4-FFF2-40B4-BE49-F238E27FC236}">
                <a16:creationId xmlns:a16="http://schemas.microsoft.com/office/drawing/2014/main" id="{1495E293-5A36-4C68-ABF7-F0FB1600E5B6}"/>
              </a:ext>
            </a:extLst>
          </p:cNvPr>
          <p:cNvSpPr>
            <a:spLocks noGrp="1"/>
          </p:cNvSpPr>
          <p:nvPr/>
        </p:nvSpPr>
        <p:spPr>
          <a:xfrm>
            <a:off x="2714625" y="2619375"/>
            <a:ext cx="4733925" cy="219075"/>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MODUL &amp; PERTANYAAN UTAMA</a:t>
            </a:r>
          </a:p>
        </p:txBody>
      </p:sp>
      <p:sp>
        <p:nvSpPr>
          <p:cNvPr id="10" name="text-36">
            <a:extLst>
              <a:ext uri="{FF2B5EF4-FFF2-40B4-BE49-F238E27FC236}">
                <a16:creationId xmlns:a16="http://schemas.microsoft.com/office/drawing/2014/main" id="{BF2D5F84-A43D-48A7-A7A9-9D100BA96820}"/>
              </a:ext>
            </a:extLst>
          </p:cNvPr>
          <p:cNvSpPr>
            <a:spLocks noGrp="1"/>
          </p:cNvSpPr>
          <p:nvPr/>
        </p:nvSpPr>
        <p:spPr>
          <a:xfrm>
            <a:off x="7848600" y="2619375"/>
            <a:ext cx="3733800" cy="219075"/>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UTAMA / CADANGAN</a:t>
            </a:r>
          </a:p>
        </p:txBody>
      </p:sp>
      <p:sp>
        <p:nvSpPr>
          <p:cNvPr id="11" name="text-37">
            <a:extLst>
              <a:ext uri="{FF2B5EF4-FFF2-40B4-BE49-F238E27FC236}">
                <a16:creationId xmlns:a16="http://schemas.microsoft.com/office/drawing/2014/main" id="{7DCD2260-886E-4FC2-BE11-EB1BE8A96F32}"/>
              </a:ext>
            </a:extLst>
          </p:cNvPr>
          <p:cNvSpPr>
            <a:spLocks noGrp="1"/>
          </p:cNvSpPr>
          <p:nvPr/>
        </p:nvSpPr>
        <p:spPr>
          <a:xfrm>
            <a:off x="609600" y="3057525"/>
            <a:ext cx="2009775" cy="533400"/>
          </a:xfrm>
          <a:prstGeom prst="rect">
            <a:avLst/>
          </a:prstGeom>
          <a:noFill/>
          <a:ln w="0">
            <a:noFill/>
          </a:ln>
        </p:spPr>
        <p:txBody>
          <a:bodyPr wrap="square" lIns="0" tIns="0" rIns="0" bIns="0" anchor="t">
            <a:noAutofit/>
          </a:bodyPr>
          <a:lstStyle/>
          <a:p>
            <a:pPr>
              <a:defRPr sz="1800" b="1">
                <a:solidFill>
                  <a:srgbClr val="123F32"/>
                </a:solidFill>
                <a:latin typeface="Calibri"/>
                <a:ea typeface="Calibri"/>
                <a:cs typeface="Calibri"/>
              </a:defRPr>
            </a:pPr>
            <a:r>
              <a:rPr sz="1800" b="1">
                <a:solidFill>
                  <a:srgbClr val="123F32"/>
                </a:solidFill>
                <a:latin typeface="Calibri"/>
                <a:ea typeface="Calibri"/>
                <a:cs typeface="Calibri"/>
              </a:rPr>
              <a:t>Selasa, 3 Nov</a:t>
            </a:r>
          </a:p>
        </p:txBody>
      </p:sp>
      <p:sp>
        <p:nvSpPr>
          <p:cNvPr id="12" name="text-38">
            <a:extLst>
              <a:ext uri="{FF2B5EF4-FFF2-40B4-BE49-F238E27FC236}">
                <a16:creationId xmlns:a16="http://schemas.microsoft.com/office/drawing/2014/main" id="{9AF66F7A-CEF6-41E4-9CD5-32323106E525}"/>
              </a:ext>
            </a:extLst>
          </p:cNvPr>
          <p:cNvSpPr>
            <a:spLocks noGrp="1"/>
          </p:cNvSpPr>
          <p:nvPr/>
        </p:nvSpPr>
        <p:spPr>
          <a:xfrm>
            <a:off x="2714625" y="3000375"/>
            <a:ext cx="4714875" cy="209550"/>
          </a:xfrm>
          <a:prstGeom prst="rect">
            <a:avLst/>
          </a:prstGeom>
          <a:noFill/>
          <a:ln w="0">
            <a:noFill/>
          </a:ln>
        </p:spPr>
        <p:txBody>
          <a:bodyPr wrap="square" lIns="0" tIns="0" rIns="0" bIns="0" anchor="t">
            <a:noAutofit/>
          </a:bodyPr>
          <a:lstStyle/>
          <a:p>
            <a:pPr>
              <a:defRPr sz="1125" b="1">
                <a:solidFill>
                  <a:srgbClr val="6F9182"/>
                </a:solidFill>
                <a:latin typeface="Calibri"/>
                <a:ea typeface="Calibri"/>
                <a:cs typeface="Calibri"/>
              </a:defRPr>
            </a:pPr>
            <a:r>
              <a:rPr sz="1125" b="1">
                <a:solidFill>
                  <a:srgbClr val="6F9182"/>
                </a:solidFill>
                <a:latin typeface="Calibri"/>
                <a:ea typeface="Calibri"/>
                <a:cs typeface="Calibri"/>
              </a:rPr>
              <a:t>MINDSET</a:t>
            </a:r>
          </a:p>
        </p:txBody>
      </p:sp>
      <p:sp>
        <p:nvSpPr>
          <p:cNvPr id="13" name="text-39">
            <a:extLst>
              <a:ext uri="{FF2B5EF4-FFF2-40B4-BE49-F238E27FC236}">
                <a16:creationId xmlns:a16="http://schemas.microsoft.com/office/drawing/2014/main" id="{5B46120C-1FA3-4070-931B-7FE30D312BC4}"/>
              </a:ext>
            </a:extLst>
          </p:cNvPr>
          <p:cNvSpPr>
            <a:spLocks noGrp="1"/>
          </p:cNvSpPr>
          <p:nvPr/>
        </p:nvSpPr>
        <p:spPr>
          <a:xfrm>
            <a:off x="2714625" y="3238500"/>
            <a:ext cx="4714875" cy="466725"/>
          </a:xfrm>
          <a:prstGeom prst="rect">
            <a:avLst/>
          </a:prstGeom>
          <a:noFill/>
          <a:ln w="0">
            <a:noFill/>
          </a:ln>
        </p:spPr>
        <p:txBody>
          <a:bodyPr wrap="square" lIns="0" tIns="0" rIns="0" bIns="0" anchor="t">
            <a:noAutofit/>
          </a:bodyPr>
          <a:lstStyle/>
          <a:p>
            <a:pPr>
              <a:defRPr sz="1575" b="0">
                <a:solidFill>
                  <a:srgbClr val="123F32"/>
                </a:solidFill>
                <a:latin typeface="Calibri"/>
                <a:ea typeface="Calibri"/>
                <a:cs typeface="Calibri"/>
              </a:defRPr>
            </a:pPr>
            <a:r>
              <a:rPr sz="1575" b="0">
                <a:solidFill>
                  <a:srgbClr val="123F32"/>
                </a:solidFill>
                <a:latin typeface="Calibri"/>
                <a:ea typeface="Calibri"/>
                <a:cs typeface="Calibri"/>
              </a:rPr>
              <a:t>Kapan harus bertahan, kapan harus berubah arah?</a:t>
            </a:r>
          </a:p>
        </p:txBody>
      </p:sp>
      <p:sp>
        <p:nvSpPr>
          <p:cNvPr id="14" name="text-40">
            <a:extLst>
              <a:ext uri="{FF2B5EF4-FFF2-40B4-BE49-F238E27FC236}">
                <a16:creationId xmlns:a16="http://schemas.microsoft.com/office/drawing/2014/main" id="{48900588-BEA8-42F8-8203-EF6ED771CDDD}"/>
              </a:ext>
            </a:extLst>
          </p:cNvPr>
          <p:cNvSpPr>
            <a:spLocks noGrp="1"/>
          </p:cNvSpPr>
          <p:nvPr/>
        </p:nvSpPr>
        <p:spPr>
          <a:xfrm>
            <a:off x="7848600" y="3009900"/>
            <a:ext cx="3733800" cy="419100"/>
          </a:xfrm>
          <a:prstGeom prst="rect">
            <a:avLst/>
          </a:prstGeom>
          <a:noFill/>
          <a:ln w="0">
            <a:noFill/>
          </a:ln>
        </p:spPr>
        <p:txBody>
          <a:bodyPr wrap="square" lIns="0" tIns="0" rIns="0" bIns="0" anchor="t">
            <a:noAutofit/>
          </a:bodyPr>
          <a:lstStyle/>
          <a:p>
            <a:pPr>
              <a:defRPr sz="1575" b="1">
                <a:solidFill>
                  <a:srgbClr val="123F32"/>
                </a:solidFill>
                <a:latin typeface="Calibri"/>
                <a:ea typeface="Calibri"/>
                <a:cs typeface="Calibri"/>
              </a:defRPr>
            </a:pPr>
            <a:r>
              <a:rPr sz="1575" b="1">
                <a:solidFill>
                  <a:srgbClr val="123F32"/>
                </a:solidFill>
                <a:latin typeface="Calibri"/>
                <a:ea typeface="Calibri"/>
                <a:cs typeface="Calibri"/>
              </a:rPr>
              <a:t>Yukka Harlanda / Brodo</a:t>
            </a:r>
          </a:p>
        </p:txBody>
      </p:sp>
      <p:sp>
        <p:nvSpPr>
          <p:cNvPr id="15" name="text-41">
            <a:extLst>
              <a:ext uri="{FF2B5EF4-FFF2-40B4-BE49-F238E27FC236}">
                <a16:creationId xmlns:a16="http://schemas.microsoft.com/office/drawing/2014/main" id="{112C10A6-CC0A-465B-B1F7-5184CC3FEAB4}"/>
              </a:ext>
            </a:extLst>
          </p:cNvPr>
          <p:cNvSpPr>
            <a:spLocks noGrp="1"/>
          </p:cNvSpPr>
          <p:nvPr/>
        </p:nvSpPr>
        <p:spPr>
          <a:xfrm>
            <a:off x="7848600" y="3400425"/>
            <a:ext cx="3733800" cy="314325"/>
          </a:xfrm>
          <a:prstGeom prst="rect">
            <a:avLst/>
          </a:prstGeom>
          <a:noFill/>
          <a:ln w="0">
            <a:noFill/>
          </a:ln>
        </p:spPr>
        <p:txBody>
          <a:bodyPr wrap="square" lIns="0" tIns="0" rIns="0" bIns="0" anchor="t">
            <a:noAutofit/>
          </a:bodyPr>
          <a:lstStyle/>
          <a:p>
            <a:pPr>
              <a:defRPr sz="1200" b="0">
                <a:solidFill>
                  <a:srgbClr val="66746B"/>
                </a:solidFill>
                <a:latin typeface="Calibri"/>
                <a:ea typeface="Calibri"/>
                <a:cs typeface="Calibri"/>
              </a:defRPr>
            </a:pPr>
            <a:r>
              <a:rPr sz="1200" b="0">
                <a:solidFill>
                  <a:srgbClr val="66746B"/>
                </a:solidFill>
                <a:latin typeface="Calibri"/>
                <a:ea typeface="Calibri"/>
                <a:cs typeface="Calibri"/>
              </a:rPr>
              <a:t>Cad.: Purwa Hartono / Purwadhika</a:t>
            </a:r>
          </a:p>
        </p:txBody>
      </p:sp>
      <p:sp>
        <p:nvSpPr>
          <p:cNvPr id="16" name="Straight Connector 15">
            <a:extLst>
              <a:ext uri="{FF2B5EF4-FFF2-40B4-BE49-F238E27FC236}">
                <a16:creationId xmlns:a16="http://schemas.microsoft.com/office/drawing/2014/main" id="{7E2FE5F1-C393-496F-9364-25FE21CFC4AC}"/>
              </a:ext>
            </a:extLst>
          </p:cNvPr>
          <p:cNvSpPr>
            <a:spLocks noGrp="1"/>
          </p:cNvSpPr>
          <p:nvPr/>
        </p:nvSpPr>
        <p:spPr>
          <a:xfrm>
            <a:off x="609600" y="3695700"/>
            <a:ext cx="10972800" cy="0"/>
          </a:xfrm>
          <a:prstGeom prst="line">
            <a:avLst/>
          </a:prstGeom>
          <a:noFill/>
          <a:ln w="9525">
            <a:solidFill>
              <a:srgbClr val="DCE5DE"/>
            </a:solidFill>
          </a:ln>
        </p:spPr>
      </p:sp>
      <p:sp>
        <p:nvSpPr>
          <p:cNvPr id="17" name="text-42">
            <a:extLst>
              <a:ext uri="{FF2B5EF4-FFF2-40B4-BE49-F238E27FC236}">
                <a16:creationId xmlns:a16="http://schemas.microsoft.com/office/drawing/2014/main" id="{BF697454-B94D-469C-B02B-A5A60AA01595}"/>
              </a:ext>
            </a:extLst>
          </p:cNvPr>
          <p:cNvSpPr>
            <a:spLocks noGrp="1"/>
          </p:cNvSpPr>
          <p:nvPr/>
        </p:nvSpPr>
        <p:spPr>
          <a:xfrm>
            <a:off x="609600" y="3800475"/>
            <a:ext cx="2009775" cy="533400"/>
          </a:xfrm>
          <a:prstGeom prst="rect">
            <a:avLst/>
          </a:prstGeom>
          <a:noFill/>
          <a:ln w="0">
            <a:noFill/>
          </a:ln>
        </p:spPr>
        <p:txBody>
          <a:bodyPr wrap="square" lIns="0" tIns="0" rIns="0" bIns="0" anchor="t">
            <a:noAutofit/>
          </a:bodyPr>
          <a:lstStyle/>
          <a:p>
            <a:pPr>
              <a:defRPr sz="1800" b="1">
                <a:solidFill>
                  <a:srgbClr val="123F32"/>
                </a:solidFill>
                <a:latin typeface="Calibri"/>
                <a:ea typeface="Calibri"/>
                <a:cs typeface="Calibri"/>
              </a:defRPr>
            </a:pPr>
            <a:r>
              <a:rPr sz="1800" b="1">
                <a:solidFill>
                  <a:srgbClr val="123F32"/>
                </a:solidFill>
                <a:latin typeface="Calibri"/>
                <a:ea typeface="Calibri"/>
                <a:cs typeface="Calibri"/>
              </a:rPr>
              <a:t>Kamis, 5 Nov</a:t>
            </a:r>
          </a:p>
        </p:txBody>
      </p:sp>
      <p:sp>
        <p:nvSpPr>
          <p:cNvPr id="18" name="text-43">
            <a:extLst>
              <a:ext uri="{FF2B5EF4-FFF2-40B4-BE49-F238E27FC236}">
                <a16:creationId xmlns:a16="http://schemas.microsoft.com/office/drawing/2014/main" id="{3A305406-9026-41BE-950B-AF8CFCA09D5A}"/>
              </a:ext>
            </a:extLst>
          </p:cNvPr>
          <p:cNvSpPr>
            <a:spLocks noGrp="1"/>
          </p:cNvSpPr>
          <p:nvPr/>
        </p:nvSpPr>
        <p:spPr>
          <a:xfrm>
            <a:off x="2714625" y="3743325"/>
            <a:ext cx="4714875" cy="209550"/>
          </a:xfrm>
          <a:prstGeom prst="rect">
            <a:avLst/>
          </a:prstGeom>
          <a:noFill/>
          <a:ln w="0">
            <a:noFill/>
          </a:ln>
        </p:spPr>
        <p:txBody>
          <a:bodyPr wrap="square" lIns="0" tIns="0" rIns="0" bIns="0" anchor="t">
            <a:noAutofit/>
          </a:bodyPr>
          <a:lstStyle/>
          <a:p>
            <a:pPr>
              <a:defRPr sz="1125" b="1">
                <a:solidFill>
                  <a:srgbClr val="6F9182"/>
                </a:solidFill>
                <a:latin typeface="Calibri"/>
                <a:ea typeface="Calibri"/>
                <a:cs typeface="Calibri"/>
              </a:defRPr>
            </a:pPr>
            <a:r>
              <a:rPr sz="1125" b="1">
                <a:solidFill>
                  <a:srgbClr val="6F9182"/>
                </a:solidFill>
                <a:latin typeface="Calibri"/>
                <a:ea typeface="Calibri"/>
                <a:cs typeface="Calibri"/>
              </a:rPr>
              <a:t>PROBLEM SOLVING</a:t>
            </a:r>
          </a:p>
        </p:txBody>
      </p:sp>
      <p:sp>
        <p:nvSpPr>
          <p:cNvPr id="19" name="text-44">
            <a:extLst>
              <a:ext uri="{FF2B5EF4-FFF2-40B4-BE49-F238E27FC236}">
                <a16:creationId xmlns:a16="http://schemas.microsoft.com/office/drawing/2014/main" id="{FA546B9A-959F-44D6-A8BD-B76BFB84320E}"/>
              </a:ext>
            </a:extLst>
          </p:cNvPr>
          <p:cNvSpPr>
            <a:spLocks noGrp="1"/>
          </p:cNvSpPr>
          <p:nvPr/>
        </p:nvSpPr>
        <p:spPr>
          <a:xfrm>
            <a:off x="2714625" y="3981450"/>
            <a:ext cx="4714875" cy="466725"/>
          </a:xfrm>
          <a:prstGeom prst="rect">
            <a:avLst/>
          </a:prstGeom>
          <a:noFill/>
          <a:ln w="0">
            <a:noFill/>
          </a:ln>
        </p:spPr>
        <p:txBody>
          <a:bodyPr wrap="square" lIns="0" tIns="0" rIns="0" bIns="0" anchor="t">
            <a:noAutofit/>
          </a:bodyPr>
          <a:lstStyle/>
          <a:p>
            <a:pPr>
              <a:defRPr sz="1575" b="0">
                <a:solidFill>
                  <a:srgbClr val="123F32"/>
                </a:solidFill>
                <a:latin typeface="Calibri"/>
                <a:ea typeface="Calibri"/>
                <a:cs typeface="Calibri"/>
              </a:defRPr>
            </a:pPr>
            <a:r>
              <a:rPr sz="1575" b="0">
                <a:solidFill>
                  <a:srgbClr val="123F32"/>
                </a:solidFill>
                <a:latin typeface="Calibri"/>
                <a:ea typeface="Calibri"/>
                <a:cs typeface="Calibri"/>
              </a:rPr>
              <a:t>Masalah mana yang harus diselesaikan dulu?</a:t>
            </a:r>
          </a:p>
        </p:txBody>
      </p:sp>
      <p:sp>
        <p:nvSpPr>
          <p:cNvPr id="20" name="text-45">
            <a:extLst>
              <a:ext uri="{FF2B5EF4-FFF2-40B4-BE49-F238E27FC236}">
                <a16:creationId xmlns:a16="http://schemas.microsoft.com/office/drawing/2014/main" id="{6B576C3F-07C9-44D5-8CC6-030445EE57F3}"/>
              </a:ext>
            </a:extLst>
          </p:cNvPr>
          <p:cNvSpPr>
            <a:spLocks noGrp="1"/>
          </p:cNvSpPr>
          <p:nvPr/>
        </p:nvSpPr>
        <p:spPr>
          <a:xfrm>
            <a:off x="7848600" y="3752850"/>
            <a:ext cx="3733800" cy="419100"/>
          </a:xfrm>
          <a:prstGeom prst="rect">
            <a:avLst/>
          </a:prstGeom>
          <a:noFill/>
          <a:ln w="0">
            <a:noFill/>
          </a:ln>
        </p:spPr>
        <p:txBody>
          <a:bodyPr wrap="square" lIns="0" tIns="0" rIns="0" bIns="0" anchor="t">
            <a:noAutofit/>
          </a:bodyPr>
          <a:lstStyle/>
          <a:p>
            <a:pPr>
              <a:defRPr sz="1575" b="1">
                <a:solidFill>
                  <a:srgbClr val="123F32"/>
                </a:solidFill>
                <a:latin typeface="Calibri"/>
                <a:ea typeface="Calibri"/>
                <a:cs typeface="Calibri"/>
              </a:defRPr>
            </a:pPr>
            <a:r>
              <a:rPr sz="1575" b="1">
                <a:solidFill>
                  <a:srgbClr val="123F32"/>
                </a:solidFill>
                <a:latin typeface="Calibri"/>
                <a:ea typeface="Calibri"/>
                <a:cs typeface="Calibri"/>
              </a:rPr>
              <a:t>Dokter Tirta / Shoes and Care</a:t>
            </a:r>
          </a:p>
        </p:txBody>
      </p:sp>
      <p:sp>
        <p:nvSpPr>
          <p:cNvPr id="21" name="text-46">
            <a:extLst>
              <a:ext uri="{FF2B5EF4-FFF2-40B4-BE49-F238E27FC236}">
                <a16:creationId xmlns:a16="http://schemas.microsoft.com/office/drawing/2014/main" id="{F97C1213-C3E9-4106-A7AB-C4C7D446B7C5}"/>
              </a:ext>
            </a:extLst>
          </p:cNvPr>
          <p:cNvSpPr>
            <a:spLocks noGrp="1"/>
          </p:cNvSpPr>
          <p:nvPr/>
        </p:nvSpPr>
        <p:spPr>
          <a:xfrm>
            <a:off x="7848600" y="4143375"/>
            <a:ext cx="3733800" cy="314325"/>
          </a:xfrm>
          <a:prstGeom prst="rect">
            <a:avLst/>
          </a:prstGeom>
          <a:noFill/>
          <a:ln w="0">
            <a:noFill/>
          </a:ln>
        </p:spPr>
        <p:txBody>
          <a:bodyPr wrap="square" lIns="0" tIns="0" rIns="0" bIns="0" anchor="t">
            <a:noAutofit/>
          </a:bodyPr>
          <a:lstStyle/>
          <a:p>
            <a:pPr>
              <a:defRPr sz="1200" b="0">
                <a:solidFill>
                  <a:srgbClr val="66746B"/>
                </a:solidFill>
                <a:latin typeface="Calibri"/>
                <a:ea typeface="Calibri"/>
                <a:cs typeface="Calibri"/>
              </a:defRPr>
            </a:pPr>
            <a:r>
              <a:rPr sz="1200" b="0">
                <a:solidFill>
                  <a:srgbClr val="66746B"/>
                </a:solidFill>
                <a:latin typeface="Calibri"/>
                <a:ea typeface="Calibri"/>
                <a:cs typeface="Calibri"/>
              </a:rPr>
              <a:t>Cad.: Anthony Soehartono / BP Consulting</a:t>
            </a:r>
          </a:p>
        </p:txBody>
      </p:sp>
      <p:sp>
        <p:nvSpPr>
          <p:cNvPr id="22" name="Straight Connector 21">
            <a:extLst>
              <a:ext uri="{FF2B5EF4-FFF2-40B4-BE49-F238E27FC236}">
                <a16:creationId xmlns:a16="http://schemas.microsoft.com/office/drawing/2014/main" id="{5524A8BA-27DF-4F0D-AA80-64B52B79C033}"/>
              </a:ext>
            </a:extLst>
          </p:cNvPr>
          <p:cNvSpPr>
            <a:spLocks noGrp="1"/>
          </p:cNvSpPr>
          <p:nvPr/>
        </p:nvSpPr>
        <p:spPr>
          <a:xfrm>
            <a:off x="609600" y="4438650"/>
            <a:ext cx="10972800" cy="0"/>
          </a:xfrm>
          <a:prstGeom prst="line">
            <a:avLst/>
          </a:prstGeom>
          <a:noFill/>
          <a:ln w="9525">
            <a:solidFill>
              <a:srgbClr val="DCE5DE"/>
            </a:solidFill>
          </a:ln>
        </p:spPr>
      </p:sp>
      <p:sp>
        <p:nvSpPr>
          <p:cNvPr id="23" name="text-47">
            <a:extLst>
              <a:ext uri="{FF2B5EF4-FFF2-40B4-BE49-F238E27FC236}">
                <a16:creationId xmlns:a16="http://schemas.microsoft.com/office/drawing/2014/main" id="{5F3738A8-3E94-42C3-B4DE-2AD2FDA7EA3E}"/>
              </a:ext>
            </a:extLst>
          </p:cNvPr>
          <p:cNvSpPr>
            <a:spLocks noGrp="1"/>
          </p:cNvSpPr>
          <p:nvPr/>
        </p:nvSpPr>
        <p:spPr>
          <a:xfrm>
            <a:off x="609600" y="4543425"/>
            <a:ext cx="2009775" cy="533400"/>
          </a:xfrm>
          <a:prstGeom prst="rect">
            <a:avLst/>
          </a:prstGeom>
          <a:noFill/>
          <a:ln w="0">
            <a:noFill/>
          </a:ln>
        </p:spPr>
        <p:txBody>
          <a:bodyPr wrap="square" lIns="0" tIns="0" rIns="0" bIns="0" anchor="t">
            <a:noAutofit/>
          </a:bodyPr>
          <a:lstStyle/>
          <a:p>
            <a:pPr>
              <a:defRPr sz="1800" b="1">
                <a:solidFill>
                  <a:srgbClr val="123F32"/>
                </a:solidFill>
                <a:latin typeface="Calibri"/>
                <a:ea typeface="Calibri"/>
                <a:cs typeface="Calibri"/>
              </a:defRPr>
            </a:pPr>
            <a:r>
              <a:rPr sz="1800" b="1">
                <a:solidFill>
                  <a:srgbClr val="123F32"/>
                </a:solidFill>
                <a:latin typeface="Calibri"/>
                <a:ea typeface="Calibri"/>
                <a:cs typeface="Calibri"/>
              </a:rPr>
              <a:t>Selasa, 10 Nov</a:t>
            </a:r>
          </a:p>
        </p:txBody>
      </p:sp>
      <p:sp>
        <p:nvSpPr>
          <p:cNvPr id="24" name="text-48">
            <a:extLst>
              <a:ext uri="{FF2B5EF4-FFF2-40B4-BE49-F238E27FC236}">
                <a16:creationId xmlns:a16="http://schemas.microsoft.com/office/drawing/2014/main" id="{1C40CFC9-2D3F-4A5D-AE06-AD58186088A9}"/>
              </a:ext>
            </a:extLst>
          </p:cNvPr>
          <p:cNvSpPr>
            <a:spLocks noGrp="1"/>
          </p:cNvSpPr>
          <p:nvPr/>
        </p:nvSpPr>
        <p:spPr>
          <a:xfrm>
            <a:off x="2714625" y="4486275"/>
            <a:ext cx="4714875" cy="209550"/>
          </a:xfrm>
          <a:prstGeom prst="rect">
            <a:avLst/>
          </a:prstGeom>
          <a:noFill/>
          <a:ln w="0">
            <a:noFill/>
          </a:ln>
        </p:spPr>
        <p:txBody>
          <a:bodyPr wrap="square" lIns="0" tIns="0" rIns="0" bIns="0" anchor="t">
            <a:noAutofit/>
          </a:bodyPr>
          <a:lstStyle/>
          <a:p>
            <a:pPr>
              <a:defRPr sz="1125" b="1">
                <a:solidFill>
                  <a:srgbClr val="6F9182"/>
                </a:solidFill>
                <a:latin typeface="Calibri"/>
                <a:ea typeface="Calibri"/>
                <a:cs typeface="Calibri"/>
              </a:defRPr>
            </a:pPr>
            <a:r>
              <a:rPr sz="1125" b="1">
                <a:solidFill>
                  <a:srgbClr val="6F9182"/>
                </a:solidFill>
                <a:latin typeface="Calibri"/>
                <a:ea typeface="Calibri"/>
                <a:cs typeface="Calibri"/>
              </a:rPr>
              <a:t>TEAM</a:t>
            </a:r>
          </a:p>
        </p:txBody>
      </p:sp>
      <p:sp>
        <p:nvSpPr>
          <p:cNvPr id="25" name="text-49">
            <a:extLst>
              <a:ext uri="{FF2B5EF4-FFF2-40B4-BE49-F238E27FC236}">
                <a16:creationId xmlns:a16="http://schemas.microsoft.com/office/drawing/2014/main" id="{7EAC6F58-EE24-4A4F-9F32-E9CF64D4973B}"/>
              </a:ext>
            </a:extLst>
          </p:cNvPr>
          <p:cNvSpPr>
            <a:spLocks noGrp="1"/>
          </p:cNvSpPr>
          <p:nvPr/>
        </p:nvSpPr>
        <p:spPr>
          <a:xfrm>
            <a:off x="2714625" y="4724400"/>
            <a:ext cx="4714875" cy="466725"/>
          </a:xfrm>
          <a:prstGeom prst="rect">
            <a:avLst/>
          </a:prstGeom>
          <a:noFill/>
          <a:ln w="0">
            <a:noFill/>
          </a:ln>
        </p:spPr>
        <p:txBody>
          <a:bodyPr wrap="square" lIns="0" tIns="0" rIns="0" bIns="0" anchor="t">
            <a:noAutofit/>
          </a:bodyPr>
          <a:lstStyle/>
          <a:p>
            <a:pPr>
              <a:defRPr sz="1575" b="0">
                <a:solidFill>
                  <a:srgbClr val="123F32"/>
                </a:solidFill>
                <a:latin typeface="Calibri"/>
                <a:ea typeface="Calibri"/>
                <a:cs typeface="Calibri"/>
              </a:defRPr>
            </a:pPr>
            <a:r>
              <a:rPr sz="1575" b="0">
                <a:solidFill>
                  <a:srgbClr val="123F32"/>
                </a:solidFill>
                <a:latin typeface="Calibri"/>
                <a:ea typeface="Calibri"/>
                <a:cs typeface="Calibri"/>
              </a:rPr>
              <a:t>Kapan harus mulai bangun team?</a:t>
            </a:r>
          </a:p>
        </p:txBody>
      </p:sp>
      <p:sp>
        <p:nvSpPr>
          <p:cNvPr id="26" name="text-50">
            <a:extLst>
              <a:ext uri="{FF2B5EF4-FFF2-40B4-BE49-F238E27FC236}">
                <a16:creationId xmlns:a16="http://schemas.microsoft.com/office/drawing/2014/main" id="{1A711F15-1D89-446A-99EB-613561AF4E82}"/>
              </a:ext>
            </a:extLst>
          </p:cNvPr>
          <p:cNvSpPr>
            <a:spLocks noGrp="1"/>
          </p:cNvSpPr>
          <p:nvPr/>
        </p:nvSpPr>
        <p:spPr>
          <a:xfrm>
            <a:off x="7848600" y="4495800"/>
            <a:ext cx="3733800" cy="419100"/>
          </a:xfrm>
          <a:prstGeom prst="rect">
            <a:avLst/>
          </a:prstGeom>
          <a:noFill/>
          <a:ln w="0">
            <a:noFill/>
          </a:ln>
        </p:spPr>
        <p:txBody>
          <a:bodyPr wrap="square" lIns="0" tIns="0" rIns="0" bIns="0" anchor="t">
            <a:noAutofit/>
          </a:bodyPr>
          <a:lstStyle/>
          <a:p>
            <a:pPr>
              <a:defRPr sz="1575" b="1">
                <a:solidFill>
                  <a:srgbClr val="123F32"/>
                </a:solidFill>
                <a:latin typeface="Calibri"/>
                <a:ea typeface="Calibri"/>
                <a:cs typeface="Calibri"/>
              </a:defRPr>
            </a:pPr>
            <a:r>
              <a:rPr sz="1575" b="1">
                <a:solidFill>
                  <a:srgbClr val="123F32"/>
                </a:solidFill>
                <a:latin typeface="Calibri"/>
                <a:ea typeface="Calibri"/>
                <a:cs typeface="Calibri"/>
              </a:rPr>
              <a:t>Anthony Soehartono / BP Consulting</a:t>
            </a:r>
          </a:p>
        </p:txBody>
      </p:sp>
      <p:sp>
        <p:nvSpPr>
          <p:cNvPr id="27" name="text-51">
            <a:extLst>
              <a:ext uri="{FF2B5EF4-FFF2-40B4-BE49-F238E27FC236}">
                <a16:creationId xmlns:a16="http://schemas.microsoft.com/office/drawing/2014/main" id="{745AACF8-D103-450B-AB8B-FD14AA228ED2}"/>
              </a:ext>
            </a:extLst>
          </p:cNvPr>
          <p:cNvSpPr>
            <a:spLocks noGrp="1"/>
          </p:cNvSpPr>
          <p:nvPr/>
        </p:nvSpPr>
        <p:spPr>
          <a:xfrm>
            <a:off x="7848600" y="4886325"/>
            <a:ext cx="3733800" cy="314325"/>
          </a:xfrm>
          <a:prstGeom prst="rect">
            <a:avLst/>
          </a:prstGeom>
          <a:noFill/>
          <a:ln w="0">
            <a:noFill/>
          </a:ln>
        </p:spPr>
        <p:txBody>
          <a:bodyPr wrap="square" lIns="0" tIns="0" rIns="0" bIns="0" anchor="t">
            <a:noAutofit/>
          </a:bodyPr>
          <a:lstStyle/>
          <a:p>
            <a:pPr>
              <a:defRPr sz="1200" b="0">
                <a:solidFill>
                  <a:srgbClr val="66746B"/>
                </a:solidFill>
                <a:latin typeface="Calibri"/>
                <a:ea typeface="Calibri"/>
                <a:cs typeface="Calibri"/>
              </a:defRPr>
            </a:pPr>
            <a:r>
              <a:rPr sz="1200" b="0">
                <a:solidFill>
                  <a:srgbClr val="66746B"/>
                </a:solidFill>
                <a:latin typeface="Calibri"/>
                <a:ea typeface="Calibri"/>
                <a:cs typeface="Calibri"/>
              </a:rPr>
              <a:t>Cad.: Winston Utomo / IDN</a:t>
            </a:r>
          </a:p>
        </p:txBody>
      </p:sp>
      <p:sp>
        <p:nvSpPr>
          <p:cNvPr id="28" name="Straight Connector 27">
            <a:extLst>
              <a:ext uri="{FF2B5EF4-FFF2-40B4-BE49-F238E27FC236}">
                <a16:creationId xmlns:a16="http://schemas.microsoft.com/office/drawing/2014/main" id="{61EAB17F-4119-4B2B-A7AF-385C42692509}"/>
              </a:ext>
            </a:extLst>
          </p:cNvPr>
          <p:cNvSpPr>
            <a:spLocks noGrp="1"/>
          </p:cNvSpPr>
          <p:nvPr/>
        </p:nvSpPr>
        <p:spPr>
          <a:xfrm>
            <a:off x="609600" y="5181600"/>
            <a:ext cx="10972800" cy="0"/>
          </a:xfrm>
          <a:prstGeom prst="line">
            <a:avLst/>
          </a:prstGeom>
          <a:noFill/>
          <a:ln w="9525">
            <a:solidFill>
              <a:srgbClr val="DCE5DE"/>
            </a:solidFill>
          </a:ln>
        </p:spPr>
      </p:sp>
      <p:sp>
        <p:nvSpPr>
          <p:cNvPr id="29" name="text-52">
            <a:extLst>
              <a:ext uri="{FF2B5EF4-FFF2-40B4-BE49-F238E27FC236}">
                <a16:creationId xmlns:a16="http://schemas.microsoft.com/office/drawing/2014/main" id="{800D169D-0391-421E-AA65-BADFA284F823}"/>
              </a:ext>
            </a:extLst>
          </p:cNvPr>
          <p:cNvSpPr>
            <a:spLocks noGrp="1"/>
          </p:cNvSpPr>
          <p:nvPr/>
        </p:nvSpPr>
        <p:spPr>
          <a:xfrm>
            <a:off x="609600" y="5286375"/>
            <a:ext cx="2009775" cy="533400"/>
          </a:xfrm>
          <a:prstGeom prst="rect">
            <a:avLst/>
          </a:prstGeom>
          <a:noFill/>
          <a:ln w="0">
            <a:noFill/>
          </a:ln>
        </p:spPr>
        <p:txBody>
          <a:bodyPr wrap="square" lIns="0" tIns="0" rIns="0" bIns="0" anchor="t">
            <a:noAutofit/>
          </a:bodyPr>
          <a:lstStyle/>
          <a:p>
            <a:pPr>
              <a:defRPr sz="1800" b="1">
                <a:solidFill>
                  <a:srgbClr val="123F32"/>
                </a:solidFill>
                <a:latin typeface="Calibri"/>
                <a:ea typeface="Calibri"/>
                <a:cs typeface="Calibri"/>
              </a:defRPr>
            </a:pPr>
            <a:r>
              <a:rPr sz="1800" b="1">
                <a:solidFill>
                  <a:srgbClr val="123F32"/>
                </a:solidFill>
                <a:latin typeface="Calibri"/>
                <a:ea typeface="Calibri"/>
                <a:cs typeface="Calibri"/>
              </a:rPr>
              <a:t>Kamis, 12 Nov</a:t>
            </a:r>
          </a:p>
        </p:txBody>
      </p:sp>
      <p:sp>
        <p:nvSpPr>
          <p:cNvPr id="30" name="text-53">
            <a:extLst>
              <a:ext uri="{FF2B5EF4-FFF2-40B4-BE49-F238E27FC236}">
                <a16:creationId xmlns:a16="http://schemas.microsoft.com/office/drawing/2014/main" id="{CBA09A98-DE0C-4886-B928-3B4C9717DCB6}"/>
              </a:ext>
            </a:extLst>
          </p:cNvPr>
          <p:cNvSpPr>
            <a:spLocks noGrp="1"/>
          </p:cNvSpPr>
          <p:nvPr/>
        </p:nvSpPr>
        <p:spPr>
          <a:xfrm>
            <a:off x="2714625" y="5229225"/>
            <a:ext cx="4714875" cy="209550"/>
          </a:xfrm>
          <a:prstGeom prst="rect">
            <a:avLst/>
          </a:prstGeom>
          <a:noFill/>
          <a:ln w="0">
            <a:noFill/>
          </a:ln>
        </p:spPr>
        <p:txBody>
          <a:bodyPr wrap="square" lIns="0" tIns="0" rIns="0" bIns="0" anchor="t">
            <a:noAutofit/>
          </a:bodyPr>
          <a:lstStyle/>
          <a:p>
            <a:pPr>
              <a:defRPr sz="1125" b="1">
                <a:solidFill>
                  <a:srgbClr val="6F9182"/>
                </a:solidFill>
                <a:latin typeface="Calibri"/>
                <a:ea typeface="Calibri"/>
                <a:cs typeface="Calibri"/>
              </a:defRPr>
            </a:pPr>
            <a:r>
              <a:rPr sz="1125" b="1">
                <a:solidFill>
                  <a:srgbClr val="6F9182"/>
                </a:solidFill>
                <a:latin typeface="Calibri"/>
                <a:ea typeface="Calibri"/>
                <a:cs typeface="Calibri"/>
              </a:rPr>
              <a:t>PRODUCT</a:t>
            </a:r>
          </a:p>
        </p:txBody>
      </p:sp>
      <p:sp>
        <p:nvSpPr>
          <p:cNvPr id="31" name="text-54">
            <a:extLst>
              <a:ext uri="{FF2B5EF4-FFF2-40B4-BE49-F238E27FC236}">
                <a16:creationId xmlns:a16="http://schemas.microsoft.com/office/drawing/2014/main" id="{BAF1EC9C-945C-4429-8A34-091DD5002B4F}"/>
              </a:ext>
            </a:extLst>
          </p:cNvPr>
          <p:cNvSpPr>
            <a:spLocks noGrp="1"/>
          </p:cNvSpPr>
          <p:nvPr/>
        </p:nvSpPr>
        <p:spPr>
          <a:xfrm>
            <a:off x="2714625" y="5467350"/>
            <a:ext cx="4714875" cy="466725"/>
          </a:xfrm>
          <a:prstGeom prst="rect">
            <a:avLst/>
          </a:prstGeom>
          <a:noFill/>
          <a:ln w="0">
            <a:noFill/>
          </a:ln>
        </p:spPr>
        <p:txBody>
          <a:bodyPr wrap="square" lIns="0" tIns="0" rIns="0" bIns="0" anchor="t">
            <a:noAutofit/>
          </a:bodyPr>
          <a:lstStyle/>
          <a:p>
            <a:pPr>
              <a:defRPr sz="1575" b="0">
                <a:solidFill>
                  <a:srgbClr val="123F32"/>
                </a:solidFill>
                <a:latin typeface="Calibri"/>
                <a:ea typeface="Calibri"/>
                <a:cs typeface="Calibri"/>
              </a:defRPr>
            </a:pPr>
            <a:r>
              <a:rPr sz="1575" b="0">
                <a:solidFill>
                  <a:srgbClr val="123F32"/>
                </a:solidFill>
                <a:latin typeface="Calibri"/>
                <a:ea typeface="Calibri"/>
                <a:cs typeface="Calibri"/>
              </a:rPr>
              <a:t>Apa yang bikin produk benar-benar layak dijual?</a:t>
            </a:r>
          </a:p>
        </p:txBody>
      </p:sp>
      <p:sp>
        <p:nvSpPr>
          <p:cNvPr id="32" name="text-55">
            <a:extLst>
              <a:ext uri="{FF2B5EF4-FFF2-40B4-BE49-F238E27FC236}">
                <a16:creationId xmlns:a16="http://schemas.microsoft.com/office/drawing/2014/main" id="{F4AEC8E1-F3DD-4720-8B16-B97CA23F9561}"/>
              </a:ext>
            </a:extLst>
          </p:cNvPr>
          <p:cNvSpPr>
            <a:spLocks noGrp="1"/>
          </p:cNvSpPr>
          <p:nvPr/>
        </p:nvSpPr>
        <p:spPr>
          <a:xfrm>
            <a:off x="7848600" y="5238750"/>
            <a:ext cx="3733800" cy="419100"/>
          </a:xfrm>
          <a:prstGeom prst="rect">
            <a:avLst/>
          </a:prstGeom>
          <a:noFill/>
          <a:ln w="0">
            <a:noFill/>
          </a:ln>
        </p:spPr>
        <p:txBody>
          <a:bodyPr wrap="square" lIns="0" tIns="0" rIns="0" bIns="0" anchor="t">
            <a:noAutofit/>
          </a:bodyPr>
          <a:lstStyle/>
          <a:p>
            <a:pPr>
              <a:defRPr sz="1575" b="1">
                <a:solidFill>
                  <a:srgbClr val="123F32"/>
                </a:solidFill>
                <a:latin typeface="Calibri"/>
                <a:ea typeface="Calibri"/>
                <a:cs typeface="Calibri"/>
              </a:defRPr>
            </a:pPr>
            <a:r>
              <a:rPr sz="1575" b="1">
                <a:solidFill>
                  <a:srgbClr val="123F32"/>
                </a:solidFill>
                <a:latin typeface="Calibri"/>
                <a:ea typeface="Calibri"/>
                <a:cs typeface="Calibri"/>
              </a:rPr>
              <a:t>Christopher Aldo / Yellow Fit Kitchen</a:t>
            </a:r>
          </a:p>
        </p:txBody>
      </p:sp>
      <p:sp>
        <p:nvSpPr>
          <p:cNvPr id="33" name="text-56">
            <a:extLst>
              <a:ext uri="{FF2B5EF4-FFF2-40B4-BE49-F238E27FC236}">
                <a16:creationId xmlns:a16="http://schemas.microsoft.com/office/drawing/2014/main" id="{48047AF1-2D75-4A38-B1AC-BD352472959F}"/>
              </a:ext>
            </a:extLst>
          </p:cNvPr>
          <p:cNvSpPr>
            <a:spLocks noGrp="1"/>
          </p:cNvSpPr>
          <p:nvPr/>
        </p:nvSpPr>
        <p:spPr>
          <a:xfrm>
            <a:off x="7848600" y="5629275"/>
            <a:ext cx="3733800" cy="314325"/>
          </a:xfrm>
          <a:prstGeom prst="rect">
            <a:avLst/>
          </a:prstGeom>
          <a:noFill/>
          <a:ln w="0">
            <a:noFill/>
          </a:ln>
        </p:spPr>
        <p:txBody>
          <a:bodyPr wrap="square" lIns="0" tIns="0" rIns="0" bIns="0" anchor="t">
            <a:noAutofit/>
          </a:bodyPr>
          <a:lstStyle/>
          <a:p>
            <a:pPr>
              <a:defRPr sz="1200" b="0">
                <a:solidFill>
                  <a:srgbClr val="66746B"/>
                </a:solidFill>
                <a:latin typeface="Calibri"/>
                <a:ea typeface="Calibri"/>
                <a:cs typeface="Calibri"/>
              </a:defRPr>
            </a:pPr>
            <a:r>
              <a:rPr sz="1200" b="0">
                <a:solidFill>
                  <a:srgbClr val="66746B"/>
                </a:solidFill>
                <a:latin typeface="Calibri"/>
                <a:ea typeface="Calibri"/>
                <a:cs typeface="Calibri"/>
              </a:rPr>
              <a:t>Cad.: Purwa Hartono / Purwadhika</a:t>
            </a:r>
          </a:p>
        </p:txBody>
      </p:sp>
      <p:sp>
        <p:nvSpPr>
          <p:cNvPr id="34" name="Straight Connector 33">
            <a:extLst>
              <a:ext uri="{FF2B5EF4-FFF2-40B4-BE49-F238E27FC236}">
                <a16:creationId xmlns:a16="http://schemas.microsoft.com/office/drawing/2014/main" id="{ACBD0B00-43AF-4E68-866C-7FA41DE0DD46}"/>
              </a:ext>
            </a:extLst>
          </p:cNvPr>
          <p:cNvSpPr>
            <a:spLocks noGrp="1"/>
          </p:cNvSpPr>
          <p:nvPr/>
        </p:nvSpPr>
        <p:spPr>
          <a:xfrm>
            <a:off x="609600" y="5991225"/>
            <a:ext cx="10972800" cy="0"/>
          </a:xfrm>
          <a:prstGeom prst="line">
            <a:avLst/>
          </a:prstGeom>
          <a:noFill/>
          <a:ln w="9525">
            <a:solidFill>
              <a:srgbClr val="DCE5DE"/>
            </a:solidFill>
          </a:ln>
        </p:spPr>
      </p:sp>
      <p:sp>
        <p:nvSpPr>
          <p:cNvPr id="35" name="text-57">
            <a:extLst>
              <a:ext uri="{FF2B5EF4-FFF2-40B4-BE49-F238E27FC236}">
                <a16:creationId xmlns:a16="http://schemas.microsoft.com/office/drawing/2014/main" id="{921A30CB-506F-447F-8A9F-D4501BF928B4}"/>
              </a:ext>
            </a:extLst>
          </p:cNvPr>
          <p:cNvSpPr>
            <a:spLocks noGrp="1"/>
          </p:cNvSpPr>
          <p:nvPr/>
        </p:nvSpPr>
        <p:spPr>
          <a:xfrm>
            <a:off x="609600" y="6134100"/>
            <a:ext cx="10925175" cy="228600"/>
          </a:xfrm>
          <a:prstGeom prst="rect">
            <a:avLst/>
          </a:prstGeom>
          <a:noFill/>
          <a:ln w="0">
            <a:noFill/>
          </a:ln>
        </p:spPr>
        <p:txBody>
          <a:bodyPr wrap="square" lIns="0" tIns="0" rIns="0" bIns="0" anchor="t">
            <a:noAutofit/>
          </a:bodyPr>
          <a:lstStyle/>
          <a:p>
            <a:pPr>
              <a:defRPr sz="1275" b="0">
                <a:solidFill>
                  <a:srgbClr val="66746B"/>
                </a:solidFill>
                <a:latin typeface="Calibri"/>
                <a:ea typeface="Calibri"/>
                <a:cs typeface="Calibri"/>
              </a:defRPr>
            </a:pPr>
            <a:r>
              <a:rPr sz="1275" b="0">
                <a:solidFill>
                  <a:srgbClr val="66746B"/>
                </a:solidFill>
                <a:latin typeface="Calibri"/>
                <a:ea typeface="Calibri"/>
                <a:cs typeface="Calibri"/>
              </a:rPr>
              <a:t>Cadangan lintas sesi tetap perlu konfirmasi; satu orang tidak otomatis mengisi dua kelas.</a:t>
            </a:r>
          </a:p>
        </p:txBody>
      </p:sp>
    </p:spTree>
    <p:extLst>
      <p:ext uri="{BB962C8B-B14F-4D97-AF65-F5344CB8AC3E}">
        <p14:creationId xmlns:p14="http://schemas.microsoft.com/office/powerpoint/2010/main" val="658748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6" name="Picture 35"/>
          <p:cNvPicPr>
            <a:picLocks noChangeAspect="1"/>
          </p:cNvPicPr>
          <p:nvPr/>
        </p:nvPicPr>
        <p:blipFill>
          <a:blip r:embed="rId3"/>
          <a:stretch/>
        </p:blipFill>
        <p:spPr>
          <a:xfrm>
            <a:off x="8340498" y="161925"/>
            <a:ext cx="3235779" cy="828675"/>
          </a:xfrm>
          <a:prstGeom prst="rect">
            <a:avLst/>
          </a:prstGeom>
        </p:spPr>
      </p:pic>
      <p:sp>
        <p:nvSpPr>
          <p:cNvPr id="2" name="text-58">
            <a:extLst>
              <a:ext uri="{FF2B5EF4-FFF2-40B4-BE49-F238E27FC236}">
                <a16:creationId xmlns:a16="http://schemas.microsoft.com/office/drawing/2014/main" id="{25ED98ED-EBDC-4B69-B3CA-306A96A56E3F}"/>
              </a:ext>
            </a:extLst>
          </p:cNvPr>
          <p:cNvSpPr>
            <a:spLocks noGrp="1"/>
          </p:cNvSpPr>
          <p:nvPr/>
        </p:nvSpPr>
        <p:spPr>
          <a:xfrm>
            <a:off x="609600" y="409575"/>
            <a:ext cx="7096125" cy="209550"/>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01 / JADWAL &amp; SPEAKER</a:t>
            </a:r>
          </a:p>
        </p:txBody>
      </p:sp>
      <p:sp>
        <p:nvSpPr>
          <p:cNvPr id="3" name="text-59">
            <a:extLst>
              <a:ext uri="{FF2B5EF4-FFF2-40B4-BE49-F238E27FC236}">
                <a16:creationId xmlns:a16="http://schemas.microsoft.com/office/drawing/2014/main" id="{6AF3EBDB-F37D-436C-9301-2FF6A5FE1D6F}"/>
              </a:ext>
            </a:extLst>
          </p:cNvPr>
          <p:cNvSpPr>
            <a:spLocks noGrp="1"/>
          </p:cNvSpPr>
          <p:nvPr/>
        </p:nvSpPr>
        <p:spPr>
          <a:xfrm>
            <a:off x="609600" y="1143000"/>
            <a:ext cx="10858500" cy="876300"/>
          </a:xfrm>
          <a:prstGeom prst="rect">
            <a:avLst/>
          </a:prstGeom>
          <a:noFill/>
          <a:ln w="0">
            <a:noFill/>
          </a:ln>
        </p:spPr>
        <p:txBody>
          <a:bodyPr wrap="square" lIns="0" tIns="0" rIns="0" bIns="0" anchor="t">
            <a:noAutofit/>
          </a:bodyPr>
          <a:lstStyle/>
          <a:p>
            <a:pPr>
              <a:defRPr sz="2850" b="1">
                <a:solidFill>
                  <a:srgbClr val="123F32"/>
                </a:solidFill>
                <a:latin typeface="Calibri"/>
                <a:ea typeface="Calibri"/>
                <a:cs typeface="Calibri"/>
              </a:defRPr>
            </a:pPr>
            <a:r>
              <a:rPr sz="2850" b="1" dirty="0" err="1">
                <a:solidFill>
                  <a:srgbClr val="123F32"/>
                </a:solidFill>
                <a:latin typeface="Calibri"/>
                <a:ea typeface="Calibri"/>
                <a:cs typeface="Calibri"/>
              </a:rPr>
              <a:t>Dua</a:t>
            </a:r>
            <a:r>
              <a:rPr sz="2850" b="1" dirty="0">
                <a:solidFill>
                  <a:srgbClr val="123F32"/>
                </a:solidFill>
                <a:latin typeface="Calibri"/>
                <a:ea typeface="Calibri"/>
                <a:cs typeface="Calibri"/>
              </a:rPr>
              <a:t> </a:t>
            </a:r>
            <a:r>
              <a:rPr sz="2850" b="1" dirty="0" err="1">
                <a:solidFill>
                  <a:srgbClr val="123F32"/>
                </a:solidFill>
                <a:latin typeface="Calibri"/>
                <a:ea typeface="Calibri"/>
                <a:cs typeface="Calibri"/>
              </a:rPr>
              <a:t>minggu</a:t>
            </a:r>
            <a:r>
              <a:rPr sz="2850" b="1" dirty="0">
                <a:solidFill>
                  <a:srgbClr val="123F32"/>
                </a:solidFill>
                <a:latin typeface="Calibri"/>
                <a:ea typeface="Calibri"/>
                <a:cs typeface="Calibri"/>
              </a:rPr>
              <a:t> </a:t>
            </a:r>
            <a:r>
              <a:rPr sz="2850" b="1" dirty="0" err="1">
                <a:solidFill>
                  <a:srgbClr val="123F32"/>
                </a:solidFill>
                <a:latin typeface="Calibri"/>
                <a:ea typeface="Calibri"/>
                <a:cs typeface="Calibri"/>
              </a:rPr>
              <a:t>berikutnya</a:t>
            </a:r>
            <a:r>
              <a:rPr sz="2850" b="1" dirty="0">
                <a:solidFill>
                  <a:srgbClr val="123F32"/>
                </a:solidFill>
                <a:latin typeface="Calibri"/>
                <a:ea typeface="Calibri"/>
                <a:cs typeface="Calibri"/>
              </a:rPr>
              <a:t> </a:t>
            </a:r>
            <a:r>
              <a:rPr sz="2850" b="1" dirty="0" err="1">
                <a:solidFill>
                  <a:srgbClr val="123F32"/>
                </a:solidFill>
                <a:latin typeface="Calibri"/>
                <a:ea typeface="Calibri"/>
                <a:cs typeface="Calibri"/>
              </a:rPr>
              <a:t>membahas</a:t>
            </a:r>
            <a:r>
              <a:rPr sz="2850" b="1" dirty="0">
                <a:solidFill>
                  <a:srgbClr val="123F32"/>
                </a:solidFill>
                <a:latin typeface="Calibri"/>
                <a:ea typeface="Calibri"/>
                <a:cs typeface="Calibri"/>
              </a:rPr>
              <a:t> </a:t>
            </a:r>
            <a:r>
              <a:rPr lang="en-US" sz="2850" b="1" dirty="0">
                <a:solidFill>
                  <a:srgbClr val="123F32"/>
                </a:solidFill>
                <a:latin typeface="Calibri"/>
                <a:ea typeface="Calibri"/>
                <a:cs typeface="Calibri"/>
              </a:rPr>
              <a:t>Sales</a:t>
            </a:r>
            <a:r>
              <a:rPr sz="2850" b="1" dirty="0">
                <a:solidFill>
                  <a:srgbClr val="123F32"/>
                </a:solidFill>
                <a:latin typeface="Calibri"/>
                <a:ea typeface="Calibri"/>
                <a:cs typeface="Calibri"/>
              </a:rPr>
              <a:t> </a:t>
            </a:r>
            <a:r>
              <a:rPr lang="en-US" sz="2850" b="1" dirty="0">
                <a:solidFill>
                  <a:srgbClr val="123F32"/>
                </a:solidFill>
                <a:latin typeface="Calibri"/>
                <a:ea typeface="Calibri"/>
                <a:cs typeface="Calibri"/>
              </a:rPr>
              <a:t>dan</a:t>
            </a:r>
            <a:r>
              <a:rPr sz="2850" b="1" dirty="0">
                <a:solidFill>
                  <a:srgbClr val="123F32"/>
                </a:solidFill>
                <a:latin typeface="Calibri"/>
                <a:ea typeface="Calibri"/>
                <a:cs typeface="Calibri"/>
              </a:rPr>
              <a:t> </a:t>
            </a:r>
            <a:r>
              <a:rPr lang="en-US" sz="2850" b="1" dirty="0">
                <a:solidFill>
                  <a:srgbClr val="123F32"/>
                </a:solidFill>
                <a:latin typeface="Calibri"/>
                <a:ea typeface="Calibri"/>
                <a:cs typeface="Calibri"/>
              </a:rPr>
              <a:t>Scale Up</a:t>
            </a:r>
            <a:endParaRPr sz="2850" b="1" dirty="0">
              <a:solidFill>
                <a:srgbClr val="123F32"/>
              </a:solidFill>
              <a:latin typeface="Calibri"/>
              <a:ea typeface="Calibri"/>
              <a:cs typeface="Calibri"/>
            </a:endParaRPr>
          </a:p>
        </p:txBody>
      </p:sp>
      <p:sp>
        <p:nvSpPr>
          <p:cNvPr id="4" name="text-60">
            <a:extLst>
              <a:ext uri="{FF2B5EF4-FFF2-40B4-BE49-F238E27FC236}">
                <a16:creationId xmlns:a16="http://schemas.microsoft.com/office/drawing/2014/main" id="{98EA3601-BB3F-40A4-AE07-7FCE7C9F73DE}"/>
              </a:ext>
            </a:extLst>
          </p:cNvPr>
          <p:cNvSpPr>
            <a:spLocks noGrp="1"/>
          </p:cNvSpPr>
          <p:nvPr/>
        </p:nvSpPr>
        <p:spPr>
          <a:xfrm>
            <a:off x="609600" y="1666875"/>
            <a:ext cx="10858500" cy="466725"/>
          </a:xfrm>
          <a:prstGeom prst="rect">
            <a:avLst/>
          </a:prstGeom>
          <a:noFill/>
          <a:ln w="0">
            <a:noFill/>
          </a:ln>
        </p:spPr>
        <p:txBody>
          <a:bodyPr wrap="square" lIns="0" tIns="0" rIns="0" bIns="0" anchor="t">
            <a:noAutofit/>
          </a:bodyPr>
          <a:lstStyle/>
          <a:p>
            <a:pPr>
              <a:defRPr sz="1500" b="0">
                <a:solidFill>
                  <a:srgbClr val="66746B"/>
                </a:solidFill>
                <a:latin typeface="Calibri"/>
                <a:ea typeface="Calibri"/>
                <a:cs typeface="Calibri"/>
              </a:defRPr>
            </a:pPr>
            <a:r>
              <a:rPr lang="en-ID" sz="1500" b="0" dirty="0" err="1">
                <a:solidFill>
                  <a:srgbClr val="66746B"/>
                </a:solidFill>
                <a:latin typeface="Calibri"/>
                <a:ea typeface="Calibri"/>
                <a:cs typeface="Calibri"/>
              </a:rPr>
              <a:t>Semua</a:t>
            </a:r>
            <a:r>
              <a:rPr lang="en-ID" sz="1500" b="0" dirty="0">
                <a:solidFill>
                  <a:srgbClr val="66746B"/>
                </a:solidFill>
                <a:latin typeface="Calibri"/>
                <a:ea typeface="Calibri"/>
                <a:cs typeface="Calibri"/>
              </a:rPr>
              <a:t> </a:t>
            </a:r>
            <a:r>
              <a:rPr lang="en-ID" sz="1500" b="0" dirty="0" err="1">
                <a:solidFill>
                  <a:srgbClr val="66746B"/>
                </a:solidFill>
                <a:latin typeface="Calibri"/>
                <a:ea typeface="Calibri"/>
                <a:cs typeface="Calibri"/>
              </a:rPr>
              <a:t>kelas</a:t>
            </a:r>
            <a:r>
              <a:rPr lang="en-ID" sz="1500" b="0" dirty="0">
                <a:solidFill>
                  <a:srgbClr val="66746B"/>
                </a:solidFill>
                <a:latin typeface="Calibri"/>
                <a:ea typeface="Calibri"/>
                <a:cs typeface="Calibri"/>
              </a:rPr>
              <a:t> 19.00–20.30 WIB (</a:t>
            </a:r>
            <a:r>
              <a:rPr lang="en-ID" sz="1500" b="0" dirty="0" err="1">
                <a:solidFill>
                  <a:srgbClr val="66746B"/>
                </a:solidFill>
                <a:latin typeface="Calibri"/>
                <a:ea typeface="Calibri"/>
                <a:cs typeface="Calibri"/>
              </a:rPr>
              <a:t>usulan</a:t>
            </a:r>
            <a:r>
              <a:rPr lang="en-ID" sz="1500" b="0" dirty="0">
                <a:solidFill>
                  <a:srgbClr val="66746B"/>
                </a:solidFill>
                <a:latin typeface="Calibri"/>
                <a:ea typeface="Calibri"/>
                <a:cs typeface="Calibri"/>
              </a:rPr>
              <a:t>). Nama speaker </a:t>
            </a:r>
            <a:r>
              <a:rPr lang="en-ID" sz="1500" b="0" dirty="0" err="1">
                <a:solidFill>
                  <a:srgbClr val="66746B"/>
                </a:solidFill>
                <a:latin typeface="Calibri"/>
                <a:ea typeface="Calibri"/>
                <a:cs typeface="Calibri"/>
              </a:rPr>
              <a:t>masih</a:t>
            </a:r>
            <a:r>
              <a:rPr lang="en-ID" sz="1500" b="0" dirty="0">
                <a:solidFill>
                  <a:srgbClr val="66746B"/>
                </a:solidFill>
                <a:latin typeface="Calibri"/>
                <a:ea typeface="Calibri"/>
                <a:cs typeface="Calibri"/>
              </a:rPr>
              <a:t> </a:t>
            </a:r>
            <a:r>
              <a:rPr lang="en-ID" sz="1500" b="0" dirty="0" err="1">
                <a:solidFill>
                  <a:srgbClr val="66746B"/>
                </a:solidFill>
                <a:latin typeface="Calibri"/>
                <a:ea typeface="Calibri"/>
                <a:cs typeface="Calibri"/>
              </a:rPr>
              <a:t>sebagai</a:t>
            </a:r>
            <a:r>
              <a:rPr lang="en-ID" sz="1500" b="0" dirty="0">
                <a:solidFill>
                  <a:srgbClr val="66746B"/>
                </a:solidFill>
                <a:latin typeface="Calibri"/>
                <a:ea typeface="Calibri"/>
                <a:cs typeface="Calibri"/>
              </a:rPr>
              <a:t> </a:t>
            </a:r>
            <a:r>
              <a:rPr lang="en-ID" sz="1500" b="0" dirty="0" err="1">
                <a:solidFill>
                  <a:srgbClr val="66746B"/>
                </a:solidFill>
                <a:latin typeface="Calibri"/>
                <a:ea typeface="Calibri"/>
                <a:cs typeface="Calibri"/>
              </a:rPr>
              <a:t>kandidat</a:t>
            </a:r>
            <a:r>
              <a:rPr lang="en-ID" sz="1500" b="0" dirty="0">
                <a:solidFill>
                  <a:srgbClr val="66746B"/>
                </a:solidFill>
                <a:latin typeface="Calibri"/>
                <a:ea typeface="Calibri"/>
                <a:cs typeface="Calibri"/>
              </a:rPr>
              <a:t> </a:t>
            </a:r>
            <a:r>
              <a:rPr lang="en-ID" sz="1500" b="0" dirty="0" err="1">
                <a:solidFill>
                  <a:srgbClr val="66746B"/>
                </a:solidFill>
                <a:latin typeface="Calibri"/>
                <a:ea typeface="Calibri"/>
                <a:cs typeface="Calibri"/>
              </a:rPr>
              <a:t>dari</a:t>
            </a:r>
            <a:r>
              <a:rPr lang="en-ID" sz="1500" b="0" dirty="0">
                <a:solidFill>
                  <a:srgbClr val="66746B"/>
                </a:solidFill>
                <a:latin typeface="Calibri"/>
                <a:ea typeface="Calibri"/>
                <a:cs typeface="Calibri"/>
              </a:rPr>
              <a:t> following Instagram Ko Stanley</a:t>
            </a:r>
          </a:p>
        </p:txBody>
      </p:sp>
      <p:sp>
        <p:nvSpPr>
          <p:cNvPr id="5" name="Straight Connector 4">
            <a:extLst>
              <a:ext uri="{FF2B5EF4-FFF2-40B4-BE49-F238E27FC236}">
                <a16:creationId xmlns:a16="http://schemas.microsoft.com/office/drawing/2014/main" id="{A4E105D5-7106-4513-9CF4-8E6A224B489B}"/>
              </a:ext>
            </a:extLst>
          </p:cNvPr>
          <p:cNvSpPr>
            <a:spLocks noGrp="1"/>
          </p:cNvSpPr>
          <p:nvPr/>
        </p:nvSpPr>
        <p:spPr>
          <a:xfrm>
            <a:off x="609600" y="6381750"/>
            <a:ext cx="10972800" cy="0"/>
          </a:xfrm>
          <a:prstGeom prst="line">
            <a:avLst/>
          </a:prstGeom>
          <a:noFill/>
          <a:ln w="9525">
            <a:solidFill>
              <a:srgbClr val="DCE5DE"/>
            </a:solidFill>
          </a:ln>
        </p:spPr>
      </p:sp>
      <p:sp>
        <p:nvSpPr>
          <p:cNvPr id="6" name="text-61">
            <a:extLst>
              <a:ext uri="{FF2B5EF4-FFF2-40B4-BE49-F238E27FC236}">
                <a16:creationId xmlns:a16="http://schemas.microsoft.com/office/drawing/2014/main" id="{A09FFD83-D15C-4E0F-95B2-4C0BABDEDA09}"/>
              </a:ext>
            </a:extLst>
          </p:cNvPr>
          <p:cNvSpPr>
            <a:spLocks noGrp="1"/>
          </p:cNvSpPr>
          <p:nvPr/>
        </p:nvSpPr>
        <p:spPr>
          <a:xfrm>
            <a:off x="609600" y="6505575"/>
            <a:ext cx="10191750" cy="209550"/>
          </a:xfrm>
          <a:prstGeom prst="rect">
            <a:avLst/>
          </a:prstGeom>
          <a:noFill/>
          <a:ln w="0">
            <a:noFill/>
          </a:ln>
        </p:spPr>
        <p:txBody>
          <a:bodyPr wrap="square" lIns="0" tIns="0" rIns="0" bIns="0" anchor="t">
            <a:noAutofit/>
          </a:bodyPr>
          <a:lstStyle/>
          <a:p>
            <a:pPr>
              <a:defRPr sz="825" b="0">
                <a:solidFill>
                  <a:srgbClr val="66746B"/>
                </a:solidFill>
                <a:latin typeface="Calibri"/>
                <a:ea typeface="Calibri"/>
                <a:cs typeface="Calibri"/>
              </a:defRPr>
            </a:pPr>
            <a:r>
              <a:rPr sz="825" b="0">
                <a:solidFill>
                  <a:srgbClr val="66746B"/>
                </a:solidFill>
                <a:latin typeface="Calibri"/>
                <a:ea typeface="Calibri"/>
                <a:cs typeface="Calibri"/>
              </a:rPr>
              <a:t>Sumber: CEO Masterclass - Live Topic.pdf; riset profil speaker 6 Okt 2026. Matching adalah rekomendasi.</a:t>
            </a:r>
          </a:p>
        </p:txBody>
      </p:sp>
      <p:sp>
        <p:nvSpPr>
          <p:cNvPr id="7" name="text-62">
            <a:extLst>
              <a:ext uri="{FF2B5EF4-FFF2-40B4-BE49-F238E27FC236}">
                <a16:creationId xmlns:a16="http://schemas.microsoft.com/office/drawing/2014/main" id="{028F25D4-391F-497E-9537-8879B0E8CBDA}"/>
              </a:ext>
            </a:extLst>
          </p:cNvPr>
          <p:cNvSpPr>
            <a:spLocks noGrp="1"/>
          </p:cNvSpPr>
          <p:nvPr/>
        </p:nvSpPr>
        <p:spPr>
          <a:xfrm>
            <a:off x="11125200" y="6486525"/>
            <a:ext cx="438150" cy="228600"/>
          </a:xfrm>
          <a:prstGeom prst="rect">
            <a:avLst/>
          </a:prstGeom>
          <a:noFill/>
          <a:ln w="0">
            <a:noFill/>
          </a:ln>
        </p:spPr>
        <p:txBody>
          <a:bodyPr wrap="square" lIns="0" tIns="0" rIns="0" bIns="0" anchor="t">
            <a:noAutofit/>
          </a:bodyPr>
          <a:lstStyle/>
          <a:p>
            <a:pPr>
              <a:defRPr sz="1050" b="1">
                <a:solidFill>
                  <a:srgbClr val="123F32"/>
                </a:solidFill>
                <a:latin typeface="Calibri"/>
                <a:ea typeface="Calibri"/>
                <a:cs typeface="Calibri"/>
              </a:defRPr>
            </a:pPr>
            <a:r>
              <a:rPr sz="1050" b="1">
                <a:solidFill>
                  <a:srgbClr val="123F32"/>
                </a:solidFill>
                <a:latin typeface="Calibri"/>
                <a:ea typeface="Calibri"/>
                <a:cs typeface="Calibri"/>
              </a:rPr>
              <a:t>04</a:t>
            </a:r>
          </a:p>
        </p:txBody>
      </p:sp>
      <p:sp>
        <p:nvSpPr>
          <p:cNvPr id="8" name="text-63">
            <a:extLst>
              <a:ext uri="{FF2B5EF4-FFF2-40B4-BE49-F238E27FC236}">
                <a16:creationId xmlns:a16="http://schemas.microsoft.com/office/drawing/2014/main" id="{E838EA54-ABFD-404F-B8E0-4417B9EC4144}"/>
              </a:ext>
            </a:extLst>
          </p:cNvPr>
          <p:cNvSpPr>
            <a:spLocks noGrp="1"/>
          </p:cNvSpPr>
          <p:nvPr/>
        </p:nvSpPr>
        <p:spPr>
          <a:xfrm>
            <a:off x="609600" y="2619375"/>
            <a:ext cx="1962150" cy="219075"/>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NOVEMBER 2026</a:t>
            </a:r>
          </a:p>
        </p:txBody>
      </p:sp>
      <p:sp>
        <p:nvSpPr>
          <p:cNvPr id="9" name="text-64">
            <a:extLst>
              <a:ext uri="{FF2B5EF4-FFF2-40B4-BE49-F238E27FC236}">
                <a16:creationId xmlns:a16="http://schemas.microsoft.com/office/drawing/2014/main" id="{90AC385A-C945-4C78-9AFC-097AFB85F68E}"/>
              </a:ext>
            </a:extLst>
          </p:cNvPr>
          <p:cNvSpPr>
            <a:spLocks noGrp="1"/>
          </p:cNvSpPr>
          <p:nvPr/>
        </p:nvSpPr>
        <p:spPr>
          <a:xfrm>
            <a:off x="2714625" y="2619375"/>
            <a:ext cx="4733925" cy="219075"/>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MODUL &amp; PERTANYAAN UTAMA</a:t>
            </a:r>
          </a:p>
        </p:txBody>
      </p:sp>
      <p:sp>
        <p:nvSpPr>
          <p:cNvPr id="10" name="text-65">
            <a:extLst>
              <a:ext uri="{FF2B5EF4-FFF2-40B4-BE49-F238E27FC236}">
                <a16:creationId xmlns:a16="http://schemas.microsoft.com/office/drawing/2014/main" id="{7EF04487-AB8F-4F6B-A412-0E605E052A27}"/>
              </a:ext>
            </a:extLst>
          </p:cNvPr>
          <p:cNvSpPr>
            <a:spLocks noGrp="1"/>
          </p:cNvSpPr>
          <p:nvPr/>
        </p:nvSpPr>
        <p:spPr>
          <a:xfrm>
            <a:off x="7848600" y="2619375"/>
            <a:ext cx="3733800" cy="219075"/>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UTAMA / CADANGAN</a:t>
            </a:r>
          </a:p>
        </p:txBody>
      </p:sp>
      <p:sp>
        <p:nvSpPr>
          <p:cNvPr id="11" name="text-66">
            <a:extLst>
              <a:ext uri="{FF2B5EF4-FFF2-40B4-BE49-F238E27FC236}">
                <a16:creationId xmlns:a16="http://schemas.microsoft.com/office/drawing/2014/main" id="{9A2F3A9D-7C19-4671-ADE4-B36878741483}"/>
              </a:ext>
            </a:extLst>
          </p:cNvPr>
          <p:cNvSpPr>
            <a:spLocks noGrp="1"/>
          </p:cNvSpPr>
          <p:nvPr/>
        </p:nvSpPr>
        <p:spPr>
          <a:xfrm>
            <a:off x="609600" y="3057525"/>
            <a:ext cx="2009775" cy="533400"/>
          </a:xfrm>
          <a:prstGeom prst="rect">
            <a:avLst/>
          </a:prstGeom>
          <a:noFill/>
          <a:ln w="0">
            <a:noFill/>
          </a:ln>
        </p:spPr>
        <p:txBody>
          <a:bodyPr wrap="square" lIns="0" tIns="0" rIns="0" bIns="0" anchor="t">
            <a:noAutofit/>
          </a:bodyPr>
          <a:lstStyle/>
          <a:p>
            <a:pPr>
              <a:defRPr sz="1800" b="1">
                <a:solidFill>
                  <a:srgbClr val="123F32"/>
                </a:solidFill>
                <a:latin typeface="Calibri"/>
                <a:ea typeface="Calibri"/>
                <a:cs typeface="Calibri"/>
              </a:defRPr>
            </a:pPr>
            <a:r>
              <a:rPr sz="1800" b="1">
                <a:solidFill>
                  <a:srgbClr val="123F32"/>
                </a:solidFill>
                <a:latin typeface="Calibri"/>
                <a:ea typeface="Calibri"/>
                <a:cs typeface="Calibri"/>
              </a:rPr>
              <a:t>Selasa, 17 Nov</a:t>
            </a:r>
          </a:p>
        </p:txBody>
      </p:sp>
      <p:sp>
        <p:nvSpPr>
          <p:cNvPr id="12" name="text-67">
            <a:extLst>
              <a:ext uri="{FF2B5EF4-FFF2-40B4-BE49-F238E27FC236}">
                <a16:creationId xmlns:a16="http://schemas.microsoft.com/office/drawing/2014/main" id="{60E06648-9241-4D9A-81DD-4BF269090E6E}"/>
              </a:ext>
            </a:extLst>
          </p:cNvPr>
          <p:cNvSpPr>
            <a:spLocks noGrp="1"/>
          </p:cNvSpPr>
          <p:nvPr/>
        </p:nvSpPr>
        <p:spPr>
          <a:xfrm>
            <a:off x="2714625" y="3000375"/>
            <a:ext cx="4714875" cy="209550"/>
          </a:xfrm>
          <a:prstGeom prst="rect">
            <a:avLst/>
          </a:prstGeom>
          <a:noFill/>
          <a:ln w="0">
            <a:noFill/>
          </a:ln>
        </p:spPr>
        <p:txBody>
          <a:bodyPr wrap="square" lIns="0" tIns="0" rIns="0" bIns="0" anchor="t">
            <a:noAutofit/>
          </a:bodyPr>
          <a:lstStyle/>
          <a:p>
            <a:pPr>
              <a:defRPr sz="1125" b="1">
                <a:solidFill>
                  <a:srgbClr val="6F9182"/>
                </a:solidFill>
                <a:latin typeface="Calibri"/>
                <a:ea typeface="Calibri"/>
                <a:cs typeface="Calibri"/>
              </a:defRPr>
            </a:pPr>
            <a:r>
              <a:rPr sz="1125" b="1">
                <a:solidFill>
                  <a:srgbClr val="6F9182"/>
                </a:solidFill>
                <a:latin typeface="Calibri"/>
                <a:ea typeface="Calibri"/>
                <a:cs typeface="Calibri"/>
              </a:rPr>
              <a:t>GO-TO-MARKET</a:t>
            </a:r>
          </a:p>
        </p:txBody>
      </p:sp>
      <p:sp>
        <p:nvSpPr>
          <p:cNvPr id="13" name="text-68">
            <a:extLst>
              <a:ext uri="{FF2B5EF4-FFF2-40B4-BE49-F238E27FC236}">
                <a16:creationId xmlns:a16="http://schemas.microsoft.com/office/drawing/2014/main" id="{0D1A33DF-7C4B-4069-A7CF-236D7FA16CBF}"/>
              </a:ext>
            </a:extLst>
          </p:cNvPr>
          <p:cNvSpPr>
            <a:spLocks noGrp="1"/>
          </p:cNvSpPr>
          <p:nvPr/>
        </p:nvSpPr>
        <p:spPr>
          <a:xfrm>
            <a:off x="2714625" y="3238500"/>
            <a:ext cx="4714875" cy="466725"/>
          </a:xfrm>
          <a:prstGeom prst="rect">
            <a:avLst/>
          </a:prstGeom>
          <a:noFill/>
          <a:ln w="0">
            <a:noFill/>
          </a:ln>
        </p:spPr>
        <p:txBody>
          <a:bodyPr wrap="square" lIns="0" tIns="0" rIns="0" bIns="0" anchor="t">
            <a:noAutofit/>
          </a:bodyPr>
          <a:lstStyle/>
          <a:p>
            <a:pPr>
              <a:defRPr sz="1575" b="0">
                <a:solidFill>
                  <a:srgbClr val="123F32"/>
                </a:solidFill>
                <a:latin typeface="Calibri"/>
                <a:ea typeface="Calibri"/>
                <a:cs typeface="Calibri"/>
              </a:defRPr>
            </a:pPr>
            <a:r>
              <a:rPr sz="1575" b="0">
                <a:solidFill>
                  <a:srgbClr val="123F32"/>
                </a:solidFill>
                <a:latin typeface="Calibri"/>
                <a:ea typeface="Calibri"/>
                <a:cs typeface="Calibri"/>
              </a:rPr>
              <a:t>Gimana menemukan cara jual yang efektif?</a:t>
            </a:r>
          </a:p>
        </p:txBody>
      </p:sp>
      <p:sp>
        <p:nvSpPr>
          <p:cNvPr id="14" name="text-69">
            <a:extLst>
              <a:ext uri="{FF2B5EF4-FFF2-40B4-BE49-F238E27FC236}">
                <a16:creationId xmlns:a16="http://schemas.microsoft.com/office/drawing/2014/main" id="{A066F477-74FE-4424-B230-56AE832D02CE}"/>
              </a:ext>
            </a:extLst>
          </p:cNvPr>
          <p:cNvSpPr>
            <a:spLocks noGrp="1"/>
          </p:cNvSpPr>
          <p:nvPr/>
        </p:nvSpPr>
        <p:spPr>
          <a:xfrm>
            <a:off x="7848600" y="3009900"/>
            <a:ext cx="3733800" cy="419100"/>
          </a:xfrm>
          <a:prstGeom prst="rect">
            <a:avLst/>
          </a:prstGeom>
          <a:noFill/>
          <a:ln w="0">
            <a:noFill/>
          </a:ln>
        </p:spPr>
        <p:txBody>
          <a:bodyPr wrap="square" lIns="0" tIns="0" rIns="0" bIns="0" anchor="t">
            <a:noAutofit/>
          </a:bodyPr>
          <a:lstStyle/>
          <a:p>
            <a:pPr>
              <a:defRPr sz="1575" b="1">
                <a:solidFill>
                  <a:srgbClr val="123F32"/>
                </a:solidFill>
                <a:latin typeface="Calibri"/>
                <a:ea typeface="Calibri"/>
                <a:cs typeface="Calibri"/>
              </a:defRPr>
            </a:pPr>
            <a:r>
              <a:rPr sz="1575" b="1">
                <a:solidFill>
                  <a:srgbClr val="123F32"/>
                </a:solidFill>
                <a:latin typeface="Calibri"/>
                <a:ea typeface="Calibri"/>
                <a:cs typeface="Calibri"/>
              </a:rPr>
              <a:t>Aristia Chen / Mazuta</a:t>
            </a:r>
          </a:p>
        </p:txBody>
      </p:sp>
      <p:sp>
        <p:nvSpPr>
          <p:cNvPr id="15" name="text-70">
            <a:extLst>
              <a:ext uri="{FF2B5EF4-FFF2-40B4-BE49-F238E27FC236}">
                <a16:creationId xmlns:a16="http://schemas.microsoft.com/office/drawing/2014/main" id="{31BC792F-0A43-4648-90D0-05A80D7E4644}"/>
              </a:ext>
            </a:extLst>
          </p:cNvPr>
          <p:cNvSpPr>
            <a:spLocks noGrp="1"/>
          </p:cNvSpPr>
          <p:nvPr/>
        </p:nvSpPr>
        <p:spPr>
          <a:xfrm>
            <a:off x="7848600" y="3400425"/>
            <a:ext cx="3733800" cy="314325"/>
          </a:xfrm>
          <a:prstGeom prst="rect">
            <a:avLst/>
          </a:prstGeom>
          <a:noFill/>
          <a:ln w="0">
            <a:noFill/>
          </a:ln>
        </p:spPr>
        <p:txBody>
          <a:bodyPr wrap="square" lIns="0" tIns="0" rIns="0" bIns="0" anchor="t">
            <a:noAutofit/>
          </a:bodyPr>
          <a:lstStyle/>
          <a:p>
            <a:pPr>
              <a:defRPr sz="1200" b="0">
                <a:solidFill>
                  <a:srgbClr val="66746B"/>
                </a:solidFill>
                <a:latin typeface="Calibri"/>
                <a:ea typeface="Calibri"/>
                <a:cs typeface="Calibri"/>
              </a:defRPr>
            </a:pPr>
            <a:r>
              <a:rPr sz="1200" b="0">
                <a:solidFill>
                  <a:srgbClr val="66746B"/>
                </a:solidFill>
                <a:latin typeface="Calibri"/>
                <a:ea typeface="Calibri"/>
                <a:cs typeface="Calibri"/>
              </a:rPr>
              <a:t>Cad.: Samuel Christ / Seefluencer</a:t>
            </a:r>
          </a:p>
        </p:txBody>
      </p:sp>
      <p:sp>
        <p:nvSpPr>
          <p:cNvPr id="16" name="Straight Connector 15">
            <a:extLst>
              <a:ext uri="{FF2B5EF4-FFF2-40B4-BE49-F238E27FC236}">
                <a16:creationId xmlns:a16="http://schemas.microsoft.com/office/drawing/2014/main" id="{13BFBDA4-ED6F-4971-923F-7F7F5D54BAB2}"/>
              </a:ext>
            </a:extLst>
          </p:cNvPr>
          <p:cNvSpPr>
            <a:spLocks noGrp="1"/>
          </p:cNvSpPr>
          <p:nvPr/>
        </p:nvSpPr>
        <p:spPr>
          <a:xfrm>
            <a:off x="609600" y="3695700"/>
            <a:ext cx="10972800" cy="0"/>
          </a:xfrm>
          <a:prstGeom prst="line">
            <a:avLst/>
          </a:prstGeom>
          <a:noFill/>
          <a:ln w="9525">
            <a:solidFill>
              <a:srgbClr val="DCE5DE"/>
            </a:solidFill>
          </a:ln>
        </p:spPr>
      </p:sp>
      <p:sp>
        <p:nvSpPr>
          <p:cNvPr id="17" name="text-71">
            <a:extLst>
              <a:ext uri="{FF2B5EF4-FFF2-40B4-BE49-F238E27FC236}">
                <a16:creationId xmlns:a16="http://schemas.microsoft.com/office/drawing/2014/main" id="{63865E87-8419-4130-8D6C-9C50545415AA}"/>
              </a:ext>
            </a:extLst>
          </p:cNvPr>
          <p:cNvSpPr>
            <a:spLocks noGrp="1"/>
          </p:cNvSpPr>
          <p:nvPr/>
        </p:nvSpPr>
        <p:spPr>
          <a:xfrm>
            <a:off x="609600" y="3800475"/>
            <a:ext cx="2009775" cy="533400"/>
          </a:xfrm>
          <a:prstGeom prst="rect">
            <a:avLst/>
          </a:prstGeom>
          <a:noFill/>
          <a:ln w="0">
            <a:noFill/>
          </a:ln>
        </p:spPr>
        <p:txBody>
          <a:bodyPr wrap="square" lIns="0" tIns="0" rIns="0" bIns="0" anchor="t">
            <a:noAutofit/>
          </a:bodyPr>
          <a:lstStyle/>
          <a:p>
            <a:pPr>
              <a:defRPr sz="1800" b="1">
                <a:solidFill>
                  <a:srgbClr val="123F32"/>
                </a:solidFill>
                <a:latin typeface="Calibri"/>
                <a:ea typeface="Calibri"/>
                <a:cs typeface="Calibri"/>
              </a:defRPr>
            </a:pPr>
            <a:r>
              <a:rPr sz="1800" b="1">
                <a:solidFill>
                  <a:srgbClr val="123F32"/>
                </a:solidFill>
                <a:latin typeface="Calibri"/>
                <a:ea typeface="Calibri"/>
                <a:cs typeface="Calibri"/>
              </a:rPr>
              <a:t>Kamis, 19 Nov</a:t>
            </a:r>
          </a:p>
        </p:txBody>
      </p:sp>
      <p:sp>
        <p:nvSpPr>
          <p:cNvPr id="18" name="text-72">
            <a:extLst>
              <a:ext uri="{FF2B5EF4-FFF2-40B4-BE49-F238E27FC236}">
                <a16:creationId xmlns:a16="http://schemas.microsoft.com/office/drawing/2014/main" id="{E920A3EB-1698-42ED-AAED-F52DB05D3FCB}"/>
              </a:ext>
            </a:extLst>
          </p:cNvPr>
          <p:cNvSpPr>
            <a:spLocks noGrp="1"/>
          </p:cNvSpPr>
          <p:nvPr/>
        </p:nvSpPr>
        <p:spPr>
          <a:xfrm>
            <a:off x="2714625" y="3743325"/>
            <a:ext cx="4714875" cy="209550"/>
          </a:xfrm>
          <a:prstGeom prst="rect">
            <a:avLst/>
          </a:prstGeom>
          <a:noFill/>
          <a:ln w="0">
            <a:noFill/>
          </a:ln>
        </p:spPr>
        <p:txBody>
          <a:bodyPr wrap="square" lIns="0" tIns="0" rIns="0" bIns="0" anchor="t">
            <a:noAutofit/>
          </a:bodyPr>
          <a:lstStyle/>
          <a:p>
            <a:pPr>
              <a:defRPr sz="1125" b="1">
                <a:solidFill>
                  <a:srgbClr val="6F9182"/>
                </a:solidFill>
                <a:latin typeface="Calibri"/>
                <a:ea typeface="Calibri"/>
                <a:cs typeface="Calibri"/>
              </a:defRPr>
            </a:pPr>
            <a:r>
              <a:rPr sz="1125" b="1">
                <a:solidFill>
                  <a:srgbClr val="6F9182"/>
                </a:solidFill>
                <a:latin typeface="Calibri"/>
                <a:ea typeface="Calibri"/>
                <a:cs typeface="Calibri"/>
              </a:rPr>
              <a:t>OPERATIONS</a:t>
            </a:r>
          </a:p>
        </p:txBody>
      </p:sp>
      <p:sp>
        <p:nvSpPr>
          <p:cNvPr id="19" name="text-73">
            <a:extLst>
              <a:ext uri="{FF2B5EF4-FFF2-40B4-BE49-F238E27FC236}">
                <a16:creationId xmlns:a16="http://schemas.microsoft.com/office/drawing/2014/main" id="{087390C6-F9F4-4ED1-AE80-1C05B8411AE8}"/>
              </a:ext>
            </a:extLst>
          </p:cNvPr>
          <p:cNvSpPr>
            <a:spLocks noGrp="1"/>
          </p:cNvSpPr>
          <p:nvPr/>
        </p:nvSpPr>
        <p:spPr>
          <a:xfrm>
            <a:off x="2714625" y="3981450"/>
            <a:ext cx="4714875" cy="466725"/>
          </a:xfrm>
          <a:prstGeom prst="rect">
            <a:avLst/>
          </a:prstGeom>
          <a:noFill/>
          <a:ln w="0">
            <a:noFill/>
          </a:ln>
        </p:spPr>
        <p:txBody>
          <a:bodyPr wrap="square" lIns="0" tIns="0" rIns="0" bIns="0" anchor="t">
            <a:noAutofit/>
          </a:bodyPr>
          <a:lstStyle/>
          <a:p>
            <a:pPr>
              <a:defRPr sz="1575" b="0">
                <a:solidFill>
                  <a:srgbClr val="123F32"/>
                </a:solidFill>
                <a:latin typeface="Calibri"/>
                <a:ea typeface="Calibri"/>
                <a:cs typeface="Calibri"/>
              </a:defRPr>
            </a:pPr>
            <a:r>
              <a:rPr sz="1575" b="0">
                <a:solidFill>
                  <a:srgbClr val="123F32"/>
                </a:solidFill>
                <a:latin typeface="Calibri"/>
                <a:ea typeface="Calibri"/>
                <a:cs typeface="Calibri"/>
              </a:rPr>
              <a:t>Kapan bisnis harus mulai dibikin lebih rapi?</a:t>
            </a:r>
          </a:p>
        </p:txBody>
      </p:sp>
      <p:sp>
        <p:nvSpPr>
          <p:cNvPr id="20" name="text-74">
            <a:extLst>
              <a:ext uri="{FF2B5EF4-FFF2-40B4-BE49-F238E27FC236}">
                <a16:creationId xmlns:a16="http://schemas.microsoft.com/office/drawing/2014/main" id="{12F5DBDB-D921-4871-B4D6-F25EB6C08237}"/>
              </a:ext>
            </a:extLst>
          </p:cNvPr>
          <p:cNvSpPr>
            <a:spLocks noGrp="1"/>
          </p:cNvSpPr>
          <p:nvPr/>
        </p:nvSpPr>
        <p:spPr>
          <a:xfrm>
            <a:off x="7848600" y="3752850"/>
            <a:ext cx="3733800" cy="419100"/>
          </a:xfrm>
          <a:prstGeom prst="rect">
            <a:avLst/>
          </a:prstGeom>
          <a:noFill/>
          <a:ln w="0">
            <a:noFill/>
          </a:ln>
        </p:spPr>
        <p:txBody>
          <a:bodyPr wrap="square" lIns="0" tIns="0" rIns="0" bIns="0" anchor="t">
            <a:noAutofit/>
          </a:bodyPr>
          <a:lstStyle/>
          <a:p>
            <a:pPr>
              <a:defRPr sz="1575" b="1">
                <a:solidFill>
                  <a:srgbClr val="123F32"/>
                </a:solidFill>
                <a:latin typeface="Calibri"/>
                <a:ea typeface="Calibri"/>
                <a:cs typeface="Calibri"/>
              </a:defRPr>
            </a:pPr>
            <a:r>
              <a:rPr sz="1575" b="1">
                <a:solidFill>
                  <a:srgbClr val="123F32"/>
                </a:solidFill>
                <a:latin typeface="Calibri"/>
                <a:ea typeface="Calibri"/>
                <a:cs typeface="Calibri"/>
              </a:rPr>
              <a:t>Daniel Sidik / Jago Coffee</a:t>
            </a:r>
          </a:p>
        </p:txBody>
      </p:sp>
      <p:sp>
        <p:nvSpPr>
          <p:cNvPr id="21" name="text-75">
            <a:extLst>
              <a:ext uri="{FF2B5EF4-FFF2-40B4-BE49-F238E27FC236}">
                <a16:creationId xmlns:a16="http://schemas.microsoft.com/office/drawing/2014/main" id="{63ABDB35-7348-4ACE-AF85-B6FAE33FA12E}"/>
              </a:ext>
            </a:extLst>
          </p:cNvPr>
          <p:cNvSpPr>
            <a:spLocks noGrp="1"/>
          </p:cNvSpPr>
          <p:nvPr/>
        </p:nvSpPr>
        <p:spPr>
          <a:xfrm>
            <a:off x="7848600" y="4143375"/>
            <a:ext cx="3733800" cy="314325"/>
          </a:xfrm>
          <a:prstGeom prst="rect">
            <a:avLst/>
          </a:prstGeom>
          <a:noFill/>
          <a:ln w="0">
            <a:noFill/>
          </a:ln>
        </p:spPr>
        <p:txBody>
          <a:bodyPr wrap="square" lIns="0" tIns="0" rIns="0" bIns="0" anchor="t">
            <a:noAutofit/>
          </a:bodyPr>
          <a:lstStyle/>
          <a:p>
            <a:pPr>
              <a:defRPr sz="1200" b="0">
                <a:solidFill>
                  <a:srgbClr val="66746B"/>
                </a:solidFill>
                <a:latin typeface="Calibri"/>
                <a:ea typeface="Calibri"/>
                <a:cs typeface="Calibri"/>
              </a:defRPr>
            </a:pPr>
            <a:r>
              <a:rPr sz="1200" b="0">
                <a:solidFill>
                  <a:srgbClr val="66746B"/>
                </a:solidFill>
                <a:latin typeface="Calibri"/>
                <a:ea typeface="Calibri"/>
                <a:cs typeface="Calibri"/>
              </a:rPr>
              <a:t>Cad.: Anthony Soehartono / BP Consulting</a:t>
            </a:r>
          </a:p>
        </p:txBody>
      </p:sp>
      <p:sp>
        <p:nvSpPr>
          <p:cNvPr id="22" name="Straight Connector 21">
            <a:extLst>
              <a:ext uri="{FF2B5EF4-FFF2-40B4-BE49-F238E27FC236}">
                <a16:creationId xmlns:a16="http://schemas.microsoft.com/office/drawing/2014/main" id="{2205AF3E-E12A-494F-A5C0-30C24FF802D9}"/>
              </a:ext>
            </a:extLst>
          </p:cNvPr>
          <p:cNvSpPr>
            <a:spLocks noGrp="1"/>
          </p:cNvSpPr>
          <p:nvPr/>
        </p:nvSpPr>
        <p:spPr>
          <a:xfrm>
            <a:off x="609600" y="4438650"/>
            <a:ext cx="10972800" cy="0"/>
          </a:xfrm>
          <a:prstGeom prst="line">
            <a:avLst/>
          </a:prstGeom>
          <a:noFill/>
          <a:ln w="9525">
            <a:solidFill>
              <a:srgbClr val="DCE5DE"/>
            </a:solidFill>
          </a:ln>
        </p:spPr>
      </p:sp>
      <p:sp>
        <p:nvSpPr>
          <p:cNvPr id="23" name="text-76">
            <a:extLst>
              <a:ext uri="{FF2B5EF4-FFF2-40B4-BE49-F238E27FC236}">
                <a16:creationId xmlns:a16="http://schemas.microsoft.com/office/drawing/2014/main" id="{650B225D-8BB3-446F-B23E-D46F2FB967C6}"/>
              </a:ext>
            </a:extLst>
          </p:cNvPr>
          <p:cNvSpPr>
            <a:spLocks noGrp="1"/>
          </p:cNvSpPr>
          <p:nvPr/>
        </p:nvSpPr>
        <p:spPr>
          <a:xfrm>
            <a:off x="609600" y="4543425"/>
            <a:ext cx="2009775" cy="533400"/>
          </a:xfrm>
          <a:prstGeom prst="rect">
            <a:avLst/>
          </a:prstGeom>
          <a:noFill/>
          <a:ln w="0">
            <a:noFill/>
          </a:ln>
        </p:spPr>
        <p:txBody>
          <a:bodyPr wrap="square" lIns="0" tIns="0" rIns="0" bIns="0" anchor="t">
            <a:noAutofit/>
          </a:bodyPr>
          <a:lstStyle/>
          <a:p>
            <a:pPr>
              <a:defRPr sz="1800" b="1">
                <a:solidFill>
                  <a:srgbClr val="123F32"/>
                </a:solidFill>
                <a:latin typeface="Calibri"/>
                <a:ea typeface="Calibri"/>
                <a:cs typeface="Calibri"/>
              </a:defRPr>
            </a:pPr>
            <a:r>
              <a:rPr sz="1800" b="1">
                <a:solidFill>
                  <a:srgbClr val="123F32"/>
                </a:solidFill>
                <a:latin typeface="Calibri"/>
                <a:ea typeface="Calibri"/>
                <a:cs typeface="Calibri"/>
              </a:rPr>
              <a:t>Selasa, 24 Nov</a:t>
            </a:r>
          </a:p>
        </p:txBody>
      </p:sp>
      <p:sp>
        <p:nvSpPr>
          <p:cNvPr id="24" name="text-77">
            <a:extLst>
              <a:ext uri="{FF2B5EF4-FFF2-40B4-BE49-F238E27FC236}">
                <a16:creationId xmlns:a16="http://schemas.microsoft.com/office/drawing/2014/main" id="{D697ED6A-8DDE-4324-B6B6-DD0C2B28E0D5}"/>
              </a:ext>
            </a:extLst>
          </p:cNvPr>
          <p:cNvSpPr>
            <a:spLocks noGrp="1"/>
          </p:cNvSpPr>
          <p:nvPr/>
        </p:nvSpPr>
        <p:spPr>
          <a:xfrm>
            <a:off x="2714625" y="4486275"/>
            <a:ext cx="4714875" cy="209550"/>
          </a:xfrm>
          <a:prstGeom prst="rect">
            <a:avLst/>
          </a:prstGeom>
          <a:noFill/>
          <a:ln w="0">
            <a:noFill/>
          </a:ln>
        </p:spPr>
        <p:txBody>
          <a:bodyPr wrap="square" lIns="0" tIns="0" rIns="0" bIns="0" anchor="t">
            <a:noAutofit/>
          </a:bodyPr>
          <a:lstStyle/>
          <a:p>
            <a:pPr>
              <a:defRPr sz="1125" b="1">
                <a:solidFill>
                  <a:srgbClr val="6F9182"/>
                </a:solidFill>
                <a:latin typeface="Calibri"/>
                <a:ea typeface="Calibri"/>
                <a:cs typeface="Calibri"/>
              </a:defRPr>
            </a:pPr>
            <a:r>
              <a:rPr sz="1125" b="1">
                <a:solidFill>
                  <a:srgbClr val="6F9182"/>
                </a:solidFill>
                <a:latin typeface="Calibri"/>
                <a:ea typeface="Calibri"/>
                <a:cs typeface="Calibri"/>
              </a:rPr>
              <a:t>FINANCE</a:t>
            </a:r>
          </a:p>
        </p:txBody>
      </p:sp>
      <p:sp>
        <p:nvSpPr>
          <p:cNvPr id="25" name="text-78">
            <a:extLst>
              <a:ext uri="{FF2B5EF4-FFF2-40B4-BE49-F238E27FC236}">
                <a16:creationId xmlns:a16="http://schemas.microsoft.com/office/drawing/2014/main" id="{401D87E9-FF94-40E1-9FB2-E28A6FA0F4E0}"/>
              </a:ext>
            </a:extLst>
          </p:cNvPr>
          <p:cNvSpPr>
            <a:spLocks noGrp="1"/>
          </p:cNvSpPr>
          <p:nvPr/>
        </p:nvSpPr>
        <p:spPr>
          <a:xfrm>
            <a:off x="2714625" y="4724400"/>
            <a:ext cx="4714875" cy="466725"/>
          </a:xfrm>
          <a:prstGeom prst="rect">
            <a:avLst/>
          </a:prstGeom>
          <a:noFill/>
          <a:ln w="0">
            <a:noFill/>
          </a:ln>
        </p:spPr>
        <p:txBody>
          <a:bodyPr wrap="square" lIns="0" tIns="0" rIns="0" bIns="0" anchor="t">
            <a:noAutofit/>
          </a:bodyPr>
          <a:lstStyle/>
          <a:p>
            <a:pPr>
              <a:defRPr sz="1575" b="0">
                <a:solidFill>
                  <a:srgbClr val="123F32"/>
                </a:solidFill>
                <a:latin typeface="Calibri"/>
                <a:ea typeface="Calibri"/>
                <a:cs typeface="Calibri"/>
              </a:defRPr>
            </a:pPr>
            <a:r>
              <a:rPr sz="1575" b="0">
                <a:solidFill>
                  <a:srgbClr val="123F32"/>
                </a:solidFill>
                <a:latin typeface="Calibri"/>
                <a:ea typeface="Calibri"/>
                <a:cs typeface="Calibri"/>
              </a:rPr>
              <a:t>Bisnis untung, tapi kenapa cash liquid nggak ada?</a:t>
            </a:r>
          </a:p>
        </p:txBody>
      </p:sp>
      <p:sp>
        <p:nvSpPr>
          <p:cNvPr id="26" name="text-79">
            <a:extLst>
              <a:ext uri="{FF2B5EF4-FFF2-40B4-BE49-F238E27FC236}">
                <a16:creationId xmlns:a16="http://schemas.microsoft.com/office/drawing/2014/main" id="{69BB84DC-E06D-489F-9941-9A5BE5F2FFF2}"/>
              </a:ext>
            </a:extLst>
          </p:cNvPr>
          <p:cNvSpPr>
            <a:spLocks noGrp="1"/>
          </p:cNvSpPr>
          <p:nvPr/>
        </p:nvSpPr>
        <p:spPr>
          <a:xfrm>
            <a:off x="7848600" y="4495800"/>
            <a:ext cx="3733800" cy="419100"/>
          </a:xfrm>
          <a:prstGeom prst="rect">
            <a:avLst/>
          </a:prstGeom>
          <a:noFill/>
          <a:ln w="0">
            <a:noFill/>
          </a:ln>
        </p:spPr>
        <p:txBody>
          <a:bodyPr wrap="square" lIns="0" tIns="0" rIns="0" bIns="0" anchor="t">
            <a:noAutofit/>
          </a:bodyPr>
          <a:lstStyle/>
          <a:p>
            <a:pPr>
              <a:defRPr sz="1575" b="1">
                <a:solidFill>
                  <a:srgbClr val="123F32"/>
                </a:solidFill>
                <a:latin typeface="Calibri"/>
                <a:ea typeface="Calibri"/>
                <a:cs typeface="Calibri"/>
              </a:defRPr>
            </a:pPr>
            <a:r>
              <a:rPr sz="1575" b="1">
                <a:solidFill>
                  <a:srgbClr val="123F32"/>
                </a:solidFill>
                <a:latin typeface="Calibri"/>
                <a:ea typeface="Calibri"/>
                <a:cs typeface="Calibri"/>
              </a:rPr>
              <a:t>Daniel Liu / Rocketindo</a:t>
            </a:r>
          </a:p>
        </p:txBody>
      </p:sp>
      <p:sp>
        <p:nvSpPr>
          <p:cNvPr id="27" name="text-80">
            <a:extLst>
              <a:ext uri="{FF2B5EF4-FFF2-40B4-BE49-F238E27FC236}">
                <a16:creationId xmlns:a16="http://schemas.microsoft.com/office/drawing/2014/main" id="{2C655BB8-8D25-4A2E-9269-EEFED8DC4141}"/>
              </a:ext>
            </a:extLst>
          </p:cNvPr>
          <p:cNvSpPr>
            <a:spLocks noGrp="1"/>
          </p:cNvSpPr>
          <p:nvPr/>
        </p:nvSpPr>
        <p:spPr>
          <a:xfrm>
            <a:off x="7848600" y="4886325"/>
            <a:ext cx="3733800" cy="314325"/>
          </a:xfrm>
          <a:prstGeom prst="rect">
            <a:avLst/>
          </a:prstGeom>
          <a:noFill/>
          <a:ln w="0">
            <a:noFill/>
          </a:ln>
        </p:spPr>
        <p:txBody>
          <a:bodyPr wrap="square" lIns="0" tIns="0" rIns="0" bIns="0" anchor="t">
            <a:noAutofit/>
          </a:bodyPr>
          <a:lstStyle/>
          <a:p>
            <a:pPr>
              <a:defRPr sz="1200" b="0">
                <a:solidFill>
                  <a:srgbClr val="66746B"/>
                </a:solidFill>
                <a:latin typeface="Calibri"/>
                <a:ea typeface="Calibri"/>
                <a:cs typeface="Calibri"/>
              </a:defRPr>
            </a:pPr>
            <a:r>
              <a:rPr sz="1200" b="0">
                <a:solidFill>
                  <a:srgbClr val="66746B"/>
                </a:solidFill>
                <a:latin typeface="Calibri"/>
                <a:ea typeface="Calibri"/>
                <a:cs typeface="Calibri"/>
              </a:rPr>
              <a:t>Cad.: Nicholas Dennis / BD Ekspor</a:t>
            </a:r>
          </a:p>
        </p:txBody>
      </p:sp>
      <p:sp>
        <p:nvSpPr>
          <p:cNvPr id="28" name="Straight Connector 27">
            <a:extLst>
              <a:ext uri="{FF2B5EF4-FFF2-40B4-BE49-F238E27FC236}">
                <a16:creationId xmlns:a16="http://schemas.microsoft.com/office/drawing/2014/main" id="{0F3ABC66-2D5E-4B7D-953B-62D9DB215CB3}"/>
              </a:ext>
            </a:extLst>
          </p:cNvPr>
          <p:cNvSpPr>
            <a:spLocks noGrp="1"/>
          </p:cNvSpPr>
          <p:nvPr/>
        </p:nvSpPr>
        <p:spPr>
          <a:xfrm>
            <a:off x="609600" y="5181600"/>
            <a:ext cx="10972800" cy="0"/>
          </a:xfrm>
          <a:prstGeom prst="line">
            <a:avLst/>
          </a:prstGeom>
          <a:noFill/>
          <a:ln w="9525">
            <a:solidFill>
              <a:srgbClr val="DCE5DE"/>
            </a:solidFill>
          </a:ln>
        </p:spPr>
      </p:sp>
      <p:sp>
        <p:nvSpPr>
          <p:cNvPr id="29" name="text-81">
            <a:extLst>
              <a:ext uri="{FF2B5EF4-FFF2-40B4-BE49-F238E27FC236}">
                <a16:creationId xmlns:a16="http://schemas.microsoft.com/office/drawing/2014/main" id="{ED27514A-468C-49A8-B49A-A4367F171018}"/>
              </a:ext>
            </a:extLst>
          </p:cNvPr>
          <p:cNvSpPr>
            <a:spLocks noGrp="1"/>
          </p:cNvSpPr>
          <p:nvPr/>
        </p:nvSpPr>
        <p:spPr>
          <a:xfrm>
            <a:off x="609600" y="5286375"/>
            <a:ext cx="2009775" cy="533400"/>
          </a:xfrm>
          <a:prstGeom prst="rect">
            <a:avLst/>
          </a:prstGeom>
          <a:noFill/>
          <a:ln w="0">
            <a:noFill/>
          </a:ln>
        </p:spPr>
        <p:txBody>
          <a:bodyPr wrap="square" lIns="0" tIns="0" rIns="0" bIns="0" anchor="t">
            <a:noAutofit/>
          </a:bodyPr>
          <a:lstStyle/>
          <a:p>
            <a:pPr>
              <a:defRPr sz="1800" b="1">
                <a:solidFill>
                  <a:srgbClr val="123F32"/>
                </a:solidFill>
                <a:latin typeface="Calibri"/>
                <a:ea typeface="Calibri"/>
                <a:cs typeface="Calibri"/>
              </a:defRPr>
            </a:pPr>
            <a:r>
              <a:rPr sz="1800" b="1">
                <a:solidFill>
                  <a:srgbClr val="123F32"/>
                </a:solidFill>
                <a:latin typeface="Calibri"/>
                <a:ea typeface="Calibri"/>
                <a:cs typeface="Calibri"/>
              </a:rPr>
              <a:t>Kamis, 26 Nov</a:t>
            </a:r>
          </a:p>
        </p:txBody>
      </p:sp>
      <p:sp>
        <p:nvSpPr>
          <p:cNvPr id="30" name="text-82">
            <a:extLst>
              <a:ext uri="{FF2B5EF4-FFF2-40B4-BE49-F238E27FC236}">
                <a16:creationId xmlns:a16="http://schemas.microsoft.com/office/drawing/2014/main" id="{382CAE73-6817-42CD-91E9-C3088E5E5F97}"/>
              </a:ext>
            </a:extLst>
          </p:cNvPr>
          <p:cNvSpPr>
            <a:spLocks noGrp="1"/>
          </p:cNvSpPr>
          <p:nvPr/>
        </p:nvSpPr>
        <p:spPr>
          <a:xfrm>
            <a:off x="2714625" y="5229225"/>
            <a:ext cx="4714875" cy="209550"/>
          </a:xfrm>
          <a:prstGeom prst="rect">
            <a:avLst/>
          </a:prstGeom>
          <a:noFill/>
          <a:ln w="0">
            <a:noFill/>
          </a:ln>
        </p:spPr>
        <p:txBody>
          <a:bodyPr wrap="square" lIns="0" tIns="0" rIns="0" bIns="0" anchor="t">
            <a:noAutofit/>
          </a:bodyPr>
          <a:lstStyle/>
          <a:p>
            <a:pPr>
              <a:defRPr sz="1125" b="1">
                <a:solidFill>
                  <a:srgbClr val="6F9182"/>
                </a:solidFill>
                <a:latin typeface="Calibri"/>
                <a:ea typeface="Calibri"/>
                <a:cs typeface="Calibri"/>
              </a:defRPr>
            </a:pPr>
            <a:r>
              <a:rPr sz="1125" b="1">
                <a:solidFill>
                  <a:srgbClr val="6F9182"/>
                </a:solidFill>
                <a:latin typeface="Calibri"/>
                <a:ea typeface="Calibri"/>
                <a:cs typeface="Calibri"/>
              </a:rPr>
              <a:t>SCALE</a:t>
            </a:r>
          </a:p>
        </p:txBody>
      </p:sp>
      <p:sp>
        <p:nvSpPr>
          <p:cNvPr id="31" name="text-83">
            <a:extLst>
              <a:ext uri="{FF2B5EF4-FFF2-40B4-BE49-F238E27FC236}">
                <a16:creationId xmlns:a16="http://schemas.microsoft.com/office/drawing/2014/main" id="{759A6FAC-826A-466A-832A-265C0AC17ABF}"/>
              </a:ext>
            </a:extLst>
          </p:cNvPr>
          <p:cNvSpPr>
            <a:spLocks noGrp="1"/>
          </p:cNvSpPr>
          <p:nvPr/>
        </p:nvSpPr>
        <p:spPr>
          <a:xfrm>
            <a:off x="2714625" y="5467350"/>
            <a:ext cx="4714875" cy="466725"/>
          </a:xfrm>
          <a:prstGeom prst="rect">
            <a:avLst/>
          </a:prstGeom>
          <a:noFill/>
          <a:ln w="0">
            <a:noFill/>
          </a:ln>
        </p:spPr>
        <p:txBody>
          <a:bodyPr wrap="square" lIns="0" tIns="0" rIns="0" bIns="0" anchor="t">
            <a:noAutofit/>
          </a:bodyPr>
          <a:lstStyle/>
          <a:p>
            <a:pPr>
              <a:defRPr sz="1575" b="0">
                <a:solidFill>
                  <a:srgbClr val="123F32"/>
                </a:solidFill>
                <a:latin typeface="Calibri"/>
                <a:ea typeface="Calibri"/>
                <a:cs typeface="Calibri"/>
              </a:defRPr>
            </a:pPr>
            <a:r>
              <a:rPr sz="1575" b="0">
                <a:solidFill>
                  <a:srgbClr val="123F32"/>
                </a:solidFill>
                <a:latin typeface="Calibri"/>
                <a:ea typeface="Calibri"/>
                <a:cs typeface="Calibri"/>
              </a:rPr>
              <a:t>Kapan bisnis sudah siap untuk scale dan cari modal?</a:t>
            </a:r>
          </a:p>
        </p:txBody>
      </p:sp>
      <p:sp>
        <p:nvSpPr>
          <p:cNvPr id="32" name="text-84">
            <a:extLst>
              <a:ext uri="{FF2B5EF4-FFF2-40B4-BE49-F238E27FC236}">
                <a16:creationId xmlns:a16="http://schemas.microsoft.com/office/drawing/2014/main" id="{C04AA169-FAC8-4201-B9F9-88E0A35DAF8F}"/>
              </a:ext>
            </a:extLst>
          </p:cNvPr>
          <p:cNvSpPr>
            <a:spLocks noGrp="1"/>
          </p:cNvSpPr>
          <p:nvPr/>
        </p:nvSpPr>
        <p:spPr>
          <a:xfrm>
            <a:off x="7848600" y="5238750"/>
            <a:ext cx="3733800" cy="419100"/>
          </a:xfrm>
          <a:prstGeom prst="rect">
            <a:avLst/>
          </a:prstGeom>
          <a:noFill/>
          <a:ln w="0">
            <a:noFill/>
          </a:ln>
        </p:spPr>
        <p:txBody>
          <a:bodyPr wrap="square" lIns="0" tIns="0" rIns="0" bIns="0" anchor="t">
            <a:noAutofit/>
          </a:bodyPr>
          <a:lstStyle/>
          <a:p>
            <a:pPr>
              <a:defRPr sz="1575" b="1">
                <a:solidFill>
                  <a:srgbClr val="123F32"/>
                </a:solidFill>
                <a:latin typeface="Calibri"/>
                <a:ea typeface="Calibri"/>
                <a:cs typeface="Calibri"/>
              </a:defRPr>
            </a:pPr>
            <a:r>
              <a:rPr sz="1575" b="1">
                <a:solidFill>
                  <a:srgbClr val="123F32"/>
                </a:solidFill>
                <a:latin typeface="Calibri"/>
                <a:ea typeface="Calibri"/>
                <a:cs typeface="Calibri"/>
              </a:rPr>
              <a:t>Winston Utomo / IDN</a:t>
            </a:r>
          </a:p>
        </p:txBody>
      </p:sp>
      <p:sp>
        <p:nvSpPr>
          <p:cNvPr id="33" name="text-85">
            <a:extLst>
              <a:ext uri="{FF2B5EF4-FFF2-40B4-BE49-F238E27FC236}">
                <a16:creationId xmlns:a16="http://schemas.microsoft.com/office/drawing/2014/main" id="{2264ED24-C831-49E3-90EB-615A534D4190}"/>
              </a:ext>
            </a:extLst>
          </p:cNvPr>
          <p:cNvSpPr>
            <a:spLocks noGrp="1"/>
          </p:cNvSpPr>
          <p:nvPr/>
        </p:nvSpPr>
        <p:spPr>
          <a:xfrm>
            <a:off x="7848600" y="5629275"/>
            <a:ext cx="3733800" cy="314325"/>
          </a:xfrm>
          <a:prstGeom prst="rect">
            <a:avLst/>
          </a:prstGeom>
          <a:noFill/>
          <a:ln w="0">
            <a:noFill/>
          </a:ln>
        </p:spPr>
        <p:txBody>
          <a:bodyPr wrap="square" lIns="0" tIns="0" rIns="0" bIns="0" anchor="t">
            <a:noAutofit/>
          </a:bodyPr>
          <a:lstStyle/>
          <a:p>
            <a:pPr>
              <a:defRPr sz="1200" b="0">
                <a:solidFill>
                  <a:srgbClr val="66746B"/>
                </a:solidFill>
                <a:latin typeface="Calibri"/>
                <a:ea typeface="Calibri"/>
                <a:cs typeface="Calibri"/>
              </a:defRPr>
            </a:pPr>
            <a:r>
              <a:rPr sz="1200" b="0">
                <a:solidFill>
                  <a:srgbClr val="66746B"/>
                </a:solidFill>
                <a:latin typeface="Calibri"/>
                <a:ea typeface="Calibri"/>
                <a:cs typeface="Calibri"/>
              </a:rPr>
              <a:t>Cad.: Daniel Liu / Rocketindo</a:t>
            </a:r>
          </a:p>
        </p:txBody>
      </p:sp>
      <p:sp>
        <p:nvSpPr>
          <p:cNvPr id="34" name="Straight Connector 33">
            <a:extLst>
              <a:ext uri="{FF2B5EF4-FFF2-40B4-BE49-F238E27FC236}">
                <a16:creationId xmlns:a16="http://schemas.microsoft.com/office/drawing/2014/main" id="{20197344-9B88-420D-9996-E6BE90D90BE2}"/>
              </a:ext>
            </a:extLst>
          </p:cNvPr>
          <p:cNvSpPr>
            <a:spLocks noGrp="1"/>
          </p:cNvSpPr>
          <p:nvPr/>
        </p:nvSpPr>
        <p:spPr>
          <a:xfrm>
            <a:off x="609600" y="5991225"/>
            <a:ext cx="10972800" cy="0"/>
          </a:xfrm>
          <a:prstGeom prst="line">
            <a:avLst/>
          </a:prstGeom>
          <a:noFill/>
          <a:ln w="9525">
            <a:solidFill>
              <a:srgbClr val="DCE5DE"/>
            </a:solidFill>
          </a:ln>
        </p:spPr>
      </p:sp>
      <p:sp>
        <p:nvSpPr>
          <p:cNvPr id="35" name="text-86">
            <a:extLst>
              <a:ext uri="{FF2B5EF4-FFF2-40B4-BE49-F238E27FC236}">
                <a16:creationId xmlns:a16="http://schemas.microsoft.com/office/drawing/2014/main" id="{B951B1E0-9535-4A15-BF55-0CA4A0E601F8}"/>
              </a:ext>
            </a:extLst>
          </p:cNvPr>
          <p:cNvSpPr>
            <a:spLocks noGrp="1"/>
          </p:cNvSpPr>
          <p:nvPr/>
        </p:nvSpPr>
        <p:spPr>
          <a:xfrm>
            <a:off x="609600" y="6134100"/>
            <a:ext cx="10925175" cy="228600"/>
          </a:xfrm>
          <a:prstGeom prst="rect">
            <a:avLst/>
          </a:prstGeom>
          <a:noFill/>
          <a:ln w="0">
            <a:noFill/>
          </a:ln>
        </p:spPr>
        <p:txBody>
          <a:bodyPr wrap="square" lIns="0" tIns="0" rIns="0" bIns="0" anchor="t">
            <a:noAutofit/>
          </a:bodyPr>
          <a:lstStyle/>
          <a:p>
            <a:pPr>
              <a:defRPr sz="1275" b="0">
                <a:solidFill>
                  <a:srgbClr val="66746B"/>
                </a:solidFill>
                <a:latin typeface="Calibri"/>
                <a:ea typeface="Calibri"/>
                <a:cs typeface="Calibri"/>
              </a:defRPr>
            </a:pPr>
            <a:r>
              <a:rPr sz="1275" b="0">
                <a:solidFill>
                  <a:srgbClr val="66746B"/>
                </a:solidFill>
                <a:latin typeface="Calibri"/>
                <a:ea typeface="Calibri"/>
                <a:cs typeface="Calibri"/>
              </a:rPr>
              <a:t>Cadangan lintas sesi tetap perlu konfirmasi; satu orang tidak otomatis mengisi dua kelas.</a:t>
            </a:r>
          </a:p>
        </p:txBody>
      </p:sp>
    </p:spTree>
    <p:extLst>
      <p:ext uri="{BB962C8B-B14F-4D97-AF65-F5344CB8AC3E}">
        <p14:creationId xmlns:p14="http://schemas.microsoft.com/office/powerpoint/2010/main" val="143449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2" name="Picture 21"/>
          <p:cNvPicPr>
            <a:picLocks noChangeAspect="1"/>
          </p:cNvPicPr>
          <p:nvPr/>
        </p:nvPicPr>
        <p:blipFill>
          <a:blip r:embed="rId3"/>
          <a:stretch/>
        </p:blipFill>
        <p:spPr>
          <a:xfrm>
            <a:off x="8340498" y="161925"/>
            <a:ext cx="3235779" cy="828675"/>
          </a:xfrm>
          <a:prstGeom prst="rect">
            <a:avLst/>
          </a:prstGeom>
        </p:spPr>
      </p:pic>
      <p:sp>
        <p:nvSpPr>
          <p:cNvPr id="2" name="text-87">
            <a:extLst>
              <a:ext uri="{FF2B5EF4-FFF2-40B4-BE49-F238E27FC236}">
                <a16:creationId xmlns:a16="http://schemas.microsoft.com/office/drawing/2014/main" id="{EF417C96-EB1D-47E3-8666-5A522EF2565F}"/>
              </a:ext>
            </a:extLst>
          </p:cNvPr>
          <p:cNvSpPr>
            <a:spLocks noGrp="1"/>
          </p:cNvSpPr>
          <p:nvPr/>
        </p:nvSpPr>
        <p:spPr>
          <a:xfrm>
            <a:off x="609600" y="409575"/>
            <a:ext cx="7096125" cy="209550"/>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01 / TOOLS &amp; PELAKSANAAN</a:t>
            </a:r>
          </a:p>
        </p:txBody>
      </p:sp>
      <p:sp>
        <p:nvSpPr>
          <p:cNvPr id="3" name="text-88">
            <a:extLst>
              <a:ext uri="{FF2B5EF4-FFF2-40B4-BE49-F238E27FC236}">
                <a16:creationId xmlns:a16="http://schemas.microsoft.com/office/drawing/2014/main" id="{92776E8A-A5F2-4D24-ABC4-02A634E317B6}"/>
              </a:ext>
            </a:extLst>
          </p:cNvPr>
          <p:cNvSpPr>
            <a:spLocks noGrp="1"/>
          </p:cNvSpPr>
          <p:nvPr/>
        </p:nvSpPr>
        <p:spPr>
          <a:xfrm>
            <a:off x="609600" y="1143000"/>
            <a:ext cx="10858500" cy="876300"/>
          </a:xfrm>
          <a:prstGeom prst="rect">
            <a:avLst/>
          </a:prstGeom>
          <a:noFill/>
          <a:ln w="0">
            <a:noFill/>
          </a:ln>
        </p:spPr>
        <p:txBody>
          <a:bodyPr wrap="square" lIns="0" tIns="0" rIns="0" bIns="0" anchor="t">
            <a:noAutofit/>
          </a:bodyPr>
          <a:lstStyle/>
          <a:p>
            <a:pPr>
              <a:defRPr sz="2850" b="1">
                <a:solidFill>
                  <a:srgbClr val="123F32"/>
                </a:solidFill>
                <a:latin typeface="Calibri"/>
                <a:ea typeface="Calibri"/>
                <a:cs typeface="Calibri"/>
              </a:defRPr>
            </a:pPr>
            <a:r>
              <a:rPr sz="2850" b="1">
                <a:solidFill>
                  <a:srgbClr val="123F32"/>
                </a:solidFill>
                <a:latin typeface="Calibri"/>
                <a:ea typeface="Calibri"/>
                <a:cs typeface="Calibri"/>
              </a:rPr>
              <a:t>Forms, Zoom, dan LMS cukup untuk menjalankan kelas</a:t>
            </a:r>
          </a:p>
        </p:txBody>
      </p:sp>
      <p:sp>
        <p:nvSpPr>
          <p:cNvPr id="4" name="text-89">
            <a:extLst>
              <a:ext uri="{FF2B5EF4-FFF2-40B4-BE49-F238E27FC236}">
                <a16:creationId xmlns:a16="http://schemas.microsoft.com/office/drawing/2014/main" id="{54AA5B2D-C5B6-4229-A03E-9823045F7D88}"/>
              </a:ext>
            </a:extLst>
          </p:cNvPr>
          <p:cNvSpPr>
            <a:spLocks noGrp="1"/>
          </p:cNvSpPr>
          <p:nvPr/>
        </p:nvSpPr>
        <p:spPr>
          <a:xfrm>
            <a:off x="609600" y="1604962"/>
            <a:ext cx="10858500" cy="466725"/>
          </a:xfrm>
          <a:prstGeom prst="rect">
            <a:avLst/>
          </a:prstGeom>
          <a:noFill/>
          <a:ln w="0">
            <a:noFill/>
          </a:ln>
        </p:spPr>
        <p:txBody>
          <a:bodyPr wrap="square" lIns="0" tIns="0" rIns="0" bIns="0" anchor="t">
            <a:noAutofit/>
          </a:bodyPr>
          <a:lstStyle/>
          <a:p>
            <a:pPr>
              <a:defRPr sz="1500" b="0">
                <a:solidFill>
                  <a:srgbClr val="66746B"/>
                </a:solidFill>
                <a:latin typeface="Calibri"/>
                <a:ea typeface="Calibri"/>
                <a:cs typeface="Calibri"/>
              </a:defRPr>
            </a:pPr>
            <a:r>
              <a:rPr sz="1500" b="0" dirty="0">
                <a:solidFill>
                  <a:srgbClr val="66746B"/>
                </a:solidFill>
                <a:latin typeface="Calibri"/>
                <a:ea typeface="Calibri"/>
                <a:cs typeface="Calibri"/>
              </a:rPr>
              <a:t>Kahoot </a:t>
            </a:r>
            <a:r>
              <a:rPr sz="1500" b="0" dirty="0" err="1">
                <a:solidFill>
                  <a:srgbClr val="66746B"/>
                </a:solidFill>
                <a:latin typeface="Calibri"/>
                <a:ea typeface="Calibri"/>
                <a:cs typeface="Calibri"/>
              </a:rPr>
              <a:t>belum</a:t>
            </a:r>
            <a:r>
              <a:rPr sz="1500" b="0" dirty="0">
                <a:solidFill>
                  <a:srgbClr val="66746B"/>
                </a:solidFill>
                <a:latin typeface="Calibri"/>
                <a:ea typeface="Calibri"/>
                <a:cs typeface="Calibri"/>
              </a:rPr>
              <a:t> </a:t>
            </a:r>
            <a:r>
              <a:rPr sz="1500" b="0" dirty="0" err="1">
                <a:solidFill>
                  <a:srgbClr val="66746B"/>
                </a:solidFill>
                <a:latin typeface="Calibri"/>
                <a:ea typeface="Calibri"/>
                <a:cs typeface="Calibri"/>
              </a:rPr>
              <a:t>diperlukan</a:t>
            </a:r>
            <a:r>
              <a:rPr sz="1500" b="0" dirty="0">
                <a:solidFill>
                  <a:srgbClr val="66746B"/>
                </a:solidFill>
                <a:latin typeface="Calibri"/>
                <a:ea typeface="Calibri"/>
                <a:cs typeface="Calibri"/>
              </a:rPr>
              <a:t> </a:t>
            </a:r>
            <a:r>
              <a:rPr sz="1500" b="0" dirty="0" err="1">
                <a:solidFill>
                  <a:srgbClr val="66746B"/>
                </a:solidFill>
                <a:latin typeface="Calibri"/>
                <a:ea typeface="Calibri"/>
                <a:cs typeface="Calibri"/>
              </a:rPr>
              <a:t>untuk</a:t>
            </a:r>
            <a:r>
              <a:rPr sz="1500" b="0" dirty="0">
                <a:solidFill>
                  <a:srgbClr val="66746B"/>
                </a:solidFill>
                <a:latin typeface="Calibri"/>
                <a:ea typeface="Calibri"/>
                <a:cs typeface="Calibri"/>
              </a:rPr>
              <a:t> format 20 </a:t>
            </a:r>
            <a:r>
              <a:rPr sz="1500" b="0" dirty="0" err="1">
                <a:solidFill>
                  <a:srgbClr val="66746B"/>
                </a:solidFill>
                <a:latin typeface="Calibri"/>
                <a:ea typeface="Calibri"/>
                <a:cs typeface="Calibri"/>
              </a:rPr>
              <a:t>menit</a:t>
            </a:r>
            <a:r>
              <a:rPr sz="1500" b="0" dirty="0">
                <a:solidFill>
                  <a:srgbClr val="66746B"/>
                </a:solidFill>
                <a:latin typeface="Calibri"/>
                <a:ea typeface="Calibri"/>
                <a:cs typeface="Calibri"/>
              </a:rPr>
              <a:t> </a:t>
            </a:r>
            <a:r>
              <a:rPr sz="1500" b="0" dirty="0" err="1">
                <a:solidFill>
                  <a:srgbClr val="66746B"/>
                </a:solidFill>
                <a:latin typeface="Calibri"/>
                <a:ea typeface="Calibri"/>
                <a:cs typeface="Calibri"/>
              </a:rPr>
              <a:t>cerita</a:t>
            </a:r>
            <a:r>
              <a:rPr sz="1500" b="0" dirty="0">
                <a:solidFill>
                  <a:srgbClr val="66746B"/>
                </a:solidFill>
                <a:latin typeface="Calibri"/>
                <a:ea typeface="Calibri"/>
                <a:cs typeface="Calibri"/>
              </a:rPr>
              <a:t> dan 60 </a:t>
            </a:r>
            <a:r>
              <a:rPr sz="1500" b="0" dirty="0" err="1">
                <a:solidFill>
                  <a:srgbClr val="66746B"/>
                </a:solidFill>
                <a:latin typeface="Calibri"/>
                <a:ea typeface="Calibri"/>
                <a:cs typeface="Calibri"/>
              </a:rPr>
              <a:t>menit</a:t>
            </a:r>
            <a:r>
              <a:rPr sz="1500" b="0" dirty="0">
                <a:solidFill>
                  <a:srgbClr val="66746B"/>
                </a:solidFill>
                <a:latin typeface="Calibri"/>
                <a:ea typeface="Calibri"/>
                <a:cs typeface="Calibri"/>
              </a:rPr>
              <a:t> Q&amp;A.</a:t>
            </a:r>
            <a:r>
              <a:rPr lang="en-US" sz="1500" b="0" dirty="0">
                <a:solidFill>
                  <a:srgbClr val="66746B"/>
                </a:solidFill>
                <a:latin typeface="Calibri"/>
                <a:ea typeface="Calibri"/>
                <a:cs typeface="Calibri"/>
              </a:rPr>
              <a:t> Kita </a:t>
            </a:r>
            <a:r>
              <a:rPr lang="en-US" sz="1500" b="0" dirty="0" err="1">
                <a:solidFill>
                  <a:srgbClr val="66746B"/>
                </a:solidFill>
                <a:latin typeface="Calibri"/>
                <a:ea typeface="Calibri"/>
                <a:cs typeface="Calibri"/>
              </a:rPr>
              <a:t>hanya</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perlu</a:t>
            </a:r>
            <a:r>
              <a:rPr lang="en-US" sz="1500" b="0" dirty="0">
                <a:solidFill>
                  <a:srgbClr val="66746B"/>
                </a:solidFill>
                <a:latin typeface="Calibri"/>
                <a:ea typeface="Calibri"/>
                <a:cs typeface="Calibri"/>
              </a:rPr>
              <a:t> zoom 1000 cap + google forms + </a:t>
            </a:r>
            <a:r>
              <a:rPr lang="en-US" sz="1500" b="0" dirty="0" err="1">
                <a:solidFill>
                  <a:srgbClr val="66746B"/>
                </a:solidFill>
                <a:latin typeface="Calibri"/>
                <a:ea typeface="Calibri"/>
                <a:cs typeface="Calibri"/>
              </a:rPr>
              <a:t>powerpoint</a:t>
            </a:r>
            <a:endParaRPr sz="1500" b="0" dirty="0">
              <a:solidFill>
                <a:srgbClr val="66746B"/>
              </a:solidFill>
              <a:latin typeface="Calibri"/>
              <a:ea typeface="Calibri"/>
              <a:cs typeface="Calibri"/>
            </a:endParaRPr>
          </a:p>
        </p:txBody>
      </p:sp>
      <p:sp>
        <p:nvSpPr>
          <p:cNvPr id="5" name="Straight Connector 4">
            <a:extLst>
              <a:ext uri="{FF2B5EF4-FFF2-40B4-BE49-F238E27FC236}">
                <a16:creationId xmlns:a16="http://schemas.microsoft.com/office/drawing/2014/main" id="{BE03D57C-9CB2-4DC5-9F4A-3C268E1D5812}"/>
              </a:ext>
            </a:extLst>
          </p:cNvPr>
          <p:cNvSpPr>
            <a:spLocks noGrp="1"/>
          </p:cNvSpPr>
          <p:nvPr/>
        </p:nvSpPr>
        <p:spPr>
          <a:xfrm>
            <a:off x="609600" y="6381750"/>
            <a:ext cx="10972800" cy="0"/>
          </a:xfrm>
          <a:prstGeom prst="line">
            <a:avLst/>
          </a:prstGeom>
          <a:noFill/>
          <a:ln w="9525">
            <a:solidFill>
              <a:srgbClr val="DCE5DE"/>
            </a:solidFill>
          </a:ln>
        </p:spPr>
      </p:sp>
      <p:sp>
        <p:nvSpPr>
          <p:cNvPr id="6" name="text-90">
            <a:extLst>
              <a:ext uri="{FF2B5EF4-FFF2-40B4-BE49-F238E27FC236}">
                <a16:creationId xmlns:a16="http://schemas.microsoft.com/office/drawing/2014/main" id="{E7BEEAF4-658E-41C1-AF93-47C26D47C049}"/>
              </a:ext>
            </a:extLst>
          </p:cNvPr>
          <p:cNvSpPr>
            <a:spLocks noGrp="1"/>
          </p:cNvSpPr>
          <p:nvPr/>
        </p:nvSpPr>
        <p:spPr>
          <a:xfrm>
            <a:off x="609600" y="6505575"/>
            <a:ext cx="10191750" cy="209550"/>
          </a:xfrm>
          <a:prstGeom prst="rect">
            <a:avLst/>
          </a:prstGeom>
          <a:noFill/>
          <a:ln w="0">
            <a:noFill/>
          </a:ln>
        </p:spPr>
        <p:txBody>
          <a:bodyPr wrap="square" lIns="0" tIns="0" rIns="0" bIns="0" anchor="t">
            <a:noAutofit/>
          </a:bodyPr>
          <a:lstStyle/>
          <a:p>
            <a:pPr>
              <a:defRPr sz="825" b="0">
                <a:solidFill>
                  <a:srgbClr val="66746B"/>
                </a:solidFill>
                <a:latin typeface="Calibri"/>
                <a:ea typeface="Calibri"/>
                <a:cs typeface="Calibri"/>
              </a:defRPr>
            </a:pPr>
            <a:r>
              <a:rPr sz="825" b="0">
                <a:solidFill>
                  <a:srgbClr val="66746B"/>
                </a:solidFill>
                <a:latin typeface="Calibri"/>
                <a:ea typeface="Calibri"/>
                <a:cs typeface="Calibri"/>
              </a:rPr>
              <a:t>Rencana internal CMC. Speaker, tanggal dan harga pilot menunggu konfirmasi.</a:t>
            </a:r>
          </a:p>
        </p:txBody>
      </p:sp>
      <p:sp>
        <p:nvSpPr>
          <p:cNvPr id="7" name="text-91">
            <a:extLst>
              <a:ext uri="{FF2B5EF4-FFF2-40B4-BE49-F238E27FC236}">
                <a16:creationId xmlns:a16="http://schemas.microsoft.com/office/drawing/2014/main" id="{F3BAD25A-DE5A-49EE-B730-DD3D1CE588B9}"/>
              </a:ext>
            </a:extLst>
          </p:cNvPr>
          <p:cNvSpPr>
            <a:spLocks noGrp="1"/>
          </p:cNvSpPr>
          <p:nvPr/>
        </p:nvSpPr>
        <p:spPr>
          <a:xfrm>
            <a:off x="11125200" y="6486525"/>
            <a:ext cx="438150" cy="228600"/>
          </a:xfrm>
          <a:prstGeom prst="rect">
            <a:avLst/>
          </a:prstGeom>
          <a:noFill/>
          <a:ln w="0">
            <a:noFill/>
          </a:ln>
        </p:spPr>
        <p:txBody>
          <a:bodyPr wrap="square" lIns="0" tIns="0" rIns="0" bIns="0" anchor="t">
            <a:noAutofit/>
          </a:bodyPr>
          <a:lstStyle/>
          <a:p>
            <a:pPr>
              <a:defRPr sz="1050" b="1">
                <a:solidFill>
                  <a:srgbClr val="123F32"/>
                </a:solidFill>
                <a:latin typeface="Calibri"/>
                <a:ea typeface="Calibri"/>
                <a:cs typeface="Calibri"/>
              </a:defRPr>
            </a:pPr>
            <a:r>
              <a:rPr sz="1050" b="1">
                <a:solidFill>
                  <a:srgbClr val="123F32"/>
                </a:solidFill>
                <a:latin typeface="Calibri"/>
                <a:ea typeface="Calibri"/>
                <a:cs typeface="Calibri"/>
              </a:rPr>
              <a:t>05</a:t>
            </a:r>
          </a:p>
        </p:txBody>
      </p:sp>
      <p:sp>
        <p:nvSpPr>
          <p:cNvPr id="8" name="text-92">
            <a:extLst>
              <a:ext uri="{FF2B5EF4-FFF2-40B4-BE49-F238E27FC236}">
                <a16:creationId xmlns:a16="http://schemas.microsoft.com/office/drawing/2014/main" id="{29028E89-EFD4-4F77-9AED-0CF94D79146B}"/>
              </a:ext>
            </a:extLst>
          </p:cNvPr>
          <p:cNvSpPr>
            <a:spLocks noGrp="1"/>
          </p:cNvSpPr>
          <p:nvPr/>
        </p:nvSpPr>
        <p:spPr>
          <a:xfrm>
            <a:off x="609600" y="2437459"/>
            <a:ext cx="2524125" cy="333375"/>
          </a:xfrm>
          <a:prstGeom prst="rect">
            <a:avLst/>
          </a:prstGeom>
          <a:noFill/>
          <a:ln w="0">
            <a:noFill/>
          </a:ln>
        </p:spPr>
        <p:txBody>
          <a:bodyPr wrap="square" lIns="0" tIns="0" rIns="0" bIns="0" anchor="t">
            <a:noAutofit/>
          </a:bodyPr>
          <a:lstStyle/>
          <a:p>
            <a:pPr>
              <a:defRPr sz="1800" b="1">
                <a:solidFill>
                  <a:srgbClr val="6F9182"/>
                </a:solidFill>
                <a:latin typeface="Calibri"/>
                <a:ea typeface="Calibri"/>
                <a:cs typeface="Calibri"/>
              </a:defRPr>
            </a:pPr>
            <a:r>
              <a:rPr sz="1800" b="1">
                <a:solidFill>
                  <a:srgbClr val="6F9182"/>
                </a:solidFill>
                <a:latin typeface="Calibri"/>
                <a:ea typeface="Calibri"/>
                <a:cs typeface="Calibri"/>
              </a:rPr>
              <a:t>Sebelum kelas</a:t>
            </a:r>
          </a:p>
        </p:txBody>
      </p:sp>
      <p:sp>
        <p:nvSpPr>
          <p:cNvPr id="9" name="text-93">
            <a:extLst>
              <a:ext uri="{FF2B5EF4-FFF2-40B4-BE49-F238E27FC236}">
                <a16:creationId xmlns:a16="http://schemas.microsoft.com/office/drawing/2014/main" id="{C636605F-EF28-4E93-BCB8-77087EE7655A}"/>
              </a:ext>
            </a:extLst>
          </p:cNvPr>
          <p:cNvSpPr>
            <a:spLocks noGrp="1"/>
          </p:cNvSpPr>
          <p:nvPr/>
        </p:nvSpPr>
        <p:spPr>
          <a:xfrm>
            <a:off x="3486150" y="2437459"/>
            <a:ext cx="7934325" cy="342900"/>
          </a:xfrm>
          <a:prstGeom prst="rect">
            <a:avLst/>
          </a:prstGeom>
          <a:noFill/>
          <a:ln w="0">
            <a:noFill/>
          </a:ln>
        </p:spPr>
        <p:txBody>
          <a:bodyPr wrap="square" lIns="0" tIns="0" rIns="0" bIns="0" anchor="t">
            <a:noAutofit/>
          </a:bodyPr>
          <a:lstStyle/>
          <a:p>
            <a:pPr>
              <a:defRPr sz="2175" b="1">
                <a:solidFill>
                  <a:srgbClr val="123F32"/>
                </a:solidFill>
                <a:latin typeface="Calibri"/>
                <a:ea typeface="Calibri"/>
                <a:cs typeface="Calibri"/>
              </a:defRPr>
            </a:pPr>
            <a:r>
              <a:rPr sz="2175" b="1">
                <a:solidFill>
                  <a:srgbClr val="123F32"/>
                </a:solidFill>
                <a:latin typeface="Calibri"/>
                <a:ea typeface="Calibri"/>
                <a:cs typeface="Calibri"/>
              </a:rPr>
              <a:t>Google Forms + Sheets</a:t>
            </a:r>
          </a:p>
        </p:txBody>
      </p:sp>
      <p:sp>
        <p:nvSpPr>
          <p:cNvPr id="10" name="text-94">
            <a:extLst>
              <a:ext uri="{FF2B5EF4-FFF2-40B4-BE49-F238E27FC236}">
                <a16:creationId xmlns:a16="http://schemas.microsoft.com/office/drawing/2014/main" id="{2B566553-67E3-481B-871F-22B91F30F850}"/>
              </a:ext>
            </a:extLst>
          </p:cNvPr>
          <p:cNvSpPr>
            <a:spLocks noGrp="1"/>
          </p:cNvSpPr>
          <p:nvPr/>
        </p:nvSpPr>
        <p:spPr>
          <a:xfrm>
            <a:off x="3486150" y="2837509"/>
            <a:ext cx="7934325" cy="371475"/>
          </a:xfrm>
          <a:prstGeom prst="rect">
            <a:avLst/>
          </a:prstGeom>
          <a:noFill/>
          <a:ln w="0">
            <a:noFill/>
          </a:ln>
        </p:spPr>
        <p:txBody>
          <a:bodyPr wrap="square" lIns="0" tIns="0" rIns="0" bIns="0" anchor="t">
            <a:noAutofit/>
          </a:bodyPr>
          <a:lstStyle/>
          <a:p>
            <a:pPr>
              <a:defRPr sz="1725" b="0">
                <a:solidFill>
                  <a:srgbClr val="66746B"/>
                </a:solidFill>
                <a:latin typeface="Calibri"/>
                <a:ea typeface="Calibri"/>
                <a:cs typeface="Calibri"/>
              </a:defRPr>
            </a:pPr>
            <a:r>
              <a:rPr sz="1725" b="0">
                <a:solidFill>
                  <a:srgbClr val="66746B"/>
                </a:solidFill>
                <a:latin typeface="Calibri"/>
                <a:ea typeface="Calibri"/>
                <a:cs typeface="Calibri"/>
              </a:rPr>
              <a:t>Pertanyaan, profil usaha, dan shortlist case</a:t>
            </a:r>
          </a:p>
        </p:txBody>
      </p:sp>
      <p:sp>
        <p:nvSpPr>
          <p:cNvPr id="11" name="Straight Connector 10">
            <a:extLst>
              <a:ext uri="{FF2B5EF4-FFF2-40B4-BE49-F238E27FC236}">
                <a16:creationId xmlns:a16="http://schemas.microsoft.com/office/drawing/2014/main" id="{6BF2DD2A-826E-4FF8-AC1D-8ACE7581E6E7}"/>
              </a:ext>
            </a:extLst>
          </p:cNvPr>
          <p:cNvSpPr>
            <a:spLocks noGrp="1"/>
          </p:cNvSpPr>
          <p:nvPr/>
        </p:nvSpPr>
        <p:spPr>
          <a:xfrm>
            <a:off x="609600" y="3228034"/>
            <a:ext cx="10972800" cy="0"/>
          </a:xfrm>
          <a:prstGeom prst="line">
            <a:avLst/>
          </a:prstGeom>
          <a:noFill/>
          <a:ln w="9525">
            <a:solidFill>
              <a:srgbClr val="DCE5DE"/>
            </a:solidFill>
          </a:ln>
        </p:spPr>
      </p:sp>
      <p:sp>
        <p:nvSpPr>
          <p:cNvPr id="12" name="text-95">
            <a:extLst>
              <a:ext uri="{FF2B5EF4-FFF2-40B4-BE49-F238E27FC236}">
                <a16:creationId xmlns:a16="http://schemas.microsoft.com/office/drawing/2014/main" id="{76EFCD7C-D3E4-4C1C-B3C8-E73DEF8415EA}"/>
              </a:ext>
            </a:extLst>
          </p:cNvPr>
          <p:cNvSpPr>
            <a:spLocks noGrp="1"/>
          </p:cNvSpPr>
          <p:nvPr/>
        </p:nvSpPr>
        <p:spPr>
          <a:xfrm>
            <a:off x="609600" y="3342334"/>
            <a:ext cx="2524125" cy="333375"/>
          </a:xfrm>
          <a:prstGeom prst="rect">
            <a:avLst/>
          </a:prstGeom>
          <a:noFill/>
          <a:ln w="0">
            <a:noFill/>
          </a:ln>
        </p:spPr>
        <p:txBody>
          <a:bodyPr wrap="square" lIns="0" tIns="0" rIns="0" bIns="0" anchor="t">
            <a:noAutofit/>
          </a:bodyPr>
          <a:lstStyle/>
          <a:p>
            <a:pPr>
              <a:defRPr sz="1800" b="1">
                <a:solidFill>
                  <a:srgbClr val="6F9182"/>
                </a:solidFill>
                <a:latin typeface="Calibri"/>
                <a:ea typeface="Calibri"/>
                <a:cs typeface="Calibri"/>
              </a:defRPr>
            </a:pPr>
            <a:r>
              <a:rPr sz="1800" b="1">
                <a:solidFill>
                  <a:srgbClr val="6F9182"/>
                </a:solidFill>
                <a:latin typeface="Calibri"/>
                <a:ea typeface="Calibri"/>
                <a:cs typeface="Calibri"/>
              </a:rPr>
              <a:t>Saat kelas</a:t>
            </a:r>
          </a:p>
        </p:txBody>
      </p:sp>
      <p:sp>
        <p:nvSpPr>
          <p:cNvPr id="13" name="text-96">
            <a:extLst>
              <a:ext uri="{FF2B5EF4-FFF2-40B4-BE49-F238E27FC236}">
                <a16:creationId xmlns:a16="http://schemas.microsoft.com/office/drawing/2014/main" id="{B6280244-CE46-40E6-825C-9FBD4C627282}"/>
              </a:ext>
            </a:extLst>
          </p:cNvPr>
          <p:cNvSpPr>
            <a:spLocks noGrp="1"/>
          </p:cNvSpPr>
          <p:nvPr/>
        </p:nvSpPr>
        <p:spPr>
          <a:xfrm>
            <a:off x="3486150" y="3342334"/>
            <a:ext cx="7934325" cy="342900"/>
          </a:xfrm>
          <a:prstGeom prst="rect">
            <a:avLst/>
          </a:prstGeom>
          <a:noFill/>
          <a:ln w="0">
            <a:noFill/>
          </a:ln>
        </p:spPr>
        <p:txBody>
          <a:bodyPr wrap="square" lIns="0" tIns="0" rIns="0" bIns="0" anchor="t">
            <a:noAutofit/>
          </a:bodyPr>
          <a:lstStyle/>
          <a:p>
            <a:pPr>
              <a:defRPr sz="2175" b="1">
                <a:solidFill>
                  <a:srgbClr val="123F32"/>
                </a:solidFill>
                <a:latin typeface="Calibri"/>
                <a:ea typeface="Calibri"/>
                <a:cs typeface="Calibri"/>
              </a:defRPr>
            </a:pPr>
            <a:r>
              <a:rPr sz="2175" b="1">
                <a:solidFill>
                  <a:srgbClr val="123F32"/>
                </a:solidFill>
                <a:latin typeface="Calibri"/>
                <a:ea typeface="Calibri"/>
                <a:cs typeface="Calibri"/>
              </a:rPr>
              <a:t>Zoom kapasitas 1.000</a:t>
            </a:r>
          </a:p>
        </p:txBody>
      </p:sp>
      <p:sp>
        <p:nvSpPr>
          <p:cNvPr id="14" name="text-97">
            <a:extLst>
              <a:ext uri="{FF2B5EF4-FFF2-40B4-BE49-F238E27FC236}">
                <a16:creationId xmlns:a16="http://schemas.microsoft.com/office/drawing/2014/main" id="{260F5694-083C-4694-90D8-F567AF87D00F}"/>
              </a:ext>
            </a:extLst>
          </p:cNvPr>
          <p:cNvSpPr>
            <a:spLocks noGrp="1"/>
          </p:cNvSpPr>
          <p:nvPr/>
        </p:nvSpPr>
        <p:spPr>
          <a:xfrm>
            <a:off x="3486150" y="3742384"/>
            <a:ext cx="7934325" cy="371475"/>
          </a:xfrm>
          <a:prstGeom prst="rect">
            <a:avLst/>
          </a:prstGeom>
          <a:noFill/>
          <a:ln w="0">
            <a:noFill/>
          </a:ln>
        </p:spPr>
        <p:txBody>
          <a:bodyPr wrap="square" lIns="0" tIns="0" rIns="0" bIns="0" anchor="t">
            <a:noAutofit/>
          </a:bodyPr>
          <a:lstStyle/>
          <a:p>
            <a:pPr>
              <a:defRPr sz="1725" b="0">
                <a:solidFill>
                  <a:srgbClr val="66746B"/>
                </a:solidFill>
                <a:latin typeface="Calibri"/>
                <a:ea typeface="Calibri"/>
                <a:cs typeface="Calibri"/>
              </a:defRPr>
            </a:pPr>
            <a:r>
              <a:rPr sz="1725" b="0">
                <a:solidFill>
                  <a:srgbClr val="66746B"/>
                </a:solidFill>
                <a:latin typeface="Calibri"/>
                <a:ea typeface="Calibri"/>
                <a:cs typeface="Calibri"/>
              </a:rPr>
              <a:t>Host + operator, mic/chat, rekaman berizin</a:t>
            </a:r>
          </a:p>
        </p:txBody>
      </p:sp>
      <p:sp>
        <p:nvSpPr>
          <p:cNvPr id="15" name="Straight Connector 14">
            <a:extLst>
              <a:ext uri="{FF2B5EF4-FFF2-40B4-BE49-F238E27FC236}">
                <a16:creationId xmlns:a16="http://schemas.microsoft.com/office/drawing/2014/main" id="{2B32816F-D3F6-409A-BFDD-E169ACE0A422}"/>
              </a:ext>
            </a:extLst>
          </p:cNvPr>
          <p:cNvSpPr>
            <a:spLocks noGrp="1"/>
          </p:cNvSpPr>
          <p:nvPr/>
        </p:nvSpPr>
        <p:spPr>
          <a:xfrm>
            <a:off x="609600" y="4132909"/>
            <a:ext cx="10972800" cy="0"/>
          </a:xfrm>
          <a:prstGeom prst="line">
            <a:avLst/>
          </a:prstGeom>
          <a:noFill/>
          <a:ln w="9525">
            <a:solidFill>
              <a:srgbClr val="DCE5DE"/>
            </a:solidFill>
          </a:ln>
        </p:spPr>
      </p:sp>
      <p:sp>
        <p:nvSpPr>
          <p:cNvPr id="16" name="text-98">
            <a:extLst>
              <a:ext uri="{FF2B5EF4-FFF2-40B4-BE49-F238E27FC236}">
                <a16:creationId xmlns:a16="http://schemas.microsoft.com/office/drawing/2014/main" id="{215F6ECB-063E-4C5A-916C-EE4EF1499AA2}"/>
              </a:ext>
            </a:extLst>
          </p:cNvPr>
          <p:cNvSpPr>
            <a:spLocks noGrp="1"/>
          </p:cNvSpPr>
          <p:nvPr/>
        </p:nvSpPr>
        <p:spPr>
          <a:xfrm>
            <a:off x="609600" y="4247209"/>
            <a:ext cx="2524125" cy="333375"/>
          </a:xfrm>
          <a:prstGeom prst="rect">
            <a:avLst/>
          </a:prstGeom>
          <a:noFill/>
          <a:ln w="0">
            <a:noFill/>
          </a:ln>
        </p:spPr>
        <p:txBody>
          <a:bodyPr wrap="square" lIns="0" tIns="0" rIns="0" bIns="0" anchor="t">
            <a:noAutofit/>
          </a:bodyPr>
          <a:lstStyle/>
          <a:p>
            <a:pPr>
              <a:defRPr sz="1800" b="1">
                <a:solidFill>
                  <a:srgbClr val="6F9182"/>
                </a:solidFill>
                <a:latin typeface="Calibri"/>
                <a:ea typeface="Calibri"/>
                <a:cs typeface="Calibri"/>
              </a:defRPr>
            </a:pPr>
            <a:r>
              <a:rPr sz="1800" b="1">
                <a:solidFill>
                  <a:srgbClr val="6F9182"/>
                </a:solidFill>
                <a:latin typeface="Calibri"/>
                <a:ea typeface="Calibri"/>
                <a:cs typeface="Calibri"/>
              </a:rPr>
              <a:t>Setelah kelas</a:t>
            </a:r>
          </a:p>
        </p:txBody>
      </p:sp>
      <p:sp>
        <p:nvSpPr>
          <p:cNvPr id="17" name="text-99">
            <a:extLst>
              <a:ext uri="{FF2B5EF4-FFF2-40B4-BE49-F238E27FC236}">
                <a16:creationId xmlns:a16="http://schemas.microsoft.com/office/drawing/2014/main" id="{82E6282F-53F9-4177-B1D6-BD5C5933AB69}"/>
              </a:ext>
            </a:extLst>
          </p:cNvPr>
          <p:cNvSpPr>
            <a:spLocks noGrp="1"/>
          </p:cNvSpPr>
          <p:nvPr/>
        </p:nvSpPr>
        <p:spPr>
          <a:xfrm>
            <a:off x="3486150" y="4247209"/>
            <a:ext cx="7934325" cy="342900"/>
          </a:xfrm>
          <a:prstGeom prst="rect">
            <a:avLst/>
          </a:prstGeom>
          <a:noFill/>
          <a:ln w="0">
            <a:noFill/>
          </a:ln>
        </p:spPr>
        <p:txBody>
          <a:bodyPr wrap="square" lIns="0" tIns="0" rIns="0" bIns="0" anchor="t">
            <a:noAutofit/>
          </a:bodyPr>
          <a:lstStyle/>
          <a:p>
            <a:pPr>
              <a:defRPr sz="2175" b="1">
                <a:solidFill>
                  <a:srgbClr val="123F32"/>
                </a:solidFill>
                <a:latin typeface="Calibri"/>
                <a:ea typeface="Calibri"/>
                <a:cs typeface="Calibri"/>
              </a:defRPr>
            </a:pPr>
            <a:r>
              <a:rPr sz="2175" b="1">
                <a:solidFill>
                  <a:srgbClr val="123F32"/>
                </a:solidFill>
                <a:latin typeface="Calibri"/>
                <a:ea typeface="Calibri"/>
                <a:cs typeface="Calibri"/>
              </a:rPr>
              <a:t>LMS / Drive + kanal CMC</a:t>
            </a:r>
          </a:p>
        </p:txBody>
      </p:sp>
      <p:sp>
        <p:nvSpPr>
          <p:cNvPr id="18" name="text-100">
            <a:extLst>
              <a:ext uri="{FF2B5EF4-FFF2-40B4-BE49-F238E27FC236}">
                <a16:creationId xmlns:a16="http://schemas.microsoft.com/office/drawing/2014/main" id="{D6E7163E-BFE3-4ED9-9A5E-A354312E4206}"/>
              </a:ext>
            </a:extLst>
          </p:cNvPr>
          <p:cNvSpPr>
            <a:spLocks noGrp="1"/>
          </p:cNvSpPr>
          <p:nvPr/>
        </p:nvSpPr>
        <p:spPr>
          <a:xfrm>
            <a:off x="3486150" y="4647259"/>
            <a:ext cx="7934325" cy="371475"/>
          </a:xfrm>
          <a:prstGeom prst="rect">
            <a:avLst/>
          </a:prstGeom>
          <a:noFill/>
          <a:ln w="0">
            <a:noFill/>
          </a:ln>
        </p:spPr>
        <p:txBody>
          <a:bodyPr wrap="square" lIns="0" tIns="0" rIns="0" bIns="0" anchor="t">
            <a:noAutofit/>
          </a:bodyPr>
          <a:lstStyle/>
          <a:p>
            <a:pPr>
              <a:defRPr sz="1725" b="0">
                <a:solidFill>
                  <a:srgbClr val="66746B"/>
                </a:solidFill>
                <a:latin typeface="Calibri"/>
                <a:ea typeface="Calibri"/>
                <a:cs typeface="Calibri"/>
              </a:defRPr>
            </a:pPr>
            <a:r>
              <a:rPr sz="1725" b="0">
                <a:solidFill>
                  <a:srgbClr val="66746B"/>
                </a:solidFill>
                <a:latin typeface="Calibri"/>
                <a:ea typeface="Calibri"/>
                <a:cs typeface="Calibri"/>
              </a:rPr>
              <a:t>Rekaman, rangkuman dan feedback peserta</a:t>
            </a:r>
          </a:p>
        </p:txBody>
      </p:sp>
      <p:sp>
        <p:nvSpPr>
          <p:cNvPr id="19" name="Straight Connector 18">
            <a:extLst>
              <a:ext uri="{FF2B5EF4-FFF2-40B4-BE49-F238E27FC236}">
                <a16:creationId xmlns:a16="http://schemas.microsoft.com/office/drawing/2014/main" id="{78C5397E-1C45-45BA-AD83-368133591691}"/>
              </a:ext>
            </a:extLst>
          </p:cNvPr>
          <p:cNvSpPr>
            <a:spLocks noGrp="1"/>
          </p:cNvSpPr>
          <p:nvPr/>
        </p:nvSpPr>
        <p:spPr>
          <a:xfrm>
            <a:off x="609600" y="5037784"/>
            <a:ext cx="10972800" cy="0"/>
          </a:xfrm>
          <a:prstGeom prst="line">
            <a:avLst/>
          </a:prstGeom>
          <a:noFill/>
          <a:ln w="9525">
            <a:solidFill>
              <a:srgbClr val="DCE5DE"/>
            </a:solidFill>
          </a:ln>
        </p:spPr>
      </p:sp>
      <p:sp>
        <p:nvSpPr>
          <p:cNvPr id="20" name="text-101">
            <a:extLst>
              <a:ext uri="{FF2B5EF4-FFF2-40B4-BE49-F238E27FC236}">
                <a16:creationId xmlns:a16="http://schemas.microsoft.com/office/drawing/2014/main" id="{0AE18875-26B9-413E-B1F1-75A6A6F20F49}"/>
              </a:ext>
            </a:extLst>
          </p:cNvPr>
          <p:cNvSpPr>
            <a:spLocks noGrp="1"/>
          </p:cNvSpPr>
          <p:nvPr/>
        </p:nvSpPr>
        <p:spPr>
          <a:xfrm>
            <a:off x="609600" y="5333059"/>
            <a:ext cx="2571750" cy="314325"/>
          </a:xfrm>
          <a:prstGeom prst="rect">
            <a:avLst/>
          </a:prstGeom>
          <a:noFill/>
          <a:ln w="0">
            <a:noFill/>
          </a:ln>
        </p:spPr>
        <p:txBody>
          <a:bodyPr wrap="square" lIns="0" tIns="0" rIns="0" bIns="0" anchor="t">
            <a:noAutofit/>
          </a:bodyPr>
          <a:lstStyle/>
          <a:p>
            <a:pPr>
              <a:defRPr sz="1725" b="1">
                <a:solidFill>
                  <a:srgbClr val="123F32"/>
                </a:solidFill>
                <a:latin typeface="Calibri"/>
                <a:ea typeface="Calibri"/>
                <a:cs typeface="Calibri"/>
              </a:defRPr>
            </a:pPr>
            <a:r>
              <a:rPr sz="1725" b="1">
                <a:solidFill>
                  <a:srgbClr val="123F32"/>
                </a:solidFill>
                <a:latin typeface="Calibri"/>
                <a:ea typeface="Calibri"/>
                <a:cs typeface="Calibri"/>
              </a:rPr>
              <a:t>Kebutuhan tim</a:t>
            </a:r>
          </a:p>
        </p:txBody>
      </p:sp>
      <p:sp>
        <p:nvSpPr>
          <p:cNvPr id="21" name="text-102">
            <a:extLst>
              <a:ext uri="{FF2B5EF4-FFF2-40B4-BE49-F238E27FC236}">
                <a16:creationId xmlns:a16="http://schemas.microsoft.com/office/drawing/2014/main" id="{02A6D260-D864-4F43-B644-A84DE0C2A934}"/>
              </a:ext>
            </a:extLst>
          </p:cNvPr>
          <p:cNvSpPr>
            <a:spLocks noGrp="1"/>
          </p:cNvSpPr>
          <p:nvPr/>
        </p:nvSpPr>
        <p:spPr>
          <a:xfrm>
            <a:off x="3486150" y="5304484"/>
            <a:ext cx="8010525" cy="581025"/>
          </a:xfrm>
          <a:prstGeom prst="rect">
            <a:avLst/>
          </a:prstGeom>
          <a:noFill/>
          <a:ln w="0">
            <a:noFill/>
          </a:ln>
        </p:spPr>
        <p:txBody>
          <a:bodyPr wrap="square" lIns="0" tIns="0" rIns="0" bIns="0" anchor="t">
            <a:noAutofit/>
          </a:bodyPr>
          <a:lstStyle/>
          <a:p>
            <a:pPr>
              <a:defRPr sz="1650" b="0">
                <a:solidFill>
                  <a:srgbClr val="293D34"/>
                </a:solidFill>
                <a:latin typeface="Calibri"/>
                <a:ea typeface="Calibri"/>
                <a:cs typeface="Calibri"/>
              </a:defRPr>
            </a:pPr>
            <a:r>
              <a:rPr sz="1650" b="0">
                <a:solidFill>
                  <a:srgbClr val="293D34"/>
                </a:solidFill>
                <a:latin typeface="Calibri"/>
                <a:ea typeface="Calibri"/>
                <a:cs typeface="Calibri"/>
              </a:rPr>
              <a:t>Host, operator, kurator/admin; laptop, headset, koneksi utama dan cadangan.</a:t>
            </a:r>
          </a:p>
        </p:txBody>
      </p:sp>
    </p:spTree>
    <p:extLst>
      <p:ext uri="{BB962C8B-B14F-4D97-AF65-F5344CB8AC3E}">
        <p14:creationId xmlns:p14="http://schemas.microsoft.com/office/powerpoint/2010/main" val="611137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p:blipFill>
        <p:spPr>
          <a:xfrm>
            <a:off x="8340498" y="161925"/>
            <a:ext cx="3235779" cy="828675"/>
          </a:xfrm>
          <a:prstGeom prst="rect">
            <a:avLst/>
          </a:prstGeom>
        </p:spPr>
      </p:pic>
      <p:sp>
        <p:nvSpPr>
          <p:cNvPr id="2" name="text-103">
            <a:extLst>
              <a:ext uri="{FF2B5EF4-FFF2-40B4-BE49-F238E27FC236}">
                <a16:creationId xmlns:a16="http://schemas.microsoft.com/office/drawing/2014/main" id="{644336C1-DD4C-4F89-A844-C0DF4BA19F07}"/>
              </a:ext>
            </a:extLst>
          </p:cNvPr>
          <p:cNvSpPr>
            <a:spLocks noGrp="1"/>
          </p:cNvSpPr>
          <p:nvPr/>
        </p:nvSpPr>
        <p:spPr>
          <a:xfrm>
            <a:off x="609600" y="409575"/>
            <a:ext cx="7096125" cy="209550"/>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01 / PILIHAN ZOOM</a:t>
            </a:r>
          </a:p>
        </p:txBody>
      </p:sp>
      <p:sp>
        <p:nvSpPr>
          <p:cNvPr id="3" name="text-104">
            <a:extLst>
              <a:ext uri="{FF2B5EF4-FFF2-40B4-BE49-F238E27FC236}">
                <a16:creationId xmlns:a16="http://schemas.microsoft.com/office/drawing/2014/main" id="{9A3BC67B-DCE6-4CFC-9362-74C0CEC72C33}"/>
              </a:ext>
            </a:extLst>
          </p:cNvPr>
          <p:cNvSpPr>
            <a:spLocks noGrp="1"/>
          </p:cNvSpPr>
          <p:nvPr/>
        </p:nvSpPr>
        <p:spPr>
          <a:xfrm>
            <a:off x="609600" y="1143000"/>
            <a:ext cx="10858500" cy="876300"/>
          </a:xfrm>
          <a:prstGeom prst="rect">
            <a:avLst/>
          </a:prstGeom>
          <a:noFill/>
          <a:ln w="0">
            <a:noFill/>
          </a:ln>
        </p:spPr>
        <p:txBody>
          <a:bodyPr wrap="square" lIns="0" tIns="0" rIns="0" bIns="0" anchor="t">
            <a:noAutofit/>
          </a:bodyPr>
          <a:lstStyle/>
          <a:p>
            <a:pPr>
              <a:defRPr sz="2850" b="1">
                <a:solidFill>
                  <a:srgbClr val="123F32"/>
                </a:solidFill>
                <a:latin typeface="Calibri"/>
                <a:ea typeface="Calibri"/>
                <a:cs typeface="Calibri"/>
              </a:defRPr>
            </a:pPr>
            <a:r>
              <a:rPr lang="en-US" sz="2850" b="1" dirty="0" err="1">
                <a:solidFill>
                  <a:srgbClr val="123F32"/>
                </a:solidFill>
                <a:latin typeface="Calibri"/>
                <a:ea typeface="Calibri"/>
                <a:cs typeface="Calibri"/>
              </a:rPr>
              <a:t>Perbandingan</a:t>
            </a:r>
            <a:r>
              <a:rPr lang="en-US" sz="2850" b="1" dirty="0">
                <a:solidFill>
                  <a:srgbClr val="123F32"/>
                </a:solidFill>
                <a:latin typeface="Calibri"/>
                <a:ea typeface="Calibri"/>
                <a:cs typeface="Calibri"/>
              </a:rPr>
              <a:t> </a:t>
            </a:r>
            <a:r>
              <a:rPr lang="en-US" sz="2850" b="1" dirty="0" err="1">
                <a:solidFill>
                  <a:srgbClr val="123F32"/>
                </a:solidFill>
                <a:latin typeface="Calibri"/>
                <a:ea typeface="Calibri"/>
                <a:cs typeface="Calibri"/>
              </a:rPr>
              <a:t>antara</a:t>
            </a:r>
            <a:r>
              <a:rPr lang="en-US" sz="2850" b="1" dirty="0">
                <a:solidFill>
                  <a:srgbClr val="123F32"/>
                </a:solidFill>
                <a:latin typeface="Calibri"/>
                <a:ea typeface="Calibri"/>
                <a:cs typeface="Calibri"/>
              </a:rPr>
              <a:t> subscribe zoom pro &amp; </a:t>
            </a:r>
            <a:r>
              <a:rPr lang="en-US" sz="2850" b="1" dirty="0" err="1">
                <a:solidFill>
                  <a:srgbClr val="123F32"/>
                </a:solidFill>
                <a:latin typeface="Calibri"/>
                <a:ea typeface="Calibri"/>
                <a:cs typeface="Calibri"/>
              </a:rPr>
              <a:t>sewa</a:t>
            </a:r>
            <a:r>
              <a:rPr lang="en-US" sz="2850" b="1" dirty="0">
                <a:solidFill>
                  <a:srgbClr val="123F32"/>
                </a:solidFill>
                <a:latin typeface="Calibri"/>
                <a:ea typeface="Calibri"/>
                <a:cs typeface="Calibri"/>
              </a:rPr>
              <a:t> zoom </a:t>
            </a:r>
            <a:r>
              <a:rPr lang="en-US" sz="2850" b="1" dirty="0" err="1">
                <a:solidFill>
                  <a:srgbClr val="123F32"/>
                </a:solidFill>
                <a:latin typeface="Calibri"/>
                <a:ea typeface="Calibri"/>
                <a:cs typeface="Calibri"/>
              </a:rPr>
              <a:t>shopee</a:t>
            </a:r>
            <a:endParaRPr sz="2850" b="1" dirty="0">
              <a:solidFill>
                <a:srgbClr val="123F32"/>
              </a:solidFill>
              <a:latin typeface="Calibri"/>
              <a:ea typeface="Calibri"/>
              <a:cs typeface="Calibri"/>
            </a:endParaRPr>
          </a:p>
        </p:txBody>
      </p:sp>
      <p:sp>
        <p:nvSpPr>
          <p:cNvPr id="4" name="text-105">
            <a:extLst>
              <a:ext uri="{FF2B5EF4-FFF2-40B4-BE49-F238E27FC236}">
                <a16:creationId xmlns:a16="http://schemas.microsoft.com/office/drawing/2014/main" id="{17A7278C-1B79-4629-9746-79C80A06A7D5}"/>
              </a:ext>
            </a:extLst>
          </p:cNvPr>
          <p:cNvSpPr>
            <a:spLocks noGrp="1"/>
          </p:cNvSpPr>
          <p:nvPr/>
        </p:nvSpPr>
        <p:spPr>
          <a:xfrm>
            <a:off x="609600" y="1676399"/>
            <a:ext cx="10858500" cy="466725"/>
          </a:xfrm>
          <a:prstGeom prst="rect">
            <a:avLst/>
          </a:prstGeom>
          <a:noFill/>
          <a:ln w="0">
            <a:noFill/>
          </a:ln>
        </p:spPr>
        <p:txBody>
          <a:bodyPr wrap="square" lIns="0" tIns="0" rIns="0" bIns="0" anchor="t">
            <a:noAutofit/>
          </a:bodyPr>
          <a:lstStyle/>
          <a:p>
            <a:pPr>
              <a:defRPr sz="1500" b="0">
                <a:solidFill>
                  <a:srgbClr val="66746B"/>
                </a:solidFill>
                <a:latin typeface="Calibri"/>
                <a:ea typeface="Calibri"/>
                <a:cs typeface="Calibri"/>
              </a:defRPr>
            </a:pPr>
            <a:r>
              <a:rPr lang="en-US" sz="1500" b="0" dirty="0" err="1">
                <a:solidFill>
                  <a:srgbClr val="66746B"/>
                </a:solidFill>
                <a:latin typeface="Calibri"/>
                <a:ea typeface="Calibri"/>
                <a:cs typeface="Calibri"/>
              </a:rPr>
              <a:t>Perbedaan</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tidak</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signifikan</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hanya</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berbeda</a:t>
            </a:r>
            <a:r>
              <a:rPr lang="en-US" sz="1500" b="0" dirty="0">
                <a:solidFill>
                  <a:srgbClr val="66746B"/>
                </a:solidFill>
                <a:latin typeface="Calibri"/>
                <a:ea typeface="Calibri"/>
                <a:cs typeface="Calibri"/>
              </a:rPr>
              <a:t> Rp144,000 </a:t>
            </a:r>
            <a:r>
              <a:rPr lang="en-US" sz="1500" b="0" dirty="0" err="1">
                <a:solidFill>
                  <a:srgbClr val="66746B"/>
                </a:solidFill>
                <a:latin typeface="Calibri"/>
                <a:ea typeface="Calibri"/>
                <a:cs typeface="Calibri"/>
              </a:rPr>
              <a:t>antara</a:t>
            </a:r>
            <a:r>
              <a:rPr lang="en-US" sz="1500" b="0" dirty="0">
                <a:solidFill>
                  <a:srgbClr val="66746B"/>
                </a:solidFill>
                <a:latin typeface="Calibri"/>
                <a:ea typeface="Calibri"/>
                <a:cs typeface="Calibri"/>
              </a:rPr>
              <a:t> zoom pro dan </a:t>
            </a:r>
            <a:r>
              <a:rPr lang="en-US" sz="1500" b="0" dirty="0" err="1">
                <a:solidFill>
                  <a:srgbClr val="66746B"/>
                </a:solidFill>
                <a:latin typeface="Calibri"/>
                <a:ea typeface="Calibri"/>
                <a:cs typeface="Calibri"/>
              </a:rPr>
              <a:t>sewa</a:t>
            </a:r>
            <a:r>
              <a:rPr lang="en-US" sz="1500" b="0" dirty="0">
                <a:solidFill>
                  <a:srgbClr val="66746B"/>
                </a:solidFill>
                <a:latin typeface="Calibri"/>
                <a:ea typeface="Calibri"/>
                <a:cs typeface="Calibri"/>
              </a:rPr>
              <a:t> zoom </a:t>
            </a:r>
            <a:r>
              <a:rPr lang="en-US" sz="1500" b="0" dirty="0" err="1">
                <a:solidFill>
                  <a:srgbClr val="66746B"/>
                </a:solidFill>
                <a:latin typeface="Calibri"/>
                <a:ea typeface="Calibri"/>
                <a:cs typeface="Calibri"/>
              </a:rPr>
              <a:t>shopee</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jika</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dipadatkan</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hanya</a:t>
            </a:r>
            <a:r>
              <a:rPr lang="en-US" sz="1500" b="0" dirty="0">
                <a:solidFill>
                  <a:srgbClr val="66746B"/>
                </a:solidFill>
                <a:latin typeface="Calibri"/>
                <a:ea typeface="Calibri"/>
                <a:cs typeface="Calibri"/>
              </a:rPr>
              <a:t> 1 </a:t>
            </a:r>
            <a:r>
              <a:rPr lang="en-US" sz="1500" b="0" dirty="0" err="1">
                <a:solidFill>
                  <a:srgbClr val="66746B"/>
                </a:solidFill>
                <a:latin typeface="Calibri"/>
                <a:ea typeface="Calibri"/>
                <a:cs typeface="Calibri"/>
              </a:rPr>
              <a:t>bulan</a:t>
            </a:r>
            <a:endParaRPr sz="1500" b="0" dirty="0">
              <a:solidFill>
                <a:srgbClr val="66746B"/>
              </a:solidFill>
              <a:latin typeface="Calibri"/>
              <a:ea typeface="Calibri"/>
              <a:cs typeface="Calibri"/>
            </a:endParaRPr>
          </a:p>
        </p:txBody>
      </p:sp>
      <p:sp>
        <p:nvSpPr>
          <p:cNvPr id="5" name="Straight Connector 4">
            <a:extLst>
              <a:ext uri="{FF2B5EF4-FFF2-40B4-BE49-F238E27FC236}">
                <a16:creationId xmlns:a16="http://schemas.microsoft.com/office/drawing/2014/main" id="{B6FAE590-8777-4409-A9AC-669436593B8D}"/>
              </a:ext>
            </a:extLst>
          </p:cNvPr>
          <p:cNvSpPr>
            <a:spLocks noGrp="1"/>
          </p:cNvSpPr>
          <p:nvPr/>
        </p:nvSpPr>
        <p:spPr>
          <a:xfrm>
            <a:off x="609600" y="6381750"/>
            <a:ext cx="10972800" cy="0"/>
          </a:xfrm>
          <a:prstGeom prst="line">
            <a:avLst/>
          </a:prstGeom>
          <a:noFill/>
          <a:ln w="9525">
            <a:solidFill>
              <a:srgbClr val="DCE5DE"/>
            </a:solidFill>
          </a:ln>
        </p:spPr>
      </p:sp>
      <p:sp>
        <p:nvSpPr>
          <p:cNvPr id="6" name="text-106">
            <a:extLst>
              <a:ext uri="{FF2B5EF4-FFF2-40B4-BE49-F238E27FC236}">
                <a16:creationId xmlns:a16="http://schemas.microsoft.com/office/drawing/2014/main" id="{22C403AB-F353-4FC1-B89F-358A5B9DCDE0}"/>
              </a:ext>
            </a:extLst>
          </p:cNvPr>
          <p:cNvSpPr>
            <a:spLocks noGrp="1"/>
          </p:cNvSpPr>
          <p:nvPr/>
        </p:nvSpPr>
        <p:spPr>
          <a:xfrm>
            <a:off x="609600" y="6505575"/>
            <a:ext cx="10191750" cy="209550"/>
          </a:xfrm>
          <a:prstGeom prst="rect">
            <a:avLst/>
          </a:prstGeom>
          <a:noFill/>
          <a:ln w="0">
            <a:noFill/>
          </a:ln>
        </p:spPr>
        <p:txBody>
          <a:bodyPr wrap="square" lIns="0" tIns="0" rIns="0" bIns="0" anchor="t">
            <a:noAutofit/>
          </a:bodyPr>
          <a:lstStyle/>
          <a:p>
            <a:pPr>
              <a:defRPr sz="825" b="0">
                <a:solidFill>
                  <a:srgbClr val="66746B"/>
                </a:solidFill>
                <a:latin typeface="Calibri"/>
                <a:ea typeface="Calibri"/>
                <a:cs typeface="Calibri"/>
              </a:defRPr>
            </a:pPr>
            <a:r>
              <a:rPr sz="825" b="0">
                <a:solidFill>
                  <a:srgbClr val="66746B"/>
                </a:solidFill>
                <a:latin typeface="Calibri"/>
                <a:ea typeface="Calibri"/>
                <a:cs typeface="Calibri"/>
              </a:rPr>
              <a:t>Acuan subscribe dari checkout deck sebelumnya; perlu dicek lagi. Sewa Rp350 rb/sesi: asumsi pengguna. Belum pajak.</a:t>
            </a:r>
          </a:p>
        </p:txBody>
      </p:sp>
      <p:sp>
        <p:nvSpPr>
          <p:cNvPr id="7" name="text-107">
            <a:extLst>
              <a:ext uri="{FF2B5EF4-FFF2-40B4-BE49-F238E27FC236}">
                <a16:creationId xmlns:a16="http://schemas.microsoft.com/office/drawing/2014/main" id="{22A88D47-774B-4BA9-AFD6-51FAB45B0A37}"/>
              </a:ext>
            </a:extLst>
          </p:cNvPr>
          <p:cNvSpPr>
            <a:spLocks noGrp="1"/>
          </p:cNvSpPr>
          <p:nvPr/>
        </p:nvSpPr>
        <p:spPr>
          <a:xfrm>
            <a:off x="11125200" y="6486525"/>
            <a:ext cx="438150" cy="228600"/>
          </a:xfrm>
          <a:prstGeom prst="rect">
            <a:avLst/>
          </a:prstGeom>
          <a:noFill/>
          <a:ln w="0">
            <a:noFill/>
          </a:ln>
        </p:spPr>
        <p:txBody>
          <a:bodyPr wrap="square" lIns="0" tIns="0" rIns="0" bIns="0" anchor="t">
            <a:noAutofit/>
          </a:bodyPr>
          <a:lstStyle/>
          <a:p>
            <a:pPr>
              <a:defRPr sz="1050" b="1">
                <a:solidFill>
                  <a:srgbClr val="123F32"/>
                </a:solidFill>
                <a:latin typeface="Calibri"/>
                <a:ea typeface="Calibri"/>
                <a:cs typeface="Calibri"/>
              </a:defRPr>
            </a:pPr>
            <a:r>
              <a:rPr sz="1050" b="1">
                <a:solidFill>
                  <a:srgbClr val="123F32"/>
                </a:solidFill>
                <a:latin typeface="Calibri"/>
                <a:ea typeface="Calibri"/>
                <a:cs typeface="Calibri"/>
              </a:rPr>
              <a:t>06</a:t>
            </a:r>
          </a:p>
        </p:txBody>
      </p:sp>
      <p:graphicFrame>
        <p:nvGraphicFramePr>
          <p:cNvPr id="22" name="Chart"/>
          <p:cNvGraphicFramePr/>
          <p:nvPr/>
        </p:nvGraphicFramePr>
        <p:xfrm>
          <a:off x="523875" y="2676525"/>
          <a:ext cx="7524750" cy="2619375"/>
        </p:xfrm>
        <a:graphic>
          <a:graphicData uri="http://schemas.openxmlformats.org/drawingml/2006/chart">
            <c:chart xmlns:c="http://schemas.openxmlformats.org/drawingml/2006/chart" xmlns:r="http://schemas.openxmlformats.org/officeDocument/2006/relationships" r:id="rId4"/>
          </a:graphicData>
        </a:graphic>
      </p:graphicFrame>
      <p:sp>
        <p:nvSpPr>
          <p:cNvPr id="9" name="text-108">
            <a:extLst>
              <a:ext uri="{FF2B5EF4-FFF2-40B4-BE49-F238E27FC236}">
                <a16:creationId xmlns:a16="http://schemas.microsoft.com/office/drawing/2014/main" id="{9FF0BBD9-F71B-40FB-9B52-B85B0D4CE552}"/>
              </a:ext>
            </a:extLst>
          </p:cNvPr>
          <p:cNvSpPr>
            <a:spLocks noGrp="1"/>
          </p:cNvSpPr>
          <p:nvPr/>
        </p:nvSpPr>
        <p:spPr>
          <a:xfrm>
            <a:off x="8743950" y="2743200"/>
            <a:ext cx="2733675" cy="333375"/>
          </a:xfrm>
          <a:prstGeom prst="rect">
            <a:avLst/>
          </a:prstGeom>
          <a:noFill/>
          <a:ln w="0">
            <a:noFill/>
          </a:ln>
        </p:spPr>
        <p:txBody>
          <a:bodyPr wrap="square" lIns="0" tIns="0" rIns="0" bIns="0" anchor="t">
            <a:noAutofit/>
          </a:bodyPr>
          <a:lstStyle/>
          <a:p>
            <a:pPr>
              <a:defRPr sz="2100" b="1">
                <a:solidFill>
                  <a:srgbClr val="123F32"/>
                </a:solidFill>
                <a:latin typeface="Calibri"/>
                <a:ea typeface="Calibri"/>
                <a:cs typeface="Calibri"/>
              </a:defRPr>
            </a:pPr>
            <a:r>
              <a:rPr sz="2100" b="1">
                <a:solidFill>
                  <a:srgbClr val="123F32"/>
                </a:solidFill>
                <a:latin typeface="Calibri"/>
                <a:ea typeface="Calibri"/>
                <a:cs typeface="Calibri"/>
              </a:rPr>
              <a:t>Subscribe</a:t>
            </a:r>
          </a:p>
        </p:txBody>
      </p:sp>
      <p:sp>
        <p:nvSpPr>
          <p:cNvPr id="10" name="text-109">
            <a:extLst>
              <a:ext uri="{FF2B5EF4-FFF2-40B4-BE49-F238E27FC236}">
                <a16:creationId xmlns:a16="http://schemas.microsoft.com/office/drawing/2014/main" id="{5CB025A2-4F5C-4EE5-AA72-107EFD63896A}"/>
              </a:ext>
            </a:extLst>
          </p:cNvPr>
          <p:cNvSpPr>
            <a:spLocks noGrp="1"/>
          </p:cNvSpPr>
          <p:nvPr/>
        </p:nvSpPr>
        <p:spPr>
          <a:xfrm>
            <a:off x="8743950" y="3171825"/>
            <a:ext cx="2714625" cy="828675"/>
          </a:xfrm>
          <a:prstGeom prst="rect">
            <a:avLst/>
          </a:prstGeom>
          <a:noFill/>
          <a:ln w="0">
            <a:noFill/>
          </a:ln>
        </p:spPr>
        <p:txBody>
          <a:bodyPr wrap="square" lIns="0" tIns="0" rIns="0" bIns="0" anchor="t">
            <a:noAutofit/>
          </a:bodyPr>
          <a:lstStyle/>
          <a:p>
            <a:pPr>
              <a:defRPr sz="1725" b="0">
                <a:solidFill>
                  <a:srgbClr val="293D34"/>
                </a:solidFill>
                <a:latin typeface="Calibri"/>
                <a:ea typeface="Calibri"/>
                <a:cs typeface="Calibri"/>
              </a:defRPr>
            </a:pPr>
            <a:r>
              <a:rPr sz="1725" b="0" dirty="0">
                <a:solidFill>
                  <a:srgbClr val="293D34"/>
                </a:solidFill>
                <a:latin typeface="Calibri"/>
                <a:ea typeface="Calibri"/>
                <a:cs typeface="Calibri"/>
              </a:rPr>
              <a:t>CMC</a:t>
            </a:r>
            <a:r>
              <a:rPr lang="en-US" sz="1725" b="0" dirty="0">
                <a:solidFill>
                  <a:srgbClr val="293D34"/>
                </a:solidFill>
                <a:latin typeface="Calibri"/>
                <a:ea typeface="Calibri"/>
                <a:cs typeface="Calibri"/>
              </a:rPr>
              <a:t> </a:t>
            </a:r>
            <a:r>
              <a:rPr lang="en-US" sz="1725" b="0" dirty="0" err="1">
                <a:solidFill>
                  <a:srgbClr val="293D34"/>
                </a:solidFill>
                <a:latin typeface="Calibri"/>
                <a:ea typeface="Calibri"/>
                <a:cs typeface="Calibri"/>
              </a:rPr>
              <a:t>langsung</a:t>
            </a:r>
            <a:r>
              <a:rPr lang="en-US" sz="1725" b="0" dirty="0">
                <a:solidFill>
                  <a:srgbClr val="293D34"/>
                </a:solidFill>
                <a:latin typeface="Calibri"/>
                <a:ea typeface="Calibri"/>
                <a:cs typeface="Calibri"/>
              </a:rPr>
              <a:t> yang</a:t>
            </a:r>
            <a:r>
              <a:rPr sz="1725" b="0" dirty="0">
                <a:solidFill>
                  <a:srgbClr val="293D34"/>
                </a:solidFill>
                <a:latin typeface="Calibri"/>
                <a:ea typeface="Calibri"/>
                <a:cs typeface="Calibri"/>
              </a:rPr>
              <a:t> </a:t>
            </a:r>
            <a:r>
              <a:rPr sz="1725" b="0" dirty="0" err="1">
                <a:solidFill>
                  <a:srgbClr val="293D34"/>
                </a:solidFill>
                <a:latin typeface="Calibri"/>
                <a:ea typeface="Calibri"/>
                <a:cs typeface="Calibri"/>
              </a:rPr>
              <a:t>kelola</a:t>
            </a:r>
            <a:r>
              <a:rPr sz="1725" b="0" dirty="0">
                <a:solidFill>
                  <a:srgbClr val="293D34"/>
                </a:solidFill>
                <a:latin typeface="Calibri"/>
                <a:ea typeface="Calibri"/>
                <a:cs typeface="Calibri"/>
              </a:rPr>
              <a:t> host, recording dan </a:t>
            </a:r>
            <a:r>
              <a:rPr sz="1725" b="0" dirty="0" err="1">
                <a:solidFill>
                  <a:srgbClr val="293D34"/>
                </a:solidFill>
                <a:latin typeface="Calibri"/>
                <a:ea typeface="Calibri"/>
                <a:cs typeface="Calibri"/>
              </a:rPr>
              <a:t>peserta</a:t>
            </a:r>
            <a:r>
              <a:rPr sz="1725" b="0" dirty="0">
                <a:solidFill>
                  <a:srgbClr val="293D34"/>
                </a:solidFill>
                <a:latin typeface="Calibri"/>
                <a:ea typeface="Calibri"/>
                <a:cs typeface="Calibri"/>
              </a:rPr>
              <a:t>.</a:t>
            </a:r>
          </a:p>
        </p:txBody>
      </p:sp>
      <p:sp>
        <p:nvSpPr>
          <p:cNvPr id="11" name="text-110">
            <a:extLst>
              <a:ext uri="{FF2B5EF4-FFF2-40B4-BE49-F238E27FC236}">
                <a16:creationId xmlns:a16="http://schemas.microsoft.com/office/drawing/2014/main" id="{228988D5-A89D-49EE-B73D-04A297704C49}"/>
              </a:ext>
            </a:extLst>
          </p:cNvPr>
          <p:cNvSpPr>
            <a:spLocks noGrp="1"/>
          </p:cNvSpPr>
          <p:nvPr/>
        </p:nvSpPr>
        <p:spPr>
          <a:xfrm>
            <a:off x="8743950" y="4219575"/>
            <a:ext cx="2714625" cy="333375"/>
          </a:xfrm>
          <a:prstGeom prst="rect">
            <a:avLst/>
          </a:prstGeom>
          <a:noFill/>
          <a:ln w="0">
            <a:noFill/>
          </a:ln>
        </p:spPr>
        <p:txBody>
          <a:bodyPr wrap="square" lIns="0" tIns="0" rIns="0" bIns="0" anchor="t">
            <a:noAutofit/>
          </a:bodyPr>
          <a:lstStyle/>
          <a:p>
            <a:pPr>
              <a:defRPr sz="2100" b="1">
                <a:solidFill>
                  <a:srgbClr val="123F32"/>
                </a:solidFill>
                <a:latin typeface="Calibri"/>
                <a:ea typeface="Calibri"/>
                <a:cs typeface="Calibri"/>
              </a:defRPr>
            </a:pPr>
            <a:r>
              <a:rPr sz="2100" b="1">
                <a:solidFill>
                  <a:srgbClr val="123F32"/>
                </a:solidFill>
                <a:latin typeface="Calibri"/>
                <a:ea typeface="Calibri"/>
                <a:cs typeface="Calibri"/>
              </a:rPr>
              <a:t>Sewa</a:t>
            </a:r>
          </a:p>
        </p:txBody>
      </p:sp>
      <p:sp>
        <p:nvSpPr>
          <p:cNvPr id="12" name="text-111">
            <a:extLst>
              <a:ext uri="{FF2B5EF4-FFF2-40B4-BE49-F238E27FC236}">
                <a16:creationId xmlns:a16="http://schemas.microsoft.com/office/drawing/2014/main" id="{823EE9CF-B6E0-4CED-9A68-603596B6971E}"/>
              </a:ext>
            </a:extLst>
          </p:cNvPr>
          <p:cNvSpPr>
            <a:spLocks noGrp="1"/>
          </p:cNvSpPr>
          <p:nvPr/>
        </p:nvSpPr>
        <p:spPr>
          <a:xfrm>
            <a:off x="8743950" y="4648200"/>
            <a:ext cx="2714625" cy="895350"/>
          </a:xfrm>
          <a:prstGeom prst="rect">
            <a:avLst/>
          </a:prstGeom>
          <a:noFill/>
          <a:ln w="0">
            <a:noFill/>
          </a:ln>
        </p:spPr>
        <p:txBody>
          <a:bodyPr wrap="square" lIns="0" tIns="0" rIns="0" bIns="0" anchor="t">
            <a:noAutofit/>
          </a:bodyPr>
          <a:lstStyle/>
          <a:p>
            <a:pPr>
              <a:defRPr sz="1725" b="0">
                <a:solidFill>
                  <a:srgbClr val="293D34"/>
                </a:solidFill>
                <a:latin typeface="Calibri"/>
                <a:ea typeface="Calibri"/>
                <a:cs typeface="Calibri"/>
              </a:defRPr>
            </a:pPr>
            <a:r>
              <a:rPr lang="en-US" sz="1725" b="0" dirty="0">
                <a:solidFill>
                  <a:srgbClr val="293D34"/>
                </a:solidFill>
                <a:latin typeface="Calibri"/>
                <a:ea typeface="Calibri"/>
                <a:cs typeface="Calibri"/>
              </a:rPr>
              <a:t>Kita </a:t>
            </a:r>
            <a:r>
              <a:rPr lang="en-US" sz="1725" b="0" dirty="0" err="1">
                <a:solidFill>
                  <a:srgbClr val="293D34"/>
                </a:solidFill>
                <a:latin typeface="Calibri"/>
                <a:ea typeface="Calibri"/>
                <a:cs typeface="Calibri"/>
              </a:rPr>
              <a:t>harus</a:t>
            </a:r>
            <a:r>
              <a:rPr lang="en-US" sz="1725" b="0" dirty="0">
                <a:solidFill>
                  <a:srgbClr val="293D34"/>
                </a:solidFill>
                <a:latin typeface="Calibri"/>
                <a:ea typeface="Calibri"/>
                <a:cs typeface="Calibri"/>
              </a:rPr>
              <a:t> make sure </a:t>
            </a:r>
            <a:r>
              <a:rPr lang="en-US" sz="1725" b="0" dirty="0" err="1">
                <a:solidFill>
                  <a:srgbClr val="293D34"/>
                </a:solidFill>
                <a:latin typeface="Calibri"/>
                <a:ea typeface="Calibri"/>
                <a:cs typeface="Calibri"/>
              </a:rPr>
              <a:t>bisa</a:t>
            </a:r>
            <a:r>
              <a:rPr lang="en-US" sz="1725" b="0" dirty="0">
                <a:solidFill>
                  <a:srgbClr val="293D34"/>
                </a:solidFill>
                <a:latin typeface="Calibri"/>
                <a:ea typeface="Calibri"/>
                <a:cs typeface="Calibri"/>
              </a:rPr>
              <a:t> recording dan </a:t>
            </a:r>
            <a:r>
              <a:rPr lang="en-US" sz="1725" b="0" dirty="0" err="1">
                <a:solidFill>
                  <a:srgbClr val="293D34"/>
                </a:solidFill>
                <a:latin typeface="Calibri"/>
                <a:ea typeface="Calibri"/>
                <a:cs typeface="Calibri"/>
              </a:rPr>
              <a:t>filenya</a:t>
            </a:r>
            <a:r>
              <a:rPr lang="en-US" sz="1725" dirty="0">
                <a:solidFill>
                  <a:srgbClr val="293D34"/>
                </a:solidFill>
                <a:latin typeface="Calibri"/>
                <a:ea typeface="Calibri"/>
                <a:cs typeface="Calibri"/>
              </a:rPr>
              <a:t> </a:t>
            </a:r>
            <a:r>
              <a:rPr lang="en-US" sz="1725" dirty="0" err="1">
                <a:solidFill>
                  <a:srgbClr val="293D34"/>
                </a:solidFill>
                <a:latin typeface="Calibri"/>
                <a:ea typeface="Calibri"/>
                <a:cs typeface="Calibri"/>
              </a:rPr>
              <a:t>bisa</a:t>
            </a:r>
            <a:r>
              <a:rPr lang="en-US" sz="1725" dirty="0">
                <a:solidFill>
                  <a:srgbClr val="293D34"/>
                </a:solidFill>
                <a:latin typeface="Calibri"/>
                <a:ea typeface="Calibri"/>
                <a:cs typeface="Calibri"/>
              </a:rPr>
              <a:t> </a:t>
            </a:r>
            <a:r>
              <a:rPr lang="en-US" sz="1725" dirty="0" err="1">
                <a:solidFill>
                  <a:srgbClr val="293D34"/>
                </a:solidFill>
                <a:latin typeface="Calibri"/>
                <a:ea typeface="Calibri"/>
                <a:cs typeface="Calibri"/>
              </a:rPr>
              <a:t>kita</a:t>
            </a:r>
            <a:r>
              <a:rPr lang="en-US" sz="1725" dirty="0">
                <a:solidFill>
                  <a:srgbClr val="293D34"/>
                </a:solidFill>
                <a:latin typeface="Calibri"/>
                <a:ea typeface="Calibri"/>
                <a:cs typeface="Calibri"/>
              </a:rPr>
              <a:t> </a:t>
            </a:r>
            <a:r>
              <a:rPr lang="en-US" sz="1725" dirty="0" err="1">
                <a:solidFill>
                  <a:srgbClr val="293D34"/>
                </a:solidFill>
                <a:latin typeface="Calibri"/>
                <a:ea typeface="Calibri"/>
                <a:cs typeface="Calibri"/>
              </a:rPr>
              <a:t>ambil</a:t>
            </a:r>
            <a:endParaRPr sz="1725" b="0" dirty="0">
              <a:solidFill>
                <a:srgbClr val="293D34"/>
              </a:solidFill>
              <a:latin typeface="Calibri"/>
              <a:ea typeface="Calibri"/>
              <a:cs typeface="Calibri"/>
            </a:endParaRPr>
          </a:p>
        </p:txBody>
      </p:sp>
      <p:sp>
        <p:nvSpPr>
          <p:cNvPr id="13" name="Straight Connector 12">
            <a:extLst>
              <a:ext uri="{FF2B5EF4-FFF2-40B4-BE49-F238E27FC236}">
                <a16:creationId xmlns:a16="http://schemas.microsoft.com/office/drawing/2014/main" id="{47F4C5CE-2BB3-40EA-8324-8B03395DCBD6}"/>
              </a:ext>
            </a:extLst>
          </p:cNvPr>
          <p:cNvSpPr>
            <a:spLocks noGrp="1"/>
          </p:cNvSpPr>
          <p:nvPr/>
        </p:nvSpPr>
        <p:spPr>
          <a:xfrm>
            <a:off x="609600" y="5762625"/>
            <a:ext cx="10972800" cy="0"/>
          </a:xfrm>
          <a:prstGeom prst="line">
            <a:avLst/>
          </a:prstGeom>
          <a:noFill/>
          <a:ln w="9525">
            <a:solidFill>
              <a:srgbClr val="DCE5DE"/>
            </a:solidFill>
          </a:ln>
        </p:spPr>
      </p:sp>
      <p:sp>
        <p:nvSpPr>
          <p:cNvPr id="14" name="text-112">
            <a:extLst>
              <a:ext uri="{FF2B5EF4-FFF2-40B4-BE49-F238E27FC236}">
                <a16:creationId xmlns:a16="http://schemas.microsoft.com/office/drawing/2014/main" id="{9445DC54-836A-43D2-8E6A-B3B7DC44AB1F}"/>
              </a:ext>
            </a:extLst>
          </p:cNvPr>
          <p:cNvSpPr>
            <a:spLocks noGrp="1"/>
          </p:cNvSpPr>
          <p:nvPr/>
        </p:nvSpPr>
        <p:spPr>
          <a:xfrm>
            <a:off x="609600" y="5953125"/>
            <a:ext cx="10906125" cy="323850"/>
          </a:xfrm>
          <a:prstGeom prst="rect">
            <a:avLst/>
          </a:prstGeom>
          <a:noFill/>
          <a:ln w="0">
            <a:noFill/>
          </a:ln>
        </p:spPr>
        <p:txBody>
          <a:bodyPr wrap="square" lIns="0" tIns="0" rIns="0" bIns="0" anchor="t">
            <a:noAutofit/>
          </a:bodyPr>
          <a:lstStyle/>
          <a:p>
            <a:pPr>
              <a:defRPr sz="1650" b="1">
                <a:solidFill>
                  <a:srgbClr val="123F32"/>
                </a:solidFill>
                <a:latin typeface="Calibri"/>
                <a:ea typeface="Calibri"/>
                <a:cs typeface="Calibri"/>
              </a:defRPr>
            </a:pPr>
            <a:r>
              <a:rPr lang="en-US" sz="1650" b="1" dirty="0">
                <a:solidFill>
                  <a:srgbClr val="123F32"/>
                </a:solidFill>
                <a:latin typeface="Calibri"/>
                <a:ea typeface="Calibri"/>
                <a:cs typeface="Calibri"/>
              </a:rPr>
              <a:t>Kita </a:t>
            </a:r>
            <a:r>
              <a:rPr lang="en-US" sz="1650" b="1" dirty="0" err="1">
                <a:solidFill>
                  <a:srgbClr val="123F32"/>
                </a:solidFill>
                <a:latin typeface="Calibri"/>
                <a:ea typeface="Calibri"/>
                <a:cs typeface="Calibri"/>
              </a:rPr>
              <a:t>perlu</a:t>
            </a:r>
            <a:r>
              <a:rPr lang="en-US" sz="1650" b="1" dirty="0">
                <a:solidFill>
                  <a:srgbClr val="123F32"/>
                </a:solidFill>
                <a:latin typeface="Calibri"/>
                <a:ea typeface="Calibri"/>
                <a:cs typeface="Calibri"/>
              </a:rPr>
              <a:t> decide </a:t>
            </a:r>
            <a:r>
              <a:rPr lang="en-US" sz="1650" b="1" dirty="0" err="1">
                <a:solidFill>
                  <a:srgbClr val="123F32"/>
                </a:solidFill>
                <a:latin typeface="Calibri"/>
                <a:ea typeface="Calibri"/>
                <a:cs typeface="Calibri"/>
              </a:rPr>
              <a:t>pakai</a:t>
            </a:r>
            <a:r>
              <a:rPr lang="en-US" sz="1650" b="1" dirty="0">
                <a:solidFill>
                  <a:srgbClr val="123F32"/>
                </a:solidFill>
                <a:latin typeface="Calibri"/>
                <a:ea typeface="Calibri"/>
                <a:cs typeface="Calibri"/>
              </a:rPr>
              <a:t> yang mana. </a:t>
            </a:r>
            <a:r>
              <a:rPr lang="en-US" sz="1650" b="1" dirty="0" err="1">
                <a:solidFill>
                  <a:srgbClr val="123F32"/>
                </a:solidFill>
                <a:latin typeface="Calibri"/>
                <a:ea typeface="Calibri"/>
                <a:cs typeface="Calibri"/>
              </a:rPr>
              <a:t>Lebih</a:t>
            </a:r>
            <a:r>
              <a:rPr lang="en-US" sz="1650" b="1" dirty="0">
                <a:solidFill>
                  <a:srgbClr val="123F32"/>
                </a:solidFill>
                <a:latin typeface="Calibri"/>
                <a:ea typeface="Calibri"/>
                <a:cs typeface="Calibri"/>
              </a:rPr>
              <a:t> </a:t>
            </a:r>
            <a:r>
              <a:rPr lang="en-US" sz="1650" b="1" dirty="0" err="1">
                <a:solidFill>
                  <a:srgbClr val="123F32"/>
                </a:solidFill>
                <a:latin typeface="Calibri"/>
                <a:ea typeface="Calibri"/>
                <a:cs typeface="Calibri"/>
              </a:rPr>
              <a:t>baik</a:t>
            </a:r>
            <a:r>
              <a:rPr lang="en-US" sz="1650" b="1" dirty="0">
                <a:solidFill>
                  <a:srgbClr val="123F32"/>
                </a:solidFill>
                <a:latin typeface="Calibri"/>
                <a:ea typeface="Calibri"/>
                <a:cs typeface="Calibri"/>
              </a:rPr>
              <a:t> subscribe </a:t>
            </a:r>
            <a:r>
              <a:rPr lang="en-US" sz="1650" b="1" dirty="0" err="1">
                <a:solidFill>
                  <a:srgbClr val="123F32"/>
                </a:solidFill>
                <a:latin typeface="Calibri"/>
                <a:ea typeface="Calibri"/>
                <a:cs typeface="Calibri"/>
              </a:rPr>
              <a:t>saja</a:t>
            </a:r>
            <a:r>
              <a:rPr lang="en-US" sz="1650" b="1" dirty="0">
                <a:solidFill>
                  <a:srgbClr val="123F32"/>
                </a:solidFill>
                <a:latin typeface="Calibri"/>
                <a:ea typeface="Calibri"/>
                <a:cs typeface="Calibri"/>
              </a:rPr>
              <a:t> </a:t>
            </a:r>
            <a:r>
              <a:rPr lang="en-US" sz="1650" b="1" dirty="0" err="1">
                <a:solidFill>
                  <a:srgbClr val="123F32"/>
                </a:solidFill>
                <a:latin typeface="Calibri"/>
                <a:ea typeface="Calibri"/>
                <a:cs typeface="Calibri"/>
              </a:rPr>
              <a:t>karena</a:t>
            </a:r>
            <a:r>
              <a:rPr lang="en-US" sz="1650" b="1" dirty="0">
                <a:solidFill>
                  <a:srgbClr val="123F32"/>
                </a:solidFill>
                <a:latin typeface="Calibri"/>
                <a:ea typeface="Calibri"/>
                <a:cs typeface="Calibri"/>
              </a:rPr>
              <a:t> </a:t>
            </a:r>
            <a:r>
              <a:rPr lang="en-US" sz="1650" b="1" dirty="0" err="1">
                <a:solidFill>
                  <a:srgbClr val="123F32"/>
                </a:solidFill>
                <a:latin typeface="Calibri"/>
                <a:ea typeface="Calibri"/>
                <a:cs typeface="Calibri"/>
              </a:rPr>
              <a:t>harganya</a:t>
            </a:r>
            <a:r>
              <a:rPr lang="en-US" sz="1650" b="1" dirty="0">
                <a:solidFill>
                  <a:srgbClr val="123F32"/>
                </a:solidFill>
                <a:latin typeface="Calibri"/>
                <a:ea typeface="Calibri"/>
                <a:cs typeface="Calibri"/>
              </a:rPr>
              <a:t> gak </a:t>
            </a:r>
            <a:r>
              <a:rPr lang="en-US" sz="1650" b="1" dirty="0" err="1">
                <a:solidFill>
                  <a:srgbClr val="123F32"/>
                </a:solidFill>
                <a:latin typeface="Calibri"/>
                <a:ea typeface="Calibri"/>
                <a:cs typeface="Calibri"/>
              </a:rPr>
              <a:t>jauh</a:t>
            </a:r>
            <a:r>
              <a:rPr lang="en-US" sz="1650" b="1" dirty="0">
                <a:solidFill>
                  <a:srgbClr val="123F32"/>
                </a:solidFill>
                <a:latin typeface="Calibri"/>
                <a:ea typeface="Calibri"/>
                <a:cs typeface="Calibri"/>
              </a:rPr>
              <a:t> </a:t>
            </a:r>
            <a:r>
              <a:rPr lang="en-US" sz="1650" b="1" dirty="0" err="1">
                <a:solidFill>
                  <a:srgbClr val="123F32"/>
                </a:solidFill>
                <a:latin typeface="Calibri"/>
                <a:ea typeface="Calibri"/>
                <a:cs typeface="Calibri"/>
              </a:rPr>
              <a:t>beda</a:t>
            </a:r>
            <a:r>
              <a:rPr lang="en-US" sz="1650" b="1" dirty="0">
                <a:solidFill>
                  <a:srgbClr val="123F32"/>
                </a:solidFill>
                <a:latin typeface="Calibri"/>
                <a:ea typeface="Calibri"/>
                <a:cs typeface="Calibri"/>
              </a:rPr>
              <a:t> dan concern privacy juga.</a:t>
            </a:r>
            <a:endParaRPr sz="1650" b="1" dirty="0">
              <a:solidFill>
                <a:srgbClr val="123F32"/>
              </a:solidFill>
              <a:latin typeface="Calibri"/>
              <a:ea typeface="Calibri"/>
              <a:cs typeface="Calibri"/>
            </a:endParaRPr>
          </a:p>
        </p:txBody>
      </p:sp>
    </p:spTree>
    <p:extLst>
      <p:ext uri="{BB962C8B-B14F-4D97-AF65-F5344CB8AC3E}">
        <p14:creationId xmlns:p14="http://schemas.microsoft.com/office/powerpoint/2010/main" val="639912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p:blipFill>
        <p:spPr>
          <a:xfrm>
            <a:off x="8340498" y="161925"/>
            <a:ext cx="3235779" cy="828675"/>
          </a:xfrm>
          <a:prstGeom prst="rect">
            <a:avLst/>
          </a:prstGeom>
        </p:spPr>
      </p:pic>
      <p:sp>
        <p:nvSpPr>
          <p:cNvPr id="2" name="text-113">
            <a:extLst>
              <a:ext uri="{FF2B5EF4-FFF2-40B4-BE49-F238E27FC236}">
                <a16:creationId xmlns:a16="http://schemas.microsoft.com/office/drawing/2014/main" id="{83FAAA50-EFC0-4E87-BF36-73838FF72A16}"/>
              </a:ext>
            </a:extLst>
          </p:cNvPr>
          <p:cNvSpPr>
            <a:spLocks noGrp="1"/>
          </p:cNvSpPr>
          <p:nvPr/>
        </p:nvSpPr>
        <p:spPr>
          <a:xfrm>
            <a:off x="609600" y="409575"/>
            <a:ext cx="7096125" cy="209550"/>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01 / STRUKTUR BIAYA</a:t>
            </a:r>
          </a:p>
        </p:txBody>
      </p:sp>
      <p:sp>
        <p:nvSpPr>
          <p:cNvPr id="3" name="text-114">
            <a:extLst>
              <a:ext uri="{FF2B5EF4-FFF2-40B4-BE49-F238E27FC236}">
                <a16:creationId xmlns:a16="http://schemas.microsoft.com/office/drawing/2014/main" id="{9C945A42-E254-44CB-A8A8-0D3379A7CEAA}"/>
              </a:ext>
            </a:extLst>
          </p:cNvPr>
          <p:cNvSpPr>
            <a:spLocks noGrp="1"/>
          </p:cNvSpPr>
          <p:nvPr/>
        </p:nvSpPr>
        <p:spPr>
          <a:xfrm>
            <a:off x="609600" y="1143000"/>
            <a:ext cx="10858500" cy="876300"/>
          </a:xfrm>
          <a:prstGeom prst="rect">
            <a:avLst/>
          </a:prstGeom>
          <a:noFill/>
          <a:ln w="0">
            <a:noFill/>
          </a:ln>
        </p:spPr>
        <p:txBody>
          <a:bodyPr wrap="square" lIns="0" tIns="0" rIns="0" bIns="0" anchor="t">
            <a:noAutofit/>
          </a:bodyPr>
          <a:lstStyle/>
          <a:p>
            <a:pPr>
              <a:defRPr sz="2850" b="1">
                <a:solidFill>
                  <a:srgbClr val="123F32"/>
                </a:solidFill>
                <a:latin typeface="Calibri"/>
                <a:ea typeface="Calibri"/>
                <a:cs typeface="Calibri"/>
              </a:defRPr>
            </a:pPr>
            <a:r>
              <a:rPr lang="en-US" sz="2850" b="1" dirty="0" err="1">
                <a:solidFill>
                  <a:srgbClr val="123F32"/>
                </a:solidFill>
                <a:latin typeface="Calibri"/>
                <a:ea typeface="Calibri"/>
                <a:cs typeface="Calibri"/>
              </a:rPr>
              <a:t>Honot</a:t>
            </a:r>
            <a:r>
              <a:rPr lang="en-US" sz="2850" b="1" dirty="0">
                <a:solidFill>
                  <a:srgbClr val="123F32"/>
                </a:solidFill>
                <a:latin typeface="Calibri"/>
                <a:ea typeface="Calibri"/>
                <a:cs typeface="Calibri"/>
              </a:rPr>
              <a:t> speaker </a:t>
            </a:r>
            <a:r>
              <a:rPr lang="en-US" sz="2850" b="1" dirty="0" err="1">
                <a:solidFill>
                  <a:srgbClr val="123F32"/>
                </a:solidFill>
                <a:latin typeface="Calibri"/>
                <a:ea typeface="Calibri"/>
                <a:cs typeface="Calibri"/>
              </a:rPr>
              <a:t>menjadi</a:t>
            </a:r>
            <a:r>
              <a:rPr lang="en-US" sz="2850" b="1" dirty="0">
                <a:solidFill>
                  <a:srgbClr val="123F32"/>
                </a:solidFill>
                <a:latin typeface="Calibri"/>
                <a:ea typeface="Calibri"/>
                <a:cs typeface="Calibri"/>
              </a:rPr>
              <a:t> cost </a:t>
            </a:r>
            <a:r>
              <a:rPr lang="en-US" sz="2850" b="1" dirty="0" err="1">
                <a:solidFill>
                  <a:srgbClr val="123F32"/>
                </a:solidFill>
                <a:latin typeface="Calibri"/>
                <a:ea typeface="Calibri"/>
                <a:cs typeface="Calibri"/>
              </a:rPr>
              <a:t>terbesar</a:t>
            </a:r>
            <a:r>
              <a:rPr lang="en-US" sz="2850" b="1" dirty="0">
                <a:solidFill>
                  <a:srgbClr val="123F32"/>
                </a:solidFill>
                <a:latin typeface="Calibri"/>
                <a:ea typeface="Calibri"/>
                <a:cs typeface="Calibri"/>
              </a:rPr>
              <a:t> </a:t>
            </a:r>
            <a:r>
              <a:rPr lang="en-US" sz="2850" b="1" dirty="0" err="1">
                <a:solidFill>
                  <a:srgbClr val="123F32"/>
                </a:solidFill>
                <a:latin typeface="Calibri"/>
                <a:ea typeface="Calibri"/>
                <a:cs typeface="Calibri"/>
              </a:rPr>
              <a:t>untuk</a:t>
            </a:r>
            <a:r>
              <a:rPr lang="en-US" sz="2850" b="1" dirty="0">
                <a:solidFill>
                  <a:srgbClr val="123F32"/>
                </a:solidFill>
                <a:latin typeface="Calibri"/>
                <a:ea typeface="Calibri"/>
                <a:cs typeface="Calibri"/>
              </a:rPr>
              <a:t> co-</a:t>
            </a:r>
            <a:r>
              <a:rPr lang="en-US" sz="2850" b="1" dirty="0" err="1">
                <a:solidFill>
                  <a:srgbClr val="123F32"/>
                </a:solidFill>
                <a:latin typeface="Calibri"/>
                <a:ea typeface="Calibri"/>
                <a:cs typeface="Calibri"/>
              </a:rPr>
              <a:t>hort</a:t>
            </a:r>
            <a:r>
              <a:rPr lang="en-US" sz="2850" b="1" dirty="0">
                <a:solidFill>
                  <a:srgbClr val="123F32"/>
                </a:solidFill>
                <a:latin typeface="Calibri"/>
                <a:ea typeface="Calibri"/>
                <a:cs typeface="Calibri"/>
              </a:rPr>
              <a:t> founder’s live</a:t>
            </a:r>
            <a:endParaRPr sz="2850" b="1" dirty="0">
              <a:solidFill>
                <a:srgbClr val="123F32"/>
              </a:solidFill>
              <a:latin typeface="Calibri"/>
              <a:ea typeface="Calibri"/>
              <a:cs typeface="Calibri"/>
            </a:endParaRPr>
          </a:p>
        </p:txBody>
      </p:sp>
      <p:sp>
        <p:nvSpPr>
          <p:cNvPr id="4" name="text-115">
            <a:extLst>
              <a:ext uri="{FF2B5EF4-FFF2-40B4-BE49-F238E27FC236}">
                <a16:creationId xmlns:a16="http://schemas.microsoft.com/office/drawing/2014/main" id="{6011F52E-A4C2-4C35-8FC7-BF900DC221F4}"/>
              </a:ext>
            </a:extLst>
          </p:cNvPr>
          <p:cNvSpPr>
            <a:spLocks noGrp="1"/>
          </p:cNvSpPr>
          <p:nvPr/>
        </p:nvSpPr>
        <p:spPr>
          <a:xfrm>
            <a:off x="609600" y="1619250"/>
            <a:ext cx="10858500" cy="466725"/>
          </a:xfrm>
          <a:prstGeom prst="rect">
            <a:avLst/>
          </a:prstGeom>
          <a:noFill/>
          <a:ln w="0">
            <a:noFill/>
          </a:ln>
        </p:spPr>
        <p:txBody>
          <a:bodyPr wrap="square" lIns="0" tIns="0" rIns="0" bIns="0" anchor="t">
            <a:noAutofit/>
          </a:bodyPr>
          <a:lstStyle/>
          <a:p>
            <a:pPr>
              <a:defRPr sz="1500" b="0">
                <a:solidFill>
                  <a:srgbClr val="66746B"/>
                </a:solidFill>
                <a:latin typeface="Calibri"/>
                <a:ea typeface="Calibri"/>
                <a:cs typeface="Calibri"/>
              </a:defRPr>
            </a:pPr>
            <a:r>
              <a:rPr lang="en-US" sz="1500" b="0" dirty="0">
                <a:solidFill>
                  <a:srgbClr val="66746B"/>
                </a:solidFill>
                <a:latin typeface="Calibri"/>
                <a:ea typeface="Calibri"/>
                <a:cs typeface="Calibri"/>
              </a:rPr>
              <a:t>Budget honor </a:t>
            </a:r>
            <a:r>
              <a:rPr lang="en-US" sz="1500" b="0" dirty="0" err="1">
                <a:solidFill>
                  <a:srgbClr val="66746B"/>
                </a:solidFill>
                <a:latin typeface="Calibri"/>
                <a:ea typeface="Calibri"/>
                <a:cs typeface="Calibri"/>
              </a:rPr>
              <a:t>sesuai</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diskusi</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dengan</a:t>
            </a:r>
            <a:r>
              <a:rPr lang="en-US" sz="1500" b="0" dirty="0">
                <a:solidFill>
                  <a:srgbClr val="66746B"/>
                </a:solidFill>
                <a:latin typeface="Calibri"/>
                <a:ea typeface="Calibri"/>
                <a:cs typeface="Calibri"/>
              </a:rPr>
              <a:t> Ko Mario </a:t>
            </a:r>
            <a:r>
              <a:rPr lang="en-US" sz="1500" b="0" dirty="0" err="1">
                <a:solidFill>
                  <a:srgbClr val="66746B"/>
                </a:solidFill>
                <a:latin typeface="Calibri"/>
                <a:ea typeface="Calibri"/>
                <a:cs typeface="Calibri"/>
              </a:rPr>
              <a:t>ada</a:t>
            </a:r>
            <a:r>
              <a:rPr lang="en-US" sz="1500" b="0" dirty="0">
                <a:solidFill>
                  <a:srgbClr val="66746B"/>
                </a:solidFill>
                <a:latin typeface="Calibri"/>
                <a:ea typeface="Calibri"/>
                <a:cs typeface="Calibri"/>
              </a:rPr>
              <a:t> di range Rp3jt -  Rp5jt </a:t>
            </a:r>
            <a:r>
              <a:rPr lang="en-US" sz="1500" b="0" dirty="0" err="1">
                <a:solidFill>
                  <a:srgbClr val="66746B"/>
                </a:solidFill>
                <a:latin typeface="Calibri"/>
                <a:ea typeface="Calibri"/>
                <a:cs typeface="Calibri"/>
              </a:rPr>
              <a:t>untuk</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tiap</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speakernya</a:t>
            </a:r>
            <a:endParaRPr sz="1500" b="0" dirty="0">
              <a:solidFill>
                <a:srgbClr val="66746B"/>
              </a:solidFill>
              <a:latin typeface="Calibri"/>
              <a:ea typeface="Calibri"/>
              <a:cs typeface="Calibri"/>
            </a:endParaRPr>
          </a:p>
        </p:txBody>
      </p:sp>
      <p:sp>
        <p:nvSpPr>
          <p:cNvPr id="5" name="Straight Connector 4">
            <a:extLst>
              <a:ext uri="{FF2B5EF4-FFF2-40B4-BE49-F238E27FC236}">
                <a16:creationId xmlns:a16="http://schemas.microsoft.com/office/drawing/2014/main" id="{0516327B-560C-4109-9E76-54280531909A}"/>
              </a:ext>
            </a:extLst>
          </p:cNvPr>
          <p:cNvSpPr>
            <a:spLocks noGrp="1"/>
          </p:cNvSpPr>
          <p:nvPr/>
        </p:nvSpPr>
        <p:spPr>
          <a:xfrm>
            <a:off x="609600" y="6381750"/>
            <a:ext cx="10972800" cy="0"/>
          </a:xfrm>
          <a:prstGeom prst="line">
            <a:avLst/>
          </a:prstGeom>
          <a:noFill/>
          <a:ln w="9525">
            <a:solidFill>
              <a:srgbClr val="DCE5DE"/>
            </a:solidFill>
          </a:ln>
        </p:spPr>
      </p:sp>
      <p:sp>
        <p:nvSpPr>
          <p:cNvPr id="6" name="text-116">
            <a:extLst>
              <a:ext uri="{FF2B5EF4-FFF2-40B4-BE49-F238E27FC236}">
                <a16:creationId xmlns:a16="http://schemas.microsoft.com/office/drawing/2014/main" id="{3F7D0A29-AFE5-4C6E-8E90-CB614604C45F}"/>
              </a:ext>
            </a:extLst>
          </p:cNvPr>
          <p:cNvSpPr>
            <a:spLocks noGrp="1"/>
          </p:cNvSpPr>
          <p:nvPr/>
        </p:nvSpPr>
        <p:spPr>
          <a:xfrm>
            <a:off x="609600" y="6505575"/>
            <a:ext cx="10191750" cy="209550"/>
          </a:xfrm>
          <a:prstGeom prst="rect">
            <a:avLst/>
          </a:prstGeom>
          <a:noFill/>
          <a:ln w="0">
            <a:noFill/>
          </a:ln>
        </p:spPr>
        <p:txBody>
          <a:bodyPr wrap="square" lIns="0" tIns="0" rIns="0" bIns="0" anchor="t">
            <a:noAutofit/>
          </a:bodyPr>
          <a:lstStyle/>
          <a:p>
            <a:pPr>
              <a:defRPr sz="825" b="0">
                <a:solidFill>
                  <a:srgbClr val="66746B"/>
                </a:solidFill>
                <a:latin typeface="Calibri"/>
                <a:ea typeface="Calibri"/>
                <a:cs typeface="Calibri"/>
              </a:defRPr>
            </a:pPr>
            <a:r>
              <a:rPr sz="825" b="0">
                <a:solidFill>
                  <a:srgbClr val="66746B"/>
                </a:solidFill>
                <a:latin typeface="Calibri"/>
                <a:ea typeface="Calibri"/>
                <a:cs typeface="Calibri"/>
              </a:rPr>
              <a:t>Rencana internal CMC. Speaker, tanggal dan harga pilot menunggu konfirmasi.</a:t>
            </a:r>
          </a:p>
        </p:txBody>
      </p:sp>
      <p:sp>
        <p:nvSpPr>
          <p:cNvPr id="7" name="text-117">
            <a:extLst>
              <a:ext uri="{FF2B5EF4-FFF2-40B4-BE49-F238E27FC236}">
                <a16:creationId xmlns:a16="http://schemas.microsoft.com/office/drawing/2014/main" id="{8E746E12-6719-4ADF-919A-72CE59B55700}"/>
              </a:ext>
            </a:extLst>
          </p:cNvPr>
          <p:cNvSpPr>
            <a:spLocks noGrp="1"/>
          </p:cNvSpPr>
          <p:nvPr/>
        </p:nvSpPr>
        <p:spPr>
          <a:xfrm>
            <a:off x="11125200" y="6486525"/>
            <a:ext cx="438150" cy="228600"/>
          </a:xfrm>
          <a:prstGeom prst="rect">
            <a:avLst/>
          </a:prstGeom>
          <a:noFill/>
          <a:ln w="0">
            <a:noFill/>
          </a:ln>
        </p:spPr>
        <p:txBody>
          <a:bodyPr wrap="square" lIns="0" tIns="0" rIns="0" bIns="0" anchor="t">
            <a:noAutofit/>
          </a:bodyPr>
          <a:lstStyle/>
          <a:p>
            <a:pPr>
              <a:defRPr sz="1050" b="1">
                <a:solidFill>
                  <a:srgbClr val="123F32"/>
                </a:solidFill>
                <a:latin typeface="Calibri"/>
                <a:ea typeface="Calibri"/>
                <a:cs typeface="Calibri"/>
              </a:defRPr>
            </a:pPr>
            <a:r>
              <a:rPr sz="1050" b="1">
                <a:solidFill>
                  <a:srgbClr val="123F32"/>
                </a:solidFill>
                <a:latin typeface="Calibri"/>
                <a:ea typeface="Calibri"/>
                <a:cs typeface="Calibri"/>
              </a:rPr>
              <a:t>07</a:t>
            </a:r>
          </a:p>
        </p:txBody>
      </p:sp>
      <p:graphicFrame>
        <p:nvGraphicFramePr>
          <p:cNvPr id="18" name="Table 17"/>
          <p:cNvGraphicFramePr/>
          <p:nvPr>
            <p:extLst>
              <p:ext uri="{D42A27DB-BD31-4B8C-83A1-F6EECF244321}">
                <p14:modId xmlns:p14="http://schemas.microsoft.com/office/powerpoint/2010/main" val="3944374029"/>
              </p:ext>
            </p:extLst>
          </p:nvPr>
        </p:nvGraphicFramePr>
        <p:xfrm>
          <a:off x="609600" y="2495550"/>
          <a:ext cx="10972800" cy="2476500"/>
        </p:xfrm>
        <a:graphic>
          <a:graphicData uri="http://schemas.openxmlformats.org/drawingml/2006/table">
            <a:tbl>
              <a:tblPr/>
              <a:tblGrid>
                <a:gridCol w="44005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2190750">
                  <a:extLst>
                    <a:ext uri="{9D8B030D-6E8A-4147-A177-3AD203B41FA5}">
                      <a16:colId xmlns:a16="http://schemas.microsoft.com/office/drawing/2014/main" val="20003"/>
                    </a:ext>
                  </a:extLst>
                </a:gridCol>
              </a:tblGrid>
              <a:tr h="495300">
                <a:tc>
                  <a:txBody>
                    <a:bodyPr/>
                    <a:lstStyle/>
                    <a:p>
                      <a:r>
                        <a:rPr sz="1725" b="1">
                          <a:solidFill>
                            <a:srgbClr val="FFFFFF"/>
                          </a:solidFill>
                          <a:latin typeface="Calibri"/>
                          <a:ea typeface="Calibri"/>
                          <a:cs typeface="Calibri"/>
                        </a:rPr>
                        <a:t>Komponen / Rp jt</a:t>
                      </a:r>
                    </a:p>
                  </a:txBody>
                  <a:tcPr>
                    <a:solidFill>
                      <a:srgbClr val="123F32"/>
                    </a:solidFill>
                  </a:tcPr>
                </a:tc>
                <a:tc>
                  <a:txBody>
                    <a:bodyPr/>
                    <a:lstStyle/>
                    <a:p>
                      <a:r>
                        <a:rPr sz="1725" b="1">
                          <a:solidFill>
                            <a:srgbClr val="FFFFFF"/>
                          </a:solidFill>
                          <a:latin typeface="Calibri"/>
                          <a:ea typeface="Calibri"/>
                          <a:cs typeface="Calibri"/>
                        </a:rPr>
                        <a:t>Optimis</a:t>
                      </a:r>
                    </a:p>
                  </a:txBody>
                  <a:tcPr>
                    <a:solidFill>
                      <a:srgbClr val="123F32"/>
                    </a:solidFill>
                  </a:tcPr>
                </a:tc>
                <a:tc>
                  <a:txBody>
                    <a:bodyPr/>
                    <a:lstStyle/>
                    <a:p>
                      <a:r>
                        <a:rPr sz="1725" b="1">
                          <a:solidFill>
                            <a:srgbClr val="FFFFFF"/>
                          </a:solidFill>
                          <a:latin typeface="Calibri"/>
                          <a:ea typeface="Calibri"/>
                          <a:cs typeface="Calibri"/>
                        </a:rPr>
                        <a:t>Base</a:t>
                      </a:r>
                    </a:p>
                  </a:txBody>
                  <a:tcPr>
                    <a:solidFill>
                      <a:srgbClr val="123F32"/>
                    </a:solidFill>
                  </a:tcPr>
                </a:tc>
                <a:tc>
                  <a:txBody>
                    <a:bodyPr/>
                    <a:lstStyle/>
                    <a:p>
                      <a:r>
                        <a:rPr sz="1725" b="1">
                          <a:solidFill>
                            <a:srgbClr val="FFFFFF"/>
                          </a:solidFill>
                          <a:latin typeface="Calibri"/>
                          <a:ea typeface="Calibri"/>
                          <a:cs typeface="Calibri"/>
                        </a:rPr>
                        <a:t>Pesimis</a:t>
                      </a:r>
                    </a:p>
                  </a:txBody>
                  <a:tcPr>
                    <a:solidFill>
                      <a:srgbClr val="123F32"/>
                    </a:solidFill>
                  </a:tcPr>
                </a:tc>
                <a:extLst>
                  <a:ext uri="{0D108BD9-81ED-4DB2-BD59-A6C34878D82A}">
                    <a16:rowId xmlns:a16="http://schemas.microsoft.com/office/drawing/2014/main" val="10000"/>
                  </a:ext>
                </a:extLst>
              </a:tr>
              <a:tr h="495300">
                <a:tc>
                  <a:txBody>
                    <a:bodyPr/>
                    <a:lstStyle/>
                    <a:p>
                      <a:r>
                        <a:rPr sz="1725" b="0">
                          <a:solidFill>
                            <a:srgbClr val="293D34"/>
                          </a:solidFill>
                          <a:latin typeface="Calibri"/>
                          <a:ea typeface="Calibri"/>
                          <a:cs typeface="Calibri"/>
                        </a:rPr>
                        <a:t>Honor 8 speaker</a:t>
                      </a:r>
                    </a:p>
                  </a:txBody>
                  <a:tcPr>
                    <a:solidFill>
                      <a:srgbClr val="FFFFFF"/>
                    </a:solidFill>
                  </a:tcPr>
                </a:tc>
                <a:tc>
                  <a:txBody>
                    <a:bodyPr/>
                    <a:lstStyle/>
                    <a:p>
                      <a:r>
                        <a:rPr sz="1725" b="0">
                          <a:solidFill>
                            <a:srgbClr val="293D34"/>
                          </a:solidFill>
                          <a:latin typeface="Calibri"/>
                          <a:ea typeface="Calibri"/>
                          <a:cs typeface="Calibri"/>
                        </a:rPr>
                        <a:t>24,00</a:t>
                      </a:r>
                    </a:p>
                  </a:txBody>
                  <a:tcPr>
                    <a:solidFill>
                      <a:srgbClr val="FFFFFF"/>
                    </a:solidFill>
                  </a:tcPr>
                </a:tc>
                <a:tc>
                  <a:txBody>
                    <a:bodyPr/>
                    <a:lstStyle/>
                    <a:p>
                      <a:r>
                        <a:rPr sz="1725" b="0">
                          <a:solidFill>
                            <a:srgbClr val="293D34"/>
                          </a:solidFill>
                          <a:latin typeface="Calibri"/>
                          <a:ea typeface="Calibri"/>
                          <a:cs typeface="Calibri"/>
                        </a:rPr>
                        <a:t>32,00</a:t>
                      </a:r>
                    </a:p>
                  </a:txBody>
                  <a:tcPr>
                    <a:solidFill>
                      <a:srgbClr val="FFFFFF"/>
                    </a:solidFill>
                  </a:tcPr>
                </a:tc>
                <a:tc>
                  <a:txBody>
                    <a:bodyPr/>
                    <a:lstStyle/>
                    <a:p>
                      <a:r>
                        <a:rPr sz="1725" b="0">
                          <a:solidFill>
                            <a:srgbClr val="293D34"/>
                          </a:solidFill>
                          <a:latin typeface="Calibri"/>
                          <a:ea typeface="Calibri"/>
                          <a:cs typeface="Calibri"/>
                        </a:rPr>
                        <a:t>40,00</a:t>
                      </a:r>
                    </a:p>
                  </a:txBody>
                  <a:tcPr>
                    <a:solidFill>
                      <a:srgbClr val="FFFFFF"/>
                    </a:solidFill>
                  </a:tcPr>
                </a:tc>
                <a:extLst>
                  <a:ext uri="{0D108BD9-81ED-4DB2-BD59-A6C34878D82A}">
                    <a16:rowId xmlns:a16="http://schemas.microsoft.com/office/drawing/2014/main" val="10001"/>
                  </a:ext>
                </a:extLst>
              </a:tr>
              <a:tr h="495300">
                <a:tc>
                  <a:txBody>
                    <a:bodyPr/>
                    <a:lstStyle/>
                    <a:p>
                      <a:r>
                        <a:rPr sz="1725" b="0">
                          <a:solidFill>
                            <a:srgbClr val="293D34"/>
                          </a:solidFill>
                          <a:latin typeface="Calibri"/>
                          <a:ea typeface="Calibri"/>
                          <a:cs typeface="Calibri"/>
                        </a:rPr>
                        <a:t>Zoom subscribe / 1 bulan</a:t>
                      </a:r>
                    </a:p>
                  </a:txBody>
                  <a:tcPr>
                    <a:solidFill>
                      <a:srgbClr val="F3F6F2"/>
                    </a:solidFill>
                  </a:tcPr>
                </a:tc>
                <a:tc>
                  <a:txBody>
                    <a:bodyPr/>
                    <a:lstStyle/>
                    <a:p>
                      <a:r>
                        <a:rPr sz="1725" b="0">
                          <a:solidFill>
                            <a:srgbClr val="293D34"/>
                          </a:solidFill>
                          <a:latin typeface="Calibri"/>
                          <a:ea typeface="Calibri"/>
                          <a:cs typeface="Calibri"/>
                        </a:rPr>
                        <a:t>2,66</a:t>
                      </a:r>
                    </a:p>
                  </a:txBody>
                  <a:tcPr>
                    <a:solidFill>
                      <a:srgbClr val="F3F6F2"/>
                    </a:solidFill>
                  </a:tcPr>
                </a:tc>
                <a:tc>
                  <a:txBody>
                    <a:bodyPr/>
                    <a:lstStyle/>
                    <a:p>
                      <a:r>
                        <a:rPr sz="1725" b="0">
                          <a:solidFill>
                            <a:srgbClr val="293D34"/>
                          </a:solidFill>
                          <a:latin typeface="Calibri"/>
                          <a:ea typeface="Calibri"/>
                          <a:cs typeface="Calibri"/>
                        </a:rPr>
                        <a:t>2,66</a:t>
                      </a:r>
                    </a:p>
                  </a:txBody>
                  <a:tcPr>
                    <a:solidFill>
                      <a:srgbClr val="F3F6F2"/>
                    </a:solidFill>
                  </a:tcPr>
                </a:tc>
                <a:tc>
                  <a:txBody>
                    <a:bodyPr/>
                    <a:lstStyle/>
                    <a:p>
                      <a:r>
                        <a:rPr sz="1725" b="0">
                          <a:solidFill>
                            <a:srgbClr val="293D34"/>
                          </a:solidFill>
                          <a:latin typeface="Calibri"/>
                          <a:ea typeface="Calibri"/>
                          <a:cs typeface="Calibri"/>
                        </a:rPr>
                        <a:t>2,66</a:t>
                      </a:r>
                    </a:p>
                  </a:txBody>
                  <a:tcPr>
                    <a:solidFill>
                      <a:srgbClr val="F3F6F2"/>
                    </a:solidFill>
                  </a:tcPr>
                </a:tc>
                <a:extLst>
                  <a:ext uri="{0D108BD9-81ED-4DB2-BD59-A6C34878D82A}">
                    <a16:rowId xmlns:a16="http://schemas.microsoft.com/office/drawing/2014/main" val="10002"/>
                  </a:ext>
                </a:extLst>
              </a:tr>
              <a:tr h="495300">
                <a:tc>
                  <a:txBody>
                    <a:bodyPr/>
                    <a:lstStyle/>
                    <a:p>
                      <a:r>
                        <a:rPr sz="1725" b="0">
                          <a:solidFill>
                            <a:srgbClr val="293D34"/>
                          </a:solidFill>
                          <a:latin typeface="Calibri"/>
                          <a:ea typeface="Calibri"/>
                          <a:cs typeface="Calibri"/>
                        </a:rPr>
                        <a:t>TOTAL dengan subscribe</a:t>
                      </a:r>
                    </a:p>
                  </a:txBody>
                  <a:tcPr>
                    <a:solidFill>
                      <a:srgbClr val="FFFFFF"/>
                    </a:solidFill>
                  </a:tcPr>
                </a:tc>
                <a:tc>
                  <a:txBody>
                    <a:bodyPr/>
                    <a:lstStyle/>
                    <a:p>
                      <a:r>
                        <a:rPr sz="1725" b="0">
                          <a:solidFill>
                            <a:srgbClr val="293D34"/>
                          </a:solidFill>
                          <a:latin typeface="Calibri"/>
                          <a:ea typeface="Calibri"/>
                          <a:cs typeface="Calibri"/>
                        </a:rPr>
                        <a:t>26,66</a:t>
                      </a:r>
                    </a:p>
                  </a:txBody>
                  <a:tcPr>
                    <a:solidFill>
                      <a:srgbClr val="FFFFFF"/>
                    </a:solidFill>
                  </a:tcPr>
                </a:tc>
                <a:tc>
                  <a:txBody>
                    <a:bodyPr/>
                    <a:lstStyle/>
                    <a:p>
                      <a:r>
                        <a:rPr sz="1725" b="0">
                          <a:solidFill>
                            <a:srgbClr val="293D34"/>
                          </a:solidFill>
                          <a:latin typeface="Calibri"/>
                          <a:ea typeface="Calibri"/>
                          <a:cs typeface="Calibri"/>
                        </a:rPr>
                        <a:t>34,66</a:t>
                      </a:r>
                    </a:p>
                  </a:txBody>
                  <a:tcPr>
                    <a:solidFill>
                      <a:srgbClr val="FFFFFF"/>
                    </a:solidFill>
                  </a:tcPr>
                </a:tc>
                <a:tc>
                  <a:txBody>
                    <a:bodyPr/>
                    <a:lstStyle/>
                    <a:p>
                      <a:r>
                        <a:rPr sz="1725" b="0">
                          <a:solidFill>
                            <a:srgbClr val="293D34"/>
                          </a:solidFill>
                          <a:latin typeface="Calibri"/>
                          <a:ea typeface="Calibri"/>
                          <a:cs typeface="Calibri"/>
                        </a:rPr>
                        <a:t>42,66</a:t>
                      </a:r>
                    </a:p>
                  </a:txBody>
                  <a:tcPr>
                    <a:solidFill>
                      <a:srgbClr val="FFFFFF"/>
                    </a:solidFill>
                  </a:tcPr>
                </a:tc>
                <a:extLst>
                  <a:ext uri="{0D108BD9-81ED-4DB2-BD59-A6C34878D82A}">
                    <a16:rowId xmlns:a16="http://schemas.microsoft.com/office/drawing/2014/main" val="10003"/>
                  </a:ext>
                </a:extLst>
              </a:tr>
              <a:tr h="495300">
                <a:tc>
                  <a:txBody>
                    <a:bodyPr/>
                    <a:lstStyle/>
                    <a:p>
                      <a:r>
                        <a:rPr sz="1725" b="0">
                          <a:solidFill>
                            <a:srgbClr val="293D34"/>
                          </a:solidFill>
                          <a:latin typeface="Calibri"/>
                          <a:ea typeface="Calibri"/>
                          <a:cs typeface="Calibri"/>
                        </a:rPr>
                        <a:t>TOTAL dengan sewa</a:t>
                      </a:r>
                    </a:p>
                  </a:txBody>
                  <a:tcPr>
                    <a:solidFill>
                      <a:srgbClr val="F3F6F2"/>
                    </a:solidFill>
                  </a:tcPr>
                </a:tc>
                <a:tc>
                  <a:txBody>
                    <a:bodyPr/>
                    <a:lstStyle/>
                    <a:p>
                      <a:r>
                        <a:rPr sz="1725" b="0">
                          <a:solidFill>
                            <a:srgbClr val="293D34"/>
                          </a:solidFill>
                          <a:latin typeface="Calibri"/>
                          <a:ea typeface="Calibri"/>
                          <a:cs typeface="Calibri"/>
                        </a:rPr>
                        <a:t>26,80</a:t>
                      </a:r>
                    </a:p>
                  </a:txBody>
                  <a:tcPr>
                    <a:solidFill>
                      <a:srgbClr val="F3F6F2"/>
                    </a:solidFill>
                  </a:tcPr>
                </a:tc>
                <a:tc>
                  <a:txBody>
                    <a:bodyPr/>
                    <a:lstStyle/>
                    <a:p>
                      <a:r>
                        <a:rPr sz="1725" b="0">
                          <a:solidFill>
                            <a:srgbClr val="293D34"/>
                          </a:solidFill>
                          <a:latin typeface="Calibri"/>
                          <a:ea typeface="Calibri"/>
                          <a:cs typeface="Calibri"/>
                        </a:rPr>
                        <a:t>34,80</a:t>
                      </a:r>
                    </a:p>
                  </a:txBody>
                  <a:tcPr>
                    <a:solidFill>
                      <a:srgbClr val="F3F6F2"/>
                    </a:solidFill>
                  </a:tcPr>
                </a:tc>
                <a:tc>
                  <a:txBody>
                    <a:bodyPr/>
                    <a:lstStyle/>
                    <a:p>
                      <a:r>
                        <a:rPr sz="1725" b="0" dirty="0">
                          <a:solidFill>
                            <a:srgbClr val="293D34"/>
                          </a:solidFill>
                          <a:latin typeface="Calibri"/>
                          <a:ea typeface="Calibri"/>
                          <a:cs typeface="Calibri"/>
                        </a:rPr>
                        <a:t>42,80</a:t>
                      </a:r>
                    </a:p>
                  </a:txBody>
                  <a:tcPr>
                    <a:solidFill>
                      <a:srgbClr val="F3F6F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04429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3"/>
          <a:stretch/>
        </p:blipFill>
        <p:spPr>
          <a:xfrm>
            <a:off x="8548340" y="2785266"/>
            <a:ext cx="3251258" cy="832639"/>
          </a:xfrm>
          <a:prstGeom prst="rect">
            <a:avLst/>
          </a:prstGeom>
        </p:spPr>
      </p:pic>
      <p:sp>
        <p:nvSpPr>
          <p:cNvPr id="3" name="text-2">
            <a:extLst>
              <a:ext uri="{FF2B5EF4-FFF2-40B4-BE49-F238E27FC236}">
                <a16:creationId xmlns:a16="http://schemas.microsoft.com/office/drawing/2014/main" id="{439C369E-261E-4505-8500-981910286803}"/>
              </a:ext>
            </a:extLst>
          </p:cNvPr>
          <p:cNvSpPr>
            <a:spLocks noGrp="1"/>
          </p:cNvSpPr>
          <p:nvPr/>
        </p:nvSpPr>
        <p:spPr>
          <a:xfrm>
            <a:off x="793811" y="2970953"/>
            <a:ext cx="5020638" cy="461267"/>
          </a:xfrm>
          <a:prstGeom prst="rect">
            <a:avLst/>
          </a:prstGeom>
          <a:noFill/>
          <a:ln w="0">
            <a:noFill/>
          </a:ln>
        </p:spPr>
        <p:txBody>
          <a:bodyPr wrap="square" lIns="0" tIns="0" rIns="0" bIns="0" anchor="t">
            <a:noAutofit/>
          </a:bodyPr>
          <a:lstStyle/>
          <a:p>
            <a:pPr>
              <a:defRPr sz="2850" b="1">
                <a:solidFill>
                  <a:srgbClr val="123F32"/>
                </a:solidFill>
                <a:latin typeface="Calibri"/>
                <a:ea typeface="Calibri"/>
                <a:cs typeface="Calibri"/>
              </a:defRPr>
            </a:pPr>
            <a:r>
              <a:rPr lang="en-US" sz="2850" b="1" dirty="0">
                <a:solidFill>
                  <a:srgbClr val="123F32"/>
                </a:solidFill>
                <a:latin typeface="Calibri"/>
                <a:ea typeface="Calibri"/>
                <a:cs typeface="Calibri"/>
              </a:rPr>
              <a:t>Intimate Dinner</a:t>
            </a:r>
            <a:endParaRPr sz="2850" b="1" dirty="0">
              <a:solidFill>
                <a:srgbClr val="123F32"/>
              </a:solidFill>
              <a:latin typeface="Calibri"/>
              <a:ea typeface="Calibri"/>
              <a:cs typeface="Calibri"/>
            </a:endParaRPr>
          </a:p>
        </p:txBody>
      </p:sp>
    </p:spTree>
    <p:extLst>
      <p:ext uri="{BB962C8B-B14F-4D97-AF65-F5344CB8AC3E}">
        <p14:creationId xmlns:p14="http://schemas.microsoft.com/office/powerpoint/2010/main" val="1382781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8340498" y="161925"/>
            <a:ext cx="3235779" cy="828675"/>
          </a:xfrm>
          <a:prstGeom prst="rect">
            <a:avLst/>
          </a:prstGeom>
        </p:spPr>
      </p:pic>
      <p:sp>
        <p:nvSpPr>
          <p:cNvPr id="2" name="text-120">
            <a:extLst>
              <a:ext uri="{FF2B5EF4-FFF2-40B4-BE49-F238E27FC236}">
                <a16:creationId xmlns:a16="http://schemas.microsoft.com/office/drawing/2014/main" id="{45E2B9E7-2FD9-4228-9799-C8238143966E}"/>
              </a:ext>
            </a:extLst>
          </p:cNvPr>
          <p:cNvSpPr>
            <a:spLocks noGrp="1"/>
          </p:cNvSpPr>
          <p:nvPr/>
        </p:nvSpPr>
        <p:spPr>
          <a:xfrm>
            <a:off x="609600" y="409575"/>
            <a:ext cx="7096125" cy="209550"/>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02 / INTIMATE DINNER</a:t>
            </a:r>
          </a:p>
        </p:txBody>
      </p:sp>
      <p:sp>
        <p:nvSpPr>
          <p:cNvPr id="3" name="text-121">
            <a:extLst>
              <a:ext uri="{FF2B5EF4-FFF2-40B4-BE49-F238E27FC236}">
                <a16:creationId xmlns:a16="http://schemas.microsoft.com/office/drawing/2014/main" id="{7F0BBA9F-0E53-40D3-A571-B2F7C0FFAE28}"/>
              </a:ext>
            </a:extLst>
          </p:cNvPr>
          <p:cNvSpPr>
            <a:spLocks noGrp="1"/>
          </p:cNvSpPr>
          <p:nvPr/>
        </p:nvSpPr>
        <p:spPr>
          <a:xfrm>
            <a:off x="609600" y="1143000"/>
            <a:ext cx="10858500" cy="876300"/>
          </a:xfrm>
          <a:prstGeom prst="rect">
            <a:avLst/>
          </a:prstGeom>
          <a:noFill/>
          <a:ln w="0">
            <a:noFill/>
          </a:ln>
        </p:spPr>
        <p:txBody>
          <a:bodyPr wrap="square" lIns="0" tIns="0" rIns="0" bIns="0" anchor="t">
            <a:noAutofit/>
          </a:bodyPr>
          <a:lstStyle/>
          <a:p>
            <a:pPr>
              <a:defRPr sz="2850" b="1">
                <a:solidFill>
                  <a:srgbClr val="123F32"/>
                </a:solidFill>
                <a:latin typeface="Calibri"/>
                <a:ea typeface="Calibri"/>
                <a:cs typeface="Calibri"/>
              </a:defRPr>
            </a:pPr>
            <a:r>
              <a:rPr sz="2850" b="1">
                <a:solidFill>
                  <a:srgbClr val="123F32"/>
                </a:solidFill>
                <a:latin typeface="Calibri"/>
                <a:ea typeface="Calibri"/>
                <a:cs typeface="Calibri"/>
              </a:rPr>
              <a:t>Minimal satu Dinner setiap bulan, maksimal 20 peserta</a:t>
            </a:r>
          </a:p>
        </p:txBody>
      </p:sp>
      <p:sp>
        <p:nvSpPr>
          <p:cNvPr id="4" name="text-122">
            <a:extLst>
              <a:ext uri="{FF2B5EF4-FFF2-40B4-BE49-F238E27FC236}">
                <a16:creationId xmlns:a16="http://schemas.microsoft.com/office/drawing/2014/main" id="{F49F55C0-0191-4EF6-A36B-D20B09204761}"/>
              </a:ext>
            </a:extLst>
          </p:cNvPr>
          <p:cNvSpPr>
            <a:spLocks noGrp="1"/>
          </p:cNvSpPr>
          <p:nvPr/>
        </p:nvSpPr>
        <p:spPr>
          <a:xfrm>
            <a:off x="609600" y="1604962"/>
            <a:ext cx="10858500" cy="466725"/>
          </a:xfrm>
          <a:prstGeom prst="rect">
            <a:avLst/>
          </a:prstGeom>
          <a:noFill/>
          <a:ln w="0">
            <a:noFill/>
          </a:ln>
        </p:spPr>
        <p:txBody>
          <a:bodyPr wrap="square" lIns="0" tIns="0" rIns="0" bIns="0" anchor="t">
            <a:noAutofit/>
          </a:bodyPr>
          <a:lstStyle/>
          <a:p>
            <a:pPr>
              <a:defRPr sz="1500" b="0">
                <a:solidFill>
                  <a:srgbClr val="66746B"/>
                </a:solidFill>
                <a:latin typeface="Calibri"/>
                <a:ea typeface="Calibri"/>
                <a:cs typeface="Calibri"/>
              </a:defRPr>
            </a:pPr>
            <a:r>
              <a:rPr lang="en-US" sz="1500" b="0" dirty="0">
                <a:solidFill>
                  <a:srgbClr val="66746B"/>
                </a:solidFill>
                <a:latin typeface="Calibri"/>
                <a:ea typeface="Calibri"/>
                <a:cs typeface="Calibri"/>
              </a:rPr>
              <a:t>Target </a:t>
            </a:r>
            <a:r>
              <a:rPr lang="en-US" sz="1500" b="0" dirty="0" err="1">
                <a:solidFill>
                  <a:srgbClr val="66746B"/>
                </a:solidFill>
                <a:latin typeface="Calibri"/>
                <a:ea typeface="Calibri"/>
                <a:cs typeface="Calibri"/>
              </a:rPr>
              <a:t>bisa</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dilaksanakan</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mungkin</a:t>
            </a:r>
            <a:r>
              <a:rPr lang="en-US" sz="1500" b="0" dirty="0">
                <a:solidFill>
                  <a:srgbClr val="66746B"/>
                </a:solidFill>
                <a:latin typeface="Calibri"/>
                <a:ea typeface="Calibri"/>
                <a:cs typeface="Calibri"/>
              </a:rPr>
              <a:t> di </a:t>
            </a:r>
            <a:r>
              <a:rPr lang="en-US" sz="1500" b="0" dirty="0" err="1">
                <a:solidFill>
                  <a:srgbClr val="66746B"/>
                </a:solidFill>
                <a:latin typeface="Calibri"/>
                <a:ea typeface="Calibri"/>
                <a:cs typeface="Calibri"/>
              </a:rPr>
              <a:t>bulan</a:t>
            </a:r>
            <a:r>
              <a:rPr lang="en-US" sz="1500" b="0" dirty="0">
                <a:solidFill>
                  <a:srgbClr val="66746B"/>
                </a:solidFill>
                <a:latin typeface="Calibri"/>
                <a:ea typeface="Calibri"/>
                <a:cs typeface="Calibri"/>
              </a:rPr>
              <a:t> November. Kita </a:t>
            </a:r>
            <a:r>
              <a:rPr lang="en-US" sz="1500" b="0" dirty="0" err="1">
                <a:solidFill>
                  <a:srgbClr val="66746B"/>
                </a:solidFill>
                <a:latin typeface="Calibri"/>
                <a:ea typeface="Calibri"/>
                <a:cs typeface="Calibri"/>
              </a:rPr>
              <a:t>bisa</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mulai</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sosialisasikan</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saat</a:t>
            </a:r>
            <a:r>
              <a:rPr lang="en-US" sz="1500" b="0" dirty="0">
                <a:solidFill>
                  <a:srgbClr val="66746B"/>
                </a:solidFill>
                <a:latin typeface="Calibri"/>
                <a:ea typeface="Calibri"/>
                <a:cs typeface="Calibri"/>
              </a:rPr>
              <a:t> co-</a:t>
            </a:r>
            <a:r>
              <a:rPr lang="en-US" sz="1500" b="0" dirty="0" err="1">
                <a:solidFill>
                  <a:srgbClr val="66746B"/>
                </a:solidFill>
                <a:latin typeface="Calibri"/>
                <a:ea typeface="Calibri"/>
                <a:cs typeface="Calibri"/>
              </a:rPr>
              <a:t>hort</a:t>
            </a:r>
            <a:r>
              <a:rPr lang="en-US" sz="1500" b="0" dirty="0">
                <a:solidFill>
                  <a:srgbClr val="66746B"/>
                </a:solidFill>
                <a:latin typeface="Calibri"/>
                <a:ea typeface="Calibri"/>
                <a:cs typeface="Calibri"/>
              </a:rPr>
              <a:t> Founder’s Live </a:t>
            </a:r>
            <a:r>
              <a:rPr lang="en-US" sz="1500" b="0" dirty="0" err="1">
                <a:solidFill>
                  <a:srgbClr val="66746B"/>
                </a:solidFill>
                <a:latin typeface="Calibri"/>
                <a:ea typeface="Calibri"/>
                <a:cs typeface="Calibri"/>
              </a:rPr>
              <a:t>pertama</a:t>
            </a:r>
            <a:r>
              <a:rPr lang="en-US" sz="1500" b="0" dirty="0">
                <a:solidFill>
                  <a:srgbClr val="66746B"/>
                </a:solidFill>
                <a:latin typeface="Calibri"/>
                <a:ea typeface="Calibri"/>
                <a:cs typeface="Calibri"/>
              </a:rPr>
              <a:t>.</a:t>
            </a:r>
            <a:endParaRPr sz="1500" b="0" dirty="0">
              <a:solidFill>
                <a:srgbClr val="66746B"/>
              </a:solidFill>
              <a:latin typeface="Calibri"/>
              <a:ea typeface="Calibri"/>
              <a:cs typeface="Calibri"/>
            </a:endParaRPr>
          </a:p>
        </p:txBody>
      </p:sp>
      <p:sp>
        <p:nvSpPr>
          <p:cNvPr id="5" name="Straight Connector 4">
            <a:extLst>
              <a:ext uri="{FF2B5EF4-FFF2-40B4-BE49-F238E27FC236}">
                <a16:creationId xmlns:a16="http://schemas.microsoft.com/office/drawing/2014/main" id="{5472D513-427D-4655-B83B-73314FA4A94C}"/>
              </a:ext>
            </a:extLst>
          </p:cNvPr>
          <p:cNvSpPr>
            <a:spLocks noGrp="1"/>
          </p:cNvSpPr>
          <p:nvPr/>
        </p:nvSpPr>
        <p:spPr>
          <a:xfrm>
            <a:off x="609600" y="6381750"/>
            <a:ext cx="10972800" cy="0"/>
          </a:xfrm>
          <a:prstGeom prst="line">
            <a:avLst/>
          </a:prstGeom>
          <a:noFill/>
          <a:ln w="9525">
            <a:solidFill>
              <a:srgbClr val="DCE5DE"/>
            </a:solidFill>
          </a:ln>
        </p:spPr>
      </p:sp>
      <p:sp>
        <p:nvSpPr>
          <p:cNvPr id="6" name="text-123">
            <a:extLst>
              <a:ext uri="{FF2B5EF4-FFF2-40B4-BE49-F238E27FC236}">
                <a16:creationId xmlns:a16="http://schemas.microsoft.com/office/drawing/2014/main" id="{1B724CA6-CA3E-4419-A00A-3D5921168EF3}"/>
              </a:ext>
            </a:extLst>
          </p:cNvPr>
          <p:cNvSpPr>
            <a:spLocks noGrp="1"/>
          </p:cNvSpPr>
          <p:nvPr/>
        </p:nvSpPr>
        <p:spPr>
          <a:xfrm>
            <a:off x="609600" y="6505575"/>
            <a:ext cx="10191750" cy="209550"/>
          </a:xfrm>
          <a:prstGeom prst="rect">
            <a:avLst/>
          </a:prstGeom>
          <a:noFill/>
          <a:ln w="0">
            <a:noFill/>
          </a:ln>
        </p:spPr>
        <p:txBody>
          <a:bodyPr wrap="square" lIns="0" tIns="0" rIns="0" bIns="0" anchor="t">
            <a:noAutofit/>
          </a:bodyPr>
          <a:lstStyle/>
          <a:p>
            <a:pPr>
              <a:defRPr sz="825" b="0">
                <a:solidFill>
                  <a:srgbClr val="66746B"/>
                </a:solidFill>
                <a:latin typeface="Calibri"/>
                <a:ea typeface="Calibri"/>
                <a:cs typeface="Calibri"/>
              </a:defRPr>
            </a:pPr>
            <a:r>
              <a:rPr sz="825" b="0">
                <a:solidFill>
                  <a:srgbClr val="66746B"/>
                </a:solidFill>
                <a:latin typeface="Calibri"/>
                <a:ea typeface="Calibri"/>
                <a:cs typeface="Calibri"/>
              </a:rPr>
              <a:t>Rencana internal CMC. Speaker, tanggal dan harga pilot menunggu konfirmasi.</a:t>
            </a:r>
          </a:p>
        </p:txBody>
      </p:sp>
      <p:sp>
        <p:nvSpPr>
          <p:cNvPr id="7" name="text-124">
            <a:extLst>
              <a:ext uri="{FF2B5EF4-FFF2-40B4-BE49-F238E27FC236}">
                <a16:creationId xmlns:a16="http://schemas.microsoft.com/office/drawing/2014/main" id="{3C63804A-9D97-4B23-B9EB-DE830523F1CA}"/>
              </a:ext>
            </a:extLst>
          </p:cNvPr>
          <p:cNvSpPr>
            <a:spLocks noGrp="1"/>
          </p:cNvSpPr>
          <p:nvPr/>
        </p:nvSpPr>
        <p:spPr>
          <a:xfrm>
            <a:off x="11125200" y="6486525"/>
            <a:ext cx="438150" cy="228600"/>
          </a:xfrm>
          <a:prstGeom prst="rect">
            <a:avLst/>
          </a:prstGeom>
          <a:noFill/>
          <a:ln w="0">
            <a:noFill/>
          </a:ln>
        </p:spPr>
        <p:txBody>
          <a:bodyPr wrap="square" lIns="0" tIns="0" rIns="0" bIns="0" anchor="t">
            <a:noAutofit/>
          </a:bodyPr>
          <a:lstStyle/>
          <a:p>
            <a:pPr>
              <a:defRPr sz="1050" b="1">
                <a:solidFill>
                  <a:srgbClr val="123F32"/>
                </a:solidFill>
                <a:latin typeface="Calibri"/>
                <a:ea typeface="Calibri"/>
                <a:cs typeface="Calibri"/>
              </a:defRPr>
            </a:pPr>
            <a:r>
              <a:rPr sz="1050" b="1">
                <a:solidFill>
                  <a:srgbClr val="123F32"/>
                </a:solidFill>
                <a:latin typeface="Calibri"/>
                <a:ea typeface="Calibri"/>
                <a:cs typeface="Calibri"/>
              </a:rPr>
              <a:t>08</a:t>
            </a:r>
          </a:p>
        </p:txBody>
      </p:sp>
      <p:sp>
        <p:nvSpPr>
          <p:cNvPr id="8" name="text-125">
            <a:extLst>
              <a:ext uri="{FF2B5EF4-FFF2-40B4-BE49-F238E27FC236}">
                <a16:creationId xmlns:a16="http://schemas.microsoft.com/office/drawing/2014/main" id="{9671BE1C-2128-40D9-A649-853BC446B140}"/>
              </a:ext>
            </a:extLst>
          </p:cNvPr>
          <p:cNvSpPr>
            <a:spLocks noGrp="1"/>
          </p:cNvSpPr>
          <p:nvPr/>
        </p:nvSpPr>
        <p:spPr>
          <a:xfrm>
            <a:off x="609600" y="2724150"/>
            <a:ext cx="4048125" cy="1381125"/>
          </a:xfrm>
          <a:prstGeom prst="rect">
            <a:avLst/>
          </a:prstGeom>
          <a:noFill/>
          <a:ln w="0">
            <a:noFill/>
          </a:ln>
        </p:spPr>
        <p:txBody>
          <a:bodyPr wrap="square" lIns="0" tIns="0" rIns="0" bIns="0" anchor="t">
            <a:noAutofit/>
          </a:bodyPr>
          <a:lstStyle/>
          <a:p>
            <a:pPr>
              <a:defRPr sz="8625" b="1">
                <a:solidFill>
                  <a:srgbClr val="123F32"/>
                </a:solidFill>
                <a:latin typeface="Calibri"/>
                <a:ea typeface="Calibri"/>
                <a:cs typeface="Calibri"/>
              </a:defRPr>
            </a:pPr>
            <a:r>
              <a:rPr sz="8625" b="1">
                <a:solidFill>
                  <a:srgbClr val="123F32"/>
                </a:solidFill>
                <a:latin typeface="Calibri"/>
                <a:ea typeface="Calibri"/>
                <a:cs typeface="Calibri"/>
              </a:rPr>
              <a:t>20</a:t>
            </a:r>
          </a:p>
        </p:txBody>
      </p:sp>
      <p:sp>
        <p:nvSpPr>
          <p:cNvPr id="9" name="text-126">
            <a:extLst>
              <a:ext uri="{FF2B5EF4-FFF2-40B4-BE49-F238E27FC236}">
                <a16:creationId xmlns:a16="http://schemas.microsoft.com/office/drawing/2014/main" id="{20A4A0DE-C588-47A3-BED5-E182168FAB64}"/>
              </a:ext>
            </a:extLst>
          </p:cNvPr>
          <p:cNvSpPr>
            <a:spLocks noGrp="1"/>
          </p:cNvSpPr>
          <p:nvPr/>
        </p:nvSpPr>
        <p:spPr>
          <a:xfrm>
            <a:off x="647700" y="4210050"/>
            <a:ext cx="4410075" cy="361950"/>
          </a:xfrm>
          <a:prstGeom prst="rect">
            <a:avLst/>
          </a:prstGeom>
          <a:noFill/>
          <a:ln w="0">
            <a:noFill/>
          </a:ln>
        </p:spPr>
        <p:txBody>
          <a:bodyPr wrap="square" lIns="0" tIns="0" rIns="0" bIns="0" anchor="t">
            <a:noAutofit/>
          </a:bodyPr>
          <a:lstStyle/>
          <a:p>
            <a:pPr>
              <a:defRPr sz="1950" b="1">
                <a:solidFill>
                  <a:srgbClr val="123F32"/>
                </a:solidFill>
                <a:latin typeface="Calibri"/>
                <a:ea typeface="Calibri"/>
                <a:cs typeface="Calibri"/>
              </a:defRPr>
            </a:pPr>
            <a:r>
              <a:rPr sz="1950" b="1">
                <a:solidFill>
                  <a:srgbClr val="123F32"/>
                </a:solidFill>
                <a:latin typeface="Calibri"/>
                <a:ea typeface="Calibri"/>
                <a:cs typeface="Calibri"/>
              </a:rPr>
              <a:t>maksimal peserta berbayar</a:t>
            </a:r>
          </a:p>
        </p:txBody>
      </p:sp>
      <p:sp>
        <p:nvSpPr>
          <p:cNvPr id="10" name="text-127">
            <a:extLst>
              <a:ext uri="{FF2B5EF4-FFF2-40B4-BE49-F238E27FC236}">
                <a16:creationId xmlns:a16="http://schemas.microsoft.com/office/drawing/2014/main" id="{F099F2E3-784C-4C6E-ABE4-7E0EEFBD9F3C}"/>
              </a:ext>
            </a:extLst>
          </p:cNvPr>
          <p:cNvSpPr>
            <a:spLocks noGrp="1"/>
          </p:cNvSpPr>
          <p:nvPr/>
        </p:nvSpPr>
        <p:spPr>
          <a:xfrm>
            <a:off x="6372225" y="2762250"/>
            <a:ext cx="4953000" cy="409575"/>
          </a:xfrm>
          <a:prstGeom prst="rect">
            <a:avLst/>
          </a:prstGeom>
          <a:noFill/>
          <a:ln w="0">
            <a:noFill/>
          </a:ln>
        </p:spPr>
        <p:txBody>
          <a:bodyPr wrap="square" lIns="0" tIns="0" rIns="0" bIns="0" anchor="t">
            <a:noAutofit/>
          </a:bodyPr>
          <a:lstStyle/>
          <a:p>
            <a:pPr>
              <a:defRPr sz="2475" b="1">
                <a:solidFill>
                  <a:srgbClr val="123F32"/>
                </a:solidFill>
                <a:latin typeface="Calibri"/>
                <a:ea typeface="Calibri"/>
                <a:cs typeface="Calibri"/>
              </a:defRPr>
            </a:pPr>
            <a:r>
              <a:rPr sz="2475" b="1">
                <a:solidFill>
                  <a:srgbClr val="123F32"/>
                </a:solidFill>
                <a:latin typeface="Calibri"/>
                <a:ea typeface="Calibri"/>
                <a:cs typeface="Calibri"/>
              </a:rPr>
              <a:t>1 Master</a:t>
            </a:r>
          </a:p>
        </p:txBody>
      </p:sp>
      <p:sp>
        <p:nvSpPr>
          <p:cNvPr id="11" name="text-128">
            <a:extLst>
              <a:ext uri="{FF2B5EF4-FFF2-40B4-BE49-F238E27FC236}">
                <a16:creationId xmlns:a16="http://schemas.microsoft.com/office/drawing/2014/main" id="{401E314A-E92B-45A8-BDC8-AA8830260EEF}"/>
              </a:ext>
            </a:extLst>
          </p:cNvPr>
          <p:cNvSpPr>
            <a:spLocks noGrp="1"/>
          </p:cNvSpPr>
          <p:nvPr/>
        </p:nvSpPr>
        <p:spPr>
          <a:xfrm>
            <a:off x="6372225" y="3352800"/>
            <a:ext cx="5095875" cy="447675"/>
          </a:xfrm>
          <a:prstGeom prst="rect">
            <a:avLst/>
          </a:prstGeom>
          <a:noFill/>
          <a:ln w="0">
            <a:noFill/>
          </a:ln>
        </p:spPr>
        <p:txBody>
          <a:bodyPr wrap="square" lIns="0" tIns="0" rIns="0" bIns="0" anchor="t">
            <a:noAutofit/>
          </a:bodyPr>
          <a:lstStyle/>
          <a:p>
            <a:pPr>
              <a:defRPr sz="2475" b="1">
                <a:solidFill>
                  <a:srgbClr val="123F32"/>
                </a:solidFill>
                <a:latin typeface="Calibri"/>
                <a:ea typeface="Calibri"/>
                <a:cs typeface="Calibri"/>
              </a:defRPr>
            </a:pPr>
            <a:r>
              <a:rPr sz="2475" b="1">
                <a:solidFill>
                  <a:srgbClr val="123F32"/>
                </a:solidFill>
                <a:latin typeface="Calibri"/>
                <a:ea typeface="Calibri"/>
                <a:cs typeface="Calibri"/>
              </a:rPr>
              <a:t>1× sebulan minimum</a:t>
            </a:r>
          </a:p>
        </p:txBody>
      </p:sp>
      <p:sp>
        <p:nvSpPr>
          <p:cNvPr id="12" name="text-129">
            <a:extLst>
              <a:ext uri="{FF2B5EF4-FFF2-40B4-BE49-F238E27FC236}">
                <a16:creationId xmlns:a16="http://schemas.microsoft.com/office/drawing/2014/main" id="{24322655-F904-4EBA-A584-6792DB26B724}"/>
              </a:ext>
            </a:extLst>
          </p:cNvPr>
          <p:cNvSpPr>
            <a:spLocks noGrp="1"/>
          </p:cNvSpPr>
          <p:nvPr/>
        </p:nvSpPr>
        <p:spPr>
          <a:xfrm>
            <a:off x="6372225" y="3943350"/>
            <a:ext cx="4953000" cy="400050"/>
          </a:xfrm>
          <a:prstGeom prst="rect">
            <a:avLst/>
          </a:prstGeom>
          <a:noFill/>
          <a:ln w="0">
            <a:noFill/>
          </a:ln>
        </p:spPr>
        <p:txBody>
          <a:bodyPr wrap="square" lIns="0" tIns="0" rIns="0" bIns="0" anchor="t">
            <a:noAutofit/>
          </a:bodyPr>
          <a:lstStyle/>
          <a:p>
            <a:pPr>
              <a:defRPr sz="2175" b="1">
                <a:solidFill>
                  <a:srgbClr val="123F32"/>
                </a:solidFill>
                <a:latin typeface="Calibri"/>
                <a:ea typeface="Calibri"/>
                <a:cs typeface="Calibri"/>
              </a:defRPr>
            </a:pPr>
            <a:r>
              <a:rPr lang="en-US" sz="2175" b="1" dirty="0">
                <a:solidFill>
                  <a:srgbClr val="123F32"/>
                </a:solidFill>
                <a:latin typeface="Calibri"/>
                <a:ea typeface="Calibri"/>
                <a:cs typeface="Calibri"/>
              </a:rPr>
              <a:t>Ada talk show </a:t>
            </a:r>
            <a:r>
              <a:rPr lang="en-US" sz="2175" b="1" dirty="0" err="1">
                <a:solidFill>
                  <a:srgbClr val="123F32"/>
                </a:solidFill>
                <a:latin typeface="Calibri"/>
                <a:ea typeface="Calibri"/>
                <a:cs typeface="Calibri"/>
              </a:rPr>
              <a:t>biar</a:t>
            </a:r>
            <a:r>
              <a:rPr lang="en-US" sz="2175" b="1" dirty="0">
                <a:solidFill>
                  <a:srgbClr val="123F32"/>
                </a:solidFill>
                <a:latin typeface="Calibri"/>
                <a:ea typeface="Calibri"/>
                <a:cs typeface="Calibri"/>
              </a:rPr>
              <a:t> </a:t>
            </a:r>
            <a:r>
              <a:rPr lang="en-US" sz="2175" b="1" dirty="0" err="1">
                <a:solidFill>
                  <a:srgbClr val="123F32"/>
                </a:solidFill>
                <a:latin typeface="Calibri"/>
                <a:ea typeface="Calibri"/>
                <a:cs typeface="Calibri"/>
              </a:rPr>
              <a:t>interaktif</a:t>
            </a:r>
            <a:endParaRPr sz="2175" b="1" dirty="0">
              <a:solidFill>
                <a:srgbClr val="123F32"/>
              </a:solidFill>
              <a:latin typeface="Calibri"/>
              <a:ea typeface="Calibri"/>
              <a:cs typeface="Calibri"/>
            </a:endParaRPr>
          </a:p>
        </p:txBody>
      </p:sp>
      <p:sp>
        <p:nvSpPr>
          <p:cNvPr id="13" name="text-130">
            <a:extLst>
              <a:ext uri="{FF2B5EF4-FFF2-40B4-BE49-F238E27FC236}">
                <a16:creationId xmlns:a16="http://schemas.microsoft.com/office/drawing/2014/main" id="{008A9995-6F16-41F0-A603-663BD4493C96}"/>
              </a:ext>
            </a:extLst>
          </p:cNvPr>
          <p:cNvSpPr>
            <a:spLocks noGrp="1"/>
          </p:cNvSpPr>
          <p:nvPr/>
        </p:nvSpPr>
        <p:spPr>
          <a:xfrm>
            <a:off x="6372225" y="4514850"/>
            <a:ext cx="4953000" cy="400050"/>
          </a:xfrm>
          <a:prstGeom prst="rect">
            <a:avLst/>
          </a:prstGeom>
          <a:noFill/>
          <a:ln w="0">
            <a:noFill/>
          </a:ln>
        </p:spPr>
        <p:txBody>
          <a:bodyPr wrap="square" lIns="0" tIns="0" rIns="0" bIns="0" anchor="t">
            <a:noAutofit/>
          </a:bodyPr>
          <a:lstStyle/>
          <a:p>
            <a:pPr>
              <a:defRPr sz="2175" b="1">
                <a:solidFill>
                  <a:srgbClr val="123F32"/>
                </a:solidFill>
                <a:latin typeface="Calibri"/>
                <a:ea typeface="Calibri"/>
                <a:cs typeface="Calibri"/>
              </a:defRPr>
            </a:pPr>
            <a:r>
              <a:rPr sz="2175" b="1">
                <a:solidFill>
                  <a:srgbClr val="123F32"/>
                </a:solidFill>
                <a:latin typeface="Calibri"/>
                <a:ea typeface="Calibri"/>
                <a:cs typeface="Calibri"/>
              </a:rPr>
              <a:t>Tanpa recording</a:t>
            </a:r>
          </a:p>
        </p:txBody>
      </p:sp>
      <p:sp>
        <p:nvSpPr>
          <p:cNvPr id="14" name="Straight Connector 13">
            <a:extLst>
              <a:ext uri="{FF2B5EF4-FFF2-40B4-BE49-F238E27FC236}">
                <a16:creationId xmlns:a16="http://schemas.microsoft.com/office/drawing/2014/main" id="{9BB1C22E-3793-4750-9187-5DBADE02EF7A}"/>
              </a:ext>
            </a:extLst>
          </p:cNvPr>
          <p:cNvSpPr>
            <a:spLocks noGrp="1"/>
          </p:cNvSpPr>
          <p:nvPr/>
        </p:nvSpPr>
        <p:spPr>
          <a:xfrm>
            <a:off x="609600" y="5762625"/>
            <a:ext cx="10972800" cy="0"/>
          </a:xfrm>
          <a:prstGeom prst="line">
            <a:avLst/>
          </a:prstGeom>
          <a:noFill/>
          <a:ln w="9525">
            <a:solidFill>
              <a:srgbClr val="DCE5DE"/>
            </a:solidFill>
          </a:ln>
        </p:spPr>
      </p:sp>
      <p:sp>
        <p:nvSpPr>
          <p:cNvPr id="15" name="text-131">
            <a:extLst>
              <a:ext uri="{FF2B5EF4-FFF2-40B4-BE49-F238E27FC236}">
                <a16:creationId xmlns:a16="http://schemas.microsoft.com/office/drawing/2014/main" id="{2B39D7BD-4C47-4D2B-B0D2-B25FB7D3D856}"/>
              </a:ext>
            </a:extLst>
          </p:cNvPr>
          <p:cNvSpPr>
            <a:spLocks noGrp="1"/>
          </p:cNvSpPr>
          <p:nvPr/>
        </p:nvSpPr>
        <p:spPr>
          <a:xfrm>
            <a:off x="609600" y="5953125"/>
            <a:ext cx="10906125" cy="323850"/>
          </a:xfrm>
          <a:prstGeom prst="rect">
            <a:avLst/>
          </a:prstGeom>
          <a:noFill/>
          <a:ln w="0">
            <a:noFill/>
          </a:ln>
        </p:spPr>
        <p:txBody>
          <a:bodyPr wrap="square" lIns="0" tIns="0" rIns="0" bIns="0" anchor="t">
            <a:noAutofit/>
          </a:bodyPr>
          <a:lstStyle/>
          <a:p>
            <a:pPr>
              <a:defRPr sz="1650" b="1">
                <a:solidFill>
                  <a:srgbClr val="123F32"/>
                </a:solidFill>
                <a:latin typeface="Calibri"/>
                <a:ea typeface="Calibri"/>
                <a:cs typeface="Calibri"/>
              </a:defRPr>
            </a:pPr>
            <a:r>
              <a:rPr sz="1650" b="1" dirty="0">
                <a:solidFill>
                  <a:srgbClr val="123F32"/>
                </a:solidFill>
                <a:latin typeface="Calibri"/>
                <a:ea typeface="Calibri"/>
                <a:cs typeface="Calibri"/>
              </a:rPr>
              <a:t>Private room di Jakarta</a:t>
            </a:r>
            <a:r>
              <a:rPr lang="en-US" sz="1650" b="1" dirty="0">
                <a:solidFill>
                  <a:srgbClr val="123F32"/>
                </a:solidFill>
                <a:latin typeface="Calibri"/>
                <a:ea typeface="Calibri"/>
                <a:cs typeface="Calibri"/>
              </a:rPr>
              <a:t> / Menara Kadin</a:t>
            </a:r>
            <a:r>
              <a:rPr sz="1650" b="1" dirty="0">
                <a:solidFill>
                  <a:srgbClr val="123F32"/>
                </a:solidFill>
                <a:latin typeface="Calibri"/>
                <a:ea typeface="Calibri"/>
                <a:cs typeface="Calibri"/>
              </a:rPr>
              <a:t>. </a:t>
            </a:r>
            <a:r>
              <a:rPr sz="1650" b="1" dirty="0" err="1">
                <a:solidFill>
                  <a:srgbClr val="123F32"/>
                </a:solidFill>
                <a:latin typeface="Calibri"/>
                <a:ea typeface="Calibri"/>
                <a:cs typeface="Calibri"/>
              </a:rPr>
              <a:t>Peserta</a:t>
            </a:r>
            <a:r>
              <a:rPr lang="en-US" sz="1650" b="1" dirty="0">
                <a:solidFill>
                  <a:srgbClr val="123F32"/>
                </a:solidFill>
                <a:latin typeface="Calibri"/>
                <a:ea typeface="Calibri"/>
                <a:cs typeface="Calibri"/>
              </a:rPr>
              <a:t> </a:t>
            </a:r>
            <a:r>
              <a:rPr lang="en-US" sz="1650" b="1" dirty="0" err="1">
                <a:solidFill>
                  <a:srgbClr val="123F32"/>
                </a:solidFill>
                <a:latin typeface="Calibri"/>
                <a:ea typeface="Calibri"/>
                <a:cs typeface="Calibri"/>
              </a:rPr>
              <a:t>bayar</a:t>
            </a:r>
            <a:r>
              <a:rPr lang="en-US" sz="1650" b="1" dirty="0">
                <a:solidFill>
                  <a:srgbClr val="123F32"/>
                </a:solidFill>
                <a:latin typeface="Calibri"/>
                <a:ea typeface="Calibri"/>
                <a:cs typeface="Calibri"/>
              </a:rPr>
              <a:t> &amp; </a:t>
            </a:r>
            <a:r>
              <a:rPr lang="en-US" sz="1650" b="1" dirty="0" err="1">
                <a:solidFill>
                  <a:srgbClr val="123F32"/>
                </a:solidFill>
                <a:latin typeface="Calibri"/>
                <a:ea typeface="Calibri"/>
                <a:cs typeface="Calibri"/>
              </a:rPr>
              <a:t>bisa</a:t>
            </a:r>
            <a:r>
              <a:rPr lang="en-US" sz="1650" b="1" dirty="0">
                <a:solidFill>
                  <a:srgbClr val="123F32"/>
                </a:solidFill>
                <a:latin typeface="Calibri"/>
                <a:ea typeface="Calibri"/>
                <a:cs typeface="Calibri"/>
              </a:rPr>
              <a:t> </a:t>
            </a:r>
            <a:r>
              <a:rPr lang="en-US" sz="1650" b="1" dirty="0" err="1">
                <a:solidFill>
                  <a:srgbClr val="123F32"/>
                </a:solidFill>
                <a:latin typeface="Calibri"/>
                <a:ea typeface="Calibri"/>
                <a:cs typeface="Calibri"/>
              </a:rPr>
              <a:t>kita</a:t>
            </a:r>
            <a:r>
              <a:rPr lang="en-US" sz="1650" b="1" dirty="0">
                <a:solidFill>
                  <a:srgbClr val="123F32"/>
                </a:solidFill>
                <a:latin typeface="Calibri"/>
                <a:ea typeface="Calibri"/>
                <a:cs typeface="Calibri"/>
              </a:rPr>
              <a:t> </a:t>
            </a:r>
            <a:r>
              <a:rPr sz="1650" b="1" dirty="0" err="1">
                <a:solidFill>
                  <a:srgbClr val="123F32"/>
                </a:solidFill>
                <a:latin typeface="Calibri"/>
                <a:ea typeface="Calibri"/>
                <a:cs typeface="Calibri"/>
              </a:rPr>
              <a:t>seleksi</a:t>
            </a:r>
            <a:r>
              <a:rPr sz="1650" b="1" dirty="0">
                <a:solidFill>
                  <a:srgbClr val="123F32"/>
                </a:solidFill>
                <a:latin typeface="Calibri"/>
                <a:ea typeface="Calibri"/>
                <a:cs typeface="Calibri"/>
              </a:rPr>
              <a:t> </a:t>
            </a:r>
            <a:r>
              <a:rPr sz="1650" b="1" dirty="0" err="1">
                <a:solidFill>
                  <a:srgbClr val="123F32"/>
                </a:solidFill>
                <a:latin typeface="Calibri"/>
                <a:ea typeface="Calibri"/>
                <a:cs typeface="Calibri"/>
              </a:rPr>
              <a:t>sesuai</a:t>
            </a:r>
            <a:r>
              <a:rPr sz="1650" b="1" dirty="0">
                <a:solidFill>
                  <a:srgbClr val="123F32"/>
                </a:solidFill>
                <a:latin typeface="Calibri"/>
                <a:ea typeface="Calibri"/>
                <a:cs typeface="Calibri"/>
              </a:rPr>
              <a:t> </a:t>
            </a:r>
            <a:r>
              <a:rPr sz="1650" b="1" dirty="0" err="1">
                <a:solidFill>
                  <a:srgbClr val="123F32"/>
                </a:solidFill>
                <a:latin typeface="Calibri"/>
                <a:ea typeface="Calibri"/>
                <a:cs typeface="Calibri"/>
              </a:rPr>
              <a:t>topik</a:t>
            </a:r>
            <a:r>
              <a:rPr sz="1650" b="1" dirty="0">
                <a:solidFill>
                  <a:srgbClr val="123F32"/>
                </a:solidFill>
                <a:latin typeface="Calibri"/>
                <a:ea typeface="Calibri"/>
                <a:cs typeface="Calibri"/>
              </a:rPr>
              <a:t>.</a:t>
            </a:r>
          </a:p>
        </p:txBody>
      </p:sp>
    </p:spTree>
    <p:extLst>
      <p:ext uri="{BB962C8B-B14F-4D97-AF65-F5344CB8AC3E}">
        <p14:creationId xmlns:p14="http://schemas.microsoft.com/office/powerpoint/2010/main" val="865664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 name="Picture 24"/>
          <p:cNvPicPr>
            <a:picLocks noChangeAspect="1"/>
          </p:cNvPicPr>
          <p:nvPr/>
        </p:nvPicPr>
        <p:blipFill>
          <a:blip r:embed="rId3"/>
          <a:stretch/>
        </p:blipFill>
        <p:spPr>
          <a:xfrm>
            <a:off x="8340498" y="161925"/>
            <a:ext cx="3235779" cy="828675"/>
          </a:xfrm>
          <a:prstGeom prst="rect">
            <a:avLst/>
          </a:prstGeom>
        </p:spPr>
      </p:pic>
      <p:sp>
        <p:nvSpPr>
          <p:cNvPr id="2" name="text-132">
            <a:extLst>
              <a:ext uri="{FF2B5EF4-FFF2-40B4-BE49-F238E27FC236}">
                <a16:creationId xmlns:a16="http://schemas.microsoft.com/office/drawing/2014/main" id="{128210A0-BCD1-4031-B17B-238853085A8D}"/>
              </a:ext>
            </a:extLst>
          </p:cNvPr>
          <p:cNvSpPr>
            <a:spLocks noGrp="1"/>
          </p:cNvSpPr>
          <p:nvPr/>
        </p:nvSpPr>
        <p:spPr>
          <a:xfrm>
            <a:off x="609600" y="409575"/>
            <a:ext cx="7096125" cy="209550"/>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02 / RANGKAIAN DINNER</a:t>
            </a:r>
          </a:p>
        </p:txBody>
      </p:sp>
      <p:sp>
        <p:nvSpPr>
          <p:cNvPr id="3" name="text-133">
            <a:extLst>
              <a:ext uri="{FF2B5EF4-FFF2-40B4-BE49-F238E27FC236}">
                <a16:creationId xmlns:a16="http://schemas.microsoft.com/office/drawing/2014/main" id="{5D57166C-E298-402E-8760-EC83A6F83CE5}"/>
              </a:ext>
            </a:extLst>
          </p:cNvPr>
          <p:cNvSpPr>
            <a:spLocks noGrp="1"/>
          </p:cNvSpPr>
          <p:nvPr/>
        </p:nvSpPr>
        <p:spPr>
          <a:xfrm>
            <a:off x="609600" y="1143000"/>
            <a:ext cx="10858500" cy="876300"/>
          </a:xfrm>
          <a:prstGeom prst="rect">
            <a:avLst/>
          </a:prstGeom>
          <a:noFill/>
          <a:ln w="0">
            <a:noFill/>
          </a:ln>
        </p:spPr>
        <p:txBody>
          <a:bodyPr wrap="square" lIns="0" tIns="0" rIns="0" bIns="0" anchor="t">
            <a:noAutofit/>
          </a:bodyPr>
          <a:lstStyle/>
          <a:p>
            <a:pPr>
              <a:defRPr sz="2850" b="1">
                <a:solidFill>
                  <a:srgbClr val="123F32"/>
                </a:solidFill>
                <a:latin typeface="Calibri"/>
                <a:ea typeface="Calibri"/>
                <a:cs typeface="Calibri"/>
              </a:defRPr>
            </a:pPr>
            <a:r>
              <a:rPr sz="2850" b="1">
                <a:solidFill>
                  <a:srgbClr val="123F32"/>
                </a:solidFill>
                <a:latin typeface="Calibri"/>
                <a:ea typeface="Calibri"/>
                <a:cs typeface="Calibri"/>
              </a:rPr>
              <a:t>Sebagian besar waktu dipakai untuk diskusi langsung</a:t>
            </a:r>
          </a:p>
        </p:txBody>
      </p:sp>
      <p:sp>
        <p:nvSpPr>
          <p:cNvPr id="4" name="text-134">
            <a:extLst>
              <a:ext uri="{FF2B5EF4-FFF2-40B4-BE49-F238E27FC236}">
                <a16:creationId xmlns:a16="http://schemas.microsoft.com/office/drawing/2014/main" id="{5EFB95B4-F2C7-4786-B608-5ACD00AABF82}"/>
              </a:ext>
            </a:extLst>
          </p:cNvPr>
          <p:cNvSpPr>
            <a:spLocks noGrp="1"/>
          </p:cNvSpPr>
          <p:nvPr/>
        </p:nvSpPr>
        <p:spPr>
          <a:xfrm>
            <a:off x="609600" y="1657349"/>
            <a:ext cx="10858500" cy="466725"/>
          </a:xfrm>
          <a:prstGeom prst="rect">
            <a:avLst/>
          </a:prstGeom>
          <a:noFill/>
          <a:ln w="0">
            <a:noFill/>
          </a:ln>
        </p:spPr>
        <p:txBody>
          <a:bodyPr wrap="square" lIns="0" tIns="0" rIns="0" bIns="0" anchor="t">
            <a:noAutofit/>
          </a:bodyPr>
          <a:lstStyle/>
          <a:p>
            <a:pPr>
              <a:defRPr sz="1500" b="0">
                <a:solidFill>
                  <a:srgbClr val="66746B"/>
                </a:solidFill>
                <a:latin typeface="Calibri"/>
                <a:ea typeface="Calibri"/>
                <a:cs typeface="Calibri"/>
              </a:defRPr>
            </a:pPr>
            <a:r>
              <a:rPr lang="en-US" sz="1500" b="0" dirty="0">
                <a:solidFill>
                  <a:srgbClr val="66746B"/>
                </a:solidFill>
                <a:latin typeface="Calibri"/>
                <a:ea typeface="Calibri"/>
                <a:cs typeface="Calibri"/>
              </a:rPr>
              <a:t>Kita </a:t>
            </a:r>
            <a:r>
              <a:rPr lang="en-US" sz="1500" b="0" dirty="0" err="1">
                <a:solidFill>
                  <a:srgbClr val="66746B"/>
                </a:solidFill>
                <a:latin typeface="Calibri"/>
                <a:ea typeface="Calibri"/>
                <a:cs typeface="Calibri"/>
              </a:rPr>
              <a:t>fokuskan</a:t>
            </a:r>
            <a:r>
              <a:rPr lang="en-US" sz="1500" b="0" dirty="0">
                <a:solidFill>
                  <a:srgbClr val="66746B"/>
                </a:solidFill>
                <a:latin typeface="Calibri"/>
                <a:ea typeface="Calibri"/>
                <a:cs typeface="Calibri"/>
              </a:rPr>
              <a:t> acara </a:t>
            </a:r>
            <a:r>
              <a:rPr lang="en-US" sz="1500" b="0" dirty="0" err="1">
                <a:solidFill>
                  <a:srgbClr val="66746B"/>
                </a:solidFill>
                <a:latin typeface="Calibri"/>
                <a:ea typeface="Calibri"/>
                <a:cs typeface="Calibri"/>
              </a:rPr>
              <a:t>untuk</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mengenal</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lebih</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dekat</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tamu</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undangan</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kita</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belajar</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dari</a:t>
            </a:r>
            <a:r>
              <a:rPr lang="en-US" sz="1500" b="0" dirty="0">
                <a:solidFill>
                  <a:srgbClr val="66746B"/>
                </a:solidFill>
                <a:latin typeface="Calibri"/>
                <a:ea typeface="Calibri"/>
                <a:cs typeface="Calibri"/>
              </a:rPr>
              <a:t> acara intimate dinner </a:t>
            </a:r>
            <a:r>
              <a:rPr lang="en-US" sz="1500" b="0" dirty="0" err="1">
                <a:solidFill>
                  <a:srgbClr val="66746B"/>
                </a:solidFill>
                <a:latin typeface="Calibri"/>
                <a:ea typeface="Calibri"/>
                <a:cs typeface="Calibri"/>
              </a:rPr>
              <a:t>dengan</a:t>
            </a:r>
            <a:r>
              <a:rPr lang="en-US" sz="1500" b="0" dirty="0">
                <a:solidFill>
                  <a:srgbClr val="66746B"/>
                </a:solidFill>
                <a:latin typeface="Calibri"/>
                <a:ea typeface="Calibri"/>
                <a:cs typeface="Calibri"/>
              </a:rPr>
              <a:t> Pak Sandi</a:t>
            </a:r>
            <a:endParaRPr sz="1500" b="0" dirty="0">
              <a:solidFill>
                <a:srgbClr val="66746B"/>
              </a:solidFill>
              <a:latin typeface="Calibri"/>
              <a:ea typeface="Calibri"/>
              <a:cs typeface="Calibri"/>
            </a:endParaRPr>
          </a:p>
        </p:txBody>
      </p:sp>
      <p:sp>
        <p:nvSpPr>
          <p:cNvPr id="5" name="Straight Connector 4">
            <a:extLst>
              <a:ext uri="{FF2B5EF4-FFF2-40B4-BE49-F238E27FC236}">
                <a16:creationId xmlns:a16="http://schemas.microsoft.com/office/drawing/2014/main" id="{404BE5FF-0219-4D83-A6AF-C2E629F1A0C0}"/>
              </a:ext>
            </a:extLst>
          </p:cNvPr>
          <p:cNvSpPr>
            <a:spLocks noGrp="1"/>
          </p:cNvSpPr>
          <p:nvPr/>
        </p:nvSpPr>
        <p:spPr>
          <a:xfrm>
            <a:off x="609600" y="6381750"/>
            <a:ext cx="10972800" cy="0"/>
          </a:xfrm>
          <a:prstGeom prst="line">
            <a:avLst/>
          </a:prstGeom>
          <a:noFill/>
          <a:ln w="9525">
            <a:solidFill>
              <a:srgbClr val="DCE5DE"/>
            </a:solidFill>
          </a:ln>
        </p:spPr>
      </p:sp>
      <p:sp>
        <p:nvSpPr>
          <p:cNvPr id="6" name="text-135">
            <a:extLst>
              <a:ext uri="{FF2B5EF4-FFF2-40B4-BE49-F238E27FC236}">
                <a16:creationId xmlns:a16="http://schemas.microsoft.com/office/drawing/2014/main" id="{B64BD044-BC6C-4660-8690-C51B79A5B186}"/>
              </a:ext>
            </a:extLst>
          </p:cNvPr>
          <p:cNvSpPr>
            <a:spLocks noGrp="1"/>
          </p:cNvSpPr>
          <p:nvPr/>
        </p:nvSpPr>
        <p:spPr>
          <a:xfrm>
            <a:off x="609600" y="6505575"/>
            <a:ext cx="10191750" cy="209550"/>
          </a:xfrm>
          <a:prstGeom prst="rect">
            <a:avLst/>
          </a:prstGeom>
          <a:noFill/>
          <a:ln w="0">
            <a:noFill/>
          </a:ln>
        </p:spPr>
        <p:txBody>
          <a:bodyPr wrap="square" lIns="0" tIns="0" rIns="0" bIns="0" anchor="t">
            <a:noAutofit/>
          </a:bodyPr>
          <a:lstStyle/>
          <a:p>
            <a:pPr>
              <a:defRPr sz="825" b="0">
                <a:solidFill>
                  <a:srgbClr val="66746B"/>
                </a:solidFill>
                <a:latin typeface="Calibri"/>
                <a:ea typeface="Calibri"/>
                <a:cs typeface="Calibri"/>
              </a:defRPr>
            </a:pPr>
            <a:r>
              <a:rPr sz="825" b="0">
                <a:solidFill>
                  <a:srgbClr val="66746B"/>
                </a:solidFill>
                <a:latin typeface="Calibri"/>
                <a:ea typeface="Calibri"/>
                <a:cs typeface="Calibri"/>
              </a:rPr>
              <a:t>Rencana internal CMC. Speaker, tanggal dan harga pilot menunggu konfirmasi.</a:t>
            </a:r>
          </a:p>
        </p:txBody>
      </p:sp>
      <p:sp>
        <p:nvSpPr>
          <p:cNvPr id="7" name="text-136">
            <a:extLst>
              <a:ext uri="{FF2B5EF4-FFF2-40B4-BE49-F238E27FC236}">
                <a16:creationId xmlns:a16="http://schemas.microsoft.com/office/drawing/2014/main" id="{E6D74D37-0028-4D2C-8764-4581F6AF8AAA}"/>
              </a:ext>
            </a:extLst>
          </p:cNvPr>
          <p:cNvSpPr>
            <a:spLocks noGrp="1"/>
          </p:cNvSpPr>
          <p:nvPr/>
        </p:nvSpPr>
        <p:spPr>
          <a:xfrm>
            <a:off x="11125200" y="6486525"/>
            <a:ext cx="438150" cy="228600"/>
          </a:xfrm>
          <a:prstGeom prst="rect">
            <a:avLst/>
          </a:prstGeom>
          <a:noFill/>
          <a:ln w="0">
            <a:noFill/>
          </a:ln>
        </p:spPr>
        <p:txBody>
          <a:bodyPr wrap="square" lIns="0" tIns="0" rIns="0" bIns="0" anchor="t">
            <a:noAutofit/>
          </a:bodyPr>
          <a:lstStyle/>
          <a:p>
            <a:pPr>
              <a:defRPr sz="1050" b="1">
                <a:solidFill>
                  <a:srgbClr val="123F32"/>
                </a:solidFill>
                <a:latin typeface="Calibri"/>
                <a:ea typeface="Calibri"/>
                <a:cs typeface="Calibri"/>
              </a:defRPr>
            </a:pPr>
            <a:r>
              <a:rPr sz="1050" b="1">
                <a:solidFill>
                  <a:srgbClr val="123F32"/>
                </a:solidFill>
                <a:latin typeface="Calibri"/>
                <a:ea typeface="Calibri"/>
                <a:cs typeface="Calibri"/>
              </a:rPr>
              <a:t>09</a:t>
            </a:r>
          </a:p>
        </p:txBody>
      </p:sp>
      <p:sp>
        <p:nvSpPr>
          <p:cNvPr id="8" name="text-137">
            <a:extLst>
              <a:ext uri="{FF2B5EF4-FFF2-40B4-BE49-F238E27FC236}">
                <a16:creationId xmlns:a16="http://schemas.microsoft.com/office/drawing/2014/main" id="{8095D950-6DDE-4391-9512-73B2D6D506E1}"/>
              </a:ext>
            </a:extLst>
          </p:cNvPr>
          <p:cNvSpPr>
            <a:spLocks noGrp="1"/>
          </p:cNvSpPr>
          <p:nvPr/>
        </p:nvSpPr>
        <p:spPr>
          <a:xfrm>
            <a:off x="609600" y="2676525"/>
            <a:ext cx="2371725" cy="428625"/>
          </a:xfrm>
          <a:prstGeom prst="rect">
            <a:avLst/>
          </a:prstGeom>
          <a:noFill/>
          <a:ln w="0">
            <a:noFill/>
          </a:ln>
        </p:spPr>
        <p:txBody>
          <a:bodyPr wrap="square" lIns="0" tIns="0" rIns="0" bIns="0" anchor="t">
            <a:noAutofit/>
          </a:bodyPr>
          <a:lstStyle/>
          <a:p>
            <a:pPr>
              <a:defRPr sz="2400" b="1">
                <a:solidFill>
                  <a:srgbClr val="6F9182"/>
                </a:solidFill>
                <a:latin typeface="Calibri"/>
                <a:ea typeface="Calibri"/>
                <a:cs typeface="Calibri"/>
              </a:defRPr>
            </a:pPr>
            <a:r>
              <a:rPr sz="2400" b="1">
                <a:solidFill>
                  <a:srgbClr val="6F9182"/>
                </a:solidFill>
                <a:latin typeface="Calibri"/>
                <a:ea typeface="Calibri"/>
                <a:cs typeface="Calibri"/>
              </a:rPr>
              <a:t>30 menit</a:t>
            </a:r>
          </a:p>
        </p:txBody>
      </p:sp>
      <p:sp>
        <p:nvSpPr>
          <p:cNvPr id="9" name="text-138">
            <a:extLst>
              <a:ext uri="{FF2B5EF4-FFF2-40B4-BE49-F238E27FC236}">
                <a16:creationId xmlns:a16="http://schemas.microsoft.com/office/drawing/2014/main" id="{16755F30-3456-4194-ABC1-4B16CEE0E823}"/>
              </a:ext>
            </a:extLst>
          </p:cNvPr>
          <p:cNvSpPr>
            <a:spLocks noGrp="1"/>
          </p:cNvSpPr>
          <p:nvPr/>
        </p:nvSpPr>
        <p:spPr>
          <a:xfrm>
            <a:off x="3190875" y="2676525"/>
            <a:ext cx="8172450" cy="333375"/>
          </a:xfrm>
          <a:prstGeom prst="rect">
            <a:avLst/>
          </a:prstGeom>
          <a:noFill/>
          <a:ln w="0">
            <a:noFill/>
          </a:ln>
        </p:spPr>
        <p:txBody>
          <a:bodyPr wrap="square" lIns="0" tIns="0" rIns="0" bIns="0" anchor="t">
            <a:noAutofit/>
          </a:bodyPr>
          <a:lstStyle/>
          <a:p>
            <a:pPr>
              <a:defRPr sz="2100" b="1">
                <a:solidFill>
                  <a:srgbClr val="123F32"/>
                </a:solidFill>
                <a:latin typeface="Calibri"/>
                <a:ea typeface="Calibri"/>
                <a:cs typeface="Calibri"/>
              </a:defRPr>
            </a:pPr>
            <a:r>
              <a:rPr sz="2100" b="1">
                <a:solidFill>
                  <a:srgbClr val="123F32"/>
                </a:solidFill>
                <a:latin typeface="Calibri"/>
                <a:ea typeface="Calibri"/>
                <a:cs typeface="Calibri"/>
              </a:rPr>
              <a:t>Datang &amp; networking</a:t>
            </a:r>
          </a:p>
        </p:txBody>
      </p:sp>
      <p:sp>
        <p:nvSpPr>
          <p:cNvPr id="10" name="text-139">
            <a:extLst>
              <a:ext uri="{FF2B5EF4-FFF2-40B4-BE49-F238E27FC236}">
                <a16:creationId xmlns:a16="http://schemas.microsoft.com/office/drawing/2014/main" id="{28935AAA-BCAD-405A-B9AA-CAF360F0A3A0}"/>
              </a:ext>
            </a:extLst>
          </p:cNvPr>
          <p:cNvSpPr>
            <a:spLocks noGrp="1"/>
          </p:cNvSpPr>
          <p:nvPr/>
        </p:nvSpPr>
        <p:spPr>
          <a:xfrm>
            <a:off x="3190875" y="3057525"/>
            <a:ext cx="8172450" cy="304800"/>
          </a:xfrm>
          <a:prstGeom prst="rect">
            <a:avLst/>
          </a:prstGeom>
          <a:noFill/>
          <a:ln w="0">
            <a:noFill/>
          </a:ln>
        </p:spPr>
        <p:txBody>
          <a:bodyPr wrap="square" lIns="0" tIns="0" rIns="0" bIns="0" anchor="t">
            <a:noAutofit/>
          </a:bodyPr>
          <a:lstStyle/>
          <a:p>
            <a:pPr>
              <a:defRPr sz="1575" b="0">
                <a:solidFill>
                  <a:srgbClr val="66746B"/>
                </a:solidFill>
                <a:latin typeface="Calibri"/>
                <a:ea typeface="Calibri"/>
                <a:cs typeface="Calibri"/>
              </a:defRPr>
            </a:pPr>
            <a:r>
              <a:rPr sz="1575" b="0">
                <a:solidFill>
                  <a:srgbClr val="66746B"/>
                </a:solidFill>
                <a:latin typeface="Calibri"/>
                <a:ea typeface="Calibri"/>
                <a:cs typeface="Calibri"/>
              </a:rPr>
              <a:t>Kenalan singkat dengan peserta lain</a:t>
            </a:r>
          </a:p>
        </p:txBody>
      </p:sp>
      <p:sp>
        <p:nvSpPr>
          <p:cNvPr id="11" name="Straight Connector 10">
            <a:extLst>
              <a:ext uri="{FF2B5EF4-FFF2-40B4-BE49-F238E27FC236}">
                <a16:creationId xmlns:a16="http://schemas.microsoft.com/office/drawing/2014/main" id="{6A5B750C-0647-467E-96B8-5E65BFEFE6E0}"/>
              </a:ext>
            </a:extLst>
          </p:cNvPr>
          <p:cNvSpPr>
            <a:spLocks noGrp="1"/>
          </p:cNvSpPr>
          <p:nvPr/>
        </p:nvSpPr>
        <p:spPr>
          <a:xfrm>
            <a:off x="609600" y="3333750"/>
            <a:ext cx="10972800" cy="0"/>
          </a:xfrm>
          <a:prstGeom prst="line">
            <a:avLst/>
          </a:prstGeom>
          <a:noFill/>
          <a:ln w="9525">
            <a:solidFill>
              <a:srgbClr val="DCE5DE"/>
            </a:solidFill>
          </a:ln>
        </p:spPr>
      </p:sp>
      <p:sp>
        <p:nvSpPr>
          <p:cNvPr id="12" name="text-140">
            <a:extLst>
              <a:ext uri="{FF2B5EF4-FFF2-40B4-BE49-F238E27FC236}">
                <a16:creationId xmlns:a16="http://schemas.microsoft.com/office/drawing/2014/main" id="{4D94BEB0-7543-4D64-99B6-FE4FD6AB91EC}"/>
              </a:ext>
            </a:extLst>
          </p:cNvPr>
          <p:cNvSpPr>
            <a:spLocks noGrp="1"/>
          </p:cNvSpPr>
          <p:nvPr/>
        </p:nvSpPr>
        <p:spPr>
          <a:xfrm>
            <a:off x="609600" y="3409950"/>
            <a:ext cx="2371725" cy="428625"/>
          </a:xfrm>
          <a:prstGeom prst="rect">
            <a:avLst/>
          </a:prstGeom>
          <a:noFill/>
          <a:ln w="0">
            <a:noFill/>
          </a:ln>
        </p:spPr>
        <p:txBody>
          <a:bodyPr wrap="square" lIns="0" tIns="0" rIns="0" bIns="0" anchor="t">
            <a:noAutofit/>
          </a:bodyPr>
          <a:lstStyle/>
          <a:p>
            <a:pPr>
              <a:defRPr sz="2400" b="1">
                <a:solidFill>
                  <a:srgbClr val="6F9182"/>
                </a:solidFill>
                <a:latin typeface="Calibri"/>
                <a:ea typeface="Calibri"/>
                <a:cs typeface="Calibri"/>
              </a:defRPr>
            </a:pPr>
            <a:r>
              <a:rPr sz="2400" b="1">
                <a:solidFill>
                  <a:srgbClr val="6F9182"/>
                </a:solidFill>
                <a:latin typeface="Calibri"/>
                <a:ea typeface="Calibri"/>
                <a:cs typeface="Calibri"/>
              </a:rPr>
              <a:t>45 menit</a:t>
            </a:r>
          </a:p>
        </p:txBody>
      </p:sp>
      <p:sp>
        <p:nvSpPr>
          <p:cNvPr id="13" name="text-141">
            <a:extLst>
              <a:ext uri="{FF2B5EF4-FFF2-40B4-BE49-F238E27FC236}">
                <a16:creationId xmlns:a16="http://schemas.microsoft.com/office/drawing/2014/main" id="{7CEAA754-38A9-4E53-9B98-D80694784CD2}"/>
              </a:ext>
            </a:extLst>
          </p:cNvPr>
          <p:cNvSpPr>
            <a:spLocks noGrp="1"/>
          </p:cNvSpPr>
          <p:nvPr/>
        </p:nvSpPr>
        <p:spPr>
          <a:xfrm>
            <a:off x="3190875" y="3409950"/>
            <a:ext cx="8172450" cy="333375"/>
          </a:xfrm>
          <a:prstGeom prst="rect">
            <a:avLst/>
          </a:prstGeom>
          <a:noFill/>
          <a:ln w="0">
            <a:noFill/>
          </a:ln>
        </p:spPr>
        <p:txBody>
          <a:bodyPr wrap="square" lIns="0" tIns="0" rIns="0" bIns="0" anchor="t">
            <a:noAutofit/>
          </a:bodyPr>
          <a:lstStyle/>
          <a:p>
            <a:pPr>
              <a:defRPr sz="2100" b="1">
                <a:solidFill>
                  <a:srgbClr val="123F32"/>
                </a:solidFill>
                <a:latin typeface="Calibri"/>
                <a:ea typeface="Calibri"/>
                <a:cs typeface="Calibri"/>
              </a:defRPr>
            </a:pPr>
            <a:r>
              <a:rPr lang="en-US" sz="2100" b="1" dirty="0">
                <a:solidFill>
                  <a:srgbClr val="123F32"/>
                </a:solidFill>
                <a:latin typeface="Calibri"/>
                <a:ea typeface="Calibri"/>
                <a:cs typeface="Calibri"/>
              </a:rPr>
              <a:t>Talk Show with Master</a:t>
            </a:r>
            <a:endParaRPr sz="2100" b="1" dirty="0">
              <a:solidFill>
                <a:srgbClr val="123F32"/>
              </a:solidFill>
              <a:latin typeface="Calibri"/>
              <a:ea typeface="Calibri"/>
              <a:cs typeface="Calibri"/>
            </a:endParaRPr>
          </a:p>
        </p:txBody>
      </p:sp>
      <p:sp>
        <p:nvSpPr>
          <p:cNvPr id="14" name="text-142">
            <a:extLst>
              <a:ext uri="{FF2B5EF4-FFF2-40B4-BE49-F238E27FC236}">
                <a16:creationId xmlns:a16="http://schemas.microsoft.com/office/drawing/2014/main" id="{7A18A407-AEA3-45E9-B727-6BAB15AA5392}"/>
              </a:ext>
            </a:extLst>
          </p:cNvPr>
          <p:cNvSpPr>
            <a:spLocks noGrp="1"/>
          </p:cNvSpPr>
          <p:nvPr/>
        </p:nvSpPr>
        <p:spPr>
          <a:xfrm>
            <a:off x="3190875" y="3790950"/>
            <a:ext cx="8172450" cy="304800"/>
          </a:xfrm>
          <a:prstGeom prst="rect">
            <a:avLst/>
          </a:prstGeom>
          <a:noFill/>
          <a:ln w="0">
            <a:noFill/>
          </a:ln>
        </p:spPr>
        <p:txBody>
          <a:bodyPr wrap="square" lIns="0" tIns="0" rIns="0" bIns="0" anchor="t">
            <a:noAutofit/>
          </a:bodyPr>
          <a:lstStyle/>
          <a:p>
            <a:pPr>
              <a:defRPr sz="1575" b="0">
                <a:solidFill>
                  <a:srgbClr val="66746B"/>
                </a:solidFill>
                <a:latin typeface="Calibri"/>
                <a:ea typeface="Calibri"/>
                <a:cs typeface="Calibri"/>
              </a:defRPr>
            </a:pPr>
            <a:r>
              <a:rPr sz="1575" b="0">
                <a:solidFill>
                  <a:srgbClr val="66746B"/>
                </a:solidFill>
                <a:latin typeface="Calibri"/>
                <a:ea typeface="Calibri"/>
                <a:cs typeface="Calibri"/>
              </a:rPr>
              <a:t>Pengalaman, keputusan dan pelajaran utama</a:t>
            </a:r>
          </a:p>
        </p:txBody>
      </p:sp>
      <p:sp>
        <p:nvSpPr>
          <p:cNvPr id="15" name="Straight Connector 14">
            <a:extLst>
              <a:ext uri="{FF2B5EF4-FFF2-40B4-BE49-F238E27FC236}">
                <a16:creationId xmlns:a16="http://schemas.microsoft.com/office/drawing/2014/main" id="{3AF5C755-AB79-4CDF-A87C-F84D5F823BE0}"/>
              </a:ext>
            </a:extLst>
          </p:cNvPr>
          <p:cNvSpPr>
            <a:spLocks noGrp="1"/>
          </p:cNvSpPr>
          <p:nvPr/>
        </p:nvSpPr>
        <p:spPr>
          <a:xfrm>
            <a:off x="609600" y="4067175"/>
            <a:ext cx="10972800" cy="0"/>
          </a:xfrm>
          <a:prstGeom prst="line">
            <a:avLst/>
          </a:prstGeom>
          <a:noFill/>
          <a:ln w="9525">
            <a:solidFill>
              <a:srgbClr val="DCE5DE"/>
            </a:solidFill>
          </a:ln>
        </p:spPr>
      </p:sp>
      <p:sp>
        <p:nvSpPr>
          <p:cNvPr id="16" name="text-143">
            <a:extLst>
              <a:ext uri="{FF2B5EF4-FFF2-40B4-BE49-F238E27FC236}">
                <a16:creationId xmlns:a16="http://schemas.microsoft.com/office/drawing/2014/main" id="{67B2B44B-2305-47C6-B151-FDA29864E22C}"/>
              </a:ext>
            </a:extLst>
          </p:cNvPr>
          <p:cNvSpPr>
            <a:spLocks noGrp="1"/>
          </p:cNvSpPr>
          <p:nvPr/>
        </p:nvSpPr>
        <p:spPr>
          <a:xfrm>
            <a:off x="609600" y="4143375"/>
            <a:ext cx="2371725" cy="428625"/>
          </a:xfrm>
          <a:prstGeom prst="rect">
            <a:avLst/>
          </a:prstGeom>
          <a:noFill/>
          <a:ln w="0">
            <a:noFill/>
          </a:ln>
        </p:spPr>
        <p:txBody>
          <a:bodyPr wrap="square" lIns="0" tIns="0" rIns="0" bIns="0" anchor="t">
            <a:noAutofit/>
          </a:bodyPr>
          <a:lstStyle/>
          <a:p>
            <a:pPr>
              <a:defRPr sz="2400" b="1">
                <a:solidFill>
                  <a:srgbClr val="123F32"/>
                </a:solidFill>
                <a:latin typeface="Calibri"/>
                <a:ea typeface="Calibri"/>
                <a:cs typeface="Calibri"/>
              </a:defRPr>
            </a:pPr>
            <a:r>
              <a:rPr sz="2400" b="1">
                <a:solidFill>
                  <a:srgbClr val="123F32"/>
                </a:solidFill>
                <a:latin typeface="Calibri"/>
                <a:ea typeface="Calibri"/>
                <a:cs typeface="Calibri"/>
              </a:rPr>
              <a:t>60 menit</a:t>
            </a:r>
          </a:p>
        </p:txBody>
      </p:sp>
      <p:sp>
        <p:nvSpPr>
          <p:cNvPr id="17" name="text-144">
            <a:extLst>
              <a:ext uri="{FF2B5EF4-FFF2-40B4-BE49-F238E27FC236}">
                <a16:creationId xmlns:a16="http://schemas.microsoft.com/office/drawing/2014/main" id="{DE88AA03-C210-4A73-A14D-9A4810531ABD}"/>
              </a:ext>
            </a:extLst>
          </p:cNvPr>
          <p:cNvSpPr>
            <a:spLocks noGrp="1"/>
          </p:cNvSpPr>
          <p:nvPr/>
        </p:nvSpPr>
        <p:spPr>
          <a:xfrm>
            <a:off x="3190875" y="4143375"/>
            <a:ext cx="8172450" cy="333375"/>
          </a:xfrm>
          <a:prstGeom prst="rect">
            <a:avLst/>
          </a:prstGeom>
          <a:noFill/>
          <a:ln w="0">
            <a:noFill/>
          </a:ln>
        </p:spPr>
        <p:txBody>
          <a:bodyPr wrap="square" lIns="0" tIns="0" rIns="0" bIns="0" anchor="t">
            <a:noAutofit/>
          </a:bodyPr>
          <a:lstStyle/>
          <a:p>
            <a:pPr>
              <a:defRPr sz="2100" b="1">
                <a:solidFill>
                  <a:srgbClr val="123F32"/>
                </a:solidFill>
                <a:latin typeface="Calibri"/>
                <a:ea typeface="Calibri"/>
                <a:cs typeface="Calibri"/>
              </a:defRPr>
            </a:pPr>
            <a:r>
              <a:rPr lang="en-US" sz="2100" b="1" dirty="0">
                <a:solidFill>
                  <a:srgbClr val="123F32"/>
                </a:solidFill>
                <a:latin typeface="Calibri"/>
                <a:ea typeface="Calibri"/>
                <a:cs typeface="Calibri"/>
              </a:rPr>
              <a:t>Q&amp;A</a:t>
            </a:r>
            <a:endParaRPr sz="2100" b="1" dirty="0">
              <a:solidFill>
                <a:srgbClr val="123F32"/>
              </a:solidFill>
              <a:latin typeface="Calibri"/>
              <a:ea typeface="Calibri"/>
              <a:cs typeface="Calibri"/>
            </a:endParaRPr>
          </a:p>
        </p:txBody>
      </p:sp>
      <p:sp>
        <p:nvSpPr>
          <p:cNvPr id="18" name="text-145">
            <a:extLst>
              <a:ext uri="{FF2B5EF4-FFF2-40B4-BE49-F238E27FC236}">
                <a16:creationId xmlns:a16="http://schemas.microsoft.com/office/drawing/2014/main" id="{2AAB23A2-796B-44BB-B813-2200EA9CCE00}"/>
              </a:ext>
            </a:extLst>
          </p:cNvPr>
          <p:cNvSpPr>
            <a:spLocks noGrp="1"/>
          </p:cNvSpPr>
          <p:nvPr/>
        </p:nvSpPr>
        <p:spPr>
          <a:xfrm>
            <a:off x="3190875" y="4524375"/>
            <a:ext cx="8172450" cy="304800"/>
          </a:xfrm>
          <a:prstGeom prst="rect">
            <a:avLst/>
          </a:prstGeom>
          <a:noFill/>
          <a:ln w="0">
            <a:noFill/>
          </a:ln>
        </p:spPr>
        <p:txBody>
          <a:bodyPr wrap="square" lIns="0" tIns="0" rIns="0" bIns="0" anchor="t">
            <a:noAutofit/>
          </a:bodyPr>
          <a:lstStyle/>
          <a:p>
            <a:pPr>
              <a:defRPr sz="1575" b="0">
                <a:solidFill>
                  <a:srgbClr val="66746B"/>
                </a:solidFill>
                <a:latin typeface="Calibri"/>
                <a:ea typeface="Calibri"/>
                <a:cs typeface="Calibri"/>
              </a:defRPr>
            </a:pPr>
            <a:r>
              <a:rPr lang="en-US" sz="1575" dirty="0" err="1">
                <a:solidFill>
                  <a:srgbClr val="66746B"/>
                </a:solidFill>
                <a:latin typeface="Calibri"/>
                <a:ea typeface="Calibri"/>
                <a:cs typeface="Calibri"/>
              </a:rPr>
              <a:t>Mengumpulkan</a:t>
            </a:r>
            <a:r>
              <a:rPr lang="en-US" sz="1575" dirty="0">
                <a:solidFill>
                  <a:srgbClr val="66746B"/>
                </a:solidFill>
                <a:latin typeface="Calibri"/>
                <a:ea typeface="Calibri"/>
                <a:cs typeface="Calibri"/>
              </a:rPr>
              <a:t> </a:t>
            </a:r>
            <a:r>
              <a:rPr sz="1575" b="0" dirty="0" err="1">
                <a:solidFill>
                  <a:srgbClr val="66746B"/>
                </a:solidFill>
                <a:latin typeface="Calibri"/>
                <a:ea typeface="Calibri"/>
                <a:cs typeface="Calibri"/>
              </a:rPr>
              <a:t>pertanyaan</a:t>
            </a:r>
            <a:r>
              <a:rPr sz="1575" b="0" dirty="0">
                <a:solidFill>
                  <a:srgbClr val="66746B"/>
                </a:solidFill>
                <a:latin typeface="Calibri"/>
                <a:ea typeface="Calibri"/>
                <a:cs typeface="Calibri"/>
              </a:rPr>
              <a:t> </a:t>
            </a:r>
            <a:r>
              <a:rPr sz="1575" b="0" dirty="0" err="1">
                <a:solidFill>
                  <a:srgbClr val="66746B"/>
                </a:solidFill>
                <a:latin typeface="Calibri"/>
                <a:ea typeface="Calibri"/>
                <a:cs typeface="Calibri"/>
              </a:rPr>
              <a:t>peserta</a:t>
            </a:r>
            <a:endParaRPr sz="1575" b="0" dirty="0">
              <a:solidFill>
                <a:srgbClr val="66746B"/>
              </a:solidFill>
              <a:latin typeface="Calibri"/>
              <a:ea typeface="Calibri"/>
              <a:cs typeface="Calibri"/>
            </a:endParaRPr>
          </a:p>
        </p:txBody>
      </p:sp>
      <p:sp>
        <p:nvSpPr>
          <p:cNvPr id="19" name="Straight Connector 18">
            <a:extLst>
              <a:ext uri="{FF2B5EF4-FFF2-40B4-BE49-F238E27FC236}">
                <a16:creationId xmlns:a16="http://schemas.microsoft.com/office/drawing/2014/main" id="{6188068E-0791-453E-83F7-FC854A6E9243}"/>
              </a:ext>
            </a:extLst>
          </p:cNvPr>
          <p:cNvSpPr>
            <a:spLocks noGrp="1"/>
          </p:cNvSpPr>
          <p:nvPr/>
        </p:nvSpPr>
        <p:spPr>
          <a:xfrm>
            <a:off x="609600" y="4800600"/>
            <a:ext cx="10972800" cy="0"/>
          </a:xfrm>
          <a:prstGeom prst="line">
            <a:avLst/>
          </a:prstGeom>
          <a:noFill/>
          <a:ln w="9525">
            <a:solidFill>
              <a:srgbClr val="DCE5DE"/>
            </a:solidFill>
          </a:ln>
        </p:spPr>
      </p:sp>
      <p:sp>
        <p:nvSpPr>
          <p:cNvPr id="20" name="text-146">
            <a:extLst>
              <a:ext uri="{FF2B5EF4-FFF2-40B4-BE49-F238E27FC236}">
                <a16:creationId xmlns:a16="http://schemas.microsoft.com/office/drawing/2014/main" id="{5BF3BF5F-1940-45FB-9C40-645D7A63D746}"/>
              </a:ext>
            </a:extLst>
          </p:cNvPr>
          <p:cNvSpPr>
            <a:spLocks noGrp="1"/>
          </p:cNvSpPr>
          <p:nvPr/>
        </p:nvSpPr>
        <p:spPr>
          <a:xfrm>
            <a:off x="609600" y="4876800"/>
            <a:ext cx="2371725" cy="428625"/>
          </a:xfrm>
          <a:prstGeom prst="rect">
            <a:avLst/>
          </a:prstGeom>
          <a:noFill/>
          <a:ln w="0">
            <a:noFill/>
          </a:ln>
        </p:spPr>
        <p:txBody>
          <a:bodyPr wrap="square" lIns="0" tIns="0" rIns="0" bIns="0" anchor="t">
            <a:noAutofit/>
          </a:bodyPr>
          <a:lstStyle/>
          <a:p>
            <a:pPr>
              <a:defRPr sz="2400" b="1">
                <a:solidFill>
                  <a:srgbClr val="6F9182"/>
                </a:solidFill>
                <a:latin typeface="Calibri"/>
                <a:ea typeface="Calibri"/>
                <a:cs typeface="Calibri"/>
              </a:defRPr>
            </a:pPr>
            <a:r>
              <a:rPr sz="2400" b="1">
                <a:solidFill>
                  <a:srgbClr val="6F9182"/>
                </a:solidFill>
                <a:latin typeface="Calibri"/>
                <a:ea typeface="Calibri"/>
                <a:cs typeface="Calibri"/>
              </a:rPr>
              <a:t>15 menit</a:t>
            </a:r>
          </a:p>
        </p:txBody>
      </p:sp>
      <p:sp>
        <p:nvSpPr>
          <p:cNvPr id="21" name="text-147">
            <a:extLst>
              <a:ext uri="{FF2B5EF4-FFF2-40B4-BE49-F238E27FC236}">
                <a16:creationId xmlns:a16="http://schemas.microsoft.com/office/drawing/2014/main" id="{EC560BA9-5EEA-44C7-B600-F5FE22490BB1}"/>
              </a:ext>
            </a:extLst>
          </p:cNvPr>
          <p:cNvSpPr>
            <a:spLocks noGrp="1"/>
          </p:cNvSpPr>
          <p:nvPr/>
        </p:nvSpPr>
        <p:spPr>
          <a:xfrm>
            <a:off x="3190875" y="4876800"/>
            <a:ext cx="8172450" cy="333375"/>
          </a:xfrm>
          <a:prstGeom prst="rect">
            <a:avLst/>
          </a:prstGeom>
          <a:noFill/>
          <a:ln w="0">
            <a:noFill/>
          </a:ln>
        </p:spPr>
        <p:txBody>
          <a:bodyPr wrap="square" lIns="0" tIns="0" rIns="0" bIns="0" anchor="t">
            <a:noAutofit/>
          </a:bodyPr>
          <a:lstStyle/>
          <a:p>
            <a:pPr>
              <a:defRPr sz="2100" b="1">
                <a:solidFill>
                  <a:srgbClr val="123F32"/>
                </a:solidFill>
                <a:latin typeface="Calibri"/>
                <a:ea typeface="Calibri"/>
                <a:cs typeface="Calibri"/>
              </a:defRPr>
            </a:pPr>
            <a:r>
              <a:rPr sz="2100" b="1">
                <a:solidFill>
                  <a:srgbClr val="123F32"/>
                </a:solidFill>
                <a:latin typeface="Calibri"/>
                <a:ea typeface="Calibri"/>
                <a:cs typeface="Calibri"/>
              </a:rPr>
              <a:t>Penutup &amp; networking</a:t>
            </a:r>
          </a:p>
        </p:txBody>
      </p:sp>
      <p:sp>
        <p:nvSpPr>
          <p:cNvPr id="22" name="text-148">
            <a:extLst>
              <a:ext uri="{FF2B5EF4-FFF2-40B4-BE49-F238E27FC236}">
                <a16:creationId xmlns:a16="http://schemas.microsoft.com/office/drawing/2014/main" id="{4396C86F-7636-4954-9F7D-BB6F436DF8FA}"/>
              </a:ext>
            </a:extLst>
          </p:cNvPr>
          <p:cNvSpPr>
            <a:spLocks noGrp="1"/>
          </p:cNvSpPr>
          <p:nvPr/>
        </p:nvSpPr>
        <p:spPr>
          <a:xfrm>
            <a:off x="3190875" y="5257800"/>
            <a:ext cx="8172450" cy="304800"/>
          </a:xfrm>
          <a:prstGeom prst="rect">
            <a:avLst/>
          </a:prstGeom>
          <a:noFill/>
          <a:ln w="0">
            <a:noFill/>
          </a:ln>
        </p:spPr>
        <p:txBody>
          <a:bodyPr wrap="square" lIns="0" tIns="0" rIns="0" bIns="0" anchor="t">
            <a:noAutofit/>
          </a:bodyPr>
          <a:lstStyle/>
          <a:p>
            <a:pPr>
              <a:defRPr sz="1575" b="0">
                <a:solidFill>
                  <a:srgbClr val="66746B"/>
                </a:solidFill>
                <a:latin typeface="Calibri"/>
                <a:ea typeface="Calibri"/>
                <a:cs typeface="Calibri"/>
              </a:defRPr>
            </a:pPr>
            <a:r>
              <a:rPr sz="1575" b="0">
                <a:solidFill>
                  <a:srgbClr val="66746B"/>
                </a:solidFill>
                <a:latin typeface="Calibri"/>
                <a:ea typeface="Calibri"/>
                <a:cs typeface="Calibri"/>
              </a:rPr>
              <a:t>Takeaway, tindak lanjut dan foto opsional</a:t>
            </a:r>
          </a:p>
        </p:txBody>
      </p:sp>
      <p:sp>
        <p:nvSpPr>
          <p:cNvPr id="23" name="Straight Connector 22">
            <a:extLst>
              <a:ext uri="{FF2B5EF4-FFF2-40B4-BE49-F238E27FC236}">
                <a16:creationId xmlns:a16="http://schemas.microsoft.com/office/drawing/2014/main" id="{7E708F15-BB4B-454A-9A92-24C47164DACF}"/>
              </a:ext>
            </a:extLst>
          </p:cNvPr>
          <p:cNvSpPr>
            <a:spLocks noGrp="1"/>
          </p:cNvSpPr>
          <p:nvPr/>
        </p:nvSpPr>
        <p:spPr>
          <a:xfrm>
            <a:off x="609600" y="5534025"/>
            <a:ext cx="10972800" cy="0"/>
          </a:xfrm>
          <a:prstGeom prst="line">
            <a:avLst/>
          </a:prstGeom>
          <a:noFill/>
          <a:ln w="9525">
            <a:solidFill>
              <a:srgbClr val="DCE5DE"/>
            </a:solidFill>
          </a:ln>
        </p:spPr>
      </p:sp>
      <p:sp>
        <p:nvSpPr>
          <p:cNvPr id="24" name="text-149">
            <a:extLst>
              <a:ext uri="{FF2B5EF4-FFF2-40B4-BE49-F238E27FC236}">
                <a16:creationId xmlns:a16="http://schemas.microsoft.com/office/drawing/2014/main" id="{DAA26B4F-81DD-458E-8DC9-A8944A93F438}"/>
              </a:ext>
            </a:extLst>
          </p:cNvPr>
          <p:cNvSpPr>
            <a:spLocks noGrp="1"/>
          </p:cNvSpPr>
          <p:nvPr/>
        </p:nvSpPr>
        <p:spPr>
          <a:xfrm>
            <a:off x="609600" y="5972175"/>
            <a:ext cx="10915650" cy="304800"/>
          </a:xfrm>
          <a:prstGeom prst="rect">
            <a:avLst/>
          </a:prstGeom>
          <a:noFill/>
          <a:ln w="0">
            <a:noFill/>
          </a:ln>
        </p:spPr>
        <p:txBody>
          <a:bodyPr wrap="square" lIns="0" tIns="0" rIns="0" bIns="0" anchor="t">
            <a:noAutofit/>
          </a:bodyPr>
          <a:lstStyle/>
          <a:p>
            <a:pPr>
              <a:defRPr sz="1725" b="1">
                <a:solidFill>
                  <a:srgbClr val="123F32"/>
                </a:solidFill>
                <a:latin typeface="Calibri"/>
                <a:ea typeface="Calibri"/>
                <a:cs typeface="Calibri"/>
              </a:defRPr>
            </a:pPr>
            <a:r>
              <a:rPr sz="1725" b="1">
                <a:solidFill>
                  <a:srgbClr val="123F32"/>
                </a:solidFill>
                <a:latin typeface="Calibri"/>
                <a:ea typeface="Calibri"/>
                <a:cs typeface="Calibri"/>
              </a:rPr>
              <a:t>Apply → CMC review → seat offered → payment → confirmed</a:t>
            </a:r>
          </a:p>
        </p:txBody>
      </p:sp>
    </p:spTree>
    <p:extLst>
      <p:ext uri="{BB962C8B-B14F-4D97-AF65-F5344CB8AC3E}">
        <p14:creationId xmlns:p14="http://schemas.microsoft.com/office/powerpoint/2010/main" val="1719331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9" name="Picture 18"/>
          <p:cNvPicPr>
            <a:picLocks noChangeAspect="1"/>
          </p:cNvPicPr>
          <p:nvPr/>
        </p:nvPicPr>
        <p:blipFill>
          <a:blip r:embed="rId3"/>
          <a:stretch/>
        </p:blipFill>
        <p:spPr>
          <a:xfrm>
            <a:off x="8340498" y="161925"/>
            <a:ext cx="3235779" cy="828675"/>
          </a:xfrm>
          <a:prstGeom prst="rect">
            <a:avLst/>
          </a:prstGeom>
        </p:spPr>
      </p:pic>
      <p:sp>
        <p:nvSpPr>
          <p:cNvPr id="2" name="text-150">
            <a:extLst>
              <a:ext uri="{FF2B5EF4-FFF2-40B4-BE49-F238E27FC236}">
                <a16:creationId xmlns:a16="http://schemas.microsoft.com/office/drawing/2014/main" id="{67724B30-5D71-450E-9FD3-6BD176D424A6}"/>
              </a:ext>
            </a:extLst>
          </p:cNvPr>
          <p:cNvSpPr>
            <a:spLocks noGrp="1"/>
          </p:cNvSpPr>
          <p:nvPr/>
        </p:nvSpPr>
        <p:spPr>
          <a:xfrm>
            <a:off x="609600" y="409575"/>
            <a:ext cx="7096125" cy="209550"/>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02 / HARGA &amp; AKUISISI MEMBER</a:t>
            </a:r>
          </a:p>
        </p:txBody>
      </p:sp>
      <p:sp>
        <p:nvSpPr>
          <p:cNvPr id="3" name="text-151">
            <a:extLst>
              <a:ext uri="{FF2B5EF4-FFF2-40B4-BE49-F238E27FC236}">
                <a16:creationId xmlns:a16="http://schemas.microsoft.com/office/drawing/2014/main" id="{F2EBD0AC-4D27-40E2-B92D-496AED73C91F}"/>
              </a:ext>
            </a:extLst>
          </p:cNvPr>
          <p:cNvSpPr>
            <a:spLocks noGrp="1"/>
          </p:cNvSpPr>
          <p:nvPr/>
        </p:nvSpPr>
        <p:spPr>
          <a:xfrm>
            <a:off x="609600" y="1143000"/>
            <a:ext cx="10858500" cy="876300"/>
          </a:xfrm>
          <a:prstGeom prst="rect">
            <a:avLst/>
          </a:prstGeom>
          <a:noFill/>
          <a:ln w="0">
            <a:noFill/>
          </a:ln>
        </p:spPr>
        <p:txBody>
          <a:bodyPr wrap="square" lIns="0" tIns="0" rIns="0" bIns="0" anchor="t">
            <a:noAutofit/>
          </a:bodyPr>
          <a:lstStyle/>
          <a:p>
            <a:pPr>
              <a:defRPr sz="2850" b="1">
                <a:solidFill>
                  <a:srgbClr val="123F32"/>
                </a:solidFill>
                <a:latin typeface="Calibri"/>
                <a:ea typeface="Calibri"/>
                <a:cs typeface="Calibri"/>
              </a:defRPr>
            </a:pPr>
            <a:r>
              <a:rPr sz="2850" b="1">
                <a:solidFill>
                  <a:srgbClr val="123F32"/>
                </a:solidFill>
                <a:latin typeface="Calibri"/>
                <a:ea typeface="Calibri"/>
                <a:cs typeface="Calibri"/>
              </a:rPr>
              <a:t>Gabung member + Dinner Rp3 jt, dibanding tiket umum Rp5 jt</a:t>
            </a:r>
          </a:p>
        </p:txBody>
      </p:sp>
      <p:sp>
        <p:nvSpPr>
          <p:cNvPr id="4" name="text-152">
            <a:extLst>
              <a:ext uri="{FF2B5EF4-FFF2-40B4-BE49-F238E27FC236}">
                <a16:creationId xmlns:a16="http://schemas.microsoft.com/office/drawing/2014/main" id="{F052F1F3-1E72-452E-A615-B10166621B65}"/>
              </a:ext>
            </a:extLst>
          </p:cNvPr>
          <p:cNvSpPr>
            <a:spLocks noGrp="1"/>
          </p:cNvSpPr>
          <p:nvPr/>
        </p:nvSpPr>
        <p:spPr>
          <a:xfrm>
            <a:off x="619125" y="1647826"/>
            <a:ext cx="10858500" cy="466725"/>
          </a:xfrm>
          <a:prstGeom prst="rect">
            <a:avLst/>
          </a:prstGeom>
          <a:noFill/>
          <a:ln w="0">
            <a:noFill/>
          </a:ln>
        </p:spPr>
        <p:txBody>
          <a:bodyPr wrap="square" lIns="0" tIns="0" rIns="0" bIns="0" anchor="t">
            <a:noAutofit/>
          </a:bodyPr>
          <a:lstStyle/>
          <a:p>
            <a:pPr>
              <a:defRPr sz="1500" b="0">
                <a:solidFill>
                  <a:srgbClr val="66746B"/>
                </a:solidFill>
                <a:latin typeface="Calibri"/>
                <a:ea typeface="Calibri"/>
                <a:cs typeface="Calibri"/>
              </a:defRPr>
            </a:pPr>
            <a:r>
              <a:rPr sz="1500" b="0" dirty="0" err="1">
                <a:solidFill>
                  <a:srgbClr val="66746B"/>
                </a:solidFill>
                <a:latin typeface="Calibri"/>
                <a:ea typeface="Calibri"/>
                <a:cs typeface="Calibri"/>
              </a:rPr>
              <a:t>Usulan</a:t>
            </a:r>
            <a:r>
              <a:rPr sz="1500" b="0" dirty="0">
                <a:solidFill>
                  <a:srgbClr val="66746B"/>
                </a:solidFill>
                <a:latin typeface="Calibri"/>
                <a:ea typeface="Calibri"/>
                <a:cs typeface="Calibri"/>
              </a:rPr>
              <a:t> pricing </a:t>
            </a:r>
            <a:r>
              <a:rPr sz="1500" b="0" dirty="0" err="1">
                <a:solidFill>
                  <a:srgbClr val="66746B"/>
                </a:solidFill>
                <a:latin typeface="Calibri"/>
                <a:ea typeface="Calibri"/>
                <a:cs typeface="Calibri"/>
              </a:rPr>
              <a:t>baru</a:t>
            </a:r>
            <a:r>
              <a:rPr sz="1500" b="0" dirty="0">
                <a:solidFill>
                  <a:srgbClr val="66746B"/>
                </a:solidFill>
                <a:latin typeface="Calibri"/>
                <a:ea typeface="Calibri"/>
                <a:cs typeface="Calibri"/>
              </a:rPr>
              <a:t>. </a:t>
            </a:r>
            <a:r>
              <a:rPr sz="1500" b="0" dirty="0" err="1">
                <a:solidFill>
                  <a:srgbClr val="66746B"/>
                </a:solidFill>
                <a:latin typeface="Calibri"/>
                <a:ea typeface="Calibri"/>
                <a:cs typeface="Calibri"/>
              </a:rPr>
              <a:t>Berlaku</a:t>
            </a:r>
            <a:r>
              <a:rPr sz="1500" b="0" dirty="0">
                <a:solidFill>
                  <a:srgbClr val="66746B"/>
                </a:solidFill>
                <a:latin typeface="Calibri"/>
                <a:ea typeface="Calibri"/>
                <a:cs typeface="Calibri"/>
              </a:rPr>
              <a:t> </a:t>
            </a:r>
            <a:r>
              <a:rPr sz="1500" b="0" dirty="0" err="1">
                <a:solidFill>
                  <a:srgbClr val="66746B"/>
                </a:solidFill>
                <a:latin typeface="Calibri"/>
                <a:ea typeface="Calibri"/>
                <a:cs typeface="Calibri"/>
              </a:rPr>
              <a:t>dengan</a:t>
            </a:r>
            <a:r>
              <a:rPr sz="1500" b="0" dirty="0">
                <a:solidFill>
                  <a:srgbClr val="66746B"/>
                </a:solidFill>
                <a:latin typeface="Calibri"/>
                <a:ea typeface="Calibri"/>
                <a:cs typeface="Calibri"/>
              </a:rPr>
              <a:t> membership </a:t>
            </a:r>
            <a:r>
              <a:rPr sz="1500" b="0" dirty="0" err="1">
                <a:solidFill>
                  <a:srgbClr val="66746B"/>
                </a:solidFill>
                <a:latin typeface="Calibri"/>
                <a:ea typeface="Calibri"/>
                <a:cs typeface="Calibri"/>
              </a:rPr>
              <a:t>saat</a:t>
            </a:r>
            <a:r>
              <a:rPr sz="1500" b="0" dirty="0">
                <a:solidFill>
                  <a:srgbClr val="66746B"/>
                </a:solidFill>
                <a:latin typeface="Calibri"/>
                <a:ea typeface="Calibri"/>
                <a:cs typeface="Calibri"/>
              </a:rPr>
              <a:t> </a:t>
            </a:r>
            <a:r>
              <a:rPr sz="1500" b="0" dirty="0" err="1">
                <a:solidFill>
                  <a:srgbClr val="66746B"/>
                </a:solidFill>
                <a:latin typeface="Calibri"/>
                <a:ea typeface="Calibri"/>
                <a:cs typeface="Calibri"/>
              </a:rPr>
              <a:t>ini</a:t>
            </a:r>
            <a:r>
              <a:rPr sz="1500" b="0" dirty="0">
                <a:solidFill>
                  <a:srgbClr val="66746B"/>
                </a:solidFill>
                <a:latin typeface="Calibri"/>
                <a:ea typeface="Calibri"/>
                <a:cs typeface="Calibri"/>
              </a:rPr>
              <a:t> Rp1,5 </a:t>
            </a:r>
            <a:r>
              <a:rPr sz="1500" b="0" dirty="0" err="1">
                <a:solidFill>
                  <a:srgbClr val="66746B"/>
                </a:solidFill>
                <a:latin typeface="Calibri"/>
                <a:ea typeface="Calibri"/>
                <a:cs typeface="Calibri"/>
              </a:rPr>
              <a:t>jt</a:t>
            </a:r>
            <a:r>
              <a:rPr lang="en-US" sz="1500" dirty="0">
                <a:solidFill>
                  <a:srgbClr val="66746B"/>
                </a:solidFill>
                <a:latin typeface="Calibri"/>
                <a:ea typeface="Calibri"/>
                <a:cs typeface="Calibri"/>
              </a:rPr>
              <a:t>,</a:t>
            </a:r>
            <a:r>
              <a:rPr sz="1500" b="0" dirty="0">
                <a:solidFill>
                  <a:srgbClr val="66746B"/>
                </a:solidFill>
                <a:latin typeface="Calibri"/>
                <a:ea typeface="Calibri"/>
                <a:cs typeface="Calibri"/>
              </a:rPr>
              <a:t> seat </a:t>
            </a:r>
            <a:r>
              <a:rPr sz="1500" b="0" dirty="0" err="1">
                <a:solidFill>
                  <a:srgbClr val="66746B"/>
                </a:solidFill>
                <a:latin typeface="Calibri"/>
                <a:ea typeface="Calibri"/>
                <a:cs typeface="Calibri"/>
              </a:rPr>
              <a:t>tetap</a:t>
            </a:r>
            <a:r>
              <a:rPr sz="1500" b="0" dirty="0">
                <a:solidFill>
                  <a:srgbClr val="66746B"/>
                </a:solidFill>
                <a:latin typeface="Calibri"/>
                <a:ea typeface="Calibri"/>
                <a:cs typeface="Calibri"/>
              </a:rPr>
              <a:t> </a:t>
            </a:r>
            <a:r>
              <a:rPr sz="1500" b="0" dirty="0" err="1">
                <a:solidFill>
                  <a:srgbClr val="66746B"/>
                </a:solidFill>
                <a:latin typeface="Calibri"/>
                <a:ea typeface="Calibri"/>
                <a:cs typeface="Calibri"/>
              </a:rPr>
              <a:t>melalui</a:t>
            </a:r>
            <a:r>
              <a:rPr sz="1500" b="0" dirty="0">
                <a:solidFill>
                  <a:srgbClr val="66746B"/>
                </a:solidFill>
                <a:latin typeface="Calibri"/>
                <a:ea typeface="Calibri"/>
                <a:cs typeface="Calibri"/>
              </a:rPr>
              <a:t> </a:t>
            </a:r>
            <a:r>
              <a:rPr sz="1500" b="0" dirty="0" err="1">
                <a:solidFill>
                  <a:srgbClr val="66746B"/>
                </a:solidFill>
                <a:latin typeface="Calibri"/>
                <a:ea typeface="Calibri"/>
                <a:cs typeface="Calibri"/>
              </a:rPr>
              <a:t>seleksi</a:t>
            </a:r>
            <a:r>
              <a:rPr lang="en-US"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mengikuti</a:t>
            </a:r>
            <a:r>
              <a:rPr lang="en-US" sz="1500" b="0" dirty="0">
                <a:solidFill>
                  <a:srgbClr val="66746B"/>
                </a:solidFill>
                <a:latin typeface="Calibri"/>
                <a:ea typeface="Calibri"/>
                <a:cs typeface="Calibri"/>
              </a:rPr>
              <a:t> Founders Club</a:t>
            </a:r>
            <a:r>
              <a:rPr sz="1500" b="0" dirty="0">
                <a:solidFill>
                  <a:srgbClr val="66746B"/>
                </a:solidFill>
                <a:latin typeface="Calibri"/>
                <a:ea typeface="Calibri"/>
                <a:cs typeface="Calibri"/>
              </a:rPr>
              <a:t>.</a:t>
            </a:r>
          </a:p>
        </p:txBody>
      </p:sp>
      <p:sp>
        <p:nvSpPr>
          <p:cNvPr id="5" name="Straight Connector 4">
            <a:extLst>
              <a:ext uri="{FF2B5EF4-FFF2-40B4-BE49-F238E27FC236}">
                <a16:creationId xmlns:a16="http://schemas.microsoft.com/office/drawing/2014/main" id="{83B06990-C46B-44A6-95A1-913A4DC37DD1}"/>
              </a:ext>
            </a:extLst>
          </p:cNvPr>
          <p:cNvSpPr>
            <a:spLocks noGrp="1"/>
          </p:cNvSpPr>
          <p:nvPr/>
        </p:nvSpPr>
        <p:spPr>
          <a:xfrm>
            <a:off x="609600" y="6381750"/>
            <a:ext cx="10972800" cy="0"/>
          </a:xfrm>
          <a:prstGeom prst="line">
            <a:avLst/>
          </a:prstGeom>
          <a:noFill/>
          <a:ln w="9525">
            <a:solidFill>
              <a:srgbClr val="DCE5DE"/>
            </a:solidFill>
          </a:ln>
        </p:spPr>
      </p:sp>
      <p:sp>
        <p:nvSpPr>
          <p:cNvPr id="6" name="text-153">
            <a:extLst>
              <a:ext uri="{FF2B5EF4-FFF2-40B4-BE49-F238E27FC236}">
                <a16:creationId xmlns:a16="http://schemas.microsoft.com/office/drawing/2014/main" id="{01FCBBE7-9A2F-4FC6-889D-6086AF9B74B2}"/>
              </a:ext>
            </a:extLst>
          </p:cNvPr>
          <p:cNvSpPr>
            <a:spLocks noGrp="1"/>
          </p:cNvSpPr>
          <p:nvPr/>
        </p:nvSpPr>
        <p:spPr>
          <a:xfrm>
            <a:off x="609600" y="6505575"/>
            <a:ext cx="10191750" cy="209550"/>
          </a:xfrm>
          <a:prstGeom prst="rect">
            <a:avLst/>
          </a:prstGeom>
          <a:noFill/>
          <a:ln w="0">
            <a:noFill/>
          </a:ln>
        </p:spPr>
        <p:txBody>
          <a:bodyPr wrap="square" lIns="0" tIns="0" rIns="0" bIns="0" anchor="t">
            <a:noAutofit/>
          </a:bodyPr>
          <a:lstStyle/>
          <a:p>
            <a:pPr>
              <a:defRPr sz="825" b="0">
                <a:solidFill>
                  <a:srgbClr val="66746B"/>
                </a:solidFill>
                <a:latin typeface="Calibri"/>
                <a:ea typeface="Calibri"/>
                <a:cs typeface="Calibri"/>
              </a:defRPr>
            </a:pPr>
            <a:r>
              <a:rPr sz="825" b="0">
                <a:solidFill>
                  <a:srgbClr val="66746B"/>
                </a:solidFill>
                <a:latin typeface="Calibri"/>
                <a:ea typeface="Calibri"/>
                <a:cs typeface="Calibri"/>
              </a:rPr>
              <a:t>Rencana internal CMC. Speaker, tanggal dan harga pilot menunggu konfirmasi.</a:t>
            </a:r>
          </a:p>
        </p:txBody>
      </p:sp>
      <p:sp>
        <p:nvSpPr>
          <p:cNvPr id="7" name="text-154">
            <a:extLst>
              <a:ext uri="{FF2B5EF4-FFF2-40B4-BE49-F238E27FC236}">
                <a16:creationId xmlns:a16="http://schemas.microsoft.com/office/drawing/2014/main" id="{E5E69226-83EB-4D8A-968E-671123EE2B24}"/>
              </a:ext>
            </a:extLst>
          </p:cNvPr>
          <p:cNvSpPr>
            <a:spLocks noGrp="1"/>
          </p:cNvSpPr>
          <p:nvPr/>
        </p:nvSpPr>
        <p:spPr>
          <a:xfrm>
            <a:off x="11125200" y="6486525"/>
            <a:ext cx="438150" cy="228600"/>
          </a:xfrm>
          <a:prstGeom prst="rect">
            <a:avLst/>
          </a:prstGeom>
          <a:noFill/>
          <a:ln w="0">
            <a:noFill/>
          </a:ln>
        </p:spPr>
        <p:txBody>
          <a:bodyPr wrap="square" lIns="0" tIns="0" rIns="0" bIns="0" anchor="t">
            <a:noAutofit/>
          </a:bodyPr>
          <a:lstStyle/>
          <a:p>
            <a:pPr>
              <a:defRPr sz="1050" b="1">
                <a:solidFill>
                  <a:srgbClr val="123F32"/>
                </a:solidFill>
                <a:latin typeface="Calibri"/>
                <a:ea typeface="Calibri"/>
                <a:cs typeface="Calibri"/>
              </a:defRPr>
            </a:pPr>
            <a:r>
              <a:rPr sz="1050" b="1">
                <a:solidFill>
                  <a:srgbClr val="123F32"/>
                </a:solidFill>
                <a:latin typeface="Calibri"/>
                <a:ea typeface="Calibri"/>
                <a:cs typeface="Calibri"/>
              </a:rPr>
              <a:t>10</a:t>
            </a:r>
          </a:p>
        </p:txBody>
      </p:sp>
      <p:sp>
        <p:nvSpPr>
          <p:cNvPr id="8" name="text-155">
            <a:extLst>
              <a:ext uri="{FF2B5EF4-FFF2-40B4-BE49-F238E27FC236}">
                <a16:creationId xmlns:a16="http://schemas.microsoft.com/office/drawing/2014/main" id="{3E43C348-C521-429D-95A9-48B561CB50C2}"/>
              </a:ext>
            </a:extLst>
          </p:cNvPr>
          <p:cNvSpPr>
            <a:spLocks noGrp="1"/>
          </p:cNvSpPr>
          <p:nvPr/>
        </p:nvSpPr>
        <p:spPr>
          <a:xfrm>
            <a:off x="609600" y="2771775"/>
            <a:ext cx="4591050" cy="257175"/>
          </a:xfrm>
          <a:prstGeom prst="rect">
            <a:avLst/>
          </a:prstGeom>
          <a:noFill/>
          <a:ln w="0">
            <a:noFill/>
          </a:ln>
        </p:spPr>
        <p:txBody>
          <a:bodyPr wrap="square" lIns="0" tIns="0" rIns="0" bIns="0" anchor="t">
            <a:noAutofit/>
          </a:bodyPr>
          <a:lstStyle/>
          <a:p>
            <a:pPr>
              <a:defRPr sz="1275" b="1">
                <a:solidFill>
                  <a:srgbClr val="66746B"/>
                </a:solidFill>
                <a:latin typeface="Calibri"/>
                <a:ea typeface="Calibri"/>
                <a:cs typeface="Calibri"/>
              </a:defRPr>
            </a:pPr>
            <a:r>
              <a:rPr sz="1275" b="1">
                <a:solidFill>
                  <a:srgbClr val="66746B"/>
                </a:solidFill>
                <a:latin typeface="Calibri"/>
                <a:ea typeface="Calibri"/>
                <a:cs typeface="Calibri"/>
              </a:rPr>
              <a:t>MEMBER EXISTING</a:t>
            </a:r>
          </a:p>
        </p:txBody>
      </p:sp>
      <p:sp>
        <p:nvSpPr>
          <p:cNvPr id="9" name="text-156">
            <a:extLst>
              <a:ext uri="{FF2B5EF4-FFF2-40B4-BE49-F238E27FC236}">
                <a16:creationId xmlns:a16="http://schemas.microsoft.com/office/drawing/2014/main" id="{EFCA2093-955C-4D6A-8CD9-C5AF86066404}"/>
              </a:ext>
            </a:extLst>
          </p:cNvPr>
          <p:cNvSpPr>
            <a:spLocks noGrp="1"/>
          </p:cNvSpPr>
          <p:nvPr/>
        </p:nvSpPr>
        <p:spPr>
          <a:xfrm>
            <a:off x="609600" y="3209925"/>
            <a:ext cx="4876800" cy="762000"/>
          </a:xfrm>
          <a:prstGeom prst="rect">
            <a:avLst/>
          </a:prstGeom>
          <a:noFill/>
          <a:ln w="0">
            <a:noFill/>
          </a:ln>
        </p:spPr>
        <p:txBody>
          <a:bodyPr wrap="square" lIns="0" tIns="0" rIns="0" bIns="0" anchor="t">
            <a:noAutofit/>
          </a:bodyPr>
          <a:lstStyle/>
          <a:p>
            <a:pPr>
              <a:defRPr sz="4650" b="1">
                <a:solidFill>
                  <a:srgbClr val="123F32"/>
                </a:solidFill>
                <a:latin typeface="Calibri"/>
                <a:ea typeface="Calibri"/>
                <a:cs typeface="Calibri"/>
              </a:defRPr>
            </a:pPr>
            <a:r>
              <a:rPr sz="4650" b="1">
                <a:solidFill>
                  <a:srgbClr val="123F32"/>
                </a:solidFill>
                <a:latin typeface="Calibri"/>
                <a:ea typeface="Calibri"/>
                <a:cs typeface="Calibri"/>
              </a:rPr>
              <a:t>Rp1,5 jt</a:t>
            </a:r>
          </a:p>
        </p:txBody>
      </p:sp>
      <p:sp>
        <p:nvSpPr>
          <p:cNvPr id="10" name="text-157">
            <a:extLst>
              <a:ext uri="{FF2B5EF4-FFF2-40B4-BE49-F238E27FC236}">
                <a16:creationId xmlns:a16="http://schemas.microsoft.com/office/drawing/2014/main" id="{37448070-2378-4E8C-9C52-374C6F3E8AF2}"/>
              </a:ext>
            </a:extLst>
          </p:cNvPr>
          <p:cNvSpPr>
            <a:spLocks noGrp="1"/>
          </p:cNvSpPr>
          <p:nvPr/>
        </p:nvSpPr>
        <p:spPr>
          <a:xfrm>
            <a:off x="609600" y="4019550"/>
            <a:ext cx="4572000" cy="333375"/>
          </a:xfrm>
          <a:prstGeom prst="rect">
            <a:avLst/>
          </a:prstGeom>
          <a:noFill/>
          <a:ln w="0">
            <a:noFill/>
          </a:ln>
        </p:spPr>
        <p:txBody>
          <a:bodyPr wrap="square" lIns="0" tIns="0" rIns="0" bIns="0" anchor="t">
            <a:noAutofit/>
          </a:bodyPr>
          <a:lstStyle/>
          <a:p>
            <a:pPr>
              <a:defRPr sz="1800" b="0">
                <a:solidFill>
                  <a:srgbClr val="293D34"/>
                </a:solidFill>
                <a:latin typeface="Calibri"/>
                <a:ea typeface="Calibri"/>
                <a:cs typeface="Calibri"/>
              </a:defRPr>
            </a:pPr>
            <a:r>
              <a:rPr sz="1800" b="0">
                <a:solidFill>
                  <a:srgbClr val="293D34"/>
                </a:solidFill>
                <a:latin typeface="Calibri"/>
                <a:ea typeface="Calibri"/>
                <a:cs typeface="Calibri"/>
              </a:rPr>
              <a:t>Harga khusus Dinner</a:t>
            </a:r>
          </a:p>
        </p:txBody>
      </p:sp>
      <p:sp>
        <p:nvSpPr>
          <p:cNvPr id="11" name="text-158">
            <a:extLst>
              <a:ext uri="{FF2B5EF4-FFF2-40B4-BE49-F238E27FC236}">
                <a16:creationId xmlns:a16="http://schemas.microsoft.com/office/drawing/2014/main" id="{5B021AD3-08C6-49B3-9DB9-342E5D778D86}"/>
              </a:ext>
            </a:extLst>
          </p:cNvPr>
          <p:cNvSpPr>
            <a:spLocks noGrp="1"/>
          </p:cNvSpPr>
          <p:nvPr/>
        </p:nvSpPr>
        <p:spPr>
          <a:xfrm>
            <a:off x="6734175" y="2771775"/>
            <a:ext cx="4724400" cy="257175"/>
          </a:xfrm>
          <a:prstGeom prst="rect">
            <a:avLst/>
          </a:prstGeom>
          <a:noFill/>
          <a:ln w="0">
            <a:noFill/>
          </a:ln>
        </p:spPr>
        <p:txBody>
          <a:bodyPr wrap="square" lIns="0" tIns="0" rIns="0" bIns="0" anchor="t">
            <a:noAutofit/>
          </a:bodyPr>
          <a:lstStyle/>
          <a:p>
            <a:pPr>
              <a:defRPr sz="1275" b="1">
                <a:solidFill>
                  <a:srgbClr val="66746B"/>
                </a:solidFill>
                <a:latin typeface="Calibri"/>
                <a:ea typeface="Calibri"/>
                <a:cs typeface="Calibri"/>
              </a:defRPr>
            </a:pPr>
            <a:r>
              <a:rPr sz="1275" b="1">
                <a:solidFill>
                  <a:srgbClr val="66746B"/>
                </a:solidFill>
                <a:latin typeface="Calibri"/>
                <a:ea typeface="Calibri"/>
                <a:cs typeface="Calibri"/>
              </a:rPr>
              <a:t>NON-MEMBER / TIKET SAJA</a:t>
            </a:r>
          </a:p>
        </p:txBody>
      </p:sp>
      <p:sp>
        <p:nvSpPr>
          <p:cNvPr id="12" name="text-159">
            <a:extLst>
              <a:ext uri="{FF2B5EF4-FFF2-40B4-BE49-F238E27FC236}">
                <a16:creationId xmlns:a16="http://schemas.microsoft.com/office/drawing/2014/main" id="{85CADAD9-4989-42F1-BBDC-219C12C1C5F5}"/>
              </a:ext>
            </a:extLst>
          </p:cNvPr>
          <p:cNvSpPr>
            <a:spLocks noGrp="1"/>
          </p:cNvSpPr>
          <p:nvPr/>
        </p:nvSpPr>
        <p:spPr>
          <a:xfrm>
            <a:off x="6734175" y="3209925"/>
            <a:ext cx="4724400" cy="762000"/>
          </a:xfrm>
          <a:prstGeom prst="rect">
            <a:avLst/>
          </a:prstGeom>
          <a:noFill/>
          <a:ln w="0">
            <a:noFill/>
          </a:ln>
        </p:spPr>
        <p:txBody>
          <a:bodyPr wrap="square" lIns="0" tIns="0" rIns="0" bIns="0" anchor="t">
            <a:noAutofit/>
          </a:bodyPr>
          <a:lstStyle/>
          <a:p>
            <a:pPr>
              <a:defRPr sz="4650" b="1">
                <a:solidFill>
                  <a:srgbClr val="123F32"/>
                </a:solidFill>
                <a:latin typeface="Calibri"/>
                <a:ea typeface="Calibri"/>
                <a:cs typeface="Calibri"/>
              </a:defRPr>
            </a:pPr>
            <a:r>
              <a:rPr sz="4650" b="1">
                <a:solidFill>
                  <a:srgbClr val="123F32"/>
                </a:solidFill>
                <a:latin typeface="Calibri"/>
                <a:ea typeface="Calibri"/>
                <a:cs typeface="Calibri"/>
              </a:rPr>
              <a:t>Rp5 jt</a:t>
            </a:r>
          </a:p>
        </p:txBody>
      </p:sp>
      <p:sp>
        <p:nvSpPr>
          <p:cNvPr id="13" name="text-160">
            <a:extLst>
              <a:ext uri="{FF2B5EF4-FFF2-40B4-BE49-F238E27FC236}">
                <a16:creationId xmlns:a16="http://schemas.microsoft.com/office/drawing/2014/main" id="{BC52EA32-C48D-4E0B-96DA-3C473DCF2359}"/>
              </a:ext>
            </a:extLst>
          </p:cNvPr>
          <p:cNvSpPr>
            <a:spLocks noGrp="1"/>
          </p:cNvSpPr>
          <p:nvPr/>
        </p:nvSpPr>
        <p:spPr>
          <a:xfrm>
            <a:off x="6734175" y="4019550"/>
            <a:ext cx="4667250" cy="333375"/>
          </a:xfrm>
          <a:prstGeom prst="rect">
            <a:avLst/>
          </a:prstGeom>
          <a:noFill/>
          <a:ln w="0">
            <a:noFill/>
          </a:ln>
        </p:spPr>
        <p:txBody>
          <a:bodyPr wrap="square" lIns="0" tIns="0" rIns="0" bIns="0" anchor="t">
            <a:noAutofit/>
          </a:bodyPr>
          <a:lstStyle/>
          <a:p>
            <a:pPr>
              <a:defRPr sz="1800" b="0">
                <a:solidFill>
                  <a:srgbClr val="293D34"/>
                </a:solidFill>
                <a:latin typeface="Calibri"/>
                <a:ea typeface="Calibri"/>
                <a:cs typeface="Calibri"/>
              </a:defRPr>
            </a:pPr>
            <a:r>
              <a:rPr sz="1800" b="0">
                <a:solidFill>
                  <a:srgbClr val="293D34"/>
                </a:solidFill>
                <a:latin typeface="Calibri"/>
                <a:ea typeface="Calibri"/>
                <a:cs typeface="Calibri"/>
              </a:rPr>
              <a:t>Usulan harga umum</a:t>
            </a:r>
          </a:p>
        </p:txBody>
      </p:sp>
      <p:sp>
        <p:nvSpPr>
          <p:cNvPr id="14" name="Straight Connector 13">
            <a:extLst>
              <a:ext uri="{FF2B5EF4-FFF2-40B4-BE49-F238E27FC236}">
                <a16:creationId xmlns:a16="http://schemas.microsoft.com/office/drawing/2014/main" id="{629D0BCB-6623-4BBC-BA11-46B533BD3DBD}"/>
              </a:ext>
            </a:extLst>
          </p:cNvPr>
          <p:cNvSpPr>
            <a:spLocks noGrp="1"/>
          </p:cNvSpPr>
          <p:nvPr/>
        </p:nvSpPr>
        <p:spPr>
          <a:xfrm>
            <a:off x="609600" y="4657725"/>
            <a:ext cx="10972800" cy="0"/>
          </a:xfrm>
          <a:prstGeom prst="line">
            <a:avLst/>
          </a:prstGeom>
          <a:noFill/>
          <a:ln w="9525">
            <a:solidFill>
              <a:srgbClr val="DCE5DE"/>
            </a:solidFill>
          </a:ln>
        </p:spPr>
      </p:sp>
      <p:sp>
        <p:nvSpPr>
          <p:cNvPr id="15" name="text-161">
            <a:extLst>
              <a:ext uri="{FF2B5EF4-FFF2-40B4-BE49-F238E27FC236}">
                <a16:creationId xmlns:a16="http://schemas.microsoft.com/office/drawing/2014/main" id="{71AD75AD-B6FC-42F1-93D2-6E99A77D499B}"/>
              </a:ext>
            </a:extLst>
          </p:cNvPr>
          <p:cNvSpPr>
            <a:spLocks noGrp="1"/>
          </p:cNvSpPr>
          <p:nvPr/>
        </p:nvSpPr>
        <p:spPr>
          <a:xfrm>
            <a:off x="609600" y="4905375"/>
            <a:ext cx="5210175" cy="266700"/>
          </a:xfrm>
          <a:prstGeom prst="rect">
            <a:avLst/>
          </a:prstGeom>
          <a:noFill/>
          <a:ln w="0">
            <a:noFill/>
          </a:ln>
        </p:spPr>
        <p:txBody>
          <a:bodyPr wrap="square" lIns="0" tIns="0" rIns="0" bIns="0" anchor="t">
            <a:noAutofit/>
          </a:bodyPr>
          <a:lstStyle/>
          <a:p>
            <a:pPr>
              <a:defRPr sz="1275" b="1">
                <a:solidFill>
                  <a:srgbClr val="6F9182"/>
                </a:solidFill>
                <a:latin typeface="Calibri"/>
                <a:ea typeface="Calibri"/>
                <a:cs typeface="Calibri"/>
              </a:defRPr>
            </a:pPr>
            <a:r>
              <a:rPr sz="1275" b="1">
                <a:solidFill>
                  <a:srgbClr val="6F9182"/>
                </a:solidFill>
                <a:latin typeface="Calibri"/>
                <a:ea typeface="Calibri"/>
                <a:cs typeface="Calibri"/>
              </a:rPr>
              <a:t>PILIHAN MEMBER BARU</a:t>
            </a:r>
          </a:p>
        </p:txBody>
      </p:sp>
      <p:sp>
        <p:nvSpPr>
          <p:cNvPr id="16" name="text-162">
            <a:extLst>
              <a:ext uri="{FF2B5EF4-FFF2-40B4-BE49-F238E27FC236}">
                <a16:creationId xmlns:a16="http://schemas.microsoft.com/office/drawing/2014/main" id="{B3C40FF8-12C2-4BC2-8F7E-1555CD58BC93}"/>
              </a:ext>
            </a:extLst>
          </p:cNvPr>
          <p:cNvSpPr>
            <a:spLocks noGrp="1"/>
          </p:cNvSpPr>
          <p:nvPr/>
        </p:nvSpPr>
        <p:spPr>
          <a:xfrm>
            <a:off x="609600" y="5248275"/>
            <a:ext cx="7038975" cy="400050"/>
          </a:xfrm>
          <a:prstGeom prst="rect">
            <a:avLst/>
          </a:prstGeom>
          <a:noFill/>
          <a:ln w="0">
            <a:noFill/>
          </a:ln>
        </p:spPr>
        <p:txBody>
          <a:bodyPr wrap="square" lIns="0" tIns="0" rIns="0" bIns="0" anchor="t">
            <a:noAutofit/>
          </a:bodyPr>
          <a:lstStyle/>
          <a:p>
            <a:pPr>
              <a:defRPr sz="2175" b="1">
                <a:solidFill>
                  <a:srgbClr val="123F32"/>
                </a:solidFill>
                <a:latin typeface="Calibri"/>
                <a:ea typeface="Calibri"/>
                <a:cs typeface="Calibri"/>
              </a:defRPr>
            </a:pPr>
            <a:r>
              <a:rPr sz="2175" b="1">
                <a:solidFill>
                  <a:srgbClr val="123F32"/>
                </a:solidFill>
                <a:latin typeface="Calibri"/>
                <a:ea typeface="Calibri"/>
                <a:cs typeface="Calibri"/>
              </a:rPr>
              <a:t>Rp1,5 jt membership + Rp1,5 jt Dinner</a:t>
            </a:r>
          </a:p>
        </p:txBody>
      </p:sp>
      <p:sp>
        <p:nvSpPr>
          <p:cNvPr id="17" name="text-163">
            <a:extLst>
              <a:ext uri="{FF2B5EF4-FFF2-40B4-BE49-F238E27FC236}">
                <a16:creationId xmlns:a16="http://schemas.microsoft.com/office/drawing/2014/main" id="{931EE520-73A1-433A-A3F4-BF2B536653FB}"/>
              </a:ext>
            </a:extLst>
          </p:cNvPr>
          <p:cNvSpPr>
            <a:spLocks noGrp="1"/>
          </p:cNvSpPr>
          <p:nvPr/>
        </p:nvSpPr>
        <p:spPr>
          <a:xfrm>
            <a:off x="8753475" y="4838700"/>
            <a:ext cx="2724150" cy="628650"/>
          </a:xfrm>
          <a:prstGeom prst="rect">
            <a:avLst/>
          </a:prstGeom>
          <a:noFill/>
          <a:ln w="0">
            <a:noFill/>
          </a:ln>
        </p:spPr>
        <p:txBody>
          <a:bodyPr wrap="square" lIns="0" tIns="0" rIns="0" bIns="0" anchor="t">
            <a:noAutofit/>
          </a:bodyPr>
          <a:lstStyle/>
          <a:p>
            <a:pPr>
              <a:defRPr sz="3600" b="1">
                <a:solidFill>
                  <a:srgbClr val="123F32"/>
                </a:solidFill>
                <a:latin typeface="Calibri"/>
                <a:ea typeface="Calibri"/>
                <a:cs typeface="Calibri"/>
              </a:defRPr>
            </a:pPr>
            <a:r>
              <a:rPr sz="3600" b="1">
                <a:solidFill>
                  <a:srgbClr val="123F32"/>
                </a:solidFill>
                <a:latin typeface="Calibri"/>
                <a:ea typeface="Calibri"/>
                <a:cs typeface="Calibri"/>
              </a:rPr>
              <a:t>Rp3 jt</a:t>
            </a:r>
          </a:p>
        </p:txBody>
      </p:sp>
      <p:sp>
        <p:nvSpPr>
          <p:cNvPr id="18" name="text-164">
            <a:extLst>
              <a:ext uri="{FF2B5EF4-FFF2-40B4-BE49-F238E27FC236}">
                <a16:creationId xmlns:a16="http://schemas.microsoft.com/office/drawing/2014/main" id="{3DE18E5D-8D9E-4FDE-9D50-6BE02A701F45}"/>
              </a:ext>
            </a:extLst>
          </p:cNvPr>
          <p:cNvSpPr>
            <a:spLocks noGrp="1"/>
          </p:cNvSpPr>
          <p:nvPr/>
        </p:nvSpPr>
        <p:spPr>
          <a:xfrm>
            <a:off x="8753475" y="5553075"/>
            <a:ext cx="2724150" cy="485775"/>
          </a:xfrm>
          <a:prstGeom prst="rect">
            <a:avLst/>
          </a:prstGeom>
          <a:noFill/>
          <a:ln w="0">
            <a:noFill/>
          </a:ln>
        </p:spPr>
        <p:txBody>
          <a:bodyPr wrap="square" lIns="0" tIns="0" rIns="0" bIns="0" anchor="t">
            <a:noAutofit/>
          </a:bodyPr>
          <a:lstStyle/>
          <a:p>
            <a:pPr>
              <a:defRPr sz="1500" b="0">
                <a:solidFill>
                  <a:srgbClr val="66746B"/>
                </a:solidFill>
                <a:latin typeface="Calibri"/>
                <a:ea typeface="Calibri"/>
                <a:cs typeface="Calibri"/>
              </a:defRPr>
            </a:pPr>
            <a:r>
              <a:rPr sz="1500" b="0" dirty="0" err="1">
                <a:solidFill>
                  <a:srgbClr val="66746B"/>
                </a:solidFill>
                <a:latin typeface="Calibri"/>
                <a:ea typeface="Calibri"/>
                <a:cs typeface="Calibri"/>
              </a:rPr>
              <a:t>hemat</a:t>
            </a:r>
            <a:r>
              <a:rPr sz="1500" b="0" dirty="0">
                <a:solidFill>
                  <a:srgbClr val="66746B"/>
                </a:solidFill>
                <a:latin typeface="Calibri"/>
                <a:ea typeface="Calibri"/>
                <a:cs typeface="Calibri"/>
              </a:rPr>
              <a:t> Rp2 </a:t>
            </a:r>
            <a:r>
              <a:rPr sz="1500" b="0" dirty="0" err="1">
                <a:solidFill>
                  <a:srgbClr val="66746B"/>
                </a:solidFill>
                <a:latin typeface="Calibri"/>
                <a:ea typeface="Calibri"/>
                <a:cs typeface="Calibri"/>
              </a:rPr>
              <a:t>jt</a:t>
            </a:r>
            <a:r>
              <a:rPr sz="1500" b="0" dirty="0">
                <a:solidFill>
                  <a:srgbClr val="66746B"/>
                </a:solidFill>
                <a:latin typeface="Calibri"/>
                <a:ea typeface="Calibri"/>
                <a:cs typeface="Calibri"/>
              </a:rPr>
              <a:t> vs </a:t>
            </a:r>
            <a:r>
              <a:rPr sz="1500" b="0" dirty="0" err="1">
                <a:solidFill>
                  <a:srgbClr val="66746B"/>
                </a:solidFill>
                <a:latin typeface="Calibri"/>
                <a:ea typeface="Calibri"/>
                <a:cs typeface="Calibri"/>
              </a:rPr>
              <a:t>tiket</a:t>
            </a:r>
            <a:r>
              <a:rPr sz="1500" b="0" dirty="0">
                <a:solidFill>
                  <a:srgbClr val="66746B"/>
                </a:solidFill>
                <a:latin typeface="Calibri"/>
                <a:ea typeface="Calibri"/>
                <a:cs typeface="Calibri"/>
              </a:rPr>
              <a:t> </a:t>
            </a:r>
            <a:r>
              <a:rPr lang="en-US" sz="1500" b="0" dirty="0" err="1">
                <a:solidFill>
                  <a:srgbClr val="66746B"/>
                </a:solidFill>
                <a:latin typeface="Calibri"/>
                <a:ea typeface="Calibri"/>
                <a:cs typeface="Calibri"/>
              </a:rPr>
              <a:t>reguler</a:t>
            </a:r>
            <a:endParaRPr sz="1500" b="0" dirty="0">
              <a:solidFill>
                <a:srgbClr val="66746B"/>
              </a:solidFill>
              <a:latin typeface="Calibri"/>
              <a:ea typeface="Calibri"/>
              <a:cs typeface="Calibri"/>
            </a:endParaRPr>
          </a:p>
        </p:txBody>
      </p:sp>
    </p:spTree>
    <p:extLst>
      <p:ext uri="{BB962C8B-B14F-4D97-AF65-F5344CB8AC3E}">
        <p14:creationId xmlns:p14="http://schemas.microsoft.com/office/powerpoint/2010/main" val="856405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8340498" y="161925"/>
            <a:ext cx="3235779" cy="828675"/>
          </a:xfrm>
          <a:prstGeom prst="rect">
            <a:avLst/>
          </a:prstGeom>
        </p:spPr>
      </p:pic>
      <p:sp>
        <p:nvSpPr>
          <p:cNvPr id="2" name="text-184">
            <a:extLst>
              <a:ext uri="{FF2B5EF4-FFF2-40B4-BE49-F238E27FC236}">
                <a16:creationId xmlns:a16="http://schemas.microsoft.com/office/drawing/2014/main" id="{3B1FA888-6C68-44EA-A5D1-E772F791F5E6}"/>
              </a:ext>
            </a:extLst>
          </p:cNvPr>
          <p:cNvSpPr>
            <a:spLocks noGrp="1"/>
          </p:cNvSpPr>
          <p:nvPr/>
        </p:nvSpPr>
        <p:spPr>
          <a:xfrm>
            <a:off x="609600" y="409575"/>
            <a:ext cx="7096125" cy="209550"/>
          </a:xfrm>
          <a:prstGeom prst="rect">
            <a:avLst/>
          </a:prstGeom>
          <a:noFill/>
          <a:ln w="0">
            <a:noFill/>
          </a:ln>
        </p:spPr>
        <p:txBody>
          <a:bodyPr wrap="square" lIns="0" tIns="0" rIns="0" bIns="0" anchor="t">
            <a:noAutofit/>
          </a:bodyPr>
          <a:lstStyle/>
          <a:p>
            <a:pPr>
              <a:defRPr sz="1125" b="1">
                <a:solidFill>
                  <a:srgbClr val="66746B"/>
                </a:solidFill>
                <a:latin typeface="Calibri"/>
                <a:ea typeface="Calibri"/>
                <a:cs typeface="Calibri"/>
              </a:defRPr>
            </a:pPr>
            <a:r>
              <a:rPr sz="1125" b="1">
                <a:solidFill>
                  <a:srgbClr val="66746B"/>
                </a:solidFill>
                <a:latin typeface="Calibri"/>
                <a:ea typeface="Calibri"/>
                <a:cs typeface="Calibri"/>
              </a:rPr>
              <a:t>03 / TO-DO PELAKSANAAN</a:t>
            </a:r>
          </a:p>
        </p:txBody>
      </p:sp>
      <p:sp>
        <p:nvSpPr>
          <p:cNvPr id="3" name="text-185">
            <a:extLst>
              <a:ext uri="{FF2B5EF4-FFF2-40B4-BE49-F238E27FC236}">
                <a16:creationId xmlns:a16="http://schemas.microsoft.com/office/drawing/2014/main" id="{DEF7CC24-C1B3-4FE5-AC35-EF249B0AE7FE}"/>
              </a:ext>
            </a:extLst>
          </p:cNvPr>
          <p:cNvSpPr>
            <a:spLocks noGrp="1"/>
          </p:cNvSpPr>
          <p:nvPr/>
        </p:nvSpPr>
        <p:spPr>
          <a:xfrm>
            <a:off x="609600" y="1143000"/>
            <a:ext cx="10858500" cy="876300"/>
          </a:xfrm>
          <a:prstGeom prst="rect">
            <a:avLst/>
          </a:prstGeom>
          <a:noFill/>
          <a:ln w="0">
            <a:noFill/>
          </a:ln>
        </p:spPr>
        <p:txBody>
          <a:bodyPr wrap="square" lIns="0" tIns="0" rIns="0" bIns="0" anchor="t">
            <a:noAutofit/>
          </a:bodyPr>
          <a:lstStyle/>
          <a:p>
            <a:pPr>
              <a:defRPr sz="2850" b="1">
                <a:solidFill>
                  <a:srgbClr val="123F32"/>
                </a:solidFill>
                <a:latin typeface="Calibri"/>
                <a:ea typeface="Calibri"/>
                <a:cs typeface="Calibri"/>
              </a:defRPr>
            </a:pPr>
            <a:r>
              <a:rPr sz="2850" b="1">
                <a:solidFill>
                  <a:srgbClr val="123F32"/>
                </a:solidFill>
                <a:latin typeface="Calibri"/>
                <a:ea typeface="Calibri"/>
                <a:cs typeface="Calibri"/>
              </a:rPr>
              <a:t>Fokus sekarang: speaker, Zoom, lalu sosialisasi Dinner</a:t>
            </a:r>
          </a:p>
        </p:txBody>
      </p:sp>
      <p:sp>
        <p:nvSpPr>
          <p:cNvPr id="4" name="text-186">
            <a:extLst>
              <a:ext uri="{FF2B5EF4-FFF2-40B4-BE49-F238E27FC236}">
                <a16:creationId xmlns:a16="http://schemas.microsoft.com/office/drawing/2014/main" id="{50EB7769-0F92-4B3E-BCAA-129FC20C149A}"/>
              </a:ext>
            </a:extLst>
          </p:cNvPr>
          <p:cNvSpPr>
            <a:spLocks noGrp="1"/>
          </p:cNvSpPr>
          <p:nvPr/>
        </p:nvSpPr>
        <p:spPr>
          <a:xfrm>
            <a:off x="609600" y="2019300"/>
            <a:ext cx="10858500" cy="466725"/>
          </a:xfrm>
          <a:prstGeom prst="rect">
            <a:avLst/>
          </a:prstGeom>
          <a:noFill/>
          <a:ln w="0">
            <a:noFill/>
          </a:ln>
        </p:spPr>
        <p:txBody>
          <a:bodyPr wrap="square" lIns="0" tIns="0" rIns="0" bIns="0" anchor="t">
            <a:noAutofit/>
          </a:bodyPr>
          <a:lstStyle/>
          <a:p>
            <a:pPr>
              <a:defRPr sz="1500" b="0">
                <a:solidFill>
                  <a:srgbClr val="66746B"/>
                </a:solidFill>
                <a:latin typeface="Calibri"/>
                <a:ea typeface="Calibri"/>
                <a:cs typeface="Calibri"/>
              </a:defRPr>
            </a:pPr>
            <a:r>
              <a:rPr sz="1500" b="0">
                <a:solidFill>
                  <a:srgbClr val="66746B"/>
                </a:solidFill>
                <a:latin typeface="Calibri"/>
                <a:ea typeface="Calibri"/>
                <a:cs typeface="Calibri"/>
              </a:rPr>
              <a:t>TOR sudah dibuat. Komunikasi Dinner ke member dimulai setelah Founder’s Live pertama.</a:t>
            </a:r>
          </a:p>
        </p:txBody>
      </p:sp>
      <p:sp>
        <p:nvSpPr>
          <p:cNvPr id="5" name="Straight Connector 4">
            <a:extLst>
              <a:ext uri="{FF2B5EF4-FFF2-40B4-BE49-F238E27FC236}">
                <a16:creationId xmlns:a16="http://schemas.microsoft.com/office/drawing/2014/main" id="{DB9CB173-1805-4EDF-8D6F-96E58FC214D2}"/>
              </a:ext>
            </a:extLst>
          </p:cNvPr>
          <p:cNvSpPr>
            <a:spLocks noGrp="1"/>
          </p:cNvSpPr>
          <p:nvPr/>
        </p:nvSpPr>
        <p:spPr>
          <a:xfrm>
            <a:off x="609600" y="6381750"/>
            <a:ext cx="10972800" cy="0"/>
          </a:xfrm>
          <a:prstGeom prst="line">
            <a:avLst/>
          </a:prstGeom>
          <a:noFill/>
          <a:ln w="9525">
            <a:solidFill>
              <a:srgbClr val="DCE5DE"/>
            </a:solidFill>
          </a:ln>
        </p:spPr>
      </p:sp>
      <p:sp>
        <p:nvSpPr>
          <p:cNvPr id="6" name="text-187">
            <a:extLst>
              <a:ext uri="{FF2B5EF4-FFF2-40B4-BE49-F238E27FC236}">
                <a16:creationId xmlns:a16="http://schemas.microsoft.com/office/drawing/2014/main" id="{AD42049C-EFDB-41CD-98FD-C1D01DBFAAE4}"/>
              </a:ext>
            </a:extLst>
          </p:cNvPr>
          <p:cNvSpPr>
            <a:spLocks noGrp="1"/>
          </p:cNvSpPr>
          <p:nvPr/>
        </p:nvSpPr>
        <p:spPr>
          <a:xfrm>
            <a:off x="609600" y="6505575"/>
            <a:ext cx="10191750" cy="209550"/>
          </a:xfrm>
          <a:prstGeom prst="rect">
            <a:avLst/>
          </a:prstGeom>
          <a:noFill/>
          <a:ln w="0">
            <a:noFill/>
          </a:ln>
        </p:spPr>
        <p:txBody>
          <a:bodyPr wrap="square" lIns="0" tIns="0" rIns="0" bIns="0" anchor="t">
            <a:noAutofit/>
          </a:bodyPr>
          <a:lstStyle/>
          <a:p>
            <a:pPr>
              <a:defRPr sz="825" b="0">
                <a:solidFill>
                  <a:srgbClr val="66746B"/>
                </a:solidFill>
                <a:latin typeface="Calibri"/>
                <a:ea typeface="Calibri"/>
                <a:cs typeface="Calibri"/>
              </a:defRPr>
            </a:pPr>
            <a:r>
              <a:rPr sz="825" b="0">
                <a:solidFill>
                  <a:srgbClr val="66746B"/>
                </a:solidFill>
                <a:latin typeface="Calibri"/>
                <a:ea typeface="Calibri"/>
                <a:cs typeface="Calibri"/>
              </a:rPr>
              <a:t>Rencana internal CMC. Speaker, tanggal dan harga pilot menunggu konfirmasi.</a:t>
            </a:r>
          </a:p>
        </p:txBody>
      </p:sp>
      <p:sp>
        <p:nvSpPr>
          <p:cNvPr id="7" name="text-188">
            <a:extLst>
              <a:ext uri="{FF2B5EF4-FFF2-40B4-BE49-F238E27FC236}">
                <a16:creationId xmlns:a16="http://schemas.microsoft.com/office/drawing/2014/main" id="{D58C9EED-8B5E-4B27-A60C-37E485CE2C6F}"/>
              </a:ext>
            </a:extLst>
          </p:cNvPr>
          <p:cNvSpPr>
            <a:spLocks noGrp="1"/>
          </p:cNvSpPr>
          <p:nvPr/>
        </p:nvSpPr>
        <p:spPr>
          <a:xfrm>
            <a:off x="11125200" y="6486525"/>
            <a:ext cx="438150" cy="228600"/>
          </a:xfrm>
          <a:prstGeom prst="rect">
            <a:avLst/>
          </a:prstGeom>
          <a:noFill/>
          <a:ln w="0">
            <a:noFill/>
          </a:ln>
        </p:spPr>
        <p:txBody>
          <a:bodyPr wrap="square" lIns="0" tIns="0" rIns="0" bIns="0" anchor="t">
            <a:noAutofit/>
          </a:bodyPr>
          <a:lstStyle/>
          <a:p>
            <a:pPr>
              <a:defRPr sz="1050" b="1">
                <a:solidFill>
                  <a:srgbClr val="123F32"/>
                </a:solidFill>
                <a:latin typeface="Calibri"/>
                <a:ea typeface="Calibri"/>
                <a:cs typeface="Calibri"/>
              </a:defRPr>
            </a:pPr>
            <a:r>
              <a:rPr sz="1050" b="1" dirty="0">
                <a:solidFill>
                  <a:srgbClr val="123F32"/>
                </a:solidFill>
                <a:latin typeface="Calibri"/>
                <a:ea typeface="Calibri"/>
                <a:cs typeface="Calibri"/>
              </a:rPr>
              <a:t>1</a:t>
            </a:r>
            <a:r>
              <a:rPr lang="en-US" sz="1050" b="1" dirty="0">
                <a:solidFill>
                  <a:srgbClr val="123F32"/>
                </a:solidFill>
                <a:latin typeface="Calibri"/>
                <a:ea typeface="Calibri"/>
                <a:cs typeface="Calibri"/>
              </a:rPr>
              <a:t>1</a:t>
            </a:r>
            <a:endParaRPr sz="1050" b="1" dirty="0">
              <a:solidFill>
                <a:srgbClr val="123F32"/>
              </a:solidFill>
              <a:latin typeface="Calibri"/>
              <a:ea typeface="Calibri"/>
              <a:cs typeface="Calibri"/>
            </a:endParaRPr>
          </a:p>
        </p:txBody>
      </p:sp>
      <p:sp>
        <p:nvSpPr>
          <p:cNvPr id="8" name="text-189">
            <a:extLst>
              <a:ext uri="{FF2B5EF4-FFF2-40B4-BE49-F238E27FC236}">
                <a16:creationId xmlns:a16="http://schemas.microsoft.com/office/drawing/2014/main" id="{53D6BF34-99AF-453F-A91A-9B5511EE46A5}"/>
              </a:ext>
            </a:extLst>
          </p:cNvPr>
          <p:cNvSpPr>
            <a:spLocks noGrp="1"/>
          </p:cNvSpPr>
          <p:nvPr/>
        </p:nvSpPr>
        <p:spPr>
          <a:xfrm>
            <a:off x="609600" y="2705100"/>
            <a:ext cx="971550" cy="571500"/>
          </a:xfrm>
          <a:prstGeom prst="rect">
            <a:avLst/>
          </a:prstGeom>
          <a:noFill/>
          <a:ln w="0">
            <a:noFill/>
          </a:ln>
        </p:spPr>
        <p:txBody>
          <a:bodyPr wrap="square" lIns="0" tIns="0" rIns="0" bIns="0" anchor="t">
            <a:noAutofit/>
          </a:bodyPr>
          <a:lstStyle/>
          <a:p>
            <a:pPr>
              <a:defRPr sz="3300" b="1">
                <a:solidFill>
                  <a:srgbClr val="6F9182"/>
                </a:solidFill>
                <a:latin typeface="Calibri"/>
                <a:ea typeface="Calibri"/>
                <a:cs typeface="Calibri"/>
              </a:defRPr>
            </a:pPr>
            <a:r>
              <a:rPr sz="3300" b="1">
                <a:solidFill>
                  <a:srgbClr val="6F9182"/>
                </a:solidFill>
                <a:latin typeface="Calibri"/>
                <a:ea typeface="Calibri"/>
                <a:cs typeface="Calibri"/>
              </a:rPr>
              <a:t>01</a:t>
            </a:r>
          </a:p>
        </p:txBody>
      </p:sp>
      <p:sp>
        <p:nvSpPr>
          <p:cNvPr id="9" name="text-190">
            <a:extLst>
              <a:ext uri="{FF2B5EF4-FFF2-40B4-BE49-F238E27FC236}">
                <a16:creationId xmlns:a16="http://schemas.microsoft.com/office/drawing/2014/main" id="{1E2C541B-239C-4D6E-9C21-37D5AE3F7E76}"/>
              </a:ext>
            </a:extLst>
          </p:cNvPr>
          <p:cNvSpPr>
            <a:spLocks noGrp="1"/>
          </p:cNvSpPr>
          <p:nvPr/>
        </p:nvSpPr>
        <p:spPr>
          <a:xfrm>
            <a:off x="1857375" y="2705100"/>
            <a:ext cx="9563100" cy="390525"/>
          </a:xfrm>
          <a:prstGeom prst="rect">
            <a:avLst/>
          </a:prstGeom>
          <a:noFill/>
          <a:ln w="0">
            <a:noFill/>
          </a:ln>
        </p:spPr>
        <p:txBody>
          <a:bodyPr wrap="square" lIns="0" tIns="0" rIns="0" bIns="0" anchor="t">
            <a:noAutofit/>
          </a:bodyPr>
          <a:lstStyle/>
          <a:p>
            <a:pPr>
              <a:defRPr sz="2325" b="1">
                <a:solidFill>
                  <a:srgbClr val="123F32"/>
                </a:solidFill>
                <a:latin typeface="Calibri"/>
                <a:ea typeface="Calibri"/>
                <a:cs typeface="Calibri"/>
              </a:defRPr>
            </a:pPr>
            <a:r>
              <a:rPr sz="2325" b="1">
                <a:solidFill>
                  <a:srgbClr val="123F32"/>
                </a:solidFill>
                <a:latin typeface="Calibri"/>
                <a:ea typeface="Calibri"/>
                <a:cs typeface="Calibri"/>
              </a:rPr>
              <a:t>Reach out speaker</a:t>
            </a:r>
          </a:p>
        </p:txBody>
      </p:sp>
      <p:sp>
        <p:nvSpPr>
          <p:cNvPr id="10" name="text-191">
            <a:extLst>
              <a:ext uri="{FF2B5EF4-FFF2-40B4-BE49-F238E27FC236}">
                <a16:creationId xmlns:a16="http://schemas.microsoft.com/office/drawing/2014/main" id="{D8A3DBF1-F264-411F-9386-B41D66D33480}"/>
              </a:ext>
            </a:extLst>
          </p:cNvPr>
          <p:cNvSpPr>
            <a:spLocks noGrp="1"/>
          </p:cNvSpPr>
          <p:nvPr/>
        </p:nvSpPr>
        <p:spPr>
          <a:xfrm>
            <a:off x="1857375" y="3152775"/>
            <a:ext cx="9563100" cy="428625"/>
          </a:xfrm>
          <a:prstGeom prst="rect">
            <a:avLst/>
          </a:prstGeom>
          <a:noFill/>
          <a:ln w="0">
            <a:noFill/>
          </a:ln>
        </p:spPr>
        <p:txBody>
          <a:bodyPr wrap="square" lIns="0" tIns="0" rIns="0" bIns="0" anchor="t">
            <a:noAutofit/>
          </a:bodyPr>
          <a:lstStyle/>
          <a:p>
            <a:pPr>
              <a:defRPr sz="1800" b="0">
                <a:solidFill>
                  <a:srgbClr val="66746B"/>
                </a:solidFill>
                <a:latin typeface="Calibri"/>
                <a:ea typeface="Calibri"/>
                <a:cs typeface="Calibri"/>
              </a:defRPr>
            </a:pPr>
            <a:r>
              <a:rPr sz="1800" b="0">
                <a:solidFill>
                  <a:srgbClr val="66746B"/>
                </a:solidFill>
                <a:latin typeface="Calibri"/>
                <a:ea typeface="Calibri"/>
                <a:cs typeface="Calibri"/>
              </a:rPr>
              <a:t>Kirim TOR; konfirmasi topik, jadwal, fee dan cadangan.</a:t>
            </a:r>
          </a:p>
        </p:txBody>
      </p:sp>
      <p:sp>
        <p:nvSpPr>
          <p:cNvPr id="11" name="Straight Connector 10">
            <a:extLst>
              <a:ext uri="{FF2B5EF4-FFF2-40B4-BE49-F238E27FC236}">
                <a16:creationId xmlns:a16="http://schemas.microsoft.com/office/drawing/2014/main" id="{10354D21-ECAC-4385-898D-CC432BBBE1D6}"/>
              </a:ext>
            </a:extLst>
          </p:cNvPr>
          <p:cNvSpPr>
            <a:spLocks noGrp="1"/>
          </p:cNvSpPr>
          <p:nvPr/>
        </p:nvSpPr>
        <p:spPr>
          <a:xfrm>
            <a:off x="1857375" y="3571875"/>
            <a:ext cx="9601200" cy="0"/>
          </a:xfrm>
          <a:prstGeom prst="line">
            <a:avLst/>
          </a:prstGeom>
          <a:noFill/>
          <a:ln w="9525">
            <a:solidFill>
              <a:srgbClr val="DCE5DE"/>
            </a:solidFill>
          </a:ln>
        </p:spPr>
      </p:sp>
      <p:sp>
        <p:nvSpPr>
          <p:cNvPr id="12" name="text-192">
            <a:extLst>
              <a:ext uri="{FF2B5EF4-FFF2-40B4-BE49-F238E27FC236}">
                <a16:creationId xmlns:a16="http://schemas.microsoft.com/office/drawing/2014/main" id="{6051CB32-16F2-4A56-B4EB-43143CB450EB}"/>
              </a:ext>
            </a:extLst>
          </p:cNvPr>
          <p:cNvSpPr>
            <a:spLocks noGrp="1"/>
          </p:cNvSpPr>
          <p:nvPr/>
        </p:nvSpPr>
        <p:spPr>
          <a:xfrm>
            <a:off x="609600" y="3705225"/>
            <a:ext cx="971550" cy="571500"/>
          </a:xfrm>
          <a:prstGeom prst="rect">
            <a:avLst/>
          </a:prstGeom>
          <a:noFill/>
          <a:ln w="0">
            <a:noFill/>
          </a:ln>
        </p:spPr>
        <p:txBody>
          <a:bodyPr wrap="square" lIns="0" tIns="0" rIns="0" bIns="0" anchor="t">
            <a:noAutofit/>
          </a:bodyPr>
          <a:lstStyle/>
          <a:p>
            <a:pPr>
              <a:defRPr sz="3300" b="1">
                <a:solidFill>
                  <a:srgbClr val="6F9182"/>
                </a:solidFill>
                <a:latin typeface="Calibri"/>
                <a:ea typeface="Calibri"/>
                <a:cs typeface="Calibri"/>
              </a:defRPr>
            </a:pPr>
            <a:r>
              <a:rPr sz="3300" b="1">
                <a:solidFill>
                  <a:srgbClr val="6F9182"/>
                </a:solidFill>
                <a:latin typeface="Calibri"/>
                <a:ea typeface="Calibri"/>
                <a:cs typeface="Calibri"/>
              </a:rPr>
              <a:t>02</a:t>
            </a:r>
          </a:p>
        </p:txBody>
      </p:sp>
      <p:sp>
        <p:nvSpPr>
          <p:cNvPr id="13" name="text-193">
            <a:extLst>
              <a:ext uri="{FF2B5EF4-FFF2-40B4-BE49-F238E27FC236}">
                <a16:creationId xmlns:a16="http://schemas.microsoft.com/office/drawing/2014/main" id="{DF3907B9-F154-4D79-893B-EA03267CD8C5}"/>
              </a:ext>
            </a:extLst>
          </p:cNvPr>
          <p:cNvSpPr>
            <a:spLocks noGrp="1"/>
          </p:cNvSpPr>
          <p:nvPr/>
        </p:nvSpPr>
        <p:spPr>
          <a:xfrm>
            <a:off x="1857375" y="3705225"/>
            <a:ext cx="9563100" cy="390525"/>
          </a:xfrm>
          <a:prstGeom prst="rect">
            <a:avLst/>
          </a:prstGeom>
          <a:noFill/>
          <a:ln w="0">
            <a:noFill/>
          </a:ln>
        </p:spPr>
        <p:txBody>
          <a:bodyPr wrap="square" lIns="0" tIns="0" rIns="0" bIns="0" anchor="t">
            <a:noAutofit/>
          </a:bodyPr>
          <a:lstStyle/>
          <a:p>
            <a:pPr>
              <a:defRPr sz="2325" b="1">
                <a:solidFill>
                  <a:srgbClr val="123F32"/>
                </a:solidFill>
                <a:latin typeface="Calibri"/>
                <a:ea typeface="Calibri"/>
                <a:cs typeface="Calibri"/>
              </a:defRPr>
            </a:pPr>
            <a:r>
              <a:rPr sz="2325" b="1">
                <a:solidFill>
                  <a:srgbClr val="123F32"/>
                </a:solidFill>
                <a:latin typeface="Calibri"/>
                <a:ea typeface="Calibri"/>
                <a:cs typeface="Calibri"/>
              </a:rPr>
              <a:t>Decide subscribe / sewa Zoom</a:t>
            </a:r>
          </a:p>
        </p:txBody>
      </p:sp>
      <p:sp>
        <p:nvSpPr>
          <p:cNvPr id="14" name="text-194">
            <a:extLst>
              <a:ext uri="{FF2B5EF4-FFF2-40B4-BE49-F238E27FC236}">
                <a16:creationId xmlns:a16="http://schemas.microsoft.com/office/drawing/2014/main" id="{9E91013E-DB16-4826-99CE-72F13EA9299B}"/>
              </a:ext>
            </a:extLst>
          </p:cNvPr>
          <p:cNvSpPr>
            <a:spLocks noGrp="1"/>
          </p:cNvSpPr>
          <p:nvPr/>
        </p:nvSpPr>
        <p:spPr>
          <a:xfrm>
            <a:off x="1857375" y="4152900"/>
            <a:ext cx="9563100" cy="428625"/>
          </a:xfrm>
          <a:prstGeom prst="rect">
            <a:avLst/>
          </a:prstGeom>
          <a:noFill/>
          <a:ln w="0">
            <a:noFill/>
          </a:ln>
        </p:spPr>
        <p:txBody>
          <a:bodyPr wrap="square" lIns="0" tIns="0" rIns="0" bIns="0" anchor="t">
            <a:noAutofit/>
          </a:bodyPr>
          <a:lstStyle/>
          <a:p>
            <a:pPr>
              <a:defRPr sz="1800" b="0">
                <a:solidFill>
                  <a:srgbClr val="66746B"/>
                </a:solidFill>
                <a:latin typeface="Calibri"/>
                <a:ea typeface="Calibri"/>
                <a:cs typeface="Calibri"/>
              </a:defRPr>
            </a:pPr>
            <a:r>
              <a:rPr sz="1800" b="0">
                <a:solidFill>
                  <a:srgbClr val="66746B"/>
                </a:solidFill>
                <a:latin typeface="Calibri"/>
                <a:ea typeface="Calibri"/>
                <a:cs typeface="Calibri"/>
              </a:rPr>
              <a:t>Cek harga, scope, operator dan kesiapan delapan jadwal.</a:t>
            </a:r>
          </a:p>
        </p:txBody>
      </p:sp>
      <p:sp>
        <p:nvSpPr>
          <p:cNvPr id="15" name="Straight Connector 14">
            <a:extLst>
              <a:ext uri="{FF2B5EF4-FFF2-40B4-BE49-F238E27FC236}">
                <a16:creationId xmlns:a16="http://schemas.microsoft.com/office/drawing/2014/main" id="{379586B0-8F57-42FB-A461-5B702B90DA9F}"/>
              </a:ext>
            </a:extLst>
          </p:cNvPr>
          <p:cNvSpPr>
            <a:spLocks noGrp="1"/>
          </p:cNvSpPr>
          <p:nvPr/>
        </p:nvSpPr>
        <p:spPr>
          <a:xfrm>
            <a:off x="1857375" y="4572000"/>
            <a:ext cx="9601200" cy="0"/>
          </a:xfrm>
          <a:prstGeom prst="line">
            <a:avLst/>
          </a:prstGeom>
          <a:noFill/>
          <a:ln w="9525">
            <a:solidFill>
              <a:srgbClr val="DCE5DE"/>
            </a:solidFill>
          </a:ln>
        </p:spPr>
      </p:sp>
      <p:sp>
        <p:nvSpPr>
          <p:cNvPr id="16" name="text-195">
            <a:extLst>
              <a:ext uri="{FF2B5EF4-FFF2-40B4-BE49-F238E27FC236}">
                <a16:creationId xmlns:a16="http://schemas.microsoft.com/office/drawing/2014/main" id="{F32456FB-E304-4987-B72F-4CA1A757FCF7}"/>
              </a:ext>
            </a:extLst>
          </p:cNvPr>
          <p:cNvSpPr>
            <a:spLocks noGrp="1"/>
          </p:cNvSpPr>
          <p:nvPr/>
        </p:nvSpPr>
        <p:spPr>
          <a:xfrm>
            <a:off x="609600" y="4705350"/>
            <a:ext cx="971550" cy="571500"/>
          </a:xfrm>
          <a:prstGeom prst="rect">
            <a:avLst/>
          </a:prstGeom>
          <a:noFill/>
          <a:ln w="0">
            <a:noFill/>
          </a:ln>
        </p:spPr>
        <p:txBody>
          <a:bodyPr wrap="square" lIns="0" tIns="0" rIns="0" bIns="0" anchor="t">
            <a:noAutofit/>
          </a:bodyPr>
          <a:lstStyle/>
          <a:p>
            <a:pPr>
              <a:defRPr sz="3300" b="1">
                <a:solidFill>
                  <a:srgbClr val="6F9182"/>
                </a:solidFill>
                <a:latin typeface="Calibri"/>
                <a:ea typeface="Calibri"/>
                <a:cs typeface="Calibri"/>
              </a:defRPr>
            </a:pPr>
            <a:r>
              <a:rPr sz="3300" b="1">
                <a:solidFill>
                  <a:srgbClr val="6F9182"/>
                </a:solidFill>
                <a:latin typeface="Calibri"/>
                <a:ea typeface="Calibri"/>
                <a:cs typeface="Calibri"/>
              </a:rPr>
              <a:t>03</a:t>
            </a:r>
          </a:p>
        </p:txBody>
      </p:sp>
      <p:sp>
        <p:nvSpPr>
          <p:cNvPr id="17" name="text-196">
            <a:extLst>
              <a:ext uri="{FF2B5EF4-FFF2-40B4-BE49-F238E27FC236}">
                <a16:creationId xmlns:a16="http://schemas.microsoft.com/office/drawing/2014/main" id="{C49A269C-CA41-4A21-B088-67D44502C4F8}"/>
              </a:ext>
            </a:extLst>
          </p:cNvPr>
          <p:cNvSpPr>
            <a:spLocks noGrp="1"/>
          </p:cNvSpPr>
          <p:nvPr/>
        </p:nvSpPr>
        <p:spPr>
          <a:xfrm>
            <a:off x="1857375" y="4705350"/>
            <a:ext cx="9563100" cy="390525"/>
          </a:xfrm>
          <a:prstGeom prst="rect">
            <a:avLst/>
          </a:prstGeom>
          <a:noFill/>
          <a:ln w="0">
            <a:noFill/>
          </a:ln>
        </p:spPr>
        <p:txBody>
          <a:bodyPr wrap="square" lIns="0" tIns="0" rIns="0" bIns="0" anchor="t">
            <a:noAutofit/>
          </a:bodyPr>
          <a:lstStyle/>
          <a:p>
            <a:pPr>
              <a:defRPr sz="2325" b="1">
                <a:solidFill>
                  <a:srgbClr val="123F32"/>
                </a:solidFill>
                <a:latin typeface="Calibri"/>
                <a:ea typeface="Calibri"/>
                <a:cs typeface="Calibri"/>
              </a:defRPr>
            </a:pPr>
            <a:r>
              <a:rPr sz="2325" b="1">
                <a:solidFill>
                  <a:srgbClr val="123F32"/>
                </a:solidFill>
                <a:latin typeface="Calibri"/>
                <a:ea typeface="Calibri"/>
                <a:cs typeface="Calibri"/>
              </a:rPr>
              <a:t>Sosialisasikan Intimate Dinner</a:t>
            </a:r>
          </a:p>
        </p:txBody>
      </p:sp>
      <p:sp>
        <p:nvSpPr>
          <p:cNvPr id="18" name="text-197">
            <a:extLst>
              <a:ext uri="{FF2B5EF4-FFF2-40B4-BE49-F238E27FC236}">
                <a16:creationId xmlns:a16="http://schemas.microsoft.com/office/drawing/2014/main" id="{4910BBA2-C47E-41F4-B0A0-67546B391B60}"/>
              </a:ext>
            </a:extLst>
          </p:cNvPr>
          <p:cNvSpPr>
            <a:spLocks noGrp="1"/>
          </p:cNvSpPr>
          <p:nvPr/>
        </p:nvSpPr>
        <p:spPr>
          <a:xfrm>
            <a:off x="1857375" y="5153025"/>
            <a:ext cx="9563100" cy="428625"/>
          </a:xfrm>
          <a:prstGeom prst="rect">
            <a:avLst/>
          </a:prstGeom>
          <a:noFill/>
          <a:ln w="0">
            <a:noFill/>
          </a:ln>
        </p:spPr>
        <p:txBody>
          <a:bodyPr wrap="square" lIns="0" tIns="0" rIns="0" bIns="0" anchor="t">
            <a:noAutofit/>
          </a:bodyPr>
          <a:lstStyle/>
          <a:p>
            <a:pPr>
              <a:defRPr sz="1800" b="0">
                <a:solidFill>
                  <a:srgbClr val="66746B"/>
                </a:solidFill>
                <a:latin typeface="Calibri"/>
                <a:ea typeface="Calibri"/>
                <a:cs typeface="Calibri"/>
              </a:defRPr>
            </a:pPr>
            <a:r>
              <a:rPr sz="1800" b="0">
                <a:solidFill>
                  <a:srgbClr val="66746B"/>
                </a:solidFill>
                <a:latin typeface="Calibri"/>
                <a:ea typeface="Calibri"/>
                <a:cs typeface="Calibri"/>
              </a:rPr>
              <a:t>Setelah sesi pertama 3 Nov; usulan mulai 4 Nov 2026.</a:t>
            </a:r>
          </a:p>
        </p:txBody>
      </p:sp>
      <p:sp>
        <p:nvSpPr>
          <p:cNvPr id="19" name="Straight Connector 18">
            <a:extLst>
              <a:ext uri="{FF2B5EF4-FFF2-40B4-BE49-F238E27FC236}">
                <a16:creationId xmlns:a16="http://schemas.microsoft.com/office/drawing/2014/main" id="{B754AD7C-2F3A-484E-8635-D498C39F8B58}"/>
              </a:ext>
            </a:extLst>
          </p:cNvPr>
          <p:cNvSpPr>
            <a:spLocks noGrp="1"/>
          </p:cNvSpPr>
          <p:nvPr/>
        </p:nvSpPr>
        <p:spPr>
          <a:xfrm>
            <a:off x="1857375" y="5572125"/>
            <a:ext cx="9601200" cy="0"/>
          </a:xfrm>
          <a:prstGeom prst="line">
            <a:avLst/>
          </a:prstGeom>
          <a:noFill/>
          <a:ln w="9525">
            <a:solidFill>
              <a:srgbClr val="DCE5DE"/>
            </a:solidFill>
          </a:ln>
        </p:spPr>
      </p:sp>
      <p:sp>
        <p:nvSpPr>
          <p:cNvPr id="20" name="text-198">
            <a:extLst>
              <a:ext uri="{FF2B5EF4-FFF2-40B4-BE49-F238E27FC236}">
                <a16:creationId xmlns:a16="http://schemas.microsoft.com/office/drawing/2014/main" id="{217E6AA9-33BC-46A1-877C-3F256B21DE14}"/>
              </a:ext>
            </a:extLst>
          </p:cNvPr>
          <p:cNvSpPr>
            <a:spLocks noGrp="1"/>
          </p:cNvSpPr>
          <p:nvPr/>
        </p:nvSpPr>
        <p:spPr>
          <a:xfrm>
            <a:off x="609600" y="6000750"/>
            <a:ext cx="10887075" cy="314325"/>
          </a:xfrm>
          <a:prstGeom prst="rect">
            <a:avLst/>
          </a:prstGeom>
          <a:noFill/>
          <a:ln w="0">
            <a:noFill/>
          </a:ln>
        </p:spPr>
        <p:txBody>
          <a:bodyPr wrap="square" lIns="0" tIns="0" rIns="0" bIns="0" anchor="t">
            <a:noAutofit/>
          </a:bodyPr>
          <a:lstStyle/>
          <a:p>
            <a:pPr>
              <a:defRPr sz="1725" b="1">
                <a:solidFill>
                  <a:srgbClr val="123F32"/>
                </a:solidFill>
                <a:latin typeface="Calibri"/>
                <a:ea typeface="Calibri"/>
                <a:cs typeface="Calibri"/>
              </a:defRPr>
            </a:pPr>
            <a:r>
              <a:rPr sz="1725" b="1">
                <a:solidFill>
                  <a:srgbClr val="123F32"/>
                </a:solidFill>
                <a:latin typeface="Calibri"/>
                <a:ea typeface="Calibri"/>
                <a:cs typeface="Calibri"/>
              </a:rPr>
              <a:t>Sebelum buka pembayaran Dinner: lock Master, venue, harga dan proses seleksi.</a:t>
            </a:r>
          </a:p>
        </p:txBody>
      </p:sp>
    </p:spTree>
    <p:extLst>
      <p:ext uri="{BB962C8B-B14F-4D97-AF65-F5344CB8AC3E}">
        <p14:creationId xmlns:p14="http://schemas.microsoft.com/office/powerpoint/2010/main" val="136108118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Calibri"/>
        <a:cs typeface="Calibri"/>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6221</Words>
  <Application>Microsoft Macintosh PowerPoint</Application>
  <DocSecurity>0</DocSecurity>
  <PresentationFormat>Widescreen</PresentationFormat>
  <Paragraphs>527</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Microsoft Office User</cp:lastModifiedBy>
  <cp:revision>1</cp:revision>
  <dcterms:created xsi:type="dcterms:W3CDTF">2026-10-06T01:47:19Z</dcterms:created>
  <dcterms:modified xsi:type="dcterms:W3CDTF">2026-10-06T03:07:00Z</dcterms:modified>
</cp:coreProperties>
</file>