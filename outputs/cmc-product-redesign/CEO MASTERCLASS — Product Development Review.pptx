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1.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2.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3.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slides/charts/chart4.xml" ContentType="application/vnd.openxmlformats-officedocument.drawingml.chart+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adbc47cc69c54079" /><Relationship Type="http://schemas.openxmlformats.org/officeDocument/2006/relationships/extended-properties" Target="/docProps/app.xml" Id="R594806b4aa2a4190" /><Relationship Type="http://schemas.openxmlformats.org/officeDocument/2006/relationships/officeDocument" Target="/ppt/presentation.xml" Id="Rcd2e707a3dc543eb" /></Relationships>
</file>

<file path=ppt/presentation.xml><?xml version="1.0" encoding="utf-8"?>
<p:presentation xmlns:p="http://schemas.openxmlformats.org/presentationml/2006/main">
  <p:sldMasterIdLst>
    <p:sldMasterId xmlns:r="http://schemas.openxmlformats.org/officeDocument/2006/relationships" id="2147483648" r:id="R8f3397d431b74d3e"/>
  </p:sldMasterIdLst>
  <p:notesMasterIdLst>
    <p:notesMasterId xmlns:r="http://schemas.openxmlformats.org/officeDocument/2006/relationships" r:id="Ra05bf182ac634673"/>
  </p:notesMasterIdLst>
  <p:sldIdLst>
    <p:sldId xmlns:r="http://schemas.openxmlformats.org/officeDocument/2006/relationships" id="256" r:id="R110a9eddff66438b"/>
    <p:sldId xmlns:r="http://schemas.openxmlformats.org/officeDocument/2006/relationships" id="257" r:id="R311c56c0453f4207"/>
    <p:sldId xmlns:r="http://schemas.openxmlformats.org/officeDocument/2006/relationships" id="258" r:id="R77e945e183544045"/>
    <p:sldId xmlns:r="http://schemas.openxmlformats.org/officeDocument/2006/relationships" id="259" r:id="R520e63344c5e4af4"/>
    <p:sldId xmlns:r="http://schemas.openxmlformats.org/officeDocument/2006/relationships" id="260" r:id="R31e4b840be4c4800"/>
    <p:sldId xmlns:r="http://schemas.openxmlformats.org/officeDocument/2006/relationships" id="261" r:id="R0aae5da81eb7447a"/>
    <p:sldId xmlns:r="http://schemas.openxmlformats.org/officeDocument/2006/relationships" id="262" r:id="Rb02ceb82860547d7"/>
    <p:sldId xmlns:r="http://schemas.openxmlformats.org/officeDocument/2006/relationships" id="263" r:id="R6ee23152532145a3"/>
    <p:sldId xmlns:r="http://schemas.openxmlformats.org/officeDocument/2006/relationships" id="264" r:id="Rf07a92061f374a36"/>
    <p:sldId xmlns:r="http://schemas.openxmlformats.org/officeDocument/2006/relationships" id="265" r:id="R786ec391e2014d8b"/>
    <p:sldId xmlns:r="http://schemas.openxmlformats.org/officeDocument/2006/relationships" id="266" r:id="R8e88aa0cc33c417a"/>
    <p:sldId xmlns:r="http://schemas.openxmlformats.org/officeDocument/2006/relationships" id="267" r:id="R9c6eb628d9284608"/>
    <p:sldId xmlns:r="http://schemas.openxmlformats.org/officeDocument/2006/relationships" id="268" r:id="R07d7ce12c72148bf"/>
    <p:sldId xmlns:r="http://schemas.openxmlformats.org/officeDocument/2006/relationships" id="269" r:id="Rccc9a74285674b19"/>
    <p:sldId xmlns:r="http://schemas.openxmlformats.org/officeDocument/2006/relationships" id="270" r:id="R54336a05e0f94606"/>
    <p:sldId xmlns:r="http://schemas.openxmlformats.org/officeDocument/2006/relationships" id="271" r:id="R7578dfd19e664c41"/>
    <p:sldId xmlns:r="http://schemas.openxmlformats.org/officeDocument/2006/relationships" id="272" r:id="R243637c462a14d9a"/>
    <p:sldId xmlns:r="http://schemas.openxmlformats.org/officeDocument/2006/relationships" id="273" r:id="Rbdfa22dd0e2f4d86"/>
    <p:sldId xmlns:r="http://schemas.openxmlformats.org/officeDocument/2006/relationships" id="274" r:id="R3fe569233ed64b7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4823ed92a6141e3" /><Relationship Type="http://schemas.openxmlformats.org/officeDocument/2006/relationships/slideMaster" Target="/ppt/slideMasters/slideMaster1.xml" Id="R8f3397d431b74d3e" /><Relationship Type="http://schemas.openxmlformats.org/officeDocument/2006/relationships/notesMaster" Target="/ppt/notesMasters/notesMaster1.xml" Id="Ra05bf182ac634673" /><Relationship Type="http://schemas.openxmlformats.org/officeDocument/2006/relationships/presProps" Target="/ppt/presProps.xml" Id="Rcb00f6e3baad4d34" /><Relationship Type="http://schemas.openxmlformats.org/officeDocument/2006/relationships/tableStyles" Target="/ppt/tableStyles.xml" Id="Ra794848abb4d4125" /><Relationship Type="http://schemas.openxmlformats.org/officeDocument/2006/relationships/slide" Target="/ppt/slides/slide1.xml" Id="R110a9eddff66438b" /><Relationship Type="http://schemas.openxmlformats.org/officeDocument/2006/relationships/slide" Target="/ppt/slides/slide2.xml" Id="R311c56c0453f4207" /><Relationship Type="http://schemas.openxmlformats.org/officeDocument/2006/relationships/slide" Target="/ppt/slides/slide3.xml" Id="R77e945e183544045" /><Relationship Type="http://schemas.openxmlformats.org/officeDocument/2006/relationships/slide" Target="/ppt/slides/slide4.xml" Id="R520e63344c5e4af4" /><Relationship Type="http://schemas.openxmlformats.org/officeDocument/2006/relationships/slide" Target="/ppt/slides/slide5.xml" Id="R31e4b840be4c4800" /><Relationship Type="http://schemas.openxmlformats.org/officeDocument/2006/relationships/slide" Target="/ppt/slides/slide6.xml" Id="R0aae5da81eb7447a" /><Relationship Type="http://schemas.openxmlformats.org/officeDocument/2006/relationships/slide" Target="/ppt/slides/slide7.xml" Id="Rb02ceb82860547d7" /><Relationship Type="http://schemas.openxmlformats.org/officeDocument/2006/relationships/slide" Target="/ppt/slides/slide8.xml" Id="R6ee23152532145a3" /><Relationship Type="http://schemas.openxmlformats.org/officeDocument/2006/relationships/slide" Target="/ppt/slides/slide9.xml" Id="Rf07a92061f374a36" /><Relationship Type="http://schemas.openxmlformats.org/officeDocument/2006/relationships/slide" Target="/ppt/slides/slide10.xml" Id="R786ec391e2014d8b" /><Relationship Type="http://schemas.openxmlformats.org/officeDocument/2006/relationships/slide" Target="/ppt/slides/slide11.xml" Id="R8e88aa0cc33c417a" /><Relationship Type="http://schemas.openxmlformats.org/officeDocument/2006/relationships/slide" Target="/ppt/slides/slide12.xml" Id="R9c6eb628d9284608" /><Relationship Type="http://schemas.openxmlformats.org/officeDocument/2006/relationships/slide" Target="/ppt/slides/slide13.xml" Id="R07d7ce12c72148bf" /><Relationship Type="http://schemas.openxmlformats.org/officeDocument/2006/relationships/slide" Target="/ppt/slides/slide14.xml" Id="Rccc9a74285674b19" /><Relationship Type="http://schemas.openxmlformats.org/officeDocument/2006/relationships/slide" Target="/ppt/slides/slide15.xml" Id="R54336a05e0f94606" /><Relationship Type="http://schemas.openxmlformats.org/officeDocument/2006/relationships/slide" Target="/ppt/slides/slide16.xml" Id="R7578dfd19e664c41" /><Relationship Type="http://schemas.openxmlformats.org/officeDocument/2006/relationships/slide" Target="/ppt/slides/slide17.xml" Id="R243637c462a14d9a" /><Relationship Type="http://schemas.openxmlformats.org/officeDocument/2006/relationships/slide" Target="/ppt/slides/slide18.xml" Id="Rbdfa22dd0e2f4d86" /><Relationship Type="http://schemas.openxmlformats.org/officeDocument/2006/relationships/slide" Target="/ppt/slides/slide19.xml" Id="R3fe569233ed64b7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9f868c5f2ef49f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d5e9a7a1e1e482a" /><Relationship Type="http://schemas.openxmlformats.org/officeDocument/2006/relationships/notesMaster" Target="/ppt/notesMasters/notesMaster1.xml" Id="Re794cd43a1fa4956" /></Relationships>
</file>

<file path=ppt/notesSlides/_rels/notesSlide2.xml.rels>&#65279;<?xml version="1.0" encoding="utf-8"?><Relationships xmlns="http://schemas.openxmlformats.org/package/2006/relationships"><Relationship Type="http://schemas.openxmlformats.org/officeDocument/2006/relationships/slide" Target="/ppt/slides/slide2.xml" Id="R253fc6e8cee64c5e" /><Relationship Type="http://schemas.openxmlformats.org/officeDocument/2006/relationships/notesMaster" Target="/ppt/notesMasters/notesMaster1.xml" Id="Rcf4ec9524ab341b4" /></Relationships>
</file>

<file path=ppt/notesSlides/_rels/notesSlide3.xml.rels>&#65279;<?xml version="1.0" encoding="utf-8"?><Relationships xmlns="http://schemas.openxmlformats.org/package/2006/relationships"><Relationship Type="http://schemas.openxmlformats.org/officeDocument/2006/relationships/slide" Target="/ppt/slides/slide3.xml" Id="R573ff2bc92fd4677" /><Relationship Type="http://schemas.openxmlformats.org/officeDocument/2006/relationships/notesMaster" Target="/ppt/notesMasters/notesMaster1.xml" Id="R02b304b14782483d" /></Relationships>
</file>

<file path=ppt/notesSlides/_rels/notesSlide4.xml.rels>&#65279;<?xml version="1.0" encoding="utf-8"?><Relationships xmlns="http://schemas.openxmlformats.org/package/2006/relationships"><Relationship Type="http://schemas.openxmlformats.org/officeDocument/2006/relationships/slide" Target="/ppt/slides/slide4.xml" Id="Rde6381cb929a41ae" /><Relationship Type="http://schemas.openxmlformats.org/officeDocument/2006/relationships/notesMaster" Target="/ppt/notesMasters/notesMaster1.xml" Id="R6fc8f1a150ab416e" /></Relationships>
</file>

<file path=ppt/notesSlides/_rels/notesSlide5.xml.rels>&#65279;<?xml version="1.0" encoding="utf-8"?><Relationships xmlns="http://schemas.openxmlformats.org/package/2006/relationships"><Relationship Type="http://schemas.openxmlformats.org/officeDocument/2006/relationships/slide" Target="/ppt/slides/slide5.xml" Id="R7c64baf16af144ce" /><Relationship Type="http://schemas.openxmlformats.org/officeDocument/2006/relationships/notesMaster" Target="/ppt/notesMasters/notesMaster1.xml" Id="R19138e533e234272" /></Relationships>
</file>

<file path=ppt/notesSlides/_rels/notesSlide6.xml.rels>&#65279;<?xml version="1.0" encoding="utf-8"?><Relationships xmlns="http://schemas.openxmlformats.org/package/2006/relationships"><Relationship Type="http://schemas.openxmlformats.org/officeDocument/2006/relationships/slide" Target="/ppt/slides/slide6.xml" Id="R44432a839e224360" /><Relationship Type="http://schemas.openxmlformats.org/officeDocument/2006/relationships/notesMaster" Target="/ppt/notesMasters/notesMaster1.xml" Id="Rcfb0057ab6ae4c57" /></Relationships>
</file>

<file path=ppt/notesSlides/_rels/notesSlide7.xml.rels>&#65279;<?xml version="1.0" encoding="utf-8"?><Relationships xmlns="http://schemas.openxmlformats.org/package/2006/relationships"><Relationship Type="http://schemas.openxmlformats.org/officeDocument/2006/relationships/slide" Target="/ppt/slides/slide7.xml" Id="Ra09dfe24ceae44d4" /><Relationship Type="http://schemas.openxmlformats.org/officeDocument/2006/relationships/notesMaster" Target="/ppt/notesMasters/notesMaster1.xml" Id="R764801d796264088" /></Relationships>
</file>

<file path=ppt/notesSlides/_rels/notesSlide8.xml.rels>&#65279;<?xml version="1.0" encoding="utf-8"?><Relationships xmlns="http://schemas.openxmlformats.org/package/2006/relationships"><Relationship Type="http://schemas.openxmlformats.org/officeDocument/2006/relationships/slide" Target="/ppt/slides/slide8.xml" Id="Rfecf212746624bce" /><Relationship Type="http://schemas.openxmlformats.org/officeDocument/2006/relationships/notesMaster" Target="/ppt/notesMasters/notesMaster1.xml" Id="R75b27fa5ba2341f5" /></Relationships>
</file>

<file path=ppt/notesSlides/_rels/notesSlide9.xml.rels>&#65279;<?xml version="1.0" encoding="utf-8"?><Relationships xmlns="http://schemas.openxmlformats.org/package/2006/relationships"><Relationship Type="http://schemas.openxmlformats.org/officeDocument/2006/relationships/slide" Target="/ppt/slides/slide9.xml" Id="R959518c7e6874975" /><Relationship Type="http://schemas.openxmlformats.org/officeDocument/2006/relationships/notesMaster" Target="/ppt/notesMasters/notesMaster1.xml" Id="R02ad66ed6a0040a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b45f0353daa417e" /><Relationship Type="http://schemas.openxmlformats.org/officeDocument/2006/relationships/notesMaster" Target="/ppt/notesMasters/notesMaster1.xml" Id="Rceffff3a51f44cb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f0d1a749cd874d8a" /><Relationship Type="http://schemas.openxmlformats.org/officeDocument/2006/relationships/notesMaster" Target="/ppt/notesMasters/notesMaster1.xml" Id="Ra4304fca973b4c50"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a2976be5e5fc4e33" /><Relationship Type="http://schemas.openxmlformats.org/officeDocument/2006/relationships/notesMaster" Target="/ppt/notesMasters/notesMaster1.xml" Id="R703999941c604628"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28bdfbde2f0a446e" /><Relationship Type="http://schemas.openxmlformats.org/officeDocument/2006/relationships/notesMaster" Target="/ppt/notesMasters/notesMaster1.xml" Id="R49a5f222139046a2"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f50cb187903b4bb3" /><Relationship Type="http://schemas.openxmlformats.org/officeDocument/2006/relationships/notesMaster" Target="/ppt/notesMasters/notesMaster1.xml" Id="R009afd2464df48ce"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cbbf909bec7440bb" /><Relationship Type="http://schemas.openxmlformats.org/officeDocument/2006/relationships/notesMaster" Target="/ppt/notesMasters/notesMaster1.xml" Id="R7c2d4c1b09174626"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db72c5d725fb405b" /><Relationship Type="http://schemas.openxmlformats.org/officeDocument/2006/relationships/notesMaster" Target="/ppt/notesMasters/notesMaster1.xml" Id="Re28f8d0d44ed4465"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de6c4583d87b459c" /><Relationship Type="http://schemas.openxmlformats.org/officeDocument/2006/relationships/notesMaster" Target="/ppt/notesMasters/notesMaster1.xml" Id="Re476eb7b84b04577"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97bc60ebb4dd44b6" /><Relationship Type="http://schemas.openxmlformats.org/officeDocument/2006/relationships/notesMaster" Target="/ppt/notesMasters/notesMaster1.xml" Id="Rdbaf041dff9c4722"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5cea2d85a6194102" /><Relationship Type="http://schemas.openxmlformats.org/officeDocument/2006/relationships/notesMaster" Target="/ppt/notesMasters/notesMaster1.xml" Id="R60949bb42de545b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Pertanyaan utama deck: apa yang harus ditambah ke CMC supaya harganya bisa naik, dengan economics yang tetap menarik. Jawaban singkat: LIVE = Founder Live, 8 sesi tiap Rabu 4 Nov–23 Des 2026, 60 dari 90 menit untuk Q&amp;A peserta, budget Rp26,8–42,8 jt per cohort sebelum pajak dengan sewa Zoom (base Rp34,8 jt; dengan subscribe Rp29,3–45,3 jt, base Rp37,3 jt). ACCESS = Intimate Dinner, maksimal 20 kursi dengan satu Master, add-on berbayar; usulan pilot member Rp1,5 jt, non-member Rp3 jt. PRICE = Rp1,5 jt (sekarang, INTERNAL) → Rp2,5 jt → ~Rp5 jt (USULAN), dikunci setelah data pilot.</a:t>
            </a:r>
          </a:p>
          <a:p xmlns:a="http://schemas.openxmlformats.org/drawingml/2006/main">
            <a:r>
              <a:t/>
            </a:r>
          </a:p>
          <a:p xmlns:a="http://schemas.openxmlformats.org/drawingml/2006/main">
            <a:r>
              <a:t>DETAIL DARI SLIDE SUMBER</a:t>
            </a:r>
          </a:p>
          <a:p xmlns:a="http://schemas.openxmlformats.org/drawingml/2006/main">
            <a:r>
              <a:t>CEO MASTERCLASS</a:t>
            </a:r>
          </a:p>
          <a:p xmlns:a="http://schemas.openxmlformats.org/drawingml/2006/main">
            <a:r>
              <a:t>Pricing &amp; Product Development</a:t>
            </a:r>
          </a:p>
          <a:p xmlns:a="http://schemas.openxmlformats.org/drawingml/2006/main">
            <a:r>
              <a:t>Founder Live, Intimate Dinner, dan pricing roadmap – Oktober 2026</a:t>
            </a:r>
          </a:p>
          <a:p xmlns:a="http://schemas.openxmlformats.org/drawingml/2006/main">
            <a:r>
              <a:t>01</a:t>
            </a:r>
          </a:p>
          <a:p xmlns:a="http://schemas.openxmlformats.org/drawingml/2006/main">
            <a:r>
              <a:t>Pricing &amp; posisi pasar</a:t>
            </a:r>
          </a:p>
          <a:p xmlns:a="http://schemas.openxmlformats.org/drawingml/2006/main">
            <a:r>
              <a:t>02</a:t>
            </a:r>
          </a:p>
          <a:p xmlns:a="http://schemas.openxmlformats.org/drawingml/2006/main">
            <a:r>
              <a:t>Founder Live</a:t>
            </a:r>
          </a:p>
          <a:p xmlns:a="http://schemas.openxmlformats.org/drawingml/2006/main">
            <a:r>
              <a:t>03</a:t>
            </a:r>
          </a:p>
          <a:p xmlns:a="http://schemas.openxmlformats.org/drawingml/2006/main">
            <a:r>
              <a:t>Intimate Dinner</a:t>
            </a:r>
          </a:p>
          <a:p xmlns:a="http://schemas.openxmlformats.org/drawingml/2006/main">
            <a:r>
              <a:t>04</a:t>
            </a:r>
          </a:p>
          <a:p xmlns:a="http://schemas.openxmlformats.org/drawingml/2006/main">
            <a:r>
              <a:t>Keputusan</a:t>
            </a:r>
          </a:p>
          <a:p xmlns:a="http://schemas.openxmlformats.org/drawingml/2006/main">
            <a:r>
              <a:t/>
            </a:r>
          </a:p>
          <a:p xmlns:a="http://schemas.openxmlformats.org/drawingml/2006/main">
            <a:r>
              <a:t>CATATAN PEMAPARAN</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CMC ditempatkan di kolom Live online karena membership Rp1,5 jt sudah termasuk Founder Live batch pertama (8 sesi). Kesimpulan yang dipertahankan: CMC ada di lower end pasar live learning, setara Sevenpreneur Regular (Rp1,499 jt, 8 sesi interaktif); bukan klaim bahwa CMC underpriced secara umum. Monetization gap terbesar muncul setelah live access: community, offline access, dan credential. Harga terverifikasi 2–3 Okt 2026 (detail dan caveat di lampiran A6). Sevenpreneur Batch 8: Regular Rp1,499 jt (coret Rp3 jt), VIP Rp4,999 jt (coret Rp8,5 jt). Aksoro CEO 3.0: online Rp3,3 jt; offline Jakarta Rp9,3 jt early bird, normal Rp15 jt, event 13–14 Juni 2026 (sudah lewat). Asian Tiger Property Development Masterclass Rp7 jt early bird sampai Rp10,6 jt promo (halaman sekarang 404, perlu cek manual). Sumbu X adalah penilaian kualitatif level akses ke speaker, bukan data survei. Pesan utama chart: CMC Rp1,5 jt sudah di lower end pasar live learning karena membership sudah termasuk Founder Live, sementara program yang membuka akses offline ke speaker ada di Rp5–9,3 jt; harga naik seiring akses, bukan seiring jumlah konten. Perbandingan lengkap CMC vs Sevenpreneur: Konten rekaman (CMC 12 Master konglo; Sevenpreneur LMS + rekaman), Live Q&amp;A (CMC Founder Live 8 sesi; Sevenpreneur 8 sesi interaktif) sudah setara. Community (CMC belum; Sevenpreneur komunitas entrepreneur), Offline access (CMC belum; Sevenpreneur VIP: 1 hari offline + intimate dinner + mentoring 1-on-1), Credential (CMC belum; Sevenpreneur e-certificate penyelesaian, bukan BNSP), Paylater (CMC belum; Sevenpreneur Kredivo, Akulaku, kartu kredit).</a:t>
            </a:r>
          </a:p>
          <a:p xmlns:a="http://schemas.openxmlformats.org/drawingml/2006/main">
            <a:r>
              <a:t/>
            </a:r>
          </a:p>
          <a:p xmlns:a="http://schemas.openxmlformats.org/drawingml/2006/main">
            <a:r>
              <a:t>DETAIL DARI SLIDE SUMBER</a:t>
            </a:r>
          </a:p>
          <a:p xmlns:a="http://schemas.openxmlformats.org/drawingml/2006/main">
            <a:r>
              <a:t>RINGKASAN</a:t>
            </a:r>
          </a:p>
          <a:p xmlns:a="http://schemas.openxmlformats.org/drawingml/2006/main">
            <a:r>
              <a:t>CMC sudah punya cukup konten; value berikutnya datang dari akses yang lebih dekat.</a:t>
            </a:r>
          </a:p>
          <a:p xmlns:a="http://schemas.openxmlformats.org/drawingml/2006/main">
            <a:r>
              <a:t>Founder Live dan Intimate Dinner menambah alasan untuk kembali; permanent pricing menunggu data pilot.</a:t>
            </a:r>
          </a:p>
          <a:p xmlns:a="http://schemas.openxmlformats.org/drawingml/2006/main">
            <a:r>
              <a:t>LIVE</a:t>
            </a:r>
          </a:p>
          <a:p xmlns:a="http://schemas.openxmlformats.org/drawingml/2006/main">
            <a:r>
              <a:t>8</a:t>
            </a:r>
          </a:p>
          <a:p xmlns:a="http://schemas.openxmlformats.org/drawingml/2006/main">
            <a:r>
              <a:t>sesi Founder Live</a:t>
            </a:r>
          </a:p>
          <a:p xmlns:a="http://schemas.openxmlformats.org/drawingml/2006/main">
            <a:r>
              <a:t>tiap Rabu, 4 Nov–23 Des 2026</a:t>
            </a:r>
          </a:p>
          <a:p xmlns:a="http://schemas.openxmlformats.org/drawingml/2006/main">
            <a:r>
              <a:t>ACCESS</a:t>
            </a:r>
          </a:p>
          <a:p xmlns:a="http://schemas.openxmlformats.org/drawingml/2006/main">
            <a:r>
              <a:t>20</a:t>
            </a:r>
          </a:p>
          <a:p xmlns:a="http://schemas.openxmlformats.org/drawingml/2006/main">
            <a:r>
              <a:t>kursi Intimate Dinner</a:t>
            </a:r>
          </a:p>
          <a:p xmlns:a="http://schemas.openxmlformats.org/drawingml/2006/main">
            <a:r>
              <a:t>satu room, satu Master · usulan pilot</a:t>
            </a:r>
          </a:p>
          <a:p xmlns:a="http://schemas.openxmlformats.org/drawingml/2006/main">
            <a:r>
              <a:t>PRICE</a:t>
            </a:r>
          </a:p>
          <a:p xmlns:a="http://schemas.openxmlformats.org/drawingml/2006/main">
            <a:r>
              <a:t>Rp1,5 → 2,5 → ~5 jt</a:t>
            </a:r>
          </a:p>
          <a:p xmlns:a="http://schemas.openxmlformats.org/drawingml/2006/main">
            <a:r>
              <a:t>jalur harga membership</a:t>
            </a:r>
          </a:p>
          <a:p xmlns:a="http://schemas.openxmlformats.org/drawingml/2006/main">
            <a:r>
              <a:t>dikunci setelah data pilot · usulan</a:t>
            </a:r>
          </a:p>
          <a:p xmlns:a="http://schemas.openxmlformats.org/drawingml/2006/main">
            <a:r>
              <a:t>Tambah access dulu, test willingness-to-pay, baru lock pricing.</a:t>
            </a:r>
          </a:p>
          <a:p xmlns:a="http://schemas.openxmlformats.org/drawingml/2006/main">
            <a:r>
              <a:t>Source: Founder Live Revised (Okt 2026); CMC Pricing Deck (Sep 2026). Intimate Dinner, tier Rp2,5 jt dan ~Rp5 jt: usulan pilot.</a:t>
            </a:r>
          </a:p>
          <a:p xmlns:a="http://schemas.openxmlformats.org/drawingml/2006/main">
            <a:r>
              <a:t>| </a:t>
            </a:r>
          </a:p>
          <a:p xmlns:a="http://schemas.openxmlformats.org/drawingml/2006/main">
            <a:r>
              <a:t>2</a:t>
            </a:r>
          </a:p>
          <a:p xmlns:a="http://schemas.openxmlformats.org/drawingml/2006/main">
            <a:r>
              <a:t/>
            </a:r>
          </a:p>
          <a:p xmlns:a="http://schemas.openxmlformats.org/drawingml/2006/main">
            <a:r>
              <a:t>CATATAN PEMAPARAN</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Arsitektur harga. CURRENT Rp1,5 jt (INTERNAL): 8 tema / 23 modul rekaman 12 Master, video modul teknis, handbook, quiz, tools 100+ template, AI assistant, Entrepreneur DNA, dan Founder Live batch pertama (8 sesi, 4 Nov–23 Des 2026). Karena Founder Live sudah ada di harga sekarang, kenaikan ke Rp2,5 jt tidak bisa dijustifikasi dengan Founder Live. MEMBERSHIP+ Rp2,5 jt (USULAN): community dan CMC Connect aktif, offline gathering antar member, alumni dan network, priority access + member price untuk Intimate Dinner. Dinner tetap add-on berbayar, bukan termasuk. PREMIUM ~Rp5 jt (USULAN): sertifikasi kompetensi lewat LSP mitra (benchmark ~Rp1,7 jt per peserta, skema kewirausahaan; tier mendekati Rp5,2 jt), akses ekosistem Kadin (bisa dikonversi jadi penjualan KTA), dan premium member privileges termasuk priority access ke sesi offline berbayar. Kerangka WATCH / ASK / SIT WITH tetap berguna untuk menjelaskan kedekatan akses (rekaman, Founder Live ≤1.000 live, Intimate Dinner 20 kursi), tapi bukan struktur tier harga.</a:t>
            </a:r>
          </a:p>
          <a:p xmlns:a="http://schemas.openxmlformats.org/drawingml/2006/main">
            <a:r>
              <a:t/>
            </a:r>
          </a:p>
          <a:p xmlns:a="http://schemas.openxmlformats.org/drawingml/2006/main">
            <a:r>
              <a:t>DETAIL DARI SLIDE SUMBER</a:t>
            </a:r>
          </a:p>
          <a:p xmlns:a="http://schemas.openxmlformats.org/drawingml/2006/main">
            <a:r>
              <a:t>POSISI PASAR</a:t>
            </a:r>
          </a:p>
          <a:p xmlns:a="http://schemas.openxmlformats.org/drawingml/2006/main">
            <a:r>
              <a:t>CMC sudah berada di lower end live-learning market; monetization gap terbesar justru muncul setelah live access.</a:t>
            </a:r>
          </a:p>
          <a:p xmlns:a="http://schemas.openxmlformats.org/drawingml/2006/main">
            <a:r>
              <a:t>CMC sudah punya content dan live Q&amp;A di harga Rp1,5 jt; gap berikutnya ada di community, offline access, dan credential.</a:t>
            </a:r>
          </a:p>
          <a:p xmlns:a="http://schemas.openxmlformats.org/drawingml/2006/main">
            <a:r>
              <a:t>HARGA VS LEVEL AKSES</a:t>
            </a:r>
          </a:p>
          <a:p xmlns:a="http://schemas.openxmlformats.org/drawingml/2006/main">
            <a:r>
              <a:t>Harga program, Rp jt</a:t>
            </a:r>
          </a:p>
          <a:p xmlns:a="http://schemas.openxmlformats.org/drawingml/2006/main">
            <a:r>
              <a:t>0</a:t>
            </a:r>
          </a:p>
          <a:p xmlns:a="http://schemas.openxmlformats.org/drawingml/2006/main">
            <a:r>
              <a:t>5</a:t>
            </a:r>
          </a:p>
          <a:p xmlns:a="http://schemas.openxmlformats.org/drawingml/2006/main">
            <a:r>
              <a:t>10</a:t>
            </a:r>
          </a:p>
          <a:p xmlns:a="http://schemas.openxmlformats.org/drawingml/2006/main">
            <a:r>
              <a:t>Recorded</a:t>
            </a:r>
          </a:p>
          <a:p xmlns:a="http://schemas.openxmlformats.org/drawingml/2006/main">
            <a:r>
              <a:t>Live online</a:t>
            </a:r>
          </a:p>
          <a:p xmlns:a="http://schemas.openxmlformats.org/drawingml/2006/main">
            <a:r>
              <a:t>Online + offline</a:t>
            </a:r>
          </a:p>
          <a:p xmlns:a="http://schemas.openxmlformats.org/drawingml/2006/main">
            <a:r>
              <a:t>Offline premium</a:t>
            </a:r>
          </a:p>
          <a:p xmlns:a="http://schemas.openxmlformats.org/drawingml/2006/main">
            <a:r>
              <a:t>Sevenpreneur Regular 1,5</a:t>
            </a:r>
          </a:p>
          <a:p xmlns:a="http://schemas.openxmlformats.org/drawingml/2006/main">
            <a:r>
              <a:t>Aksoro online 3,3</a:t>
            </a:r>
          </a:p>
          <a:p xmlns:a="http://schemas.openxmlformats.org/drawingml/2006/main">
            <a:r>
              <a:t>Sevenpreneur VIP 5,0</a:t>
            </a:r>
          </a:p>
          <a:p xmlns:a="http://schemas.openxmlformats.org/drawingml/2006/main">
            <a:r>
              <a:t>Asian Tiger 7–10,6*</a:t>
            </a:r>
          </a:p>
          <a:p xmlns:a="http://schemas.openxmlformats.org/drawingml/2006/main">
            <a:r>
              <a:t>Aksoro offline</a:t>
            </a:r>
          </a:p>
          <a:p xmlns:a="http://schemas.openxmlformats.org/drawingml/2006/main">
            <a:r>
              <a:t>9,3</a:t>
            </a:r>
          </a:p>
          <a:p xmlns:a="http://schemas.openxmlformats.org/drawingml/2006/main">
            <a:r>
              <a:t>CMC 1,5</a:t>
            </a:r>
          </a:p>
          <a:p xmlns:a="http://schemas.openxmlformats.org/drawingml/2006/main">
            <a:r>
              <a:t>GAP SETELAH LIVE ACCESS</a:t>
            </a:r>
          </a:p>
          <a:p xmlns:a="http://schemas.openxmlformats.org/drawingml/2006/main">
            <a:r>
              <a:t>Community</a:t>
            </a:r>
          </a:p>
          <a:p xmlns:a="http://schemas.openxmlformats.org/drawingml/2006/main">
            <a:r>
              <a:t>CMC: </a:t>
            </a:r>
          </a:p>
          <a:p xmlns:a="http://schemas.openxmlformats.org/drawingml/2006/main">
            <a:r>
              <a:t>belum</a:t>
            </a:r>
          </a:p>
          <a:p xmlns:a="http://schemas.openxmlformats.org/drawingml/2006/main">
            <a:r>
              <a:t>Peer: komunitas entrepreneur</a:t>
            </a:r>
          </a:p>
          <a:p xmlns:a="http://schemas.openxmlformats.org/drawingml/2006/main">
            <a:r>
              <a:t>Offline access</a:t>
            </a:r>
          </a:p>
          <a:p xmlns:a="http://schemas.openxmlformats.org/drawingml/2006/main">
            <a:r>
              <a:t>CMC: </a:t>
            </a:r>
          </a:p>
          <a:p xmlns:a="http://schemas.openxmlformats.org/drawingml/2006/main">
            <a:r>
              <a:t>belum</a:t>
            </a:r>
          </a:p>
          <a:p xmlns:a="http://schemas.openxmlformats.org/drawingml/2006/main">
            <a:r>
              <a:t>Peer: offline day + dinner (VIP)</a:t>
            </a:r>
          </a:p>
          <a:p xmlns:a="http://schemas.openxmlformats.org/drawingml/2006/main">
            <a:r>
              <a:t>Credential</a:t>
            </a:r>
          </a:p>
          <a:p xmlns:a="http://schemas.openxmlformats.org/drawingml/2006/main">
            <a:r>
              <a:t>CMC: </a:t>
            </a:r>
          </a:p>
          <a:p xmlns:a="http://schemas.openxmlformats.org/drawingml/2006/main">
            <a:r>
              <a:t>belum</a:t>
            </a:r>
          </a:p>
          <a:p xmlns:a="http://schemas.openxmlformats.org/drawingml/2006/main">
            <a:r>
              <a:t>Peer: e-certificate</a:t>
            </a:r>
          </a:p>
          <a:p xmlns:a="http://schemas.openxmlformats.org/drawingml/2006/main">
            <a:r>
              <a:t>CMC bukan lagi sekadar recorded course; pricing upside berikutnya datang dari experience di luar live learning.</a:t>
            </a:r>
          </a:p>
          <a:p xmlns:a="http://schemas.openxmlformats.org/drawingml/2006/main">
            <a:r>
              <a:t>Source: sevenpreneur.com (Batch 8); aksoro.co.id; asiantigerschool.id; dicek 2–3 Okt 2026. Sumbu X kualitatif. *Asian Tiger: halaman sumber 404, verifikasi lemah.</a:t>
            </a:r>
          </a:p>
          <a:p xmlns:a="http://schemas.openxmlformats.org/drawingml/2006/main">
            <a:r>
              <a:t>| </a:t>
            </a:r>
          </a:p>
          <a:p xmlns:a="http://schemas.openxmlformats.org/drawingml/2006/main">
            <a:r>
              <a:t>3</a:t>
            </a:r>
          </a:p>
          <a:p xmlns:a="http://schemas.openxmlformats.org/drawingml/2006/main">
            <a:r>
              <a:t/>
            </a:r>
          </a:p>
          <a:p xmlns:a="http://schemas.openxmlformats.org/drawingml/2006/main">
            <a:r>
              <a:t>CATATAN PEMAPARAN</a:t>
            </a:r>
          </a:p>
          <a:p xmlns:a="http://schemas.openxmlformats.org/drawingml/2006/main">
            <a:r>
              <a:t>Chart memakai harga yang ada pada sumber. Format: CMC/Regular/Aksoro Online = live online; VIP = online + offline; Aksoro Offline = offline premium. Asian Tiger dipertahankan di appendix karena verifikasi lemah, tidak dipakai sebagai bukti utama.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Topik Founder Live mengikuti 8 modul CMC yang sudah diluncurkan. Nama modul resmi dan label pendek di slide: 01 Entrepreneurship Mentality (label: Mindset): "Kapan harus bertahan, kapan berubah arah?". 02 Problem Solving (label: Problem Solving): "Masalah mana yang harus diselesaikan dulu?". 03 Team &amp; Networking Formation (label: Team): "Kapan harus mulai bangun tim?". 04 Minimum Sellable Product (label: Product): "Apa yang bikin produk benar-benar layak dijual?". 05 Go-To-Market (label: Go-To-Market): "Gimana menemukan cara jual yang bisa diulang?". 06 Operational &amp; Legal (label: Operations): "Kapan bisnis harus mulai dibikin lebih rapi?". 07 Finance &amp; Tax (label: Finance): "Bisnis untung, tapi kenapa uangnya nggak ada?". 08 Scale Up &amp; Fundraising (label: Scale): "Kapan bisnis siap scale dan cari modal?". Speaker dicocokkan ke topik modul, bukan sebaliknya; urutan modul per tanggal belum dikunci. 8 sesi tiap Rabu, 4 Nov–23 Des 2026, sudah termasuk membership Rp1,5 jt saat ini. Kandidat speaker dari Founder Live Revised (angle lama, sebagai bahan pencocokan): Semua sesi hari Rabu (INTERNAL, Founder Live Revised). 4 Nov Yukka Harlanda, Co-Founder Brodo: kapan cabang dipertahankan atau ditutup; Brodo pernah menutup 7 dari 9 toko; biaya, channel, kapan founder harus stop. 11 Nov Gufron Syarif, Co-Founder Haus!: harga Rp5.000–20.000, 221 gerai dan 500 sepeda keliling; unit economics, cost discipline, kapan sepeda lebih masuk akal dari outlet. 18 Nov Daniel Liu, Pendiri Rocketindo: tumbuh tanpa modal ventura, profitable sejak 2023; cash flow dan kapan external capital worth it. 25 Nov Vico Lomar, Direktur Utama Fore Coffee: turun dari 133 ke 66 gerai lalu IPO; apa yang dibenerin dulu (operation, reporting, angka). 2 Des Christopher Aldo, Co-Founder Yellow Fit Kitchen: money-back guarantee; produk, central kitchen, delivery, cost structure. 9 Des Suwandi Soh, CEO Mekari: kapan spreadsheet dan chat jadi bottleneck; proses mana disistemkan dulu. 16 Des Anthony Soehartono, Komisaris Independen PT Mega Perintis Tbk: pembagian decision making antara owner dan team. 23 Des Purwa Hartono, Pendiri Purwadhika: berjalan sejak 1987; kapan produk harus berubah, menjual outcome bukan format kelas. Format 90 menit: Open 5 menit (host buka konteks, kenalin speaker, framing topik); Their story 20 menit (keputusan, angka, kesalahan, framework; maksimal 20 menit); Your questions 60 menit (pertanyaan utama dikumpulkan H-7, host boleh masukin pertanyaan live, fokus kasus bisnis peserta); Close 5 menit (host rangkum 2–3 takeaway). Kalau mayoritas waktu dipakai presentasi, formatnya balik jadi webinar. Backup speaker dan persiapan pertanyaan: lampiran A1.</a:t>
            </a:r>
          </a:p>
          <a:p xmlns:a="http://schemas.openxmlformats.org/drawingml/2006/main">
            <a:r>
              <a:t/>
            </a:r>
          </a:p>
          <a:p xmlns:a="http://schemas.openxmlformats.org/drawingml/2006/main">
            <a:r>
              <a:t>DETAIL DARI SLIDE SUMBER</a:t>
            </a:r>
          </a:p>
          <a:p xmlns:a="http://schemas.openxmlformats.org/drawingml/2006/main">
            <a:r>
              <a:t>PRICING ROADMAP</a:t>
            </a:r>
          </a:p>
          <a:p xmlns:a="http://schemas.openxmlformats.org/drawingml/2006/main">
            <a:r>
              <a:t>Kenaikan ke Rp2,5 jt harus datang dari community dan member benefits — bukan Founder Live yang sudah ada.</a:t>
            </a:r>
          </a:p>
          <a:p xmlns:a="http://schemas.openxmlformats.org/drawingml/2006/main">
            <a:r>
              <a:t>Founder Live batch pertama sudah termasuk di Rp1,5 jt; tier berikutnya perlu alasan baru yang terasa oleh member.</a:t>
            </a:r>
          </a:p>
          <a:p xmlns:a="http://schemas.openxmlformats.org/drawingml/2006/main">
            <a:r>
              <a:t>CURRENT</a:t>
            </a:r>
          </a:p>
          <a:p xmlns:a="http://schemas.openxmlformats.org/drawingml/2006/main">
            <a:r>
              <a:t>Rp1,5 jt</a:t>
            </a:r>
          </a:p>
          <a:p xmlns:a="http://schemas.openxmlformats.org/drawingml/2006/main">
            <a:r>
              <a:t>Core membership · internal</a:t>
            </a:r>
          </a:p>
          <a:p xmlns:a="http://schemas.openxmlformats.org/drawingml/2006/main">
            <a:r>
              <a:t>TERMASUK</a:t>
            </a:r>
          </a:p>
          <a:p xmlns:a="http://schemas.openxmlformats.org/drawingml/2006/main">
            <a:r>
              <a:t>Modul rekaman</a:t>
            </a:r>
          </a:p>
          <a:p xmlns:a="http://schemas.openxmlformats.org/drawingml/2006/main">
            <a:r>
              <a:t>Tools dan AI</a:t>
            </a:r>
          </a:p>
          <a:p xmlns:a="http://schemas.openxmlformats.org/drawingml/2006/main">
            <a:r>
              <a:t>Founder Live batch pertama</a:t>
            </a:r>
          </a:p>
          <a:p xmlns:a="http://schemas.openxmlformats.org/drawingml/2006/main">
            <a:r>
              <a:t>NEXT</a:t>
            </a:r>
          </a:p>
          <a:p xmlns:a="http://schemas.openxmlformats.org/drawingml/2006/main">
            <a:r>
              <a:t>Rp2,5 jt</a:t>
            </a:r>
          </a:p>
          <a:p xmlns:a="http://schemas.openxmlformats.org/drawingml/2006/main">
            <a:r>
              <a:t>Membership+ · usulan</a:t>
            </a:r>
          </a:p>
          <a:p xmlns:a="http://schemas.openxmlformats.org/drawingml/2006/main">
            <a:r>
              <a:t>TAMBAHAN</a:t>
            </a:r>
          </a:p>
          <a:p xmlns:a="http://schemas.openxmlformats.org/drawingml/2006/main">
            <a:r>
              <a:t>Community dan CMC Connect</a:t>
            </a:r>
          </a:p>
          <a:p xmlns:a="http://schemas.openxmlformats.org/drawingml/2006/main">
            <a:r>
              <a:t>Offline gathering</a:t>
            </a:r>
          </a:p>
          <a:p xmlns:a="http://schemas.openxmlformats.org/drawingml/2006/main">
            <a:r>
              <a:t>Alumni dan network</a:t>
            </a:r>
          </a:p>
          <a:p xmlns:a="http://schemas.openxmlformats.org/drawingml/2006/main">
            <a:r>
              <a:t>Priority access + member price Dinner</a:t>
            </a:r>
          </a:p>
          <a:p xmlns:a="http://schemas.openxmlformats.org/drawingml/2006/main">
            <a:r>
              <a:t>PREMIUM</a:t>
            </a:r>
          </a:p>
          <a:p xmlns:a="http://schemas.openxmlformats.org/drawingml/2006/main">
            <a:r>
              <a:t>~Rp5 jt</a:t>
            </a:r>
          </a:p>
          <a:p xmlns:a="http://schemas.openxmlformats.org/drawingml/2006/main">
            <a:r>
              <a:t>Premium · usulan</a:t>
            </a:r>
          </a:p>
          <a:p xmlns:a="http://schemas.openxmlformats.org/drawingml/2006/main">
            <a:r>
              <a:t>TAMBAHAN</a:t>
            </a:r>
          </a:p>
          <a:p xmlns:a="http://schemas.openxmlformats.org/drawingml/2006/main">
            <a:r>
              <a:t>Sertifikasi kompetensi via LSP</a:t>
            </a:r>
          </a:p>
          <a:p xmlns:a="http://schemas.openxmlformats.org/drawingml/2006/main">
            <a:r>
              <a:t>Ekosistem Kadin</a:t>
            </a:r>
          </a:p>
          <a:p xmlns:a="http://schemas.openxmlformats.org/drawingml/2006/main">
            <a:r>
              <a:t>Premium member privileges</a:t>
            </a:r>
          </a:p>
          <a:p xmlns:a="http://schemas.openxmlformats.org/drawingml/2006/main">
            <a:r>
              <a:t>Current value</a:t>
            </a:r>
          </a:p>
          <a:p xmlns:a="http://schemas.openxmlformats.org/drawingml/2006/main">
            <a:r>
              <a:t>Membership value</a:t>
            </a:r>
          </a:p>
          <a:p xmlns:a="http://schemas.openxmlformats.org/drawingml/2006/main">
            <a:r>
              <a:t>Credential + ecosystem</a:t>
            </a:r>
          </a:p>
          <a:p xmlns:a="http://schemas.openxmlformats.org/drawingml/2006/main">
            <a:r>
              <a:t>Source: CMC Pricing Deck (Sep 2026). Intimate Dinner tetap add-on berbayar di semua tier. Sertifikasi kompetensi lewat LSP mitra (lampiran A5).</a:t>
            </a:r>
          </a:p>
          <a:p xmlns:a="http://schemas.openxmlformats.org/drawingml/2006/main">
            <a:r>
              <a:t>| </a:t>
            </a:r>
          </a:p>
          <a:p xmlns:a="http://schemas.openxmlformats.org/drawingml/2006/main">
            <a:r>
              <a:t>4</a:t>
            </a:r>
          </a:p>
          <a:p xmlns:a="http://schemas.openxmlformats.org/drawingml/2006/main">
            <a:r>
              <a:t/>
            </a:r>
          </a:p>
          <a:p xmlns:a="http://schemas.openxmlformats.org/drawingml/2006/main">
            <a:r>
              <a:t>CATATAN PEMAPARAN</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Sumber angka: "CMC - Budget Founder Live (Langganan vs Sewa).xlsx". Semua total sebelum pajak. Honor speaker 8 sesi × Rp5 / 4 / 3 jt = Rp40.000.000 / Rp32.000.000 / Rp24.000.000 untuk Pesimis / Base / Optimis (INTERNAL BUDGET, bukan market benchmark; gross atau nett dan pajak dikonfirmasi ke Finance). Zoom subscribe = Pro Rp271.840 + Large Meeting 1.000 Rp2.383.999 = Rp2.655.839/bulan × 2 bulan = Rp5.311.678 (acuan checkout riset sebelumnya, belum PPN; konfirmasi harga saat pembelian). Zoom sewa = Rp350.000/sesi × 8 sesi = Rp2.800.000 (asumsi budget CMC; quotation vendor belum final). Biaya Zoom sama di ketiga skenario; perbedaan skenario hanya dari honor speaker. Subscribe dan sewa adalah dua alternatif dan tidak dijumlahkan. Total dengan subscribe: Rp45.311.678 / Rp37.311.678 / Rp29.311.678. Total dengan sewa: Rp42.800.000 / Rp34.800.000 / Rp26.800.000. Selisih Rp2.511.678 di setiap skenario. Porsi honor speaker, subscribe: 88,3% / 85,8% / 81,9%; sewa: 93,5% / 92,0% / 89,6%. Biaya langsung per peserta untuk satu cohort, dengan asumsi jumlah peserta unik yang dilayani (bukan penjumlahan attendance 8 sesi, bukan CAC), untuk 500 / 750 / 1.000 peserta: Pesimis subscribe Rp90.623 / Rp60.416 / Rp45.312, sewa Rp85.600 / Rp57.067 / Rp42.800; Base subscribe Rp74.623 / Rp49.749 / Rp37.312, sewa Rp69.600 / Rp46.400 / Rp34.800; Optimis subscribe Rp58.623 / Rp39.082 / Rp29.312, sewa Rp53.600 / Rp35.733 / Rp26.800. Tidak termasuk: apresiasi speaker, waktu tim internal, biaya opsional, kontinjensi, Kahoot/Slido, sound system. Analisis sebelumnya, sudah diganti: Zoom Webinar 1.000 + Pro Rp10,7 jt per cohort, total Rp34,7–50,7 jt, base Rp42,7 jt, porsi speaker 75% (69–79%), Rp57 rb per peserta @750.</a:t>
            </a:r>
          </a:p>
          <a:p xmlns:a="http://schemas.openxmlformats.org/drawingml/2006/main">
            <a:r>
              <a:t/>
            </a:r>
          </a:p>
          <a:p xmlns:a="http://schemas.openxmlformats.org/drawingml/2006/main">
            <a:r>
              <a:t>DETAIL DARI SLIDE SUMBER</a:t>
            </a:r>
          </a:p>
          <a:p xmlns:a="http://schemas.openxmlformats.org/drawingml/2006/main">
            <a:r>
              <a:t>FOUNDER LIVE</a:t>
            </a:r>
          </a:p>
          <a:p xmlns:a="http://schemas.openxmlformats.org/drawingml/2006/main">
            <a:r>
              <a:t>Founder Live membawa 8 modul utama ke diskusi keputusan bisnis yang lebih nyata.</a:t>
            </a:r>
          </a:p>
          <a:p xmlns:a="http://schemas.openxmlformats.org/drawingml/2006/main">
            <a:r>
              <a:t>Delapan sesi tiap Rabu, 4 Nov–23 Des 2026, sudah termasuk membership. Topik ikut modul; speaker dicocokkan belakangan.</a:t>
            </a:r>
          </a:p>
          <a:p xmlns:a="http://schemas.openxmlformats.org/drawingml/2006/main">
            <a:r>
              <a:t>01</a:t>
            </a:r>
          </a:p>
          <a:p xmlns:a="http://schemas.openxmlformats.org/drawingml/2006/main">
            <a:r>
              <a:t>MINDSET</a:t>
            </a:r>
          </a:p>
          <a:p xmlns:a="http://schemas.openxmlformats.org/drawingml/2006/main">
            <a:r>
              <a:t>Kapan harus bertahan, kapan berubah arah?</a:t>
            </a:r>
          </a:p>
          <a:p xmlns:a="http://schemas.openxmlformats.org/drawingml/2006/main">
            <a:r>
              <a:t>02</a:t>
            </a:r>
          </a:p>
          <a:p xmlns:a="http://schemas.openxmlformats.org/drawingml/2006/main">
            <a:r>
              <a:t>PROBLEM SOLVING</a:t>
            </a:r>
          </a:p>
          <a:p xmlns:a="http://schemas.openxmlformats.org/drawingml/2006/main">
            <a:r>
              <a:t>Masalah mana yang harus diselesaikan dulu?</a:t>
            </a:r>
          </a:p>
          <a:p xmlns:a="http://schemas.openxmlformats.org/drawingml/2006/main">
            <a:r>
              <a:t>03</a:t>
            </a:r>
          </a:p>
          <a:p xmlns:a="http://schemas.openxmlformats.org/drawingml/2006/main">
            <a:r>
              <a:t>TEAM</a:t>
            </a:r>
          </a:p>
          <a:p xmlns:a="http://schemas.openxmlformats.org/drawingml/2006/main">
            <a:r>
              <a:t>Kapan harus mulai bangun tim?</a:t>
            </a:r>
          </a:p>
          <a:p xmlns:a="http://schemas.openxmlformats.org/drawingml/2006/main">
            <a:r>
              <a:t>04</a:t>
            </a:r>
          </a:p>
          <a:p xmlns:a="http://schemas.openxmlformats.org/drawingml/2006/main">
            <a:r>
              <a:t>PRODUCT</a:t>
            </a:r>
          </a:p>
          <a:p xmlns:a="http://schemas.openxmlformats.org/drawingml/2006/main">
            <a:r>
              <a:t>Apa yang bikin produk benar-benar layak dijual?</a:t>
            </a:r>
          </a:p>
          <a:p xmlns:a="http://schemas.openxmlformats.org/drawingml/2006/main">
            <a:r>
              <a:t>05</a:t>
            </a:r>
          </a:p>
          <a:p xmlns:a="http://schemas.openxmlformats.org/drawingml/2006/main">
            <a:r>
              <a:t>GO-TO-MARKET</a:t>
            </a:r>
          </a:p>
          <a:p xmlns:a="http://schemas.openxmlformats.org/drawingml/2006/main">
            <a:r>
              <a:t>Gimana menemukan cara jual yang bisa diulang?</a:t>
            </a:r>
          </a:p>
          <a:p xmlns:a="http://schemas.openxmlformats.org/drawingml/2006/main">
            <a:r>
              <a:t>06</a:t>
            </a:r>
          </a:p>
          <a:p xmlns:a="http://schemas.openxmlformats.org/drawingml/2006/main">
            <a:r>
              <a:t>OPERATIONS</a:t>
            </a:r>
          </a:p>
          <a:p xmlns:a="http://schemas.openxmlformats.org/drawingml/2006/main">
            <a:r>
              <a:t>Kapan bisnis harus mulai dibikin lebih rapi?</a:t>
            </a:r>
          </a:p>
          <a:p xmlns:a="http://schemas.openxmlformats.org/drawingml/2006/main">
            <a:r>
              <a:t>07</a:t>
            </a:r>
          </a:p>
          <a:p xmlns:a="http://schemas.openxmlformats.org/drawingml/2006/main">
            <a:r>
              <a:t>FINANCE</a:t>
            </a:r>
          </a:p>
          <a:p xmlns:a="http://schemas.openxmlformats.org/drawingml/2006/main">
            <a:r>
              <a:t>Bisnis untung, tapi kenapa uangnya nggak ada?</a:t>
            </a:r>
          </a:p>
          <a:p xmlns:a="http://schemas.openxmlformats.org/drawingml/2006/main">
            <a:r>
              <a:t>08</a:t>
            </a:r>
          </a:p>
          <a:p xmlns:a="http://schemas.openxmlformats.org/drawingml/2006/main">
            <a:r>
              <a:t>SCALE</a:t>
            </a:r>
          </a:p>
          <a:p xmlns:a="http://schemas.openxmlformats.org/drawingml/2006/main">
            <a:r>
              <a:t>Kapan bisnis siap scale dan cari modal?</a:t>
            </a:r>
          </a:p>
          <a:p xmlns:a="http://schemas.openxmlformats.org/drawingml/2006/main">
            <a:r>
              <a:t>SATU SESI · 90 MENIT</a:t>
            </a:r>
          </a:p>
          <a:p xmlns:a="http://schemas.openxmlformats.org/drawingml/2006/main">
            <a:r>
              <a:t>5</a:t>
            </a:r>
          </a:p>
          <a:p xmlns:a="http://schemas.openxmlformats.org/drawingml/2006/main">
            <a:r>
              <a:t>OPEN</a:t>
            </a:r>
          </a:p>
          <a:p xmlns:a="http://schemas.openxmlformats.org/drawingml/2006/main">
            <a:r>
              <a:t>20</a:t>
            </a:r>
          </a:p>
          <a:p xmlns:a="http://schemas.openxmlformats.org/drawingml/2006/main">
            <a:r>
              <a:t>THEIR STORY</a:t>
            </a:r>
          </a:p>
          <a:p xmlns:a="http://schemas.openxmlformats.org/drawingml/2006/main">
            <a:r>
              <a:t>60 min</a:t>
            </a:r>
          </a:p>
          <a:p xmlns:a="http://schemas.openxmlformats.org/drawingml/2006/main">
            <a:r>
              <a:t>YOUR QUESTIONS</a:t>
            </a:r>
          </a:p>
          <a:p xmlns:a="http://schemas.openxmlformats.org/drawingml/2006/main">
            <a:r>
              <a:t>5</a:t>
            </a:r>
          </a:p>
          <a:p xmlns:a="http://schemas.openxmlformats.org/drawingml/2006/main">
            <a:r>
              <a:t>CLOSE</a:t>
            </a:r>
          </a:p>
          <a:p xmlns:a="http://schemas.openxmlformats.org/drawingml/2006/main">
            <a:r>
              <a:t>Source: CMC Pricing Deck (8 modul resmi, nama lengkap di speaker notes); format Founder Live Okt 2026 (internal). Kandidat speaker: lampiran A1.</a:t>
            </a:r>
          </a:p>
          <a:p xmlns:a="http://schemas.openxmlformats.org/drawingml/2006/main">
            <a:r>
              <a:t>| </a:t>
            </a:r>
          </a:p>
          <a:p xmlns:a="http://schemas.openxmlformats.org/drawingml/2006/main">
            <a:r>
              <a:t>5</a:t>
            </a:r>
          </a:p>
          <a:p xmlns:a="http://schemas.openxmlformats.org/drawingml/2006/main">
            <a:r>
              <a:t/>
            </a:r>
          </a:p>
          <a:p xmlns:a="http://schemas.openxmlformats.org/drawingml/2006/main">
            <a:r>
              <a:t>CATATAN PEMAPARAN</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Subscribe yang dimodelkan: Zoom Workplace Pro Rp271.840 + Large Meeting add-on 1.000 Rp2.383.999 = Rp2.655.839/bulan; 2 bulan = Rp5.311.678, atau ±Rp663.960 per sesi. Status: acuan checkout riset sebelumnya (zoom.us, 2–3 Okt 2026), belum PPN; konfirmasi harga saat pembelian. Sewa: target kapasitas 1.000 orang, budget Rp350.000/sesi × 8 sesi = Rp2.800.000. Status: asumsi budget CMC; quotation vendor belum final; bukan harga marketplace yang sudah terverifikasi untuk varian 1.000 peserta. Penghematan sewa Rp2.511.678 per cohort (47,3%), sama di semua skenario. Kapasitas sama tidak berarti fitur sama (support.zoom.com KB0062404): Large Meeting adalah meeting biasa dengan kapasitas lebih besar; peserta bisa diskusi lewat mic, chat, dan raise hand; fitur Q&amp;A khusus di Meetings hanya untuk akun Business ke atas, jadi tidak diklaim tersedia di Pro. KB yang sama menyebut video dan screen share tidak tersedia untuk meeting dengan 1.000 participant atau lebih; cek dampaknya ke presentasi speaker 20 menit. Kapasitas 1.000 diperlakukan sebagai total participant termasuk host/co-host; kalau target 1.000 audience di luar host dan speaker, kapasitas Large Meeting 1.000 perlu ditinjau. Sewa: format Meeting atau Webinar belum dikunci; konfirmasi kapasitas, akses host, recording, laporan, durasi briefing + live, dan ketersediaan seluruh 8 tanggal. Belum ada perbandingan fitur apples-to-apples sampai scope sewa terkonfirmasi. Analisis sebelumnya, sudah diganti: base subscription Webinar 1.000 + Pro Rp10,7 jt per cohort, opsi annual Rp53,5 jt dan break-even ±10 bulan / ±5 cohort, selisih Webinar vs Large Meeting Rp5,2 jt, dan selisih subscribe vs sewa Rp7,9 jt. Annual tidak dipakai di deck ini.</a:t>
            </a:r>
          </a:p>
          <a:p xmlns:a="http://schemas.openxmlformats.org/drawingml/2006/main">
            <a:r>
              <a:t/>
            </a:r>
          </a:p>
          <a:p xmlns:a="http://schemas.openxmlformats.org/drawingml/2006/main">
            <a:r>
              <a:t>DETAIL DARI SLIDE SUMBER</a:t>
            </a:r>
          </a:p>
          <a:p xmlns:a="http://schemas.openxmlformats.org/drawingml/2006/main">
            <a:r>
              <a:t>ECONOMICS FOUNDER LIVE</a:t>
            </a:r>
          </a:p>
          <a:p xmlns:a="http://schemas.openxmlformats.org/drawingml/2006/main">
            <a:r>
              <a:t>Fee speaker tetap jadi cost terbesar; sewa Zoom menurunkan base budget menjadi Rp34,8 jt.</a:t>
            </a:r>
          </a:p>
          <a:p xmlns:a="http://schemas.openxmlformats.org/drawingml/2006/main">
            <a:r>
              <a:t>Total per cohort sebelum pajak. Biaya Zoom sama di ketiga skenario; perbedaan skenario hanya dari honor speaker.</a:t>
            </a:r>
          </a:p>
          <a:p xmlns:a="http://schemas.openxmlformats.org/drawingml/2006/main">
            <a:r>
              <a:t>TOTAL PER COHORT, SUBSCRIBE VS SEWA</a:t>
            </a:r>
          </a:p>
          <a:p xmlns:a="http://schemas.openxmlformats.org/drawingml/2006/main">
            <a:r>
              <a:t>Rp jt, sebelum pajak · bagian bawah = honor speaker, bagian atas = Zoom</a:t>
            </a:r>
          </a:p>
          <a:p xmlns:a="http://schemas.openxmlformats.org/drawingml/2006/main">
            <a:r>
              <a:t>45,3</a:t>
            </a:r>
          </a:p>
          <a:p xmlns:a="http://schemas.openxmlformats.org/drawingml/2006/main">
            <a:r>
              <a:t>Subscribe</a:t>
            </a:r>
          </a:p>
          <a:p xmlns:a="http://schemas.openxmlformats.org/drawingml/2006/main">
            <a:r>
              <a:t>42,8</a:t>
            </a:r>
          </a:p>
          <a:p xmlns:a="http://schemas.openxmlformats.org/drawingml/2006/main">
            <a:r>
              <a:t>Sewa</a:t>
            </a:r>
          </a:p>
          <a:p xmlns:a="http://schemas.openxmlformats.org/drawingml/2006/main">
            <a:r>
              <a:t>Pesimis</a:t>
            </a:r>
          </a:p>
          <a:p xmlns:a="http://schemas.openxmlformats.org/drawingml/2006/main">
            <a:r>
              <a:t>37,3</a:t>
            </a:r>
          </a:p>
          <a:p xmlns:a="http://schemas.openxmlformats.org/drawingml/2006/main">
            <a:r>
              <a:t>Subscribe</a:t>
            </a:r>
          </a:p>
          <a:p xmlns:a="http://schemas.openxmlformats.org/drawingml/2006/main">
            <a:r>
              <a:t>34,8</a:t>
            </a:r>
          </a:p>
          <a:p xmlns:a="http://schemas.openxmlformats.org/drawingml/2006/main">
            <a:r>
              <a:t>Sewa</a:t>
            </a:r>
          </a:p>
          <a:p xmlns:a="http://schemas.openxmlformats.org/drawingml/2006/main">
            <a:r>
              <a:t>Base</a:t>
            </a:r>
          </a:p>
          <a:p xmlns:a="http://schemas.openxmlformats.org/drawingml/2006/main">
            <a:r>
              <a:t>29,3</a:t>
            </a:r>
          </a:p>
          <a:p xmlns:a="http://schemas.openxmlformats.org/drawingml/2006/main">
            <a:r>
              <a:t>Subscribe</a:t>
            </a:r>
          </a:p>
          <a:p xmlns:a="http://schemas.openxmlformats.org/drawingml/2006/main">
            <a:r>
              <a:t>26,8</a:t>
            </a:r>
          </a:p>
          <a:p xmlns:a="http://schemas.openxmlformats.org/drawingml/2006/main">
            <a:r>
              <a:t>Sewa</a:t>
            </a:r>
          </a:p>
          <a:p xmlns:a="http://schemas.openxmlformats.org/drawingml/2006/main">
            <a:r>
              <a:t>Optimis</a:t>
            </a:r>
          </a:p>
          <a:p xmlns:a="http://schemas.openxmlformats.org/drawingml/2006/main">
            <a:r>
              <a:t>BASE · PER COHORT</a:t>
            </a:r>
          </a:p>
          <a:p xmlns:a="http://schemas.openxmlformats.org/drawingml/2006/main">
            <a:r>
              <a:t>Subscribe  </a:t>
            </a:r>
          </a:p>
          <a:p xmlns:a="http://schemas.openxmlformats.org/drawingml/2006/main">
            <a:r>
              <a:t>Rp37,3 jt</a:t>
            </a:r>
          </a:p>
          <a:p xmlns:a="http://schemas.openxmlformats.org/drawingml/2006/main">
            <a:r>
              <a:t>Sewa  </a:t>
            </a:r>
          </a:p>
          <a:p xmlns:a="http://schemas.openxmlformats.org/drawingml/2006/main">
            <a:r>
              <a:t>Rp34,8 jt</a:t>
            </a:r>
          </a:p>
          <a:p xmlns:a="http://schemas.openxmlformats.org/drawingml/2006/main">
            <a:r>
              <a:t>Hemat Rp2,5 jt per cohort</a:t>
            </a:r>
          </a:p>
          <a:p xmlns:a="http://schemas.openxmlformats.org/drawingml/2006/main">
            <a:r>
              <a:t>PORSI HONOR SPEAKER, BASE</a:t>
            </a:r>
          </a:p>
          <a:p xmlns:a="http://schemas.openxmlformats.org/drawingml/2006/main">
            <a:r>
              <a:t>85,8% → 92,0%</a:t>
            </a:r>
          </a:p>
          <a:p xmlns:a="http://schemas.openxmlformats.org/drawingml/2006/main">
            <a:r>
              <a:t>subscribe → sewa</a:t>
            </a:r>
          </a:p>
          <a:p xmlns:a="http://schemas.openxmlformats.org/drawingml/2006/main">
            <a:r>
              <a:t>BIAYA LANGSUNG PER PESERTA, BASE</a:t>
            </a:r>
          </a:p>
          <a:p xmlns:a="http://schemas.openxmlformats.org/drawingml/2006/main">
            <a:r>
              <a:t>Peserta</a:t>
            </a:r>
          </a:p>
          <a:p xmlns:a="http://schemas.openxmlformats.org/drawingml/2006/main">
            <a:r>
              <a:t>Subscribe</a:t>
            </a:r>
          </a:p>
          <a:p xmlns:a="http://schemas.openxmlformats.org/drawingml/2006/main">
            <a:r>
              <a:t>Sewa</a:t>
            </a:r>
          </a:p>
          <a:p xmlns:a="http://schemas.openxmlformats.org/drawingml/2006/main">
            <a:r>
              <a:t>500</a:t>
            </a:r>
          </a:p>
          <a:p xmlns:a="http://schemas.openxmlformats.org/drawingml/2006/main">
            <a:r>
              <a:t>Rp74.623</a:t>
            </a:r>
          </a:p>
          <a:p xmlns:a="http://schemas.openxmlformats.org/drawingml/2006/main">
            <a:r>
              <a:t>Rp69.600</a:t>
            </a:r>
          </a:p>
          <a:p xmlns:a="http://schemas.openxmlformats.org/drawingml/2006/main">
            <a:r>
              <a:t>750</a:t>
            </a:r>
          </a:p>
          <a:p xmlns:a="http://schemas.openxmlformats.org/drawingml/2006/main">
            <a:r>
              <a:t>Rp49.749</a:t>
            </a:r>
          </a:p>
          <a:p xmlns:a="http://schemas.openxmlformats.org/drawingml/2006/main">
            <a:r>
              <a:t>Rp46.400</a:t>
            </a:r>
          </a:p>
          <a:p xmlns:a="http://schemas.openxmlformats.org/drawingml/2006/main">
            <a:r>
              <a:t>1.000</a:t>
            </a:r>
          </a:p>
          <a:p xmlns:a="http://schemas.openxmlformats.org/drawingml/2006/main">
            <a:r>
              <a:t>Rp37.312</a:t>
            </a:r>
          </a:p>
          <a:p xmlns:a="http://schemas.openxmlformats.org/drawingml/2006/main">
            <a:r>
              <a:t>Rp34.800</a:t>
            </a:r>
          </a:p>
          <a:p xmlns:a="http://schemas.openxmlformats.org/drawingml/2006/main">
            <a:r>
              <a:t>Satu cohort, asumsi jumlah peserta unik yang dilayani. Bukan CAC.</a:t>
            </a:r>
          </a:p>
          <a:p xmlns:a="http://schemas.openxmlformats.org/drawingml/2006/main">
            <a:r>
              <a:t>Honor speaker: budget internal. Subscribe: Pro + Large Meeting 1.000, acuan checkout sebelumnya, belum PPN. Sewa: asumsi budget Rp350 rb/sesi. Semua total sebelum pajak.</a:t>
            </a:r>
          </a:p>
          <a:p xmlns:a="http://schemas.openxmlformats.org/drawingml/2006/main">
            <a:r>
              <a:t>| </a:t>
            </a:r>
          </a:p>
          <a:p xmlns:a="http://schemas.openxmlformats.org/drawingml/2006/main">
            <a:r>
              <a:t>6</a:t>
            </a:r>
          </a:p>
          <a:p xmlns:a="http://schemas.openxmlformats.org/drawingml/2006/main">
            <a:r>
              <a:t/>
            </a:r>
          </a:p>
          <a:p xmlns:a="http://schemas.openxmlformats.org/drawingml/2006/main">
            <a:r>
              <a:t>CATATAN PEMAPARAN</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Working name: CMC Intimate Dinner atau Intimate Session with Master; nama final belum dikunci. USULAN PILOT. Agenda ±150 menit: 30 menit arrival dan networking (tempat duduk diatur per industri), 45 menit conversation with Master (dipandu host), 60 menit case discussion/Q&amp;A (3–4 kasus dari form aplikasi), 15 menit closing dan foto. Tidak ada rekaman: what happens in the room stays in the room. Offline di Jakarta. Alur pendaftaran: apply → CMC review → seat offered (payment link) → bayar dalam 24 jam → confirmed → seat yang lepas pindah ke waitlist. Bukan first come, first served; kualitas room bagian dari produk. Form: nama, bisnis, posisi, industri, skala/tahap bisnis, tantangan saat ini, pertanyaan untuk Master. Kriteria review: relevan dengan pengalaman Master, case spesifik (±15 menit dibahas), industri beragam, peserta bisa saling bantu. Headcount budgeting ±24 orang (20 peserta, 1 Master, 2–3 tim CMC). Benchmark ukuran grup: Vistage peer group 12–16 CEO. Kapasitas: target 15–20 peserta, hard cap 20. Case discussion membahas 3–4 kasus terpilih dari form aplikasi; tidak semua peserta mendapat sesi kasus individual.</a:t>
            </a:r>
          </a:p>
          <a:p xmlns:a="http://schemas.openxmlformats.org/drawingml/2006/main">
            <a:r>
              <a:t/>
            </a:r>
          </a:p>
          <a:p xmlns:a="http://schemas.openxmlformats.org/drawingml/2006/main">
            <a:r>
              <a:t>DETAIL DARI SLIDE SUMBER</a:t>
            </a:r>
          </a:p>
          <a:p xmlns:a="http://schemas.openxmlformats.org/drawingml/2006/main">
            <a:r>
              <a:t>TEKNOLOGI</a:t>
            </a:r>
          </a:p>
          <a:p xmlns:a="http://schemas.openxmlformats.org/drawingml/2006/main">
            <a:r>
              <a:t>Untuk kapasitas 1.000 orang, sewa menghemat Rp2,5 jt dibanding subscribe selama pilot.</a:t>
            </a:r>
          </a:p>
          <a:p xmlns:a="http://schemas.openxmlformats.org/drawingml/2006/main">
            <a:r>
              <a:t>Biaya Zoom per cohort sebelum pajak; sama untuk ketiga skenario.</a:t>
            </a:r>
          </a:p>
          <a:p xmlns:a="http://schemas.openxmlformats.org/drawingml/2006/main">
            <a:r>
              <a:t>SUBSCRIBE</a:t>
            </a:r>
          </a:p>
          <a:p xmlns:a="http://schemas.openxmlformats.org/drawingml/2006/main">
            <a:r>
              <a:t>Pro + Large Meeting 1.000</a:t>
            </a:r>
          </a:p>
          <a:p xmlns:a="http://schemas.openxmlformats.org/drawingml/2006/main">
            <a:r>
              <a:t>ACUAN HARGA SEBELUMNYA</a:t>
            </a:r>
          </a:p>
          <a:p xmlns:a="http://schemas.openxmlformats.org/drawingml/2006/main">
            <a:r>
              <a:t>Rp5,31 jt / 2 bulan</a:t>
            </a:r>
          </a:p>
          <a:p xmlns:a="http://schemas.openxmlformats.org/drawingml/2006/main">
            <a:r>
              <a:t>±Rp664 rb per sesi</a:t>
            </a:r>
          </a:p>
          <a:p xmlns:a="http://schemas.openxmlformats.org/drawingml/2006/main">
            <a:r>
              <a:t>SEWA</a:t>
            </a:r>
          </a:p>
          <a:p xmlns:a="http://schemas.openxmlformats.org/drawingml/2006/main">
            <a:r>
              <a:t>Target kapasitas 1.000</a:t>
            </a:r>
          </a:p>
          <a:p xmlns:a="http://schemas.openxmlformats.org/drawingml/2006/main">
            <a:r>
              <a:t>ASUMSI BUDGET</a:t>
            </a:r>
          </a:p>
          <a:p xmlns:a="http://schemas.openxmlformats.org/drawingml/2006/main">
            <a:r>
              <a:t>Rp2,80 jt / 8 sesi</a:t>
            </a:r>
          </a:p>
          <a:p xmlns:a="http://schemas.openxmlformats.org/drawingml/2006/main">
            <a:r>
              <a:t>Rp350 rb per sesi</a:t>
            </a:r>
          </a:p>
          <a:p xmlns:a="http://schemas.openxmlformats.org/drawingml/2006/main">
            <a:r>
              <a:t>47,3%</a:t>
            </a:r>
          </a:p>
          <a:p xmlns:a="http://schemas.openxmlformats.org/drawingml/2006/main">
            <a:r>
              <a:t>lebih hemat dengan sewa</a:t>
            </a:r>
          </a:p>
          <a:p xmlns:a="http://schemas.openxmlformats.org/drawingml/2006/main">
            <a:r>
              <a:t>Rp2,5 jt per cohort, sama di semua skenario</a:t>
            </a:r>
          </a:p>
          <a:p xmlns:a="http://schemas.openxmlformats.org/drawingml/2006/main">
            <a:r>
              <a:t>KAPASITAS SAMA ≠ FITUR SAMA</a:t>
            </a:r>
          </a:p>
          <a:p xmlns:a="http://schemas.openxmlformats.org/drawingml/2006/main">
            <a:r>
              <a:t>Subscribe = Large Meeting: 1.000 participant termasuk host; diskusi lewat mic, chat, dan raise hand; fitur Q&amp;A khusus butuh Business.</a:t>
            </a:r>
          </a:p>
          <a:p xmlns:a="http://schemas.openxmlformats.org/drawingml/2006/main">
            <a:r>
              <a:t>Sewa: format Meeting atau Webinar belum dikunci. Konfirmasi kapasitas, akses host, recording, laporan, durasi briefing + live, dan 8 tanggal.</a:t>
            </a:r>
          </a:p>
          <a:p xmlns:a="http://schemas.openxmlformats.org/drawingml/2006/main">
            <a:r>
              <a:t>Kalau targetnya 1.000 audience di luar host dan speaker, kapasitas Large Meeting 1.000 perlu ditinjau.</a:t>
            </a:r>
          </a:p>
          <a:p xmlns:a="http://schemas.openxmlformats.org/drawingml/2006/main">
            <a:r>
              <a:t>Prioritaskan sewa untuk pilot jika vendor memenuhi kapasitas dan kebutuhan operasional.</a:t>
            </a:r>
          </a:p>
          <a:p xmlns:a="http://schemas.openxmlformats.org/drawingml/2006/main">
            <a:r>
              <a:t>Subscribe: acuan checkout sebelumnya, belum PPN. Sewa: asumsi Rp350 rb/sesi; quotation dan scope belum final. Fitur: support.zoom.com KB0062404.</a:t>
            </a:r>
          </a:p>
          <a:p xmlns:a="http://schemas.openxmlformats.org/drawingml/2006/main">
            <a:r>
              <a:t>| </a:t>
            </a:r>
          </a:p>
          <a:p xmlns:a="http://schemas.openxmlformats.org/drawingml/2006/main">
            <a:r>
              <a:t>7</a:t>
            </a:r>
          </a:p>
          <a:p xmlns:a="http://schemas.openxmlformats.org/drawingml/2006/main">
            <a:r>
              <a:t/>
            </a:r>
          </a:p>
          <a:p xmlns:a="http://schemas.openxmlformats.org/drawingml/2006/main">
            <a:r>
              <a:t>CATATAN PEMAPARAN</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Unit economics adalah dasar utama harga: di base case (fee Master Rp10 jt, venue Rp800 rb per orang) break-even inti ±Rp1,46 jt per paying seat (slide berikutnya). Benchmark kompetitor hanya bukti sekunder untuk willingness-to-pay. USULAN PILOT, bukan harga final. Non-member Rp3 jt dipasang di bawah premium Sevenpreneur +Rp3,5 jt (premium untuk seluruh paket VIP: 1 hari offline, 3 sesi eksklusif, intimate dinner, mentoring 1-on-1; bukan harga dinner). Aksoro: online Rp3,3 jt → offline Rp9,3 jt early bird (normal Rp15 jt). Benchmark menunjukkan willingness-to-pay untuk akses yang lebih dekat; produknya tidak identik (pricing anchor, not apples-to-apples). Member Rp1,5 jt: satu dinner sudah hemat Rp1,5 jt, benefit membership kelihatan dalam rupiah. Member early access: aplikasi member dibuka lebih dulu (usulan 72 jam), public seat dibuka setelah member window. Launch / First Table benefit: hanya event pertama, selected member seats, jumlah terbatas, tidak permanen; nominal ditentukan setelah venue dan fee Master locked. New member bundle = harga membership saat event + seat member − insentif bundle; angka keluar setelah tanggal efektif harga membership (Rp1,5 jt → Rp2,5 jt) jelas. Pola diskon kompetitor: Sevenpreneur harga coret 41–50%, Aksoro early bird 38% di bawah normal.</a:t>
            </a:r>
          </a:p>
          <a:p xmlns:a="http://schemas.openxmlformats.org/drawingml/2006/main">
            <a:r>
              <a:t/>
            </a:r>
          </a:p>
          <a:p xmlns:a="http://schemas.openxmlformats.org/drawingml/2006/main">
            <a:r>
              <a:t>DETAIL DARI SLIDE SUMBER</a:t>
            </a:r>
          </a:p>
          <a:p xmlns:a="http://schemas.openxmlformats.org/drawingml/2006/main">
            <a:r>
              <a:t>INTIMATE DINNER</a:t>
            </a:r>
          </a:p>
          <a:p xmlns:a="http://schemas.openxmlformats.org/drawingml/2006/main">
            <a:r>
              <a:t>Intimate Dinner menjual hal yang Founder Live tidak bisa kasih: direct access yang benar-benar langka.</a:t>
            </a:r>
          </a:p>
          <a:p xmlns:a="http://schemas.openxmlformats.org/drawingml/2006/main">
            <a:r>
              <a:t>Satu Master, satu room, 15–20 orang yang lolos seleksi. Usulan pilot.</a:t>
            </a:r>
          </a:p>
          <a:p xmlns:a="http://schemas.openxmlformats.org/drawingml/2006/main">
            <a:r>
              <a:t>20</a:t>
            </a:r>
          </a:p>
          <a:p xmlns:a="http://schemas.openxmlformats.org/drawingml/2006/main">
            <a:r>
              <a:t>HARD CAP SEATS</a:t>
            </a:r>
          </a:p>
          <a:p xmlns:a="http://schemas.openxmlformats.org/drawingml/2006/main">
            <a:r>
              <a:t>target 15–20 peserta</a:t>
            </a:r>
          </a:p>
          <a:p xmlns:a="http://schemas.openxmlformats.org/drawingml/2006/main">
            <a:r>
              <a:t>1</a:t>
            </a:r>
          </a:p>
          <a:p xmlns:a="http://schemas.openxmlformats.org/drawingml/2006/main">
            <a:r>
              <a:t>Master</a:t>
            </a:r>
          </a:p>
          <a:p xmlns:a="http://schemas.openxmlformats.org/drawingml/2006/main">
            <a:r>
              <a:t>NO</a:t>
            </a:r>
          </a:p>
          <a:p xmlns:a="http://schemas.openxmlformats.org/drawingml/2006/main">
            <a:r>
              <a:t>recording</a:t>
            </a:r>
          </a:p>
          <a:p xmlns:a="http://schemas.openxmlformats.org/drawingml/2006/main">
            <a:r>
              <a:t>±150</a:t>
            </a:r>
          </a:p>
          <a:p xmlns:a="http://schemas.openxmlformats.org/drawingml/2006/main">
            <a:r>
              <a:t>menit</a:t>
            </a:r>
          </a:p>
          <a:p xmlns:a="http://schemas.openxmlformats.org/drawingml/2006/main">
            <a:r>
              <a:t>3–4</a:t>
            </a:r>
          </a:p>
          <a:p xmlns:a="http://schemas.openxmlformats.org/drawingml/2006/main">
            <a:r>
              <a:t>kasus terpilih dibahas</a:t>
            </a:r>
          </a:p>
          <a:p xmlns:a="http://schemas.openxmlformats.org/drawingml/2006/main">
            <a:r>
              <a:t>AGENDA ±150 MENIT</a:t>
            </a:r>
          </a:p>
          <a:p xmlns:a="http://schemas.openxmlformats.org/drawingml/2006/main">
            <a:r>
              <a:t>30  </a:t>
            </a:r>
          </a:p>
          <a:p xmlns:a="http://schemas.openxmlformats.org/drawingml/2006/main">
            <a:r>
              <a:t>networking</a:t>
            </a:r>
          </a:p>
          <a:p xmlns:a="http://schemas.openxmlformats.org/drawingml/2006/main">
            <a:r>
              <a:t>45  </a:t>
            </a:r>
          </a:p>
          <a:p xmlns:a="http://schemas.openxmlformats.org/drawingml/2006/main">
            <a:r>
              <a:t>conversation</a:t>
            </a:r>
          </a:p>
          <a:p xmlns:a="http://schemas.openxmlformats.org/drawingml/2006/main">
            <a:r>
              <a:t>60  </a:t>
            </a:r>
          </a:p>
          <a:p xmlns:a="http://schemas.openxmlformats.org/drawingml/2006/main">
            <a:r>
              <a:t>case discussion</a:t>
            </a:r>
          </a:p>
          <a:p xmlns:a="http://schemas.openxmlformats.org/drawingml/2006/main">
            <a:r>
              <a:t>15  </a:t>
            </a:r>
          </a:p>
          <a:p xmlns:a="http://schemas.openxmlformats.org/drawingml/2006/main">
            <a:r>
              <a:t>closing</a:t>
            </a:r>
          </a:p>
          <a:p xmlns:a="http://schemas.openxmlformats.org/drawingml/2006/main">
            <a:r>
              <a:t>Application-based   ·   Offline Jakarta   ·   Private discussion</a:t>
            </a:r>
          </a:p>
          <a:p xmlns:a="http://schemas.openxmlformats.org/drawingml/2006/main">
            <a:r>
              <a:t>Usulan pilot. Benchmark ukuran grup: Vistage peer group 12–16 CEO (vistage.com). Alur pendaftaran dan kriteria review di speaker notes.</a:t>
            </a:r>
          </a:p>
          <a:p xmlns:a="http://schemas.openxmlformats.org/drawingml/2006/main">
            <a:r>
              <a:t>| </a:t>
            </a:r>
          </a:p>
          <a:p xmlns:a="http://schemas.openxmlformats.org/drawingml/2006/main">
            <a:r>
              <a:t>8</a:t>
            </a:r>
          </a:p>
          <a:p xmlns:a="http://schemas.openxmlformats.org/drawingml/2006/main">
            <a:r>
              <a:t/>
            </a:r>
          </a:p>
          <a:p xmlns:a="http://schemas.openxmlformats.org/drawingml/2006/main">
            <a:r>
              <a:t>CATATAN PEMAPARAN</a:t>
            </a:r>
          </a:p>
          <a:p xmlns:a="http://schemas.openxmlformats.org/drawingml/2006/main">
            <a:r>
              <a:t>Setup room mengikuti venue; tidak menjanjikan satu meja. 3–4 kasus terpilih artinya bukan semua peserta mendapat bedah kasus individual.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Base case: fee Master Rp10 jt, venue Rp800 rb per orang, 24 orang, 20 paying seats. Break-even inti = (24 × 800 rb + 10 jt) ÷ 20 = Rp1,46 jt per seat; harga member Rp1,5 jt hanya menyisakan ±Rp40 rb per seat (±Rp0,8 jt per event) untuk biaya yang belum dimodelkan: dokumentasi, transport, materi, dan sebagian pajak/service. Break-even per paying seat = (24 orang × biaya venue/F&amp;B per orang + fee Master) ÷ 20 paying seats. Headcount 24 = 20 peserta + 1 Master + 3 tim CMC. Biru muda (≤Rp1,5 jt): harga member menutup biaya inti yang dimodelkan (venue/F&amp;B + fee Master), belum termasuk ops. Abu muda (&gt;Rp1,5 jt): butuh room campuran, contoh 10 member + 10 public = rata-rata Rp2,25 jt per seat. Di atas Rp2,25 jt butuh mayoritas public; tidak muncul di range ini. Sel navy berbingkai gold = base case. Room 10/10 masih aman sampai fee Master Rp21 jt bahkan di venue Rp1 jt. Venue publik (lampiran A4): Park Hyatt VIP 1+2 maksimal 20 orang, minimum dinner Rp10 jt++ (±Rp500 rb++/orang; ruang kurang untuk 24 orang); Ritz-Carlton dinner catering Rp540 rb (cek room charge); Westin dinner catering Rp850 rb; Raffles private dining Rp995 rb++ (nett ±Rp1,2 jt, format cabana). ++ = belum pajak dan service, biasanya ±21%. Ops (dokumentasi, transport, materi) belum dihitung. Kalau fee Master tinggi: buka public seat, cari sponsor, atau Master lewat relasi/partnership Kadin.</a:t>
            </a:r>
          </a:p>
          <a:p xmlns:a="http://schemas.openxmlformats.org/drawingml/2006/main">
            <a:r>
              <a:t/>
            </a:r>
          </a:p>
          <a:p xmlns:a="http://schemas.openxmlformats.org/drawingml/2006/main">
            <a:r>
              <a:t>DETAIL DARI SLIDE SUMBER</a:t>
            </a:r>
          </a:p>
          <a:p xmlns:a="http://schemas.openxmlformats.org/drawingml/2006/main">
            <a:r>
              <a:t>INTIMATE DINNER</a:t>
            </a:r>
          </a:p>
          <a:p xmlns:a="http://schemas.openxmlformats.org/drawingml/2006/main">
            <a:r>
              <a:t>Rp1,5 jt / Rp3 jt adalah pilot price; final pricing harus mengikuti actual economics.</a:t>
            </a:r>
          </a:p>
          <a:p xmlns:a="http://schemas.openxmlformats.org/drawingml/2006/main">
            <a:r>
              <a:t>Harga diuji di tiga pilot; unit economics jadi dasar utama, benchmark kompetitor hanya pendukung.</a:t>
            </a:r>
          </a:p>
          <a:p xmlns:a="http://schemas.openxmlformats.org/drawingml/2006/main">
            <a:r>
              <a:t>USULAN PILOT · HARGA PER SEAT</a:t>
            </a:r>
          </a:p>
          <a:p xmlns:a="http://schemas.openxmlformats.org/drawingml/2006/main">
            <a:r>
              <a:t>CMC MEMBER</a:t>
            </a:r>
          </a:p>
          <a:p xmlns:a="http://schemas.openxmlformats.org/drawingml/2006/main">
            <a:r>
              <a:t>Rp1,5 jt</a:t>
            </a:r>
          </a:p>
          <a:p xmlns:a="http://schemas.openxmlformats.org/drawingml/2006/main">
            <a:r>
              <a:t>50% di bawah harga publik</a:t>
            </a:r>
          </a:p>
          <a:p xmlns:a="http://schemas.openxmlformats.org/drawingml/2006/main">
            <a:r>
              <a:t>NON-MEMBER</a:t>
            </a:r>
          </a:p>
          <a:p xmlns:a="http://schemas.openxmlformats.org/drawingml/2006/main">
            <a:r>
              <a:t>Rp3 jt</a:t>
            </a:r>
          </a:p>
          <a:p xmlns:a="http://schemas.openxmlformats.org/drawingml/2006/main">
            <a:r>
              <a:t>public anchor</a:t>
            </a:r>
          </a:p>
          <a:p xmlns:a="http://schemas.openxmlformats.org/drawingml/2006/main">
            <a:r>
              <a:t>Dasar utama: </a:t>
            </a:r>
          </a:p>
          <a:p xmlns:a="http://schemas.openxmlformats.org/drawingml/2006/main">
            <a:r>
              <a:t>unit economics. Break-even inti base case ±Rp1,46 jt per paying seat (slide 10).</a:t>
            </a:r>
          </a:p>
          <a:p xmlns:a="http://schemas.openxmlformats.org/drawingml/2006/main">
            <a:r>
              <a:t>Harga final: </a:t>
            </a:r>
          </a:p>
          <a:p xmlns:a="http://schemas.openxmlformats.org/drawingml/2006/main">
            <a:r>
              <a:t>mengikuti biaya aktual venue + fee Master dari tiga pilot.</a:t>
            </a:r>
          </a:p>
          <a:p xmlns:a="http://schemas.openxmlformats.org/drawingml/2006/main">
            <a:r>
              <a:t>Satu dinner memberi member benefit Rp1,5 jt yang langsung kelihatan.</a:t>
            </a:r>
          </a:p>
          <a:p xmlns:a="http://schemas.openxmlformats.org/drawingml/2006/main">
            <a:r>
              <a:t>BENCHMARK SEKUNDER</a:t>
            </a:r>
          </a:p>
          <a:p xmlns:a="http://schemas.openxmlformats.org/drawingml/2006/main">
            <a:r>
              <a:t>+Rp3,5 jt</a:t>
            </a:r>
          </a:p>
          <a:p xmlns:a="http://schemas.openxmlformats.org/drawingml/2006/main">
            <a:r>
              <a:t>Sevenpreneur, uplift Regular → VIP</a:t>
            </a:r>
          </a:p>
          <a:p xmlns:a="http://schemas.openxmlformats.org/drawingml/2006/main">
            <a:r>
              <a:t>+Rp6 jt</a:t>
            </a:r>
          </a:p>
          <a:p xmlns:a="http://schemas.openxmlformats.org/drawingml/2006/main">
            <a:r>
              <a:t>Aksoro CEO 3.0, uplift online → offline</a:t>
            </a:r>
          </a:p>
          <a:p xmlns:a="http://schemas.openxmlformats.org/drawingml/2006/main">
            <a:r>
              <a:t>Benchmark hanya menunjukkan willingness-to-pay untuk akses yang lebih dekat; ini harga paket premium penuh, bukan harga dinner.</a:t>
            </a:r>
          </a:p>
          <a:p xmlns:a="http://schemas.openxmlformats.org/drawingml/2006/main">
            <a:r>
              <a:t>Source: sevenpreneur.com Batch 8; aksoro.co.id, info.aksoro.co.id (offline early bird); dicek 3 Okt 2026. Detail early access, launch benefit, bundle: speaker notes.</a:t>
            </a:r>
          </a:p>
          <a:p xmlns:a="http://schemas.openxmlformats.org/drawingml/2006/main">
            <a:r>
              <a:t>| </a:t>
            </a:r>
          </a:p>
          <a:p xmlns:a="http://schemas.openxmlformats.org/drawingml/2006/main">
            <a:r>
              <a:t>9</a:t>
            </a:r>
          </a:p>
          <a:p xmlns:a="http://schemas.openxmlformats.org/drawingml/2006/main">
            <a:r>
              <a:t/>
            </a:r>
          </a:p>
          <a:p xmlns:a="http://schemas.openxmlformats.org/drawingml/2006/main">
            <a:r>
              <a:t>CATATAN PEMAPARAN</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Founder Live: budget Rp3–5 jt per speaker adalah keputusan internal; yang belum jelas apakah gross atau nett dan pajaknya (TO CONFIRM WITH FINANCE). Contracting speaker mencakup 20 menit presentasi, 60 menit Q&amp;A, briefing call, hak rekaman di LMS (usul 12 bulan), penggunaan nama/foto untuk promosi, dan payment terms; posting medsos bukan default deliverable. Intimate Dinner: fee Master dan quotation venue untuk ±24 orang; break-even per seat Rp0,72–2,2 jt tergantung keduanya (base case ±Rp1,46 jt). Sertifikasi: ~Rp1,7 jt per peserta adalah benchmark skema Pelaksana Kewirausahaan (Rp1,5 jt + pendaftaran Rp0,2 jt); LSP mitra, skema, dan struktur final belum dipilih. Sertifikat kompetensi BNSP diterbitkan lewat LSP berlisensi, bukan oleh CMC. Zoom: budget ditetapkan, vendor belum final. Sewa Rp350.000/sesi × 8 = Rp2.800.000 per cohort (asumsi budget). Perlu quotation, format (Meeting atau Webinar), kapasitas 1.000, akses host, recording dan report, durasi briefing + live, dan konfirmasi 8 tanggal. Pembanding subscribe Pro + Large Meeting 1.000 Rp5.311.678 per cohort (acuan checkout sebelumnya). Analisis sebelumnya, sudah diganti: Zoom RESOLVED di Rp10,7 jt (Webinar 1.000 + Pro). Sertifikasi diperlakukan sebagai keputusan model produk dan regulasi (LSP berlisensi), bukan hanya biaya.</a:t>
            </a:r>
          </a:p>
          <a:p xmlns:a="http://schemas.openxmlformats.org/drawingml/2006/main">
            <a:r>
              <a:t/>
            </a:r>
          </a:p>
          <a:p xmlns:a="http://schemas.openxmlformats.org/drawingml/2006/main">
            <a:r>
              <a:t>DETAIL DARI SLIDE SUMBER</a:t>
            </a:r>
          </a:p>
          <a:p xmlns:a="http://schemas.openxmlformats.org/drawingml/2006/main">
            <a:r>
              <a:t>INTIMATE DINNER</a:t>
            </a:r>
          </a:p>
          <a:p xmlns:a="http://schemas.openxmlformats.org/drawingml/2006/main">
            <a:r>
              <a:t>Rp1,5 jt masih jalan di base case, tapi ruang untuk biaya operasional yang belum dihitung sangat tipis.</a:t>
            </a:r>
          </a:p>
          <a:p xmlns:a="http://schemas.openxmlformats.org/drawingml/2006/main">
            <a:r>
              <a:t>Di fee Master Rp10 jt dan venue Rp800 rb per orang, break-even inti ±Rp1,46 jt per paying seat.</a:t>
            </a:r>
          </a:p>
          <a:p xmlns:a="http://schemas.openxmlformats.org/drawingml/2006/main">
            <a:r>
              <a:t>BREAK-EVEN PER PAYING SEAT, RP JT</a:t>
            </a:r>
          </a:p>
          <a:p xmlns:a="http://schemas.openxmlformats.org/drawingml/2006/main">
            <a:r>
              <a:t>venue/F&amp;B per orang →</a:t>
            </a:r>
          </a:p>
          <a:p xmlns:a="http://schemas.openxmlformats.org/drawingml/2006/main">
            <a:r>
              <a:t>Rp600 rb</a:t>
            </a:r>
          </a:p>
          <a:p xmlns:a="http://schemas.openxmlformats.org/drawingml/2006/main">
            <a:r>
              <a:t>Rp800 rb</a:t>
            </a:r>
          </a:p>
          <a:p xmlns:a="http://schemas.openxmlformats.org/drawingml/2006/main">
            <a:r>
              <a:t>Rp1 jt</a:t>
            </a:r>
          </a:p>
          <a:p xmlns:a="http://schemas.openxmlformats.org/drawingml/2006/main">
            <a:r>
              <a:t>Fee Master</a:t>
            </a:r>
          </a:p>
          <a:p xmlns:a="http://schemas.openxmlformats.org/drawingml/2006/main">
            <a:r>
              <a:t>Rp0</a:t>
            </a:r>
          </a:p>
          <a:p xmlns:a="http://schemas.openxmlformats.org/drawingml/2006/main">
            <a:r>
              <a:t>0,72</a:t>
            </a:r>
          </a:p>
          <a:p xmlns:a="http://schemas.openxmlformats.org/drawingml/2006/main">
            <a:r>
              <a:t>0,96</a:t>
            </a:r>
          </a:p>
          <a:p xmlns:a="http://schemas.openxmlformats.org/drawingml/2006/main">
            <a:r>
              <a:t>1,20</a:t>
            </a:r>
          </a:p>
          <a:p xmlns:a="http://schemas.openxmlformats.org/drawingml/2006/main">
            <a:r>
              <a:t>Rp5 jt</a:t>
            </a:r>
          </a:p>
          <a:p xmlns:a="http://schemas.openxmlformats.org/drawingml/2006/main">
            <a:r>
              <a:t>0,97</a:t>
            </a:r>
          </a:p>
          <a:p xmlns:a="http://schemas.openxmlformats.org/drawingml/2006/main">
            <a:r>
              <a:t>1,21</a:t>
            </a:r>
          </a:p>
          <a:p xmlns:a="http://schemas.openxmlformats.org/drawingml/2006/main">
            <a:r>
              <a:t>1,45</a:t>
            </a:r>
          </a:p>
          <a:p xmlns:a="http://schemas.openxmlformats.org/drawingml/2006/main">
            <a:r>
              <a:t>Rp10 jt</a:t>
            </a:r>
          </a:p>
          <a:p xmlns:a="http://schemas.openxmlformats.org/drawingml/2006/main">
            <a:r>
              <a:t>1,22</a:t>
            </a:r>
          </a:p>
          <a:p xmlns:a="http://schemas.openxmlformats.org/drawingml/2006/main">
            <a:r>
              <a:t>1,46</a:t>
            </a:r>
          </a:p>
          <a:p xmlns:a="http://schemas.openxmlformats.org/drawingml/2006/main">
            <a:r>
              <a:t>1,70</a:t>
            </a:r>
          </a:p>
          <a:p xmlns:a="http://schemas.openxmlformats.org/drawingml/2006/main">
            <a:r>
              <a:t>Rp15 jt</a:t>
            </a:r>
          </a:p>
          <a:p xmlns:a="http://schemas.openxmlformats.org/drawingml/2006/main">
            <a:r>
              <a:t>1,47</a:t>
            </a:r>
          </a:p>
          <a:p xmlns:a="http://schemas.openxmlformats.org/drawingml/2006/main">
            <a:r>
              <a:t>1,71</a:t>
            </a:r>
          </a:p>
          <a:p xmlns:a="http://schemas.openxmlformats.org/drawingml/2006/main">
            <a:r>
              <a:t>1,95</a:t>
            </a:r>
          </a:p>
          <a:p xmlns:a="http://schemas.openxmlformats.org/drawingml/2006/main">
            <a:r>
              <a:t>Rp20 jt</a:t>
            </a:r>
          </a:p>
          <a:p xmlns:a="http://schemas.openxmlformats.org/drawingml/2006/main">
            <a:r>
              <a:t>1,72</a:t>
            </a:r>
          </a:p>
          <a:p xmlns:a="http://schemas.openxmlformats.org/drawingml/2006/main">
            <a:r>
              <a:t>1,96</a:t>
            </a:r>
          </a:p>
          <a:p xmlns:a="http://schemas.openxmlformats.org/drawingml/2006/main">
            <a:r>
              <a:t>2,20</a:t>
            </a:r>
          </a:p>
          <a:p xmlns:a="http://schemas.openxmlformats.org/drawingml/2006/main">
            <a:r>
              <a:t>≤1,5: member price menutup biaya inti</a:t>
            </a:r>
          </a:p>
          <a:p xmlns:a="http://schemas.openxmlformats.org/drawingml/2006/main">
            <a:r>
              <a:t>&gt;1,5: butuh mix member + public</a:t>
            </a:r>
          </a:p>
          <a:p xmlns:a="http://schemas.openxmlformats.org/drawingml/2006/main">
            <a:r>
              <a:t>Base case</a:t>
            </a:r>
          </a:p>
          <a:p xmlns:a="http://schemas.openxmlformats.org/drawingml/2006/main">
            <a:r>
              <a:t>BASE CASE</a:t>
            </a:r>
          </a:p>
          <a:p xmlns:a="http://schemas.openxmlformats.org/drawingml/2006/main">
            <a:r>
              <a:t>Rp1,46 jt</a:t>
            </a:r>
          </a:p>
          <a:p xmlns:a="http://schemas.openxmlformats.org/drawingml/2006/main">
            <a:r>
              <a:t>break-even inti per seat (fee Rp10 jt, venue Rp800 rb)</a:t>
            </a:r>
          </a:p>
          <a:p xmlns:a="http://schemas.openxmlformats.org/drawingml/2006/main">
            <a:r>
              <a:t>vs member price </a:t>
            </a:r>
          </a:p>
          <a:p xmlns:a="http://schemas.openxmlformats.org/drawingml/2006/main">
            <a:r>
              <a:t>Rp1,5 jt</a:t>
            </a:r>
          </a:p>
          <a:p xmlns:a="http://schemas.openxmlformats.org/drawingml/2006/main">
            <a:r>
              <a:t>selisih hanya </a:t>
            </a:r>
          </a:p>
          <a:p xmlns:a="http://schemas.openxmlformats.org/drawingml/2006/main">
            <a:r>
              <a:t>±Rp40 rb per seat</a:t>
            </a:r>
          </a:p>
          <a:p xmlns:a="http://schemas.openxmlformats.org/drawingml/2006/main">
            <a:r>
              <a:t>VENUE JAKARTA, PER ORANG</a:t>
            </a:r>
          </a:p>
          <a:p xmlns:a="http://schemas.openxmlformats.org/drawingml/2006/main">
            <a:r>
              <a:t>Park Hyatt</a:t>
            </a:r>
          </a:p>
          <a:p xmlns:a="http://schemas.openxmlformats.org/drawingml/2006/main">
            <a:r>
              <a:t>~Rp500 rb++</a:t>
            </a:r>
          </a:p>
          <a:p xmlns:a="http://schemas.openxmlformats.org/drawingml/2006/main">
            <a:r>
              <a:t>Ritz-Carlton</a:t>
            </a:r>
          </a:p>
          <a:p xmlns:a="http://schemas.openxmlformats.org/drawingml/2006/main">
            <a:r>
              <a:t>Rp540 rb</a:t>
            </a:r>
          </a:p>
          <a:p xmlns:a="http://schemas.openxmlformats.org/drawingml/2006/main">
            <a:r>
              <a:t>Westin</a:t>
            </a:r>
          </a:p>
          <a:p xmlns:a="http://schemas.openxmlformats.org/drawingml/2006/main">
            <a:r>
              <a:t>Rp850 rb</a:t>
            </a:r>
          </a:p>
          <a:p xmlns:a="http://schemas.openxmlformats.org/drawingml/2006/main">
            <a:r>
              <a:t>Raffles</a:t>
            </a:r>
          </a:p>
          <a:p xmlns:a="http://schemas.openxmlformats.org/drawingml/2006/main">
            <a:r>
              <a:t>~Rp1 jt++</a:t>
            </a:r>
          </a:p>
          <a:p xmlns:a="http://schemas.openxmlformats.org/drawingml/2006/main">
            <a:r>
              <a:t>Usulan pilot. Break-even inti = (24 × venue/orang + fee Master) ÷ 20 seat; ops belum dihitung. Venue: official pages (2026), ++ = belum pajak/service. Detail: A4.</a:t>
            </a:r>
          </a:p>
          <a:p xmlns:a="http://schemas.openxmlformats.org/drawingml/2006/main">
            <a:r>
              <a:t>| </a:t>
            </a:r>
          </a:p>
          <a:p xmlns:a="http://schemas.openxmlformats.org/drawingml/2006/main">
            <a:r>
              <a:t>10</a:t>
            </a:r>
          </a:p>
          <a:p xmlns:a="http://schemas.openxmlformats.org/drawingml/2006/main">
            <a:r>
              <a:t/>
            </a:r>
          </a:p>
          <a:p xmlns:a="http://schemas.openxmlformats.org/drawingml/2006/main">
            <a:r>
              <a:t>CATATAN PEMAPARAN</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Keputusan 1: launch Founder Live 4 Nov–23 Des 2026, 8 sesi tiap Rabu, honor speaker Rp3–5 jt per sesi (internal) dan sewa Zoom Rp350.000/sesi × 8 = Rp2.800.000 (asumsi budget, bergantung konfirmasi vendor); total Rp26.800.000–Rp42.800.000 per cohort sebelum pajak, base Rp34.800.000. Kalau vendor sewa tidak lolos, pembanding subscribe Pro + Large Meeting 1.000 Rp5.311.678 membuat total Rp29.311.678–Rp45.311.678, base Rp37.311.678. Analisis sebelumnya, sudah diganti: Zoom Webinar 1.000 Rp10,7 jt dan total Rp34,7–50,7 jt. Keputusan 2: pilot 3 Intimate Dinner, maksimal 20 seat, member Rp1,5 jt dan public Rp3 jt (USULAN PILOT), setelah venue quote dan fee Master keluar. Keputusan 3: lock tier Rp2,5 jt lalu ~Rp5 jt pakai data aktual cohort pertama dan pilot dinner (aplikasi per seat, paid conversion, repeat attendance, NPS, margin per event, waitlist). Frekuensi dinner mulai 1 event tiap 2 bulan; naik ke bulanan kalau waitlist penuh dan margin positif, turun ke per kuartal kalau kursi tidak terisi. Kenapa 3 event Intimate Dinner: satu event terlalu noisy untuk memvalidasi harga. Tiga pilot memungkinkan CMC menguji repeatability di beberapa Master/topik dan mengurangi bias dari satu sesi yang kebetulan sangat kuat atau sangat lemah. Metrik evaluasi pilot: aplikasi per kursi tersedia, paid conversion, mix member vs public, kehadiran, waitlist, NPS, contribution margin, dan repeat intent.</a:t>
            </a:r>
          </a:p>
          <a:p xmlns:a="http://schemas.openxmlformats.org/drawingml/2006/main">
            <a:r>
              <a:t/>
            </a:r>
          </a:p>
          <a:p xmlns:a="http://schemas.openxmlformats.org/drawingml/2006/main">
            <a:r>
              <a:t>DETAIL DARI SLIDE SUMBER</a:t>
            </a:r>
          </a:p>
          <a:p xmlns:a="http://schemas.openxmlformats.org/drawingml/2006/main">
            <a:r>
              <a:t>KEPUTUSAN YANG MASIH TERBUKA</a:t>
            </a:r>
          </a:p>
          <a:p xmlns:a="http://schemas.openxmlformats.org/drawingml/2006/main">
            <a:r>
              <a:t>Empat keputusan operasional masih perlu dikunci sebelum permanent pricing bisa difinalkan.</a:t>
            </a:r>
          </a:p>
          <a:p xmlns:a="http://schemas.openxmlformats.org/drawingml/2006/main">
            <a:r>
              <a:t>Budget Zoom sudah ditetapkan tapi vendor belum final; tiga keputusan lain menentukan apakah harga baru menutup biaya.</a:t>
            </a:r>
          </a:p>
          <a:p xmlns:a="http://schemas.openxmlformats.org/drawingml/2006/main">
            <a:r>
              <a:t>STATUS</a:t>
            </a:r>
          </a:p>
          <a:p xmlns:a="http://schemas.openxmlformats.org/drawingml/2006/main">
            <a:r>
              <a:t>KEPUTUSAN</a:t>
            </a:r>
          </a:p>
          <a:p xmlns:a="http://schemas.openxmlformats.org/drawingml/2006/main">
            <a:r>
              <a:t>ANGKA SEKARANG</a:t>
            </a:r>
          </a:p>
          <a:p xmlns:a="http://schemas.openxmlformats.org/drawingml/2006/main">
            <a:r>
              <a:t>YANG DIBUTUHKAN</a:t>
            </a:r>
          </a:p>
          <a:p xmlns:a="http://schemas.openxmlformats.org/drawingml/2006/main">
            <a:r>
              <a:t>BUDGET DITETAPKAN</a:t>
            </a:r>
          </a:p>
          <a:p xmlns:a="http://schemas.openxmlformats.org/drawingml/2006/main">
            <a:r>
              <a:t>Zoom</a:t>
            </a:r>
          </a:p>
          <a:p xmlns:a="http://schemas.openxmlformats.org/drawingml/2006/main">
            <a:r>
              <a:t>vendor belum final</a:t>
            </a:r>
          </a:p>
          <a:p xmlns:a="http://schemas.openxmlformats.org/drawingml/2006/main">
            <a:r>
              <a:t>Rp350 rb</a:t>
            </a:r>
          </a:p>
          <a:p xmlns:a="http://schemas.openxmlformats.org/drawingml/2006/main">
            <a:r>
              <a:t>per sesi sewa · Rp2,8 jt per cohort</a:t>
            </a:r>
          </a:p>
          <a:p xmlns:a="http://schemas.openxmlformats.org/drawingml/2006/main">
            <a:r>
              <a:t>Quotation, format, kapasitas, akses host, recording/report, konfirmasi tanggal</a:t>
            </a:r>
          </a:p>
          <a:p xmlns:a="http://schemas.openxmlformats.org/drawingml/2006/main">
            <a:r>
              <a:t>OPEN</a:t>
            </a:r>
          </a:p>
          <a:p xmlns:a="http://schemas.openxmlformats.org/drawingml/2006/main">
            <a:r>
              <a:t>Speaker contracting</a:t>
            </a:r>
          </a:p>
          <a:p xmlns:a="http://schemas.openxmlformats.org/drawingml/2006/main">
            <a:r>
              <a:t>Rp3–5 jt</a:t>
            </a:r>
          </a:p>
          <a:p xmlns:a="http://schemas.openxmlformats.org/drawingml/2006/main">
            <a:r>
              <a:t>per speaker, budget internal</a:t>
            </a:r>
          </a:p>
          <a:p xmlns:a="http://schemas.openxmlformats.org/drawingml/2006/main">
            <a:r>
              <a:t>Gross vs nett, dan pajak speaker</a:t>
            </a:r>
          </a:p>
          <a:p xmlns:a="http://schemas.openxmlformats.org/drawingml/2006/main">
            <a:r>
              <a:t>OPEN</a:t>
            </a:r>
          </a:p>
          <a:p xmlns:a="http://schemas.openxmlformats.org/drawingml/2006/main">
            <a:r>
              <a:t>Dinner economics</a:t>
            </a:r>
          </a:p>
          <a:p xmlns:a="http://schemas.openxmlformats.org/drawingml/2006/main">
            <a:r>
              <a:t>±Rp1,46 jt</a:t>
            </a:r>
          </a:p>
          <a:p xmlns:a="http://schemas.openxmlformats.org/drawingml/2006/main">
            <a:r>
              <a:t>break-even per seat, base case</a:t>
            </a:r>
          </a:p>
          <a:p xmlns:a="http://schemas.openxmlformats.org/drawingml/2006/main">
            <a:r>
              <a:t>Fee Master dan quotation venue</a:t>
            </a:r>
          </a:p>
          <a:p xmlns:a="http://schemas.openxmlformats.org/drawingml/2006/main">
            <a:r>
              <a:t>OPEN</a:t>
            </a:r>
          </a:p>
          <a:p xmlns:a="http://schemas.openxmlformats.org/drawingml/2006/main">
            <a:r>
              <a:t>Certification model</a:t>
            </a:r>
          </a:p>
          <a:p xmlns:a="http://schemas.openxmlformats.org/drawingml/2006/main">
            <a:r>
              <a:t>~Rp1,7 jt</a:t>
            </a:r>
          </a:p>
          <a:p xmlns:a="http://schemas.openxmlformats.org/drawingml/2006/main">
            <a:r>
              <a:t>per peserta, benchmark</a:t>
            </a:r>
          </a:p>
          <a:p xmlns:a="http://schemas.openxmlformats.org/drawingml/2006/main">
            <a:r>
              <a:t>LSP mitra dan skema</a:t>
            </a:r>
          </a:p>
          <a:p xmlns:a="http://schemas.openxmlformats.org/drawingml/2006/main">
            <a:r>
              <a:t>Speaker: internal, pajak dikonfirmasi ke Finance. Zoom: asumsi budget sewa, vendor belum final. Dinner: lampiran A4. Sertifikasi: lampiran A5.</a:t>
            </a:r>
          </a:p>
          <a:p xmlns:a="http://schemas.openxmlformats.org/drawingml/2006/main">
            <a:r>
              <a:t>| </a:t>
            </a:r>
          </a:p>
          <a:p xmlns:a="http://schemas.openxmlformats.org/drawingml/2006/main">
            <a:r>
              <a:t>11</a:t>
            </a:r>
          </a:p>
          <a:p xmlns:a="http://schemas.openxmlformats.org/drawingml/2006/main">
            <a:r>
              <a:t/>
            </a:r>
          </a:p>
          <a:p xmlns:a="http://schemas.openxmlformats.org/drawingml/2006/main">
            <a:r>
              <a:t>CATATAN PEMAPARAN</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dari Founder Live Revised. Rizky Arief (HMNS): dokumen sumber minta cek catatan internal dulu. Gregorius Ruben: dari brand yang sama (Yellow Fit Kitchen), bisa bawa sisi central kitchen dan operation. Mandy Purwa Hartono: generasi kedua Purwadhika. Sesi 16 Des (Anthony Soehartono) belum punya backup; jangan isi nama tanpa dicek. Reserve tambahan: Samuel Christ (Co-Founder Seefluencer, lebih cocok topik personal branding dan monetization) dan Dokter Tirta (Pendiri Shoes and Care, topik people dan standardisasi, perlu diputuskan internal). Edward Tirtanata (Kenangan Brands) tidak dimasukkan sebagai rekomendasi aktif sampai status internal dan pemberitaan September 2026 clear. Persiapan pertanyaan (contoh sesi 4 Nov): H-7 28 Okt form dibuka, peserta submit pertanyaan, business case, dan situasi yang sedang dihadapi; termasuk yang tidak bisa hadir. H-3 1 Nov CMC kirim shortlist pertanyaan utama yang sudah dikurasi (6–8 pertanyaan) dan briefing call. Hari H 4 Nov 60 menit Q&amp;A; host tidak wajib membacakan semua pertanyaan, prioritas kasus spesifik, keputusan nyata, dan yang relevan ke banyak peserta; bukan interview yang 100% scripted, tetap ada ruang diskusi spontan. H+3 7 Nov rekaman, catatan sehalaman, dan satu tool praktis masuk LMS. Catatan: speaker dicocokkan ke topik modul, bukan sebaliknya; lineup ini adalah kandidat.</a:t>
            </a:r>
          </a:p>
          <a:p xmlns:a="http://schemas.openxmlformats.org/drawingml/2006/main">
            <a:r>
              <a:t/>
            </a:r>
          </a:p>
          <a:p xmlns:a="http://schemas.openxmlformats.org/drawingml/2006/main">
            <a:r>
              <a:t>DETAIL DARI SLIDE SUMBER</a:t>
            </a:r>
          </a:p>
          <a:p xmlns:a="http://schemas.openxmlformats.org/drawingml/2006/main">
            <a:r>
              <a:t>KEPUTUSAN</a:t>
            </a:r>
          </a:p>
          <a:p xmlns:a="http://schemas.openxmlformats.org/drawingml/2006/main">
            <a:r>
              <a:t>Tambah access dulu, test economics-nya, baru lock harga permanen.</a:t>
            </a:r>
          </a:p>
          <a:p xmlns:a="http://schemas.openxmlformats.org/drawingml/2006/main">
            <a:r>
              <a:t>Tiga keputusan yang diminta hari ini; harga permanen menunggu data dari pilot Founder Live dan Intimate Dinner.</a:t>
            </a:r>
          </a:p>
          <a:p xmlns:a="http://schemas.openxmlformats.org/drawingml/2006/main">
            <a:r>
              <a:t>01</a:t>
            </a:r>
          </a:p>
          <a:p xmlns:a="http://schemas.openxmlformats.org/drawingml/2006/main">
            <a:r>
              <a:t>LAUNCH FOUNDER LIVE</a:t>
            </a:r>
          </a:p>
          <a:p xmlns:a="http://schemas.openxmlformats.org/drawingml/2006/main">
            <a:r>
              <a:t>8 sesi tiap Rabu, 4 Nov–23 Des</a:t>
            </a:r>
          </a:p>
          <a:p xmlns:a="http://schemas.openxmlformats.org/drawingml/2006/main">
            <a:r>
              <a:t>Sewa Zoom Rp2,8 jt per cohort</a:t>
            </a:r>
          </a:p>
          <a:p xmlns:a="http://schemas.openxmlformats.org/drawingml/2006/main">
            <a:r>
              <a:t>sewa jika vendor terkonfirmasi</a:t>
            </a:r>
          </a:p>
          <a:p xmlns:a="http://schemas.openxmlformats.org/drawingml/2006/main">
            <a:r>
              <a:t>Rp26,8–42,8 jt</a:t>
            </a:r>
          </a:p>
          <a:p xmlns:a="http://schemas.openxmlformats.org/drawingml/2006/main">
            <a:r>
              <a:t>sebelum pajak · base Rp34,8 jt</a:t>
            </a:r>
          </a:p>
          <a:p xmlns:a="http://schemas.openxmlformats.org/drawingml/2006/main">
            <a:r>
              <a:t>02</a:t>
            </a:r>
          </a:p>
          <a:p xmlns:a="http://schemas.openxmlformats.org/drawingml/2006/main">
            <a:r>
              <a:t>PILOT INTIMATE DINNER</a:t>
            </a:r>
          </a:p>
          <a:p xmlns:a="http://schemas.openxmlformats.org/drawingml/2006/main">
            <a:r>
              <a:t>3 event</a:t>
            </a:r>
          </a:p>
          <a:p xmlns:a="http://schemas.openxmlformats.org/drawingml/2006/main">
            <a:r>
              <a:t>hard cap 20 seat</a:t>
            </a:r>
          </a:p>
          <a:p xmlns:a="http://schemas.openxmlformats.org/drawingml/2006/main">
            <a:r>
              <a:t>aplikasi, bukan siapa cepat</a:t>
            </a:r>
          </a:p>
          <a:p xmlns:a="http://schemas.openxmlformats.org/drawingml/2006/main">
            <a:r>
              <a:t>Rp1,5 / 3 jt</a:t>
            </a:r>
          </a:p>
          <a:p xmlns:a="http://schemas.openxmlformats.org/drawingml/2006/main">
            <a:r>
              <a:t>member / public, usulan pilot</a:t>
            </a:r>
          </a:p>
          <a:p xmlns:a="http://schemas.openxmlformats.org/drawingml/2006/main">
            <a:r>
              <a:t>03</a:t>
            </a:r>
          </a:p>
          <a:p xmlns:a="http://schemas.openxmlformats.org/drawingml/2006/main">
            <a:r>
              <a:t>LOCK PRICING AFTER DATA</a:t>
            </a:r>
          </a:p>
          <a:p xmlns:a="http://schemas.openxmlformats.org/drawingml/2006/main">
            <a:r>
              <a:t>Rp2,5 jt dulu</a:t>
            </a:r>
          </a:p>
          <a:p xmlns:a="http://schemas.openxmlformats.org/drawingml/2006/main">
            <a:r>
              <a:t>lalu ~Rp5 jt</a:t>
            </a:r>
          </a:p>
          <a:p xmlns:a="http://schemas.openxmlformats.org/drawingml/2006/main">
            <a:r>
              <a:t>pakai data aktual pilot</a:t>
            </a:r>
          </a:p>
          <a:p xmlns:a="http://schemas.openxmlformats.org/drawingml/2006/main">
            <a:r>
              <a:t>Data dulu</a:t>
            </a:r>
          </a:p>
          <a:p xmlns:a="http://schemas.openxmlformats.org/drawingml/2006/main">
            <a:r>
              <a:t>baru harga permanen</a:t>
            </a:r>
          </a:p>
          <a:p xmlns:a="http://schemas.openxmlformats.org/drawingml/2006/main">
            <a:r>
              <a:t>PILOT</a:t>
            </a:r>
          </a:p>
          <a:p xmlns:a="http://schemas.openxmlformats.org/drawingml/2006/main">
            <a:r>
              <a:t>MEASURE</a:t>
            </a:r>
          </a:p>
          <a:p xmlns:a="http://schemas.openxmlformats.org/drawingml/2006/main">
            <a:r>
              <a:t>PRICE</a:t>
            </a:r>
          </a:p>
          <a:p xmlns:a="http://schemas.openxmlformats.org/drawingml/2006/main">
            <a:r>
              <a:t>SCALE</a:t>
            </a:r>
          </a:p>
          <a:p xmlns:a="http://schemas.openxmlformats.org/drawingml/2006/main">
            <a:r>
              <a:t>Founder Live: honor speaker = budget internal; sewa Zoom = asumsi budget, sebelum pajak. Intimate Dinner dan tier harga: usulan pilot. Alasan 3 event dan metrik di notes.</a:t>
            </a:r>
          </a:p>
          <a:p xmlns:a="http://schemas.openxmlformats.org/drawingml/2006/main">
            <a:r>
              <a:t>| </a:t>
            </a:r>
          </a:p>
          <a:p xmlns:a="http://schemas.openxmlformats.org/drawingml/2006/main">
            <a:r>
              <a:t>12</a:t>
            </a:r>
          </a:p>
          <a:p xmlns:a="http://schemas.openxmlformats.org/drawingml/2006/main">
            <a:r>
              <a:t/>
            </a:r>
          </a:p>
          <a:p xmlns:a="http://schemas.openxmlformats.org/drawingml/2006/main">
            <a:r>
              <a:t>CATATAN PEMAPARAN</a:t>
            </a:r>
          </a:p>
          <a:p xmlns:a="http://schemas.openxmlformats.org/drawingml/2006/main">
            <a:r>
              <a:t>Tiga pilot Dinner menguji repeatability antar Master/topik dan mengurangi bias satu event. Ukur applications/seat, paid conversion, member/public mix, attendance, waitlist, NPS, contribution margin, repeat intent. Target keberhasilan numerik belum ditetapkan.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Harga per bulan (add-on + lisensi dasar), belum PPN, dari checkout zoom.us 2–3 Okt 2026: acuan riset sebelumnya, konfirmasi saat pembelian. Komponen: Pro Rp271.840; Large Meeting 1.000 Rp2.383.999; Business Rp351.840; Webinar 1.000 Rp5.078.580. Setiap add-on butuh lisensi Workplace Pro (atau lebih tinggi) dalam jumlah yang sama. Opsi subscribe yang dimodelkan: Pro + Large Meeting 1.000 = Rp2.655.839/bulan, 2 bulan Rp5.311.678. Large Meeting 1.000 + Business (agar fitur Q&amp;A khusus tersedia) = Rp2.735.839/bulan, 2 bulan Rp5.471.678. Webinar 1.000 + Pro = Rp5.350.420/bulan, 2 bulan Rp10.700.840: analisis sebelumnya, sudah diganti sebagai base. Sewa: asumsi budget Rp350.000/sesi × 8 = Rp2.800.000; quotation dan scope belum final. Fitur (support.zoom.com KB0062404): Meetings: peserta bisa unmute, video, share screen, chat; Q&amp;A hanya untuk akun Business ke atas; video dan screen share tidak tersedia untuk meeting dengan 1.000 participant atau lebih. Webinars: attendee listen-only, bisa pakai mic, chat, Q&amp;A, dan polls kalau diizinkan host; hanya host dan panelist yang bisa video dan share screen. KB tidak merinci apakah host ikut dihitung dalam kapasitas; model memperlakukan 1.000 sebagai total participant termasuk host/co-host. Annual pricing dan annual break-even tidak dipakai di deck ini (analisis sebelumnya, sudah diganti: Webinar 1.000 + Pro annual Rp53,5 jt, break-even ±10 bulan).</a:t>
            </a:r>
          </a:p>
          <a:p xmlns:a="http://schemas.openxmlformats.org/drawingml/2006/main">
            <a:r>
              <a:t/>
            </a:r>
          </a:p>
          <a:p xmlns:a="http://schemas.openxmlformats.org/drawingml/2006/main">
            <a:r>
              <a:t>DETAIL DARI SLIDE SUMBER</a:t>
            </a:r>
          </a:p>
          <a:p xmlns:a="http://schemas.openxmlformats.org/drawingml/2006/main">
            <a:r>
              <a:t>LAMPIRAN A1 · OPERASIONAL FOUNDER LIVE</a:t>
            </a:r>
          </a:p>
          <a:p xmlns:a="http://schemas.openxmlformats.org/drawingml/2006/main">
            <a:r>
              <a:t>Tujuh dari delapan slot sudah punya cadangan; pertanyaan disiapkan seminggu sebelum live.</a:t>
            </a:r>
          </a:p>
          <a:p xmlns:a="http://schemas.openxmlformats.org/drawingml/2006/main">
            <a:r>
              <a:t>Lineup Founder Live Revised jadi kandidat; speaker dicocokkan ke topik modul, bukan sebaliknya.</a:t>
            </a:r>
          </a:p>
          <a:p xmlns:a="http://schemas.openxmlformats.org/drawingml/2006/main">
            <a:r>
              <a:t>RABU</a:t>
            </a:r>
          </a:p>
          <a:p xmlns:a="http://schemas.openxmlformats.org/drawingml/2006/main">
            <a:r>
              <a:t>KANDIDAT SPEAKER</a:t>
            </a:r>
          </a:p>
          <a:p xmlns:a="http://schemas.openxmlformats.org/drawingml/2006/main">
            <a:r>
              <a:t>CADANGAN</a:t>
            </a:r>
          </a:p>
          <a:p xmlns:a="http://schemas.openxmlformats.org/drawingml/2006/main">
            <a:r>
              <a:t>4 Nov</a:t>
            </a:r>
          </a:p>
          <a:p xmlns:a="http://schemas.openxmlformats.org/drawingml/2006/main">
            <a:r>
              <a:t>Yukka Harlanda, Brodo</a:t>
            </a:r>
          </a:p>
          <a:p xmlns:a="http://schemas.openxmlformats.org/drawingml/2006/main">
            <a:r>
              <a:t>Rizky Arief, HMNS</a:t>
            </a:r>
          </a:p>
          <a:p xmlns:a="http://schemas.openxmlformats.org/drawingml/2006/main">
            <a:r>
              <a:t>11 Nov</a:t>
            </a:r>
          </a:p>
          <a:p xmlns:a="http://schemas.openxmlformats.org/drawingml/2006/main">
            <a:r>
              <a:t>Gufron Syarif, Haus!</a:t>
            </a:r>
          </a:p>
          <a:p xmlns:a="http://schemas.openxmlformats.org/drawingml/2006/main">
            <a:r>
              <a:t>Daniel Sidik, Jago Coffee</a:t>
            </a:r>
          </a:p>
          <a:p xmlns:a="http://schemas.openxmlformats.org/drawingml/2006/main">
            <a:r>
              <a:t>18 Nov</a:t>
            </a:r>
          </a:p>
          <a:p xmlns:a="http://schemas.openxmlformats.org/drawingml/2006/main">
            <a:r>
              <a:t>Daniel Liu, Rocketindo</a:t>
            </a:r>
          </a:p>
          <a:p xmlns:a="http://schemas.openxmlformats.org/drawingml/2006/main">
            <a:r>
              <a:t>Aristia Chen, Mazuta Group</a:t>
            </a:r>
          </a:p>
          <a:p xmlns:a="http://schemas.openxmlformats.org/drawingml/2006/main">
            <a:r>
              <a:t>25 Nov</a:t>
            </a:r>
          </a:p>
          <a:p xmlns:a="http://schemas.openxmlformats.org/drawingml/2006/main">
            <a:r>
              <a:t>Vico Lomar, Fore Coffee</a:t>
            </a:r>
          </a:p>
          <a:p xmlns:a="http://schemas.openxmlformats.org/drawingml/2006/main">
            <a:r>
              <a:t>Billy Kurniawan, Jiwa Group</a:t>
            </a:r>
          </a:p>
          <a:p xmlns:a="http://schemas.openxmlformats.org/drawingml/2006/main">
            <a:r>
              <a:t>2 Des</a:t>
            </a:r>
          </a:p>
          <a:p xmlns:a="http://schemas.openxmlformats.org/drawingml/2006/main">
            <a:r>
              <a:t>Christopher Aldo, Yellow Fit</a:t>
            </a:r>
          </a:p>
          <a:p xmlns:a="http://schemas.openxmlformats.org/drawingml/2006/main">
            <a:r>
              <a:t>Gregorius Ruben, Yellow Fit</a:t>
            </a:r>
          </a:p>
          <a:p xmlns:a="http://schemas.openxmlformats.org/drawingml/2006/main">
            <a:r>
              <a:t>9 Des</a:t>
            </a:r>
          </a:p>
          <a:p xmlns:a="http://schemas.openxmlformats.org/drawingml/2006/main">
            <a:r>
              <a:t>Suwandi Soh, Mekari</a:t>
            </a:r>
          </a:p>
          <a:p xmlns:a="http://schemas.openxmlformats.org/drawingml/2006/main">
            <a:r>
              <a:t>Winston Utomo, IDN</a:t>
            </a:r>
          </a:p>
          <a:p xmlns:a="http://schemas.openxmlformats.org/drawingml/2006/main">
            <a:r>
              <a:t>16 Des</a:t>
            </a:r>
          </a:p>
          <a:p xmlns:a="http://schemas.openxmlformats.org/drawingml/2006/main">
            <a:r>
              <a:t>Anthony Soehartono, Mega Perintis</a:t>
            </a:r>
          </a:p>
          <a:p xmlns:a="http://schemas.openxmlformats.org/drawingml/2006/main">
            <a:r>
              <a:t>Belum ada</a:t>
            </a:r>
          </a:p>
          <a:p xmlns:a="http://schemas.openxmlformats.org/drawingml/2006/main">
            <a:r>
              <a:t>23 Des</a:t>
            </a:r>
          </a:p>
          <a:p xmlns:a="http://schemas.openxmlformats.org/drawingml/2006/main">
            <a:r>
              <a:t>Purwa Hartono, Purwadhika</a:t>
            </a:r>
          </a:p>
          <a:p xmlns:a="http://schemas.openxmlformats.org/drawingml/2006/main">
            <a:r>
              <a:t>Mandy Purwa Hartono</a:t>
            </a:r>
          </a:p>
          <a:p xmlns:a="http://schemas.openxmlformats.org/drawingml/2006/main">
            <a:r>
              <a:t>Reserve: </a:t>
            </a:r>
          </a:p>
          <a:p xmlns:a="http://schemas.openxmlformats.org/drawingml/2006/main">
            <a:r>
              <a:t>Samuel Christ (Seefluencer), Dokter Tirta (Shoes and Care)</a:t>
            </a:r>
          </a:p>
          <a:p xmlns:a="http://schemas.openxmlformats.org/drawingml/2006/main">
            <a:r>
              <a:t>PERSIAPAN PERTANYAAN · CONTOH SLOT 4 NOV</a:t>
            </a:r>
          </a:p>
          <a:p xmlns:a="http://schemas.openxmlformats.org/drawingml/2006/main">
            <a:r>
              <a:t>H-7</a:t>
            </a:r>
          </a:p>
          <a:p xmlns:a="http://schemas.openxmlformats.org/drawingml/2006/main">
            <a:r>
              <a:t>   28 Okt</a:t>
            </a:r>
          </a:p>
          <a:p xmlns:a="http://schemas.openxmlformats.org/drawingml/2006/main">
            <a:r>
              <a:t>Form dibuka: pertanyaan + business case</a:t>
            </a:r>
          </a:p>
          <a:p xmlns:a="http://schemas.openxmlformats.org/drawingml/2006/main">
            <a:r>
              <a:t>H-3</a:t>
            </a:r>
          </a:p>
          <a:p xmlns:a="http://schemas.openxmlformats.org/drawingml/2006/main">
            <a:r>
              <a:t>   1 Nov</a:t>
            </a:r>
          </a:p>
          <a:p xmlns:a="http://schemas.openxmlformats.org/drawingml/2006/main">
            <a:r>
              <a:t>Shortlist pertanyaan dikirim ke speaker</a:t>
            </a:r>
          </a:p>
          <a:p xmlns:a="http://schemas.openxmlformats.org/drawingml/2006/main">
            <a:r>
              <a:t>Hari H</a:t>
            </a:r>
          </a:p>
          <a:p xmlns:a="http://schemas.openxmlformats.org/drawingml/2006/main">
            <a:r>
              <a:t>   4 Nov</a:t>
            </a:r>
          </a:p>
          <a:p xmlns:a="http://schemas.openxmlformats.org/drawingml/2006/main">
            <a:r>
              <a:t>60 menit Q&amp;A, plus pertanyaan live</a:t>
            </a:r>
          </a:p>
          <a:p xmlns:a="http://schemas.openxmlformats.org/drawingml/2006/main">
            <a:r>
              <a:t>H+3</a:t>
            </a:r>
          </a:p>
          <a:p xmlns:a="http://schemas.openxmlformats.org/drawingml/2006/main">
            <a:r>
              <a:t>   7 Nov</a:t>
            </a:r>
          </a:p>
          <a:p xmlns:a="http://schemas.openxmlformats.org/drawingml/2006/main">
            <a:r>
              <a:t>Rekaman + catatan masuk LMS</a:t>
            </a:r>
          </a:p>
          <a:p xmlns:a="http://schemas.openxmlformats.org/drawingml/2006/main">
            <a:r>
              <a:t>Source: Founder Live Revised (Okt 2026), internal. Catatan cadangan, reserve, dan aturan host di speaker notes.</a:t>
            </a:r>
          </a:p>
          <a:p xmlns:a="http://schemas.openxmlformats.org/drawingml/2006/main">
            <a:r>
              <a:t>| </a:t>
            </a:r>
          </a:p>
          <a:p xmlns:a="http://schemas.openxmlformats.org/drawingml/2006/main">
            <a:r>
              <a:t>13</a:t>
            </a:r>
          </a:p>
          <a:p xmlns:a="http://schemas.openxmlformats.org/drawingml/2006/main">
            <a:r>
              <a:t/>
            </a:r>
          </a:p>
          <a:p xmlns:a="http://schemas.openxmlformats.org/drawingml/2006/main">
            <a:r>
              <a:t>CATATAN PEMAPARAN</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Sumber: "CMC - Budget Founder Live (Langganan vs Sewa).xlsx". Klasifikasi: honor speaker = variable per sesi; Zoom = satu opsi saja, subscribe (tetap per bulan) atau sewa (per sesi), tidak dijumlahkan; pajak speaker dan pajak invoice = TBD, dikonfirmasi ke Finance. Tidak termasuk: apresiasi speaker, waktu tim internal, biaya opsional, kontinjensi, Kahoot/Slido, sound system. Biaya langsung per peserta = total cohort ÷ jumlah peserta unik yang dilayani; bukan CAC dan bukan penjumlahan attendance 8 sesi. Per peserta untuk 500 / 750 / 1.000 peserta, Pesimis: subscribe Rp90.623 / Rp60.416 / Rp45.312, sewa Rp85.600 / Rp57.067 / Rp42.800; Optimis: subscribe Rp58.623 / Rp39.082 / Rp29.312, sewa Rp53.600 / Rp35.733 / Rp26.800. Analisis sebelumnya, sudah diganti: Zoom Webinar 1.000 + Pro Rp10,7 jt; total Rp34,7 / 42,7 / 50,7 jt; per peserta base Rp85 / 57 / 43 rb.</a:t>
            </a:r>
          </a:p>
          <a:p xmlns:a="http://schemas.openxmlformats.org/drawingml/2006/main">
            <a:r>
              <a:t/>
            </a:r>
          </a:p>
          <a:p xmlns:a="http://schemas.openxmlformats.org/drawingml/2006/main">
            <a:r>
              <a:t>DETAIL DARI SLIDE SUMBER</a:t>
            </a:r>
          </a:p>
          <a:p xmlns:a="http://schemas.openxmlformats.org/drawingml/2006/main">
            <a:r>
              <a:t>LAMPIRAN A2 · ZOOM</a:t>
            </a:r>
          </a:p>
          <a:p xmlns:a="http://schemas.openxmlformats.org/drawingml/2006/main">
            <a:r>
              <a:t>Kapasitas 1.000 bisa didapat lewat subscribe atau sewa, tapi fiturnya belum tentu sama.</a:t>
            </a:r>
          </a:p>
          <a:p xmlns:a="http://schemas.openxmlformats.org/drawingml/2006/main">
            <a:r>
              <a:t>Subscribe dimodelkan sebagai Pro + Large Meeting 1.000; scope sewa belum dikunci. Harga sebelum pajak.</a:t>
            </a:r>
          </a:p>
          <a:p xmlns:a="http://schemas.openxmlformats.org/drawingml/2006/main">
            <a:r>
              <a:t>OPSI</a:t>
            </a:r>
          </a:p>
          <a:p xmlns:a="http://schemas.openxmlformats.org/drawingml/2006/main">
            <a:r>
              <a:t>HARGA</a:t>
            </a:r>
          </a:p>
          <a:p xmlns:a="http://schemas.openxmlformats.org/drawingml/2006/main">
            <a:r>
              <a:t>PER COHORT</a:t>
            </a:r>
          </a:p>
          <a:p xmlns:a="http://schemas.openxmlformats.org/drawingml/2006/main">
            <a:r>
              <a:t>STATUS</a:t>
            </a:r>
          </a:p>
          <a:p xmlns:a="http://schemas.openxmlformats.org/drawingml/2006/main">
            <a:r>
              <a:t>Subscribe: Pro + Large Meeting 1.000 (dimodelkan)</a:t>
            </a:r>
          </a:p>
          <a:p xmlns:a="http://schemas.openxmlformats.org/drawingml/2006/main">
            <a:r>
              <a:t>Rp2.655.839 / bulan</a:t>
            </a:r>
          </a:p>
          <a:p xmlns:a="http://schemas.openxmlformats.org/drawingml/2006/main">
            <a:r>
              <a:t>Rp5.311.678</a:t>
            </a:r>
          </a:p>
          <a:p xmlns:a="http://schemas.openxmlformats.org/drawingml/2006/main">
            <a:r>
              <a:t>Acuan sebelumnya</a:t>
            </a:r>
          </a:p>
          <a:p xmlns:a="http://schemas.openxmlformats.org/drawingml/2006/main">
            <a:r>
              <a:t>Large Meeting 1.000 + Business (Q&amp;A khusus)</a:t>
            </a:r>
          </a:p>
          <a:p xmlns:a="http://schemas.openxmlformats.org/drawingml/2006/main">
            <a:r>
              <a:t>Rp2.735.839 / bulan</a:t>
            </a:r>
          </a:p>
          <a:p xmlns:a="http://schemas.openxmlformats.org/drawingml/2006/main">
            <a:r>
              <a:t>Rp5.471.678</a:t>
            </a:r>
          </a:p>
          <a:p xmlns:a="http://schemas.openxmlformats.org/drawingml/2006/main">
            <a:r>
              <a:t>Acuan sebelumnya</a:t>
            </a:r>
          </a:p>
          <a:p xmlns:a="http://schemas.openxmlformats.org/drawingml/2006/main">
            <a:r>
              <a:t>Webinar 1.000 + Pro (analisis sebelumnya)</a:t>
            </a:r>
          </a:p>
          <a:p xmlns:a="http://schemas.openxmlformats.org/drawingml/2006/main">
            <a:r>
              <a:t>Rp5.350.420 / bulan</a:t>
            </a:r>
          </a:p>
          <a:p xmlns:a="http://schemas.openxmlformats.org/drawingml/2006/main">
            <a:r>
              <a:t>Rp10.700.840</a:t>
            </a:r>
          </a:p>
          <a:p xmlns:a="http://schemas.openxmlformats.org/drawingml/2006/main">
            <a:r>
              <a:t>Sudah diganti</a:t>
            </a:r>
          </a:p>
          <a:p xmlns:a="http://schemas.openxmlformats.org/drawingml/2006/main">
            <a:r>
              <a:t>Sewa, target kapasitas 1.000 (dimodelkan)</a:t>
            </a:r>
          </a:p>
          <a:p xmlns:a="http://schemas.openxmlformats.org/drawingml/2006/main">
            <a:r>
              <a:t>Rp350.000 / sesi</a:t>
            </a:r>
          </a:p>
          <a:p xmlns:a="http://schemas.openxmlformats.org/drawingml/2006/main">
            <a:r>
              <a:t>Rp2.800.000</a:t>
            </a:r>
          </a:p>
          <a:p xmlns:a="http://schemas.openxmlformats.org/drawingml/2006/main">
            <a:r>
              <a:t>Asumsi budget</a:t>
            </a:r>
          </a:p>
          <a:p xmlns:a="http://schemas.openxmlformats.org/drawingml/2006/main">
            <a:r>
              <a:t>LARGE MEETING 1.000 (SUBSCRIBE)</a:t>
            </a:r>
          </a:p>
          <a:p xmlns:a="http://schemas.openxmlformats.org/drawingml/2006/main">
            <a:r>
              <a:t>1.000 participant, termasuk host/co-host</a:t>
            </a:r>
          </a:p>
          <a:p xmlns:a="http://schemas.openxmlformats.org/drawingml/2006/main">
            <a:r>
              <a:t>Diskusi lewat mic, chat, dan raise hand</a:t>
            </a:r>
          </a:p>
          <a:p xmlns:a="http://schemas.openxmlformats.org/drawingml/2006/main">
            <a:r>
              <a:t>Fitur Q&amp;A khusus hanya untuk Business ke atas</a:t>
            </a:r>
          </a:p>
          <a:p xmlns:a="http://schemas.openxmlformats.org/drawingml/2006/main">
            <a:r>
              <a:t>Batas fitur Large Meeting perlu mengikuti dokumentasi Zoom; klaim lama tentang video/screen share tidak dipakai.</a:t>
            </a:r>
          </a:p>
          <a:p xmlns:a="http://schemas.openxmlformats.org/drawingml/2006/main">
            <a:r>
              <a:t>SEWA (SCOPE BELUM DIKUNCI)</a:t>
            </a:r>
          </a:p>
          <a:p xmlns:a="http://schemas.openxmlformats.org/drawingml/2006/main">
            <a:r>
              <a:t>Format: Meeting atau Webinar?</a:t>
            </a:r>
          </a:p>
          <a:p xmlns:a="http://schemas.openxmlformats.org/drawingml/2006/main">
            <a:r>
              <a:t>Kapasitas 1.000 di luar host dan speaker?</a:t>
            </a:r>
          </a:p>
          <a:p xmlns:a="http://schemas.openxmlformats.org/drawingml/2006/main">
            <a:r>
              <a:t>Akses host / co-host untuk tim CMC</a:t>
            </a:r>
          </a:p>
          <a:p xmlns:a="http://schemas.openxmlformats.org/drawingml/2006/main">
            <a:r>
              <a:t>Recording, laporan, durasi briefing + live, 8 tanggal</a:t>
            </a:r>
          </a:p>
          <a:p xmlns:a="http://schemas.openxmlformats.org/drawingml/2006/main">
            <a:r>
              <a:t>Harga: checkout zoom.us 2–3 Okt 2026 (acuan sebelumnya, belum PPN). Sewa: asumsi budget CMC. Fitur: support.zoom.com KB0062404.</a:t>
            </a:r>
          </a:p>
          <a:p xmlns:a="http://schemas.openxmlformats.org/drawingml/2006/main">
            <a:r>
              <a:t>| </a:t>
            </a:r>
          </a:p>
          <a:p xmlns:a="http://schemas.openxmlformats.org/drawingml/2006/main">
            <a:r>
              <a:t>14</a:t>
            </a:r>
          </a:p>
          <a:p xmlns:a="http://schemas.openxmlformats.org/drawingml/2006/main">
            <a:r>
              <a:t/>
            </a:r>
          </a:p>
          <a:p xmlns:a="http://schemas.openxmlformats.org/drawingml/2006/main">
            <a:r>
              <a:t>CATATAN PEMAPARAN</a:t>
            </a:r>
          </a:p>
          <a:p xmlns:a="http://schemas.openxmlformats.org/drawingml/2006/main">
            <a:r>
              <a:t>Koreksi faktual: klaim lama bahwa video dan screen share tidak tersedia pada meeting ≥1.000 dihapus. Dokumentasi membahas batas meminta semua peserta unmute dan pinning pada versi tertentu, bukan larangan umum video/screen share. Sumber: https://support.zoom.com/hc/en/article?id=zm_kb&amp;sysparm_article=KB0057887 dan KB0062404.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Rumus: break-even per seat = (24 × venue/F&amp;B per orang + fee Master) ÷ 20. Venue Rp600 rb: Rp0,72 / 0,97 / 1,22 / 1,47 / 1,72 jt untuk fee Rp0 / 5 / 10 / 15 / 20 jt. Venue Rp800 rb: Rp0,96 / 1,21 / 1,46 / 1,71 / 1,96 jt. Venue Rp1 jt: Rp1,2 / 1,45 / 1,7 / 1,95 / 2,2 jt. Rp1,5 jt aman selama fee Master ≤Rp15,6 jt (venue Rp600 rb) atau ≤Rp6 jt (venue Rp1 jt). Room 10 member + 10 public (rata-rata Rp2,25 jt) aman sampai fee Rp21 jt di venue Rp1 jt. Revenue 20 member = Rp30 jt; 10/10 = Rp45 jt. Venue: Park Hyatt VIP 1+2 maksimal 20 orang, minimum dinner Rp10 jt++; Ritz-Carlton dinner catering Rp540 rb, cek room charge; Westin dinner catering Rp850 rb; Raffles private dining Rp995 rb++ (cabana, bukan ruang meeting, nett ±Rp1,2 jt). Belum terverifikasi dan tidak dipakai: Pullman curated dinner Rp850 rb++ (30 seat) dan Kempinski half-day meeting Rp900 rb nett; Pullman Sana Sini dinner sekitar Rp350–460 rb++ menurut listing pihak ketiga. Range per fee: Rp0 = Rp0,72–1,2 jt; Rp10 jt = Rp1,22–1,7 jt; Rp20 jt = Rp1,72–2,2 jt. Ops belum dihitung.</a:t>
            </a:r>
          </a:p>
          <a:p xmlns:a="http://schemas.openxmlformats.org/drawingml/2006/main">
            <a:r>
              <a:t/>
            </a:r>
          </a:p>
          <a:p xmlns:a="http://schemas.openxmlformats.org/drawingml/2006/main">
            <a:r>
              <a:t>DETAIL DARI SLIDE SUMBER</a:t>
            </a:r>
          </a:p>
          <a:p xmlns:a="http://schemas.openxmlformats.org/drawingml/2006/main">
            <a:r>
              <a:t>LAMPIRAN A3 · RAB TWO-WAY LEARNING</a:t>
            </a:r>
          </a:p>
          <a:p xmlns:a="http://schemas.openxmlformats.org/drawingml/2006/main">
            <a:r>
              <a:t>Biaya kas eksternal tetap dua baris: honor speaker dan satu opsi Zoom.</a:t>
            </a:r>
          </a:p>
          <a:p xmlns:a="http://schemas.openxmlformats.org/drawingml/2006/main">
            <a:r>
              <a:t>Satu cohort, 8 sesi; Pesimis / Base / Optimis = honor Rp5 / 4 / 3 jt per sesi. Semua angka sebelum pajak.</a:t>
            </a:r>
          </a:p>
          <a:p xmlns:a="http://schemas.openxmlformats.org/drawingml/2006/main">
            <a:r>
              <a:t>ITEM</a:t>
            </a:r>
          </a:p>
          <a:p xmlns:a="http://schemas.openxmlformats.org/drawingml/2006/main">
            <a:r>
              <a:t>STATUS</a:t>
            </a:r>
          </a:p>
          <a:p xmlns:a="http://schemas.openxmlformats.org/drawingml/2006/main">
            <a:r>
              <a:t>PESIMIS</a:t>
            </a:r>
          </a:p>
          <a:p xmlns:a="http://schemas.openxmlformats.org/drawingml/2006/main">
            <a:r>
              <a:t>BASE</a:t>
            </a:r>
          </a:p>
          <a:p xmlns:a="http://schemas.openxmlformats.org/drawingml/2006/main">
            <a:r>
              <a:t>OPTIMIS</a:t>
            </a:r>
          </a:p>
          <a:p xmlns:a="http://schemas.openxmlformats.org/drawingml/2006/main">
            <a:r>
              <a:t>Honor speaker, 8 sesi</a:t>
            </a:r>
          </a:p>
          <a:p xmlns:a="http://schemas.openxmlformats.org/drawingml/2006/main">
            <a:r>
              <a:t>Internal</a:t>
            </a:r>
          </a:p>
          <a:p xmlns:a="http://schemas.openxmlformats.org/drawingml/2006/main">
            <a:r>
              <a:t>Rp40.000.000</a:t>
            </a:r>
          </a:p>
          <a:p xmlns:a="http://schemas.openxmlformats.org/drawingml/2006/main">
            <a:r>
              <a:t>Rp32.000.000</a:t>
            </a:r>
          </a:p>
          <a:p xmlns:a="http://schemas.openxmlformats.org/drawingml/2006/main">
            <a:r>
              <a:t>Rp24.000.000</a:t>
            </a:r>
          </a:p>
          <a:p xmlns:a="http://schemas.openxmlformats.org/drawingml/2006/main">
            <a:r>
              <a:t>Zoom subscribe: Pro + Large Meeting 1.000, 2 bulan</a:t>
            </a:r>
          </a:p>
          <a:p xmlns:a="http://schemas.openxmlformats.org/drawingml/2006/main">
            <a:r>
              <a:t>Acuan sebelumnya</a:t>
            </a:r>
          </a:p>
          <a:p xmlns:a="http://schemas.openxmlformats.org/drawingml/2006/main">
            <a:r>
              <a:t>Rp5.311.678</a:t>
            </a:r>
          </a:p>
          <a:p xmlns:a="http://schemas.openxmlformats.org/drawingml/2006/main">
            <a:r>
              <a:t>Rp5.311.678</a:t>
            </a:r>
          </a:p>
          <a:p xmlns:a="http://schemas.openxmlformats.org/drawingml/2006/main">
            <a:r>
              <a:t>Rp5.311.678</a:t>
            </a:r>
          </a:p>
          <a:p xmlns:a="http://schemas.openxmlformats.org/drawingml/2006/main">
            <a:r>
              <a:t>Zoom sewa: Rp350 rb × 8 sesi</a:t>
            </a:r>
          </a:p>
          <a:p xmlns:a="http://schemas.openxmlformats.org/drawingml/2006/main">
            <a:r>
              <a:t>Asumsi budget</a:t>
            </a:r>
          </a:p>
          <a:p xmlns:a="http://schemas.openxmlformats.org/drawingml/2006/main">
            <a:r>
              <a:t>Rp2.800.000</a:t>
            </a:r>
          </a:p>
          <a:p xmlns:a="http://schemas.openxmlformats.org/drawingml/2006/main">
            <a:r>
              <a:t>Rp2.800.000</a:t>
            </a:r>
          </a:p>
          <a:p xmlns:a="http://schemas.openxmlformats.org/drawingml/2006/main">
            <a:r>
              <a:t>Rp2.800.000</a:t>
            </a:r>
          </a:p>
          <a:p xmlns:a="http://schemas.openxmlformats.org/drawingml/2006/main">
            <a:r>
              <a:t>Total dengan subscribe</a:t>
            </a:r>
          </a:p>
          <a:p xmlns:a="http://schemas.openxmlformats.org/drawingml/2006/main">
            <a:r>
              <a:t>Rp45.311.678</a:t>
            </a:r>
          </a:p>
          <a:p xmlns:a="http://schemas.openxmlformats.org/drawingml/2006/main">
            <a:r>
              <a:t>Rp37.311.678</a:t>
            </a:r>
          </a:p>
          <a:p xmlns:a="http://schemas.openxmlformats.org/drawingml/2006/main">
            <a:r>
              <a:t>Rp29.311.678</a:t>
            </a:r>
          </a:p>
          <a:p xmlns:a="http://schemas.openxmlformats.org/drawingml/2006/main">
            <a:r>
              <a:t>Total dengan sewa</a:t>
            </a:r>
          </a:p>
          <a:p xmlns:a="http://schemas.openxmlformats.org/drawingml/2006/main">
            <a:r>
              <a:t>Rp42.800.000</a:t>
            </a:r>
          </a:p>
          <a:p xmlns:a="http://schemas.openxmlformats.org/drawingml/2006/main">
            <a:r>
              <a:t>Rp34.800.000</a:t>
            </a:r>
          </a:p>
          <a:p xmlns:a="http://schemas.openxmlformats.org/drawingml/2006/main">
            <a:r>
              <a:t>Rp26.800.000</a:t>
            </a:r>
          </a:p>
          <a:p xmlns:a="http://schemas.openxmlformats.org/drawingml/2006/main">
            <a:r>
              <a:t>Pajak speaker dan pajak invoice</a:t>
            </a:r>
          </a:p>
          <a:p xmlns:a="http://schemas.openxmlformats.org/drawingml/2006/main">
            <a:r>
              <a:t>TBD</a:t>
            </a:r>
          </a:p>
          <a:p xmlns:a="http://schemas.openxmlformats.org/drawingml/2006/main">
            <a:r>
              <a:t>TBD</a:t>
            </a:r>
          </a:p>
          <a:p xmlns:a="http://schemas.openxmlformats.org/drawingml/2006/main">
            <a:r>
              <a:t>TBD</a:t>
            </a:r>
          </a:p>
          <a:p xmlns:a="http://schemas.openxmlformats.org/drawingml/2006/main">
            <a:r>
              <a:t>TBD</a:t>
            </a:r>
          </a:p>
          <a:p xmlns:a="http://schemas.openxmlformats.org/drawingml/2006/main">
            <a:r>
              <a:t>PER PESERTA, BASE</a:t>
            </a:r>
          </a:p>
          <a:p xmlns:a="http://schemas.openxmlformats.org/drawingml/2006/main">
            <a:r>
              <a:t>SUBSCRIBE</a:t>
            </a:r>
          </a:p>
          <a:p xmlns:a="http://schemas.openxmlformats.org/drawingml/2006/main">
            <a:r>
              <a:t>SEWA</a:t>
            </a:r>
          </a:p>
          <a:p xmlns:a="http://schemas.openxmlformats.org/drawingml/2006/main">
            <a:r>
              <a:t>500 peserta</a:t>
            </a:r>
          </a:p>
          <a:p xmlns:a="http://schemas.openxmlformats.org/drawingml/2006/main">
            <a:r>
              <a:t>Rp74.623</a:t>
            </a:r>
          </a:p>
          <a:p xmlns:a="http://schemas.openxmlformats.org/drawingml/2006/main">
            <a:r>
              <a:t>Rp69.600</a:t>
            </a:r>
          </a:p>
          <a:p xmlns:a="http://schemas.openxmlformats.org/drawingml/2006/main">
            <a:r>
              <a:t>750 peserta</a:t>
            </a:r>
          </a:p>
          <a:p xmlns:a="http://schemas.openxmlformats.org/drawingml/2006/main">
            <a:r>
              <a:t>Rp49.749</a:t>
            </a:r>
          </a:p>
          <a:p xmlns:a="http://schemas.openxmlformats.org/drawingml/2006/main">
            <a:r>
              <a:t>Rp46.400</a:t>
            </a:r>
          </a:p>
          <a:p xmlns:a="http://schemas.openxmlformats.org/drawingml/2006/main">
            <a:r>
              <a:t>1.000 peserta</a:t>
            </a:r>
          </a:p>
          <a:p xmlns:a="http://schemas.openxmlformats.org/drawingml/2006/main">
            <a:r>
              <a:t>Rp37.312</a:t>
            </a:r>
          </a:p>
          <a:p xmlns:a="http://schemas.openxmlformats.org/drawingml/2006/main">
            <a:r>
              <a:t>Rp34.800</a:t>
            </a:r>
          </a:p>
          <a:p xmlns:a="http://schemas.openxmlformats.org/drawingml/2006/main">
            <a:r>
              <a:t>Biaya langsung per peserta untuk satu cohort, dengan asumsi jumlah peserta unik yang dilayani. Bukan CAC.</a:t>
            </a:r>
          </a:p>
          <a:p xmlns:a="http://schemas.openxmlformats.org/drawingml/2006/main">
            <a:r>
              <a:t>External cash cost = honor speaker + satu opsi Zoom (subscribe atau sewa, bukan keduanya).</a:t>
            </a:r>
          </a:p>
          <a:p xmlns:a="http://schemas.openxmlformats.org/drawingml/2006/main">
            <a:r>
              <a:t>Honor speaker: budget internal. Zoom subscribe: acuan checkout sebelumnya, belum PPN. Sewa: asumsi budget. Pajak: dikonfirmasi ke Finance.</a:t>
            </a:r>
          </a:p>
          <a:p xmlns:a="http://schemas.openxmlformats.org/drawingml/2006/main">
            <a:r>
              <a:t>| </a:t>
            </a:r>
          </a:p>
          <a:p xmlns:a="http://schemas.openxmlformats.org/drawingml/2006/main">
            <a:r>
              <a:t>15</a:t>
            </a:r>
          </a:p>
          <a:p xmlns:a="http://schemas.openxmlformats.org/drawingml/2006/main">
            <a:r>
              <a:t/>
            </a:r>
          </a:p>
          <a:p xmlns:a="http://schemas.openxmlformats.org/drawingml/2006/main">
            <a:r>
              <a:t>CATATAN PEMAPARAN</a:t>
            </a:r>
          </a:p>
          <a:p xmlns:a="http://schemas.openxmlformats.org/drawingml/2006/main">
            <a:r>
              <a:t>Cost per participant sewa low/base/high: 500=53.600/69.600/85.600; 750=35.733/46.400/57.067; 1000=26.800/34.800/42.800. Subscribe base:500=74.623,750=49.749,1000=37.312. Peserta unik satu cohort, bukan jumlah seluruh kehadiran lintas sesi.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Dua jenis sertifikat yang harus dibedakan di komunikasi produk. Sertifikat CMC: bukti penyelesaian program, diterbitkan CMC, bukan sertifikat kompetensi BNSP; tidak boleh dikomunikasikan sebagai BNSP. Sertifikat kompetensi BNSP: diterbitkan lewat Lembaga Sertifikasi Profesi (LSP) yang berlisensi BNSP setelah uji kompetensi; atas nama LSP mitra, bukan CMC atau Kadin. CMC hanya bisa menerbitkannya sendiri kalau nanti mendirikan atau bermitra sebagai LSP yang berlisensi. Biaya di tabel adalah harga pasar dari daftar harga LSP dan penyedia pelatihan 2026 (kecuali Indo Asia, jadwal 2025), bukan tarif resmi BNSP; bisa berbeda antar LSP untuk skema yang sama; harga korporat biasanya dinegosiasi. Hitungan tier premium (CMC Pricing Deck): Rp2,5 jt tier kedua + Rp1 jt kenaikan + biaya uji Rp0,75–1,5 jt = Rp4,25–5 jt (Rp4,25 jt dengan skema jenjang dasar Digital Marketing yang kurang nyambung dengan materi CMC); dengan skema kewirausahaan (Rp1,5 jt + Rp0,2 jt pendaftaran) mendekati Rp5,2 jt. Opsi plus pelatihan (Rp2,5 jt) = Rp6 jt, di luar rekomendasi. Benchmark dipertahankan sampai LSP mitra dan skema dikonfirmasi.</a:t>
            </a:r>
          </a:p>
          <a:p xmlns:a="http://schemas.openxmlformats.org/drawingml/2006/main">
            <a:r>
              <a:t/>
            </a:r>
          </a:p>
          <a:p xmlns:a="http://schemas.openxmlformats.org/drawingml/2006/main">
            <a:r>
              <a:t>DETAIL DARI SLIDE SUMBER</a:t>
            </a:r>
          </a:p>
          <a:p xmlns:a="http://schemas.openxmlformats.org/drawingml/2006/main">
            <a:r>
              <a:t>LAMPIRAN A4 · ECONOMICS INTIMATE DINNER</a:t>
            </a:r>
          </a:p>
          <a:p xmlns:a="http://schemas.openxmlformats.org/drawingml/2006/main">
            <a:r>
              <a:t>Break-even naik Rp250 rb per seat untuk tiap Rp5 jt fee Master; venue menentukan titik awalnya.</a:t>
            </a:r>
          </a:p>
          <a:p xmlns:a="http://schemas.openxmlformats.org/drawingml/2006/main">
            <a:r>
              <a:t>Sensitivitas break-even inti per paying seat terhadap fee Master, di dua ujung planning range venue.</a:t>
            </a:r>
          </a:p>
          <a:p xmlns:a="http://schemas.openxmlformats.org/drawingml/2006/main">
            <a:r>
              <a:t>BREAK-EVEN PER SEAT VS FEE MASTER</a:t>
            </a:r>
          </a:p>
          <a:p xmlns:a="http://schemas.openxmlformats.org/drawingml/2006/main">
            <a:r>
              <a:t>Rp jt per paying seat; fee Master Rp jt per event</a:t>
            </a:r>
          </a:p>
          <a:p xmlns:a="http://schemas.openxmlformats.org/drawingml/2006/main">
            <a:r>
              <a:t>0</a:t>
            </a:r>
          </a:p>
          <a:p xmlns:a="http://schemas.openxmlformats.org/drawingml/2006/main">
            <a:r>
              <a:t>1</a:t>
            </a:r>
          </a:p>
          <a:p xmlns:a="http://schemas.openxmlformats.org/drawingml/2006/main">
            <a:r>
              <a:t>2</a:t>
            </a:r>
          </a:p>
          <a:p xmlns:a="http://schemas.openxmlformats.org/drawingml/2006/main">
            <a:r>
              <a:t>3</a:t>
            </a:r>
          </a:p>
          <a:p xmlns:a="http://schemas.openxmlformats.org/drawingml/2006/main">
            <a:r>
              <a:t>0</a:t>
            </a:r>
          </a:p>
          <a:p xmlns:a="http://schemas.openxmlformats.org/drawingml/2006/main">
            <a:r>
              <a:t>5</a:t>
            </a:r>
          </a:p>
          <a:p xmlns:a="http://schemas.openxmlformats.org/drawingml/2006/main">
            <a:r>
              <a:t>10</a:t>
            </a:r>
          </a:p>
          <a:p xmlns:a="http://schemas.openxmlformats.org/drawingml/2006/main">
            <a:r>
              <a:t>15</a:t>
            </a:r>
          </a:p>
          <a:p xmlns:a="http://schemas.openxmlformats.org/drawingml/2006/main">
            <a:r>
              <a:t>20</a:t>
            </a:r>
          </a:p>
          <a:p xmlns:a="http://schemas.openxmlformats.org/drawingml/2006/main">
            <a:r>
              <a:t>Member 1,5</a:t>
            </a:r>
          </a:p>
          <a:p xmlns:a="http://schemas.openxmlformats.org/drawingml/2006/main">
            <a:r>
              <a:t>Mix 10/10: 2,25</a:t>
            </a:r>
          </a:p>
          <a:p xmlns:a="http://schemas.openxmlformats.org/drawingml/2006/main">
            <a:r>
              <a:t>Non-member 3,0</a:t>
            </a:r>
          </a:p>
          <a:p xmlns:a="http://schemas.openxmlformats.org/drawingml/2006/main">
            <a:r>
              <a:t>Venue 600 rb</a:t>
            </a:r>
          </a:p>
          <a:p xmlns:a="http://schemas.openxmlformats.org/drawingml/2006/main">
            <a:r>
              <a:t>Venue 1 jt</a:t>
            </a:r>
          </a:p>
          <a:p xmlns:a="http://schemas.openxmlformats.org/drawingml/2006/main">
            <a:r>
              <a:t>RUMUS</a:t>
            </a:r>
          </a:p>
          <a:p xmlns:a="http://schemas.openxmlformats.org/drawingml/2006/main">
            <a:r>
              <a:t>(24 × venue/orang + fee Master) ÷ 20 seat</a:t>
            </a:r>
          </a:p>
          <a:p xmlns:a="http://schemas.openxmlformats.org/drawingml/2006/main">
            <a:r>
              <a:t>24 orang = 20 peserta + 1 Master + 3 tim CMC</a:t>
            </a:r>
          </a:p>
          <a:p xmlns:a="http://schemas.openxmlformats.org/drawingml/2006/main">
            <a:r>
              <a:t>VENUE</a:t>
            </a:r>
          </a:p>
          <a:p xmlns:a="http://schemas.openxmlformats.org/drawingml/2006/main">
            <a:r>
              <a:t>PER ORANG</a:t>
            </a:r>
          </a:p>
          <a:p xmlns:a="http://schemas.openxmlformats.org/drawingml/2006/main">
            <a:r>
              <a:t>CATATAN</a:t>
            </a:r>
          </a:p>
          <a:p xmlns:a="http://schemas.openxmlformats.org/drawingml/2006/main">
            <a:r>
              <a:t>Park Hyatt</a:t>
            </a:r>
          </a:p>
          <a:p xmlns:a="http://schemas.openxmlformats.org/drawingml/2006/main">
            <a:r>
              <a:t>±Rp500 rb++</a:t>
            </a:r>
          </a:p>
          <a:p xmlns:a="http://schemas.openxmlformats.org/drawingml/2006/main">
            <a:r>
              <a:t>Maks 20 orang</a:t>
            </a:r>
          </a:p>
          <a:p xmlns:a="http://schemas.openxmlformats.org/drawingml/2006/main">
            <a:r>
              <a:t>Ritz-Carlton</a:t>
            </a:r>
          </a:p>
          <a:p xmlns:a="http://schemas.openxmlformats.org/drawingml/2006/main">
            <a:r>
              <a:t>Rp540 rb</a:t>
            </a:r>
          </a:p>
          <a:p xmlns:a="http://schemas.openxmlformats.org/drawingml/2006/main">
            <a:r>
              <a:t>Cek room charge</a:t>
            </a:r>
          </a:p>
          <a:p xmlns:a="http://schemas.openxmlformats.org/drawingml/2006/main">
            <a:r>
              <a:t>Westin</a:t>
            </a:r>
          </a:p>
          <a:p xmlns:a="http://schemas.openxmlformats.org/drawingml/2006/main">
            <a:r>
              <a:t>Rp850 rb</a:t>
            </a:r>
          </a:p>
          <a:p xmlns:a="http://schemas.openxmlformats.org/drawingml/2006/main">
            <a:r>
              <a:t>Dinner catering</a:t>
            </a:r>
          </a:p>
          <a:p xmlns:a="http://schemas.openxmlformats.org/drawingml/2006/main">
            <a:r>
              <a:t>Raffles</a:t>
            </a:r>
          </a:p>
          <a:p xmlns:a="http://schemas.openxmlformats.org/drawingml/2006/main">
            <a:r>
              <a:t>Rp995 rb++</a:t>
            </a:r>
          </a:p>
          <a:p xmlns:a="http://schemas.openxmlformats.org/drawingml/2006/main">
            <a:r>
              <a:t>Nett ±Rp1,2 jt</a:t>
            </a:r>
          </a:p>
          <a:p xmlns:a="http://schemas.openxmlformats.org/drawingml/2006/main">
            <a:r>
              <a:t>Planning range Rp600 rb–1 jt per orang; ++ = belum pajak dan service (±21%). Ops belum dimodelkan. Final budget pakai quotation.</a:t>
            </a:r>
          </a:p>
          <a:p xmlns:a="http://schemas.openxmlformats.org/drawingml/2006/main">
            <a:r>
              <a:t>Source venue: parkhyattjakartarestaurants.com; ritzcarlton.com; marriott.com (Westin); raffles.com/jakarta (2026). Usulan pilot.</a:t>
            </a:r>
          </a:p>
          <a:p xmlns:a="http://schemas.openxmlformats.org/drawingml/2006/main">
            <a:r>
              <a:t>| </a:t>
            </a:r>
          </a:p>
          <a:p xmlns:a="http://schemas.openxmlformats.org/drawingml/2006/main">
            <a:r>
              <a:t>16</a:t>
            </a:r>
          </a:p>
          <a:p xmlns:a="http://schemas.openxmlformats.org/drawingml/2006/main">
            <a:r>
              <a:t/>
            </a:r>
          </a:p>
          <a:p xmlns:a="http://schemas.openxmlformats.org/drawingml/2006/main">
            <a:r>
              <a:t>CATATAN PEMAPARAN</a:t>
            </a:r>
          </a:p>
          <a:p xmlns:a="http://schemas.openxmlformats.org/drawingml/2006/main">
            <a:r>
              <a:t>Mix 10 member +10 public menghasilkan rata-rata Rp2,25 jt/seat, revenue Rp45 jt. Semua member:Rp30 jt. Semua public:Rp60 jt. Venue range planning, final actual quote diperlukan. ++ belum pajak/service; jangan mengasumsikan tarif efektif final.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Modul 9–12 (format sama dengan modul lain, rekaman video satu arah dari Master; belum masuk harga mana pun karena naskah belum jadi; kenaikan harga tetap didorong access dan community, bukan konten): 09 UMKM Naik Kelas: urutan beresin usaha kecil, mulai pembukuan, badan hukum, pembiayaan, harga dan pasar; M. Arsjad Rasjid P.M., cadangan Triawan Munaf. 10 Hukum Bisnis: badan usaha, perjanjian, tanggung jawab pengurus, penyelesaian sengketa; Ahmad Fikri Assegaf, cadangan Otto Hasibuan (cek status jabatan di pemerintahan; Azis Syamsuddin dihapus karena pernah divonis kasus suap 2022). 11 ESG dan Keberlanjutan: kewajiban laporan OJK, standar baru 2027, CBAM sejak Januari 2026, aturan bebas deforestasi Eropa; Hashim S. Djojohadikusumo, cadangan Azis Armand. 12 Transformasi Digital: judul sudah, isi masih dikonstruksi; Chairul Tanjung, materi perlu difinalkan. Modul 13–17 (urutan disarankan: distribusi, sistem dan delegasi, ekspansi, daerah ke nasional, bisnis keluarga; daftar 9 Naga dan 9 Haji hanya untuk mencari kandidat, istilahnya jangan dipakai di komunikasi ke luar): 13 Distribusi dan Channel (lanjutan Go-To-Market): Hermanto Tanoko, Avian Brands; cadangan Jogi Hendra Atmadja, Mayora; Channel Map direct, distributor, reseller, marketplace. 14 Sistem dan Delegasi (lanjutan Team dan Problem Solving): Theodore Permadi Rachmat, Triputra; cadangan Jayanti Sari Sulaiman, Hasnur; Founder Dependency Audit dan mapping decision making. 15 Ekspansi: Bangun, Beli, atau Partner (lanjutan Scale Up dan Fundraising): Edwin Soeryadjaya, Saratoga; cadangan Solihin Jusuf Kalla, KALLA; scorecard bangun, beli, atau partner. 16 Dari Daerah ke Nasional (lanjutan Go-To-Market dan Operational): Erwin Aksa, Bosowa; cadangan Solihin Jusuf Kalla, KALLA; scorecard memilih kota berikutnya. 17 Bisnis Keluarga (lanjutan Team dan Operational): Axton Salim, Indofood; cadangan Jayanti Sari Sulaiman, Hasnur; Family Role Map dan checklist kesiapan pengurus berikutnya. Catatan lama: "Solihin ganti Halim Kalla".</a:t>
            </a:r>
          </a:p>
          <a:p xmlns:a="http://schemas.openxmlformats.org/drawingml/2006/main">
            <a:r>
              <a:t/>
            </a:r>
          </a:p>
          <a:p xmlns:a="http://schemas.openxmlformats.org/drawingml/2006/main">
            <a:r>
              <a:t>DETAIL DARI SLIDE SUMBER</a:t>
            </a:r>
          </a:p>
          <a:p xmlns:a="http://schemas.openxmlformats.org/drawingml/2006/main">
            <a:r>
              <a:t>LAMPIRAN A5 · SERTIFIKASI</a:t>
            </a:r>
          </a:p>
          <a:p xmlns:a="http://schemas.openxmlformats.org/drawingml/2006/main">
            <a:r>
              <a:t>CMC bisa menerbitkan sertifikat penyelesaian; sertifikat kompetensi BNSP harus lewat LSP berlisensi.</a:t>
            </a:r>
          </a:p>
          <a:p xmlns:a="http://schemas.openxmlformats.org/drawingml/2006/main">
            <a:r>
              <a:t>Hanya sertifikat kedua yang bisa disebut BNSP, kecuali CMC nanti mendirikan atau bermitra sebagai LSP berlisensi.</a:t>
            </a:r>
          </a:p>
          <a:p xmlns:a="http://schemas.openxmlformats.org/drawingml/2006/main">
            <a:r>
              <a:t>Sertifikat CMC</a:t>
            </a:r>
          </a:p>
          <a:p xmlns:a="http://schemas.openxmlformats.org/drawingml/2006/main">
            <a:r>
              <a:t>Bukti penyelesaian program</a:t>
            </a:r>
          </a:p>
          <a:p xmlns:a="http://schemas.openxmlformats.org/drawingml/2006/main">
            <a:r>
              <a:t>DITERBITKAN CMC · BUKAN BNSP</a:t>
            </a:r>
          </a:p>
          <a:p xmlns:a="http://schemas.openxmlformats.org/drawingml/2006/main">
            <a:r>
              <a:t>Sertifikat kompetensi BNSP</a:t>
            </a:r>
          </a:p>
          <a:p xmlns:a="http://schemas.openxmlformats.org/drawingml/2006/main">
            <a:r>
              <a:t>Lewat uji kompetensi di LSP berlisensi</a:t>
            </a:r>
          </a:p>
          <a:p xmlns:a="http://schemas.openxmlformats.org/drawingml/2006/main">
            <a:r>
              <a:t>ATAS NAMA LSP MITRA · ~RP1,7 JT PER PESERTA</a:t>
            </a:r>
          </a:p>
          <a:p xmlns:a="http://schemas.openxmlformats.org/drawingml/2006/main">
            <a:r>
              <a:t>≠</a:t>
            </a:r>
          </a:p>
          <a:p xmlns:a="http://schemas.openxmlformats.org/drawingml/2006/main">
            <a:r>
              <a:t>JENJANG SKEMA</a:t>
            </a:r>
          </a:p>
          <a:p xmlns:a="http://schemas.openxmlformats.org/drawingml/2006/main">
            <a:r>
              <a:t>CONTOH SKEMA</a:t>
            </a:r>
          </a:p>
          <a:p xmlns:a="http://schemas.openxmlformats.org/drawingml/2006/main">
            <a:r>
              <a:t>BIAYA UJI</a:t>
            </a:r>
          </a:p>
          <a:p xmlns:a="http://schemas.openxmlformats.org/drawingml/2006/main">
            <a:r>
              <a:t>SUMBER</a:t>
            </a:r>
          </a:p>
          <a:p xmlns:a="http://schemas.openxmlformats.org/drawingml/2006/main">
            <a:r>
              <a:t>Jenjang dasar</a:t>
            </a:r>
          </a:p>
          <a:p xmlns:a="http://schemas.openxmlformats.org/drawingml/2006/main">
            <a:r>
              <a:t>Digital Marketing, LSP kampus</a:t>
            </a:r>
          </a:p>
          <a:p xmlns:a="http://schemas.openxmlformats.org/drawingml/2006/main">
            <a:r>
              <a:t>Rp0,75–1,3 jt</a:t>
            </a:r>
          </a:p>
          <a:p xmlns:a="http://schemas.openxmlformats.org/drawingml/2006/main">
            <a:r>
              <a:t>LSP UMS, LSP Ditekindo</a:t>
            </a:r>
          </a:p>
          <a:p xmlns:a="http://schemas.openxmlformats.org/drawingml/2006/main">
            <a:r>
              <a:t>Pelaksana</a:t>
            </a:r>
          </a:p>
          <a:p xmlns:a="http://schemas.openxmlformats.org/drawingml/2006/main">
            <a:r>
              <a:t>Pelaksana Kewirausahaan</a:t>
            </a:r>
          </a:p>
          <a:p xmlns:a="http://schemas.openxmlformats.org/drawingml/2006/main">
            <a:r>
              <a:t>Rp1,5 jt + Rp0,2 jt daftar</a:t>
            </a:r>
          </a:p>
          <a:p xmlns:a="http://schemas.openxmlformats.org/drawingml/2006/main">
            <a:r>
              <a:t>LSP UMKM Profesional</a:t>
            </a:r>
          </a:p>
          <a:p xmlns:a="http://schemas.openxmlformats.org/drawingml/2006/main">
            <a:r>
              <a:t>Pelaksana + pelatihan</a:t>
            </a:r>
          </a:p>
          <a:p xmlns:a="http://schemas.openxmlformats.org/drawingml/2006/main">
            <a:r>
              <a:t>Kewirausahaan, pelatihan + uji</a:t>
            </a:r>
          </a:p>
          <a:p xmlns:a="http://schemas.openxmlformats.org/drawingml/2006/main">
            <a:r>
              <a:t>Rp2,5 jt</a:t>
            </a:r>
          </a:p>
          <a:p xmlns:a="http://schemas.openxmlformats.org/drawingml/2006/main">
            <a:r>
              <a:t>Pustama Indonesia</a:t>
            </a:r>
          </a:p>
          <a:p xmlns:a="http://schemas.openxmlformats.org/drawingml/2006/main">
            <a:r>
              <a:t>Supervisor</a:t>
            </a:r>
          </a:p>
          <a:p xmlns:a="http://schemas.openxmlformats.org/drawingml/2006/main">
            <a:r>
              <a:t>Sales Executive, Staf SDM</a:t>
            </a:r>
          </a:p>
          <a:p xmlns:a="http://schemas.openxmlformats.org/drawingml/2006/main">
            <a:r>
              <a:t>Rp1,75–2,5 jt</a:t>
            </a:r>
          </a:p>
          <a:p xmlns:a="http://schemas.openxmlformats.org/drawingml/2006/main">
            <a:r>
              <a:t>LSP Ditekindo, MarkPlus</a:t>
            </a:r>
          </a:p>
          <a:p xmlns:a="http://schemas.openxmlformats.org/drawingml/2006/main">
            <a:r>
              <a:t>Manajer</a:t>
            </a:r>
          </a:p>
          <a:p xmlns:a="http://schemas.openxmlformats.org/drawingml/2006/main">
            <a:r>
              <a:t>Sales Manager, Manajer SDM</a:t>
            </a:r>
          </a:p>
          <a:p xmlns:a="http://schemas.openxmlformats.org/drawingml/2006/main">
            <a:r>
              <a:t>Rp3,25–5 jt</a:t>
            </a:r>
          </a:p>
          <a:p xmlns:a="http://schemas.openxmlformats.org/drawingml/2006/main">
            <a:r>
              <a:t>LSP Ditekindo, MarkPlus</a:t>
            </a:r>
          </a:p>
          <a:p xmlns:a="http://schemas.openxmlformats.org/drawingml/2006/main">
            <a:r>
              <a:t>Manajer + pelatihan</a:t>
            </a:r>
          </a:p>
          <a:p xmlns:a="http://schemas.openxmlformats.org/drawingml/2006/main">
            <a:r>
              <a:t>Kepala Cabang, LSP Koperasi</a:t>
            </a:r>
          </a:p>
          <a:p xmlns:a="http://schemas.openxmlformats.org/drawingml/2006/main">
            <a:r>
              <a:t>Rp4–7,5 jt</a:t>
            </a:r>
          </a:p>
          <a:p xmlns:a="http://schemas.openxmlformats.org/drawingml/2006/main">
            <a:r>
              <a:t>Indo Asia (2025)</a:t>
            </a:r>
          </a:p>
          <a:p xmlns:a="http://schemas.openxmlformats.org/drawingml/2006/main">
            <a:r>
              <a:t>Benchmark: daftar harga LSP dan penyedia pelatihan 2026 (CMC Pricing Deck, Sep 2026). Harga pasar, bukan tarif resmi BNSP.</a:t>
            </a:r>
          </a:p>
          <a:p xmlns:a="http://schemas.openxmlformats.org/drawingml/2006/main">
            <a:r>
              <a:t>| </a:t>
            </a:r>
          </a:p>
          <a:p xmlns:a="http://schemas.openxmlformats.org/drawingml/2006/main">
            <a:r>
              <a:t>17</a:t>
            </a:r>
          </a:p>
          <a:p xmlns:a="http://schemas.openxmlformats.org/drawingml/2006/main">
            <a:r>
              <a:t/>
            </a:r>
          </a:p>
          <a:p xmlns:a="http://schemas.openxmlformats.org/drawingml/2006/main">
            <a:r>
              <a:t>CATATAN PEMAPARAN</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Kompetitor: Sevenpreneur Batch 8 program 27 Apr–17 Mei 2026, harga coret Regular Rp3 jt (diskon 50%) dan VIP Rp8,5 jt (diskon 41%), paylater Kredivo, Akulaku, kartu kredit; Aksoro CEO 3.0 offline event 13–14 Juni 2026 (sudah lewat); Asian Tiger halaman /property sekarang 404, angka dari hasil pencarian halaman resmi; angka Rp8,5–11,5 jt dan IPO mentorship Rp27,5 jt dari brief lama tidak terverifikasi dan tidak dipakai.</a:t>
            </a:r>
          </a:p>
          <a:p xmlns:a="http://schemas.openxmlformats.org/drawingml/2006/main">
            <a:r>
              <a:t/>
            </a:r>
          </a:p>
          <a:p xmlns:a="http://schemas.openxmlformats.org/drawingml/2006/main">
            <a:r>
              <a:t>DETAIL DARI SLIDE SUMBER</a:t>
            </a:r>
          </a:p>
          <a:p xmlns:a="http://schemas.openxmlformats.org/drawingml/2006/main">
            <a:r>
              <a:t>LAMPIRAN A6 · PIPELINE MODUL</a:t>
            </a:r>
          </a:p>
          <a:p xmlns:a="http://schemas.openxmlformats.org/drawingml/2006/main">
            <a:r>
              <a:t>Sembilan modul baru sudah punya calon Master, tapi belum perlu masuk harga mana pun.</a:t>
            </a:r>
          </a:p>
          <a:p xmlns:a="http://schemas.openxmlformats.org/drawingml/2006/main">
            <a:r>
              <a:t>Modul 09–12 tambahan sesuai request; 13–17 modul lanjutan. Kenaikan harga tetap didorong access, bukan konten.</a:t>
            </a:r>
          </a:p>
          <a:p xmlns:a="http://schemas.openxmlformats.org/drawingml/2006/main">
            <a:r>
              <a:t>#</a:t>
            </a:r>
          </a:p>
          <a:p xmlns:a="http://schemas.openxmlformats.org/drawingml/2006/main">
            <a:r>
              <a:t>MODUL</a:t>
            </a:r>
          </a:p>
          <a:p xmlns:a="http://schemas.openxmlformats.org/drawingml/2006/main">
            <a:r>
              <a:t>CALON MASTER</a:t>
            </a:r>
          </a:p>
          <a:p xmlns:a="http://schemas.openxmlformats.org/drawingml/2006/main">
            <a:r>
              <a:t>OUTPUT / TUJUAN</a:t>
            </a:r>
          </a:p>
          <a:p xmlns:a="http://schemas.openxmlformats.org/drawingml/2006/main">
            <a:r>
              <a:t>09</a:t>
            </a:r>
          </a:p>
          <a:p xmlns:a="http://schemas.openxmlformats.org/drawingml/2006/main">
            <a:r>
              <a:t>UMKM Naik Kelas</a:t>
            </a:r>
          </a:p>
          <a:p xmlns:a="http://schemas.openxmlformats.org/drawingml/2006/main">
            <a:r>
              <a:t>M. Arsjad Rasjid P.M.</a:t>
            </a:r>
          </a:p>
          <a:p xmlns:a="http://schemas.openxmlformats.org/drawingml/2006/main">
            <a:r>
              <a:t>Pembukuan, badan hukum, pembiayaan, pasar</a:t>
            </a:r>
          </a:p>
          <a:p xmlns:a="http://schemas.openxmlformats.org/drawingml/2006/main">
            <a:r>
              <a:t>10</a:t>
            </a:r>
          </a:p>
          <a:p xmlns:a="http://schemas.openxmlformats.org/drawingml/2006/main">
            <a:r>
              <a:t>Hukum Bisnis</a:t>
            </a:r>
          </a:p>
          <a:p xmlns:a="http://schemas.openxmlformats.org/drawingml/2006/main">
            <a:r>
              <a:t>Ahmad Fikri Assegaf</a:t>
            </a:r>
          </a:p>
          <a:p xmlns:a="http://schemas.openxmlformats.org/drawingml/2006/main">
            <a:r>
              <a:t>Badan usaha, perjanjian, sampai sengketa</a:t>
            </a:r>
          </a:p>
          <a:p xmlns:a="http://schemas.openxmlformats.org/drawingml/2006/main">
            <a:r>
              <a:t>11</a:t>
            </a:r>
          </a:p>
          <a:p xmlns:a="http://schemas.openxmlformats.org/drawingml/2006/main">
            <a:r>
              <a:t>ESG dan Keberlanjutan</a:t>
            </a:r>
          </a:p>
          <a:p xmlns:a="http://schemas.openxmlformats.org/drawingml/2006/main">
            <a:r>
              <a:t>Hashim S. Djojohadikusumo</a:t>
            </a:r>
          </a:p>
          <a:p xmlns:a="http://schemas.openxmlformats.org/drawingml/2006/main">
            <a:r>
              <a:t>Kewajiban OJK, standar 2027, CBAM, EUDR</a:t>
            </a:r>
          </a:p>
          <a:p xmlns:a="http://schemas.openxmlformats.org/drawingml/2006/main">
            <a:r>
              <a:t>12</a:t>
            </a:r>
          </a:p>
          <a:p xmlns:a="http://schemas.openxmlformats.org/drawingml/2006/main">
            <a:r>
              <a:t>Transformasi Digital</a:t>
            </a:r>
          </a:p>
          <a:p xmlns:a="http://schemas.openxmlformats.org/drawingml/2006/main">
            <a:r>
              <a:t>Chairul Tanjung</a:t>
            </a:r>
          </a:p>
          <a:p xmlns:a="http://schemas.openxmlformats.org/drawingml/2006/main">
            <a:r>
              <a:t>Materi masih dikonstruksi</a:t>
            </a:r>
          </a:p>
          <a:p xmlns:a="http://schemas.openxmlformats.org/drawingml/2006/main">
            <a:r>
              <a:t>13</a:t>
            </a:r>
          </a:p>
          <a:p xmlns:a="http://schemas.openxmlformats.org/drawingml/2006/main">
            <a:r>
              <a:t>Distribusi dan Channel</a:t>
            </a:r>
          </a:p>
          <a:p xmlns:a="http://schemas.openxmlformats.org/drawingml/2006/main">
            <a:r>
              <a:t>Hermanto Tanoko</a:t>
            </a:r>
          </a:p>
          <a:p xmlns:a="http://schemas.openxmlformats.org/drawingml/2006/main">
            <a:r>
              <a:t>Channel Map: direct, distributor, reseller, marketplace</a:t>
            </a:r>
          </a:p>
          <a:p xmlns:a="http://schemas.openxmlformats.org/drawingml/2006/main">
            <a:r>
              <a:t>14</a:t>
            </a:r>
          </a:p>
          <a:p xmlns:a="http://schemas.openxmlformats.org/drawingml/2006/main">
            <a:r>
              <a:t>Sistem dan Delegasi</a:t>
            </a:r>
          </a:p>
          <a:p xmlns:a="http://schemas.openxmlformats.org/drawingml/2006/main">
            <a:r>
              <a:t>Theodore Permadi Rachmat</a:t>
            </a:r>
          </a:p>
          <a:p xmlns:a="http://schemas.openxmlformats.org/drawingml/2006/main">
            <a:r>
              <a:t>Founder Dependency Audit, mapping decision making</a:t>
            </a:r>
          </a:p>
          <a:p xmlns:a="http://schemas.openxmlformats.org/drawingml/2006/main">
            <a:r>
              <a:t>15</a:t>
            </a:r>
          </a:p>
          <a:p xmlns:a="http://schemas.openxmlformats.org/drawingml/2006/main">
            <a:r>
              <a:t>Ekspansi: Bangun, Beli, atau Partner</a:t>
            </a:r>
          </a:p>
          <a:p xmlns:a="http://schemas.openxmlformats.org/drawingml/2006/main">
            <a:r>
              <a:t>Edwin Soeryadjaya</a:t>
            </a:r>
          </a:p>
          <a:p xmlns:a="http://schemas.openxmlformats.org/drawingml/2006/main">
            <a:r>
              <a:t>Scorecard bangun, beli, atau partner</a:t>
            </a:r>
          </a:p>
          <a:p xmlns:a="http://schemas.openxmlformats.org/drawingml/2006/main">
            <a:r>
              <a:t>16</a:t>
            </a:r>
          </a:p>
          <a:p xmlns:a="http://schemas.openxmlformats.org/drawingml/2006/main">
            <a:r>
              <a:t>Dari Daerah ke Nasional</a:t>
            </a:r>
          </a:p>
          <a:p xmlns:a="http://schemas.openxmlformats.org/drawingml/2006/main">
            <a:r>
              <a:t>Erwin Aksa</a:t>
            </a:r>
          </a:p>
          <a:p xmlns:a="http://schemas.openxmlformats.org/drawingml/2006/main">
            <a:r>
              <a:t>Scorecard memilih kota berikutnya</a:t>
            </a:r>
          </a:p>
          <a:p xmlns:a="http://schemas.openxmlformats.org/drawingml/2006/main">
            <a:r>
              <a:t>17</a:t>
            </a:r>
          </a:p>
          <a:p xmlns:a="http://schemas.openxmlformats.org/drawingml/2006/main">
            <a:r>
              <a:t>Bisnis Keluarga</a:t>
            </a:r>
          </a:p>
          <a:p xmlns:a="http://schemas.openxmlformats.org/drawingml/2006/main">
            <a:r>
              <a:t>Axton Salim</a:t>
            </a:r>
          </a:p>
          <a:p xmlns:a="http://schemas.openxmlformats.org/drawingml/2006/main">
            <a:r>
              <a:t>Family Role Map, kesiapan pengurus berikutnya</a:t>
            </a:r>
          </a:p>
          <a:p xmlns:a="http://schemas.openxmlformats.org/drawingml/2006/main">
            <a:r>
              <a:t>Source: CMC Pricing Deck (Sep 2026), internal. Cadangan Master, deskripsi lengkap, dan catatan nama di speaker notes.</a:t>
            </a:r>
          </a:p>
          <a:p xmlns:a="http://schemas.openxmlformats.org/drawingml/2006/main">
            <a:r>
              <a:t>| </a:t>
            </a:r>
          </a:p>
          <a:p xmlns:a="http://schemas.openxmlformats.org/drawingml/2006/main">
            <a:r>
              <a:t>18</a:t>
            </a:r>
          </a:p>
          <a:p xmlns:a="http://schemas.openxmlformats.org/drawingml/2006/main">
            <a:r>
              <a:t/>
            </a:r>
          </a:p>
          <a:p xmlns:a="http://schemas.openxmlformats.org/drawingml/2006/main">
            <a:r>
              <a:t>CATATAN PEMAPARAN</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a:r>
          </a:p>
          <a:p xmlns:a="http://schemas.openxmlformats.org/drawingml/2006/main">
            <a:r>
              <a:t>DETAIL DARI SLIDE SUMBER</a:t>
            </a:r>
          </a:p>
          <a:p xmlns:a="http://schemas.openxmlformats.org/drawingml/2006/main">
            <a:r>
              <a:t>LAMPIRAN A6 · SUMBER HARGA KOMPETITOR</a:t>
            </a:r>
          </a:p>
          <a:p xmlns:a="http://schemas.openxmlformats.org/drawingml/2006/main">
            <a:r>
              <a:t>Harga kompetitor diambil dari halaman resmi; Asian Tiger perlu dicek manual.</a:t>
            </a:r>
          </a:p>
          <a:p xmlns:a="http://schemas.openxmlformats.org/drawingml/2006/main">
            <a:r>
              <a:t>Semua harga benchmark, sebelum diskon tambahan atau cicilan; dipakai sebagai patokan willingness-to-pay.</a:t>
            </a:r>
          </a:p>
          <a:p xmlns:a="http://schemas.openxmlformats.org/drawingml/2006/main">
            <a:r>
              <a:t>KOMPETITOR</a:t>
            </a:r>
          </a:p>
          <a:p xmlns:a="http://schemas.openxmlformats.org/drawingml/2006/main">
            <a:r>
              <a:t>PAKET</a:t>
            </a:r>
          </a:p>
          <a:p xmlns:a="http://schemas.openxmlformats.org/drawingml/2006/main">
            <a:r>
              <a:t>HARGA</a:t>
            </a:r>
          </a:p>
          <a:p xmlns:a="http://schemas.openxmlformats.org/drawingml/2006/main">
            <a:r>
              <a:t>CAVEAT</a:t>
            </a:r>
          </a:p>
          <a:p xmlns:a="http://schemas.openxmlformats.org/drawingml/2006/main">
            <a:r>
              <a:t>SUMBER</a:t>
            </a:r>
          </a:p>
          <a:p xmlns:a="http://schemas.openxmlformats.org/drawingml/2006/main">
            <a:r>
              <a:t>Sevenpreneur Batch 8</a:t>
            </a:r>
          </a:p>
          <a:p xmlns:a="http://schemas.openxmlformats.org/drawingml/2006/main">
            <a:r>
              <a:t>Regular</a:t>
            </a:r>
          </a:p>
          <a:p xmlns:a="http://schemas.openxmlformats.org/drawingml/2006/main">
            <a:r>
              <a:t>Rp1,499 jt</a:t>
            </a:r>
          </a:p>
          <a:p xmlns:a="http://schemas.openxmlformats.org/drawingml/2006/main">
            <a:r>
              <a:t>Harga coret Rp3 jt</a:t>
            </a:r>
          </a:p>
          <a:p xmlns:a="http://schemas.openxmlformats.org/drawingml/2006/main">
            <a:r>
              <a:t>sevenpreneur.com</a:t>
            </a:r>
          </a:p>
          <a:p xmlns:a="http://schemas.openxmlformats.org/drawingml/2006/main">
            <a:r>
              <a:t>Sevenpreneur Batch 8</a:t>
            </a:r>
          </a:p>
          <a:p xmlns:a="http://schemas.openxmlformats.org/drawingml/2006/main">
            <a:r>
              <a:t>VIP</a:t>
            </a:r>
          </a:p>
          <a:p xmlns:a="http://schemas.openxmlformats.org/drawingml/2006/main">
            <a:r>
              <a:t>Rp4,999 jt</a:t>
            </a:r>
          </a:p>
          <a:p xmlns:a="http://schemas.openxmlformats.org/drawingml/2006/main">
            <a:r>
              <a:t>Harga coret Rp8,5 jt</a:t>
            </a:r>
          </a:p>
          <a:p xmlns:a="http://schemas.openxmlformats.org/drawingml/2006/main">
            <a:r>
              <a:t>sevenpreneur.com</a:t>
            </a:r>
          </a:p>
          <a:p xmlns:a="http://schemas.openxmlformats.org/drawingml/2006/main">
            <a:r>
              <a:t>Aksoro CEO 3.0</a:t>
            </a:r>
          </a:p>
          <a:p xmlns:a="http://schemas.openxmlformats.org/drawingml/2006/main">
            <a:r>
              <a:t>Online</a:t>
            </a:r>
          </a:p>
          <a:p xmlns:a="http://schemas.openxmlformats.org/drawingml/2006/main">
            <a:r>
              <a:t>Rp3,3 jt</a:t>
            </a:r>
          </a:p>
          <a:p xmlns:a="http://schemas.openxmlformats.org/drawingml/2006/main">
            <a:r>
              <a:t>2 hari live via Zoom</a:t>
            </a:r>
          </a:p>
          <a:p xmlns:a="http://schemas.openxmlformats.org/drawingml/2006/main">
            <a:r>
              <a:t>aksoro.co.id</a:t>
            </a:r>
          </a:p>
          <a:p xmlns:a="http://schemas.openxmlformats.org/drawingml/2006/main">
            <a:r>
              <a:t>Aksoro CEO 3.0</a:t>
            </a:r>
          </a:p>
          <a:p xmlns:a="http://schemas.openxmlformats.org/drawingml/2006/main">
            <a:r>
              <a:t>Offline</a:t>
            </a:r>
          </a:p>
          <a:p xmlns:a="http://schemas.openxmlformats.org/drawingml/2006/main">
            <a:r>
              <a:t>Rp9,3 jt</a:t>
            </a:r>
          </a:p>
          <a:p xmlns:a="http://schemas.openxmlformats.org/drawingml/2006/main">
            <a:r>
              <a:t>Early bird; event Juni 2026</a:t>
            </a:r>
          </a:p>
          <a:p xmlns:a="http://schemas.openxmlformats.org/drawingml/2006/main">
            <a:r>
              <a:t>info.aksoro.co.id</a:t>
            </a:r>
          </a:p>
          <a:p xmlns:a="http://schemas.openxmlformats.org/drawingml/2006/main">
            <a:r>
              <a:t>Asian Tiger School</a:t>
            </a:r>
          </a:p>
          <a:p xmlns:a="http://schemas.openxmlformats.org/drawingml/2006/main">
            <a:r>
              <a:t>Property Dev. Masterclass</a:t>
            </a:r>
          </a:p>
          <a:p xmlns:a="http://schemas.openxmlformats.org/drawingml/2006/main">
            <a:r>
              <a:t>Rp7–10,6 jt</a:t>
            </a:r>
          </a:p>
          <a:p xmlns:a="http://schemas.openxmlformats.org/drawingml/2006/main">
            <a:r>
              <a:t>Halaman 404, cek manual</a:t>
            </a:r>
          </a:p>
          <a:p xmlns:a="http://schemas.openxmlformats.org/drawingml/2006/main">
            <a:r>
              <a:t>asiantigerschool.id</a:t>
            </a:r>
          </a:p>
          <a:p xmlns:a="http://schemas.openxmlformats.org/drawingml/2006/main">
            <a:r>
              <a:t>Dicek 2–3 Oktober 2026. Detail diskon, tanggal program, dan angka yang tidak terverifikasi ada di speaker notes.</a:t>
            </a:r>
          </a:p>
          <a:p xmlns:a="http://schemas.openxmlformats.org/drawingml/2006/main">
            <a:r>
              <a:t>| </a:t>
            </a:r>
          </a:p>
          <a:p xmlns:a="http://schemas.openxmlformats.org/drawingml/2006/main">
            <a:r>
              <a:t>19</a:t>
            </a:r>
          </a:p>
          <a:p xmlns:a="http://schemas.openxmlformats.org/drawingml/2006/main">
            <a:r>
              <a:t/>
            </a:r>
          </a:p>
          <a:p xmlns:a="http://schemas.openxmlformats.org/drawingml/2006/main">
            <a:r>
              <a:t>CATATAN PEMAPARAN</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c4cd3c234ae475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f59bf6f90d24f7d" /><Relationship Type="http://schemas.openxmlformats.org/officeDocument/2006/relationships/slideLayout" Target="/ppt/slideLayouts/slideLayout1.xml" Id="Rafb802f655d54be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fb802f655d54be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5031e8392724754" /><Relationship Type="http://schemas.openxmlformats.org/officeDocument/2006/relationships/notesSlide" Target="/ppt/notesSlides/notesSlide1.xml" Id="R0f70169e8640492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24cb579e03fa493d" /><Relationship Type="http://schemas.openxmlformats.org/officeDocument/2006/relationships/notesSlide" Target="/ppt/notesSlides/notesSlide2.xml" Id="R16d6708eda2e4fc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6dac8ce50c71482f" /><Relationship Type="http://schemas.openxmlformats.org/officeDocument/2006/relationships/chart" Target="/ppt/slides/charts/chart1.xml" Id="Rc34c7a46c2fd4ad4" /><Relationship Type="http://schemas.openxmlformats.org/officeDocument/2006/relationships/notesSlide" Target="/ppt/notesSlides/notesSlide3.xml" Id="Rd970807a75aa4fb6"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c04686e59a544e95" /><Relationship Type="http://schemas.openxmlformats.org/officeDocument/2006/relationships/notesSlide" Target="/ppt/notesSlides/notesSlide4.xml" Id="Rcaeceda0377d47fc"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8f8cc30de0ca4563" /><Relationship Type="http://schemas.openxmlformats.org/officeDocument/2006/relationships/notesSlide" Target="/ppt/notesSlides/notesSlide5.xml" Id="R8bacc055716649ad"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b6a51ce94f6349ae" /><Relationship Type="http://schemas.openxmlformats.org/officeDocument/2006/relationships/chart" Target="/ppt/slides/charts/chart2.xml" Id="Ra8fb4ec3240743c9" /><Relationship Type="http://schemas.openxmlformats.org/officeDocument/2006/relationships/notesSlide" Target="/ppt/notesSlides/notesSlide6.xml" Id="Rb8b3c5b90f6d4b83"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f34d0e9ebc044d1e" /><Relationship Type="http://schemas.openxmlformats.org/officeDocument/2006/relationships/chart" Target="/ppt/slides/charts/chart3.xml" Id="Rfb2f7e77b5994d14" /><Relationship Type="http://schemas.openxmlformats.org/officeDocument/2006/relationships/notesSlide" Target="/ppt/notesSlides/notesSlide7.xml" Id="R64ab497052d44dc7"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9ec29cdc5af24c78" /><Relationship Type="http://schemas.openxmlformats.org/officeDocument/2006/relationships/notesSlide" Target="/ppt/notesSlides/notesSlide8.xml" Id="R2a826b7084974eba"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7fb763eb43a94b9e" /><Relationship Type="http://schemas.openxmlformats.org/officeDocument/2006/relationships/notesSlide" Target="/ppt/notesSlides/notesSlide9.xml" Id="Ra553c3d152e843a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fee122826f524be3" /><Relationship Type="http://schemas.openxmlformats.org/officeDocument/2006/relationships/notesSlide" Target="/ppt/notesSlides/notesSlide10.xml" Id="R1ac60bebd7624ec3"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0038a3b1eef84f43" /><Relationship Type="http://schemas.openxmlformats.org/officeDocument/2006/relationships/notesSlide" Target="/ppt/notesSlides/notesSlide11.xml" Id="R55924cbfcfdb4b25"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2eb618d7ed384aad" /><Relationship Type="http://schemas.openxmlformats.org/officeDocument/2006/relationships/notesSlide" Target="/ppt/notesSlides/notesSlide12.xml" Id="R26ec6a526f2c46fb"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6415216c780b4a3a" /><Relationship Type="http://schemas.openxmlformats.org/officeDocument/2006/relationships/notesSlide" Target="/ppt/notesSlides/notesSlide13.xml" Id="Rd56d528a85dc4550"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a3e685efb2ca4bde" /><Relationship Type="http://schemas.openxmlformats.org/officeDocument/2006/relationships/notesSlide" Target="/ppt/notesSlides/notesSlide14.xml" Id="R39ebe3f8148142d9"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c0095fac108c462b" /><Relationship Type="http://schemas.openxmlformats.org/officeDocument/2006/relationships/notesSlide" Target="/ppt/notesSlides/notesSlide15.xml" Id="R6442fa1e522b4a2c"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6c7e76481fbd4615" /><Relationship Type="http://schemas.openxmlformats.org/officeDocument/2006/relationships/chart" Target="/ppt/slides/charts/chart4.xml" Id="R9632c97a95e74b45" /><Relationship Type="http://schemas.openxmlformats.org/officeDocument/2006/relationships/notesSlide" Target="/ppt/notesSlides/notesSlide16.xml" Id="Rf3317b3a71d249dd"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ec9be37f8ed5493a" /><Relationship Type="http://schemas.openxmlformats.org/officeDocument/2006/relationships/notesSlide" Target="/ppt/notesSlides/notesSlide17.xml" Id="Ra25b11e286854114"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e61f020181934ad0" /><Relationship Type="http://schemas.openxmlformats.org/officeDocument/2006/relationships/notesSlide" Target="/ppt/notesSlides/notesSlide18.xml" Id="R97b0cc58dbcd439c"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96f6e20d13134533" /><Relationship Type="http://schemas.openxmlformats.org/officeDocument/2006/relationships/notesSlide" Target="/ppt/notesSlides/notesSlide19.xml" Id="R71d00e6c8a374988"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Harga program</c:v>
          </c:tx>
          <c:spPr>
            <a:solidFill xmlns:a="http://schemas.openxmlformats.org/drawingml/2006/main">
              <a:srgbClr val="B8C4D1"/>
            </a:solidFill>
          </c:spPr>
          <c:dPt>
            <c:idx val="0"/>
            <c:invertIfNegative val="0"/>
            <c:spPr>
              <a:solidFill xmlns:a="http://schemas.openxmlformats.org/drawingml/2006/main">
                <a:srgbClr val="002060"/>
              </a:solidFill>
            </c:spPr>
          </c:dPt>
          <c:cat>
            <c:strRef>
              <c:f>'Chart Data'!$A$2:$A$6</c:f>
              <c:strCache>
                <c:ptCount val="5"/>
                <c:pt idx="0">
                  <c:v>CMC</c:v>
                </c:pt>
                <c:pt idx="1">
                  <c:v>Sevenpreneur Regular</c:v>
                </c:pt>
                <c:pt idx="2">
                  <c:v>Aksoro Online</c:v>
                </c:pt>
                <c:pt idx="3">
                  <c:v>Sevenpreneur VIP</c:v>
                </c:pt>
                <c:pt idx="4">
                  <c:v>Aksoro Offline</c:v>
                </c:pt>
              </c:strCache>
            </c:strRef>
          </c:cat>
          <c:val>
            <c:numRef>
              <c:f>'Chart Data'!$B$2:$B$6</c:f>
              <c:numCache>
                <c:formatCode>0.0</c:formatCode>
                <c:ptCount val="5"/>
                <c:pt idx="0">
                  <c:v>1.5</c:v>
                </c:pt>
                <c:pt idx="1">
                  <c:v>1.499</c:v>
                </c:pt>
                <c:pt idx="2">
                  <c:v>3.3</c:v>
                </c:pt>
                <c:pt idx="3">
                  <c:v>4.999</c:v>
                </c:pt>
                <c:pt idx="4">
                  <c:v>9.3</c:v>
                </c:pt>
              </c:numCache>
            </c:numRef>
          </c:val>
        </c:ser>
        <c:dLbls>
          <c:txPr>
            <a:bodyPr xmlns:a="http://schemas.openxmlformats.org/drawingml/2006/main" anchorCtr="1"/>
            <a:lstStyle xmlns:a="http://schemas.openxmlformats.org/drawingml/2006/main"/>
            <a:p xmlns:a="http://schemas.openxmlformats.org/drawingml/2006/main">
              <a:pPr>
                <a:defRPr sz="1500" b="1">
                  <a:solidFill>
                    <a:srgbClr val="002060"/>
                  </a:solidFill>
                  <a:latin typeface="Calibri"/>
                  <a:ea typeface="Calibri"/>
                  <a:cs typeface="Calibri"/>
                </a:defRPr>
              </a:pPr>
            </a:p>
          </c:txPr>
          <c:dLblPos val="outEnd"/>
          <c:showLegendKey val="0"/>
          <c:showVal val="1"/>
          <c:showCatName val="0"/>
          <c:showSerName val="0"/>
          <c:showPercent val="0"/>
          <c:showBubbleSize val="0"/>
          <c:showLeaderLines val="0"/>
        </c:dLbls>
        <c:gapWidth val="70"/>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CE2E8"/>
            </a:solidFill>
          </a:ln>
        </c:spPr>
        <c:txPr>
          <a:bodyPr xmlns:a="http://schemas.openxmlformats.org/drawingml/2006/main" anchorCtr="1"/>
          <a:lstStyle xmlns:a="http://schemas.openxmlformats.org/drawingml/2006/main"/>
          <a:p xmlns:a="http://schemas.openxmlformats.org/drawingml/2006/main">
            <a:pPr>
              <a:defRPr sz="1350">
                <a:solidFill>
                  <a:srgbClr val="65717D"/>
                </a:solidFill>
                <a:latin typeface="Calibri"/>
                <a:ea typeface="Calibri"/>
                <a:cs typeface="Calibri"/>
              </a:defRPr>
            </a:pPr>
          </a:p>
        </c:txPr>
        <c:crossAx val="48672768"/>
      </c:catAx>
      <c:valAx>
        <c:axId val="48672768"/>
        <c:scaling>
          <c:orientation val="minMax"/>
          <c:max val="11"/>
        </c:scaling>
        <c:delete val="0"/>
        <c:axPos val="b"/>
        <c:numFmt formatCode="0.0"/>
        <c:majorTickMark val="none"/>
        <c:minorTickMark val="none"/>
        <c:spPr>
          <a:ln xmlns:a="http://schemas.openxmlformats.org/drawingml/2006/main" w="9525">
            <a:solidFill>
              <a:srgbClr val="DCE2E8"/>
            </a:solidFill>
          </a:ln>
        </c:spPr>
        <c:txPr>
          <a:bodyPr xmlns:a="http://schemas.openxmlformats.org/drawingml/2006/main" anchorCtr="1"/>
          <a:lstStyle xmlns:a="http://schemas.openxmlformats.org/drawingml/2006/main"/>
          <a:p xmlns:a="http://schemas.openxmlformats.org/drawingml/2006/main">
            <a:pPr>
              <a:defRPr sz="1350">
                <a:solidFill>
                  <a:srgbClr val="65717D"/>
                </a:solidFill>
                <a:latin typeface="Calibri"/>
                <a:ea typeface="Calibri"/>
                <a:cs typeface="Calibri"/>
              </a:defRPr>
            </a:pPr>
          </a:p>
        </c:txPr>
        <c:crossAx val="48650112"/>
        <c:crossBetween val="between"/>
      </c:valAx>
      <c:spPr>
        <a:noFill xmlns:a="http://schemas.openxmlformats.org/drawingml/2006/main"/>
        <a:ln xmlns:a="http://schemas.openxmlformats.org/drawingml/2006/main" w="0">
          <a:noFill/>
        </a:ln>
      </c:spPr>
    </c:plotArea>
    <c:plotVisOnly val="1"/>
  </c:chart>
  <c:spPr>
    <a:noFill xmlns:a="http://schemas.openxmlformats.org/drawingml/2006/main"/>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stacked"/>
        <c:varyColors val="0"/>
        <c:ser>
          <c:idx val="0"/>
          <c:order val="0"/>
          <c:tx>
            <c:v>Honor speaker</c:v>
          </c:tx>
          <c:spPr>
            <a:solidFill xmlns:a="http://schemas.openxmlformats.org/drawingml/2006/main">
              <a:srgbClr val="002060"/>
            </a:solidFill>
          </c:spPr>
          <c:cat>
            <c:strRef>
              <c:f>'Chart Data'!$A$2:$A$4</c:f>
              <c:strCache>
                <c:ptCount val="3"/>
                <c:pt idx="0">
                  <c:v>Optimis</c:v>
                </c:pt>
                <c:pt idx="1">
                  <c:v>Base</c:v>
                </c:pt>
                <c:pt idx="2">
                  <c:v>Pesimis</c:v>
                </c:pt>
              </c:strCache>
            </c:strRef>
          </c:cat>
          <c:val>
            <c:numRef>
              <c:f>'Chart Data'!$B$2:$B$4</c:f>
              <c:numCache>
                <c:formatCode>0" jt"</c:formatCode>
                <c:ptCount val="3"/>
                <c:pt idx="0">
                  <c:v>24</c:v>
                </c:pt>
                <c:pt idx="1">
                  <c:v>32</c:v>
                </c:pt>
                <c:pt idx="2">
                  <c:v>40</c:v>
                </c:pt>
              </c:numCache>
            </c:numRef>
          </c:val>
        </c:ser>
        <c:ser>
          <c:idx val="1"/>
          <c:order val="1"/>
          <c:tx>
            <c:v>Sewa Zoom</c:v>
          </c:tx>
          <c:spPr>
            <a:solidFill xmlns:a="http://schemas.openxmlformats.org/drawingml/2006/main">
              <a:srgbClr val="708AA9"/>
            </a:solidFill>
          </c:spPr>
          <c:cat>
            <c:strRef>
              <c:f>'Chart Data'!$C$2:$C$4</c:f>
              <c:strCache>
                <c:ptCount val="3"/>
                <c:pt idx="0">
                  <c:v>Optimis</c:v>
                </c:pt>
                <c:pt idx="1">
                  <c:v>Base</c:v>
                </c:pt>
                <c:pt idx="2">
                  <c:v>Pesimis</c:v>
                </c:pt>
              </c:strCache>
            </c:strRef>
          </c:cat>
          <c:val>
            <c:numRef>
              <c:f>'Chart Data'!$D$2:$D$4</c:f>
              <c:numCache>
                <c:formatCode>0" jt"</c:formatCode>
                <c:ptCount val="3"/>
                <c:pt idx="0">
                  <c:v>2.8</c:v>
                </c:pt>
                <c:pt idx="1">
                  <c:v>2.8</c:v>
                </c:pt>
                <c:pt idx="2">
                  <c:v>2.8</c:v>
                </c:pt>
              </c:numCache>
            </c:numRef>
          </c:val>
        </c:ser>
        <c:dLbls>
          <c:txPr>
            <a:bodyPr xmlns:a="http://schemas.openxmlformats.org/drawingml/2006/main" anchorCtr="1"/>
            <a:lstStyle xmlns:a="http://schemas.openxmlformats.org/drawingml/2006/main"/>
            <a:p xmlns:a="http://schemas.openxmlformats.org/drawingml/2006/main">
              <a:pPr>
                <a:defRPr sz="1350">
                  <a:solidFill>
                    <a:srgbClr val="FFFFFF"/>
                  </a:solidFill>
                  <a:latin typeface="Calibri"/>
                  <a:ea typeface="Calibri"/>
                  <a:cs typeface="Calibri"/>
                </a:defRPr>
              </a:pPr>
            </a:p>
          </c:txPr>
          <c:dLblPos val="ctr"/>
          <c:showLegendKey val="0"/>
          <c:showVal val="1"/>
          <c:showCatName val="0"/>
          <c:showSerName val="0"/>
          <c:showPercent val="0"/>
          <c:showBubbleSize val="0"/>
          <c:showLeaderLines val="0"/>
        </c:dLbls>
        <c:gapWidth val="110"/>
        <c:overlap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CE2E8"/>
            </a:solidFill>
          </a:ln>
        </c:spPr>
        <c:txPr>
          <a:bodyPr xmlns:a="http://schemas.openxmlformats.org/drawingml/2006/main" anchorCtr="1"/>
          <a:lstStyle xmlns:a="http://schemas.openxmlformats.org/drawingml/2006/main"/>
          <a:p xmlns:a="http://schemas.openxmlformats.org/drawingml/2006/main">
            <a:pPr>
              <a:defRPr sz="1350">
                <a:solidFill>
                  <a:srgbClr val="65717D"/>
                </a:solidFill>
                <a:latin typeface="Calibri"/>
                <a:ea typeface="Calibri"/>
                <a:cs typeface="Calibri"/>
              </a:defRPr>
            </a:pPr>
          </a:p>
        </c:txPr>
        <c:crossAx val="48672768"/>
      </c:catAx>
      <c:valAx>
        <c:axId val="48672768"/>
        <c:scaling>
          <c:orientation val="minMax"/>
          <c:max val="50"/>
          <c:min val="0"/>
        </c:scaling>
        <c:delete val="0"/>
        <c:axPos val="l"/>
        <c:majorGridlines>
          <c:spPr>
            <a:ln xmlns:a="http://schemas.openxmlformats.org/drawingml/2006/main" w="9525">
              <a:solidFill>
                <a:srgbClr val="E8ECF0"/>
              </a:solidFill>
            </a:ln>
          </c:spPr>
        </c:majorGridlines>
        <c:numFmt formatCode="0&quot; jt&quot;"/>
        <c:majorTickMark val="none"/>
        <c:minorTickMark val="none"/>
        <c:spPr>
          <a:ln xmlns:a="http://schemas.openxmlformats.org/drawingml/2006/main" w="9525">
            <a:solidFill>
              <a:srgbClr val="DCE2E8"/>
            </a:solidFill>
          </a:ln>
        </c:spPr>
        <c:txPr>
          <a:bodyPr xmlns:a="http://schemas.openxmlformats.org/drawingml/2006/main" anchorCtr="1"/>
          <a:lstStyle xmlns:a="http://schemas.openxmlformats.org/drawingml/2006/main"/>
          <a:p xmlns:a="http://schemas.openxmlformats.org/drawingml/2006/main">
            <a:pPr>
              <a:defRPr sz="1350">
                <a:solidFill>
                  <a:srgbClr val="65717D"/>
                </a:solidFill>
                <a:latin typeface="Calibri"/>
                <a:ea typeface="Calibri"/>
                <a:cs typeface="Calibri"/>
              </a:defRPr>
            </a:pPr>
          </a:p>
        </c:txPr>
        <c:crossAx val="48650112"/>
        <c:crossBetween val="between"/>
        <c:majorUnit val="10"/>
      </c:valAx>
      <c:spPr>
        <a:noFill xmlns:a="http://schemas.openxmlformats.org/drawingml/2006/main"/>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350">
              <a:latin typeface="Calibri"/>
              <a:ea typeface="Calibri"/>
              <a:cs typeface="Calibri"/>
            </a:defRPr>
          </a:pPr>
        </a:p>
      </c:txPr>
    </c:legend>
    <c:plotVisOnly val="1"/>
  </c:chart>
  <c:spPr>
    <a:noFill xmlns:a="http://schemas.openxmlformats.org/drawingml/2006/main"/>
    <a:ln xmlns:a="http://schemas.openxmlformats.org/drawingml/2006/main" w="0">
      <a:noFill/>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Biaya Zoom, Rp jt</c:v>
          </c:tx>
          <c:spPr>
            <a:solidFill xmlns:a="http://schemas.openxmlformats.org/drawingml/2006/main">
              <a:srgbClr val="708AA9"/>
            </a:solidFill>
          </c:spPr>
          <c:dPt>
            <c:idx val="1"/>
            <c:invertIfNegative val="0"/>
            <c:spPr>
              <a:solidFill xmlns:a="http://schemas.openxmlformats.org/drawingml/2006/main">
                <a:srgbClr val="002060"/>
              </a:solidFill>
            </c:spPr>
          </c:dPt>
          <c:cat>
            <c:strRef>
              <c:f>'Chart Data'!$A$2:$A$3</c:f>
              <c:strCache>
                <c:ptCount val="2"/>
                <c:pt idx="0">
                  <c:v>Subscribe / 2 bulan</c:v>
                </c:pt>
                <c:pt idx="1">
                  <c:v>Sewa / 8 sesi</c:v>
                </c:pt>
              </c:strCache>
            </c:strRef>
          </c:cat>
          <c:val>
            <c:numRef>
              <c:f>'Chart Data'!$B$2:$B$3</c:f>
              <c:numCache>
                <c:formatCode>0.00</c:formatCode>
                <c:ptCount val="2"/>
                <c:pt idx="0">
                  <c:v>5.311678</c:v>
                </c:pt>
                <c:pt idx="1">
                  <c:v>2.8</c:v>
                </c:pt>
              </c:numCache>
            </c:numRef>
          </c:val>
        </c:ser>
        <c:dLbls>
          <c:txPr>
            <a:bodyPr xmlns:a="http://schemas.openxmlformats.org/drawingml/2006/main" anchorCtr="1"/>
            <a:lstStyle xmlns:a="http://schemas.openxmlformats.org/drawingml/2006/main"/>
            <a:p xmlns:a="http://schemas.openxmlformats.org/drawingml/2006/main">
              <a:pPr>
                <a:defRPr sz="1950" b="1">
                  <a:solidFill>
                    <a:srgbClr val="002060"/>
                  </a:solidFill>
                  <a:latin typeface="Calibri"/>
                  <a:ea typeface="Calibri"/>
                  <a:cs typeface="Calibri"/>
                </a:defRPr>
              </a:pPr>
            </a:p>
          </c:txPr>
          <c:dLblPos val="outEnd"/>
          <c:showLegendKey val="0"/>
          <c:showVal val="1"/>
          <c:showCatName val="0"/>
          <c:showSerName val="0"/>
          <c:showPercent val="0"/>
          <c:showBubbleSize val="0"/>
          <c:showLeaderLines val="0"/>
        </c:dLbls>
        <c:gapWidth val="95"/>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CE2E8"/>
            </a:solidFill>
          </a:ln>
        </c:spPr>
        <c:txPr>
          <a:bodyPr xmlns:a="http://schemas.openxmlformats.org/drawingml/2006/main" anchorCtr="1"/>
          <a:lstStyle xmlns:a="http://schemas.openxmlformats.org/drawingml/2006/main"/>
          <a:p xmlns:a="http://schemas.openxmlformats.org/drawingml/2006/main">
            <a:pPr>
              <a:defRPr sz="1350">
                <a:solidFill>
                  <a:srgbClr val="65717D"/>
                </a:solidFill>
                <a:latin typeface="Calibri"/>
                <a:ea typeface="Calibri"/>
                <a:cs typeface="Calibri"/>
              </a:defRPr>
            </a:pPr>
          </a:p>
        </c:txPr>
        <c:crossAx val="48672768"/>
      </c:catAx>
      <c:valAx>
        <c:axId val="48672768"/>
        <c:scaling>
          <c:orientation val="minMax"/>
          <c:max val="6.5"/>
          <c:min val="0"/>
        </c:scaling>
        <c:delete val="0"/>
        <c:axPos val="b"/>
        <c:numFmt formatCode="0.0&quot; jt&quot;"/>
        <c:majorTickMark val="none"/>
        <c:minorTickMark val="none"/>
        <c:spPr>
          <a:ln xmlns:a="http://schemas.openxmlformats.org/drawingml/2006/main" w="9525">
            <a:solidFill>
              <a:srgbClr val="DCE2E8"/>
            </a:solidFill>
          </a:ln>
        </c:spPr>
        <c:txPr>
          <a:bodyPr xmlns:a="http://schemas.openxmlformats.org/drawingml/2006/main" anchorCtr="1"/>
          <a:lstStyle xmlns:a="http://schemas.openxmlformats.org/drawingml/2006/main"/>
          <a:p xmlns:a="http://schemas.openxmlformats.org/drawingml/2006/main">
            <a:pPr>
              <a:defRPr sz="1350">
                <a:solidFill>
                  <a:srgbClr val="65717D"/>
                </a:solidFill>
                <a:latin typeface="Calibri"/>
                <a:ea typeface="Calibri"/>
                <a:cs typeface="Calibri"/>
              </a:defRPr>
            </a:pPr>
          </a:p>
        </c:txPr>
        <c:crossAx val="48650112"/>
        <c:crossBetween val="between"/>
      </c:valAx>
      <c:spPr>
        <a:noFill xmlns:a="http://schemas.openxmlformats.org/drawingml/2006/main"/>
        <a:ln xmlns:a="http://schemas.openxmlformats.org/drawingml/2006/main" w="0">
          <a:noFill/>
        </a:ln>
      </c:spPr>
    </c:plotArea>
    <c:plotVisOnly val="1"/>
  </c:chart>
  <c:spPr>
    <a:noFill xmlns:a="http://schemas.openxmlformats.org/drawingml/2006/main"/>
    <a:ln xmlns:a="http://schemas.openxmlformats.org/drawingml/2006/main" w="0">
      <a:noFill/>
    </a:ln>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lineChart>
        <c:grouping val="standard"/>
        <c:ser>
          <c:idx val="0"/>
          <c:order val="0"/>
          <c:tx>
            <c:v>Venue Rp600 rb</c:v>
          </c:tx>
          <c:spPr>
            <a:ln xmlns:a="http://schemas.openxmlformats.org/drawingml/2006/main" w="28575">
              <a:solidFill>
                <a:srgbClr val="708AA9"/>
              </a:solidFill>
            </a:ln>
          </c:spPr>
          <c:marker>
            <c:symbol val="circle"/>
            <c:size val="5"/>
            <c:spPr>
              <a:solidFill xmlns:a="http://schemas.openxmlformats.org/drawingml/2006/main">
                <a:srgbClr val="708AA9"/>
              </a:solidFill>
            </c:spPr>
          </c:marker>
          <c:cat>
            <c:numRef>
              <c:f>'Chart Data'!$A$2:$A$6</c:f>
              <c:numCache>
                <c:formatCode>General</c:formatCode>
                <c:ptCount val="5"/>
                <c:pt idx="0">
                  <c:v>0</c:v>
                </c:pt>
                <c:pt idx="1">
                  <c:v>5</c:v>
                </c:pt>
                <c:pt idx="2">
                  <c:v>10</c:v>
                </c:pt>
                <c:pt idx="3">
                  <c:v>15</c:v>
                </c:pt>
                <c:pt idx="4">
                  <c:v>20</c:v>
                </c:pt>
              </c:numCache>
            </c:numRef>
          </c:cat>
          <c:val>
            <c:numRef>
              <c:f>'Chart Data'!$B$2:$B$6</c:f>
              <c:numCache>
                <c:formatCode>0.0</c:formatCode>
                <c:ptCount val="5"/>
                <c:pt idx="0">
                  <c:v>0.72</c:v>
                </c:pt>
                <c:pt idx="1">
                  <c:v>0.97</c:v>
                </c:pt>
                <c:pt idx="2">
                  <c:v>1.22</c:v>
                </c:pt>
                <c:pt idx="3">
                  <c:v>1.47</c:v>
                </c:pt>
                <c:pt idx="4">
                  <c:v>1.72</c:v>
                </c:pt>
              </c:numCache>
            </c:numRef>
          </c:val>
        </c:ser>
        <c:ser>
          <c:idx val="1"/>
          <c:order val="1"/>
          <c:tx>
            <c:v>Venue Rp1 jt</c:v>
          </c:tx>
          <c:spPr>
            <a:ln xmlns:a="http://schemas.openxmlformats.org/drawingml/2006/main" w="28575">
              <a:solidFill>
                <a:srgbClr val="002060"/>
              </a:solidFill>
            </a:ln>
          </c:spPr>
          <c:marker>
            <c:symbol val="circle"/>
            <c:size val="5"/>
            <c:spPr>
              <a:solidFill xmlns:a="http://schemas.openxmlformats.org/drawingml/2006/main">
                <a:srgbClr val="002060"/>
              </a:solidFill>
            </c:spPr>
          </c:marker>
          <c:cat>
            <c:numRef>
              <c:f>'Chart Data'!$C$2:$C$6</c:f>
              <c:numCache>
                <c:formatCode>General</c:formatCode>
                <c:ptCount val="5"/>
                <c:pt idx="0">
                  <c:v>0</c:v>
                </c:pt>
                <c:pt idx="1">
                  <c:v>5</c:v>
                </c:pt>
                <c:pt idx="2">
                  <c:v>10</c:v>
                </c:pt>
                <c:pt idx="3">
                  <c:v>15</c:v>
                </c:pt>
                <c:pt idx="4">
                  <c:v>20</c:v>
                </c:pt>
              </c:numCache>
            </c:numRef>
          </c:cat>
          <c:val>
            <c:numRef>
              <c:f>'Chart Data'!$D$2:$D$6</c:f>
              <c:numCache>
                <c:formatCode>0.0</c:formatCode>
                <c:ptCount val="5"/>
                <c:pt idx="0">
                  <c:v>1.2</c:v>
                </c:pt>
                <c:pt idx="1">
                  <c:v>1.45</c:v>
                </c:pt>
                <c:pt idx="2">
                  <c:v>1.7</c:v>
                </c:pt>
                <c:pt idx="3">
                  <c:v>1.95</c:v>
                </c:pt>
                <c:pt idx="4">
                  <c:v>2.2</c:v>
                </c:pt>
              </c:numCache>
            </c:numRef>
          </c:val>
        </c:ser>
        <c:ser>
          <c:idx val="2"/>
          <c:order val="2"/>
          <c:tx>
            <c:v>Member Rp1,5 jt</c:v>
          </c:tx>
          <c:spPr>
            <a:ln xmlns:a="http://schemas.openxmlformats.org/drawingml/2006/main" w="19050">
              <a:solidFill>
                <a:srgbClr val="A27D42"/>
              </a:solidFill>
              <a:prstDash val="dash"/>
            </a:ln>
          </c:spPr>
          <c:marker>
            <c:symbol val="none"/>
          </c:marker>
          <c:cat>
            <c:numRef>
              <c:f>'Chart Data'!$E$2:$E$6</c:f>
              <c:numCache>
                <c:formatCode>General</c:formatCode>
                <c:ptCount val="5"/>
                <c:pt idx="0">
                  <c:v>0</c:v>
                </c:pt>
                <c:pt idx="1">
                  <c:v>5</c:v>
                </c:pt>
                <c:pt idx="2">
                  <c:v>10</c:v>
                </c:pt>
                <c:pt idx="3">
                  <c:v>15</c:v>
                </c:pt>
                <c:pt idx="4">
                  <c:v>20</c:v>
                </c:pt>
              </c:numCache>
            </c:numRef>
          </c:cat>
          <c:val>
            <c:numRef>
              <c:f>'Chart Data'!$F$2:$F$6</c:f>
              <c:numCache>
                <c:formatCode>0.0</c:formatCode>
                <c:ptCount val="5"/>
                <c:pt idx="0">
                  <c:v>1.5</c:v>
                </c:pt>
                <c:pt idx="1">
                  <c:v>1.5</c:v>
                </c:pt>
                <c:pt idx="2">
                  <c:v>1.5</c:v>
                </c:pt>
                <c:pt idx="3">
                  <c:v>1.5</c:v>
                </c:pt>
                <c:pt idx="4">
                  <c:v>1.5</c:v>
                </c:pt>
              </c:numCache>
            </c:numRef>
          </c:val>
        </c:ser>
        <c:dLbls>
          <c:txPr>
            <a:bodyPr xmlns:a="http://schemas.openxmlformats.org/drawingml/2006/main" anchorCtr="1"/>
            <a:lstStyle xmlns:a="http://schemas.openxmlformats.org/drawingml/2006/main"/>
            <a:p xmlns:a="http://schemas.openxmlformats.org/drawingml/2006/main">
              <a:pPr>
                <a:defRPr>
                  <a:latin typeface="Calibri"/>
                  <a:ea typeface="Calibri"/>
                  <a:cs typeface="Calibri"/>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Calibri"/>
                    <a:ea typeface="Calibri"/>
                    <a:cs typeface="Calibri"/>
                  </a:rPr>
                  <a:t>Fee Master / Rp jt</a:t>
                </a:r>
              </a:p>
            </c:rich>
          </c:tx>
          <c:overlay val="0"/>
          <c:txPr>
            <a:bodyPr xmlns:a="http://schemas.openxmlformats.org/drawingml/2006/main" anchorCtr="1"/>
            <a:lstStyle xmlns:a="http://schemas.openxmlformats.org/drawingml/2006/main"/>
            <a:p xmlns:a="http://schemas.openxmlformats.org/drawingml/2006/main">
              <a:pPr>
                <a:defRPr>
                  <a:latin typeface="Calibri"/>
                  <a:ea typeface="Calibri"/>
                  <a:cs typeface="Calibri"/>
                </a:defRPr>
              </a:pPr>
            </a:p>
          </c:txPr>
        </c:title>
        <c:numFmt formatCode="General"/>
        <c:majorTickMark val="none"/>
        <c:minorTickMark val="none"/>
        <c:spPr>
          <a:ln xmlns:a="http://schemas.openxmlformats.org/drawingml/2006/main" w="9525">
            <a:solidFill>
              <a:srgbClr val="DCE2E8"/>
            </a:solidFill>
          </a:ln>
        </c:spPr>
        <c:txPr>
          <a:bodyPr xmlns:a="http://schemas.openxmlformats.org/drawingml/2006/main" anchorCtr="1"/>
          <a:lstStyle xmlns:a="http://schemas.openxmlformats.org/drawingml/2006/main"/>
          <a:p xmlns:a="http://schemas.openxmlformats.org/drawingml/2006/main">
            <a:pPr>
              <a:defRPr sz="1350">
                <a:solidFill>
                  <a:srgbClr val="65717D"/>
                </a:solidFill>
                <a:latin typeface="Calibri"/>
                <a:ea typeface="Calibri"/>
                <a:cs typeface="Calibri"/>
              </a:defRPr>
            </a:pPr>
          </a:p>
        </c:txPr>
        <c:crossAx val="48672768"/>
      </c:catAx>
      <c:valAx>
        <c:axId val="48672768"/>
        <c:scaling>
          <c:orientation val="minMax"/>
          <c:max val="3"/>
          <c:min val="0"/>
        </c:scaling>
        <c:delete val="0"/>
        <c:axPos val="l"/>
        <c:majorGridlines>
          <c:spPr>
            <a:ln xmlns:a="http://schemas.openxmlformats.org/drawingml/2006/main" w="9525">
              <a:solidFill>
                <a:srgbClr val="DCE2E8"/>
              </a:solidFill>
            </a:ln>
          </c:spPr>
        </c:majorGridlines>
        <c:title>
          <c:tx>
            <c:rich>
              <a:bodyPr xmlns:a="http://schemas.openxmlformats.org/drawingml/2006/main"/>
              <a:lstStyle xmlns:a="http://schemas.openxmlformats.org/drawingml/2006/main"/>
              <a:p xmlns:a="http://schemas.openxmlformats.org/drawingml/2006/main">
                <a:r>
                  <a:rPr>
                    <a:latin typeface="Calibri"/>
                    <a:ea typeface="Calibri"/>
                    <a:cs typeface="Calibri"/>
                  </a:rPr>
                  <a:t>BEP / Rp jt</a:t>
                </a:r>
              </a:p>
            </c:rich>
          </c:tx>
          <c:overlay val="0"/>
          <c:txPr>
            <a:bodyPr xmlns:a="http://schemas.openxmlformats.org/drawingml/2006/main" anchorCtr="1"/>
            <a:lstStyle xmlns:a="http://schemas.openxmlformats.org/drawingml/2006/main"/>
            <a:p xmlns:a="http://schemas.openxmlformats.org/drawingml/2006/main">
              <a:pPr>
                <a:defRPr>
                  <a:latin typeface="Calibri"/>
                  <a:ea typeface="Calibri"/>
                  <a:cs typeface="Calibri"/>
                </a:defRPr>
              </a:pPr>
            </a:p>
          </c:txPr>
        </c:title>
        <c:numFmt formatCode="0.0"/>
        <c:majorTickMark val="none"/>
        <c:minorTickMark val="none"/>
        <c:spPr>
          <a:ln xmlns:a="http://schemas.openxmlformats.org/drawingml/2006/main" w="9525">
            <a:solidFill>
              <a:srgbClr val="DCE2E8"/>
            </a:solidFill>
          </a:ln>
        </c:spPr>
        <c:txPr>
          <a:bodyPr xmlns:a="http://schemas.openxmlformats.org/drawingml/2006/main" anchorCtr="1"/>
          <a:lstStyle xmlns:a="http://schemas.openxmlformats.org/drawingml/2006/main"/>
          <a:p xmlns:a="http://schemas.openxmlformats.org/drawingml/2006/main">
            <a:pPr>
              <a:defRPr sz="1350">
                <a:solidFill>
                  <a:srgbClr val="65717D"/>
                </a:solidFill>
                <a:latin typeface="Calibri"/>
                <a:ea typeface="Calibri"/>
                <a:cs typeface="Calibri"/>
              </a:defRPr>
            </a:pPr>
          </a:p>
        </c:txPr>
        <c:crossAx val="48650112"/>
        <c:crossBetween val="between"/>
        <c:majorUnit val="1"/>
      </c:valAx>
      <c:spPr>
        <a:noFill xmlns:a="http://schemas.openxmlformats.org/drawingml/2006/main"/>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200">
              <a:latin typeface="Calibri"/>
              <a:ea typeface="Calibri"/>
              <a:cs typeface="Calibri"/>
            </a:defRPr>
          </a:pPr>
        </a:p>
      </c:txPr>
    </c:legend>
    <c:plotVisOnly val="1"/>
  </c:chart>
  <c:spPr>
    <a:noFill xmlns:a="http://schemas.openxmlformats.org/drawingml/2006/main"/>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text-1">
            <a:extLst xmlns:a="http://schemas.openxmlformats.org/drawingml/2006/main">
              <a:ext uri="{FF2B5EF4-FFF2-40B4-BE49-F238E27FC236}">
                <a16:creationId xmlns:a16="http://schemas.microsoft.com/office/drawing/2014/main" id="{050A5BC6-2D32-4B97-ADF1-BA67B027FFD6}"/>
              </a:ext>
            </a:extLst>
          </p:cNvPr>
          <p:cNvSpPr>
            <a:spLocks xmlns:a="http://schemas.openxmlformats.org/drawingml/2006/main" noGrp="1"/>
          </p:cNvSpPr>
          <p:nvPr/>
        </p:nvSpPr>
        <p:spPr>
          <a:xfrm xmlns:a="http://schemas.openxmlformats.org/drawingml/2006/main">
            <a:off x="609600" y="57150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a:solidFill>
                  <a:srgbClr val="002060"/>
                </a:solidFill>
                <a:latin typeface="Calibri"/>
                <a:ea typeface="Calibri"/>
                <a:cs typeface="Calibri"/>
              </a:defRPr>
            </a:pPr>
            <a:r>
              <a:rPr sz="1350" b="1">
                <a:solidFill>
                  <a:srgbClr val="002060"/>
                </a:solidFill>
                <a:latin typeface="Calibri"/>
                <a:ea typeface="Calibri"/>
                <a:cs typeface="Calibri"/>
              </a:rPr>
              <a:t>CEO MASTERCLASS</a:t>
            </a:r>
          </a:p>
        </p:txBody>
      </p:sp>
      <p:sp>
        <p:nvSpPr>
          <p:cNvPr id="2" name="text-2">
            <a:extLst xmlns:a="http://schemas.openxmlformats.org/drawingml/2006/main">
              <a:ext uri="{FF2B5EF4-FFF2-40B4-BE49-F238E27FC236}">
                <a16:creationId xmlns:a16="http://schemas.microsoft.com/office/drawing/2014/main" id="{1D29A69C-0B54-4561-B0A3-CD618DE51743}"/>
              </a:ext>
            </a:extLst>
          </p:cNvPr>
          <p:cNvSpPr>
            <a:spLocks xmlns:a="http://schemas.openxmlformats.org/drawingml/2006/main" noGrp="1"/>
          </p:cNvSpPr>
          <p:nvPr/>
        </p:nvSpPr>
        <p:spPr>
          <a:xfrm xmlns:a="http://schemas.openxmlformats.org/drawingml/2006/main">
            <a:off x="609600" y="1714500"/>
            <a:ext cx="104775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500" b="1">
                <a:solidFill>
                  <a:srgbClr val="002060"/>
                </a:solidFill>
                <a:latin typeface="Calibri"/>
                <a:ea typeface="Calibri"/>
                <a:cs typeface="Calibri"/>
              </a:defRPr>
            </a:pPr>
            <a:r>
              <a:rPr sz="4500" b="1">
                <a:solidFill>
                  <a:srgbClr val="002060"/>
                </a:solidFill>
                <a:latin typeface="Calibri"/>
                <a:ea typeface="Calibri"/>
                <a:cs typeface="Calibri"/>
              </a:rPr>
              <a:t>Akses yang lebih dekat.</a:t>
            </a:r>
          </a:p>
          <a:p xmlns:a="http://schemas.openxmlformats.org/drawingml/2006/main">
            <a:pPr>
              <a:defRPr sz="4500" b="1">
                <a:solidFill>
                  <a:srgbClr val="002060"/>
                </a:solidFill>
                <a:latin typeface="Calibri"/>
                <a:ea typeface="Calibri"/>
                <a:cs typeface="Calibri"/>
              </a:defRPr>
            </a:pPr>
            <a:r>
              <a:rPr sz="4500" b="1">
                <a:solidFill>
                  <a:srgbClr val="002060"/>
                </a:solidFill>
                <a:latin typeface="Calibri"/>
                <a:ea typeface="Calibri"/>
                <a:cs typeface="Calibri"/>
              </a:rPr>
              <a:t>Membership yang lebih bernilai.</a:t>
            </a:r>
          </a:p>
        </p:txBody>
      </p:sp>
      <p:sp>
        <p:nvSpPr>
          <p:cNvPr id="3" name="text-3">
            <a:extLst xmlns:a="http://schemas.openxmlformats.org/drawingml/2006/main">
              <a:ext uri="{FF2B5EF4-FFF2-40B4-BE49-F238E27FC236}">
                <a16:creationId xmlns:a16="http://schemas.microsoft.com/office/drawing/2014/main" id="{6AD19BE4-AA55-40DD-BAE3-29A7FED6CCDA}"/>
              </a:ext>
            </a:extLst>
          </p:cNvPr>
          <p:cNvSpPr>
            <a:spLocks xmlns:a="http://schemas.openxmlformats.org/drawingml/2006/main" noGrp="1"/>
          </p:cNvSpPr>
          <p:nvPr/>
        </p:nvSpPr>
        <p:spPr>
          <a:xfrm xmlns:a="http://schemas.openxmlformats.org/drawingml/2006/main">
            <a:off x="647700" y="3562350"/>
            <a:ext cx="9525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273746"/>
                </a:solidFill>
                <a:latin typeface="Calibri"/>
                <a:ea typeface="Calibri"/>
                <a:cs typeface="Calibri"/>
              </a:defRPr>
            </a:pPr>
            <a:r>
              <a:rPr sz="2250" b="0">
                <a:solidFill>
                  <a:srgbClr val="273746"/>
                </a:solidFill>
                <a:latin typeface="Calibri"/>
                <a:ea typeface="Calibri"/>
                <a:cs typeface="Calibri"/>
              </a:rPr>
              <a:t>Pricing &amp; Product Development</a:t>
            </a:r>
          </a:p>
        </p:txBody>
      </p:sp>
      <p:sp>
        <p:nvSpPr>
          <p:cNvPr id="4" name="">
            <a:extLst xmlns:a="http://schemas.openxmlformats.org/drawingml/2006/main">
              <a:ext uri="{FF2B5EF4-FFF2-40B4-BE49-F238E27FC236}">
                <a16:creationId xmlns:a16="http://schemas.microsoft.com/office/drawing/2014/main" id="{94AD3B28-09FF-4AAC-A44F-51CA66E6E592}"/>
              </a:ext>
            </a:extLst>
          </p:cNvPr>
          <p:cNvSpPr>
            <a:spLocks xmlns:a="http://schemas.openxmlformats.org/drawingml/2006/main" noGrp="1"/>
          </p:cNvSpPr>
          <p:nvPr/>
        </p:nvSpPr>
        <p:spPr>
          <a:xfrm xmlns:a="http://schemas.openxmlformats.org/drawingml/2006/main">
            <a:off x="647700" y="4524375"/>
            <a:ext cx="10668000" cy="0"/>
          </a:xfrm>
          <a:prstGeom xmlns:a="http://schemas.openxmlformats.org/drawingml/2006/main" prst="line">
            <a:avLst/>
          </a:prstGeom>
          <a:noFill xmlns:a="http://schemas.openxmlformats.org/drawingml/2006/main"/>
          <a:ln xmlns:a="http://schemas.openxmlformats.org/drawingml/2006/main" w="19050">
            <a:solidFill>
              <a:srgbClr val="002060"/>
            </a:solidFill>
          </a:ln>
        </p:spPr>
      </p:sp>
      <p:sp>
        <p:nvSpPr>
          <p:cNvPr id="5" name="text-4">
            <a:extLst xmlns:a="http://schemas.openxmlformats.org/drawingml/2006/main">
              <a:ext uri="{FF2B5EF4-FFF2-40B4-BE49-F238E27FC236}">
                <a16:creationId xmlns:a16="http://schemas.microsoft.com/office/drawing/2014/main" id="{D3283BD7-4BE7-4088-B919-1A24BF729EC8}"/>
              </a:ext>
            </a:extLst>
          </p:cNvPr>
          <p:cNvSpPr>
            <a:spLocks xmlns:a="http://schemas.openxmlformats.org/drawingml/2006/main" noGrp="1"/>
          </p:cNvSpPr>
          <p:nvPr/>
        </p:nvSpPr>
        <p:spPr>
          <a:xfrm xmlns:a="http://schemas.openxmlformats.org/drawingml/2006/main">
            <a:off x="647700" y="4857750"/>
            <a:ext cx="314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002060"/>
                </a:solidFill>
                <a:latin typeface="Calibri"/>
                <a:ea typeface="Calibri"/>
                <a:cs typeface="Calibri"/>
              </a:defRPr>
            </a:pPr>
            <a:r>
              <a:rPr sz="1950" b="1">
                <a:solidFill>
                  <a:srgbClr val="002060"/>
                </a:solidFill>
                <a:latin typeface="Calibri"/>
                <a:ea typeface="Calibri"/>
                <a:cs typeface="Calibri"/>
              </a:rPr>
              <a:t>Founder Live</a:t>
            </a:r>
          </a:p>
        </p:txBody>
      </p:sp>
      <p:sp>
        <p:nvSpPr>
          <p:cNvPr id="6" name="text-5">
            <a:extLst xmlns:a="http://schemas.openxmlformats.org/drawingml/2006/main">
              <a:ext uri="{FF2B5EF4-FFF2-40B4-BE49-F238E27FC236}">
                <a16:creationId xmlns:a16="http://schemas.microsoft.com/office/drawing/2014/main" id="{D9967046-FDA4-40F8-83E4-43AA0133DA4C}"/>
              </a:ext>
            </a:extLst>
          </p:cNvPr>
          <p:cNvSpPr>
            <a:spLocks xmlns:a="http://schemas.openxmlformats.org/drawingml/2006/main" noGrp="1"/>
          </p:cNvSpPr>
          <p:nvPr/>
        </p:nvSpPr>
        <p:spPr>
          <a:xfrm xmlns:a="http://schemas.openxmlformats.org/drawingml/2006/main">
            <a:off x="4476750" y="4857750"/>
            <a:ext cx="323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002060"/>
                </a:solidFill>
                <a:latin typeface="Calibri"/>
                <a:ea typeface="Calibri"/>
                <a:cs typeface="Calibri"/>
              </a:defRPr>
            </a:pPr>
            <a:r>
              <a:rPr sz="1950" b="1">
                <a:solidFill>
                  <a:srgbClr val="002060"/>
                </a:solidFill>
                <a:latin typeface="Calibri"/>
                <a:ea typeface="Calibri"/>
                <a:cs typeface="Calibri"/>
              </a:rPr>
              <a:t>Intimate Dinner</a:t>
            </a:r>
          </a:p>
        </p:txBody>
      </p:sp>
      <p:sp>
        <p:nvSpPr>
          <p:cNvPr id="7" name="text-6">
            <a:extLst xmlns:a="http://schemas.openxmlformats.org/drawingml/2006/main">
              <a:ext uri="{FF2B5EF4-FFF2-40B4-BE49-F238E27FC236}">
                <a16:creationId xmlns:a16="http://schemas.microsoft.com/office/drawing/2014/main" id="{ABA14CB3-7A35-4D0E-8A87-45407024FC59}"/>
              </a:ext>
            </a:extLst>
          </p:cNvPr>
          <p:cNvSpPr>
            <a:spLocks xmlns:a="http://schemas.openxmlformats.org/drawingml/2006/main" noGrp="1"/>
          </p:cNvSpPr>
          <p:nvPr/>
        </p:nvSpPr>
        <p:spPr>
          <a:xfrm xmlns:a="http://schemas.openxmlformats.org/drawingml/2006/main">
            <a:off x="8286750" y="4857750"/>
            <a:ext cx="314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002060"/>
                </a:solidFill>
                <a:latin typeface="Calibri"/>
                <a:ea typeface="Calibri"/>
                <a:cs typeface="Calibri"/>
              </a:defRPr>
            </a:pPr>
            <a:r>
              <a:rPr sz="1950" b="1">
                <a:solidFill>
                  <a:srgbClr val="002060"/>
                </a:solidFill>
                <a:latin typeface="Calibri"/>
                <a:ea typeface="Calibri"/>
                <a:cs typeface="Calibri"/>
              </a:rPr>
              <a:t>Pricing roadmap</a:t>
            </a:r>
          </a:p>
        </p:txBody>
      </p:sp>
      <p:sp>
        <p:nvSpPr>
          <p:cNvPr id="8" name="text-7">
            <a:extLst xmlns:a="http://schemas.openxmlformats.org/drawingml/2006/main">
              <a:ext uri="{FF2B5EF4-FFF2-40B4-BE49-F238E27FC236}">
                <a16:creationId xmlns:a16="http://schemas.microsoft.com/office/drawing/2014/main" id="{2B8643E3-4971-4B06-83B1-29991870EC76}"/>
              </a:ext>
            </a:extLst>
          </p:cNvPr>
          <p:cNvSpPr>
            <a:spLocks xmlns:a="http://schemas.openxmlformats.org/drawingml/2006/main" noGrp="1"/>
          </p:cNvSpPr>
          <p:nvPr/>
        </p:nvSpPr>
        <p:spPr>
          <a:xfrm xmlns:a="http://schemas.openxmlformats.org/drawingml/2006/main">
            <a:off x="647700" y="6076950"/>
            <a:ext cx="571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65717D"/>
                </a:solidFill>
                <a:latin typeface="Calibri"/>
                <a:ea typeface="Calibri"/>
                <a:cs typeface="Calibri"/>
              </a:defRPr>
            </a:pPr>
            <a:r>
              <a:rPr sz="1275" b="0">
                <a:solidFill>
                  <a:srgbClr val="65717D"/>
                </a:solidFill>
                <a:latin typeface="Calibri"/>
                <a:ea typeface="Calibri"/>
                <a:cs typeface="Calibri"/>
              </a:rPr>
              <a:t>Diskusi manajemen</a:t>
            </a:r>
          </a:p>
        </p:txBody>
      </p:sp>
      <p:sp>
        <p:nvSpPr>
          <p:cNvPr id="9" name="text-8">
            <a:extLst xmlns:a="http://schemas.openxmlformats.org/drawingml/2006/main">
              <a:ext uri="{FF2B5EF4-FFF2-40B4-BE49-F238E27FC236}">
                <a16:creationId xmlns:a16="http://schemas.microsoft.com/office/drawing/2014/main" id="{5E1401DE-98A1-44D7-B83E-B09CE5E64F1D}"/>
              </a:ext>
            </a:extLst>
          </p:cNvPr>
          <p:cNvSpPr>
            <a:spLocks xmlns:a="http://schemas.openxmlformats.org/drawingml/2006/main" noGrp="1"/>
          </p:cNvSpPr>
          <p:nvPr/>
        </p:nvSpPr>
        <p:spPr>
          <a:xfrm xmlns:a="http://schemas.openxmlformats.org/drawingml/2006/main">
            <a:off x="9715500" y="6076950"/>
            <a:ext cx="190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65717D"/>
                </a:solidFill>
                <a:latin typeface="Calibri"/>
                <a:ea typeface="Calibri"/>
                <a:cs typeface="Calibri"/>
              </a:defRPr>
            </a:pPr>
            <a:r>
              <a:rPr sz="1275" b="0">
                <a:solidFill>
                  <a:srgbClr val="65717D"/>
                </a:solidFill>
                <a:latin typeface="Calibri"/>
                <a:ea typeface="Calibri"/>
                <a:cs typeface="Calibri"/>
              </a:rPr>
              <a:t>Oktober 2026</a:t>
            </a:r>
          </a:p>
        </p:txBody>
      </p:sp>
    </p:spTree>
    <p:extLst>
      <p:ext uri="{BB962C8B-B14F-4D97-AF65-F5344CB8AC3E}">
        <p14:creationId xmlns:p14="http://schemas.microsoft.com/office/powerpoint/2010/main" val="65275537"/>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text-9">
            <a:extLst xmlns:a="http://schemas.openxmlformats.org/drawingml/2006/main">
              <a:ext uri="{FF2B5EF4-FFF2-40B4-BE49-F238E27FC236}">
                <a16:creationId xmlns:a16="http://schemas.microsoft.com/office/drawing/2014/main" id="{20F04733-5474-475D-B61C-36AD90E088E2}"/>
              </a:ext>
            </a:extLst>
          </p:cNvPr>
          <p:cNvSpPr>
            <a:spLocks xmlns:a="http://schemas.openxmlformats.org/drawingml/2006/main" noGrp="1"/>
          </p:cNvSpPr>
          <p:nvPr/>
        </p:nvSpPr>
        <p:spPr>
          <a:xfrm xmlns:a="http://schemas.openxmlformats.org/drawingml/2006/main">
            <a:off x="609600" y="333375"/>
            <a:ext cx="1066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65717D"/>
                </a:solidFill>
                <a:latin typeface="Calibri"/>
                <a:ea typeface="Calibri"/>
                <a:cs typeface="Calibri"/>
              </a:defRPr>
            </a:pPr>
            <a:r>
              <a:rPr sz="1050" b="1">
                <a:solidFill>
                  <a:srgbClr val="65717D"/>
                </a:solidFill>
                <a:latin typeface="Calibri"/>
                <a:ea typeface="Calibri"/>
                <a:cs typeface="Calibri"/>
              </a:rPr>
              <a:t>PRIORITAS PRODUCT DEVELOPMENT</a:t>
            </a:r>
          </a:p>
        </p:txBody>
      </p:sp>
      <p:sp>
        <p:nvSpPr>
          <p:cNvPr id="2" name="text-10">
            <a:extLst xmlns:a="http://schemas.openxmlformats.org/drawingml/2006/main">
              <a:ext uri="{FF2B5EF4-FFF2-40B4-BE49-F238E27FC236}">
                <a16:creationId xmlns:a16="http://schemas.microsoft.com/office/drawing/2014/main" id="{F8B45FEA-9D19-4C6B-9277-067A51F4A68A}"/>
              </a:ext>
            </a:extLst>
          </p:cNvPr>
          <p:cNvSpPr>
            <a:spLocks xmlns:a="http://schemas.openxmlformats.org/drawingml/2006/main" noGrp="1"/>
          </p:cNvSpPr>
          <p:nvPr/>
        </p:nvSpPr>
        <p:spPr>
          <a:xfrm xmlns:a="http://schemas.openxmlformats.org/drawingml/2006/main">
            <a:off x="609600" y="723900"/>
            <a:ext cx="10858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925" b="1">
                <a:solidFill>
                  <a:srgbClr val="002060"/>
                </a:solidFill>
                <a:latin typeface="Calibri"/>
                <a:ea typeface="Calibri"/>
                <a:cs typeface="Calibri"/>
              </a:defRPr>
            </a:pPr>
            <a:r>
              <a:rPr sz="2925" b="1">
                <a:solidFill>
                  <a:srgbClr val="002060"/>
                </a:solidFill>
                <a:latin typeface="Calibri"/>
                <a:ea typeface="Calibri"/>
                <a:cs typeface="Calibri"/>
              </a:rPr>
              <a:t>Akses langsung menjadi fokus pengembangan CMC</a:t>
            </a:r>
          </a:p>
        </p:txBody>
      </p:sp>
      <p:sp>
        <p:nvSpPr>
          <p:cNvPr id="3" name="text-11">
            <a:extLst xmlns:a="http://schemas.openxmlformats.org/drawingml/2006/main">
              <a:ext uri="{FF2B5EF4-FFF2-40B4-BE49-F238E27FC236}">
                <a16:creationId xmlns:a16="http://schemas.microsoft.com/office/drawing/2014/main" id="{F71908B2-68C1-4270-B7E5-B9308FE063CB}"/>
              </a:ext>
            </a:extLst>
          </p:cNvPr>
          <p:cNvSpPr>
            <a:spLocks xmlns:a="http://schemas.openxmlformats.org/drawingml/2006/main" noGrp="1"/>
          </p:cNvSpPr>
          <p:nvPr/>
        </p:nvSpPr>
        <p:spPr>
          <a:xfrm xmlns:a="http://schemas.openxmlformats.org/drawingml/2006/main">
            <a:off x="609600" y="1666875"/>
            <a:ext cx="10858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65717D"/>
                </a:solidFill>
                <a:latin typeface="Calibri"/>
                <a:ea typeface="Calibri"/>
                <a:cs typeface="Calibri"/>
              </a:defRPr>
            </a:pPr>
            <a:r>
              <a:rPr sz="1500" b="0">
                <a:solidFill>
                  <a:srgbClr val="65717D"/>
                </a:solidFill>
                <a:latin typeface="Calibri"/>
                <a:ea typeface="Calibri"/>
                <a:cs typeface="Calibri"/>
              </a:rPr>
              <a:t>Founder Live menguji engagement. Intimate Dinner menguji kesediaan membayar akses yang lebih dekat.</a:t>
            </a:r>
          </a:p>
        </p:txBody>
      </p:sp>
      <p:sp>
        <p:nvSpPr>
          <p:cNvPr id="4" name="">
            <a:extLst xmlns:a="http://schemas.openxmlformats.org/drawingml/2006/main">
              <a:ext uri="{FF2B5EF4-FFF2-40B4-BE49-F238E27FC236}">
                <a16:creationId xmlns:a16="http://schemas.microsoft.com/office/drawing/2014/main" id="{2BE46114-9333-4E45-86EF-038711941E5D}"/>
              </a:ext>
            </a:extLst>
          </p:cNvPr>
          <p:cNvSpPr>
            <a:spLocks xmlns:a="http://schemas.openxmlformats.org/drawingml/2006/main" noGrp="1"/>
          </p:cNvSpPr>
          <p:nvPr/>
        </p:nvSpPr>
        <p:spPr>
          <a:xfrm xmlns:a="http://schemas.openxmlformats.org/drawingml/2006/main">
            <a:off x="609600" y="6381750"/>
            <a:ext cx="10972800" cy="0"/>
          </a:xfrm>
          <a:prstGeom xmlns:a="http://schemas.openxmlformats.org/drawingml/2006/main" prst="line">
            <a:avLst/>
          </a:prstGeom>
          <a:noFill xmlns:a="http://schemas.openxmlformats.org/drawingml/2006/main"/>
          <a:ln xmlns:a="http://schemas.openxmlformats.org/drawingml/2006/main" w="9525">
            <a:solidFill>
              <a:srgbClr val="DCE2E8"/>
            </a:solidFill>
          </a:ln>
        </p:spPr>
      </p:sp>
      <p:sp>
        <p:nvSpPr>
          <p:cNvPr id="5" name="text-12">
            <a:extLst xmlns:a="http://schemas.openxmlformats.org/drawingml/2006/main">
              <a:ext uri="{FF2B5EF4-FFF2-40B4-BE49-F238E27FC236}">
                <a16:creationId xmlns:a16="http://schemas.microsoft.com/office/drawing/2014/main" id="{F835E3CF-D1EF-412A-A1E1-52B10FCA0C77}"/>
              </a:ext>
            </a:extLst>
          </p:cNvPr>
          <p:cNvSpPr>
            <a:spLocks xmlns:a="http://schemas.openxmlformats.org/drawingml/2006/main" noGrp="1"/>
          </p:cNvSpPr>
          <p:nvPr/>
        </p:nvSpPr>
        <p:spPr>
          <a:xfrm xmlns:a="http://schemas.openxmlformats.org/drawingml/2006/main">
            <a:off x="609600" y="6505575"/>
            <a:ext cx="10191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825" b="0">
                <a:solidFill>
                  <a:srgbClr val="65717D"/>
                </a:solidFill>
                <a:latin typeface="Calibri"/>
                <a:ea typeface="Calibri"/>
                <a:cs typeface="Calibri"/>
              </a:defRPr>
            </a:pPr>
            <a:r>
              <a:rPr sz="825" b="0">
                <a:solidFill>
                  <a:srgbClr val="65717D"/>
                </a:solidFill>
                <a:latin typeface="Calibri"/>
                <a:ea typeface="Calibri"/>
                <a:cs typeface="Calibri"/>
              </a:rPr>
              <a:t>CMC internal, Oktober 2026. Angka usulan mengikuti deck sumber.</a:t>
            </a:r>
          </a:p>
        </p:txBody>
      </p:sp>
      <p:sp>
        <p:nvSpPr>
          <p:cNvPr id="6" name="text-13">
            <a:extLst xmlns:a="http://schemas.openxmlformats.org/drawingml/2006/main">
              <a:ext uri="{FF2B5EF4-FFF2-40B4-BE49-F238E27FC236}">
                <a16:creationId xmlns:a16="http://schemas.microsoft.com/office/drawing/2014/main" id="{3C845F2E-94E9-418E-81B5-8E760A873866}"/>
              </a:ext>
            </a:extLst>
          </p:cNvPr>
          <p:cNvSpPr>
            <a:spLocks xmlns:a="http://schemas.openxmlformats.org/drawingml/2006/main" noGrp="1"/>
          </p:cNvSpPr>
          <p:nvPr/>
        </p:nvSpPr>
        <p:spPr>
          <a:xfrm xmlns:a="http://schemas.openxmlformats.org/drawingml/2006/main">
            <a:off x="11125200" y="6486525"/>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002060"/>
                </a:solidFill>
                <a:latin typeface="Calibri"/>
                <a:ea typeface="Calibri"/>
                <a:cs typeface="Calibri"/>
              </a:defRPr>
            </a:pPr>
            <a:r>
              <a:rPr sz="1050" b="1">
                <a:solidFill>
                  <a:srgbClr val="002060"/>
                </a:solidFill>
                <a:latin typeface="Calibri"/>
                <a:ea typeface="Calibri"/>
                <a:cs typeface="Calibri"/>
              </a:rPr>
              <a:t>02</a:t>
            </a:r>
          </a:p>
        </p:txBody>
      </p:sp>
      <p:sp>
        <p:nvSpPr>
          <p:cNvPr id="7" name="text-14">
            <a:extLst xmlns:a="http://schemas.openxmlformats.org/drawingml/2006/main">
              <a:ext uri="{FF2B5EF4-FFF2-40B4-BE49-F238E27FC236}">
                <a16:creationId xmlns:a16="http://schemas.microsoft.com/office/drawing/2014/main" id="{2DB3EEC5-4224-4761-879A-7DF2255F4ABC}"/>
              </a:ext>
            </a:extLst>
          </p:cNvPr>
          <p:cNvSpPr>
            <a:spLocks xmlns:a="http://schemas.openxmlformats.org/drawingml/2006/main" noGrp="1"/>
          </p:cNvSpPr>
          <p:nvPr/>
        </p:nvSpPr>
        <p:spPr>
          <a:xfrm xmlns:a="http://schemas.openxmlformats.org/drawingml/2006/main">
            <a:off x="609600" y="2486025"/>
            <a:ext cx="4286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002060"/>
                </a:solidFill>
                <a:latin typeface="Calibri"/>
                <a:ea typeface="Calibri"/>
                <a:cs typeface="Calibri"/>
              </a:defRPr>
            </a:pPr>
            <a:r>
              <a:rPr sz="2250" b="1">
                <a:solidFill>
                  <a:srgbClr val="002060"/>
                </a:solidFill>
                <a:latin typeface="Calibri"/>
                <a:ea typeface="Calibri"/>
                <a:cs typeface="Calibri"/>
              </a:rPr>
              <a:t>Fondasi sudah ada</a:t>
            </a:r>
          </a:p>
        </p:txBody>
      </p:sp>
      <p:sp>
        <p:nvSpPr>
          <p:cNvPr id="8" name="text-15">
            <a:extLst xmlns:a="http://schemas.openxmlformats.org/drawingml/2006/main">
              <a:ext uri="{FF2B5EF4-FFF2-40B4-BE49-F238E27FC236}">
                <a16:creationId xmlns:a16="http://schemas.microsoft.com/office/drawing/2014/main" id="{600B8F85-D569-4ACB-868B-4C77EC1933D8}"/>
              </a:ext>
            </a:extLst>
          </p:cNvPr>
          <p:cNvSpPr>
            <a:spLocks xmlns:a="http://schemas.openxmlformats.org/drawingml/2006/main" noGrp="1"/>
          </p:cNvSpPr>
          <p:nvPr/>
        </p:nvSpPr>
        <p:spPr>
          <a:xfrm xmlns:a="http://schemas.openxmlformats.org/drawingml/2006/main">
            <a:off x="609600" y="3038475"/>
            <a:ext cx="4667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273746"/>
                </a:solidFill>
                <a:latin typeface="Calibri"/>
                <a:ea typeface="Calibri"/>
                <a:cs typeface="Calibri"/>
              </a:defRPr>
            </a:pPr>
            <a:r>
              <a:rPr sz="2025" b="0">
                <a:solidFill>
                  <a:srgbClr val="273746"/>
                </a:solidFill>
                <a:latin typeface="Calibri"/>
                <a:ea typeface="Calibri"/>
                <a:cs typeface="Calibri"/>
              </a:rPr>
              <a:t>Modul rekaman + tools / AI</a:t>
            </a:r>
          </a:p>
          <a:p xmlns:a="http://schemas.openxmlformats.org/drawingml/2006/main">
            <a:pPr>
              <a:defRPr sz="2025" b="0">
                <a:solidFill>
                  <a:srgbClr val="273746"/>
                </a:solidFill>
                <a:latin typeface="Calibri"/>
                <a:ea typeface="Calibri"/>
                <a:cs typeface="Calibri"/>
              </a:defRPr>
            </a:pPr>
            <a:r>
              <a:rPr sz="2025" b="0">
                <a:solidFill>
                  <a:srgbClr val="273746"/>
                </a:solidFill>
                <a:latin typeface="Calibri"/>
                <a:ea typeface="Calibri"/>
                <a:cs typeface="Calibri"/>
              </a:rPr>
              <a:t>Founder Live batch pertama</a:t>
            </a:r>
          </a:p>
        </p:txBody>
      </p:sp>
      <p:sp>
        <p:nvSpPr>
          <p:cNvPr id="9" name="text-16">
            <a:extLst xmlns:a="http://schemas.openxmlformats.org/drawingml/2006/main">
              <a:ext uri="{FF2B5EF4-FFF2-40B4-BE49-F238E27FC236}">
                <a16:creationId xmlns:a16="http://schemas.microsoft.com/office/drawing/2014/main" id="{B0CA8A52-1B0A-4060-BCF0-6C39357DA9C3}"/>
              </a:ext>
            </a:extLst>
          </p:cNvPr>
          <p:cNvSpPr>
            <a:spLocks xmlns:a="http://schemas.openxmlformats.org/drawingml/2006/main" noGrp="1"/>
          </p:cNvSpPr>
          <p:nvPr/>
        </p:nvSpPr>
        <p:spPr>
          <a:xfrm xmlns:a="http://schemas.openxmlformats.org/drawingml/2006/main">
            <a:off x="609600" y="4238625"/>
            <a:ext cx="4762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600" b="1">
                <a:solidFill>
                  <a:srgbClr val="002060"/>
                </a:solidFill>
                <a:latin typeface="Calibri"/>
                <a:ea typeface="Calibri"/>
                <a:cs typeface="Calibri"/>
              </a:defRPr>
            </a:pPr>
            <a:r>
              <a:rPr sz="3600" b="1">
                <a:solidFill>
                  <a:srgbClr val="002060"/>
                </a:solidFill>
                <a:latin typeface="Calibri"/>
                <a:ea typeface="Calibri"/>
                <a:cs typeface="Calibri"/>
              </a:rPr>
              <a:t>Rp1,5 jt</a:t>
            </a:r>
          </a:p>
        </p:txBody>
      </p:sp>
      <p:sp>
        <p:nvSpPr>
          <p:cNvPr id="10" name="text-17">
            <a:extLst xmlns:a="http://schemas.openxmlformats.org/drawingml/2006/main">
              <a:ext uri="{FF2B5EF4-FFF2-40B4-BE49-F238E27FC236}">
                <a16:creationId xmlns:a16="http://schemas.microsoft.com/office/drawing/2014/main" id="{0ED0D7DB-8010-4B29-90EF-083CD4523892}"/>
              </a:ext>
            </a:extLst>
          </p:cNvPr>
          <p:cNvSpPr>
            <a:spLocks xmlns:a="http://schemas.openxmlformats.org/drawingml/2006/main" noGrp="1"/>
          </p:cNvSpPr>
          <p:nvPr/>
        </p:nvSpPr>
        <p:spPr>
          <a:xfrm xmlns:a="http://schemas.openxmlformats.org/drawingml/2006/main">
            <a:off x="609600" y="4867275"/>
            <a:ext cx="428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65717D"/>
                </a:solidFill>
                <a:latin typeface="Calibri"/>
                <a:ea typeface="Calibri"/>
                <a:cs typeface="Calibri"/>
              </a:defRPr>
            </a:pPr>
            <a:r>
              <a:rPr sz="1500" b="0">
                <a:solidFill>
                  <a:srgbClr val="65717D"/>
                </a:solidFill>
                <a:latin typeface="Calibri"/>
                <a:ea typeface="Calibri"/>
                <a:cs typeface="Calibri"/>
              </a:rPr>
              <a:t>current membership</a:t>
            </a:r>
          </a:p>
        </p:txBody>
      </p:sp>
      <p:sp>
        <p:nvSpPr>
          <p:cNvPr id="11" name="text-18">
            <a:extLst xmlns:a="http://schemas.openxmlformats.org/drawingml/2006/main">
              <a:ext uri="{FF2B5EF4-FFF2-40B4-BE49-F238E27FC236}">
                <a16:creationId xmlns:a16="http://schemas.microsoft.com/office/drawing/2014/main" id="{ABE42E84-0AF0-4012-ABCD-B1B709495734}"/>
              </a:ext>
            </a:extLst>
          </p:cNvPr>
          <p:cNvSpPr>
            <a:spLocks xmlns:a="http://schemas.openxmlformats.org/drawingml/2006/main" noGrp="1"/>
          </p:cNvSpPr>
          <p:nvPr/>
        </p:nvSpPr>
        <p:spPr>
          <a:xfrm xmlns:a="http://schemas.openxmlformats.org/drawingml/2006/main">
            <a:off x="6343650" y="2524125"/>
            <a:ext cx="4762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002060"/>
                </a:solidFill>
                <a:latin typeface="Calibri"/>
                <a:ea typeface="Calibri"/>
                <a:cs typeface="Calibri"/>
              </a:defRPr>
            </a:pPr>
            <a:r>
              <a:rPr sz="3300" b="1">
                <a:solidFill>
                  <a:srgbClr val="002060"/>
                </a:solidFill>
                <a:latin typeface="Calibri"/>
                <a:ea typeface="Calibri"/>
                <a:cs typeface="Calibri"/>
              </a:rPr>
              <a:t>8 sesi</a:t>
            </a:r>
          </a:p>
        </p:txBody>
      </p:sp>
      <p:sp>
        <p:nvSpPr>
          <p:cNvPr id="12" name="text-19">
            <a:extLst xmlns:a="http://schemas.openxmlformats.org/drawingml/2006/main">
              <a:ext uri="{FF2B5EF4-FFF2-40B4-BE49-F238E27FC236}">
                <a16:creationId xmlns:a16="http://schemas.microsoft.com/office/drawing/2014/main" id="{222A9CE1-7E79-4E08-8629-72F705F7C8AF}"/>
              </a:ext>
            </a:extLst>
          </p:cNvPr>
          <p:cNvSpPr>
            <a:spLocks xmlns:a="http://schemas.openxmlformats.org/drawingml/2006/main" noGrp="1"/>
          </p:cNvSpPr>
          <p:nvPr/>
        </p:nvSpPr>
        <p:spPr>
          <a:xfrm xmlns:a="http://schemas.openxmlformats.org/drawingml/2006/main">
            <a:off x="6343650" y="3114675"/>
            <a:ext cx="4762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273746"/>
                </a:solidFill>
                <a:latin typeface="Calibri"/>
                <a:ea typeface="Calibri"/>
                <a:cs typeface="Calibri"/>
              </a:defRPr>
            </a:pPr>
            <a:r>
              <a:rPr sz="1875" b="1">
                <a:solidFill>
                  <a:srgbClr val="273746"/>
                </a:solidFill>
                <a:latin typeface="Calibri"/>
                <a:ea typeface="Calibri"/>
                <a:cs typeface="Calibri"/>
              </a:rPr>
              <a:t>Founder Live</a:t>
            </a:r>
          </a:p>
        </p:txBody>
      </p:sp>
      <p:sp>
        <p:nvSpPr>
          <p:cNvPr id="13" name="text-20">
            <a:extLst xmlns:a="http://schemas.openxmlformats.org/drawingml/2006/main">
              <a:ext uri="{FF2B5EF4-FFF2-40B4-BE49-F238E27FC236}">
                <a16:creationId xmlns:a16="http://schemas.microsoft.com/office/drawing/2014/main" id="{B7126D68-C882-4B68-AD86-18DCAE4F0D4D}"/>
              </a:ext>
            </a:extLst>
          </p:cNvPr>
          <p:cNvSpPr>
            <a:spLocks xmlns:a="http://schemas.openxmlformats.org/drawingml/2006/main" noGrp="1"/>
          </p:cNvSpPr>
          <p:nvPr/>
        </p:nvSpPr>
        <p:spPr>
          <a:xfrm xmlns:a="http://schemas.openxmlformats.org/drawingml/2006/main">
            <a:off x="6343650" y="3495675"/>
            <a:ext cx="4572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65717D"/>
                </a:solidFill>
                <a:latin typeface="Calibri"/>
                <a:ea typeface="Calibri"/>
                <a:cs typeface="Calibri"/>
              </a:defRPr>
            </a:pPr>
            <a:r>
              <a:rPr sz="1500" b="0">
                <a:solidFill>
                  <a:srgbClr val="65717D"/>
                </a:solidFill>
                <a:latin typeface="Calibri"/>
                <a:ea typeface="Calibri"/>
                <a:cs typeface="Calibri"/>
              </a:rPr>
              <a:t>Diskusi keputusan bisnis, termasuk membership</a:t>
            </a:r>
          </a:p>
        </p:txBody>
      </p:sp>
      <p:sp>
        <p:nvSpPr>
          <p:cNvPr id="14" name="text-21">
            <a:extLst xmlns:a="http://schemas.openxmlformats.org/drawingml/2006/main">
              <a:ext uri="{FF2B5EF4-FFF2-40B4-BE49-F238E27FC236}">
                <a16:creationId xmlns:a16="http://schemas.microsoft.com/office/drawing/2014/main" id="{46CD4DEF-D95E-4E47-9B48-D186316DF973}"/>
              </a:ext>
            </a:extLst>
          </p:cNvPr>
          <p:cNvSpPr>
            <a:spLocks xmlns:a="http://schemas.openxmlformats.org/drawingml/2006/main" noGrp="1"/>
          </p:cNvSpPr>
          <p:nvPr/>
        </p:nvSpPr>
        <p:spPr>
          <a:xfrm xmlns:a="http://schemas.openxmlformats.org/drawingml/2006/main">
            <a:off x="6343650" y="4000500"/>
            <a:ext cx="4762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002060"/>
                </a:solidFill>
                <a:latin typeface="Calibri"/>
                <a:ea typeface="Calibri"/>
                <a:cs typeface="Calibri"/>
              </a:defRPr>
            </a:pPr>
            <a:r>
              <a:rPr sz="3300" b="1">
                <a:solidFill>
                  <a:srgbClr val="002060"/>
                </a:solidFill>
                <a:latin typeface="Calibri"/>
                <a:ea typeface="Calibri"/>
                <a:cs typeface="Calibri"/>
              </a:rPr>
              <a:t>20 seat</a:t>
            </a:r>
          </a:p>
        </p:txBody>
      </p:sp>
      <p:sp>
        <p:nvSpPr>
          <p:cNvPr id="15" name="text-22">
            <a:extLst xmlns:a="http://schemas.openxmlformats.org/drawingml/2006/main">
              <a:ext uri="{FF2B5EF4-FFF2-40B4-BE49-F238E27FC236}">
                <a16:creationId xmlns:a16="http://schemas.microsoft.com/office/drawing/2014/main" id="{C3A3A751-CDD9-4F43-80BC-C6467676FF92}"/>
              </a:ext>
            </a:extLst>
          </p:cNvPr>
          <p:cNvSpPr>
            <a:spLocks xmlns:a="http://schemas.openxmlformats.org/drawingml/2006/main" noGrp="1"/>
          </p:cNvSpPr>
          <p:nvPr/>
        </p:nvSpPr>
        <p:spPr>
          <a:xfrm xmlns:a="http://schemas.openxmlformats.org/drawingml/2006/main">
            <a:off x="6343650" y="4591050"/>
            <a:ext cx="4762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273746"/>
                </a:solidFill>
                <a:latin typeface="Calibri"/>
                <a:ea typeface="Calibri"/>
                <a:cs typeface="Calibri"/>
              </a:defRPr>
            </a:pPr>
            <a:r>
              <a:rPr sz="1875" b="1">
                <a:solidFill>
                  <a:srgbClr val="273746"/>
                </a:solidFill>
                <a:latin typeface="Calibri"/>
                <a:ea typeface="Calibri"/>
                <a:cs typeface="Calibri"/>
              </a:rPr>
              <a:t>Intimate Dinner</a:t>
            </a:r>
          </a:p>
        </p:txBody>
      </p:sp>
      <p:sp>
        <p:nvSpPr>
          <p:cNvPr id="16" name="text-23">
            <a:extLst xmlns:a="http://schemas.openxmlformats.org/drawingml/2006/main">
              <a:ext uri="{FF2B5EF4-FFF2-40B4-BE49-F238E27FC236}">
                <a16:creationId xmlns:a16="http://schemas.microsoft.com/office/drawing/2014/main" id="{7F81B952-F947-4F98-A16C-9DBEA7BC9527}"/>
              </a:ext>
            </a:extLst>
          </p:cNvPr>
          <p:cNvSpPr>
            <a:spLocks xmlns:a="http://schemas.openxmlformats.org/drawingml/2006/main" noGrp="1"/>
          </p:cNvSpPr>
          <p:nvPr/>
        </p:nvSpPr>
        <p:spPr>
          <a:xfrm xmlns:a="http://schemas.openxmlformats.org/drawingml/2006/main">
            <a:off x="6343650" y="4972050"/>
            <a:ext cx="4572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65717D"/>
                </a:solidFill>
                <a:latin typeface="Calibri"/>
                <a:ea typeface="Calibri"/>
                <a:cs typeface="Calibri"/>
              </a:defRPr>
            </a:pPr>
            <a:r>
              <a:rPr sz="1500" b="0">
                <a:solidFill>
                  <a:srgbClr val="65717D"/>
                </a:solidFill>
                <a:latin typeface="Calibri"/>
                <a:ea typeface="Calibri"/>
                <a:cs typeface="Calibri"/>
              </a:rPr>
              <a:t>Akses offline terbatas, add-on berbayar</a:t>
            </a:r>
          </a:p>
        </p:txBody>
      </p:sp>
      <p:sp>
        <p:nvSpPr>
          <p:cNvPr id="17" name="">
            <a:extLst xmlns:a="http://schemas.openxmlformats.org/drawingml/2006/main">
              <a:ext uri="{FF2B5EF4-FFF2-40B4-BE49-F238E27FC236}">
                <a16:creationId xmlns:a16="http://schemas.microsoft.com/office/drawing/2014/main" id="{CA36192E-4445-4FB5-A5AF-61821C1839B4}"/>
              </a:ext>
            </a:extLst>
          </p:cNvPr>
          <p:cNvSpPr>
            <a:spLocks xmlns:a="http://schemas.openxmlformats.org/drawingml/2006/main" noGrp="1"/>
          </p:cNvSpPr>
          <p:nvPr/>
        </p:nvSpPr>
        <p:spPr>
          <a:xfrm xmlns:a="http://schemas.openxmlformats.org/drawingml/2006/main">
            <a:off x="609600" y="5762625"/>
            <a:ext cx="10972800" cy="0"/>
          </a:xfrm>
          <a:prstGeom xmlns:a="http://schemas.openxmlformats.org/drawingml/2006/main" prst="line">
            <a:avLst/>
          </a:prstGeom>
          <a:noFill xmlns:a="http://schemas.openxmlformats.org/drawingml/2006/main"/>
          <a:ln xmlns:a="http://schemas.openxmlformats.org/drawingml/2006/main" w="9525">
            <a:solidFill>
              <a:srgbClr val="DCE2E8"/>
            </a:solidFill>
          </a:ln>
        </p:spPr>
      </p:sp>
      <p:sp>
        <p:nvSpPr>
          <p:cNvPr id="18" name="text-24">
            <a:extLst xmlns:a="http://schemas.openxmlformats.org/drawingml/2006/main">
              <a:ext uri="{FF2B5EF4-FFF2-40B4-BE49-F238E27FC236}">
                <a16:creationId xmlns:a16="http://schemas.microsoft.com/office/drawing/2014/main" id="{9D9DC5F4-F23A-4CE7-8B08-2794DA74A588}"/>
              </a:ext>
            </a:extLst>
          </p:cNvPr>
          <p:cNvSpPr>
            <a:spLocks xmlns:a="http://schemas.openxmlformats.org/drawingml/2006/main" noGrp="1"/>
          </p:cNvSpPr>
          <p:nvPr/>
        </p:nvSpPr>
        <p:spPr>
          <a:xfrm xmlns:a="http://schemas.openxmlformats.org/drawingml/2006/main">
            <a:off x="609600" y="5953125"/>
            <a:ext cx="109061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002060"/>
                </a:solidFill>
                <a:latin typeface="Calibri"/>
                <a:ea typeface="Calibri"/>
                <a:cs typeface="Calibri"/>
              </a:defRPr>
            </a:pPr>
            <a:r>
              <a:rPr sz="1650" b="1">
                <a:solidFill>
                  <a:srgbClr val="002060"/>
                </a:solidFill>
                <a:latin typeface="Calibri"/>
                <a:ea typeface="Calibri"/>
                <a:cs typeface="Calibri"/>
              </a:rPr>
              <a:t>Pilot dulu. Rp2,5 jt dan ~Rp5 jt tetap usulan sampai manfaat dan economics terbukti.</a:t>
            </a:r>
          </a:p>
        </p:txBody>
      </p:sp>
    </p:spTree>
    <p:extLst>
      <p:ext uri="{BB962C8B-B14F-4D97-AF65-F5344CB8AC3E}">
        <p14:creationId xmlns:p14="http://schemas.microsoft.com/office/powerpoint/2010/main" val="53535351"/>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text-25">
            <a:extLst xmlns:a="http://schemas.openxmlformats.org/drawingml/2006/main">
              <a:ext uri="{FF2B5EF4-FFF2-40B4-BE49-F238E27FC236}">
                <a16:creationId xmlns:a16="http://schemas.microsoft.com/office/drawing/2014/main" id="{7EC703F0-7B7A-4B9A-B666-0338FEEDFE65}"/>
              </a:ext>
            </a:extLst>
          </p:cNvPr>
          <p:cNvSpPr>
            <a:spLocks xmlns:a="http://schemas.openxmlformats.org/drawingml/2006/main" noGrp="1"/>
          </p:cNvSpPr>
          <p:nvPr/>
        </p:nvSpPr>
        <p:spPr>
          <a:xfrm xmlns:a="http://schemas.openxmlformats.org/drawingml/2006/main">
            <a:off x="609600" y="333375"/>
            <a:ext cx="1066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65717D"/>
                </a:solidFill>
                <a:latin typeface="Calibri"/>
                <a:ea typeface="Calibri"/>
                <a:cs typeface="Calibri"/>
              </a:defRPr>
            </a:pPr>
            <a:r>
              <a:rPr sz="1050" b="1">
                <a:solidFill>
                  <a:srgbClr val="65717D"/>
                </a:solidFill>
                <a:latin typeface="Calibri"/>
                <a:ea typeface="Calibri"/>
                <a:cs typeface="Calibri"/>
              </a:rPr>
              <a:t>POSISI PASAR</a:t>
            </a:r>
          </a:p>
        </p:txBody>
      </p:sp>
      <p:sp>
        <p:nvSpPr>
          <p:cNvPr id="2" name="text-26">
            <a:extLst xmlns:a="http://schemas.openxmlformats.org/drawingml/2006/main">
              <a:ext uri="{FF2B5EF4-FFF2-40B4-BE49-F238E27FC236}">
                <a16:creationId xmlns:a16="http://schemas.microsoft.com/office/drawing/2014/main" id="{F531E5E3-8F6A-4415-9661-F25FCB83A25E}"/>
              </a:ext>
            </a:extLst>
          </p:cNvPr>
          <p:cNvSpPr>
            <a:spLocks xmlns:a="http://schemas.openxmlformats.org/drawingml/2006/main" noGrp="1"/>
          </p:cNvSpPr>
          <p:nvPr/>
        </p:nvSpPr>
        <p:spPr>
          <a:xfrm xmlns:a="http://schemas.openxmlformats.org/drawingml/2006/main">
            <a:off x="609600" y="723900"/>
            <a:ext cx="10858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925" b="1">
                <a:solidFill>
                  <a:srgbClr val="002060"/>
                </a:solidFill>
                <a:latin typeface="Calibri"/>
                <a:ea typeface="Calibri"/>
                <a:cs typeface="Calibri"/>
              </a:defRPr>
            </a:pPr>
            <a:r>
              <a:rPr sz="2925" b="1">
                <a:solidFill>
                  <a:srgbClr val="002060"/>
                </a:solidFill>
                <a:latin typeface="Calibri"/>
                <a:ea typeface="Calibri"/>
                <a:cs typeface="Calibri"/>
              </a:rPr>
              <a:t>CMC berada di harga awal pasar live learning</a:t>
            </a:r>
          </a:p>
        </p:txBody>
      </p:sp>
      <p:sp>
        <p:nvSpPr>
          <p:cNvPr id="3" name="text-27">
            <a:extLst xmlns:a="http://schemas.openxmlformats.org/drawingml/2006/main">
              <a:ext uri="{FF2B5EF4-FFF2-40B4-BE49-F238E27FC236}">
                <a16:creationId xmlns:a16="http://schemas.microsoft.com/office/drawing/2014/main" id="{4B7DB8DE-96C8-4C51-B6D0-730E4739A467}"/>
              </a:ext>
            </a:extLst>
          </p:cNvPr>
          <p:cNvSpPr>
            <a:spLocks xmlns:a="http://schemas.openxmlformats.org/drawingml/2006/main" noGrp="1"/>
          </p:cNvSpPr>
          <p:nvPr/>
        </p:nvSpPr>
        <p:spPr>
          <a:xfrm xmlns:a="http://schemas.openxmlformats.org/drawingml/2006/main">
            <a:off x="609600" y="1666875"/>
            <a:ext cx="10858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65717D"/>
                </a:solidFill>
                <a:latin typeface="Calibri"/>
                <a:ea typeface="Calibri"/>
                <a:cs typeface="Calibri"/>
              </a:defRPr>
            </a:pPr>
            <a:r>
              <a:rPr sz="1500" b="0">
                <a:solidFill>
                  <a:srgbClr val="65717D"/>
                </a:solidFill>
                <a:latin typeface="Calibri"/>
                <a:ea typeface="Calibri"/>
                <a:cs typeface="Calibri"/>
              </a:rPr>
              <a:t>Harga program, Rp juta. Kedekatan akses menjadi pembeda antar-paket.</a:t>
            </a:r>
          </a:p>
        </p:txBody>
      </p:sp>
      <p:sp>
        <p:nvSpPr>
          <p:cNvPr id="4" name="">
            <a:extLst xmlns:a="http://schemas.openxmlformats.org/drawingml/2006/main">
              <a:ext uri="{FF2B5EF4-FFF2-40B4-BE49-F238E27FC236}">
                <a16:creationId xmlns:a16="http://schemas.microsoft.com/office/drawing/2014/main" id="{44DA2DBE-9295-41A2-89C6-0D6DF18C2699}"/>
              </a:ext>
            </a:extLst>
          </p:cNvPr>
          <p:cNvSpPr>
            <a:spLocks xmlns:a="http://schemas.openxmlformats.org/drawingml/2006/main" noGrp="1"/>
          </p:cNvSpPr>
          <p:nvPr/>
        </p:nvSpPr>
        <p:spPr>
          <a:xfrm xmlns:a="http://schemas.openxmlformats.org/drawingml/2006/main">
            <a:off x="609600" y="6381750"/>
            <a:ext cx="10972800" cy="0"/>
          </a:xfrm>
          <a:prstGeom xmlns:a="http://schemas.openxmlformats.org/drawingml/2006/main" prst="line">
            <a:avLst/>
          </a:prstGeom>
          <a:noFill xmlns:a="http://schemas.openxmlformats.org/drawingml/2006/main"/>
          <a:ln xmlns:a="http://schemas.openxmlformats.org/drawingml/2006/main" w="9525">
            <a:solidFill>
              <a:srgbClr val="DCE2E8"/>
            </a:solidFill>
          </a:ln>
        </p:spPr>
      </p:sp>
      <p:sp>
        <p:nvSpPr>
          <p:cNvPr id="5" name="text-28">
            <a:extLst xmlns:a="http://schemas.openxmlformats.org/drawingml/2006/main">
              <a:ext uri="{FF2B5EF4-FFF2-40B4-BE49-F238E27FC236}">
                <a16:creationId xmlns:a16="http://schemas.microsoft.com/office/drawing/2014/main" id="{6D616959-4A3C-4610-AD13-4C79E42AA565}"/>
              </a:ext>
            </a:extLst>
          </p:cNvPr>
          <p:cNvSpPr>
            <a:spLocks xmlns:a="http://schemas.openxmlformats.org/drawingml/2006/main" noGrp="1"/>
          </p:cNvSpPr>
          <p:nvPr/>
        </p:nvSpPr>
        <p:spPr>
          <a:xfrm xmlns:a="http://schemas.openxmlformats.org/drawingml/2006/main">
            <a:off x="609600" y="6505575"/>
            <a:ext cx="10191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825" b="0">
                <a:solidFill>
                  <a:srgbClr val="65717D"/>
                </a:solidFill>
                <a:latin typeface="Calibri"/>
                <a:ea typeface="Calibri"/>
                <a:cs typeface="Calibri"/>
              </a:defRPr>
            </a:pPr>
            <a:r>
              <a:rPr sz="825" b="0">
                <a:solidFill>
                  <a:srgbClr val="65717D"/>
                </a:solidFill>
                <a:latin typeface="Calibri"/>
                <a:ea typeface="Calibri"/>
                <a:cs typeface="Calibri"/>
              </a:rPr>
              <a:t>Sumber: Sevenpreneur Batch 8; Aksoro CEO 3.0, deck sumber (2–3 Okt 2026). Paket tidak identik.</a:t>
            </a:r>
          </a:p>
        </p:txBody>
      </p:sp>
      <p:sp>
        <p:nvSpPr>
          <p:cNvPr id="6" name="text-29">
            <a:extLst xmlns:a="http://schemas.openxmlformats.org/drawingml/2006/main">
              <a:ext uri="{FF2B5EF4-FFF2-40B4-BE49-F238E27FC236}">
                <a16:creationId xmlns:a16="http://schemas.microsoft.com/office/drawing/2014/main" id="{4AD4DECE-A8E6-41BE-8BC2-2C567B75B1A0}"/>
              </a:ext>
            </a:extLst>
          </p:cNvPr>
          <p:cNvSpPr>
            <a:spLocks xmlns:a="http://schemas.openxmlformats.org/drawingml/2006/main" noGrp="1"/>
          </p:cNvSpPr>
          <p:nvPr/>
        </p:nvSpPr>
        <p:spPr>
          <a:xfrm xmlns:a="http://schemas.openxmlformats.org/drawingml/2006/main">
            <a:off x="11125200" y="6486525"/>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002060"/>
                </a:solidFill>
                <a:latin typeface="Calibri"/>
                <a:ea typeface="Calibri"/>
                <a:cs typeface="Calibri"/>
              </a:defRPr>
            </a:pPr>
            <a:r>
              <a:rPr sz="1050" b="1">
                <a:solidFill>
                  <a:srgbClr val="002060"/>
                </a:solidFill>
                <a:latin typeface="Calibri"/>
                <a:ea typeface="Calibri"/>
                <a:cs typeface="Calibri"/>
              </a:rPr>
              <a:t>03</a:t>
            </a:r>
          </a:p>
        </p:txBody>
      </p:sp>
      <p:graphicFrame>
        <p:nvGraphicFramePr>
          <p:cNvPr id="23" name="Chart"/>
          <p:cNvGraphicFramePr/>
          <p:nvPr/>
        </p:nvGraphicFramePr>
        <p:xfrm>
          <a:off xmlns:a="http://schemas.openxmlformats.org/drawingml/2006/main" x="571500" y="2276475"/>
          <a:ext xmlns:a="http://schemas.openxmlformats.org/drawingml/2006/main" cx="7620000" cy="3276600"/>
        </p:xfrm>
        <a:graphic xmlns:a="http://schemas.openxmlformats.org/drawingml/2006/main">
          <a:graphicData uri="http://schemas.openxmlformats.org/drawingml/2006/chart">
            <c:chart xmlns:r="http://schemas.openxmlformats.org/officeDocument/2006/relationships" xmlns:c="http://schemas.openxmlformats.org/drawingml/2006/chart" r:id="Rc34c7a46c2fd4ad4"/>
          </a:graphicData>
        </a:graphic>
      </p:graphicFrame>
      <p:sp>
        <p:nvSpPr>
          <p:cNvPr id="8" name="text-30">
            <a:extLst xmlns:a="http://schemas.openxmlformats.org/drawingml/2006/main">
              <a:ext uri="{FF2B5EF4-FFF2-40B4-BE49-F238E27FC236}">
                <a16:creationId xmlns:a16="http://schemas.microsoft.com/office/drawing/2014/main" id="{51856B75-B497-42AD-87A8-E3CF7414D17E}"/>
              </a:ext>
            </a:extLst>
          </p:cNvPr>
          <p:cNvSpPr>
            <a:spLocks xmlns:a="http://schemas.openxmlformats.org/drawingml/2006/main" noGrp="1"/>
          </p:cNvSpPr>
          <p:nvPr/>
        </p:nvSpPr>
        <p:spPr>
          <a:xfrm xmlns:a="http://schemas.openxmlformats.org/drawingml/2006/main">
            <a:off x="8858250" y="2333625"/>
            <a:ext cx="2762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002060"/>
                </a:solidFill>
                <a:latin typeface="Calibri"/>
                <a:ea typeface="Calibri"/>
                <a:cs typeface="Calibri"/>
              </a:defRPr>
            </a:pPr>
            <a:r>
              <a:rPr sz="1875" b="1">
                <a:solidFill>
                  <a:srgbClr val="002060"/>
                </a:solidFill>
                <a:latin typeface="Calibri"/>
                <a:ea typeface="Calibri"/>
                <a:cs typeface="Calibri"/>
              </a:rPr>
              <a:t>Yang perlu ditambah</a:t>
            </a:r>
          </a:p>
        </p:txBody>
      </p:sp>
      <p:sp>
        <p:nvSpPr>
          <p:cNvPr id="9" name="text-31">
            <a:extLst xmlns:a="http://schemas.openxmlformats.org/drawingml/2006/main">
              <a:ext uri="{FF2B5EF4-FFF2-40B4-BE49-F238E27FC236}">
                <a16:creationId xmlns:a16="http://schemas.microsoft.com/office/drawing/2014/main" id="{A6D7338A-FC0A-498C-8038-B34610A56FC1}"/>
              </a:ext>
            </a:extLst>
          </p:cNvPr>
          <p:cNvSpPr>
            <a:spLocks xmlns:a="http://schemas.openxmlformats.org/drawingml/2006/main" noGrp="1"/>
          </p:cNvSpPr>
          <p:nvPr/>
        </p:nvSpPr>
        <p:spPr>
          <a:xfrm xmlns:a="http://schemas.openxmlformats.org/drawingml/2006/main">
            <a:off x="8858250" y="2962275"/>
            <a:ext cx="27146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273746"/>
                </a:solidFill>
                <a:latin typeface="Calibri"/>
                <a:ea typeface="Calibri"/>
                <a:cs typeface="Calibri"/>
              </a:defRPr>
            </a:pPr>
            <a:r>
              <a:rPr sz="1875" b="1">
                <a:solidFill>
                  <a:srgbClr val="273746"/>
                </a:solidFill>
                <a:latin typeface="Calibri"/>
                <a:ea typeface="Calibri"/>
                <a:cs typeface="Calibri"/>
              </a:rPr>
              <a:t>Community</a:t>
            </a:r>
          </a:p>
        </p:txBody>
      </p:sp>
      <p:sp>
        <p:nvSpPr>
          <p:cNvPr id="10" name="text-32">
            <a:extLst xmlns:a="http://schemas.openxmlformats.org/drawingml/2006/main">
              <a:ext uri="{FF2B5EF4-FFF2-40B4-BE49-F238E27FC236}">
                <a16:creationId xmlns:a16="http://schemas.microsoft.com/office/drawing/2014/main" id="{8926B944-29C6-4468-A861-B7A04E254974}"/>
              </a:ext>
            </a:extLst>
          </p:cNvPr>
          <p:cNvSpPr>
            <a:spLocks xmlns:a="http://schemas.openxmlformats.org/drawingml/2006/main" noGrp="1"/>
          </p:cNvSpPr>
          <p:nvPr/>
        </p:nvSpPr>
        <p:spPr>
          <a:xfrm xmlns:a="http://schemas.openxmlformats.org/drawingml/2006/main">
            <a:off x="8858250" y="3295650"/>
            <a:ext cx="2714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65717D"/>
                </a:solidFill>
                <a:latin typeface="Calibri"/>
                <a:ea typeface="Calibri"/>
                <a:cs typeface="Calibri"/>
              </a:defRPr>
            </a:pPr>
            <a:r>
              <a:rPr sz="1350" b="0">
                <a:solidFill>
                  <a:srgbClr val="65717D"/>
                </a:solidFill>
                <a:latin typeface="Calibri"/>
                <a:ea typeface="Calibri"/>
                <a:cs typeface="Calibri"/>
              </a:rPr>
              <a:t>Belum ada di CMC</a:t>
            </a:r>
          </a:p>
        </p:txBody>
      </p:sp>
      <p:sp>
        <p:nvSpPr>
          <p:cNvPr id="11" name="text-33">
            <a:extLst xmlns:a="http://schemas.openxmlformats.org/drawingml/2006/main">
              <a:ext uri="{FF2B5EF4-FFF2-40B4-BE49-F238E27FC236}">
                <a16:creationId xmlns:a16="http://schemas.microsoft.com/office/drawing/2014/main" id="{788EFD0B-97EB-4CD8-95D8-B442B339644D}"/>
              </a:ext>
            </a:extLst>
          </p:cNvPr>
          <p:cNvSpPr>
            <a:spLocks xmlns:a="http://schemas.openxmlformats.org/drawingml/2006/main" noGrp="1"/>
          </p:cNvSpPr>
          <p:nvPr/>
        </p:nvSpPr>
        <p:spPr>
          <a:xfrm xmlns:a="http://schemas.openxmlformats.org/drawingml/2006/main">
            <a:off x="8858250" y="3724275"/>
            <a:ext cx="27146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273746"/>
                </a:solidFill>
                <a:latin typeface="Calibri"/>
                <a:ea typeface="Calibri"/>
                <a:cs typeface="Calibri"/>
              </a:defRPr>
            </a:pPr>
            <a:r>
              <a:rPr sz="1875" b="1">
                <a:solidFill>
                  <a:srgbClr val="273746"/>
                </a:solidFill>
                <a:latin typeface="Calibri"/>
                <a:ea typeface="Calibri"/>
                <a:cs typeface="Calibri"/>
              </a:rPr>
              <a:t>Offline access</a:t>
            </a:r>
          </a:p>
        </p:txBody>
      </p:sp>
      <p:sp>
        <p:nvSpPr>
          <p:cNvPr id="12" name="text-34">
            <a:extLst xmlns:a="http://schemas.openxmlformats.org/drawingml/2006/main">
              <a:ext uri="{FF2B5EF4-FFF2-40B4-BE49-F238E27FC236}">
                <a16:creationId xmlns:a16="http://schemas.microsoft.com/office/drawing/2014/main" id="{54A45D9F-893E-4D1E-A1FC-F0346F6DD01F}"/>
              </a:ext>
            </a:extLst>
          </p:cNvPr>
          <p:cNvSpPr>
            <a:spLocks xmlns:a="http://schemas.openxmlformats.org/drawingml/2006/main" noGrp="1"/>
          </p:cNvSpPr>
          <p:nvPr/>
        </p:nvSpPr>
        <p:spPr>
          <a:xfrm xmlns:a="http://schemas.openxmlformats.org/drawingml/2006/main">
            <a:off x="8858250" y="4057650"/>
            <a:ext cx="2714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65717D"/>
                </a:solidFill>
                <a:latin typeface="Calibri"/>
                <a:ea typeface="Calibri"/>
                <a:cs typeface="Calibri"/>
              </a:defRPr>
            </a:pPr>
            <a:r>
              <a:rPr sz="1350" b="0">
                <a:solidFill>
                  <a:srgbClr val="65717D"/>
                </a:solidFill>
                <a:latin typeface="Calibri"/>
                <a:ea typeface="Calibri"/>
                <a:cs typeface="Calibri"/>
              </a:rPr>
              <a:t>Belum ada di CMC</a:t>
            </a:r>
          </a:p>
        </p:txBody>
      </p:sp>
      <p:sp>
        <p:nvSpPr>
          <p:cNvPr id="13" name="text-35">
            <a:extLst xmlns:a="http://schemas.openxmlformats.org/drawingml/2006/main">
              <a:ext uri="{FF2B5EF4-FFF2-40B4-BE49-F238E27FC236}">
                <a16:creationId xmlns:a16="http://schemas.microsoft.com/office/drawing/2014/main" id="{72E52C80-D6E8-49A1-A725-B62C6464C084}"/>
              </a:ext>
            </a:extLst>
          </p:cNvPr>
          <p:cNvSpPr>
            <a:spLocks xmlns:a="http://schemas.openxmlformats.org/drawingml/2006/main" noGrp="1"/>
          </p:cNvSpPr>
          <p:nvPr/>
        </p:nvSpPr>
        <p:spPr>
          <a:xfrm xmlns:a="http://schemas.openxmlformats.org/drawingml/2006/main">
            <a:off x="8858250" y="4486275"/>
            <a:ext cx="27146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273746"/>
                </a:solidFill>
                <a:latin typeface="Calibri"/>
                <a:ea typeface="Calibri"/>
                <a:cs typeface="Calibri"/>
              </a:defRPr>
            </a:pPr>
            <a:r>
              <a:rPr sz="1875" b="1">
                <a:solidFill>
                  <a:srgbClr val="273746"/>
                </a:solidFill>
                <a:latin typeface="Calibri"/>
                <a:ea typeface="Calibri"/>
                <a:cs typeface="Calibri"/>
              </a:rPr>
              <a:t>Credential</a:t>
            </a:r>
          </a:p>
        </p:txBody>
      </p:sp>
      <p:sp>
        <p:nvSpPr>
          <p:cNvPr id="14" name="text-36">
            <a:extLst xmlns:a="http://schemas.openxmlformats.org/drawingml/2006/main">
              <a:ext uri="{FF2B5EF4-FFF2-40B4-BE49-F238E27FC236}">
                <a16:creationId xmlns:a16="http://schemas.microsoft.com/office/drawing/2014/main" id="{885121CC-F0CE-46CE-AA94-36D5271DC043}"/>
              </a:ext>
            </a:extLst>
          </p:cNvPr>
          <p:cNvSpPr>
            <a:spLocks xmlns:a="http://schemas.openxmlformats.org/drawingml/2006/main" noGrp="1"/>
          </p:cNvSpPr>
          <p:nvPr/>
        </p:nvSpPr>
        <p:spPr>
          <a:xfrm xmlns:a="http://schemas.openxmlformats.org/drawingml/2006/main">
            <a:off x="8858250" y="4819650"/>
            <a:ext cx="2714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65717D"/>
                </a:solidFill>
                <a:latin typeface="Calibri"/>
                <a:ea typeface="Calibri"/>
                <a:cs typeface="Calibri"/>
              </a:defRPr>
            </a:pPr>
            <a:r>
              <a:rPr sz="1350" b="0">
                <a:solidFill>
                  <a:srgbClr val="65717D"/>
                </a:solidFill>
                <a:latin typeface="Calibri"/>
                <a:ea typeface="Calibri"/>
                <a:cs typeface="Calibri"/>
              </a:rPr>
              <a:t>Belum ada di CMC</a:t>
            </a:r>
          </a:p>
        </p:txBody>
      </p:sp>
      <p:sp>
        <p:nvSpPr>
          <p:cNvPr id="15" name="">
            <a:extLst xmlns:a="http://schemas.openxmlformats.org/drawingml/2006/main">
              <a:ext uri="{FF2B5EF4-FFF2-40B4-BE49-F238E27FC236}">
                <a16:creationId xmlns:a16="http://schemas.microsoft.com/office/drawing/2014/main" id="{023AF1C5-3AB0-4198-8547-D3BDB3F5752B}"/>
              </a:ext>
            </a:extLst>
          </p:cNvPr>
          <p:cNvSpPr>
            <a:spLocks xmlns:a="http://schemas.openxmlformats.org/drawingml/2006/main" noGrp="1"/>
          </p:cNvSpPr>
          <p:nvPr/>
        </p:nvSpPr>
        <p:spPr>
          <a:xfrm xmlns:a="http://schemas.openxmlformats.org/drawingml/2006/main">
            <a:off x="609600" y="5762625"/>
            <a:ext cx="10972800" cy="0"/>
          </a:xfrm>
          <a:prstGeom xmlns:a="http://schemas.openxmlformats.org/drawingml/2006/main" prst="line">
            <a:avLst/>
          </a:prstGeom>
          <a:noFill xmlns:a="http://schemas.openxmlformats.org/drawingml/2006/main"/>
          <a:ln xmlns:a="http://schemas.openxmlformats.org/drawingml/2006/main" w="9525">
            <a:solidFill>
              <a:srgbClr val="DCE2E8"/>
            </a:solidFill>
          </a:ln>
        </p:spPr>
      </p:sp>
      <p:sp>
        <p:nvSpPr>
          <p:cNvPr id="16" name="text-37">
            <a:extLst xmlns:a="http://schemas.openxmlformats.org/drawingml/2006/main">
              <a:ext uri="{FF2B5EF4-FFF2-40B4-BE49-F238E27FC236}">
                <a16:creationId xmlns:a16="http://schemas.microsoft.com/office/drawing/2014/main" id="{D72C623C-8DB9-4485-A3F7-6782E2F8AFD7}"/>
              </a:ext>
            </a:extLst>
          </p:cNvPr>
          <p:cNvSpPr>
            <a:spLocks xmlns:a="http://schemas.openxmlformats.org/drawingml/2006/main" noGrp="1"/>
          </p:cNvSpPr>
          <p:nvPr/>
        </p:nvSpPr>
        <p:spPr>
          <a:xfrm xmlns:a="http://schemas.openxmlformats.org/drawingml/2006/main">
            <a:off x="609600" y="5953125"/>
            <a:ext cx="109061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002060"/>
                </a:solidFill>
                <a:latin typeface="Calibri"/>
                <a:ea typeface="Calibri"/>
                <a:cs typeface="Calibri"/>
              </a:defRPr>
            </a:pPr>
            <a:r>
              <a:rPr sz="1650" b="1">
                <a:solidFill>
                  <a:srgbClr val="002060"/>
                </a:solidFill>
                <a:latin typeface="Calibri"/>
                <a:ea typeface="Calibri"/>
                <a:cs typeface="Calibri"/>
              </a:rPr>
              <a:t>Pricing berikutnya perlu manfaat baru setelah content dan live Q&amp;A.</a:t>
            </a:r>
          </a:p>
        </p:txBody>
      </p:sp>
    </p:spTree>
    <p:extLst>
      <p:ext uri="{BB962C8B-B14F-4D97-AF65-F5344CB8AC3E}">
        <p14:creationId xmlns:p14="http://schemas.microsoft.com/office/powerpoint/2010/main" val="1545718457"/>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0" name="text-38">
            <a:extLst xmlns:a="http://schemas.openxmlformats.org/drawingml/2006/main">
              <a:ext uri="{FF2B5EF4-FFF2-40B4-BE49-F238E27FC236}">
                <a16:creationId xmlns:a16="http://schemas.microsoft.com/office/drawing/2014/main" id="{0E12EE47-CB20-46FB-A5EA-8169D9137DA7}"/>
              </a:ext>
            </a:extLst>
          </p:cNvPr>
          <p:cNvSpPr>
            <a:spLocks xmlns:a="http://schemas.openxmlformats.org/drawingml/2006/main" noGrp="1"/>
          </p:cNvSpPr>
          <p:nvPr/>
        </p:nvSpPr>
        <p:spPr>
          <a:xfrm xmlns:a="http://schemas.openxmlformats.org/drawingml/2006/main">
            <a:off x="609600" y="333375"/>
            <a:ext cx="1066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65717D"/>
                </a:solidFill>
                <a:latin typeface="Calibri"/>
                <a:ea typeface="Calibri"/>
                <a:cs typeface="Calibri"/>
              </a:defRPr>
            </a:pPr>
            <a:r>
              <a:rPr sz="1050" b="1">
                <a:solidFill>
                  <a:srgbClr val="65717D"/>
                </a:solidFill>
                <a:latin typeface="Calibri"/>
                <a:ea typeface="Calibri"/>
                <a:cs typeface="Calibri"/>
              </a:rPr>
              <a:t>PRICING ROADMAP</a:t>
            </a:r>
          </a:p>
        </p:txBody>
      </p:sp>
      <p:sp>
        <p:nvSpPr>
          <p:cNvPr id="2" name="text-39">
            <a:extLst xmlns:a="http://schemas.openxmlformats.org/drawingml/2006/main">
              <a:ext uri="{FF2B5EF4-FFF2-40B4-BE49-F238E27FC236}">
                <a16:creationId xmlns:a16="http://schemas.microsoft.com/office/drawing/2014/main" id="{AED282DB-A3D6-4DB7-A37C-879924CE8F79}"/>
              </a:ext>
            </a:extLst>
          </p:cNvPr>
          <p:cNvSpPr>
            <a:spLocks xmlns:a="http://schemas.openxmlformats.org/drawingml/2006/main" noGrp="1"/>
          </p:cNvSpPr>
          <p:nvPr/>
        </p:nvSpPr>
        <p:spPr>
          <a:xfrm xmlns:a="http://schemas.openxmlformats.org/drawingml/2006/main">
            <a:off x="609600" y="723900"/>
            <a:ext cx="10858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925" b="1">
                <a:solidFill>
                  <a:srgbClr val="002060"/>
                </a:solidFill>
                <a:latin typeface="Calibri"/>
                <a:ea typeface="Calibri"/>
                <a:cs typeface="Calibri"/>
              </a:defRPr>
            </a:pPr>
            <a:r>
              <a:rPr sz="2925" b="1">
                <a:solidFill>
                  <a:srgbClr val="002060"/>
                </a:solidFill>
                <a:latin typeface="Calibri"/>
                <a:ea typeface="Calibri"/>
                <a:cs typeface="Calibri"/>
              </a:rPr>
              <a:t>Community dan member benefits menjadi alasan kenaikan ke Rp2,5 jt</a:t>
            </a:r>
          </a:p>
        </p:txBody>
      </p:sp>
      <p:sp>
        <p:nvSpPr>
          <p:cNvPr id="3" name="text-40">
            <a:extLst xmlns:a="http://schemas.openxmlformats.org/drawingml/2006/main">
              <a:ext uri="{FF2B5EF4-FFF2-40B4-BE49-F238E27FC236}">
                <a16:creationId xmlns:a16="http://schemas.microsoft.com/office/drawing/2014/main" id="{DCEA2A0D-624A-4C10-89AA-DAC7B77D67F5}"/>
              </a:ext>
            </a:extLst>
          </p:cNvPr>
          <p:cNvSpPr>
            <a:spLocks xmlns:a="http://schemas.openxmlformats.org/drawingml/2006/main" noGrp="1"/>
          </p:cNvSpPr>
          <p:nvPr/>
        </p:nvSpPr>
        <p:spPr>
          <a:xfrm xmlns:a="http://schemas.openxmlformats.org/drawingml/2006/main">
            <a:off x="609600" y="1666875"/>
            <a:ext cx="10858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65717D"/>
                </a:solidFill>
                <a:latin typeface="Calibri"/>
                <a:ea typeface="Calibri"/>
                <a:cs typeface="Calibri"/>
              </a:defRPr>
            </a:pPr>
            <a:r>
              <a:rPr sz="1500" b="0">
                <a:solidFill>
                  <a:srgbClr val="65717D"/>
                </a:solidFill>
                <a:latin typeface="Calibri"/>
                <a:ea typeface="Calibri"/>
                <a:cs typeface="Calibri"/>
              </a:rPr>
              <a:t>Founder Live batch pertama sudah termasuk harga saat ini.</a:t>
            </a:r>
          </a:p>
        </p:txBody>
      </p:sp>
      <p:sp>
        <p:nvSpPr>
          <p:cNvPr id="4" name="">
            <a:extLst xmlns:a="http://schemas.openxmlformats.org/drawingml/2006/main">
              <a:ext uri="{FF2B5EF4-FFF2-40B4-BE49-F238E27FC236}">
                <a16:creationId xmlns:a16="http://schemas.microsoft.com/office/drawing/2014/main" id="{9263F01C-EECA-40AB-9CB7-F5CB34BDF38E}"/>
              </a:ext>
            </a:extLst>
          </p:cNvPr>
          <p:cNvSpPr>
            <a:spLocks xmlns:a="http://schemas.openxmlformats.org/drawingml/2006/main" noGrp="1"/>
          </p:cNvSpPr>
          <p:nvPr/>
        </p:nvSpPr>
        <p:spPr>
          <a:xfrm xmlns:a="http://schemas.openxmlformats.org/drawingml/2006/main">
            <a:off x="609600" y="6381750"/>
            <a:ext cx="10972800" cy="0"/>
          </a:xfrm>
          <a:prstGeom xmlns:a="http://schemas.openxmlformats.org/drawingml/2006/main" prst="line">
            <a:avLst/>
          </a:prstGeom>
          <a:noFill xmlns:a="http://schemas.openxmlformats.org/drawingml/2006/main"/>
          <a:ln xmlns:a="http://schemas.openxmlformats.org/drawingml/2006/main" w="9525">
            <a:solidFill>
              <a:srgbClr val="DCE2E8"/>
            </a:solidFill>
          </a:ln>
        </p:spPr>
      </p:sp>
      <p:sp>
        <p:nvSpPr>
          <p:cNvPr id="5" name="text-41">
            <a:extLst xmlns:a="http://schemas.openxmlformats.org/drawingml/2006/main">
              <a:ext uri="{FF2B5EF4-FFF2-40B4-BE49-F238E27FC236}">
                <a16:creationId xmlns:a16="http://schemas.microsoft.com/office/drawing/2014/main" id="{3D930CD7-1438-4E50-8C3F-CD52C3B5EEDA}"/>
              </a:ext>
            </a:extLst>
          </p:cNvPr>
          <p:cNvSpPr>
            <a:spLocks xmlns:a="http://schemas.openxmlformats.org/drawingml/2006/main" noGrp="1"/>
          </p:cNvSpPr>
          <p:nvPr/>
        </p:nvSpPr>
        <p:spPr>
          <a:xfrm xmlns:a="http://schemas.openxmlformats.org/drawingml/2006/main">
            <a:off x="609600" y="6505575"/>
            <a:ext cx="10191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825" b="0">
                <a:solidFill>
                  <a:srgbClr val="65717D"/>
                </a:solidFill>
                <a:latin typeface="Calibri"/>
                <a:ea typeface="Calibri"/>
                <a:cs typeface="Calibri"/>
              </a:defRPr>
            </a:pPr>
            <a:r>
              <a:rPr sz="825" b="0">
                <a:solidFill>
                  <a:srgbClr val="65717D"/>
                </a:solidFill>
                <a:latin typeface="Calibri"/>
                <a:ea typeface="Calibri"/>
                <a:cs typeface="Calibri"/>
              </a:rPr>
              <a:t>CMC internal, Oktober 2026. Angka usulan mengikuti deck sumber.</a:t>
            </a:r>
          </a:p>
        </p:txBody>
      </p:sp>
      <p:sp>
        <p:nvSpPr>
          <p:cNvPr id="6" name="text-42">
            <a:extLst xmlns:a="http://schemas.openxmlformats.org/drawingml/2006/main">
              <a:ext uri="{FF2B5EF4-FFF2-40B4-BE49-F238E27FC236}">
                <a16:creationId xmlns:a16="http://schemas.microsoft.com/office/drawing/2014/main" id="{CFDFF48B-1D7B-4625-B542-A412CF7055D2}"/>
              </a:ext>
            </a:extLst>
          </p:cNvPr>
          <p:cNvSpPr>
            <a:spLocks xmlns:a="http://schemas.openxmlformats.org/drawingml/2006/main" noGrp="1"/>
          </p:cNvSpPr>
          <p:nvPr/>
        </p:nvSpPr>
        <p:spPr>
          <a:xfrm xmlns:a="http://schemas.openxmlformats.org/drawingml/2006/main">
            <a:off x="11125200" y="6486525"/>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002060"/>
                </a:solidFill>
                <a:latin typeface="Calibri"/>
                <a:ea typeface="Calibri"/>
                <a:cs typeface="Calibri"/>
              </a:defRPr>
            </a:pPr>
            <a:r>
              <a:rPr sz="1050" b="1">
                <a:solidFill>
                  <a:srgbClr val="002060"/>
                </a:solidFill>
                <a:latin typeface="Calibri"/>
                <a:ea typeface="Calibri"/>
                <a:cs typeface="Calibri"/>
              </a:rPr>
              <a:t>04</a:t>
            </a:r>
          </a:p>
        </p:txBody>
      </p:sp>
      <p:sp>
        <p:nvSpPr>
          <p:cNvPr id="7" name="text-43">
            <a:extLst xmlns:a="http://schemas.openxmlformats.org/drawingml/2006/main">
              <a:ext uri="{FF2B5EF4-FFF2-40B4-BE49-F238E27FC236}">
                <a16:creationId xmlns:a16="http://schemas.microsoft.com/office/drawing/2014/main" id="{8B38E9A2-E536-4ED3-9241-153A677203F0}"/>
              </a:ext>
            </a:extLst>
          </p:cNvPr>
          <p:cNvSpPr>
            <a:spLocks xmlns:a="http://schemas.openxmlformats.org/drawingml/2006/main" noGrp="1"/>
          </p:cNvSpPr>
          <p:nvPr/>
        </p:nvSpPr>
        <p:spPr>
          <a:xfrm xmlns:a="http://schemas.openxmlformats.org/drawingml/2006/main">
            <a:off x="609600" y="2447925"/>
            <a:ext cx="3238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1">
                <a:solidFill>
                  <a:srgbClr val="65717D"/>
                </a:solidFill>
                <a:latin typeface="Calibri"/>
                <a:ea typeface="Calibri"/>
                <a:cs typeface="Calibri"/>
              </a:defRPr>
            </a:pPr>
            <a:r>
              <a:rPr sz="1125" b="1">
                <a:solidFill>
                  <a:srgbClr val="65717D"/>
                </a:solidFill>
                <a:latin typeface="Calibri"/>
                <a:ea typeface="Calibri"/>
                <a:cs typeface="Calibri"/>
              </a:rPr>
              <a:t>CURRENT / INTERNAL</a:t>
            </a:r>
          </a:p>
        </p:txBody>
      </p:sp>
      <p:sp>
        <p:nvSpPr>
          <p:cNvPr id="8" name="text-44">
            <a:extLst xmlns:a="http://schemas.openxmlformats.org/drawingml/2006/main">
              <a:ext uri="{FF2B5EF4-FFF2-40B4-BE49-F238E27FC236}">
                <a16:creationId xmlns:a16="http://schemas.microsoft.com/office/drawing/2014/main" id="{E54B441B-1A2C-4A83-8797-B153CA46CC45}"/>
              </a:ext>
            </a:extLst>
          </p:cNvPr>
          <p:cNvSpPr>
            <a:spLocks xmlns:a="http://schemas.openxmlformats.org/drawingml/2006/main" noGrp="1"/>
          </p:cNvSpPr>
          <p:nvPr/>
        </p:nvSpPr>
        <p:spPr>
          <a:xfrm xmlns:a="http://schemas.openxmlformats.org/drawingml/2006/main">
            <a:off x="609600" y="2781300"/>
            <a:ext cx="3238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675" b="1">
                <a:solidFill>
                  <a:srgbClr val="002060"/>
                </a:solidFill>
                <a:latin typeface="Calibri"/>
                <a:ea typeface="Calibri"/>
                <a:cs typeface="Calibri"/>
              </a:defRPr>
            </a:pPr>
            <a:r>
              <a:rPr sz="3675" b="1">
                <a:solidFill>
                  <a:srgbClr val="002060"/>
                </a:solidFill>
                <a:latin typeface="Calibri"/>
                <a:ea typeface="Calibri"/>
                <a:cs typeface="Calibri"/>
              </a:rPr>
              <a:t>Rp1,5 jt</a:t>
            </a:r>
          </a:p>
        </p:txBody>
      </p:sp>
      <p:sp>
        <p:nvSpPr>
          <p:cNvPr id="9" name="">
            <a:extLst xmlns:a="http://schemas.openxmlformats.org/drawingml/2006/main">
              <a:ext uri="{FF2B5EF4-FFF2-40B4-BE49-F238E27FC236}">
                <a16:creationId xmlns:a16="http://schemas.microsoft.com/office/drawing/2014/main" id="{A5AE4CEB-3C70-44BB-9966-9BC813B554B3}"/>
              </a:ext>
            </a:extLst>
          </p:cNvPr>
          <p:cNvSpPr>
            <a:spLocks xmlns:a="http://schemas.openxmlformats.org/drawingml/2006/main" noGrp="1"/>
          </p:cNvSpPr>
          <p:nvPr/>
        </p:nvSpPr>
        <p:spPr>
          <a:xfrm xmlns:a="http://schemas.openxmlformats.org/drawingml/2006/main">
            <a:off x="609600" y="3562350"/>
            <a:ext cx="3286125" cy="0"/>
          </a:xfrm>
          <a:prstGeom xmlns:a="http://schemas.openxmlformats.org/drawingml/2006/main" prst="line">
            <a:avLst/>
          </a:prstGeom>
          <a:noFill xmlns:a="http://schemas.openxmlformats.org/drawingml/2006/main"/>
          <a:ln xmlns:a="http://schemas.openxmlformats.org/drawingml/2006/main" w="28575">
            <a:solidFill>
              <a:srgbClr val="002060"/>
            </a:solidFill>
          </a:ln>
        </p:spPr>
      </p:sp>
      <p:sp>
        <p:nvSpPr>
          <p:cNvPr id="10" name="text-45">
            <a:extLst xmlns:a="http://schemas.openxmlformats.org/drawingml/2006/main">
              <a:ext uri="{FF2B5EF4-FFF2-40B4-BE49-F238E27FC236}">
                <a16:creationId xmlns:a16="http://schemas.microsoft.com/office/drawing/2014/main" id="{360706F8-8802-47AD-A031-607BCF28DC11}"/>
              </a:ext>
            </a:extLst>
          </p:cNvPr>
          <p:cNvSpPr>
            <a:spLocks xmlns:a="http://schemas.openxmlformats.org/drawingml/2006/main" noGrp="1"/>
          </p:cNvSpPr>
          <p:nvPr/>
        </p:nvSpPr>
        <p:spPr>
          <a:xfrm xmlns:a="http://schemas.openxmlformats.org/drawingml/2006/main">
            <a:off x="609600" y="3829050"/>
            <a:ext cx="3333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1">
                <a:solidFill>
                  <a:srgbClr val="002060"/>
                </a:solidFill>
                <a:latin typeface="Calibri"/>
                <a:ea typeface="Calibri"/>
                <a:cs typeface="Calibri"/>
              </a:defRPr>
            </a:pPr>
            <a:r>
              <a:rPr sz="1800" b="1">
                <a:solidFill>
                  <a:srgbClr val="002060"/>
                </a:solidFill>
                <a:latin typeface="Calibri"/>
                <a:ea typeface="Calibri"/>
                <a:cs typeface="Calibri"/>
              </a:rPr>
              <a:t>Core membership</a:t>
            </a:r>
          </a:p>
        </p:txBody>
      </p:sp>
      <p:sp>
        <p:nvSpPr>
          <p:cNvPr id="11" name="text-46">
            <a:extLst xmlns:a="http://schemas.openxmlformats.org/drawingml/2006/main">
              <a:ext uri="{FF2B5EF4-FFF2-40B4-BE49-F238E27FC236}">
                <a16:creationId xmlns:a16="http://schemas.microsoft.com/office/drawing/2014/main" id="{6E7D8E27-0D01-4B89-A82E-CA81B26C7F13}"/>
              </a:ext>
            </a:extLst>
          </p:cNvPr>
          <p:cNvSpPr>
            <a:spLocks xmlns:a="http://schemas.openxmlformats.org/drawingml/2006/main" noGrp="1"/>
          </p:cNvSpPr>
          <p:nvPr/>
        </p:nvSpPr>
        <p:spPr>
          <a:xfrm xmlns:a="http://schemas.openxmlformats.org/drawingml/2006/main">
            <a:off x="609600" y="4314825"/>
            <a:ext cx="32956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273746"/>
                </a:solidFill>
                <a:latin typeface="Calibri"/>
                <a:ea typeface="Calibri"/>
                <a:cs typeface="Calibri"/>
              </a:defRPr>
            </a:pPr>
            <a:r>
              <a:rPr sz="1650" b="0">
                <a:solidFill>
                  <a:srgbClr val="273746"/>
                </a:solidFill>
                <a:latin typeface="Calibri"/>
                <a:ea typeface="Calibri"/>
                <a:cs typeface="Calibri"/>
              </a:rPr>
              <a:t>Modul rekaman</a:t>
            </a:r>
          </a:p>
        </p:txBody>
      </p:sp>
      <p:sp>
        <p:nvSpPr>
          <p:cNvPr id="12" name="text-47">
            <a:extLst xmlns:a="http://schemas.openxmlformats.org/drawingml/2006/main">
              <a:ext uri="{FF2B5EF4-FFF2-40B4-BE49-F238E27FC236}">
                <a16:creationId xmlns:a16="http://schemas.microsoft.com/office/drawing/2014/main" id="{4C0DAD49-043D-4400-BF9C-530D5B83D49A}"/>
              </a:ext>
            </a:extLst>
          </p:cNvPr>
          <p:cNvSpPr>
            <a:spLocks xmlns:a="http://schemas.openxmlformats.org/drawingml/2006/main" noGrp="1"/>
          </p:cNvSpPr>
          <p:nvPr/>
        </p:nvSpPr>
        <p:spPr>
          <a:xfrm xmlns:a="http://schemas.openxmlformats.org/drawingml/2006/main">
            <a:off x="609600" y="4724400"/>
            <a:ext cx="32956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273746"/>
                </a:solidFill>
                <a:latin typeface="Calibri"/>
                <a:ea typeface="Calibri"/>
                <a:cs typeface="Calibri"/>
              </a:defRPr>
            </a:pPr>
            <a:r>
              <a:rPr sz="1650" b="0">
                <a:solidFill>
                  <a:srgbClr val="273746"/>
                </a:solidFill>
                <a:latin typeface="Calibri"/>
                <a:ea typeface="Calibri"/>
                <a:cs typeface="Calibri"/>
              </a:rPr>
              <a:t>Tools / AI</a:t>
            </a:r>
          </a:p>
        </p:txBody>
      </p:sp>
      <p:sp>
        <p:nvSpPr>
          <p:cNvPr id="13" name="text-48">
            <a:extLst xmlns:a="http://schemas.openxmlformats.org/drawingml/2006/main">
              <a:ext uri="{FF2B5EF4-FFF2-40B4-BE49-F238E27FC236}">
                <a16:creationId xmlns:a16="http://schemas.microsoft.com/office/drawing/2014/main" id="{F0C6CD28-C11E-4465-A390-C9D4B17AAD86}"/>
              </a:ext>
            </a:extLst>
          </p:cNvPr>
          <p:cNvSpPr>
            <a:spLocks xmlns:a="http://schemas.openxmlformats.org/drawingml/2006/main" noGrp="1"/>
          </p:cNvSpPr>
          <p:nvPr/>
        </p:nvSpPr>
        <p:spPr>
          <a:xfrm xmlns:a="http://schemas.openxmlformats.org/drawingml/2006/main">
            <a:off x="609600" y="5133975"/>
            <a:ext cx="32956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273746"/>
                </a:solidFill>
                <a:latin typeface="Calibri"/>
                <a:ea typeface="Calibri"/>
                <a:cs typeface="Calibri"/>
              </a:defRPr>
            </a:pPr>
            <a:r>
              <a:rPr sz="1650" b="0">
                <a:solidFill>
                  <a:srgbClr val="273746"/>
                </a:solidFill>
                <a:latin typeface="Calibri"/>
                <a:ea typeface="Calibri"/>
                <a:cs typeface="Calibri"/>
              </a:rPr>
              <a:t>Founder Live batch pertama</a:t>
            </a:r>
          </a:p>
        </p:txBody>
      </p:sp>
      <p:sp>
        <p:nvSpPr>
          <p:cNvPr id="14" name="text-49">
            <a:extLst xmlns:a="http://schemas.openxmlformats.org/drawingml/2006/main">
              <a:ext uri="{FF2B5EF4-FFF2-40B4-BE49-F238E27FC236}">
                <a16:creationId xmlns:a16="http://schemas.microsoft.com/office/drawing/2014/main" id="{312E7E10-D5FD-4228-B3CF-11F2646BF1BC}"/>
              </a:ext>
            </a:extLst>
          </p:cNvPr>
          <p:cNvSpPr>
            <a:spLocks xmlns:a="http://schemas.openxmlformats.org/drawingml/2006/main" noGrp="1"/>
          </p:cNvSpPr>
          <p:nvPr/>
        </p:nvSpPr>
        <p:spPr>
          <a:xfrm xmlns:a="http://schemas.openxmlformats.org/drawingml/2006/main">
            <a:off x="4448175" y="2447925"/>
            <a:ext cx="3238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1">
                <a:solidFill>
                  <a:srgbClr val="65717D"/>
                </a:solidFill>
                <a:latin typeface="Calibri"/>
                <a:ea typeface="Calibri"/>
                <a:cs typeface="Calibri"/>
              </a:defRPr>
            </a:pPr>
            <a:r>
              <a:rPr sz="1125" b="1">
                <a:solidFill>
                  <a:srgbClr val="65717D"/>
                </a:solidFill>
                <a:latin typeface="Calibri"/>
                <a:ea typeface="Calibri"/>
                <a:cs typeface="Calibri"/>
              </a:rPr>
              <a:t>NEXT / USULAN</a:t>
            </a:r>
          </a:p>
        </p:txBody>
      </p:sp>
      <p:sp>
        <p:nvSpPr>
          <p:cNvPr id="15" name="text-50">
            <a:extLst xmlns:a="http://schemas.openxmlformats.org/drawingml/2006/main">
              <a:ext uri="{FF2B5EF4-FFF2-40B4-BE49-F238E27FC236}">
                <a16:creationId xmlns:a16="http://schemas.microsoft.com/office/drawing/2014/main" id="{C7423E15-0BC6-463A-B299-BD59EA8EC932}"/>
              </a:ext>
            </a:extLst>
          </p:cNvPr>
          <p:cNvSpPr>
            <a:spLocks xmlns:a="http://schemas.openxmlformats.org/drawingml/2006/main" noGrp="1"/>
          </p:cNvSpPr>
          <p:nvPr/>
        </p:nvSpPr>
        <p:spPr>
          <a:xfrm xmlns:a="http://schemas.openxmlformats.org/drawingml/2006/main">
            <a:off x="4448175" y="2781300"/>
            <a:ext cx="3238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675" b="1">
                <a:solidFill>
                  <a:srgbClr val="002060"/>
                </a:solidFill>
                <a:latin typeface="Calibri"/>
                <a:ea typeface="Calibri"/>
                <a:cs typeface="Calibri"/>
              </a:defRPr>
            </a:pPr>
            <a:r>
              <a:rPr sz="3675" b="1">
                <a:solidFill>
                  <a:srgbClr val="002060"/>
                </a:solidFill>
                <a:latin typeface="Calibri"/>
                <a:ea typeface="Calibri"/>
                <a:cs typeface="Calibri"/>
              </a:rPr>
              <a:t>Rp2,5 jt</a:t>
            </a:r>
          </a:p>
        </p:txBody>
      </p:sp>
      <p:sp>
        <p:nvSpPr>
          <p:cNvPr id="16" name="">
            <a:extLst xmlns:a="http://schemas.openxmlformats.org/drawingml/2006/main">
              <a:ext uri="{FF2B5EF4-FFF2-40B4-BE49-F238E27FC236}">
                <a16:creationId xmlns:a16="http://schemas.microsoft.com/office/drawing/2014/main" id="{BE238C48-B264-4D21-BBD1-EC90320B1FD8}"/>
              </a:ext>
            </a:extLst>
          </p:cNvPr>
          <p:cNvSpPr>
            <a:spLocks xmlns:a="http://schemas.openxmlformats.org/drawingml/2006/main" noGrp="1"/>
          </p:cNvSpPr>
          <p:nvPr/>
        </p:nvSpPr>
        <p:spPr>
          <a:xfrm xmlns:a="http://schemas.openxmlformats.org/drawingml/2006/main">
            <a:off x="4448175" y="3562350"/>
            <a:ext cx="3286125" cy="0"/>
          </a:xfrm>
          <a:prstGeom xmlns:a="http://schemas.openxmlformats.org/drawingml/2006/main" prst="line">
            <a:avLst/>
          </a:prstGeom>
          <a:noFill xmlns:a="http://schemas.openxmlformats.org/drawingml/2006/main"/>
          <a:ln xmlns:a="http://schemas.openxmlformats.org/drawingml/2006/main" w="28575">
            <a:solidFill>
              <a:srgbClr val="002060"/>
            </a:solidFill>
          </a:ln>
        </p:spPr>
      </p:sp>
      <p:sp>
        <p:nvSpPr>
          <p:cNvPr id="17" name="text-51">
            <a:extLst xmlns:a="http://schemas.openxmlformats.org/drawingml/2006/main">
              <a:ext uri="{FF2B5EF4-FFF2-40B4-BE49-F238E27FC236}">
                <a16:creationId xmlns:a16="http://schemas.microsoft.com/office/drawing/2014/main" id="{3B0BB290-AD51-4A5A-9CD9-21C8B4FAE6D8}"/>
              </a:ext>
            </a:extLst>
          </p:cNvPr>
          <p:cNvSpPr>
            <a:spLocks xmlns:a="http://schemas.openxmlformats.org/drawingml/2006/main" noGrp="1"/>
          </p:cNvSpPr>
          <p:nvPr/>
        </p:nvSpPr>
        <p:spPr>
          <a:xfrm xmlns:a="http://schemas.openxmlformats.org/drawingml/2006/main">
            <a:off x="4448175" y="3829050"/>
            <a:ext cx="3333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1">
                <a:solidFill>
                  <a:srgbClr val="002060"/>
                </a:solidFill>
                <a:latin typeface="Calibri"/>
                <a:ea typeface="Calibri"/>
                <a:cs typeface="Calibri"/>
              </a:defRPr>
            </a:pPr>
            <a:r>
              <a:rPr sz="1800" b="1">
                <a:solidFill>
                  <a:srgbClr val="002060"/>
                </a:solidFill>
                <a:latin typeface="Calibri"/>
                <a:ea typeface="Calibri"/>
                <a:cs typeface="Calibri"/>
              </a:rPr>
              <a:t>Tambahan membership</a:t>
            </a:r>
          </a:p>
        </p:txBody>
      </p:sp>
      <p:sp>
        <p:nvSpPr>
          <p:cNvPr id="18" name="text-52">
            <a:extLst xmlns:a="http://schemas.openxmlformats.org/drawingml/2006/main">
              <a:ext uri="{FF2B5EF4-FFF2-40B4-BE49-F238E27FC236}">
                <a16:creationId xmlns:a16="http://schemas.microsoft.com/office/drawing/2014/main" id="{9AB2AE11-F0AA-4EEC-8BFF-FC529F1DFEE9}"/>
              </a:ext>
            </a:extLst>
          </p:cNvPr>
          <p:cNvSpPr>
            <a:spLocks xmlns:a="http://schemas.openxmlformats.org/drawingml/2006/main" noGrp="1"/>
          </p:cNvSpPr>
          <p:nvPr/>
        </p:nvSpPr>
        <p:spPr>
          <a:xfrm xmlns:a="http://schemas.openxmlformats.org/drawingml/2006/main">
            <a:off x="4448175" y="4314825"/>
            <a:ext cx="32956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273746"/>
                </a:solidFill>
                <a:latin typeface="Calibri"/>
                <a:ea typeface="Calibri"/>
                <a:cs typeface="Calibri"/>
              </a:defRPr>
            </a:pPr>
            <a:r>
              <a:rPr sz="1650" b="0">
                <a:solidFill>
                  <a:srgbClr val="273746"/>
                </a:solidFill>
                <a:latin typeface="Calibri"/>
                <a:ea typeface="Calibri"/>
                <a:cs typeface="Calibri"/>
              </a:rPr>
              <a:t>Community + CMC Connect</a:t>
            </a:r>
          </a:p>
        </p:txBody>
      </p:sp>
      <p:sp>
        <p:nvSpPr>
          <p:cNvPr id="19" name="text-53">
            <a:extLst xmlns:a="http://schemas.openxmlformats.org/drawingml/2006/main">
              <a:ext uri="{FF2B5EF4-FFF2-40B4-BE49-F238E27FC236}">
                <a16:creationId xmlns:a16="http://schemas.microsoft.com/office/drawing/2014/main" id="{C904AA03-84B0-445C-8E7A-879AA6F42D99}"/>
              </a:ext>
            </a:extLst>
          </p:cNvPr>
          <p:cNvSpPr>
            <a:spLocks xmlns:a="http://schemas.openxmlformats.org/drawingml/2006/main" noGrp="1"/>
          </p:cNvSpPr>
          <p:nvPr/>
        </p:nvSpPr>
        <p:spPr>
          <a:xfrm xmlns:a="http://schemas.openxmlformats.org/drawingml/2006/main">
            <a:off x="4448175" y="4724400"/>
            <a:ext cx="32956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273746"/>
                </a:solidFill>
                <a:latin typeface="Calibri"/>
                <a:ea typeface="Calibri"/>
                <a:cs typeface="Calibri"/>
              </a:defRPr>
            </a:pPr>
            <a:r>
              <a:rPr sz="1650" b="0">
                <a:solidFill>
                  <a:srgbClr val="273746"/>
                </a:solidFill>
                <a:latin typeface="Calibri"/>
                <a:ea typeface="Calibri"/>
                <a:cs typeface="Calibri"/>
              </a:rPr>
              <a:t>Gathering + alumni / network</a:t>
            </a:r>
          </a:p>
        </p:txBody>
      </p:sp>
      <p:sp>
        <p:nvSpPr>
          <p:cNvPr id="20" name="text-54">
            <a:extLst xmlns:a="http://schemas.openxmlformats.org/drawingml/2006/main">
              <a:ext uri="{FF2B5EF4-FFF2-40B4-BE49-F238E27FC236}">
                <a16:creationId xmlns:a16="http://schemas.microsoft.com/office/drawing/2014/main" id="{491BAB25-DFEB-4C6A-95C8-2557116B6E29}"/>
              </a:ext>
            </a:extLst>
          </p:cNvPr>
          <p:cNvSpPr>
            <a:spLocks xmlns:a="http://schemas.openxmlformats.org/drawingml/2006/main" noGrp="1"/>
          </p:cNvSpPr>
          <p:nvPr/>
        </p:nvSpPr>
        <p:spPr>
          <a:xfrm xmlns:a="http://schemas.openxmlformats.org/drawingml/2006/main">
            <a:off x="4448175" y="5133975"/>
            <a:ext cx="32956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273746"/>
                </a:solidFill>
                <a:latin typeface="Calibri"/>
                <a:ea typeface="Calibri"/>
                <a:cs typeface="Calibri"/>
              </a:defRPr>
            </a:pPr>
            <a:r>
              <a:rPr sz="1650" b="0">
                <a:solidFill>
                  <a:srgbClr val="273746"/>
                </a:solidFill>
                <a:latin typeface="Calibri"/>
                <a:ea typeface="Calibri"/>
                <a:cs typeface="Calibri"/>
              </a:rPr>
              <a:t>Priority access + harga member Dinner</a:t>
            </a:r>
          </a:p>
        </p:txBody>
      </p:sp>
      <p:sp>
        <p:nvSpPr>
          <p:cNvPr id="21" name="text-55">
            <a:extLst xmlns:a="http://schemas.openxmlformats.org/drawingml/2006/main">
              <a:ext uri="{FF2B5EF4-FFF2-40B4-BE49-F238E27FC236}">
                <a16:creationId xmlns:a16="http://schemas.microsoft.com/office/drawing/2014/main" id="{4765910B-181E-4BC7-ADFF-CB88EDB1D2D3}"/>
              </a:ext>
            </a:extLst>
          </p:cNvPr>
          <p:cNvSpPr>
            <a:spLocks xmlns:a="http://schemas.openxmlformats.org/drawingml/2006/main" noGrp="1"/>
          </p:cNvSpPr>
          <p:nvPr/>
        </p:nvSpPr>
        <p:spPr>
          <a:xfrm xmlns:a="http://schemas.openxmlformats.org/drawingml/2006/main">
            <a:off x="8286750" y="2447925"/>
            <a:ext cx="3238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1">
                <a:solidFill>
                  <a:srgbClr val="65717D"/>
                </a:solidFill>
                <a:latin typeface="Calibri"/>
                <a:ea typeface="Calibri"/>
                <a:cs typeface="Calibri"/>
              </a:defRPr>
            </a:pPr>
            <a:r>
              <a:rPr sz="1125" b="1">
                <a:solidFill>
                  <a:srgbClr val="65717D"/>
                </a:solidFill>
                <a:latin typeface="Calibri"/>
                <a:ea typeface="Calibri"/>
                <a:cs typeface="Calibri"/>
              </a:rPr>
              <a:t>PREMIUM / USULAN</a:t>
            </a:r>
          </a:p>
        </p:txBody>
      </p:sp>
      <p:sp>
        <p:nvSpPr>
          <p:cNvPr id="22" name="text-56">
            <a:extLst xmlns:a="http://schemas.openxmlformats.org/drawingml/2006/main">
              <a:ext uri="{FF2B5EF4-FFF2-40B4-BE49-F238E27FC236}">
                <a16:creationId xmlns:a16="http://schemas.microsoft.com/office/drawing/2014/main" id="{F3DA314E-52D8-4323-A9C2-2B4889EFF6A3}"/>
              </a:ext>
            </a:extLst>
          </p:cNvPr>
          <p:cNvSpPr>
            <a:spLocks xmlns:a="http://schemas.openxmlformats.org/drawingml/2006/main" noGrp="1"/>
          </p:cNvSpPr>
          <p:nvPr/>
        </p:nvSpPr>
        <p:spPr>
          <a:xfrm xmlns:a="http://schemas.openxmlformats.org/drawingml/2006/main">
            <a:off x="8286750" y="2781300"/>
            <a:ext cx="3238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675" b="1">
                <a:solidFill>
                  <a:srgbClr val="A27D42"/>
                </a:solidFill>
                <a:latin typeface="Calibri"/>
                <a:ea typeface="Calibri"/>
                <a:cs typeface="Calibri"/>
              </a:defRPr>
            </a:pPr>
            <a:r>
              <a:rPr sz="3675" b="1">
                <a:solidFill>
                  <a:srgbClr val="A27D42"/>
                </a:solidFill>
                <a:latin typeface="Calibri"/>
                <a:ea typeface="Calibri"/>
                <a:cs typeface="Calibri"/>
              </a:rPr>
              <a:t>~Rp5 jt</a:t>
            </a:r>
          </a:p>
        </p:txBody>
      </p:sp>
      <p:sp>
        <p:nvSpPr>
          <p:cNvPr id="23" name="">
            <a:extLst xmlns:a="http://schemas.openxmlformats.org/drawingml/2006/main">
              <a:ext uri="{FF2B5EF4-FFF2-40B4-BE49-F238E27FC236}">
                <a16:creationId xmlns:a16="http://schemas.microsoft.com/office/drawing/2014/main" id="{62CA349C-5F28-4EC0-93ED-86E23FF566F0}"/>
              </a:ext>
            </a:extLst>
          </p:cNvPr>
          <p:cNvSpPr>
            <a:spLocks xmlns:a="http://schemas.openxmlformats.org/drawingml/2006/main" noGrp="1"/>
          </p:cNvSpPr>
          <p:nvPr/>
        </p:nvSpPr>
        <p:spPr>
          <a:xfrm xmlns:a="http://schemas.openxmlformats.org/drawingml/2006/main">
            <a:off x="8286750" y="3562350"/>
            <a:ext cx="3286125" cy="0"/>
          </a:xfrm>
          <a:prstGeom xmlns:a="http://schemas.openxmlformats.org/drawingml/2006/main" prst="line">
            <a:avLst/>
          </a:prstGeom>
          <a:noFill xmlns:a="http://schemas.openxmlformats.org/drawingml/2006/main"/>
          <a:ln xmlns:a="http://schemas.openxmlformats.org/drawingml/2006/main" w="28575">
            <a:solidFill>
              <a:srgbClr val="A27D42"/>
            </a:solidFill>
          </a:ln>
        </p:spPr>
      </p:sp>
      <p:sp>
        <p:nvSpPr>
          <p:cNvPr id="24" name="text-57">
            <a:extLst xmlns:a="http://schemas.openxmlformats.org/drawingml/2006/main">
              <a:ext uri="{FF2B5EF4-FFF2-40B4-BE49-F238E27FC236}">
                <a16:creationId xmlns:a16="http://schemas.microsoft.com/office/drawing/2014/main" id="{6D575069-117C-444E-BEC5-AA1F8B9DE366}"/>
              </a:ext>
            </a:extLst>
          </p:cNvPr>
          <p:cNvSpPr>
            <a:spLocks xmlns:a="http://schemas.openxmlformats.org/drawingml/2006/main" noGrp="1"/>
          </p:cNvSpPr>
          <p:nvPr/>
        </p:nvSpPr>
        <p:spPr>
          <a:xfrm xmlns:a="http://schemas.openxmlformats.org/drawingml/2006/main">
            <a:off x="8286750" y="3829050"/>
            <a:ext cx="3333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1">
                <a:solidFill>
                  <a:srgbClr val="002060"/>
                </a:solidFill>
                <a:latin typeface="Calibri"/>
                <a:ea typeface="Calibri"/>
                <a:cs typeface="Calibri"/>
              </a:defRPr>
            </a:pPr>
            <a:r>
              <a:rPr sz="1800" b="1">
                <a:solidFill>
                  <a:srgbClr val="002060"/>
                </a:solidFill>
                <a:latin typeface="Calibri"/>
                <a:ea typeface="Calibri"/>
                <a:cs typeface="Calibri"/>
              </a:rPr>
              <a:t>Tambahan premium</a:t>
            </a:r>
          </a:p>
        </p:txBody>
      </p:sp>
      <p:sp>
        <p:nvSpPr>
          <p:cNvPr id="25" name="text-58">
            <a:extLst xmlns:a="http://schemas.openxmlformats.org/drawingml/2006/main">
              <a:ext uri="{FF2B5EF4-FFF2-40B4-BE49-F238E27FC236}">
                <a16:creationId xmlns:a16="http://schemas.microsoft.com/office/drawing/2014/main" id="{B40AE9E1-6718-4E8E-A6A2-FBD8421BE2E3}"/>
              </a:ext>
            </a:extLst>
          </p:cNvPr>
          <p:cNvSpPr>
            <a:spLocks xmlns:a="http://schemas.openxmlformats.org/drawingml/2006/main" noGrp="1"/>
          </p:cNvSpPr>
          <p:nvPr/>
        </p:nvSpPr>
        <p:spPr>
          <a:xfrm xmlns:a="http://schemas.openxmlformats.org/drawingml/2006/main">
            <a:off x="8286750" y="4314825"/>
            <a:ext cx="32956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273746"/>
                </a:solidFill>
                <a:latin typeface="Calibri"/>
                <a:ea typeface="Calibri"/>
                <a:cs typeface="Calibri"/>
              </a:defRPr>
            </a:pPr>
            <a:r>
              <a:rPr sz="1650" b="0">
                <a:solidFill>
                  <a:srgbClr val="273746"/>
                </a:solidFill>
                <a:latin typeface="Calibri"/>
                <a:ea typeface="Calibri"/>
                <a:cs typeface="Calibri"/>
              </a:rPr>
              <a:t>Sertifikasi kompetensi via LSP</a:t>
            </a:r>
          </a:p>
        </p:txBody>
      </p:sp>
      <p:sp>
        <p:nvSpPr>
          <p:cNvPr id="26" name="text-59">
            <a:extLst xmlns:a="http://schemas.openxmlformats.org/drawingml/2006/main">
              <a:ext uri="{FF2B5EF4-FFF2-40B4-BE49-F238E27FC236}">
                <a16:creationId xmlns:a16="http://schemas.microsoft.com/office/drawing/2014/main" id="{E151A56A-193D-4C73-9751-BBF36EF0CCE5}"/>
              </a:ext>
            </a:extLst>
          </p:cNvPr>
          <p:cNvSpPr>
            <a:spLocks xmlns:a="http://schemas.openxmlformats.org/drawingml/2006/main" noGrp="1"/>
          </p:cNvSpPr>
          <p:nvPr/>
        </p:nvSpPr>
        <p:spPr>
          <a:xfrm xmlns:a="http://schemas.openxmlformats.org/drawingml/2006/main">
            <a:off x="8286750" y="4724400"/>
            <a:ext cx="32956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273746"/>
                </a:solidFill>
                <a:latin typeface="Calibri"/>
                <a:ea typeface="Calibri"/>
                <a:cs typeface="Calibri"/>
              </a:defRPr>
            </a:pPr>
            <a:r>
              <a:rPr sz="1650" b="0">
                <a:solidFill>
                  <a:srgbClr val="273746"/>
                </a:solidFill>
                <a:latin typeface="Calibri"/>
                <a:ea typeface="Calibri"/>
                <a:cs typeface="Calibri"/>
              </a:rPr>
              <a:t>Ekosistem Kadin</a:t>
            </a:r>
          </a:p>
        </p:txBody>
      </p:sp>
      <p:sp>
        <p:nvSpPr>
          <p:cNvPr id="27" name="text-60">
            <a:extLst xmlns:a="http://schemas.openxmlformats.org/drawingml/2006/main">
              <a:ext uri="{FF2B5EF4-FFF2-40B4-BE49-F238E27FC236}">
                <a16:creationId xmlns:a16="http://schemas.microsoft.com/office/drawing/2014/main" id="{23E34293-1818-418C-A26D-A1E2E49A92C4}"/>
              </a:ext>
            </a:extLst>
          </p:cNvPr>
          <p:cNvSpPr>
            <a:spLocks xmlns:a="http://schemas.openxmlformats.org/drawingml/2006/main" noGrp="1"/>
          </p:cNvSpPr>
          <p:nvPr/>
        </p:nvSpPr>
        <p:spPr>
          <a:xfrm xmlns:a="http://schemas.openxmlformats.org/drawingml/2006/main">
            <a:off x="8286750" y="5133975"/>
            <a:ext cx="32956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273746"/>
                </a:solidFill>
                <a:latin typeface="Calibri"/>
                <a:ea typeface="Calibri"/>
                <a:cs typeface="Calibri"/>
              </a:defRPr>
            </a:pPr>
            <a:r>
              <a:rPr sz="1650" b="0">
                <a:solidFill>
                  <a:srgbClr val="273746"/>
                </a:solidFill>
                <a:latin typeface="Calibri"/>
                <a:ea typeface="Calibri"/>
                <a:cs typeface="Calibri"/>
              </a:rPr>
              <a:t>Premium member privileges</a:t>
            </a:r>
          </a:p>
        </p:txBody>
      </p:sp>
      <p:sp>
        <p:nvSpPr>
          <p:cNvPr id="28" name="">
            <a:extLst xmlns:a="http://schemas.openxmlformats.org/drawingml/2006/main">
              <a:ext uri="{FF2B5EF4-FFF2-40B4-BE49-F238E27FC236}">
                <a16:creationId xmlns:a16="http://schemas.microsoft.com/office/drawing/2014/main" id="{C2A70261-7769-46FA-A290-C534FA1C9597}"/>
              </a:ext>
            </a:extLst>
          </p:cNvPr>
          <p:cNvSpPr>
            <a:spLocks xmlns:a="http://schemas.openxmlformats.org/drawingml/2006/main" noGrp="1"/>
          </p:cNvSpPr>
          <p:nvPr/>
        </p:nvSpPr>
        <p:spPr>
          <a:xfrm xmlns:a="http://schemas.openxmlformats.org/drawingml/2006/main">
            <a:off x="609600" y="5762625"/>
            <a:ext cx="10972800" cy="0"/>
          </a:xfrm>
          <a:prstGeom xmlns:a="http://schemas.openxmlformats.org/drawingml/2006/main" prst="line">
            <a:avLst/>
          </a:prstGeom>
          <a:noFill xmlns:a="http://schemas.openxmlformats.org/drawingml/2006/main"/>
          <a:ln xmlns:a="http://schemas.openxmlformats.org/drawingml/2006/main" w="9525">
            <a:solidFill>
              <a:srgbClr val="DCE2E8"/>
            </a:solidFill>
          </a:ln>
        </p:spPr>
      </p:sp>
      <p:sp>
        <p:nvSpPr>
          <p:cNvPr id="29" name="text-61">
            <a:extLst xmlns:a="http://schemas.openxmlformats.org/drawingml/2006/main">
              <a:ext uri="{FF2B5EF4-FFF2-40B4-BE49-F238E27FC236}">
                <a16:creationId xmlns:a16="http://schemas.microsoft.com/office/drawing/2014/main" id="{F353DFD0-B3A7-4471-8610-FD9864DF5524}"/>
              </a:ext>
            </a:extLst>
          </p:cNvPr>
          <p:cNvSpPr>
            <a:spLocks xmlns:a="http://schemas.openxmlformats.org/drawingml/2006/main" noGrp="1"/>
          </p:cNvSpPr>
          <p:nvPr/>
        </p:nvSpPr>
        <p:spPr>
          <a:xfrm xmlns:a="http://schemas.openxmlformats.org/drawingml/2006/main">
            <a:off x="609600" y="5953125"/>
            <a:ext cx="109061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002060"/>
                </a:solidFill>
                <a:latin typeface="Calibri"/>
                <a:ea typeface="Calibri"/>
                <a:cs typeface="Calibri"/>
              </a:defRPr>
            </a:pPr>
            <a:r>
              <a:rPr sz="1650" b="1">
                <a:solidFill>
                  <a:srgbClr val="002060"/>
                </a:solidFill>
                <a:latin typeface="Calibri"/>
                <a:ea typeface="Calibri"/>
                <a:cs typeface="Calibri"/>
              </a:rPr>
              <a:t>Intimate Dinner tetap paid add-on. Membership memberi prioritas dan harga khusus.</a:t>
            </a:r>
          </a:p>
        </p:txBody>
      </p:sp>
    </p:spTree>
    <p:extLst>
      <p:ext uri="{BB962C8B-B14F-4D97-AF65-F5344CB8AC3E}">
        <p14:creationId xmlns:p14="http://schemas.microsoft.com/office/powerpoint/2010/main" val="1355805983"/>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6" name="text-62">
            <a:extLst xmlns:a="http://schemas.openxmlformats.org/drawingml/2006/main">
              <a:ext uri="{FF2B5EF4-FFF2-40B4-BE49-F238E27FC236}">
                <a16:creationId xmlns:a16="http://schemas.microsoft.com/office/drawing/2014/main" id="{5EB67B0D-3FBF-4FA1-A9B6-7C50CA24D99B}"/>
              </a:ext>
            </a:extLst>
          </p:cNvPr>
          <p:cNvSpPr>
            <a:spLocks xmlns:a="http://schemas.openxmlformats.org/drawingml/2006/main" noGrp="1"/>
          </p:cNvSpPr>
          <p:nvPr/>
        </p:nvSpPr>
        <p:spPr>
          <a:xfrm xmlns:a="http://schemas.openxmlformats.org/drawingml/2006/main">
            <a:off x="609600" y="333375"/>
            <a:ext cx="1066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65717D"/>
                </a:solidFill>
                <a:latin typeface="Calibri"/>
                <a:ea typeface="Calibri"/>
                <a:cs typeface="Calibri"/>
              </a:defRPr>
            </a:pPr>
            <a:r>
              <a:rPr sz="1050" b="1">
                <a:solidFill>
                  <a:srgbClr val="65717D"/>
                </a:solidFill>
                <a:latin typeface="Calibri"/>
                <a:ea typeface="Calibri"/>
                <a:cs typeface="Calibri"/>
              </a:rPr>
              <a:t>FOUNDER LIVE</a:t>
            </a:r>
          </a:p>
        </p:txBody>
      </p:sp>
      <p:sp>
        <p:nvSpPr>
          <p:cNvPr id="2" name="text-63">
            <a:extLst xmlns:a="http://schemas.openxmlformats.org/drawingml/2006/main">
              <a:ext uri="{FF2B5EF4-FFF2-40B4-BE49-F238E27FC236}">
                <a16:creationId xmlns:a16="http://schemas.microsoft.com/office/drawing/2014/main" id="{3F7C29DC-D64D-4AAF-9706-7AE2DF976129}"/>
              </a:ext>
            </a:extLst>
          </p:cNvPr>
          <p:cNvSpPr>
            <a:spLocks xmlns:a="http://schemas.openxmlformats.org/drawingml/2006/main" noGrp="1"/>
          </p:cNvSpPr>
          <p:nvPr/>
        </p:nvSpPr>
        <p:spPr>
          <a:xfrm xmlns:a="http://schemas.openxmlformats.org/drawingml/2006/main">
            <a:off x="609600" y="723900"/>
            <a:ext cx="10858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925" b="1">
                <a:solidFill>
                  <a:srgbClr val="002060"/>
                </a:solidFill>
                <a:latin typeface="Calibri"/>
                <a:ea typeface="Calibri"/>
                <a:cs typeface="Calibri"/>
              </a:defRPr>
            </a:pPr>
            <a:r>
              <a:rPr sz="2925" b="1">
                <a:solidFill>
                  <a:srgbClr val="002060"/>
                </a:solidFill>
                <a:latin typeface="Calibri"/>
                <a:ea typeface="Calibri"/>
                <a:cs typeface="Calibri"/>
              </a:rPr>
              <a:t>Delapan modul menjadi delapan diskusi keputusan bisnis</a:t>
            </a:r>
          </a:p>
        </p:txBody>
      </p:sp>
      <p:sp>
        <p:nvSpPr>
          <p:cNvPr id="3" name="text-64">
            <a:extLst xmlns:a="http://schemas.openxmlformats.org/drawingml/2006/main">
              <a:ext uri="{FF2B5EF4-FFF2-40B4-BE49-F238E27FC236}">
                <a16:creationId xmlns:a16="http://schemas.microsoft.com/office/drawing/2014/main" id="{1C6F7340-D0CC-4489-B1EF-D0C735A369DB}"/>
              </a:ext>
            </a:extLst>
          </p:cNvPr>
          <p:cNvSpPr>
            <a:spLocks xmlns:a="http://schemas.openxmlformats.org/drawingml/2006/main" noGrp="1"/>
          </p:cNvSpPr>
          <p:nvPr/>
        </p:nvSpPr>
        <p:spPr>
          <a:xfrm xmlns:a="http://schemas.openxmlformats.org/drawingml/2006/main">
            <a:off x="609600" y="1666875"/>
            <a:ext cx="10858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65717D"/>
                </a:solidFill>
                <a:latin typeface="Calibri"/>
                <a:ea typeface="Calibri"/>
                <a:cs typeface="Calibri"/>
              </a:defRPr>
            </a:pPr>
            <a:r>
              <a:rPr sz="1500" b="0">
                <a:solidFill>
                  <a:srgbClr val="65717D"/>
                </a:solidFill>
                <a:latin typeface="Calibri"/>
                <a:ea typeface="Calibri"/>
                <a:cs typeface="Calibri"/>
              </a:rPr>
              <a:t>8 sesi tiap Rabu, 4 Nov–23 Des 2026. Speaker dicocokkan dengan topik modul.</a:t>
            </a:r>
          </a:p>
        </p:txBody>
      </p:sp>
      <p:sp>
        <p:nvSpPr>
          <p:cNvPr id="4" name="">
            <a:extLst xmlns:a="http://schemas.openxmlformats.org/drawingml/2006/main">
              <a:ext uri="{FF2B5EF4-FFF2-40B4-BE49-F238E27FC236}">
                <a16:creationId xmlns:a16="http://schemas.microsoft.com/office/drawing/2014/main" id="{6B7BBB4E-1F25-4B2E-86B6-CCDE3A587F54}"/>
              </a:ext>
            </a:extLst>
          </p:cNvPr>
          <p:cNvSpPr>
            <a:spLocks xmlns:a="http://schemas.openxmlformats.org/drawingml/2006/main" noGrp="1"/>
          </p:cNvSpPr>
          <p:nvPr/>
        </p:nvSpPr>
        <p:spPr>
          <a:xfrm xmlns:a="http://schemas.openxmlformats.org/drawingml/2006/main">
            <a:off x="609600" y="6381750"/>
            <a:ext cx="10972800" cy="0"/>
          </a:xfrm>
          <a:prstGeom xmlns:a="http://schemas.openxmlformats.org/drawingml/2006/main" prst="line">
            <a:avLst/>
          </a:prstGeom>
          <a:noFill xmlns:a="http://schemas.openxmlformats.org/drawingml/2006/main"/>
          <a:ln xmlns:a="http://schemas.openxmlformats.org/drawingml/2006/main" w="9525">
            <a:solidFill>
              <a:srgbClr val="DCE2E8"/>
            </a:solidFill>
          </a:ln>
        </p:spPr>
      </p:sp>
      <p:sp>
        <p:nvSpPr>
          <p:cNvPr id="5" name="text-65">
            <a:extLst xmlns:a="http://schemas.openxmlformats.org/drawingml/2006/main">
              <a:ext uri="{FF2B5EF4-FFF2-40B4-BE49-F238E27FC236}">
                <a16:creationId xmlns:a16="http://schemas.microsoft.com/office/drawing/2014/main" id="{8F9BB006-FFB9-4E96-BE9E-4D4362A11D5A}"/>
              </a:ext>
            </a:extLst>
          </p:cNvPr>
          <p:cNvSpPr>
            <a:spLocks xmlns:a="http://schemas.openxmlformats.org/drawingml/2006/main" noGrp="1"/>
          </p:cNvSpPr>
          <p:nvPr/>
        </p:nvSpPr>
        <p:spPr>
          <a:xfrm xmlns:a="http://schemas.openxmlformats.org/drawingml/2006/main">
            <a:off x="609600" y="6505575"/>
            <a:ext cx="10191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825" b="0">
                <a:solidFill>
                  <a:srgbClr val="65717D"/>
                </a:solidFill>
                <a:latin typeface="Calibri"/>
                <a:ea typeface="Calibri"/>
                <a:cs typeface="Calibri"/>
              </a:defRPr>
            </a:pPr>
            <a:r>
              <a:rPr sz="825" b="0">
                <a:solidFill>
                  <a:srgbClr val="65717D"/>
                </a:solidFill>
                <a:latin typeface="Calibri"/>
                <a:ea typeface="Calibri"/>
                <a:cs typeface="Calibri"/>
              </a:rPr>
              <a:t>CMC internal, Oktober 2026. Angka usulan mengikuti deck sumber.</a:t>
            </a:r>
          </a:p>
        </p:txBody>
      </p:sp>
      <p:sp>
        <p:nvSpPr>
          <p:cNvPr id="6" name="text-66">
            <a:extLst xmlns:a="http://schemas.openxmlformats.org/drawingml/2006/main">
              <a:ext uri="{FF2B5EF4-FFF2-40B4-BE49-F238E27FC236}">
                <a16:creationId xmlns:a16="http://schemas.microsoft.com/office/drawing/2014/main" id="{B5A6F645-1209-48B9-96A9-F4742D540EE9}"/>
              </a:ext>
            </a:extLst>
          </p:cNvPr>
          <p:cNvSpPr>
            <a:spLocks xmlns:a="http://schemas.openxmlformats.org/drawingml/2006/main" noGrp="1"/>
          </p:cNvSpPr>
          <p:nvPr/>
        </p:nvSpPr>
        <p:spPr>
          <a:xfrm xmlns:a="http://schemas.openxmlformats.org/drawingml/2006/main">
            <a:off x="11125200" y="6486525"/>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002060"/>
                </a:solidFill>
                <a:latin typeface="Calibri"/>
                <a:ea typeface="Calibri"/>
                <a:cs typeface="Calibri"/>
              </a:defRPr>
            </a:pPr>
            <a:r>
              <a:rPr sz="1050" b="1">
                <a:solidFill>
                  <a:srgbClr val="002060"/>
                </a:solidFill>
                <a:latin typeface="Calibri"/>
                <a:ea typeface="Calibri"/>
                <a:cs typeface="Calibri"/>
              </a:rPr>
              <a:t>05</a:t>
            </a:r>
          </a:p>
        </p:txBody>
      </p:sp>
      <p:sp>
        <p:nvSpPr>
          <p:cNvPr id="7" name="text-67">
            <a:extLst xmlns:a="http://schemas.openxmlformats.org/drawingml/2006/main">
              <a:ext uri="{FF2B5EF4-FFF2-40B4-BE49-F238E27FC236}">
                <a16:creationId xmlns:a16="http://schemas.microsoft.com/office/drawing/2014/main" id="{2BC6E720-B4E6-49C6-8C9B-34C190FBA764}"/>
              </a:ext>
            </a:extLst>
          </p:cNvPr>
          <p:cNvSpPr>
            <a:spLocks xmlns:a="http://schemas.openxmlformats.org/drawingml/2006/main" noGrp="1"/>
          </p:cNvSpPr>
          <p:nvPr/>
        </p:nvSpPr>
        <p:spPr>
          <a:xfrm xmlns:a="http://schemas.openxmlformats.org/drawingml/2006/main">
            <a:off x="609600" y="2381250"/>
            <a:ext cx="4857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708AA9"/>
                </a:solidFill>
                <a:latin typeface="Calibri"/>
                <a:ea typeface="Calibri"/>
                <a:cs typeface="Calibri"/>
              </a:defRPr>
            </a:pPr>
            <a:r>
              <a:rPr sz="1425" b="1">
                <a:solidFill>
                  <a:srgbClr val="708AA9"/>
                </a:solidFill>
                <a:latin typeface="Calibri"/>
                <a:ea typeface="Calibri"/>
                <a:cs typeface="Calibri"/>
              </a:rPr>
              <a:t>01  Mindset</a:t>
            </a:r>
          </a:p>
        </p:txBody>
      </p:sp>
      <p:sp>
        <p:nvSpPr>
          <p:cNvPr id="8" name="text-68">
            <a:extLst xmlns:a="http://schemas.openxmlformats.org/drawingml/2006/main">
              <a:ext uri="{FF2B5EF4-FFF2-40B4-BE49-F238E27FC236}">
                <a16:creationId xmlns:a16="http://schemas.microsoft.com/office/drawing/2014/main" id="{A970E18A-D995-497F-82B5-C6687A727FEC}"/>
              </a:ext>
            </a:extLst>
          </p:cNvPr>
          <p:cNvSpPr>
            <a:spLocks xmlns:a="http://schemas.openxmlformats.org/drawingml/2006/main" noGrp="1"/>
          </p:cNvSpPr>
          <p:nvPr/>
        </p:nvSpPr>
        <p:spPr>
          <a:xfrm xmlns:a="http://schemas.openxmlformats.org/drawingml/2006/main">
            <a:off x="609600" y="2638425"/>
            <a:ext cx="4857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002060"/>
                </a:solidFill>
                <a:latin typeface="Calibri"/>
                <a:ea typeface="Calibri"/>
                <a:cs typeface="Calibri"/>
              </a:defRPr>
            </a:pPr>
            <a:r>
              <a:rPr sz="1800" b="0">
                <a:solidFill>
                  <a:srgbClr val="002060"/>
                </a:solidFill>
                <a:latin typeface="Calibri"/>
                <a:ea typeface="Calibri"/>
                <a:cs typeface="Calibri"/>
              </a:rPr>
              <a:t>Bertahan atau berubah arah?</a:t>
            </a:r>
          </a:p>
        </p:txBody>
      </p:sp>
      <p:sp>
        <p:nvSpPr>
          <p:cNvPr id="9" name="text-69">
            <a:extLst xmlns:a="http://schemas.openxmlformats.org/drawingml/2006/main">
              <a:ext uri="{FF2B5EF4-FFF2-40B4-BE49-F238E27FC236}">
                <a16:creationId xmlns:a16="http://schemas.microsoft.com/office/drawing/2014/main" id="{C1FE985F-C0A7-45E0-BC2C-E1A09335EF8C}"/>
              </a:ext>
            </a:extLst>
          </p:cNvPr>
          <p:cNvSpPr>
            <a:spLocks xmlns:a="http://schemas.openxmlformats.org/drawingml/2006/main" noGrp="1"/>
          </p:cNvSpPr>
          <p:nvPr/>
        </p:nvSpPr>
        <p:spPr>
          <a:xfrm xmlns:a="http://schemas.openxmlformats.org/drawingml/2006/main">
            <a:off x="609600" y="2952750"/>
            <a:ext cx="4857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708AA9"/>
                </a:solidFill>
                <a:latin typeface="Calibri"/>
                <a:ea typeface="Calibri"/>
                <a:cs typeface="Calibri"/>
              </a:defRPr>
            </a:pPr>
            <a:r>
              <a:rPr sz="1425" b="1">
                <a:solidFill>
                  <a:srgbClr val="708AA9"/>
                </a:solidFill>
                <a:latin typeface="Calibri"/>
                <a:ea typeface="Calibri"/>
                <a:cs typeface="Calibri"/>
              </a:rPr>
              <a:t>02  Problem solving</a:t>
            </a:r>
          </a:p>
        </p:txBody>
      </p:sp>
      <p:sp>
        <p:nvSpPr>
          <p:cNvPr id="10" name="text-70">
            <a:extLst xmlns:a="http://schemas.openxmlformats.org/drawingml/2006/main">
              <a:ext uri="{FF2B5EF4-FFF2-40B4-BE49-F238E27FC236}">
                <a16:creationId xmlns:a16="http://schemas.microsoft.com/office/drawing/2014/main" id="{D9C092AF-31DA-4926-AE99-81FA691B3C7A}"/>
              </a:ext>
            </a:extLst>
          </p:cNvPr>
          <p:cNvSpPr>
            <a:spLocks xmlns:a="http://schemas.openxmlformats.org/drawingml/2006/main" noGrp="1"/>
          </p:cNvSpPr>
          <p:nvPr/>
        </p:nvSpPr>
        <p:spPr>
          <a:xfrm xmlns:a="http://schemas.openxmlformats.org/drawingml/2006/main">
            <a:off x="609600" y="3209925"/>
            <a:ext cx="4857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002060"/>
                </a:solidFill>
                <a:latin typeface="Calibri"/>
                <a:ea typeface="Calibri"/>
                <a:cs typeface="Calibri"/>
              </a:defRPr>
            </a:pPr>
            <a:r>
              <a:rPr sz="1800" b="0">
                <a:solidFill>
                  <a:srgbClr val="002060"/>
                </a:solidFill>
                <a:latin typeface="Calibri"/>
                <a:ea typeface="Calibri"/>
                <a:cs typeface="Calibri"/>
              </a:rPr>
              <a:t>Masalah mana lebih dulu?</a:t>
            </a:r>
          </a:p>
        </p:txBody>
      </p:sp>
      <p:sp>
        <p:nvSpPr>
          <p:cNvPr id="11" name="text-71">
            <a:extLst xmlns:a="http://schemas.openxmlformats.org/drawingml/2006/main">
              <a:ext uri="{FF2B5EF4-FFF2-40B4-BE49-F238E27FC236}">
                <a16:creationId xmlns:a16="http://schemas.microsoft.com/office/drawing/2014/main" id="{A2632905-B600-4B04-A7B4-D367A85CF130}"/>
              </a:ext>
            </a:extLst>
          </p:cNvPr>
          <p:cNvSpPr>
            <a:spLocks xmlns:a="http://schemas.openxmlformats.org/drawingml/2006/main" noGrp="1"/>
          </p:cNvSpPr>
          <p:nvPr/>
        </p:nvSpPr>
        <p:spPr>
          <a:xfrm xmlns:a="http://schemas.openxmlformats.org/drawingml/2006/main">
            <a:off x="609600" y="3524250"/>
            <a:ext cx="4857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708AA9"/>
                </a:solidFill>
                <a:latin typeface="Calibri"/>
                <a:ea typeface="Calibri"/>
                <a:cs typeface="Calibri"/>
              </a:defRPr>
            </a:pPr>
            <a:r>
              <a:rPr sz="1425" b="1">
                <a:solidFill>
                  <a:srgbClr val="708AA9"/>
                </a:solidFill>
                <a:latin typeface="Calibri"/>
                <a:ea typeface="Calibri"/>
                <a:cs typeface="Calibri"/>
              </a:rPr>
              <a:t>03  Team</a:t>
            </a:r>
          </a:p>
        </p:txBody>
      </p:sp>
      <p:sp>
        <p:nvSpPr>
          <p:cNvPr id="12" name="text-72">
            <a:extLst xmlns:a="http://schemas.openxmlformats.org/drawingml/2006/main">
              <a:ext uri="{FF2B5EF4-FFF2-40B4-BE49-F238E27FC236}">
                <a16:creationId xmlns:a16="http://schemas.microsoft.com/office/drawing/2014/main" id="{8DC3BD45-3987-421B-9A66-4492FEB55713}"/>
              </a:ext>
            </a:extLst>
          </p:cNvPr>
          <p:cNvSpPr>
            <a:spLocks xmlns:a="http://schemas.openxmlformats.org/drawingml/2006/main" noGrp="1"/>
          </p:cNvSpPr>
          <p:nvPr/>
        </p:nvSpPr>
        <p:spPr>
          <a:xfrm xmlns:a="http://schemas.openxmlformats.org/drawingml/2006/main">
            <a:off x="609600" y="3781425"/>
            <a:ext cx="4857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002060"/>
                </a:solidFill>
                <a:latin typeface="Calibri"/>
                <a:ea typeface="Calibri"/>
                <a:cs typeface="Calibri"/>
              </a:defRPr>
            </a:pPr>
            <a:r>
              <a:rPr sz="1800" b="0">
                <a:solidFill>
                  <a:srgbClr val="002060"/>
                </a:solidFill>
                <a:latin typeface="Calibri"/>
                <a:ea typeface="Calibri"/>
                <a:cs typeface="Calibri"/>
              </a:rPr>
              <a:t>Kapan mulai bangun tim?</a:t>
            </a:r>
          </a:p>
        </p:txBody>
      </p:sp>
      <p:sp>
        <p:nvSpPr>
          <p:cNvPr id="13" name="text-73">
            <a:extLst xmlns:a="http://schemas.openxmlformats.org/drawingml/2006/main">
              <a:ext uri="{FF2B5EF4-FFF2-40B4-BE49-F238E27FC236}">
                <a16:creationId xmlns:a16="http://schemas.microsoft.com/office/drawing/2014/main" id="{9A6CCF2A-F644-492F-B038-A6313BAB5A7A}"/>
              </a:ext>
            </a:extLst>
          </p:cNvPr>
          <p:cNvSpPr>
            <a:spLocks xmlns:a="http://schemas.openxmlformats.org/drawingml/2006/main" noGrp="1"/>
          </p:cNvSpPr>
          <p:nvPr/>
        </p:nvSpPr>
        <p:spPr>
          <a:xfrm xmlns:a="http://schemas.openxmlformats.org/drawingml/2006/main">
            <a:off x="609600" y="4095750"/>
            <a:ext cx="4857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708AA9"/>
                </a:solidFill>
                <a:latin typeface="Calibri"/>
                <a:ea typeface="Calibri"/>
                <a:cs typeface="Calibri"/>
              </a:defRPr>
            </a:pPr>
            <a:r>
              <a:rPr sz="1425" b="1">
                <a:solidFill>
                  <a:srgbClr val="708AA9"/>
                </a:solidFill>
                <a:latin typeface="Calibri"/>
                <a:ea typeface="Calibri"/>
                <a:cs typeface="Calibri"/>
              </a:rPr>
              <a:t>04  Product</a:t>
            </a:r>
          </a:p>
        </p:txBody>
      </p:sp>
      <p:sp>
        <p:nvSpPr>
          <p:cNvPr id="14" name="text-74">
            <a:extLst xmlns:a="http://schemas.openxmlformats.org/drawingml/2006/main">
              <a:ext uri="{FF2B5EF4-FFF2-40B4-BE49-F238E27FC236}">
                <a16:creationId xmlns:a16="http://schemas.microsoft.com/office/drawing/2014/main" id="{29602F51-6DD7-4655-AF44-56CE77157BB2}"/>
              </a:ext>
            </a:extLst>
          </p:cNvPr>
          <p:cNvSpPr>
            <a:spLocks xmlns:a="http://schemas.openxmlformats.org/drawingml/2006/main" noGrp="1"/>
          </p:cNvSpPr>
          <p:nvPr/>
        </p:nvSpPr>
        <p:spPr>
          <a:xfrm xmlns:a="http://schemas.openxmlformats.org/drawingml/2006/main">
            <a:off x="609600" y="4352925"/>
            <a:ext cx="4857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002060"/>
                </a:solidFill>
                <a:latin typeface="Calibri"/>
                <a:ea typeface="Calibri"/>
                <a:cs typeface="Calibri"/>
              </a:defRPr>
            </a:pPr>
            <a:r>
              <a:rPr sz="1800" b="0">
                <a:solidFill>
                  <a:srgbClr val="002060"/>
                </a:solidFill>
                <a:latin typeface="Calibri"/>
                <a:ea typeface="Calibri"/>
                <a:cs typeface="Calibri"/>
              </a:rPr>
              <a:t>Sudah layak dijual?</a:t>
            </a:r>
          </a:p>
        </p:txBody>
      </p:sp>
      <p:sp>
        <p:nvSpPr>
          <p:cNvPr id="15" name="text-75">
            <a:extLst xmlns:a="http://schemas.openxmlformats.org/drawingml/2006/main">
              <a:ext uri="{FF2B5EF4-FFF2-40B4-BE49-F238E27FC236}">
                <a16:creationId xmlns:a16="http://schemas.microsoft.com/office/drawing/2014/main" id="{2E03DB6B-8833-4A3A-A730-03978E77C595}"/>
              </a:ext>
            </a:extLst>
          </p:cNvPr>
          <p:cNvSpPr>
            <a:spLocks xmlns:a="http://schemas.openxmlformats.org/drawingml/2006/main" noGrp="1"/>
          </p:cNvSpPr>
          <p:nvPr/>
        </p:nvSpPr>
        <p:spPr>
          <a:xfrm xmlns:a="http://schemas.openxmlformats.org/drawingml/2006/main">
            <a:off x="6362700" y="2381250"/>
            <a:ext cx="4857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708AA9"/>
                </a:solidFill>
                <a:latin typeface="Calibri"/>
                <a:ea typeface="Calibri"/>
                <a:cs typeface="Calibri"/>
              </a:defRPr>
            </a:pPr>
            <a:r>
              <a:rPr sz="1425" b="1">
                <a:solidFill>
                  <a:srgbClr val="708AA9"/>
                </a:solidFill>
                <a:latin typeface="Calibri"/>
                <a:ea typeface="Calibri"/>
                <a:cs typeface="Calibri"/>
              </a:rPr>
              <a:t>05  Go-to-market</a:t>
            </a:r>
          </a:p>
        </p:txBody>
      </p:sp>
      <p:sp>
        <p:nvSpPr>
          <p:cNvPr id="16" name="text-76">
            <a:extLst xmlns:a="http://schemas.openxmlformats.org/drawingml/2006/main">
              <a:ext uri="{FF2B5EF4-FFF2-40B4-BE49-F238E27FC236}">
                <a16:creationId xmlns:a16="http://schemas.microsoft.com/office/drawing/2014/main" id="{F80DF3C0-DB0D-485B-A638-0F991988BE73}"/>
              </a:ext>
            </a:extLst>
          </p:cNvPr>
          <p:cNvSpPr>
            <a:spLocks xmlns:a="http://schemas.openxmlformats.org/drawingml/2006/main" noGrp="1"/>
          </p:cNvSpPr>
          <p:nvPr/>
        </p:nvSpPr>
        <p:spPr>
          <a:xfrm xmlns:a="http://schemas.openxmlformats.org/drawingml/2006/main">
            <a:off x="6362700" y="2638425"/>
            <a:ext cx="4857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002060"/>
                </a:solidFill>
                <a:latin typeface="Calibri"/>
                <a:ea typeface="Calibri"/>
                <a:cs typeface="Calibri"/>
              </a:defRPr>
            </a:pPr>
            <a:r>
              <a:rPr sz="1800" b="0">
                <a:solidFill>
                  <a:srgbClr val="002060"/>
                </a:solidFill>
                <a:latin typeface="Calibri"/>
                <a:ea typeface="Calibri"/>
                <a:cs typeface="Calibri"/>
              </a:rPr>
              <a:t>Cara jual bisa diulang?</a:t>
            </a:r>
          </a:p>
        </p:txBody>
      </p:sp>
      <p:sp>
        <p:nvSpPr>
          <p:cNvPr id="17" name="text-77">
            <a:extLst xmlns:a="http://schemas.openxmlformats.org/drawingml/2006/main">
              <a:ext uri="{FF2B5EF4-FFF2-40B4-BE49-F238E27FC236}">
                <a16:creationId xmlns:a16="http://schemas.microsoft.com/office/drawing/2014/main" id="{A38CC920-C674-42DE-AB62-A2DFC3E8FBB4}"/>
              </a:ext>
            </a:extLst>
          </p:cNvPr>
          <p:cNvSpPr>
            <a:spLocks xmlns:a="http://schemas.openxmlformats.org/drawingml/2006/main" noGrp="1"/>
          </p:cNvSpPr>
          <p:nvPr/>
        </p:nvSpPr>
        <p:spPr>
          <a:xfrm xmlns:a="http://schemas.openxmlformats.org/drawingml/2006/main">
            <a:off x="6362700" y="2952750"/>
            <a:ext cx="4857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708AA9"/>
                </a:solidFill>
                <a:latin typeface="Calibri"/>
                <a:ea typeface="Calibri"/>
                <a:cs typeface="Calibri"/>
              </a:defRPr>
            </a:pPr>
            <a:r>
              <a:rPr sz="1425" b="1">
                <a:solidFill>
                  <a:srgbClr val="708AA9"/>
                </a:solidFill>
                <a:latin typeface="Calibri"/>
                <a:ea typeface="Calibri"/>
                <a:cs typeface="Calibri"/>
              </a:rPr>
              <a:t>06  Operations</a:t>
            </a:r>
          </a:p>
        </p:txBody>
      </p:sp>
      <p:sp>
        <p:nvSpPr>
          <p:cNvPr id="18" name="text-78">
            <a:extLst xmlns:a="http://schemas.openxmlformats.org/drawingml/2006/main">
              <a:ext uri="{FF2B5EF4-FFF2-40B4-BE49-F238E27FC236}">
                <a16:creationId xmlns:a16="http://schemas.microsoft.com/office/drawing/2014/main" id="{0BB4987C-3F37-4BD3-9A37-88468BA080C2}"/>
              </a:ext>
            </a:extLst>
          </p:cNvPr>
          <p:cNvSpPr>
            <a:spLocks xmlns:a="http://schemas.openxmlformats.org/drawingml/2006/main" noGrp="1"/>
          </p:cNvSpPr>
          <p:nvPr/>
        </p:nvSpPr>
        <p:spPr>
          <a:xfrm xmlns:a="http://schemas.openxmlformats.org/drawingml/2006/main">
            <a:off x="6362700" y="3209925"/>
            <a:ext cx="4857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002060"/>
                </a:solidFill>
                <a:latin typeface="Calibri"/>
                <a:ea typeface="Calibri"/>
                <a:cs typeface="Calibri"/>
              </a:defRPr>
            </a:pPr>
            <a:r>
              <a:rPr sz="1800" b="0">
                <a:solidFill>
                  <a:srgbClr val="002060"/>
                </a:solidFill>
                <a:latin typeface="Calibri"/>
                <a:ea typeface="Calibri"/>
                <a:cs typeface="Calibri"/>
              </a:rPr>
              <a:t>Kapan proses perlu dirapikan?</a:t>
            </a:r>
          </a:p>
        </p:txBody>
      </p:sp>
      <p:sp>
        <p:nvSpPr>
          <p:cNvPr id="19" name="text-79">
            <a:extLst xmlns:a="http://schemas.openxmlformats.org/drawingml/2006/main">
              <a:ext uri="{FF2B5EF4-FFF2-40B4-BE49-F238E27FC236}">
                <a16:creationId xmlns:a16="http://schemas.microsoft.com/office/drawing/2014/main" id="{5B325E93-35E7-4877-BCED-80066EA8ECDE}"/>
              </a:ext>
            </a:extLst>
          </p:cNvPr>
          <p:cNvSpPr>
            <a:spLocks xmlns:a="http://schemas.openxmlformats.org/drawingml/2006/main" noGrp="1"/>
          </p:cNvSpPr>
          <p:nvPr/>
        </p:nvSpPr>
        <p:spPr>
          <a:xfrm xmlns:a="http://schemas.openxmlformats.org/drawingml/2006/main">
            <a:off x="6362700" y="3524250"/>
            <a:ext cx="4857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708AA9"/>
                </a:solidFill>
                <a:latin typeface="Calibri"/>
                <a:ea typeface="Calibri"/>
                <a:cs typeface="Calibri"/>
              </a:defRPr>
            </a:pPr>
            <a:r>
              <a:rPr sz="1425" b="1">
                <a:solidFill>
                  <a:srgbClr val="708AA9"/>
                </a:solidFill>
                <a:latin typeface="Calibri"/>
                <a:ea typeface="Calibri"/>
                <a:cs typeface="Calibri"/>
              </a:rPr>
              <a:t>07  Finance</a:t>
            </a:r>
          </a:p>
        </p:txBody>
      </p:sp>
      <p:sp>
        <p:nvSpPr>
          <p:cNvPr id="20" name="text-80">
            <a:extLst xmlns:a="http://schemas.openxmlformats.org/drawingml/2006/main">
              <a:ext uri="{FF2B5EF4-FFF2-40B4-BE49-F238E27FC236}">
                <a16:creationId xmlns:a16="http://schemas.microsoft.com/office/drawing/2014/main" id="{F6C34A29-27AD-4C78-8725-9AB516E14CC2}"/>
              </a:ext>
            </a:extLst>
          </p:cNvPr>
          <p:cNvSpPr>
            <a:spLocks xmlns:a="http://schemas.openxmlformats.org/drawingml/2006/main" noGrp="1"/>
          </p:cNvSpPr>
          <p:nvPr/>
        </p:nvSpPr>
        <p:spPr>
          <a:xfrm xmlns:a="http://schemas.openxmlformats.org/drawingml/2006/main">
            <a:off x="6362700" y="3781425"/>
            <a:ext cx="4857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002060"/>
                </a:solidFill>
                <a:latin typeface="Calibri"/>
                <a:ea typeface="Calibri"/>
                <a:cs typeface="Calibri"/>
              </a:defRPr>
            </a:pPr>
            <a:r>
              <a:rPr sz="1800" b="0">
                <a:solidFill>
                  <a:srgbClr val="002060"/>
                </a:solidFill>
                <a:latin typeface="Calibri"/>
                <a:ea typeface="Calibri"/>
                <a:cs typeface="Calibri"/>
              </a:rPr>
              <a:t>Untung, tetapi uangnya di mana?</a:t>
            </a:r>
          </a:p>
        </p:txBody>
      </p:sp>
      <p:sp>
        <p:nvSpPr>
          <p:cNvPr id="21" name="text-81">
            <a:extLst xmlns:a="http://schemas.openxmlformats.org/drawingml/2006/main">
              <a:ext uri="{FF2B5EF4-FFF2-40B4-BE49-F238E27FC236}">
                <a16:creationId xmlns:a16="http://schemas.microsoft.com/office/drawing/2014/main" id="{E205736E-76CF-4FCA-B851-42BED3605760}"/>
              </a:ext>
            </a:extLst>
          </p:cNvPr>
          <p:cNvSpPr>
            <a:spLocks xmlns:a="http://schemas.openxmlformats.org/drawingml/2006/main" noGrp="1"/>
          </p:cNvSpPr>
          <p:nvPr/>
        </p:nvSpPr>
        <p:spPr>
          <a:xfrm xmlns:a="http://schemas.openxmlformats.org/drawingml/2006/main">
            <a:off x="6362700" y="4095750"/>
            <a:ext cx="4857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708AA9"/>
                </a:solidFill>
                <a:latin typeface="Calibri"/>
                <a:ea typeface="Calibri"/>
                <a:cs typeface="Calibri"/>
              </a:defRPr>
            </a:pPr>
            <a:r>
              <a:rPr sz="1425" b="1">
                <a:solidFill>
                  <a:srgbClr val="708AA9"/>
                </a:solidFill>
                <a:latin typeface="Calibri"/>
                <a:ea typeface="Calibri"/>
                <a:cs typeface="Calibri"/>
              </a:rPr>
              <a:t>08  Scale</a:t>
            </a:r>
          </a:p>
        </p:txBody>
      </p:sp>
      <p:sp>
        <p:nvSpPr>
          <p:cNvPr id="22" name="text-82">
            <a:extLst xmlns:a="http://schemas.openxmlformats.org/drawingml/2006/main">
              <a:ext uri="{FF2B5EF4-FFF2-40B4-BE49-F238E27FC236}">
                <a16:creationId xmlns:a16="http://schemas.microsoft.com/office/drawing/2014/main" id="{A127DFFE-2DBB-4082-80CF-54DB5E4AC0E9}"/>
              </a:ext>
            </a:extLst>
          </p:cNvPr>
          <p:cNvSpPr>
            <a:spLocks xmlns:a="http://schemas.openxmlformats.org/drawingml/2006/main" noGrp="1"/>
          </p:cNvSpPr>
          <p:nvPr/>
        </p:nvSpPr>
        <p:spPr>
          <a:xfrm xmlns:a="http://schemas.openxmlformats.org/drawingml/2006/main">
            <a:off x="6362700" y="4352925"/>
            <a:ext cx="4857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002060"/>
                </a:solidFill>
                <a:latin typeface="Calibri"/>
                <a:ea typeface="Calibri"/>
                <a:cs typeface="Calibri"/>
              </a:defRPr>
            </a:pPr>
            <a:r>
              <a:rPr sz="1800" b="0">
                <a:solidFill>
                  <a:srgbClr val="002060"/>
                </a:solidFill>
                <a:latin typeface="Calibri"/>
                <a:ea typeface="Calibri"/>
                <a:cs typeface="Calibri"/>
              </a:rPr>
              <a:t>Siap scale dan cari modal?</a:t>
            </a:r>
          </a:p>
        </p:txBody>
      </p:sp>
      <p:sp>
        <p:nvSpPr>
          <p:cNvPr id="23" name="text-83">
            <a:extLst xmlns:a="http://schemas.openxmlformats.org/drawingml/2006/main">
              <a:ext uri="{FF2B5EF4-FFF2-40B4-BE49-F238E27FC236}">
                <a16:creationId xmlns:a16="http://schemas.microsoft.com/office/drawing/2014/main" id="{CCF09FA5-2535-4164-AE2D-1D9E8666ECE2}"/>
              </a:ext>
            </a:extLst>
          </p:cNvPr>
          <p:cNvSpPr>
            <a:spLocks xmlns:a="http://schemas.openxmlformats.org/drawingml/2006/main" noGrp="1"/>
          </p:cNvSpPr>
          <p:nvPr/>
        </p:nvSpPr>
        <p:spPr>
          <a:xfrm xmlns:a="http://schemas.openxmlformats.org/drawingml/2006/main">
            <a:off x="609600" y="4876800"/>
            <a:ext cx="381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002060"/>
                </a:solidFill>
                <a:latin typeface="Calibri"/>
                <a:ea typeface="Calibri"/>
                <a:cs typeface="Calibri"/>
              </a:defRPr>
            </a:pPr>
            <a:r>
              <a:rPr sz="1650" b="1">
                <a:solidFill>
                  <a:srgbClr val="002060"/>
                </a:solidFill>
                <a:latin typeface="Calibri"/>
                <a:ea typeface="Calibri"/>
                <a:cs typeface="Calibri"/>
              </a:rPr>
              <a:t>90 menit per sesi</a:t>
            </a:r>
          </a:p>
        </p:txBody>
      </p:sp>
      <p:sp>
        <p:nvSpPr>
          <p:cNvPr id="24" name="">
            <a:extLst xmlns:a="http://schemas.openxmlformats.org/drawingml/2006/main">
              <a:ext uri="{FF2B5EF4-FFF2-40B4-BE49-F238E27FC236}">
                <a16:creationId xmlns:a16="http://schemas.microsoft.com/office/drawing/2014/main" id="{F3A65894-E529-46D4-9E50-B133995FB7F0}"/>
              </a:ext>
            </a:extLst>
          </p:cNvPr>
          <p:cNvSpPr>
            <a:spLocks xmlns:a="http://schemas.openxmlformats.org/drawingml/2006/main" noGrp="1"/>
          </p:cNvSpPr>
          <p:nvPr/>
        </p:nvSpPr>
        <p:spPr>
          <a:xfrm xmlns:a="http://schemas.openxmlformats.org/drawingml/2006/main">
            <a:off x="609600" y="5314950"/>
            <a:ext cx="581025" cy="114300"/>
          </a:xfrm>
          <a:prstGeom xmlns:a="http://schemas.openxmlformats.org/drawingml/2006/main" prst="rect">
            <a:avLst/>
          </a:prstGeom>
          <a:solidFill xmlns:a="http://schemas.openxmlformats.org/drawingml/2006/main">
            <a:srgbClr val="DCE2E8"/>
          </a:solidFill>
          <a:ln xmlns:a="http://schemas.openxmlformats.org/drawingml/2006/main" w="0">
            <a:noFill/>
          </a:ln>
        </p:spPr>
      </p:sp>
      <p:sp>
        <p:nvSpPr>
          <p:cNvPr id="25" name="text-84">
            <a:extLst xmlns:a="http://schemas.openxmlformats.org/drawingml/2006/main">
              <a:ext uri="{FF2B5EF4-FFF2-40B4-BE49-F238E27FC236}">
                <a16:creationId xmlns:a16="http://schemas.microsoft.com/office/drawing/2014/main" id="{33985A93-1299-4225-A952-881A88F4CB5E}"/>
              </a:ext>
            </a:extLst>
          </p:cNvPr>
          <p:cNvSpPr>
            <a:spLocks xmlns:a="http://schemas.openxmlformats.org/drawingml/2006/main" noGrp="1"/>
          </p:cNvSpPr>
          <p:nvPr/>
        </p:nvSpPr>
        <p:spPr>
          <a:xfrm xmlns:a="http://schemas.openxmlformats.org/drawingml/2006/main">
            <a:off x="609600" y="5524500"/>
            <a:ext cx="5810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65717D"/>
                </a:solidFill>
                <a:latin typeface="Calibri"/>
                <a:ea typeface="Calibri"/>
                <a:cs typeface="Calibri"/>
              </a:defRPr>
            </a:pPr>
            <a:r>
              <a:rPr sz="1650" b="1">
                <a:solidFill>
                  <a:srgbClr val="65717D"/>
                </a:solidFill>
                <a:latin typeface="Calibri"/>
                <a:ea typeface="Calibri"/>
                <a:cs typeface="Calibri"/>
              </a:rPr>
              <a:t>5</a:t>
            </a:r>
          </a:p>
        </p:txBody>
      </p:sp>
      <p:sp>
        <p:nvSpPr>
          <p:cNvPr id="26" name="text-85">
            <a:extLst xmlns:a="http://schemas.openxmlformats.org/drawingml/2006/main">
              <a:ext uri="{FF2B5EF4-FFF2-40B4-BE49-F238E27FC236}">
                <a16:creationId xmlns:a16="http://schemas.microsoft.com/office/drawing/2014/main" id="{98E87743-6F12-40DC-9909-220D366937FD}"/>
              </a:ext>
            </a:extLst>
          </p:cNvPr>
          <p:cNvSpPr>
            <a:spLocks xmlns:a="http://schemas.openxmlformats.org/drawingml/2006/main" noGrp="1"/>
          </p:cNvSpPr>
          <p:nvPr/>
        </p:nvSpPr>
        <p:spPr>
          <a:xfrm xmlns:a="http://schemas.openxmlformats.org/drawingml/2006/main">
            <a:off x="609600" y="5838825"/>
            <a:ext cx="95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0">
                <a:solidFill>
                  <a:srgbClr val="65717D"/>
                </a:solidFill>
                <a:latin typeface="Calibri"/>
                <a:ea typeface="Calibri"/>
                <a:cs typeface="Calibri"/>
              </a:defRPr>
            </a:pPr>
            <a:r>
              <a:rPr sz="1050" b="0">
                <a:solidFill>
                  <a:srgbClr val="65717D"/>
                </a:solidFill>
                <a:latin typeface="Calibri"/>
                <a:ea typeface="Calibri"/>
                <a:cs typeface="Calibri"/>
              </a:rPr>
              <a:t>Open</a:t>
            </a:r>
          </a:p>
        </p:txBody>
      </p:sp>
      <p:sp>
        <p:nvSpPr>
          <p:cNvPr id="27" name="">
            <a:extLst xmlns:a="http://schemas.openxmlformats.org/drawingml/2006/main">
              <a:ext uri="{FF2B5EF4-FFF2-40B4-BE49-F238E27FC236}">
                <a16:creationId xmlns:a16="http://schemas.microsoft.com/office/drawing/2014/main" id="{DED2EC26-426A-4B6A-A37A-A8585BF73CFA}"/>
              </a:ext>
            </a:extLst>
          </p:cNvPr>
          <p:cNvSpPr>
            <a:spLocks xmlns:a="http://schemas.openxmlformats.org/drawingml/2006/main" noGrp="1"/>
          </p:cNvSpPr>
          <p:nvPr/>
        </p:nvSpPr>
        <p:spPr>
          <a:xfrm xmlns:a="http://schemas.openxmlformats.org/drawingml/2006/main">
            <a:off x="1219200" y="5314950"/>
            <a:ext cx="2409825" cy="114300"/>
          </a:xfrm>
          <a:prstGeom xmlns:a="http://schemas.openxmlformats.org/drawingml/2006/main" prst="rect">
            <a:avLst/>
          </a:prstGeom>
          <a:solidFill xmlns:a="http://schemas.openxmlformats.org/drawingml/2006/main">
            <a:srgbClr val="DCE2E8"/>
          </a:solidFill>
          <a:ln xmlns:a="http://schemas.openxmlformats.org/drawingml/2006/main" w="0">
            <a:noFill/>
          </a:ln>
        </p:spPr>
      </p:sp>
      <p:sp>
        <p:nvSpPr>
          <p:cNvPr id="28" name="text-86">
            <a:extLst xmlns:a="http://schemas.openxmlformats.org/drawingml/2006/main">
              <a:ext uri="{FF2B5EF4-FFF2-40B4-BE49-F238E27FC236}">
                <a16:creationId xmlns:a16="http://schemas.microsoft.com/office/drawing/2014/main" id="{7A4AE063-31F7-4A3F-AA90-B4691772AC11}"/>
              </a:ext>
            </a:extLst>
          </p:cNvPr>
          <p:cNvSpPr>
            <a:spLocks xmlns:a="http://schemas.openxmlformats.org/drawingml/2006/main" noGrp="1"/>
          </p:cNvSpPr>
          <p:nvPr/>
        </p:nvSpPr>
        <p:spPr>
          <a:xfrm xmlns:a="http://schemas.openxmlformats.org/drawingml/2006/main">
            <a:off x="1219200" y="5524500"/>
            <a:ext cx="24098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65717D"/>
                </a:solidFill>
                <a:latin typeface="Calibri"/>
                <a:ea typeface="Calibri"/>
                <a:cs typeface="Calibri"/>
              </a:defRPr>
            </a:pPr>
            <a:r>
              <a:rPr sz="1650" b="1">
                <a:solidFill>
                  <a:srgbClr val="65717D"/>
                </a:solidFill>
                <a:latin typeface="Calibri"/>
                <a:ea typeface="Calibri"/>
                <a:cs typeface="Calibri"/>
              </a:rPr>
              <a:t>20</a:t>
            </a:r>
          </a:p>
        </p:txBody>
      </p:sp>
      <p:sp>
        <p:nvSpPr>
          <p:cNvPr id="29" name="text-87">
            <a:extLst xmlns:a="http://schemas.openxmlformats.org/drawingml/2006/main">
              <a:ext uri="{FF2B5EF4-FFF2-40B4-BE49-F238E27FC236}">
                <a16:creationId xmlns:a16="http://schemas.microsoft.com/office/drawing/2014/main" id="{EB5A34BA-D0C3-45B9-BE15-06645C51ABCC}"/>
              </a:ext>
            </a:extLst>
          </p:cNvPr>
          <p:cNvSpPr>
            <a:spLocks xmlns:a="http://schemas.openxmlformats.org/drawingml/2006/main" noGrp="1"/>
          </p:cNvSpPr>
          <p:nvPr/>
        </p:nvSpPr>
        <p:spPr>
          <a:xfrm xmlns:a="http://schemas.openxmlformats.org/drawingml/2006/main">
            <a:off x="1219200" y="5838825"/>
            <a:ext cx="2438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0">
                <a:solidFill>
                  <a:srgbClr val="65717D"/>
                </a:solidFill>
                <a:latin typeface="Calibri"/>
                <a:ea typeface="Calibri"/>
                <a:cs typeface="Calibri"/>
              </a:defRPr>
            </a:pPr>
            <a:r>
              <a:rPr sz="1425" b="0">
                <a:solidFill>
                  <a:srgbClr val="65717D"/>
                </a:solidFill>
                <a:latin typeface="Calibri"/>
                <a:ea typeface="Calibri"/>
                <a:cs typeface="Calibri"/>
              </a:rPr>
              <a:t>Their story</a:t>
            </a:r>
          </a:p>
        </p:txBody>
      </p:sp>
      <p:sp>
        <p:nvSpPr>
          <p:cNvPr id="30" name="">
            <a:extLst xmlns:a="http://schemas.openxmlformats.org/drawingml/2006/main">
              <a:ext uri="{FF2B5EF4-FFF2-40B4-BE49-F238E27FC236}">
                <a16:creationId xmlns:a16="http://schemas.microsoft.com/office/drawing/2014/main" id="{ED057482-B8AA-4D11-B15F-64EB74187F3A}"/>
              </a:ext>
            </a:extLst>
          </p:cNvPr>
          <p:cNvSpPr>
            <a:spLocks xmlns:a="http://schemas.openxmlformats.org/drawingml/2006/main" noGrp="1"/>
          </p:cNvSpPr>
          <p:nvPr/>
        </p:nvSpPr>
        <p:spPr>
          <a:xfrm xmlns:a="http://schemas.openxmlformats.org/drawingml/2006/main">
            <a:off x="3657600" y="5314950"/>
            <a:ext cx="7286625" cy="114300"/>
          </a:xfrm>
          <a:prstGeom xmlns:a="http://schemas.openxmlformats.org/drawingml/2006/main" prst="rect">
            <a:avLst/>
          </a:prstGeom>
          <a:solidFill xmlns:a="http://schemas.openxmlformats.org/drawingml/2006/main">
            <a:srgbClr val="002060"/>
          </a:solidFill>
          <a:ln xmlns:a="http://schemas.openxmlformats.org/drawingml/2006/main" w="0">
            <a:noFill/>
          </a:ln>
        </p:spPr>
      </p:sp>
      <p:sp>
        <p:nvSpPr>
          <p:cNvPr id="31" name="text-88">
            <a:extLst xmlns:a="http://schemas.openxmlformats.org/drawingml/2006/main">
              <a:ext uri="{FF2B5EF4-FFF2-40B4-BE49-F238E27FC236}">
                <a16:creationId xmlns:a16="http://schemas.microsoft.com/office/drawing/2014/main" id="{CB9B72F4-14C6-4ADA-A1F1-07873BEC61BF}"/>
              </a:ext>
            </a:extLst>
          </p:cNvPr>
          <p:cNvSpPr>
            <a:spLocks xmlns:a="http://schemas.openxmlformats.org/drawingml/2006/main" noGrp="1"/>
          </p:cNvSpPr>
          <p:nvPr/>
        </p:nvSpPr>
        <p:spPr>
          <a:xfrm xmlns:a="http://schemas.openxmlformats.org/drawingml/2006/main">
            <a:off x="3657600" y="5524500"/>
            <a:ext cx="7286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002060"/>
                </a:solidFill>
                <a:latin typeface="Calibri"/>
                <a:ea typeface="Calibri"/>
                <a:cs typeface="Calibri"/>
              </a:defRPr>
            </a:pPr>
            <a:r>
              <a:rPr sz="1650" b="1">
                <a:solidFill>
                  <a:srgbClr val="002060"/>
                </a:solidFill>
                <a:latin typeface="Calibri"/>
                <a:ea typeface="Calibri"/>
                <a:cs typeface="Calibri"/>
              </a:rPr>
              <a:t>60</a:t>
            </a:r>
          </a:p>
        </p:txBody>
      </p:sp>
      <p:sp>
        <p:nvSpPr>
          <p:cNvPr id="32" name="text-89">
            <a:extLst xmlns:a="http://schemas.openxmlformats.org/drawingml/2006/main">
              <a:ext uri="{FF2B5EF4-FFF2-40B4-BE49-F238E27FC236}">
                <a16:creationId xmlns:a16="http://schemas.microsoft.com/office/drawing/2014/main" id="{6FB61CAB-0A9B-4EDF-9896-A7FD89E63F29}"/>
              </a:ext>
            </a:extLst>
          </p:cNvPr>
          <p:cNvSpPr>
            <a:spLocks xmlns:a="http://schemas.openxmlformats.org/drawingml/2006/main" noGrp="1"/>
          </p:cNvSpPr>
          <p:nvPr/>
        </p:nvSpPr>
        <p:spPr>
          <a:xfrm xmlns:a="http://schemas.openxmlformats.org/drawingml/2006/main">
            <a:off x="3657600" y="5838825"/>
            <a:ext cx="7315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0">
                <a:solidFill>
                  <a:srgbClr val="65717D"/>
                </a:solidFill>
                <a:latin typeface="Calibri"/>
                <a:ea typeface="Calibri"/>
                <a:cs typeface="Calibri"/>
              </a:defRPr>
            </a:pPr>
            <a:r>
              <a:rPr sz="1425" b="0">
                <a:solidFill>
                  <a:srgbClr val="65717D"/>
                </a:solidFill>
                <a:latin typeface="Calibri"/>
                <a:ea typeface="Calibri"/>
                <a:cs typeface="Calibri"/>
              </a:rPr>
              <a:t>Your questions</a:t>
            </a:r>
          </a:p>
        </p:txBody>
      </p:sp>
      <p:sp>
        <p:nvSpPr>
          <p:cNvPr id="33" name="">
            <a:extLst xmlns:a="http://schemas.openxmlformats.org/drawingml/2006/main">
              <a:ext uri="{FF2B5EF4-FFF2-40B4-BE49-F238E27FC236}">
                <a16:creationId xmlns:a16="http://schemas.microsoft.com/office/drawing/2014/main" id="{E95F2EB3-6478-4805-B0A2-DD8C0BB3C3FA}"/>
              </a:ext>
            </a:extLst>
          </p:cNvPr>
          <p:cNvSpPr>
            <a:spLocks xmlns:a="http://schemas.openxmlformats.org/drawingml/2006/main" noGrp="1"/>
          </p:cNvSpPr>
          <p:nvPr/>
        </p:nvSpPr>
        <p:spPr>
          <a:xfrm xmlns:a="http://schemas.openxmlformats.org/drawingml/2006/main">
            <a:off x="10972800" y="5314950"/>
            <a:ext cx="581025" cy="114300"/>
          </a:xfrm>
          <a:prstGeom xmlns:a="http://schemas.openxmlformats.org/drawingml/2006/main" prst="rect">
            <a:avLst/>
          </a:prstGeom>
          <a:solidFill xmlns:a="http://schemas.openxmlformats.org/drawingml/2006/main">
            <a:srgbClr val="DCE2E8"/>
          </a:solidFill>
          <a:ln xmlns:a="http://schemas.openxmlformats.org/drawingml/2006/main" w="0">
            <a:noFill/>
          </a:ln>
        </p:spPr>
      </p:sp>
      <p:sp>
        <p:nvSpPr>
          <p:cNvPr id="34" name="text-90">
            <a:extLst xmlns:a="http://schemas.openxmlformats.org/drawingml/2006/main">
              <a:ext uri="{FF2B5EF4-FFF2-40B4-BE49-F238E27FC236}">
                <a16:creationId xmlns:a16="http://schemas.microsoft.com/office/drawing/2014/main" id="{A0C09C5E-A929-4A7C-AA7D-06C78D0AC65D}"/>
              </a:ext>
            </a:extLst>
          </p:cNvPr>
          <p:cNvSpPr>
            <a:spLocks xmlns:a="http://schemas.openxmlformats.org/drawingml/2006/main" noGrp="1"/>
          </p:cNvSpPr>
          <p:nvPr/>
        </p:nvSpPr>
        <p:spPr>
          <a:xfrm xmlns:a="http://schemas.openxmlformats.org/drawingml/2006/main">
            <a:off x="10972800" y="5524500"/>
            <a:ext cx="5810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65717D"/>
                </a:solidFill>
                <a:latin typeface="Calibri"/>
                <a:ea typeface="Calibri"/>
                <a:cs typeface="Calibri"/>
              </a:defRPr>
            </a:pPr>
            <a:r>
              <a:rPr sz="1650" b="1">
                <a:solidFill>
                  <a:srgbClr val="65717D"/>
                </a:solidFill>
                <a:latin typeface="Calibri"/>
                <a:ea typeface="Calibri"/>
                <a:cs typeface="Calibri"/>
              </a:rPr>
              <a:t>5</a:t>
            </a:r>
          </a:p>
        </p:txBody>
      </p:sp>
      <p:sp>
        <p:nvSpPr>
          <p:cNvPr id="35" name="text-91">
            <a:extLst xmlns:a="http://schemas.openxmlformats.org/drawingml/2006/main">
              <a:ext uri="{FF2B5EF4-FFF2-40B4-BE49-F238E27FC236}">
                <a16:creationId xmlns:a16="http://schemas.microsoft.com/office/drawing/2014/main" id="{7433FF5C-FD53-4A19-AFF3-096775D143C8}"/>
              </a:ext>
            </a:extLst>
          </p:cNvPr>
          <p:cNvSpPr>
            <a:spLocks xmlns:a="http://schemas.openxmlformats.org/drawingml/2006/main" noGrp="1"/>
          </p:cNvSpPr>
          <p:nvPr/>
        </p:nvSpPr>
        <p:spPr>
          <a:xfrm xmlns:a="http://schemas.openxmlformats.org/drawingml/2006/main">
            <a:off x="10972800" y="5838825"/>
            <a:ext cx="95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0">
                <a:solidFill>
                  <a:srgbClr val="65717D"/>
                </a:solidFill>
                <a:latin typeface="Calibri"/>
                <a:ea typeface="Calibri"/>
                <a:cs typeface="Calibri"/>
              </a:defRPr>
            </a:pPr>
            <a:r>
              <a:rPr sz="1050" b="0">
                <a:solidFill>
                  <a:srgbClr val="65717D"/>
                </a:solidFill>
                <a:latin typeface="Calibri"/>
                <a:ea typeface="Calibri"/>
                <a:cs typeface="Calibri"/>
              </a:rPr>
              <a:t>Close</a:t>
            </a:r>
          </a:p>
        </p:txBody>
      </p:sp>
    </p:spTree>
    <p:extLst>
      <p:ext uri="{BB962C8B-B14F-4D97-AF65-F5344CB8AC3E}">
        <p14:creationId xmlns:p14="http://schemas.microsoft.com/office/powerpoint/2010/main" val="756148803"/>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text-92">
            <a:extLst xmlns:a="http://schemas.openxmlformats.org/drawingml/2006/main">
              <a:ext uri="{FF2B5EF4-FFF2-40B4-BE49-F238E27FC236}">
                <a16:creationId xmlns:a16="http://schemas.microsoft.com/office/drawing/2014/main" id="{8511935B-34B6-453B-821E-C186BCB485AA}"/>
              </a:ext>
            </a:extLst>
          </p:cNvPr>
          <p:cNvSpPr>
            <a:spLocks xmlns:a="http://schemas.openxmlformats.org/drawingml/2006/main" noGrp="1"/>
          </p:cNvSpPr>
          <p:nvPr/>
        </p:nvSpPr>
        <p:spPr>
          <a:xfrm xmlns:a="http://schemas.openxmlformats.org/drawingml/2006/main">
            <a:off x="609600" y="333375"/>
            <a:ext cx="1066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65717D"/>
                </a:solidFill>
                <a:latin typeface="Calibri"/>
                <a:ea typeface="Calibri"/>
                <a:cs typeface="Calibri"/>
              </a:defRPr>
            </a:pPr>
            <a:r>
              <a:rPr sz="1050" b="1">
                <a:solidFill>
                  <a:srgbClr val="65717D"/>
                </a:solidFill>
                <a:latin typeface="Calibri"/>
                <a:ea typeface="Calibri"/>
                <a:cs typeface="Calibri"/>
              </a:rPr>
              <a:t>ECONOMICS FOUNDER LIVE</a:t>
            </a:r>
          </a:p>
        </p:txBody>
      </p:sp>
      <p:sp>
        <p:nvSpPr>
          <p:cNvPr id="2" name="text-93">
            <a:extLst xmlns:a="http://schemas.openxmlformats.org/drawingml/2006/main">
              <a:ext uri="{FF2B5EF4-FFF2-40B4-BE49-F238E27FC236}">
                <a16:creationId xmlns:a16="http://schemas.microsoft.com/office/drawing/2014/main" id="{4976454F-18A4-43FB-A55C-D6021B00A597}"/>
              </a:ext>
            </a:extLst>
          </p:cNvPr>
          <p:cNvSpPr>
            <a:spLocks xmlns:a="http://schemas.openxmlformats.org/drawingml/2006/main" noGrp="1"/>
          </p:cNvSpPr>
          <p:nvPr/>
        </p:nvSpPr>
        <p:spPr>
          <a:xfrm xmlns:a="http://schemas.openxmlformats.org/drawingml/2006/main">
            <a:off x="609600" y="723900"/>
            <a:ext cx="10858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925" b="1">
                <a:solidFill>
                  <a:srgbClr val="002060"/>
                </a:solidFill>
                <a:latin typeface="Calibri"/>
                <a:ea typeface="Calibri"/>
                <a:cs typeface="Calibri"/>
              </a:defRPr>
            </a:pPr>
            <a:r>
              <a:rPr sz="2925" b="1">
                <a:solidFill>
                  <a:srgbClr val="002060"/>
                </a:solidFill>
                <a:latin typeface="Calibri"/>
                <a:ea typeface="Calibri"/>
                <a:cs typeface="Calibri"/>
              </a:rPr>
              <a:t>Base budget Founder Live: Rp34,8 jt dengan sewa Zoom</a:t>
            </a:r>
          </a:p>
        </p:txBody>
      </p:sp>
      <p:sp>
        <p:nvSpPr>
          <p:cNvPr id="3" name="text-94">
            <a:extLst xmlns:a="http://schemas.openxmlformats.org/drawingml/2006/main">
              <a:ext uri="{FF2B5EF4-FFF2-40B4-BE49-F238E27FC236}">
                <a16:creationId xmlns:a16="http://schemas.microsoft.com/office/drawing/2014/main" id="{CC26B3CA-8FC1-4A02-9595-25F4B25E81F9}"/>
              </a:ext>
            </a:extLst>
          </p:cNvPr>
          <p:cNvSpPr>
            <a:spLocks xmlns:a="http://schemas.openxmlformats.org/drawingml/2006/main" noGrp="1"/>
          </p:cNvSpPr>
          <p:nvPr/>
        </p:nvSpPr>
        <p:spPr>
          <a:xfrm xmlns:a="http://schemas.openxmlformats.org/drawingml/2006/main">
            <a:off x="609600" y="1666875"/>
            <a:ext cx="10858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65717D"/>
                </a:solidFill>
                <a:latin typeface="Calibri"/>
                <a:ea typeface="Calibri"/>
                <a:cs typeface="Calibri"/>
              </a:defRPr>
            </a:pPr>
            <a:r>
              <a:rPr sz="1500" b="0">
                <a:solidFill>
                  <a:srgbClr val="65717D"/>
                </a:solidFill>
                <a:latin typeface="Calibri"/>
                <a:ea typeface="Calibri"/>
                <a:cs typeface="Calibri"/>
              </a:rPr>
              <a:t>Biaya per cohort sebelum pajak. Skenario hanya mengubah honor speaker.</a:t>
            </a:r>
          </a:p>
        </p:txBody>
      </p:sp>
      <p:sp>
        <p:nvSpPr>
          <p:cNvPr id="4" name="">
            <a:extLst xmlns:a="http://schemas.openxmlformats.org/drawingml/2006/main">
              <a:ext uri="{FF2B5EF4-FFF2-40B4-BE49-F238E27FC236}">
                <a16:creationId xmlns:a16="http://schemas.microsoft.com/office/drawing/2014/main" id="{F9A4718B-8814-4A4F-ACD2-5A501B1ED668}"/>
              </a:ext>
            </a:extLst>
          </p:cNvPr>
          <p:cNvSpPr>
            <a:spLocks xmlns:a="http://schemas.openxmlformats.org/drawingml/2006/main" noGrp="1"/>
          </p:cNvSpPr>
          <p:nvPr/>
        </p:nvSpPr>
        <p:spPr>
          <a:xfrm xmlns:a="http://schemas.openxmlformats.org/drawingml/2006/main">
            <a:off x="609600" y="6381750"/>
            <a:ext cx="10972800" cy="0"/>
          </a:xfrm>
          <a:prstGeom xmlns:a="http://schemas.openxmlformats.org/drawingml/2006/main" prst="line">
            <a:avLst/>
          </a:prstGeom>
          <a:noFill xmlns:a="http://schemas.openxmlformats.org/drawingml/2006/main"/>
          <a:ln xmlns:a="http://schemas.openxmlformats.org/drawingml/2006/main" w="9525">
            <a:solidFill>
              <a:srgbClr val="DCE2E8"/>
            </a:solidFill>
          </a:ln>
        </p:spPr>
      </p:sp>
      <p:sp>
        <p:nvSpPr>
          <p:cNvPr id="5" name="text-95">
            <a:extLst xmlns:a="http://schemas.openxmlformats.org/drawingml/2006/main">
              <a:ext uri="{FF2B5EF4-FFF2-40B4-BE49-F238E27FC236}">
                <a16:creationId xmlns:a16="http://schemas.microsoft.com/office/drawing/2014/main" id="{D0982CA5-11AA-4330-B319-8669652D732B}"/>
              </a:ext>
            </a:extLst>
          </p:cNvPr>
          <p:cNvSpPr>
            <a:spLocks xmlns:a="http://schemas.openxmlformats.org/drawingml/2006/main" noGrp="1"/>
          </p:cNvSpPr>
          <p:nvPr/>
        </p:nvSpPr>
        <p:spPr>
          <a:xfrm xmlns:a="http://schemas.openxmlformats.org/drawingml/2006/main">
            <a:off x="609600" y="6505575"/>
            <a:ext cx="10191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825" b="0">
                <a:solidFill>
                  <a:srgbClr val="65717D"/>
                </a:solidFill>
                <a:latin typeface="Calibri"/>
                <a:ea typeface="Calibri"/>
                <a:cs typeface="Calibri"/>
              </a:defRPr>
            </a:pPr>
            <a:r>
              <a:rPr sz="825" b="0">
                <a:solidFill>
                  <a:srgbClr val="65717D"/>
                </a:solidFill>
                <a:latin typeface="Calibri"/>
                <a:ea typeface="Calibri"/>
                <a:cs typeface="Calibri"/>
              </a:rPr>
              <a:t>Sumber: budget internal CMC; sewa Rp350 rb/sesi adalah asumsi. Gross/nett honor dan pajak belum final.</a:t>
            </a:r>
          </a:p>
        </p:txBody>
      </p:sp>
      <p:sp>
        <p:nvSpPr>
          <p:cNvPr id="6" name="text-96">
            <a:extLst xmlns:a="http://schemas.openxmlformats.org/drawingml/2006/main">
              <a:ext uri="{FF2B5EF4-FFF2-40B4-BE49-F238E27FC236}">
                <a16:creationId xmlns:a16="http://schemas.microsoft.com/office/drawing/2014/main" id="{195CEFBA-61B3-406D-8EA0-9C56F1D9CA11}"/>
              </a:ext>
            </a:extLst>
          </p:cNvPr>
          <p:cNvSpPr>
            <a:spLocks xmlns:a="http://schemas.openxmlformats.org/drawingml/2006/main" noGrp="1"/>
          </p:cNvSpPr>
          <p:nvPr/>
        </p:nvSpPr>
        <p:spPr>
          <a:xfrm xmlns:a="http://schemas.openxmlformats.org/drawingml/2006/main">
            <a:off x="11125200" y="6486525"/>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002060"/>
                </a:solidFill>
                <a:latin typeface="Calibri"/>
                <a:ea typeface="Calibri"/>
                <a:cs typeface="Calibri"/>
              </a:defRPr>
            </a:pPr>
            <a:r>
              <a:rPr sz="1050" b="1">
                <a:solidFill>
                  <a:srgbClr val="002060"/>
                </a:solidFill>
                <a:latin typeface="Calibri"/>
                <a:ea typeface="Calibri"/>
                <a:cs typeface="Calibri"/>
              </a:rPr>
              <a:t>06</a:t>
            </a:r>
          </a:p>
        </p:txBody>
      </p:sp>
      <p:graphicFrame>
        <p:nvGraphicFramePr>
          <p:cNvPr id="21" name="Chart"/>
          <p:cNvGraphicFramePr/>
          <p:nvPr/>
        </p:nvGraphicFramePr>
        <p:xfrm>
          <a:off xmlns:a="http://schemas.openxmlformats.org/drawingml/2006/main" x="590550" y="2286000"/>
          <a:ext xmlns:a="http://schemas.openxmlformats.org/drawingml/2006/main" cx="7334250" cy="3238500"/>
        </p:xfrm>
        <a:graphic xmlns:a="http://schemas.openxmlformats.org/drawingml/2006/main">
          <a:graphicData uri="http://schemas.openxmlformats.org/drawingml/2006/chart">
            <c:chart xmlns:r="http://schemas.openxmlformats.org/officeDocument/2006/relationships" xmlns:c="http://schemas.openxmlformats.org/drawingml/2006/chart" r:id="Ra8fb4ec3240743c9"/>
          </a:graphicData>
        </a:graphic>
      </p:graphicFrame>
      <p:sp>
        <p:nvSpPr>
          <p:cNvPr id="8" name="text-97">
            <a:extLst xmlns:a="http://schemas.openxmlformats.org/drawingml/2006/main">
              <a:ext uri="{FF2B5EF4-FFF2-40B4-BE49-F238E27FC236}">
                <a16:creationId xmlns:a16="http://schemas.microsoft.com/office/drawing/2014/main" id="{342CADD8-CDCE-404A-AFB4-6352F7DCBD9C}"/>
              </a:ext>
            </a:extLst>
          </p:cNvPr>
          <p:cNvSpPr>
            <a:spLocks xmlns:a="http://schemas.openxmlformats.org/drawingml/2006/main" noGrp="1"/>
          </p:cNvSpPr>
          <p:nvPr/>
        </p:nvSpPr>
        <p:spPr>
          <a:xfrm xmlns:a="http://schemas.openxmlformats.org/drawingml/2006/main">
            <a:off x="8810625" y="2390775"/>
            <a:ext cx="266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1">
                <a:solidFill>
                  <a:srgbClr val="65717D"/>
                </a:solidFill>
                <a:latin typeface="Calibri"/>
                <a:ea typeface="Calibri"/>
                <a:cs typeface="Calibri"/>
              </a:defRPr>
            </a:pPr>
            <a:r>
              <a:rPr sz="1125" b="1">
                <a:solidFill>
                  <a:srgbClr val="65717D"/>
                </a:solidFill>
                <a:latin typeface="Calibri"/>
                <a:ea typeface="Calibri"/>
                <a:cs typeface="Calibri"/>
              </a:rPr>
              <a:t>BASE CASE</a:t>
            </a:r>
          </a:p>
        </p:txBody>
      </p:sp>
      <p:sp>
        <p:nvSpPr>
          <p:cNvPr id="9" name="text-98">
            <a:extLst xmlns:a="http://schemas.openxmlformats.org/drawingml/2006/main">
              <a:ext uri="{FF2B5EF4-FFF2-40B4-BE49-F238E27FC236}">
                <a16:creationId xmlns:a16="http://schemas.microsoft.com/office/drawing/2014/main" id="{DD70C528-4146-41DC-9EC6-EDF55B0D1081}"/>
              </a:ext>
            </a:extLst>
          </p:cNvPr>
          <p:cNvSpPr>
            <a:spLocks xmlns:a="http://schemas.openxmlformats.org/drawingml/2006/main" noGrp="1"/>
          </p:cNvSpPr>
          <p:nvPr/>
        </p:nvSpPr>
        <p:spPr>
          <a:xfrm xmlns:a="http://schemas.openxmlformats.org/drawingml/2006/main">
            <a:off x="8810625" y="2781300"/>
            <a:ext cx="2857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525" b="1">
                <a:solidFill>
                  <a:srgbClr val="002060"/>
                </a:solidFill>
                <a:latin typeface="Calibri"/>
                <a:ea typeface="Calibri"/>
                <a:cs typeface="Calibri"/>
              </a:defRPr>
            </a:pPr>
            <a:r>
              <a:rPr sz="3525" b="1">
                <a:solidFill>
                  <a:srgbClr val="002060"/>
                </a:solidFill>
                <a:latin typeface="Calibri"/>
                <a:ea typeface="Calibri"/>
                <a:cs typeface="Calibri"/>
              </a:rPr>
              <a:t>Rp34,8 jt</a:t>
            </a:r>
          </a:p>
        </p:txBody>
      </p:sp>
      <p:sp>
        <p:nvSpPr>
          <p:cNvPr id="10" name="text-99">
            <a:extLst xmlns:a="http://schemas.openxmlformats.org/drawingml/2006/main">
              <a:ext uri="{FF2B5EF4-FFF2-40B4-BE49-F238E27FC236}">
                <a16:creationId xmlns:a16="http://schemas.microsoft.com/office/drawing/2014/main" id="{4F87A418-8361-4205-BB8D-8C0A2E5209F0}"/>
              </a:ext>
            </a:extLst>
          </p:cNvPr>
          <p:cNvSpPr>
            <a:spLocks xmlns:a="http://schemas.openxmlformats.org/drawingml/2006/main" noGrp="1"/>
          </p:cNvSpPr>
          <p:nvPr/>
        </p:nvSpPr>
        <p:spPr>
          <a:xfrm xmlns:a="http://schemas.openxmlformats.org/drawingml/2006/main">
            <a:off x="8810625" y="3609975"/>
            <a:ext cx="2762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273746"/>
                </a:solidFill>
                <a:latin typeface="Calibri"/>
                <a:ea typeface="Calibri"/>
                <a:cs typeface="Calibri"/>
              </a:defRPr>
            </a:pPr>
            <a:r>
              <a:rPr sz="1950" b="0">
                <a:solidFill>
                  <a:srgbClr val="273746"/>
                </a:solidFill>
                <a:latin typeface="Calibri"/>
                <a:ea typeface="Calibri"/>
                <a:cs typeface="Calibri"/>
              </a:rPr>
              <a:t>Rp32 jt speaker</a:t>
            </a:r>
          </a:p>
          <a:p xmlns:a="http://schemas.openxmlformats.org/drawingml/2006/main">
            <a:pPr>
              <a:defRPr sz="1950" b="0">
                <a:solidFill>
                  <a:srgbClr val="273746"/>
                </a:solidFill>
                <a:latin typeface="Calibri"/>
                <a:ea typeface="Calibri"/>
                <a:cs typeface="Calibri"/>
              </a:defRPr>
            </a:pPr>
            <a:r>
              <a:rPr sz="1950" b="0">
                <a:solidFill>
                  <a:srgbClr val="273746"/>
                </a:solidFill>
                <a:latin typeface="Calibri"/>
                <a:ea typeface="Calibri"/>
                <a:cs typeface="Calibri"/>
              </a:rPr>
              <a:t>Rp2,8 jt Zoom</a:t>
            </a:r>
          </a:p>
        </p:txBody>
      </p:sp>
      <p:sp>
        <p:nvSpPr>
          <p:cNvPr id="11" name="text-100">
            <a:extLst xmlns:a="http://schemas.openxmlformats.org/drawingml/2006/main">
              <a:ext uri="{FF2B5EF4-FFF2-40B4-BE49-F238E27FC236}">
                <a16:creationId xmlns:a16="http://schemas.microsoft.com/office/drawing/2014/main" id="{A799EF01-39EC-4D8C-A750-F6BD24B53A4D}"/>
              </a:ext>
            </a:extLst>
          </p:cNvPr>
          <p:cNvSpPr>
            <a:spLocks xmlns:a="http://schemas.openxmlformats.org/drawingml/2006/main" noGrp="1"/>
          </p:cNvSpPr>
          <p:nvPr/>
        </p:nvSpPr>
        <p:spPr>
          <a:xfrm xmlns:a="http://schemas.openxmlformats.org/drawingml/2006/main">
            <a:off x="8810625" y="4695825"/>
            <a:ext cx="27146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1">
                <a:solidFill>
                  <a:srgbClr val="002060"/>
                </a:solidFill>
                <a:latin typeface="Calibri"/>
                <a:ea typeface="Calibri"/>
                <a:cs typeface="Calibri"/>
              </a:defRPr>
            </a:pPr>
            <a:r>
              <a:rPr sz="2550" b="1">
                <a:solidFill>
                  <a:srgbClr val="002060"/>
                </a:solidFill>
                <a:latin typeface="Calibri"/>
                <a:ea typeface="Calibri"/>
                <a:cs typeface="Calibri"/>
              </a:rPr>
              <a:t>Rp46,4 rb</a:t>
            </a:r>
          </a:p>
        </p:txBody>
      </p:sp>
      <p:sp>
        <p:nvSpPr>
          <p:cNvPr id="12" name="text-101">
            <a:extLst xmlns:a="http://schemas.openxmlformats.org/drawingml/2006/main">
              <a:ext uri="{FF2B5EF4-FFF2-40B4-BE49-F238E27FC236}">
                <a16:creationId xmlns:a16="http://schemas.microsoft.com/office/drawing/2014/main" id="{A404CF67-8E1D-4C0E-9679-6701C74E6061}"/>
              </a:ext>
            </a:extLst>
          </p:cNvPr>
          <p:cNvSpPr>
            <a:spLocks xmlns:a="http://schemas.openxmlformats.org/drawingml/2006/main" noGrp="1"/>
          </p:cNvSpPr>
          <p:nvPr/>
        </p:nvSpPr>
        <p:spPr>
          <a:xfrm xmlns:a="http://schemas.openxmlformats.org/drawingml/2006/main">
            <a:off x="8810625" y="5200650"/>
            <a:ext cx="2619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65717D"/>
                </a:solidFill>
                <a:latin typeface="Calibri"/>
                <a:ea typeface="Calibri"/>
                <a:cs typeface="Calibri"/>
              </a:defRPr>
            </a:pPr>
            <a:r>
              <a:rPr sz="1350" b="0">
                <a:solidFill>
                  <a:srgbClr val="65717D"/>
                </a:solidFill>
                <a:latin typeface="Calibri"/>
                <a:ea typeface="Calibri"/>
                <a:cs typeface="Calibri"/>
              </a:rPr>
              <a:t>per peserta unik @750 / cohort</a:t>
            </a:r>
          </a:p>
        </p:txBody>
      </p:sp>
      <p:sp>
        <p:nvSpPr>
          <p:cNvPr id="13" name="">
            <a:extLst xmlns:a="http://schemas.openxmlformats.org/drawingml/2006/main">
              <a:ext uri="{FF2B5EF4-FFF2-40B4-BE49-F238E27FC236}">
                <a16:creationId xmlns:a16="http://schemas.microsoft.com/office/drawing/2014/main" id="{C4D1E1C3-F573-40F3-BCBD-987EA2D0F60A}"/>
              </a:ext>
            </a:extLst>
          </p:cNvPr>
          <p:cNvSpPr>
            <a:spLocks xmlns:a="http://schemas.openxmlformats.org/drawingml/2006/main" noGrp="1"/>
          </p:cNvSpPr>
          <p:nvPr/>
        </p:nvSpPr>
        <p:spPr>
          <a:xfrm xmlns:a="http://schemas.openxmlformats.org/drawingml/2006/main">
            <a:off x="609600" y="5762625"/>
            <a:ext cx="10972800" cy="0"/>
          </a:xfrm>
          <a:prstGeom xmlns:a="http://schemas.openxmlformats.org/drawingml/2006/main" prst="line">
            <a:avLst/>
          </a:prstGeom>
          <a:noFill xmlns:a="http://schemas.openxmlformats.org/drawingml/2006/main"/>
          <a:ln xmlns:a="http://schemas.openxmlformats.org/drawingml/2006/main" w="9525">
            <a:solidFill>
              <a:srgbClr val="DCE2E8"/>
            </a:solidFill>
          </a:ln>
        </p:spPr>
      </p:sp>
      <p:sp>
        <p:nvSpPr>
          <p:cNvPr id="14" name="text-102">
            <a:extLst xmlns:a="http://schemas.openxmlformats.org/drawingml/2006/main">
              <a:ext uri="{FF2B5EF4-FFF2-40B4-BE49-F238E27FC236}">
                <a16:creationId xmlns:a16="http://schemas.microsoft.com/office/drawing/2014/main" id="{9B6736C8-0D71-4BB8-8CC2-D9DCBBECD3D3}"/>
              </a:ext>
            </a:extLst>
          </p:cNvPr>
          <p:cNvSpPr>
            <a:spLocks xmlns:a="http://schemas.openxmlformats.org/drawingml/2006/main" noGrp="1"/>
          </p:cNvSpPr>
          <p:nvPr/>
        </p:nvSpPr>
        <p:spPr>
          <a:xfrm xmlns:a="http://schemas.openxmlformats.org/drawingml/2006/main">
            <a:off x="609600" y="5953125"/>
            <a:ext cx="109061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002060"/>
                </a:solidFill>
                <a:latin typeface="Calibri"/>
                <a:ea typeface="Calibri"/>
                <a:cs typeface="Calibri"/>
              </a:defRPr>
            </a:pPr>
            <a:r>
              <a:rPr sz="1650" b="1">
                <a:solidFill>
                  <a:srgbClr val="002060"/>
                </a:solidFill>
                <a:latin typeface="Calibri"/>
                <a:ea typeface="Calibri"/>
                <a:cs typeface="Calibri"/>
              </a:rPr>
              <a:t>Budget utama ada di speaker: Rp3–5 jt × 8 sesi.</a:t>
            </a:r>
          </a:p>
        </p:txBody>
      </p:sp>
    </p:spTree>
    <p:extLst>
      <p:ext uri="{BB962C8B-B14F-4D97-AF65-F5344CB8AC3E}">
        <p14:creationId xmlns:p14="http://schemas.microsoft.com/office/powerpoint/2010/main" val="1666077500"/>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text-103">
            <a:extLst xmlns:a="http://schemas.openxmlformats.org/drawingml/2006/main">
              <a:ext uri="{FF2B5EF4-FFF2-40B4-BE49-F238E27FC236}">
                <a16:creationId xmlns:a16="http://schemas.microsoft.com/office/drawing/2014/main" id="{C5A4DA8D-D79F-4336-95A2-CECD1F25029F}"/>
              </a:ext>
            </a:extLst>
          </p:cNvPr>
          <p:cNvSpPr>
            <a:spLocks xmlns:a="http://schemas.openxmlformats.org/drawingml/2006/main" noGrp="1"/>
          </p:cNvSpPr>
          <p:nvPr/>
        </p:nvSpPr>
        <p:spPr>
          <a:xfrm xmlns:a="http://schemas.openxmlformats.org/drawingml/2006/main">
            <a:off x="609600" y="333375"/>
            <a:ext cx="1066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65717D"/>
                </a:solidFill>
                <a:latin typeface="Calibri"/>
                <a:ea typeface="Calibri"/>
                <a:cs typeface="Calibri"/>
              </a:defRPr>
            </a:pPr>
            <a:r>
              <a:rPr sz="1050" b="1">
                <a:solidFill>
                  <a:srgbClr val="65717D"/>
                </a:solidFill>
                <a:latin typeface="Calibri"/>
                <a:ea typeface="Calibri"/>
                <a:cs typeface="Calibri"/>
              </a:rPr>
              <a:t>KEPUTUSAN PLATFORM</a:t>
            </a:r>
          </a:p>
        </p:txBody>
      </p:sp>
      <p:sp>
        <p:nvSpPr>
          <p:cNvPr id="2" name="text-104">
            <a:extLst xmlns:a="http://schemas.openxmlformats.org/drawingml/2006/main">
              <a:ext uri="{FF2B5EF4-FFF2-40B4-BE49-F238E27FC236}">
                <a16:creationId xmlns:a16="http://schemas.microsoft.com/office/drawing/2014/main" id="{B83251D3-0CD2-4058-91EA-58964BCFDBCB}"/>
              </a:ext>
            </a:extLst>
          </p:cNvPr>
          <p:cNvSpPr>
            <a:spLocks xmlns:a="http://schemas.openxmlformats.org/drawingml/2006/main" noGrp="1"/>
          </p:cNvSpPr>
          <p:nvPr/>
        </p:nvSpPr>
        <p:spPr>
          <a:xfrm xmlns:a="http://schemas.openxmlformats.org/drawingml/2006/main">
            <a:off x="609600" y="723900"/>
            <a:ext cx="10858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925" b="1">
                <a:solidFill>
                  <a:srgbClr val="002060"/>
                </a:solidFill>
                <a:latin typeface="Calibri"/>
                <a:ea typeface="Calibri"/>
                <a:cs typeface="Calibri"/>
              </a:defRPr>
            </a:pPr>
            <a:r>
              <a:rPr sz="2925" b="1">
                <a:solidFill>
                  <a:srgbClr val="002060"/>
                </a:solidFill>
                <a:latin typeface="Calibri"/>
                <a:ea typeface="Calibri"/>
                <a:cs typeface="Calibri"/>
              </a:rPr>
              <a:t>Sewa menghemat Rp2,51 jt untuk pilot delapan sesi</a:t>
            </a:r>
          </a:p>
        </p:txBody>
      </p:sp>
      <p:sp>
        <p:nvSpPr>
          <p:cNvPr id="3" name="text-105">
            <a:extLst xmlns:a="http://schemas.openxmlformats.org/drawingml/2006/main">
              <a:ext uri="{FF2B5EF4-FFF2-40B4-BE49-F238E27FC236}">
                <a16:creationId xmlns:a16="http://schemas.microsoft.com/office/drawing/2014/main" id="{2AA7937B-270C-4C29-A226-D4937CD8D9D7}"/>
              </a:ext>
            </a:extLst>
          </p:cNvPr>
          <p:cNvSpPr>
            <a:spLocks xmlns:a="http://schemas.openxmlformats.org/drawingml/2006/main" noGrp="1"/>
          </p:cNvSpPr>
          <p:nvPr/>
        </p:nvSpPr>
        <p:spPr>
          <a:xfrm xmlns:a="http://schemas.openxmlformats.org/drawingml/2006/main">
            <a:off x="609600" y="1666875"/>
            <a:ext cx="10858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65717D"/>
                </a:solidFill>
                <a:latin typeface="Calibri"/>
                <a:ea typeface="Calibri"/>
                <a:cs typeface="Calibri"/>
              </a:defRPr>
            </a:pPr>
            <a:r>
              <a:rPr sz="1500" b="0">
                <a:solidFill>
                  <a:srgbClr val="65717D"/>
                </a:solidFill>
                <a:latin typeface="Calibri"/>
                <a:ea typeface="Calibri"/>
                <a:cs typeface="Calibri"/>
              </a:rPr>
              <a:t>Kedua opsi ditargetkan menampung 1.000 orang. Scope vendor tetap perlu dikonfirmasi.</a:t>
            </a:r>
          </a:p>
        </p:txBody>
      </p:sp>
      <p:sp>
        <p:nvSpPr>
          <p:cNvPr id="4" name="">
            <a:extLst xmlns:a="http://schemas.openxmlformats.org/drawingml/2006/main">
              <a:ext uri="{FF2B5EF4-FFF2-40B4-BE49-F238E27FC236}">
                <a16:creationId xmlns:a16="http://schemas.microsoft.com/office/drawing/2014/main" id="{85AFF570-7DC0-4F89-8C65-EF45128524BA}"/>
              </a:ext>
            </a:extLst>
          </p:cNvPr>
          <p:cNvSpPr>
            <a:spLocks xmlns:a="http://schemas.openxmlformats.org/drawingml/2006/main" noGrp="1"/>
          </p:cNvSpPr>
          <p:nvPr/>
        </p:nvSpPr>
        <p:spPr>
          <a:xfrm xmlns:a="http://schemas.openxmlformats.org/drawingml/2006/main">
            <a:off x="609600" y="6381750"/>
            <a:ext cx="10972800" cy="0"/>
          </a:xfrm>
          <a:prstGeom xmlns:a="http://schemas.openxmlformats.org/drawingml/2006/main" prst="line">
            <a:avLst/>
          </a:prstGeom>
          <a:noFill xmlns:a="http://schemas.openxmlformats.org/drawingml/2006/main"/>
          <a:ln xmlns:a="http://schemas.openxmlformats.org/drawingml/2006/main" w="9525">
            <a:solidFill>
              <a:srgbClr val="DCE2E8"/>
            </a:solidFill>
          </a:ln>
        </p:spPr>
      </p:sp>
      <p:sp>
        <p:nvSpPr>
          <p:cNvPr id="5" name="text-106">
            <a:extLst xmlns:a="http://schemas.openxmlformats.org/drawingml/2006/main">
              <a:ext uri="{FF2B5EF4-FFF2-40B4-BE49-F238E27FC236}">
                <a16:creationId xmlns:a16="http://schemas.microsoft.com/office/drawing/2014/main" id="{80806112-F9AD-4CB0-A410-08FDE4F36598}"/>
              </a:ext>
            </a:extLst>
          </p:cNvPr>
          <p:cNvSpPr>
            <a:spLocks xmlns:a="http://schemas.openxmlformats.org/drawingml/2006/main" noGrp="1"/>
          </p:cNvSpPr>
          <p:nvPr/>
        </p:nvSpPr>
        <p:spPr>
          <a:xfrm xmlns:a="http://schemas.openxmlformats.org/drawingml/2006/main">
            <a:off x="609600" y="6505575"/>
            <a:ext cx="10191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825" b="0">
                <a:solidFill>
                  <a:srgbClr val="65717D"/>
                </a:solidFill>
                <a:latin typeface="Calibri"/>
                <a:ea typeface="Calibri"/>
                <a:cs typeface="Calibri"/>
              </a:defRPr>
            </a:pPr>
            <a:r>
              <a:rPr sz="825" b="0">
                <a:solidFill>
                  <a:srgbClr val="65717D"/>
                </a:solidFill>
                <a:latin typeface="Calibri"/>
                <a:ea typeface="Calibri"/>
                <a:cs typeface="Calibri"/>
              </a:rPr>
              <a:t>Subscribe: acuan checkout sebelumnya. Sewa Rp350 rb/sesi: asumsi CMC. Sebelum pajak; detail di A2.</a:t>
            </a:r>
          </a:p>
        </p:txBody>
      </p:sp>
      <p:sp>
        <p:nvSpPr>
          <p:cNvPr id="6" name="text-107">
            <a:extLst xmlns:a="http://schemas.openxmlformats.org/drawingml/2006/main">
              <a:ext uri="{FF2B5EF4-FFF2-40B4-BE49-F238E27FC236}">
                <a16:creationId xmlns:a16="http://schemas.microsoft.com/office/drawing/2014/main" id="{DBC31181-47B2-488F-B2AD-43D58661AA52}"/>
              </a:ext>
            </a:extLst>
          </p:cNvPr>
          <p:cNvSpPr>
            <a:spLocks xmlns:a="http://schemas.openxmlformats.org/drawingml/2006/main" noGrp="1"/>
          </p:cNvSpPr>
          <p:nvPr/>
        </p:nvSpPr>
        <p:spPr>
          <a:xfrm xmlns:a="http://schemas.openxmlformats.org/drawingml/2006/main">
            <a:off x="11125200" y="6486525"/>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002060"/>
                </a:solidFill>
                <a:latin typeface="Calibri"/>
                <a:ea typeface="Calibri"/>
                <a:cs typeface="Calibri"/>
              </a:defRPr>
            </a:pPr>
            <a:r>
              <a:rPr sz="1050" b="1">
                <a:solidFill>
                  <a:srgbClr val="002060"/>
                </a:solidFill>
                <a:latin typeface="Calibri"/>
                <a:ea typeface="Calibri"/>
                <a:cs typeface="Calibri"/>
              </a:rPr>
              <a:t>07</a:t>
            </a:r>
          </a:p>
        </p:txBody>
      </p:sp>
      <p:graphicFrame>
        <p:nvGraphicFramePr>
          <p:cNvPr id="21" name="Chart"/>
          <p:cNvGraphicFramePr/>
          <p:nvPr/>
        </p:nvGraphicFramePr>
        <p:xfrm>
          <a:off xmlns:a="http://schemas.openxmlformats.org/drawingml/2006/main" x="552450" y="2409825"/>
          <a:ext xmlns:a="http://schemas.openxmlformats.org/drawingml/2006/main" cx="7524750" cy="2428875"/>
        </p:xfrm>
        <a:graphic xmlns:a="http://schemas.openxmlformats.org/drawingml/2006/main">
          <a:graphicData uri="http://schemas.openxmlformats.org/drawingml/2006/chart">
            <c:chart xmlns:r="http://schemas.openxmlformats.org/officeDocument/2006/relationships" xmlns:c="http://schemas.openxmlformats.org/drawingml/2006/chart" r:id="Rfb2f7e77b5994d14"/>
          </a:graphicData>
        </a:graphic>
      </p:graphicFrame>
      <p:sp>
        <p:nvSpPr>
          <p:cNvPr id="8" name="text-108">
            <a:extLst xmlns:a="http://schemas.openxmlformats.org/drawingml/2006/main">
              <a:ext uri="{FF2B5EF4-FFF2-40B4-BE49-F238E27FC236}">
                <a16:creationId xmlns:a16="http://schemas.microsoft.com/office/drawing/2014/main" id="{6D0324F9-7EE2-4F4C-A869-2913168A8805}"/>
              </a:ext>
            </a:extLst>
          </p:cNvPr>
          <p:cNvSpPr>
            <a:spLocks xmlns:a="http://schemas.openxmlformats.org/drawingml/2006/main" noGrp="1"/>
          </p:cNvSpPr>
          <p:nvPr/>
        </p:nvSpPr>
        <p:spPr>
          <a:xfrm xmlns:a="http://schemas.openxmlformats.org/drawingml/2006/main">
            <a:off x="8801100" y="2667000"/>
            <a:ext cx="27622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875" b="1">
                <a:solidFill>
                  <a:srgbClr val="002060"/>
                </a:solidFill>
                <a:latin typeface="Calibri"/>
                <a:ea typeface="Calibri"/>
                <a:cs typeface="Calibri"/>
              </a:defRPr>
            </a:pPr>
            <a:r>
              <a:rPr sz="4875" b="1">
                <a:solidFill>
                  <a:srgbClr val="002060"/>
                </a:solidFill>
                <a:latin typeface="Calibri"/>
                <a:ea typeface="Calibri"/>
                <a:cs typeface="Calibri"/>
              </a:rPr>
              <a:t>47,3%</a:t>
            </a:r>
          </a:p>
        </p:txBody>
      </p:sp>
      <p:sp>
        <p:nvSpPr>
          <p:cNvPr id="9" name="text-109">
            <a:extLst xmlns:a="http://schemas.openxmlformats.org/drawingml/2006/main">
              <a:ext uri="{FF2B5EF4-FFF2-40B4-BE49-F238E27FC236}">
                <a16:creationId xmlns:a16="http://schemas.microsoft.com/office/drawing/2014/main" id="{E7770C6F-3053-40FD-8202-9FCDE9FD4BB8}"/>
              </a:ext>
            </a:extLst>
          </p:cNvPr>
          <p:cNvSpPr>
            <a:spLocks xmlns:a="http://schemas.openxmlformats.org/drawingml/2006/main" noGrp="1"/>
          </p:cNvSpPr>
          <p:nvPr/>
        </p:nvSpPr>
        <p:spPr>
          <a:xfrm xmlns:a="http://schemas.openxmlformats.org/drawingml/2006/main">
            <a:off x="8801100" y="3629025"/>
            <a:ext cx="27241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273746"/>
                </a:solidFill>
                <a:latin typeface="Calibri"/>
                <a:ea typeface="Calibri"/>
                <a:cs typeface="Calibri"/>
              </a:defRPr>
            </a:pPr>
            <a:r>
              <a:rPr sz="1725" b="0">
                <a:solidFill>
                  <a:srgbClr val="273746"/>
                </a:solidFill>
                <a:latin typeface="Calibri"/>
                <a:ea typeface="Calibri"/>
                <a:cs typeface="Calibri"/>
              </a:rPr>
              <a:t>penghematan biaya Zoom</a:t>
            </a:r>
          </a:p>
        </p:txBody>
      </p:sp>
      <p:sp>
        <p:nvSpPr>
          <p:cNvPr id="10" name="text-110">
            <a:extLst xmlns:a="http://schemas.openxmlformats.org/drawingml/2006/main">
              <a:ext uri="{FF2B5EF4-FFF2-40B4-BE49-F238E27FC236}">
                <a16:creationId xmlns:a16="http://schemas.microsoft.com/office/drawing/2014/main" id="{D94F8905-08BF-4C8A-8CDD-6E1E88DD72B4}"/>
              </a:ext>
            </a:extLst>
          </p:cNvPr>
          <p:cNvSpPr>
            <a:spLocks xmlns:a="http://schemas.openxmlformats.org/drawingml/2006/main" noGrp="1"/>
          </p:cNvSpPr>
          <p:nvPr/>
        </p:nvSpPr>
        <p:spPr>
          <a:xfrm xmlns:a="http://schemas.openxmlformats.org/drawingml/2006/main">
            <a:off x="609600" y="5095875"/>
            <a:ext cx="571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1">
                <a:solidFill>
                  <a:srgbClr val="002060"/>
                </a:solidFill>
                <a:latin typeface="Calibri"/>
                <a:ea typeface="Calibri"/>
                <a:cs typeface="Calibri"/>
              </a:defRPr>
            </a:pPr>
            <a:r>
              <a:rPr sz="1725" b="1">
                <a:solidFill>
                  <a:srgbClr val="002060"/>
                </a:solidFill>
                <a:latin typeface="Calibri"/>
                <a:ea typeface="Calibri"/>
                <a:cs typeface="Calibri"/>
              </a:rPr>
              <a:t>Pro + Large Meeting 1.000</a:t>
            </a:r>
          </a:p>
        </p:txBody>
      </p:sp>
      <p:sp>
        <p:nvSpPr>
          <p:cNvPr id="11" name="text-111">
            <a:extLst xmlns:a="http://schemas.openxmlformats.org/drawingml/2006/main">
              <a:ext uri="{FF2B5EF4-FFF2-40B4-BE49-F238E27FC236}">
                <a16:creationId xmlns:a16="http://schemas.microsoft.com/office/drawing/2014/main" id="{EED8F6DE-A8D0-40E8-9B53-B7F00752A4EF}"/>
              </a:ext>
            </a:extLst>
          </p:cNvPr>
          <p:cNvSpPr>
            <a:spLocks xmlns:a="http://schemas.openxmlformats.org/drawingml/2006/main" noGrp="1"/>
          </p:cNvSpPr>
          <p:nvPr/>
        </p:nvSpPr>
        <p:spPr>
          <a:xfrm xmlns:a="http://schemas.openxmlformats.org/drawingml/2006/main">
            <a:off x="609600" y="5467350"/>
            <a:ext cx="590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65717D"/>
                </a:solidFill>
                <a:latin typeface="Calibri"/>
                <a:ea typeface="Calibri"/>
                <a:cs typeface="Calibri"/>
              </a:defRPr>
            </a:pPr>
            <a:r>
              <a:rPr sz="1500" b="0">
                <a:solidFill>
                  <a:srgbClr val="65717D"/>
                </a:solidFill>
                <a:latin typeface="Calibri"/>
                <a:ea typeface="Calibri"/>
                <a:cs typeface="Calibri"/>
              </a:rPr>
              <a:t>Acuan subscribe Rp2.655.839 per bulan</a:t>
            </a:r>
          </a:p>
        </p:txBody>
      </p:sp>
      <p:sp>
        <p:nvSpPr>
          <p:cNvPr id="12" name="text-112">
            <a:extLst xmlns:a="http://schemas.openxmlformats.org/drawingml/2006/main">
              <a:ext uri="{FF2B5EF4-FFF2-40B4-BE49-F238E27FC236}">
                <a16:creationId xmlns:a16="http://schemas.microsoft.com/office/drawing/2014/main" id="{7BD8AB70-ED52-45C8-B7BB-BEFC84C8B32E}"/>
              </a:ext>
            </a:extLst>
          </p:cNvPr>
          <p:cNvSpPr>
            <a:spLocks xmlns:a="http://schemas.openxmlformats.org/drawingml/2006/main" noGrp="1"/>
          </p:cNvSpPr>
          <p:nvPr/>
        </p:nvSpPr>
        <p:spPr>
          <a:xfrm xmlns:a="http://schemas.openxmlformats.org/drawingml/2006/main">
            <a:off x="8801100" y="4733925"/>
            <a:ext cx="2762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002060"/>
                </a:solidFill>
                <a:latin typeface="Calibri"/>
                <a:ea typeface="Calibri"/>
                <a:cs typeface="Calibri"/>
              </a:defRPr>
            </a:pPr>
            <a:r>
              <a:rPr sz="1950" b="1">
                <a:solidFill>
                  <a:srgbClr val="002060"/>
                </a:solidFill>
                <a:latin typeface="Calibri"/>
                <a:ea typeface="Calibri"/>
                <a:cs typeface="Calibri"/>
              </a:rPr>
              <a:t>Sewa Rp350 rb per sesi</a:t>
            </a:r>
          </a:p>
        </p:txBody>
      </p:sp>
      <p:sp>
        <p:nvSpPr>
          <p:cNvPr id="13" name="">
            <a:extLst xmlns:a="http://schemas.openxmlformats.org/drawingml/2006/main">
              <a:ext uri="{FF2B5EF4-FFF2-40B4-BE49-F238E27FC236}">
                <a16:creationId xmlns:a16="http://schemas.microsoft.com/office/drawing/2014/main" id="{B21E867D-6E52-4AD6-A73A-E2F88501A827}"/>
              </a:ext>
            </a:extLst>
          </p:cNvPr>
          <p:cNvSpPr>
            <a:spLocks xmlns:a="http://schemas.openxmlformats.org/drawingml/2006/main" noGrp="1"/>
          </p:cNvSpPr>
          <p:nvPr/>
        </p:nvSpPr>
        <p:spPr>
          <a:xfrm xmlns:a="http://schemas.openxmlformats.org/drawingml/2006/main">
            <a:off x="609600" y="5762625"/>
            <a:ext cx="10972800" cy="0"/>
          </a:xfrm>
          <a:prstGeom xmlns:a="http://schemas.openxmlformats.org/drawingml/2006/main" prst="line">
            <a:avLst/>
          </a:prstGeom>
          <a:noFill xmlns:a="http://schemas.openxmlformats.org/drawingml/2006/main"/>
          <a:ln xmlns:a="http://schemas.openxmlformats.org/drawingml/2006/main" w="9525">
            <a:solidFill>
              <a:srgbClr val="DCE2E8"/>
            </a:solidFill>
          </a:ln>
        </p:spPr>
      </p:sp>
      <p:sp>
        <p:nvSpPr>
          <p:cNvPr id="14" name="text-113">
            <a:extLst xmlns:a="http://schemas.openxmlformats.org/drawingml/2006/main">
              <a:ext uri="{FF2B5EF4-FFF2-40B4-BE49-F238E27FC236}">
                <a16:creationId xmlns:a16="http://schemas.microsoft.com/office/drawing/2014/main" id="{A80C5796-0144-4BBB-8796-95CB4C8C2107}"/>
              </a:ext>
            </a:extLst>
          </p:cNvPr>
          <p:cNvSpPr>
            <a:spLocks xmlns:a="http://schemas.openxmlformats.org/drawingml/2006/main" noGrp="1"/>
          </p:cNvSpPr>
          <p:nvPr/>
        </p:nvSpPr>
        <p:spPr>
          <a:xfrm xmlns:a="http://schemas.openxmlformats.org/drawingml/2006/main">
            <a:off x="609600" y="5953125"/>
            <a:ext cx="109061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002060"/>
                </a:solidFill>
                <a:latin typeface="Calibri"/>
                <a:ea typeface="Calibri"/>
                <a:cs typeface="Calibri"/>
              </a:defRPr>
            </a:pPr>
            <a:r>
              <a:rPr sz="1650" b="1">
                <a:solidFill>
                  <a:srgbClr val="002060"/>
                </a:solidFill>
                <a:latin typeface="Calibri"/>
                <a:ea typeface="Calibri"/>
                <a:cs typeface="Calibri"/>
              </a:rPr>
              <a:t>Prioritaskan sewa setelah kapasitas, akses host, recording dan jadwal terkonfirmasi.</a:t>
            </a:r>
          </a:p>
        </p:txBody>
      </p:sp>
    </p:spTree>
    <p:extLst>
      <p:ext uri="{BB962C8B-B14F-4D97-AF65-F5344CB8AC3E}">
        <p14:creationId xmlns:p14="http://schemas.microsoft.com/office/powerpoint/2010/main" val="1623893852"/>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text-114">
            <a:extLst xmlns:a="http://schemas.openxmlformats.org/drawingml/2006/main">
              <a:ext uri="{FF2B5EF4-FFF2-40B4-BE49-F238E27FC236}">
                <a16:creationId xmlns:a16="http://schemas.microsoft.com/office/drawing/2014/main" id="{1DC63FD5-E31A-4F52-9091-9023BB83646C}"/>
              </a:ext>
            </a:extLst>
          </p:cNvPr>
          <p:cNvSpPr>
            <a:spLocks xmlns:a="http://schemas.openxmlformats.org/drawingml/2006/main" noGrp="1"/>
          </p:cNvSpPr>
          <p:nvPr/>
        </p:nvSpPr>
        <p:spPr>
          <a:xfrm xmlns:a="http://schemas.openxmlformats.org/drawingml/2006/main">
            <a:off x="609600" y="333375"/>
            <a:ext cx="1066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65717D"/>
                </a:solidFill>
                <a:latin typeface="Calibri"/>
                <a:ea typeface="Calibri"/>
                <a:cs typeface="Calibri"/>
              </a:defRPr>
            </a:pPr>
            <a:r>
              <a:rPr sz="1050" b="1">
                <a:solidFill>
                  <a:srgbClr val="65717D"/>
                </a:solidFill>
                <a:latin typeface="Calibri"/>
                <a:ea typeface="Calibri"/>
                <a:cs typeface="Calibri"/>
              </a:rPr>
              <a:t>INTIMATE DINNER</a:t>
            </a:r>
          </a:p>
        </p:txBody>
      </p:sp>
      <p:sp>
        <p:nvSpPr>
          <p:cNvPr id="2" name="text-115">
            <a:extLst xmlns:a="http://schemas.openxmlformats.org/drawingml/2006/main">
              <a:ext uri="{FF2B5EF4-FFF2-40B4-BE49-F238E27FC236}">
                <a16:creationId xmlns:a16="http://schemas.microsoft.com/office/drawing/2014/main" id="{67DE3B26-1F94-4978-9907-C3D0508689FC}"/>
              </a:ext>
            </a:extLst>
          </p:cNvPr>
          <p:cNvSpPr>
            <a:spLocks xmlns:a="http://schemas.openxmlformats.org/drawingml/2006/main" noGrp="1"/>
          </p:cNvSpPr>
          <p:nvPr/>
        </p:nvSpPr>
        <p:spPr>
          <a:xfrm xmlns:a="http://schemas.openxmlformats.org/drawingml/2006/main">
            <a:off x="609600" y="723900"/>
            <a:ext cx="10858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925" b="1">
                <a:solidFill>
                  <a:srgbClr val="002060"/>
                </a:solidFill>
                <a:latin typeface="Calibri"/>
                <a:ea typeface="Calibri"/>
                <a:cs typeface="Calibri"/>
              </a:defRPr>
            </a:pPr>
            <a:r>
              <a:rPr sz="2925" b="1">
                <a:solidFill>
                  <a:srgbClr val="002060"/>
                </a:solidFill>
                <a:latin typeface="Calibri"/>
                <a:ea typeface="Calibri"/>
                <a:cs typeface="Calibri"/>
              </a:rPr>
              <a:t>Room kecil memberi ruang untuk percakapan lebih dalam</a:t>
            </a:r>
          </a:p>
        </p:txBody>
      </p:sp>
      <p:sp>
        <p:nvSpPr>
          <p:cNvPr id="3" name="text-116">
            <a:extLst xmlns:a="http://schemas.openxmlformats.org/drawingml/2006/main">
              <a:ext uri="{FF2B5EF4-FFF2-40B4-BE49-F238E27FC236}">
                <a16:creationId xmlns:a16="http://schemas.microsoft.com/office/drawing/2014/main" id="{6AF56749-C560-4312-85F9-44BE15FF1EC3}"/>
              </a:ext>
            </a:extLst>
          </p:cNvPr>
          <p:cNvSpPr>
            <a:spLocks xmlns:a="http://schemas.openxmlformats.org/drawingml/2006/main" noGrp="1"/>
          </p:cNvSpPr>
          <p:nvPr/>
        </p:nvSpPr>
        <p:spPr>
          <a:xfrm xmlns:a="http://schemas.openxmlformats.org/drawingml/2006/main">
            <a:off x="609600" y="1666875"/>
            <a:ext cx="10858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65717D"/>
                </a:solidFill>
                <a:latin typeface="Calibri"/>
                <a:ea typeface="Calibri"/>
                <a:cs typeface="Calibri"/>
              </a:defRPr>
            </a:pPr>
            <a:r>
              <a:rPr sz="1500" b="0">
                <a:solidFill>
                  <a:srgbClr val="65717D"/>
                </a:solidFill>
                <a:latin typeface="Calibri"/>
                <a:ea typeface="Calibri"/>
                <a:cs typeface="Calibri"/>
              </a:rPr>
              <a:t>Offline Jakarta, application-based, confidential. Usulan pilot.</a:t>
            </a:r>
          </a:p>
        </p:txBody>
      </p:sp>
      <p:sp>
        <p:nvSpPr>
          <p:cNvPr id="4" name="">
            <a:extLst xmlns:a="http://schemas.openxmlformats.org/drawingml/2006/main">
              <a:ext uri="{FF2B5EF4-FFF2-40B4-BE49-F238E27FC236}">
                <a16:creationId xmlns:a16="http://schemas.microsoft.com/office/drawing/2014/main" id="{FE98A444-765C-4E0A-BA33-DBF2E19B6311}"/>
              </a:ext>
            </a:extLst>
          </p:cNvPr>
          <p:cNvSpPr>
            <a:spLocks xmlns:a="http://schemas.openxmlformats.org/drawingml/2006/main" noGrp="1"/>
          </p:cNvSpPr>
          <p:nvPr/>
        </p:nvSpPr>
        <p:spPr>
          <a:xfrm xmlns:a="http://schemas.openxmlformats.org/drawingml/2006/main">
            <a:off x="609600" y="6381750"/>
            <a:ext cx="10972800" cy="0"/>
          </a:xfrm>
          <a:prstGeom xmlns:a="http://schemas.openxmlformats.org/drawingml/2006/main" prst="line">
            <a:avLst/>
          </a:prstGeom>
          <a:noFill xmlns:a="http://schemas.openxmlformats.org/drawingml/2006/main"/>
          <a:ln xmlns:a="http://schemas.openxmlformats.org/drawingml/2006/main" w="9525">
            <a:solidFill>
              <a:srgbClr val="DCE2E8"/>
            </a:solidFill>
          </a:ln>
        </p:spPr>
      </p:sp>
      <p:sp>
        <p:nvSpPr>
          <p:cNvPr id="5" name="text-117">
            <a:extLst xmlns:a="http://schemas.openxmlformats.org/drawingml/2006/main">
              <a:ext uri="{FF2B5EF4-FFF2-40B4-BE49-F238E27FC236}">
                <a16:creationId xmlns:a16="http://schemas.microsoft.com/office/drawing/2014/main" id="{8311CCE3-E328-4775-99C1-A3F7819AD802}"/>
              </a:ext>
            </a:extLst>
          </p:cNvPr>
          <p:cNvSpPr>
            <a:spLocks xmlns:a="http://schemas.openxmlformats.org/drawingml/2006/main" noGrp="1"/>
          </p:cNvSpPr>
          <p:nvPr/>
        </p:nvSpPr>
        <p:spPr>
          <a:xfrm xmlns:a="http://schemas.openxmlformats.org/drawingml/2006/main">
            <a:off x="609600" y="6505575"/>
            <a:ext cx="10191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825" b="0">
                <a:solidFill>
                  <a:srgbClr val="65717D"/>
                </a:solidFill>
                <a:latin typeface="Calibri"/>
                <a:ea typeface="Calibri"/>
                <a:cs typeface="Calibri"/>
              </a:defRPr>
            </a:pPr>
            <a:r>
              <a:rPr sz="825" b="0">
                <a:solidFill>
                  <a:srgbClr val="65717D"/>
                </a:solidFill>
                <a:latin typeface="Calibri"/>
                <a:ea typeface="Calibri"/>
                <a:cs typeface="Calibri"/>
              </a:rPr>
              <a:t>CMC internal, Oktober 2026. Angka usulan mengikuti deck sumber.</a:t>
            </a:r>
          </a:p>
        </p:txBody>
      </p:sp>
      <p:sp>
        <p:nvSpPr>
          <p:cNvPr id="6" name="text-118">
            <a:extLst xmlns:a="http://schemas.openxmlformats.org/drawingml/2006/main">
              <a:ext uri="{FF2B5EF4-FFF2-40B4-BE49-F238E27FC236}">
                <a16:creationId xmlns:a16="http://schemas.microsoft.com/office/drawing/2014/main" id="{0DEF9836-6711-4385-B951-45F2336A65B1}"/>
              </a:ext>
            </a:extLst>
          </p:cNvPr>
          <p:cNvSpPr>
            <a:spLocks xmlns:a="http://schemas.openxmlformats.org/drawingml/2006/main" noGrp="1"/>
          </p:cNvSpPr>
          <p:nvPr/>
        </p:nvSpPr>
        <p:spPr>
          <a:xfrm xmlns:a="http://schemas.openxmlformats.org/drawingml/2006/main">
            <a:off x="11125200" y="6486525"/>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002060"/>
                </a:solidFill>
                <a:latin typeface="Calibri"/>
                <a:ea typeface="Calibri"/>
                <a:cs typeface="Calibri"/>
              </a:defRPr>
            </a:pPr>
            <a:r>
              <a:rPr sz="1050" b="1">
                <a:solidFill>
                  <a:srgbClr val="002060"/>
                </a:solidFill>
                <a:latin typeface="Calibri"/>
                <a:ea typeface="Calibri"/>
                <a:cs typeface="Calibri"/>
              </a:rPr>
              <a:t>08</a:t>
            </a:r>
          </a:p>
        </p:txBody>
      </p:sp>
      <p:sp>
        <p:nvSpPr>
          <p:cNvPr id="7" name="text-119">
            <a:extLst xmlns:a="http://schemas.openxmlformats.org/drawingml/2006/main">
              <a:ext uri="{FF2B5EF4-FFF2-40B4-BE49-F238E27FC236}">
                <a16:creationId xmlns:a16="http://schemas.microsoft.com/office/drawing/2014/main" id="{011F9A13-58A7-43F3-9AF7-D6A0DEA5F02D}"/>
              </a:ext>
            </a:extLst>
          </p:cNvPr>
          <p:cNvSpPr>
            <a:spLocks xmlns:a="http://schemas.openxmlformats.org/drawingml/2006/main" noGrp="1"/>
          </p:cNvSpPr>
          <p:nvPr/>
        </p:nvSpPr>
        <p:spPr>
          <a:xfrm xmlns:a="http://schemas.openxmlformats.org/drawingml/2006/main">
            <a:off x="590550" y="2324100"/>
            <a:ext cx="4095750" cy="167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950" b="1">
                <a:solidFill>
                  <a:srgbClr val="002060"/>
                </a:solidFill>
                <a:latin typeface="Calibri"/>
                <a:ea typeface="Calibri"/>
                <a:cs typeface="Calibri"/>
              </a:defRPr>
            </a:pPr>
            <a:r>
              <a:rPr sz="10950" b="1">
                <a:solidFill>
                  <a:srgbClr val="002060"/>
                </a:solidFill>
                <a:latin typeface="Calibri"/>
                <a:ea typeface="Calibri"/>
                <a:cs typeface="Calibri"/>
              </a:rPr>
              <a:t>20</a:t>
            </a:r>
          </a:p>
        </p:txBody>
      </p:sp>
      <p:sp>
        <p:nvSpPr>
          <p:cNvPr id="8" name="text-120">
            <a:extLst xmlns:a="http://schemas.openxmlformats.org/drawingml/2006/main">
              <a:ext uri="{FF2B5EF4-FFF2-40B4-BE49-F238E27FC236}">
                <a16:creationId xmlns:a16="http://schemas.microsoft.com/office/drawing/2014/main" id="{98CE4D7A-034C-4011-8275-76C8F74B508E}"/>
              </a:ext>
            </a:extLst>
          </p:cNvPr>
          <p:cNvSpPr>
            <a:spLocks xmlns:a="http://schemas.openxmlformats.org/drawingml/2006/main" noGrp="1"/>
          </p:cNvSpPr>
          <p:nvPr/>
        </p:nvSpPr>
        <p:spPr>
          <a:xfrm xmlns:a="http://schemas.openxmlformats.org/drawingml/2006/main">
            <a:off x="647700" y="4095750"/>
            <a:ext cx="4476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002060"/>
                </a:solidFill>
                <a:latin typeface="Calibri"/>
                <a:ea typeface="Calibri"/>
                <a:cs typeface="Calibri"/>
              </a:defRPr>
            </a:pPr>
            <a:r>
              <a:rPr sz="2025" b="1">
                <a:solidFill>
                  <a:srgbClr val="002060"/>
                </a:solidFill>
                <a:latin typeface="Calibri"/>
                <a:ea typeface="Calibri"/>
                <a:cs typeface="Calibri"/>
              </a:rPr>
              <a:t>maksimum paying participants</a:t>
            </a:r>
          </a:p>
        </p:txBody>
      </p:sp>
      <p:sp>
        <p:nvSpPr>
          <p:cNvPr id="9" name="text-121">
            <a:extLst xmlns:a="http://schemas.openxmlformats.org/drawingml/2006/main">
              <a:ext uri="{FF2B5EF4-FFF2-40B4-BE49-F238E27FC236}">
                <a16:creationId xmlns:a16="http://schemas.microsoft.com/office/drawing/2014/main" id="{D370BF6E-1DFE-48CD-8C94-791F72F00BEE}"/>
              </a:ext>
            </a:extLst>
          </p:cNvPr>
          <p:cNvSpPr>
            <a:spLocks xmlns:a="http://schemas.openxmlformats.org/drawingml/2006/main" noGrp="1"/>
          </p:cNvSpPr>
          <p:nvPr/>
        </p:nvSpPr>
        <p:spPr>
          <a:xfrm xmlns:a="http://schemas.openxmlformats.org/drawingml/2006/main">
            <a:off x="647700" y="4572000"/>
            <a:ext cx="4381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65717D"/>
                </a:solidFill>
                <a:latin typeface="Calibri"/>
                <a:ea typeface="Calibri"/>
                <a:cs typeface="Calibri"/>
              </a:defRPr>
            </a:pPr>
            <a:r>
              <a:rPr sz="1800" b="0">
                <a:solidFill>
                  <a:srgbClr val="65717D"/>
                </a:solidFill>
                <a:latin typeface="Calibri"/>
                <a:ea typeface="Calibri"/>
                <a:cs typeface="Calibri"/>
              </a:rPr>
              <a:t>Target 15–20 peserta</a:t>
            </a:r>
          </a:p>
        </p:txBody>
      </p:sp>
      <p:sp>
        <p:nvSpPr>
          <p:cNvPr id="10" name="text-122">
            <a:extLst xmlns:a="http://schemas.openxmlformats.org/drawingml/2006/main">
              <a:ext uri="{FF2B5EF4-FFF2-40B4-BE49-F238E27FC236}">
                <a16:creationId xmlns:a16="http://schemas.microsoft.com/office/drawing/2014/main" id="{5984C4A2-E8C5-411F-9F73-4414AC7652F5}"/>
              </a:ext>
            </a:extLst>
          </p:cNvPr>
          <p:cNvSpPr>
            <a:spLocks xmlns:a="http://schemas.openxmlformats.org/drawingml/2006/main" noGrp="1"/>
          </p:cNvSpPr>
          <p:nvPr/>
        </p:nvSpPr>
        <p:spPr>
          <a:xfrm xmlns:a="http://schemas.openxmlformats.org/drawingml/2006/main">
            <a:off x="6429375" y="2381250"/>
            <a:ext cx="4857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625" b="1">
                <a:solidFill>
                  <a:srgbClr val="002060"/>
                </a:solidFill>
                <a:latin typeface="Calibri"/>
                <a:ea typeface="Calibri"/>
                <a:cs typeface="Calibri"/>
              </a:defRPr>
            </a:pPr>
            <a:r>
              <a:rPr sz="2625" b="1">
                <a:solidFill>
                  <a:srgbClr val="002060"/>
                </a:solidFill>
                <a:latin typeface="Calibri"/>
                <a:ea typeface="Calibri"/>
                <a:cs typeface="Calibri"/>
              </a:rPr>
              <a:t>1 Master</a:t>
            </a:r>
          </a:p>
        </p:txBody>
      </p:sp>
      <p:sp>
        <p:nvSpPr>
          <p:cNvPr id="11" name="text-123">
            <a:extLst xmlns:a="http://schemas.openxmlformats.org/drawingml/2006/main">
              <a:ext uri="{FF2B5EF4-FFF2-40B4-BE49-F238E27FC236}">
                <a16:creationId xmlns:a16="http://schemas.microsoft.com/office/drawing/2014/main" id="{5FA3E022-8D63-400D-9CEB-6D366BDEDA52}"/>
              </a:ext>
            </a:extLst>
          </p:cNvPr>
          <p:cNvSpPr>
            <a:spLocks xmlns:a="http://schemas.openxmlformats.org/drawingml/2006/main" noGrp="1"/>
          </p:cNvSpPr>
          <p:nvPr/>
        </p:nvSpPr>
        <p:spPr>
          <a:xfrm xmlns:a="http://schemas.openxmlformats.org/drawingml/2006/main">
            <a:off x="6429375" y="3067050"/>
            <a:ext cx="4857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1">
                <a:solidFill>
                  <a:srgbClr val="002060"/>
                </a:solidFill>
                <a:latin typeface="Calibri"/>
                <a:ea typeface="Calibri"/>
                <a:cs typeface="Calibri"/>
              </a:defRPr>
            </a:pPr>
            <a:r>
              <a:rPr sz="2325" b="1">
                <a:solidFill>
                  <a:srgbClr val="002060"/>
                </a:solidFill>
                <a:latin typeface="Calibri"/>
                <a:ea typeface="Calibri"/>
                <a:cs typeface="Calibri"/>
              </a:rPr>
              <a:t>3–4 kasus terpilih</a:t>
            </a:r>
          </a:p>
        </p:txBody>
      </p:sp>
      <p:sp>
        <p:nvSpPr>
          <p:cNvPr id="12" name="text-124">
            <a:extLst xmlns:a="http://schemas.openxmlformats.org/drawingml/2006/main">
              <a:ext uri="{FF2B5EF4-FFF2-40B4-BE49-F238E27FC236}">
                <a16:creationId xmlns:a16="http://schemas.microsoft.com/office/drawing/2014/main" id="{44B77484-A6C3-488F-82F2-A2DE79FAE10E}"/>
              </a:ext>
            </a:extLst>
          </p:cNvPr>
          <p:cNvSpPr>
            <a:spLocks xmlns:a="http://schemas.openxmlformats.org/drawingml/2006/main" noGrp="1"/>
          </p:cNvSpPr>
          <p:nvPr/>
        </p:nvSpPr>
        <p:spPr>
          <a:xfrm xmlns:a="http://schemas.openxmlformats.org/drawingml/2006/main">
            <a:off x="6429375" y="3733800"/>
            <a:ext cx="4857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1">
                <a:solidFill>
                  <a:srgbClr val="002060"/>
                </a:solidFill>
                <a:latin typeface="Calibri"/>
                <a:ea typeface="Calibri"/>
                <a:cs typeface="Calibri"/>
              </a:defRPr>
            </a:pPr>
            <a:r>
              <a:rPr sz="2325" b="1">
                <a:solidFill>
                  <a:srgbClr val="002060"/>
                </a:solidFill>
                <a:latin typeface="Calibri"/>
                <a:ea typeface="Calibri"/>
                <a:cs typeface="Calibri"/>
              </a:rPr>
              <a:t>Tanpa recording</a:t>
            </a:r>
          </a:p>
        </p:txBody>
      </p:sp>
      <p:sp>
        <p:nvSpPr>
          <p:cNvPr id="13" name="text-125">
            <a:extLst xmlns:a="http://schemas.openxmlformats.org/drawingml/2006/main">
              <a:ext uri="{FF2B5EF4-FFF2-40B4-BE49-F238E27FC236}">
                <a16:creationId xmlns:a16="http://schemas.microsoft.com/office/drawing/2014/main" id="{D40E21E4-64E1-4789-844F-7AB27CD258F8}"/>
              </a:ext>
            </a:extLst>
          </p:cNvPr>
          <p:cNvSpPr>
            <a:spLocks xmlns:a="http://schemas.openxmlformats.org/drawingml/2006/main" noGrp="1"/>
          </p:cNvSpPr>
          <p:nvPr/>
        </p:nvSpPr>
        <p:spPr>
          <a:xfrm xmlns:a="http://schemas.openxmlformats.org/drawingml/2006/main">
            <a:off x="6429375" y="4419600"/>
            <a:ext cx="4857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1">
                <a:solidFill>
                  <a:srgbClr val="002060"/>
                </a:solidFill>
                <a:latin typeface="Calibri"/>
                <a:ea typeface="Calibri"/>
                <a:cs typeface="Calibri"/>
              </a:defRPr>
            </a:pPr>
            <a:r>
              <a:rPr sz="2325" b="1">
                <a:solidFill>
                  <a:srgbClr val="002060"/>
                </a:solidFill>
                <a:latin typeface="Calibri"/>
                <a:ea typeface="Calibri"/>
                <a:cs typeface="Calibri"/>
              </a:rPr>
              <a:t>±150 menit</a:t>
            </a:r>
          </a:p>
        </p:txBody>
      </p:sp>
      <p:sp>
        <p:nvSpPr>
          <p:cNvPr id="14" name="">
            <a:extLst xmlns:a="http://schemas.openxmlformats.org/drawingml/2006/main">
              <a:ext uri="{FF2B5EF4-FFF2-40B4-BE49-F238E27FC236}">
                <a16:creationId xmlns:a16="http://schemas.microsoft.com/office/drawing/2014/main" id="{F1FCE362-933C-48FC-83C8-A7E68CAAAAD1}"/>
              </a:ext>
            </a:extLst>
          </p:cNvPr>
          <p:cNvSpPr>
            <a:spLocks xmlns:a="http://schemas.openxmlformats.org/drawingml/2006/main" noGrp="1"/>
          </p:cNvSpPr>
          <p:nvPr/>
        </p:nvSpPr>
        <p:spPr>
          <a:xfrm xmlns:a="http://schemas.openxmlformats.org/drawingml/2006/main">
            <a:off x="609600" y="5305425"/>
            <a:ext cx="10972800" cy="0"/>
          </a:xfrm>
          <a:prstGeom xmlns:a="http://schemas.openxmlformats.org/drawingml/2006/main" prst="line">
            <a:avLst/>
          </a:prstGeom>
          <a:noFill xmlns:a="http://schemas.openxmlformats.org/drawingml/2006/main"/>
          <a:ln xmlns:a="http://schemas.openxmlformats.org/drawingml/2006/main" w="9525">
            <a:solidFill>
              <a:srgbClr val="DCE2E8"/>
            </a:solidFill>
          </a:ln>
        </p:spPr>
      </p:sp>
      <p:sp>
        <p:nvSpPr>
          <p:cNvPr id="15" name="text-126">
            <a:extLst xmlns:a="http://schemas.openxmlformats.org/drawingml/2006/main">
              <a:ext uri="{FF2B5EF4-FFF2-40B4-BE49-F238E27FC236}">
                <a16:creationId xmlns:a16="http://schemas.microsoft.com/office/drawing/2014/main" id="{24289B1D-8BDD-4624-B441-D37DEFA5C937}"/>
              </a:ext>
            </a:extLst>
          </p:cNvPr>
          <p:cNvSpPr>
            <a:spLocks xmlns:a="http://schemas.openxmlformats.org/drawingml/2006/main" noGrp="1"/>
          </p:cNvSpPr>
          <p:nvPr/>
        </p:nvSpPr>
        <p:spPr>
          <a:xfrm xmlns:a="http://schemas.openxmlformats.org/drawingml/2006/main">
            <a:off x="609600" y="5486400"/>
            <a:ext cx="27146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273746"/>
                </a:solidFill>
                <a:latin typeface="Calibri"/>
                <a:ea typeface="Calibri"/>
                <a:cs typeface="Calibri"/>
              </a:defRPr>
            </a:pPr>
            <a:r>
              <a:rPr sz="1650" b="0">
                <a:solidFill>
                  <a:srgbClr val="273746"/>
                </a:solidFill>
                <a:latin typeface="Calibri"/>
                <a:ea typeface="Calibri"/>
                <a:cs typeface="Calibri"/>
              </a:rPr>
              <a:t>30 min networking</a:t>
            </a:r>
          </a:p>
        </p:txBody>
      </p:sp>
      <p:sp>
        <p:nvSpPr>
          <p:cNvPr id="16" name="text-127">
            <a:extLst xmlns:a="http://schemas.openxmlformats.org/drawingml/2006/main">
              <a:ext uri="{FF2B5EF4-FFF2-40B4-BE49-F238E27FC236}">
                <a16:creationId xmlns:a16="http://schemas.microsoft.com/office/drawing/2014/main" id="{302D964C-4008-4562-A30D-83EF03621550}"/>
              </a:ext>
            </a:extLst>
          </p:cNvPr>
          <p:cNvSpPr>
            <a:spLocks xmlns:a="http://schemas.openxmlformats.org/drawingml/2006/main" noGrp="1"/>
          </p:cNvSpPr>
          <p:nvPr/>
        </p:nvSpPr>
        <p:spPr>
          <a:xfrm xmlns:a="http://schemas.openxmlformats.org/drawingml/2006/main">
            <a:off x="3495675" y="5486400"/>
            <a:ext cx="27146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273746"/>
                </a:solidFill>
                <a:latin typeface="Calibri"/>
                <a:ea typeface="Calibri"/>
                <a:cs typeface="Calibri"/>
              </a:defRPr>
            </a:pPr>
            <a:r>
              <a:rPr sz="1650" b="0">
                <a:solidFill>
                  <a:srgbClr val="273746"/>
                </a:solidFill>
                <a:latin typeface="Calibri"/>
                <a:ea typeface="Calibri"/>
                <a:cs typeface="Calibri"/>
              </a:rPr>
              <a:t>45 min conversation</a:t>
            </a:r>
          </a:p>
        </p:txBody>
      </p:sp>
      <p:sp>
        <p:nvSpPr>
          <p:cNvPr id="17" name="text-128">
            <a:extLst xmlns:a="http://schemas.openxmlformats.org/drawingml/2006/main">
              <a:ext uri="{FF2B5EF4-FFF2-40B4-BE49-F238E27FC236}">
                <a16:creationId xmlns:a16="http://schemas.microsoft.com/office/drawing/2014/main" id="{57401842-E648-4147-AA57-728294EFA5DA}"/>
              </a:ext>
            </a:extLst>
          </p:cNvPr>
          <p:cNvSpPr>
            <a:spLocks xmlns:a="http://schemas.openxmlformats.org/drawingml/2006/main" noGrp="1"/>
          </p:cNvSpPr>
          <p:nvPr/>
        </p:nvSpPr>
        <p:spPr>
          <a:xfrm xmlns:a="http://schemas.openxmlformats.org/drawingml/2006/main">
            <a:off x="6381750" y="5486400"/>
            <a:ext cx="2809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002060"/>
                </a:solidFill>
                <a:latin typeface="Calibri"/>
                <a:ea typeface="Calibri"/>
                <a:cs typeface="Calibri"/>
              </a:defRPr>
            </a:pPr>
            <a:r>
              <a:rPr sz="1650" b="1">
                <a:solidFill>
                  <a:srgbClr val="002060"/>
                </a:solidFill>
                <a:latin typeface="Calibri"/>
                <a:ea typeface="Calibri"/>
                <a:cs typeface="Calibri"/>
              </a:rPr>
              <a:t>60 min case discussion</a:t>
            </a:r>
          </a:p>
        </p:txBody>
      </p:sp>
      <p:sp>
        <p:nvSpPr>
          <p:cNvPr id="18" name="text-129">
            <a:extLst xmlns:a="http://schemas.openxmlformats.org/drawingml/2006/main">
              <a:ext uri="{FF2B5EF4-FFF2-40B4-BE49-F238E27FC236}">
                <a16:creationId xmlns:a16="http://schemas.microsoft.com/office/drawing/2014/main" id="{D3513E53-CA1B-4118-B3FF-0E114FD63052}"/>
              </a:ext>
            </a:extLst>
          </p:cNvPr>
          <p:cNvSpPr>
            <a:spLocks xmlns:a="http://schemas.openxmlformats.org/drawingml/2006/main" noGrp="1"/>
          </p:cNvSpPr>
          <p:nvPr/>
        </p:nvSpPr>
        <p:spPr>
          <a:xfrm xmlns:a="http://schemas.openxmlformats.org/drawingml/2006/main">
            <a:off x="9553575" y="5486400"/>
            <a:ext cx="20764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273746"/>
                </a:solidFill>
                <a:latin typeface="Calibri"/>
                <a:ea typeface="Calibri"/>
                <a:cs typeface="Calibri"/>
              </a:defRPr>
            </a:pPr>
            <a:r>
              <a:rPr sz="1650" b="0">
                <a:solidFill>
                  <a:srgbClr val="273746"/>
                </a:solidFill>
                <a:latin typeface="Calibri"/>
                <a:ea typeface="Calibri"/>
                <a:cs typeface="Calibri"/>
              </a:rPr>
              <a:t>15 min closing</a:t>
            </a:r>
          </a:p>
        </p:txBody>
      </p:sp>
    </p:spTree>
    <p:extLst>
      <p:ext uri="{BB962C8B-B14F-4D97-AF65-F5344CB8AC3E}">
        <p14:creationId xmlns:p14="http://schemas.microsoft.com/office/powerpoint/2010/main" val="734299216"/>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text-130">
            <a:extLst xmlns:a="http://schemas.openxmlformats.org/drawingml/2006/main">
              <a:ext uri="{FF2B5EF4-FFF2-40B4-BE49-F238E27FC236}">
                <a16:creationId xmlns:a16="http://schemas.microsoft.com/office/drawing/2014/main" id="{9AD17815-AF69-4D1E-B0BF-4BBAF13F52B2}"/>
              </a:ext>
            </a:extLst>
          </p:cNvPr>
          <p:cNvSpPr>
            <a:spLocks xmlns:a="http://schemas.openxmlformats.org/drawingml/2006/main" noGrp="1"/>
          </p:cNvSpPr>
          <p:nvPr/>
        </p:nvSpPr>
        <p:spPr>
          <a:xfrm xmlns:a="http://schemas.openxmlformats.org/drawingml/2006/main">
            <a:off x="609600" y="333375"/>
            <a:ext cx="1066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65717D"/>
                </a:solidFill>
                <a:latin typeface="Calibri"/>
                <a:ea typeface="Calibri"/>
                <a:cs typeface="Calibri"/>
              </a:defRPr>
            </a:pPr>
            <a:r>
              <a:rPr sz="1050" b="1">
                <a:solidFill>
                  <a:srgbClr val="65717D"/>
                </a:solidFill>
                <a:latin typeface="Calibri"/>
                <a:ea typeface="Calibri"/>
                <a:cs typeface="Calibri"/>
              </a:rPr>
              <a:t>PRICING INTIMATE DINNER</a:t>
            </a:r>
          </a:p>
        </p:txBody>
      </p:sp>
      <p:sp>
        <p:nvSpPr>
          <p:cNvPr id="2" name="text-131">
            <a:extLst xmlns:a="http://schemas.openxmlformats.org/drawingml/2006/main">
              <a:ext uri="{FF2B5EF4-FFF2-40B4-BE49-F238E27FC236}">
                <a16:creationId xmlns:a16="http://schemas.microsoft.com/office/drawing/2014/main" id="{E75B0D55-9EEC-41DA-AE52-4F2307B8E098}"/>
              </a:ext>
            </a:extLst>
          </p:cNvPr>
          <p:cNvSpPr>
            <a:spLocks xmlns:a="http://schemas.openxmlformats.org/drawingml/2006/main" noGrp="1"/>
          </p:cNvSpPr>
          <p:nvPr/>
        </p:nvSpPr>
        <p:spPr>
          <a:xfrm xmlns:a="http://schemas.openxmlformats.org/drawingml/2006/main">
            <a:off x="609600" y="723900"/>
            <a:ext cx="10858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925" b="1">
                <a:solidFill>
                  <a:srgbClr val="002060"/>
                </a:solidFill>
                <a:latin typeface="Calibri"/>
                <a:ea typeface="Calibri"/>
                <a:cs typeface="Calibri"/>
              </a:defRPr>
            </a:pPr>
            <a:r>
              <a:rPr sz="2925" b="1">
                <a:solidFill>
                  <a:srgbClr val="002060"/>
                </a:solidFill>
                <a:latin typeface="Calibri"/>
                <a:ea typeface="Calibri"/>
                <a:cs typeface="Calibri"/>
              </a:rPr>
              <a:t>Harga pilot membuat benefit member senilai Rp1,5 jt terlihat</a:t>
            </a:r>
          </a:p>
        </p:txBody>
      </p:sp>
      <p:sp>
        <p:nvSpPr>
          <p:cNvPr id="3" name="text-132">
            <a:extLst xmlns:a="http://schemas.openxmlformats.org/drawingml/2006/main">
              <a:ext uri="{FF2B5EF4-FFF2-40B4-BE49-F238E27FC236}">
                <a16:creationId xmlns:a16="http://schemas.microsoft.com/office/drawing/2014/main" id="{34A3231E-CA4C-462C-BE18-0EB8CB73ADA5}"/>
              </a:ext>
            </a:extLst>
          </p:cNvPr>
          <p:cNvSpPr>
            <a:spLocks xmlns:a="http://schemas.openxmlformats.org/drawingml/2006/main" noGrp="1"/>
          </p:cNvSpPr>
          <p:nvPr/>
        </p:nvSpPr>
        <p:spPr>
          <a:xfrm xmlns:a="http://schemas.openxmlformats.org/drawingml/2006/main">
            <a:off x="609600" y="1666875"/>
            <a:ext cx="10858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65717D"/>
                </a:solidFill>
                <a:latin typeface="Calibri"/>
                <a:ea typeface="Calibri"/>
                <a:cs typeface="Calibri"/>
              </a:defRPr>
            </a:pPr>
            <a:r>
              <a:rPr sz="1500" b="0">
                <a:solidFill>
                  <a:srgbClr val="65717D"/>
                </a:solidFill>
                <a:latin typeface="Calibri"/>
                <a:ea typeface="Calibri"/>
                <a:cs typeface="Calibri"/>
              </a:rPr>
              <a:t>Final pricing mengikuti quotation venue, fee Master, dan hasil pilot.</a:t>
            </a:r>
          </a:p>
        </p:txBody>
      </p:sp>
      <p:sp>
        <p:nvSpPr>
          <p:cNvPr id="4" name="">
            <a:extLst xmlns:a="http://schemas.openxmlformats.org/drawingml/2006/main">
              <a:ext uri="{FF2B5EF4-FFF2-40B4-BE49-F238E27FC236}">
                <a16:creationId xmlns:a16="http://schemas.microsoft.com/office/drawing/2014/main" id="{BA7007D8-EC95-4E28-892A-AED2E786E6A4}"/>
              </a:ext>
            </a:extLst>
          </p:cNvPr>
          <p:cNvSpPr>
            <a:spLocks xmlns:a="http://schemas.openxmlformats.org/drawingml/2006/main" noGrp="1"/>
          </p:cNvSpPr>
          <p:nvPr/>
        </p:nvSpPr>
        <p:spPr>
          <a:xfrm xmlns:a="http://schemas.openxmlformats.org/drawingml/2006/main">
            <a:off x="609600" y="6381750"/>
            <a:ext cx="10972800" cy="0"/>
          </a:xfrm>
          <a:prstGeom xmlns:a="http://schemas.openxmlformats.org/drawingml/2006/main" prst="line">
            <a:avLst/>
          </a:prstGeom>
          <a:noFill xmlns:a="http://schemas.openxmlformats.org/drawingml/2006/main"/>
          <a:ln xmlns:a="http://schemas.openxmlformats.org/drawingml/2006/main" w="9525">
            <a:solidFill>
              <a:srgbClr val="DCE2E8"/>
            </a:solidFill>
          </a:ln>
        </p:spPr>
      </p:sp>
      <p:sp>
        <p:nvSpPr>
          <p:cNvPr id="5" name="text-133">
            <a:extLst xmlns:a="http://schemas.openxmlformats.org/drawingml/2006/main">
              <a:ext uri="{FF2B5EF4-FFF2-40B4-BE49-F238E27FC236}">
                <a16:creationId xmlns:a16="http://schemas.microsoft.com/office/drawing/2014/main" id="{CFD4A76F-08D8-4646-AC8D-4A8CCEC516ED}"/>
              </a:ext>
            </a:extLst>
          </p:cNvPr>
          <p:cNvSpPr>
            <a:spLocks xmlns:a="http://schemas.openxmlformats.org/drawingml/2006/main" noGrp="1"/>
          </p:cNvSpPr>
          <p:nvPr/>
        </p:nvSpPr>
        <p:spPr>
          <a:xfrm xmlns:a="http://schemas.openxmlformats.org/drawingml/2006/main">
            <a:off x="609600" y="6505575"/>
            <a:ext cx="10191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825" b="0">
                <a:solidFill>
                  <a:srgbClr val="65717D"/>
                </a:solidFill>
                <a:latin typeface="Calibri"/>
                <a:ea typeface="Calibri"/>
                <a:cs typeface="Calibri"/>
              </a:defRPr>
            </a:pPr>
            <a:r>
              <a:rPr sz="825" b="0">
                <a:solidFill>
                  <a:srgbClr val="65717D"/>
                </a:solidFill>
                <a:latin typeface="Calibri"/>
                <a:ea typeface="Calibri"/>
                <a:cs typeface="Calibri"/>
              </a:rPr>
              <a:t>CMC internal, Oktober 2026. Angka usulan mengikuti deck sumber.</a:t>
            </a:r>
          </a:p>
        </p:txBody>
      </p:sp>
      <p:sp>
        <p:nvSpPr>
          <p:cNvPr id="6" name="text-134">
            <a:extLst xmlns:a="http://schemas.openxmlformats.org/drawingml/2006/main">
              <a:ext uri="{FF2B5EF4-FFF2-40B4-BE49-F238E27FC236}">
                <a16:creationId xmlns:a16="http://schemas.microsoft.com/office/drawing/2014/main" id="{3A2161D3-1FCD-4246-A5A1-F8489DE06E25}"/>
              </a:ext>
            </a:extLst>
          </p:cNvPr>
          <p:cNvSpPr>
            <a:spLocks xmlns:a="http://schemas.openxmlformats.org/drawingml/2006/main" noGrp="1"/>
          </p:cNvSpPr>
          <p:nvPr/>
        </p:nvSpPr>
        <p:spPr>
          <a:xfrm xmlns:a="http://schemas.openxmlformats.org/drawingml/2006/main">
            <a:off x="11125200" y="6486525"/>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002060"/>
                </a:solidFill>
                <a:latin typeface="Calibri"/>
                <a:ea typeface="Calibri"/>
                <a:cs typeface="Calibri"/>
              </a:defRPr>
            </a:pPr>
            <a:r>
              <a:rPr sz="1050" b="1">
                <a:solidFill>
                  <a:srgbClr val="002060"/>
                </a:solidFill>
                <a:latin typeface="Calibri"/>
                <a:ea typeface="Calibri"/>
                <a:cs typeface="Calibri"/>
              </a:rPr>
              <a:t>09</a:t>
            </a:r>
          </a:p>
        </p:txBody>
      </p:sp>
      <p:sp>
        <p:nvSpPr>
          <p:cNvPr id="7" name="text-135">
            <a:extLst xmlns:a="http://schemas.openxmlformats.org/drawingml/2006/main">
              <a:ext uri="{FF2B5EF4-FFF2-40B4-BE49-F238E27FC236}">
                <a16:creationId xmlns:a16="http://schemas.microsoft.com/office/drawing/2014/main" id="{DCFD9CF6-1BF0-4BDA-A355-5F33327CFD2F}"/>
              </a:ext>
            </a:extLst>
          </p:cNvPr>
          <p:cNvSpPr>
            <a:spLocks xmlns:a="http://schemas.openxmlformats.org/drawingml/2006/main" noGrp="1"/>
          </p:cNvSpPr>
          <p:nvPr/>
        </p:nvSpPr>
        <p:spPr>
          <a:xfrm xmlns:a="http://schemas.openxmlformats.org/drawingml/2006/main">
            <a:off x="609600" y="2533650"/>
            <a:ext cx="476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a:solidFill>
                  <a:srgbClr val="65717D"/>
                </a:solidFill>
                <a:latin typeface="Calibri"/>
                <a:ea typeface="Calibri"/>
                <a:cs typeface="Calibri"/>
              </a:defRPr>
            </a:pPr>
            <a:r>
              <a:rPr sz="1350" b="1">
                <a:solidFill>
                  <a:srgbClr val="65717D"/>
                </a:solidFill>
                <a:latin typeface="Calibri"/>
                <a:ea typeface="Calibri"/>
                <a:cs typeface="Calibri"/>
              </a:rPr>
              <a:t>CMC MEMBER</a:t>
            </a:r>
          </a:p>
        </p:txBody>
      </p:sp>
      <p:sp>
        <p:nvSpPr>
          <p:cNvPr id="8" name="text-136">
            <a:extLst xmlns:a="http://schemas.openxmlformats.org/drawingml/2006/main">
              <a:ext uri="{FF2B5EF4-FFF2-40B4-BE49-F238E27FC236}">
                <a16:creationId xmlns:a16="http://schemas.microsoft.com/office/drawing/2014/main" id="{3B27B76E-FB2A-46F5-83F4-DA1AB4CE4F6B}"/>
              </a:ext>
            </a:extLst>
          </p:cNvPr>
          <p:cNvSpPr>
            <a:spLocks xmlns:a="http://schemas.openxmlformats.org/drawingml/2006/main" noGrp="1"/>
          </p:cNvSpPr>
          <p:nvPr/>
        </p:nvSpPr>
        <p:spPr>
          <a:xfrm xmlns:a="http://schemas.openxmlformats.org/drawingml/2006/main">
            <a:off x="609600" y="2981325"/>
            <a:ext cx="54292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5475" b="1">
                <a:solidFill>
                  <a:srgbClr val="002060"/>
                </a:solidFill>
                <a:latin typeface="Calibri"/>
                <a:ea typeface="Calibri"/>
                <a:cs typeface="Calibri"/>
              </a:defRPr>
            </a:pPr>
            <a:r>
              <a:rPr sz="5475" b="1">
                <a:solidFill>
                  <a:srgbClr val="002060"/>
                </a:solidFill>
                <a:latin typeface="Calibri"/>
                <a:ea typeface="Calibri"/>
                <a:cs typeface="Calibri"/>
              </a:rPr>
              <a:t>Rp1,5 jt</a:t>
            </a:r>
          </a:p>
        </p:txBody>
      </p:sp>
      <p:sp>
        <p:nvSpPr>
          <p:cNvPr id="9" name="text-137">
            <a:extLst xmlns:a="http://schemas.openxmlformats.org/drawingml/2006/main">
              <a:ext uri="{FF2B5EF4-FFF2-40B4-BE49-F238E27FC236}">
                <a16:creationId xmlns:a16="http://schemas.microsoft.com/office/drawing/2014/main" id="{56FBAA11-A09B-44AF-A6EF-134127B3AC38}"/>
              </a:ext>
            </a:extLst>
          </p:cNvPr>
          <p:cNvSpPr>
            <a:spLocks xmlns:a="http://schemas.openxmlformats.org/drawingml/2006/main" noGrp="1"/>
          </p:cNvSpPr>
          <p:nvPr/>
        </p:nvSpPr>
        <p:spPr>
          <a:xfrm xmlns:a="http://schemas.openxmlformats.org/drawingml/2006/main">
            <a:off x="6591300" y="2533650"/>
            <a:ext cx="476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a:solidFill>
                  <a:srgbClr val="65717D"/>
                </a:solidFill>
                <a:latin typeface="Calibri"/>
                <a:ea typeface="Calibri"/>
                <a:cs typeface="Calibri"/>
              </a:defRPr>
            </a:pPr>
            <a:r>
              <a:rPr sz="1350" b="1">
                <a:solidFill>
                  <a:srgbClr val="65717D"/>
                </a:solidFill>
                <a:latin typeface="Calibri"/>
                <a:ea typeface="Calibri"/>
                <a:cs typeface="Calibri"/>
              </a:rPr>
              <a:t>NON-MEMBER</a:t>
            </a:r>
          </a:p>
        </p:txBody>
      </p:sp>
      <p:sp>
        <p:nvSpPr>
          <p:cNvPr id="10" name="text-138">
            <a:extLst xmlns:a="http://schemas.openxmlformats.org/drawingml/2006/main">
              <a:ext uri="{FF2B5EF4-FFF2-40B4-BE49-F238E27FC236}">
                <a16:creationId xmlns:a16="http://schemas.microsoft.com/office/drawing/2014/main" id="{4645B4F5-6A3A-4951-877B-876110FED1EB}"/>
              </a:ext>
            </a:extLst>
          </p:cNvPr>
          <p:cNvSpPr>
            <a:spLocks xmlns:a="http://schemas.openxmlformats.org/drawingml/2006/main" noGrp="1"/>
          </p:cNvSpPr>
          <p:nvPr/>
        </p:nvSpPr>
        <p:spPr>
          <a:xfrm xmlns:a="http://schemas.openxmlformats.org/drawingml/2006/main">
            <a:off x="6591300" y="2981325"/>
            <a:ext cx="47625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5475" b="1">
                <a:solidFill>
                  <a:srgbClr val="002060"/>
                </a:solidFill>
                <a:latin typeface="Calibri"/>
                <a:ea typeface="Calibri"/>
                <a:cs typeface="Calibri"/>
              </a:defRPr>
            </a:pPr>
            <a:r>
              <a:rPr sz="5475" b="1">
                <a:solidFill>
                  <a:srgbClr val="002060"/>
                </a:solidFill>
                <a:latin typeface="Calibri"/>
                <a:ea typeface="Calibri"/>
                <a:cs typeface="Calibri"/>
              </a:rPr>
              <a:t>Rp3 jt</a:t>
            </a:r>
          </a:p>
        </p:txBody>
      </p:sp>
      <p:sp>
        <p:nvSpPr>
          <p:cNvPr id="11" name="text-139">
            <a:extLst xmlns:a="http://schemas.openxmlformats.org/drawingml/2006/main">
              <a:ext uri="{FF2B5EF4-FFF2-40B4-BE49-F238E27FC236}">
                <a16:creationId xmlns:a16="http://schemas.microsoft.com/office/drawing/2014/main" id="{0A68ADCD-52CA-4469-BD3F-88236548C625}"/>
              </a:ext>
            </a:extLst>
          </p:cNvPr>
          <p:cNvSpPr>
            <a:spLocks xmlns:a="http://schemas.openxmlformats.org/drawingml/2006/main" noGrp="1"/>
          </p:cNvSpPr>
          <p:nvPr/>
        </p:nvSpPr>
        <p:spPr>
          <a:xfrm xmlns:a="http://schemas.openxmlformats.org/drawingml/2006/main">
            <a:off x="609600" y="4086225"/>
            <a:ext cx="4572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A27D42"/>
                </a:solidFill>
                <a:latin typeface="Calibri"/>
                <a:ea typeface="Calibri"/>
                <a:cs typeface="Calibri"/>
              </a:defRPr>
            </a:pPr>
            <a:r>
              <a:rPr sz="1650" b="0">
                <a:solidFill>
                  <a:srgbClr val="A27D42"/>
                </a:solidFill>
                <a:latin typeface="Calibri"/>
                <a:ea typeface="Calibri"/>
                <a:cs typeface="Calibri"/>
              </a:rPr>
              <a:t>Usulan pilot per seat</a:t>
            </a:r>
          </a:p>
        </p:txBody>
      </p:sp>
      <p:sp>
        <p:nvSpPr>
          <p:cNvPr id="12" name="text-140">
            <a:extLst xmlns:a="http://schemas.openxmlformats.org/drawingml/2006/main">
              <a:ext uri="{FF2B5EF4-FFF2-40B4-BE49-F238E27FC236}">
                <a16:creationId xmlns:a16="http://schemas.microsoft.com/office/drawing/2014/main" id="{6094384C-D6FA-45E4-9C3C-4C03C0E682D1}"/>
              </a:ext>
            </a:extLst>
          </p:cNvPr>
          <p:cNvSpPr>
            <a:spLocks xmlns:a="http://schemas.openxmlformats.org/drawingml/2006/main" noGrp="1"/>
          </p:cNvSpPr>
          <p:nvPr/>
        </p:nvSpPr>
        <p:spPr>
          <a:xfrm xmlns:a="http://schemas.openxmlformats.org/drawingml/2006/main">
            <a:off x="6591300" y="4086225"/>
            <a:ext cx="4667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002060"/>
                </a:solidFill>
                <a:latin typeface="Calibri"/>
                <a:ea typeface="Calibri"/>
                <a:cs typeface="Calibri"/>
              </a:defRPr>
            </a:pPr>
            <a:r>
              <a:rPr sz="2025" b="1">
                <a:solidFill>
                  <a:srgbClr val="002060"/>
                </a:solidFill>
                <a:latin typeface="Calibri"/>
                <a:ea typeface="Calibri"/>
                <a:cs typeface="Calibri"/>
              </a:rPr>
              <a:t>Member membayar 50% lebih rendah</a:t>
            </a:r>
          </a:p>
        </p:txBody>
      </p:sp>
      <p:sp>
        <p:nvSpPr>
          <p:cNvPr id="13" name="">
            <a:extLst xmlns:a="http://schemas.openxmlformats.org/drawingml/2006/main">
              <a:ext uri="{FF2B5EF4-FFF2-40B4-BE49-F238E27FC236}">
                <a16:creationId xmlns:a16="http://schemas.microsoft.com/office/drawing/2014/main" id="{929C6198-E4D5-4229-A043-D557BAB17773}"/>
              </a:ext>
            </a:extLst>
          </p:cNvPr>
          <p:cNvSpPr>
            <a:spLocks xmlns:a="http://schemas.openxmlformats.org/drawingml/2006/main" noGrp="1"/>
          </p:cNvSpPr>
          <p:nvPr/>
        </p:nvSpPr>
        <p:spPr>
          <a:xfrm xmlns:a="http://schemas.openxmlformats.org/drawingml/2006/main">
            <a:off x="609600" y="4953000"/>
            <a:ext cx="10972800" cy="0"/>
          </a:xfrm>
          <a:prstGeom xmlns:a="http://schemas.openxmlformats.org/drawingml/2006/main" prst="line">
            <a:avLst/>
          </a:prstGeom>
          <a:noFill xmlns:a="http://schemas.openxmlformats.org/drawingml/2006/main"/>
          <a:ln xmlns:a="http://schemas.openxmlformats.org/drawingml/2006/main" w="9525">
            <a:solidFill>
              <a:srgbClr val="DCE2E8"/>
            </a:solidFill>
          </a:ln>
        </p:spPr>
      </p:sp>
      <p:sp>
        <p:nvSpPr>
          <p:cNvPr id="14" name="text-141">
            <a:extLst xmlns:a="http://schemas.openxmlformats.org/drawingml/2006/main">
              <a:ext uri="{FF2B5EF4-FFF2-40B4-BE49-F238E27FC236}">
                <a16:creationId xmlns:a16="http://schemas.microsoft.com/office/drawing/2014/main" id="{59616F31-96F7-4FA3-B33F-54C182774587}"/>
              </a:ext>
            </a:extLst>
          </p:cNvPr>
          <p:cNvSpPr>
            <a:spLocks xmlns:a="http://schemas.openxmlformats.org/drawingml/2006/main" noGrp="1"/>
          </p:cNvSpPr>
          <p:nvPr/>
        </p:nvSpPr>
        <p:spPr>
          <a:xfrm xmlns:a="http://schemas.openxmlformats.org/drawingml/2006/main">
            <a:off x="609600" y="5181600"/>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65717D"/>
                </a:solidFill>
                <a:latin typeface="Calibri"/>
                <a:ea typeface="Calibri"/>
                <a:cs typeface="Calibri"/>
              </a:defRPr>
            </a:pPr>
            <a:r>
              <a:rPr sz="1500" b="1">
                <a:solidFill>
                  <a:srgbClr val="65717D"/>
                </a:solidFill>
                <a:latin typeface="Calibri"/>
                <a:ea typeface="Calibri"/>
                <a:cs typeface="Calibri"/>
              </a:rPr>
              <a:t>Pembanding paket premium</a:t>
            </a:r>
          </a:p>
        </p:txBody>
      </p:sp>
      <p:sp>
        <p:nvSpPr>
          <p:cNvPr id="15" name="text-142">
            <a:extLst xmlns:a="http://schemas.openxmlformats.org/drawingml/2006/main">
              <a:ext uri="{FF2B5EF4-FFF2-40B4-BE49-F238E27FC236}">
                <a16:creationId xmlns:a16="http://schemas.microsoft.com/office/drawing/2014/main" id="{462DF5D1-A1AF-43CD-96DA-807886C06220}"/>
              </a:ext>
            </a:extLst>
          </p:cNvPr>
          <p:cNvSpPr>
            <a:spLocks xmlns:a="http://schemas.openxmlformats.org/drawingml/2006/main" noGrp="1"/>
          </p:cNvSpPr>
          <p:nvPr/>
        </p:nvSpPr>
        <p:spPr>
          <a:xfrm xmlns:a="http://schemas.openxmlformats.org/drawingml/2006/main">
            <a:off x="4572000" y="5181600"/>
            <a:ext cx="3286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65717D"/>
                </a:solidFill>
                <a:latin typeface="Calibri"/>
                <a:ea typeface="Calibri"/>
                <a:cs typeface="Calibri"/>
              </a:defRPr>
            </a:pPr>
            <a:r>
              <a:rPr sz="1650" b="0">
                <a:solidFill>
                  <a:srgbClr val="65717D"/>
                </a:solidFill>
                <a:latin typeface="Calibri"/>
                <a:ea typeface="Calibri"/>
                <a:cs typeface="Calibri"/>
              </a:rPr>
              <a:t>Sevenpreneur +Rp3,5 jt</a:t>
            </a:r>
          </a:p>
        </p:txBody>
      </p:sp>
      <p:sp>
        <p:nvSpPr>
          <p:cNvPr id="16" name="text-143">
            <a:extLst xmlns:a="http://schemas.openxmlformats.org/drawingml/2006/main">
              <a:ext uri="{FF2B5EF4-FFF2-40B4-BE49-F238E27FC236}">
                <a16:creationId xmlns:a16="http://schemas.microsoft.com/office/drawing/2014/main" id="{37E2D391-06AA-47DF-A633-DB5253D62476}"/>
              </a:ext>
            </a:extLst>
          </p:cNvPr>
          <p:cNvSpPr>
            <a:spLocks xmlns:a="http://schemas.openxmlformats.org/drawingml/2006/main" noGrp="1"/>
          </p:cNvSpPr>
          <p:nvPr/>
        </p:nvSpPr>
        <p:spPr>
          <a:xfrm xmlns:a="http://schemas.openxmlformats.org/drawingml/2006/main">
            <a:off x="8477250" y="5181600"/>
            <a:ext cx="304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65717D"/>
                </a:solidFill>
                <a:latin typeface="Calibri"/>
                <a:ea typeface="Calibri"/>
                <a:cs typeface="Calibri"/>
              </a:defRPr>
            </a:pPr>
            <a:r>
              <a:rPr sz="1650" b="0">
                <a:solidFill>
                  <a:srgbClr val="65717D"/>
                </a:solidFill>
                <a:latin typeface="Calibri"/>
                <a:ea typeface="Calibri"/>
                <a:cs typeface="Calibri"/>
              </a:rPr>
              <a:t>Aksoro +Rp6 jt</a:t>
            </a:r>
          </a:p>
        </p:txBody>
      </p:sp>
      <p:sp>
        <p:nvSpPr>
          <p:cNvPr id="17" name="text-144">
            <a:extLst xmlns:a="http://schemas.openxmlformats.org/drawingml/2006/main">
              <a:ext uri="{FF2B5EF4-FFF2-40B4-BE49-F238E27FC236}">
                <a16:creationId xmlns:a16="http://schemas.microsoft.com/office/drawing/2014/main" id="{5BB43896-1B9B-4423-BA0B-644D579D9E4F}"/>
              </a:ext>
            </a:extLst>
          </p:cNvPr>
          <p:cNvSpPr>
            <a:spLocks xmlns:a="http://schemas.openxmlformats.org/drawingml/2006/main" noGrp="1"/>
          </p:cNvSpPr>
          <p:nvPr/>
        </p:nvSpPr>
        <p:spPr>
          <a:xfrm xmlns:a="http://schemas.openxmlformats.org/drawingml/2006/main">
            <a:off x="609600" y="5695950"/>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65717D"/>
                </a:solidFill>
                <a:latin typeface="Calibri"/>
                <a:ea typeface="Calibri"/>
                <a:cs typeface="Calibri"/>
              </a:defRPr>
            </a:pPr>
            <a:r>
              <a:rPr sz="1500" b="0">
                <a:solidFill>
                  <a:srgbClr val="65717D"/>
                </a:solidFill>
                <a:latin typeface="Calibri"/>
                <a:ea typeface="Calibri"/>
                <a:cs typeface="Calibri"/>
              </a:rPr>
              <a:t>Uplift seluruh paket, bukan harga dinner atau bukti transaksi aktual CMC.</a:t>
            </a:r>
          </a:p>
        </p:txBody>
      </p:sp>
    </p:spTree>
    <p:extLst>
      <p:ext uri="{BB962C8B-B14F-4D97-AF65-F5344CB8AC3E}">
        <p14:creationId xmlns:p14="http://schemas.microsoft.com/office/powerpoint/2010/main" val="975290081"/>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text-145">
            <a:extLst xmlns:a="http://schemas.openxmlformats.org/drawingml/2006/main">
              <a:ext uri="{FF2B5EF4-FFF2-40B4-BE49-F238E27FC236}">
                <a16:creationId xmlns:a16="http://schemas.microsoft.com/office/drawing/2014/main" id="{B2BE5ED4-40EF-492C-9884-494E8FA9208D}"/>
              </a:ext>
            </a:extLst>
          </p:cNvPr>
          <p:cNvSpPr>
            <a:spLocks xmlns:a="http://schemas.openxmlformats.org/drawingml/2006/main" noGrp="1"/>
          </p:cNvSpPr>
          <p:nvPr/>
        </p:nvSpPr>
        <p:spPr>
          <a:xfrm xmlns:a="http://schemas.openxmlformats.org/drawingml/2006/main">
            <a:off x="609600" y="333375"/>
            <a:ext cx="1066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65717D"/>
                </a:solidFill>
                <a:latin typeface="Calibri"/>
                <a:ea typeface="Calibri"/>
                <a:cs typeface="Calibri"/>
              </a:defRPr>
            </a:pPr>
            <a:r>
              <a:rPr sz="1050" b="1">
                <a:solidFill>
                  <a:srgbClr val="65717D"/>
                </a:solidFill>
                <a:latin typeface="Calibri"/>
                <a:ea typeface="Calibri"/>
                <a:cs typeface="Calibri"/>
              </a:rPr>
              <a:t>ECONOMICS INTIMATE DINNER</a:t>
            </a:r>
          </a:p>
        </p:txBody>
      </p:sp>
      <p:sp>
        <p:nvSpPr>
          <p:cNvPr id="2" name="text-146">
            <a:extLst xmlns:a="http://schemas.openxmlformats.org/drawingml/2006/main">
              <a:ext uri="{FF2B5EF4-FFF2-40B4-BE49-F238E27FC236}">
                <a16:creationId xmlns:a16="http://schemas.microsoft.com/office/drawing/2014/main" id="{CDA895E8-1231-486E-9698-C3CAAB63ED58}"/>
              </a:ext>
            </a:extLst>
          </p:cNvPr>
          <p:cNvSpPr>
            <a:spLocks xmlns:a="http://schemas.openxmlformats.org/drawingml/2006/main" noGrp="1"/>
          </p:cNvSpPr>
          <p:nvPr/>
        </p:nvSpPr>
        <p:spPr>
          <a:xfrm xmlns:a="http://schemas.openxmlformats.org/drawingml/2006/main">
            <a:off x="609600" y="723900"/>
            <a:ext cx="10858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925" b="1">
                <a:solidFill>
                  <a:srgbClr val="002060"/>
                </a:solidFill>
                <a:latin typeface="Calibri"/>
                <a:ea typeface="Calibri"/>
                <a:cs typeface="Calibri"/>
              </a:defRPr>
            </a:pPr>
            <a:r>
              <a:rPr sz="2925" b="1">
                <a:solidFill>
                  <a:srgbClr val="002060"/>
                </a:solidFill>
                <a:latin typeface="Calibri"/>
                <a:ea typeface="Calibri"/>
                <a:cs typeface="Calibri"/>
              </a:rPr>
              <a:t>Base case menyisakan Rp40 rb per seat untuk biaya lain</a:t>
            </a:r>
          </a:p>
        </p:txBody>
      </p:sp>
      <p:sp>
        <p:nvSpPr>
          <p:cNvPr id="3" name="text-147">
            <a:extLst xmlns:a="http://schemas.openxmlformats.org/drawingml/2006/main">
              <a:ext uri="{FF2B5EF4-FFF2-40B4-BE49-F238E27FC236}">
                <a16:creationId xmlns:a16="http://schemas.microsoft.com/office/drawing/2014/main" id="{4374BF06-E26C-4EBB-9978-CDC11EAA499C}"/>
              </a:ext>
            </a:extLst>
          </p:cNvPr>
          <p:cNvSpPr>
            <a:spLocks xmlns:a="http://schemas.openxmlformats.org/drawingml/2006/main" noGrp="1"/>
          </p:cNvSpPr>
          <p:nvPr/>
        </p:nvSpPr>
        <p:spPr>
          <a:xfrm xmlns:a="http://schemas.openxmlformats.org/drawingml/2006/main">
            <a:off x="609600" y="1666875"/>
            <a:ext cx="10858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65717D"/>
                </a:solidFill>
                <a:latin typeface="Calibri"/>
                <a:ea typeface="Calibri"/>
                <a:cs typeface="Calibri"/>
              </a:defRPr>
            </a:pPr>
            <a:r>
              <a:rPr sz="1500" b="0">
                <a:solidFill>
                  <a:srgbClr val="65717D"/>
                </a:solidFill>
                <a:latin typeface="Calibri"/>
                <a:ea typeface="Calibri"/>
                <a:cs typeface="Calibri"/>
              </a:rPr>
              <a:t>20 paying seats, 24 total headcount. Ops, pajak/service tambahan mengikuti quotation.</a:t>
            </a:r>
          </a:p>
        </p:txBody>
      </p:sp>
      <p:sp>
        <p:nvSpPr>
          <p:cNvPr id="4" name="">
            <a:extLst xmlns:a="http://schemas.openxmlformats.org/drawingml/2006/main">
              <a:ext uri="{FF2B5EF4-FFF2-40B4-BE49-F238E27FC236}">
                <a16:creationId xmlns:a16="http://schemas.microsoft.com/office/drawing/2014/main" id="{5B1BBAF7-1D64-4C2F-8221-E3F4234DAE01}"/>
              </a:ext>
            </a:extLst>
          </p:cNvPr>
          <p:cNvSpPr>
            <a:spLocks xmlns:a="http://schemas.openxmlformats.org/drawingml/2006/main" noGrp="1"/>
          </p:cNvSpPr>
          <p:nvPr/>
        </p:nvSpPr>
        <p:spPr>
          <a:xfrm xmlns:a="http://schemas.openxmlformats.org/drawingml/2006/main">
            <a:off x="609600" y="6381750"/>
            <a:ext cx="10972800" cy="0"/>
          </a:xfrm>
          <a:prstGeom xmlns:a="http://schemas.openxmlformats.org/drawingml/2006/main" prst="line">
            <a:avLst/>
          </a:prstGeom>
          <a:noFill xmlns:a="http://schemas.openxmlformats.org/drawingml/2006/main"/>
          <a:ln xmlns:a="http://schemas.openxmlformats.org/drawingml/2006/main" w="9525">
            <a:solidFill>
              <a:srgbClr val="DCE2E8"/>
            </a:solidFill>
          </a:ln>
        </p:spPr>
      </p:sp>
      <p:sp>
        <p:nvSpPr>
          <p:cNvPr id="5" name="text-148">
            <a:extLst xmlns:a="http://schemas.openxmlformats.org/drawingml/2006/main">
              <a:ext uri="{FF2B5EF4-FFF2-40B4-BE49-F238E27FC236}">
                <a16:creationId xmlns:a16="http://schemas.microsoft.com/office/drawing/2014/main" id="{D9AFFD64-E03C-4DE7-81B2-001C6F86120F}"/>
              </a:ext>
            </a:extLst>
          </p:cNvPr>
          <p:cNvSpPr>
            <a:spLocks xmlns:a="http://schemas.openxmlformats.org/drawingml/2006/main" noGrp="1"/>
          </p:cNvSpPr>
          <p:nvPr/>
        </p:nvSpPr>
        <p:spPr>
          <a:xfrm xmlns:a="http://schemas.openxmlformats.org/drawingml/2006/main">
            <a:off x="609600" y="6505575"/>
            <a:ext cx="10191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825" b="0">
                <a:solidFill>
                  <a:srgbClr val="65717D"/>
                </a:solidFill>
                <a:latin typeface="Calibri"/>
                <a:ea typeface="Calibri"/>
                <a:cs typeface="Calibri"/>
              </a:defRPr>
            </a:pPr>
            <a:r>
              <a:rPr sz="825" b="0">
                <a:solidFill>
                  <a:srgbClr val="65717D"/>
                </a:solidFill>
                <a:latin typeface="Calibri"/>
                <a:ea typeface="Calibri"/>
                <a:cs typeface="Calibri"/>
              </a:rPr>
              <a:t>Usulan pilot: BEP inti = (24 × venue/head + fee Master) ÷ 20. Venue Rp600 rb–1 jt/head: planning range.</a:t>
            </a:r>
          </a:p>
        </p:txBody>
      </p:sp>
      <p:sp>
        <p:nvSpPr>
          <p:cNvPr id="6" name="text-149">
            <a:extLst xmlns:a="http://schemas.openxmlformats.org/drawingml/2006/main">
              <a:ext uri="{FF2B5EF4-FFF2-40B4-BE49-F238E27FC236}">
                <a16:creationId xmlns:a16="http://schemas.microsoft.com/office/drawing/2014/main" id="{43894C50-3FA4-4056-9652-74D5B6B29628}"/>
              </a:ext>
            </a:extLst>
          </p:cNvPr>
          <p:cNvSpPr>
            <a:spLocks xmlns:a="http://schemas.openxmlformats.org/drawingml/2006/main" noGrp="1"/>
          </p:cNvSpPr>
          <p:nvPr/>
        </p:nvSpPr>
        <p:spPr>
          <a:xfrm xmlns:a="http://schemas.openxmlformats.org/drawingml/2006/main">
            <a:off x="11125200" y="6486525"/>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002060"/>
                </a:solidFill>
                <a:latin typeface="Calibri"/>
                <a:ea typeface="Calibri"/>
                <a:cs typeface="Calibri"/>
              </a:defRPr>
            </a:pPr>
            <a:r>
              <a:rPr sz="1050" b="1">
                <a:solidFill>
                  <a:srgbClr val="002060"/>
                </a:solidFill>
                <a:latin typeface="Calibri"/>
                <a:ea typeface="Calibri"/>
                <a:cs typeface="Calibri"/>
              </a:rPr>
              <a:t>10</a:t>
            </a:r>
          </a:p>
        </p:txBody>
      </p:sp>
      <p:sp>
        <p:nvSpPr>
          <p:cNvPr id="7" name="text-150">
            <a:extLst xmlns:a="http://schemas.openxmlformats.org/drawingml/2006/main">
              <a:ext uri="{FF2B5EF4-FFF2-40B4-BE49-F238E27FC236}">
                <a16:creationId xmlns:a16="http://schemas.microsoft.com/office/drawing/2014/main" id="{4C706E7C-7514-4E87-BA20-D72FF56BD65B}"/>
              </a:ext>
            </a:extLst>
          </p:cNvPr>
          <p:cNvSpPr>
            <a:spLocks xmlns:a="http://schemas.openxmlformats.org/drawingml/2006/main" noGrp="1"/>
          </p:cNvSpPr>
          <p:nvPr/>
        </p:nvSpPr>
        <p:spPr>
          <a:xfrm xmlns:a="http://schemas.openxmlformats.org/drawingml/2006/main">
            <a:off x="609600" y="2276475"/>
            <a:ext cx="7143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002060"/>
                </a:solidFill>
                <a:latin typeface="Calibri"/>
                <a:ea typeface="Calibri"/>
                <a:cs typeface="Calibri"/>
              </a:defRPr>
            </a:pPr>
            <a:r>
              <a:rPr sz="1650" b="1">
                <a:solidFill>
                  <a:srgbClr val="002060"/>
                </a:solidFill>
                <a:latin typeface="Calibri"/>
                <a:ea typeface="Calibri"/>
                <a:cs typeface="Calibri"/>
              </a:rPr>
              <a:t>BEP inti / seat, Rp jt</a:t>
            </a:r>
          </a:p>
        </p:txBody>
      </p:sp>
      <p:graphicFrame>
        <p:nvGraphicFramePr>
          <p:cNvPr id="24" name=""/>
          <p:cNvGraphicFramePr/>
          <p:nvPr/>
        </p:nvGraphicFramePr>
        <p:xfrm>
          <a:off xmlns:a="http://schemas.openxmlformats.org/drawingml/2006/main" x="609600" y="2724150"/>
          <a:ext xmlns:a="http://schemas.openxmlformats.org/drawingml/2006/main" cx="6896100" cy="2628900"/>
        </p:xfrm>
        <a:graphic xmlns:a="http://schemas.openxmlformats.org/drawingml/2006/main">
          <a:graphicData uri="http://schemas.openxmlformats.org/drawingml/2006/table">
            <a:tbl>
              <a:tblPr/>
              <a:tblGrid>
                <a:gridCol w="2095500"/>
                <a:gridCol w="1600200"/>
                <a:gridCol w="1600200"/>
                <a:gridCol w="1600200"/>
              </a:tblGrid>
              <a:tr h="438150">
                <a:tc>
                  <a:txBody>
                    <a:bodyPr lIns="95250" tIns="76200" rIns="95250" bIns="57150"/>
                    <a:lstStyle/>
                    <a:p>
                      <a:r>
                        <a:rPr sz="1650" b="1">
                          <a:solidFill>
                            <a:srgbClr val="FFFFFF"/>
                          </a:solidFill>
                          <a:latin typeface="Calibri"/>
                          <a:ea typeface="Calibri"/>
                          <a:cs typeface="Calibri"/>
                        </a:rPr>
                        <a:t>Fee Master</a:t>
                      </a:r>
                    </a:p>
                  </a:txBody>
                  <a:tcPr marL="91440" marR="91440" marT="45720" marB="45720">
                    <a:solidFill>
                      <a:srgbClr val="002060"/>
                    </a:solidFill>
                  </a:tcPr>
                </a:tc>
                <a:tc>
                  <a:txBody>
                    <a:bodyPr lIns="95250" tIns="76200" rIns="95250" bIns="57150"/>
                    <a:lstStyle/>
                    <a:p>
                      <a:r>
                        <a:rPr sz="1650" b="1">
                          <a:solidFill>
                            <a:srgbClr val="FFFFFF"/>
                          </a:solidFill>
                          <a:latin typeface="Calibri"/>
                          <a:ea typeface="Calibri"/>
                          <a:cs typeface="Calibri"/>
                        </a:rPr>
                        <a:t>Rp600 rb</a:t>
                      </a:r>
                    </a:p>
                  </a:txBody>
                  <a:tcPr marL="91440" marR="91440" marT="45720" marB="45720">
                    <a:solidFill>
                      <a:srgbClr val="002060"/>
                    </a:solidFill>
                  </a:tcPr>
                </a:tc>
                <a:tc>
                  <a:txBody>
                    <a:bodyPr lIns="95250" tIns="76200" rIns="95250" bIns="57150"/>
                    <a:lstStyle/>
                    <a:p>
                      <a:r>
                        <a:rPr sz="1650" b="1">
                          <a:solidFill>
                            <a:srgbClr val="FFFFFF"/>
                          </a:solidFill>
                          <a:latin typeface="Calibri"/>
                          <a:ea typeface="Calibri"/>
                          <a:cs typeface="Calibri"/>
                        </a:rPr>
                        <a:t>Rp800 rb</a:t>
                      </a:r>
                    </a:p>
                  </a:txBody>
                  <a:tcPr marL="91440" marR="91440" marT="45720" marB="45720">
                    <a:solidFill>
                      <a:srgbClr val="002060"/>
                    </a:solidFill>
                  </a:tcPr>
                </a:tc>
                <a:tc>
                  <a:txBody>
                    <a:bodyPr lIns="95250" tIns="76200" rIns="95250" bIns="57150"/>
                    <a:lstStyle/>
                    <a:p>
                      <a:r>
                        <a:rPr sz="1650" b="1">
                          <a:solidFill>
                            <a:srgbClr val="FFFFFF"/>
                          </a:solidFill>
                          <a:latin typeface="Calibri"/>
                          <a:ea typeface="Calibri"/>
                          <a:cs typeface="Calibri"/>
                        </a:rPr>
                        <a:t>Rp1 jt</a:t>
                      </a:r>
                    </a:p>
                  </a:txBody>
                  <a:tcPr marL="91440" marR="91440" marT="45720" marB="45720">
                    <a:solidFill>
                      <a:srgbClr val="002060"/>
                    </a:solidFill>
                  </a:tcPr>
                </a:tc>
              </a:tr>
              <a:tr h="438150">
                <a:tc>
                  <a:txBody>
                    <a:bodyPr lIns="95250" tIns="76200" rIns="95250" bIns="57150"/>
                    <a:lstStyle/>
                    <a:p>
                      <a:r>
                        <a:rPr sz="1650" b="0">
                          <a:solidFill>
                            <a:srgbClr val="273746"/>
                          </a:solidFill>
                          <a:latin typeface="Calibri"/>
                          <a:ea typeface="Calibri"/>
                          <a:cs typeface="Calibri"/>
                        </a:rPr>
                        <a:t>Rp0</a:t>
                      </a:r>
                    </a:p>
                  </a:txBody>
                  <a:tcPr marL="91440" marR="91440" marT="45720" marB="45720">
                    <a:solidFill>
                      <a:srgbClr val="FFFFFF"/>
                    </a:solidFill>
                  </a:tcPr>
                </a:tc>
                <a:tc>
                  <a:txBody>
                    <a:bodyPr lIns="95250" tIns="76200" rIns="95250" bIns="57150"/>
                    <a:lstStyle/>
                    <a:p>
                      <a:r>
                        <a:rPr sz="1650" b="0">
                          <a:solidFill>
                            <a:srgbClr val="273746"/>
                          </a:solidFill>
                          <a:latin typeface="Calibri"/>
                          <a:ea typeface="Calibri"/>
                          <a:cs typeface="Calibri"/>
                        </a:rPr>
                        <a:t>0,72</a:t>
                      </a:r>
                    </a:p>
                  </a:txBody>
                  <a:tcPr marL="91440" marR="91440" marT="45720" marB="45720">
                    <a:solidFill>
                      <a:srgbClr val="E8EEF5"/>
                    </a:solidFill>
                  </a:tcPr>
                </a:tc>
                <a:tc>
                  <a:txBody>
                    <a:bodyPr lIns="95250" tIns="76200" rIns="95250" bIns="57150"/>
                    <a:lstStyle/>
                    <a:p>
                      <a:r>
                        <a:rPr sz="1650" b="0">
                          <a:solidFill>
                            <a:srgbClr val="273746"/>
                          </a:solidFill>
                          <a:latin typeface="Calibri"/>
                          <a:ea typeface="Calibri"/>
                          <a:cs typeface="Calibri"/>
                        </a:rPr>
                        <a:t>0,96</a:t>
                      </a:r>
                    </a:p>
                  </a:txBody>
                  <a:tcPr marL="91440" marR="91440" marT="45720" marB="45720">
                    <a:solidFill>
                      <a:srgbClr val="E8EEF5"/>
                    </a:solidFill>
                  </a:tcPr>
                </a:tc>
                <a:tc>
                  <a:txBody>
                    <a:bodyPr lIns="95250" tIns="76200" rIns="95250" bIns="57150"/>
                    <a:lstStyle/>
                    <a:p>
                      <a:r>
                        <a:rPr sz="1650" b="0">
                          <a:solidFill>
                            <a:srgbClr val="273746"/>
                          </a:solidFill>
                          <a:latin typeface="Calibri"/>
                          <a:ea typeface="Calibri"/>
                          <a:cs typeface="Calibri"/>
                        </a:rPr>
                        <a:t>1,20</a:t>
                      </a:r>
                    </a:p>
                  </a:txBody>
                  <a:tcPr marL="91440" marR="91440" marT="45720" marB="45720">
                    <a:solidFill>
                      <a:srgbClr val="E8EEF5"/>
                    </a:solidFill>
                  </a:tcPr>
                </a:tc>
              </a:tr>
              <a:tr h="438150">
                <a:tc>
                  <a:txBody>
                    <a:bodyPr lIns="95250" tIns="76200" rIns="95250" bIns="57150"/>
                    <a:lstStyle/>
                    <a:p>
                      <a:r>
                        <a:rPr sz="1650" b="0">
                          <a:solidFill>
                            <a:srgbClr val="273746"/>
                          </a:solidFill>
                          <a:latin typeface="Calibri"/>
                          <a:ea typeface="Calibri"/>
                          <a:cs typeface="Calibri"/>
                        </a:rPr>
                        <a:t>Rp5 jt</a:t>
                      </a:r>
                    </a:p>
                  </a:txBody>
                  <a:tcPr marL="91440" marR="91440" marT="45720" marB="45720">
                    <a:solidFill>
                      <a:srgbClr val="F3F6F9"/>
                    </a:solidFill>
                  </a:tcPr>
                </a:tc>
                <a:tc>
                  <a:txBody>
                    <a:bodyPr lIns="95250" tIns="76200" rIns="95250" bIns="57150"/>
                    <a:lstStyle/>
                    <a:p>
                      <a:r>
                        <a:rPr sz="1650" b="0">
                          <a:solidFill>
                            <a:srgbClr val="273746"/>
                          </a:solidFill>
                          <a:latin typeface="Calibri"/>
                          <a:ea typeface="Calibri"/>
                          <a:cs typeface="Calibri"/>
                        </a:rPr>
                        <a:t>0,97</a:t>
                      </a:r>
                    </a:p>
                  </a:txBody>
                  <a:tcPr marL="91440" marR="91440" marT="45720" marB="45720">
                    <a:solidFill>
                      <a:srgbClr val="E8EEF5"/>
                    </a:solidFill>
                  </a:tcPr>
                </a:tc>
                <a:tc>
                  <a:txBody>
                    <a:bodyPr lIns="95250" tIns="76200" rIns="95250" bIns="57150"/>
                    <a:lstStyle/>
                    <a:p>
                      <a:r>
                        <a:rPr sz="1650" b="0">
                          <a:solidFill>
                            <a:srgbClr val="273746"/>
                          </a:solidFill>
                          <a:latin typeface="Calibri"/>
                          <a:ea typeface="Calibri"/>
                          <a:cs typeface="Calibri"/>
                        </a:rPr>
                        <a:t>1,21</a:t>
                      </a:r>
                    </a:p>
                  </a:txBody>
                  <a:tcPr marL="91440" marR="91440" marT="45720" marB="45720">
                    <a:solidFill>
                      <a:srgbClr val="E8EEF5"/>
                    </a:solidFill>
                  </a:tcPr>
                </a:tc>
                <a:tc>
                  <a:txBody>
                    <a:bodyPr lIns="95250" tIns="76200" rIns="95250" bIns="57150"/>
                    <a:lstStyle/>
                    <a:p>
                      <a:r>
                        <a:rPr sz="1650" b="0">
                          <a:solidFill>
                            <a:srgbClr val="273746"/>
                          </a:solidFill>
                          <a:latin typeface="Calibri"/>
                          <a:ea typeface="Calibri"/>
                          <a:cs typeface="Calibri"/>
                        </a:rPr>
                        <a:t>1,45</a:t>
                      </a:r>
                    </a:p>
                  </a:txBody>
                  <a:tcPr marL="91440" marR="91440" marT="45720" marB="45720">
                    <a:solidFill>
                      <a:srgbClr val="E8EEF5"/>
                    </a:solidFill>
                  </a:tcPr>
                </a:tc>
              </a:tr>
              <a:tr h="438150">
                <a:tc>
                  <a:txBody>
                    <a:bodyPr lIns="95250" tIns="76200" rIns="95250" bIns="57150"/>
                    <a:lstStyle/>
                    <a:p>
                      <a:r>
                        <a:rPr sz="1650" b="0">
                          <a:solidFill>
                            <a:srgbClr val="273746"/>
                          </a:solidFill>
                          <a:latin typeface="Calibri"/>
                          <a:ea typeface="Calibri"/>
                          <a:cs typeface="Calibri"/>
                        </a:rPr>
                        <a:t>Rp10 jt</a:t>
                      </a:r>
                    </a:p>
                  </a:txBody>
                  <a:tcPr marL="91440" marR="91440" marT="45720" marB="45720">
                    <a:solidFill>
                      <a:srgbClr val="FFFFFF"/>
                    </a:solidFill>
                  </a:tcPr>
                </a:tc>
                <a:tc>
                  <a:txBody>
                    <a:bodyPr lIns="95250" tIns="76200" rIns="95250" bIns="57150"/>
                    <a:lstStyle/>
                    <a:p>
                      <a:r>
                        <a:rPr sz="1650" b="0">
                          <a:solidFill>
                            <a:srgbClr val="273746"/>
                          </a:solidFill>
                          <a:latin typeface="Calibri"/>
                          <a:ea typeface="Calibri"/>
                          <a:cs typeface="Calibri"/>
                        </a:rPr>
                        <a:t>1,22</a:t>
                      </a:r>
                    </a:p>
                  </a:txBody>
                  <a:tcPr marL="91440" marR="91440" marT="45720" marB="45720">
                    <a:solidFill>
                      <a:srgbClr val="E8EEF5"/>
                    </a:solidFill>
                  </a:tcPr>
                </a:tc>
                <a:tc>
                  <a:txBody>
                    <a:bodyPr lIns="95250" tIns="76200" rIns="95250" bIns="57150"/>
                    <a:lstStyle/>
                    <a:p>
                      <a:r>
                        <a:rPr sz="1725" b="1">
                          <a:solidFill>
                            <a:srgbClr val="FFFFFF"/>
                          </a:solidFill>
                          <a:latin typeface="Calibri"/>
                          <a:ea typeface="Calibri"/>
                          <a:cs typeface="Calibri"/>
                        </a:rPr>
                        <a:t>1,46</a:t>
                      </a:r>
                    </a:p>
                  </a:txBody>
                  <a:tcPr marL="91440" marR="91440" marT="45720" marB="45720">
                    <a:solidFill>
                      <a:srgbClr val="002060"/>
                    </a:solidFill>
                  </a:tcPr>
                </a:tc>
                <a:tc>
                  <a:txBody>
                    <a:bodyPr lIns="95250" tIns="76200" rIns="95250" bIns="57150"/>
                    <a:lstStyle/>
                    <a:p>
                      <a:r>
                        <a:rPr sz="1650" b="0">
                          <a:solidFill>
                            <a:srgbClr val="273746"/>
                          </a:solidFill>
                          <a:latin typeface="Calibri"/>
                          <a:ea typeface="Calibri"/>
                          <a:cs typeface="Calibri"/>
                        </a:rPr>
                        <a:t>1,70</a:t>
                      </a:r>
                    </a:p>
                  </a:txBody>
                  <a:tcPr marL="91440" marR="91440" marT="45720" marB="45720">
                    <a:solidFill>
                      <a:srgbClr val="F2F2F2"/>
                    </a:solidFill>
                  </a:tcPr>
                </a:tc>
              </a:tr>
              <a:tr h="438150">
                <a:tc>
                  <a:txBody>
                    <a:bodyPr lIns="95250" tIns="76200" rIns="95250" bIns="57150"/>
                    <a:lstStyle/>
                    <a:p>
                      <a:r>
                        <a:rPr sz="1650" b="0">
                          <a:solidFill>
                            <a:srgbClr val="273746"/>
                          </a:solidFill>
                          <a:latin typeface="Calibri"/>
                          <a:ea typeface="Calibri"/>
                          <a:cs typeface="Calibri"/>
                        </a:rPr>
                        <a:t>Rp15 jt</a:t>
                      </a:r>
                    </a:p>
                  </a:txBody>
                  <a:tcPr marL="91440" marR="91440" marT="45720" marB="45720">
                    <a:solidFill>
                      <a:srgbClr val="F3F6F9"/>
                    </a:solidFill>
                  </a:tcPr>
                </a:tc>
                <a:tc>
                  <a:txBody>
                    <a:bodyPr lIns="95250" tIns="76200" rIns="95250" bIns="57150"/>
                    <a:lstStyle/>
                    <a:p>
                      <a:r>
                        <a:rPr sz="1650" b="0">
                          <a:solidFill>
                            <a:srgbClr val="273746"/>
                          </a:solidFill>
                          <a:latin typeface="Calibri"/>
                          <a:ea typeface="Calibri"/>
                          <a:cs typeface="Calibri"/>
                        </a:rPr>
                        <a:t>1,47</a:t>
                      </a:r>
                    </a:p>
                  </a:txBody>
                  <a:tcPr marL="91440" marR="91440" marT="45720" marB="45720">
                    <a:solidFill>
                      <a:srgbClr val="E8EEF5"/>
                    </a:solidFill>
                  </a:tcPr>
                </a:tc>
                <a:tc>
                  <a:txBody>
                    <a:bodyPr lIns="95250" tIns="76200" rIns="95250" bIns="57150"/>
                    <a:lstStyle/>
                    <a:p>
                      <a:r>
                        <a:rPr sz="1650" b="0">
                          <a:solidFill>
                            <a:srgbClr val="273746"/>
                          </a:solidFill>
                          <a:latin typeface="Calibri"/>
                          <a:ea typeface="Calibri"/>
                          <a:cs typeface="Calibri"/>
                        </a:rPr>
                        <a:t>1,71</a:t>
                      </a:r>
                    </a:p>
                  </a:txBody>
                  <a:tcPr marL="91440" marR="91440" marT="45720" marB="45720">
                    <a:solidFill>
                      <a:srgbClr val="F2F2F2"/>
                    </a:solidFill>
                  </a:tcPr>
                </a:tc>
                <a:tc>
                  <a:txBody>
                    <a:bodyPr lIns="95250" tIns="76200" rIns="95250" bIns="57150"/>
                    <a:lstStyle/>
                    <a:p>
                      <a:r>
                        <a:rPr sz="1650" b="0">
                          <a:solidFill>
                            <a:srgbClr val="273746"/>
                          </a:solidFill>
                          <a:latin typeface="Calibri"/>
                          <a:ea typeface="Calibri"/>
                          <a:cs typeface="Calibri"/>
                        </a:rPr>
                        <a:t>1,95</a:t>
                      </a:r>
                    </a:p>
                  </a:txBody>
                  <a:tcPr marL="91440" marR="91440" marT="45720" marB="45720">
                    <a:solidFill>
                      <a:srgbClr val="F2F2F2"/>
                    </a:solidFill>
                  </a:tcPr>
                </a:tc>
              </a:tr>
              <a:tr h="438150">
                <a:tc>
                  <a:txBody>
                    <a:bodyPr lIns="95250" tIns="76200" rIns="95250" bIns="57150"/>
                    <a:lstStyle/>
                    <a:p>
                      <a:r>
                        <a:rPr sz="1650" b="0">
                          <a:solidFill>
                            <a:srgbClr val="273746"/>
                          </a:solidFill>
                          <a:latin typeface="Calibri"/>
                          <a:ea typeface="Calibri"/>
                          <a:cs typeface="Calibri"/>
                        </a:rPr>
                        <a:t>Rp20 jt</a:t>
                      </a:r>
                    </a:p>
                  </a:txBody>
                  <a:tcPr marL="91440" marR="91440" marT="45720" marB="45720">
                    <a:solidFill>
                      <a:srgbClr val="FFFFFF"/>
                    </a:solidFill>
                  </a:tcPr>
                </a:tc>
                <a:tc>
                  <a:txBody>
                    <a:bodyPr lIns="95250" tIns="76200" rIns="95250" bIns="57150"/>
                    <a:lstStyle/>
                    <a:p>
                      <a:r>
                        <a:rPr sz="1650" b="0">
                          <a:solidFill>
                            <a:srgbClr val="273746"/>
                          </a:solidFill>
                          <a:latin typeface="Calibri"/>
                          <a:ea typeface="Calibri"/>
                          <a:cs typeface="Calibri"/>
                        </a:rPr>
                        <a:t>1,72</a:t>
                      </a:r>
                    </a:p>
                  </a:txBody>
                  <a:tcPr marL="91440" marR="91440" marT="45720" marB="45720">
                    <a:solidFill>
                      <a:srgbClr val="F2F2F2"/>
                    </a:solidFill>
                  </a:tcPr>
                </a:tc>
                <a:tc>
                  <a:txBody>
                    <a:bodyPr lIns="95250" tIns="76200" rIns="95250" bIns="57150"/>
                    <a:lstStyle/>
                    <a:p>
                      <a:r>
                        <a:rPr sz="1650" b="0">
                          <a:solidFill>
                            <a:srgbClr val="273746"/>
                          </a:solidFill>
                          <a:latin typeface="Calibri"/>
                          <a:ea typeface="Calibri"/>
                          <a:cs typeface="Calibri"/>
                        </a:rPr>
                        <a:t>1,96</a:t>
                      </a:r>
                    </a:p>
                  </a:txBody>
                  <a:tcPr marL="91440" marR="91440" marT="45720" marB="45720">
                    <a:solidFill>
                      <a:srgbClr val="F2F2F2"/>
                    </a:solidFill>
                  </a:tcPr>
                </a:tc>
                <a:tc>
                  <a:txBody>
                    <a:bodyPr lIns="95250" tIns="76200" rIns="95250" bIns="57150"/>
                    <a:lstStyle/>
                    <a:p>
                      <a:r>
                        <a:rPr sz="1650" b="0">
                          <a:solidFill>
                            <a:srgbClr val="273746"/>
                          </a:solidFill>
                          <a:latin typeface="Calibri"/>
                          <a:ea typeface="Calibri"/>
                          <a:cs typeface="Calibri"/>
                        </a:rPr>
                        <a:t>2,20</a:t>
                      </a:r>
                    </a:p>
                  </a:txBody>
                  <a:tcPr marL="91440" marR="91440" marT="45720" marB="45720">
                    <a:solidFill>
                      <a:srgbClr val="F2F2F2"/>
                    </a:solidFill>
                  </a:tcPr>
                </a:tc>
              </a:tr>
            </a:tbl>
          </a:graphicData>
        </a:graphic>
      </p:graphicFrame>
      <p:sp>
        <p:nvSpPr>
          <p:cNvPr id="9" name="text-151">
            <a:extLst xmlns:a="http://schemas.openxmlformats.org/drawingml/2006/main">
              <a:ext uri="{FF2B5EF4-FFF2-40B4-BE49-F238E27FC236}">
                <a16:creationId xmlns:a16="http://schemas.microsoft.com/office/drawing/2014/main" id="{8151DDCE-2F9E-4692-B476-1375D1C8CF0E}"/>
              </a:ext>
            </a:extLst>
          </p:cNvPr>
          <p:cNvSpPr>
            <a:spLocks xmlns:a="http://schemas.openxmlformats.org/drawingml/2006/main" noGrp="1"/>
          </p:cNvSpPr>
          <p:nvPr/>
        </p:nvSpPr>
        <p:spPr>
          <a:xfrm xmlns:a="http://schemas.openxmlformats.org/drawingml/2006/main">
            <a:off x="8667750" y="2333625"/>
            <a:ext cx="285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1">
                <a:solidFill>
                  <a:srgbClr val="65717D"/>
                </a:solidFill>
                <a:latin typeface="Calibri"/>
                <a:ea typeface="Calibri"/>
                <a:cs typeface="Calibri"/>
              </a:defRPr>
            </a:pPr>
            <a:r>
              <a:rPr sz="1275" b="1">
                <a:solidFill>
                  <a:srgbClr val="65717D"/>
                </a:solidFill>
                <a:latin typeface="Calibri"/>
                <a:ea typeface="Calibri"/>
                <a:cs typeface="Calibri"/>
              </a:rPr>
              <a:t>BASE CASE</a:t>
            </a:r>
          </a:p>
        </p:txBody>
      </p:sp>
      <p:sp>
        <p:nvSpPr>
          <p:cNvPr id="10" name="text-152">
            <a:extLst xmlns:a="http://schemas.openxmlformats.org/drawingml/2006/main">
              <a:ext uri="{FF2B5EF4-FFF2-40B4-BE49-F238E27FC236}">
                <a16:creationId xmlns:a16="http://schemas.microsoft.com/office/drawing/2014/main" id="{306AF551-FFB4-473B-8924-231D86E45954}"/>
              </a:ext>
            </a:extLst>
          </p:cNvPr>
          <p:cNvSpPr>
            <a:spLocks xmlns:a="http://schemas.openxmlformats.org/drawingml/2006/main" noGrp="1"/>
          </p:cNvSpPr>
          <p:nvPr/>
        </p:nvSpPr>
        <p:spPr>
          <a:xfrm xmlns:a="http://schemas.openxmlformats.org/drawingml/2006/main">
            <a:off x="8667750" y="2790825"/>
            <a:ext cx="29051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600" b="1">
                <a:solidFill>
                  <a:srgbClr val="002060"/>
                </a:solidFill>
                <a:latin typeface="Calibri"/>
                <a:ea typeface="Calibri"/>
                <a:cs typeface="Calibri"/>
              </a:defRPr>
            </a:pPr>
            <a:r>
              <a:rPr sz="3600" b="1">
                <a:solidFill>
                  <a:srgbClr val="002060"/>
                </a:solidFill>
                <a:latin typeface="Calibri"/>
                <a:ea typeface="Calibri"/>
                <a:cs typeface="Calibri"/>
              </a:rPr>
              <a:t>Rp1,46 jt</a:t>
            </a:r>
          </a:p>
        </p:txBody>
      </p:sp>
      <p:sp>
        <p:nvSpPr>
          <p:cNvPr id="11" name="text-153">
            <a:extLst xmlns:a="http://schemas.openxmlformats.org/drawingml/2006/main">
              <a:ext uri="{FF2B5EF4-FFF2-40B4-BE49-F238E27FC236}">
                <a16:creationId xmlns:a16="http://schemas.microsoft.com/office/drawing/2014/main" id="{108ECB28-193D-422F-8C66-65E04F41D5E7}"/>
              </a:ext>
            </a:extLst>
          </p:cNvPr>
          <p:cNvSpPr>
            <a:spLocks xmlns:a="http://schemas.openxmlformats.org/drawingml/2006/main" noGrp="1"/>
          </p:cNvSpPr>
          <p:nvPr/>
        </p:nvSpPr>
        <p:spPr>
          <a:xfrm xmlns:a="http://schemas.openxmlformats.org/drawingml/2006/main">
            <a:off x="8667750" y="3514725"/>
            <a:ext cx="285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273746"/>
                </a:solidFill>
                <a:latin typeface="Calibri"/>
                <a:ea typeface="Calibri"/>
                <a:cs typeface="Calibri"/>
              </a:defRPr>
            </a:pPr>
            <a:r>
              <a:rPr sz="1650" b="0">
                <a:solidFill>
                  <a:srgbClr val="273746"/>
                </a:solidFill>
                <a:latin typeface="Calibri"/>
                <a:ea typeface="Calibri"/>
                <a:cs typeface="Calibri"/>
              </a:rPr>
              <a:t>BEP inti per seat</a:t>
            </a:r>
          </a:p>
        </p:txBody>
      </p:sp>
      <p:sp>
        <p:nvSpPr>
          <p:cNvPr id="12" name="text-154">
            <a:extLst xmlns:a="http://schemas.openxmlformats.org/drawingml/2006/main">
              <a:ext uri="{FF2B5EF4-FFF2-40B4-BE49-F238E27FC236}">
                <a16:creationId xmlns:a16="http://schemas.microsoft.com/office/drawing/2014/main" id="{BE9A3070-BB7D-4A32-9925-4E5FAB27AF2D}"/>
              </a:ext>
            </a:extLst>
          </p:cNvPr>
          <p:cNvSpPr>
            <a:spLocks xmlns:a="http://schemas.openxmlformats.org/drawingml/2006/main" noGrp="1"/>
          </p:cNvSpPr>
          <p:nvPr/>
        </p:nvSpPr>
        <p:spPr>
          <a:xfrm xmlns:a="http://schemas.openxmlformats.org/drawingml/2006/main">
            <a:off x="8667750" y="4019550"/>
            <a:ext cx="28575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273746"/>
                </a:solidFill>
                <a:latin typeface="Calibri"/>
                <a:ea typeface="Calibri"/>
                <a:cs typeface="Calibri"/>
              </a:defRPr>
            </a:pPr>
            <a:r>
              <a:rPr sz="1725" b="0">
                <a:solidFill>
                  <a:srgbClr val="273746"/>
                </a:solidFill>
                <a:latin typeface="Calibri"/>
                <a:ea typeface="Calibri"/>
                <a:cs typeface="Calibri"/>
              </a:rPr>
              <a:t>Harga member Rp1,5 jt</a:t>
            </a:r>
          </a:p>
        </p:txBody>
      </p:sp>
      <p:sp>
        <p:nvSpPr>
          <p:cNvPr id="13" name="text-155">
            <a:extLst xmlns:a="http://schemas.openxmlformats.org/drawingml/2006/main">
              <a:ext uri="{FF2B5EF4-FFF2-40B4-BE49-F238E27FC236}">
                <a16:creationId xmlns:a16="http://schemas.microsoft.com/office/drawing/2014/main" id="{017DC6C6-2330-45AF-8DF0-0A52A06048D0}"/>
              </a:ext>
            </a:extLst>
          </p:cNvPr>
          <p:cNvSpPr>
            <a:spLocks xmlns:a="http://schemas.openxmlformats.org/drawingml/2006/main" noGrp="1"/>
          </p:cNvSpPr>
          <p:nvPr/>
        </p:nvSpPr>
        <p:spPr>
          <a:xfrm xmlns:a="http://schemas.openxmlformats.org/drawingml/2006/main">
            <a:off x="8667750" y="4514850"/>
            <a:ext cx="285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A27D42"/>
                </a:solidFill>
                <a:latin typeface="Calibri"/>
                <a:ea typeface="Calibri"/>
                <a:cs typeface="Calibri"/>
              </a:defRPr>
            </a:pPr>
            <a:r>
              <a:rPr sz="3300" b="1">
                <a:solidFill>
                  <a:srgbClr val="A27D42"/>
                </a:solidFill>
                <a:latin typeface="Calibri"/>
                <a:ea typeface="Calibri"/>
                <a:cs typeface="Calibri"/>
              </a:rPr>
              <a:t>Rp40 rb</a:t>
            </a:r>
          </a:p>
        </p:txBody>
      </p:sp>
      <p:sp>
        <p:nvSpPr>
          <p:cNvPr id="14" name="text-156">
            <a:extLst xmlns:a="http://schemas.openxmlformats.org/drawingml/2006/main">
              <a:ext uri="{FF2B5EF4-FFF2-40B4-BE49-F238E27FC236}">
                <a16:creationId xmlns:a16="http://schemas.microsoft.com/office/drawing/2014/main" id="{24ECFE59-583A-4476-9EF1-B2718D3E83DE}"/>
              </a:ext>
            </a:extLst>
          </p:cNvPr>
          <p:cNvSpPr>
            <a:spLocks xmlns:a="http://schemas.openxmlformats.org/drawingml/2006/main" noGrp="1"/>
          </p:cNvSpPr>
          <p:nvPr/>
        </p:nvSpPr>
        <p:spPr>
          <a:xfrm xmlns:a="http://schemas.openxmlformats.org/drawingml/2006/main">
            <a:off x="8667750" y="5162550"/>
            <a:ext cx="2714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0">
                <a:solidFill>
                  <a:srgbClr val="65717D"/>
                </a:solidFill>
                <a:latin typeface="Calibri"/>
                <a:ea typeface="Calibri"/>
                <a:cs typeface="Calibri"/>
              </a:defRPr>
            </a:pPr>
            <a:r>
              <a:rPr sz="1425" b="0">
                <a:solidFill>
                  <a:srgbClr val="65717D"/>
                </a:solidFill>
                <a:latin typeface="Calibri"/>
                <a:ea typeface="Calibri"/>
                <a:cs typeface="Calibri"/>
              </a:rPr>
              <a:t>sisa per seat sebelum biaya lain</a:t>
            </a:r>
          </a:p>
        </p:txBody>
      </p:sp>
      <p:sp>
        <p:nvSpPr>
          <p:cNvPr id="15" name="">
            <a:extLst xmlns:a="http://schemas.openxmlformats.org/drawingml/2006/main">
              <a:ext uri="{FF2B5EF4-FFF2-40B4-BE49-F238E27FC236}">
                <a16:creationId xmlns:a16="http://schemas.microsoft.com/office/drawing/2014/main" id="{C554AD99-07B7-4CAD-A19B-41BA57981CD3}"/>
              </a:ext>
            </a:extLst>
          </p:cNvPr>
          <p:cNvSpPr>
            <a:spLocks xmlns:a="http://schemas.openxmlformats.org/drawingml/2006/main" noGrp="1"/>
          </p:cNvSpPr>
          <p:nvPr/>
        </p:nvSpPr>
        <p:spPr>
          <a:xfrm xmlns:a="http://schemas.openxmlformats.org/drawingml/2006/main">
            <a:off x="609600" y="5762625"/>
            <a:ext cx="10972800" cy="0"/>
          </a:xfrm>
          <a:prstGeom xmlns:a="http://schemas.openxmlformats.org/drawingml/2006/main" prst="line">
            <a:avLst/>
          </a:prstGeom>
          <a:noFill xmlns:a="http://schemas.openxmlformats.org/drawingml/2006/main"/>
          <a:ln xmlns:a="http://schemas.openxmlformats.org/drawingml/2006/main" w="9525">
            <a:solidFill>
              <a:srgbClr val="DCE2E8"/>
            </a:solidFill>
          </a:ln>
        </p:spPr>
      </p:sp>
      <p:sp>
        <p:nvSpPr>
          <p:cNvPr id="16" name="text-157">
            <a:extLst xmlns:a="http://schemas.openxmlformats.org/drawingml/2006/main">
              <a:ext uri="{FF2B5EF4-FFF2-40B4-BE49-F238E27FC236}">
                <a16:creationId xmlns:a16="http://schemas.microsoft.com/office/drawing/2014/main" id="{96DE3433-4B24-4E30-9046-522C193C5A83}"/>
              </a:ext>
            </a:extLst>
          </p:cNvPr>
          <p:cNvSpPr>
            <a:spLocks xmlns:a="http://schemas.openxmlformats.org/drawingml/2006/main" noGrp="1"/>
          </p:cNvSpPr>
          <p:nvPr/>
        </p:nvSpPr>
        <p:spPr>
          <a:xfrm xmlns:a="http://schemas.openxmlformats.org/drawingml/2006/main">
            <a:off x="609600" y="5953125"/>
            <a:ext cx="109061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002060"/>
                </a:solidFill>
                <a:latin typeface="Calibri"/>
                <a:ea typeface="Calibri"/>
                <a:cs typeface="Calibri"/>
              </a:defRPr>
            </a:pPr>
            <a:r>
              <a:rPr sz="1650" b="1">
                <a:solidFill>
                  <a:srgbClr val="002060"/>
                </a:solidFill>
                <a:latin typeface="Calibri"/>
                <a:ea typeface="Calibri"/>
                <a:cs typeface="Calibri"/>
              </a:rPr>
              <a:t>Harga member butuh kontrol biaya, sponsor, atau mix peserta public.</a:t>
            </a:r>
          </a:p>
        </p:txBody>
      </p:sp>
    </p:spTree>
    <p:extLst>
      <p:ext uri="{BB962C8B-B14F-4D97-AF65-F5344CB8AC3E}">
        <p14:creationId xmlns:p14="http://schemas.microsoft.com/office/powerpoint/2010/main" val="1159602089"/>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text-158">
            <a:extLst xmlns:a="http://schemas.openxmlformats.org/drawingml/2006/main">
              <a:ext uri="{FF2B5EF4-FFF2-40B4-BE49-F238E27FC236}">
                <a16:creationId xmlns:a16="http://schemas.microsoft.com/office/drawing/2014/main" id="{4DB3A32A-5825-465D-9BD6-FB2537FE5DFC}"/>
              </a:ext>
            </a:extLst>
          </p:cNvPr>
          <p:cNvSpPr>
            <a:spLocks xmlns:a="http://schemas.openxmlformats.org/drawingml/2006/main" noGrp="1"/>
          </p:cNvSpPr>
          <p:nvPr/>
        </p:nvSpPr>
        <p:spPr>
          <a:xfrm xmlns:a="http://schemas.openxmlformats.org/drawingml/2006/main">
            <a:off x="609600" y="333375"/>
            <a:ext cx="1066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65717D"/>
                </a:solidFill>
                <a:latin typeface="Calibri"/>
                <a:ea typeface="Calibri"/>
                <a:cs typeface="Calibri"/>
              </a:defRPr>
            </a:pPr>
            <a:r>
              <a:rPr sz="1050" b="1">
                <a:solidFill>
                  <a:srgbClr val="65717D"/>
                </a:solidFill>
                <a:latin typeface="Calibri"/>
                <a:ea typeface="Calibri"/>
                <a:cs typeface="Calibri"/>
              </a:rPr>
              <a:t>PERSIAPAN PILOT</a:t>
            </a:r>
          </a:p>
        </p:txBody>
      </p:sp>
      <p:sp>
        <p:nvSpPr>
          <p:cNvPr id="2" name="text-159">
            <a:extLst xmlns:a="http://schemas.openxmlformats.org/drawingml/2006/main">
              <a:ext uri="{FF2B5EF4-FFF2-40B4-BE49-F238E27FC236}">
                <a16:creationId xmlns:a16="http://schemas.microsoft.com/office/drawing/2014/main" id="{DD76CD61-27E1-4C80-9E55-5E4FFF843FAD}"/>
              </a:ext>
            </a:extLst>
          </p:cNvPr>
          <p:cNvSpPr>
            <a:spLocks xmlns:a="http://schemas.openxmlformats.org/drawingml/2006/main" noGrp="1"/>
          </p:cNvSpPr>
          <p:nvPr/>
        </p:nvSpPr>
        <p:spPr>
          <a:xfrm xmlns:a="http://schemas.openxmlformats.org/drawingml/2006/main">
            <a:off x="609600" y="723900"/>
            <a:ext cx="10858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925" b="1">
                <a:solidFill>
                  <a:srgbClr val="002060"/>
                </a:solidFill>
                <a:latin typeface="Calibri"/>
                <a:ea typeface="Calibri"/>
                <a:cs typeface="Calibri"/>
              </a:defRPr>
            </a:pPr>
            <a:r>
              <a:rPr sz="2925" b="1">
                <a:solidFill>
                  <a:srgbClr val="002060"/>
                </a:solidFill>
                <a:latin typeface="Calibri"/>
                <a:ea typeface="Calibri"/>
                <a:cs typeface="Calibri"/>
              </a:rPr>
              <a:t>Empat keputusan menentukan kesiapan pilot dan premium tier</a:t>
            </a:r>
          </a:p>
        </p:txBody>
      </p:sp>
      <p:sp>
        <p:nvSpPr>
          <p:cNvPr id="3" name="text-160">
            <a:extLst xmlns:a="http://schemas.openxmlformats.org/drawingml/2006/main">
              <a:ext uri="{FF2B5EF4-FFF2-40B4-BE49-F238E27FC236}">
                <a16:creationId xmlns:a16="http://schemas.microsoft.com/office/drawing/2014/main" id="{9BEA8D36-7152-4DA4-AC72-96CC863CAE35}"/>
              </a:ext>
            </a:extLst>
          </p:cNvPr>
          <p:cNvSpPr>
            <a:spLocks xmlns:a="http://schemas.openxmlformats.org/drawingml/2006/main" noGrp="1"/>
          </p:cNvSpPr>
          <p:nvPr/>
        </p:nvSpPr>
        <p:spPr>
          <a:xfrm xmlns:a="http://schemas.openxmlformats.org/drawingml/2006/main">
            <a:off x="609600" y="1666875"/>
            <a:ext cx="10858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65717D"/>
                </a:solidFill>
                <a:latin typeface="Calibri"/>
                <a:ea typeface="Calibri"/>
                <a:cs typeface="Calibri"/>
              </a:defRPr>
            </a:pPr>
            <a:r>
              <a:rPr sz="1500" b="0">
                <a:solidFill>
                  <a:srgbClr val="65717D"/>
                </a:solidFill>
                <a:latin typeface="Calibri"/>
                <a:ea typeface="Calibri"/>
                <a:cs typeface="Calibri"/>
              </a:rPr>
              <a:t>Angka budget tersedia. Kontrak, vendor, dan model sertifikasi masih perlu dikunci.</a:t>
            </a:r>
          </a:p>
        </p:txBody>
      </p:sp>
      <p:sp>
        <p:nvSpPr>
          <p:cNvPr id="4" name="">
            <a:extLst xmlns:a="http://schemas.openxmlformats.org/drawingml/2006/main">
              <a:ext uri="{FF2B5EF4-FFF2-40B4-BE49-F238E27FC236}">
                <a16:creationId xmlns:a16="http://schemas.microsoft.com/office/drawing/2014/main" id="{2E46BBFD-9581-40C4-B73F-A605CD7C0587}"/>
              </a:ext>
            </a:extLst>
          </p:cNvPr>
          <p:cNvSpPr>
            <a:spLocks xmlns:a="http://schemas.openxmlformats.org/drawingml/2006/main" noGrp="1"/>
          </p:cNvSpPr>
          <p:nvPr/>
        </p:nvSpPr>
        <p:spPr>
          <a:xfrm xmlns:a="http://schemas.openxmlformats.org/drawingml/2006/main">
            <a:off x="609600" y="6381750"/>
            <a:ext cx="10972800" cy="0"/>
          </a:xfrm>
          <a:prstGeom xmlns:a="http://schemas.openxmlformats.org/drawingml/2006/main" prst="line">
            <a:avLst/>
          </a:prstGeom>
          <a:noFill xmlns:a="http://schemas.openxmlformats.org/drawingml/2006/main"/>
          <a:ln xmlns:a="http://schemas.openxmlformats.org/drawingml/2006/main" w="9525">
            <a:solidFill>
              <a:srgbClr val="DCE2E8"/>
            </a:solidFill>
          </a:ln>
        </p:spPr>
      </p:sp>
      <p:sp>
        <p:nvSpPr>
          <p:cNvPr id="5" name="text-161">
            <a:extLst xmlns:a="http://schemas.openxmlformats.org/drawingml/2006/main">
              <a:ext uri="{FF2B5EF4-FFF2-40B4-BE49-F238E27FC236}">
                <a16:creationId xmlns:a16="http://schemas.microsoft.com/office/drawing/2014/main" id="{6DF99708-7056-4672-AA28-2D574E8AFA44}"/>
              </a:ext>
            </a:extLst>
          </p:cNvPr>
          <p:cNvSpPr>
            <a:spLocks xmlns:a="http://schemas.openxmlformats.org/drawingml/2006/main" noGrp="1"/>
          </p:cNvSpPr>
          <p:nvPr/>
        </p:nvSpPr>
        <p:spPr>
          <a:xfrm xmlns:a="http://schemas.openxmlformats.org/drawingml/2006/main">
            <a:off x="609600" y="6505575"/>
            <a:ext cx="10191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825" b="0">
                <a:solidFill>
                  <a:srgbClr val="65717D"/>
                </a:solidFill>
                <a:latin typeface="Calibri"/>
                <a:ea typeface="Calibri"/>
                <a:cs typeface="Calibri"/>
              </a:defRPr>
            </a:pPr>
            <a:r>
              <a:rPr sz="825" b="0">
                <a:solidFill>
                  <a:srgbClr val="65717D"/>
                </a:solidFill>
                <a:latin typeface="Calibri"/>
                <a:ea typeface="Calibri"/>
                <a:cs typeface="Calibri"/>
              </a:rPr>
              <a:t>CMC internal, Oktober 2026. Angka usulan mengikuti deck sumber.</a:t>
            </a:r>
          </a:p>
        </p:txBody>
      </p:sp>
      <p:sp>
        <p:nvSpPr>
          <p:cNvPr id="6" name="text-162">
            <a:extLst xmlns:a="http://schemas.openxmlformats.org/drawingml/2006/main">
              <a:ext uri="{FF2B5EF4-FFF2-40B4-BE49-F238E27FC236}">
                <a16:creationId xmlns:a16="http://schemas.microsoft.com/office/drawing/2014/main" id="{A860BAF8-7356-40DF-B243-D66F78E7D687}"/>
              </a:ext>
            </a:extLst>
          </p:cNvPr>
          <p:cNvSpPr>
            <a:spLocks xmlns:a="http://schemas.openxmlformats.org/drawingml/2006/main" noGrp="1"/>
          </p:cNvSpPr>
          <p:nvPr/>
        </p:nvSpPr>
        <p:spPr>
          <a:xfrm xmlns:a="http://schemas.openxmlformats.org/drawingml/2006/main">
            <a:off x="11125200" y="6486525"/>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002060"/>
                </a:solidFill>
                <a:latin typeface="Calibri"/>
                <a:ea typeface="Calibri"/>
                <a:cs typeface="Calibri"/>
              </a:defRPr>
            </a:pPr>
            <a:r>
              <a:rPr sz="1050" b="1">
                <a:solidFill>
                  <a:srgbClr val="002060"/>
                </a:solidFill>
                <a:latin typeface="Calibri"/>
                <a:ea typeface="Calibri"/>
                <a:cs typeface="Calibri"/>
              </a:rPr>
              <a:t>11</a:t>
            </a:r>
          </a:p>
        </p:txBody>
      </p:sp>
      <p:sp>
        <p:nvSpPr>
          <p:cNvPr id="7" name="text-163">
            <a:extLst xmlns:a="http://schemas.openxmlformats.org/drawingml/2006/main">
              <a:ext uri="{FF2B5EF4-FFF2-40B4-BE49-F238E27FC236}">
                <a16:creationId xmlns:a16="http://schemas.microsoft.com/office/drawing/2014/main" id="{2AEAE817-0D0B-4BAB-8874-FC268D12AC86}"/>
              </a:ext>
            </a:extLst>
          </p:cNvPr>
          <p:cNvSpPr>
            <a:spLocks xmlns:a="http://schemas.openxmlformats.org/drawingml/2006/main" noGrp="1"/>
          </p:cNvSpPr>
          <p:nvPr/>
        </p:nvSpPr>
        <p:spPr>
          <a:xfrm xmlns:a="http://schemas.openxmlformats.org/drawingml/2006/main">
            <a:off x="609600" y="2390775"/>
            <a:ext cx="2095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002060"/>
                </a:solidFill>
                <a:latin typeface="Calibri"/>
                <a:ea typeface="Calibri"/>
                <a:cs typeface="Calibri"/>
              </a:defRPr>
            </a:pPr>
            <a:r>
              <a:rPr sz="2025" b="1">
                <a:solidFill>
                  <a:srgbClr val="002060"/>
                </a:solidFill>
                <a:latin typeface="Calibri"/>
                <a:ea typeface="Calibri"/>
                <a:cs typeface="Calibri"/>
              </a:rPr>
              <a:t>Zoom</a:t>
            </a:r>
          </a:p>
        </p:txBody>
      </p:sp>
      <p:sp>
        <p:nvSpPr>
          <p:cNvPr id="8" name="text-164">
            <a:extLst xmlns:a="http://schemas.openxmlformats.org/drawingml/2006/main">
              <a:ext uri="{FF2B5EF4-FFF2-40B4-BE49-F238E27FC236}">
                <a16:creationId xmlns:a16="http://schemas.microsoft.com/office/drawing/2014/main" id="{44D0F905-BC6E-47B1-B2D5-3B0E8FA1B540}"/>
              </a:ext>
            </a:extLst>
          </p:cNvPr>
          <p:cNvSpPr>
            <a:spLocks xmlns:a="http://schemas.openxmlformats.org/drawingml/2006/main" noGrp="1"/>
          </p:cNvSpPr>
          <p:nvPr/>
        </p:nvSpPr>
        <p:spPr>
          <a:xfrm xmlns:a="http://schemas.openxmlformats.org/drawingml/2006/main">
            <a:off x="3143250" y="2390775"/>
            <a:ext cx="323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273746"/>
                </a:solidFill>
                <a:latin typeface="Calibri"/>
                <a:ea typeface="Calibri"/>
                <a:cs typeface="Calibri"/>
              </a:defRPr>
            </a:pPr>
            <a:r>
              <a:rPr sz="1950" b="1">
                <a:solidFill>
                  <a:srgbClr val="273746"/>
                </a:solidFill>
                <a:latin typeface="Calibri"/>
                <a:ea typeface="Calibri"/>
                <a:cs typeface="Calibri"/>
              </a:rPr>
              <a:t>Rp350 rb / sesi</a:t>
            </a:r>
          </a:p>
        </p:txBody>
      </p:sp>
      <p:sp>
        <p:nvSpPr>
          <p:cNvPr id="9" name="text-165">
            <a:extLst xmlns:a="http://schemas.openxmlformats.org/drawingml/2006/main">
              <a:ext uri="{FF2B5EF4-FFF2-40B4-BE49-F238E27FC236}">
                <a16:creationId xmlns:a16="http://schemas.microsoft.com/office/drawing/2014/main" id="{2D74BB0A-5501-4A20-A03C-C5D850631CCC}"/>
              </a:ext>
            </a:extLst>
          </p:cNvPr>
          <p:cNvSpPr>
            <a:spLocks xmlns:a="http://schemas.openxmlformats.org/drawingml/2006/main" noGrp="1"/>
          </p:cNvSpPr>
          <p:nvPr/>
        </p:nvSpPr>
        <p:spPr>
          <a:xfrm xmlns:a="http://schemas.openxmlformats.org/drawingml/2006/main">
            <a:off x="6858000" y="2390775"/>
            <a:ext cx="46482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65717D"/>
                </a:solidFill>
                <a:latin typeface="Calibri"/>
                <a:ea typeface="Calibri"/>
                <a:cs typeface="Calibri"/>
              </a:defRPr>
            </a:pPr>
            <a:r>
              <a:rPr sz="1725" b="0">
                <a:solidFill>
                  <a:srgbClr val="65717D"/>
                </a:solidFill>
                <a:latin typeface="Calibri"/>
                <a:ea typeface="Calibri"/>
                <a:cs typeface="Calibri"/>
              </a:rPr>
              <a:t>Quotation + format + kapasitas + 8 tanggal</a:t>
            </a:r>
          </a:p>
        </p:txBody>
      </p:sp>
      <p:sp>
        <p:nvSpPr>
          <p:cNvPr id="10" name="">
            <a:extLst xmlns:a="http://schemas.openxmlformats.org/drawingml/2006/main">
              <a:ext uri="{FF2B5EF4-FFF2-40B4-BE49-F238E27FC236}">
                <a16:creationId xmlns:a16="http://schemas.microsoft.com/office/drawing/2014/main" id="{FB5266D4-B75C-4DFF-85D8-4B6A527F6D01}"/>
              </a:ext>
            </a:extLst>
          </p:cNvPr>
          <p:cNvSpPr>
            <a:spLocks xmlns:a="http://schemas.openxmlformats.org/drawingml/2006/main" noGrp="1"/>
          </p:cNvSpPr>
          <p:nvPr/>
        </p:nvSpPr>
        <p:spPr>
          <a:xfrm xmlns:a="http://schemas.openxmlformats.org/drawingml/2006/main">
            <a:off x="609600" y="3009900"/>
            <a:ext cx="10972800" cy="0"/>
          </a:xfrm>
          <a:prstGeom xmlns:a="http://schemas.openxmlformats.org/drawingml/2006/main" prst="line">
            <a:avLst/>
          </a:prstGeom>
          <a:noFill xmlns:a="http://schemas.openxmlformats.org/drawingml/2006/main"/>
          <a:ln xmlns:a="http://schemas.openxmlformats.org/drawingml/2006/main" w="9525">
            <a:solidFill>
              <a:srgbClr val="DCE2E8"/>
            </a:solidFill>
          </a:ln>
        </p:spPr>
      </p:sp>
      <p:sp>
        <p:nvSpPr>
          <p:cNvPr id="11" name="text-166">
            <a:extLst xmlns:a="http://schemas.openxmlformats.org/drawingml/2006/main">
              <a:ext uri="{FF2B5EF4-FFF2-40B4-BE49-F238E27FC236}">
                <a16:creationId xmlns:a16="http://schemas.microsoft.com/office/drawing/2014/main" id="{57911567-1D36-42EF-A8C7-6F1AD5323883}"/>
              </a:ext>
            </a:extLst>
          </p:cNvPr>
          <p:cNvSpPr>
            <a:spLocks xmlns:a="http://schemas.openxmlformats.org/drawingml/2006/main" noGrp="1"/>
          </p:cNvSpPr>
          <p:nvPr/>
        </p:nvSpPr>
        <p:spPr>
          <a:xfrm xmlns:a="http://schemas.openxmlformats.org/drawingml/2006/main">
            <a:off x="609600" y="3152775"/>
            <a:ext cx="2095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002060"/>
                </a:solidFill>
                <a:latin typeface="Calibri"/>
                <a:ea typeface="Calibri"/>
                <a:cs typeface="Calibri"/>
              </a:defRPr>
            </a:pPr>
            <a:r>
              <a:rPr sz="2025" b="1">
                <a:solidFill>
                  <a:srgbClr val="002060"/>
                </a:solidFill>
                <a:latin typeface="Calibri"/>
                <a:ea typeface="Calibri"/>
                <a:cs typeface="Calibri"/>
              </a:rPr>
              <a:t>Speaker</a:t>
            </a:r>
          </a:p>
        </p:txBody>
      </p:sp>
      <p:sp>
        <p:nvSpPr>
          <p:cNvPr id="12" name="text-167">
            <a:extLst xmlns:a="http://schemas.openxmlformats.org/drawingml/2006/main">
              <a:ext uri="{FF2B5EF4-FFF2-40B4-BE49-F238E27FC236}">
                <a16:creationId xmlns:a16="http://schemas.microsoft.com/office/drawing/2014/main" id="{4236A8C7-15E5-4EDA-AEAF-3BF9796810BB}"/>
              </a:ext>
            </a:extLst>
          </p:cNvPr>
          <p:cNvSpPr>
            <a:spLocks xmlns:a="http://schemas.openxmlformats.org/drawingml/2006/main" noGrp="1"/>
          </p:cNvSpPr>
          <p:nvPr/>
        </p:nvSpPr>
        <p:spPr>
          <a:xfrm xmlns:a="http://schemas.openxmlformats.org/drawingml/2006/main">
            <a:off x="3143250" y="3152775"/>
            <a:ext cx="323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273746"/>
                </a:solidFill>
                <a:latin typeface="Calibri"/>
                <a:ea typeface="Calibri"/>
                <a:cs typeface="Calibri"/>
              </a:defRPr>
            </a:pPr>
            <a:r>
              <a:rPr sz="1950" b="1">
                <a:solidFill>
                  <a:srgbClr val="273746"/>
                </a:solidFill>
                <a:latin typeface="Calibri"/>
                <a:ea typeface="Calibri"/>
                <a:cs typeface="Calibri"/>
              </a:rPr>
              <a:t>Rp3–5 jt / sesi</a:t>
            </a:r>
          </a:p>
        </p:txBody>
      </p:sp>
      <p:sp>
        <p:nvSpPr>
          <p:cNvPr id="13" name="text-168">
            <a:extLst xmlns:a="http://schemas.openxmlformats.org/drawingml/2006/main">
              <a:ext uri="{FF2B5EF4-FFF2-40B4-BE49-F238E27FC236}">
                <a16:creationId xmlns:a16="http://schemas.microsoft.com/office/drawing/2014/main" id="{8485A8CF-FBF2-4BC9-9B1A-B6D8E09534A9}"/>
              </a:ext>
            </a:extLst>
          </p:cNvPr>
          <p:cNvSpPr>
            <a:spLocks xmlns:a="http://schemas.openxmlformats.org/drawingml/2006/main" noGrp="1"/>
          </p:cNvSpPr>
          <p:nvPr/>
        </p:nvSpPr>
        <p:spPr>
          <a:xfrm xmlns:a="http://schemas.openxmlformats.org/drawingml/2006/main">
            <a:off x="6858000" y="3152775"/>
            <a:ext cx="46482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65717D"/>
                </a:solidFill>
                <a:latin typeface="Calibri"/>
                <a:ea typeface="Calibri"/>
                <a:cs typeface="Calibri"/>
              </a:defRPr>
            </a:pPr>
            <a:r>
              <a:rPr sz="1725" b="0">
                <a:solidFill>
                  <a:srgbClr val="65717D"/>
                </a:solidFill>
                <a:latin typeface="Calibri"/>
                <a:ea typeface="Calibri"/>
                <a:cs typeface="Calibri"/>
              </a:rPr>
              <a:t>Gross/nett + pajak + hak recording</a:t>
            </a:r>
          </a:p>
        </p:txBody>
      </p:sp>
      <p:sp>
        <p:nvSpPr>
          <p:cNvPr id="14" name="">
            <a:extLst xmlns:a="http://schemas.openxmlformats.org/drawingml/2006/main">
              <a:ext uri="{FF2B5EF4-FFF2-40B4-BE49-F238E27FC236}">
                <a16:creationId xmlns:a16="http://schemas.microsoft.com/office/drawing/2014/main" id="{0010D3AC-1CBB-444B-BEAE-43882E443140}"/>
              </a:ext>
            </a:extLst>
          </p:cNvPr>
          <p:cNvSpPr>
            <a:spLocks xmlns:a="http://schemas.openxmlformats.org/drawingml/2006/main" noGrp="1"/>
          </p:cNvSpPr>
          <p:nvPr/>
        </p:nvSpPr>
        <p:spPr>
          <a:xfrm xmlns:a="http://schemas.openxmlformats.org/drawingml/2006/main">
            <a:off x="609600" y="3771900"/>
            <a:ext cx="10972800" cy="0"/>
          </a:xfrm>
          <a:prstGeom xmlns:a="http://schemas.openxmlformats.org/drawingml/2006/main" prst="line">
            <a:avLst/>
          </a:prstGeom>
          <a:noFill xmlns:a="http://schemas.openxmlformats.org/drawingml/2006/main"/>
          <a:ln xmlns:a="http://schemas.openxmlformats.org/drawingml/2006/main" w="9525">
            <a:solidFill>
              <a:srgbClr val="DCE2E8"/>
            </a:solidFill>
          </a:ln>
        </p:spPr>
      </p:sp>
      <p:sp>
        <p:nvSpPr>
          <p:cNvPr id="15" name="text-169">
            <a:extLst xmlns:a="http://schemas.openxmlformats.org/drawingml/2006/main">
              <a:ext uri="{FF2B5EF4-FFF2-40B4-BE49-F238E27FC236}">
                <a16:creationId xmlns:a16="http://schemas.microsoft.com/office/drawing/2014/main" id="{CC528EA9-E83F-45E5-A59F-258521BB6E08}"/>
              </a:ext>
            </a:extLst>
          </p:cNvPr>
          <p:cNvSpPr>
            <a:spLocks xmlns:a="http://schemas.openxmlformats.org/drawingml/2006/main" noGrp="1"/>
          </p:cNvSpPr>
          <p:nvPr/>
        </p:nvSpPr>
        <p:spPr>
          <a:xfrm xmlns:a="http://schemas.openxmlformats.org/drawingml/2006/main">
            <a:off x="609600" y="3914775"/>
            <a:ext cx="2095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002060"/>
                </a:solidFill>
                <a:latin typeface="Calibri"/>
                <a:ea typeface="Calibri"/>
                <a:cs typeface="Calibri"/>
              </a:defRPr>
            </a:pPr>
            <a:r>
              <a:rPr sz="2025" b="1">
                <a:solidFill>
                  <a:srgbClr val="002060"/>
                </a:solidFill>
                <a:latin typeface="Calibri"/>
                <a:ea typeface="Calibri"/>
                <a:cs typeface="Calibri"/>
              </a:rPr>
              <a:t>Dinner</a:t>
            </a:r>
          </a:p>
        </p:txBody>
      </p:sp>
      <p:sp>
        <p:nvSpPr>
          <p:cNvPr id="16" name="text-170">
            <a:extLst xmlns:a="http://schemas.openxmlformats.org/drawingml/2006/main">
              <a:ext uri="{FF2B5EF4-FFF2-40B4-BE49-F238E27FC236}">
                <a16:creationId xmlns:a16="http://schemas.microsoft.com/office/drawing/2014/main" id="{6820E5A3-7E88-4CE4-AB5D-0D61D20D265A}"/>
              </a:ext>
            </a:extLst>
          </p:cNvPr>
          <p:cNvSpPr>
            <a:spLocks xmlns:a="http://schemas.openxmlformats.org/drawingml/2006/main" noGrp="1"/>
          </p:cNvSpPr>
          <p:nvPr/>
        </p:nvSpPr>
        <p:spPr>
          <a:xfrm xmlns:a="http://schemas.openxmlformats.org/drawingml/2006/main">
            <a:off x="3143250" y="3914775"/>
            <a:ext cx="323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273746"/>
                </a:solidFill>
                <a:latin typeface="Calibri"/>
                <a:ea typeface="Calibri"/>
                <a:cs typeface="Calibri"/>
              </a:defRPr>
            </a:pPr>
            <a:r>
              <a:rPr sz="1950" b="1">
                <a:solidFill>
                  <a:srgbClr val="273746"/>
                </a:solidFill>
                <a:latin typeface="Calibri"/>
                <a:ea typeface="Calibri"/>
                <a:cs typeface="Calibri"/>
              </a:rPr>
              <a:t>BEP inti Rp1,46 jt</a:t>
            </a:r>
          </a:p>
        </p:txBody>
      </p:sp>
      <p:sp>
        <p:nvSpPr>
          <p:cNvPr id="17" name="text-171">
            <a:extLst xmlns:a="http://schemas.openxmlformats.org/drawingml/2006/main">
              <a:ext uri="{FF2B5EF4-FFF2-40B4-BE49-F238E27FC236}">
                <a16:creationId xmlns:a16="http://schemas.microsoft.com/office/drawing/2014/main" id="{A79FE295-D73E-4081-A0AD-305772E7F953}"/>
              </a:ext>
            </a:extLst>
          </p:cNvPr>
          <p:cNvSpPr>
            <a:spLocks xmlns:a="http://schemas.openxmlformats.org/drawingml/2006/main" noGrp="1"/>
          </p:cNvSpPr>
          <p:nvPr/>
        </p:nvSpPr>
        <p:spPr>
          <a:xfrm xmlns:a="http://schemas.openxmlformats.org/drawingml/2006/main">
            <a:off x="6858000" y="3914775"/>
            <a:ext cx="46482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65717D"/>
                </a:solidFill>
                <a:latin typeface="Calibri"/>
                <a:ea typeface="Calibri"/>
                <a:cs typeface="Calibri"/>
              </a:defRPr>
            </a:pPr>
            <a:r>
              <a:rPr sz="1725" b="0">
                <a:solidFill>
                  <a:srgbClr val="65717D"/>
                </a:solidFill>
                <a:latin typeface="Calibri"/>
                <a:ea typeface="Calibri"/>
                <a:cs typeface="Calibri"/>
              </a:rPr>
              <a:t>Fee Master + quotation venue + biaya lain</a:t>
            </a:r>
          </a:p>
        </p:txBody>
      </p:sp>
      <p:sp>
        <p:nvSpPr>
          <p:cNvPr id="18" name="">
            <a:extLst xmlns:a="http://schemas.openxmlformats.org/drawingml/2006/main">
              <a:ext uri="{FF2B5EF4-FFF2-40B4-BE49-F238E27FC236}">
                <a16:creationId xmlns:a16="http://schemas.microsoft.com/office/drawing/2014/main" id="{8442F10D-BDF1-4C08-B7EE-4A3B892E0F04}"/>
              </a:ext>
            </a:extLst>
          </p:cNvPr>
          <p:cNvSpPr>
            <a:spLocks xmlns:a="http://schemas.openxmlformats.org/drawingml/2006/main" noGrp="1"/>
          </p:cNvSpPr>
          <p:nvPr/>
        </p:nvSpPr>
        <p:spPr>
          <a:xfrm xmlns:a="http://schemas.openxmlformats.org/drawingml/2006/main">
            <a:off x="609600" y="4533900"/>
            <a:ext cx="10972800" cy="0"/>
          </a:xfrm>
          <a:prstGeom xmlns:a="http://schemas.openxmlformats.org/drawingml/2006/main" prst="line">
            <a:avLst/>
          </a:prstGeom>
          <a:noFill xmlns:a="http://schemas.openxmlformats.org/drawingml/2006/main"/>
          <a:ln xmlns:a="http://schemas.openxmlformats.org/drawingml/2006/main" w="9525">
            <a:solidFill>
              <a:srgbClr val="DCE2E8"/>
            </a:solidFill>
          </a:ln>
        </p:spPr>
      </p:sp>
      <p:sp>
        <p:nvSpPr>
          <p:cNvPr id="19" name="text-172">
            <a:extLst xmlns:a="http://schemas.openxmlformats.org/drawingml/2006/main">
              <a:ext uri="{FF2B5EF4-FFF2-40B4-BE49-F238E27FC236}">
                <a16:creationId xmlns:a16="http://schemas.microsoft.com/office/drawing/2014/main" id="{3458CA9E-6C75-41FB-AD60-20E0BCF24B76}"/>
              </a:ext>
            </a:extLst>
          </p:cNvPr>
          <p:cNvSpPr>
            <a:spLocks xmlns:a="http://schemas.openxmlformats.org/drawingml/2006/main" noGrp="1"/>
          </p:cNvSpPr>
          <p:nvPr/>
        </p:nvSpPr>
        <p:spPr>
          <a:xfrm xmlns:a="http://schemas.openxmlformats.org/drawingml/2006/main">
            <a:off x="609600" y="4676775"/>
            <a:ext cx="2095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002060"/>
                </a:solidFill>
                <a:latin typeface="Calibri"/>
                <a:ea typeface="Calibri"/>
                <a:cs typeface="Calibri"/>
              </a:defRPr>
            </a:pPr>
            <a:r>
              <a:rPr sz="2025" b="1">
                <a:solidFill>
                  <a:srgbClr val="002060"/>
                </a:solidFill>
                <a:latin typeface="Calibri"/>
                <a:ea typeface="Calibri"/>
                <a:cs typeface="Calibri"/>
              </a:rPr>
              <a:t>Sertifikasi</a:t>
            </a:r>
          </a:p>
        </p:txBody>
      </p:sp>
      <p:sp>
        <p:nvSpPr>
          <p:cNvPr id="20" name="text-173">
            <a:extLst xmlns:a="http://schemas.openxmlformats.org/drawingml/2006/main">
              <a:ext uri="{FF2B5EF4-FFF2-40B4-BE49-F238E27FC236}">
                <a16:creationId xmlns:a16="http://schemas.microsoft.com/office/drawing/2014/main" id="{CE4AB7B6-366B-48DE-ABC0-2595CD6B09AA}"/>
              </a:ext>
            </a:extLst>
          </p:cNvPr>
          <p:cNvSpPr>
            <a:spLocks xmlns:a="http://schemas.openxmlformats.org/drawingml/2006/main" noGrp="1"/>
          </p:cNvSpPr>
          <p:nvPr/>
        </p:nvSpPr>
        <p:spPr>
          <a:xfrm xmlns:a="http://schemas.openxmlformats.org/drawingml/2006/main">
            <a:off x="3143250" y="4676775"/>
            <a:ext cx="323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273746"/>
                </a:solidFill>
                <a:latin typeface="Calibri"/>
                <a:ea typeface="Calibri"/>
                <a:cs typeface="Calibri"/>
              </a:defRPr>
            </a:pPr>
            <a:r>
              <a:rPr sz="1950" b="1">
                <a:solidFill>
                  <a:srgbClr val="273746"/>
                </a:solidFill>
                <a:latin typeface="Calibri"/>
                <a:ea typeface="Calibri"/>
                <a:cs typeface="Calibri"/>
              </a:rPr>
              <a:t>~Rp1,7 jt benchmark</a:t>
            </a:r>
          </a:p>
        </p:txBody>
      </p:sp>
      <p:sp>
        <p:nvSpPr>
          <p:cNvPr id="21" name="text-174">
            <a:extLst xmlns:a="http://schemas.openxmlformats.org/drawingml/2006/main">
              <a:ext uri="{FF2B5EF4-FFF2-40B4-BE49-F238E27FC236}">
                <a16:creationId xmlns:a16="http://schemas.microsoft.com/office/drawing/2014/main" id="{95455A3D-7CA5-4E19-8B35-9C07C1490F52}"/>
              </a:ext>
            </a:extLst>
          </p:cNvPr>
          <p:cNvSpPr>
            <a:spLocks xmlns:a="http://schemas.openxmlformats.org/drawingml/2006/main" noGrp="1"/>
          </p:cNvSpPr>
          <p:nvPr/>
        </p:nvSpPr>
        <p:spPr>
          <a:xfrm xmlns:a="http://schemas.openxmlformats.org/drawingml/2006/main">
            <a:off x="6858000" y="4676775"/>
            <a:ext cx="46482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65717D"/>
                </a:solidFill>
                <a:latin typeface="Calibri"/>
                <a:ea typeface="Calibri"/>
                <a:cs typeface="Calibri"/>
              </a:defRPr>
            </a:pPr>
            <a:r>
              <a:rPr sz="1725" b="0">
                <a:solidFill>
                  <a:srgbClr val="65717D"/>
                </a:solidFill>
                <a:latin typeface="Calibri"/>
                <a:ea typeface="Calibri"/>
                <a:cs typeface="Calibri"/>
              </a:rPr>
              <a:t>LSP berlisensi + skema + struktur biaya</a:t>
            </a:r>
          </a:p>
        </p:txBody>
      </p:sp>
      <p:sp>
        <p:nvSpPr>
          <p:cNvPr id="22" name="">
            <a:extLst xmlns:a="http://schemas.openxmlformats.org/drawingml/2006/main">
              <a:ext uri="{FF2B5EF4-FFF2-40B4-BE49-F238E27FC236}">
                <a16:creationId xmlns:a16="http://schemas.microsoft.com/office/drawing/2014/main" id="{F7D0A509-330E-4708-8524-A4DEC064EF70}"/>
              </a:ext>
            </a:extLst>
          </p:cNvPr>
          <p:cNvSpPr>
            <a:spLocks xmlns:a="http://schemas.openxmlformats.org/drawingml/2006/main" noGrp="1"/>
          </p:cNvSpPr>
          <p:nvPr/>
        </p:nvSpPr>
        <p:spPr>
          <a:xfrm xmlns:a="http://schemas.openxmlformats.org/drawingml/2006/main">
            <a:off x="609600" y="5295900"/>
            <a:ext cx="10972800" cy="0"/>
          </a:xfrm>
          <a:prstGeom xmlns:a="http://schemas.openxmlformats.org/drawingml/2006/main" prst="line">
            <a:avLst/>
          </a:prstGeom>
          <a:noFill xmlns:a="http://schemas.openxmlformats.org/drawingml/2006/main"/>
          <a:ln xmlns:a="http://schemas.openxmlformats.org/drawingml/2006/main" w="9525">
            <a:solidFill>
              <a:srgbClr val="DCE2E8"/>
            </a:solidFill>
          </a:ln>
        </p:spPr>
      </p:sp>
      <p:sp>
        <p:nvSpPr>
          <p:cNvPr id="23" name="text-175">
            <a:extLst xmlns:a="http://schemas.openxmlformats.org/drawingml/2006/main">
              <a:ext uri="{FF2B5EF4-FFF2-40B4-BE49-F238E27FC236}">
                <a16:creationId xmlns:a16="http://schemas.microsoft.com/office/drawing/2014/main" id="{962E815C-E1C7-4AF9-BBDD-13A8D3DD7172}"/>
              </a:ext>
            </a:extLst>
          </p:cNvPr>
          <p:cNvSpPr>
            <a:spLocks xmlns:a="http://schemas.openxmlformats.org/drawingml/2006/main" noGrp="1"/>
          </p:cNvSpPr>
          <p:nvPr/>
        </p:nvSpPr>
        <p:spPr>
          <a:xfrm xmlns:a="http://schemas.openxmlformats.org/drawingml/2006/main">
            <a:off x="609600" y="5829300"/>
            <a:ext cx="10763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1">
                <a:solidFill>
                  <a:srgbClr val="002060"/>
                </a:solidFill>
                <a:latin typeface="Calibri"/>
                <a:ea typeface="Calibri"/>
                <a:cs typeface="Calibri"/>
              </a:defRPr>
            </a:pPr>
            <a:r>
              <a:rPr sz="1725" b="1">
                <a:solidFill>
                  <a:srgbClr val="002060"/>
                </a:solidFill>
                <a:latin typeface="Calibri"/>
                <a:ea typeface="Calibri"/>
                <a:cs typeface="Calibri"/>
              </a:rPr>
              <a:t>Sertifikasi disiapkan untuk tier premium; bukan syarat memulai Founder Live.</a:t>
            </a:r>
          </a:p>
        </p:txBody>
      </p:sp>
    </p:spTree>
    <p:extLst>
      <p:ext uri="{BB962C8B-B14F-4D97-AF65-F5344CB8AC3E}">
        <p14:creationId xmlns:p14="http://schemas.microsoft.com/office/powerpoint/2010/main" val="26630653"/>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text-176">
            <a:extLst xmlns:a="http://schemas.openxmlformats.org/drawingml/2006/main">
              <a:ext uri="{FF2B5EF4-FFF2-40B4-BE49-F238E27FC236}">
                <a16:creationId xmlns:a16="http://schemas.microsoft.com/office/drawing/2014/main" id="{ACD580F3-240F-48A8-8CD6-1670C5625915}"/>
              </a:ext>
            </a:extLst>
          </p:cNvPr>
          <p:cNvSpPr>
            <a:spLocks xmlns:a="http://schemas.openxmlformats.org/drawingml/2006/main" noGrp="1"/>
          </p:cNvSpPr>
          <p:nvPr/>
        </p:nvSpPr>
        <p:spPr>
          <a:xfrm xmlns:a="http://schemas.openxmlformats.org/drawingml/2006/main">
            <a:off x="609600" y="333375"/>
            <a:ext cx="1066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65717D"/>
                </a:solidFill>
                <a:latin typeface="Calibri"/>
                <a:ea typeface="Calibri"/>
                <a:cs typeface="Calibri"/>
              </a:defRPr>
            </a:pPr>
            <a:r>
              <a:rPr sz="1050" b="1">
                <a:solidFill>
                  <a:srgbClr val="65717D"/>
                </a:solidFill>
                <a:latin typeface="Calibri"/>
                <a:ea typeface="Calibri"/>
                <a:cs typeface="Calibri"/>
              </a:rPr>
              <a:t>KEPUTUSAN MANAJEMEN</a:t>
            </a:r>
          </a:p>
        </p:txBody>
      </p:sp>
      <p:sp>
        <p:nvSpPr>
          <p:cNvPr id="2" name="text-177">
            <a:extLst xmlns:a="http://schemas.openxmlformats.org/drawingml/2006/main">
              <a:ext uri="{FF2B5EF4-FFF2-40B4-BE49-F238E27FC236}">
                <a16:creationId xmlns:a16="http://schemas.microsoft.com/office/drawing/2014/main" id="{591FD597-DA9F-4D84-B516-BDAB9E54C6F2}"/>
              </a:ext>
            </a:extLst>
          </p:cNvPr>
          <p:cNvSpPr>
            <a:spLocks xmlns:a="http://schemas.openxmlformats.org/drawingml/2006/main" noGrp="1"/>
          </p:cNvSpPr>
          <p:nvPr/>
        </p:nvSpPr>
        <p:spPr>
          <a:xfrm xmlns:a="http://schemas.openxmlformats.org/drawingml/2006/main">
            <a:off x="609600" y="723900"/>
            <a:ext cx="10858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925" b="1">
                <a:solidFill>
                  <a:srgbClr val="002060"/>
                </a:solidFill>
                <a:latin typeface="Calibri"/>
                <a:ea typeface="Calibri"/>
                <a:cs typeface="Calibri"/>
              </a:defRPr>
            </a:pPr>
            <a:r>
              <a:rPr sz="2925" b="1">
                <a:solidFill>
                  <a:srgbClr val="002060"/>
                </a:solidFill>
                <a:latin typeface="Calibri"/>
                <a:ea typeface="Calibri"/>
                <a:cs typeface="Calibri"/>
              </a:rPr>
              <a:t>Pilot menguji value produk sebelum harga permanen dikunci</a:t>
            </a:r>
          </a:p>
        </p:txBody>
      </p:sp>
      <p:sp>
        <p:nvSpPr>
          <p:cNvPr id="3" name="text-178">
            <a:extLst xmlns:a="http://schemas.openxmlformats.org/drawingml/2006/main">
              <a:ext uri="{FF2B5EF4-FFF2-40B4-BE49-F238E27FC236}">
                <a16:creationId xmlns:a16="http://schemas.microsoft.com/office/drawing/2014/main" id="{FDBB23B7-0DB1-46AD-8D62-12C288B97FE5}"/>
              </a:ext>
            </a:extLst>
          </p:cNvPr>
          <p:cNvSpPr>
            <a:spLocks xmlns:a="http://schemas.openxmlformats.org/drawingml/2006/main" noGrp="1"/>
          </p:cNvSpPr>
          <p:nvPr/>
        </p:nvSpPr>
        <p:spPr>
          <a:xfrm xmlns:a="http://schemas.openxmlformats.org/drawingml/2006/main">
            <a:off x="609600" y="1666875"/>
            <a:ext cx="10858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65717D"/>
                </a:solidFill>
                <a:latin typeface="Calibri"/>
                <a:ea typeface="Calibri"/>
                <a:cs typeface="Calibri"/>
              </a:defRPr>
            </a:pPr>
            <a:r>
              <a:rPr sz="1500" b="0">
                <a:solidFill>
                  <a:srgbClr val="65717D"/>
                </a:solidFill>
                <a:latin typeface="Calibri"/>
                <a:ea typeface="Calibri"/>
                <a:cs typeface="Calibri"/>
              </a:rPr>
              <a:t>Persetujuan hari ini: Founder Live, tiga Intimate Dinner, dan evaluasi hasilnya.</a:t>
            </a:r>
          </a:p>
        </p:txBody>
      </p:sp>
      <p:sp>
        <p:nvSpPr>
          <p:cNvPr id="4" name="">
            <a:extLst xmlns:a="http://schemas.openxmlformats.org/drawingml/2006/main">
              <a:ext uri="{FF2B5EF4-FFF2-40B4-BE49-F238E27FC236}">
                <a16:creationId xmlns:a16="http://schemas.microsoft.com/office/drawing/2014/main" id="{7D3C146C-97EF-46FF-B47D-D1EA54EAD0A3}"/>
              </a:ext>
            </a:extLst>
          </p:cNvPr>
          <p:cNvSpPr>
            <a:spLocks xmlns:a="http://schemas.openxmlformats.org/drawingml/2006/main" noGrp="1"/>
          </p:cNvSpPr>
          <p:nvPr/>
        </p:nvSpPr>
        <p:spPr>
          <a:xfrm xmlns:a="http://schemas.openxmlformats.org/drawingml/2006/main">
            <a:off x="609600" y="6381750"/>
            <a:ext cx="10972800" cy="0"/>
          </a:xfrm>
          <a:prstGeom xmlns:a="http://schemas.openxmlformats.org/drawingml/2006/main" prst="line">
            <a:avLst/>
          </a:prstGeom>
          <a:noFill xmlns:a="http://schemas.openxmlformats.org/drawingml/2006/main"/>
          <a:ln xmlns:a="http://schemas.openxmlformats.org/drawingml/2006/main" w="9525">
            <a:solidFill>
              <a:srgbClr val="DCE2E8"/>
            </a:solidFill>
          </a:ln>
        </p:spPr>
      </p:sp>
      <p:sp>
        <p:nvSpPr>
          <p:cNvPr id="5" name="text-179">
            <a:extLst xmlns:a="http://schemas.openxmlformats.org/drawingml/2006/main">
              <a:ext uri="{FF2B5EF4-FFF2-40B4-BE49-F238E27FC236}">
                <a16:creationId xmlns:a16="http://schemas.microsoft.com/office/drawing/2014/main" id="{6AFDAFE4-0E9F-40BB-9F63-1E66564E7619}"/>
              </a:ext>
            </a:extLst>
          </p:cNvPr>
          <p:cNvSpPr>
            <a:spLocks xmlns:a="http://schemas.openxmlformats.org/drawingml/2006/main" noGrp="1"/>
          </p:cNvSpPr>
          <p:nvPr/>
        </p:nvSpPr>
        <p:spPr>
          <a:xfrm xmlns:a="http://schemas.openxmlformats.org/drawingml/2006/main">
            <a:off x="609600" y="6505575"/>
            <a:ext cx="10191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825" b="0">
                <a:solidFill>
                  <a:srgbClr val="65717D"/>
                </a:solidFill>
                <a:latin typeface="Calibri"/>
                <a:ea typeface="Calibri"/>
                <a:cs typeface="Calibri"/>
              </a:defRPr>
            </a:pPr>
            <a:r>
              <a:rPr sz="825" b="0">
                <a:solidFill>
                  <a:srgbClr val="65717D"/>
                </a:solidFill>
                <a:latin typeface="Calibri"/>
                <a:ea typeface="Calibri"/>
                <a:cs typeface="Calibri"/>
              </a:rPr>
              <a:t>CMC internal, Oktober 2026. Angka usulan mengikuti deck sumber.</a:t>
            </a:r>
          </a:p>
        </p:txBody>
      </p:sp>
      <p:sp>
        <p:nvSpPr>
          <p:cNvPr id="6" name="text-180">
            <a:extLst xmlns:a="http://schemas.openxmlformats.org/drawingml/2006/main">
              <a:ext uri="{FF2B5EF4-FFF2-40B4-BE49-F238E27FC236}">
                <a16:creationId xmlns:a16="http://schemas.microsoft.com/office/drawing/2014/main" id="{6AA29480-9892-4466-94F2-DBF42493C1B1}"/>
              </a:ext>
            </a:extLst>
          </p:cNvPr>
          <p:cNvSpPr>
            <a:spLocks xmlns:a="http://schemas.openxmlformats.org/drawingml/2006/main" noGrp="1"/>
          </p:cNvSpPr>
          <p:nvPr/>
        </p:nvSpPr>
        <p:spPr>
          <a:xfrm xmlns:a="http://schemas.openxmlformats.org/drawingml/2006/main">
            <a:off x="11125200" y="6486525"/>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002060"/>
                </a:solidFill>
                <a:latin typeface="Calibri"/>
                <a:ea typeface="Calibri"/>
                <a:cs typeface="Calibri"/>
              </a:defRPr>
            </a:pPr>
            <a:r>
              <a:rPr sz="1050" b="1">
                <a:solidFill>
                  <a:srgbClr val="002060"/>
                </a:solidFill>
                <a:latin typeface="Calibri"/>
                <a:ea typeface="Calibri"/>
                <a:cs typeface="Calibri"/>
              </a:rPr>
              <a:t>12</a:t>
            </a:r>
          </a:p>
        </p:txBody>
      </p:sp>
      <p:sp>
        <p:nvSpPr>
          <p:cNvPr id="7" name="text-181">
            <a:extLst xmlns:a="http://schemas.openxmlformats.org/drawingml/2006/main">
              <a:ext uri="{FF2B5EF4-FFF2-40B4-BE49-F238E27FC236}">
                <a16:creationId xmlns:a16="http://schemas.microsoft.com/office/drawing/2014/main" id="{1FDEB672-C0C0-4AB1-9D64-102BE9FED363}"/>
              </a:ext>
            </a:extLst>
          </p:cNvPr>
          <p:cNvSpPr>
            <a:spLocks xmlns:a="http://schemas.openxmlformats.org/drawingml/2006/main" noGrp="1"/>
          </p:cNvSpPr>
          <p:nvPr/>
        </p:nvSpPr>
        <p:spPr>
          <a:xfrm xmlns:a="http://schemas.openxmlformats.org/drawingml/2006/main">
            <a:off x="609600" y="2352675"/>
            <a:ext cx="857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708AA9"/>
                </a:solidFill>
                <a:latin typeface="Calibri"/>
                <a:ea typeface="Calibri"/>
                <a:cs typeface="Calibri"/>
              </a:defRPr>
            </a:pPr>
            <a:r>
              <a:rPr sz="3225" b="1">
                <a:solidFill>
                  <a:srgbClr val="708AA9"/>
                </a:solidFill>
                <a:latin typeface="Calibri"/>
                <a:ea typeface="Calibri"/>
                <a:cs typeface="Calibri"/>
              </a:rPr>
              <a:t>01</a:t>
            </a:r>
          </a:p>
        </p:txBody>
      </p:sp>
      <p:sp>
        <p:nvSpPr>
          <p:cNvPr id="8" name="text-182">
            <a:extLst xmlns:a="http://schemas.openxmlformats.org/drawingml/2006/main">
              <a:ext uri="{FF2B5EF4-FFF2-40B4-BE49-F238E27FC236}">
                <a16:creationId xmlns:a16="http://schemas.microsoft.com/office/drawing/2014/main" id="{ADFE60D9-EE28-42E8-A108-7151D1A7CC87}"/>
              </a:ext>
            </a:extLst>
          </p:cNvPr>
          <p:cNvSpPr>
            <a:spLocks xmlns:a="http://schemas.openxmlformats.org/drawingml/2006/main" noGrp="1"/>
          </p:cNvSpPr>
          <p:nvPr/>
        </p:nvSpPr>
        <p:spPr>
          <a:xfrm xmlns:a="http://schemas.openxmlformats.org/drawingml/2006/main">
            <a:off x="1714500" y="2352675"/>
            <a:ext cx="54768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1">
                <a:solidFill>
                  <a:srgbClr val="002060"/>
                </a:solidFill>
                <a:latin typeface="Calibri"/>
                <a:ea typeface="Calibri"/>
                <a:cs typeface="Calibri"/>
              </a:defRPr>
            </a:pPr>
            <a:r>
              <a:rPr sz="2325" b="1">
                <a:solidFill>
                  <a:srgbClr val="002060"/>
                </a:solidFill>
                <a:latin typeface="Calibri"/>
                <a:ea typeface="Calibri"/>
                <a:cs typeface="Calibri"/>
              </a:rPr>
              <a:t>Jalankan Founder Live</a:t>
            </a:r>
          </a:p>
        </p:txBody>
      </p:sp>
      <p:sp>
        <p:nvSpPr>
          <p:cNvPr id="9" name="text-183">
            <a:extLst xmlns:a="http://schemas.openxmlformats.org/drawingml/2006/main">
              <a:ext uri="{FF2B5EF4-FFF2-40B4-BE49-F238E27FC236}">
                <a16:creationId xmlns:a16="http://schemas.microsoft.com/office/drawing/2014/main" id="{046C796A-56F2-4721-A109-4913C60578CE}"/>
              </a:ext>
            </a:extLst>
          </p:cNvPr>
          <p:cNvSpPr>
            <a:spLocks xmlns:a="http://schemas.openxmlformats.org/drawingml/2006/main" noGrp="1"/>
          </p:cNvSpPr>
          <p:nvPr/>
        </p:nvSpPr>
        <p:spPr>
          <a:xfrm xmlns:a="http://schemas.openxmlformats.org/drawingml/2006/main">
            <a:off x="1714500" y="2790825"/>
            <a:ext cx="5334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273746"/>
                </a:solidFill>
                <a:latin typeface="Calibri"/>
                <a:ea typeface="Calibri"/>
                <a:cs typeface="Calibri"/>
              </a:defRPr>
            </a:pPr>
            <a:r>
              <a:rPr sz="1725" b="0">
                <a:solidFill>
                  <a:srgbClr val="273746"/>
                </a:solidFill>
                <a:latin typeface="Calibri"/>
                <a:ea typeface="Calibri"/>
                <a:cs typeface="Calibri"/>
              </a:rPr>
              <a:t>8 sesi / 4 Nov–23 Des 2026</a:t>
            </a:r>
          </a:p>
        </p:txBody>
      </p:sp>
      <p:sp>
        <p:nvSpPr>
          <p:cNvPr id="10" name="text-184">
            <a:extLst xmlns:a="http://schemas.openxmlformats.org/drawingml/2006/main">
              <a:ext uri="{FF2B5EF4-FFF2-40B4-BE49-F238E27FC236}">
                <a16:creationId xmlns:a16="http://schemas.microsoft.com/office/drawing/2014/main" id="{EA32E17E-4D9D-42EB-AF73-9E44AD109295}"/>
              </a:ext>
            </a:extLst>
          </p:cNvPr>
          <p:cNvSpPr>
            <a:spLocks xmlns:a="http://schemas.openxmlformats.org/drawingml/2006/main" noGrp="1"/>
          </p:cNvSpPr>
          <p:nvPr/>
        </p:nvSpPr>
        <p:spPr>
          <a:xfrm xmlns:a="http://schemas.openxmlformats.org/drawingml/2006/main">
            <a:off x="7772400" y="2438400"/>
            <a:ext cx="3714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002060"/>
                </a:solidFill>
                <a:latin typeface="Calibri"/>
                <a:ea typeface="Calibri"/>
                <a:cs typeface="Calibri"/>
              </a:defRPr>
            </a:pPr>
            <a:r>
              <a:rPr sz="1950" b="1">
                <a:solidFill>
                  <a:srgbClr val="002060"/>
                </a:solidFill>
                <a:latin typeface="Calibri"/>
                <a:ea typeface="Calibri"/>
                <a:cs typeface="Calibri"/>
              </a:rPr>
              <a:t>Base Rp34,8 jt sebelum pajak</a:t>
            </a:r>
          </a:p>
        </p:txBody>
      </p:sp>
      <p:sp>
        <p:nvSpPr>
          <p:cNvPr id="11" name="">
            <a:extLst xmlns:a="http://schemas.openxmlformats.org/drawingml/2006/main">
              <a:ext uri="{FF2B5EF4-FFF2-40B4-BE49-F238E27FC236}">
                <a16:creationId xmlns:a16="http://schemas.microsoft.com/office/drawing/2014/main" id="{687BABD9-2FEE-47B4-91E7-C47C434B0E91}"/>
              </a:ext>
            </a:extLst>
          </p:cNvPr>
          <p:cNvSpPr>
            <a:spLocks xmlns:a="http://schemas.openxmlformats.org/drawingml/2006/main" noGrp="1"/>
          </p:cNvSpPr>
          <p:nvPr/>
        </p:nvSpPr>
        <p:spPr>
          <a:xfrm xmlns:a="http://schemas.openxmlformats.org/drawingml/2006/main">
            <a:off x="1714500" y="3238500"/>
            <a:ext cx="9715500" cy="0"/>
          </a:xfrm>
          <a:prstGeom xmlns:a="http://schemas.openxmlformats.org/drawingml/2006/main" prst="line">
            <a:avLst/>
          </a:prstGeom>
          <a:noFill xmlns:a="http://schemas.openxmlformats.org/drawingml/2006/main"/>
          <a:ln xmlns:a="http://schemas.openxmlformats.org/drawingml/2006/main" w="9525">
            <a:solidFill>
              <a:srgbClr val="DCE2E8"/>
            </a:solidFill>
          </a:ln>
        </p:spPr>
      </p:sp>
      <p:sp>
        <p:nvSpPr>
          <p:cNvPr id="12" name="text-185">
            <a:extLst xmlns:a="http://schemas.openxmlformats.org/drawingml/2006/main">
              <a:ext uri="{FF2B5EF4-FFF2-40B4-BE49-F238E27FC236}">
                <a16:creationId xmlns:a16="http://schemas.microsoft.com/office/drawing/2014/main" id="{FF19DAC6-F12B-4784-B567-0156EDA2B228}"/>
              </a:ext>
            </a:extLst>
          </p:cNvPr>
          <p:cNvSpPr>
            <a:spLocks xmlns:a="http://schemas.openxmlformats.org/drawingml/2006/main" noGrp="1"/>
          </p:cNvSpPr>
          <p:nvPr/>
        </p:nvSpPr>
        <p:spPr>
          <a:xfrm xmlns:a="http://schemas.openxmlformats.org/drawingml/2006/main">
            <a:off x="609600" y="3400425"/>
            <a:ext cx="857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708AA9"/>
                </a:solidFill>
                <a:latin typeface="Calibri"/>
                <a:ea typeface="Calibri"/>
                <a:cs typeface="Calibri"/>
              </a:defRPr>
            </a:pPr>
            <a:r>
              <a:rPr sz="3225" b="1">
                <a:solidFill>
                  <a:srgbClr val="708AA9"/>
                </a:solidFill>
                <a:latin typeface="Calibri"/>
                <a:ea typeface="Calibri"/>
                <a:cs typeface="Calibri"/>
              </a:rPr>
              <a:t>02</a:t>
            </a:r>
          </a:p>
        </p:txBody>
      </p:sp>
      <p:sp>
        <p:nvSpPr>
          <p:cNvPr id="13" name="text-186">
            <a:extLst xmlns:a="http://schemas.openxmlformats.org/drawingml/2006/main">
              <a:ext uri="{FF2B5EF4-FFF2-40B4-BE49-F238E27FC236}">
                <a16:creationId xmlns:a16="http://schemas.microsoft.com/office/drawing/2014/main" id="{7A6DEF80-004B-4864-8A3A-5471B4A3DAB2}"/>
              </a:ext>
            </a:extLst>
          </p:cNvPr>
          <p:cNvSpPr>
            <a:spLocks xmlns:a="http://schemas.openxmlformats.org/drawingml/2006/main" noGrp="1"/>
          </p:cNvSpPr>
          <p:nvPr/>
        </p:nvSpPr>
        <p:spPr>
          <a:xfrm xmlns:a="http://schemas.openxmlformats.org/drawingml/2006/main">
            <a:off x="1714500" y="3400425"/>
            <a:ext cx="54768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1">
                <a:solidFill>
                  <a:srgbClr val="002060"/>
                </a:solidFill>
                <a:latin typeface="Calibri"/>
                <a:ea typeface="Calibri"/>
                <a:cs typeface="Calibri"/>
              </a:defRPr>
            </a:pPr>
            <a:r>
              <a:rPr sz="2325" b="1">
                <a:solidFill>
                  <a:srgbClr val="002060"/>
                </a:solidFill>
                <a:latin typeface="Calibri"/>
                <a:ea typeface="Calibri"/>
                <a:cs typeface="Calibri"/>
              </a:rPr>
              <a:t>Uji Intimate Dinner</a:t>
            </a:r>
          </a:p>
        </p:txBody>
      </p:sp>
      <p:sp>
        <p:nvSpPr>
          <p:cNvPr id="14" name="text-187">
            <a:extLst xmlns:a="http://schemas.openxmlformats.org/drawingml/2006/main">
              <a:ext uri="{FF2B5EF4-FFF2-40B4-BE49-F238E27FC236}">
                <a16:creationId xmlns:a16="http://schemas.microsoft.com/office/drawing/2014/main" id="{9C3D0137-4E6A-4E87-A3EC-1EDBF805043E}"/>
              </a:ext>
            </a:extLst>
          </p:cNvPr>
          <p:cNvSpPr>
            <a:spLocks xmlns:a="http://schemas.openxmlformats.org/drawingml/2006/main" noGrp="1"/>
          </p:cNvSpPr>
          <p:nvPr/>
        </p:nvSpPr>
        <p:spPr>
          <a:xfrm xmlns:a="http://schemas.openxmlformats.org/drawingml/2006/main">
            <a:off x="1714500" y="3838575"/>
            <a:ext cx="5334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273746"/>
                </a:solidFill>
                <a:latin typeface="Calibri"/>
                <a:ea typeface="Calibri"/>
                <a:cs typeface="Calibri"/>
              </a:defRPr>
            </a:pPr>
            <a:r>
              <a:rPr sz="1725" b="0">
                <a:solidFill>
                  <a:srgbClr val="273746"/>
                </a:solidFill>
                <a:latin typeface="Calibri"/>
                <a:ea typeface="Calibri"/>
                <a:cs typeface="Calibri"/>
              </a:rPr>
              <a:t>3 event / hard cap 20 seat</a:t>
            </a:r>
          </a:p>
        </p:txBody>
      </p:sp>
      <p:sp>
        <p:nvSpPr>
          <p:cNvPr id="15" name="text-188">
            <a:extLst xmlns:a="http://schemas.openxmlformats.org/drawingml/2006/main">
              <a:ext uri="{FF2B5EF4-FFF2-40B4-BE49-F238E27FC236}">
                <a16:creationId xmlns:a16="http://schemas.microsoft.com/office/drawing/2014/main" id="{DC1EFA6B-EFBF-4F81-89B0-AA5D97939EC4}"/>
              </a:ext>
            </a:extLst>
          </p:cNvPr>
          <p:cNvSpPr>
            <a:spLocks xmlns:a="http://schemas.openxmlformats.org/drawingml/2006/main" noGrp="1"/>
          </p:cNvSpPr>
          <p:nvPr/>
        </p:nvSpPr>
        <p:spPr>
          <a:xfrm xmlns:a="http://schemas.openxmlformats.org/drawingml/2006/main">
            <a:off x="7772400" y="3486150"/>
            <a:ext cx="3714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002060"/>
                </a:solidFill>
                <a:latin typeface="Calibri"/>
                <a:ea typeface="Calibri"/>
                <a:cs typeface="Calibri"/>
              </a:defRPr>
            </a:pPr>
            <a:r>
              <a:rPr sz="1950" b="1">
                <a:solidFill>
                  <a:srgbClr val="002060"/>
                </a:solidFill>
                <a:latin typeface="Calibri"/>
                <a:ea typeface="Calibri"/>
                <a:cs typeface="Calibri"/>
              </a:rPr>
              <a:t>Member Rp1,5 jt / public Rp3 jt</a:t>
            </a:r>
          </a:p>
        </p:txBody>
      </p:sp>
      <p:sp>
        <p:nvSpPr>
          <p:cNvPr id="16" name="">
            <a:extLst xmlns:a="http://schemas.openxmlformats.org/drawingml/2006/main">
              <a:ext uri="{FF2B5EF4-FFF2-40B4-BE49-F238E27FC236}">
                <a16:creationId xmlns:a16="http://schemas.microsoft.com/office/drawing/2014/main" id="{0C9D957B-9BB8-47A3-AC0A-7256EB776B84}"/>
              </a:ext>
            </a:extLst>
          </p:cNvPr>
          <p:cNvSpPr>
            <a:spLocks xmlns:a="http://schemas.openxmlformats.org/drawingml/2006/main" noGrp="1"/>
          </p:cNvSpPr>
          <p:nvPr/>
        </p:nvSpPr>
        <p:spPr>
          <a:xfrm xmlns:a="http://schemas.openxmlformats.org/drawingml/2006/main">
            <a:off x="1714500" y="4286250"/>
            <a:ext cx="9715500" cy="0"/>
          </a:xfrm>
          <a:prstGeom xmlns:a="http://schemas.openxmlformats.org/drawingml/2006/main" prst="line">
            <a:avLst/>
          </a:prstGeom>
          <a:noFill xmlns:a="http://schemas.openxmlformats.org/drawingml/2006/main"/>
          <a:ln xmlns:a="http://schemas.openxmlformats.org/drawingml/2006/main" w="9525">
            <a:solidFill>
              <a:srgbClr val="DCE2E8"/>
            </a:solidFill>
          </a:ln>
        </p:spPr>
      </p:sp>
      <p:sp>
        <p:nvSpPr>
          <p:cNvPr id="17" name="text-189">
            <a:extLst xmlns:a="http://schemas.openxmlformats.org/drawingml/2006/main">
              <a:ext uri="{FF2B5EF4-FFF2-40B4-BE49-F238E27FC236}">
                <a16:creationId xmlns:a16="http://schemas.microsoft.com/office/drawing/2014/main" id="{1BF11151-8055-4678-9ADC-A81C7C0E4A70}"/>
              </a:ext>
            </a:extLst>
          </p:cNvPr>
          <p:cNvSpPr>
            <a:spLocks xmlns:a="http://schemas.openxmlformats.org/drawingml/2006/main" noGrp="1"/>
          </p:cNvSpPr>
          <p:nvPr/>
        </p:nvSpPr>
        <p:spPr>
          <a:xfrm xmlns:a="http://schemas.openxmlformats.org/drawingml/2006/main">
            <a:off x="609600" y="4448175"/>
            <a:ext cx="857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708AA9"/>
                </a:solidFill>
                <a:latin typeface="Calibri"/>
                <a:ea typeface="Calibri"/>
                <a:cs typeface="Calibri"/>
              </a:defRPr>
            </a:pPr>
            <a:r>
              <a:rPr sz="3225" b="1">
                <a:solidFill>
                  <a:srgbClr val="708AA9"/>
                </a:solidFill>
                <a:latin typeface="Calibri"/>
                <a:ea typeface="Calibri"/>
                <a:cs typeface="Calibri"/>
              </a:rPr>
              <a:t>03</a:t>
            </a:r>
          </a:p>
        </p:txBody>
      </p:sp>
      <p:sp>
        <p:nvSpPr>
          <p:cNvPr id="18" name="text-190">
            <a:extLst xmlns:a="http://schemas.openxmlformats.org/drawingml/2006/main">
              <a:ext uri="{FF2B5EF4-FFF2-40B4-BE49-F238E27FC236}">
                <a16:creationId xmlns:a16="http://schemas.microsoft.com/office/drawing/2014/main" id="{6C235CC7-07F6-4281-A74E-6B85248EC0CE}"/>
              </a:ext>
            </a:extLst>
          </p:cNvPr>
          <p:cNvSpPr>
            <a:spLocks xmlns:a="http://schemas.openxmlformats.org/drawingml/2006/main" noGrp="1"/>
          </p:cNvSpPr>
          <p:nvPr/>
        </p:nvSpPr>
        <p:spPr>
          <a:xfrm xmlns:a="http://schemas.openxmlformats.org/drawingml/2006/main">
            <a:off x="1714500" y="4448175"/>
            <a:ext cx="54768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1">
                <a:solidFill>
                  <a:srgbClr val="002060"/>
                </a:solidFill>
                <a:latin typeface="Calibri"/>
                <a:ea typeface="Calibri"/>
                <a:cs typeface="Calibri"/>
              </a:defRPr>
            </a:pPr>
            <a:r>
              <a:rPr sz="2325" b="1">
                <a:solidFill>
                  <a:srgbClr val="002060"/>
                </a:solidFill>
                <a:latin typeface="Calibri"/>
                <a:ea typeface="Calibri"/>
                <a:cs typeface="Calibri"/>
              </a:rPr>
              <a:t>Putuskan pricing</a:t>
            </a:r>
          </a:p>
        </p:txBody>
      </p:sp>
      <p:sp>
        <p:nvSpPr>
          <p:cNvPr id="19" name="text-191">
            <a:extLst xmlns:a="http://schemas.openxmlformats.org/drawingml/2006/main">
              <a:ext uri="{FF2B5EF4-FFF2-40B4-BE49-F238E27FC236}">
                <a16:creationId xmlns:a16="http://schemas.microsoft.com/office/drawing/2014/main" id="{701ECFAD-6C93-461F-AD33-88D2D7C19D3E}"/>
              </a:ext>
            </a:extLst>
          </p:cNvPr>
          <p:cNvSpPr>
            <a:spLocks xmlns:a="http://schemas.openxmlformats.org/drawingml/2006/main" noGrp="1"/>
          </p:cNvSpPr>
          <p:nvPr/>
        </p:nvSpPr>
        <p:spPr>
          <a:xfrm xmlns:a="http://schemas.openxmlformats.org/drawingml/2006/main">
            <a:off x="1714500" y="4886325"/>
            <a:ext cx="5334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273746"/>
                </a:solidFill>
                <a:latin typeface="Calibri"/>
                <a:ea typeface="Calibri"/>
                <a:cs typeface="Calibri"/>
              </a:defRPr>
            </a:pPr>
            <a:r>
              <a:rPr sz="1725" b="0">
                <a:solidFill>
                  <a:srgbClr val="273746"/>
                </a:solidFill>
                <a:latin typeface="Calibri"/>
                <a:ea typeface="Calibri"/>
                <a:cs typeface="Calibri"/>
              </a:rPr>
              <a:t>Rp2,5 jt, lalu ~Rp5 jt</a:t>
            </a:r>
          </a:p>
        </p:txBody>
      </p:sp>
      <p:sp>
        <p:nvSpPr>
          <p:cNvPr id="20" name="text-192">
            <a:extLst xmlns:a="http://schemas.openxmlformats.org/drawingml/2006/main">
              <a:ext uri="{FF2B5EF4-FFF2-40B4-BE49-F238E27FC236}">
                <a16:creationId xmlns:a16="http://schemas.microsoft.com/office/drawing/2014/main" id="{3A83D972-09D0-47E2-9530-ACA55D5D4368}"/>
              </a:ext>
            </a:extLst>
          </p:cNvPr>
          <p:cNvSpPr>
            <a:spLocks xmlns:a="http://schemas.openxmlformats.org/drawingml/2006/main" noGrp="1"/>
          </p:cNvSpPr>
          <p:nvPr/>
        </p:nvSpPr>
        <p:spPr>
          <a:xfrm xmlns:a="http://schemas.openxmlformats.org/drawingml/2006/main">
            <a:off x="7772400" y="4533900"/>
            <a:ext cx="3714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002060"/>
                </a:solidFill>
                <a:latin typeface="Calibri"/>
                <a:ea typeface="Calibri"/>
                <a:cs typeface="Calibri"/>
              </a:defRPr>
            </a:pPr>
            <a:r>
              <a:rPr sz="1950" b="1">
                <a:solidFill>
                  <a:srgbClr val="002060"/>
                </a:solidFill>
                <a:latin typeface="Calibri"/>
                <a:ea typeface="Calibri"/>
                <a:cs typeface="Calibri"/>
              </a:rPr>
              <a:t>Setelah data pilot dan biaya aktual</a:t>
            </a:r>
          </a:p>
        </p:txBody>
      </p:sp>
      <p:sp>
        <p:nvSpPr>
          <p:cNvPr id="21" name="">
            <a:extLst xmlns:a="http://schemas.openxmlformats.org/drawingml/2006/main">
              <a:ext uri="{FF2B5EF4-FFF2-40B4-BE49-F238E27FC236}">
                <a16:creationId xmlns:a16="http://schemas.microsoft.com/office/drawing/2014/main" id="{ACF44590-827D-4729-8F89-84AE57B7BE25}"/>
              </a:ext>
            </a:extLst>
          </p:cNvPr>
          <p:cNvSpPr>
            <a:spLocks xmlns:a="http://schemas.openxmlformats.org/drawingml/2006/main" noGrp="1"/>
          </p:cNvSpPr>
          <p:nvPr/>
        </p:nvSpPr>
        <p:spPr>
          <a:xfrm xmlns:a="http://schemas.openxmlformats.org/drawingml/2006/main">
            <a:off x="1714500" y="5334000"/>
            <a:ext cx="9715500" cy="0"/>
          </a:xfrm>
          <a:prstGeom xmlns:a="http://schemas.openxmlformats.org/drawingml/2006/main" prst="line">
            <a:avLst/>
          </a:prstGeom>
          <a:noFill xmlns:a="http://schemas.openxmlformats.org/drawingml/2006/main"/>
          <a:ln xmlns:a="http://schemas.openxmlformats.org/drawingml/2006/main" w="9525">
            <a:solidFill>
              <a:srgbClr val="DCE2E8"/>
            </a:solidFill>
          </a:ln>
        </p:spPr>
      </p:sp>
      <p:sp>
        <p:nvSpPr>
          <p:cNvPr id="22" name="text-193">
            <a:extLst xmlns:a="http://schemas.openxmlformats.org/drawingml/2006/main">
              <a:ext uri="{FF2B5EF4-FFF2-40B4-BE49-F238E27FC236}">
                <a16:creationId xmlns:a16="http://schemas.microsoft.com/office/drawing/2014/main" id="{A5E1F0BA-22F5-4E67-A7E1-66A8E78CD13D}"/>
              </a:ext>
            </a:extLst>
          </p:cNvPr>
          <p:cNvSpPr>
            <a:spLocks xmlns:a="http://schemas.openxmlformats.org/drawingml/2006/main" noGrp="1"/>
          </p:cNvSpPr>
          <p:nvPr/>
        </p:nvSpPr>
        <p:spPr>
          <a:xfrm xmlns:a="http://schemas.openxmlformats.org/drawingml/2006/main">
            <a:off x="609600" y="5810250"/>
            <a:ext cx="108585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65717D"/>
                </a:solidFill>
                <a:latin typeface="Calibri"/>
                <a:ea typeface="Calibri"/>
                <a:cs typeface="Calibri"/>
              </a:defRPr>
            </a:pPr>
            <a:r>
              <a:rPr sz="1650" b="0">
                <a:solidFill>
                  <a:srgbClr val="65717D"/>
                </a:solidFill>
                <a:latin typeface="Calibri"/>
                <a:ea typeface="Calibri"/>
                <a:cs typeface="Calibri"/>
              </a:rPr>
              <a:t>Paid conversion, attendance, NPS, contribution margin, dan repeat intent menjadi bahan evaluasi.</a:t>
            </a:r>
          </a:p>
        </p:txBody>
      </p:sp>
    </p:spTree>
    <p:extLst>
      <p:ext uri="{BB962C8B-B14F-4D97-AF65-F5344CB8AC3E}">
        <p14:creationId xmlns:p14="http://schemas.microsoft.com/office/powerpoint/2010/main" val="583557580"/>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text-194">
            <a:extLst xmlns:a="http://schemas.openxmlformats.org/drawingml/2006/main">
              <a:ext uri="{FF2B5EF4-FFF2-40B4-BE49-F238E27FC236}">
                <a16:creationId xmlns:a16="http://schemas.microsoft.com/office/drawing/2014/main" id="{21A5D4FE-A775-4D79-B4F4-9FC2FBC2AD90}"/>
              </a:ext>
            </a:extLst>
          </p:cNvPr>
          <p:cNvSpPr>
            <a:spLocks xmlns:a="http://schemas.openxmlformats.org/drawingml/2006/main" noGrp="1"/>
          </p:cNvSpPr>
          <p:nvPr/>
        </p:nvSpPr>
        <p:spPr>
          <a:xfrm xmlns:a="http://schemas.openxmlformats.org/drawingml/2006/main">
            <a:off x="609600" y="333375"/>
            <a:ext cx="1066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65717D"/>
                </a:solidFill>
                <a:latin typeface="Calibri"/>
                <a:ea typeface="Calibri"/>
                <a:cs typeface="Calibri"/>
              </a:defRPr>
            </a:pPr>
            <a:r>
              <a:rPr sz="1050" b="1">
                <a:solidFill>
                  <a:srgbClr val="65717D"/>
                </a:solidFill>
                <a:latin typeface="Calibri"/>
                <a:ea typeface="Calibri"/>
                <a:cs typeface="Calibri"/>
              </a:rPr>
              <a:t>A1 / FOUNDER LIVE OPERATIONS</a:t>
            </a:r>
          </a:p>
        </p:txBody>
      </p:sp>
      <p:sp>
        <p:nvSpPr>
          <p:cNvPr id="2" name="text-195">
            <a:extLst xmlns:a="http://schemas.openxmlformats.org/drawingml/2006/main">
              <a:ext uri="{FF2B5EF4-FFF2-40B4-BE49-F238E27FC236}">
                <a16:creationId xmlns:a16="http://schemas.microsoft.com/office/drawing/2014/main" id="{A8BCA4AC-00C5-4BE6-805D-CCFD1AD87E49}"/>
              </a:ext>
            </a:extLst>
          </p:cNvPr>
          <p:cNvSpPr>
            <a:spLocks xmlns:a="http://schemas.openxmlformats.org/drawingml/2006/main" noGrp="1"/>
          </p:cNvSpPr>
          <p:nvPr/>
        </p:nvSpPr>
        <p:spPr>
          <a:xfrm xmlns:a="http://schemas.openxmlformats.org/drawingml/2006/main">
            <a:off x="609600" y="723900"/>
            <a:ext cx="10858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925" b="1">
                <a:solidFill>
                  <a:srgbClr val="002060"/>
                </a:solidFill>
                <a:latin typeface="Calibri"/>
                <a:ea typeface="Calibri"/>
                <a:cs typeface="Calibri"/>
              </a:defRPr>
            </a:pPr>
            <a:r>
              <a:rPr sz="2925" b="1">
                <a:solidFill>
                  <a:srgbClr val="002060"/>
                </a:solidFill>
                <a:latin typeface="Calibri"/>
                <a:ea typeface="Calibri"/>
                <a:cs typeface="Calibri"/>
              </a:rPr>
              <a:t>Topik menentukan speaker, dan satu slot masih membutuhkan cadangan</a:t>
            </a:r>
          </a:p>
        </p:txBody>
      </p:sp>
      <p:sp>
        <p:nvSpPr>
          <p:cNvPr id="3" name="text-196">
            <a:extLst xmlns:a="http://schemas.openxmlformats.org/drawingml/2006/main">
              <a:ext uri="{FF2B5EF4-FFF2-40B4-BE49-F238E27FC236}">
                <a16:creationId xmlns:a16="http://schemas.microsoft.com/office/drawing/2014/main" id="{6F078115-9996-4C0E-86B1-79EB76F30D2E}"/>
              </a:ext>
            </a:extLst>
          </p:cNvPr>
          <p:cNvSpPr>
            <a:spLocks xmlns:a="http://schemas.openxmlformats.org/drawingml/2006/main" noGrp="1"/>
          </p:cNvSpPr>
          <p:nvPr/>
        </p:nvSpPr>
        <p:spPr>
          <a:xfrm xmlns:a="http://schemas.openxmlformats.org/drawingml/2006/main">
            <a:off x="609600" y="1666875"/>
            <a:ext cx="10858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65717D"/>
                </a:solidFill>
                <a:latin typeface="Calibri"/>
                <a:ea typeface="Calibri"/>
                <a:cs typeface="Calibri"/>
              </a:defRPr>
            </a:pPr>
            <a:r>
              <a:rPr sz="1500" b="0">
                <a:solidFill>
                  <a:srgbClr val="65717D"/>
                </a:solidFill>
                <a:latin typeface="Calibri"/>
                <a:ea typeface="Calibri"/>
                <a:cs typeface="Calibri"/>
              </a:rPr>
              <a:t>Lineup berikut adalah kandidat dari Founder Live Revised, bukan konfirmasi booking.</a:t>
            </a:r>
          </a:p>
        </p:txBody>
      </p:sp>
      <p:sp>
        <p:nvSpPr>
          <p:cNvPr id="4" name="">
            <a:extLst xmlns:a="http://schemas.openxmlformats.org/drawingml/2006/main">
              <a:ext uri="{FF2B5EF4-FFF2-40B4-BE49-F238E27FC236}">
                <a16:creationId xmlns:a16="http://schemas.microsoft.com/office/drawing/2014/main" id="{439A8A0C-6AAD-4A73-8FCB-D1B4785C58E4}"/>
              </a:ext>
            </a:extLst>
          </p:cNvPr>
          <p:cNvSpPr>
            <a:spLocks xmlns:a="http://schemas.openxmlformats.org/drawingml/2006/main" noGrp="1"/>
          </p:cNvSpPr>
          <p:nvPr/>
        </p:nvSpPr>
        <p:spPr>
          <a:xfrm xmlns:a="http://schemas.openxmlformats.org/drawingml/2006/main">
            <a:off x="609600" y="6381750"/>
            <a:ext cx="10972800" cy="0"/>
          </a:xfrm>
          <a:prstGeom xmlns:a="http://schemas.openxmlformats.org/drawingml/2006/main" prst="line">
            <a:avLst/>
          </a:prstGeom>
          <a:noFill xmlns:a="http://schemas.openxmlformats.org/drawingml/2006/main"/>
          <a:ln xmlns:a="http://schemas.openxmlformats.org/drawingml/2006/main" w="9525">
            <a:solidFill>
              <a:srgbClr val="DCE2E8"/>
            </a:solidFill>
          </a:ln>
        </p:spPr>
      </p:sp>
      <p:sp>
        <p:nvSpPr>
          <p:cNvPr id="5" name="text-197">
            <a:extLst xmlns:a="http://schemas.openxmlformats.org/drawingml/2006/main">
              <a:ext uri="{FF2B5EF4-FFF2-40B4-BE49-F238E27FC236}">
                <a16:creationId xmlns:a16="http://schemas.microsoft.com/office/drawing/2014/main" id="{3C7E35C4-027E-4899-8050-40AFFD247950}"/>
              </a:ext>
            </a:extLst>
          </p:cNvPr>
          <p:cNvSpPr>
            <a:spLocks xmlns:a="http://schemas.openxmlformats.org/drawingml/2006/main" noGrp="1"/>
          </p:cNvSpPr>
          <p:nvPr/>
        </p:nvSpPr>
        <p:spPr>
          <a:xfrm xmlns:a="http://schemas.openxmlformats.org/drawingml/2006/main">
            <a:off x="609600" y="6505575"/>
            <a:ext cx="10191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825" b="0">
                <a:solidFill>
                  <a:srgbClr val="65717D"/>
                </a:solidFill>
                <a:latin typeface="Calibri"/>
                <a:ea typeface="Calibri"/>
                <a:cs typeface="Calibri"/>
              </a:defRPr>
            </a:pPr>
            <a:r>
              <a:rPr sz="825" b="0">
                <a:solidFill>
                  <a:srgbClr val="65717D"/>
                </a:solidFill>
                <a:latin typeface="Calibri"/>
                <a:ea typeface="Calibri"/>
                <a:cs typeface="Calibri"/>
              </a:rPr>
              <a:t>CMC internal, Oktober 2026. Angka usulan mengikuti deck sumber.</a:t>
            </a:r>
          </a:p>
        </p:txBody>
      </p:sp>
      <p:sp>
        <p:nvSpPr>
          <p:cNvPr id="6" name="text-198">
            <a:extLst xmlns:a="http://schemas.openxmlformats.org/drawingml/2006/main">
              <a:ext uri="{FF2B5EF4-FFF2-40B4-BE49-F238E27FC236}">
                <a16:creationId xmlns:a16="http://schemas.microsoft.com/office/drawing/2014/main" id="{0DEB188C-CA33-4703-9863-3C816D811669}"/>
              </a:ext>
            </a:extLst>
          </p:cNvPr>
          <p:cNvSpPr>
            <a:spLocks xmlns:a="http://schemas.openxmlformats.org/drawingml/2006/main" noGrp="1"/>
          </p:cNvSpPr>
          <p:nvPr/>
        </p:nvSpPr>
        <p:spPr>
          <a:xfrm xmlns:a="http://schemas.openxmlformats.org/drawingml/2006/main">
            <a:off x="11125200" y="6486525"/>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002060"/>
                </a:solidFill>
                <a:latin typeface="Calibri"/>
                <a:ea typeface="Calibri"/>
                <a:cs typeface="Calibri"/>
              </a:defRPr>
            </a:pPr>
            <a:r>
              <a:rPr sz="1050" b="1">
                <a:solidFill>
                  <a:srgbClr val="002060"/>
                </a:solidFill>
                <a:latin typeface="Calibri"/>
                <a:ea typeface="Calibri"/>
                <a:cs typeface="Calibri"/>
              </a:rPr>
              <a:t>13</a:t>
            </a:r>
          </a:p>
        </p:txBody>
      </p:sp>
      <p:graphicFrame>
        <p:nvGraphicFramePr>
          <p:cNvPr id="19" name=""/>
          <p:cNvGraphicFramePr/>
          <p:nvPr/>
        </p:nvGraphicFramePr>
        <p:xfrm>
          <a:off xmlns:a="http://schemas.openxmlformats.org/drawingml/2006/main" x="609600" y="2343150"/>
          <a:ext xmlns:a="http://schemas.openxmlformats.org/drawingml/2006/main" cx="7334250" cy="3171825"/>
        </p:xfrm>
        <a:graphic xmlns:a="http://schemas.openxmlformats.org/drawingml/2006/main">
          <a:graphicData uri="http://schemas.openxmlformats.org/drawingml/2006/table">
            <a:tbl>
              <a:tblPr/>
              <a:tblGrid>
                <a:gridCol w="904875"/>
                <a:gridCol w="3209925"/>
                <a:gridCol w="3219450"/>
              </a:tblGrid>
              <a:tr h="352425">
                <a:tc>
                  <a:txBody>
                    <a:bodyPr lIns="95250" tIns="76200" rIns="95250" bIns="57150"/>
                    <a:lstStyle/>
                    <a:p>
                      <a:r>
                        <a:rPr sz="1350" b="1">
                          <a:solidFill>
                            <a:srgbClr val="FFFFFF"/>
                          </a:solidFill>
                          <a:latin typeface="Calibri"/>
                          <a:ea typeface="Calibri"/>
                          <a:cs typeface="Calibri"/>
                        </a:rPr>
                        <a:t>Rabu</a:t>
                      </a:r>
                    </a:p>
                  </a:txBody>
                  <a:tcPr marL="91440" marR="91440" marT="45720" marB="45720">
                    <a:solidFill>
                      <a:srgbClr val="002060"/>
                    </a:solidFill>
                  </a:tcPr>
                </a:tc>
                <a:tc>
                  <a:txBody>
                    <a:bodyPr lIns="95250" tIns="76200" rIns="95250" bIns="57150"/>
                    <a:lstStyle/>
                    <a:p>
                      <a:r>
                        <a:rPr sz="1350" b="1">
                          <a:solidFill>
                            <a:srgbClr val="FFFFFF"/>
                          </a:solidFill>
                          <a:latin typeface="Calibri"/>
                          <a:ea typeface="Calibri"/>
                          <a:cs typeface="Calibri"/>
                        </a:rPr>
                        <a:t>Kandidat</a:t>
                      </a:r>
                    </a:p>
                  </a:txBody>
                  <a:tcPr marL="91440" marR="91440" marT="45720" marB="45720">
                    <a:solidFill>
                      <a:srgbClr val="002060"/>
                    </a:solidFill>
                  </a:tcPr>
                </a:tc>
                <a:tc>
                  <a:txBody>
                    <a:bodyPr lIns="95250" tIns="76200" rIns="95250" bIns="57150"/>
                    <a:lstStyle/>
                    <a:p>
                      <a:r>
                        <a:rPr sz="1350" b="1">
                          <a:solidFill>
                            <a:srgbClr val="FFFFFF"/>
                          </a:solidFill>
                          <a:latin typeface="Calibri"/>
                          <a:ea typeface="Calibri"/>
                          <a:cs typeface="Calibri"/>
                        </a:rPr>
                        <a:t>Cadangan</a:t>
                      </a:r>
                    </a:p>
                  </a:txBody>
                  <a:tcPr marL="91440" marR="91440" marT="45720" marB="45720">
                    <a:solidFill>
                      <a:srgbClr val="002060"/>
                    </a:solidFill>
                  </a:tcPr>
                </a:tc>
              </a:tr>
              <a:tr h="352425">
                <a:tc>
                  <a:txBody>
                    <a:bodyPr lIns="95250" tIns="76200" rIns="95250" bIns="57150"/>
                    <a:lstStyle/>
                    <a:p>
                      <a:r>
                        <a:rPr sz="1350" b="0">
                          <a:solidFill>
                            <a:srgbClr val="273746"/>
                          </a:solidFill>
                          <a:latin typeface="Calibri"/>
                          <a:ea typeface="Calibri"/>
                          <a:cs typeface="Calibri"/>
                        </a:rPr>
                        <a:t>4 Nov</a:t>
                      </a:r>
                    </a:p>
                  </a:txBody>
                  <a:tcPr marL="91440" marR="91440" marT="45720" marB="45720">
                    <a:solidFill>
                      <a:srgbClr val="FFFFFF"/>
                    </a:solidFill>
                  </a:tcPr>
                </a:tc>
                <a:tc>
                  <a:txBody>
                    <a:bodyPr lIns="95250" tIns="76200" rIns="95250" bIns="57150"/>
                    <a:lstStyle/>
                    <a:p>
                      <a:r>
                        <a:rPr sz="1350" b="0">
                          <a:solidFill>
                            <a:srgbClr val="273746"/>
                          </a:solidFill>
                          <a:latin typeface="Calibri"/>
                          <a:ea typeface="Calibri"/>
                          <a:cs typeface="Calibri"/>
                        </a:rPr>
                        <a:t>Yukka Harlanda / Brodo</a:t>
                      </a:r>
                    </a:p>
                  </a:txBody>
                  <a:tcPr marL="91440" marR="91440" marT="45720" marB="45720">
                    <a:solidFill>
                      <a:srgbClr val="FFFFFF"/>
                    </a:solidFill>
                  </a:tcPr>
                </a:tc>
                <a:tc>
                  <a:txBody>
                    <a:bodyPr lIns="95250" tIns="76200" rIns="95250" bIns="57150"/>
                    <a:lstStyle/>
                    <a:p>
                      <a:r>
                        <a:rPr sz="1350" b="0">
                          <a:solidFill>
                            <a:srgbClr val="273746"/>
                          </a:solidFill>
                          <a:latin typeface="Calibri"/>
                          <a:ea typeface="Calibri"/>
                          <a:cs typeface="Calibri"/>
                        </a:rPr>
                        <a:t>Rizky Arief / HMNS</a:t>
                      </a:r>
                    </a:p>
                  </a:txBody>
                  <a:tcPr marL="91440" marR="91440" marT="45720" marB="45720">
                    <a:solidFill>
                      <a:srgbClr val="FFFFFF"/>
                    </a:solidFill>
                  </a:tcPr>
                </a:tc>
              </a:tr>
              <a:tr h="352425">
                <a:tc>
                  <a:txBody>
                    <a:bodyPr lIns="95250" tIns="76200" rIns="95250" bIns="57150"/>
                    <a:lstStyle/>
                    <a:p>
                      <a:r>
                        <a:rPr sz="1350" b="0">
                          <a:solidFill>
                            <a:srgbClr val="273746"/>
                          </a:solidFill>
                          <a:latin typeface="Calibri"/>
                          <a:ea typeface="Calibri"/>
                          <a:cs typeface="Calibri"/>
                        </a:rPr>
                        <a:t>11 Nov</a:t>
                      </a:r>
                    </a:p>
                  </a:txBody>
                  <a:tcPr marL="91440" marR="91440" marT="45720" marB="45720">
                    <a:solidFill>
                      <a:srgbClr val="F3F6F9"/>
                    </a:solidFill>
                  </a:tcPr>
                </a:tc>
                <a:tc>
                  <a:txBody>
                    <a:bodyPr lIns="95250" tIns="76200" rIns="95250" bIns="57150"/>
                    <a:lstStyle/>
                    <a:p>
                      <a:r>
                        <a:rPr sz="1350" b="0">
                          <a:solidFill>
                            <a:srgbClr val="273746"/>
                          </a:solidFill>
                          <a:latin typeface="Calibri"/>
                          <a:ea typeface="Calibri"/>
                          <a:cs typeface="Calibri"/>
                        </a:rPr>
                        <a:t>Gufron Syarif / Haus!</a:t>
                      </a:r>
                    </a:p>
                  </a:txBody>
                  <a:tcPr marL="91440" marR="91440" marT="45720" marB="45720">
                    <a:solidFill>
                      <a:srgbClr val="F3F6F9"/>
                    </a:solidFill>
                  </a:tcPr>
                </a:tc>
                <a:tc>
                  <a:txBody>
                    <a:bodyPr lIns="95250" tIns="76200" rIns="95250" bIns="57150"/>
                    <a:lstStyle/>
                    <a:p>
                      <a:r>
                        <a:rPr sz="1350" b="0">
                          <a:solidFill>
                            <a:srgbClr val="273746"/>
                          </a:solidFill>
                          <a:latin typeface="Calibri"/>
                          <a:ea typeface="Calibri"/>
                          <a:cs typeface="Calibri"/>
                        </a:rPr>
                        <a:t>Daniel Sidik / Jago Coffee</a:t>
                      </a:r>
                    </a:p>
                  </a:txBody>
                  <a:tcPr marL="91440" marR="91440" marT="45720" marB="45720">
                    <a:solidFill>
                      <a:srgbClr val="F3F6F9"/>
                    </a:solidFill>
                  </a:tcPr>
                </a:tc>
              </a:tr>
              <a:tr h="352425">
                <a:tc>
                  <a:txBody>
                    <a:bodyPr lIns="95250" tIns="76200" rIns="95250" bIns="57150"/>
                    <a:lstStyle/>
                    <a:p>
                      <a:r>
                        <a:rPr sz="1350" b="0">
                          <a:solidFill>
                            <a:srgbClr val="273746"/>
                          </a:solidFill>
                          <a:latin typeface="Calibri"/>
                          <a:ea typeface="Calibri"/>
                          <a:cs typeface="Calibri"/>
                        </a:rPr>
                        <a:t>18 Nov</a:t>
                      </a:r>
                    </a:p>
                  </a:txBody>
                  <a:tcPr marL="91440" marR="91440" marT="45720" marB="45720">
                    <a:solidFill>
                      <a:srgbClr val="FFFFFF"/>
                    </a:solidFill>
                  </a:tcPr>
                </a:tc>
                <a:tc>
                  <a:txBody>
                    <a:bodyPr lIns="95250" tIns="76200" rIns="95250" bIns="57150"/>
                    <a:lstStyle/>
                    <a:p>
                      <a:r>
                        <a:rPr sz="1350" b="0">
                          <a:solidFill>
                            <a:srgbClr val="273746"/>
                          </a:solidFill>
                          <a:latin typeface="Calibri"/>
                          <a:ea typeface="Calibri"/>
                          <a:cs typeface="Calibri"/>
                        </a:rPr>
                        <a:t>Daniel Liu / Rocketindo</a:t>
                      </a:r>
                    </a:p>
                  </a:txBody>
                  <a:tcPr marL="91440" marR="91440" marT="45720" marB="45720">
                    <a:solidFill>
                      <a:srgbClr val="FFFFFF"/>
                    </a:solidFill>
                  </a:tcPr>
                </a:tc>
                <a:tc>
                  <a:txBody>
                    <a:bodyPr lIns="95250" tIns="76200" rIns="95250" bIns="57150"/>
                    <a:lstStyle/>
                    <a:p>
                      <a:r>
                        <a:rPr sz="1350" b="0">
                          <a:solidFill>
                            <a:srgbClr val="273746"/>
                          </a:solidFill>
                          <a:latin typeface="Calibri"/>
                          <a:ea typeface="Calibri"/>
                          <a:cs typeface="Calibri"/>
                        </a:rPr>
                        <a:t>Aristia Chen / Mazuta</a:t>
                      </a:r>
                    </a:p>
                  </a:txBody>
                  <a:tcPr marL="91440" marR="91440" marT="45720" marB="45720">
                    <a:solidFill>
                      <a:srgbClr val="FFFFFF"/>
                    </a:solidFill>
                  </a:tcPr>
                </a:tc>
              </a:tr>
              <a:tr h="352425">
                <a:tc>
                  <a:txBody>
                    <a:bodyPr lIns="95250" tIns="76200" rIns="95250" bIns="57150"/>
                    <a:lstStyle/>
                    <a:p>
                      <a:r>
                        <a:rPr sz="1350" b="0">
                          <a:solidFill>
                            <a:srgbClr val="273746"/>
                          </a:solidFill>
                          <a:latin typeface="Calibri"/>
                          <a:ea typeface="Calibri"/>
                          <a:cs typeface="Calibri"/>
                        </a:rPr>
                        <a:t>25 Nov</a:t>
                      </a:r>
                    </a:p>
                  </a:txBody>
                  <a:tcPr marL="91440" marR="91440" marT="45720" marB="45720">
                    <a:solidFill>
                      <a:srgbClr val="F3F6F9"/>
                    </a:solidFill>
                  </a:tcPr>
                </a:tc>
                <a:tc>
                  <a:txBody>
                    <a:bodyPr lIns="95250" tIns="76200" rIns="95250" bIns="57150"/>
                    <a:lstStyle/>
                    <a:p>
                      <a:r>
                        <a:rPr sz="1350" b="0">
                          <a:solidFill>
                            <a:srgbClr val="273746"/>
                          </a:solidFill>
                          <a:latin typeface="Calibri"/>
                          <a:ea typeface="Calibri"/>
                          <a:cs typeface="Calibri"/>
                        </a:rPr>
                        <a:t>Vico Lomar / Fore</a:t>
                      </a:r>
                    </a:p>
                  </a:txBody>
                  <a:tcPr marL="91440" marR="91440" marT="45720" marB="45720">
                    <a:solidFill>
                      <a:srgbClr val="F3F6F9"/>
                    </a:solidFill>
                  </a:tcPr>
                </a:tc>
                <a:tc>
                  <a:txBody>
                    <a:bodyPr lIns="95250" tIns="76200" rIns="95250" bIns="57150"/>
                    <a:lstStyle/>
                    <a:p>
                      <a:r>
                        <a:rPr sz="1350" b="0">
                          <a:solidFill>
                            <a:srgbClr val="273746"/>
                          </a:solidFill>
                          <a:latin typeface="Calibri"/>
                          <a:ea typeface="Calibri"/>
                          <a:cs typeface="Calibri"/>
                        </a:rPr>
                        <a:t>Billy Kurniawan / Jiwa</a:t>
                      </a:r>
                    </a:p>
                  </a:txBody>
                  <a:tcPr marL="91440" marR="91440" marT="45720" marB="45720">
                    <a:solidFill>
                      <a:srgbClr val="F3F6F9"/>
                    </a:solidFill>
                  </a:tcPr>
                </a:tc>
              </a:tr>
              <a:tr h="352425">
                <a:tc>
                  <a:txBody>
                    <a:bodyPr lIns="95250" tIns="76200" rIns="95250" bIns="57150"/>
                    <a:lstStyle/>
                    <a:p>
                      <a:r>
                        <a:rPr sz="1350" b="0">
                          <a:solidFill>
                            <a:srgbClr val="273746"/>
                          </a:solidFill>
                          <a:latin typeface="Calibri"/>
                          <a:ea typeface="Calibri"/>
                          <a:cs typeface="Calibri"/>
                        </a:rPr>
                        <a:t>2 Des</a:t>
                      </a:r>
                    </a:p>
                  </a:txBody>
                  <a:tcPr marL="91440" marR="91440" marT="45720" marB="45720">
                    <a:solidFill>
                      <a:srgbClr val="FFFFFF"/>
                    </a:solidFill>
                  </a:tcPr>
                </a:tc>
                <a:tc>
                  <a:txBody>
                    <a:bodyPr lIns="95250" tIns="76200" rIns="95250" bIns="57150"/>
                    <a:lstStyle/>
                    <a:p>
                      <a:r>
                        <a:rPr sz="1350" b="0">
                          <a:solidFill>
                            <a:srgbClr val="273746"/>
                          </a:solidFill>
                          <a:latin typeface="Calibri"/>
                          <a:ea typeface="Calibri"/>
                          <a:cs typeface="Calibri"/>
                        </a:rPr>
                        <a:t>Christopher Aldo / Yellow Fit</a:t>
                      </a:r>
                    </a:p>
                  </a:txBody>
                  <a:tcPr marL="91440" marR="91440" marT="45720" marB="45720">
                    <a:solidFill>
                      <a:srgbClr val="FFFFFF"/>
                    </a:solidFill>
                  </a:tcPr>
                </a:tc>
                <a:tc>
                  <a:txBody>
                    <a:bodyPr lIns="95250" tIns="76200" rIns="95250" bIns="57150"/>
                    <a:lstStyle/>
                    <a:p>
                      <a:r>
                        <a:rPr sz="1350" b="0">
                          <a:solidFill>
                            <a:srgbClr val="273746"/>
                          </a:solidFill>
                          <a:latin typeface="Calibri"/>
                          <a:ea typeface="Calibri"/>
                          <a:cs typeface="Calibri"/>
                        </a:rPr>
                        <a:t>Gregorius Ruben / Yellow Fit</a:t>
                      </a:r>
                    </a:p>
                  </a:txBody>
                  <a:tcPr marL="91440" marR="91440" marT="45720" marB="45720">
                    <a:solidFill>
                      <a:srgbClr val="FFFFFF"/>
                    </a:solidFill>
                  </a:tcPr>
                </a:tc>
              </a:tr>
              <a:tr h="352425">
                <a:tc>
                  <a:txBody>
                    <a:bodyPr lIns="95250" tIns="76200" rIns="95250" bIns="57150"/>
                    <a:lstStyle/>
                    <a:p>
                      <a:r>
                        <a:rPr sz="1350" b="0">
                          <a:solidFill>
                            <a:srgbClr val="273746"/>
                          </a:solidFill>
                          <a:latin typeface="Calibri"/>
                          <a:ea typeface="Calibri"/>
                          <a:cs typeface="Calibri"/>
                        </a:rPr>
                        <a:t>9 Des</a:t>
                      </a:r>
                    </a:p>
                  </a:txBody>
                  <a:tcPr marL="91440" marR="91440" marT="45720" marB="45720">
                    <a:solidFill>
                      <a:srgbClr val="F3F6F9"/>
                    </a:solidFill>
                  </a:tcPr>
                </a:tc>
                <a:tc>
                  <a:txBody>
                    <a:bodyPr lIns="95250" tIns="76200" rIns="95250" bIns="57150"/>
                    <a:lstStyle/>
                    <a:p>
                      <a:r>
                        <a:rPr sz="1350" b="0">
                          <a:solidFill>
                            <a:srgbClr val="273746"/>
                          </a:solidFill>
                          <a:latin typeface="Calibri"/>
                          <a:ea typeface="Calibri"/>
                          <a:cs typeface="Calibri"/>
                        </a:rPr>
                        <a:t>Suwandi Soh / Mekari</a:t>
                      </a:r>
                    </a:p>
                  </a:txBody>
                  <a:tcPr marL="91440" marR="91440" marT="45720" marB="45720">
                    <a:solidFill>
                      <a:srgbClr val="F3F6F9"/>
                    </a:solidFill>
                  </a:tcPr>
                </a:tc>
                <a:tc>
                  <a:txBody>
                    <a:bodyPr lIns="95250" tIns="76200" rIns="95250" bIns="57150"/>
                    <a:lstStyle/>
                    <a:p>
                      <a:r>
                        <a:rPr sz="1350" b="0">
                          <a:solidFill>
                            <a:srgbClr val="273746"/>
                          </a:solidFill>
                          <a:latin typeface="Calibri"/>
                          <a:ea typeface="Calibri"/>
                          <a:cs typeface="Calibri"/>
                        </a:rPr>
                        <a:t>Winston Utomo / IDN</a:t>
                      </a:r>
                    </a:p>
                  </a:txBody>
                  <a:tcPr marL="91440" marR="91440" marT="45720" marB="45720">
                    <a:solidFill>
                      <a:srgbClr val="F3F6F9"/>
                    </a:solidFill>
                  </a:tcPr>
                </a:tc>
              </a:tr>
              <a:tr h="352425">
                <a:tc>
                  <a:txBody>
                    <a:bodyPr lIns="95250" tIns="76200" rIns="95250" bIns="57150"/>
                    <a:lstStyle/>
                    <a:p>
                      <a:r>
                        <a:rPr sz="1350" b="0">
                          <a:solidFill>
                            <a:srgbClr val="273746"/>
                          </a:solidFill>
                          <a:latin typeface="Calibri"/>
                          <a:ea typeface="Calibri"/>
                          <a:cs typeface="Calibri"/>
                        </a:rPr>
                        <a:t>16 Des</a:t>
                      </a:r>
                    </a:p>
                  </a:txBody>
                  <a:tcPr marL="91440" marR="91440" marT="45720" marB="45720">
                    <a:solidFill>
                      <a:srgbClr val="FFFFFF"/>
                    </a:solidFill>
                  </a:tcPr>
                </a:tc>
                <a:tc>
                  <a:txBody>
                    <a:bodyPr lIns="95250" tIns="76200" rIns="95250" bIns="57150"/>
                    <a:lstStyle/>
                    <a:p>
                      <a:r>
                        <a:rPr sz="1350" b="0">
                          <a:solidFill>
                            <a:srgbClr val="273746"/>
                          </a:solidFill>
                          <a:latin typeface="Calibri"/>
                          <a:ea typeface="Calibri"/>
                          <a:cs typeface="Calibri"/>
                        </a:rPr>
                        <a:t>Anthony Soehartono</a:t>
                      </a:r>
                    </a:p>
                  </a:txBody>
                  <a:tcPr marL="91440" marR="91440" marT="45720" marB="45720">
                    <a:solidFill>
                      <a:srgbClr val="FFFFFF"/>
                    </a:solidFill>
                  </a:tcPr>
                </a:tc>
                <a:tc>
                  <a:txBody>
                    <a:bodyPr lIns="95250" tIns="76200" rIns="95250" bIns="57150"/>
                    <a:lstStyle/>
                    <a:p>
                      <a:r>
                        <a:rPr sz="1350" b="0">
                          <a:solidFill>
                            <a:srgbClr val="273746"/>
                          </a:solidFill>
                          <a:latin typeface="Calibri"/>
                          <a:ea typeface="Calibri"/>
                          <a:cs typeface="Calibri"/>
                        </a:rPr>
                        <a:t>Belum tersedia</a:t>
                      </a:r>
                    </a:p>
                  </a:txBody>
                  <a:tcPr marL="91440" marR="91440" marT="45720" marB="45720">
                    <a:solidFill>
                      <a:srgbClr val="FFFFFF"/>
                    </a:solidFill>
                  </a:tcPr>
                </a:tc>
              </a:tr>
              <a:tr h="352425">
                <a:tc>
                  <a:txBody>
                    <a:bodyPr lIns="95250" tIns="76200" rIns="95250" bIns="57150"/>
                    <a:lstStyle/>
                    <a:p>
                      <a:r>
                        <a:rPr sz="1350" b="0">
                          <a:solidFill>
                            <a:srgbClr val="273746"/>
                          </a:solidFill>
                          <a:latin typeface="Calibri"/>
                          <a:ea typeface="Calibri"/>
                          <a:cs typeface="Calibri"/>
                        </a:rPr>
                        <a:t>23 Des</a:t>
                      </a:r>
                    </a:p>
                  </a:txBody>
                  <a:tcPr marL="91440" marR="91440" marT="45720" marB="45720">
                    <a:solidFill>
                      <a:srgbClr val="F3F6F9"/>
                    </a:solidFill>
                  </a:tcPr>
                </a:tc>
                <a:tc>
                  <a:txBody>
                    <a:bodyPr lIns="95250" tIns="76200" rIns="95250" bIns="57150"/>
                    <a:lstStyle/>
                    <a:p>
                      <a:r>
                        <a:rPr sz="1350" b="0">
                          <a:solidFill>
                            <a:srgbClr val="273746"/>
                          </a:solidFill>
                          <a:latin typeface="Calibri"/>
                          <a:ea typeface="Calibri"/>
                          <a:cs typeface="Calibri"/>
                        </a:rPr>
                        <a:t>Purwa Hartono</a:t>
                      </a:r>
                    </a:p>
                  </a:txBody>
                  <a:tcPr marL="91440" marR="91440" marT="45720" marB="45720">
                    <a:solidFill>
                      <a:srgbClr val="F3F6F9"/>
                    </a:solidFill>
                  </a:tcPr>
                </a:tc>
                <a:tc>
                  <a:txBody>
                    <a:bodyPr lIns="95250" tIns="76200" rIns="95250" bIns="57150"/>
                    <a:lstStyle/>
                    <a:p>
                      <a:r>
                        <a:rPr sz="1350" b="0">
                          <a:solidFill>
                            <a:srgbClr val="273746"/>
                          </a:solidFill>
                          <a:latin typeface="Calibri"/>
                          <a:ea typeface="Calibri"/>
                          <a:cs typeface="Calibri"/>
                        </a:rPr>
                        <a:t>Mandy Purwa Hartono</a:t>
                      </a:r>
                    </a:p>
                  </a:txBody>
                  <a:tcPr marL="91440" marR="91440" marT="45720" marB="45720">
                    <a:solidFill>
                      <a:srgbClr val="F3F6F9"/>
                    </a:solidFill>
                  </a:tcPr>
                </a:tc>
              </a:tr>
            </a:tbl>
          </a:graphicData>
        </a:graphic>
      </p:graphicFrame>
      <p:sp>
        <p:nvSpPr>
          <p:cNvPr id="8" name="text-199">
            <a:extLst xmlns:a="http://schemas.openxmlformats.org/drawingml/2006/main">
              <a:ext uri="{FF2B5EF4-FFF2-40B4-BE49-F238E27FC236}">
                <a16:creationId xmlns:a16="http://schemas.microsoft.com/office/drawing/2014/main" id="{57110A92-632E-4312-9FAD-265252E95948}"/>
              </a:ext>
            </a:extLst>
          </p:cNvPr>
          <p:cNvSpPr>
            <a:spLocks xmlns:a="http://schemas.openxmlformats.org/drawingml/2006/main" noGrp="1"/>
          </p:cNvSpPr>
          <p:nvPr/>
        </p:nvSpPr>
        <p:spPr>
          <a:xfrm xmlns:a="http://schemas.openxmlformats.org/drawingml/2006/main">
            <a:off x="8572500" y="2543175"/>
            <a:ext cx="30099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1">
                <a:solidFill>
                  <a:srgbClr val="65717D"/>
                </a:solidFill>
                <a:latin typeface="Calibri"/>
                <a:ea typeface="Calibri"/>
                <a:cs typeface="Calibri"/>
              </a:defRPr>
            </a:pPr>
            <a:r>
              <a:rPr sz="1725" b="1">
                <a:solidFill>
                  <a:srgbClr val="65717D"/>
                </a:solidFill>
                <a:latin typeface="Calibri"/>
                <a:ea typeface="Calibri"/>
                <a:cs typeface="Calibri"/>
              </a:rPr>
              <a:t>H-7 / Form pertanyaan</a:t>
            </a:r>
          </a:p>
        </p:txBody>
      </p:sp>
      <p:sp>
        <p:nvSpPr>
          <p:cNvPr id="9" name="text-200">
            <a:extLst xmlns:a="http://schemas.openxmlformats.org/drawingml/2006/main">
              <a:ext uri="{FF2B5EF4-FFF2-40B4-BE49-F238E27FC236}">
                <a16:creationId xmlns:a16="http://schemas.microsoft.com/office/drawing/2014/main" id="{F91257DD-A5D7-4823-B65E-319D72A4C056}"/>
              </a:ext>
            </a:extLst>
          </p:cNvPr>
          <p:cNvSpPr>
            <a:spLocks xmlns:a="http://schemas.openxmlformats.org/drawingml/2006/main" noGrp="1"/>
          </p:cNvSpPr>
          <p:nvPr/>
        </p:nvSpPr>
        <p:spPr>
          <a:xfrm xmlns:a="http://schemas.openxmlformats.org/drawingml/2006/main">
            <a:off x="8572500" y="3248025"/>
            <a:ext cx="30099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1">
                <a:solidFill>
                  <a:srgbClr val="65717D"/>
                </a:solidFill>
                <a:latin typeface="Calibri"/>
                <a:ea typeface="Calibri"/>
                <a:cs typeface="Calibri"/>
              </a:defRPr>
            </a:pPr>
            <a:r>
              <a:rPr sz="1725" b="1">
                <a:solidFill>
                  <a:srgbClr val="65717D"/>
                </a:solidFill>
                <a:latin typeface="Calibri"/>
                <a:ea typeface="Calibri"/>
                <a:cs typeface="Calibri"/>
              </a:rPr>
              <a:t>H-3 / Shortlist ke speaker</a:t>
            </a:r>
          </a:p>
        </p:txBody>
      </p:sp>
      <p:sp>
        <p:nvSpPr>
          <p:cNvPr id="10" name="text-201">
            <a:extLst xmlns:a="http://schemas.openxmlformats.org/drawingml/2006/main">
              <a:ext uri="{FF2B5EF4-FFF2-40B4-BE49-F238E27FC236}">
                <a16:creationId xmlns:a16="http://schemas.microsoft.com/office/drawing/2014/main" id="{57EAB6BF-ABA0-4C6A-997C-700B5DE1731F}"/>
              </a:ext>
            </a:extLst>
          </p:cNvPr>
          <p:cNvSpPr>
            <a:spLocks xmlns:a="http://schemas.openxmlformats.org/drawingml/2006/main" noGrp="1"/>
          </p:cNvSpPr>
          <p:nvPr/>
        </p:nvSpPr>
        <p:spPr>
          <a:xfrm xmlns:a="http://schemas.openxmlformats.org/drawingml/2006/main">
            <a:off x="8572500" y="3952875"/>
            <a:ext cx="30099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1">
                <a:solidFill>
                  <a:srgbClr val="002060"/>
                </a:solidFill>
                <a:latin typeface="Calibri"/>
                <a:ea typeface="Calibri"/>
                <a:cs typeface="Calibri"/>
              </a:defRPr>
            </a:pPr>
            <a:r>
              <a:rPr sz="1725" b="1">
                <a:solidFill>
                  <a:srgbClr val="002060"/>
                </a:solidFill>
                <a:latin typeface="Calibri"/>
                <a:ea typeface="Calibri"/>
                <a:cs typeface="Calibri"/>
              </a:rPr>
              <a:t>LIVE / 60 menit Q&amp;A</a:t>
            </a:r>
          </a:p>
        </p:txBody>
      </p:sp>
      <p:sp>
        <p:nvSpPr>
          <p:cNvPr id="11" name="text-202">
            <a:extLst xmlns:a="http://schemas.openxmlformats.org/drawingml/2006/main">
              <a:ext uri="{FF2B5EF4-FFF2-40B4-BE49-F238E27FC236}">
                <a16:creationId xmlns:a16="http://schemas.microsoft.com/office/drawing/2014/main" id="{EE45A380-5364-4F04-B237-913A2CC241B3}"/>
              </a:ext>
            </a:extLst>
          </p:cNvPr>
          <p:cNvSpPr>
            <a:spLocks xmlns:a="http://schemas.openxmlformats.org/drawingml/2006/main" noGrp="1"/>
          </p:cNvSpPr>
          <p:nvPr/>
        </p:nvSpPr>
        <p:spPr>
          <a:xfrm xmlns:a="http://schemas.openxmlformats.org/drawingml/2006/main">
            <a:off x="8572500" y="4657725"/>
            <a:ext cx="30099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1">
                <a:solidFill>
                  <a:srgbClr val="65717D"/>
                </a:solidFill>
                <a:latin typeface="Calibri"/>
                <a:ea typeface="Calibri"/>
                <a:cs typeface="Calibri"/>
              </a:defRPr>
            </a:pPr>
            <a:r>
              <a:rPr sz="1725" b="1">
                <a:solidFill>
                  <a:srgbClr val="65717D"/>
                </a:solidFill>
                <a:latin typeface="Calibri"/>
                <a:ea typeface="Calibri"/>
                <a:cs typeface="Calibri"/>
              </a:rPr>
              <a:t>H+3 / Rekaman ke LMS</a:t>
            </a:r>
          </a:p>
        </p:txBody>
      </p:sp>
      <p:sp>
        <p:nvSpPr>
          <p:cNvPr id="12" name="text-203">
            <a:extLst xmlns:a="http://schemas.openxmlformats.org/drawingml/2006/main">
              <a:ext uri="{FF2B5EF4-FFF2-40B4-BE49-F238E27FC236}">
                <a16:creationId xmlns:a16="http://schemas.microsoft.com/office/drawing/2014/main" id="{78A25B07-8281-406C-8CA8-5330F34851E5}"/>
              </a:ext>
            </a:extLst>
          </p:cNvPr>
          <p:cNvSpPr>
            <a:spLocks xmlns:a="http://schemas.openxmlformats.org/drawingml/2006/main" noGrp="1"/>
          </p:cNvSpPr>
          <p:nvPr/>
        </p:nvSpPr>
        <p:spPr>
          <a:xfrm xmlns:a="http://schemas.openxmlformats.org/drawingml/2006/main">
            <a:off x="609600" y="581025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75" b="0">
                <a:solidFill>
                  <a:srgbClr val="65717D"/>
                </a:solidFill>
                <a:latin typeface="Calibri"/>
                <a:ea typeface="Calibri"/>
                <a:cs typeface="Calibri"/>
              </a:defRPr>
            </a:pPr>
            <a:r>
              <a:rPr sz="1575" b="0">
                <a:solidFill>
                  <a:srgbClr val="65717D"/>
                </a:solidFill>
                <a:latin typeface="Calibri"/>
                <a:ea typeface="Calibri"/>
                <a:cs typeface="Calibri"/>
              </a:rPr>
              <a:t>Reserve: Samuel Christ dan Dokter Tirta</a:t>
            </a:r>
          </a:p>
        </p:txBody>
      </p:sp>
    </p:spTree>
    <p:extLst>
      <p:ext uri="{BB962C8B-B14F-4D97-AF65-F5344CB8AC3E}">
        <p14:creationId xmlns:p14="http://schemas.microsoft.com/office/powerpoint/2010/main" val="1208369878"/>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text-204">
            <a:extLst xmlns:a="http://schemas.openxmlformats.org/drawingml/2006/main">
              <a:ext uri="{FF2B5EF4-FFF2-40B4-BE49-F238E27FC236}">
                <a16:creationId xmlns:a16="http://schemas.microsoft.com/office/drawing/2014/main" id="{4C460475-773C-4663-9425-BB07A34CF20E}"/>
              </a:ext>
            </a:extLst>
          </p:cNvPr>
          <p:cNvSpPr>
            <a:spLocks xmlns:a="http://schemas.openxmlformats.org/drawingml/2006/main" noGrp="1"/>
          </p:cNvSpPr>
          <p:nvPr/>
        </p:nvSpPr>
        <p:spPr>
          <a:xfrm xmlns:a="http://schemas.openxmlformats.org/drawingml/2006/main">
            <a:off x="609600" y="333375"/>
            <a:ext cx="1066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65717D"/>
                </a:solidFill>
                <a:latin typeface="Calibri"/>
                <a:ea typeface="Calibri"/>
                <a:cs typeface="Calibri"/>
              </a:defRPr>
            </a:pPr>
            <a:r>
              <a:rPr sz="1050" b="1">
                <a:solidFill>
                  <a:srgbClr val="65717D"/>
                </a:solidFill>
                <a:latin typeface="Calibri"/>
                <a:ea typeface="Calibri"/>
                <a:cs typeface="Calibri"/>
              </a:rPr>
              <a:t>A2 / ZOOM</a:t>
            </a:r>
          </a:p>
        </p:txBody>
      </p:sp>
      <p:sp>
        <p:nvSpPr>
          <p:cNvPr id="2" name="text-205">
            <a:extLst xmlns:a="http://schemas.openxmlformats.org/drawingml/2006/main">
              <a:ext uri="{FF2B5EF4-FFF2-40B4-BE49-F238E27FC236}">
                <a16:creationId xmlns:a16="http://schemas.microsoft.com/office/drawing/2014/main" id="{6EFA6C2F-5AEA-4932-BF7F-2DF1184F3A0D}"/>
              </a:ext>
            </a:extLst>
          </p:cNvPr>
          <p:cNvSpPr>
            <a:spLocks xmlns:a="http://schemas.openxmlformats.org/drawingml/2006/main" noGrp="1"/>
          </p:cNvSpPr>
          <p:nvPr/>
        </p:nvSpPr>
        <p:spPr>
          <a:xfrm xmlns:a="http://schemas.openxmlformats.org/drawingml/2006/main">
            <a:off x="609600" y="723900"/>
            <a:ext cx="10858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925" b="1">
                <a:solidFill>
                  <a:srgbClr val="002060"/>
                </a:solidFill>
                <a:latin typeface="Calibri"/>
                <a:ea typeface="Calibri"/>
                <a:cs typeface="Calibri"/>
              </a:defRPr>
            </a:pPr>
            <a:r>
              <a:rPr sz="2925" b="1">
                <a:solidFill>
                  <a:srgbClr val="002060"/>
                </a:solidFill>
                <a:latin typeface="Calibri"/>
                <a:ea typeface="Calibri"/>
                <a:cs typeface="Calibri"/>
              </a:rPr>
              <a:t>Scope sewa perlu dikonfirmasi sebelum memilih vendor</a:t>
            </a:r>
          </a:p>
        </p:txBody>
      </p:sp>
      <p:sp>
        <p:nvSpPr>
          <p:cNvPr id="3" name="text-206">
            <a:extLst xmlns:a="http://schemas.openxmlformats.org/drawingml/2006/main">
              <a:ext uri="{FF2B5EF4-FFF2-40B4-BE49-F238E27FC236}">
                <a16:creationId xmlns:a16="http://schemas.microsoft.com/office/drawing/2014/main" id="{DE837250-71D6-4C9F-ACF3-1A3D13CC880B}"/>
              </a:ext>
            </a:extLst>
          </p:cNvPr>
          <p:cNvSpPr>
            <a:spLocks xmlns:a="http://schemas.openxmlformats.org/drawingml/2006/main" noGrp="1"/>
          </p:cNvSpPr>
          <p:nvPr/>
        </p:nvSpPr>
        <p:spPr>
          <a:xfrm xmlns:a="http://schemas.openxmlformats.org/drawingml/2006/main">
            <a:off x="609600" y="1666875"/>
            <a:ext cx="10858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65717D"/>
                </a:solidFill>
                <a:latin typeface="Calibri"/>
                <a:ea typeface="Calibri"/>
                <a:cs typeface="Calibri"/>
              </a:defRPr>
            </a:pPr>
            <a:r>
              <a:rPr sz="1500" b="0">
                <a:solidFill>
                  <a:srgbClr val="65717D"/>
                </a:solidFill>
                <a:latin typeface="Calibri"/>
                <a:ea typeface="Calibri"/>
                <a:cs typeface="Calibri"/>
              </a:rPr>
              <a:t>Harga per cohort 2 bulan atau 8 sesi, sebelum pajak.</a:t>
            </a:r>
          </a:p>
        </p:txBody>
      </p:sp>
      <p:sp>
        <p:nvSpPr>
          <p:cNvPr id="4" name="">
            <a:extLst xmlns:a="http://schemas.openxmlformats.org/drawingml/2006/main">
              <a:ext uri="{FF2B5EF4-FFF2-40B4-BE49-F238E27FC236}">
                <a16:creationId xmlns:a16="http://schemas.microsoft.com/office/drawing/2014/main" id="{8472F693-824B-4606-94E9-DD95ED83E2DA}"/>
              </a:ext>
            </a:extLst>
          </p:cNvPr>
          <p:cNvSpPr>
            <a:spLocks xmlns:a="http://schemas.openxmlformats.org/drawingml/2006/main" noGrp="1"/>
          </p:cNvSpPr>
          <p:nvPr/>
        </p:nvSpPr>
        <p:spPr>
          <a:xfrm xmlns:a="http://schemas.openxmlformats.org/drawingml/2006/main">
            <a:off x="609600" y="6381750"/>
            <a:ext cx="10972800" cy="0"/>
          </a:xfrm>
          <a:prstGeom xmlns:a="http://schemas.openxmlformats.org/drawingml/2006/main" prst="line">
            <a:avLst/>
          </a:prstGeom>
          <a:noFill xmlns:a="http://schemas.openxmlformats.org/drawingml/2006/main"/>
          <a:ln xmlns:a="http://schemas.openxmlformats.org/drawingml/2006/main" w="9525">
            <a:solidFill>
              <a:srgbClr val="DCE2E8"/>
            </a:solidFill>
          </a:ln>
        </p:spPr>
      </p:sp>
      <p:sp>
        <p:nvSpPr>
          <p:cNvPr id="5" name="text-207">
            <a:extLst xmlns:a="http://schemas.openxmlformats.org/drawingml/2006/main">
              <a:ext uri="{FF2B5EF4-FFF2-40B4-BE49-F238E27FC236}">
                <a16:creationId xmlns:a16="http://schemas.microsoft.com/office/drawing/2014/main" id="{0DB3E2DC-6A66-400A-9245-A8402896863E}"/>
              </a:ext>
            </a:extLst>
          </p:cNvPr>
          <p:cNvSpPr>
            <a:spLocks xmlns:a="http://schemas.openxmlformats.org/drawingml/2006/main" noGrp="1"/>
          </p:cNvSpPr>
          <p:nvPr/>
        </p:nvSpPr>
        <p:spPr>
          <a:xfrm xmlns:a="http://schemas.openxmlformats.org/drawingml/2006/main">
            <a:off x="609600" y="6505575"/>
            <a:ext cx="10191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825" b="0">
                <a:solidFill>
                  <a:srgbClr val="65717D"/>
                </a:solidFill>
                <a:latin typeface="Calibri"/>
                <a:ea typeface="Calibri"/>
                <a:cs typeface="Calibri"/>
              </a:defRPr>
            </a:pPr>
            <a:r>
              <a:rPr sz="825" b="0">
                <a:solidFill>
                  <a:srgbClr val="65717D"/>
                </a:solidFill>
                <a:latin typeface="Calibri"/>
                <a:ea typeface="Calibri"/>
                <a:cs typeface="Calibri"/>
              </a:rPr>
              <a:t>CMC internal, Oktober 2026. Angka usulan mengikuti deck sumber.</a:t>
            </a:r>
          </a:p>
        </p:txBody>
      </p:sp>
      <p:sp>
        <p:nvSpPr>
          <p:cNvPr id="6" name="text-208">
            <a:extLst xmlns:a="http://schemas.openxmlformats.org/drawingml/2006/main">
              <a:ext uri="{FF2B5EF4-FFF2-40B4-BE49-F238E27FC236}">
                <a16:creationId xmlns:a16="http://schemas.microsoft.com/office/drawing/2014/main" id="{9AB044C1-8CAB-4E3E-BFDF-E1C5083FEF5C}"/>
              </a:ext>
            </a:extLst>
          </p:cNvPr>
          <p:cNvSpPr>
            <a:spLocks xmlns:a="http://schemas.openxmlformats.org/drawingml/2006/main" noGrp="1"/>
          </p:cNvSpPr>
          <p:nvPr/>
        </p:nvSpPr>
        <p:spPr>
          <a:xfrm xmlns:a="http://schemas.openxmlformats.org/drawingml/2006/main">
            <a:off x="11125200" y="6486525"/>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002060"/>
                </a:solidFill>
                <a:latin typeface="Calibri"/>
                <a:ea typeface="Calibri"/>
                <a:cs typeface="Calibri"/>
              </a:defRPr>
            </a:pPr>
            <a:r>
              <a:rPr sz="1050" b="1">
                <a:solidFill>
                  <a:srgbClr val="002060"/>
                </a:solidFill>
                <a:latin typeface="Calibri"/>
                <a:ea typeface="Calibri"/>
                <a:cs typeface="Calibri"/>
              </a:rPr>
              <a:t>14</a:t>
            </a:r>
          </a:p>
        </p:txBody>
      </p:sp>
      <p:graphicFrame>
        <p:nvGraphicFramePr>
          <p:cNvPr id="18" name=""/>
          <p:cNvGraphicFramePr/>
          <p:nvPr/>
        </p:nvGraphicFramePr>
        <p:xfrm>
          <a:off xmlns:a="http://schemas.openxmlformats.org/drawingml/2006/main" x="609600" y="2352675"/>
          <a:ext xmlns:a="http://schemas.openxmlformats.org/drawingml/2006/main" cx="10972800" cy="2333625"/>
        </p:xfrm>
        <a:graphic xmlns:a="http://schemas.openxmlformats.org/drawingml/2006/main">
          <a:graphicData uri="http://schemas.openxmlformats.org/drawingml/2006/table">
            <a:tbl>
              <a:tblPr/>
              <a:tblGrid>
                <a:gridCol w="3571875"/>
                <a:gridCol w="2590800"/>
                <a:gridCol w="2143125"/>
                <a:gridCol w="2667000"/>
              </a:tblGrid>
              <a:tr h="466725">
                <a:tc>
                  <a:txBody>
                    <a:bodyPr lIns="95250" tIns="76200" rIns="95250" bIns="57150"/>
                    <a:lstStyle/>
                    <a:p>
                      <a:r>
                        <a:rPr sz="1575" b="1">
                          <a:solidFill>
                            <a:srgbClr val="FFFFFF"/>
                          </a:solidFill>
                          <a:latin typeface="Calibri"/>
                          <a:ea typeface="Calibri"/>
                          <a:cs typeface="Calibri"/>
                        </a:rPr>
                        <a:t>Opsi</a:t>
                      </a:r>
                    </a:p>
                  </a:txBody>
                  <a:tcPr marL="91440" marR="91440" marT="45720" marB="45720">
                    <a:solidFill>
                      <a:srgbClr val="002060"/>
                    </a:solidFill>
                  </a:tcPr>
                </a:tc>
                <a:tc>
                  <a:txBody>
                    <a:bodyPr lIns="95250" tIns="76200" rIns="95250" bIns="57150"/>
                    <a:lstStyle/>
                    <a:p>
                      <a:r>
                        <a:rPr sz="1575" b="1">
                          <a:solidFill>
                            <a:srgbClr val="FFFFFF"/>
                          </a:solidFill>
                          <a:latin typeface="Calibri"/>
                          <a:ea typeface="Calibri"/>
                          <a:cs typeface="Calibri"/>
                        </a:rPr>
                        <a:t>Tarif</a:t>
                      </a:r>
                    </a:p>
                  </a:txBody>
                  <a:tcPr marL="91440" marR="91440" marT="45720" marB="45720">
                    <a:solidFill>
                      <a:srgbClr val="002060"/>
                    </a:solidFill>
                  </a:tcPr>
                </a:tc>
                <a:tc>
                  <a:txBody>
                    <a:bodyPr lIns="95250" tIns="76200" rIns="95250" bIns="57150"/>
                    <a:lstStyle/>
                    <a:p>
                      <a:r>
                        <a:rPr sz="1575" b="1">
                          <a:solidFill>
                            <a:srgbClr val="FFFFFF"/>
                          </a:solidFill>
                          <a:latin typeface="Calibri"/>
                          <a:ea typeface="Calibri"/>
                          <a:cs typeface="Calibri"/>
                        </a:rPr>
                        <a:t>Per cohort</a:t>
                      </a:r>
                    </a:p>
                  </a:txBody>
                  <a:tcPr marL="91440" marR="91440" marT="45720" marB="45720">
                    <a:solidFill>
                      <a:srgbClr val="002060"/>
                    </a:solidFill>
                  </a:tcPr>
                </a:tc>
                <a:tc>
                  <a:txBody>
                    <a:bodyPr lIns="95250" tIns="76200" rIns="95250" bIns="57150"/>
                    <a:lstStyle/>
                    <a:p>
                      <a:r>
                        <a:rPr sz="1575" b="1">
                          <a:solidFill>
                            <a:srgbClr val="FFFFFF"/>
                          </a:solidFill>
                          <a:latin typeface="Calibri"/>
                          <a:ea typeface="Calibri"/>
                          <a:cs typeface="Calibri"/>
                        </a:rPr>
                        <a:t>Status</a:t>
                      </a:r>
                    </a:p>
                  </a:txBody>
                  <a:tcPr marL="91440" marR="91440" marT="45720" marB="45720">
                    <a:solidFill>
                      <a:srgbClr val="002060"/>
                    </a:solidFill>
                  </a:tcPr>
                </a:tc>
              </a:tr>
              <a:tr h="466725">
                <a:tc>
                  <a:txBody>
                    <a:bodyPr lIns="95250" tIns="76200" rIns="95250" bIns="57150"/>
                    <a:lstStyle/>
                    <a:p>
                      <a:r>
                        <a:rPr sz="1575" b="0">
                          <a:solidFill>
                            <a:srgbClr val="273746"/>
                          </a:solidFill>
                          <a:latin typeface="Calibri"/>
                          <a:ea typeface="Calibri"/>
                          <a:cs typeface="Calibri"/>
                        </a:rPr>
                        <a:t>Pro + Large Meeting 1.000</a:t>
                      </a:r>
                    </a:p>
                  </a:txBody>
                  <a:tcPr marL="91440" marR="91440" marT="45720" marB="45720">
                    <a:solidFill>
                      <a:srgbClr val="FFFFFF"/>
                    </a:solidFill>
                  </a:tcPr>
                </a:tc>
                <a:tc>
                  <a:txBody>
                    <a:bodyPr lIns="95250" tIns="76200" rIns="95250" bIns="57150"/>
                    <a:lstStyle/>
                    <a:p>
                      <a:r>
                        <a:rPr sz="1575" b="0">
                          <a:solidFill>
                            <a:srgbClr val="273746"/>
                          </a:solidFill>
                          <a:latin typeface="Calibri"/>
                          <a:ea typeface="Calibri"/>
                          <a:cs typeface="Calibri"/>
                        </a:rPr>
                        <a:t>Rp2.655.839 / bulan</a:t>
                      </a:r>
                    </a:p>
                  </a:txBody>
                  <a:tcPr marL="91440" marR="91440" marT="45720" marB="45720">
                    <a:solidFill>
                      <a:srgbClr val="FFFFFF"/>
                    </a:solidFill>
                  </a:tcPr>
                </a:tc>
                <a:tc>
                  <a:txBody>
                    <a:bodyPr lIns="95250" tIns="76200" rIns="95250" bIns="57150"/>
                    <a:lstStyle/>
                    <a:p>
                      <a:r>
                        <a:rPr sz="1575" b="0">
                          <a:solidFill>
                            <a:srgbClr val="273746"/>
                          </a:solidFill>
                          <a:latin typeface="Calibri"/>
                          <a:ea typeface="Calibri"/>
                          <a:cs typeface="Calibri"/>
                        </a:rPr>
                        <a:t>Rp5.311.678</a:t>
                      </a:r>
                    </a:p>
                  </a:txBody>
                  <a:tcPr marL="91440" marR="91440" marT="45720" marB="45720">
                    <a:solidFill>
                      <a:srgbClr val="FFFFFF"/>
                    </a:solidFill>
                  </a:tcPr>
                </a:tc>
                <a:tc>
                  <a:txBody>
                    <a:bodyPr lIns="95250" tIns="76200" rIns="95250" bIns="57150"/>
                    <a:lstStyle/>
                    <a:p>
                      <a:r>
                        <a:rPr sz="1575" b="0">
                          <a:solidFill>
                            <a:srgbClr val="273746"/>
                          </a:solidFill>
                          <a:latin typeface="Calibri"/>
                          <a:ea typeface="Calibri"/>
                          <a:cs typeface="Calibri"/>
                        </a:rPr>
                        <a:t>Acuan sebelumnya</a:t>
                      </a:r>
                    </a:p>
                  </a:txBody>
                  <a:tcPr marL="91440" marR="91440" marT="45720" marB="45720">
                    <a:solidFill>
                      <a:srgbClr val="FFFFFF"/>
                    </a:solidFill>
                  </a:tcPr>
                </a:tc>
              </a:tr>
              <a:tr h="466725">
                <a:tc>
                  <a:txBody>
                    <a:bodyPr lIns="95250" tIns="76200" rIns="95250" bIns="57150"/>
                    <a:lstStyle/>
                    <a:p>
                      <a:r>
                        <a:rPr sz="1575" b="0">
                          <a:solidFill>
                            <a:srgbClr val="273746"/>
                          </a:solidFill>
                          <a:latin typeface="Calibri"/>
                          <a:ea typeface="Calibri"/>
                          <a:cs typeface="Calibri"/>
                        </a:rPr>
                        <a:t>Business + LM 1.000</a:t>
                      </a:r>
                    </a:p>
                  </a:txBody>
                  <a:tcPr marL="91440" marR="91440" marT="45720" marB="45720">
                    <a:solidFill>
                      <a:srgbClr val="F3F6F9"/>
                    </a:solidFill>
                  </a:tcPr>
                </a:tc>
                <a:tc>
                  <a:txBody>
                    <a:bodyPr lIns="95250" tIns="76200" rIns="95250" bIns="57150"/>
                    <a:lstStyle/>
                    <a:p>
                      <a:r>
                        <a:rPr sz="1575" b="0">
                          <a:solidFill>
                            <a:srgbClr val="273746"/>
                          </a:solidFill>
                          <a:latin typeface="Calibri"/>
                          <a:ea typeface="Calibri"/>
                          <a:cs typeface="Calibri"/>
                        </a:rPr>
                        <a:t>Rp2.735.839 / bulan</a:t>
                      </a:r>
                    </a:p>
                  </a:txBody>
                  <a:tcPr marL="91440" marR="91440" marT="45720" marB="45720">
                    <a:solidFill>
                      <a:srgbClr val="F3F6F9"/>
                    </a:solidFill>
                  </a:tcPr>
                </a:tc>
                <a:tc>
                  <a:txBody>
                    <a:bodyPr lIns="95250" tIns="76200" rIns="95250" bIns="57150"/>
                    <a:lstStyle/>
                    <a:p>
                      <a:r>
                        <a:rPr sz="1575" b="0">
                          <a:solidFill>
                            <a:srgbClr val="273746"/>
                          </a:solidFill>
                          <a:latin typeface="Calibri"/>
                          <a:ea typeface="Calibri"/>
                          <a:cs typeface="Calibri"/>
                        </a:rPr>
                        <a:t>Rp5.471.678</a:t>
                      </a:r>
                    </a:p>
                  </a:txBody>
                  <a:tcPr marL="91440" marR="91440" marT="45720" marB="45720">
                    <a:solidFill>
                      <a:srgbClr val="F3F6F9"/>
                    </a:solidFill>
                  </a:tcPr>
                </a:tc>
                <a:tc>
                  <a:txBody>
                    <a:bodyPr lIns="95250" tIns="76200" rIns="95250" bIns="57150"/>
                    <a:lstStyle/>
                    <a:p>
                      <a:r>
                        <a:rPr sz="1575" b="0">
                          <a:solidFill>
                            <a:srgbClr val="273746"/>
                          </a:solidFill>
                          <a:latin typeface="Calibri"/>
                          <a:ea typeface="Calibri"/>
                          <a:cs typeface="Calibri"/>
                        </a:rPr>
                        <a:t>Acuan sebelumnya</a:t>
                      </a:r>
                    </a:p>
                  </a:txBody>
                  <a:tcPr marL="91440" marR="91440" marT="45720" marB="45720">
                    <a:solidFill>
                      <a:srgbClr val="F3F6F9"/>
                    </a:solidFill>
                  </a:tcPr>
                </a:tc>
              </a:tr>
              <a:tr h="466725">
                <a:tc>
                  <a:txBody>
                    <a:bodyPr lIns="95250" tIns="76200" rIns="95250" bIns="57150"/>
                    <a:lstStyle/>
                    <a:p>
                      <a:r>
                        <a:rPr sz="1575" b="0">
                          <a:solidFill>
                            <a:srgbClr val="273746"/>
                          </a:solidFill>
                          <a:latin typeface="Calibri"/>
                          <a:ea typeface="Calibri"/>
                          <a:cs typeface="Calibri"/>
                        </a:rPr>
                        <a:t>Pro + Webinar 1.000</a:t>
                      </a:r>
                    </a:p>
                  </a:txBody>
                  <a:tcPr marL="91440" marR="91440" marT="45720" marB="45720">
                    <a:solidFill>
                      <a:srgbClr val="FFFFFF"/>
                    </a:solidFill>
                  </a:tcPr>
                </a:tc>
                <a:tc>
                  <a:txBody>
                    <a:bodyPr lIns="95250" tIns="76200" rIns="95250" bIns="57150"/>
                    <a:lstStyle/>
                    <a:p>
                      <a:r>
                        <a:rPr sz="1575" b="0">
                          <a:solidFill>
                            <a:srgbClr val="273746"/>
                          </a:solidFill>
                          <a:latin typeface="Calibri"/>
                          <a:ea typeface="Calibri"/>
                          <a:cs typeface="Calibri"/>
                        </a:rPr>
                        <a:t>Rp5.350.420 / bulan</a:t>
                      </a:r>
                    </a:p>
                  </a:txBody>
                  <a:tcPr marL="91440" marR="91440" marT="45720" marB="45720">
                    <a:solidFill>
                      <a:srgbClr val="FFFFFF"/>
                    </a:solidFill>
                  </a:tcPr>
                </a:tc>
                <a:tc>
                  <a:txBody>
                    <a:bodyPr lIns="95250" tIns="76200" rIns="95250" bIns="57150"/>
                    <a:lstStyle/>
                    <a:p>
                      <a:r>
                        <a:rPr sz="1575" b="0">
                          <a:solidFill>
                            <a:srgbClr val="273746"/>
                          </a:solidFill>
                          <a:latin typeface="Calibri"/>
                          <a:ea typeface="Calibri"/>
                          <a:cs typeface="Calibri"/>
                        </a:rPr>
                        <a:t>Rp10.700.840</a:t>
                      </a:r>
                    </a:p>
                  </a:txBody>
                  <a:tcPr marL="91440" marR="91440" marT="45720" marB="45720">
                    <a:solidFill>
                      <a:srgbClr val="FFFFFF"/>
                    </a:solidFill>
                  </a:tcPr>
                </a:tc>
                <a:tc>
                  <a:txBody>
                    <a:bodyPr lIns="95250" tIns="76200" rIns="95250" bIns="57150"/>
                    <a:lstStyle/>
                    <a:p>
                      <a:r>
                        <a:rPr sz="1575" b="0">
                          <a:solidFill>
                            <a:srgbClr val="273746"/>
                          </a:solidFill>
                          <a:latin typeface="Calibri"/>
                          <a:ea typeface="Calibri"/>
                          <a:cs typeface="Calibri"/>
                        </a:rPr>
                        <a:t>Alternatif lama</a:t>
                      </a:r>
                    </a:p>
                  </a:txBody>
                  <a:tcPr marL="91440" marR="91440" marT="45720" marB="45720">
                    <a:solidFill>
                      <a:srgbClr val="FFFFFF"/>
                    </a:solidFill>
                  </a:tcPr>
                </a:tc>
              </a:tr>
              <a:tr h="466725">
                <a:tc>
                  <a:txBody>
                    <a:bodyPr lIns="95250" tIns="76200" rIns="95250" bIns="57150"/>
                    <a:lstStyle/>
                    <a:p>
                      <a:r>
                        <a:rPr sz="1575" b="0">
                          <a:solidFill>
                            <a:srgbClr val="273746"/>
                          </a:solidFill>
                          <a:latin typeface="Calibri"/>
                          <a:ea typeface="Calibri"/>
                          <a:cs typeface="Calibri"/>
                        </a:rPr>
                        <a:t>Sewa kapasitas 1.000</a:t>
                      </a:r>
                    </a:p>
                  </a:txBody>
                  <a:tcPr marL="91440" marR="91440" marT="45720" marB="45720">
                    <a:solidFill>
                      <a:srgbClr val="F3F6F9"/>
                    </a:solidFill>
                  </a:tcPr>
                </a:tc>
                <a:tc>
                  <a:txBody>
                    <a:bodyPr lIns="95250" tIns="76200" rIns="95250" bIns="57150"/>
                    <a:lstStyle/>
                    <a:p>
                      <a:r>
                        <a:rPr sz="1575" b="0">
                          <a:solidFill>
                            <a:srgbClr val="273746"/>
                          </a:solidFill>
                          <a:latin typeface="Calibri"/>
                          <a:ea typeface="Calibri"/>
                          <a:cs typeface="Calibri"/>
                        </a:rPr>
                        <a:t>Rp350.000 / sesi</a:t>
                      </a:r>
                    </a:p>
                  </a:txBody>
                  <a:tcPr marL="91440" marR="91440" marT="45720" marB="45720">
                    <a:solidFill>
                      <a:srgbClr val="F3F6F9"/>
                    </a:solidFill>
                  </a:tcPr>
                </a:tc>
                <a:tc>
                  <a:txBody>
                    <a:bodyPr lIns="95250" tIns="76200" rIns="95250" bIns="57150"/>
                    <a:lstStyle/>
                    <a:p>
                      <a:r>
                        <a:rPr sz="1575" b="0">
                          <a:solidFill>
                            <a:srgbClr val="273746"/>
                          </a:solidFill>
                          <a:latin typeface="Calibri"/>
                          <a:ea typeface="Calibri"/>
                          <a:cs typeface="Calibri"/>
                        </a:rPr>
                        <a:t>Rp2.800.000</a:t>
                      </a:r>
                    </a:p>
                  </a:txBody>
                  <a:tcPr marL="91440" marR="91440" marT="45720" marB="45720">
                    <a:solidFill>
                      <a:srgbClr val="F3F6F9"/>
                    </a:solidFill>
                  </a:tcPr>
                </a:tc>
                <a:tc>
                  <a:txBody>
                    <a:bodyPr lIns="95250" tIns="76200" rIns="95250" bIns="57150"/>
                    <a:lstStyle/>
                    <a:p>
                      <a:r>
                        <a:rPr sz="1575" b="0">
                          <a:solidFill>
                            <a:srgbClr val="273746"/>
                          </a:solidFill>
                          <a:latin typeface="Calibri"/>
                          <a:ea typeface="Calibri"/>
                          <a:cs typeface="Calibri"/>
                        </a:rPr>
                        <a:t>Asumsi CMC</a:t>
                      </a:r>
                    </a:p>
                  </a:txBody>
                  <a:tcPr marL="91440" marR="91440" marT="45720" marB="45720">
                    <a:solidFill>
                      <a:srgbClr val="F3F6F9"/>
                    </a:solidFill>
                  </a:tcPr>
                </a:tc>
              </a:tr>
            </a:tbl>
          </a:graphicData>
        </a:graphic>
      </p:graphicFrame>
      <p:sp>
        <p:nvSpPr>
          <p:cNvPr id="8" name="text-209">
            <a:extLst xmlns:a="http://schemas.openxmlformats.org/drawingml/2006/main">
              <a:ext uri="{FF2B5EF4-FFF2-40B4-BE49-F238E27FC236}">
                <a16:creationId xmlns:a16="http://schemas.microsoft.com/office/drawing/2014/main" id="{75F52F24-EEFB-47DD-AA47-06E1E113CDE7}"/>
              </a:ext>
            </a:extLst>
          </p:cNvPr>
          <p:cNvSpPr>
            <a:spLocks xmlns:a="http://schemas.openxmlformats.org/drawingml/2006/main" noGrp="1"/>
          </p:cNvSpPr>
          <p:nvPr/>
        </p:nvSpPr>
        <p:spPr>
          <a:xfrm xmlns:a="http://schemas.openxmlformats.org/drawingml/2006/main">
            <a:off x="609600" y="4953000"/>
            <a:ext cx="5048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002060"/>
                </a:solidFill>
                <a:latin typeface="Calibri"/>
                <a:ea typeface="Calibri"/>
                <a:cs typeface="Calibri"/>
              </a:defRPr>
            </a:pPr>
            <a:r>
              <a:rPr sz="1875" b="1">
                <a:solidFill>
                  <a:srgbClr val="002060"/>
                </a:solidFill>
                <a:latin typeface="Calibri"/>
                <a:ea typeface="Calibri"/>
                <a:cs typeface="Calibri"/>
              </a:rPr>
              <a:t>Large Meeting</a:t>
            </a:r>
          </a:p>
        </p:txBody>
      </p:sp>
      <p:sp>
        <p:nvSpPr>
          <p:cNvPr id="9" name="text-210">
            <a:extLst xmlns:a="http://schemas.openxmlformats.org/drawingml/2006/main">
              <a:ext uri="{FF2B5EF4-FFF2-40B4-BE49-F238E27FC236}">
                <a16:creationId xmlns:a16="http://schemas.microsoft.com/office/drawing/2014/main" id="{D0209AB3-0214-412F-8327-BBA26B88D93C}"/>
              </a:ext>
            </a:extLst>
          </p:cNvPr>
          <p:cNvSpPr>
            <a:spLocks xmlns:a="http://schemas.openxmlformats.org/drawingml/2006/main" noGrp="1"/>
          </p:cNvSpPr>
          <p:nvPr/>
        </p:nvSpPr>
        <p:spPr>
          <a:xfrm xmlns:a="http://schemas.openxmlformats.org/drawingml/2006/main">
            <a:off x="609600" y="5362575"/>
            <a:ext cx="4953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273746"/>
                </a:solidFill>
                <a:latin typeface="Calibri"/>
                <a:ea typeface="Calibri"/>
                <a:cs typeface="Calibri"/>
              </a:defRPr>
            </a:pPr>
            <a:r>
              <a:rPr sz="1650" b="0">
                <a:solidFill>
                  <a:srgbClr val="273746"/>
                </a:solidFill>
                <a:latin typeface="Calibri"/>
                <a:ea typeface="Calibri"/>
                <a:cs typeface="Calibri"/>
              </a:rPr>
              <a:t>1.000 total termasuk host. Q&amp;A via mic/chat.</a:t>
            </a:r>
          </a:p>
          <a:p xmlns:a="http://schemas.openxmlformats.org/drawingml/2006/main">
            <a:pPr>
              <a:defRPr sz="1650" b="0">
                <a:solidFill>
                  <a:srgbClr val="273746"/>
                </a:solidFill>
                <a:latin typeface="Calibri"/>
                <a:ea typeface="Calibri"/>
                <a:cs typeface="Calibri"/>
              </a:defRPr>
            </a:pPr>
            <a:r>
              <a:rPr sz="1650" b="0">
                <a:solidFill>
                  <a:srgbClr val="273746"/>
                </a:solidFill>
                <a:latin typeface="Calibri"/>
                <a:ea typeface="Calibri"/>
                <a:cs typeface="Calibri"/>
              </a:rPr>
              <a:t>Fitur Q&amp;A khusus perlu Business ke atas.</a:t>
            </a:r>
          </a:p>
        </p:txBody>
      </p:sp>
      <p:sp>
        <p:nvSpPr>
          <p:cNvPr id="10" name="text-211">
            <a:extLst xmlns:a="http://schemas.openxmlformats.org/drawingml/2006/main">
              <a:ext uri="{FF2B5EF4-FFF2-40B4-BE49-F238E27FC236}">
                <a16:creationId xmlns:a16="http://schemas.microsoft.com/office/drawing/2014/main" id="{0A4ADB34-F08A-474B-9A8E-B86F6DEE8F4F}"/>
              </a:ext>
            </a:extLst>
          </p:cNvPr>
          <p:cNvSpPr>
            <a:spLocks xmlns:a="http://schemas.openxmlformats.org/drawingml/2006/main" noGrp="1"/>
          </p:cNvSpPr>
          <p:nvPr/>
        </p:nvSpPr>
        <p:spPr>
          <a:xfrm xmlns:a="http://schemas.openxmlformats.org/drawingml/2006/main">
            <a:off x="6619875" y="4953000"/>
            <a:ext cx="4953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002060"/>
                </a:solidFill>
                <a:latin typeface="Calibri"/>
                <a:ea typeface="Calibri"/>
                <a:cs typeface="Calibri"/>
              </a:defRPr>
            </a:pPr>
            <a:r>
              <a:rPr sz="1875" b="1">
                <a:solidFill>
                  <a:srgbClr val="002060"/>
                </a:solidFill>
                <a:latin typeface="Calibri"/>
                <a:ea typeface="Calibri"/>
                <a:cs typeface="Calibri"/>
              </a:rPr>
              <a:t>Vendor sewa</a:t>
            </a:r>
          </a:p>
        </p:txBody>
      </p:sp>
      <p:sp>
        <p:nvSpPr>
          <p:cNvPr id="11" name="text-212">
            <a:extLst xmlns:a="http://schemas.openxmlformats.org/drawingml/2006/main">
              <a:ext uri="{FF2B5EF4-FFF2-40B4-BE49-F238E27FC236}">
                <a16:creationId xmlns:a16="http://schemas.microsoft.com/office/drawing/2014/main" id="{1B68DFB7-13B5-403C-BE31-6C5A651E0CE3}"/>
              </a:ext>
            </a:extLst>
          </p:cNvPr>
          <p:cNvSpPr>
            <a:spLocks xmlns:a="http://schemas.openxmlformats.org/drawingml/2006/main" noGrp="1"/>
          </p:cNvSpPr>
          <p:nvPr/>
        </p:nvSpPr>
        <p:spPr>
          <a:xfrm xmlns:a="http://schemas.openxmlformats.org/drawingml/2006/main">
            <a:off x="6619875" y="5362575"/>
            <a:ext cx="4953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273746"/>
                </a:solidFill>
                <a:latin typeface="Calibri"/>
                <a:ea typeface="Calibri"/>
                <a:cs typeface="Calibri"/>
              </a:defRPr>
            </a:pPr>
            <a:r>
              <a:rPr sz="1650" b="0">
                <a:solidFill>
                  <a:srgbClr val="273746"/>
                </a:solidFill>
                <a:latin typeface="Calibri"/>
                <a:ea typeface="Calibri"/>
                <a:cs typeface="Calibri"/>
              </a:rPr>
              <a:t>Pastikan format, akses host, recording/report,</a:t>
            </a:r>
          </a:p>
          <a:p xmlns:a="http://schemas.openxmlformats.org/drawingml/2006/main">
            <a:pPr>
              <a:defRPr sz="1650" b="0">
                <a:solidFill>
                  <a:srgbClr val="273746"/>
                </a:solidFill>
                <a:latin typeface="Calibri"/>
                <a:ea typeface="Calibri"/>
                <a:cs typeface="Calibri"/>
              </a:defRPr>
            </a:pPr>
            <a:r>
              <a:rPr sz="1650" b="0">
                <a:solidFill>
                  <a:srgbClr val="273746"/>
                </a:solidFill>
                <a:latin typeface="Calibri"/>
                <a:ea typeface="Calibri"/>
                <a:cs typeface="Calibri"/>
              </a:rPr>
              <a:t>durasi briefing + live, dan seluruh tanggal.</a:t>
            </a:r>
          </a:p>
        </p:txBody>
      </p:sp>
    </p:spTree>
    <p:extLst>
      <p:ext uri="{BB962C8B-B14F-4D97-AF65-F5344CB8AC3E}">
        <p14:creationId xmlns:p14="http://schemas.microsoft.com/office/powerpoint/2010/main" val="1496091495"/>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text-213">
            <a:extLst xmlns:a="http://schemas.openxmlformats.org/drawingml/2006/main">
              <a:ext uri="{FF2B5EF4-FFF2-40B4-BE49-F238E27FC236}">
                <a16:creationId xmlns:a16="http://schemas.microsoft.com/office/drawing/2014/main" id="{DEE4C4F0-D351-4F85-85AC-004719BBF7C6}"/>
              </a:ext>
            </a:extLst>
          </p:cNvPr>
          <p:cNvSpPr>
            <a:spLocks xmlns:a="http://schemas.openxmlformats.org/drawingml/2006/main" noGrp="1"/>
          </p:cNvSpPr>
          <p:nvPr/>
        </p:nvSpPr>
        <p:spPr>
          <a:xfrm xmlns:a="http://schemas.openxmlformats.org/drawingml/2006/main">
            <a:off x="609600" y="333375"/>
            <a:ext cx="1066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65717D"/>
                </a:solidFill>
                <a:latin typeface="Calibri"/>
                <a:ea typeface="Calibri"/>
                <a:cs typeface="Calibri"/>
              </a:defRPr>
            </a:pPr>
            <a:r>
              <a:rPr sz="1050" b="1">
                <a:solidFill>
                  <a:srgbClr val="65717D"/>
                </a:solidFill>
                <a:latin typeface="Calibri"/>
                <a:ea typeface="Calibri"/>
                <a:cs typeface="Calibri"/>
              </a:rPr>
              <a:t>A3 / RAB FOUNDER LIVE</a:t>
            </a:r>
          </a:p>
        </p:txBody>
      </p:sp>
      <p:sp>
        <p:nvSpPr>
          <p:cNvPr id="2" name="text-214">
            <a:extLst xmlns:a="http://schemas.openxmlformats.org/drawingml/2006/main">
              <a:ext uri="{FF2B5EF4-FFF2-40B4-BE49-F238E27FC236}">
                <a16:creationId xmlns:a16="http://schemas.microsoft.com/office/drawing/2014/main" id="{FF2935B5-EFE9-45D3-8920-847859B0FA60}"/>
              </a:ext>
            </a:extLst>
          </p:cNvPr>
          <p:cNvSpPr>
            <a:spLocks xmlns:a="http://schemas.openxmlformats.org/drawingml/2006/main" noGrp="1"/>
          </p:cNvSpPr>
          <p:nvPr/>
        </p:nvSpPr>
        <p:spPr>
          <a:xfrm xmlns:a="http://schemas.openxmlformats.org/drawingml/2006/main">
            <a:off x="609600" y="723900"/>
            <a:ext cx="10858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925" b="1">
                <a:solidFill>
                  <a:srgbClr val="002060"/>
                </a:solidFill>
                <a:latin typeface="Calibri"/>
                <a:ea typeface="Calibri"/>
                <a:cs typeface="Calibri"/>
              </a:defRPr>
            </a:pPr>
            <a:r>
              <a:rPr sz="2925" b="1">
                <a:solidFill>
                  <a:srgbClr val="002060"/>
                </a:solidFill>
                <a:latin typeface="Calibri"/>
                <a:ea typeface="Calibri"/>
                <a:cs typeface="Calibri"/>
              </a:rPr>
              <a:t>Honor speaker dan satu opsi Zoom membentuk biaya langsung</a:t>
            </a:r>
          </a:p>
        </p:txBody>
      </p:sp>
      <p:sp>
        <p:nvSpPr>
          <p:cNvPr id="3" name="text-215">
            <a:extLst xmlns:a="http://schemas.openxmlformats.org/drawingml/2006/main">
              <a:ext uri="{FF2B5EF4-FFF2-40B4-BE49-F238E27FC236}">
                <a16:creationId xmlns:a16="http://schemas.microsoft.com/office/drawing/2014/main" id="{9680239E-6592-40F3-9FD0-515002473978}"/>
              </a:ext>
            </a:extLst>
          </p:cNvPr>
          <p:cNvSpPr>
            <a:spLocks xmlns:a="http://schemas.openxmlformats.org/drawingml/2006/main" noGrp="1"/>
          </p:cNvSpPr>
          <p:nvPr/>
        </p:nvSpPr>
        <p:spPr>
          <a:xfrm xmlns:a="http://schemas.openxmlformats.org/drawingml/2006/main">
            <a:off x="609600" y="1666875"/>
            <a:ext cx="10858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65717D"/>
                </a:solidFill>
                <a:latin typeface="Calibri"/>
                <a:ea typeface="Calibri"/>
                <a:cs typeface="Calibri"/>
              </a:defRPr>
            </a:pPr>
            <a:r>
              <a:rPr sz="1500" b="0">
                <a:solidFill>
                  <a:srgbClr val="65717D"/>
                </a:solidFill>
                <a:latin typeface="Calibri"/>
                <a:ea typeface="Calibri"/>
                <a:cs typeface="Calibri"/>
              </a:rPr>
              <a:t>8 sesi. Biaya Zoom sama di seluruh skenario. Pajak belum dimasukkan.</a:t>
            </a:r>
          </a:p>
        </p:txBody>
      </p:sp>
      <p:sp>
        <p:nvSpPr>
          <p:cNvPr id="4" name="">
            <a:extLst xmlns:a="http://schemas.openxmlformats.org/drawingml/2006/main">
              <a:ext uri="{FF2B5EF4-FFF2-40B4-BE49-F238E27FC236}">
                <a16:creationId xmlns:a16="http://schemas.microsoft.com/office/drawing/2014/main" id="{3AF9BCF6-3DD4-4844-9DE8-611F2D2E93CB}"/>
              </a:ext>
            </a:extLst>
          </p:cNvPr>
          <p:cNvSpPr>
            <a:spLocks xmlns:a="http://schemas.openxmlformats.org/drawingml/2006/main" noGrp="1"/>
          </p:cNvSpPr>
          <p:nvPr/>
        </p:nvSpPr>
        <p:spPr>
          <a:xfrm xmlns:a="http://schemas.openxmlformats.org/drawingml/2006/main">
            <a:off x="609600" y="6381750"/>
            <a:ext cx="10972800" cy="0"/>
          </a:xfrm>
          <a:prstGeom xmlns:a="http://schemas.openxmlformats.org/drawingml/2006/main" prst="line">
            <a:avLst/>
          </a:prstGeom>
          <a:noFill xmlns:a="http://schemas.openxmlformats.org/drawingml/2006/main"/>
          <a:ln xmlns:a="http://schemas.openxmlformats.org/drawingml/2006/main" w="9525">
            <a:solidFill>
              <a:srgbClr val="DCE2E8"/>
            </a:solidFill>
          </a:ln>
        </p:spPr>
      </p:sp>
      <p:sp>
        <p:nvSpPr>
          <p:cNvPr id="5" name="text-216">
            <a:extLst xmlns:a="http://schemas.openxmlformats.org/drawingml/2006/main">
              <a:ext uri="{FF2B5EF4-FFF2-40B4-BE49-F238E27FC236}">
                <a16:creationId xmlns:a16="http://schemas.microsoft.com/office/drawing/2014/main" id="{CB571560-1C95-4440-A339-52A1A9F5E96E}"/>
              </a:ext>
            </a:extLst>
          </p:cNvPr>
          <p:cNvSpPr>
            <a:spLocks xmlns:a="http://schemas.openxmlformats.org/drawingml/2006/main" noGrp="1"/>
          </p:cNvSpPr>
          <p:nvPr/>
        </p:nvSpPr>
        <p:spPr>
          <a:xfrm xmlns:a="http://schemas.openxmlformats.org/drawingml/2006/main">
            <a:off x="609600" y="6505575"/>
            <a:ext cx="10191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825" b="0">
                <a:solidFill>
                  <a:srgbClr val="65717D"/>
                </a:solidFill>
                <a:latin typeface="Calibri"/>
                <a:ea typeface="Calibri"/>
                <a:cs typeface="Calibri"/>
              </a:defRPr>
            </a:pPr>
            <a:r>
              <a:rPr sz="825" b="0">
                <a:solidFill>
                  <a:srgbClr val="65717D"/>
                </a:solidFill>
                <a:latin typeface="Calibri"/>
                <a:ea typeface="Calibri"/>
                <a:cs typeface="Calibri"/>
              </a:rPr>
              <a:t>CMC internal, Oktober 2026. Angka usulan mengikuti deck sumber.</a:t>
            </a:r>
          </a:p>
        </p:txBody>
      </p:sp>
      <p:sp>
        <p:nvSpPr>
          <p:cNvPr id="6" name="text-217">
            <a:extLst xmlns:a="http://schemas.openxmlformats.org/drawingml/2006/main">
              <a:ext uri="{FF2B5EF4-FFF2-40B4-BE49-F238E27FC236}">
                <a16:creationId xmlns:a16="http://schemas.microsoft.com/office/drawing/2014/main" id="{832C61B6-4441-4BF7-A477-C6D0E2D3D619}"/>
              </a:ext>
            </a:extLst>
          </p:cNvPr>
          <p:cNvSpPr>
            <a:spLocks xmlns:a="http://schemas.openxmlformats.org/drawingml/2006/main" noGrp="1"/>
          </p:cNvSpPr>
          <p:nvPr/>
        </p:nvSpPr>
        <p:spPr>
          <a:xfrm xmlns:a="http://schemas.openxmlformats.org/drawingml/2006/main">
            <a:off x="11125200" y="6486525"/>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002060"/>
                </a:solidFill>
                <a:latin typeface="Calibri"/>
                <a:ea typeface="Calibri"/>
                <a:cs typeface="Calibri"/>
              </a:defRPr>
            </a:pPr>
            <a:r>
              <a:rPr sz="1050" b="1">
                <a:solidFill>
                  <a:srgbClr val="002060"/>
                </a:solidFill>
                <a:latin typeface="Calibri"/>
                <a:ea typeface="Calibri"/>
                <a:cs typeface="Calibri"/>
              </a:rPr>
              <a:t>15</a:t>
            </a:r>
          </a:p>
        </p:txBody>
      </p:sp>
      <p:graphicFrame>
        <p:nvGraphicFramePr>
          <p:cNvPr id="16" name=""/>
          <p:cNvGraphicFramePr/>
          <p:nvPr/>
        </p:nvGraphicFramePr>
        <p:xfrm>
          <a:off xmlns:a="http://schemas.openxmlformats.org/drawingml/2006/main" x="609600" y="2352675"/>
          <a:ext xmlns:a="http://schemas.openxmlformats.org/drawingml/2006/main" cx="10972800" cy="2933700"/>
        </p:xfrm>
        <a:graphic xmlns:a="http://schemas.openxmlformats.org/drawingml/2006/main">
          <a:graphicData uri="http://schemas.openxmlformats.org/drawingml/2006/table">
            <a:tbl>
              <a:tblPr/>
              <a:tblGrid>
                <a:gridCol w="3714750"/>
                <a:gridCol w="2419350"/>
                <a:gridCol w="2419350"/>
                <a:gridCol w="2419350"/>
              </a:tblGrid>
              <a:tr h="419100">
                <a:tc>
                  <a:txBody>
                    <a:bodyPr lIns="95250" tIns="76200" rIns="95250" bIns="57150"/>
                    <a:lstStyle/>
                    <a:p>
                      <a:r>
                        <a:rPr sz="1650" b="1">
                          <a:solidFill>
                            <a:srgbClr val="FFFFFF"/>
                          </a:solidFill>
                          <a:latin typeface="Calibri"/>
                          <a:ea typeface="Calibri"/>
                          <a:cs typeface="Calibri"/>
                        </a:rPr>
                        <a:t>Komponen</a:t>
                      </a:r>
                    </a:p>
                  </a:txBody>
                  <a:tcPr marL="91440" marR="91440" marT="45720" marB="45720">
                    <a:solidFill>
                      <a:srgbClr val="002060"/>
                    </a:solidFill>
                  </a:tcPr>
                </a:tc>
                <a:tc>
                  <a:txBody>
                    <a:bodyPr lIns="95250" tIns="76200" rIns="95250" bIns="57150"/>
                    <a:lstStyle/>
                    <a:p>
                      <a:r>
                        <a:rPr sz="1650" b="1">
                          <a:solidFill>
                            <a:srgbClr val="FFFFFF"/>
                          </a:solidFill>
                          <a:latin typeface="Calibri"/>
                          <a:ea typeface="Calibri"/>
                          <a:cs typeface="Calibri"/>
                        </a:rPr>
                        <a:t>Pesimis</a:t>
                      </a:r>
                    </a:p>
                  </a:txBody>
                  <a:tcPr marL="91440" marR="91440" marT="45720" marB="45720">
                    <a:solidFill>
                      <a:srgbClr val="002060"/>
                    </a:solidFill>
                  </a:tcPr>
                </a:tc>
                <a:tc>
                  <a:txBody>
                    <a:bodyPr lIns="95250" tIns="76200" rIns="95250" bIns="57150"/>
                    <a:lstStyle/>
                    <a:p>
                      <a:r>
                        <a:rPr sz="1650" b="1">
                          <a:solidFill>
                            <a:srgbClr val="FFFFFF"/>
                          </a:solidFill>
                          <a:latin typeface="Calibri"/>
                          <a:ea typeface="Calibri"/>
                          <a:cs typeface="Calibri"/>
                        </a:rPr>
                        <a:t>Base</a:t>
                      </a:r>
                    </a:p>
                  </a:txBody>
                  <a:tcPr marL="91440" marR="91440" marT="45720" marB="45720">
                    <a:solidFill>
                      <a:srgbClr val="002060"/>
                    </a:solidFill>
                  </a:tcPr>
                </a:tc>
                <a:tc>
                  <a:txBody>
                    <a:bodyPr lIns="95250" tIns="76200" rIns="95250" bIns="57150"/>
                    <a:lstStyle/>
                    <a:p>
                      <a:r>
                        <a:rPr sz="1650" b="1">
                          <a:solidFill>
                            <a:srgbClr val="FFFFFF"/>
                          </a:solidFill>
                          <a:latin typeface="Calibri"/>
                          <a:ea typeface="Calibri"/>
                          <a:cs typeface="Calibri"/>
                        </a:rPr>
                        <a:t>Optimis</a:t>
                      </a:r>
                    </a:p>
                  </a:txBody>
                  <a:tcPr marL="91440" marR="91440" marT="45720" marB="45720">
                    <a:solidFill>
                      <a:srgbClr val="002060"/>
                    </a:solidFill>
                  </a:tcPr>
                </a:tc>
              </a:tr>
              <a:tr h="419100">
                <a:tc>
                  <a:txBody>
                    <a:bodyPr lIns="95250" tIns="76200" rIns="95250" bIns="57150"/>
                    <a:lstStyle/>
                    <a:p>
                      <a:r>
                        <a:rPr sz="1650" b="0">
                          <a:solidFill>
                            <a:srgbClr val="273746"/>
                          </a:solidFill>
                          <a:latin typeface="Calibri"/>
                          <a:ea typeface="Calibri"/>
                          <a:cs typeface="Calibri"/>
                        </a:rPr>
                        <a:t>Honor speaker</a:t>
                      </a:r>
                    </a:p>
                  </a:txBody>
                  <a:tcPr marL="91440" marR="91440" marT="45720" marB="45720">
                    <a:solidFill>
                      <a:srgbClr val="FFFFFF"/>
                    </a:solidFill>
                  </a:tcPr>
                </a:tc>
                <a:tc>
                  <a:txBody>
                    <a:bodyPr lIns="95250" tIns="76200" rIns="95250" bIns="57150"/>
                    <a:lstStyle/>
                    <a:p>
                      <a:r>
                        <a:rPr sz="1650" b="0">
                          <a:solidFill>
                            <a:srgbClr val="273746"/>
                          </a:solidFill>
                          <a:latin typeface="Calibri"/>
                          <a:ea typeface="Calibri"/>
                          <a:cs typeface="Calibri"/>
                        </a:rPr>
                        <a:t>Rp40.000.000</a:t>
                      </a:r>
                    </a:p>
                  </a:txBody>
                  <a:tcPr marL="91440" marR="91440" marT="45720" marB="45720">
                    <a:solidFill>
                      <a:srgbClr val="FFFFFF"/>
                    </a:solidFill>
                  </a:tcPr>
                </a:tc>
                <a:tc>
                  <a:txBody>
                    <a:bodyPr lIns="95250" tIns="76200" rIns="95250" bIns="57150"/>
                    <a:lstStyle/>
                    <a:p>
                      <a:r>
                        <a:rPr sz="1650" b="0">
                          <a:solidFill>
                            <a:srgbClr val="273746"/>
                          </a:solidFill>
                          <a:latin typeface="Calibri"/>
                          <a:ea typeface="Calibri"/>
                          <a:cs typeface="Calibri"/>
                        </a:rPr>
                        <a:t>Rp32.000.000</a:t>
                      </a:r>
                    </a:p>
                  </a:txBody>
                  <a:tcPr marL="91440" marR="91440" marT="45720" marB="45720">
                    <a:solidFill>
                      <a:srgbClr val="FFFFFF"/>
                    </a:solidFill>
                  </a:tcPr>
                </a:tc>
                <a:tc>
                  <a:txBody>
                    <a:bodyPr lIns="95250" tIns="76200" rIns="95250" bIns="57150"/>
                    <a:lstStyle/>
                    <a:p>
                      <a:r>
                        <a:rPr sz="1650" b="0">
                          <a:solidFill>
                            <a:srgbClr val="273746"/>
                          </a:solidFill>
                          <a:latin typeface="Calibri"/>
                          <a:ea typeface="Calibri"/>
                          <a:cs typeface="Calibri"/>
                        </a:rPr>
                        <a:t>Rp24.000.000</a:t>
                      </a:r>
                    </a:p>
                  </a:txBody>
                  <a:tcPr marL="91440" marR="91440" marT="45720" marB="45720">
                    <a:solidFill>
                      <a:srgbClr val="FFFFFF"/>
                    </a:solidFill>
                  </a:tcPr>
                </a:tc>
              </a:tr>
              <a:tr h="419100">
                <a:tc>
                  <a:txBody>
                    <a:bodyPr lIns="95250" tIns="76200" rIns="95250" bIns="57150"/>
                    <a:lstStyle/>
                    <a:p>
                      <a:r>
                        <a:rPr sz="1650" b="0">
                          <a:solidFill>
                            <a:srgbClr val="273746"/>
                          </a:solidFill>
                          <a:latin typeface="Calibri"/>
                          <a:ea typeface="Calibri"/>
                          <a:cs typeface="Calibri"/>
                        </a:rPr>
                        <a:t>Zoom subscribe</a:t>
                      </a:r>
                    </a:p>
                  </a:txBody>
                  <a:tcPr marL="91440" marR="91440" marT="45720" marB="45720">
                    <a:solidFill>
                      <a:srgbClr val="F3F6F9"/>
                    </a:solidFill>
                  </a:tcPr>
                </a:tc>
                <a:tc>
                  <a:txBody>
                    <a:bodyPr lIns="95250" tIns="76200" rIns="95250" bIns="57150"/>
                    <a:lstStyle/>
                    <a:p>
                      <a:r>
                        <a:rPr sz="1650" b="0">
                          <a:solidFill>
                            <a:srgbClr val="273746"/>
                          </a:solidFill>
                          <a:latin typeface="Calibri"/>
                          <a:ea typeface="Calibri"/>
                          <a:cs typeface="Calibri"/>
                        </a:rPr>
                        <a:t>Rp5.311.678</a:t>
                      </a:r>
                    </a:p>
                  </a:txBody>
                  <a:tcPr marL="91440" marR="91440" marT="45720" marB="45720">
                    <a:solidFill>
                      <a:srgbClr val="F3F6F9"/>
                    </a:solidFill>
                  </a:tcPr>
                </a:tc>
                <a:tc>
                  <a:txBody>
                    <a:bodyPr lIns="95250" tIns="76200" rIns="95250" bIns="57150"/>
                    <a:lstStyle/>
                    <a:p>
                      <a:r>
                        <a:rPr sz="1650" b="0">
                          <a:solidFill>
                            <a:srgbClr val="273746"/>
                          </a:solidFill>
                          <a:latin typeface="Calibri"/>
                          <a:ea typeface="Calibri"/>
                          <a:cs typeface="Calibri"/>
                        </a:rPr>
                        <a:t>Rp5.311.678</a:t>
                      </a:r>
                    </a:p>
                  </a:txBody>
                  <a:tcPr marL="91440" marR="91440" marT="45720" marB="45720">
                    <a:solidFill>
                      <a:srgbClr val="F3F6F9"/>
                    </a:solidFill>
                  </a:tcPr>
                </a:tc>
                <a:tc>
                  <a:txBody>
                    <a:bodyPr lIns="95250" tIns="76200" rIns="95250" bIns="57150"/>
                    <a:lstStyle/>
                    <a:p>
                      <a:r>
                        <a:rPr sz="1650" b="0">
                          <a:solidFill>
                            <a:srgbClr val="273746"/>
                          </a:solidFill>
                          <a:latin typeface="Calibri"/>
                          <a:ea typeface="Calibri"/>
                          <a:cs typeface="Calibri"/>
                        </a:rPr>
                        <a:t>Rp5.311.678</a:t>
                      </a:r>
                    </a:p>
                  </a:txBody>
                  <a:tcPr marL="91440" marR="91440" marT="45720" marB="45720">
                    <a:solidFill>
                      <a:srgbClr val="F3F6F9"/>
                    </a:solidFill>
                  </a:tcPr>
                </a:tc>
              </a:tr>
              <a:tr h="419100">
                <a:tc>
                  <a:txBody>
                    <a:bodyPr lIns="95250" tIns="76200" rIns="95250" bIns="57150"/>
                    <a:lstStyle/>
                    <a:p>
                      <a:r>
                        <a:rPr sz="1650" b="0">
                          <a:solidFill>
                            <a:srgbClr val="273746"/>
                          </a:solidFill>
                          <a:latin typeface="Calibri"/>
                          <a:ea typeface="Calibri"/>
                          <a:cs typeface="Calibri"/>
                        </a:rPr>
                        <a:t>Zoom sewa</a:t>
                      </a:r>
                    </a:p>
                  </a:txBody>
                  <a:tcPr marL="91440" marR="91440" marT="45720" marB="45720">
                    <a:solidFill>
                      <a:srgbClr val="FFFFFF"/>
                    </a:solidFill>
                  </a:tcPr>
                </a:tc>
                <a:tc>
                  <a:txBody>
                    <a:bodyPr lIns="95250" tIns="76200" rIns="95250" bIns="57150"/>
                    <a:lstStyle/>
                    <a:p>
                      <a:r>
                        <a:rPr sz="1650" b="0">
                          <a:solidFill>
                            <a:srgbClr val="273746"/>
                          </a:solidFill>
                          <a:latin typeface="Calibri"/>
                          <a:ea typeface="Calibri"/>
                          <a:cs typeface="Calibri"/>
                        </a:rPr>
                        <a:t>Rp2.800.000</a:t>
                      </a:r>
                    </a:p>
                  </a:txBody>
                  <a:tcPr marL="91440" marR="91440" marT="45720" marB="45720">
                    <a:solidFill>
                      <a:srgbClr val="FFFFFF"/>
                    </a:solidFill>
                  </a:tcPr>
                </a:tc>
                <a:tc>
                  <a:txBody>
                    <a:bodyPr lIns="95250" tIns="76200" rIns="95250" bIns="57150"/>
                    <a:lstStyle/>
                    <a:p>
                      <a:r>
                        <a:rPr sz="1650" b="0">
                          <a:solidFill>
                            <a:srgbClr val="273746"/>
                          </a:solidFill>
                          <a:latin typeface="Calibri"/>
                          <a:ea typeface="Calibri"/>
                          <a:cs typeface="Calibri"/>
                        </a:rPr>
                        <a:t>Rp2.800.000</a:t>
                      </a:r>
                    </a:p>
                  </a:txBody>
                  <a:tcPr marL="91440" marR="91440" marT="45720" marB="45720">
                    <a:solidFill>
                      <a:srgbClr val="FFFFFF"/>
                    </a:solidFill>
                  </a:tcPr>
                </a:tc>
                <a:tc>
                  <a:txBody>
                    <a:bodyPr lIns="95250" tIns="76200" rIns="95250" bIns="57150"/>
                    <a:lstStyle/>
                    <a:p>
                      <a:r>
                        <a:rPr sz="1650" b="0">
                          <a:solidFill>
                            <a:srgbClr val="273746"/>
                          </a:solidFill>
                          <a:latin typeface="Calibri"/>
                          <a:ea typeface="Calibri"/>
                          <a:cs typeface="Calibri"/>
                        </a:rPr>
                        <a:t>Rp2.800.000</a:t>
                      </a:r>
                    </a:p>
                  </a:txBody>
                  <a:tcPr marL="91440" marR="91440" marT="45720" marB="45720">
                    <a:solidFill>
                      <a:srgbClr val="FFFFFF"/>
                    </a:solidFill>
                  </a:tcPr>
                </a:tc>
              </a:tr>
              <a:tr h="419100">
                <a:tc>
                  <a:txBody>
                    <a:bodyPr lIns="95250" tIns="76200" rIns="95250" bIns="57150"/>
                    <a:lstStyle/>
                    <a:p>
                      <a:r>
                        <a:rPr sz="1650" b="0">
                          <a:solidFill>
                            <a:srgbClr val="273746"/>
                          </a:solidFill>
                          <a:latin typeface="Calibri"/>
                          <a:ea typeface="Calibri"/>
                          <a:cs typeface="Calibri"/>
                        </a:rPr>
                        <a:t>TOTAL / subscribe</a:t>
                      </a:r>
                    </a:p>
                  </a:txBody>
                  <a:tcPr marL="91440" marR="91440" marT="45720" marB="45720">
                    <a:solidFill>
                      <a:srgbClr val="F3F6F9"/>
                    </a:solidFill>
                  </a:tcPr>
                </a:tc>
                <a:tc>
                  <a:txBody>
                    <a:bodyPr lIns="95250" tIns="76200" rIns="95250" bIns="57150"/>
                    <a:lstStyle/>
                    <a:p>
                      <a:r>
                        <a:rPr sz="1650" b="0">
                          <a:solidFill>
                            <a:srgbClr val="273746"/>
                          </a:solidFill>
                          <a:latin typeface="Calibri"/>
                          <a:ea typeface="Calibri"/>
                          <a:cs typeface="Calibri"/>
                        </a:rPr>
                        <a:t>Rp45.311.678</a:t>
                      </a:r>
                    </a:p>
                  </a:txBody>
                  <a:tcPr marL="91440" marR="91440" marT="45720" marB="45720">
                    <a:solidFill>
                      <a:srgbClr val="F3F6F9"/>
                    </a:solidFill>
                  </a:tcPr>
                </a:tc>
                <a:tc>
                  <a:txBody>
                    <a:bodyPr lIns="95250" tIns="76200" rIns="95250" bIns="57150"/>
                    <a:lstStyle/>
                    <a:p>
                      <a:r>
                        <a:rPr sz="1650" b="0">
                          <a:solidFill>
                            <a:srgbClr val="273746"/>
                          </a:solidFill>
                          <a:latin typeface="Calibri"/>
                          <a:ea typeface="Calibri"/>
                          <a:cs typeface="Calibri"/>
                        </a:rPr>
                        <a:t>Rp37.311.678</a:t>
                      </a:r>
                    </a:p>
                  </a:txBody>
                  <a:tcPr marL="91440" marR="91440" marT="45720" marB="45720">
                    <a:solidFill>
                      <a:srgbClr val="F3F6F9"/>
                    </a:solidFill>
                  </a:tcPr>
                </a:tc>
                <a:tc>
                  <a:txBody>
                    <a:bodyPr lIns="95250" tIns="76200" rIns="95250" bIns="57150"/>
                    <a:lstStyle/>
                    <a:p>
                      <a:r>
                        <a:rPr sz="1650" b="0">
                          <a:solidFill>
                            <a:srgbClr val="273746"/>
                          </a:solidFill>
                          <a:latin typeface="Calibri"/>
                          <a:ea typeface="Calibri"/>
                          <a:cs typeface="Calibri"/>
                        </a:rPr>
                        <a:t>Rp29.311.678</a:t>
                      </a:r>
                    </a:p>
                  </a:txBody>
                  <a:tcPr marL="91440" marR="91440" marT="45720" marB="45720">
                    <a:solidFill>
                      <a:srgbClr val="F3F6F9"/>
                    </a:solidFill>
                  </a:tcPr>
                </a:tc>
              </a:tr>
              <a:tr h="419100">
                <a:tc>
                  <a:txBody>
                    <a:bodyPr lIns="95250" tIns="76200" rIns="95250" bIns="57150"/>
                    <a:lstStyle/>
                    <a:p>
                      <a:r>
                        <a:rPr sz="1650" b="0">
                          <a:solidFill>
                            <a:srgbClr val="273746"/>
                          </a:solidFill>
                          <a:latin typeface="Calibri"/>
                          <a:ea typeface="Calibri"/>
                          <a:cs typeface="Calibri"/>
                        </a:rPr>
                        <a:t>TOTAL / sewa</a:t>
                      </a:r>
                    </a:p>
                  </a:txBody>
                  <a:tcPr marL="91440" marR="91440" marT="45720" marB="45720">
                    <a:solidFill>
                      <a:srgbClr val="FFFFFF"/>
                    </a:solidFill>
                  </a:tcPr>
                </a:tc>
                <a:tc>
                  <a:txBody>
                    <a:bodyPr lIns="95250" tIns="76200" rIns="95250" bIns="57150"/>
                    <a:lstStyle/>
                    <a:p>
                      <a:r>
                        <a:rPr sz="1650" b="0">
                          <a:solidFill>
                            <a:srgbClr val="273746"/>
                          </a:solidFill>
                          <a:latin typeface="Calibri"/>
                          <a:ea typeface="Calibri"/>
                          <a:cs typeface="Calibri"/>
                        </a:rPr>
                        <a:t>Rp42.800.000</a:t>
                      </a:r>
                    </a:p>
                  </a:txBody>
                  <a:tcPr marL="91440" marR="91440" marT="45720" marB="45720">
                    <a:solidFill>
                      <a:srgbClr val="FFFFFF"/>
                    </a:solidFill>
                  </a:tcPr>
                </a:tc>
                <a:tc>
                  <a:txBody>
                    <a:bodyPr lIns="95250" tIns="76200" rIns="95250" bIns="57150"/>
                    <a:lstStyle/>
                    <a:p>
                      <a:r>
                        <a:rPr sz="1650" b="0">
                          <a:solidFill>
                            <a:srgbClr val="273746"/>
                          </a:solidFill>
                          <a:latin typeface="Calibri"/>
                          <a:ea typeface="Calibri"/>
                          <a:cs typeface="Calibri"/>
                        </a:rPr>
                        <a:t>Rp34.800.000</a:t>
                      </a:r>
                    </a:p>
                  </a:txBody>
                  <a:tcPr marL="91440" marR="91440" marT="45720" marB="45720">
                    <a:solidFill>
                      <a:srgbClr val="FFFFFF"/>
                    </a:solidFill>
                  </a:tcPr>
                </a:tc>
                <a:tc>
                  <a:txBody>
                    <a:bodyPr lIns="95250" tIns="76200" rIns="95250" bIns="57150"/>
                    <a:lstStyle/>
                    <a:p>
                      <a:r>
                        <a:rPr sz="1650" b="0">
                          <a:solidFill>
                            <a:srgbClr val="273746"/>
                          </a:solidFill>
                          <a:latin typeface="Calibri"/>
                          <a:ea typeface="Calibri"/>
                          <a:cs typeface="Calibri"/>
                        </a:rPr>
                        <a:t>Rp26.800.000</a:t>
                      </a:r>
                    </a:p>
                  </a:txBody>
                  <a:tcPr marL="91440" marR="91440" marT="45720" marB="45720">
                    <a:solidFill>
                      <a:srgbClr val="FFFFFF"/>
                    </a:solidFill>
                  </a:tcPr>
                </a:tc>
              </a:tr>
              <a:tr h="419100">
                <a:tc>
                  <a:txBody>
                    <a:bodyPr lIns="95250" tIns="76200" rIns="95250" bIns="57150"/>
                    <a:lstStyle/>
                    <a:p>
                      <a:r>
                        <a:rPr sz="1650" b="0">
                          <a:solidFill>
                            <a:srgbClr val="273746"/>
                          </a:solidFill>
                          <a:latin typeface="Calibri"/>
                          <a:ea typeface="Calibri"/>
                          <a:cs typeface="Calibri"/>
                        </a:rPr>
                        <a:t>Pajak</a:t>
                      </a:r>
                    </a:p>
                  </a:txBody>
                  <a:tcPr marL="91440" marR="91440" marT="45720" marB="45720">
                    <a:solidFill>
                      <a:srgbClr val="F3F6F9"/>
                    </a:solidFill>
                  </a:tcPr>
                </a:tc>
                <a:tc>
                  <a:txBody>
                    <a:bodyPr lIns="95250" tIns="76200" rIns="95250" bIns="57150"/>
                    <a:lstStyle/>
                    <a:p>
                      <a:r>
                        <a:rPr sz="1650" b="0">
                          <a:solidFill>
                            <a:srgbClr val="273746"/>
                          </a:solidFill>
                          <a:latin typeface="Calibri"/>
                          <a:ea typeface="Calibri"/>
                          <a:cs typeface="Calibri"/>
                        </a:rPr>
                        <a:t>TBD</a:t>
                      </a:r>
                    </a:p>
                  </a:txBody>
                  <a:tcPr marL="91440" marR="91440" marT="45720" marB="45720">
                    <a:solidFill>
                      <a:srgbClr val="F3F6F9"/>
                    </a:solidFill>
                  </a:tcPr>
                </a:tc>
                <a:tc>
                  <a:txBody>
                    <a:bodyPr lIns="95250" tIns="76200" rIns="95250" bIns="57150"/>
                    <a:lstStyle/>
                    <a:p>
                      <a:r>
                        <a:rPr sz="1650" b="0">
                          <a:solidFill>
                            <a:srgbClr val="273746"/>
                          </a:solidFill>
                          <a:latin typeface="Calibri"/>
                          <a:ea typeface="Calibri"/>
                          <a:cs typeface="Calibri"/>
                        </a:rPr>
                        <a:t>TBD</a:t>
                      </a:r>
                    </a:p>
                  </a:txBody>
                  <a:tcPr marL="91440" marR="91440" marT="45720" marB="45720">
                    <a:solidFill>
                      <a:srgbClr val="F3F6F9"/>
                    </a:solidFill>
                  </a:tcPr>
                </a:tc>
                <a:tc>
                  <a:txBody>
                    <a:bodyPr lIns="95250" tIns="76200" rIns="95250" bIns="57150"/>
                    <a:lstStyle/>
                    <a:p>
                      <a:r>
                        <a:rPr sz="1650" b="0">
                          <a:solidFill>
                            <a:srgbClr val="273746"/>
                          </a:solidFill>
                          <a:latin typeface="Calibri"/>
                          <a:ea typeface="Calibri"/>
                          <a:cs typeface="Calibri"/>
                        </a:rPr>
                        <a:t>TBD</a:t>
                      </a:r>
                    </a:p>
                  </a:txBody>
                  <a:tcPr marL="91440" marR="91440" marT="45720" marB="45720">
                    <a:solidFill>
                      <a:srgbClr val="F3F6F9"/>
                    </a:solidFill>
                  </a:tcPr>
                </a:tc>
              </a:tr>
            </a:tbl>
          </a:graphicData>
        </a:graphic>
      </p:graphicFrame>
      <p:sp>
        <p:nvSpPr>
          <p:cNvPr id="8" name="text-218">
            <a:extLst xmlns:a="http://schemas.openxmlformats.org/drawingml/2006/main">
              <a:ext uri="{FF2B5EF4-FFF2-40B4-BE49-F238E27FC236}">
                <a16:creationId xmlns:a16="http://schemas.microsoft.com/office/drawing/2014/main" id="{C56034E2-3F1D-43B1-98A7-57D4429FEDBE}"/>
              </a:ext>
            </a:extLst>
          </p:cNvPr>
          <p:cNvSpPr>
            <a:spLocks xmlns:a="http://schemas.openxmlformats.org/drawingml/2006/main" noGrp="1"/>
          </p:cNvSpPr>
          <p:nvPr/>
        </p:nvSpPr>
        <p:spPr>
          <a:xfrm xmlns:a="http://schemas.openxmlformats.org/drawingml/2006/main">
            <a:off x="609600" y="5562600"/>
            <a:ext cx="342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1">
                <a:solidFill>
                  <a:srgbClr val="002060"/>
                </a:solidFill>
                <a:latin typeface="Calibri"/>
                <a:ea typeface="Calibri"/>
                <a:cs typeface="Calibri"/>
              </a:defRPr>
            </a:pPr>
            <a:r>
              <a:rPr sz="1725" b="1">
                <a:solidFill>
                  <a:srgbClr val="002060"/>
                </a:solidFill>
                <a:latin typeface="Calibri"/>
                <a:ea typeface="Calibri"/>
                <a:cs typeface="Calibri"/>
              </a:rPr>
              <a:t>Base / peserta unik</a:t>
            </a:r>
          </a:p>
        </p:txBody>
      </p:sp>
      <p:sp>
        <p:nvSpPr>
          <p:cNvPr id="9" name="text-219">
            <a:extLst xmlns:a="http://schemas.openxmlformats.org/drawingml/2006/main">
              <a:ext uri="{FF2B5EF4-FFF2-40B4-BE49-F238E27FC236}">
                <a16:creationId xmlns:a16="http://schemas.microsoft.com/office/drawing/2014/main" id="{AF22B2C5-FC59-4704-A3BB-5C239BCAABA6}"/>
              </a:ext>
            </a:extLst>
          </p:cNvPr>
          <p:cNvSpPr>
            <a:spLocks xmlns:a="http://schemas.openxmlformats.org/drawingml/2006/main" noGrp="1"/>
          </p:cNvSpPr>
          <p:nvPr/>
        </p:nvSpPr>
        <p:spPr>
          <a:xfrm xmlns:a="http://schemas.openxmlformats.org/drawingml/2006/main">
            <a:off x="4286250" y="5562600"/>
            <a:ext cx="714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273746"/>
                </a:solidFill>
                <a:latin typeface="Calibri"/>
                <a:ea typeface="Calibri"/>
                <a:cs typeface="Calibri"/>
              </a:defRPr>
            </a:pPr>
            <a:r>
              <a:rPr sz="1725" b="0">
                <a:solidFill>
                  <a:srgbClr val="273746"/>
                </a:solidFill>
                <a:latin typeface="Calibri"/>
                <a:ea typeface="Calibri"/>
                <a:cs typeface="Calibri"/>
              </a:rPr>
              <a:t>500: Rp69.600     750: Rp46.400     1.000: Rp34.800</a:t>
            </a:r>
          </a:p>
        </p:txBody>
      </p:sp>
    </p:spTree>
    <p:extLst>
      <p:ext uri="{BB962C8B-B14F-4D97-AF65-F5344CB8AC3E}">
        <p14:creationId xmlns:p14="http://schemas.microsoft.com/office/powerpoint/2010/main" val="1370368640"/>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text-220">
            <a:extLst xmlns:a="http://schemas.openxmlformats.org/drawingml/2006/main">
              <a:ext uri="{FF2B5EF4-FFF2-40B4-BE49-F238E27FC236}">
                <a16:creationId xmlns:a16="http://schemas.microsoft.com/office/drawing/2014/main" id="{2A39C4F3-0FDA-4F65-8FFC-A16587C03EB7}"/>
              </a:ext>
            </a:extLst>
          </p:cNvPr>
          <p:cNvSpPr>
            <a:spLocks xmlns:a="http://schemas.openxmlformats.org/drawingml/2006/main" noGrp="1"/>
          </p:cNvSpPr>
          <p:nvPr/>
        </p:nvSpPr>
        <p:spPr>
          <a:xfrm xmlns:a="http://schemas.openxmlformats.org/drawingml/2006/main">
            <a:off x="609600" y="333375"/>
            <a:ext cx="1066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65717D"/>
                </a:solidFill>
                <a:latin typeface="Calibri"/>
                <a:ea typeface="Calibri"/>
                <a:cs typeface="Calibri"/>
              </a:defRPr>
            </a:pPr>
            <a:r>
              <a:rPr sz="1050" b="1">
                <a:solidFill>
                  <a:srgbClr val="65717D"/>
                </a:solidFill>
                <a:latin typeface="Calibri"/>
                <a:ea typeface="Calibri"/>
                <a:cs typeface="Calibri"/>
              </a:rPr>
              <a:t>A4 / DINNER ECONOMICS &amp; VENUE</a:t>
            </a:r>
          </a:p>
        </p:txBody>
      </p:sp>
      <p:sp>
        <p:nvSpPr>
          <p:cNvPr id="2" name="text-221">
            <a:extLst xmlns:a="http://schemas.openxmlformats.org/drawingml/2006/main">
              <a:ext uri="{FF2B5EF4-FFF2-40B4-BE49-F238E27FC236}">
                <a16:creationId xmlns:a16="http://schemas.microsoft.com/office/drawing/2014/main" id="{E45D6297-C320-4245-86DF-D1FD13814E71}"/>
              </a:ext>
            </a:extLst>
          </p:cNvPr>
          <p:cNvSpPr>
            <a:spLocks xmlns:a="http://schemas.openxmlformats.org/drawingml/2006/main" noGrp="1"/>
          </p:cNvSpPr>
          <p:nvPr/>
        </p:nvSpPr>
        <p:spPr>
          <a:xfrm xmlns:a="http://schemas.openxmlformats.org/drawingml/2006/main">
            <a:off x="609600" y="723900"/>
            <a:ext cx="10858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925" b="1">
                <a:solidFill>
                  <a:srgbClr val="002060"/>
                </a:solidFill>
                <a:latin typeface="Calibri"/>
                <a:ea typeface="Calibri"/>
                <a:cs typeface="Calibri"/>
              </a:defRPr>
            </a:pPr>
            <a:r>
              <a:rPr sz="2925" b="1">
                <a:solidFill>
                  <a:srgbClr val="002060"/>
                </a:solidFill>
                <a:latin typeface="Calibri"/>
                <a:ea typeface="Calibri"/>
                <a:cs typeface="Calibri"/>
              </a:rPr>
              <a:t>Tambahan Rp5 jt fee Master menaikkan BEP Rp250 rb per seat</a:t>
            </a:r>
          </a:p>
        </p:txBody>
      </p:sp>
      <p:sp>
        <p:nvSpPr>
          <p:cNvPr id="3" name="text-222">
            <a:extLst xmlns:a="http://schemas.openxmlformats.org/drawingml/2006/main">
              <a:ext uri="{FF2B5EF4-FFF2-40B4-BE49-F238E27FC236}">
                <a16:creationId xmlns:a16="http://schemas.microsoft.com/office/drawing/2014/main" id="{38EBD624-26D6-4C26-A590-41908A0E15A5}"/>
              </a:ext>
            </a:extLst>
          </p:cNvPr>
          <p:cNvSpPr>
            <a:spLocks xmlns:a="http://schemas.openxmlformats.org/drawingml/2006/main" noGrp="1"/>
          </p:cNvSpPr>
          <p:nvPr/>
        </p:nvSpPr>
        <p:spPr>
          <a:xfrm xmlns:a="http://schemas.openxmlformats.org/drawingml/2006/main">
            <a:off x="609600" y="1666875"/>
            <a:ext cx="10858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65717D"/>
                </a:solidFill>
                <a:latin typeface="Calibri"/>
                <a:ea typeface="Calibri"/>
                <a:cs typeface="Calibri"/>
              </a:defRPr>
            </a:pPr>
            <a:r>
              <a:rPr sz="1500" b="0">
                <a:solidFill>
                  <a:srgbClr val="65717D"/>
                </a:solidFill>
                <a:latin typeface="Calibri"/>
                <a:ea typeface="Calibri"/>
                <a:cs typeface="Calibri"/>
              </a:rPr>
              <a:t>BEP inti = (24 × venue/head + fee Master) ÷ 20. Ops belum dimodelkan.</a:t>
            </a:r>
          </a:p>
        </p:txBody>
      </p:sp>
      <p:sp>
        <p:nvSpPr>
          <p:cNvPr id="4" name="">
            <a:extLst xmlns:a="http://schemas.openxmlformats.org/drawingml/2006/main">
              <a:ext uri="{FF2B5EF4-FFF2-40B4-BE49-F238E27FC236}">
                <a16:creationId xmlns:a16="http://schemas.microsoft.com/office/drawing/2014/main" id="{3FB19FC4-7C26-43FC-8602-FECDE6EBD49E}"/>
              </a:ext>
            </a:extLst>
          </p:cNvPr>
          <p:cNvSpPr>
            <a:spLocks xmlns:a="http://schemas.openxmlformats.org/drawingml/2006/main" noGrp="1"/>
          </p:cNvSpPr>
          <p:nvPr/>
        </p:nvSpPr>
        <p:spPr>
          <a:xfrm xmlns:a="http://schemas.openxmlformats.org/drawingml/2006/main">
            <a:off x="609600" y="6381750"/>
            <a:ext cx="10972800" cy="0"/>
          </a:xfrm>
          <a:prstGeom xmlns:a="http://schemas.openxmlformats.org/drawingml/2006/main" prst="line">
            <a:avLst/>
          </a:prstGeom>
          <a:noFill xmlns:a="http://schemas.openxmlformats.org/drawingml/2006/main"/>
          <a:ln xmlns:a="http://schemas.openxmlformats.org/drawingml/2006/main" w="9525">
            <a:solidFill>
              <a:srgbClr val="DCE2E8"/>
            </a:solidFill>
          </a:ln>
        </p:spPr>
      </p:sp>
      <p:sp>
        <p:nvSpPr>
          <p:cNvPr id="5" name="text-223">
            <a:extLst xmlns:a="http://schemas.openxmlformats.org/drawingml/2006/main">
              <a:ext uri="{FF2B5EF4-FFF2-40B4-BE49-F238E27FC236}">
                <a16:creationId xmlns:a16="http://schemas.microsoft.com/office/drawing/2014/main" id="{491B5380-E7D8-4094-8658-139BE2B353F1}"/>
              </a:ext>
            </a:extLst>
          </p:cNvPr>
          <p:cNvSpPr>
            <a:spLocks xmlns:a="http://schemas.openxmlformats.org/drawingml/2006/main" noGrp="1"/>
          </p:cNvSpPr>
          <p:nvPr/>
        </p:nvSpPr>
        <p:spPr>
          <a:xfrm xmlns:a="http://schemas.openxmlformats.org/drawingml/2006/main">
            <a:off x="609600" y="6505575"/>
            <a:ext cx="10191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825" b="0">
                <a:solidFill>
                  <a:srgbClr val="65717D"/>
                </a:solidFill>
                <a:latin typeface="Calibri"/>
                <a:ea typeface="Calibri"/>
                <a:cs typeface="Calibri"/>
              </a:defRPr>
            </a:pPr>
            <a:r>
              <a:rPr sz="825" b="0">
                <a:solidFill>
                  <a:srgbClr val="65717D"/>
                </a:solidFill>
                <a:latin typeface="Calibri"/>
                <a:ea typeface="Calibri"/>
                <a:cs typeface="Calibri"/>
              </a:rPr>
              <a:t>CMC internal, Oktober 2026. Angka usulan mengikuti deck sumber.</a:t>
            </a:r>
          </a:p>
        </p:txBody>
      </p:sp>
      <p:sp>
        <p:nvSpPr>
          <p:cNvPr id="6" name="text-224">
            <a:extLst xmlns:a="http://schemas.openxmlformats.org/drawingml/2006/main">
              <a:ext uri="{FF2B5EF4-FFF2-40B4-BE49-F238E27FC236}">
                <a16:creationId xmlns:a16="http://schemas.microsoft.com/office/drawing/2014/main" id="{7D7AFC9A-4B7D-4443-80D7-A21E1F37FC0B}"/>
              </a:ext>
            </a:extLst>
          </p:cNvPr>
          <p:cNvSpPr>
            <a:spLocks xmlns:a="http://schemas.openxmlformats.org/drawingml/2006/main" noGrp="1"/>
          </p:cNvSpPr>
          <p:nvPr/>
        </p:nvSpPr>
        <p:spPr>
          <a:xfrm xmlns:a="http://schemas.openxmlformats.org/drawingml/2006/main">
            <a:off x="11125200" y="6486525"/>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002060"/>
                </a:solidFill>
                <a:latin typeface="Calibri"/>
                <a:ea typeface="Calibri"/>
                <a:cs typeface="Calibri"/>
              </a:defRPr>
            </a:pPr>
            <a:r>
              <a:rPr sz="1050" b="1">
                <a:solidFill>
                  <a:srgbClr val="002060"/>
                </a:solidFill>
                <a:latin typeface="Calibri"/>
                <a:ea typeface="Calibri"/>
                <a:cs typeface="Calibri"/>
              </a:rPr>
              <a:t>16</a:t>
            </a:r>
          </a:p>
        </p:txBody>
      </p:sp>
      <p:graphicFrame>
        <p:nvGraphicFramePr>
          <p:cNvPr id="16" name="Chart"/>
          <p:cNvGraphicFramePr/>
          <p:nvPr/>
        </p:nvGraphicFramePr>
        <p:xfrm>
          <a:off xmlns:a="http://schemas.openxmlformats.org/drawingml/2006/main" x="609600" y="2457450"/>
          <a:ext xmlns:a="http://schemas.openxmlformats.org/drawingml/2006/main" cx="6048375" cy="3143250"/>
        </p:xfrm>
        <a:graphic xmlns:a="http://schemas.openxmlformats.org/drawingml/2006/main">
          <a:graphicData uri="http://schemas.openxmlformats.org/drawingml/2006/chart">
            <c:chart xmlns:r="http://schemas.openxmlformats.org/officeDocument/2006/relationships" xmlns:c="http://schemas.openxmlformats.org/drawingml/2006/chart" r:id="R9632c97a95e74b45"/>
          </a:graphicData>
        </a:graphic>
      </p:graphicFrame>
      <p:graphicFrame>
        <p:nvGraphicFramePr>
          <p:cNvPr id="17" name=""/>
          <p:cNvGraphicFramePr/>
          <p:nvPr/>
        </p:nvGraphicFramePr>
        <p:xfrm>
          <a:off xmlns:a="http://schemas.openxmlformats.org/drawingml/2006/main" x="7115175" y="2600325"/>
          <a:ext xmlns:a="http://schemas.openxmlformats.org/drawingml/2006/main" cx="4467225" cy="2428875"/>
        </p:xfrm>
        <a:graphic xmlns:a="http://schemas.openxmlformats.org/drawingml/2006/main">
          <a:graphicData uri="http://schemas.openxmlformats.org/drawingml/2006/table">
            <a:tbl>
              <a:tblPr/>
              <a:tblGrid>
                <a:gridCol w="1533525"/>
                <a:gridCol w="1495425"/>
                <a:gridCol w="1438275"/>
              </a:tblGrid>
              <a:tr h="485775">
                <a:tc>
                  <a:txBody>
                    <a:bodyPr lIns="95250" tIns="76200" rIns="95250" bIns="57150"/>
                    <a:lstStyle/>
                    <a:p>
                      <a:r>
                        <a:rPr sz="1350" b="1">
                          <a:solidFill>
                            <a:srgbClr val="FFFFFF"/>
                          </a:solidFill>
                          <a:latin typeface="Calibri"/>
                          <a:ea typeface="Calibri"/>
                          <a:cs typeface="Calibri"/>
                        </a:rPr>
                        <a:t>Venue</a:t>
                      </a:r>
                    </a:p>
                  </a:txBody>
                  <a:tcPr marL="91440" marR="91440" marT="45720" marB="45720">
                    <a:solidFill>
                      <a:srgbClr val="002060"/>
                    </a:solidFill>
                  </a:tcPr>
                </a:tc>
                <a:tc>
                  <a:txBody>
                    <a:bodyPr lIns="95250" tIns="76200" rIns="95250" bIns="57150"/>
                    <a:lstStyle/>
                    <a:p>
                      <a:r>
                        <a:rPr sz="1350" b="1">
                          <a:solidFill>
                            <a:srgbClr val="FFFFFF"/>
                          </a:solidFill>
                          <a:latin typeface="Calibri"/>
                          <a:ea typeface="Calibri"/>
                          <a:cs typeface="Calibri"/>
                        </a:rPr>
                        <a:t>Per orang</a:t>
                      </a:r>
                    </a:p>
                  </a:txBody>
                  <a:tcPr marL="91440" marR="91440" marT="45720" marB="45720">
                    <a:solidFill>
                      <a:srgbClr val="002060"/>
                    </a:solidFill>
                  </a:tcPr>
                </a:tc>
                <a:tc>
                  <a:txBody>
                    <a:bodyPr lIns="95250" tIns="76200" rIns="95250" bIns="57150"/>
                    <a:lstStyle/>
                    <a:p>
                      <a:r>
                        <a:rPr sz="1350" b="1">
                          <a:solidFill>
                            <a:srgbClr val="FFFFFF"/>
                          </a:solidFill>
                          <a:latin typeface="Calibri"/>
                          <a:ea typeface="Calibri"/>
                          <a:cs typeface="Calibri"/>
                        </a:rPr>
                        <a:t>Catatan</a:t>
                      </a:r>
                    </a:p>
                  </a:txBody>
                  <a:tcPr marL="91440" marR="91440" marT="45720" marB="45720">
                    <a:solidFill>
                      <a:srgbClr val="002060"/>
                    </a:solidFill>
                  </a:tcPr>
                </a:tc>
              </a:tr>
              <a:tr h="485775">
                <a:tc>
                  <a:txBody>
                    <a:bodyPr lIns="95250" tIns="76200" rIns="95250" bIns="57150"/>
                    <a:lstStyle/>
                    <a:p>
                      <a:r>
                        <a:rPr sz="1350" b="0">
                          <a:solidFill>
                            <a:srgbClr val="273746"/>
                          </a:solidFill>
                          <a:latin typeface="Calibri"/>
                          <a:ea typeface="Calibri"/>
                          <a:cs typeface="Calibri"/>
                        </a:rPr>
                        <a:t>Park Hyatt</a:t>
                      </a:r>
                    </a:p>
                  </a:txBody>
                  <a:tcPr marL="91440" marR="91440" marT="45720" marB="45720">
                    <a:solidFill>
                      <a:srgbClr val="FFFFFF"/>
                    </a:solidFill>
                  </a:tcPr>
                </a:tc>
                <a:tc>
                  <a:txBody>
                    <a:bodyPr lIns="95250" tIns="76200" rIns="95250" bIns="57150"/>
                    <a:lstStyle/>
                    <a:p>
                      <a:r>
                        <a:rPr sz="1350" b="0">
                          <a:solidFill>
                            <a:srgbClr val="273746"/>
                          </a:solidFill>
                          <a:latin typeface="Calibri"/>
                          <a:ea typeface="Calibri"/>
                          <a:cs typeface="Calibri"/>
                        </a:rPr>
                        <a:t>~Rp500 rb++</a:t>
                      </a:r>
                    </a:p>
                  </a:txBody>
                  <a:tcPr marL="91440" marR="91440" marT="45720" marB="45720">
                    <a:solidFill>
                      <a:srgbClr val="FFFFFF"/>
                    </a:solidFill>
                  </a:tcPr>
                </a:tc>
                <a:tc>
                  <a:txBody>
                    <a:bodyPr lIns="95250" tIns="76200" rIns="95250" bIns="57150"/>
                    <a:lstStyle/>
                    <a:p>
                      <a:r>
                        <a:rPr sz="1350" b="0">
                          <a:solidFill>
                            <a:srgbClr val="273746"/>
                          </a:solidFill>
                          <a:latin typeface="Calibri"/>
                          <a:ea typeface="Calibri"/>
                          <a:cs typeface="Calibri"/>
                        </a:rPr>
                        <a:t>Room maks 20</a:t>
                      </a:r>
                    </a:p>
                  </a:txBody>
                  <a:tcPr marL="91440" marR="91440" marT="45720" marB="45720">
                    <a:solidFill>
                      <a:srgbClr val="FFFFFF"/>
                    </a:solidFill>
                  </a:tcPr>
                </a:tc>
              </a:tr>
              <a:tr h="485775">
                <a:tc>
                  <a:txBody>
                    <a:bodyPr lIns="95250" tIns="76200" rIns="95250" bIns="57150"/>
                    <a:lstStyle/>
                    <a:p>
                      <a:r>
                        <a:rPr sz="1350" b="0">
                          <a:solidFill>
                            <a:srgbClr val="273746"/>
                          </a:solidFill>
                          <a:latin typeface="Calibri"/>
                          <a:ea typeface="Calibri"/>
                          <a:cs typeface="Calibri"/>
                        </a:rPr>
                        <a:t>Ritz-Carlton</a:t>
                      </a:r>
                    </a:p>
                  </a:txBody>
                  <a:tcPr marL="91440" marR="91440" marT="45720" marB="45720">
                    <a:solidFill>
                      <a:srgbClr val="F3F6F9"/>
                    </a:solidFill>
                  </a:tcPr>
                </a:tc>
                <a:tc>
                  <a:txBody>
                    <a:bodyPr lIns="95250" tIns="76200" rIns="95250" bIns="57150"/>
                    <a:lstStyle/>
                    <a:p>
                      <a:r>
                        <a:rPr sz="1350" b="0">
                          <a:solidFill>
                            <a:srgbClr val="273746"/>
                          </a:solidFill>
                          <a:latin typeface="Calibri"/>
                          <a:ea typeface="Calibri"/>
                          <a:cs typeface="Calibri"/>
                        </a:rPr>
                        <a:t>Rp540 rb</a:t>
                      </a:r>
                    </a:p>
                  </a:txBody>
                  <a:tcPr marL="91440" marR="91440" marT="45720" marB="45720">
                    <a:solidFill>
                      <a:srgbClr val="F3F6F9"/>
                    </a:solidFill>
                  </a:tcPr>
                </a:tc>
                <a:tc>
                  <a:txBody>
                    <a:bodyPr lIns="95250" tIns="76200" rIns="95250" bIns="57150"/>
                    <a:lstStyle/>
                    <a:p>
                      <a:r>
                        <a:rPr sz="1350" b="0">
                          <a:solidFill>
                            <a:srgbClr val="273746"/>
                          </a:solidFill>
                          <a:latin typeface="Calibri"/>
                          <a:ea typeface="Calibri"/>
                          <a:cs typeface="Calibri"/>
                        </a:rPr>
                        <a:t>Cek room charge</a:t>
                      </a:r>
                    </a:p>
                  </a:txBody>
                  <a:tcPr marL="91440" marR="91440" marT="45720" marB="45720">
                    <a:solidFill>
                      <a:srgbClr val="F3F6F9"/>
                    </a:solidFill>
                  </a:tcPr>
                </a:tc>
              </a:tr>
              <a:tr h="485775">
                <a:tc>
                  <a:txBody>
                    <a:bodyPr lIns="95250" tIns="76200" rIns="95250" bIns="57150"/>
                    <a:lstStyle/>
                    <a:p>
                      <a:r>
                        <a:rPr sz="1350" b="0">
                          <a:solidFill>
                            <a:srgbClr val="273746"/>
                          </a:solidFill>
                          <a:latin typeface="Calibri"/>
                          <a:ea typeface="Calibri"/>
                          <a:cs typeface="Calibri"/>
                        </a:rPr>
                        <a:t>Westin</a:t>
                      </a:r>
                    </a:p>
                  </a:txBody>
                  <a:tcPr marL="91440" marR="91440" marT="45720" marB="45720">
                    <a:solidFill>
                      <a:srgbClr val="FFFFFF"/>
                    </a:solidFill>
                  </a:tcPr>
                </a:tc>
                <a:tc>
                  <a:txBody>
                    <a:bodyPr lIns="95250" tIns="76200" rIns="95250" bIns="57150"/>
                    <a:lstStyle/>
                    <a:p>
                      <a:r>
                        <a:rPr sz="1350" b="0">
                          <a:solidFill>
                            <a:srgbClr val="273746"/>
                          </a:solidFill>
                          <a:latin typeface="Calibri"/>
                          <a:ea typeface="Calibri"/>
                          <a:cs typeface="Calibri"/>
                        </a:rPr>
                        <a:t>Rp850 rb</a:t>
                      </a:r>
                    </a:p>
                  </a:txBody>
                  <a:tcPr marL="91440" marR="91440" marT="45720" marB="45720">
                    <a:solidFill>
                      <a:srgbClr val="FFFFFF"/>
                    </a:solidFill>
                  </a:tcPr>
                </a:tc>
                <a:tc>
                  <a:txBody>
                    <a:bodyPr lIns="95250" tIns="76200" rIns="95250" bIns="57150"/>
                    <a:lstStyle/>
                    <a:p>
                      <a:r>
                        <a:rPr sz="1350" b="0">
                          <a:solidFill>
                            <a:srgbClr val="273746"/>
                          </a:solidFill>
                          <a:latin typeface="Calibri"/>
                          <a:ea typeface="Calibri"/>
                          <a:cs typeface="Calibri"/>
                        </a:rPr>
                        <a:t>Dinner catering</a:t>
                      </a:r>
                    </a:p>
                  </a:txBody>
                  <a:tcPr marL="91440" marR="91440" marT="45720" marB="45720">
                    <a:solidFill>
                      <a:srgbClr val="FFFFFF"/>
                    </a:solidFill>
                  </a:tcPr>
                </a:tc>
              </a:tr>
              <a:tr h="485775">
                <a:tc>
                  <a:txBody>
                    <a:bodyPr lIns="95250" tIns="76200" rIns="95250" bIns="57150"/>
                    <a:lstStyle/>
                    <a:p>
                      <a:r>
                        <a:rPr sz="1350" b="0">
                          <a:solidFill>
                            <a:srgbClr val="273746"/>
                          </a:solidFill>
                          <a:latin typeface="Calibri"/>
                          <a:ea typeface="Calibri"/>
                          <a:cs typeface="Calibri"/>
                        </a:rPr>
                        <a:t>Raffles</a:t>
                      </a:r>
                    </a:p>
                  </a:txBody>
                  <a:tcPr marL="91440" marR="91440" marT="45720" marB="45720">
                    <a:solidFill>
                      <a:srgbClr val="F3F6F9"/>
                    </a:solidFill>
                  </a:tcPr>
                </a:tc>
                <a:tc>
                  <a:txBody>
                    <a:bodyPr lIns="95250" tIns="76200" rIns="95250" bIns="57150"/>
                    <a:lstStyle/>
                    <a:p>
                      <a:r>
                        <a:rPr sz="1350" b="0">
                          <a:solidFill>
                            <a:srgbClr val="273746"/>
                          </a:solidFill>
                          <a:latin typeface="Calibri"/>
                          <a:ea typeface="Calibri"/>
                          <a:cs typeface="Calibri"/>
                        </a:rPr>
                        <a:t>Rp995 rb++</a:t>
                      </a:r>
                    </a:p>
                  </a:txBody>
                  <a:tcPr marL="91440" marR="91440" marT="45720" marB="45720">
                    <a:solidFill>
                      <a:srgbClr val="F3F6F9"/>
                    </a:solidFill>
                  </a:tcPr>
                </a:tc>
                <a:tc>
                  <a:txBody>
                    <a:bodyPr lIns="95250" tIns="76200" rIns="95250" bIns="57150"/>
                    <a:lstStyle/>
                    <a:p>
                      <a:r>
                        <a:rPr sz="1350" b="0">
                          <a:solidFill>
                            <a:srgbClr val="273746"/>
                          </a:solidFill>
                          <a:latin typeface="Calibri"/>
                          <a:ea typeface="Calibri"/>
                          <a:cs typeface="Calibri"/>
                        </a:rPr>
                        <a:t>Pajak/service lagi</a:t>
                      </a:r>
                    </a:p>
                  </a:txBody>
                  <a:tcPr marL="91440" marR="91440" marT="45720" marB="45720">
                    <a:solidFill>
                      <a:srgbClr val="F3F6F9"/>
                    </a:solidFill>
                  </a:tcPr>
                </a:tc>
              </a:tr>
            </a:tbl>
          </a:graphicData>
        </a:graphic>
      </p:graphicFrame>
      <p:sp>
        <p:nvSpPr>
          <p:cNvPr id="9" name="text-225">
            <a:extLst xmlns:a="http://schemas.openxmlformats.org/drawingml/2006/main">
              <a:ext uri="{FF2B5EF4-FFF2-40B4-BE49-F238E27FC236}">
                <a16:creationId xmlns:a16="http://schemas.microsoft.com/office/drawing/2014/main" id="{474CC7F0-D8CB-4800-97CB-263F0772FA51}"/>
              </a:ext>
            </a:extLst>
          </p:cNvPr>
          <p:cNvSpPr>
            <a:spLocks xmlns:a="http://schemas.openxmlformats.org/drawingml/2006/main" noGrp="1"/>
          </p:cNvSpPr>
          <p:nvPr/>
        </p:nvSpPr>
        <p:spPr>
          <a:xfrm xmlns:a="http://schemas.openxmlformats.org/drawingml/2006/main">
            <a:off x="7115175" y="5343525"/>
            <a:ext cx="446722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0">
                <a:solidFill>
                  <a:srgbClr val="65717D"/>
                </a:solidFill>
                <a:latin typeface="Calibri"/>
                <a:ea typeface="Calibri"/>
                <a:cs typeface="Calibri"/>
              </a:defRPr>
            </a:pPr>
            <a:r>
              <a:rPr sz="1425" b="0">
                <a:solidFill>
                  <a:srgbClr val="65717D"/>
                </a:solidFill>
                <a:latin typeface="Calibri"/>
                <a:ea typeface="Calibri"/>
                <a:cs typeface="Calibri"/>
              </a:rPr>
              <a:t>24 orang = 20 peserta + 1 Master + 3 tim.</a:t>
            </a:r>
          </a:p>
          <a:p xmlns:a="http://schemas.openxmlformats.org/drawingml/2006/main">
            <a:pPr>
              <a:defRPr sz="1425" b="0">
                <a:solidFill>
                  <a:srgbClr val="65717D"/>
                </a:solidFill>
                <a:latin typeface="Calibri"/>
                <a:ea typeface="Calibri"/>
                <a:cs typeface="Calibri"/>
              </a:defRPr>
            </a:pPr>
            <a:r>
              <a:rPr sz="1425" b="0">
                <a:solidFill>
                  <a:srgbClr val="65717D"/>
                </a:solidFill>
                <a:latin typeface="Calibri"/>
                <a:ea typeface="Calibri"/>
                <a:cs typeface="Calibri"/>
              </a:rPr>
              <a:t>Park Hyatt 20 pax tidak cukup untuk seluruh tim.</a:t>
            </a:r>
          </a:p>
        </p:txBody>
      </p:sp>
    </p:spTree>
    <p:extLst>
      <p:ext uri="{BB962C8B-B14F-4D97-AF65-F5344CB8AC3E}">
        <p14:creationId xmlns:p14="http://schemas.microsoft.com/office/powerpoint/2010/main" val="1363997034"/>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text-226">
            <a:extLst xmlns:a="http://schemas.openxmlformats.org/drawingml/2006/main">
              <a:ext uri="{FF2B5EF4-FFF2-40B4-BE49-F238E27FC236}">
                <a16:creationId xmlns:a16="http://schemas.microsoft.com/office/drawing/2014/main" id="{C11128F3-5A15-4777-9485-507720A7AB77}"/>
              </a:ext>
            </a:extLst>
          </p:cNvPr>
          <p:cNvSpPr>
            <a:spLocks xmlns:a="http://schemas.openxmlformats.org/drawingml/2006/main" noGrp="1"/>
          </p:cNvSpPr>
          <p:nvPr/>
        </p:nvSpPr>
        <p:spPr>
          <a:xfrm xmlns:a="http://schemas.openxmlformats.org/drawingml/2006/main">
            <a:off x="609600" y="333375"/>
            <a:ext cx="1066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65717D"/>
                </a:solidFill>
                <a:latin typeface="Calibri"/>
                <a:ea typeface="Calibri"/>
                <a:cs typeface="Calibri"/>
              </a:defRPr>
            </a:pPr>
            <a:r>
              <a:rPr sz="1050" b="1">
                <a:solidFill>
                  <a:srgbClr val="65717D"/>
                </a:solidFill>
                <a:latin typeface="Calibri"/>
                <a:ea typeface="Calibri"/>
                <a:cs typeface="Calibri"/>
              </a:rPr>
              <a:t>A5 / CERTIFICATION</a:t>
            </a:r>
          </a:p>
        </p:txBody>
      </p:sp>
      <p:sp>
        <p:nvSpPr>
          <p:cNvPr id="2" name="text-227">
            <a:extLst xmlns:a="http://schemas.openxmlformats.org/drawingml/2006/main">
              <a:ext uri="{FF2B5EF4-FFF2-40B4-BE49-F238E27FC236}">
                <a16:creationId xmlns:a16="http://schemas.microsoft.com/office/drawing/2014/main" id="{08218F77-D631-4DDA-9433-073C46480A78}"/>
              </a:ext>
            </a:extLst>
          </p:cNvPr>
          <p:cNvSpPr>
            <a:spLocks xmlns:a="http://schemas.openxmlformats.org/drawingml/2006/main" noGrp="1"/>
          </p:cNvSpPr>
          <p:nvPr/>
        </p:nvSpPr>
        <p:spPr>
          <a:xfrm xmlns:a="http://schemas.openxmlformats.org/drawingml/2006/main">
            <a:off x="609600" y="723900"/>
            <a:ext cx="10858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925" b="1">
                <a:solidFill>
                  <a:srgbClr val="002060"/>
                </a:solidFill>
                <a:latin typeface="Calibri"/>
                <a:ea typeface="Calibri"/>
                <a:cs typeface="Calibri"/>
              </a:defRPr>
            </a:pPr>
            <a:r>
              <a:rPr sz="2925" b="1">
                <a:solidFill>
                  <a:srgbClr val="002060"/>
                </a:solidFill>
                <a:latin typeface="Calibri"/>
                <a:ea typeface="Calibri"/>
                <a:cs typeface="Calibri"/>
              </a:rPr>
              <a:t>Sertifikat CMC dan sertifikasi kompetensi punya fungsi berbeda</a:t>
            </a:r>
          </a:p>
        </p:txBody>
      </p:sp>
      <p:sp>
        <p:nvSpPr>
          <p:cNvPr id="3" name="text-228">
            <a:extLst xmlns:a="http://schemas.openxmlformats.org/drawingml/2006/main">
              <a:ext uri="{FF2B5EF4-FFF2-40B4-BE49-F238E27FC236}">
                <a16:creationId xmlns:a16="http://schemas.microsoft.com/office/drawing/2014/main" id="{292FBE8B-F5C3-4AFD-A7D6-E53A4EFB1436}"/>
              </a:ext>
            </a:extLst>
          </p:cNvPr>
          <p:cNvSpPr>
            <a:spLocks xmlns:a="http://schemas.openxmlformats.org/drawingml/2006/main" noGrp="1"/>
          </p:cNvSpPr>
          <p:nvPr/>
        </p:nvSpPr>
        <p:spPr>
          <a:xfrm xmlns:a="http://schemas.openxmlformats.org/drawingml/2006/main">
            <a:off x="609600" y="1666875"/>
            <a:ext cx="10858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65717D"/>
                </a:solidFill>
                <a:latin typeface="Calibri"/>
                <a:ea typeface="Calibri"/>
                <a:cs typeface="Calibri"/>
              </a:defRPr>
            </a:pPr>
            <a:r>
              <a:rPr sz="1500" b="0">
                <a:solidFill>
                  <a:srgbClr val="65717D"/>
                </a:solidFill>
                <a:latin typeface="Calibri"/>
                <a:ea typeface="Calibri"/>
                <a:cs typeface="Calibri"/>
              </a:rPr>
              <a:t>Tier premium memerlukan mitra LSP, skema yang sesuai, dan biaya final.</a:t>
            </a:r>
          </a:p>
        </p:txBody>
      </p:sp>
      <p:sp>
        <p:nvSpPr>
          <p:cNvPr id="4" name="">
            <a:extLst xmlns:a="http://schemas.openxmlformats.org/drawingml/2006/main">
              <a:ext uri="{FF2B5EF4-FFF2-40B4-BE49-F238E27FC236}">
                <a16:creationId xmlns:a16="http://schemas.microsoft.com/office/drawing/2014/main" id="{83663300-3A69-46EA-8AB7-258339FAF61F}"/>
              </a:ext>
            </a:extLst>
          </p:cNvPr>
          <p:cNvSpPr>
            <a:spLocks xmlns:a="http://schemas.openxmlformats.org/drawingml/2006/main" noGrp="1"/>
          </p:cNvSpPr>
          <p:nvPr/>
        </p:nvSpPr>
        <p:spPr>
          <a:xfrm xmlns:a="http://schemas.openxmlformats.org/drawingml/2006/main">
            <a:off x="609600" y="6381750"/>
            <a:ext cx="10972800" cy="0"/>
          </a:xfrm>
          <a:prstGeom xmlns:a="http://schemas.openxmlformats.org/drawingml/2006/main" prst="line">
            <a:avLst/>
          </a:prstGeom>
          <a:noFill xmlns:a="http://schemas.openxmlformats.org/drawingml/2006/main"/>
          <a:ln xmlns:a="http://schemas.openxmlformats.org/drawingml/2006/main" w="9525">
            <a:solidFill>
              <a:srgbClr val="DCE2E8"/>
            </a:solidFill>
          </a:ln>
        </p:spPr>
      </p:sp>
      <p:sp>
        <p:nvSpPr>
          <p:cNvPr id="5" name="text-229">
            <a:extLst xmlns:a="http://schemas.openxmlformats.org/drawingml/2006/main">
              <a:ext uri="{FF2B5EF4-FFF2-40B4-BE49-F238E27FC236}">
                <a16:creationId xmlns:a16="http://schemas.microsoft.com/office/drawing/2014/main" id="{FBCAC487-642A-4F2D-84AC-73C7D25CA39D}"/>
              </a:ext>
            </a:extLst>
          </p:cNvPr>
          <p:cNvSpPr>
            <a:spLocks xmlns:a="http://schemas.openxmlformats.org/drawingml/2006/main" noGrp="1"/>
          </p:cNvSpPr>
          <p:nvPr/>
        </p:nvSpPr>
        <p:spPr>
          <a:xfrm xmlns:a="http://schemas.openxmlformats.org/drawingml/2006/main">
            <a:off x="609600" y="6505575"/>
            <a:ext cx="10191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825" b="0">
                <a:solidFill>
                  <a:srgbClr val="65717D"/>
                </a:solidFill>
                <a:latin typeface="Calibri"/>
                <a:ea typeface="Calibri"/>
                <a:cs typeface="Calibri"/>
              </a:defRPr>
            </a:pPr>
            <a:r>
              <a:rPr sz="825" b="0">
                <a:solidFill>
                  <a:srgbClr val="65717D"/>
                </a:solidFill>
                <a:latin typeface="Calibri"/>
                <a:ea typeface="Calibri"/>
                <a:cs typeface="Calibri"/>
              </a:rPr>
              <a:t>CMC internal, Oktober 2026. Angka usulan mengikuti deck sumber.</a:t>
            </a:r>
          </a:p>
        </p:txBody>
      </p:sp>
      <p:sp>
        <p:nvSpPr>
          <p:cNvPr id="6" name="text-230">
            <a:extLst xmlns:a="http://schemas.openxmlformats.org/drawingml/2006/main">
              <a:ext uri="{FF2B5EF4-FFF2-40B4-BE49-F238E27FC236}">
                <a16:creationId xmlns:a16="http://schemas.microsoft.com/office/drawing/2014/main" id="{D1BF0CD3-3C4E-4CF6-B606-487697490240}"/>
              </a:ext>
            </a:extLst>
          </p:cNvPr>
          <p:cNvSpPr>
            <a:spLocks xmlns:a="http://schemas.openxmlformats.org/drawingml/2006/main" noGrp="1"/>
          </p:cNvSpPr>
          <p:nvPr/>
        </p:nvSpPr>
        <p:spPr>
          <a:xfrm xmlns:a="http://schemas.openxmlformats.org/drawingml/2006/main">
            <a:off x="11125200" y="6486525"/>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002060"/>
                </a:solidFill>
                <a:latin typeface="Calibri"/>
                <a:ea typeface="Calibri"/>
                <a:cs typeface="Calibri"/>
              </a:defRPr>
            </a:pPr>
            <a:r>
              <a:rPr sz="1050" b="1">
                <a:solidFill>
                  <a:srgbClr val="002060"/>
                </a:solidFill>
                <a:latin typeface="Calibri"/>
                <a:ea typeface="Calibri"/>
                <a:cs typeface="Calibri"/>
              </a:rPr>
              <a:t>17</a:t>
            </a:r>
          </a:p>
        </p:txBody>
      </p:sp>
      <p:sp>
        <p:nvSpPr>
          <p:cNvPr id="7" name="text-231">
            <a:extLst xmlns:a="http://schemas.openxmlformats.org/drawingml/2006/main">
              <a:ext uri="{FF2B5EF4-FFF2-40B4-BE49-F238E27FC236}">
                <a16:creationId xmlns:a16="http://schemas.microsoft.com/office/drawing/2014/main" id="{DFA9BE54-64ED-4F7E-8EB9-3A5AD40E9BE3}"/>
              </a:ext>
            </a:extLst>
          </p:cNvPr>
          <p:cNvSpPr>
            <a:spLocks xmlns:a="http://schemas.openxmlformats.org/drawingml/2006/main" noGrp="1"/>
          </p:cNvSpPr>
          <p:nvPr/>
        </p:nvSpPr>
        <p:spPr>
          <a:xfrm xmlns:a="http://schemas.openxmlformats.org/drawingml/2006/main">
            <a:off x="609600" y="2295525"/>
            <a:ext cx="5048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1">
                <a:solidFill>
                  <a:srgbClr val="002060"/>
                </a:solidFill>
                <a:latin typeface="Calibri"/>
                <a:ea typeface="Calibri"/>
                <a:cs typeface="Calibri"/>
              </a:defRPr>
            </a:pPr>
            <a:r>
              <a:rPr sz="2100" b="1">
                <a:solidFill>
                  <a:srgbClr val="002060"/>
                </a:solidFill>
                <a:latin typeface="Calibri"/>
                <a:ea typeface="Calibri"/>
                <a:cs typeface="Calibri"/>
              </a:rPr>
              <a:t>Sertifikat CMC</a:t>
            </a:r>
          </a:p>
        </p:txBody>
      </p:sp>
      <p:sp>
        <p:nvSpPr>
          <p:cNvPr id="8" name="text-232">
            <a:extLst xmlns:a="http://schemas.openxmlformats.org/drawingml/2006/main">
              <a:ext uri="{FF2B5EF4-FFF2-40B4-BE49-F238E27FC236}">
                <a16:creationId xmlns:a16="http://schemas.microsoft.com/office/drawing/2014/main" id="{9671334D-2B15-4444-A502-1F5A2FB710D5}"/>
              </a:ext>
            </a:extLst>
          </p:cNvPr>
          <p:cNvSpPr>
            <a:spLocks xmlns:a="http://schemas.openxmlformats.org/drawingml/2006/main" noGrp="1"/>
          </p:cNvSpPr>
          <p:nvPr/>
        </p:nvSpPr>
        <p:spPr>
          <a:xfrm xmlns:a="http://schemas.openxmlformats.org/drawingml/2006/main">
            <a:off x="609600" y="2714625"/>
            <a:ext cx="5048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273746"/>
                </a:solidFill>
                <a:latin typeface="Calibri"/>
                <a:ea typeface="Calibri"/>
                <a:cs typeface="Calibri"/>
              </a:defRPr>
            </a:pPr>
            <a:r>
              <a:rPr sz="1725" b="0">
                <a:solidFill>
                  <a:srgbClr val="273746"/>
                </a:solidFill>
                <a:latin typeface="Calibri"/>
                <a:ea typeface="Calibri"/>
                <a:cs typeface="Calibri"/>
              </a:rPr>
              <a:t>Bukti penyelesaian program</a:t>
            </a:r>
          </a:p>
        </p:txBody>
      </p:sp>
      <p:sp>
        <p:nvSpPr>
          <p:cNvPr id="9" name="text-233">
            <a:extLst xmlns:a="http://schemas.openxmlformats.org/drawingml/2006/main">
              <a:ext uri="{FF2B5EF4-FFF2-40B4-BE49-F238E27FC236}">
                <a16:creationId xmlns:a16="http://schemas.microsoft.com/office/drawing/2014/main" id="{4A3751A1-DD11-4FFC-9E47-8D84ECEC8F49}"/>
              </a:ext>
            </a:extLst>
          </p:cNvPr>
          <p:cNvSpPr>
            <a:spLocks xmlns:a="http://schemas.openxmlformats.org/drawingml/2006/main" noGrp="1"/>
          </p:cNvSpPr>
          <p:nvPr/>
        </p:nvSpPr>
        <p:spPr>
          <a:xfrm xmlns:a="http://schemas.openxmlformats.org/drawingml/2006/main">
            <a:off x="6619875" y="2295525"/>
            <a:ext cx="4953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1">
                <a:solidFill>
                  <a:srgbClr val="002060"/>
                </a:solidFill>
                <a:latin typeface="Calibri"/>
                <a:ea typeface="Calibri"/>
                <a:cs typeface="Calibri"/>
              </a:defRPr>
            </a:pPr>
            <a:r>
              <a:rPr sz="2100" b="1">
                <a:solidFill>
                  <a:srgbClr val="002060"/>
                </a:solidFill>
                <a:latin typeface="Calibri"/>
                <a:ea typeface="Calibri"/>
                <a:cs typeface="Calibri"/>
              </a:rPr>
              <a:t>Sertifikasi kompetensi</a:t>
            </a:r>
          </a:p>
        </p:txBody>
      </p:sp>
      <p:sp>
        <p:nvSpPr>
          <p:cNvPr id="10" name="text-234">
            <a:extLst xmlns:a="http://schemas.openxmlformats.org/drawingml/2006/main">
              <a:ext uri="{FF2B5EF4-FFF2-40B4-BE49-F238E27FC236}">
                <a16:creationId xmlns:a16="http://schemas.microsoft.com/office/drawing/2014/main" id="{6524885F-2195-43AD-9139-106F39A2CFC3}"/>
              </a:ext>
            </a:extLst>
          </p:cNvPr>
          <p:cNvSpPr>
            <a:spLocks xmlns:a="http://schemas.openxmlformats.org/drawingml/2006/main" noGrp="1"/>
          </p:cNvSpPr>
          <p:nvPr/>
        </p:nvSpPr>
        <p:spPr>
          <a:xfrm xmlns:a="http://schemas.openxmlformats.org/drawingml/2006/main">
            <a:off x="6619875" y="271462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273746"/>
                </a:solidFill>
                <a:latin typeface="Calibri"/>
                <a:ea typeface="Calibri"/>
                <a:cs typeface="Calibri"/>
              </a:defRPr>
            </a:pPr>
            <a:r>
              <a:rPr sz="1725" b="0">
                <a:solidFill>
                  <a:srgbClr val="273746"/>
                </a:solidFill>
                <a:latin typeface="Calibri"/>
                <a:ea typeface="Calibri"/>
                <a:cs typeface="Calibri"/>
              </a:rPr>
              <a:t>Uji kompetensi lewat LSP berlisensi</a:t>
            </a:r>
          </a:p>
        </p:txBody>
      </p:sp>
      <p:graphicFrame>
        <p:nvGraphicFramePr>
          <p:cNvPr id="22" name=""/>
          <p:cNvGraphicFramePr/>
          <p:nvPr/>
        </p:nvGraphicFramePr>
        <p:xfrm>
          <a:off xmlns:a="http://schemas.openxmlformats.org/drawingml/2006/main" x="609600" y="3333750"/>
          <a:ext xmlns:a="http://schemas.openxmlformats.org/drawingml/2006/main" cx="10972800" cy="2600325"/>
        </p:xfrm>
        <a:graphic xmlns:a="http://schemas.openxmlformats.org/drawingml/2006/main">
          <a:graphicData uri="http://schemas.openxmlformats.org/drawingml/2006/table">
            <a:tbl>
              <a:tblPr/>
              <a:tblGrid>
                <a:gridCol w="4095750"/>
                <a:gridCol w="3286125"/>
                <a:gridCol w="3590925"/>
              </a:tblGrid>
              <a:tr h="371475">
                <a:tc>
                  <a:txBody>
                    <a:bodyPr lIns="95250" tIns="76200" rIns="95250" bIns="57150"/>
                    <a:lstStyle/>
                    <a:p>
                      <a:r>
                        <a:rPr sz="1425" b="1">
                          <a:solidFill>
                            <a:srgbClr val="FFFFFF"/>
                          </a:solidFill>
                          <a:latin typeface="Calibri"/>
                          <a:ea typeface="Calibri"/>
                          <a:cs typeface="Calibri"/>
                        </a:rPr>
                        <a:t>Skema / program</a:t>
                      </a:r>
                    </a:p>
                  </a:txBody>
                  <a:tcPr marL="91440" marR="91440" marT="45720" marB="45720">
                    <a:solidFill>
                      <a:srgbClr val="002060"/>
                    </a:solidFill>
                  </a:tcPr>
                </a:tc>
                <a:tc>
                  <a:txBody>
                    <a:bodyPr lIns="95250" tIns="76200" rIns="95250" bIns="57150"/>
                    <a:lstStyle/>
                    <a:p>
                      <a:r>
                        <a:rPr sz="1425" b="1">
                          <a:solidFill>
                            <a:srgbClr val="FFFFFF"/>
                          </a:solidFill>
                          <a:latin typeface="Calibri"/>
                          <a:ea typeface="Calibri"/>
                          <a:cs typeface="Calibri"/>
                        </a:rPr>
                        <a:t>Biaya benchmark</a:t>
                      </a:r>
                    </a:p>
                  </a:txBody>
                  <a:tcPr marL="91440" marR="91440" marT="45720" marB="45720">
                    <a:solidFill>
                      <a:srgbClr val="002060"/>
                    </a:solidFill>
                  </a:tcPr>
                </a:tc>
                <a:tc>
                  <a:txBody>
                    <a:bodyPr lIns="95250" tIns="76200" rIns="95250" bIns="57150"/>
                    <a:lstStyle/>
                    <a:p>
                      <a:r>
                        <a:rPr sz="1425" b="1">
                          <a:solidFill>
                            <a:srgbClr val="FFFFFF"/>
                          </a:solidFill>
                          <a:latin typeface="Calibri"/>
                          <a:ea typeface="Calibri"/>
                          <a:cs typeface="Calibri"/>
                        </a:rPr>
                        <a:t>Sumber</a:t>
                      </a:r>
                    </a:p>
                  </a:txBody>
                  <a:tcPr marL="91440" marR="91440" marT="45720" marB="45720">
                    <a:solidFill>
                      <a:srgbClr val="002060"/>
                    </a:solidFill>
                  </a:tcPr>
                </a:tc>
              </a:tr>
              <a:tr h="371475">
                <a:tc>
                  <a:txBody>
                    <a:bodyPr lIns="95250" tIns="76200" rIns="95250" bIns="57150"/>
                    <a:lstStyle/>
                    <a:p>
                      <a:r>
                        <a:rPr sz="1425" b="0">
                          <a:solidFill>
                            <a:srgbClr val="273746"/>
                          </a:solidFill>
                          <a:latin typeface="Calibri"/>
                          <a:ea typeface="Calibri"/>
                          <a:cs typeface="Calibri"/>
                        </a:rPr>
                        <a:t>Dasar / digital marketing</a:t>
                      </a:r>
                    </a:p>
                  </a:txBody>
                  <a:tcPr marL="91440" marR="91440" marT="45720" marB="45720">
                    <a:solidFill>
                      <a:srgbClr val="FFFFFF"/>
                    </a:solidFill>
                  </a:tcPr>
                </a:tc>
                <a:tc>
                  <a:txBody>
                    <a:bodyPr lIns="95250" tIns="76200" rIns="95250" bIns="57150"/>
                    <a:lstStyle/>
                    <a:p>
                      <a:r>
                        <a:rPr sz="1425" b="0">
                          <a:solidFill>
                            <a:srgbClr val="273746"/>
                          </a:solidFill>
                          <a:latin typeface="Calibri"/>
                          <a:ea typeface="Calibri"/>
                          <a:cs typeface="Calibri"/>
                        </a:rPr>
                        <a:t>Rp0,75–1,3 jt</a:t>
                      </a:r>
                    </a:p>
                  </a:txBody>
                  <a:tcPr marL="91440" marR="91440" marT="45720" marB="45720">
                    <a:solidFill>
                      <a:srgbClr val="FFFFFF"/>
                    </a:solidFill>
                  </a:tcPr>
                </a:tc>
                <a:tc>
                  <a:txBody>
                    <a:bodyPr lIns="95250" tIns="76200" rIns="95250" bIns="57150"/>
                    <a:lstStyle/>
                    <a:p>
                      <a:r>
                        <a:rPr sz="1425" b="0">
                          <a:solidFill>
                            <a:srgbClr val="273746"/>
                          </a:solidFill>
                          <a:latin typeface="Calibri"/>
                          <a:ea typeface="Calibri"/>
                          <a:cs typeface="Calibri"/>
                        </a:rPr>
                        <a:t>LSP UMS, Ditekindo</a:t>
                      </a:r>
                    </a:p>
                  </a:txBody>
                  <a:tcPr marL="91440" marR="91440" marT="45720" marB="45720">
                    <a:solidFill>
                      <a:srgbClr val="FFFFFF"/>
                    </a:solidFill>
                  </a:tcPr>
                </a:tc>
              </a:tr>
              <a:tr h="371475">
                <a:tc>
                  <a:txBody>
                    <a:bodyPr lIns="95250" tIns="76200" rIns="95250" bIns="57150"/>
                    <a:lstStyle/>
                    <a:p>
                      <a:r>
                        <a:rPr sz="1425" b="0">
                          <a:solidFill>
                            <a:srgbClr val="273746"/>
                          </a:solidFill>
                          <a:latin typeface="Calibri"/>
                          <a:ea typeface="Calibri"/>
                          <a:cs typeface="Calibri"/>
                        </a:rPr>
                        <a:t>Pelaksana kewirausahaan</a:t>
                      </a:r>
                    </a:p>
                  </a:txBody>
                  <a:tcPr marL="91440" marR="91440" marT="45720" marB="45720">
                    <a:solidFill>
                      <a:srgbClr val="F3F6F9"/>
                    </a:solidFill>
                  </a:tcPr>
                </a:tc>
                <a:tc>
                  <a:txBody>
                    <a:bodyPr lIns="95250" tIns="76200" rIns="95250" bIns="57150"/>
                    <a:lstStyle/>
                    <a:p>
                      <a:r>
                        <a:rPr sz="1425" b="0">
                          <a:solidFill>
                            <a:srgbClr val="273746"/>
                          </a:solidFill>
                          <a:latin typeface="Calibri"/>
                          <a:ea typeface="Calibri"/>
                          <a:cs typeface="Calibri"/>
                        </a:rPr>
                        <a:t>Rp1,5 jt + Rp0,2 jt daftar</a:t>
                      </a:r>
                    </a:p>
                  </a:txBody>
                  <a:tcPr marL="91440" marR="91440" marT="45720" marB="45720">
                    <a:solidFill>
                      <a:srgbClr val="F3F6F9"/>
                    </a:solidFill>
                  </a:tcPr>
                </a:tc>
                <a:tc>
                  <a:txBody>
                    <a:bodyPr lIns="95250" tIns="76200" rIns="95250" bIns="57150"/>
                    <a:lstStyle/>
                    <a:p>
                      <a:r>
                        <a:rPr sz="1425" b="0">
                          <a:solidFill>
                            <a:srgbClr val="273746"/>
                          </a:solidFill>
                          <a:latin typeface="Calibri"/>
                          <a:ea typeface="Calibri"/>
                          <a:cs typeface="Calibri"/>
                        </a:rPr>
                        <a:t>LSP UMKM Profesional</a:t>
                      </a:r>
                    </a:p>
                  </a:txBody>
                  <a:tcPr marL="91440" marR="91440" marT="45720" marB="45720">
                    <a:solidFill>
                      <a:srgbClr val="F3F6F9"/>
                    </a:solidFill>
                  </a:tcPr>
                </a:tc>
              </a:tr>
              <a:tr h="371475">
                <a:tc>
                  <a:txBody>
                    <a:bodyPr lIns="95250" tIns="76200" rIns="95250" bIns="57150"/>
                    <a:lstStyle/>
                    <a:p>
                      <a:r>
                        <a:rPr sz="1425" b="0">
                          <a:solidFill>
                            <a:srgbClr val="273746"/>
                          </a:solidFill>
                          <a:latin typeface="Calibri"/>
                          <a:ea typeface="Calibri"/>
                          <a:cs typeface="Calibri"/>
                        </a:rPr>
                        <a:t>Pelaksana + pelatihan</a:t>
                      </a:r>
                    </a:p>
                  </a:txBody>
                  <a:tcPr marL="91440" marR="91440" marT="45720" marB="45720">
                    <a:solidFill>
                      <a:srgbClr val="FFFFFF"/>
                    </a:solidFill>
                  </a:tcPr>
                </a:tc>
                <a:tc>
                  <a:txBody>
                    <a:bodyPr lIns="95250" tIns="76200" rIns="95250" bIns="57150"/>
                    <a:lstStyle/>
                    <a:p>
                      <a:r>
                        <a:rPr sz="1425" b="0">
                          <a:solidFill>
                            <a:srgbClr val="273746"/>
                          </a:solidFill>
                          <a:latin typeface="Calibri"/>
                          <a:ea typeface="Calibri"/>
                          <a:cs typeface="Calibri"/>
                        </a:rPr>
                        <a:t>Rp2,5 jt</a:t>
                      </a:r>
                    </a:p>
                  </a:txBody>
                  <a:tcPr marL="91440" marR="91440" marT="45720" marB="45720">
                    <a:solidFill>
                      <a:srgbClr val="FFFFFF"/>
                    </a:solidFill>
                  </a:tcPr>
                </a:tc>
                <a:tc>
                  <a:txBody>
                    <a:bodyPr lIns="95250" tIns="76200" rIns="95250" bIns="57150"/>
                    <a:lstStyle/>
                    <a:p>
                      <a:r>
                        <a:rPr sz="1425" b="0">
                          <a:solidFill>
                            <a:srgbClr val="273746"/>
                          </a:solidFill>
                          <a:latin typeface="Calibri"/>
                          <a:ea typeface="Calibri"/>
                          <a:cs typeface="Calibri"/>
                        </a:rPr>
                        <a:t>Pustama Indonesia</a:t>
                      </a:r>
                    </a:p>
                  </a:txBody>
                  <a:tcPr marL="91440" marR="91440" marT="45720" marB="45720">
                    <a:solidFill>
                      <a:srgbClr val="FFFFFF"/>
                    </a:solidFill>
                  </a:tcPr>
                </a:tc>
              </a:tr>
              <a:tr h="371475">
                <a:tc>
                  <a:txBody>
                    <a:bodyPr lIns="95250" tIns="76200" rIns="95250" bIns="57150"/>
                    <a:lstStyle/>
                    <a:p>
                      <a:r>
                        <a:rPr sz="1425" b="0">
                          <a:solidFill>
                            <a:srgbClr val="273746"/>
                          </a:solidFill>
                          <a:latin typeface="Calibri"/>
                          <a:ea typeface="Calibri"/>
                          <a:cs typeface="Calibri"/>
                        </a:rPr>
                        <a:t>Supervisor</a:t>
                      </a:r>
                    </a:p>
                  </a:txBody>
                  <a:tcPr marL="91440" marR="91440" marT="45720" marB="45720">
                    <a:solidFill>
                      <a:srgbClr val="F3F6F9"/>
                    </a:solidFill>
                  </a:tcPr>
                </a:tc>
                <a:tc>
                  <a:txBody>
                    <a:bodyPr lIns="95250" tIns="76200" rIns="95250" bIns="57150"/>
                    <a:lstStyle/>
                    <a:p>
                      <a:r>
                        <a:rPr sz="1425" b="0">
                          <a:solidFill>
                            <a:srgbClr val="273746"/>
                          </a:solidFill>
                          <a:latin typeface="Calibri"/>
                          <a:ea typeface="Calibri"/>
                          <a:cs typeface="Calibri"/>
                        </a:rPr>
                        <a:t>Rp1,75–2,5 jt</a:t>
                      </a:r>
                    </a:p>
                  </a:txBody>
                  <a:tcPr marL="91440" marR="91440" marT="45720" marB="45720">
                    <a:solidFill>
                      <a:srgbClr val="F3F6F9"/>
                    </a:solidFill>
                  </a:tcPr>
                </a:tc>
                <a:tc>
                  <a:txBody>
                    <a:bodyPr lIns="95250" tIns="76200" rIns="95250" bIns="57150"/>
                    <a:lstStyle/>
                    <a:p>
                      <a:r>
                        <a:rPr sz="1425" b="0">
                          <a:solidFill>
                            <a:srgbClr val="273746"/>
                          </a:solidFill>
                          <a:latin typeface="Calibri"/>
                          <a:ea typeface="Calibri"/>
                          <a:cs typeface="Calibri"/>
                        </a:rPr>
                        <a:t>Ditekindo, MarkPlus</a:t>
                      </a:r>
                    </a:p>
                  </a:txBody>
                  <a:tcPr marL="91440" marR="91440" marT="45720" marB="45720">
                    <a:solidFill>
                      <a:srgbClr val="F3F6F9"/>
                    </a:solidFill>
                  </a:tcPr>
                </a:tc>
              </a:tr>
              <a:tr h="371475">
                <a:tc>
                  <a:txBody>
                    <a:bodyPr lIns="95250" tIns="76200" rIns="95250" bIns="57150"/>
                    <a:lstStyle/>
                    <a:p>
                      <a:r>
                        <a:rPr sz="1425" b="0">
                          <a:solidFill>
                            <a:srgbClr val="273746"/>
                          </a:solidFill>
                          <a:latin typeface="Calibri"/>
                          <a:ea typeface="Calibri"/>
                          <a:cs typeface="Calibri"/>
                        </a:rPr>
                        <a:t>Manajer</a:t>
                      </a:r>
                    </a:p>
                  </a:txBody>
                  <a:tcPr marL="91440" marR="91440" marT="45720" marB="45720">
                    <a:solidFill>
                      <a:srgbClr val="FFFFFF"/>
                    </a:solidFill>
                  </a:tcPr>
                </a:tc>
                <a:tc>
                  <a:txBody>
                    <a:bodyPr lIns="95250" tIns="76200" rIns="95250" bIns="57150"/>
                    <a:lstStyle/>
                    <a:p>
                      <a:r>
                        <a:rPr sz="1425" b="0">
                          <a:solidFill>
                            <a:srgbClr val="273746"/>
                          </a:solidFill>
                          <a:latin typeface="Calibri"/>
                          <a:ea typeface="Calibri"/>
                          <a:cs typeface="Calibri"/>
                        </a:rPr>
                        <a:t>Rp3,25–5 jt</a:t>
                      </a:r>
                    </a:p>
                  </a:txBody>
                  <a:tcPr marL="91440" marR="91440" marT="45720" marB="45720">
                    <a:solidFill>
                      <a:srgbClr val="FFFFFF"/>
                    </a:solidFill>
                  </a:tcPr>
                </a:tc>
                <a:tc>
                  <a:txBody>
                    <a:bodyPr lIns="95250" tIns="76200" rIns="95250" bIns="57150"/>
                    <a:lstStyle/>
                    <a:p>
                      <a:r>
                        <a:rPr sz="1425" b="0">
                          <a:solidFill>
                            <a:srgbClr val="273746"/>
                          </a:solidFill>
                          <a:latin typeface="Calibri"/>
                          <a:ea typeface="Calibri"/>
                          <a:cs typeface="Calibri"/>
                        </a:rPr>
                        <a:t>Ditekindo, MarkPlus</a:t>
                      </a:r>
                    </a:p>
                  </a:txBody>
                  <a:tcPr marL="91440" marR="91440" marT="45720" marB="45720">
                    <a:solidFill>
                      <a:srgbClr val="FFFFFF"/>
                    </a:solidFill>
                  </a:tcPr>
                </a:tc>
              </a:tr>
              <a:tr h="371475">
                <a:tc>
                  <a:txBody>
                    <a:bodyPr lIns="95250" tIns="76200" rIns="95250" bIns="57150"/>
                    <a:lstStyle/>
                    <a:p>
                      <a:r>
                        <a:rPr sz="1425" b="0">
                          <a:solidFill>
                            <a:srgbClr val="273746"/>
                          </a:solidFill>
                          <a:latin typeface="Calibri"/>
                          <a:ea typeface="Calibri"/>
                          <a:cs typeface="Calibri"/>
                        </a:rPr>
                        <a:t>Manajer + pelatihan</a:t>
                      </a:r>
                    </a:p>
                  </a:txBody>
                  <a:tcPr marL="91440" marR="91440" marT="45720" marB="45720">
                    <a:solidFill>
                      <a:srgbClr val="F3F6F9"/>
                    </a:solidFill>
                  </a:tcPr>
                </a:tc>
                <a:tc>
                  <a:txBody>
                    <a:bodyPr lIns="95250" tIns="76200" rIns="95250" bIns="57150"/>
                    <a:lstStyle/>
                    <a:p>
                      <a:r>
                        <a:rPr sz="1425" b="0">
                          <a:solidFill>
                            <a:srgbClr val="273746"/>
                          </a:solidFill>
                          <a:latin typeface="Calibri"/>
                          <a:ea typeface="Calibri"/>
                          <a:cs typeface="Calibri"/>
                        </a:rPr>
                        <a:t>Rp4–7,5 jt</a:t>
                      </a:r>
                    </a:p>
                  </a:txBody>
                  <a:tcPr marL="91440" marR="91440" marT="45720" marB="45720">
                    <a:solidFill>
                      <a:srgbClr val="F3F6F9"/>
                    </a:solidFill>
                  </a:tcPr>
                </a:tc>
                <a:tc>
                  <a:txBody>
                    <a:bodyPr lIns="95250" tIns="76200" rIns="95250" bIns="57150"/>
                    <a:lstStyle/>
                    <a:p>
                      <a:r>
                        <a:rPr sz="1425" b="0">
                          <a:solidFill>
                            <a:srgbClr val="273746"/>
                          </a:solidFill>
                          <a:latin typeface="Calibri"/>
                          <a:ea typeface="Calibri"/>
                          <a:cs typeface="Calibri"/>
                        </a:rPr>
                        <a:t>Indo Asia (2025)</a:t>
                      </a:r>
                    </a:p>
                  </a:txBody>
                  <a:tcPr marL="91440" marR="91440" marT="45720" marB="45720">
                    <a:solidFill>
                      <a:srgbClr val="F3F6F9"/>
                    </a:solidFill>
                  </a:tcPr>
                </a:tc>
              </a:tr>
            </a:tbl>
          </a:graphicData>
        </a:graphic>
      </p:graphicFrame>
    </p:spTree>
    <p:extLst>
      <p:ext uri="{BB962C8B-B14F-4D97-AF65-F5344CB8AC3E}">
        <p14:creationId xmlns:p14="http://schemas.microsoft.com/office/powerpoint/2010/main" val="514044061"/>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ext-235">
            <a:extLst xmlns:a="http://schemas.openxmlformats.org/drawingml/2006/main">
              <a:ext uri="{FF2B5EF4-FFF2-40B4-BE49-F238E27FC236}">
                <a16:creationId xmlns:a16="http://schemas.microsoft.com/office/drawing/2014/main" id="{FEFAD3D5-D0FC-4E0C-AF60-484DA187F936}"/>
              </a:ext>
            </a:extLst>
          </p:cNvPr>
          <p:cNvSpPr>
            <a:spLocks xmlns:a="http://schemas.openxmlformats.org/drawingml/2006/main" noGrp="1"/>
          </p:cNvSpPr>
          <p:nvPr/>
        </p:nvSpPr>
        <p:spPr>
          <a:xfrm xmlns:a="http://schemas.openxmlformats.org/drawingml/2006/main">
            <a:off x="609600" y="333375"/>
            <a:ext cx="1066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65717D"/>
                </a:solidFill>
                <a:latin typeface="Calibri"/>
                <a:ea typeface="Calibri"/>
                <a:cs typeface="Calibri"/>
              </a:defRPr>
            </a:pPr>
            <a:r>
              <a:rPr sz="1050" b="1">
                <a:solidFill>
                  <a:srgbClr val="65717D"/>
                </a:solidFill>
                <a:latin typeface="Calibri"/>
                <a:ea typeface="Calibri"/>
                <a:cs typeface="Calibri"/>
              </a:rPr>
              <a:t>A6 / MODULE PIPELINE</a:t>
            </a:r>
          </a:p>
        </p:txBody>
      </p:sp>
      <p:sp>
        <p:nvSpPr>
          <p:cNvPr id="2" name="text-236">
            <a:extLst xmlns:a="http://schemas.openxmlformats.org/drawingml/2006/main">
              <a:ext uri="{FF2B5EF4-FFF2-40B4-BE49-F238E27FC236}">
                <a16:creationId xmlns:a16="http://schemas.microsoft.com/office/drawing/2014/main" id="{4369D9AD-70F8-4A3E-92B6-BACB17D210E1}"/>
              </a:ext>
            </a:extLst>
          </p:cNvPr>
          <p:cNvSpPr>
            <a:spLocks xmlns:a="http://schemas.openxmlformats.org/drawingml/2006/main" noGrp="1"/>
          </p:cNvSpPr>
          <p:nvPr/>
        </p:nvSpPr>
        <p:spPr>
          <a:xfrm xmlns:a="http://schemas.openxmlformats.org/drawingml/2006/main">
            <a:off x="609600" y="723900"/>
            <a:ext cx="10858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925" b="1">
                <a:solidFill>
                  <a:srgbClr val="002060"/>
                </a:solidFill>
                <a:latin typeface="Calibri"/>
                <a:ea typeface="Calibri"/>
                <a:cs typeface="Calibri"/>
              </a:defRPr>
            </a:pPr>
            <a:r>
              <a:rPr sz="2925" b="1">
                <a:solidFill>
                  <a:srgbClr val="002060"/>
                </a:solidFill>
                <a:latin typeface="Calibri"/>
                <a:ea typeface="Calibri"/>
                <a:cs typeface="Calibri"/>
              </a:rPr>
              <a:t>Sembilan modul baru mendukung value tanpa mengunci tier harga</a:t>
            </a:r>
          </a:p>
        </p:txBody>
      </p:sp>
      <p:sp>
        <p:nvSpPr>
          <p:cNvPr id="3" name="text-237">
            <a:extLst xmlns:a="http://schemas.openxmlformats.org/drawingml/2006/main">
              <a:ext uri="{FF2B5EF4-FFF2-40B4-BE49-F238E27FC236}">
                <a16:creationId xmlns:a16="http://schemas.microsoft.com/office/drawing/2014/main" id="{E5117845-5A96-4114-8EDD-A151E03C374F}"/>
              </a:ext>
            </a:extLst>
          </p:cNvPr>
          <p:cNvSpPr>
            <a:spLocks xmlns:a="http://schemas.openxmlformats.org/drawingml/2006/main" noGrp="1"/>
          </p:cNvSpPr>
          <p:nvPr/>
        </p:nvSpPr>
        <p:spPr>
          <a:xfrm xmlns:a="http://schemas.openxmlformats.org/drawingml/2006/main">
            <a:off x="609600" y="1666875"/>
            <a:ext cx="10858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65717D"/>
                </a:solidFill>
                <a:latin typeface="Calibri"/>
                <a:ea typeface="Calibri"/>
                <a:cs typeface="Calibri"/>
              </a:defRPr>
            </a:pPr>
            <a:r>
              <a:rPr sz="1500" b="0">
                <a:solidFill>
                  <a:srgbClr val="65717D"/>
                </a:solidFill>
                <a:latin typeface="Calibri"/>
                <a:ea typeface="Calibri"/>
                <a:cs typeface="Calibri"/>
              </a:rPr>
              <a:t>Calon Master belum merupakan komitmen tampil. Detail materi tetap di notes.</a:t>
            </a:r>
          </a:p>
        </p:txBody>
      </p:sp>
      <p:sp>
        <p:nvSpPr>
          <p:cNvPr id="4" name="">
            <a:extLst xmlns:a="http://schemas.openxmlformats.org/drawingml/2006/main">
              <a:ext uri="{FF2B5EF4-FFF2-40B4-BE49-F238E27FC236}">
                <a16:creationId xmlns:a16="http://schemas.microsoft.com/office/drawing/2014/main" id="{A4D670C9-2BD4-4D73-96F7-D364606CEF54}"/>
              </a:ext>
            </a:extLst>
          </p:cNvPr>
          <p:cNvSpPr>
            <a:spLocks xmlns:a="http://schemas.openxmlformats.org/drawingml/2006/main" noGrp="1"/>
          </p:cNvSpPr>
          <p:nvPr/>
        </p:nvSpPr>
        <p:spPr>
          <a:xfrm xmlns:a="http://schemas.openxmlformats.org/drawingml/2006/main">
            <a:off x="609600" y="6381750"/>
            <a:ext cx="10972800" cy="0"/>
          </a:xfrm>
          <a:prstGeom xmlns:a="http://schemas.openxmlformats.org/drawingml/2006/main" prst="line">
            <a:avLst/>
          </a:prstGeom>
          <a:noFill xmlns:a="http://schemas.openxmlformats.org/drawingml/2006/main"/>
          <a:ln xmlns:a="http://schemas.openxmlformats.org/drawingml/2006/main" w="9525">
            <a:solidFill>
              <a:srgbClr val="DCE2E8"/>
            </a:solidFill>
          </a:ln>
        </p:spPr>
      </p:sp>
      <p:sp>
        <p:nvSpPr>
          <p:cNvPr id="5" name="text-238">
            <a:extLst xmlns:a="http://schemas.openxmlformats.org/drawingml/2006/main">
              <a:ext uri="{FF2B5EF4-FFF2-40B4-BE49-F238E27FC236}">
                <a16:creationId xmlns:a16="http://schemas.microsoft.com/office/drawing/2014/main" id="{9E1A378D-1F71-4F91-9B4B-F708069A3A44}"/>
              </a:ext>
            </a:extLst>
          </p:cNvPr>
          <p:cNvSpPr>
            <a:spLocks xmlns:a="http://schemas.openxmlformats.org/drawingml/2006/main" noGrp="1"/>
          </p:cNvSpPr>
          <p:nvPr/>
        </p:nvSpPr>
        <p:spPr>
          <a:xfrm xmlns:a="http://schemas.openxmlformats.org/drawingml/2006/main">
            <a:off x="609600" y="6505575"/>
            <a:ext cx="10191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825" b="0">
                <a:solidFill>
                  <a:srgbClr val="65717D"/>
                </a:solidFill>
                <a:latin typeface="Calibri"/>
                <a:ea typeface="Calibri"/>
                <a:cs typeface="Calibri"/>
              </a:defRPr>
            </a:pPr>
            <a:r>
              <a:rPr sz="825" b="0">
                <a:solidFill>
                  <a:srgbClr val="65717D"/>
                </a:solidFill>
                <a:latin typeface="Calibri"/>
                <a:ea typeface="Calibri"/>
                <a:cs typeface="Calibri"/>
              </a:rPr>
              <a:t>CMC internal, Oktober 2026. Angka usulan mengikuti deck sumber.</a:t>
            </a:r>
          </a:p>
        </p:txBody>
      </p:sp>
      <p:sp>
        <p:nvSpPr>
          <p:cNvPr id="6" name="text-239">
            <a:extLst xmlns:a="http://schemas.openxmlformats.org/drawingml/2006/main">
              <a:ext uri="{FF2B5EF4-FFF2-40B4-BE49-F238E27FC236}">
                <a16:creationId xmlns:a16="http://schemas.microsoft.com/office/drawing/2014/main" id="{E3F77651-523C-4F22-9CFF-C9E3802455B5}"/>
              </a:ext>
            </a:extLst>
          </p:cNvPr>
          <p:cNvSpPr>
            <a:spLocks xmlns:a="http://schemas.openxmlformats.org/drawingml/2006/main" noGrp="1"/>
          </p:cNvSpPr>
          <p:nvPr/>
        </p:nvSpPr>
        <p:spPr>
          <a:xfrm xmlns:a="http://schemas.openxmlformats.org/drawingml/2006/main">
            <a:off x="11125200" y="6486525"/>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002060"/>
                </a:solidFill>
                <a:latin typeface="Calibri"/>
                <a:ea typeface="Calibri"/>
                <a:cs typeface="Calibri"/>
              </a:defRPr>
            </a:pPr>
            <a:r>
              <a:rPr sz="1050" b="1">
                <a:solidFill>
                  <a:srgbClr val="002060"/>
                </a:solidFill>
                <a:latin typeface="Calibri"/>
                <a:ea typeface="Calibri"/>
                <a:cs typeface="Calibri"/>
              </a:rPr>
              <a:t>18</a:t>
            </a:r>
          </a:p>
        </p:txBody>
      </p:sp>
      <p:graphicFrame>
        <p:nvGraphicFramePr>
          <p:cNvPr id="14" name=""/>
          <p:cNvGraphicFramePr/>
          <p:nvPr/>
        </p:nvGraphicFramePr>
        <p:xfrm>
          <a:off xmlns:a="http://schemas.openxmlformats.org/drawingml/2006/main" x="609600" y="2343150"/>
          <a:ext xmlns:a="http://schemas.openxmlformats.org/drawingml/2006/main" cx="10972800" cy="3619500"/>
        </p:xfrm>
        <a:graphic xmlns:a="http://schemas.openxmlformats.org/drawingml/2006/main">
          <a:graphicData uri="http://schemas.openxmlformats.org/drawingml/2006/table">
            <a:tbl>
              <a:tblPr/>
              <a:tblGrid>
                <a:gridCol w="571500"/>
                <a:gridCol w="2714625"/>
                <a:gridCol w="3409950"/>
                <a:gridCol w="4276725"/>
              </a:tblGrid>
              <a:tr h="361950">
                <a:tc>
                  <a:txBody>
                    <a:bodyPr lIns="95250" tIns="76200" rIns="95250" bIns="57150"/>
                    <a:lstStyle/>
                    <a:p>
                      <a:r>
                        <a:rPr sz="1425" b="1">
                          <a:solidFill>
                            <a:srgbClr val="FFFFFF"/>
                          </a:solidFill>
                          <a:latin typeface="Calibri"/>
                          <a:ea typeface="Calibri"/>
                          <a:cs typeface="Calibri"/>
                        </a:rPr>
                        <a:t>#</a:t>
                      </a:r>
                    </a:p>
                  </a:txBody>
                  <a:tcPr marL="91440" marR="91440" marT="45720" marB="45720">
                    <a:solidFill>
                      <a:srgbClr val="002060"/>
                    </a:solidFill>
                  </a:tcPr>
                </a:tc>
                <a:tc>
                  <a:txBody>
                    <a:bodyPr lIns="95250" tIns="76200" rIns="95250" bIns="57150"/>
                    <a:lstStyle/>
                    <a:p>
                      <a:r>
                        <a:rPr sz="1425" b="1">
                          <a:solidFill>
                            <a:srgbClr val="FFFFFF"/>
                          </a:solidFill>
                          <a:latin typeface="Calibri"/>
                          <a:ea typeface="Calibri"/>
                          <a:cs typeface="Calibri"/>
                        </a:rPr>
                        <a:t>Modul</a:t>
                      </a:r>
                    </a:p>
                  </a:txBody>
                  <a:tcPr marL="91440" marR="91440" marT="45720" marB="45720">
                    <a:solidFill>
                      <a:srgbClr val="002060"/>
                    </a:solidFill>
                  </a:tcPr>
                </a:tc>
                <a:tc>
                  <a:txBody>
                    <a:bodyPr lIns="95250" tIns="76200" rIns="95250" bIns="57150"/>
                    <a:lstStyle/>
                    <a:p>
                      <a:r>
                        <a:rPr sz="1425" b="1">
                          <a:solidFill>
                            <a:srgbClr val="FFFFFF"/>
                          </a:solidFill>
                          <a:latin typeface="Calibri"/>
                          <a:ea typeface="Calibri"/>
                          <a:cs typeface="Calibri"/>
                        </a:rPr>
                        <a:t>Calon Master</a:t>
                      </a:r>
                    </a:p>
                  </a:txBody>
                  <a:tcPr marL="91440" marR="91440" marT="45720" marB="45720">
                    <a:solidFill>
                      <a:srgbClr val="002060"/>
                    </a:solidFill>
                  </a:tcPr>
                </a:tc>
                <a:tc>
                  <a:txBody>
                    <a:bodyPr lIns="95250" tIns="76200" rIns="95250" bIns="57150"/>
                    <a:lstStyle/>
                    <a:p>
                      <a:r>
                        <a:rPr sz="1425" b="1">
                          <a:solidFill>
                            <a:srgbClr val="FFFFFF"/>
                          </a:solidFill>
                          <a:latin typeface="Calibri"/>
                          <a:ea typeface="Calibri"/>
                          <a:cs typeface="Calibri"/>
                        </a:rPr>
                        <a:t>Output / tujuan</a:t>
                      </a:r>
                    </a:p>
                  </a:txBody>
                  <a:tcPr marL="91440" marR="91440" marT="45720" marB="45720">
                    <a:solidFill>
                      <a:srgbClr val="002060"/>
                    </a:solidFill>
                  </a:tcPr>
                </a:tc>
              </a:tr>
              <a:tr h="361950">
                <a:tc>
                  <a:txBody>
                    <a:bodyPr lIns="95250" tIns="76200" rIns="95250" bIns="57150"/>
                    <a:lstStyle/>
                    <a:p>
                      <a:r>
                        <a:rPr sz="1425" b="0">
                          <a:solidFill>
                            <a:srgbClr val="273746"/>
                          </a:solidFill>
                          <a:latin typeface="Calibri"/>
                          <a:ea typeface="Calibri"/>
                          <a:cs typeface="Calibri"/>
                        </a:rPr>
                        <a:t>09</a:t>
                      </a:r>
                    </a:p>
                  </a:txBody>
                  <a:tcPr marL="91440" marR="91440" marT="45720" marB="45720">
                    <a:solidFill>
                      <a:srgbClr val="FFFFFF"/>
                    </a:solidFill>
                  </a:tcPr>
                </a:tc>
                <a:tc>
                  <a:txBody>
                    <a:bodyPr lIns="95250" tIns="76200" rIns="95250" bIns="57150"/>
                    <a:lstStyle/>
                    <a:p>
                      <a:r>
                        <a:rPr sz="1425" b="0">
                          <a:solidFill>
                            <a:srgbClr val="273746"/>
                          </a:solidFill>
                          <a:latin typeface="Calibri"/>
                          <a:ea typeface="Calibri"/>
                          <a:cs typeface="Calibri"/>
                        </a:rPr>
                        <a:t>UMKM Naik Kelas</a:t>
                      </a:r>
                    </a:p>
                  </a:txBody>
                  <a:tcPr marL="91440" marR="91440" marT="45720" marB="45720">
                    <a:solidFill>
                      <a:srgbClr val="FFFFFF"/>
                    </a:solidFill>
                  </a:tcPr>
                </a:tc>
                <a:tc>
                  <a:txBody>
                    <a:bodyPr lIns="95250" tIns="76200" rIns="95250" bIns="57150"/>
                    <a:lstStyle/>
                    <a:p>
                      <a:r>
                        <a:rPr sz="1425" b="0">
                          <a:solidFill>
                            <a:srgbClr val="273746"/>
                          </a:solidFill>
                          <a:latin typeface="Calibri"/>
                          <a:ea typeface="Calibri"/>
                          <a:cs typeface="Calibri"/>
                        </a:rPr>
                        <a:t>M. Arsjad Rasjid P.M.</a:t>
                      </a:r>
                    </a:p>
                  </a:txBody>
                  <a:tcPr marL="91440" marR="91440" marT="45720" marB="45720">
                    <a:solidFill>
                      <a:srgbClr val="FFFFFF"/>
                    </a:solidFill>
                  </a:tcPr>
                </a:tc>
                <a:tc>
                  <a:txBody>
                    <a:bodyPr lIns="95250" tIns="76200" rIns="95250" bIns="57150"/>
                    <a:lstStyle/>
                    <a:p>
                      <a:r>
                        <a:rPr sz="1425" b="0">
                          <a:solidFill>
                            <a:srgbClr val="273746"/>
                          </a:solidFill>
                          <a:latin typeface="Calibri"/>
                          <a:ea typeface="Calibri"/>
                          <a:cs typeface="Calibri"/>
                        </a:rPr>
                        <a:t>Pembukuan, legal, pembiayaan, pasar</a:t>
                      </a:r>
                    </a:p>
                  </a:txBody>
                  <a:tcPr marL="91440" marR="91440" marT="45720" marB="45720">
                    <a:solidFill>
                      <a:srgbClr val="FFFFFF"/>
                    </a:solidFill>
                  </a:tcPr>
                </a:tc>
              </a:tr>
              <a:tr h="361950">
                <a:tc>
                  <a:txBody>
                    <a:bodyPr lIns="95250" tIns="76200" rIns="95250" bIns="57150"/>
                    <a:lstStyle/>
                    <a:p>
                      <a:r>
                        <a:rPr sz="1425" b="0">
                          <a:solidFill>
                            <a:srgbClr val="273746"/>
                          </a:solidFill>
                          <a:latin typeface="Calibri"/>
                          <a:ea typeface="Calibri"/>
                          <a:cs typeface="Calibri"/>
                        </a:rPr>
                        <a:t>10</a:t>
                      </a:r>
                    </a:p>
                  </a:txBody>
                  <a:tcPr marL="91440" marR="91440" marT="45720" marB="45720">
                    <a:solidFill>
                      <a:srgbClr val="F3F6F9"/>
                    </a:solidFill>
                  </a:tcPr>
                </a:tc>
                <a:tc>
                  <a:txBody>
                    <a:bodyPr lIns="95250" tIns="76200" rIns="95250" bIns="57150"/>
                    <a:lstStyle/>
                    <a:p>
                      <a:r>
                        <a:rPr sz="1425" b="0">
                          <a:solidFill>
                            <a:srgbClr val="273746"/>
                          </a:solidFill>
                          <a:latin typeface="Calibri"/>
                          <a:ea typeface="Calibri"/>
                          <a:cs typeface="Calibri"/>
                        </a:rPr>
                        <a:t>Hukum Bisnis</a:t>
                      </a:r>
                    </a:p>
                  </a:txBody>
                  <a:tcPr marL="91440" marR="91440" marT="45720" marB="45720">
                    <a:solidFill>
                      <a:srgbClr val="F3F6F9"/>
                    </a:solidFill>
                  </a:tcPr>
                </a:tc>
                <a:tc>
                  <a:txBody>
                    <a:bodyPr lIns="95250" tIns="76200" rIns="95250" bIns="57150"/>
                    <a:lstStyle/>
                    <a:p>
                      <a:r>
                        <a:rPr sz="1425" b="0">
                          <a:solidFill>
                            <a:srgbClr val="273746"/>
                          </a:solidFill>
                          <a:latin typeface="Calibri"/>
                          <a:ea typeface="Calibri"/>
                          <a:cs typeface="Calibri"/>
                        </a:rPr>
                        <a:t>Ahmad Fikri Assegaf</a:t>
                      </a:r>
                    </a:p>
                  </a:txBody>
                  <a:tcPr marL="91440" marR="91440" marT="45720" marB="45720">
                    <a:solidFill>
                      <a:srgbClr val="F3F6F9"/>
                    </a:solidFill>
                  </a:tcPr>
                </a:tc>
                <a:tc>
                  <a:txBody>
                    <a:bodyPr lIns="95250" tIns="76200" rIns="95250" bIns="57150"/>
                    <a:lstStyle/>
                    <a:p>
                      <a:r>
                        <a:rPr sz="1425" b="0">
                          <a:solidFill>
                            <a:srgbClr val="273746"/>
                          </a:solidFill>
                          <a:latin typeface="Calibri"/>
                          <a:ea typeface="Calibri"/>
                          <a:cs typeface="Calibri"/>
                        </a:rPr>
                        <a:t>Badan usaha, perjanjian, sengketa</a:t>
                      </a:r>
                    </a:p>
                  </a:txBody>
                  <a:tcPr marL="91440" marR="91440" marT="45720" marB="45720">
                    <a:solidFill>
                      <a:srgbClr val="F3F6F9"/>
                    </a:solidFill>
                  </a:tcPr>
                </a:tc>
              </a:tr>
              <a:tr h="361950">
                <a:tc>
                  <a:txBody>
                    <a:bodyPr lIns="95250" tIns="76200" rIns="95250" bIns="57150"/>
                    <a:lstStyle/>
                    <a:p>
                      <a:r>
                        <a:rPr sz="1425" b="0">
                          <a:solidFill>
                            <a:srgbClr val="273746"/>
                          </a:solidFill>
                          <a:latin typeface="Calibri"/>
                          <a:ea typeface="Calibri"/>
                          <a:cs typeface="Calibri"/>
                        </a:rPr>
                        <a:t>11</a:t>
                      </a:r>
                    </a:p>
                  </a:txBody>
                  <a:tcPr marL="91440" marR="91440" marT="45720" marB="45720">
                    <a:solidFill>
                      <a:srgbClr val="FFFFFF"/>
                    </a:solidFill>
                  </a:tcPr>
                </a:tc>
                <a:tc>
                  <a:txBody>
                    <a:bodyPr lIns="95250" tIns="76200" rIns="95250" bIns="57150"/>
                    <a:lstStyle/>
                    <a:p>
                      <a:r>
                        <a:rPr sz="1425" b="0">
                          <a:solidFill>
                            <a:srgbClr val="273746"/>
                          </a:solidFill>
                          <a:latin typeface="Calibri"/>
                          <a:ea typeface="Calibri"/>
                          <a:cs typeface="Calibri"/>
                        </a:rPr>
                        <a:t>ESG &amp; Keberlanjutan</a:t>
                      </a:r>
                    </a:p>
                  </a:txBody>
                  <a:tcPr marL="91440" marR="91440" marT="45720" marB="45720">
                    <a:solidFill>
                      <a:srgbClr val="FFFFFF"/>
                    </a:solidFill>
                  </a:tcPr>
                </a:tc>
                <a:tc>
                  <a:txBody>
                    <a:bodyPr lIns="95250" tIns="76200" rIns="95250" bIns="57150"/>
                    <a:lstStyle/>
                    <a:p>
                      <a:r>
                        <a:rPr sz="1425" b="0">
                          <a:solidFill>
                            <a:srgbClr val="273746"/>
                          </a:solidFill>
                          <a:latin typeface="Calibri"/>
                          <a:ea typeface="Calibri"/>
                          <a:cs typeface="Calibri"/>
                        </a:rPr>
                        <a:t>Hashim S. Djojohadikusumo</a:t>
                      </a:r>
                    </a:p>
                  </a:txBody>
                  <a:tcPr marL="91440" marR="91440" marT="45720" marB="45720">
                    <a:solidFill>
                      <a:srgbClr val="FFFFFF"/>
                    </a:solidFill>
                  </a:tcPr>
                </a:tc>
                <a:tc>
                  <a:txBody>
                    <a:bodyPr lIns="95250" tIns="76200" rIns="95250" bIns="57150"/>
                    <a:lstStyle/>
                    <a:p>
                      <a:r>
                        <a:rPr sz="1425" b="0">
                          <a:solidFill>
                            <a:srgbClr val="273746"/>
                          </a:solidFill>
                          <a:latin typeface="Calibri"/>
                          <a:ea typeface="Calibri"/>
                          <a:cs typeface="Calibri"/>
                        </a:rPr>
                        <a:t>Regulasi dan standar keberlanjutan</a:t>
                      </a:r>
                    </a:p>
                  </a:txBody>
                  <a:tcPr marL="91440" marR="91440" marT="45720" marB="45720">
                    <a:solidFill>
                      <a:srgbClr val="FFFFFF"/>
                    </a:solidFill>
                  </a:tcPr>
                </a:tc>
              </a:tr>
              <a:tr h="361950">
                <a:tc>
                  <a:txBody>
                    <a:bodyPr lIns="95250" tIns="76200" rIns="95250" bIns="57150"/>
                    <a:lstStyle/>
                    <a:p>
                      <a:r>
                        <a:rPr sz="1425" b="0">
                          <a:solidFill>
                            <a:srgbClr val="273746"/>
                          </a:solidFill>
                          <a:latin typeface="Calibri"/>
                          <a:ea typeface="Calibri"/>
                          <a:cs typeface="Calibri"/>
                        </a:rPr>
                        <a:t>12</a:t>
                      </a:r>
                    </a:p>
                  </a:txBody>
                  <a:tcPr marL="91440" marR="91440" marT="45720" marB="45720">
                    <a:solidFill>
                      <a:srgbClr val="F3F6F9"/>
                    </a:solidFill>
                  </a:tcPr>
                </a:tc>
                <a:tc>
                  <a:txBody>
                    <a:bodyPr lIns="95250" tIns="76200" rIns="95250" bIns="57150"/>
                    <a:lstStyle/>
                    <a:p>
                      <a:r>
                        <a:rPr sz="1425" b="0">
                          <a:solidFill>
                            <a:srgbClr val="273746"/>
                          </a:solidFill>
                          <a:latin typeface="Calibri"/>
                          <a:ea typeface="Calibri"/>
                          <a:cs typeface="Calibri"/>
                        </a:rPr>
                        <a:t>Transformasi Digital</a:t>
                      </a:r>
                    </a:p>
                  </a:txBody>
                  <a:tcPr marL="91440" marR="91440" marT="45720" marB="45720">
                    <a:solidFill>
                      <a:srgbClr val="F3F6F9"/>
                    </a:solidFill>
                  </a:tcPr>
                </a:tc>
                <a:tc>
                  <a:txBody>
                    <a:bodyPr lIns="95250" tIns="76200" rIns="95250" bIns="57150"/>
                    <a:lstStyle/>
                    <a:p>
                      <a:r>
                        <a:rPr sz="1425" b="0">
                          <a:solidFill>
                            <a:srgbClr val="273746"/>
                          </a:solidFill>
                          <a:latin typeface="Calibri"/>
                          <a:ea typeface="Calibri"/>
                          <a:cs typeface="Calibri"/>
                        </a:rPr>
                        <a:t>Chairul Tanjung</a:t>
                      </a:r>
                    </a:p>
                  </a:txBody>
                  <a:tcPr marL="91440" marR="91440" marT="45720" marB="45720">
                    <a:solidFill>
                      <a:srgbClr val="F3F6F9"/>
                    </a:solidFill>
                  </a:tcPr>
                </a:tc>
                <a:tc>
                  <a:txBody>
                    <a:bodyPr lIns="95250" tIns="76200" rIns="95250" bIns="57150"/>
                    <a:lstStyle/>
                    <a:p>
                      <a:r>
                        <a:rPr sz="1425" b="0">
                          <a:solidFill>
                            <a:srgbClr val="273746"/>
                          </a:solidFill>
                          <a:latin typeface="Calibri"/>
                          <a:ea typeface="Calibri"/>
                          <a:cs typeface="Calibri"/>
                        </a:rPr>
                        <a:t>Materi masih dikonstruksi</a:t>
                      </a:r>
                    </a:p>
                  </a:txBody>
                  <a:tcPr marL="91440" marR="91440" marT="45720" marB="45720">
                    <a:solidFill>
                      <a:srgbClr val="F3F6F9"/>
                    </a:solidFill>
                  </a:tcPr>
                </a:tc>
              </a:tr>
              <a:tr h="361950">
                <a:tc>
                  <a:txBody>
                    <a:bodyPr lIns="95250" tIns="76200" rIns="95250" bIns="57150"/>
                    <a:lstStyle/>
                    <a:p>
                      <a:r>
                        <a:rPr sz="1425" b="0">
                          <a:solidFill>
                            <a:srgbClr val="273746"/>
                          </a:solidFill>
                          <a:latin typeface="Calibri"/>
                          <a:ea typeface="Calibri"/>
                          <a:cs typeface="Calibri"/>
                        </a:rPr>
                        <a:t>13</a:t>
                      </a:r>
                    </a:p>
                  </a:txBody>
                  <a:tcPr marL="91440" marR="91440" marT="45720" marB="45720">
                    <a:solidFill>
                      <a:srgbClr val="FFFFFF"/>
                    </a:solidFill>
                  </a:tcPr>
                </a:tc>
                <a:tc>
                  <a:txBody>
                    <a:bodyPr lIns="95250" tIns="76200" rIns="95250" bIns="57150"/>
                    <a:lstStyle/>
                    <a:p>
                      <a:r>
                        <a:rPr sz="1425" b="0">
                          <a:solidFill>
                            <a:srgbClr val="273746"/>
                          </a:solidFill>
                          <a:latin typeface="Calibri"/>
                          <a:ea typeface="Calibri"/>
                          <a:cs typeface="Calibri"/>
                        </a:rPr>
                        <a:t>Distribusi &amp; Channel</a:t>
                      </a:r>
                    </a:p>
                  </a:txBody>
                  <a:tcPr marL="91440" marR="91440" marT="45720" marB="45720">
                    <a:solidFill>
                      <a:srgbClr val="FFFFFF"/>
                    </a:solidFill>
                  </a:tcPr>
                </a:tc>
                <a:tc>
                  <a:txBody>
                    <a:bodyPr lIns="95250" tIns="76200" rIns="95250" bIns="57150"/>
                    <a:lstStyle/>
                    <a:p>
                      <a:r>
                        <a:rPr sz="1425" b="0">
                          <a:solidFill>
                            <a:srgbClr val="273746"/>
                          </a:solidFill>
                          <a:latin typeface="Calibri"/>
                          <a:ea typeface="Calibri"/>
                          <a:cs typeface="Calibri"/>
                        </a:rPr>
                        <a:t>Hermanto Tanoko</a:t>
                      </a:r>
                    </a:p>
                  </a:txBody>
                  <a:tcPr marL="91440" marR="91440" marT="45720" marB="45720">
                    <a:solidFill>
                      <a:srgbClr val="FFFFFF"/>
                    </a:solidFill>
                  </a:tcPr>
                </a:tc>
                <a:tc>
                  <a:txBody>
                    <a:bodyPr lIns="95250" tIns="76200" rIns="95250" bIns="57150"/>
                    <a:lstStyle/>
                    <a:p>
                      <a:r>
                        <a:rPr sz="1425" b="0">
                          <a:solidFill>
                            <a:srgbClr val="273746"/>
                          </a:solidFill>
                          <a:latin typeface="Calibri"/>
                          <a:ea typeface="Calibri"/>
                          <a:cs typeface="Calibri"/>
                        </a:rPr>
                        <a:t>Channel Map</a:t>
                      </a:r>
                    </a:p>
                  </a:txBody>
                  <a:tcPr marL="91440" marR="91440" marT="45720" marB="45720">
                    <a:solidFill>
                      <a:srgbClr val="FFFFFF"/>
                    </a:solidFill>
                  </a:tcPr>
                </a:tc>
              </a:tr>
              <a:tr h="361950">
                <a:tc>
                  <a:txBody>
                    <a:bodyPr lIns="95250" tIns="76200" rIns="95250" bIns="57150"/>
                    <a:lstStyle/>
                    <a:p>
                      <a:r>
                        <a:rPr sz="1425" b="0">
                          <a:solidFill>
                            <a:srgbClr val="273746"/>
                          </a:solidFill>
                          <a:latin typeface="Calibri"/>
                          <a:ea typeface="Calibri"/>
                          <a:cs typeface="Calibri"/>
                        </a:rPr>
                        <a:t>14</a:t>
                      </a:r>
                    </a:p>
                  </a:txBody>
                  <a:tcPr marL="91440" marR="91440" marT="45720" marB="45720">
                    <a:solidFill>
                      <a:srgbClr val="F3F6F9"/>
                    </a:solidFill>
                  </a:tcPr>
                </a:tc>
                <a:tc>
                  <a:txBody>
                    <a:bodyPr lIns="95250" tIns="76200" rIns="95250" bIns="57150"/>
                    <a:lstStyle/>
                    <a:p>
                      <a:r>
                        <a:rPr sz="1425" b="0">
                          <a:solidFill>
                            <a:srgbClr val="273746"/>
                          </a:solidFill>
                          <a:latin typeface="Calibri"/>
                          <a:ea typeface="Calibri"/>
                          <a:cs typeface="Calibri"/>
                        </a:rPr>
                        <a:t>Sistem &amp; Delegasi</a:t>
                      </a:r>
                    </a:p>
                  </a:txBody>
                  <a:tcPr marL="91440" marR="91440" marT="45720" marB="45720">
                    <a:solidFill>
                      <a:srgbClr val="F3F6F9"/>
                    </a:solidFill>
                  </a:tcPr>
                </a:tc>
                <a:tc>
                  <a:txBody>
                    <a:bodyPr lIns="95250" tIns="76200" rIns="95250" bIns="57150"/>
                    <a:lstStyle/>
                    <a:p>
                      <a:r>
                        <a:rPr sz="1425" b="0">
                          <a:solidFill>
                            <a:srgbClr val="273746"/>
                          </a:solidFill>
                          <a:latin typeface="Calibri"/>
                          <a:ea typeface="Calibri"/>
                          <a:cs typeface="Calibri"/>
                        </a:rPr>
                        <a:t>Theodore Permadi Rachmat</a:t>
                      </a:r>
                    </a:p>
                  </a:txBody>
                  <a:tcPr marL="91440" marR="91440" marT="45720" marB="45720">
                    <a:solidFill>
                      <a:srgbClr val="F3F6F9"/>
                    </a:solidFill>
                  </a:tcPr>
                </a:tc>
                <a:tc>
                  <a:txBody>
                    <a:bodyPr lIns="95250" tIns="76200" rIns="95250" bIns="57150"/>
                    <a:lstStyle/>
                    <a:p>
                      <a:r>
                        <a:rPr sz="1425" b="0">
                          <a:solidFill>
                            <a:srgbClr val="273746"/>
                          </a:solidFill>
                          <a:latin typeface="Calibri"/>
                          <a:ea typeface="Calibri"/>
                          <a:cs typeface="Calibri"/>
                        </a:rPr>
                        <a:t>Founder Dependency Audit</a:t>
                      </a:r>
                    </a:p>
                  </a:txBody>
                  <a:tcPr marL="91440" marR="91440" marT="45720" marB="45720">
                    <a:solidFill>
                      <a:srgbClr val="F3F6F9"/>
                    </a:solidFill>
                  </a:tcPr>
                </a:tc>
              </a:tr>
              <a:tr h="361950">
                <a:tc>
                  <a:txBody>
                    <a:bodyPr lIns="95250" tIns="76200" rIns="95250" bIns="57150"/>
                    <a:lstStyle/>
                    <a:p>
                      <a:r>
                        <a:rPr sz="1425" b="0">
                          <a:solidFill>
                            <a:srgbClr val="273746"/>
                          </a:solidFill>
                          <a:latin typeface="Calibri"/>
                          <a:ea typeface="Calibri"/>
                          <a:cs typeface="Calibri"/>
                        </a:rPr>
                        <a:t>15</a:t>
                      </a:r>
                    </a:p>
                  </a:txBody>
                  <a:tcPr marL="91440" marR="91440" marT="45720" marB="45720">
                    <a:solidFill>
                      <a:srgbClr val="FFFFFF"/>
                    </a:solidFill>
                  </a:tcPr>
                </a:tc>
                <a:tc>
                  <a:txBody>
                    <a:bodyPr lIns="95250" tIns="76200" rIns="95250" bIns="57150"/>
                    <a:lstStyle/>
                    <a:p>
                      <a:r>
                        <a:rPr sz="1425" b="0">
                          <a:solidFill>
                            <a:srgbClr val="273746"/>
                          </a:solidFill>
                          <a:latin typeface="Calibri"/>
                          <a:ea typeface="Calibri"/>
                          <a:cs typeface="Calibri"/>
                        </a:rPr>
                        <a:t>Bangun, Beli, atau Partner</a:t>
                      </a:r>
                    </a:p>
                  </a:txBody>
                  <a:tcPr marL="91440" marR="91440" marT="45720" marB="45720">
                    <a:solidFill>
                      <a:srgbClr val="FFFFFF"/>
                    </a:solidFill>
                  </a:tcPr>
                </a:tc>
                <a:tc>
                  <a:txBody>
                    <a:bodyPr lIns="95250" tIns="76200" rIns="95250" bIns="57150"/>
                    <a:lstStyle/>
                    <a:p>
                      <a:r>
                        <a:rPr sz="1425" b="0">
                          <a:solidFill>
                            <a:srgbClr val="273746"/>
                          </a:solidFill>
                          <a:latin typeface="Calibri"/>
                          <a:ea typeface="Calibri"/>
                          <a:cs typeface="Calibri"/>
                        </a:rPr>
                        <a:t>Edwin Soeryadjaya</a:t>
                      </a:r>
                    </a:p>
                  </a:txBody>
                  <a:tcPr marL="91440" marR="91440" marT="45720" marB="45720">
                    <a:solidFill>
                      <a:srgbClr val="FFFFFF"/>
                    </a:solidFill>
                  </a:tcPr>
                </a:tc>
                <a:tc>
                  <a:txBody>
                    <a:bodyPr lIns="95250" tIns="76200" rIns="95250" bIns="57150"/>
                    <a:lstStyle/>
                    <a:p>
                      <a:r>
                        <a:rPr sz="1425" b="0">
                          <a:solidFill>
                            <a:srgbClr val="273746"/>
                          </a:solidFill>
                          <a:latin typeface="Calibri"/>
                          <a:ea typeface="Calibri"/>
                          <a:cs typeface="Calibri"/>
                        </a:rPr>
                        <a:t>Scorecard pilihan ekspansi</a:t>
                      </a:r>
                    </a:p>
                  </a:txBody>
                  <a:tcPr marL="91440" marR="91440" marT="45720" marB="45720">
                    <a:solidFill>
                      <a:srgbClr val="FFFFFF"/>
                    </a:solidFill>
                  </a:tcPr>
                </a:tc>
              </a:tr>
              <a:tr h="361950">
                <a:tc>
                  <a:txBody>
                    <a:bodyPr lIns="95250" tIns="76200" rIns="95250" bIns="57150"/>
                    <a:lstStyle/>
                    <a:p>
                      <a:r>
                        <a:rPr sz="1425" b="0">
                          <a:solidFill>
                            <a:srgbClr val="273746"/>
                          </a:solidFill>
                          <a:latin typeface="Calibri"/>
                          <a:ea typeface="Calibri"/>
                          <a:cs typeface="Calibri"/>
                        </a:rPr>
                        <a:t>16</a:t>
                      </a:r>
                    </a:p>
                  </a:txBody>
                  <a:tcPr marL="91440" marR="91440" marT="45720" marB="45720">
                    <a:solidFill>
                      <a:srgbClr val="F3F6F9"/>
                    </a:solidFill>
                  </a:tcPr>
                </a:tc>
                <a:tc>
                  <a:txBody>
                    <a:bodyPr lIns="95250" tIns="76200" rIns="95250" bIns="57150"/>
                    <a:lstStyle/>
                    <a:p>
                      <a:r>
                        <a:rPr sz="1425" b="0">
                          <a:solidFill>
                            <a:srgbClr val="273746"/>
                          </a:solidFill>
                          <a:latin typeface="Calibri"/>
                          <a:ea typeface="Calibri"/>
                          <a:cs typeface="Calibri"/>
                        </a:rPr>
                        <a:t>Daerah ke Nasional</a:t>
                      </a:r>
                    </a:p>
                  </a:txBody>
                  <a:tcPr marL="91440" marR="91440" marT="45720" marB="45720">
                    <a:solidFill>
                      <a:srgbClr val="F3F6F9"/>
                    </a:solidFill>
                  </a:tcPr>
                </a:tc>
                <a:tc>
                  <a:txBody>
                    <a:bodyPr lIns="95250" tIns="76200" rIns="95250" bIns="57150"/>
                    <a:lstStyle/>
                    <a:p>
                      <a:r>
                        <a:rPr sz="1425" b="0">
                          <a:solidFill>
                            <a:srgbClr val="273746"/>
                          </a:solidFill>
                          <a:latin typeface="Calibri"/>
                          <a:ea typeface="Calibri"/>
                          <a:cs typeface="Calibri"/>
                        </a:rPr>
                        <a:t>Erwin Aksa</a:t>
                      </a:r>
                    </a:p>
                  </a:txBody>
                  <a:tcPr marL="91440" marR="91440" marT="45720" marB="45720">
                    <a:solidFill>
                      <a:srgbClr val="F3F6F9"/>
                    </a:solidFill>
                  </a:tcPr>
                </a:tc>
                <a:tc>
                  <a:txBody>
                    <a:bodyPr lIns="95250" tIns="76200" rIns="95250" bIns="57150"/>
                    <a:lstStyle/>
                    <a:p>
                      <a:r>
                        <a:rPr sz="1425" b="0">
                          <a:solidFill>
                            <a:srgbClr val="273746"/>
                          </a:solidFill>
                          <a:latin typeface="Calibri"/>
                          <a:ea typeface="Calibri"/>
                          <a:cs typeface="Calibri"/>
                        </a:rPr>
                        <a:t>Scorecard kota berikutnya</a:t>
                      </a:r>
                    </a:p>
                  </a:txBody>
                  <a:tcPr marL="91440" marR="91440" marT="45720" marB="45720">
                    <a:solidFill>
                      <a:srgbClr val="F3F6F9"/>
                    </a:solidFill>
                  </a:tcPr>
                </a:tc>
              </a:tr>
              <a:tr h="361950">
                <a:tc>
                  <a:txBody>
                    <a:bodyPr lIns="95250" tIns="76200" rIns="95250" bIns="57150"/>
                    <a:lstStyle/>
                    <a:p>
                      <a:r>
                        <a:rPr sz="1425" b="0">
                          <a:solidFill>
                            <a:srgbClr val="273746"/>
                          </a:solidFill>
                          <a:latin typeface="Calibri"/>
                          <a:ea typeface="Calibri"/>
                          <a:cs typeface="Calibri"/>
                        </a:rPr>
                        <a:t>17</a:t>
                      </a:r>
                    </a:p>
                  </a:txBody>
                  <a:tcPr marL="91440" marR="91440" marT="45720" marB="45720">
                    <a:solidFill>
                      <a:srgbClr val="FFFFFF"/>
                    </a:solidFill>
                  </a:tcPr>
                </a:tc>
                <a:tc>
                  <a:txBody>
                    <a:bodyPr lIns="95250" tIns="76200" rIns="95250" bIns="57150"/>
                    <a:lstStyle/>
                    <a:p>
                      <a:r>
                        <a:rPr sz="1425" b="0">
                          <a:solidFill>
                            <a:srgbClr val="273746"/>
                          </a:solidFill>
                          <a:latin typeface="Calibri"/>
                          <a:ea typeface="Calibri"/>
                          <a:cs typeface="Calibri"/>
                        </a:rPr>
                        <a:t>Bisnis Keluarga</a:t>
                      </a:r>
                    </a:p>
                  </a:txBody>
                  <a:tcPr marL="91440" marR="91440" marT="45720" marB="45720">
                    <a:solidFill>
                      <a:srgbClr val="FFFFFF"/>
                    </a:solidFill>
                  </a:tcPr>
                </a:tc>
                <a:tc>
                  <a:txBody>
                    <a:bodyPr lIns="95250" tIns="76200" rIns="95250" bIns="57150"/>
                    <a:lstStyle/>
                    <a:p>
                      <a:r>
                        <a:rPr sz="1425" b="0">
                          <a:solidFill>
                            <a:srgbClr val="273746"/>
                          </a:solidFill>
                          <a:latin typeface="Calibri"/>
                          <a:ea typeface="Calibri"/>
                          <a:cs typeface="Calibri"/>
                        </a:rPr>
                        <a:t>Axton Salim</a:t>
                      </a:r>
                    </a:p>
                  </a:txBody>
                  <a:tcPr marL="91440" marR="91440" marT="45720" marB="45720">
                    <a:solidFill>
                      <a:srgbClr val="FFFFFF"/>
                    </a:solidFill>
                  </a:tcPr>
                </a:tc>
                <a:tc>
                  <a:txBody>
                    <a:bodyPr lIns="95250" tIns="76200" rIns="95250" bIns="57150"/>
                    <a:lstStyle/>
                    <a:p>
                      <a:r>
                        <a:rPr sz="1425" b="0">
                          <a:solidFill>
                            <a:srgbClr val="273746"/>
                          </a:solidFill>
                          <a:latin typeface="Calibri"/>
                          <a:ea typeface="Calibri"/>
                          <a:cs typeface="Calibri"/>
                        </a:rPr>
                        <a:t>Family Role Map</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1451434290"/>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ext-240">
            <a:extLst xmlns:a="http://schemas.openxmlformats.org/drawingml/2006/main">
              <a:ext uri="{FF2B5EF4-FFF2-40B4-BE49-F238E27FC236}">
                <a16:creationId xmlns:a16="http://schemas.microsoft.com/office/drawing/2014/main" id="{565036A9-74A2-4971-AD31-9CC8848C6705}"/>
              </a:ext>
            </a:extLst>
          </p:cNvPr>
          <p:cNvSpPr>
            <a:spLocks xmlns:a="http://schemas.openxmlformats.org/drawingml/2006/main" noGrp="1"/>
          </p:cNvSpPr>
          <p:nvPr/>
        </p:nvSpPr>
        <p:spPr>
          <a:xfrm xmlns:a="http://schemas.openxmlformats.org/drawingml/2006/main">
            <a:off x="609600" y="333375"/>
            <a:ext cx="1066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65717D"/>
                </a:solidFill>
                <a:latin typeface="Calibri"/>
                <a:ea typeface="Calibri"/>
                <a:cs typeface="Calibri"/>
              </a:defRPr>
            </a:pPr>
            <a:r>
              <a:rPr sz="1050" b="1">
                <a:solidFill>
                  <a:srgbClr val="65717D"/>
                </a:solidFill>
                <a:latin typeface="Calibri"/>
                <a:ea typeface="Calibri"/>
                <a:cs typeface="Calibri"/>
              </a:rPr>
              <a:t>A7 / COMPETITOR SOURCES</a:t>
            </a:r>
          </a:p>
        </p:txBody>
      </p:sp>
      <p:sp>
        <p:nvSpPr>
          <p:cNvPr id="2" name="text-241">
            <a:extLst xmlns:a="http://schemas.openxmlformats.org/drawingml/2006/main">
              <a:ext uri="{FF2B5EF4-FFF2-40B4-BE49-F238E27FC236}">
                <a16:creationId xmlns:a16="http://schemas.microsoft.com/office/drawing/2014/main" id="{6DA28474-96D6-40D2-A138-320B15E13FC6}"/>
              </a:ext>
            </a:extLst>
          </p:cNvPr>
          <p:cNvSpPr>
            <a:spLocks xmlns:a="http://schemas.openxmlformats.org/drawingml/2006/main" noGrp="1"/>
          </p:cNvSpPr>
          <p:nvPr/>
        </p:nvSpPr>
        <p:spPr>
          <a:xfrm xmlns:a="http://schemas.openxmlformats.org/drawingml/2006/main">
            <a:off x="609600" y="723900"/>
            <a:ext cx="10858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925" b="1">
                <a:solidFill>
                  <a:srgbClr val="002060"/>
                </a:solidFill>
                <a:latin typeface="Calibri"/>
                <a:ea typeface="Calibri"/>
                <a:cs typeface="Calibri"/>
              </a:defRPr>
            </a:pPr>
            <a:r>
              <a:rPr sz="2925" b="1">
                <a:solidFill>
                  <a:srgbClr val="002060"/>
                </a:solidFill>
                <a:latin typeface="Calibri"/>
                <a:ea typeface="Calibri"/>
                <a:cs typeface="Calibri"/>
              </a:rPr>
              <a:t>Benchmark membandingkan paket, bukan membuktikan demand CMC</a:t>
            </a:r>
          </a:p>
        </p:txBody>
      </p:sp>
      <p:sp>
        <p:nvSpPr>
          <p:cNvPr id="3" name="text-242">
            <a:extLst xmlns:a="http://schemas.openxmlformats.org/drawingml/2006/main">
              <a:ext uri="{FF2B5EF4-FFF2-40B4-BE49-F238E27FC236}">
                <a16:creationId xmlns:a16="http://schemas.microsoft.com/office/drawing/2014/main" id="{485ACA6F-9BC4-4BD6-BD6A-DE273D989E34}"/>
              </a:ext>
            </a:extLst>
          </p:cNvPr>
          <p:cNvSpPr>
            <a:spLocks xmlns:a="http://schemas.openxmlformats.org/drawingml/2006/main" noGrp="1"/>
          </p:cNvSpPr>
          <p:nvPr/>
        </p:nvSpPr>
        <p:spPr>
          <a:xfrm xmlns:a="http://schemas.openxmlformats.org/drawingml/2006/main">
            <a:off x="609600" y="1666875"/>
            <a:ext cx="10858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65717D"/>
                </a:solidFill>
                <a:latin typeface="Calibri"/>
                <a:ea typeface="Calibri"/>
                <a:cs typeface="Calibri"/>
              </a:defRPr>
            </a:pPr>
            <a:r>
              <a:rPr sz="1500" b="0">
                <a:solidFill>
                  <a:srgbClr val="65717D"/>
                </a:solidFill>
                <a:latin typeface="Calibri"/>
                <a:ea typeface="Calibri"/>
                <a:cs typeface="Calibri"/>
              </a:rPr>
              <a:t>Harga dan tanggal mengikuti deck sumber. Asian Tiger masih perlu verifikasi.</a:t>
            </a:r>
          </a:p>
        </p:txBody>
      </p:sp>
      <p:sp>
        <p:nvSpPr>
          <p:cNvPr id="4" name="">
            <a:extLst xmlns:a="http://schemas.openxmlformats.org/drawingml/2006/main">
              <a:ext uri="{FF2B5EF4-FFF2-40B4-BE49-F238E27FC236}">
                <a16:creationId xmlns:a16="http://schemas.microsoft.com/office/drawing/2014/main" id="{DB64D1DB-FD8A-4130-B76B-C9AE41A9D43B}"/>
              </a:ext>
            </a:extLst>
          </p:cNvPr>
          <p:cNvSpPr>
            <a:spLocks xmlns:a="http://schemas.openxmlformats.org/drawingml/2006/main" noGrp="1"/>
          </p:cNvSpPr>
          <p:nvPr/>
        </p:nvSpPr>
        <p:spPr>
          <a:xfrm xmlns:a="http://schemas.openxmlformats.org/drawingml/2006/main">
            <a:off x="609600" y="6381750"/>
            <a:ext cx="10972800" cy="0"/>
          </a:xfrm>
          <a:prstGeom xmlns:a="http://schemas.openxmlformats.org/drawingml/2006/main" prst="line">
            <a:avLst/>
          </a:prstGeom>
          <a:noFill xmlns:a="http://schemas.openxmlformats.org/drawingml/2006/main"/>
          <a:ln xmlns:a="http://schemas.openxmlformats.org/drawingml/2006/main" w="9525">
            <a:solidFill>
              <a:srgbClr val="DCE2E8"/>
            </a:solidFill>
          </a:ln>
        </p:spPr>
      </p:sp>
      <p:sp>
        <p:nvSpPr>
          <p:cNvPr id="5" name="text-243">
            <a:extLst xmlns:a="http://schemas.openxmlformats.org/drawingml/2006/main">
              <a:ext uri="{FF2B5EF4-FFF2-40B4-BE49-F238E27FC236}">
                <a16:creationId xmlns:a16="http://schemas.microsoft.com/office/drawing/2014/main" id="{325AF0A2-B05F-413E-BAC7-CC812D22C43D}"/>
              </a:ext>
            </a:extLst>
          </p:cNvPr>
          <p:cNvSpPr>
            <a:spLocks xmlns:a="http://schemas.openxmlformats.org/drawingml/2006/main" noGrp="1"/>
          </p:cNvSpPr>
          <p:nvPr/>
        </p:nvSpPr>
        <p:spPr>
          <a:xfrm xmlns:a="http://schemas.openxmlformats.org/drawingml/2006/main">
            <a:off x="609600" y="6505575"/>
            <a:ext cx="10191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825" b="0">
                <a:solidFill>
                  <a:srgbClr val="65717D"/>
                </a:solidFill>
                <a:latin typeface="Calibri"/>
                <a:ea typeface="Calibri"/>
                <a:cs typeface="Calibri"/>
              </a:defRPr>
            </a:pPr>
            <a:r>
              <a:rPr sz="825" b="0">
                <a:solidFill>
                  <a:srgbClr val="65717D"/>
                </a:solidFill>
                <a:latin typeface="Calibri"/>
                <a:ea typeface="Calibri"/>
                <a:cs typeface="Calibri"/>
              </a:rPr>
              <a:t>CMC internal, Oktober 2026. Angka usulan mengikuti deck sumber.</a:t>
            </a:r>
          </a:p>
        </p:txBody>
      </p:sp>
      <p:sp>
        <p:nvSpPr>
          <p:cNvPr id="6" name="text-244">
            <a:extLst xmlns:a="http://schemas.openxmlformats.org/drawingml/2006/main">
              <a:ext uri="{FF2B5EF4-FFF2-40B4-BE49-F238E27FC236}">
                <a16:creationId xmlns:a16="http://schemas.microsoft.com/office/drawing/2014/main" id="{32B4EE18-164D-4ACA-BF14-597701557B2F}"/>
              </a:ext>
            </a:extLst>
          </p:cNvPr>
          <p:cNvSpPr>
            <a:spLocks xmlns:a="http://schemas.openxmlformats.org/drawingml/2006/main" noGrp="1"/>
          </p:cNvSpPr>
          <p:nvPr/>
        </p:nvSpPr>
        <p:spPr>
          <a:xfrm xmlns:a="http://schemas.openxmlformats.org/drawingml/2006/main">
            <a:off x="11125200" y="6486525"/>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002060"/>
                </a:solidFill>
                <a:latin typeface="Calibri"/>
                <a:ea typeface="Calibri"/>
                <a:cs typeface="Calibri"/>
              </a:defRPr>
            </a:pPr>
            <a:r>
              <a:rPr sz="1050" b="1">
                <a:solidFill>
                  <a:srgbClr val="002060"/>
                </a:solidFill>
                <a:latin typeface="Calibri"/>
                <a:ea typeface="Calibri"/>
                <a:cs typeface="Calibri"/>
              </a:rPr>
              <a:t>19</a:t>
            </a:r>
          </a:p>
        </p:txBody>
      </p:sp>
      <p:graphicFrame>
        <p:nvGraphicFramePr>
          <p:cNvPr id="15" name=""/>
          <p:cNvGraphicFramePr/>
          <p:nvPr/>
        </p:nvGraphicFramePr>
        <p:xfrm>
          <a:off xmlns:a="http://schemas.openxmlformats.org/drawingml/2006/main" x="609600" y="2409825"/>
          <a:ext xmlns:a="http://schemas.openxmlformats.org/drawingml/2006/main" cx="10972800" cy="2857500"/>
        </p:xfrm>
        <a:graphic xmlns:a="http://schemas.openxmlformats.org/drawingml/2006/main">
          <a:graphicData uri="http://schemas.openxmlformats.org/drawingml/2006/table">
            <a:tbl>
              <a:tblPr/>
              <a:tblGrid>
                <a:gridCol w="3524250"/>
                <a:gridCol w="2286000"/>
                <a:gridCol w="2095500"/>
                <a:gridCol w="3067050"/>
              </a:tblGrid>
              <a:tr h="476250">
                <a:tc>
                  <a:txBody>
                    <a:bodyPr lIns="95250" tIns="76200" rIns="95250" bIns="57150"/>
                    <a:lstStyle/>
                    <a:p>
                      <a:r>
                        <a:rPr sz="1650" b="1">
                          <a:solidFill>
                            <a:srgbClr val="FFFFFF"/>
                          </a:solidFill>
                          <a:latin typeface="Calibri"/>
                          <a:ea typeface="Calibri"/>
                          <a:cs typeface="Calibri"/>
                        </a:rPr>
                        <a:t>Program</a:t>
                      </a:r>
                    </a:p>
                  </a:txBody>
                  <a:tcPr marL="91440" marR="91440" marT="45720" marB="45720">
                    <a:solidFill>
                      <a:srgbClr val="002060"/>
                    </a:solidFill>
                  </a:tcPr>
                </a:tc>
                <a:tc>
                  <a:txBody>
                    <a:bodyPr lIns="95250" tIns="76200" rIns="95250" bIns="57150"/>
                    <a:lstStyle/>
                    <a:p>
                      <a:r>
                        <a:rPr sz="1650" b="1">
                          <a:solidFill>
                            <a:srgbClr val="FFFFFF"/>
                          </a:solidFill>
                          <a:latin typeface="Calibri"/>
                          <a:ea typeface="Calibri"/>
                          <a:cs typeface="Calibri"/>
                        </a:rPr>
                        <a:t>Paket</a:t>
                      </a:r>
                    </a:p>
                  </a:txBody>
                  <a:tcPr marL="91440" marR="91440" marT="45720" marB="45720">
                    <a:solidFill>
                      <a:srgbClr val="002060"/>
                    </a:solidFill>
                  </a:tcPr>
                </a:tc>
                <a:tc>
                  <a:txBody>
                    <a:bodyPr lIns="95250" tIns="76200" rIns="95250" bIns="57150"/>
                    <a:lstStyle/>
                    <a:p>
                      <a:r>
                        <a:rPr sz="1650" b="1">
                          <a:solidFill>
                            <a:srgbClr val="FFFFFF"/>
                          </a:solidFill>
                          <a:latin typeface="Calibri"/>
                          <a:ea typeface="Calibri"/>
                          <a:cs typeface="Calibri"/>
                        </a:rPr>
                        <a:t>Harga</a:t>
                      </a:r>
                    </a:p>
                  </a:txBody>
                  <a:tcPr marL="91440" marR="91440" marT="45720" marB="45720">
                    <a:solidFill>
                      <a:srgbClr val="002060"/>
                    </a:solidFill>
                  </a:tcPr>
                </a:tc>
                <a:tc>
                  <a:txBody>
                    <a:bodyPr lIns="95250" tIns="76200" rIns="95250" bIns="57150"/>
                    <a:lstStyle/>
                    <a:p>
                      <a:r>
                        <a:rPr sz="1650" b="1">
                          <a:solidFill>
                            <a:srgbClr val="FFFFFF"/>
                          </a:solidFill>
                          <a:latin typeface="Calibri"/>
                          <a:ea typeface="Calibri"/>
                          <a:cs typeface="Calibri"/>
                        </a:rPr>
                        <a:t>Caveat</a:t>
                      </a:r>
                    </a:p>
                  </a:txBody>
                  <a:tcPr marL="91440" marR="91440" marT="45720" marB="45720">
                    <a:solidFill>
                      <a:srgbClr val="002060"/>
                    </a:solidFill>
                  </a:tcPr>
                </a:tc>
              </a:tr>
              <a:tr h="476250">
                <a:tc>
                  <a:txBody>
                    <a:bodyPr lIns="95250" tIns="76200" rIns="95250" bIns="57150"/>
                    <a:lstStyle/>
                    <a:p>
                      <a:r>
                        <a:rPr sz="1650" b="0">
                          <a:solidFill>
                            <a:srgbClr val="273746"/>
                          </a:solidFill>
                          <a:latin typeface="Calibri"/>
                          <a:ea typeface="Calibri"/>
                          <a:cs typeface="Calibri"/>
                        </a:rPr>
                        <a:t>Sevenpreneur Batch 8</a:t>
                      </a:r>
                    </a:p>
                  </a:txBody>
                  <a:tcPr marL="91440" marR="91440" marT="45720" marB="45720">
                    <a:solidFill>
                      <a:srgbClr val="FFFFFF"/>
                    </a:solidFill>
                  </a:tcPr>
                </a:tc>
                <a:tc>
                  <a:txBody>
                    <a:bodyPr lIns="95250" tIns="76200" rIns="95250" bIns="57150"/>
                    <a:lstStyle/>
                    <a:p>
                      <a:r>
                        <a:rPr sz="1650" b="0">
                          <a:solidFill>
                            <a:srgbClr val="273746"/>
                          </a:solidFill>
                          <a:latin typeface="Calibri"/>
                          <a:ea typeface="Calibri"/>
                          <a:cs typeface="Calibri"/>
                        </a:rPr>
                        <a:t>Regular</a:t>
                      </a:r>
                    </a:p>
                  </a:txBody>
                  <a:tcPr marL="91440" marR="91440" marT="45720" marB="45720">
                    <a:solidFill>
                      <a:srgbClr val="FFFFFF"/>
                    </a:solidFill>
                  </a:tcPr>
                </a:tc>
                <a:tc>
                  <a:txBody>
                    <a:bodyPr lIns="95250" tIns="76200" rIns="95250" bIns="57150"/>
                    <a:lstStyle/>
                    <a:p>
                      <a:r>
                        <a:rPr sz="1650" b="0">
                          <a:solidFill>
                            <a:srgbClr val="273746"/>
                          </a:solidFill>
                          <a:latin typeface="Calibri"/>
                          <a:ea typeface="Calibri"/>
                          <a:cs typeface="Calibri"/>
                        </a:rPr>
                        <a:t>Rp1,499 jt</a:t>
                      </a:r>
                    </a:p>
                  </a:txBody>
                  <a:tcPr marL="91440" marR="91440" marT="45720" marB="45720">
                    <a:solidFill>
                      <a:srgbClr val="FFFFFF"/>
                    </a:solidFill>
                  </a:tcPr>
                </a:tc>
                <a:tc>
                  <a:txBody>
                    <a:bodyPr lIns="95250" tIns="76200" rIns="95250" bIns="57150"/>
                    <a:lstStyle/>
                    <a:p>
                      <a:r>
                        <a:rPr sz="1650" b="0">
                          <a:solidFill>
                            <a:srgbClr val="273746"/>
                          </a:solidFill>
                          <a:latin typeface="Calibri"/>
                          <a:ea typeface="Calibri"/>
                          <a:cs typeface="Calibri"/>
                        </a:rPr>
                        <a:t>Harga coret Rp3 jt</a:t>
                      </a:r>
                    </a:p>
                  </a:txBody>
                  <a:tcPr marL="91440" marR="91440" marT="45720" marB="45720">
                    <a:solidFill>
                      <a:srgbClr val="FFFFFF"/>
                    </a:solidFill>
                  </a:tcPr>
                </a:tc>
              </a:tr>
              <a:tr h="476250">
                <a:tc>
                  <a:txBody>
                    <a:bodyPr lIns="95250" tIns="76200" rIns="95250" bIns="57150"/>
                    <a:lstStyle/>
                    <a:p>
                      <a:r>
                        <a:rPr sz="1650" b="0">
                          <a:solidFill>
                            <a:srgbClr val="273746"/>
                          </a:solidFill>
                          <a:latin typeface="Calibri"/>
                          <a:ea typeface="Calibri"/>
                          <a:cs typeface="Calibri"/>
                        </a:rPr>
                        <a:t>Sevenpreneur Batch 8</a:t>
                      </a:r>
                    </a:p>
                  </a:txBody>
                  <a:tcPr marL="91440" marR="91440" marT="45720" marB="45720">
                    <a:solidFill>
                      <a:srgbClr val="F3F6F9"/>
                    </a:solidFill>
                  </a:tcPr>
                </a:tc>
                <a:tc>
                  <a:txBody>
                    <a:bodyPr lIns="95250" tIns="76200" rIns="95250" bIns="57150"/>
                    <a:lstStyle/>
                    <a:p>
                      <a:r>
                        <a:rPr sz="1650" b="0">
                          <a:solidFill>
                            <a:srgbClr val="273746"/>
                          </a:solidFill>
                          <a:latin typeface="Calibri"/>
                          <a:ea typeface="Calibri"/>
                          <a:cs typeface="Calibri"/>
                        </a:rPr>
                        <a:t>VIP</a:t>
                      </a:r>
                    </a:p>
                  </a:txBody>
                  <a:tcPr marL="91440" marR="91440" marT="45720" marB="45720">
                    <a:solidFill>
                      <a:srgbClr val="F3F6F9"/>
                    </a:solidFill>
                  </a:tcPr>
                </a:tc>
                <a:tc>
                  <a:txBody>
                    <a:bodyPr lIns="95250" tIns="76200" rIns="95250" bIns="57150"/>
                    <a:lstStyle/>
                    <a:p>
                      <a:r>
                        <a:rPr sz="1650" b="0">
                          <a:solidFill>
                            <a:srgbClr val="273746"/>
                          </a:solidFill>
                          <a:latin typeface="Calibri"/>
                          <a:ea typeface="Calibri"/>
                          <a:cs typeface="Calibri"/>
                        </a:rPr>
                        <a:t>Rp4,999 jt</a:t>
                      </a:r>
                    </a:p>
                  </a:txBody>
                  <a:tcPr marL="91440" marR="91440" marT="45720" marB="45720">
                    <a:solidFill>
                      <a:srgbClr val="F3F6F9"/>
                    </a:solidFill>
                  </a:tcPr>
                </a:tc>
                <a:tc>
                  <a:txBody>
                    <a:bodyPr lIns="95250" tIns="76200" rIns="95250" bIns="57150"/>
                    <a:lstStyle/>
                    <a:p>
                      <a:r>
                        <a:rPr sz="1650" b="0">
                          <a:solidFill>
                            <a:srgbClr val="273746"/>
                          </a:solidFill>
                          <a:latin typeface="Calibri"/>
                          <a:ea typeface="Calibri"/>
                          <a:cs typeface="Calibri"/>
                        </a:rPr>
                        <a:t>Harga coret Rp8,5 jt</a:t>
                      </a:r>
                    </a:p>
                  </a:txBody>
                  <a:tcPr marL="91440" marR="91440" marT="45720" marB="45720">
                    <a:solidFill>
                      <a:srgbClr val="F3F6F9"/>
                    </a:solidFill>
                  </a:tcPr>
                </a:tc>
              </a:tr>
              <a:tr h="476250">
                <a:tc>
                  <a:txBody>
                    <a:bodyPr lIns="95250" tIns="76200" rIns="95250" bIns="57150"/>
                    <a:lstStyle/>
                    <a:p>
                      <a:r>
                        <a:rPr sz="1650" b="0">
                          <a:solidFill>
                            <a:srgbClr val="273746"/>
                          </a:solidFill>
                          <a:latin typeface="Calibri"/>
                          <a:ea typeface="Calibri"/>
                          <a:cs typeface="Calibri"/>
                        </a:rPr>
                        <a:t>Aksoro CEO 3.0</a:t>
                      </a:r>
                    </a:p>
                  </a:txBody>
                  <a:tcPr marL="91440" marR="91440" marT="45720" marB="45720">
                    <a:solidFill>
                      <a:srgbClr val="FFFFFF"/>
                    </a:solidFill>
                  </a:tcPr>
                </a:tc>
                <a:tc>
                  <a:txBody>
                    <a:bodyPr lIns="95250" tIns="76200" rIns="95250" bIns="57150"/>
                    <a:lstStyle/>
                    <a:p>
                      <a:r>
                        <a:rPr sz="1650" b="0">
                          <a:solidFill>
                            <a:srgbClr val="273746"/>
                          </a:solidFill>
                          <a:latin typeface="Calibri"/>
                          <a:ea typeface="Calibri"/>
                          <a:cs typeface="Calibri"/>
                        </a:rPr>
                        <a:t>Online</a:t>
                      </a:r>
                    </a:p>
                  </a:txBody>
                  <a:tcPr marL="91440" marR="91440" marT="45720" marB="45720">
                    <a:solidFill>
                      <a:srgbClr val="FFFFFF"/>
                    </a:solidFill>
                  </a:tcPr>
                </a:tc>
                <a:tc>
                  <a:txBody>
                    <a:bodyPr lIns="95250" tIns="76200" rIns="95250" bIns="57150"/>
                    <a:lstStyle/>
                    <a:p>
                      <a:r>
                        <a:rPr sz="1650" b="0">
                          <a:solidFill>
                            <a:srgbClr val="273746"/>
                          </a:solidFill>
                          <a:latin typeface="Calibri"/>
                          <a:ea typeface="Calibri"/>
                          <a:cs typeface="Calibri"/>
                        </a:rPr>
                        <a:t>Rp3,3 jt</a:t>
                      </a:r>
                    </a:p>
                  </a:txBody>
                  <a:tcPr marL="91440" marR="91440" marT="45720" marB="45720">
                    <a:solidFill>
                      <a:srgbClr val="FFFFFF"/>
                    </a:solidFill>
                  </a:tcPr>
                </a:tc>
                <a:tc>
                  <a:txBody>
                    <a:bodyPr lIns="95250" tIns="76200" rIns="95250" bIns="57150"/>
                    <a:lstStyle/>
                    <a:p>
                      <a:r>
                        <a:rPr sz="1650" b="0">
                          <a:solidFill>
                            <a:srgbClr val="273746"/>
                          </a:solidFill>
                          <a:latin typeface="Calibri"/>
                          <a:ea typeface="Calibri"/>
                          <a:cs typeface="Calibri"/>
                        </a:rPr>
                        <a:t>2 hari live</a:t>
                      </a:r>
                    </a:p>
                  </a:txBody>
                  <a:tcPr marL="91440" marR="91440" marT="45720" marB="45720">
                    <a:solidFill>
                      <a:srgbClr val="FFFFFF"/>
                    </a:solidFill>
                  </a:tcPr>
                </a:tc>
              </a:tr>
              <a:tr h="476250">
                <a:tc>
                  <a:txBody>
                    <a:bodyPr lIns="95250" tIns="76200" rIns="95250" bIns="57150"/>
                    <a:lstStyle/>
                    <a:p>
                      <a:r>
                        <a:rPr sz="1650" b="0">
                          <a:solidFill>
                            <a:srgbClr val="273746"/>
                          </a:solidFill>
                          <a:latin typeface="Calibri"/>
                          <a:ea typeface="Calibri"/>
                          <a:cs typeface="Calibri"/>
                        </a:rPr>
                        <a:t>Aksoro CEO 3.0</a:t>
                      </a:r>
                    </a:p>
                  </a:txBody>
                  <a:tcPr marL="91440" marR="91440" marT="45720" marB="45720">
                    <a:solidFill>
                      <a:srgbClr val="F3F6F9"/>
                    </a:solidFill>
                  </a:tcPr>
                </a:tc>
                <a:tc>
                  <a:txBody>
                    <a:bodyPr lIns="95250" tIns="76200" rIns="95250" bIns="57150"/>
                    <a:lstStyle/>
                    <a:p>
                      <a:r>
                        <a:rPr sz="1650" b="0">
                          <a:solidFill>
                            <a:srgbClr val="273746"/>
                          </a:solidFill>
                          <a:latin typeface="Calibri"/>
                          <a:ea typeface="Calibri"/>
                          <a:cs typeface="Calibri"/>
                        </a:rPr>
                        <a:t>Offline</a:t>
                      </a:r>
                    </a:p>
                  </a:txBody>
                  <a:tcPr marL="91440" marR="91440" marT="45720" marB="45720">
                    <a:solidFill>
                      <a:srgbClr val="F3F6F9"/>
                    </a:solidFill>
                  </a:tcPr>
                </a:tc>
                <a:tc>
                  <a:txBody>
                    <a:bodyPr lIns="95250" tIns="76200" rIns="95250" bIns="57150"/>
                    <a:lstStyle/>
                    <a:p>
                      <a:r>
                        <a:rPr sz="1650" b="0">
                          <a:solidFill>
                            <a:srgbClr val="273746"/>
                          </a:solidFill>
                          <a:latin typeface="Calibri"/>
                          <a:ea typeface="Calibri"/>
                          <a:cs typeface="Calibri"/>
                        </a:rPr>
                        <a:t>Rp9,3 jt</a:t>
                      </a:r>
                    </a:p>
                  </a:txBody>
                  <a:tcPr marL="91440" marR="91440" marT="45720" marB="45720">
                    <a:solidFill>
                      <a:srgbClr val="F3F6F9"/>
                    </a:solidFill>
                  </a:tcPr>
                </a:tc>
                <a:tc>
                  <a:txBody>
                    <a:bodyPr lIns="95250" tIns="76200" rIns="95250" bIns="57150"/>
                    <a:lstStyle/>
                    <a:p>
                      <a:r>
                        <a:rPr sz="1650" b="0">
                          <a:solidFill>
                            <a:srgbClr val="273746"/>
                          </a:solidFill>
                          <a:latin typeface="Calibri"/>
                          <a:ea typeface="Calibri"/>
                          <a:cs typeface="Calibri"/>
                        </a:rPr>
                        <a:t>Early bird, Juni 2026</a:t>
                      </a:r>
                    </a:p>
                  </a:txBody>
                  <a:tcPr marL="91440" marR="91440" marT="45720" marB="45720">
                    <a:solidFill>
                      <a:srgbClr val="F3F6F9"/>
                    </a:solidFill>
                  </a:tcPr>
                </a:tc>
              </a:tr>
              <a:tr h="476250">
                <a:tc>
                  <a:txBody>
                    <a:bodyPr lIns="95250" tIns="76200" rIns="95250" bIns="57150"/>
                    <a:lstStyle/>
                    <a:p>
                      <a:r>
                        <a:rPr sz="1650" b="0">
                          <a:solidFill>
                            <a:srgbClr val="273746"/>
                          </a:solidFill>
                          <a:latin typeface="Calibri"/>
                          <a:ea typeface="Calibri"/>
                          <a:cs typeface="Calibri"/>
                        </a:rPr>
                        <a:t>Asian Tiger School</a:t>
                      </a:r>
                    </a:p>
                  </a:txBody>
                  <a:tcPr marL="91440" marR="91440" marT="45720" marB="45720">
                    <a:solidFill>
                      <a:srgbClr val="FFFFFF"/>
                    </a:solidFill>
                  </a:tcPr>
                </a:tc>
                <a:tc>
                  <a:txBody>
                    <a:bodyPr lIns="95250" tIns="76200" rIns="95250" bIns="57150"/>
                    <a:lstStyle/>
                    <a:p>
                      <a:r>
                        <a:rPr sz="1650" b="0">
                          <a:solidFill>
                            <a:srgbClr val="273746"/>
                          </a:solidFill>
                          <a:latin typeface="Calibri"/>
                          <a:ea typeface="Calibri"/>
                          <a:cs typeface="Calibri"/>
                        </a:rPr>
                        <a:t>Property Dev.</a:t>
                      </a:r>
                    </a:p>
                  </a:txBody>
                  <a:tcPr marL="91440" marR="91440" marT="45720" marB="45720">
                    <a:solidFill>
                      <a:srgbClr val="FFFFFF"/>
                    </a:solidFill>
                  </a:tcPr>
                </a:tc>
                <a:tc>
                  <a:txBody>
                    <a:bodyPr lIns="95250" tIns="76200" rIns="95250" bIns="57150"/>
                    <a:lstStyle/>
                    <a:p>
                      <a:r>
                        <a:rPr sz="1650" b="0">
                          <a:solidFill>
                            <a:srgbClr val="273746"/>
                          </a:solidFill>
                          <a:latin typeface="Calibri"/>
                          <a:ea typeface="Calibri"/>
                          <a:cs typeface="Calibri"/>
                        </a:rPr>
                        <a:t>Rp7–10,6 jt</a:t>
                      </a:r>
                    </a:p>
                  </a:txBody>
                  <a:tcPr marL="91440" marR="91440" marT="45720" marB="45720">
                    <a:solidFill>
                      <a:srgbClr val="FFFFFF"/>
                    </a:solidFill>
                  </a:tcPr>
                </a:tc>
                <a:tc>
                  <a:txBody>
                    <a:bodyPr lIns="95250" tIns="76200" rIns="95250" bIns="57150"/>
                    <a:lstStyle/>
                    <a:p>
                      <a:r>
                        <a:rPr sz="1650" b="0">
                          <a:solidFill>
                            <a:srgbClr val="273746"/>
                          </a:solidFill>
                          <a:latin typeface="Calibri"/>
                          <a:ea typeface="Calibri"/>
                          <a:cs typeface="Calibri"/>
                        </a:rPr>
                        <a:t>Sumber 404; verifikasi lemah</a:t>
                      </a:r>
                    </a:p>
                  </a:txBody>
                  <a:tcPr marL="91440" marR="91440" marT="45720" marB="45720">
                    <a:solidFill>
                      <a:srgbClr val="FFFFFF"/>
                    </a:solidFill>
                  </a:tcPr>
                </a:tc>
              </a:tr>
            </a:tbl>
          </a:graphicData>
        </a:graphic>
      </p:graphicFrame>
      <p:sp>
        <p:nvSpPr>
          <p:cNvPr id="8" name="text-245">
            <a:extLst xmlns:a="http://schemas.openxmlformats.org/drawingml/2006/main">
              <a:ext uri="{FF2B5EF4-FFF2-40B4-BE49-F238E27FC236}">
                <a16:creationId xmlns:a16="http://schemas.microsoft.com/office/drawing/2014/main" id="{A760D5E3-E917-4161-A5FA-FAAC5EDF66A5}"/>
              </a:ext>
            </a:extLst>
          </p:cNvPr>
          <p:cNvSpPr>
            <a:spLocks xmlns:a="http://schemas.openxmlformats.org/drawingml/2006/main" noGrp="1"/>
          </p:cNvSpPr>
          <p:nvPr/>
        </p:nvSpPr>
        <p:spPr>
          <a:xfrm xmlns:a="http://schemas.openxmlformats.org/drawingml/2006/main">
            <a:off x="609600" y="5724525"/>
            <a:ext cx="10953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65717D"/>
                </a:solidFill>
                <a:latin typeface="Calibri"/>
                <a:ea typeface="Calibri"/>
                <a:cs typeface="Calibri"/>
              </a:defRPr>
            </a:pPr>
            <a:r>
              <a:rPr sz="1500" b="0">
                <a:solidFill>
                  <a:srgbClr val="65717D"/>
                </a:solidFill>
                <a:latin typeface="Calibri"/>
                <a:ea typeface="Calibri"/>
                <a:cs typeface="Calibri"/>
              </a:rPr>
              <a:t>sevenpreneur.com     aksoro.co.id     info.aksoro.co.id     asiantigerschool.id</a:t>
            </a:r>
          </a:p>
        </p:txBody>
      </p:sp>
    </p:spTree>
    <p:extLst>
      <p:ext uri="{BB962C8B-B14F-4D97-AF65-F5344CB8AC3E}">
        <p14:creationId xmlns:p14="http://schemas.microsoft.com/office/powerpoint/2010/main" val="33568248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2026-10-05T07:49:50.7830000Z</dcterms:created>
  <dcterms:modified xsi:type="dcterms:W3CDTF">2026-10-05T07:49:50.7830000Z</dcterms:modified>
</coreProperties>
</file>