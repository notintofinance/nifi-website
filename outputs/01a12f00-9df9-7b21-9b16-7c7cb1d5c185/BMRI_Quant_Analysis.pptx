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5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a0c1b7fa0f4948" /><Relationship Type="http://schemas.openxmlformats.org/officeDocument/2006/relationships/extended-properties" Target="/docProps/app.xml" Id="Re9ed393db6a944f6" /><Relationship Type="http://schemas.openxmlformats.org/officeDocument/2006/relationships/officeDocument" Target="/ppt/presentation.xml" Id="R275388d85c3b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7f45f034e64dcc"/>
  </p:sldMasterIdLst>
  <p:notesMasterIdLst>
    <p:notesMasterId xmlns:r="http://schemas.openxmlformats.org/officeDocument/2006/relationships" r:id="Rb4fda4aad63345dd"/>
  </p:notesMasterIdLst>
  <p:sldIdLst>
    <p:sldId xmlns:r="http://schemas.openxmlformats.org/officeDocument/2006/relationships" id="256" r:id="R021ab5d42b2d4595"/>
    <p:sldId xmlns:r="http://schemas.openxmlformats.org/officeDocument/2006/relationships" id="257" r:id="R23bac369699c4633"/>
    <p:sldId xmlns:r="http://schemas.openxmlformats.org/officeDocument/2006/relationships" id="258" r:id="R565a2aede29f48fc"/>
    <p:sldId xmlns:r="http://schemas.openxmlformats.org/officeDocument/2006/relationships" id="259" r:id="R6f8235a7eb294e7a"/>
    <p:sldId xmlns:r="http://schemas.openxmlformats.org/officeDocument/2006/relationships" id="260" r:id="R145b96dab0eb45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278d89bb154915" /><Relationship Type="http://schemas.openxmlformats.org/officeDocument/2006/relationships/slideMaster" Target="/ppt/slideMasters/slideMaster1.xml" Id="R287f45f034e64dcc" /><Relationship Type="http://schemas.openxmlformats.org/officeDocument/2006/relationships/notesMaster" Target="/ppt/notesMasters/notesMaster1.xml" Id="Rb4fda4aad63345dd" /><Relationship Type="http://schemas.openxmlformats.org/officeDocument/2006/relationships/presProps" Target="/ppt/presProps.xml" Id="R63edb6e386514a21" /><Relationship Type="http://schemas.openxmlformats.org/officeDocument/2006/relationships/tableStyles" Target="/ppt/tableStyles.xml" Id="R7105f7ed0ee348ec" /><Relationship Type="http://schemas.openxmlformats.org/officeDocument/2006/relationships/slide" Target="/ppt/slides/slide1.xml" Id="R021ab5d42b2d4595" /><Relationship Type="http://schemas.openxmlformats.org/officeDocument/2006/relationships/slide" Target="/ppt/slides/slide2.xml" Id="R23bac369699c4633" /><Relationship Type="http://schemas.openxmlformats.org/officeDocument/2006/relationships/slide" Target="/ppt/slides/slide3.xml" Id="R565a2aede29f48fc" /><Relationship Type="http://schemas.openxmlformats.org/officeDocument/2006/relationships/slide" Target="/ppt/slides/slide4.xml" Id="R6f8235a7eb294e7a" /><Relationship Type="http://schemas.openxmlformats.org/officeDocument/2006/relationships/slide" Target="/ppt/slides/slide5.xml" Id="R145b96dab0eb45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0ab2ad540c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7214746c74154" /><Relationship Type="http://schemas.openxmlformats.org/officeDocument/2006/relationships/notesMaster" Target="/ppt/notesMasters/notesMaster1.xml" Id="R7c29f110d57b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45918f2d324573" /><Relationship Type="http://schemas.openxmlformats.org/officeDocument/2006/relationships/notesMaster" Target="/ppt/notesMasters/notesMaster1.xml" Id="Rd387c28c7f3e45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af6eb2bab4704" /><Relationship Type="http://schemas.openxmlformats.org/officeDocument/2006/relationships/notesMaster" Target="/ppt/notesMasters/notesMaster1.xml" Id="Rcd62bc4d486e4c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a6f9c040ef4e94" /><Relationship Type="http://schemas.openxmlformats.org/officeDocument/2006/relationships/notesMaster" Target="/ppt/notesMasters/notesMaster1.xml" Id="R644e5ed54c6f4d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603acadd54fff" /><Relationship Type="http://schemas.openxmlformats.org/officeDocument/2006/relationships/notesMaster" Target="/ppt/notesMasters/notesMaster1.xml" Id="Rbb13312dcf8f42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BMRI-2.xlsx, user-provided. Design reference: Market Update - 29 September 2026.pptx.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Z-score = (latest value minus full-history mean) divided by full-history sample standard deviation.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Price z-score uses the full Sep 2021 to Oct 2026 price 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Monthly values carry forward the latest available observation when a month-end price date lacks a valuation observation.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BMRI-2.xlsx. Implied DPS equals latest price multiplied by source dividend yield. It is not a substitute for declared cash dividend.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d2378183644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6540d8c1094307" /><Relationship Type="http://schemas.openxmlformats.org/officeDocument/2006/relationships/slideLayout" Target="/ppt/slideLayouts/slideLayout1.xml" Id="Ra827cd14f392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7cd14f392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029f1485942b6" /><Relationship Type="http://schemas.openxmlformats.org/officeDocument/2006/relationships/chart" Target="/ppt/slides/charts/chart1.xml" Id="R74ec4949557447cf" /><Relationship Type="http://schemas.openxmlformats.org/officeDocument/2006/relationships/notesSlide" Target="/ppt/notesSlides/notesSlide1.xml" Id="R53d2d27e578f45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394f770344086" /><Relationship Type="http://schemas.openxmlformats.org/officeDocument/2006/relationships/chart" Target="/ppt/slides/charts/chart2.xml" Id="Rc8a79db814b94a31" /><Relationship Type="http://schemas.openxmlformats.org/officeDocument/2006/relationships/notesSlide" Target="/ppt/notesSlides/notesSlide2.xml" Id="Re695c049e6c4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77d0233f8448c" /><Relationship Type="http://schemas.openxmlformats.org/officeDocument/2006/relationships/chart" Target="/ppt/slides/charts/chart3.xml" Id="Rbf259e8075834f9b" /><Relationship Type="http://schemas.openxmlformats.org/officeDocument/2006/relationships/chart" Target="/ppt/slides/charts/chart4.xml" Id="Re265853f93a247a6" /><Relationship Type="http://schemas.openxmlformats.org/officeDocument/2006/relationships/notesSlide" Target="/ppt/notesSlides/notesSlide3.xml" Id="R8e94d8c43a9d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fc3afd89a46cb" /><Relationship Type="http://schemas.openxmlformats.org/officeDocument/2006/relationships/chart" Target="/ppt/slides/charts/chart5.xml" Id="Rb4d924755d694791" /><Relationship Type="http://schemas.openxmlformats.org/officeDocument/2006/relationships/notesSlide" Target="/ppt/notesSlides/notesSlide4.xml" Id="R2dc3caaf74d9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a09f0d18d4e48" /><Relationship Type="http://schemas.openxmlformats.org/officeDocument/2006/relationships/chart" Target="/ppt/slides/charts/chart6.xml" Id="R7b62912ac0c34054" /><Relationship Type="http://schemas.openxmlformats.org/officeDocument/2006/relationships/notesSlide" Target="/ppt/notesSlides/notesSlide5.xml" Id="R6909db788dc74c5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Price</c:v>
          </c:tx>
          <c:spPr>
            <a:ln xmlns:a="http://schemas.openxmlformats.org/drawingml/2006/main" w="38100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62"/>
              <c:pt idx="0">
                <c:v>Sep-21</c:v>
              </c:pt>
              <c:pt idx="1">
                <c:v>Oct-21</c:v>
              </c:pt>
              <c:pt idx="2">
                <c:v>Nov-21</c:v>
              </c:pt>
              <c:pt idx="3">
                <c:v>Dec-21</c:v>
              </c:pt>
              <c:pt idx="4">
                <c:v>Jan-22</c:v>
              </c:pt>
              <c:pt idx="5">
                <c:v>Feb-22</c:v>
              </c:pt>
              <c:pt idx="6">
                <c:v>Mar-22</c:v>
              </c:pt>
              <c:pt idx="7">
                <c:v>Apr-22</c:v>
              </c:pt>
              <c:pt idx="8">
                <c:v>May-22</c:v>
              </c:pt>
              <c:pt idx="9">
                <c:v>Jun-22</c:v>
              </c:pt>
              <c:pt idx="10">
                <c:v>Jul-22</c:v>
              </c:pt>
              <c:pt idx="11">
                <c:v>Aug-22</c:v>
              </c:pt>
              <c:pt idx="12">
                <c:v>Sep-22</c:v>
              </c:pt>
              <c:pt idx="13">
                <c:v>Oct-22</c:v>
              </c:pt>
              <c:pt idx="14">
                <c:v>Nov-22</c:v>
              </c:pt>
              <c:pt idx="15">
                <c:v>Dec-22</c:v>
              </c:pt>
              <c:pt idx="16">
                <c:v>Jan-23</c:v>
              </c:pt>
              <c:pt idx="17">
                <c:v>Feb-23</c:v>
              </c:pt>
              <c:pt idx="18">
                <c:v>Mar-23</c:v>
              </c:pt>
              <c:pt idx="19">
                <c:v>Apr-23</c:v>
              </c:pt>
              <c:pt idx="20">
                <c:v>May-23</c:v>
              </c:pt>
              <c:pt idx="21">
                <c:v>Jun-23</c:v>
              </c:pt>
              <c:pt idx="22">
                <c:v>Jul-23</c:v>
              </c:pt>
              <c:pt idx="23">
                <c:v>Aug-23</c:v>
              </c:pt>
              <c:pt idx="24">
                <c:v>Sep-23</c:v>
              </c:pt>
              <c:pt idx="25">
                <c:v>Oct-23</c:v>
              </c:pt>
              <c:pt idx="26">
                <c:v>Nov-23</c:v>
              </c:pt>
              <c:pt idx="27">
                <c:v>Dec-23</c:v>
              </c:pt>
              <c:pt idx="28">
                <c:v>Jan-24</c:v>
              </c:pt>
              <c:pt idx="29">
                <c:v>Feb-24</c:v>
              </c:pt>
              <c:pt idx="30">
                <c:v>Mar-24</c:v>
              </c:pt>
              <c:pt idx="31">
                <c:v>Apr-24</c:v>
              </c:pt>
              <c:pt idx="32">
                <c:v>May-24</c:v>
              </c:pt>
              <c:pt idx="33">
                <c:v>Jun-24</c:v>
              </c:pt>
              <c:pt idx="34">
                <c:v>Jul-24</c:v>
              </c:pt>
              <c:pt idx="35">
                <c:v>Aug-24</c:v>
              </c:pt>
              <c:pt idx="36">
                <c:v>Sep-24</c:v>
              </c:pt>
              <c:pt idx="37">
                <c:v>Oct-24</c:v>
              </c:pt>
              <c:pt idx="38">
                <c:v>Nov-24</c:v>
              </c:pt>
              <c:pt idx="39">
                <c:v>Dec-24</c:v>
              </c:pt>
              <c:pt idx="40">
                <c:v>Jan-25</c:v>
              </c:pt>
              <c:pt idx="41">
                <c:v>Feb-25</c:v>
              </c:pt>
              <c:pt idx="42">
                <c:v>Mar-25</c:v>
              </c:pt>
              <c:pt idx="43">
                <c:v>Apr-25</c:v>
              </c:pt>
              <c:pt idx="44">
                <c:v>May-25</c:v>
              </c:pt>
              <c:pt idx="45">
                <c:v>Jun-25</c:v>
              </c:pt>
              <c:pt idx="46">
                <c:v>Jul-25</c:v>
              </c:pt>
              <c:pt idx="47">
                <c:v>Aug-25</c:v>
              </c:pt>
              <c:pt idx="48">
                <c:v>Sep-25</c:v>
              </c:pt>
              <c:pt idx="49">
                <c:v>Oct-25</c:v>
              </c:pt>
              <c:pt idx="50">
                <c:v>Nov-25</c:v>
              </c:pt>
              <c:pt idx="51">
                <c:v>Dec-25</c:v>
              </c:pt>
              <c:pt idx="52">
                <c:v>Jan-26</c:v>
              </c:pt>
              <c:pt idx="53">
                <c:v>Feb-26</c:v>
              </c:pt>
              <c:pt idx="54">
                <c:v>Mar-26</c:v>
              </c:pt>
              <c:pt idx="55">
                <c:v>Apr-26</c:v>
              </c:pt>
              <c:pt idx="56">
                <c:v>May-26</c:v>
              </c:pt>
              <c:pt idx="57">
                <c:v>Jun-26</c:v>
              </c:pt>
              <c:pt idx="58">
                <c:v>Jul-26</c:v>
              </c:pt>
              <c:pt idx="59">
                <c:v>Aug-26</c:v>
              </c:pt>
              <c:pt idx="60">
                <c:v>Sep-26</c:v>
              </c:pt>
              <c:pt idx="61">
                <c:v>Oct-26</c:v>
              </c:pt>
            </c:strLit>
          </c:cat>
          <c:val>
            <c:numLit>
              <c:formatCode>General</c:formatCode>
              <c:ptCount val="62"/>
              <c:pt idx="0">
                <c:v>3075</c:v>
              </c:pt>
              <c:pt idx="1">
                <c:v>3588</c:v>
              </c:pt>
              <c:pt idx="2">
                <c:v>3500</c:v>
              </c:pt>
              <c:pt idx="3">
                <c:v>3513</c:v>
              </c:pt>
              <c:pt idx="4">
                <c:v>3738</c:v>
              </c:pt>
              <c:pt idx="5">
                <c:v>3850</c:v>
              </c:pt>
              <c:pt idx="6">
                <c:v>3950</c:v>
              </c:pt>
              <c:pt idx="7">
                <c:v>4475</c:v>
              </c:pt>
              <c:pt idx="8">
                <c:v>4250</c:v>
              </c:pt>
              <c:pt idx="9">
                <c:v>3963</c:v>
              </c:pt>
              <c:pt idx="10">
                <c:v>4138</c:v>
              </c:pt>
              <c:pt idx="11">
                <c:v>4425</c:v>
              </c:pt>
              <c:pt idx="12">
                <c:v>4713</c:v>
              </c:pt>
              <c:pt idx="13">
                <c:v>5275</c:v>
              </c:pt>
              <c:pt idx="14">
                <c:v>5263</c:v>
              </c:pt>
              <c:pt idx="15">
                <c:v>4963</c:v>
              </c:pt>
              <c:pt idx="16">
                <c:v>4975</c:v>
              </c:pt>
              <c:pt idx="17">
                <c:v>5000</c:v>
              </c:pt>
              <c:pt idx="18">
                <c:v>5163</c:v>
              </c:pt>
              <c:pt idx="19">
                <c:v>5175</c:v>
              </c:pt>
              <c:pt idx="20">
                <c:v>5050</c:v>
              </c:pt>
              <c:pt idx="21">
                <c:v>5200</c:v>
              </c:pt>
              <c:pt idx="22">
                <c:v>5725</c:v>
              </c:pt>
              <c:pt idx="23">
                <c:v>6025</c:v>
              </c:pt>
              <c:pt idx="24">
                <c:v>6025</c:v>
              </c:pt>
              <c:pt idx="25">
                <c:v>5675</c:v>
              </c:pt>
              <c:pt idx="26">
                <c:v>5850</c:v>
              </c:pt>
              <c:pt idx="27">
                <c:v>6050</c:v>
              </c:pt>
              <c:pt idx="28">
                <c:v>6650</c:v>
              </c:pt>
              <c:pt idx="29">
                <c:v>7000</c:v>
              </c:pt>
              <c:pt idx="30">
                <c:v>7250</c:v>
              </c:pt>
              <c:pt idx="31">
                <c:v>6900</c:v>
              </c:pt>
              <c:pt idx="32">
                <c:v>5900</c:v>
              </c:pt>
              <c:pt idx="33">
                <c:v>6150</c:v>
              </c:pt>
              <c:pt idx="34">
                <c:v>6400</c:v>
              </c:pt>
              <c:pt idx="35">
                <c:v>7125</c:v>
              </c:pt>
              <c:pt idx="36">
                <c:v>6925</c:v>
              </c:pt>
              <c:pt idx="37">
                <c:v>6700</c:v>
              </c:pt>
              <c:pt idx="38">
                <c:v>6150</c:v>
              </c:pt>
              <c:pt idx="39">
                <c:v>5700</c:v>
              </c:pt>
              <c:pt idx="40">
                <c:v>6025</c:v>
              </c:pt>
              <c:pt idx="41">
                <c:v>4600</c:v>
              </c:pt>
              <c:pt idx="42">
                <c:v>5200</c:v>
              </c:pt>
              <c:pt idx="43">
                <c:v>4890</c:v>
              </c:pt>
              <c:pt idx="44">
                <c:v>5300</c:v>
              </c:pt>
              <c:pt idx="45">
                <c:v>4880</c:v>
              </c:pt>
              <c:pt idx="46">
                <c:v>4510</c:v>
              </c:pt>
              <c:pt idx="47">
                <c:v>4730</c:v>
              </c:pt>
              <c:pt idx="48">
                <c:v>4400</c:v>
              </c:pt>
              <c:pt idx="49">
                <c:v>4720</c:v>
              </c:pt>
              <c:pt idx="50">
                <c:v>4830</c:v>
              </c:pt>
              <c:pt idx="51">
                <c:v>5100</c:v>
              </c:pt>
              <c:pt idx="52">
                <c:v>4820</c:v>
              </c:pt>
              <c:pt idx="53">
                <c:v>5275</c:v>
              </c:pt>
              <c:pt idx="54">
                <c:v>4720</c:v>
              </c:pt>
              <c:pt idx="55">
                <c:v>4390</c:v>
              </c:pt>
              <c:pt idx="56">
                <c:v>4080</c:v>
              </c:pt>
              <c:pt idx="57">
                <c:v>3850</c:v>
              </c:pt>
              <c:pt idx="58">
                <c:v>4190</c:v>
              </c:pt>
              <c:pt idx="59">
                <c:v>4230</c:v>
              </c:pt>
              <c:pt idx="60">
                <c:v>4010</c:v>
              </c:pt>
              <c:pt idx="61">
                <c:v>4010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Z-score</c:v>
          </c:tx>
          <c:spPr>
            <a:solidFill xmlns:a="http://schemas.openxmlformats.org/drawingml/2006/main">
              <a:srgbClr val="062B6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A6A6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62B6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62B6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36F2B"/>
              </a:solidFill>
            </c:spPr>
          </c:dPt>
          <c:cat>
            <c:strLit>
              <c:ptCount val="4"/>
              <c:pt idx="0">
                <c:v>Price</c:v>
              </c:pt>
              <c:pt idx="1">
                <c:v>P/E</c:v>
              </c:pt>
              <c:pt idx="2">
                <c:v>P/BV</c:v>
              </c:pt>
              <c:pt idx="3">
                <c:v>Dividend yield</c:v>
              </c:pt>
            </c:strLit>
          </c:cat>
          <c:val>
            <c:numLit>
              <c:formatCode>0.00</c:formatCode>
              <c:ptCount val="4"/>
              <c:pt idx="0">
                <c:v>-1.045631639394761</c:v>
              </c:pt>
              <c:pt idx="1">
                <c:v>-1.6407168021347944</c:v>
              </c:pt>
              <c:pt idx="2">
                <c:v>-1.6974543414547554</c:v>
              </c:pt>
              <c:pt idx="3">
                <c:v>2.28655929040268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62B6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2.5"/>
          <c:min val="-2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BMRI price</c:v>
          </c:tx>
          <c:spPr>
            <a:ln xmlns:a="http://schemas.openxmlformats.org/drawingml/2006/main" w="38100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2"/>
              <c:pt idx="0">
                <c:v>Sep-21</c:v>
              </c:pt>
              <c:pt idx="1">
                <c:v>Dec-21</c:v>
              </c:pt>
              <c:pt idx="2">
                <c:v>Mar-22</c:v>
              </c:pt>
              <c:pt idx="3">
                <c:v>Jun-22</c:v>
              </c:pt>
              <c:pt idx="4">
                <c:v>Sep-22</c:v>
              </c:pt>
              <c:pt idx="5">
                <c:v>Dec-22</c:v>
              </c:pt>
              <c:pt idx="6">
                <c:v>Mar-23</c:v>
              </c:pt>
              <c:pt idx="7">
                <c:v>Jun-23</c:v>
              </c:pt>
              <c:pt idx="8">
                <c:v>Sep-23</c:v>
              </c:pt>
              <c:pt idx="9">
                <c:v>Dec-23</c:v>
              </c:pt>
              <c:pt idx="10">
                <c:v>Mar-24</c:v>
              </c:pt>
              <c:pt idx="11">
                <c:v>Jun-24</c:v>
              </c:pt>
              <c:pt idx="12">
                <c:v>Sep-24</c:v>
              </c:pt>
              <c:pt idx="13">
                <c:v>Dec-24</c:v>
              </c:pt>
              <c:pt idx="14">
                <c:v>Mar-25</c:v>
              </c:pt>
              <c:pt idx="15">
                <c:v>Jun-25</c:v>
              </c:pt>
              <c:pt idx="16">
                <c:v>Sep-25</c:v>
              </c:pt>
              <c:pt idx="17">
                <c:v>Dec-25</c:v>
              </c:pt>
              <c:pt idx="18">
                <c:v>Mar-26</c:v>
              </c:pt>
              <c:pt idx="19">
                <c:v>Jun-26</c:v>
              </c:pt>
              <c:pt idx="20">
                <c:v>Sep-26</c:v>
              </c:pt>
              <c:pt idx="21">
                <c:v>Oct-26</c:v>
              </c:pt>
            </c:strLit>
          </c:cat>
          <c:val>
            <c:numLit>
              <c:formatCode>#,##0</c:formatCode>
              <c:ptCount val="22"/>
              <c:pt idx="0">
                <c:v>3075</c:v>
              </c:pt>
              <c:pt idx="1">
                <c:v>3513</c:v>
              </c:pt>
              <c:pt idx="2">
                <c:v>3950</c:v>
              </c:pt>
              <c:pt idx="3">
                <c:v>3963</c:v>
              </c:pt>
              <c:pt idx="4">
                <c:v>4713</c:v>
              </c:pt>
              <c:pt idx="5">
                <c:v>4963</c:v>
              </c:pt>
              <c:pt idx="6">
                <c:v>5163</c:v>
              </c:pt>
              <c:pt idx="7">
                <c:v>5200</c:v>
              </c:pt>
              <c:pt idx="8">
                <c:v>6025</c:v>
              </c:pt>
              <c:pt idx="9">
                <c:v>6050</c:v>
              </c:pt>
              <c:pt idx="10">
                <c:v>7250</c:v>
              </c:pt>
              <c:pt idx="11">
                <c:v>6150</c:v>
              </c:pt>
              <c:pt idx="12">
                <c:v>6925</c:v>
              </c:pt>
              <c:pt idx="13">
                <c:v>5700</c:v>
              </c:pt>
              <c:pt idx="14">
                <c:v>5200</c:v>
              </c:pt>
              <c:pt idx="15">
                <c:v>4880</c:v>
              </c:pt>
              <c:pt idx="16">
                <c:v>4400</c:v>
              </c:pt>
              <c:pt idx="17">
                <c:v>5100</c:v>
              </c:pt>
              <c:pt idx="18">
                <c:v>4720</c:v>
              </c:pt>
              <c:pt idx="19">
                <c:v>3850</c:v>
              </c:pt>
              <c:pt idx="20">
                <c:v>4010</c:v>
              </c:pt>
              <c:pt idx="21">
                <c:v>4010</c:v>
              </c:pt>
            </c:numLit>
          </c:val>
        </c:ser>
        <c:ser>
          <c:idx val="1"/>
          <c:order val="1"/>
          <c:tx>
            <c:v>Full-history mean</c:v>
          </c:tx>
          <c:spPr>
            <a:ln xmlns:a="http://schemas.openxmlformats.org/drawingml/2006/main" w="19050">
              <a:solidFill>
                <a:srgbClr val="F36F2B"/>
              </a:solidFill>
              <a:prstDash val="dash"/>
            </a:ln>
          </c:spPr>
          <c:marker>
            <c:symbol val="none"/>
          </c:marker>
          <c:cat>
            <c:strLit>
              <c:ptCount val="22"/>
              <c:pt idx="0">
                <c:v>Sep-21</c:v>
              </c:pt>
              <c:pt idx="1">
                <c:v>Dec-21</c:v>
              </c:pt>
              <c:pt idx="2">
                <c:v>Mar-22</c:v>
              </c:pt>
              <c:pt idx="3">
                <c:v>Jun-22</c:v>
              </c:pt>
              <c:pt idx="4">
                <c:v>Sep-22</c:v>
              </c:pt>
              <c:pt idx="5">
                <c:v>Dec-22</c:v>
              </c:pt>
              <c:pt idx="6">
                <c:v>Mar-23</c:v>
              </c:pt>
              <c:pt idx="7">
                <c:v>Jun-23</c:v>
              </c:pt>
              <c:pt idx="8">
                <c:v>Sep-23</c:v>
              </c:pt>
              <c:pt idx="9">
                <c:v>Dec-23</c:v>
              </c:pt>
              <c:pt idx="10">
                <c:v>Mar-24</c:v>
              </c:pt>
              <c:pt idx="11">
                <c:v>Jun-24</c:v>
              </c:pt>
              <c:pt idx="12">
                <c:v>Sep-24</c:v>
              </c:pt>
              <c:pt idx="13">
                <c:v>Dec-24</c:v>
              </c:pt>
              <c:pt idx="14">
                <c:v>Mar-25</c:v>
              </c:pt>
              <c:pt idx="15">
                <c:v>Jun-25</c:v>
              </c:pt>
              <c:pt idx="16">
                <c:v>Sep-25</c:v>
              </c:pt>
              <c:pt idx="17">
                <c:v>Dec-25</c:v>
              </c:pt>
              <c:pt idx="18">
                <c:v>Mar-26</c:v>
              </c:pt>
              <c:pt idx="19">
                <c:v>Jun-26</c:v>
              </c:pt>
              <c:pt idx="20">
                <c:v>Sep-26</c:v>
              </c:pt>
              <c:pt idx="21">
                <c:v>Oct-26</c:v>
              </c:pt>
            </c:strLit>
          </c:cat>
          <c:val>
            <c:numLit>
              <c:formatCode>#,##0</c:formatCode>
              <c:ptCount val="22"/>
              <c:pt idx="0">
                <c:v>5074.976916735367</c:v>
              </c:pt>
              <c:pt idx="1">
                <c:v>5074.976916735367</c:v>
              </c:pt>
              <c:pt idx="2">
                <c:v>5074.976916735367</c:v>
              </c:pt>
              <c:pt idx="3">
                <c:v>5074.976916735367</c:v>
              </c:pt>
              <c:pt idx="4">
                <c:v>5074.976916735367</c:v>
              </c:pt>
              <c:pt idx="5">
                <c:v>5074.976916735367</c:v>
              </c:pt>
              <c:pt idx="6">
                <c:v>5074.976916735367</c:v>
              </c:pt>
              <c:pt idx="7">
                <c:v>5074.976916735367</c:v>
              </c:pt>
              <c:pt idx="8">
                <c:v>5074.976916735367</c:v>
              </c:pt>
              <c:pt idx="9">
                <c:v>5074.976916735367</c:v>
              </c:pt>
              <c:pt idx="10">
                <c:v>5074.976916735367</c:v>
              </c:pt>
              <c:pt idx="11">
                <c:v>5074.976916735367</c:v>
              </c:pt>
              <c:pt idx="12">
                <c:v>5074.976916735367</c:v>
              </c:pt>
              <c:pt idx="13">
                <c:v>5074.976916735367</c:v>
              </c:pt>
              <c:pt idx="14">
                <c:v>5074.976916735367</c:v>
              </c:pt>
              <c:pt idx="15">
                <c:v>5074.976916735367</c:v>
              </c:pt>
              <c:pt idx="16">
                <c:v>5074.976916735367</c:v>
              </c:pt>
              <c:pt idx="17">
                <c:v>5074.976916735367</c:v>
              </c:pt>
              <c:pt idx="18">
                <c:v>5074.976916735367</c:v>
              </c:pt>
              <c:pt idx="19">
                <c:v>5074.976916735367</c:v>
              </c:pt>
              <c:pt idx="20">
                <c:v>5074.976916735367</c:v>
              </c:pt>
              <c:pt idx="21">
                <c:v>5074.976916735367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8000"/>
          <c:min val="25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Price z-score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2"/>
              <c:pt idx="0">
                <c:v>Sep-21</c:v>
              </c:pt>
              <c:pt idx="1">
                <c:v>Dec-21</c:v>
              </c:pt>
              <c:pt idx="2">
                <c:v>Mar-22</c:v>
              </c:pt>
              <c:pt idx="3">
                <c:v>Jun-22</c:v>
              </c:pt>
              <c:pt idx="4">
                <c:v>Sep-22</c:v>
              </c:pt>
              <c:pt idx="5">
                <c:v>Dec-22</c:v>
              </c:pt>
              <c:pt idx="6">
                <c:v>Mar-23</c:v>
              </c:pt>
              <c:pt idx="7">
                <c:v>Jun-23</c:v>
              </c:pt>
              <c:pt idx="8">
                <c:v>Sep-23</c:v>
              </c:pt>
              <c:pt idx="9">
                <c:v>Dec-23</c:v>
              </c:pt>
              <c:pt idx="10">
                <c:v>Mar-24</c:v>
              </c:pt>
              <c:pt idx="11">
                <c:v>Jun-24</c:v>
              </c:pt>
              <c:pt idx="12">
                <c:v>Sep-24</c:v>
              </c:pt>
              <c:pt idx="13">
                <c:v>Dec-24</c:v>
              </c:pt>
              <c:pt idx="14">
                <c:v>Mar-25</c:v>
              </c:pt>
              <c:pt idx="15">
                <c:v>Jun-25</c:v>
              </c:pt>
              <c:pt idx="16">
                <c:v>Sep-25</c:v>
              </c:pt>
              <c:pt idx="17">
                <c:v>Dec-25</c:v>
              </c:pt>
              <c:pt idx="18">
                <c:v>Mar-26</c:v>
              </c:pt>
              <c:pt idx="19">
                <c:v>Jun-26</c:v>
              </c:pt>
              <c:pt idx="20">
                <c:v>Sep-26</c:v>
              </c:pt>
              <c:pt idx="21">
                <c:v>Oct-26</c:v>
              </c:pt>
            </c:strLit>
          </c:cat>
          <c:val>
            <c:numLit>
              <c:formatCode>0.0</c:formatCode>
              <c:ptCount val="22"/>
              <c:pt idx="0">
                <c:v>-1.9636473892863981</c:v>
              </c:pt>
              <c:pt idx="1">
                <c:v>-1.5336036476259307</c:v>
              </c:pt>
              <c:pt idx="2">
                <c:v>-1.1045417409920852</c:v>
              </c:pt>
              <c:pt idx="3">
                <c:v>-1.0917778856459983</c:v>
              </c:pt>
              <c:pt idx="4">
                <c:v>-0.3554016156794445</c:v>
              </c:pt>
              <c:pt idx="5">
                <c:v>-0.10994285902392659</c:v>
              </c:pt>
              <c:pt idx="6">
                <c:v>0.08642414630048777</c:v>
              </c:pt>
              <c:pt idx="7">
                <c:v>0.12275204228550442</c:v>
              </c:pt>
              <c:pt idx="8">
                <c:v>0.9327659392487136</c:v>
              </c:pt>
              <c:pt idx="9">
                <c:v>0.9573118149142654</c:v>
              </c:pt>
              <c:pt idx="10">
                <c:v>2.1355138468607517</c:v>
              </c:pt>
              <c:pt idx="11">
                <c:v>1.0554953175764725</c:v>
              </c:pt>
              <c:pt idx="12">
                <c:v>1.8164174632085783</c:v>
              </c:pt>
              <c:pt idx="13">
                <c:v>0.6136695555965404</c:v>
              </c:pt>
              <c:pt idx="14">
                <c:v>0.12275204228550442</c:v>
              </c:pt>
              <c:pt idx="15">
                <c:v>-0.19143516623355855</c:v>
              </c:pt>
              <c:pt idx="16">
                <c:v>-0.662715979012153</c:v>
              </c:pt>
              <c:pt idx="17">
                <c:v>0.024568539623297247</c:v>
              </c:pt>
              <c:pt idx="18">
                <c:v>-0.34852877049309</c:v>
              </c:pt>
              <c:pt idx="19">
                <c:v>-1.2027252436542926</c:v>
              </c:pt>
              <c:pt idx="20">
                <c:v>-1.045631639394761</c:v>
              </c:pt>
              <c:pt idx="21">
                <c:v>-1.045631639394761</c:v>
              </c:pt>
            </c:numLit>
          </c:val>
        </c:ser>
        <c:ser>
          <c:idx val="1"/>
          <c:order val="1"/>
          <c:tx>
            <c:v>+2σ</c:v>
          </c:tx>
          <c:spPr>
            <a:ln xmlns:a="http://schemas.openxmlformats.org/drawingml/2006/main" w="9525">
              <a:solidFill>
                <a:srgbClr val="F36F2B"/>
              </a:solidFill>
              <a:prstDash val="dash"/>
            </a:ln>
          </c:spPr>
          <c:marker>
            <c:symbol val="none"/>
          </c:marker>
          <c:cat>
            <c:strLit>
              <c:ptCount val="22"/>
              <c:pt idx="0">
                <c:v>Sep-21</c:v>
              </c:pt>
              <c:pt idx="1">
                <c:v>Dec-21</c:v>
              </c:pt>
              <c:pt idx="2">
                <c:v>Mar-22</c:v>
              </c:pt>
              <c:pt idx="3">
                <c:v>Jun-22</c:v>
              </c:pt>
              <c:pt idx="4">
                <c:v>Sep-22</c:v>
              </c:pt>
              <c:pt idx="5">
                <c:v>Dec-22</c:v>
              </c:pt>
              <c:pt idx="6">
                <c:v>Mar-23</c:v>
              </c:pt>
              <c:pt idx="7">
                <c:v>Jun-23</c:v>
              </c:pt>
              <c:pt idx="8">
                <c:v>Sep-23</c:v>
              </c:pt>
              <c:pt idx="9">
                <c:v>Dec-23</c:v>
              </c:pt>
              <c:pt idx="10">
                <c:v>Mar-24</c:v>
              </c:pt>
              <c:pt idx="11">
                <c:v>Jun-24</c:v>
              </c:pt>
              <c:pt idx="12">
                <c:v>Sep-24</c:v>
              </c:pt>
              <c:pt idx="13">
                <c:v>Dec-24</c:v>
              </c:pt>
              <c:pt idx="14">
                <c:v>Mar-25</c:v>
              </c:pt>
              <c:pt idx="15">
                <c:v>Jun-25</c:v>
              </c:pt>
              <c:pt idx="16">
                <c:v>Sep-25</c:v>
              </c:pt>
              <c:pt idx="17">
                <c:v>Dec-25</c:v>
              </c:pt>
              <c:pt idx="18">
                <c:v>Mar-26</c:v>
              </c:pt>
              <c:pt idx="19">
                <c:v>Jun-26</c:v>
              </c:pt>
              <c:pt idx="20">
                <c:v>Sep-26</c:v>
              </c:pt>
              <c:pt idx="21">
                <c:v>Oct-26</c:v>
              </c:pt>
            </c:strLit>
          </c:cat>
          <c:val>
            <c:numLit>
              <c:formatCode>0.0</c:formatCode>
              <c:ptCount val="22"/>
              <c:pt idx="0">
                <c:v>2</c:v>
              </c:pt>
              <c:pt idx="1">
                <c:v>2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  <c:pt idx="6">
                <c:v>2</c:v>
              </c:pt>
              <c:pt idx="7">
                <c:v>2</c:v>
              </c:pt>
              <c:pt idx="8">
                <c:v>2</c:v>
              </c:pt>
              <c:pt idx="9">
                <c:v>2</c:v>
              </c:pt>
              <c:pt idx="10">
                <c:v>2</c:v>
              </c:pt>
              <c:pt idx="11">
                <c:v>2</c:v>
              </c:pt>
              <c:pt idx="12">
                <c:v>2</c:v>
              </c:pt>
              <c:pt idx="13">
                <c:v>2</c:v>
              </c:pt>
              <c:pt idx="14">
                <c:v>2</c:v>
              </c:pt>
              <c:pt idx="15">
                <c:v>2</c:v>
              </c:pt>
              <c:pt idx="16">
                <c:v>2</c:v>
              </c:pt>
              <c:pt idx="17">
                <c:v>2</c:v>
              </c:pt>
              <c:pt idx="18">
                <c:v>2</c:v>
              </c:pt>
              <c:pt idx="19">
                <c:v>2</c:v>
              </c:pt>
              <c:pt idx="20">
                <c:v>2</c:v>
              </c:pt>
              <c:pt idx="21">
                <c:v>2</c:v>
              </c:pt>
            </c:numLit>
          </c:val>
        </c:ser>
        <c:ser>
          <c:idx val="2"/>
          <c:order val="2"/>
          <c:tx>
            <c:v>−2σ</c:v>
          </c:tx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Lit>
              <c:ptCount val="22"/>
              <c:pt idx="0">
                <c:v>Sep-21</c:v>
              </c:pt>
              <c:pt idx="1">
                <c:v>Dec-21</c:v>
              </c:pt>
              <c:pt idx="2">
                <c:v>Mar-22</c:v>
              </c:pt>
              <c:pt idx="3">
                <c:v>Jun-22</c:v>
              </c:pt>
              <c:pt idx="4">
                <c:v>Sep-22</c:v>
              </c:pt>
              <c:pt idx="5">
                <c:v>Dec-22</c:v>
              </c:pt>
              <c:pt idx="6">
                <c:v>Mar-23</c:v>
              </c:pt>
              <c:pt idx="7">
                <c:v>Jun-23</c:v>
              </c:pt>
              <c:pt idx="8">
                <c:v>Sep-23</c:v>
              </c:pt>
              <c:pt idx="9">
                <c:v>Dec-23</c:v>
              </c:pt>
              <c:pt idx="10">
                <c:v>Mar-24</c:v>
              </c:pt>
              <c:pt idx="11">
                <c:v>Jun-24</c:v>
              </c:pt>
              <c:pt idx="12">
                <c:v>Sep-24</c:v>
              </c:pt>
              <c:pt idx="13">
                <c:v>Dec-24</c:v>
              </c:pt>
              <c:pt idx="14">
                <c:v>Mar-25</c:v>
              </c:pt>
              <c:pt idx="15">
                <c:v>Jun-25</c:v>
              </c:pt>
              <c:pt idx="16">
                <c:v>Sep-25</c:v>
              </c:pt>
              <c:pt idx="17">
                <c:v>Dec-25</c:v>
              </c:pt>
              <c:pt idx="18">
                <c:v>Mar-26</c:v>
              </c:pt>
              <c:pt idx="19">
                <c:v>Jun-26</c:v>
              </c:pt>
              <c:pt idx="20">
                <c:v>Sep-26</c:v>
              </c:pt>
              <c:pt idx="21">
                <c:v>Oct-26</c:v>
              </c:pt>
            </c:strLit>
          </c:cat>
          <c:val>
            <c:numLit>
              <c:formatCode>0.0</c:formatCode>
              <c:ptCount val="22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-2</c:v>
              </c:pt>
              <c:pt idx="13">
                <c:v>-2</c:v>
              </c:pt>
              <c:pt idx="14">
                <c:v>-2</c:v>
              </c:pt>
              <c:pt idx="15">
                <c:v>-2</c:v>
              </c:pt>
              <c:pt idx="16">
                <c:v>-2</c:v>
              </c:pt>
              <c:pt idx="17">
                <c:v>-2</c:v>
              </c:pt>
              <c:pt idx="18">
                <c:v>-2</c:v>
              </c:pt>
              <c:pt idx="19">
                <c:v>-2</c:v>
              </c:pt>
              <c:pt idx="20">
                <c:v>-2</c:v>
              </c:pt>
              <c:pt idx="21">
                <c:v>-2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P/E z-score</c:v>
          </c:tx>
          <c:spPr>
            <a:ln xmlns:a="http://schemas.openxmlformats.org/drawingml/2006/main" w="28575">
              <a:solidFill>
                <a:srgbClr val="062B6F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Dec-21</c:v>
              </c:pt>
              <c:pt idx="1">
                <c:v>Mar-22</c:v>
              </c:pt>
              <c:pt idx="2">
                <c:v>Jun-22</c:v>
              </c:pt>
              <c:pt idx="3">
                <c:v>Sep-22</c:v>
              </c:pt>
              <c:pt idx="4">
                <c:v>Dec-22</c:v>
              </c:pt>
              <c:pt idx="5">
                <c:v>Mar-23</c:v>
              </c:pt>
              <c:pt idx="6">
                <c:v>Jun-23</c:v>
              </c:pt>
              <c:pt idx="7">
                <c:v>Sep-23</c:v>
              </c:pt>
              <c:pt idx="8">
                <c:v>Dec-23</c:v>
              </c:pt>
              <c:pt idx="9">
                <c:v>Mar-24</c:v>
              </c:pt>
              <c:pt idx="10">
                <c:v>Jun-24</c:v>
              </c:pt>
              <c:pt idx="11">
                <c:v>Sep-24</c:v>
              </c:pt>
              <c:pt idx="12">
                <c:v>Dec-24</c:v>
              </c:pt>
              <c:pt idx="13">
                <c:v>Mar-25</c:v>
              </c:pt>
              <c:pt idx="14">
                <c:v>Jun-25</c:v>
              </c:pt>
              <c:pt idx="15">
                <c:v>Sep-25</c:v>
              </c:pt>
              <c:pt idx="16">
                <c:v>Dec-25</c:v>
              </c:pt>
              <c:pt idx="17">
                <c:v>Mar-26</c:v>
              </c:pt>
              <c:pt idx="18">
                <c:v>Jun-26</c:v>
              </c:pt>
              <c:pt idx="19">
                <c:v>Sep-26</c:v>
              </c:pt>
              <c:pt idx="20">
                <c:v>Oct-26</c:v>
              </c:pt>
            </c:strLit>
          </c:cat>
          <c:val>
            <c:numLit>
              <c:formatCode>0.0</c:formatCode>
              <c:ptCount val="21"/>
              <c:pt idx="0">
                <c:v>-1.330221888936686</c:v>
              </c:pt>
              <c:pt idx="1">
                <c:v>-1.9090584324152795</c:v>
              </c:pt>
              <c:pt idx="2">
                <c:v>-0.009076314567248157</c:v>
              </c:pt>
              <c:pt idx="3">
                <c:v>1.1013028452140692</c:v>
              </c:pt>
              <c:pt idx="4">
                <c:v>1.0324182121535612</c:v>
              </c:pt>
              <c:pt idx="5">
                <c:v>0.04541451457016918</c:v>
              </c:pt>
              <c:pt idx="6">
                <c:v>0.10607411681748113</c:v>
              </c:pt>
              <c:pt idx="7">
                <c:v>1.4436697528133087</c:v>
              </c:pt>
              <c:pt idx="8">
                <c:v>0.1492555285867544</c:v>
              </c:pt>
              <c:pt idx="9">
                <c:v>1.4878792934342309</c:v>
              </c:pt>
              <c:pt idx="10">
                <c:v>0.2335620944220033</c:v>
              </c:pt>
              <c:pt idx="11">
                <c:v>1.3048723578406443</c:v>
              </c:pt>
              <c:pt idx="12">
                <c:v>-0.18797073475423762</c:v>
              </c:pt>
              <c:pt idx="13">
                <c:v>-0.28255858910598</c:v>
              </c:pt>
              <c:pt idx="14">
                <c:v>-0.5097750653204903</c:v>
              </c:pt>
              <c:pt idx="15">
                <c:v>-0.6352067852217131</c:v>
              </c:pt>
              <c:pt idx="16">
                <c:v>0.5502257807300084</c:v>
              </c:pt>
              <c:pt idx="17">
                <c:v>-0.3843433454192676</c:v>
              </c:pt>
              <c:pt idx="18">
                <c:v>-1.8998052727504349</c:v>
              </c:pt>
              <c:pt idx="19">
                <c:v>-1.5965072615138716</c:v>
              </c:pt>
              <c:pt idx="20">
                <c:v>-1.6407168021347944</c:v>
              </c:pt>
            </c:numLit>
          </c:val>
        </c:ser>
        <c:ser>
          <c:idx val="1"/>
          <c:order val="1"/>
          <c:tx>
            <c:v>P/BV z-score</c:v>
          </c:tx>
          <c:spPr>
            <a:ln xmlns:a="http://schemas.openxmlformats.org/drawingml/2006/main" w="28575">
              <a:solidFill>
                <a:srgbClr val="F36F2B"/>
              </a:solidFill>
              <a:prstDash val="solid"/>
            </a:ln>
          </c:spPr>
          <c:marker>
            <c:symbol val="none"/>
          </c:marker>
          <c:cat>
            <c:strLit>
              <c:ptCount val="21"/>
              <c:pt idx="0">
                <c:v>Dec-21</c:v>
              </c:pt>
              <c:pt idx="1">
                <c:v>Mar-22</c:v>
              </c:pt>
              <c:pt idx="2">
                <c:v>Jun-22</c:v>
              </c:pt>
              <c:pt idx="3">
                <c:v>Sep-22</c:v>
              </c:pt>
              <c:pt idx="4">
                <c:v>Dec-22</c:v>
              </c:pt>
              <c:pt idx="5">
                <c:v>Mar-23</c:v>
              </c:pt>
              <c:pt idx="6">
                <c:v>Jun-23</c:v>
              </c:pt>
              <c:pt idx="7">
                <c:v>Sep-23</c:v>
              </c:pt>
              <c:pt idx="8">
                <c:v>Dec-23</c:v>
              </c:pt>
              <c:pt idx="9">
                <c:v>Mar-24</c:v>
              </c:pt>
              <c:pt idx="10">
                <c:v>Jun-24</c:v>
              </c:pt>
              <c:pt idx="11">
                <c:v>Sep-24</c:v>
              </c:pt>
              <c:pt idx="12">
                <c:v>Dec-24</c:v>
              </c:pt>
              <c:pt idx="13">
                <c:v>Mar-25</c:v>
              </c:pt>
              <c:pt idx="14">
                <c:v>Jun-25</c:v>
              </c:pt>
              <c:pt idx="15">
                <c:v>Sep-25</c:v>
              </c:pt>
              <c:pt idx="16">
                <c:v>Dec-25</c:v>
              </c:pt>
              <c:pt idx="17">
                <c:v>Mar-26</c:v>
              </c:pt>
              <c:pt idx="18">
                <c:v>Jun-26</c:v>
              </c:pt>
              <c:pt idx="19">
                <c:v>Sep-26</c:v>
              </c:pt>
              <c:pt idx="20">
                <c:v>Oct-26</c:v>
              </c:pt>
            </c:strLit>
          </c:cat>
          <c:val>
            <c:numLit>
              <c:formatCode>0.0</c:formatCode>
              <c:ptCount val="21"/>
              <c:pt idx="0">
                <c:v>-0.9193510983686531</c:v>
              </c:pt>
              <c:pt idx="1">
                <c:v>-0.15271015040166838</c:v>
              </c:pt>
              <c:pt idx="2">
                <c:v>-0.3185135821247085</c:v>
              </c:pt>
              <c:pt idx="3">
                <c:v>0.3423010597425225</c:v>
              </c:pt>
              <c:pt idx="4">
                <c:v>0.19009244316075974</c:v>
              </c:pt>
              <c:pt idx="5">
                <c:v>0.7128264135930468</c:v>
              </c:pt>
              <c:pt idx="6">
                <c:v>0.4148067404960068</c:v>
              </c:pt>
              <c:pt idx="7">
                <c:v>0.9753929413216561</c:v>
              </c:pt>
              <c:pt idx="8">
                <c:v>0.584875212263369</c:v>
              </c:pt>
              <c:pt idx="9">
                <c:v>2.308751085178005</c:v>
              </c:pt>
              <c:pt idx="10">
                <c:v>0.830115014811918</c:v>
              </c:pt>
              <c:pt idx="11">
                <c:v>1.1459945430945597</c:v>
              </c:pt>
              <c:pt idx="12">
                <c:v>-0.18842986077286966</c:v>
              </c:pt>
              <c:pt idx="13">
                <c:v>-0.09539867480608341</c:v>
              </c:pt>
              <c:pt idx="14">
                <c:v>-0.6351928054156607</c:v>
              </c:pt>
              <c:pt idx="15">
                <c:v>-1.2984065323078233</c:v>
              </c:pt>
              <c:pt idx="16">
                <c:v>-0.8697700078534032</c:v>
              </c:pt>
              <c:pt idx="17">
                <c:v>-1.3381247177205773</c:v>
              </c:pt>
              <c:pt idx="18">
                <c:v>-1.83660127290078</c:v>
              </c:pt>
              <c:pt idx="19">
                <c:v>-1.6974543414547554</c:v>
              </c:pt>
              <c:pt idx="20">
                <c:v>-1.6974543414547554</c:v>
              </c:pt>
            </c:numLit>
          </c:val>
        </c:ser>
        <c:ser>
          <c:idx val="2"/>
          <c:order val="2"/>
          <c:tx>
            <c:v>−2σ</c:v>
          </c:tx>
          <c:spPr>
            <a:ln xmlns:a="http://schemas.openxmlformats.org/drawingml/2006/main" w="9525">
              <a:solidFill>
                <a:srgbClr val="A6A6A6"/>
              </a:solidFill>
              <a:prstDash val="dash"/>
            </a:ln>
          </c:spPr>
          <c:marker>
            <c:symbol val="none"/>
          </c:marker>
          <c:cat>
            <c:strLit>
              <c:ptCount val="21"/>
              <c:pt idx="0">
                <c:v>Dec-21</c:v>
              </c:pt>
              <c:pt idx="1">
                <c:v>Mar-22</c:v>
              </c:pt>
              <c:pt idx="2">
                <c:v>Jun-22</c:v>
              </c:pt>
              <c:pt idx="3">
                <c:v>Sep-22</c:v>
              </c:pt>
              <c:pt idx="4">
                <c:v>Dec-22</c:v>
              </c:pt>
              <c:pt idx="5">
                <c:v>Mar-23</c:v>
              </c:pt>
              <c:pt idx="6">
                <c:v>Jun-23</c:v>
              </c:pt>
              <c:pt idx="7">
                <c:v>Sep-23</c:v>
              </c:pt>
              <c:pt idx="8">
                <c:v>Dec-23</c:v>
              </c:pt>
              <c:pt idx="9">
                <c:v>Mar-24</c:v>
              </c:pt>
              <c:pt idx="10">
                <c:v>Jun-24</c:v>
              </c:pt>
              <c:pt idx="11">
                <c:v>Sep-24</c:v>
              </c:pt>
              <c:pt idx="12">
                <c:v>Dec-24</c:v>
              </c:pt>
              <c:pt idx="13">
                <c:v>Mar-25</c:v>
              </c:pt>
              <c:pt idx="14">
                <c:v>Jun-25</c:v>
              </c:pt>
              <c:pt idx="15">
                <c:v>Sep-25</c:v>
              </c:pt>
              <c:pt idx="16">
                <c:v>Dec-25</c:v>
              </c:pt>
              <c:pt idx="17">
                <c:v>Mar-26</c:v>
              </c:pt>
              <c:pt idx="18">
                <c:v>Jun-26</c:v>
              </c:pt>
              <c:pt idx="19">
                <c:v>Sep-26</c:v>
              </c:pt>
              <c:pt idx="20">
                <c:v>Oct-26</c:v>
              </c:pt>
            </c:strLit>
          </c:cat>
          <c:val>
            <c:numLit>
              <c:formatCode>0.0</c:formatCode>
              <c:ptCount val="21"/>
              <c:pt idx="0">
                <c:v>-2</c:v>
              </c:pt>
              <c:pt idx="1">
                <c:v>-2</c:v>
              </c:pt>
              <c:pt idx="2">
                <c:v>-2</c:v>
              </c:pt>
              <c:pt idx="3">
                <c:v>-2</c:v>
              </c:pt>
              <c:pt idx="4">
                <c:v>-2</c:v>
              </c:pt>
              <c:pt idx="5">
                <c:v>-2</c:v>
              </c:pt>
              <c:pt idx="6">
                <c:v>-2</c:v>
              </c:pt>
              <c:pt idx="7">
                <c:v>-2</c:v>
              </c:pt>
              <c:pt idx="8">
                <c:v>-2</c:v>
              </c:pt>
              <c:pt idx="9">
                <c:v>-2</c:v>
              </c:pt>
              <c:pt idx="10">
                <c:v>-2</c:v>
              </c:pt>
              <c:pt idx="11">
                <c:v>-2</c:v>
              </c:pt>
              <c:pt idx="12">
                <c:v>-2</c:v>
              </c:pt>
              <c:pt idx="13">
                <c:v>-2</c:v>
              </c:pt>
              <c:pt idx="14">
                <c:v>-2</c:v>
              </c:pt>
              <c:pt idx="15">
                <c:v>-2</c:v>
              </c:pt>
              <c:pt idx="16">
                <c:v>-2</c:v>
              </c:pt>
              <c:pt idx="17">
                <c:v>-2</c:v>
              </c:pt>
              <c:pt idx="18">
                <c:v>-2</c:v>
              </c:pt>
              <c:pt idx="19">
                <c:v>-2</c:v>
              </c:pt>
              <c:pt idx="20">
                <c:v>-2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Dividend yield</c:v>
          </c:tx>
          <c:spPr>
            <a:ln xmlns:a="http://schemas.openxmlformats.org/drawingml/2006/main" w="38100">
              <a:solidFill>
                <a:srgbClr val="F36F2B"/>
              </a:solidFill>
              <a:prstDash val="solid"/>
            </a:ln>
          </c:spPr>
          <c:marker>
            <c:symbol val="none"/>
          </c:marker>
          <c:cat>
            <c:strLit>
              <c:ptCount val="17"/>
              <c:pt idx="0">
                <c:v>Dec-22</c:v>
              </c:pt>
              <c:pt idx="1">
                <c:v>Mar-23</c:v>
              </c:pt>
              <c:pt idx="2">
                <c:v>Jun-23</c:v>
              </c:pt>
              <c:pt idx="3">
                <c:v>Sep-23</c:v>
              </c:pt>
              <c:pt idx="4">
                <c:v>Dec-23</c:v>
              </c:pt>
              <c:pt idx="5">
                <c:v>Mar-24</c:v>
              </c:pt>
              <c:pt idx="6">
                <c:v>Jun-24</c:v>
              </c:pt>
              <c:pt idx="7">
                <c:v>Sep-24</c:v>
              </c:pt>
              <c:pt idx="8">
                <c:v>Dec-24</c:v>
              </c:pt>
              <c:pt idx="9">
                <c:v>Mar-25</c:v>
              </c:pt>
              <c:pt idx="10">
                <c:v>Jun-25</c:v>
              </c:pt>
              <c:pt idx="11">
                <c:v>Sep-25</c:v>
              </c:pt>
              <c:pt idx="12">
                <c:v>Dec-25</c:v>
              </c:pt>
              <c:pt idx="13">
                <c:v>Mar-26</c:v>
              </c:pt>
              <c:pt idx="14">
                <c:v>Jun-26</c:v>
              </c:pt>
              <c:pt idx="15">
                <c:v>Sep-26</c:v>
              </c:pt>
              <c:pt idx="16">
                <c:v>Oct-26</c:v>
              </c:pt>
            </c:strLit>
          </c:cat>
          <c:val>
            <c:numLit>
              <c:formatCode>0.0%</c:formatCode>
              <c:ptCount val="17"/>
              <c:pt idx="0">
                <c:v>0.06</c:v>
              </c:pt>
              <c:pt idx="1">
                <c:v>0.06</c:v>
              </c:pt>
              <c:pt idx="2">
                <c:v>0.07</c:v>
              </c:pt>
              <c:pt idx="3">
                <c:v>0.06</c:v>
              </c:pt>
              <c:pt idx="4">
                <c:v>0.07</c:v>
              </c:pt>
              <c:pt idx="5">
                <c:v>0.06</c:v>
              </c:pt>
              <c:pt idx="6">
                <c:v>0.07</c:v>
              </c:pt>
              <c:pt idx="7">
                <c:v>0.06</c:v>
              </c:pt>
              <c:pt idx="8">
                <c:v>0.07</c:v>
              </c:pt>
              <c:pt idx="9">
                <c:v>0.08</c:v>
              </c:pt>
              <c:pt idx="10">
                <c:v>0.08</c:v>
              </c:pt>
              <c:pt idx="11">
                <c:v>0.09</c:v>
              </c:pt>
              <c:pt idx="12">
                <c:v>0.08</c:v>
              </c:pt>
              <c:pt idx="13">
                <c:v>0.09</c:v>
              </c:pt>
              <c:pt idx="14">
                <c:v>0.11</c:v>
              </c:pt>
              <c:pt idx="15">
                <c:v>0.11</c:v>
              </c:pt>
              <c:pt idx="16">
                <c:v>0.11</c:v>
              </c:pt>
            </c:numLit>
          </c:val>
        </c:ser>
        <c:ser>
          <c:idx val="1"/>
          <c:order val="1"/>
          <c:tx>
            <c:v>Historical average</c:v>
          </c:tx>
          <c:spPr>
            <a:ln xmlns:a="http://schemas.openxmlformats.org/drawingml/2006/main" w="19050">
              <a:solidFill>
                <a:srgbClr val="062B6F"/>
              </a:solidFill>
              <a:prstDash val="dash"/>
            </a:ln>
          </c:spPr>
          <c:marker>
            <c:symbol val="none"/>
          </c:marker>
          <c:cat>
            <c:strLit>
              <c:ptCount val="17"/>
              <c:pt idx="0">
                <c:v>Dec-22</c:v>
              </c:pt>
              <c:pt idx="1">
                <c:v>Mar-23</c:v>
              </c:pt>
              <c:pt idx="2">
                <c:v>Jun-23</c:v>
              </c:pt>
              <c:pt idx="3">
                <c:v>Sep-23</c:v>
              </c:pt>
              <c:pt idx="4">
                <c:v>Dec-23</c:v>
              </c:pt>
              <c:pt idx="5">
                <c:v>Mar-24</c:v>
              </c:pt>
              <c:pt idx="6">
                <c:v>Jun-24</c:v>
              </c:pt>
              <c:pt idx="7">
                <c:v>Sep-24</c:v>
              </c:pt>
              <c:pt idx="8">
                <c:v>Dec-24</c:v>
              </c:pt>
              <c:pt idx="9">
                <c:v>Mar-25</c:v>
              </c:pt>
              <c:pt idx="10">
                <c:v>Jun-25</c:v>
              </c:pt>
              <c:pt idx="11">
                <c:v>Sep-25</c:v>
              </c:pt>
              <c:pt idx="12">
                <c:v>Dec-25</c:v>
              </c:pt>
              <c:pt idx="13">
                <c:v>Mar-26</c:v>
              </c:pt>
              <c:pt idx="14">
                <c:v>Jun-26</c:v>
              </c:pt>
              <c:pt idx="15">
                <c:v>Sep-26</c:v>
              </c:pt>
              <c:pt idx="16">
                <c:v>Oct-26</c:v>
              </c:pt>
            </c:strLit>
          </c:cat>
          <c:val>
            <c:numLit>
              <c:formatCode>0.0%</c:formatCode>
              <c:ptCount val="17"/>
              <c:pt idx="0">
                <c:v>0.07515350877192983</c:v>
              </c:pt>
              <c:pt idx="1">
                <c:v>0.07515350877192983</c:v>
              </c:pt>
              <c:pt idx="2">
                <c:v>0.07515350877192983</c:v>
              </c:pt>
              <c:pt idx="3">
                <c:v>0.07515350877192983</c:v>
              </c:pt>
              <c:pt idx="4">
                <c:v>0.07515350877192983</c:v>
              </c:pt>
              <c:pt idx="5">
                <c:v>0.07515350877192983</c:v>
              </c:pt>
              <c:pt idx="6">
                <c:v>0.07515350877192983</c:v>
              </c:pt>
              <c:pt idx="7">
                <c:v>0.07515350877192983</c:v>
              </c:pt>
              <c:pt idx="8">
                <c:v>0.07515350877192983</c:v>
              </c:pt>
              <c:pt idx="9">
                <c:v>0.07515350877192983</c:v>
              </c:pt>
              <c:pt idx="10">
                <c:v>0.07515350877192983</c:v>
              </c:pt>
              <c:pt idx="11">
                <c:v>0.07515350877192983</c:v>
              </c:pt>
              <c:pt idx="12">
                <c:v>0.07515350877192983</c:v>
              </c:pt>
              <c:pt idx="13">
                <c:v>0.07515350877192983</c:v>
              </c:pt>
              <c:pt idx="14">
                <c:v>0.07515350877192983</c:v>
              </c:pt>
              <c:pt idx="15">
                <c:v>0.07515350877192983</c:v>
              </c:pt>
              <c:pt idx="16">
                <c:v>0.07515350877192983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0.13"/>
          <c:min val="0.0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D4D4D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30802-CCBC-47DA-8083-DDBD13E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4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BMRI Quantitative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D64A6-EB7C-4DCA-867A-9E2A350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Harga, valuasi, dan dividend yield berdasarkan z-score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AB6FE-F452-46C2-A5EB-8D9E5528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Data sampai 12 Oktober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A3446-3BF4-41AA-B3F4-0D5D37F2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319087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D14CE-F1D1-499D-935B-4CED77D0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954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BMRI PRICE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8477250" y="1714500"/>
          <a:ext xmlns:a="http://schemas.openxmlformats.org/drawingml/2006/main" cx="2714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ec4949557447c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D368-8D19-43E1-B74A-6BDA9DB0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Rp4,010</a:t>
            </a:r>
          </a:p>
        </p:txBody>
      </p:sp>
    </p:spTree>
    <p:extLst>
      <p:ext uri="{BB962C8B-B14F-4D97-AF65-F5344CB8AC3E}">
        <p14:creationId xmlns:p14="http://schemas.microsoft.com/office/powerpoint/2010/main" val="633578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14D39-5DBF-43A7-B79E-731889D5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VALUATION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67CAD-3126-4FEE-8FB1-47BBAA0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BMRI Trades Below Its Own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EE134-D220-4219-995F-1C312776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Price, P/E and P/BV sit below their historical norms, while dividend yield is unusually high.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CD8E4-40E6-49CF-892B-84C4749D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8D087-6D51-4725-991D-4C59F84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Z-SCORES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000125" y="1762125"/>
          <a:ext xmlns:a="http://schemas.openxmlformats.org/drawingml/2006/main" cx="10572750" cy="2238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a79db814b94a3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D67AD-19EB-4480-8926-A83AC4C6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52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E0855-D7BE-49C5-887F-366A6C67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LEVELS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3E53A-DEE7-4B37-8356-59CD3E3C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P/E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F7592-69D1-4974-AEB2-3F7C7A3A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6.50x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B6E59-AE46-494B-B6C7-D4C8475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05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mean 8.10x  |  percentile 6.5%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DD7FF-ED54-4462-B159-E02210BE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P/BV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C720D-21AC-4A43-AC3F-A4DADE8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1.31x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48438-CB9E-4EB1-AC33-6F318DF1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769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mean 1.95x  |  percentile 2.9%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D168F-8A08-454D-9904-5880685C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55626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04D8C-C5EF-4B2B-BE28-57A3770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5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13076-EA2D-493C-8960-E6B0AD8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00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1M return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3A847-9037-4FCE-98E3-09EF85F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9CFE3-B523-4EBD-9814-07818C2B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1Y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1D89D-1F3C-4C45-AC8B-D0978D6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57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-9.1%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9E458-9974-4582-96FC-D3BE99F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000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Drawdown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74403-F302-4074-ACCC-310D11E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2578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-46.2%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6E5E7-8307-4A41-BB6C-B632C7E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10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1Y annualised volatility: 32.8%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E1C0A-DF80-4C7F-AFE8-07D420E0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calculations use available observations from Sep 2021 to Oct 2026.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53A20-1E35-44F9-A460-0BE21F82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2</a:t>
            </a:r>
          </a:p>
        </p:txBody>
      </p:sp>
    </p:spTree>
    <p:extLst>
      <p:ext uri="{BB962C8B-B14F-4D97-AF65-F5344CB8AC3E}">
        <p14:creationId xmlns:p14="http://schemas.microsoft.com/office/powerpoint/2010/main" val="2001815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5DD7B-BD93-4F30-BB15-B23C48F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PRICE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1B7E0-A08C-40D5-86DF-0BF0A5C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Price Weakness Has Deepened the Discount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7FC11-36D2-460D-87C4-81417C8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The stock is 1.05 standard deviations below its full-history mean and 1.36 below its one-year mean.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D8913-9574-47C4-B072-68930524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C9310-717F-4E1C-A879-69759947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VS HISTORY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906125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259e8075834f9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CEAA1-82A6-4309-A8EA-E35EC307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143000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FA304-98B7-4AB6-95E0-718C6B84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PRICE Z-SCORE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4667250"/>
          <a:ext xmlns:a="http://schemas.openxmlformats.org/drawingml/2006/main" cx="10906125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65853f93a247a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FCD5C-2F4C-4C4E-AB0A-B0E9FB43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monthly chart uses the last available trading observation in each month.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8CDF0-12C6-4C88-8B04-7978FE1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3</a:t>
            </a:r>
          </a:p>
        </p:txBody>
      </p:sp>
    </p:spTree>
    <p:extLst>
      <p:ext uri="{BB962C8B-B14F-4D97-AF65-F5344CB8AC3E}">
        <p14:creationId xmlns:p14="http://schemas.microsoft.com/office/powerpoint/2010/main" val="1061655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533BA-B4E7-4CAE-8308-F47E0558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DBC23-B85F-4053-99A5-2D3E042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P/E and P/BV Are Near Their Historical 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6A90-1F19-494E-9058-F72A3E63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Both multiples show a material discount to BMRI’s own trading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F9D68-CD03-4929-BF17-C95EFCED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1430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ADDD6-111F-42AE-A9EE-75E9BC13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VALUATION Z-SCORES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906125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d924755d69479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A0442-56F3-4240-9478-A58CAD6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5476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1F2E4-5762-4ABE-8233-02C1A187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P/E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760F9-B440-4246-8459-4A051F7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6.50x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3F025-875B-485C-901C-E56FACEC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-1.64σ vs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AB7B2-43E7-4DF5-A78F-C1C3D65B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29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Only 6.5% of observations were this low or lower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1B80C-7E1F-4396-9E6E-AF8CDBA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86375"/>
            <a:ext cx="5476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1F76D-CE31-42D5-ACA3-AF8309CC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53025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P/BV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6947A-A213-4609-998C-C2C9766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54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25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1.31x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16E00-23CC-429A-B022-E2A2FE30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524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-1.70σ vs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E08776-6E0B-4888-A9B3-23D3AAB9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29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Only 2.9% of observations were this low or lower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85240-6AC1-4FB4-A753-EA475B95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P/E from Nov 2021 and P/BV from Oct 2021.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2D4E2-2627-4079-BEB3-5327D2C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4</a:t>
            </a:r>
          </a:p>
        </p:txBody>
      </p:sp>
    </p:spTree>
    <p:extLst>
      <p:ext uri="{BB962C8B-B14F-4D97-AF65-F5344CB8AC3E}">
        <p14:creationId xmlns:p14="http://schemas.microsoft.com/office/powerpoint/2010/main" val="18709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EFBE6-A4A3-4DDE-8BE9-49D4279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DIVIDEND AND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51B5B-27B9-4928-9321-8521BE31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30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Attractive Valuation, Weak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A9D87-9E36-4824-8C57-33894E8D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defRPr>
            </a:pPr>
            <a:r>
              <a:rPr sz="1500" b="1" i="1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The 11.0% estimated yield supports staged accumulation, subject to fundamentals and dividend sustainability.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A8616-F1ED-478A-9181-17C34F2D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2390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8B797-EB25-443E-AF73-1AA81CEE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DIVIDEND YIELD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6715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62912ac0c3405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F59BF-2F7A-49FD-8EF1-D2D372CA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848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49A50-8B8C-4F75-A612-DF6956D2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95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INVESTMENT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7C937-FACA-414C-BE40-8439512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F36F2B"/>
                </a:solidFill>
                <a:latin typeface="Calibri"/>
                <a:ea typeface="Calibri"/>
                <a:cs typeface="Calibri"/>
              </a:defRPr>
            </a:pPr>
            <a:r>
              <a:rPr sz="3450" b="1" i="0">
                <a:solidFill>
                  <a:srgbClr val="F36F2B"/>
                </a:solidFill>
                <a:latin typeface="Calibri"/>
                <a:ea typeface="Calibri"/>
                <a:cs typeface="Calibri"/>
              </a:rPr>
              <a:t>11.0%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5D2D8-982D-467B-8A5A-4AEDDAA7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current estimated dividend yield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E5E33-4280-4704-9F67-6E280F2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7.5%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0EED0-96B1-4492-8140-2AAE087E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historical average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95A36-8543-44B2-8859-5CEEFC55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146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+3.5pp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9FE1C-B1F3-43E3-BCAF-1998A6E0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yield premium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17617-C050-4EA5-89DE-1F047882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62B6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62B6F"/>
                </a:solidFill>
                <a:latin typeface="Calibri"/>
                <a:ea typeface="Calibri"/>
                <a:cs typeface="Calibri"/>
              </a:rPr>
              <a:t>Statistically attractive valuation and carry. Weak price momentum still raises the risk of entering too early.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7F06D-A951-4447-8B21-61D41506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Investment stance: staged accumulation after checking earnings, ROE, asset quality and dividend sustainability.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D254E-E359-455D-A7B8-B52E5A7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143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6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DD68C-17A5-4510-8F6B-84B5285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6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DIVIDEND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AB8499-4A39-4B51-884D-34C52DC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4D4D4D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4D4D4D"/>
                </a:solidFill>
                <a:latin typeface="Calibri"/>
                <a:ea typeface="Calibri"/>
                <a:cs typeface="Calibri"/>
              </a:rPr>
              <a:t>Average estimated yield is 7.5%. The dataset implies DPS of about Rp441, but this is an approximation and not cash dividend paid.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0261B-4D97-49D0-A568-5428900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750" b="0" i="1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Source: BMRI-2.xlsx; BEst dividend yield is an estimate and is reported as whole percentages in the source.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67B87-35B2-4252-8EA7-D5A857D3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F8C9A"/>
                </a:solidFill>
                <a:latin typeface="Calibri"/>
                <a:ea typeface="Calibri"/>
                <a:cs typeface="Calibri"/>
              </a:rPr>
              <a:t>| 5</a:t>
            </a:r>
          </a:p>
        </p:txBody>
      </p:sp>
    </p:spTree>
    <p:extLst>
      <p:ext uri="{BB962C8B-B14F-4D97-AF65-F5344CB8AC3E}">
        <p14:creationId xmlns:p14="http://schemas.microsoft.com/office/powerpoint/2010/main" val="1716310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2026-10-12T08:09:46.1940000Z</dcterms:created>
  <dcterms:modified xsi:type="dcterms:W3CDTF">2026-10-12T08:09:46.1940000Z</dcterms:modified>
</coreProperties>
</file>