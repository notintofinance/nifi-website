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c0a8c9b2b24298" /><Relationship Type="http://schemas.openxmlformats.org/officeDocument/2006/relationships/extended-properties" Target="/docProps/app.xml" Id="Ra34658d8655d469e" /><Relationship Type="http://schemas.openxmlformats.org/officeDocument/2006/relationships/officeDocument" Target="/ppt/presentation.xml" Id="Rb7a206eecebe4380" /></Relationships>
</file>

<file path=ppt/presentation.xml><?xml version="1.0" encoding="utf-8"?>
<p:presentation xmlns:p="http://schemas.openxmlformats.org/presentationml/2006/main">
  <p:sldMasterIdLst>
    <p:sldMasterId xmlns:r="http://schemas.openxmlformats.org/officeDocument/2006/relationships" id="2147483648" r:id="R57acbd998df048e4"/>
  </p:sldMasterIdLst>
  <p:notesMasterIdLst>
    <p:notesMasterId xmlns:r="http://schemas.openxmlformats.org/officeDocument/2006/relationships" r:id="R0df43466c4ad41bc"/>
  </p:notesMasterIdLst>
  <p:sldIdLst>
    <p:sldId xmlns:r="http://schemas.openxmlformats.org/officeDocument/2006/relationships" id="256" r:id="Ra1f9e1bf971b46d5"/>
    <p:sldId xmlns:r="http://schemas.openxmlformats.org/officeDocument/2006/relationships" id="257" r:id="R41746f1670ae4499"/>
    <p:sldId xmlns:r="http://schemas.openxmlformats.org/officeDocument/2006/relationships" id="258" r:id="R81e59d8e03bd409f"/>
    <p:sldId xmlns:r="http://schemas.openxmlformats.org/officeDocument/2006/relationships" id="259" r:id="R82dfedddc928405d"/>
    <p:sldId xmlns:r="http://schemas.openxmlformats.org/officeDocument/2006/relationships" id="260" r:id="Re22f15f7913b415c"/>
    <p:sldId xmlns:r="http://schemas.openxmlformats.org/officeDocument/2006/relationships" id="261" r:id="R3f08049c0c744efd"/>
    <p:sldId xmlns:r="http://schemas.openxmlformats.org/officeDocument/2006/relationships" id="262" r:id="R250c2bfaa7a84a23"/>
    <p:sldId xmlns:r="http://schemas.openxmlformats.org/officeDocument/2006/relationships" id="263" r:id="R1bb34eba52374266"/>
    <p:sldId xmlns:r="http://schemas.openxmlformats.org/officeDocument/2006/relationships" id="264" r:id="R6541d6a699ea4461"/>
    <p:sldId xmlns:r="http://schemas.openxmlformats.org/officeDocument/2006/relationships" id="265" r:id="R8173b14daf0c436d"/>
    <p:sldId xmlns:r="http://schemas.openxmlformats.org/officeDocument/2006/relationships" id="266" r:id="Ra2c52fa5ef4e4ddd"/>
    <p:sldId xmlns:r="http://schemas.openxmlformats.org/officeDocument/2006/relationships" id="267" r:id="R04f9be0ad0af4daa"/>
    <p:sldId xmlns:r="http://schemas.openxmlformats.org/officeDocument/2006/relationships" id="268" r:id="R684969de18c34697"/>
    <p:sldId xmlns:r="http://schemas.openxmlformats.org/officeDocument/2006/relationships" id="269" r:id="R71ffff2ed7904dd2"/>
    <p:sldId xmlns:r="http://schemas.openxmlformats.org/officeDocument/2006/relationships" id="270" r:id="Rb286752ca12d4090"/>
    <p:sldId xmlns:r="http://schemas.openxmlformats.org/officeDocument/2006/relationships" id="271" r:id="R4ba131cafb9f4fa9"/>
    <p:sldId xmlns:r="http://schemas.openxmlformats.org/officeDocument/2006/relationships" id="272" r:id="Red12d282ff474d69"/>
    <p:sldId xmlns:r="http://schemas.openxmlformats.org/officeDocument/2006/relationships" id="273" r:id="Reb755970760744bf"/>
    <p:sldId xmlns:r="http://schemas.openxmlformats.org/officeDocument/2006/relationships" id="274" r:id="R051f5a16b5584488"/>
    <p:sldId xmlns:r="http://schemas.openxmlformats.org/officeDocument/2006/relationships" id="275" r:id="R4261784348a546e1"/>
    <p:sldId xmlns:r="http://schemas.openxmlformats.org/officeDocument/2006/relationships" id="276" r:id="R4a352e49ed5444b1"/>
    <p:sldId xmlns:r="http://schemas.openxmlformats.org/officeDocument/2006/relationships" id="277" r:id="R8c4c6311878448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4949e403d94c3e" /><Relationship Type="http://schemas.openxmlformats.org/officeDocument/2006/relationships/slideMaster" Target="/ppt/slideMasters/slideMaster1.xml" Id="R57acbd998df048e4" /><Relationship Type="http://schemas.openxmlformats.org/officeDocument/2006/relationships/notesMaster" Target="/ppt/notesMasters/notesMaster1.xml" Id="R0df43466c4ad41bc" /><Relationship Type="http://schemas.openxmlformats.org/officeDocument/2006/relationships/presProps" Target="/ppt/presProps.xml" Id="R28d0ef1d4ccf4fb2" /><Relationship Type="http://schemas.openxmlformats.org/officeDocument/2006/relationships/tableStyles" Target="/ppt/tableStyles.xml" Id="R6b46549312254a27" /><Relationship Type="http://schemas.openxmlformats.org/officeDocument/2006/relationships/slide" Target="/ppt/slides/slide1.xml" Id="Ra1f9e1bf971b46d5" /><Relationship Type="http://schemas.openxmlformats.org/officeDocument/2006/relationships/slide" Target="/ppt/slides/slide2.xml" Id="R41746f1670ae4499" /><Relationship Type="http://schemas.openxmlformats.org/officeDocument/2006/relationships/slide" Target="/ppt/slides/slide3.xml" Id="R81e59d8e03bd409f" /><Relationship Type="http://schemas.openxmlformats.org/officeDocument/2006/relationships/slide" Target="/ppt/slides/slide4.xml" Id="R82dfedddc928405d" /><Relationship Type="http://schemas.openxmlformats.org/officeDocument/2006/relationships/slide" Target="/ppt/slides/slide5.xml" Id="Re22f15f7913b415c" /><Relationship Type="http://schemas.openxmlformats.org/officeDocument/2006/relationships/slide" Target="/ppt/slides/slide6.xml" Id="R3f08049c0c744efd" /><Relationship Type="http://schemas.openxmlformats.org/officeDocument/2006/relationships/slide" Target="/ppt/slides/slide7.xml" Id="R250c2bfaa7a84a23" /><Relationship Type="http://schemas.openxmlformats.org/officeDocument/2006/relationships/slide" Target="/ppt/slides/slide8.xml" Id="R1bb34eba52374266" /><Relationship Type="http://schemas.openxmlformats.org/officeDocument/2006/relationships/slide" Target="/ppt/slides/slide9.xml" Id="R6541d6a699ea4461" /><Relationship Type="http://schemas.openxmlformats.org/officeDocument/2006/relationships/slide" Target="/ppt/slides/slide10.xml" Id="R8173b14daf0c436d" /><Relationship Type="http://schemas.openxmlformats.org/officeDocument/2006/relationships/slide" Target="/ppt/slides/slide11.xml" Id="Ra2c52fa5ef4e4ddd" /><Relationship Type="http://schemas.openxmlformats.org/officeDocument/2006/relationships/slide" Target="/ppt/slides/slide12.xml" Id="R04f9be0ad0af4daa" /><Relationship Type="http://schemas.openxmlformats.org/officeDocument/2006/relationships/slide" Target="/ppt/slides/slide13.xml" Id="R684969de18c34697" /><Relationship Type="http://schemas.openxmlformats.org/officeDocument/2006/relationships/slide" Target="/ppt/slides/slide14.xml" Id="R71ffff2ed7904dd2" /><Relationship Type="http://schemas.openxmlformats.org/officeDocument/2006/relationships/slide" Target="/ppt/slides/slide15.xml" Id="Rb286752ca12d4090" /><Relationship Type="http://schemas.openxmlformats.org/officeDocument/2006/relationships/slide" Target="/ppt/slides/slide16.xml" Id="R4ba131cafb9f4fa9" /><Relationship Type="http://schemas.openxmlformats.org/officeDocument/2006/relationships/slide" Target="/ppt/slides/slide17.xml" Id="Red12d282ff474d69" /><Relationship Type="http://schemas.openxmlformats.org/officeDocument/2006/relationships/slide" Target="/ppt/slides/slide18.xml" Id="Reb755970760744bf" /><Relationship Type="http://schemas.openxmlformats.org/officeDocument/2006/relationships/slide" Target="/ppt/slides/slide19.xml" Id="R051f5a16b5584488" /><Relationship Type="http://schemas.openxmlformats.org/officeDocument/2006/relationships/slide" Target="/ppt/slides/slide20.xml" Id="R4261784348a546e1" /><Relationship Type="http://schemas.openxmlformats.org/officeDocument/2006/relationships/slide" Target="/ppt/slides/slide21.xml" Id="R4a352e49ed5444b1" /><Relationship Type="http://schemas.openxmlformats.org/officeDocument/2006/relationships/slide" Target="/ppt/slides/slide22.xml" Id="R8c4c6311878448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7d55cbb13a48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3ccd2fddfc44b5" /><Relationship Type="http://schemas.openxmlformats.org/officeDocument/2006/relationships/notesMaster" Target="/ppt/notesMasters/notesMaster1.xml" Id="R5b5c96d136fb4e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1235350d3f4994" /><Relationship Type="http://schemas.openxmlformats.org/officeDocument/2006/relationships/notesMaster" Target="/ppt/notesMasters/notesMaster1.xml" Id="R827cadb866d641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da5bb8e2334159" /><Relationship Type="http://schemas.openxmlformats.org/officeDocument/2006/relationships/notesMaster" Target="/ppt/notesMasters/notesMaster1.xml" Id="R3cdb7e0377a94c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3d92ca19b643db" /><Relationship Type="http://schemas.openxmlformats.org/officeDocument/2006/relationships/notesMaster" Target="/ppt/notesMasters/notesMaster1.xml" Id="Rec56b0a875844d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db8232eec4472e" /><Relationship Type="http://schemas.openxmlformats.org/officeDocument/2006/relationships/notesMaster" Target="/ppt/notesMasters/notesMaster1.xml" Id="R0e5b6b18d50a43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c9cb4565b04dca" /><Relationship Type="http://schemas.openxmlformats.org/officeDocument/2006/relationships/notesMaster" Target="/ppt/notesMasters/notesMaster1.xml" Id="R9f62f42b0f454e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aa4072c9ed4078" /><Relationship Type="http://schemas.openxmlformats.org/officeDocument/2006/relationships/notesMaster" Target="/ppt/notesMasters/notesMaster1.xml" Id="Rab415abba09f4a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d233d21ab74ab5" /><Relationship Type="http://schemas.openxmlformats.org/officeDocument/2006/relationships/notesMaster" Target="/ppt/notesMasters/notesMaster1.xml" Id="Reae50b4c1d774f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e726628ef544a3" /><Relationship Type="http://schemas.openxmlformats.org/officeDocument/2006/relationships/notesMaster" Target="/ppt/notesMasters/notesMaster1.xml" Id="Rbee65181fecc43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119070c7b64064" /><Relationship Type="http://schemas.openxmlformats.org/officeDocument/2006/relationships/notesMaster" Target="/ppt/notesMasters/notesMaster1.xml" Id="Rd6c0421137754d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05c9d1424c4467" /><Relationship Type="http://schemas.openxmlformats.org/officeDocument/2006/relationships/notesMaster" Target="/ppt/notesMasters/notesMaster1.xml" Id="Re2063c0e62d84c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c498f0b4794e0e" /><Relationship Type="http://schemas.openxmlformats.org/officeDocument/2006/relationships/notesMaster" Target="/ppt/notesMasters/notesMaster1.xml" Id="R83608aa406e24c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be7afab0ab4bf9" /><Relationship Type="http://schemas.openxmlformats.org/officeDocument/2006/relationships/notesMaster" Target="/ppt/notesMasters/notesMaster1.xml" Id="R7837996049c743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f0c46a75894199" /><Relationship Type="http://schemas.openxmlformats.org/officeDocument/2006/relationships/notesMaster" Target="/ppt/notesMasters/notesMaster1.xml" Id="R8abab2d4381d43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a0a6b12cb44986" /><Relationship Type="http://schemas.openxmlformats.org/officeDocument/2006/relationships/notesMaster" Target="/ppt/notesMasters/notesMaster1.xml" Id="Rd1f19185de5c48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bdaa90409a486e" /><Relationship Type="http://schemas.openxmlformats.org/officeDocument/2006/relationships/notesMaster" Target="/ppt/notesMasters/notesMaster1.xml" Id="R5770b2f045e048f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a42e15598c48fc" /><Relationship Type="http://schemas.openxmlformats.org/officeDocument/2006/relationships/notesMaster" Target="/ppt/notesMasters/notesMaster1.xml" Id="Ra17debc9427f467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6e3ae150654edc" /><Relationship Type="http://schemas.openxmlformats.org/officeDocument/2006/relationships/notesMaster" Target="/ppt/notesMasters/notesMaster1.xml" Id="Re091cd5f5cc548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49eb05ed0b446e" /><Relationship Type="http://schemas.openxmlformats.org/officeDocument/2006/relationships/notesMaster" Target="/ppt/notesMasters/notesMaster1.xml" Id="R22797c0a12414ee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26ac613a8b6402a" /><Relationship Type="http://schemas.openxmlformats.org/officeDocument/2006/relationships/notesMaster" Target="/ppt/notesMasters/notesMaster1.xml" Id="Rbb5e8f240e654e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b116c661ff4a75" /><Relationship Type="http://schemas.openxmlformats.org/officeDocument/2006/relationships/notesMaster" Target="/ppt/notesMasters/notesMaster1.xml" Id="R5b762972f51f44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de239039e84b08" /><Relationship Type="http://schemas.openxmlformats.org/officeDocument/2006/relationships/notesMaster" Target="/ppt/notesMasters/notesMaster1.xml" Id="R6ec2fd14c7d047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Pertanyaan utama: value apa yang ditambah ke CMC agar pricing berikutnya layak dan economics tetap menarik. Founder Live: 8 sesi dalam satu bulan, usulan Selasa/Kamis 3–26 November 2026. Dinner adalah paid add-on, maksimum 20 peserta, usulan Rp1,5 jt member/Rp3 jt public. Pricing membership saat ini Rp1,5 jt termasuk Founder Live batch pertama; Rp2,5 jt dan ~Rp5 jt adalah usulan yang menunggu hasil pilot. PERHITUNGAN TERBARU, 1 BULAN / 8 SESI</a:t>
            </a:r>
          </a:p>
          <a:p xmlns:a="http://schemas.openxmlformats.org/drawingml/2006/main">
            <a:r>
              <a:t>Budget internal speaker: optimis 8×Rp3.000.000=Rp24.000.000; base 8×Rp4.000.000=Rp32.000.000; pesimis 8×Rp5.000.000=Rp40.000.000. Bukan quotation atau market benchmark.</a:t>
            </a:r>
          </a:p>
          <a:p xmlns:a="http://schemas.openxmlformats.org/drawingml/2006/main">
            <a:r>
              <a:t>Subscribe Pro+Large Meeting 1.000: Rp271.840 + Rp2.383.999 = Rp2,655,839/bulan. Ini acuan checkout sebelumnya yang disimpan dalam deck, bukan verifikasi tarif baru. Seluruh kelas harus tercakup dalam satu siklus.</a:t>
            </a:r>
          </a:p>
          <a:p xmlns:a="http://schemas.openxmlformats.org/drawingml/2006/main">
            <a:r>
              <a:t>Sewa 1.000: Rp350.000/sesi ×8 = Rp2,800,000; angka pengguna sebagai asumsi, bukan quotation vendor.</a:t>
            </a:r>
          </a:p>
          <a:p xmlns:a="http://schemas.openxmlformats.org/drawingml/2006/main">
            <a:r>
              <a:t>Selisih: Rp144,161; subscribe sekitar 5.15% lebih murah dari sewa menurut acuan tersebut.</a:t>
            </a:r>
          </a:p>
          <a:p xmlns:a="http://schemas.openxmlformats.org/drawingml/2006/main">
            <a:r>
              <a:t>Total subscribe optimis/base/pesimis: Rp26.655.839 / Rp34.655.839 / Rp42.655.839. Total rental: Rp26.800.000 / Rp34.800.000 / Rp42.800.000. Pilih salah satu, tidak dijumlahkan.</a:t>
            </a:r>
          </a:p>
          <a:p xmlns:a="http://schemas.openxmlformats.org/drawingml/2006/main">
            <a:r>
              <a:t>Sebelum pajak/gross-up jika fee disepakati nett. Belum mengklaim ceiling termasuk seluruh kewajiban pajak. Actual quote dan Finance menentukan final.</a:t>
            </a:r>
          </a:p>
          <a:p xmlns:a="http://schemas.openxmlformats.org/drawingml/2006/main">
            <a:r>
              <a:t>Cost per peserta unik batch, bukan CAC dan bukan akumulasi absensi delapan sesi:</a:t>
            </a:r>
          </a:p>
          <a:p xmlns:a="http://schemas.openxmlformats.org/drawingml/2006/main">
            <a:r>
              <a:t>500 peserta, subscribe optimis/base/pesimis = Rp53,312 / Rp69,312 / Rp85,312; rental = Rp53,600 / Rp69,600 / Rp85,600.</a:t>
            </a:r>
          </a:p>
          <a:p xmlns:a="http://schemas.openxmlformats.org/drawingml/2006/main">
            <a:r>
              <a:t>750 peserta, subscribe optimis/base/pesimis = Rp35,541 / Rp46,208 / Rp56,874; rental = Rp35,733 / Rp46,400 / Rp57,067.</a:t>
            </a:r>
          </a:p>
          <a:p xmlns:a="http://schemas.openxmlformats.org/drawingml/2006/main">
            <a:r>
              <a:t>1000 peserta, subscribe optimis/base/pesimis = Rp26,656 / Rp34,656 / Rp42,656; rental = Rp26,800 / Rp34,800 / Rp42,800.</a:t>
            </a:r>
          </a:p>
          <a:p xmlns:a="http://schemas.openxmlformats.org/drawingml/2006/main">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membandingkan harga program, bukan kualitas yang dianggap setara. CMC Rp1,5 jt, Sevenpreneur Regular Rp1,499 jt dan Aksoro Online Rp3,3 jt adalah live online. VIP Sevenpreneur Rp4,999 jt termasuk pengalaman offline. Aksoro Offline Rp9,3 jt. Asian Tiger Rp7–10,6 jt tidak dipakai sebagai bukti utama karena verifikasi lebih lemah. Angka benchmark diwarisi dari riset deck sebelumnya, 2–3 Oktober 2026. Sumber: https://sevenpreneur.com/ ; https://aksoro.co.id/ ; https://info.aksoro.co.id/ . Current membership CMC termasuk Founder Live batch pertama. Upside berikutnya berasal dari community, offline access dan credential, bukan klaim CMC universally underpriced.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Arsitektur harga. CURRENT Rp1,5 jt (INTERNAL): 8 tema / 23 modul rekaman 12 Master, video modul teknis, handbook, quiz, tools 100+ template, AI assistant, Entrepreneur DNA, dan Founder Live batch pertama (8 sesi, 3–26 Nov 2026, Selasa/Kamis (usulan)). Karena Founder Live sudah ada di harga sekarang, kenaikan ke Rp2,5 jt tidak bisa dijustifikasi dengan Founder Live. MEMBERSHIP+ Rp2,5 jt (USULAN): community dan CMC Connect aktif, offline gathering antar member, alumni dan network, priority access + member price untuk Intimate Dinner. Dinner tetap add-on berbayar, bukan termasuk. PREMIUM ~Rp5 jt (USULAN): sertifikasi kompetensi lewat LSP mitra (benchmark ~Rp1,7 jt per peserta, skema kewirausahaan; tier mendekati Rp5,2 jt), akses ekosistem Kadin (bisa dikonversi jadi penjualan KTA), dan premium member privileges termasuk priority access ke sesi offline berbayar. Kerangka WATCH / ASK / SIT WITH tetap berguna untuk menjelaskan kedekatan akses (rekaman, Founder Live ≤1.000 live, Intimate Dinner 20 kursi), tapi bukan struktur tier harga.</a:t>
            </a:r>
          </a:p>
          <a:p xmlns:a="http://schemas.openxmlformats.org/drawingml/2006/main">
            <a:r>
              <a:t/>
            </a:r>
          </a:p>
          <a:p xmlns:a="http://schemas.openxmlformats.org/drawingml/2006/main">
            <a:r>
              <a:t>Dinner tidak gratis di semua tier. Hak prioritas/member pricing berbeda dari seat dinner. Jadwal dan speaker mengacu pada kalender November terbaru di deck 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Topik dan poin pembahasan mengikuti PDF terbaru.</a:t>
            </a:r>
          </a:p>
          <a:p xmlns:a="http://schemas.openxmlformats.org/drawingml/2006/main">
            <a:r>
              <a:t>Sumber: /Users/agatbe/Library/Containers/net.whatsapp.WhatsApp/Data/tmp/documents/1F160F60-E831-4573-AEC2-7B56142FBECC/CEO Masterclass - Live Topic.pdf</a:t>
            </a:r>
          </a:p>
          <a:p xmlns:a="http://schemas.openxmlformats.org/drawingml/2006/main">
            <a:r>
              <a:t/>
            </a:r>
          </a:p>
          <a:p xmlns:a="http://schemas.openxmlformats.org/drawingml/2006/main">
            <a:r>
              <a:t>CEO Masterclass | Founder Live </a:t>
            </a:r>
          </a:p>
          <a:p xmlns:a="http://schemas.openxmlformats.org/drawingml/2006/main">
            <a:r>
              <a:t>Founder Live - 8 Topik Utama </a:t>
            </a:r>
          </a:p>
          <a:p xmlns:a="http://schemas.openxmlformats.org/drawingml/2006/main">
            <a:r>
              <a:t>Mengacu pada 8 modul utama CEO Masterclass </a:t>
            </a:r>
          </a:p>
          <a:p xmlns:a="http://schemas.openxmlformats.org/drawingml/2006/main">
            <a:r>
              <a:t>1. Kapan Harus Bertahan, Kapan Harus Berubah Arah? </a:t>
            </a:r>
          </a:p>
          <a:p xmlns:a="http://schemas.openxmlformats.org/drawingml/2006/main">
            <a:r>
              <a:t>Modul 1 - Entrepreneurship Mentality </a:t>
            </a:r>
          </a:p>
          <a:p xmlns:a="http://schemas.openxmlformats.org/drawingml/2006/main">
            <a:r>
              <a:t>• Tanda bisnis perlu pivot </a:t>
            </a:r>
          </a:p>
          <a:p xmlns:a="http://schemas.openxmlformats.org/drawingml/2006/main">
            <a:r>
              <a:t>• Conviction vs keras kepala </a:t>
            </a:r>
          </a:p>
          <a:p xmlns:a="http://schemas.openxmlformats.org/drawingml/2006/main">
            <a:r>
              <a:t>• Belajar dari keputusan yang salah </a:t>
            </a:r>
          </a:p>
          <a:p xmlns:a="http://schemas.openxmlformats.org/drawingml/2006/main">
            <a:r>
              <a:t> </a:t>
            </a:r>
          </a:p>
          <a:p xmlns:a="http://schemas.openxmlformats.org/drawingml/2006/main">
            <a:r>
              <a:t>2. Masalah Mana yang Harus Diselesaikan Dulu? </a:t>
            </a:r>
          </a:p>
          <a:p xmlns:a="http://schemas.openxmlformats.org/drawingml/2006/main">
            <a:r>
              <a:t>Modul 2 - Problem Solving </a:t>
            </a:r>
          </a:p>
          <a:p xmlns:a="http://schemas.openxmlformats.org/drawingml/2006/main">
            <a:r>
              <a:t>• Cari root problem </a:t>
            </a:r>
          </a:p>
          <a:p xmlns:a="http://schemas.openxmlformats.org/drawingml/2006/main">
            <a:r>
              <a:t>• Tentukan prioritas </a:t>
            </a:r>
          </a:p>
          <a:p xmlns:a="http://schemas.openxmlformats.org/drawingml/2006/main">
            <a:r>
              <a:t>• Putuskan dengan data terbatas </a:t>
            </a:r>
          </a:p>
          <a:p xmlns:a="http://schemas.openxmlformats.org/drawingml/2006/main">
            <a:r>
              <a:t> </a:t>
            </a:r>
          </a:p>
          <a:p xmlns:a="http://schemas.openxmlformats.org/drawingml/2006/main">
            <a:r>
              <a:t>3. Kapan Harus Mulai Bangun Team? </a:t>
            </a:r>
          </a:p>
          <a:p xmlns:a="http://schemas.openxmlformats.org/drawingml/2006/main">
            <a:r>
              <a:t>Modul 3 - Team &amp; Networking Formation </a:t>
            </a:r>
          </a:p>
          <a:p xmlns:a="http://schemas.openxmlformats.org/drawingml/2006/main">
            <a:r>
              <a:t>• Siapa yang direkrut dulu </a:t>
            </a:r>
          </a:p>
          <a:p xmlns:a="http://schemas.openxmlformats.org/drawingml/2006/main">
            <a:r>
              <a:t>• Skill vs trust </a:t>
            </a:r>
          </a:p>
          <a:p xmlns:a="http://schemas.openxmlformats.org/drawingml/2006/main">
            <a:r>
              <a:t>• Kapan founder mulai delegasi </a:t>
            </a:r>
          </a:p>
          <a:p xmlns:a="http://schemas.openxmlformats.org/drawingml/2006/main">
            <a:r>
              <a:t> </a:t>
            </a:r>
          </a:p>
          <a:p xmlns:a="http://schemas.openxmlformats.org/drawingml/2006/main">
            <a:r>
              <a:t>4. Apa yang Bikin Produk Benar-Benar Layak Dijual? </a:t>
            </a:r>
          </a:p>
          <a:p xmlns:a="http://schemas.openxmlformats.org/drawingml/2006/main">
            <a:r>
              <a:t>Modul 4 - Minimum Sellable Product </a:t>
            </a:r>
          </a:p>
          <a:p xmlns:a="http://schemas.openxmlformats.org/drawingml/2006/main">
            <a:r>
              <a:t>• Customer problem yang nyata </a:t>
            </a:r>
          </a:p>
          <a:p xmlns:a="http://schemas.openxmlformats.org/drawingml/2006/main">
            <a:r>
              <a:t>• Minimum value sebelum launch </a:t>
            </a:r>
          </a:p>
          <a:p xmlns:a="http://schemas.openxmlformats.org/drawingml/2006/main">
            <a:r>
              <a:t>• Value proposition yang jelas </a:t>
            </a:r>
          </a:p>
          <a:p xmlns:a="http://schemas.openxmlformats.org/drawingml/2006/main">
            <a:r>
              <a:t> </a:t>
            </a:r>
          </a:p>
          <a:p xmlns:a="http://schemas.openxmlformats.org/drawingml/2006/main">
            <a:r>
              <a:t>5. Gimana Menemukan Cara Jual yang Efektif? </a:t>
            </a:r>
          </a:p>
          <a:p xmlns:a="http://schemas.openxmlformats.org/drawingml/2006/main">
            <a:r>
              <a:t>Modul 5 - Go-To-Market </a:t>
            </a:r>
          </a:p>
          <a:p xmlns:a="http://schemas.openxmlformats.org/drawingml/2006/main">
            <a:r>
              <a:t>• Pilih channel yang tepat </a:t>
            </a:r>
          </a:p>
          <a:p xmlns:a="http://schemas.openxmlformats.org/drawingml/2006/main">
            <a:r>
              <a:t>• Uji pricing dan sales approach </a:t>
            </a:r>
          </a:p>
          <a:p xmlns:a="http://schemas.openxmlformats.org/drawingml/2006/main">
            <a:r>
              <a:t>• Bikin sales lebih repeatable </a:t>
            </a:r>
          </a:p>
          <a:p xmlns:a="http://schemas.openxmlformats.org/drawingml/2006/main">
            <a:r>
              <a:t> </a:t>
            </a:r>
          </a:p>
          <a:p xmlns:a="http://schemas.openxmlformats.org/drawingml/2006/main">
            <a:r>
              <a:t>6. Kapan Bisnis Harus Mulai Dibikin Lebih Rapi? </a:t>
            </a:r>
          </a:p>
          <a:p xmlns:a="http://schemas.openxmlformats.org/drawingml/2006/main">
            <a:r>
              <a:t>Modul 6 - Operational &amp; Legal </a:t>
            </a:r>
          </a:p>
          <a:p xmlns:a="http://schemas.openxmlformats.org/drawingml/2006/main">
            <a:r>
              <a:t>• SOP dan proses utama </a:t>
            </a:r>
          </a:p>
          <a:p xmlns:a="http://schemas.openxmlformats.org/drawingml/2006/main">
            <a:r>
              <a:t>• Legalitas dan kontrak </a:t>
            </a:r>
          </a:p>
          <a:p xmlns:a="http://schemas.openxmlformats.org/drawingml/2006/main">
            <a:r>
              <a:t>• Kurangi bottleneck operasional </a:t>
            </a:r>
          </a:p>
          <a:p xmlns:a="http://schemas.openxmlformats.org/drawingml/2006/main">
            <a:r>
              <a:t> </a:t>
            </a:r>
          </a:p>
          <a:p xmlns:a="http://schemas.openxmlformats.org/drawingml/2006/main">
            <a:r>
              <a:t/>
            </a:r>
          </a:p>
          <a:p xmlns:a="http://schemas.openxmlformats.org/drawingml/2006/main">
            <a:r>
              <a:t>CEO Masterclass | Founder Live </a:t>
            </a:r>
          </a:p>
          <a:p xmlns:a="http://schemas.openxmlformats.org/drawingml/2006/main">
            <a:r>
              <a:t>7. Bisnis Untung, Tapi Kenapa Cash Liquid Nggak Ada? </a:t>
            </a:r>
          </a:p>
          <a:p xmlns:a="http://schemas.openxmlformats.org/drawingml/2006/main">
            <a:r>
              <a:t>Modul 7 - Finance &amp; Tax </a:t>
            </a:r>
          </a:p>
          <a:p xmlns:a="http://schemas.openxmlformats.org/drawingml/2006/main">
            <a:r>
              <a:t>• Profit vs cash flow </a:t>
            </a:r>
          </a:p>
          <a:p xmlns:a="http://schemas.openxmlformats.org/drawingml/2006/main">
            <a:r>
              <a:t>• Working capital </a:t>
            </a:r>
          </a:p>
          <a:p xmlns:a="http://schemas.openxmlformats.org/drawingml/2006/main">
            <a:r>
              <a:t>• Angka yang wajib dipantau </a:t>
            </a:r>
          </a:p>
          <a:p xmlns:a="http://schemas.openxmlformats.org/drawingml/2006/main">
            <a:r>
              <a:t> </a:t>
            </a:r>
          </a:p>
          <a:p xmlns:a="http://schemas.openxmlformats.org/drawingml/2006/main">
            <a:r>
              <a:t>8. Kapan Bisnis Sudah Siap untuk Scale dan Cari Modal? </a:t>
            </a:r>
          </a:p>
          <a:p xmlns:a="http://schemas.openxmlformats.org/drawingml/2006/main">
            <a:r>
              <a:t>Modul 8 - Scale Up &amp; Fundraising </a:t>
            </a:r>
          </a:p>
          <a:p xmlns:a="http://schemas.openxmlformats.org/drawingml/2006/main">
            <a:r>
              <a:t>• Cek kesiapan sebelum scale </a:t>
            </a:r>
          </a:p>
          <a:p xmlns:a="http://schemas.openxmlformats.org/drawingml/2006/main">
            <a:r>
              <a:t>• Bootstrap vs external capital </a:t>
            </a:r>
          </a:p>
          <a:p xmlns:a="http://schemas.openxmlformats.org/drawingml/2006/main">
            <a:r>
              <a:t>• Investor readiness </a:t>
            </a:r>
          </a:p>
          <a:p xmlns:a="http://schemas.openxmlformats.org/drawingml/2006/main">
            <a:r>
              <a:t/>
            </a:r>
          </a:p>
          <a:p xmlns:a="http://schemas.openxmlformats.org/drawingml/2006/main">
            <a:r>
              <a:t>Format internal: 90 menit, 5 pembukaan + 20 cerita speaker + 60 tanya jawab/bedah kasus + 5 penutup. Usulan jadwal: Selasa dan Kamis, 3–26 November 2026, 19.00–20.30 WIB. Delapan sesi selesai dalam empat minggu; tanggal dan jam menunggu konfirmasi. Speaker dicocokkan dengan topik, bukan sebaliknya.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RISET SPEAKER, diakses 6 Oktober 2026. Semua penempatan di bawah adalah rekomendasi, bukan bukti booking, kesediaan, fee atau ketersediaan tanggal. Jabatan berdasarkan sumber yang disebut, dapat berubah. Tidak menggunakan ukuran popularitas sebagai pengganti kecocokan case.</a:t>
            </a:r>
          </a:p>
          <a:p xmlns:a="http://schemas.openxmlformats.org/drawingml/2006/main">
            <a:r>
              <a:t/>
            </a:r>
          </a:p>
          <a:p xmlns:a="http://schemas.openxmlformats.org/drawingml/2006/main">
            <a:r>
              <a:t>Yukka Harlanda — Utama 3 Nov / Mindset</a:t>
            </a:r>
          </a:p>
          <a:p xmlns:a="http://schemas.openxmlformats.org/drawingml/2006/main">
            <a:r>
              <a:t>Brodo; co-founder, profil Endeavor. Pengalaman membangun brand cocok untuk membahas keputusan bertahan atau mengubah arah. Minta satu keputusan konkret beserta kondisi awal, opsi, dan hasil; jangan mengulang klaim jumlah toko tanpa bukti.</a:t>
            </a:r>
          </a:p>
          <a:p xmlns:a="http://schemas.openxmlformats.org/drawingml/2006/main">
            <a:r>
              <a:t>Sumber: https://indonesia.endeavor.org/399628-2/</a:t>
            </a:r>
          </a:p>
          <a:p xmlns:a="http://schemas.openxmlformats.org/drawingml/2006/main">
            <a:r>
              <a:t/>
            </a:r>
          </a:p>
          <a:p xmlns:a="http://schemas.openxmlformats.org/drawingml/2006/main">
            <a:r>
              <a:t>Dokter Tirta — Utama 5 Nov / Problem Solving</a:t>
            </a:r>
          </a:p>
          <a:p xmlns:a="http://schemas.openxmlformats.org/drawingml/2006/main">
            <a:r>
              <a:t>Praktisi usaha Shoes and Care; sesi kewirausahaan UGM mendukung relevansi pengalaman bisnis. Fit untuk diagnosis masalah operasional, prioritas dan keputusan dengan informasi terbatas. Ini pemetaan editorial, bukan sertifikasi kompetensi.</a:t>
            </a:r>
          </a:p>
          <a:p xmlns:a="http://schemas.openxmlformats.org/drawingml/2006/main">
            <a:r>
              <a:t>Sumber: https://feb.ugm.ac.id/id/berita/5000-dr-tirta-bagikan-tips-mengelola-usaha-di-era-digital</a:t>
            </a:r>
          </a:p>
          <a:p xmlns:a="http://schemas.openxmlformats.org/drawingml/2006/main">
            <a:r>
              <a:t/>
            </a:r>
          </a:p>
          <a:p xmlns:a="http://schemas.openxmlformats.org/drawingml/2006/main">
            <a:r>
              <a:t>Anthony Soehartono — Utama 10 Nov / Team</a:t>
            </a:r>
          </a:p>
          <a:p xmlns:a="http://schemas.openxmlformats.org/drawingml/2006/main">
            <a:r>
              <a:t>BP Consulting Group dan Komisaris Independen PT Mega Perintis Tbk, bukan jabatan korporat bernama Commissioner Manzone. Profil perusahaan mengonfirmasi pengalaman strategi. Brief diarahkan ke perekrutan pertama, skill/trust dan pembagian keputusan, bukan presentasi motivasi.</a:t>
            </a:r>
          </a:p>
          <a:p xmlns:a="http://schemas.openxmlformats.org/drawingml/2006/main">
            <a:r>
              <a:t>Sumber: https://www.kaisar-ceramics.com/profile/board-of-commissioners/anthony-soehartono/</a:t>
            </a:r>
          </a:p>
          <a:p xmlns:a="http://schemas.openxmlformats.org/drawingml/2006/main">
            <a:r>
              <a:t/>
            </a:r>
          </a:p>
          <a:p xmlns:a="http://schemas.openxmlformats.org/drawingml/2006/main">
            <a:r>
              <a:t>Christopher Aldo — Utama 12 Nov / Product</a:t>
            </a:r>
          </a:p>
          <a:p xmlns:a="http://schemas.openxmlformats.org/drawingml/2006/main">
            <a:r>
              <a:t>Co-founder Yellow Fit Kitchen, terkonfirmasi rilis perusahaan. Pengalaman mengembangkan layanan makanan relevan untuk customer problem, minimum value dan value proposition. Klaim guarantee dan margin hanya dipakai jika speaker membawa data yang boleh dibagikan.</a:t>
            </a:r>
          </a:p>
          <a:p xmlns:a="http://schemas.openxmlformats.org/drawingml/2006/main">
            <a:r>
              <a:t>Sumber: https://www.prnewswire.com/news-releases/yellow-fit-kitchens-founders-gregorius-ruben-and-christopher-aldo-announce-plan-to-tackle-increased-obesity-rate-in-indonesia-301400076.html</a:t>
            </a:r>
          </a:p>
          <a:p xmlns:a="http://schemas.openxmlformats.org/drawingml/2006/main">
            <a:r>
              <a:t/>
            </a:r>
          </a:p>
          <a:p xmlns:a="http://schemas.openxmlformats.org/drawingml/2006/main">
            <a:r>
              <a:t>Aristia Chen — Utama 17 Nov / Go-to-Market</a:t>
            </a:r>
          </a:p>
          <a:p xmlns:a="http://schemas.openxmlformats.org/drawingml/2006/main">
            <a:r>
              <a:t>CMO Mazuta Group Indonesia berdasarkan profil profesional mandiri. Fit marketing/distribusi untuk pilihan channel, uji pricing, sales approach dan repeatability. Status jabatan dikonfirmasi saat approach.</a:t>
            </a:r>
          </a:p>
          <a:p xmlns:a="http://schemas.openxmlformats.org/drawingml/2006/main">
            <a:r>
              <a:t>Sumber: https://id.linkedin.com/in/aristia-chen-627609243</a:t>
            </a:r>
          </a:p>
          <a:p xmlns:a="http://schemas.openxmlformats.org/drawingml/2006/main">
            <a:r>
              <a:t/>
            </a:r>
          </a:p>
          <a:p xmlns:a="http://schemas.openxmlformats.org/drawingml/2006/main">
            <a:r>
              <a:t>Daniel Sidik — Utama 19 Nov / Operations</a:t>
            </a:r>
          </a:p>
          <a:p xmlns:a="http://schemas.openxmlformats.org/drawingml/2006/main">
            <a:r>
              <a:t>Co-founder Jago Coffee, profil resmi membahas peran COO/CMO, penyesuaian harga dan SOP. Cocok untuk bottleneck operasional dan standardisasi. Legalitas/kontrak perlu review materi oleh PIC yang kompeten, tidak diasumsikan sebagai keahlian hukum speaker.</a:t>
            </a:r>
          </a:p>
          <a:p xmlns:a="http://schemas.openxmlformats.org/drawingml/2006/main">
            <a:r>
              <a:t>Sumber: https://www.jagocoffee.com/story/berkenalan-dengan-daniel-sidik-co-founder-terbaru-jago-coffee</a:t>
            </a:r>
          </a:p>
          <a:p xmlns:a="http://schemas.openxmlformats.org/drawingml/2006/main">
            <a:r>
              <a:t/>
            </a:r>
          </a:p>
          <a:p xmlns:a="http://schemas.openxmlformats.org/drawingml/2006/main">
            <a:r>
              <a:t>Daniel Liu — Utama 24 Nov / Finance</a:t>
            </a:r>
          </a:p>
          <a:p xmlns:a="http://schemas.openxmlformats.org/drawingml/2006/main">
            <a:r>
              <a:t>Nama Daniel Rocketindo dinormalisasi ke Daniel Liu. Situs Rocketindo memuat pengalaman bootstrap, profit dan kebutuhan modal. Ini mendukung case cash flow dan working capital; bukan bukti keahlian pajak. Minta contoh cash cycle sederhana dan angka yang boleh diungkap.</a:t>
            </a:r>
          </a:p>
          <a:p xmlns:a="http://schemas.openxmlformats.org/drawingml/2006/main">
            <a:r>
              <a:t>Sumber: https://rocketindo.asia/blogs/news/ecommerce-enabler-rocketindo-bootstraps-its-way-to-300-growth-profitability</a:t>
            </a:r>
          </a:p>
          <a:p xmlns:a="http://schemas.openxmlformats.org/drawingml/2006/main">
            <a:r>
              <a:t/>
            </a:r>
          </a:p>
          <a:p xmlns:a="http://schemas.openxmlformats.org/drawingml/2006/main">
            <a:r>
              <a:t>Winston Utomo — Utama 26 Nov / Scale</a:t>
            </a:r>
          </a:p>
          <a:p xmlns:a="http://schemas.openxmlformats.org/drawingml/2006/main">
            <a:r>
              <a:t>Founder IDN; pengumuman resmi pendanaan Series D membuktikan pengalaman external capital dan scaling. Brief: readiness, trade-off bootstrap vs modal eksternal dan kesiapan investor. Jangan menyamakan besarnya funding dengan keberhasilan semua bisnis.</a:t>
            </a:r>
          </a:p>
          <a:p xmlns:a="http://schemas.openxmlformats.org/drawingml/2006/main">
            <a:r>
              <a:t>Sumber: https://www.idn.media/news/222/idn-media-secures-a-series-d-investment</a:t>
            </a:r>
          </a:p>
          <a:p xmlns:a="http://schemas.openxmlformats.org/drawingml/2006/main">
            <a:r>
              <a:t/>
            </a:r>
          </a:p>
          <a:p xmlns:a="http://schemas.openxmlformats.org/drawingml/2006/main">
            <a:r>
              <a:t>Nicholas Dennis — Alternatif GTM / Finance</a:t>
            </a:r>
          </a:p>
          <a:p xmlns:a="http://schemas.openxmlformats.org/drawingml/2006/main">
            <a:r>
              <a:t>Founder BD Ekspor, berdasarkan situs resmi. Kuat untuk market entry ekspor, buyer, termin pembayaran dan kebutuhan modal kerja. Arah cash-flow adalah usulan case, bukan klaim bahwa ia ahli pajak. Layak diprioritaskan sebagai pengganti Finance jika bisa membawa case arus kas ekspor yang sesuai; jangan mengubah modul menjadi seminar ekspor saja.</a:t>
            </a:r>
          </a:p>
          <a:p xmlns:a="http://schemas.openxmlformats.org/drawingml/2006/main">
            <a:r>
              <a:t>Sumber: https://bdekspor.com/</a:t>
            </a:r>
          </a:p>
          <a:p xmlns:a="http://schemas.openxmlformats.org/drawingml/2006/main">
            <a:r>
              <a:t/>
            </a:r>
          </a:p>
          <a:p xmlns:a="http://schemas.openxmlformats.org/drawingml/2006/main">
            <a:r>
              <a:t>Purwa Hartono — Alternatif Mindset / Product</a:t>
            </a:r>
          </a:p>
          <a:p xmlns:a="http://schemas.openxmlformats.org/drawingml/2006/main">
            <a:r>
              <a:t>Founder Purwadhika; sejarah organisasi dan pengembangan kurikulum memberi dasar untuk perubahan produk dan relevansi pasar.</a:t>
            </a:r>
          </a:p>
          <a:p xmlns:a="http://schemas.openxmlformats.org/drawingml/2006/main">
            <a:r>
              <a:t>Sumber: https://www.purwadhika.com/about-us</a:t>
            </a:r>
          </a:p>
          <a:p xmlns:a="http://schemas.openxmlformats.org/drawingml/2006/main">
            <a:r>
              <a:t/>
            </a:r>
          </a:p>
          <a:p xmlns:a="http://schemas.openxmlformats.org/drawingml/2006/main">
            <a:r>
              <a:t>Samuel Christ — Alternatif Go-to-Market</a:t>
            </a:r>
          </a:p>
          <a:p xmlns:a="http://schemas.openxmlformats.org/drawingml/2006/main">
            <a:r>
              <a:t>Co-founder Seefluencer, dikonfirmasi halaman produk resmi. Fit untuk channel content, audience dan konversi. Brief wajib menghubungkan reach ke hasil penjualan, bukan hanya follower.</a:t>
            </a:r>
          </a:p>
          <a:p xmlns:a="http://schemas.openxmlformats.org/drawingml/2006/main">
            <a:r>
              <a:t>Sumber: https://www.seefluencer.com/mcs</a:t>
            </a:r>
          </a:p>
          <a:p xmlns:a="http://schemas.openxmlformats.org/drawingml/2006/main">
            <a:r>
              <a:t/>
            </a:r>
          </a:p>
          <a:p xmlns:a="http://schemas.openxmlformats.org/drawingml/2006/main">
            <a:r>
              <a:t>dr. Richard Lee — Alternatif Product / Go-to-Market</a:t>
            </a:r>
          </a:p>
          <a:p xmlns:a="http://schemas.openxmlformats.org/drawingml/2006/main">
            <a:r>
              <a:t>Founder Athena berdasarkan halaman brand. Pengalaman brand/edukasi pasar dapat dipakai untuk case bisnis; jangan menjadikan sesi sebagai promosi atau pembahasan medis. Status availability dan scope perlu konfirmasi seperti kandidat lain.</a:t>
            </a:r>
          </a:p>
          <a:p xmlns:a="http://schemas.openxmlformats.org/drawingml/2006/main">
            <a:r>
              <a:t>Sumber: https://athena-shop.id/about-us</a:t>
            </a:r>
          </a:p>
          <a:p xmlns:a="http://schemas.openxmlformats.org/drawingml/2006/main">
            <a:r>
              <a:t/>
            </a:r>
          </a:p>
          <a:p xmlns:a="http://schemas.openxmlformats.org/drawingml/2006/main">
            <a:r>
              <a:t>Jill Gladys — Alternatif bersyarat Product / Operations</a:t>
            </a:r>
          </a:p>
          <a:p xmlns:a="http://schemas.openxmlformats.org/drawingml/2006/main">
            <a:r>
              <a:t>Pengguna menyebut Wolf Gang Steak. Penelusuran belum menemukan sumber resmi yang mengonfirmasi hubungan ini. Jangan tulis founder/owner Wolfgang sebagai fakta. Minta nama badan usaha, jabatan dan contoh pengalaman mengelola F&amp;B sebelum menetapkan slot. Penempatan sementara berdasar konteks internal pengguna.</a:t>
            </a:r>
          </a:p>
          <a:p xmlns:a="http://schemas.openxmlformats.org/drawingml/2006/main">
            <a:r>
              <a:t>Sumber: Belum ada sumber resmi yang memadai; daftar pengguna, 6 Oktober 2026.</a:t>
            </a:r>
          </a:p>
          <a:p xmlns:a="http://schemas.openxmlformats.org/drawingml/2006/main">
            <a:r>
              <a:t/>
            </a:r>
          </a:p>
          <a:p xmlns:a="http://schemas.openxmlformats.org/drawingml/2006/main">
            <a:r>
              <a:t>FX Iwan — Alternatif bersyarat Finance / Scale</a:t>
            </a:r>
          </a:p>
          <a:p xmlns:a="http://schemas.openxmlformats.org/drawingml/2006/main">
            <a:r>
              <a:t>Situs Trinity memuat FX Iwan sebagai CEO Jagartha Advisor, berbeda dari label umum Media Production yang diberikan. Kredit film dengan nama serupa belum cukup untuk menyamakan identitas. Konfirmasi orang, jabatan dan perusahaan terlebih dulu. Bila cocok, topik modal/investasi mungkin relevan.</a:t>
            </a:r>
          </a:p>
          <a:p xmlns:a="http://schemas.openxmlformats.org/drawingml/2006/main">
            <a:r>
              <a:t>Sumber: https://www.trinityproduction.com/news/trinity-optima-production-da6202723632652b42000135</a:t>
            </a:r>
          </a:p>
          <a:p xmlns:a="http://schemas.openxmlformats.org/drawingml/2006/main">
            <a:r>
              <a:t/>
            </a:r>
          </a:p>
          <a:p xmlns:a="http://schemas.openxmlformats.org/drawingml/2006/main">
            <a:r>
              <a:t>Cadangan lintas slot: Purwa untuk Mindset/Product; Samuel untuk GTM; Nicholas untuk GTM/Finance setelah brief; Daniel Liu untuk Scale bila Winston tidak tersedia; Anthony untuk Operations bila case sesuai. Jika kandidat utama dan cadangan sama-sama sudah mengisi, jangan otomatis memberi satu orang dua sesi. Kembali ke shortlist dan konfirmasi kapasitas.</a:t>
            </a:r>
          </a:p>
          <a:p xmlns:a="http://schemas.openxmlformats.org/drawingml/2006/main">
            <a:r>
              <a:t>Batas penting: modul Operational &amp; Legal dan Finance &amp; Tax tetap mengikuti PDF. Speaker founder membahas keputusan bisnis. Detail hukum/pajak harus melalui review pihak yang kompeten sebelum dibagikan; ini kebutuhan review, bukan penambahan fee fiktif. Tidak semua kandidat otomatis bisa mengajar seluruh isi modul.</a:t>
            </a:r>
          </a:p>
          <a:p xmlns:a="http://schemas.openxmlformats.org/drawingml/2006/main">
            <a:r>
              <a:t/>
            </a:r>
          </a:p>
          <a:p xmlns:a="http://schemas.openxmlformats.org/drawingml/2006/main">
            <a:r>
              <a:t>Topik dan poin pembahasan mengikuti PDF terbaru.</a:t>
            </a:r>
          </a:p>
          <a:p xmlns:a="http://schemas.openxmlformats.org/drawingml/2006/main">
            <a:r>
              <a:t>Sumber: /Users/agatbe/Library/Containers/net.whatsapp.WhatsApp/Data/tmp/documents/1F160F60-E831-4573-AEC2-7B56142FBECC/CEO Masterclass - Live Topic.pdf</a:t>
            </a:r>
          </a:p>
          <a:p xmlns:a="http://schemas.openxmlformats.org/drawingml/2006/main">
            <a:r>
              <a:t/>
            </a:r>
          </a:p>
          <a:p xmlns:a="http://schemas.openxmlformats.org/drawingml/2006/main">
            <a:r>
              <a:t>CEO Masterclass | Founder Live </a:t>
            </a:r>
          </a:p>
          <a:p xmlns:a="http://schemas.openxmlformats.org/drawingml/2006/main">
            <a:r>
              <a:t>Founder Live - 8 Topik Utama </a:t>
            </a:r>
          </a:p>
          <a:p xmlns:a="http://schemas.openxmlformats.org/drawingml/2006/main">
            <a:r>
              <a:t>Mengacu pada 8 modul utama CEO Masterclass </a:t>
            </a:r>
          </a:p>
          <a:p xmlns:a="http://schemas.openxmlformats.org/drawingml/2006/main">
            <a:r>
              <a:t>1. Kapan Harus Bertahan, Kapan Harus Berubah Arah? </a:t>
            </a:r>
          </a:p>
          <a:p xmlns:a="http://schemas.openxmlformats.org/drawingml/2006/main">
            <a:r>
              <a:t>Modul 1 - Entrepreneurship Mentality </a:t>
            </a:r>
          </a:p>
          <a:p xmlns:a="http://schemas.openxmlformats.org/drawingml/2006/main">
            <a:r>
              <a:t>• Tanda bisnis perlu pivot </a:t>
            </a:r>
          </a:p>
          <a:p xmlns:a="http://schemas.openxmlformats.org/drawingml/2006/main">
            <a:r>
              <a:t>• Conviction vs keras kepala </a:t>
            </a:r>
          </a:p>
          <a:p xmlns:a="http://schemas.openxmlformats.org/drawingml/2006/main">
            <a:r>
              <a:t>• Belajar dari keputusan yang salah </a:t>
            </a:r>
          </a:p>
          <a:p xmlns:a="http://schemas.openxmlformats.org/drawingml/2006/main">
            <a:r>
              <a:t> </a:t>
            </a:r>
          </a:p>
          <a:p xmlns:a="http://schemas.openxmlformats.org/drawingml/2006/main">
            <a:r>
              <a:t>2. Masalah Mana yang Harus Diselesaikan Dulu? </a:t>
            </a:r>
          </a:p>
          <a:p xmlns:a="http://schemas.openxmlformats.org/drawingml/2006/main">
            <a:r>
              <a:t>Modul 2 - Problem Solving </a:t>
            </a:r>
          </a:p>
          <a:p xmlns:a="http://schemas.openxmlformats.org/drawingml/2006/main">
            <a:r>
              <a:t>• Cari root problem </a:t>
            </a:r>
          </a:p>
          <a:p xmlns:a="http://schemas.openxmlformats.org/drawingml/2006/main">
            <a:r>
              <a:t>• Tentukan prioritas </a:t>
            </a:r>
          </a:p>
          <a:p xmlns:a="http://schemas.openxmlformats.org/drawingml/2006/main">
            <a:r>
              <a:t>• Putuskan dengan data terbatas </a:t>
            </a:r>
          </a:p>
          <a:p xmlns:a="http://schemas.openxmlformats.org/drawingml/2006/main">
            <a:r>
              <a:t> </a:t>
            </a:r>
          </a:p>
          <a:p xmlns:a="http://schemas.openxmlformats.org/drawingml/2006/main">
            <a:r>
              <a:t>3. Kapan Harus Mulai Bangun Team? </a:t>
            </a:r>
          </a:p>
          <a:p xmlns:a="http://schemas.openxmlformats.org/drawingml/2006/main">
            <a:r>
              <a:t>Modul 3 - Team &amp; Networking Formation </a:t>
            </a:r>
          </a:p>
          <a:p xmlns:a="http://schemas.openxmlformats.org/drawingml/2006/main">
            <a:r>
              <a:t>• Siapa yang direkrut dulu </a:t>
            </a:r>
          </a:p>
          <a:p xmlns:a="http://schemas.openxmlformats.org/drawingml/2006/main">
            <a:r>
              <a:t>• Skill vs trust </a:t>
            </a:r>
          </a:p>
          <a:p xmlns:a="http://schemas.openxmlformats.org/drawingml/2006/main">
            <a:r>
              <a:t>• Kapan founder mulai delegasi </a:t>
            </a:r>
          </a:p>
          <a:p xmlns:a="http://schemas.openxmlformats.org/drawingml/2006/main">
            <a:r>
              <a:t> </a:t>
            </a:r>
          </a:p>
          <a:p xmlns:a="http://schemas.openxmlformats.org/drawingml/2006/main">
            <a:r>
              <a:t>4. Apa yang Bikin Produk Benar-Benar Layak Dijual? </a:t>
            </a:r>
          </a:p>
          <a:p xmlns:a="http://schemas.openxmlformats.org/drawingml/2006/main">
            <a:r>
              <a:t>Modul 4 - Minimum Sellable Product </a:t>
            </a:r>
          </a:p>
          <a:p xmlns:a="http://schemas.openxmlformats.org/drawingml/2006/main">
            <a:r>
              <a:t>• Customer problem yang nyata </a:t>
            </a:r>
          </a:p>
          <a:p xmlns:a="http://schemas.openxmlformats.org/drawingml/2006/main">
            <a:r>
              <a:t>• Minimum value sebelum launch </a:t>
            </a:r>
          </a:p>
          <a:p xmlns:a="http://schemas.openxmlformats.org/drawingml/2006/main">
            <a:r>
              <a:t>• Value proposition yang jelas </a:t>
            </a:r>
          </a:p>
          <a:p xmlns:a="http://schemas.openxmlformats.org/drawingml/2006/main">
            <a:r>
              <a:t> </a:t>
            </a:r>
          </a:p>
          <a:p xmlns:a="http://schemas.openxmlformats.org/drawingml/2006/main">
            <a:r>
              <a:t>5. Gimana Menemukan Cara Jual yang Efektif? </a:t>
            </a:r>
          </a:p>
          <a:p xmlns:a="http://schemas.openxmlformats.org/drawingml/2006/main">
            <a:r>
              <a:t>Modul 5 - Go-To-Market </a:t>
            </a:r>
          </a:p>
          <a:p xmlns:a="http://schemas.openxmlformats.org/drawingml/2006/main">
            <a:r>
              <a:t>• Pilih channel yang tepat </a:t>
            </a:r>
          </a:p>
          <a:p xmlns:a="http://schemas.openxmlformats.org/drawingml/2006/main">
            <a:r>
              <a:t>• Uji pricing dan sales approach </a:t>
            </a:r>
          </a:p>
          <a:p xmlns:a="http://schemas.openxmlformats.org/drawingml/2006/main">
            <a:r>
              <a:t>• Bikin sales lebih repeatable </a:t>
            </a:r>
          </a:p>
          <a:p xmlns:a="http://schemas.openxmlformats.org/drawingml/2006/main">
            <a:r>
              <a:t> </a:t>
            </a:r>
          </a:p>
          <a:p xmlns:a="http://schemas.openxmlformats.org/drawingml/2006/main">
            <a:r>
              <a:t>6. Kapan Bisnis Harus Mulai Dibikin Lebih Rapi? </a:t>
            </a:r>
          </a:p>
          <a:p xmlns:a="http://schemas.openxmlformats.org/drawingml/2006/main">
            <a:r>
              <a:t>Modul 6 - Operational &amp; Legal </a:t>
            </a:r>
          </a:p>
          <a:p xmlns:a="http://schemas.openxmlformats.org/drawingml/2006/main">
            <a:r>
              <a:t>• SOP dan proses utama </a:t>
            </a:r>
          </a:p>
          <a:p xmlns:a="http://schemas.openxmlformats.org/drawingml/2006/main">
            <a:r>
              <a:t>• Legalitas dan kontrak </a:t>
            </a:r>
          </a:p>
          <a:p xmlns:a="http://schemas.openxmlformats.org/drawingml/2006/main">
            <a:r>
              <a:t>• Kurangi bottleneck operasional </a:t>
            </a:r>
          </a:p>
          <a:p xmlns:a="http://schemas.openxmlformats.org/drawingml/2006/main">
            <a:r>
              <a:t> </a:t>
            </a:r>
          </a:p>
          <a:p xmlns:a="http://schemas.openxmlformats.org/drawingml/2006/main">
            <a:r>
              <a:t/>
            </a:r>
          </a:p>
          <a:p xmlns:a="http://schemas.openxmlformats.org/drawingml/2006/main">
            <a:r>
              <a:t>CEO Masterclass | Founder Live </a:t>
            </a:r>
          </a:p>
          <a:p xmlns:a="http://schemas.openxmlformats.org/drawingml/2006/main">
            <a:r>
              <a:t>7. Bisnis Untung, Tapi Kenapa Cash Liquid Nggak Ada? </a:t>
            </a:r>
          </a:p>
          <a:p xmlns:a="http://schemas.openxmlformats.org/drawingml/2006/main">
            <a:r>
              <a:t>Modul 7 - Finance &amp; Tax </a:t>
            </a:r>
          </a:p>
          <a:p xmlns:a="http://schemas.openxmlformats.org/drawingml/2006/main">
            <a:r>
              <a:t>• Profit vs cash flow </a:t>
            </a:r>
          </a:p>
          <a:p xmlns:a="http://schemas.openxmlformats.org/drawingml/2006/main">
            <a:r>
              <a:t>• Working capital </a:t>
            </a:r>
          </a:p>
          <a:p xmlns:a="http://schemas.openxmlformats.org/drawingml/2006/main">
            <a:r>
              <a:t>• Angka yang wajib dipantau </a:t>
            </a:r>
          </a:p>
          <a:p xmlns:a="http://schemas.openxmlformats.org/drawingml/2006/main">
            <a:r>
              <a:t> </a:t>
            </a:r>
          </a:p>
          <a:p xmlns:a="http://schemas.openxmlformats.org/drawingml/2006/main">
            <a:r>
              <a:t>8. Kapan Bisnis Sudah Siap untuk Scale dan Cari Modal? </a:t>
            </a:r>
          </a:p>
          <a:p xmlns:a="http://schemas.openxmlformats.org/drawingml/2006/main">
            <a:r>
              <a:t>Modul 8 - Scale Up &amp; Fundraising </a:t>
            </a:r>
          </a:p>
          <a:p xmlns:a="http://schemas.openxmlformats.org/drawingml/2006/main">
            <a:r>
              <a:t>• Cek kesiapan sebelum scale </a:t>
            </a:r>
          </a:p>
          <a:p xmlns:a="http://schemas.openxmlformats.org/drawingml/2006/main">
            <a:r>
              <a:t>• Bootstrap vs external capital </a:t>
            </a:r>
          </a:p>
          <a:p xmlns:a="http://schemas.openxmlformats.org/drawingml/2006/main">
            <a:r>
              <a:t>• Investor readiness </a:t>
            </a:r>
          </a:p>
          <a:p xmlns:a="http://schemas.openxmlformats.org/drawingml/2006/main">
            <a:r>
              <a:t/>
            </a:r>
          </a:p>
          <a:p xmlns:a="http://schemas.openxmlformats.org/drawingml/2006/main">
            <a:r>
              <a:t>Format internal: 90 menit, 5 pembukaan + 20 cerita speaker + 60 tanya jawab/bedah kasus + 5 penutup. Usulan jadwal: Selasa dan Kamis, 3–26 November 2026, 19.00–20.30 WIB. Delapan sesi selesai dalam empat minggu; tanggal dan jam menunggu konfirmasi. Speaker dicocokkan dengan topik, bukan sebaliknya.</a:t>
            </a:r>
          </a:p>
          <a:p xmlns:a="http://schemas.openxmlformats.org/drawingml/2006/main">
            <a:r>
              <a:t>Jadwal usulan: 3,5,10,12,17,19,24,26 November 2026. Seluruhnya Selasa/Kamis, 19.00–20.30 WIB; bukan bukti ketersediaan speaker. Bulan November mengikuti rencana sebelumnya. Hari kerja terverifikasi dari kalender, tidak menjamin bebas benturan agenda. Lock sebelum publikasi.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DRAFT TOR / PROPOSAL FOUNDER LIVE — untuk approval internal.</a:t>
            </a:r>
          </a:p>
          <a:p xmlns:a="http://schemas.openxmlformats.org/drawingml/2006/main">
            <a:r>
              <a:t>Tujuan: membawa delapan modul CMC ke pembahasan keputusan bisnis yang dapat diterapkan peserta. Target peserta: member CMC/founder/pemilik usaha; profil tahap usaha dikumpulkan melalui form. Founder Live batch pertama termasuk membership saat ini Rp1,5 jt, tidak dibuat harga tiket baru.</a:t>
            </a:r>
          </a:p>
          <a:p xmlns:a="http://schemas.openxmlformats.org/drawingml/2006/main">
            <a:r>
              <a:t>Program: 8 kelas online, 2 kali seminggu selama 4 minggu. Usulan Selasa/Kamis 3–26 November 2026, 19.00–20.30 WIB. Kapasitas sistem target 1.000 total koneksi termasuk speaker dan tim; jumlah peserta yang bisa masuk harus mengurangi slot tim. Target penjualan/kehadiran tidak sama dengan kapasitas.</a:t>
            </a:r>
          </a:p>
          <a:p xmlns:a="http://schemas.openxmlformats.org/drawingml/2006/main">
            <a:r>
              <a:t>Format sesi: 5 menit pembukaan, 20 menit pengalaman/case speaker, 60 menit Q&amp;A dan bedah kasus peserta, 5 menit rangkuman. Tidak menjanjikan semua peserta mendapat konsultasi individual.</a:t>
            </a:r>
          </a:p>
          <a:p xmlns:a="http://schemas.openxmlformats.org/drawingml/2006/main">
            <a:r>
              <a:t>Komitmen speaker: 20–25 menit briefing di hari terpisah, 10 menit backstage sebelum live, 90 menit live; total 120–125 menit. Tidak wajib membuat deck panjang; screen share/materi sederhana sesuai kebutuhan. Minta satu case utama yang menyebut konteks, pilihan, keputusan, hasil dan pelajaran; samarkan data sensitif.</a:t>
            </a:r>
          </a:p>
          <a:p xmlns:a="http://schemas.openxmlformats.org/drawingml/2006/main">
            <a:r>
              <a:t>CMC bertanggung jawab atas undangan, TOR, kurasi pertanyaan, host, teknis, reminder, arsip dan laporan. Nama PIC personil masih harus diisi. PIC program/accountable: product lead. Finance mengunci kontrak/fee. Host dan operator adalah dua peran berbeda saat live; koordinator/admin dan kurator boleh dirangkap jika beban memungkinkan.</a:t>
            </a:r>
          </a:p>
          <a:p xmlns:a="http://schemas.openxmlformats.org/drawingml/2006/main">
            <a:r>
              <a:t>Proposal undangan berisi: pengantar CMC, tujuan dan profil peserta, manfaat peserta, modul/topik, tanggal/jam dan format, komitmen, hak penggunaan materi, penawaran budget serta kontak PIC. Klaim audience adalah target/kapasitas, bukan peserta confirmed. Tidak menjanjikan exposure atau deliverable promosi yang belum disepakati.</a:t>
            </a:r>
          </a:p>
          <a:p xmlns:a="http://schemas.openxmlformats.org/drawingml/2006/main">
            <a:r>
              <a:t>TOR per sesi berisi: judul topik persis PDF, tiga talking points PDF, profil peserta, case utama, daftar pertanyaan terkurasi, rundown dan penanggung jawab. Pertanyaan live tetap boleh masuk; host memilih yang spesifik dan relevan.</a:t>
            </a:r>
          </a:p>
          <a:p xmlns:a="http://schemas.openxmlformats.org/drawingml/2006/main">
            <a:r>
              <a:t>Kontrak/konfirmasi: nama/jabatan, tanggal dan jam, fee gross vs nett, pajak/withholding yang ditetapkan Finance, termin pembayaran, cancellation/reschedule, backup, izin nama/foto, izin rekaman, tempat dan durasi akses rekaman, editing/distribusi serta privasi case. Social-media posting bukan deliverable default. Jika izin rekaman ditolak, sepakati alternatif rangkuman; jangan menjanjikan rekaman tanpa izin.</a:t>
            </a:r>
          </a:p>
          <a:p xmlns:a="http://schemas.openxmlformats.org/drawingml/2006/main">
            <a:r>
              <a:t>Output setiap sesi: rekaman bila berizin, rangkuman keputusan dan satu action plan singkat yang diisi peserta. Output batch: kehadiran, repeat attendance, pertanyaan/case, feedback kepuasan/relevansi dan rekapan biaya aktual. Target numerik evaluasi belum ditentukan manajemen.</a:t>
            </a:r>
          </a:p>
          <a:p xmlns:a="http://schemas.openxmlformats.org/drawingml/2006/main">
            <a:r>
              <a:t>Usulan milestone: 9 Okt approve TOR/proposal/budget; 12–16 Okt approach kandidat utama dan alternatif; 23 Okt target konfirmasi delapan slot dan peran tim; 27 Okt form sesi pertama dibuka; 30 Okt rehearsal awal dengan tools existing; 1 Nov aktifkan lisensi satu bulan; 2 Nov final tech check. Bila booking belum siap, perubahan jadwal harus tetap mempertahankan dua weekday per minggu dan delapan sesi satu bulan.</a:t>
            </a:r>
          </a:p>
          <a:p xmlns:a="http://schemas.openxmlformats.org/drawingml/2006/main">
            <a:r>
              <a:t>Status seluruh milestone: usulan internal, bukan tugas yang sudah selesai atau speaker yang sudah dihubungi.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KEBUTUHAN DAN ALUR OPERASIONAL</a:t>
            </a:r>
          </a:p>
          <a:p xmlns:a="http://schemas.openxmlformats.org/drawingml/2006/main">
            <a:r>
              <a:t>Tools existing: Google Form untuk pertanyaan/profil usaha/feedback; Google Sheets untuk kurasi dan kehadiran; kanal WhatsApp/email CMC untuk reminder; Zoom kapasitas 1.000 untuk live/recording; LMS/Drive CMC untuk arsip sesuai akses dan storage yang tersedia. Tidak perlu Kahoot, Slido, sound system, hadiah/apresiasi speaker atau produksi tambahan di base.</a:t>
            </a:r>
          </a:p>
          <a:p xmlns:a="http://schemas.openxmlformats.org/drawingml/2006/main">
            <a:r>
              <a:t>Peralatan: laptop host dan operator, headset/mic, internet stabil, jalur cadangan/hotspot, ruang tenang, power dan recording storage. Cek ketersediaan internal; jangan menganggap kebutuhan baru pasti gratis. Jika perlu pembelian baru gunakan actual quote, tidak dimasukkan secara fiktif ke base.</a:t>
            </a:r>
          </a:p>
          <a:p xmlns:a="http://schemas.openxmlformats.org/drawingml/2006/main">
            <a:r>
              <a:t>PIC: product lead mengunci tujuan, jadwal, budget dan TOR; speaker coordinator mengurus briefing/approval materi; kurator mengelompokkan case; host memilih pertanyaan dan menjaga waktu; operator mengelola peserta, mute, share, rekaman dan backup link; admin mengirim reminder, merekap kehadiran dan mengunggah arsip. Finance mengonfirmasi gross/nett dan pajak. Nama personil TBD. Tim existing, tidak dibuat memo biaya jam kerja.</a:t>
            </a:r>
          </a:p>
          <a:p xmlns:a="http://schemas.openxmlformats.org/drawingml/2006/main">
            <a:r>
              <a:t>H-7: buka form per sesi. H-3: shortlist dan case dikirim ke speaker, briefing 20–25 menit disepakati. H-1: uji akses, audio, slide/screen share, recording/storage, host/co-host dan recovery. Hari H: operator standby minimal 30 menit sebelum live, speaker masuk 10 menit sebelum mulai. H+1: feedback dan ringkasan awal. Maks H+3: rekaman berizin dan catatan di LMS. Dua pipeline sesi berjalan paralel.</a:t>
            </a:r>
          </a:p>
          <a:p xmlns:a="http://schemas.openxmlformats.org/drawingml/2006/main">
            <a:r>
              <a:t>Contoh sesi 3 Nov: form 27 Okt, shortlist 31 Okt, tech check 2 Nov, live 3 Nov, unggah maksimal 6 Nov. Karena H-3 jatuh Sabtu, kurasi dan pengiriman bisa dimajukan ke Jumat 30 Okt. Sesi 5 Nov: form 29 Okt, shortlist 2 Nov, tech check 4 Nov, unggah maks 8 Nov atau dimajukan ke Jumat 6 Nov. Persiapan menyesuaikan hari kerja tim; kelas tetap weekday.</a:t>
            </a:r>
          </a:p>
          <a:p xmlns:a="http://schemas.openxmlformats.org/drawingml/2006/main">
            <a:r>
              <a:t>Ketentuan rental: pastikan 1.000 total capacity, format Meeting/Webinar, host/co-host, operator jika termasuk, akses recording dan report, durasi slot yang mencakup backstage + 90 menit + buffer, seluruh tanggal, hak penggunaan akun dan dukungan jika ada gangguan. Jangan meminta atau menyimpan password vendor dalam deck.</a:t>
            </a:r>
          </a:p>
          <a:p xmlns:a="http://schemas.openxmlformats.org/drawingml/2006/main">
            <a:r>
              <a:t>Ketentuan subscribe: aktifkan satu siklus yang mencakup seluruh kelas, cek auto-renew dan quota storage. Pro + Large Meeting tidak diasumsikan punya Q&amp;A terstruktur seperti Webinar; gunakan form, mic/chat dan raise hand terkurasi. Jika pengalaman Webinar dibutuhkan, anggarkan alternatif dengan sadar.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PERHITUNGAN TERBARU, 1 BULAN / 8 SESI</a:t>
            </a:r>
          </a:p>
          <a:p xmlns:a="http://schemas.openxmlformats.org/drawingml/2006/main">
            <a:r>
              <a:t>Budget internal speaker: optimis 8×Rp3.000.000=Rp24.000.000; base 8×Rp4.000.000=Rp32.000.000; pesimis 8×Rp5.000.000=Rp40.000.000. Bukan quotation atau market benchmark.</a:t>
            </a:r>
          </a:p>
          <a:p xmlns:a="http://schemas.openxmlformats.org/drawingml/2006/main">
            <a:r>
              <a:t>Subscribe Pro+Large Meeting 1.000: Rp271.840 + Rp2.383.999 = Rp2,655,839/bulan. Ini acuan checkout sebelumnya yang disimpan dalam deck, bukan verifikasi tarif baru. Seluruh kelas harus tercakup dalam satu siklus.</a:t>
            </a:r>
          </a:p>
          <a:p xmlns:a="http://schemas.openxmlformats.org/drawingml/2006/main">
            <a:r>
              <a:t>Sewa 1.000: Rp350.000/sesi ×8 = Rp2,800,000; angka pengguna sebagai asumsi, bukan quotation vendor.</a:t>
            </a:r>
          </a:p>
          <a:p xmlns:a="http://schemas.openxmlformats.org/drawingml/2006/main">
            <a:r>
              <a:t>Selisih: Rp144,161; subscribe sekitar 5.15% lebih murah dari sewa menurut acuan tersebut.</a:t>
            </a:r>
          </a:p>
          <a:p xmlns:a="http://schemas.openxmlformats.org/drawingml/2006/main">
            <a:r>
              <a:t>Total subscribe optimis/base/pesimis: Rp26.655.839 / Rp34.655.839 / Rp42.655.839. Total rental: Rp26.800.000 / Rp34.800.000 / Rp42.800.000. Pilih salah satu, tidak dijumlahkan.</a:t>
            </a:r>
          </a:p>
          <a:p xmlns:a="http://schemas.openxmlformats.org/drawingml/2006/main">
            <a:r>
              <a:t>Sebelum pajak/gross-up jika fee disepakati nett. Belum mengklaim ceiling termasuk seluruh kewajiban pajak. Actual quote dan Finance menentukan final.</a:t>
            </a:r>
          </a:p>
          <a:p xmlns:a="http://schemas.openxmlformats.org/drawingml/2006/main">
            <a:r>
              <a:t>Cost per peserta unik batch, bukan CAC dan bukan akumulasi absensi delapan sesi:</a:t>
            </a:r>
          </a:p>
          <a:p xmlns:a="http://schemas.openxmlformats.org/drawingml/2006/main">
            <a:r>
              <a:t>500 peserta, subscribe optimis/base/pesimis = Rp53,312 / Rp69,312 / Rp85,312; rental = Rp53,600 / Rp69,600 / Rp85,600.</a:t>
            </a:r>
          </a:p>
          <a:p xmlns:a="http://schemas.openxmlformats.org/drawingml/2006/main">
            <a:r>
              <a:t>750 peserta, subscribe optimis/base/pesimis = Rp35,541 / Rp46,208 / Rp56,874; rental = Rp35,733 / Rp46,400 / Rp57,067.</a:t>
            </a:r>
          </a:p>
          <a:p xmlns:a="http://schemas.openxmlformats.org/drawingml/2006/main">
            <a:r>
              <a:t>1000 peserta, subscribe optimis/base/pesimis = Rp26,656 / Rp34,656 / Rp42,656; rental = Rp26,800 / Rp34,800 / Rp42,800.</a:t>
            </a:r>
          </a:p>
          <a:p xmlns:a="http://schemas.openxmlformats.org/drawingml/2006/main">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PERHITUNGAN TERBARU, 1 BULAN / 8 SESI</a:t>
            </a:r>
          </a:p>
          <a:p xmlns:a="http://schemas.openxmlformats.org/drawingml/2006/main">
            <a:r>
              <a:t>Budget internal speaker: optimis 8×Rp3.000.000=Rp24.000.000; base 8×Rp4.000.000=Rp32.000.000; pesimis 8×Rp5.000.000=Rp40.000.000. Bukan quotation atau market benchmark.</a:t>
            </a:r>
          </a:p>
          <a:p xmlns:a="http://schemas.openxmlformats.org/drawingml/2006/main">
            <a:r>
              <a:t>Subscribe Pro+Large Meeting 1.000: Rp271.840 + Rp2.383.999 = Rp2,655,839/bulan. Ini acuan checkout sebelumnya yang disimpan dalam deck, bukan verifikasi tarif baru. Seluruh kelas harus tercakup dalam satu siklus.</a:t>
            </a:r>
          </a:p>
          <a:p xmlns:a="http://schemas.openxmlformats.org/drawingml/2006/main">
            <a:r>
              <a:t>Sewa 1.000: Rp350.000/sesi ×8 = Rp2,800,000; angka pengguna sebagai asumsi, bukan quotation vendor.</a:t>
            </a:r>
          </a:p>
          <a:p xmlns:a="http://schemas.openxmlformats.org/drawingml/2006/main">
            <a:r>
              <a:t>Selisih: Rp144,161; subscribe sekitar 5.15% lebih murah dari sewa menurut acuan tersebut.</a:t>
            </a:r>
          </a:p>
          <a:p xmlns:a="http://schemas.openxmlformats.org/drawingml/2006/main">
            <a:r>
              <a:t>Total subscribe optimis/base/pesimis: Rp26.655.839 / Rp34.655.839 / Rp42.655.839. Total rental: Rp26.800.000 / Rp34.800.000 / Rp42.800.000. Pilih salah satu, tidak dijumlahkan.</a:t>
            </a:r>
          </a:p>
          <a:p xmlns:a="http://schemas.openxmlformats.org/drawingml/2006/main">
            <a:r>
              <a:t>Sebelum pajak/gross-up jika fee disepakati nett. Belum mengklaim ceiling termasuk seluruh kewajiban pajak. Actual quote dan Finance menentukan final.</a:t>
            </a:r>
          </a:p>
          <a:p xmlns:a="http://schemas.openxmlformats.org/drawingml/2006/main">
            <a:r>
              <a:t>Cost per peserta unik batch, bukan CAC dan bukan akumulasi absensi delapan sesi:</a:t>
            </a:r>
          </a:p>
          <a:p xmlns:a="http://schemas.openxmlformats.org/drawingml/2006/main">
            <a:r>
              <a:t>500 peserta, subscribe optimis/base/pesimis = Rp53,312 / Rp69,312 / Rp85,312; rental = Rp53,600 / Rp69,600 / Rp85,600.</a:t>
            </a:r>
          </a:p>
          <a:p xmlns:a="http://schemas.openxmlformats.org/drawingml/2006/main">
            <a:r>
              <a:t>750 peserta, subscribe optimis/base/pesimis = Rp35,541 / Rp46,208 / Rp56,874; rental = Rp35,733 / Rp46,400 / Rp57,067.</a:t>
            </a:r>
          </a:p>
          <a:p xmlns:a="http://schemas.openxmlformats.org/drawingml/2006/main">
            <a:r>
              <a:t>1000 peserta, subscribe optimis/base/pesimis = Rp26,656 / Rp34,656 / Rp42,656; rental = Rp26,800 / Rp34,800 / Rp42,800.</a:t>
            </a:r>
          </a:p>
          <a:p xmlns:a="http://schemas.openxmlformats.org/drawingml/2006/main">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a:p xmlns:a="http://schemas.openxmlformats.org/drawingml/2006/main">
            <a:r>
              <a:t>Beli lisensi pada tanggal yang membuat seluruh sesi dan rehearsal masuk satu siklus tagihan, misalnya 1–30 November. Pastikan auto-renew, durasi sewa, batas kapasitas total termasuk speaker/tim, co-host, recording dan report. Jika sewa termasuk operator, nilai layanan itu terpisah dari selisih tarif. Tidak mengklaim kedua paket identik.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economics adalah dasar utama harga: di base case (fee Master Rp10 jt, venue Rp800 rb per orang) break-even inti ±Rp1,46 jt per paying seat (slide berikutnya). Benchmark kompetitor hanya bukti sekunder untuk willingness-to-pay. USULAN PILOT, bukan harga final. Non-member Rp3 jt dipasang di bawah premium Sevenpreneur +Rp3,5 jt (premium untuk seluruh paket VIP: 1 hari offline, 3 sesi eksklusif, intimate dinner, mentoring 1-on-1; bukan harga dinner). Aksoro: online Rp3,3 jt → offline Rp9,3 jt early bird (normal Rp15 jt). Benchmark menunjukkan willingness-to-pay untuk akses yang lebih dekat; produknya tidak identik (pricing anchor, not apples-to-apples). Member Rp1,5 jt: satu dinner sudah hemat Rp1,5 jt, benefit membership kelihatan dalam rupiah. Member early access: aplikasi member dibuka lebih dulu (usulan 72 jam), public seat dibuka setelah member window. Launch / First Table benefit: hanya event pertama, selected member seats, jumlah terbatas, tidak permanen; nominal ditentukan setelah venue dan fee Master locked. New member bundle = harga membership saat event + seat member − insentif bundle; angka keluar setelah tanggal efektif harga membership (Rp1,5 jt → Rp2,5 jt) jelas. Pola diskon kompetitor: Sevenpreneur harga coret 41–50%, Aksoro early bird 38% di bawah normal.</a:t>
            </a:r>
          </a:p>
          <a:p xmlns:a="http://schemas.openxmlformats.org/drawingml/2006/main">
            <a:r>
              <a:t>DETAIL DARI SLIDE SUMBER</a:t>
            </a:r>
          </a:p>
          <a:p xmlns:a="http://schemas.openxmlformats.org/drawingml/2006/main">
            <a:r>
              <a:t>INTIMATE DINNER</a:t>
            </a:r>
          </a:p>
          <a:p xmlns:a="http://schemas.openxmlformats.org/drawingml/2006/main">
            <a:r>
              <a:t>Intimate Dinner menjual hal yang Founder Live tidak bisa kasih: direct access yang benar-benar langka.</a:t>
            </a:r>
          </a:p>
          <a:p xmlns:a="http://schemas.openxmlformats.org/drawingml/2006/main">
            <a:r>
              <a:t>Satu Master, satu room, 15–20 orang yang lolos seleksi. Usulan pilot.</a:t>
            </a:r>
          </a:p>
          <a:p xmlns:a="http://schemas.openxmlformats.org/drawingml/2006/main">
            <a:r>
              <a:t>20</a:t>
            </a:r>
          </a:p>
          <a:p xmlns:a="http://schemas.openxmlformats.org/drawingml/2006/main">
            <a:r>
              <a:t>HARD CAP SEATS</a:t>
            </a:r>
          </a:p>
          <a:p xmlns:a="http://schemas.openxmlformats.org/drawingml/2006/main">
            <a:r>
              <a:t>target 15–20 peserta</a:t>
            </a:r>
          </a:p>
          <a:p xmlns:a="http://schemas.openxmlformats.org/drawingml/2006/main">
            <a:r>
              <a:t>1</a:t>
            </a:r>
          </a:p>
          <a:p xmlns:a="http://schemas.openxmlformats.org/drawingml/2006/main">
            <a:r>
              <a:t>Master</a:t>
            </a:r>
          </a:p>
          <a:p xmlns:a="http://schemas.openxmlformats.org/drawingml/2006/main">
            <a:r>
              <a:t>NO</a:t>
            </a:r>
          </a:p>
          <a:p xmlns:a="http://schemas.openxmlformats.org/drawingml/2006/main">
            <a:r>
              <a:t>recording</a:t>
            </a:r>
          </a:p>
          <a:p xmlns:a="http://schemas.openxmlformats.org/drawingml/2006/main">
            <a:r>
              <a:t>±150</a:t>
            </a:r>
          </a:p>
          <a:p xmlns:a="http://schemas.openxmlformats.org/drawingml/2006/main">
            <a:r>
              <a:t>menit</a:t>
            </a:r>
          </a:p>
          <a:p xmlns:a="http://schemas.openxmlformats.org/drawingml/2006/main">
            <a:r>
              <a:t>3–4</a:t>
            </a:r>
          </a:p>
          <a:p xmlns:a="http://schemas.openxmlformats.org/drawingml/2006/main">
            <a:r>
              <a:t>kasus terpilih dibahas</a:t>
            </a:r>
          </a:p>
          <a:p xmlns:a="http://schemas.openxmlformats.org/drawingml/2006/main">
            <a:r>
              <a:t>AGENDA ±150 MENIT</a:t>
            </a:r>
          </a:p>
          <a:p xmlns:a="http://schemas.openxmlformats.org/drawingml/2006/main">
            <a:r>
              <a:t>30  </a:t>
            </a:r>
          </a:p>
          <a:p xmlns:a="http://schemas.openxmlformats.org/drawingml/2006/main">
            <a:r>
              <a:t>networking</a:t>
            </a:r>
          </a:p>
          <a:p xmlns:a="http://schemas.openxmlformats.org/drawingml/2006/main">
            <a:r>
              <a:t>45  </a:t>
            </a:r>
          </a:p>
          <a:p xmlns:a="http://schemas.openxmlformats.org/drawingml/2006/main">
            <a:r>
              <a:t>conversation</a:t>
            </a:r>
          </a:p>
          <a:p xmlns:a="http://schemas.openxmlformats.org/drawingml/2006/main">
            <a:r>
              <a:t>60  </a:t>
            </a:r>
          </a:p>
          <a:p xmlns:a="http://schemas.openxmlformats.org/drawingml/2006/main">
            <a:r>
              <a:t>case discussion</a:t>
            </a:r>
          </a:p>
          <a:p xmlns:a="http://schemas.openxmlformats.org/drawingml/2006/main">
            <a:r>
              <a:t>15  </a:t>
            </a:r>
          </a:p>
          <a:p xmlns:a="http://schemas.openxmlformats.org/drawingml/2006/main">
            <a:r>
              <a:t>closing</a:t>
            </a:r>
          </a:p>
          <a:p xmlns:a="http://schemas.openxmlformats.org/drawingml/2006/main">
            <a:r>
              <a:t>Application-based   ·   Offline Jakarta   ·   Private discussion</a:t>
            </a:r>
          </a:p>
          <a:p xmlns:a="http://schemas.openxmlformats.org/drawingml/2006/main">
            <a:r>
              <a:t>Usulan pilot. Benchmark ukuran grup: Vistage peer group 12–16 CEO (vistage.com). Alur pendaftaran dan kriteria review di speaker notes.</a:t>
            </a:r>
          </a:p>
          <a:p xmlns:a="http://schemas.openxmlformats.org/drawingml/2006/main">
            <a:r>
              <a:t>| </a:t>
            </a:r>
          </a:p>
          <a:p xmlns:a="http://schemas.openxmlformats.org/drawingml/2006/main">
            <a:r>
              <a:t>8</a:t>
            </a:r>
          </a:p>
          <a:p xmlns:a="http://schemas.openxmlformats.org/drawingml/2006/main">
            <a:r>
              <a:t>CATATAN PEMAPARAN</a:t>
            </a:r>
          </a:p>
          <a:p xmlns:a="http://schemas.openxmlformats.org/drawingml/2006/main">
            <a:r>
              <a:t>Setup room mengikuti venue; tidak menjanjikan satu meja. 3–4 kasus terpilih artinya bukan semua peserta mendapat bedah kasus individual.</a:t>
            </a:r>
          </a:p>
          <a:p xmlns:a="http://schemas.openxmlformats.org/drawingml/2006/main">
            <a:r>
              <a:t/>
            </a:r>
          </a:p>
          <a:p xmlns:a="http://schemas.openxmlformats.org/drawingml/2006/main">
            <a:r>
              <a:t>Setup room mengikuti venue; tidak menjanjikan satu meja. 3–4 kasus terpilih artinya bukan semua peserta mendapat bedah kasus individual.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case: fee Master Rp10 jt, venue Rp800 rb per orang, 24 orang, 20 paying seats. Break-even inti = (24 × 800 rb + 10 jt) ÷ 20 = Rp1,46 jt per seat; harga member Rp1,5 jt hanya menyisakan ±Rp40 rb per seat (±Rp0,8 jt per event) untuk biaya yang belum dimodelkan: dokumentasi, transport, materi, dan sebagian pajak/service. Break-even per paying seat = (24 orang × biaya venue/F&amp;B per orang + fee Master) ÷ 20 paying seats. Headcount 24 = 20 peserta + 1 Master + 3 tim CMC. Biru muda (≤Rp1,5 jt): harga member menutup biaya inti yang dimodelkan (venue/F&amp;B + fee Master), belum termasuk ops. Abu muda (&gt;Rp1,5 jt): butuh room campuran, contoh 10 member + 10 public = rata-rata Rp2,25 jt per seat. Di atas Rp2,25 jt butuh mayoritas public; tidak muncul di range ini. Sel navy berbingkai gold = base case. Room 10/10 masih aman sampai fee Master Rp21 jt bahkan di venue Rp1 jt. Venue publik (lampiran A4): Park Hyatt VIP 1+2 maksimal 20 orang, minimum dinner Rp10 jt++ (±Rp500 rb++/orang; ruang kurang untuk 24 orang); Ritz-Carlton dinner catering Rp540 rb (cek room charge); Westin dinner catering Rp850 rb; Raffles private dining Rp995 rb++ (nett ±Rp1,2 jt, format cabana). ++ = belum pajak dan service, biasanya ±21%. Ops (dokumentasi, transport, materi) belum dihitung. Kalau fee Master tinggi: buka public seat, cari sponsor, atau Master lewat relasi/partnership Kadin.</a:t>
            </a:r>
          </a:p>
          <a:p xmlns:a="http://schemas.openxmlformats.org/drawingml/2006/main">
            <a:r>
              <a:t>DETAIL DARI SLIDE SUMBER</a:t>
            </a:r>
          </a:p>
          <a:p xmlns:a="http://schemas.openxmlformats.org/drawingml/2006/main">
            <a:r>
              <a:t>INTIMATE DINNER</a:t>
            </a:r>
          </a:p>
          <a:p xmlns:a="http://schemas.openxmlformats.org/drawingml/2006/main">
            <a:r>
              <a:t>Rp1,5 jt / Rp3 jt adalah pilot price; final pricing harus mengikuti actual economics.</a:t>
            </a:r>
          </a:p>
          <a:p xmlns:a="http://schemas.openxmlformats.org/drawingml/2006/main">
            <a:r>
              <a:t>Harga diuji di tiga pilot; unit economics jadi dasar utama, benchmark kompetitor hanya pendukung.</a:t>
            </a:r>
          </a:p>
          <a:p xmlns:a="http://schemas.openxmlformats.org/drawingml/2006/main">
            <a:r>
              <a:t>USULAN PILOT · HARGA PER SEAT</a:t>
            </a:r>
          </a:p>
          <a:p xmlns:a="http://schemas.openxmlformats.org/drawingml/2006/main">
            <a:r>
              <a:t>CMC MEMBER</a:t>
            </a:r>
          </a:p>
          <a:p xmlns:a="http://schemas.openxmlformats.org/drawingml/2006/main">
            <a:r>
              <a:t>Rp1,5 jt</a:t>
            </a:r>
          </a:p>
          <a:p xmlns:a="http://schemas.openxmlformats.org/drawingml/2006/main">
            <a:r>
              <a:t>50% di bawah harga publik</a:t>
            </a:r>
          </a:p>
          <a:p xmlns:a="http://schemas.openxmlformats.org/drawingml/2006/main">
            <a:r>
              <a:t>NON-MEMBER</a:t>
            </a:r>
          </a:p>
          <a:p xmlns:a="http://schemas.openxmlformats.org/drawingml/2006/main">
            <a:r>
              <a:t>Rp3 jt</a:t>
            </a:r>
          </a:p>
          <a:p xmlns:a="http://schemas.openxmlformats.org/drawingml/2006/main">
            <a:r>
              <a:t>public anchor</a:t>
            </a:r>
          </a:p>
          <a:p xmlns:a="http://schemas.openxmlformats.org/drawingml/2006/main">
            <a:r>
              <a:t>Dasar utama: </a:t>
            </a:r>
          </a:p>
          <a:p xmlns:a="http://schemas.openxmlformats.org/drawingml/2006/main">
            <a:r>
              <a:t>unit economics. Break-even inti base case ±Rp1,46 jt per paying seat (slide 10).</a:t>
            </a:r>
          </a:p>
          <a:p xmlns:a="http://schemas.openxmlformats.org/drawingml/2006/main">
            <a:r>
              <a:t>Harga final: </a:t>
            </a:r>
          </a:p>
          <a:p xmlns:a="http://schemas.openxmlformats.org/drawingml/2006/main">
            <a:r>
              <a:t>mengikuti biaya aktual venue + fee Master dari tiga pilot.</a:t>
            </a:r>
          </a:p>
          <a:p xmlns:a="http://schemas.openxmlformats.org/drawingml/2006/main">
            <a:r>
              <a:t>Satu dinner memberi member benefit Rp1,5 jt yang langsung kelihatan.</a:t>
            </a:r>
          </a:p>
          <a:p xmlns:a="http://schemas.openxmlformats.org/drawingml/2006/main">
            <a:r>
              <a:t>BENCHMARK SEKUNDER</a:t>
            </a:r>
          </a:p>
          <a:p xmlns:a="http://schemas.openxmlformats.org/drawingml/2006/main">
            <a:r>
              <a:t>+Rp3,5 jt</a:t>
            </a:r>
          </a:p>
          <a:p xmlns:a="http://schemas.openxmlformats.org/drawingml/2006/main">
            <a:r>
              <a:t>Sevenpreneur, uplift Regular → VIP</a:t>
            </a:r>
          </a:p>
          <a:p xmlns:a="http://schemas.openxmlformats.org/drawingml/2006/main">
            <a:r>
              <a:t>+Rp6 jt</a:t>
            </a:r>
          </a:p>
          <a:p xmlns:a="http://schemas.openxmlformats.org/drawingml/2006/main">
            <a:r>
              <a:t>Aksoro CEO 3.0, uplift online → offline</a:t>
            </a:r>
          </a:p>
          <a:p xmlns:a="http://schemas.openxmlformats.org/drawingml/2006/main">
            <a:r>
              <a:t>Benchmark hanya menunjukkan willingness-to-pay untuk akses yang lebih dekat; ini harga paket premium penuh, bukan harga dinner.</a:t>
            </a:r>
          </a:p>
          <a:p xmlns:a="http://schemas.openxmlformats.org/drawingml/2006/main">
            <a:r>
              <a:t>Source: sevenpreneur.com Batch 8; aksoro.co.id, info.aksoro.co.id (offline early bird); dicek 3 Okt 2026. Detail early access, launch benefit, bundle: speaker notes.</a:t>
            </a:r>
          </a:p>
          <a:p xmlns:a="http://schemas.openxmlformats.org/drawingml/2006/main">
            <a:r>
              <a:t>| </a:t>
            </a:r>
          </a:p>
          <a:p xmlns:a="http://schemas.openxmlformats.org/drawingml/2006/main">
            <a:r>
              <a:t>9</a:t>
            </a:r>
          </a:p>
          <a:p xmlns:a="http://schemas.openxmlformats.org/drawingml/2006/main">
            <a:r>
              <a:t>CATATAN PEMAPARAN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USULAN PILOT. BEP inti dinner = (24 × venue/head + fee Master) ÷20 paying seats. Base: 24×Rp800.000 + Rp10.000.000 = Rp29.200.000; BEP Rp1.460.000. Member Rp1.500.000 menyisakan Rp40.000/seat atau Rp800.000 total sebelum ops, transport, dokumentasi, pajak/service yang belum tercakup. Bukan margin bersih. Venue range Rp600.000–1.000.000, fee Master Rp0/5/10/15/20 jt adalah skenario. 24 headcount =20 peserta+1Master+3tim. Mix10member+10public menghasilkan Rp45 jt; semua member Rp30 jt. Actual quotation venue dan Master harus dikunci. Benchmark venue tetap pada appendix A4 dan notes sumber.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Tiga pilot Dinner menguji repeatability antar Master/topik dan mengurangi bias satu event. Ukur applications/seat, paid conversion, member/public mix, attendance, waitlist, NPS, contribution margin, repeat intent. Target keberhasilan numerik belum ditetapkan. Founder Live: 8 sesi Selasa/Kamis 3–26 Nov 2026, waktu usulan 19.00–20.30 WIB. Base subscribe Rp34.655.839 sebelum pajak, rental alternatif Rp34.800.000. Approve dulu TOR, PIC, shortlist, dan ceiling budget; semua kandidat/tanggal menunggu konfirmasi.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RISET SPEAKER, diakses 6 Oktober 2026. Semua penempatan di bawah adalah rekomendasi, bukan bukti booking, kesediaan, fee atau ketersediaan tanggal. Jabatan berdasarkan sumber yang disebut, dapat berubah. Tidak menggunakan ukuran popularitas sebagai pengganti kecocokan case.</a:t>
            </a:r>
          </a:p>
          <a:p xmlns:a="http://schemas.openxmlformats.org/drawingml/2006/main">
            <a:r>
              <a:t/>
            </a:r>
          </a:p>
          <a:p xmlns:a="http://schemas.openxmlformats.org/drawingml/2006/main">
            <a:r>
              <a:t>Yukka Harlanda — Utama 3 Nov / Mindset</a:t>
            </a:r>
          </a:p>
          <a:p xmlns:a="http://schemas.openxmlformats.org/drawingml/2006/main">
            <a:r>
              <a:t>Brodo; co-founder, profil Endeavor. Pengalaman membangun brand cocok untuk membahas keputusan bertahan atau mengubah arah. Minta satu keputusan konkret beserta kondisi awal, opsi, dan hasil; jangan mengulang klaim jumlah toko tanpa bukti.</a:t>
            </a:r>
          </a:p>
          <a:p xmlns:a="http://schemas.openxmlformats.org/drawingml/2006/main">
            <a:r>
              <a:t>Sumber: https://indonesia.endeavor.org/399628-2/</a:t>
            </a:r>
          </a:p>
          <a:p xmlns:a="http://schemas.openxmlformats.org/drawingml/2006/main">
            <a:r>
              <a:t/>
            </a:r>
          </a:p>
          <a:p xmlns:a="http://schemas.openxmlformats.org/drawingml/2006/main">
            <a:r>
              <a:t>Dokter Tirta — Utama 5 Nov / Problem Solving</a:t>
            </a:r>
          </a:p>
          <a:p xmlns:a="http://schemas.openxmlformats.org/drawingml/2006/main">
            <a:r>
              <a:t>Praktisi usaha Shoes and Care; sesi kewirausahaan UGM mendukung relevansi pengalaman bisnis. Fit untuk diagnosis masalah operasional, prioritas dan keputusan dengan informasi terbatas. Ini pemetaan editorial, bukan sertifikasi kompetensi.</a:t>
            </a:r>
          </a:p>
          <a:p xmlns:a="http://schemas.openxmlformats.org/drawingml/2006/main">
            <a:r>
              <a:t>Sumber: https://feb.ugm.ac.id/id/berita/5000-dr-tirta-bagikan-tips-mengelola-usaha-di-era-digital</a:t>
            </a:r>
          </a:p>
          <a:p xmlns:a="http://schemas.openxmlformats.org/drawingml/2006/main">
            <a:r>
              <a:t/>
            </a:r>
          </a:p>
          <a:p xmlns:a="http://schemas.openxmlformats.org/drawingml/2006/main">
            <a:r>
              <a:t>Anthony Soehartono — Utama 10 Nov / Team</a:t>
            </a:r>
          </a:p>
          <a:p xmlns:a="http://schemas.openxmlformats.org/drawingml/2006/main">
            <a:r>
              <a:t>BP Consulting Group dan Komisaris Independen PT Mega Perintis Tbk, bukan jabatan korporat bernama Commissioner Manzone. Profil perusahaan mengonfirmasi pengalaman strategi. Brief diarahkan ke perekrutan pertama, skill/trust dan pembagian keputusan, bukan presentasi motivasi.</a:t>
            </a:r>
          </a:p>
          <a:p xmlns:a="http://schemas.openxmlformats.org/drawingml/2006/main">
            <a:r>
              <a:t>Sumber: https://www.kaisar-ceramics.com/profile/board-of-commissioners/anthony-soehartono/</a:t>
            </a:r>
          </a:p>
          <a:p xmlns:a="http://schemas.openxmlformats.org/drawingml/2006/main">
            <a:r>
              <a:t/>
            </a:r>
          </a:p>
          <a:p xmlns:a="http://schemas.openxmlformats.org/drawingml/2006/main">
            <a:r>
              <a:t>Christopher Aldo — Utama 12 Nov / Product</a:t>
            </a:r>
          </a:p>
          <a:p xmlns:a="http://schemas.openxmlformats.org/drawingml/2006/main">
            <a:r>
              <a:t>Co-founder Yellow Fit Kitchen, terkonfirmasi rilis perusahaan. Pengalaman mengembangkan layanan makanan relevan untuk customer problem, minimum value dan value proposition. Klaim guarantee dan margin hanya dipakai jika speaker membawa data yang boleh dibagikan.</a:t>
            </a:r>
          </a:p>
          <a:p xmlns:a="http://schemas.openxmlformats.org/drawingml/2006/main">
            <a:r>
              <a:t>Sumber: https://www.prnewswire.com/news-releases/yellow-fit-kitchens-founders-gregorius-ruben-and-christopher-aldo-announce-plan-to-tackle-increased-obesity-rate-in-indonesia-301400076.html</a:t>
            </a:r>
          </a:p>
          <a:p xmlns:a="http://schemas.openxmlformats.org/drawingml/2006/main">
            <a:r>
              <a:t/>
            </a:r>
          </a:p>
          <a:p xmlns:a="http://schemas.openxmlformats.org/drawingml/2006/main">
            <a:r>
              <a:t>Aristia Chen — Utama 17 Nov / Go-to-Market</a:t>
            </a:r>
          </a:p>
          <a:p xmlns:a="http://schemas.openxmlformats.org/drawingml/2006/main">
            <a:r>
              <a:t>CMO Mazuta Group Indonesia berdasarkan profil profesional mandiri. Fit marketing/distribusi untuk pilihan channel, uji pricing, sales approach dan repeatability. Status jabatan dikonfirmasi saat approach.</a:t>
            </a:r>
          </a:p>
          <a:p xmlns:a="http://schemas.openxmlformats.org/drawingml/2006/main">
            <a:r>
              <a:t>Sumber: https://id.linkedin.com/in/aristia-chen-627609243</a:t>
            </a:r>
          </a:p>
          <a:p xmlns:a="http://schemas.openxmlformats.org/drawingml/2006/main">
            <a:r>
              <a:t/>
            </a:r>
          </a:p>
          <a:p xmlns:a="http://schemas.openxmlformats.org/drawingml/2006/main">
            <a:r>
              <a:t>Daniel Sidik — Utama 19 Nov / Operations</a:t>
            </a:r>
          </a:p>
          <a:p xmlns:a="http://schemas.openxmlformats.org/drawingml/2006/main">
            <a:r>
              <a:t>Co-founder Jago Coffee, profil resmi membahas peran COO/CMO, penyesuaian harga dan SOP. Cocok untuk bottleneck operasional dan standardisasi. Legalitas/kontrak perlu review materi oleh PIC yang kompeten, tidak diasumsikan sebagai keahlian hukum speaker.</a:t>
            </a:r>
          </a:p>
          <a:p xmlns:a="http://schemas.openxmlformats.org/drawingml/2006/main">
            <a:r>
              <a:t>Sumber: https://www.jagocoffee.com/story/berkenalan-dengan-daniel-sidik-co-founder-terbaru-jago-coffee</a:t>
            </a:r>
          </a:p>
          <a:p xmlns:a="http://schemas.openxmlformats.org/drawingml/2006/main">
            <a:r>
              <a:t/>
            </a:r>
          </a:p>
          <a:p xmlns:a="http://schemas.openxmlformats.org/drawingml/2006/main">
            <a:r>
              <a:t>Daniel Liu — Utama 24 Nov / Finance</a:t>
            </a:r>
          </a:p>
          <a:p xmlns:a="http://schemas.openxmlformats.org/drawingml/2006/main">
            <a:r>
              <a:t>Nama Daniel Rocketindo dinormalisasi ke Daniel Liu. Situs Rocketindo memuat pengalaman bootstrap, profit dan kebutuhan modal. Ini mendukung case cash flow dan working capital; bukan bukti keahlian pajak. Minta contoh cash cycle sederhana dan angka yang boleh diungkap.</a:t>
            </a:r>
          </a:p>
          <a:p xmlns:a="http://schemas.openxmlformats.org/drawingml/2006/main">
            <a:r>
              <a:t>Sumber: https://rocketindo.asia/blogs/news/ecommerce-enabler-rocketindo-bootstraps-its-way-to-300-growth-profitability</a:t>
            </a:r>
          </a:p>
          <a:p xmlns:a="http://schemas.openxmlformats.org/drawingml/2006/main">
            <a:r>
              <a:t/>
            </a:r>
          </a:p>
          <a:p xmlns:a="http://schemas.openxmlformats.org/drawingml/2006/main">
            <a:r>
              <a:t>Winston Utomo — Utama 26 Nov / Scale</a:t>
            </a:r>
          </a:p>
          <a:p xmlns:a="http://schemas.openxmlformats.org/drawingml/2006/main">
            <a:r>
              <a:t>Founder IDN; pengumuman resmi pendanaan Series D membuktikan pengalaman external capital dan scaling. Brief: readiness, trade-off bootstrap vs modal eksternal dan kesiapan investor. Jangan menyamakan besarnya funding dengan keberhasilan semua bisnis.</a:t>
            </a:r>
          </a:p>
          <a:p xmlns:a="http://schemas.openxmlformats.org/drawingml/2006/main">
            <a:r>
              <a:t>Sumber: https://www.idn.media/news/222/idn-media-secures-a-series-d-investment</a:t>
            </a:r>
          </a:p>
          <a:p xmlns:a="http://schemas.openxmlformats.org/drawingml/2006/main">
            <a:r>
              <a:t/>
            </a:r>
          </a:p>
          <a:p xmlns:a="http://schemas.openxmlformats.org/drawingml/2006/main">
            <a:r>
              <a:t>Nicholas Dennis — Alternatif GTM / Finance</a:t>
            </a:r>
          </a:p>
          <a:p xmlns:a="http://schemas.openxmlformats.org/drawingml/2006/main">
            <a:r>
              <a:t>Founder BD Ekspor, berdasarkan situs resmi. Kuat untuk market entry ekspor, buyer, termin pembayaran dan kebutuhan modal kerja. Arah cash-flow adalah usulan case, bukan klaim bahwa ia ahli pajak. Layak diprioritaskan sebagai pengganti Finance jika bisa membawa case arus kas ekspor yang sesuai; jangan mengubah modul menjadi seminar ekspor saja.</a:t>
            </a:r>
          </a:p>
          <a:p xmlns:a="http://schemas.openxmlformats.org/drawingml/2006/main">
            <a:r>
              <a:t>Sumber: https://bdekspor.com/</a:t>
            </a:r>
          </a:p>
          <a:p xmlns:a="http://schemas.openxmlformats.org/drawingml/2006/main">
            <a:r>
              <a:t/>
            </a:r>
          </a:p>
          <a:p xmlns:a="http://schemas.openxmlformats.org/drawingml/2006/main">
            <a:r>
              <a:t>Purwa Hartono — Alternatif Mindset / Product</a:t>
            </a:r>
          </a:p>
          <a:p xmlns:a="http://schemas.openxmlformats.org/drawingml/2006/main">
            <a:r>
              <a:t>Founder Purwadhika; sejarah organisasi dan pengembangan kurikulum memberi dasar untuk perubahan produk dan relevansi pasar.</a:t>
            </a:r>
          </a:p>
          <a:p xmlns:a="http://schemas.openxmlformats.org/drawingml/2006/main">
            <a:r>
              <a:t>Sumber: https://www.purwadhika.com/about-us</a:t>
            </a:r>
          </a:p>
          <a:p xmlns:a="http://schemas.openxmlformats.org/drawingml/2006/main">
            <a:r>
              <a:t/>
            </a:r>
          </a:p>
          <a:p xmlns:a="http://schemas.openxmlformats.org/drawingml/2006/main">
            <a:r>
              <a:t>Samuel Christ — Alternatif Go-to-Market</a:t>
            </a:r>
          </a:p>
          <a:p xmlns:a="http://schemas.openxmlformats.org/drawingml/2006/main">
            <a:r>
              <a:t>Co-founder Seefluencer, dikonfirmasi halaman produk resmi. Fit untuk channel content, audience dan konversi. Brief wajib menghubungkan reach ke hasil penjualan, bukan hanya follower.</a:t>
            </a:r>
          </a:p>
          <a:p xmlns:a="http://schemas.openxmlformats.org/drawingml/2006/main">
            <a:r>
              <a:t>Sumber: https://www.seefluencer.com/mcs</a:t>
            </a:r>
          </a:p>
          <a:p xmlns:a="http://schemas.openxmlformats.org/drawingml/2006/main">
            <a:r>
              <a:t/>
            </a:r>
          </a:p>
          <a:p xmlns:a="http://schemas.openxmlformats.org/drawingml/2006/main">
            <a:r>
              <a:t>dr. Richard Lee — Alternatif Product / Go-to-Market</a:t>
            </a:r>
          </a:p>
          <a:p xmlns:a="http://schemas.openxmlformats.org/drawingml/2006/main">
            <a:r>
              <a:t>Founder Athena berdasarkan halaman brand. Pengalaman brand/edukasi pasar dapat dipakai untuk case bisnis; jangan menjadikan sesi sebagai promosi atau pembahasan medis. Status availability dan scope perlu konfirmasi seperti kandidat lain.</a:t>
            </a:r>
          </a:p>
          <a:p xmlns:a="http://schemas.openxmlformats.org/drawingml/2006/main">
            <a:r>
              <a:t>Sumber: https://athena-shop.id/about-us</a:t>
            </a:r>
          </a:p>
          <a:p xmlns:a="http://schemas.openxmlformats.org/drawingml/2006/main">
            <a:r>
              <a:t/>
            </a:r>
          </a:p>
          <a:p xmlns:a="http://schemas.openxmlformats.org/drawingml/2006/main">
            <a:r>
              <a:t>Jill Gladys — Alternatif bersyarat Product / Operations</a:t>
            </a:r>
          </a:p>
          <a:p xmlns:a="http://schemas.openxmlformats.org/drawingml/2006/main">
            <a:r>
              <a:t>Pengguna menyebut Wolf Gang Steak. Penelusuran belum menemukan sumber resmi yang mengonfirmasi hubungan ini. Jangan tulis founder/owner Wolfgang sebagai fakta. Minta nama badan usaha, jabatan dan contoh pengalaman mengelola F&amp;B sebelum menetapkan slot. Penempatan sementara berdasar konteks internal pengguna.</a:t>
            </a:r>
          </a:p>
          <a:p xmlns:a="http://schemas.openxmlformats.org/drawingml/2006/main">
            <a:r>
              <a:t>Sumber: Belum ada sumber resmi yang memadai; daftar pengguna, 6 Oktober 2026.</a:t>
            </a:r>
          </a:p>
          <a:p xmlns:a="http://schemas.openxmlformats.org/drawingml/2006/main">
            <a:r>
              <a:t/>
            </a:r>
          </a:p>
          <a:p xmlns:a="http://schemas.openxmlformats.org/drawingml/2006/main">
            <a:r>
              <a:t>FX Iwan — Alternatif bersyarat Finance / Scale</a:t>
            </a:r>
          </a:p>
          <a:p xmlns:a="http://schemas.openxmlformats.org/drawingml/2006/main">
            <a:r>
              <a:t>Situs Trinity memuat FX Iwan sebagai CEO Jagartha Advisor, berbeda dari label umum Media Production yang diberikan. Kredit film dengan nama serupa belum cukup untuk menyamakan identitas. Konfirmasi orang, jabatan dan perusahaan terlebih dulu. Bila cocok, topik modal/investasi mungkin relevan.</a:t>
            </a:r>
          </a:p>
          <a:p xmlns:a="http://schemas.openxmlformats.org/drawingml/2006/main">
            <a:r>
              <a:t>Sumber: https://www.trinityproduction.com/news/trinity-optima-production-da6202723632652b42000135</a:t>
            </a:r>
          </a:p>
          <a:p xmlns:a="http://schemas.openxmlformats.org/drawingml/2006/main">
            <a:r>
              <a:t/>
            </a:r>
          </a:p>
          <a:p xmlns:a="http://schemas.openxmlformats.org/drawingml/2006/main">
            <a:r>
              <a:t>Cadangan lintas slot: Purwa untuk Mindset/Product; Samuel untuk GTM; Nicholas untuk GTM/Finance setelah brief; Daniel Liu untuk Scale bila Winston tidak tersedia; Anthony untuk Operations bila case sesuai. Jika kandidat utama dan cadangan sama-sama sudah mengisi, jangan otomatis memberi satu orang dua sesi. Kembali ke shortlist dan konfirmasi kapasitas.</a:t>
            </a:r>
          </a:p>
          <a:p xmlns:a="http://schemas.openxmlformats.org/drawingml/2006/main">
            <a:r>
              <a:t>Batas penting: modul Operational &amp; Legal dan Finance &amp; Tax tetap mengikuti PDF. Speaker founder membahas keputusan bisnis. Detail hukum/pajak harus melalui review pihak yang kompeten sebelum dibagikan; ini kebutuhan review, bukan penambahan fee fiktif. Tidak semua kandidat otomatis bisa mengajar seluruh isi modul.</a:t>
            </a:r>
          </a:p>
          <a:p xmlns:a="http://schemas.openxmlformats.org/drawingml/2006/main">
            <a:r>
              <a:t>KEBUTUHAN DAN ALUR OPERASIONAL</a:t>
            </a:r>
          </a:p>
          <a:p xmlns:a="http://schemas.openxmlformats.org/drawingml/2006/main">
            <a:r>
              <a:t>Tools existing: Google Form untuk pertanyaan/profil usaha/feedback; Google Sheets untuk kurasi dan kehadiran; kanal WhatsApp/email CMC untuk reminder; Zoom kapasitas 1.000 untuk live/recording; LMS/Drive CMC untuk arsip sesuai akses dan storage yang tersedia. Tidak perlu Kahoot, Slido, sound system, hadiah/apresiasi speaker atau produksi tambahan di base.</a:t>
            </a:r>
          </a:p>
          <a:p xmlns:a="http://schemas.openxmlformats.org/drawingml/2006/main">
            <a:r>
              <a:t>Peralatan: laptop host dan operator, headset/mic, internet stabil, jalur cadangan/hotspot, ruang tenang, power dan recording storage. Cek ketersediaan internal; jangan menganggap kebutuhan baru pasti gratis. Jika perlu pembelian baru gunakan actual quote, tidak dimasukkan secara fiktif ke base.</a:t>
            </a:r>
          </a:p>
          <a:p xmlns:a="http://schemas.openxmlformats.org/drawingml/2006/main">
            <a:r>
              <a:t>PIC: product lead mengunci tujuan, jadwal, budget dan TOR; speaker coordinator mengurus briefing/approval materi; kurator mengelompokkan case; host memilih pertanyaan dan menjaga waktu; operator mengelola peserta, mute, share, rekaman dan backup link; admin mengirim reminder, merekap kehadiran dan mengunggah arsip. Finance mengonfirmasi gross/nett dan pajak. Nama personil TBD. Tim existing, tidak dibuat memo biaya jam kerja.</a:t>
            </a:r>
          </a:p>
          <a:p xmlns:a="http://schemas.openxmlformats.org/drawingml/2006/main">
            <a:r>
              <a:t>H-7: buka form per sesi. H-3: shortlist dan case dikirim ke speaker, briefing 20–25 menit disepakati. H-1: uji akses, audio, slide/screen share, recording/storage, host/co-host dan recovery. Hari H: operator standby minimal 30 menit sebelum live, speaker masuk 10 menit sebelum mulai. H+1: feedback dan ringkasan awal. Maks H+3: rekaman berizin dan catatan di LMS. Dua pipeline sesi berjalan paralel.</a:t>
            </a:r>
          </a:p>
          <a:p xmlns:a="http://schemas.openxmlformats.org/drawingml/2006/main">
            <a:r>
              <a:t>Contoh sesi 3 Nov: form 27 Okt, shortlist 31 Okt, tech check 2 Nov, live 3 Nov, unggah maksimal 6 Nov. Karena H-3 jatuh Sabtu, kurasi dan pengiriman bisa dimajukan ke Jumat 30 Okt. Sesi 5 Nov: form 29 Okt, shortlist 2 Nov, tech check 4 Nov, unggah maks 8 Nov atau dimajukan ke Jumat 6 Nov. Persiapan menyesuaikan hari kerja tim; kelas tetap weekday.</a:t>
            </a:r>
          </a:p>
          <a:p xmlns:a="http://schemas.openxmlformats.org/drawingml/2006/main">
            <a:r>
              <a:t>Ketentuan rental: pastikan 1.000 total capacity, format Meeting/Webinar, host/co-host, operator jika termasuk, akses recording dan report, durasi slot yang mencakup backstage + 90 menit + buffer, seluruh tanggal, hak penggunaan akun dan dukungan jika ada gangguan. Jangan meminta atau menyimpan password vendor dalam deck.</a:t>
            </a:r>
          </a:p>
          <a:p xmlns:a="http://schemas.openxmlformats.org/drawingml/2006/main">
            <a:r>
              <a:t>Ketentuan subscribe: aktifkan satu siklus yang mencakup seluruh kelas, cek auto-renew dan quota storage. Pro + Large Meeting tidak diasumsikan punya Q&amp;A terstruktur seperti Webinar; gunakan form, mic/chat dan raise hand terkurasi. Jika pengalaman Webinar dibutuhkan, anggarkan alternatif dengan sadar.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PERHITUNGAN TERBARU, 1 BULAN / 8 SESI</a:t>
            </a:r>
          </a:p>
          <a:p xmlns:a="http://schemas.openxmlformats.org/drawingml/2006/main">
            <a:r>
              <a:t>Budget internal speaker: optimis 8×Rp3.000.000=Rp24.000.000; base 8×Rp4.000.000=Rp32.000.000; pesimis 8×Rp5.000.000=Rp40.000.000. Bukan quotation atau market benchmark.</a:t>
            </a:r>
          </a:p>
          <a:p xmlns:a="http://schemas.openxmlformats.org/drawingml/2006/main">
            <a:r>
              <a:t>Subscribe Pro+Large Meeting 1.000: Rp271.840 + Rp2.383.999 = Rp2,655,839/bulan. Ini acuan checkout sebelumnya yang disimpan dalam deck, bukan verifikasi tarif baru. Seluruh kelas harus tercakup dalam satu siklus.</a:t>
            </a:r>
          </a:p>
          <a:p xmlns:a="http://schemas.openxmlformats.org/drawingml/2006/main">
            <a:r>
              <a:t>Sewa 1.000: Rp350.000/sesi ×8 = Rp2,800,000; angka pengguna sebagai asumsi, bukan quotation vendor.</a:t>
            </a:r>
          </a:p>
          <a:p xmlns:a="http://schemas.openxmlformats.org/drawingml/2006/main">
            <a:r>
              <a:t>Selisih: Rp144,161; subscribe sekitar 5.15% lebih murah dari sewa menurut acuan tersebut.</a:t>
            </a:r>
          </a:p>
          <a:p xmlns:a="http://schemas.openxmlformats.org/drawingml/2006/main">
            <a:r>
              <a:t>Total subscribe optimis/base/pesimis: Rp26.655.839 / Rp34.655.839 / Rp42.655.839. Total rental: Rp26.800.000 / Rp34.800.000 / Rp42.800.000. Pilih salah satu, tidak dijumlahkan.</a:t>
            </a:r>
          </a:p>
          <a:p xmlns:a="http://schemas.openxmlformats.org/drawingml/2006/main">
            <a:r>
              <a:t>Sebelum pajak/gross-up jika fee disepakati nett. Belum mengklaim ceiling termasuk seluruh kewajiban pajak. Actual quote dan Finance menentukan final.</a:t>
            </a:r>
          </a:p>
          <a:p xmlns:a="http://schemas.openxmlformats.org/drawingml/2006/main">
            <a:r>
              <a:t>Cost per peserta unik batch, bukan CAC dan bukan akumulasi absensi delapan sesi:</a:t>
            </a:r>
          </a:p>
          <a:p xmlns:a="http://schemas.openxmlformats.org/drawingml/2006/main">
            <a:r>
              <a:t>500 peserta, subscribe optimis/base/pesimis = Rp53,312 / Rp69,312 / Rp85,312; rental = Rp53,600 / Rp69,600 / Rp85,600.</a:t>
            </a:r>
          </a:p>
          <a:p xmlns:a="http://schemas.openxmlformats.org/drawingml/2006/main">
            <a:r>
              <a:t>750 peserta, subscribe optimis/base/pesimis = Rp35,541 / Rp46,208 / Rp56,874; rental = Rp35,733 / Rp46,400 / Rp57,067.</a:t>
            </a:r>
          </a:p>
          <a:p xmlns:a="http://schemas.openxmlformats.org/drawingml/2006/main">
            <a:r>
              <a:t>1000 peserta, subscribe optimis/base/pesimis = Rp26,656 / Rp34,656 / Rp42,656; rental = Rp26,800 / Rp34,800 / Rp42,800.</a:t>
            </a:r>
          </a:p>
          <a:p xmlns:a="http://schemas.openxmlformats.org/drawingml/2006/main">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a:p xmlns:a="http://schemas.openxmlformats.org/drawingml/2006/main">
            <a:r>
              <a:t>Acuan sumber Zoom: https://www.zoom.com/en/products/virtual-meetings/features/large-meetings/ ; https://www.zoom.com/en/products/virtual-meetings/ ; https://support.zoom.com/hc/en/article?id=zm_kb&amp;sysparm_article=KB0057887 ; https://support.zoom.com/hc/en/article?id=zm_kb&amp;sysparm_article=KB0062404 . Angka IDR berasal dari checkout deck sebelumnya, tidak diverifikasi ulang sebagai penawaran Oktober. Large Meeting total capacity mencakup host/speaker/tim, bukan 1.000 peserta berbayar ditambah tim. Q&amp;A khusus Meeting membutuhkan lisensi yang sesuai, sementara Pro memakai mic/chat/raise hand. Recording rights dan kuota storage dicek.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Rencana Founder Live terbaru: 8 sesi, Selasa/Kamis, 3–26 November 2026. Jam usulan 19.00–20.30 WIB. Speaker, tanggal dan honor belum confirmed. Founder Live batch pertama sudah termasuk membership Rp1,5 jt. Angka 3–5 jt per speaker adalah budget internal, bukan market fee. Subscribe Pro + Large Meeting 1.000 satu bulan Rp2.655.839 adalah acuan checkout deck sebelumnya, belum penawaran baru; sewa Rp350.000/sesi adalah asumsi internal. Tidak menjumlahkan kedua opsi Zoom. Pajak dan gross/nett belum final.</a:t>
            </a:r>
          </a:p>
          <a:p xmlns:a="http://schemas.openxmlformats.org/drawingml/2006/main">
            <a:r>
              <a:t/>
            </a:r>
          </a:p>
          <a:p xmlns:a="http://schemas.openxmlformats.org/drawingml/2006/main">
            <a:r>
              <a:t>PERHITUNGAN TERBARU, 1 BULAN / 8 SESI</a:t>
            </a:r>
          </a:p>
          <a:p xmlns:a="http://schemas.openxmlformats.org/drawingml/2006/main">
            <a:r>
              <a:t>Budget internal speaker: optimis 8×Rp3.000.000=Rp24.000.000; base 8×Rp4.000.000=Rp32.000.000; pesimis 8×Rp5.000.000=Rp40.000.000. Bukan quotation atau market benchmark.</a:t>
            </a:r>
          </a:p>
          <a:p xmlns:a="http://schemas.openxmlformats.org/drawingml/2006/main">
            <a:r>
              <a:t>Subscribe Pro+Large Meeting 1.000: Rp271.840 + Rp2.383.999 = Rp2,655,839/bulan. Ini acuan checkout sebelumnya yang disimpan dalam deck, bukan verifikasi tarif baru. Seluruh kelas harus tercakup dalam satu siklus.</a:t>
            </a:r>
          </a:p>
          <a:p xmlns:a="http://schemas.openxmlformats.org/drawingml/2006/main">
            <a:r>
              <a:t>Sewa 1.000: Rp350.000/sesi ×8 = Rp2,800,000; angka pengguna sebagai asumsi, bukan quotation vendor.</a:t>
            </a:r>
          </a:p>
          <a:p xmlns:a="http://schemas.openxmlformats.org/drawingml/2006/main">
            <a:r>
              <a:t>Selisih: Rp144,161; subscribe sekitar 5.15% lebih murah dari sewa menurut acuan tersebut.</a:t>
            </a:r>
          </a:p>
          <a:p xmlns:a="http://schemas.openxmlformats.org/drawingml/2006/main">
            <a:r>
              <a:t>Total subscribe optimis/base/pesimis: Rp26.655.839 / Rp34.655.839 / Rp42.655.839. Total rental: Rp26.800.000 / Rp34.800.000 / Rp42.800.000. Pilih salah satu, tidak dijumlahkan.</a:t>
            </a:r>
          </a:p>
          <a:p xmlns:a="http://schemas.openxmlformats.org/drawingml/2006/main">
            <a:r>
              <a:t>Sebelum pajak/gross-up jika fee disepakati nett. Belum mengklaim ceiling termasuk seluruh kewajiban pajak. Actual quote dan Finance menentukan final.</a:t>
            </a:r>
          </a:p>
          <a:p xmlns:a="http://schemas.openxmlformats.org/drawingml/2006/main">
            <a:r>
              <a:t>Cost per peserta unik batch, bukan CAC dan bukan akumulasi absensi delapan sesi:</a:t>
            </a:r>
          </a:p>
          <a:p xmlns:a="http://schemas.openxmlformats.org/drawingml/2006/main">
            <a:r>
              <a:t>500 peserta, subscribe optimis/base/pesimis = Rp53,312 / Rp69,312 / Rp85,312; rental = Rp53,600 / Rp69,600 / Rp85,600.</a:t>
            </a:r>
          </a:p>
          <a:p xmlns:a="http://schemas.openxmlformats.org/drawingml/2006/main">
            <a:r>
              <a:t>750 peserta, subscribe optimis/base/pesimis = Rp35,541 / Rp46,208 / Rp56,874; rental = Rp35,733 / Rp46,400 / Rp57,067.</a:t>
            </a:r>
          </a:p>
          <a:p xmlns:a="http://schemas.openxmlformats.org/drawingml/2006/main">
            <a:r>
              <a:t>1000 peserta, subscribe optimis/base/pesimis = Rp26,656 / Rp34,656 / Rp42,656; rental = Rp26,800 / Rp34,800 / Rp42,800.</a:t>
            </a:r>
          </a:p>
          <a:p xmlns:a="http://schemas.openxmlformats.org/drawingml/2006/main">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a:p xmlns:a="http://schemas.openxmlformats.org/drawingml/2006/main">
            <a:r>
              <a:t>Klasifikasi: honor variable per sesi; Zoom subscribe fixed selama satu periode; sewa variable per sesi; pajak sesuai kontrak/Finance. Tim internal memakai kapasitas existing, tidak dimonetisasi sebagai non-cash memo. Tidak ada apresiasi speaker atau tools tambahan dalam budget. Jika kebutuhan baru berbiaya muncul, wajib actual quote dan approval terpisah.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 jenis sertifikat yang harus dibedakan di komunikasi produk. Sertifikat CMC: bukti penyelesaian program, diterbitkan CMC, bukan sertifikat kompetensi BNSP; tidak boleh dikomunikasikan sebagai BNSP. Sertifikat kompetensi BNSP: diterbitkan lewat Lembaga Sertifikasi Profesi (LSP) yang berlisensi BNSP setelah uji kompetensi; atas nama LSP mitra, bukan CMC atau Kadin. CMC hanya bisa menerbitkannya sendiri kalau nanti mendirikan atau bermitra sebagai LSP yang berlisensi. Biaya di tabel adalah harga pasar dari daftar harga LSP dan penyedia pelatihan 2026 (kecuali Indo Asia, jadwal 2025), bukan tarif resmi BNSP; bisa berbeda antar LSP untuk skema yang sama; harga korporat biasanya dinegosiasi. Hitungan tier premium (CMC Pricing Deck): Rp2,5 jt tier kedua + Rp1 jt kenaikan + biaya uji Rp0,75–1,5 jt = Rp4,25–5 jt (Rp4,25 jt dengan skema jenjang dasar Digital Marketing yang kurang nyambung dengan materi CMC); dengan skema kewirausahaan (Rp1,5 jt + Rp0,2 jt pendaftaran) mendekati Rp5,2 jt. Opsi plus pelatihan (Rp2,5 jt) = Rp6 jt, di luar rekomendasi. Benchmark dipertahankan sampai LSP mitra dan skema dikonfirmasi.</a:t>
            </a:r>
          </a:p>
          <a:p xmlns:a="http://schemas.openxmlformats.org/drawingml/2006/main">
            <a:r>
              <a:t>DETAIL DARI SLIDE SUMBER</a:t>
            </a:r>
          </a:p>
          <a:p xmlns:a="http://schemas.openxmlformats.org/drawingml/2006/main">
            <a:r>
              <a:t>LAMPIRAN A4 · ECONOMICS INTIMATE DINNER</a:t>
            </a:r>
          </a:p>
          <a:p xmlns:a="http://schemas.openxmlformats.org/drawingml/2006/main">
            <a:r>
              <a:t>Break-even naik Rp250 rb per seat untuk tiap Rp5 jt fee Master; venue menentukan titik awalnya.</a:t>
            </a:r>
          </a:p>
          <a:p xmlns:a="http://schemas.openxmlformats.org/drawingml/2006/main">
            <a:r>
              <a:t>Sensitivitas break-even inti per paying seat terhadap fee Master, di dua ujung planning range venue.</a:t>
            </a:r>
          </a:p>
          <a:p xmlns:a="http://schemas.openxmlformats.org/drawingml/2006/main">
            <a:r>
              <a:t>BREAK-EVEN PER SEAT VS FEE MASTER</a:t>
            </a:r>
          </a:p>
          <a:p xmlns:a="http://schemas.openxmlformats.org/drawingml/2006/main">
            <a:r>
              <a:t>Rp jt per paying seat; fee Master Rp jt per event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3</a:t>
            </a:r>
          </a:p>
          <a:p xmlns:a="http://schemas.openxmlformats.org/drawingml/2006/main">
            <a:r>
              <a:t>0</a:t>
            </a:r>
          </a:p>
          <a:p xmlns:a="http://schemas.openxmlformats.org/drawingml/2006/main">
            <a:r>
              <a:t>5</a:t>
            </a:r>
          </a:p>
          <a:p xmlns:a="http://schemas.openxmlformats.org/drawingml/2006/main">
            <a:r>
              <a:t>10</a:t>
            </a:r>
          </a:p>
          <a:p xmlns:a="http://schemas.openxmlformats.org/drawingml/2006/main">
            <a:r>
              <a:t>15</a:t>
            </a:r>
          </a:p>
          <a:p xmlns:a="http://schemas.openxmlformats.org/drawingml/2006/main">
            <a:r>
              <a:t>20</a:t>
            </a:r>
          </a:p>
          <a:p xmlns:a="http://schemas.openxmlformats.org/drawingml/2006/main">
            <a:r>
              <a:t>Member 1,5</a:t>
            </a:r>
          </a:p>
          <a:p xmlns:a="http://schemas.openxmlformats.org/drawingml/2006/main">
            <a:r>
              <a:t>Mix 10/10: 2,25</a:t>
            </a:r>
          </a:p>
          <a:p xmlns:a="http://schemas.openxmlformats.org/drawingml/2006/main">
            <a:r>
              <a:t>Non-member 3,0</a:t>
            </a:r>
          </a:p>
          <a:p xmlns:a="http://schemas.openxmlformats.org/drawingml/2006/main">
            <a:r>
              <a:t>Venue 600 rb</a:t>
            </a:r>
          </a:p>
          <a:p xmlns:a="http://schemas.openxmlformats.org/drawingml/2006/main">
            <a:r>
              <a:t>Venue 1 jt</a:t>
            </a:r>
          </a:p>
          <a:p xmlns:a="http://schemas.openxmlformats.org/drawingml/2006/main">
            <a:r>
              <a:t>RUMUS</a:t>
            </a:r>
          </a:p>
          <a:p xmlns:a="http://schemas.openxmlformats.org/drawingml/2006/main">
            <a:r>
              <a:t>(24 × venue/orang + fee Master) ÷ 20 seat</a:t>
            </a:r>
          </a:p>
          <a:p xmlns:a="http://schemas.openxmlformats.org/drawingml/2006/main">
            <a:r>
              <a:t>24 orang = 20 peserta + 1 Master + 3 tim CMC</a:t>
            </a:r>
          </a:p>
          <a:p xmlns:a="http://schemas.openxmlformats.org/drawingml/2006/main">
            <a:r>
              <a:t>VENUE</a:t>
            </a:r>
          </a:p>
          <a:p xmlns:a="http://schemas.openxmlformats.org/drawingml/2006/main">
            <a:r>
              <a:t>PER ORANG</a:t>
            </a:r>
          </a:p>
          <a:p xmlns:a="http://schemas.openxmlformats.org/drawingml/2006/main">
            <a:r>
              <a:t>CATATAN</a:t>
            </a:r>
          </a:p>
          <a:p xmlns:a="http://schemas.openxmlformats.org/drawingml/2006/main">
            <a:r>
              <a:t>Park Hyatt</a:t>
            </a:r>
          </a:p>
          <a:p xmlns:a="http://schemas.openxmlformats.org/drawingml/2006/main">
            <a:r>
              <a:t>±Rp500 rb++</a:t>
            </a:r>
          </a:p>
          <a:p xmlns:a="http://schemas.openxmlformats.org/drawingml/2006/main">
            <a:r>
              <a:t>Maks 20 orang</a:t>
            </a:r>
          </a:p>
          <a:p xmlns:a="http://schemas.openxmlformats.org/drawingml/2006/main">
            <a:r>
              <a:t>Ritz-Carlton</a:t>
            </a:r>
          </a:p>
          <a:p xmlns:a="http://schemas.openxmlformats.org/drawingml/2006/main">
            <a:r>
              <a:t>Rp540 rb</a:t>
            </a:r>
          </a:p>
          <a:p xmlns:a="http://schemas.openxmlformats.org/drawingml/2006/main">
            <a:r>
              <a:t>Cek room charge</a:t>
            </a:r>
          </a:p>
          <a:p xmlns:a="http://schemas.openxmlformats.org/drawingml/2006/main">
            <a:r>
              <a:t>Westin</a:t>
            </a:r>
          </a:p>
          <a:p xmlns:a="http://schemas.openxmlformats.org/drawingml/2006/main">
            <a:r>
              <a:t>Rp850 rb</a:t>
            </a:r>
          </a:p>
          <a:p xmlns:a="http://schemas.openxmlformats.org/drawingml/2006/main">
            <a:r>
              <a:t>Dinner catering</a:t>
            </a:r>
          </a:p>
          <a:p xmlns:a="http://schemas.openxmlformats.org/drawingml/2006/main">
            <a:r>
              <a:t>Raffles</a:t>
            </a:r>
          </a:p>
          <a:p xmlns:a="http://schemas.openxmlformats.org/drawingml/2006/main">
            <a:r>
              <a:t>Rp995 rb++</a:t>
            </a:r>
          </a:p>
          <a:p xmlns:a="http://schemas.openxmlformats.org/drawingml/2006/main">
            <a:r>
              <a:t>Nett ±Rp1,2 jt</a:t>
            </a:r>
          </a:p>
          <a:p xmlns:a="http://schemas.openxmlformats.org/drawingml/2006/main">
            <a:r>
              <a:t>Planning range Rp600 rb–1 jt per orang; ++ = belum pajak dan service (±21%). Ops belum dimodelkan. Final budget pakai quotation.</a:t>
            </a:r>
          </a:p>
          <a:p xmlns:a="http://schemas.openxmlformats.org/drawingml/2006/main">
            <a:r>
              <a:t>Source venue: parkhyattjakartarestaurants.com; ritzcarlton.com; marriott.com (Westin); raffles.com/jakarta (2026). Usulan pilot.</a:t>
            </a:r>
          </a:p>
          <a:p xmlns:a="http://schemas.openxmlformats.org/drawingml/2006/main">
            <a:r>
              <a:t>| </a:t>
            </a:r>
          </a:p>
          <a:p xmlns:a="http://schemas.openxmlformats.org/drawingml/2006/main">
            <a:r>
              <a:t>16</a:t>
            </a:r>
          </a:p>
          <a:p xmlns:a="http://schemas.openxmlformats.org/drawingml/2006/main">
            <a:r>
              <a:t>CATATAN PEMAPARAN</a:t>
            </a:r>
          </a:p>
          <a:p xmlns:a="http://schemas.openxmlformats.org/drawingml/2006/main">
            <a:r>
              <a:t>Mix 10 member +10 public menghasilkan rata-rata Rp2,25 jt/seat, revenue Rp45 jt. Semua member:Rp30 jt. Semua public:Rp60 jt. Venue range planning, final actual quote diperlukan. ++ belum pajak/service; jangan mengasumsikan tarif efektif final.</a:t>
            </a:r>
          </a:p>
          <a:p xmlns:a="http://schemas.openxmlformats.org/drawingml/2006/main">
            <a:r>
              <a:t/>
            </a:r>
          </a:p>
          <a:p xmlns:a="http://schemas.openxmlformats.org/drawingml/2006/main">
            <a:r>
              <a:t>Mix 10 member +10 public menghasilkan rata-rata Rp2,25 jt/seat, revenue Rp45 jt. Semua member:Rp30 jt. Semua public:Rp60 jt. Venue range planning, final actual quote diperlukan. ++ belum pajak/service; jangan mengasumsikan tarif efektif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 9–12 (format sama dengan modul lain, rekaman video satu arah dari Master; belum masuk harga mana pun karena naskah belum jadi; kenaikan harga tetap didorong access dan community, bukan konten): 09 UMKM Naik Kelas: urutan beresin usaha kecil, mulai pembukuan, badan hukum, pembiayaan, harga dan pasar; M. Arsjad Rasjid P.M., cadangan Triawan Munaf. 10 Hukum Bisnis: badan usaha, perjanjian, tanggung jawab pengurus, penyelesaian sengketa; Ahmad Fikri Assegaf, cadangan Otto Hasibuan (cek status jabatan di pemerintahan; Azis Syamsuddin dihapus karena pernah divonis kasus suap 2022). 11 ESG dan Keberlanjutan: kewajiban laporan OJK, standar baru 2027, CBAM sejak Januari 2026, aturan bebas deforestasi Eropa; Hashim S. Djojohadikusumo, cadangan Azis Armand. 12 Transformasi Digital: judul sudah, isi masih dikonstruksi; Chairul Tanjung, materi perlu difinalkan. Modul 13–17 (urutan disarankan: distribusi, sistem dan delegasi, ekspansi, daerah ke nasional, bisnis keluarga; daftar 9 Naga dan 9 Haji hanya untuk mencari kandidat, istilahnya jangan dipakai di komunikasi ke luar): 13 Distribusi dan Channel (lanjutan Go-To-Market): Hermanto Tanoko, Avian Brands; cadangan Jogi Hendra Atmadja, Mayora; Channel Map direct, distributor, reseller, marketplace. 14 Sistem dan Delegasi (lanjutan Team dan Problem Solving): Theodore Permadi Rachmat, Triputra; cadangan Jayanti Sari Sulaiman, Hasnur; Founder Dependency Audit dan mapping decision making. 15 Ekspansi: Bangun, Beli, atau Partner (lanjutan Scale Up dan Fundraising): Edwin Soeryadjaya, Saratoga; cadangan Solihin Jusuf Kalla, KALLA; scorecard bangun, beli, atau partner. 16 Dari Daerah ke Nasional (lanjutan Go-To-Market dan Operational): Erwin Aksa, Bosowa; cadangan Solihin Jusuf Kalla, KALLA; scorecard memilih kota berikutnya. 17 Bisnis Keluarga (lanjutan Team dan Operational): Axton Salim, Indofood; cadangan Jayanti Sari Sulaiman, Hasnur; Family Role Map dan checklist kesiapan pengurus berikutnya. Catatan lama: "Solihin ganti Halim Kalla".</a:t>
            </a:r>
          </a:p>
          <a:p xmlns:a="http://schemas.openxmlformats.org/drawingml/2006/main">
            <a:r>
              <a:t>DETAIL DARI SLIDE SUMBER</a:t>
            </a:r>
          </a:p>
          <a:p xmlns:a="http://schemas.openxmlformats.org/drawingml/2006/main">
            <a:r>
              <a:t>LAMPIRAN A5 · SERTIFIKASI</a:t>
            </a:r>
          </a:p>
          <a:p xmlns:a="http://schemas.openxmlformats.org/drawingml/2006/main">
            <a:r>
              <a:t>CMC bisa menerbitkan sertifikat penyelesaian; sertifikat kompetensi BNSP harus lewat LSP berlisensi.</a:t>
            </a:r>
          </a:p>
          <a:p xmlns:a="http://schemas.openxmlformats.org/drawingml/2006/main">
            <a:r>
              <a:t>Hanya sertifikat kedua yang bisa disebut BNSP, kecuali CMC nanti mendirikan atau bermitra sebagai LSP berlisensi.</a:t>
            </a:r>
          </a:p>
          <a:p xmlns:a="http://schemas.openxmlformats.org/drawingml/2006/main">
            <a:r>
              <a:t>Sertifikat CMC</a:t>
            </a:r>
          </a:p>
          <a:p xmlns:a="http://schemas.openxmlformats.org/drawingml/2006/main">
            <a:r>
              <a:t>Bukti penyelesaian program</a:t>
            </a:r>
          </a:p>
          <a:p xmlns:a="http://schemas.openxmlformats.org/drawingml/2006/main">
            <a:r>
              <a:t>DITERBITKAN CMC · BUKAN BNSP</a:t>
            </a:r>
          </a:p>
          <a:p xmlns:a="http://schemas.openxmlformats.org/drawingml/2006/main">
            <a:r>
              <a:t>Sertifikat kompetensi BNSP</a:t>
            </a:r>
          </a:p>
          <a:p xmlns:a="http://schemas.openxmlformats.org/drawingml/2006/main">
            <a:r>
              <a:t>Lewat uji kompetensi di LSP berlisensi</a:t>
            </a:r>
          </a:p>
          <a:p xmlns:a="http://schemas.openxmlformats.org/drawingml/2006/main">
            <a:r>
              <a:t>ATAS NAMA LSP MITRA · ~RP1,7 JT PER PESERTA</a:t>
            </a:r>
          </a:p>
          <a:p xmlns:a="http://schemas.openxmlformats.org/drawingml/2006/main">
            <a:r>
              <a:t>≠</a:t>
            </a:r>
          </a:p>
          <a:p xmlns:a="http://schemas.openxmlformats.org/drawingml/2006/main">
            <a:r>
              <a:t>JENJANG SKEMA</a:t>
            </a:r>
          </a:p>
          <a:p xmlns:a="http://schemas.openxmlformats.org/drawingml/2006/main">
            <a:r>
              <a:t>CONTOH SKEMA</a:t>
            </a:r>
          </a:p>
          <a:p xmlns:a="http://schemas.openxmlformats.org/drawingml/2006/main">
            <a:r>
              <a:t>BIAYA UJI</a:t>
            </a:r>
          </a:p>
          <a:p xmlns:a="http://schemas.openxmlformats.org/drawingml/2006/main">
            <a:r>
              <a:t>SUMBER</a:t>
            </a:r>
          </a:p>
          <a:p xmlns:a="http://schemas.openxmlformats.org/drawingml/2006/main">
            <a:r>
              <a:t>Jenjang dasar</a:t>
            </a:r>
          </a:p>
          <a:p xmlns:a="http://schemas.openxmlformats.org/drawingml/2006/main">
            <a:r>
              <a:t>Digital Marketing, LSP kampus</a:t>
            </a:r>
          </a:p>
          <a:p xmlns:a="http://schemas.openxmlformats.org/drawingml/2006/main">
            <a:r>
              <a:t>Rp0,75–1,3 jt</a:t>
            </a:r>
          </a:p>
          <a:p xmlns:a="http://schemas.openxmlformats.org/drawingml/2006/main">
            <a:r>
              <a:t>LSP UMS, LSP Ditekindo</a:t>
            </a:r>
          </a:p>
          <a:p xmlns:a="http://schemas.openxmlformats.org/drawingml/2006/main">
            <a:r>
              <a:t>Pelaksana</a:t>
            </a:r>
          </a:p>
          <a:p xmlns:a="http://schemas.openxmlformats.org/drawingml/2006/main">
            <a:r>
              <a:t>Pelaksana Kewirausahaan</a:t>
            </a:r>
          </a:p>
          <a:p xmlns:a="http://schemas.openxmlformats.org/drawingml/2006/main">
            <a:r>
              <a:t>Rp1,5 jt + Rp0,2 jt daftar</a:t>
            </a:r>
          </a:p>
          <a:p xmlns:a="http://schemas.openxmlformats.org/drawingml/2006/main">
            <a:r>
              <a:t>LSP UMKM Profesional</a:t>
            </a:r>
          </a:p>
          <a:p xmlns:a="http://schemas.openxmlformats.org/drawingml/2006/main">
            <a:r>
              <a:t>Pelaksana + pelatihan</a:t>
            </a:r>
          </a:p>
          <a:p xmlns:a="http://schemas.openxmlformats.org/drawingml/2006/main">
            <a:r>
              <a:t>Kewirausahaan, pelatihan + uji</a:t>
            </a:r>
          </a:p>
          <a:p xmlns:a="http://schemas.openxmlformats.org/drawingml/2006/main">
            <a:r>
              <a:t>Rp2,5 jt</a:t>
            </a:r>
          </a:p>
          <a:p xmlns:a="http://schemas.openxmlformats.org/drawingml/2006/main">
            <a:r>
              <a:t>Pustama Indonesia</a:t>
            </a:r>
          </a:p>
          <a:p xmlns:a="http://schemas.openxmlformats.org/drawingml/2006/main">
            <a:r>
              <a:t>Supervisor</a:t>
            </a:r>
          </a:p>
          <a:p xmlns:a="http://schemas.openxmlformats.org/drawingml/2006/main">
            <a:r>
              <a:t>Sales Executive, Staf SDM</a:t>
            </a:r>
          </a:p>
          <a:p xmlns:a="http://schemas.openxmlformats.org/drawingml/2006/main">
            <a:r>
              <a:t>Rp1,75–2,5 jt</a:t>
            </a:r>
          </a:p>
          <a:p xmlns:a="http://schemas.openxmlformats.org/drawingml/2006/main">
            <a:r>
              <a:t>LSP Ditekindo, MarkPlus</a:t>
            </a:r>
          </a:p>
          <a:p xmlns:a="http://schemas.openxmlformats.org/drawingml/2006/main">
            <a:r>
              <a:t>Manajer</a:t>
            </a:r>
          </a:p>
          <a:p xmlns:a="http://schemas.openxmlformats.org/drawingml/2006/main">
            <a:r>
              <a:t>Sales Manager, Manajer SDM</a:t>
            </a:r>
          </a:p>
          <a:p xmlns:a="http://schemas.openxmlformats.org/drawingml/2006/main">
            <a:r>
              <a:t>Rp3,25–5 jt</a:t>
            </a:r>
          </a:p>
          <a:p xmlns:a="http://schemas.openxmlformats.org/drawingml/2006/main">
            <a:r>
              <a:t>LSP Ditekindo, MarkPlus</a:t>
            </a:r>
          </a:p>
          <a:p xmlns:a="http://schemas.openxmlformats.org/drawingml/2006/main">
            <a:r>
              <a:t>Manajer + pelatihan</a:t>
            </a:r>
          </a:p>
          <a:p xmlns:a="http://schemas.openxmlformats.org/drawingml/2006/main">
            <a:r>
              <a:t>Kepala Cabang, LSP Koperasi</a:t>
            </a:r>
          </a:p>
          <a:p xmlns:a="http://schemas.openxmlformats.org/drawingml/2006/main">
            <a:r>
              <a:t>Rp4–7,5 jt</a:t>
            </a:r>
          </a:p>
          <a:p xmlns:a="http://schemas.openxmlformats.org/drawingml/2006/main">
            <a:r>
              <a:t>Indo Asia (2025)</a:t>
            </a:r>
          </a:p>
          <a:p xmlns:a="http://schemas.openxmlformats.org/drawingml/2006/main">
            <a:r>
              <a:t>Benchmark: daftar harga LSP dan penyedia pelatihan 2026 (CMC Pricing Deck, Sep 2026). Harga pasar, bukan tarif resmi BNSP.</a:t>
            </a:r>
          </a:p>
          <a:p xmlns:a="http://schemas.openxmlformats.org/drawingml/2006/main">
            <a:r>
              <a:t>| </a:t>
            </a:r>
          </a:p>
          <a:p xmlns:a="http://schemas.openxmlformats.org/drawingml/2006/main">
            <a:r>
              <a:t>17</a:t>
            </a:r>
          </a:p>
          <a:p xmlns:a="http://schemas.openxmlformats.org/drawingml/2006/main">
            <a:r>
              <a:t>CATATAN PEMAPARAN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Kompetitor: Sevenpreneur Batch 8 program 27 Apr–17 Mei 2026, harga coret Regular Rp3 jt (diskon 50%) dan VIP Rp8,5 jt (diskon 41%), paylater Kredivo, Akulaku, kartu kredit; Aksoro CEO 3.0 offline event 13–14 Juni 2026 (sudah lewat); Asian Tiger halaman /property sekarang 404, angka dari hasil pencarian halaman resmi; angka Rp8,5–11,5 jt dan IPO mentorship Rp27,5 jt dari brief lama tidak terverifikasi dan tidak dipakai.</a:t>
            </a:r>
          </a:p>
          <a:p xmlns:a="http://schemas.openxmlformats.org/drawingml/2006/main">
            <a:r>
              <a:t>DETAIL DARI SLIDE SUMBER</a:t>
            </a:r>
          </a:p>
          <a:p xmlns:a="http://schemas.openxmlformats.org/drawingml/2006/main">
            <a:r>
              <a:t>LAMPIRAN A6 · PIPELINE MODUL</a:t>
            </a:r>
          </a:p>
          <a:p xmlns:a="http://schemas.openxmlformats.org/drawingml/2006/main">
            <a:r>
              <a:t>Sembilan modul baru sudah punya calon Master, tapi belum perlu masuk harga mana pun.</a:t>
            </a:r>
          </a:p>
          <a:p xmlns:a="http://schemas.openxmlformats.org/drawingml/2006/main">
            <a:r>
              <a:t>Modul 09–12 tambahan sesuai request; 13–17 modul lanjutan. Kenaikan harga tetap didorong access, bukan konten.</a:t>
            </a:r>
          </a:p>
          <a:p xmlns:a="http://schemas.openxmlformats.org/drawingml/2006/main">
            <a:r>
              <a:t>#</a:t>
            </a:r>
          </a:p>
          <a:p xmlns:a="http://schemas.openxmlformats.org/drawingml/2006/main">
            <a:r>
              <a:t>MODUL</a:t>
            </a:r>
          </a:p>
          <a:p xmlns:a="http://schemas.openxmlformats.org/drawingml/2006/main">
            <a:r>
              <a:t>CALON MASTER</a:t>
            </a:r>
          </a:p>
          <a:p xmlns:a="http://schemas.openxmlformats.org/drawingml/2006/main">
            <a:r>
              <a:t>OUTPUT / TUJUAN</a:t>
            </a:r>
          </a:p>
          <a:p xmlns:a="http://schemas.openxmlformats.org/drawingml/2006/main">
            <a:r>
              <a:t>09</a:t>
            </a:r>
          </a:p>
          <a:p xmlns:a="http://schemas.openxmlformats.org/drawingml/2006/main">
            <a:r>
              <a:t>UMKM Naik Kelas</a:t>
            </a:r>
          </a:p>
          <a:p xmlns:a="http://schemas.openxmlformats.org/drawingml/2006/main">
            <a:r>
              <a:t>M. Arsjad Rasjid P.M.</a:t>
            </a:r>
          </a:p>
          <a:p xmlns:a="http://schemas.openxmlformats.org/drawingml/2006/main">
            <a:r>
              <a:t>Pembukuan, badan hukum, pembiayaan, pasar</a:t>
            </a:r>
          </a:p>
          <a:p xmlns:a="http://schemas.openxmlformats.org/drawingml/2006/main">
            <a:r>
              <a:t>10</a:t>
            </a:r>
          </a:p>
          <a:p xmlns:a="http://schemas.openxmlformats.org/drawingml/2006/main">
            <a:r>
              <a:t>Hukum Bisnis</a:t>
            </a:r>
          </a:p>
          <a:p xmlns:a="http://schemas.openxmlformats.org/drawingml/2006/main">
            <a:r>
              <a:t>Ahmad Fikri Assegaf</a:t>
            </a:r>
          </a:p>
          <a:p xmlns:a="http://schemas.openxmlformats.org/drawingml/2006/main">
            <a:r>
              <a:t>Badan usaha, perjanjian, sampai sengketa</a:t>
            </a:r>
          </a:p>
          <a:p xmlns:a="http://schemas.openxmlformats.org/drawingml/2006/main">
            <a:r>
              <a:t>11</a:t>
            </a:r>
          </a:p>
          <a:p xmlns:a="http://schemas.openxmlformats.org/drawingml/2006/main">
            <a:r>
              <a:t>ESG dan Keberlanjutan</a:t>
            </a:r>
          </a:p>
          <a:p xmlns:a="http://schemas.openxmlformats.org/drawingml/2006/main">
            <a:r>
              <a:t>Hashim S. Djojohadikusumo</a:t>
            </a:r>
          </a:p>
          <a:p xmlns:a="http://schemas.openxmlformats.org/drawingml/2006/main">
            <a:r>
              <a:t>Kewajiban OJK, standar 2027, CBAM, EUDR</a:t>
            </a:r>
          </a:p>
          <a:p xmlns:a="http://schemas.openxmlformats.org/drawingml/2006/main">
            <a:r>
              <a:t>12</a:t>
            </a:r>
          </a:p>
          <a:p xmlns:a="http://schemas.openxmlformats.org/drawingml/2006/main">
            <a:r>
              <a:t>Transformasi Digital</a:t>
            </a:r>
          </a:p>
          <a:p xmlns:a="http://schemas.openxmlformats.org/drawingml/2006/main">
            <a:r>
              <a:t>Chairul Tanjung</a:t>
            </a:r>
          </a:p>
          <a:p xmlns:a="http://schemas.openxmlformats.org/drawingml/2006/main">
            <a:r>
              <a:t>Materi masih dikonstruksi</a:t>
            </a:r>
          </a:p>
          <a:p xmlns:a="http://schemas.openxmlformats.org/drawingml/2006/main">
            <a:r>
              <a:t>13</a:t>
            </a:r>
          </a:p>
          <a:p xmlns:a="http://schemas.openxmlformats.org/drawingml/2006/main">
            <a:r>
              <a:t>Distribusi dan Channel</a:t>
            </a:r>
          </a:p>
          <a:p xmlns:a="http://schemas.openxmlformats.org/drawingml/2006/main">
            <a:r>
              <a:t>Hermanto Tanoko</a:t>
            </a:r>
          </a:p>
          <a:p xmlns:a="http://schemas.openxmlformats.org/drawingml/2006/main">
            <a:r>
              <a:t>Channel Map: direct, distributor, reseller, marketplace</a:t>
            </a:r>
          </a:p>
          <a:p xmlns:a="http://schemas.openxmlformats.org/drawingml/2006/main">
            <a:r>
              <a:t>14</a:t>
            </a:r>
          </a:p>
          <a:p xmlns:a="http://schemas.openxmlformats.org/drawingml/2006/main">
            <a:r>
              <a:t>Sistem dan Delegasi</a:t>
            </a:r>
          </a:p>
          <a:p xmlns:a="http://schemas.openxmlformats.org/drawingml/2006/main">
            <a:r>
              <a:t>Theodore Permadi Rachmat</a:t>
            </a:r>
          </a:p>
          <a:p xmlns:a="http://schemas.openxmlformats.org/drawingml/2006/main">
            <a:r>
              <a:t>Founder Dependency Audit, mapping decision making</a:t>
            </a:r>
          </a:p>
          <a:p xmlns:a="http://schemas.openxmlformats.org/drawingml/2006/main">
            <a:r>
              <a:t>15</a:t>
            </a:r>
          </a:p>
          <a:p xmlns:a="http://schemas.openxmlformats.org/drawingml/2006/main">
            <a:r>
              <a:t>Ekspansi: Bangun, Beli, atau Partner</a:t>
            </a:r>
          </a:p>
          <a:p xmlns:a="http://schemas.openxmlformats.org/drawingml/2006/main">
            <a:r>
              <a:t>Edwin Soeryadjaya</a:t>
            </a:r>
          </a:p>
          <a:p xmlns:a="http://schemas.openxmlformats.org/drawingml/2006/main">
            <a:r>
              <a:t>Scorecard bangun, beli, atau partner</a:t>
            </a:r>
          </a:p>
          <a:p xmlns:a="http://schemas.openxmlformats.org/drawingml/2006/main">
            <a:r>
              <a:t>16</a:t>
            </a:r>
          </a:p>
          <a:p xmlns:a="http://schemas.openxmlformats.org/drawingml/2006/main">
            <a:r>
              <a:t>Dari Daerah ke Nasional</a:t>
            </a:r>
          </a:p>
          <a:p xmlns:a="http://schemas.openxmlformats.org/drawingml/2006/main">
            <a:r>
              <a:t>Erwin Aksa</a:t>
            </a:r>
          </a:p>
          <a:p xmlns:a="http://schemas.openxmlformats.org/drawingml/2006/main">
            <a:r>
              <a:t>Scorecard memilih kota berikutnya</a:t>
            </a:r>
          </a:p>
          <a:p xmlns:a="http://schemas.openxmlformats.org/drawingml/2006/main">
            <a:r>
              <a:t>17</a:t>
            </a:r>
          </a:p>
          <a:p xmlns:a="http://schemas.openxmlformats.org/drawingml/2006/main">
            <a:r>
              <a:t>Bisnis Keluarga</a:t>
            </a:r>
          </a:p>
          <a:p xmlns:a="http://schemas.openxmlformats.org/drawingml/2006/main">
            <a:r>
              <a:t>Axton Salim</a:t>
            </a:r>
          </a:p>
          <a:p xmlns:a="http://schemas.openxmlformats.org/drawingml/2006/main">
            <a:r>
              <a:t>Family Role Map, kesiapan pengurus berikutnya</a:t>
            </a:r>
          </a:p>
          <a:p xmlns:a="http://schemas.openxmlformats.org/drawingml/2006/main">
            <a:r>
              <a:t>Source: CMC Pricing Deck (Sep 2026), internal. Cadangan Master, deskripsi lengkap, dan catatan nama di speaker notes.</a:t>
            </a:r>
          </a:p>
          <a:p xmlns:a="http://schemas.openxmlformats.org/drawingml/2006/main">
            <a:r>
              <a:t>| </a:t>
            </a:r>
          </a:p>
          <a:p xmlns:a="http://schemas.openxmlformats.org/drawingml/2006/main">
            <a:r>
              <a:t>18</a:t>
            </a:r>
          </a:p>
          <a:p xmlns:a="http://schemas.openxmlformats.org/drawingml/2006/main">
            <a:r>
              <a:t>CATATAN PEMAPARAN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 DARI SLIDE SUMBER</a:t>
            </a:r>
          </a:p>
          <a:p xmlns:a="http://schemas.openxmlformats.org/drawingml/2006/main">
            <a:r>
              <a:t>LAMPIRAN A6 · SUMBER HARGA KOMPETITOR</a:t>
            </a:r>
          </a:p>
          <a:p xmlns:a="http://schemas.openxmlformats.org/drawingml/2006/main">
            <a:r>
              <a:t>Harga kompetitor diambil dari halaman resmi; Asian Tiger perlu dicek manual.</a:t>
            </a:r>
          </a:p>
          <a:p xmlns:a="http://schemas.openxmlformats.org/drawingml/2006/main">
            <a:r>
              <a:t>Semua harga benchmark, sebelum diskon tambahan atau cicilan; dipakai sebagai patokan willingness-to-pay.</a:t>
            </a:r>
          </a:p>
          <a:p xmlns:a="http://schemas.openxmlformats.org/drawingml/2006/main">
            <a:r>
              <a:t>KOMPETITOR</a:t>
            </a:r>
          </a:p>
          <a:p xmlns:a="http://schemas.openxmlformats.org/drawingml/2006/main">
            <a:r>
              <a:t>PAKET</a:t>
            </a:r>
          </a:p>
          <a:p xmlns:a="http://schemas.openxmlformats.org/drawingml/2006/main">
            <a:r>
              <a:t>HARGA</a:t>
            </a:r>
          </a:p>
          <a:p xmlns:a="http://schemas.openxmlformats.org/drawingml/2006/main">
            <a:r>
              <a:t>CAVEAT</a:t>
            </a:r>
          </a:p>
          <a:p xmlns:a="http://schemas.openxmlformats.org/drawingml/2006/main">
            <a:r>
              <a:t>SUMBER</a:t>
            </a:r>
          </a:p>
          <a:p xmlns:a="http://schemas.openxmlformats.org/drawingml/2006/main">
            <a:r>
              <a:t>Sevenpreneur Batch 8</a:t>
            </a:r>
          </a:p>
          <a:p xmlns:a="http://schemas.openxmlformats.org/drawingml/2006/main">
            <a:r>
              <a:t>Regular</a:t>
            </a:r>
          </a:p>
          <a:p xmlns:a="http://schemas.openxmlformats.org/drawingml/2006/main">
            <a:r>
              <a:t>Rp1,499 jt</a:t>
            </a:r>
          </a:p>
          <a:p xmlns:a="http://schemas.openxmlformats.org/drawingml/2006/main">
            <a:r>
              <a:t>Harga coret Rp3 jt</a:t>
            </a:r>
          </a:p>
          <a:p xmlns:a="http://schemas.openxmlformats.org/drawingml/2006/main">
            <a:r>
              <a:t>sevenpreneur.com</a:t>
            </a:r>
          </a:p>
          <a:p xmlns:a="http://schemas.openxmlformats.org/drawingml/2006/main">
            <a:r>
              <a:t>Sevenpreneur Batch 8</a:t>
            </a:r>
          </a:p>
          <a:p xmlns:a="http://schemas.openxmlformats.org/drawingml/2006/main">
            <a:r>
              <a:t>VIP</a:t>
            </a:r>
          </a:p>
          <a:p xmlns:a="http://schemas.openxmlformats.org/drawingml/2006/main">
            <a:r>
              <a:t>Rp4,999 jt</a:t>
            </a:r>
          </a:p>
          <a:p xmlns:a="http://schemas.openxmlformats.org/drawingml/2006/main">
            <a:r>
              <a:t>Harga coret Rp8,5 jt</a:t>
            </a:r>
          </a:p>
          <a:p xmlns:a="http://schemas.openxmlformats.org/drawingml/2006/main">
            <a:r>
              <a:t>sevenpreneur.com</a:t>
            </a:r>
          </a:p>
          <a:p xmlns:a="http://schemas.openxmlformats.org/drawingml/2006/main">
            <a:r>
              <a:t>Aksoro CEO 3.0</a:t>
            </a:r>
          </a:p>
          <a:p xmlns:a="http://schemas.openxmlformats.org/drawingml/2006/main">
            <a:r>
              <a:t>Online</a:t>
            </a:r>
          </a:p>
          <a:p xmlns:a="http://schemas.openxmlformats.org/drawingml/2006/main">
            <a:r>
              <a:t>Rp3,3 jt</a:t>
            </a:r>
          </a:p>
          <a:p xmlns:a="http://schemas.openxmlformats.org/drawingml/2006/main">
            <a:r>
              <a:t>2 hari live via Zoom</a:t>
            </a:r>
          </a:p>
          <a:p xmlns:a="http://schemas.openxmlformats.org/drawingml/2006/main">
            <a:r>
              <a:t>aksoro.co.id</a:t>
            </a:r>
          </a:p>
          <a:p xmlns:a="http://schemas.openxmlformats.org/drawingml/2006/main">
            <a:r>
              <a:t>Aksoro CEO 3.0</a:t>
            </a:r>
          </a:p>
          <a:p xmlns:a="http://schemas.openxmlformats.org/drawingml/2006/main">
            <a:r>
              <a:t>Offline</a:t>
            </a:r>
          </a:p>
          <a:p xmlns:a="http://schemas.openxmlformats.org/drawingml/2006/main">
            <a:r>
              <a:t>Rp9,3 jt</a:t>
            </a:r>
          </a:p>
          <a:p xmlns:a="http://schemas.openxmlformats.org/drawingml/2006/main">
            <a:r>
              <a:t>Early bird; event Juni 2026</a:t>
            </a:r>
          </a:p>
          <a:p xmlns:a="http://schemas.openxmlformats.org/drawingml/2006/main">
            <a:r>
              <a:t>info.aksoro.co.id</a:t>
            </a:r>
          </a:p>
          <a:p xmlns:a="http://schemas.openxmlformats.org/drawingml/2006/main">
            <a:r>
              <a:t>Asian Tiger School</a:t>
            </a:r>
          </a:p>
          <a:p xmlns:a="http://schemas.openxmlformats.org/drawingml/2006/main">
            <a:r>
              <a:t>Property Dev. Masterclass</a:t>
            </a:r>
          </a:p>
          <a:p xmlns:a="http://schemas.openxmlformats.org/drawingml/2006/main">
            <a:r>
              <a:t>Rp7–10,6 jt</a:t>
            </a:r>
          </a:p>
          <a:p xmlns:a="http://schemas.openxmlformats.org/drawingml/2006/main">
            <a:r>
              <a:t>Halaman 404, cek manual</a:t>
            </a:r>
          </a:p>
          <a:p xmlns:a="http://schemas.openxmlformats.org/drawingml/2006/main">
            <a:r>
              <a:t>asiantigerschool.id</a:t>
            </a:r>
          </a:p>
          <a:p xmlns:a="http://schemas.openxmlformats.org/drawingml/2006/main">
            <a:r>
              <a:t>Dicek 2–3 Oktober 2026. Detail diskon, tanggal program, dan angka yang tidak terverifikasi ada di speaker notes.</a:t>
            </a:r>
          </a:p>
          <a:p xmlns:a="http://schemas.openxmlformats.org/drawingml/2006/main">
            <a:r>
              <a:t>| </a:t>
            </a:r>
          </a:p>
          <a:p xmlns:a="http://schemas.openxmlformats.org/drawingml/2006/main">
            <a:r>
              <a:t>19</a:t>
            </a:r>
          </a:p>
          <a:p xmlns:a="http://schemas.openxmlformats.org/drawingml/2006/main">
            <a:r>
              <a:t>CATATAN PEMAPARAN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ff4b497e6d47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c964521d1e4150" /><Relationship Type="http://schemas.openxmlformats.org/officeDocument/2006/relationships/slideLayout" Target="/ppt/slideLayouts/slideLayout1.xml" Id="Rd845b396d29d4e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5b396d29d4e14"/>
  </p:sldLayoutIdLst>
  <p:txStyles>
    <p:titleStyle>
      <a:lvl1pPr xmlns:a="http://schemas.openxmlformats.org/drawingml/2006/main" algn="l">
        <a:lnSpc>
          <a:spcPct val="90000"/>
        </a:lnSpc>
        <a:spcBef>
          <a:spcPts val="0"/>
        </a:spcBef>
        <a:buNone/>
        <a:defRPr sz="4400">
          <a:solidFill>
            <a:schemeClr val="tx1"/>
          </a:solidFill>
          <a:latin typeface="Calibri"/>
          <a:ea typeface="Calibri"/>
          <a:cs typeface="Calibri"/>
        </a:defRPr>
      </a:lvl1pPr>
    </p:titleStyle>
    <p:bodyStyle>
      <a:lvl1pPr xmlns:a="http://schemas.openxmlformats.org/drawingml/2006/main" marL="228600" indent="-228600" algn="l">
        <a:lnSpc>
          <a:spcPct val="90000"/>
        </a:lnSpc>
        <a:spcBef>
          <a:spcPts val="1000"/>
        </a:spcBef>
        <a:buChar char="•"/>
        <a:defRPr sz="2800">
          <a:solidFill>
            <a:schemeClr val="tx1"/>
          </a:solidFill>
          <a:latin typeface="Calibri"/>
          <a:ea typeface="Calibri"/>
          <a:cs typeface="Calibri"/>
        </a:defRPr>
      </a:lvl1pPr>
      <a:lvl2pPr xmlns:a="http://schemas.openxmlformats.org/drawingml/2006/main" marL="685800" indent="-228600" algn="l">
        <a:lnSpc>
          <a:spcPct val="90000"/>
        </a:lnSpc>
        <a:spcBef>
          <a:spcPts val="500"/>
        </a:spcBef>
        <a:buChar char="•"/>
        <a:defRPr sz="2400">
          <a:solidFill>
            <a:schemeClr val="tx1"/>
          </a:solidFill>
          <a:latin typeface="Calibri"/>
          <a:ea typeface="Calibri"/>
          <a:cs typeface="Calibri"/>
        </a:defRPr>
      </a:lvl2pPr>
      <a:lvl3pPr xmlns:a="http://schemas.openxmlformats.org/drawingml/2006/main" marL="1143000" indent="-228600" algn="l">
        <a:lnSpc>
          <a:spcPct val="90000"/>
        </a:lnSpc>
        <a:spcBef>
          <a:spcPts val="500"/>
        </a:spcBef>
        <a:buChar char="•"/>
        <a:defRPr sz="2000">
          <a:solidFill>
            <a:schemeClr val="tx1"/>
          </a:solidFill>
          <a:latin typeface="Calibri"/>
          <a:ea typeface="Calibri"/>
          <a:cs typeface="Calibri"/>
        </a:defRPr>
      </a:lvl3pPr>
      <a:lvl4pPr xmlns:a="http://schemas.openxmlformats.org/drawingml/2006/main" marL="1600200" indent="-228600" algn="l">
        <a:lnSpc>
          <a:spcPct val="90000"/>
        </a:lnSpc>
        <a:spcBef>
          <a:spcPts val="500"/>
        </a:spcBef>
        <a:buChar char="•"/>
        <a:defRPr sz="1800">
          <a:solidFill>
            <a:schemeClr val="tx1"/>
          </a:solidFill>
          <a:latin typeface="Calibri"/>
          <a:ea typeface="Calibri"/>
          <a:cs typeface="Calibri"/>
        </a:defRPr>
      </a:lvl4pPr>
      <a:lvl5pPr xmlns:a="http://schemas.openxmlformats.org/drawingml/2006/main" marL="2057400" indent="-228600" algn="l">
        <a:lnSpc>
          <a:spcPct val="90000"/>
        </a:lnSpc>
        <a:spcBef>
          <a:spcPts val="500"/>
        </a:spcBef>
        <a:buChar char="•"/>
        <a:defRPr sz="1800">
          <a:solidFill>
            <a:schemeClr val="tx1"/>
          </a:solidFill>
          <a:latin typeface="Calibri"/>
          <a:ea typeface="Calibri"/>
          <a:cs typeface="Calibri"/>
        </a:defRPr>
      </a:lvl5pPr>
      <a:lvl6pPr xmlns:a="http://schemas.openxmlformats.org/drawingml/2006/main" marL="2514600" indent="-228600" algn="l">
        <a:lnSpc>
          <a:spcPct val="90000"/>
        </a:lnSpc>
        <a:spcBef>
          <a:spcPts val="500"/>
        </a:spcBef>
        <a:buChar char="•"/>
        <a:defRPr sz="1800">
          <a:solidFill>
            <a:schemeClr val="tx1"/>
          </a:solidFill>
          <a:latin typeface="Calibri"/>
          <a:ea typeface="Calibri"/>
          <a:cs typeface="Calibri"/>
        </a:defRPr>
      </a:lvl6pPr>
      <a:lvl7pPr xmlns:a="http://schemas.openxmlformats.org/drawingml/2006/main" marL="2971800" indent="-228600" algn="l">
        <a:lnSpc>
          <a:spcPct val="90000"/>
        </a:lnSpc>
        <a:spcBef>
          <a:spcPts val="500"/>
        </a:spcBef>
        <a:buChar char="•"/>
        <a:defRPr sz="1800">
          <a:solidFill>
            <a:schemeClr val="tx1"/>
          </a:solidFill>
          <a:latin typeface="Calibri"/>
          <a:ea typeface="Calibri"/>
          <a:cs typeface="Calibri"/>
        </a:defRPr>
      </a:lvl7pPr>
      <a:lvl8pPr xmlns:a="http://schemas.openxmlformats.org/drawingml/2006/main" marL="3429000" indent="-228600" algn="l">
        <a:lnSpc>
          <a:spcPct val="90000"/>
        </a:lnSpc>
        <a:spcBef>
          <a:spcPts val="500"/>
        </a:spcBef>
        <a:buChar char="•"/>
        <a:defRPr sz="1800">
          <a:solidFill>
            <a:schemeClr val="tx1"/>
          </a:solidFill>
          <a:latin typeface="Calibri"/>
          <a:ea typeface="Calibri"/>
          <a:cs typeface="Calibri"/>
        </a:defRPr>
      </a:lvl8pPr>
      <a:lvl9pPr xmlns:a="http://schemas.openxmlformats.org/drawingml/2006/main" marL="3886200" indent="-228600" algn="l">
        <a:lnSpc>
          <a:spcPct val="90000"/>
        </a:lnSpc>
        <a:spcBef>
          <a:spcPts val="500"/>
        </a:spcBef>
        <a:buChar char="•"/>
        <a:defRPr sz="1800">
          <a:solidFill>
            <a:schemeClr val="tx1"/>
          </a:solidFill>
          <a:latin typeface="Calibri"/>
          <a:ea typeface="Calibri"/>
          <a:cs typeface="Calibri"/>
        </a:defRPr>
      </a:lvl9pPr>
    </p:bodyStyle>
    <p:otherStyle>
      <a:lvl1pPr xmlns:a="http://schemas.openxmlformats.org/drawingml/2006/main" marL="0" algn="l">
        <a:buNone/>
        <a:defRPr sz="1800">
          <a:solidFill>
            <a:schemeClr val="tx1"/>
          </a:solidFill>
          <a:latin typeface="Calibri"/>
          <a:ea typeface="Calibri"/>
          <a:cs typeface="Calibri"/>
        </a:defRPr>
      </a:lvl1pPr>
      <a:lvl2pPr xmlns:a="http://schemas.openxmlformats.org/drawingml/2006/main" marL="457200" algn="l">
        <a:buNone/>
        <a:defRPr sz="1800">
          <a:solidFill>
            <a:schemeClr val="tx1"/>
          </a:solidFill>
          <a:latin typeface="Calibri"/>
          <a:ea typeface="Calibri"/>
          <a:cs typeface="Calibri"/>
        </a:defRPr>
      </a:lvl2pPr>
      <a:lvl3pPr xmlns:a="http://schemas.openxmlformats.org/drawingml/2006/main" marL="914400" algn="l">
        <a:buNone/>
        <a:defRPr sz="1800">
          <a:solidFill>
            <a:schemeClr val="tx1"/>
          </a:solidFill>
          <a:latin typeface="Calibri"/>
          <a:ea typeface="Calibri"/>
          <a:cs typeface="Calibri"/>
        </a:defRPr>
      </a:lvl3pPr>
      <a:lvl4pPr xmlns:a="http://schemas.openxmlformats.org/drawingml/2006/main" marL="1371600" algn="l">
        <a:buNone/>
        <a:defRPr sz="1800">
          <a:solidFill>
            <a:schemeClr val="tx1"/>
          </a:solidFill>
          <a:latin typeface="Calibri"/>
          <a:ea typeface="Calibri"/>
          <a:cs typeface="Calibri"/>
        </a:defRPr>
      </a:lvl4pPr>
      <a:lvl5pPr xmlns:a="http://schemas.openxmlformats.org/drawingml/2006/main" marL="1828800" algn="l">
        <a:buNone/>
        <a:defRPr sz="1800">
          <a:solidFill>
            <a:schemeClr val="tx1"/>
          </a:solidFill>
          <a:latin typeface="Calibri"/>
          <a:ea typeface="Calibri"/>
          <a:cs typeface="Calibri"/>
        </a:defRPr>
      </a:lvl5pPr>
      <a:lvl6pPr xmlns:a="http://schemas.openxmlformats.org/drawingml/2006/main" marL="2286000" algn="l">
        <a:buNone/>
        <a:defRPr sz="1800">
          <a:solidFill>
            <a:schemeClr val="tx1"/>
          </a:solidFill>
          <a:latin typeface="Calibri"/>
          <a:ea typeface="Calibri"/>
          <a:cs typeface="Calibri"/>
        </a:defRPr>
      </a:lvl6pPr>
      <a:lvl7pPr xmlns:a="http://schemas.openxmlformats.org/drawingml/2006/main" marL="2743200" algn="l">
        <a:buNone/>
        <a:defRPr sz="1800">
          <a:solidFill>
            <a:schemeClr val="tx1"/>
          </a:solidFill>
          <a:latin typeface="Calibri"/>
          <a:ea typeface="Calibri"/>
          <a:cs typeface="Calibri"/>
        </a:defRPr>
      </a:lvl7pPr>
      <a:lvl8pPr xmlns:a="http://schemas.openxmlformats.org/drawingml/2006/main" marL="3200400" algn="l">
        <a:buNone/>
        <a:defRPr sz="1800">
          <a:solidFill>
            <a:schemeClr val="tx1"/>
          </a:solidFill>
          <a:latin typeface="Calibri"/>
          <a:ea typeface="Calibri"/>
          <a:cs typeface="Calibri"/>
        </a:defRPr>
      </a:lvl8pPr>
      <a:lvl9pPr xmlns:a="http://schemas.openxmlformats.org/drawingml/2006/main" marL="3657600" algn="l">
        <a:buNone/>
        <a:defRPr sz="1800">
          <a:solidFill>
            <a:schemeClr val="tx1"/>
          </a:solidFill>
          <a:latin typeface="Calibri"/>
          <a:ea typeface="Calibri"/>
          <a:cs typeface="Calibri"/>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63d26106db46fb" /><Relationship Type="http://schemas.openxmlformats.org/officeDocument/2006/relationships/notesSlide" Target="/ppt/notesSlides/notesSlide1.xml" Id="R42fe86be8383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b47f798eef4bd7" /><Relationship Type="http://schemas.openxmlformats.org/officeDocument/2006/relationships/notesSlide" Target="/ppt/notesSlides/notesSlide2.xml" Id="R330f8298b62746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a3a75cadd3459a" /><Relationship Type="http://schemas.openxmlformats.org/officeDocument/2006/relationships/chart" Target="/ppt/slides/charts/chart1.xml" Id="R4979b8dad8414d63" /><Relationship Type="http://schemas.openxmlformats.org/officeDocument/2006/relationships/notesSlide" Target="/ppt/notesSlides/notesSlide3.xml" Id="Rac6c54934f074c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7cc8c4d9d948e4" /><Relationship Type="http://schemas.openxmlformats.org/officeDocument/2006/relationships/notesSlide" Target="/ppt/notesSlides/notesSlide4.xml" Id="Rd5c551ce202f4e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7d6e25cfd643dd" /><Relationship Type="http://schemas.openxmlformats.org/officeDocument/2006/relationships/notesSlide" Target="/ppt/notesSlides/notesSlide5.xml" Id="R0f030173fed247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2df98c13834c5e" /><Relationship Type="http://schemas.openxmlformats.org/officeDocument/2006/relationships/notesSlide" Target="/ppt/notesSlides/notesSlide6.xml" Id="R5b6175d2ae534f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d06750295f49cd" /><Relationship Type="http://schemas.openxmlformats.org/officeDocument/2006/relationships/notesSlide" Target="/ppt/notesSlides/notesSlide7.xml" Id="R81e7637f659a40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30fe5675e345cf" /><Relationship Type="http://schemas.openxmlformats.org/officeDocument/2006/relationships/notesSlide" Target="/ppt/notesSlides/notesSlide8.xml" Id="Rfa8ee08099224f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add941d3ed44cf" /><Relationship Type="http://schemas.openxmlformats.org/officeDocument/2006/relationships/chart" Target="/ppt/slides/charts/chart2.xml" Id="R7ffdcc0052214810" /><Relationship Type="http://schemas.openxmlformats.org/officeDocument/2006/relationships/notesSlide" Target="/ppt/notesSlides/notesSlide9.xml" Id="R807dbda561c549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182041d60c4ae6" /><Relationship Type="http://schemas.openxmlformats.org/officeDocument/2006/relationships/chart" Target="/ppt/slides/charts/chart3.xml" Id="R8493d6ff13f44393" /><Relationship Type="http://schemas.openxmlformats.org/officeDocument/2006/relationships/notesSlide" Target="/ppt/notesSlides/notesSlide10.xml" Id="R5a862cd6c7d2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11cd86b18044c9" /><Relationship Type="http://schemas.openxmlformats.org/officeDocument/2006/relationships/notesSlide" Target="/ppt/notesSlides/notesSlide11.xml" Id="Rfc45ba37493b4e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abe9c8a34c44b4" /><Relationship Type="http://schemas.openxmlformats.org/officeDocument/2006/relationships/notesSlide" Target="/ppt/notesSlides/notesSlide12.xml" Id="R848b1c23acd64f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472e8bdc2c4af1" /><Relationship Type="http://schemas.openxmlformats.org/officeDocument/2006/relationships/notesSlide" Target="/ppt/notesSlides/notesSlide13.xml" Id="Rf4b02e8d023c4f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321ae0578140cb" /><Relationship Type="http://schemas.openxmlformats.org/officeDocument/2006/relationships/notesSlide" Target="/ppt/notesSlides/notesSlide14.xml" Id="R9d967c951e9b44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29330264f14e5f" /><Relationship Type="http://schemas.openxmlformats.org/officeDocument/2006/relationships/notesSlide" Target="/ppt/notesSlides/notesSlide15.xml" Id="R3711bc09bca746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673395a12e4ff7" /><Relationship Type="http://schemas.openxmlformats.org/officeDocument/2006/relationships/notesSlide" Target="/ppt/notesSlides/notesSlide16.xml" Id="R62c2e266fdd848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cebb9a4be554958" /><Relationship Type="http://schemas.openxmlformats.org/officeDocument/2006/relationships/notesSlide" Target="/ppt/notesSlides/notesSlide17.xml" Id="Refbad431973d43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9fd85a0fd104fc1" /><Relationship Type="http://schemas.openxmlformats.org/officeDocument/2006/relationships/notesSlide" Target="/ppt/notesSlides/notesSlide18.xml" Id="R560e70b269f84e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de8c2eef53a4bab" /><Relationship Type="http://schemas.openxmlformats.org/officeDocument/2006/relationships/chart" Target="/ppt/slides/charts/chart4.xml" Id="R863e8a29766d435f" /><Relationship Type="http://schemas.openxmlformats.org/officeDocument/2006/relationships/notesSlide" Target="/ppt/notesSlides/notesSlide19.xml" Id="R5d670cbff3b244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7bd57d9d8834d84" /><Relationship Type="http://schemas.openxmlformats.org/officeDocument/2006/relationships/notesSlide" Target="/ppt/notesSlides/notesSlide20.xml" Id="R666ff4c2dd074a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55d58f261c54d63" /><Relationship Type="http://schemas.openxmlformats.org/officeDocument/2006/relationships/notesSlide" Target="/ppt/notesSlides/notesSlide21.xml" Id="Rcc8b0a48669849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716e79d4fa4111" /><Relationship Type="http://schemas.openxmlformats.org/officeDocument/2006/relationships/notesSlide" Target="/ppt/notesSlides/notesSlide22.xml" Id="Rf5d1d2d28cbf464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Harga program</c:v>
          </c:tx>
          <c:spPr>
            <a:solidFill xmlns:a="http://schemas.openxmlformats.org/drawingml/2006/main">
              <a:srgbClr val="BCCBC1"/>
            </a:solidFill>
          </c:spPr>
          <c:dPt>
            <c:idx val="0"/>
            <c:invertIfNegative val="0"/>
            <c:spPr>
              <a:solidFill xmlns:a="http://schemas.openxmlformats.org/drawingml/2006/main">
                <a:srgbClr val="123F32"/>
              </a:solidFill>
            </c:spPr>
          </c:dPt>
          <c:cat>
            <c:strRef>
              <c:f>'Chart Data'!$A$2:$A$6</c:f>
              <c:strCache>
                <c:ptCount val="5"/>
                <c:pt idx="0">
                  <c:v>CMC</c:v>
                </c:pt>
                <c:pt idx="1">
                  <c:v>Sevenpreneur Regular</c:v>
                </c:pt>
                <c:pt idx="2">
                  <c:v>Aksoro Online</c:v>
                </c:pt>
                <c:pt idx="3">
                  <c:v>Sevenpreneur VIP</c:v>
                </c:pt>
                <c:pt idx="4">
                  <c:v>Aksoro Offline</c:v>
                </c:pt>
              </c:strCache>
            </c:strRef>
          </c:cat>
          <c:val>
            <c:numRef>
              <c:f>'Chart Data'!$B$2:$B$6</c:f>
              <c:numCache>
                <c:formatCode>0.0</c:formatCode>
                <c:ptCount val="5"/>
                <c:pt idx="0">
                  <c:v>1.5</c:v>
                </c:pt>
                <c:pt idx="1">
                  <c:v>1.499</c:v>
                </c:pt>
                <c:pt idx="2">
                  <c:v>3.3</c:v>
                </c:pt>
                <c:pt idx="3">
                  <c:v>4.999</c:v>
                </c:pt>
                <c:pt idx="4">
                  <c:v>9.3</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23F32"/>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11"/>
        </c:scaling>
        <c:delete val="0"/>
        <c:axPos val="b"/>
        <c:numFmt formatCode="0.0"/>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Honor speaker</c:v>
          </c:tx>
          <c:spPr>
            <a:solidFill xmlns:a="http://schemas.openxmlformats.org/drawingml/2006/main">
              <a:srgbClr val="123F32"/>
            </a:solidFill>
          </c:spPr>
          <c:cat>
            <c:strRef>
              <c:f>'Chart Data'!$A$2:$A$4</c:f>
              <c:strCache>
                <c:ptCount val="3"/>
                <c:pt idx="0">
                  <c:v>Optimis</c:v>
                </c:pt>
                <c:pt idx="1">
                  <c:v>Base</c:v>
                </c:pt>
                <c:pt idx="2">
                  <c:v>Pesimis</c:v>
                </c:pt>
              </c:strCache>
            </c:strRef>
          </c:cat>
          <c:val>
            <c:numRef>
              <c:f>'Chart Data'!$B$2:$B$4</c:f>
              <c:numCache>
                <c:formatCode>0" jt"</c:formatCode>
                <c:ptCount val="3"/>
                <c:pt idx="0">
                  <c:v>24</c:v>
                </c:pt>
                <c:pt idx="1">
                  <c:v>32</c:v>
                </c:pt>
                <c:pt idx="2">
                  <c:v>40</c:v>
                </c:pt>
              </c:numCache>
            </c:numRef>
          </c:val>
        </c:ser>
        <c:ser>
          <c:idx val="1"/>
          <c:order val="1"/>
          <c:tx>
            <c:v>Zoom / 1 bulan</c:v>
          </c:tx>
          <c:spPr>
            <a:solidFill xmlns:a="http://schemas.openxmlformats.org/drawingml/2006/main">
              <a:srgbClr val="6F9182"/>
            </a:solidFill>
          </c:spPr>
          <c:cat>
            <c:strRef>
              <c:f>'Chart Data'!$C$2:$C$4</c:f>
              <c:strCache>
                <c:ptCount val="3"/>
                <c:pt idx="0">
                  <c:v>Optimis</c:v>
                </c:pt>
                <c:pt idx="1">
                  <c:v>Base</c:v>
                </c:pt>
                <c:pt idx="2">
                  <c:v>Pesimis</c:v>
                </c:pt>
              </c:strCache>
            </c:strRef>
          </c:cat>
          <c:val>
            <c:numRef>
              <c:f>'Chart Data'!$D$2:$D$4</c:f>
              <c:numCache>
                <c:formatCode>0.00</c:formatCode>
                <c:ptCount val="3"/>
                <c:pt idx="0">
                  <c:v>2.655839</c:v>
                </c:pt>
                <c:pt idx="1">
                  <c:v>2.655839</c:v>
                </c:pt>
                <c:pt idx="2">
                  <c:v>2.655839</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11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50"/>
          <c:min val="0"/>
        </c:scaling>
        <c:delete val="0"/>
        <c:axPos val="l"/>
        <c:majorGridlines>
          <c:spPr>
            <a:ln xmlns:a="http://schemas.openxmlformats.org/drawingml/2006/main" w="9525">
              <a:solidFill>
                <a:srgbClr val="E7ECE6"/>
              </a:solidFill>
            </a:ln>
          </c:spPr>
        </c:majorGridlines>
        <c:numFmt formatCode="0&quot; jt&quot;"/>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majorUnit val="1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Biaya Zoom, Rp jt</c:v>
          </c:tx>
          <c:spPr>
            <a:solidFill xmlns:a="http://schemas.openxmlformats.org/drawingml/2006/main">
              <a:srgbClr val="6F9182"/>
            </a:solidFill>
          </c:spPr>
          <c:dPt>
            <c:idx val="0"/>
            <c:invertIfNegative val="0"/>
            <c:spPr>
              <a:solidFill xmlns:a="http://schemas.openxmlformats.org/drawingml/2006/main">
                <a:srgbClr val="123F32"/>
              </a:solidFill>
            </c:spPr>
          </c:dPt>
          <c:cat>
            <c:strRef>
              <c:f>'Chart Data'!$A$2:$A$3</c:f>
              <c:strCache>
                <c:ptCount val="2"/>
                <c:pt idx="0">
                  <c:v>Subscribe / 1 bulan</c:v>
                </c:pt>
                <c:pt idx="1">
                  <c:v>Sewa / 8 sesi</c:v>
                </c:pt>
              </c:strCache>
            </c:strRef>
          </c:cat>
          <c:val>
            <c:numRef>
              <c:f>'Chart Data'!$B$2:$B$3</c:f>
              <c:numCache>
                <c:formatCode>0.00</c:formatCode>
                <c:ptCount val="2"/>
                <c:pt idx="0">
                  <c:v>2.655839</c:v>
                </c:pt>
                <c:pt idx="1">
                  <c:v>2.8</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23F32"/>
                  </a:solidFill>
                  <a:latin typeface="Calibri"/>
                  <a:ea typeface="Calibri"/>
                  <a:cs typeface="Calibr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3.5"/>
          <c:min val="0"/>
        </c:scaling>
        <c:delete val="0"/>
        <c:axPos val="b"/>
        <c:numFmt formatCode="0.0&quot; jt&quot;"/>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Venue Rp600 rb</c:v>
          </c:tx>
          <c:spPr>
            <a:ln xmlns:a="http://schemas.openxmlformats.org/drawingml/2006/main" w="28575">
              <a:solidFill>
                <a:srgbClr val="6F9182"/>
              </a:solidFill>
            </a:ln>
          </c:spPr>
          <c:marker>
            <c:symbol val="circle"/>
            <c:size val="5"/>
            <c:spPr>
              <a:solidFill xmlns:a="http://schemas.openxmlformats.org/drawingml/2006/main">
                <a:srgbClr val="6F9182"/>
              </a:solidFill>
            </c:spPr>
          </c:marker>
          <c:cat>
            <c:numRef>
              <c:f>'Chart Data'!$A$2:$A$6</c:f>
              <c:numCache>
                <c:formatCode>General</c:formatCode>
                <c:ptCount val="5"/>
                <c:pt idx="0">
                  <c:v>0</c:v>
                </c:pt>
                <c:pt idx="1">
                  <c:v>5</c:v>
                </c:pt>
                <c:pt idx="2">
                  <c:v>10</c:v>
                </c:pt>
                <c:pt idx="3">
                  <c:v>15</c:v>
                </c:pt>
                <c:pt idx="4">
                  <c:v>20</c:v>
                </c:pt>
              </c:numCache>
            </c:numRef>
          </c:cat>
          <c:val>
            <c:numRef>
              <c:f>'Chart Data'!$B$2:$B$6</c:f>
              <c:numCache>
                <c:formatCode>0.0</c:formatCode>
                <c:ptCount val="5"/>
                <c:pt idx="0">
                  <c:v>0.72</c:v>
                </c:pt>
                <c:pt idx="1">
                  <c:v>0.97</c:v>
                </c:pt>
                <c:pt idx="2">
                  <c:v>1.22</c:v>
                </c:pt>
                <c:pt idx="3">
                  <c:v>1.47</c:v>
                </c:pt>
                <c:pt idx="4">
                  <c:v>1.72</c:v>
                </c:pt>
              </c:numCache>
            </c:numRef>
          </c:val>
        </c:ser>
        <c:ser>
          <c:idx val="1"/>
          <c:order val="1"/>
          <c:tx>
            <c:v>Venue Rp1 jt</c:v>
          </c:tx>
          <c:spPr>
            <a:ln xmlns:a="http://schemas.openxmlformats.org/drawingml/2006/main" w="28575">
              <a:solidFill>
                <a:srgbClr val="123F32"/>
              </a:solidFill>
            </a:ln>
          </c:spPr>
          <c:marker>
            <c:symbol val="circle"/>
            <c:size val="5"/>
            <c:spPr>
              <a:solidFill xmlns:a="http://schemas.openxmlformats.org/drawingml/2006/main">
                <a:srgbClr val="123F32"/>
              </a:solidFill>
            </c:spPr>
          </c:marker>
          <c:cat>
            <c:numRef>
              <c:f>'Chart Data'!$C$2:$C$6</c:f>
              <c:numCache>
                <c:formatCode>General</c:formatCode>
                <c:ptCount val="5"/>
                <c:pt idx="0">
                  <c:v>0</c:v>
                </c:pt>
                <c:pt idx="1">
                  <c:v>5</c:v>
                </c:pt>
                <c:pt idx="2">
                  <c:v>10</c:v>
                </c:pt>
                <c:pt idx="3">
                  <c:v>15</c:v>
                </c:pt>
                <c:pt idx="4">
                  <c:v>20</c:v>
                </c:pt>
              </c:numCache>
            </c:numRef>
          </c:cat>
          <c:val>
            <c:numRef>
              <c:f>'Chart Data'!$D$2:$D$6</c:f>
              <c:numCache>
                <c:formatCode>0.0</c:formatCode>
                <c:ptCount val="5"/>
                <c:pt idx="0">
                  <c:v>1.2</c:v>
                </c:pt>
                <c:pt idx="1">
                  <c:v>1.45</c:v>
                </c:pt>
                <c:pt idx="2">
                  <c:v>1.7</c:v>
                </c:pt>
                <c:pt idx="3">
                  <c:v>1.95</c:v>
                </c:pt>
                <c:pt idx="4">
                  <c:v>2.2</c:v>
                </c:pt>
              </c:numCache>
            </c:numRef>
          </c:val>
        </c:ser>
        <c:ser>
          <c:idx val="2"/>
          <c:order val="2"/>
          <c:tx>
            <c:v>Member Rp1,5 jt</c:v>
          </c:tx>
          <c:spPr>
            <a:ln xmlns:a="http://schemas.openxmlformats.org/drawingml/2006/main" w="19050">
              <a:solidFill>
                <a:srgbClr val="A27D42"/>
              </a:solidFill>
              <a:prstDash val="dash"/>
            </a:ln>
          </c:spPr>
          <c:marker>
            <c:symbol val="none"/>
          </c:marker>
          <c:cat>
            <c:numRef>
              <c:f>'Chart Data'!$E$2:$E$6</c:f>
              <c:numCache>
                <c:formatCode>General</c:formatCode>
                <c:ptCount val="5"/>
                <c:pt idx="0">
                  <c:v>0</c:v>
                </c:pt>
                <c:pt idx="1">
                  <c:v>5</c:v>
                </c:pt>
                <c:pt idx="2">
                  <c:v>10</c:v>
                </c:pt>
                <c:pt idx="3">
                  <c:v>15</c:v>
                </c:pt>
                <c:pt idx="4">
                  <c:v>20</c:v>
                </c:pt>
              </c:numCache>
            </c:numRef>
          </c:cat>
          <c:val>
            <c:numRef>
              <c:f>'Chart Data'!$F$2:$F$6</c:f>
              <c:numCache>
                <c:formatCode>0.0</c:formatCode>
                <c:ptCount val="5"/>
                <c:pt idx="0">
                  <c:v>1.5</c:v>
                </c:pt>
                <c:pt idx="1">
                  <c:v>1.5</c:v>
                </c:pt>
                <c:pt idx="2">
                  <c:v>1.5</c:v>
                </c:pt>
                <c:pt idx="3">
                  <c:v>1.5</c:v>
                </c:pt>
                <c:pt idx="4">
                  <c:v>1.5</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Fee Master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3"/>
          <c:min val="0"/>
        </c:scaling>
        <c:delete val="0"/>
        <c:axPos val="l"/>
        <c:majorGridlines>
          <c:spPr>
            <a:ln xmlns:a="http://schemas.openxmlformats.org/drawingml/2006/main" w="9525">
              <a:solidFill>
                <a:srgbClr val="DCE5DE"/>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BEP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majorUnit val="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E2FF1585-F635-466B-932C-24EF2129277E}"/>
              </a:ext>
            </a:extLst>
          </p:cNvPr>
          <p:cNvSpPr>
            <a:spLocks xmlns:a="http://schemas.openxmlformats.org/drawingml/2006/main" noGrp="1"/>
          </p:cNvSpPr>
          <p:nvPr/>
        </p:nvSpPr>
        <p:spPr>
          <a:xfrm xmlns:a="http://schemas.openxmlformats.org/drawingml/2006/main">
            <a:off x="609600" y="5715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FFFFFF"/>
                </a:solidFill>
                <a:latin typeface="Calibri"/>
                <a:ea typeface="Calibri"/>
                <a:cs typeface="Calibri"/>
              </a:defRPr>
            </a:pPr>
            <a:r>
              <a:rPr sz="1350" b="1">
                <a:solidFill>
                  <a:srgbClr val="FFFFFF"/>
                </a:solidFill>
                <a:latin typeface="Calibri"/>
                <a:ea typeface="Calibri"/>
                <a:cs typeface="Calibri"/>
              </a:rPr>
              <a:t>CEO MASTERCLASS</a:t>
            </a:r>
          </a:p>
        </p:txBody>
      </p:sp>
      <p:sp>
        <p:nvSpPr>
          <p:cNvPr id="2" name="text-2">
            <a:extLst xmlns:a="http://schemas.openxmlformats.org/drawingml/2006/main">
              <a:ext uri="{FF2B5EF4-FFF2-40B4-BE49-F238E27FC236}">
                <a16:creationId xmlns:a16="http://schemas.microsoft.com/office/drawing/2014/main" id="{D0B0FE53-96FC-4D75-97E3-555C93E66C83}"/>
              </a:ext>
            </a:extLst>
          </p:cNvPr>
          <p:cNvSpPr>
            <a:spLocks xmlns:a="http://schemas.openxmlformats.org/drawingml/2006/main" noGrp="1"/>
          </p:cNvSpPr>
          <p:nvPr/>
        </p:nvSpPr>
        <p:spPr>
          <a:xfrm xmlns:a="http://schemas.openxmlformats.org/drawingml/2006/main">
            <a:off x="609600" y="171450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Calibri"/>
                <a:ea typeface="Calibri"/>
                <a:cs typeface="Calibri"/>
              </a:defRPr>
            </a:pPr>
            <a:r>
              <a:rPr sz="4500" b="1">
                <a:solidFill>
                  <a:srgbClr val="FFFFFF"/>
                </a:solidFill>
                <a:latin typeface="Calibri"/>
                <a:ea typeface="Calibri"/>
                <a:cs typeface="Calibri"/>
              </a:rPr>
              <a:t>Belajar langsung.</a:t>
            </a:r>
          </a:p>
          <a:p xmlns:a="http://schemas.openxmlformats.org/drawingml/2006/main">
            <a:pPr>
              <a:defRPr sz="4500" b="1">
                <a:solidFill>
                  <a:srgbClr val="FFFFFF"/>
                </a:solidFill>
                <a:latin typeface="Calibri"/>
                <a:ea typeface="Calibri"/>
                <a:cs typeface="Calibri"/>
              </a:defRPr>
            </a:pPr>
            <a:r>
              <a:rPr sz="4500" b="1">
                <a:solidFill>
                  <a:srgbClr val="FFFFFF"/>
                </a:solidFill>
                <a:latin typeface="Calibri"/>
                <a:ea typeface="Calibri"/>
                <a:cs typeface="Calibri"/>
              </a:rPr>
              <a:t>Diskusi lebih dekat.</a:t>
            </a:r>
          </a:p>
        </p:txBody>
      </p:sp>
      <p:sp>
        <p:nvSpPr>
          <p:cNvPr id="3" name="text-3">
            <a:extLst xmlns:a="http://schemas.openxmlformats.org/drawingml/2006/main">
              <a:ext uri="{FF2B5EF4-FFF2-40B4-BE49-F238E27FC236}">
                <a16:creationId xmlns:a16="http://schemas.microsoft.com/office/drawing/2014/main" id="{9B501FBF-A3D2-486B-935E-EA970B4996F6}"/>
              </a:ext>
            </a:extLst>
          </p:cNvPr>
          <p:cNvSpPr>
            <a:spLocks xmlns:a="http://schemas.openxmlformats.org/drawingml/2006/main" noGrp="1"/>
          </p:cNvSpPr>
          <p:nvPr/>
        </p:nvSpPr>
        <p:spPr>
          <a:xfrm xmlns:a="http://schemas.openxmlformats.org/drawingml/2006/main">
            <a:off x="647700" y="35623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Calibri"/>
                <a:ea typeface="Calibri"/>
                <a:cs typeface="Calibri"/>
              </a:defRPr>
            </a:pPr>
            <a:r>
              <a:rPr sz="2250" b="0">
                <a:solidFill>
                  <a:srgbClr val="FFFFFF"/>
                </a:solidFill>
                <a:latin typeface="Calibri"/>
                <a:ea typeface="Calibri"/>
                <a:cs typeface="Calibri"/>
              </a:rPr>
              <a:t>Pengembangan Produk &amp; Pricing</a:t>
            </a:r>
          </a:p>
        </p:txBody>
      </p:sp>
      <p:sp>
        <p:nvSpPr>
          <p:cNvPr id="4" name="">
            <a:extLst xmlns:a="http://schemas.openxmlformats.org/drawingml/2006/main">
              <a:ext uri="{FF2B5EF4-FFF2-40B4-BE49-F238E27FC236}">
                <a16:creationId xmlns:a16="http://schemas.microsoft.com/office/drawing/2014/main" id="{D85E37D4-C6B9-4897-AD45-AE5A5D922AF1}"/>
              </a:ext>
            </a:extLst>
          </p:cNvPr>
          <p:cNvSpPr>
            <a:spLocks xmlns:a="http://schemas.openxmlformats.org/drawingml/2006/main" noGrp="1"/>
          </p:cNvSpPr>
          <p:nvPr/>
        </p:nvSpPr>
        <p:spPr>
          <a:xfrm xmlns:a="http://schemas.openxmlformats.org/drawingml/2006/main">
            <a:off x="647700" y="4524375"/>
            <a:ext cx="10668000" cy="0"/>
          </a:xfrm>
          <a:prstGeom xmlns:a="http://schemas.openxmlformats.org/drawingml/2006/main" prst="line">
            <a:avLst/>
          </a:prstGeom>
          <a:noFill xmlns:a="http://schemas.openxmlformats.org/drawingml/2006/main"/>
          <a:ln xmlns:a="http://schemas.openxmlformats.org/drawingml/2006/main" w="19050">
            <a:solidFill>
              <a:srgbClr val="6F9182"/>
            </a:solidFill>
          </a:ln>
        </p:spPr>
      </p:sp>
      <p:sp>
        <p:nvSpPr>
          <p:cNvPr id="5" name="text-4">
            <a:extLst xmlns:a="http://schemas.openxmlformats.org/drawingml/2006/main">
              <a:ext uri="{FF2B5EF4-FFF2-40B4-BE49-F238E27FC236}">
                <a16:creationId xmlns:a16="http://schemas.microsoft.com/office/drawing/2014/main" id="{3C4ED721-650A-4B6C-AA11-E09338E4C5B0}"/>
              </a:ext>
            </a:extLst>
          </p:cNvPr>
          <p:cNvSpPr>
            <a:spLocks xmlns:a="http://schemas.openxmlformats.org/drawingml/2006/main" noGrp="1"/>
          </p:cNvSpPr>
          <p:nvPr/>
        </p:nvSpPr>
        <p:spPr>
          <a:xfrm xmlns:a="http://schemas.openxmlformats.org/drawingml/2006/main">
            <a:off x="64770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Founder Live</a:t>
            </a:r>
          </a:p>
        </p:txBody>
      </p:sp>
      <p:sp>
        <p:nvSpPr>
          <p:cNvPr id="6" name="text-5">
            <a:extLst xmlns:a="http://schemas.openxmlformats.org/drawingml/2006/main">
              <a:ext uri="{FF2B5EF4-FFF2-40B4-BE49-F238E27FC236}">
                <a16:creationId xmlns:a16="http://schemas.microsoft.com/office/drawing/2014/main" id="{431AAB0C-5A5B-452D-A86F-1127BE805BA6}"/>
              </a:ext>
            </a:extLst>
          </p:cNvPr>
          <p:cNvSpPr>
            <a:spLocks xmlns:a="http://schemas.openxmlformats.org/drawingml/2006/main" noGrp="1"/>
          </p:cNvSpPr>
          <p:nvPr/>
        </p:nvSpPr>
        <p:spPr>
          <a:xfrm xmlns:a="http://schemas.openxmlformats.org/drawingml/2006/main">
            <a:off x="4476750" y="48577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Intimate Dinner</a:t>
            </a:r>
          </a:p>
        </p:txBody>
      </p:sp>
      <p:sp>
        <p:nvSpPr>
          <p:cNvPr id="7" name="text-6">
            <a:extLst xmlns:a="http://schemas.openxmlformats.org/drawingml/2006/main">
              <a:ext uri="{FF2B5EF4-FFF2-40B4-BE49-F238E27FC236}">
                <a16:creationId xmlns:a16="http://schemas.microsoft.com/office/drawing/2014/main" id="{03F1E415-BF93-4460-84ED-89180FE45AF4}"/>
              </a:ext>
            </a:extLst>
          </p:cNvPr>
          <p:cNvSpPr>
            <a:spLocks xmlns:a="http://schemas.openxmlformats.org/drawingml/2006/main" noGrp="1"/>
          </p:cNvSpPr>
          <p:nvPr/>
        </p:nvSpPr>
        <p:spPr>
          <a:xfrm xmlns:a="http://schemas.openxmlformats.org/drawingml/2006/main">
            <a:off x="828675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Rencana harga</a:t>
            </a:r>
          </a:p>
        </p:txBody>
      </p:sp>
      <p:sp>
        <p:nvSpPr>
          <p:cNvPr id="8" name="text-7">
            <a:extLst xmlns:a="http://schemas.openxmlformats.org/drawingml/2006/main">
              <a:ext uri="{FF2B5EF4-FFF2-40B4-BE49-F238E27FC236}">
                <a16:creationId xmlns:a16="http://schemas.microsoft.com/office/drawing/2014/main" id="{5988F6BD-C4F3-4F8E-A81A-EC13F4A24A8A}"/>
              </a:ext>
            </a:extLst>
          </p:cNvPr>
          <p:cNvSpPr>
            <a:spLocks xmlns:a="http://schemas.openxmlformats.org/drawingml/2006/main" noGrp="1"/>
          </p:cNvSpPr>
          <p:nvPr/>
        </p:nvSpPr>
        <p:spPr>
          <a:xfrm xmlns:a="http://schemas.openxmlformats.org/drawingml/2006/main">
            <a:off x="647700" y="60769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2D5C8"/>
                </a:solidFill>
                <a:latin typeface="Calibri"/>
                <a:ea typeface="Calibri"/>
                <a:cs typeface="Calibri"/>
              </a:defRPr>
            </a:pPr>
            <a:r>
              <a:rPr sz="1275" b="0">
                <a:solidFill>
                  <a:srgbClr val="C2D5C8"/>
                </a:solidFill>
                <a:latin typeface="Calibri"/>
                <a:ea typeface="Calibri"/>
                <a:cs typeface="Calibri"/>
              </a:rPr>
              <a:t>Diskusi manajemen</a:t>
            </a:r>
          </a:p>
        </p:txBody>
      </p:sp>
      <p:sp>
        <p:nvSpPr>
          <p:cNvPr id="9" name="text-8">
            <a:extLst xmlns:a="http://schemas.openxmlformats.org/drawingml/2006/main">
              <a:ext uri="{FF2B5EF4-FFF2-40B4-BE49-F238E27FC236}">
                <a16:creationId xmlns:a16="http://schemas.microsoft.com/office/drawing/2014/main" id="{113E4E76-E823-4C47-B9C2-623409C98769}"/>
              </a:ext>
            </a:extLst>
          </p:cNvPr>
          <p:cNvSpPr>
            <a:spLocks xmlns:a="http://schemas.openxmlformats.org/drawingml/2006/main" noGrp="1"/>
          </p:cNvSpPr>
          <p:nvPr/>
        </p:nvSpPr>
        <p:spPr>
          <a:xfrm xmlns:a="http://schemas.openxmlformats.org/drawingml/2006/main">
            <a:off x="9715500" y="60769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2D5C8"/>
                </a:solidFill>
                <a:latin typeface="Calibri"/>
                <a:ea typeface="Calibri"/>
                <a:cs typeface="Calibri"/>
              </a:defRPr>
            </a:pPr>
            <a:r>
              <a:rPr sz="1275" b="0">
                <a:solidFill>
                  <a:srgbClr val="C2D5C8"/>
                </a:solidFill>
                <a:latin typeface="Calibri"/>
                <a:ea typeface="Calibri"/>
                <a:cs typeface="Calibri"/>
              </a:rPr>
              <a:t>Oktober 2026</a:t>
            </a:r>
          </a:p>
        </p:txBody>
      </p:sp>
    </p:spTree>
    <p:extLst>
      <p:ext uri="{BB962C8B-B14F-4D97-AF65-F5344CB8AC3E}">
        <p14:creationId xmlns:p14="http://schemas.microsoft.com/office/powerpoint/2010/main" val="20434024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9">
            <a:extLst xmlns:a="http://schemas.openxmlformats.org/drawingml/2006/main">
              <a:ext uri="{FF2B5EF4-FFF2-40B4-BE49-F238E27FC236}">
                <a16:creationId xmlns:a16="http://schemas.microsoft.com/office/drawing/2014/main" id="{568F429E-640B-445D-9AD0-76CDDC89F0E1}"/>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PRIORITAS PENGEMBANGAN</a:t>
            </a:r>
          </a:p>
        </p:txBody>
      </p:sp>
      <p:sp>
        <p:nvSpPr>
          <p:cNvPr id="2" name="text-10">
            <a:extLst xmlns:a="http://schemas.openxmlformats.org/drawingml/2006/main">
              <a:ext uri="{FF2B5EF4-FFF2-40B4-BE49-F238E27FC236}">
                <a16:creationId xmlns:a16="http://schemas.microsoft.com/office/drawing/2014/main" id="{A78C293B-8D2F-43EF-9D03-99FC133A4C4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Member perlu lebih banyak alasan untuk kembali ke CMC</a:t>
            </a:r>
          </a:p>
        </p:txBody>
      </p:sp>
      <p:sp>
        <p:nvSpPr>
          <p:cNvPr id="3" name="text-11">
            <a:extLst xmlns:a="http://schemas.openxmlformats.org/drawingml/2006/main">
              <a:ext uri="{FF2B5EF4-FFF2-40B4-BE49-F238E27FC236}">
                <a16:creationId xmlns:a16="http://schemas.microsoft.com/office/drawing/2014/main" id="{097FAB75-9C93-4BF3-BAED-DA5E82C1D0C1}"/>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Founder Live membuka diskusi rutin. Intimate Dinner memberi akses langsung dalam kelompok kecil.</a:t>
            </a:r>
          </a:p>
        </p:txBody>
      </p:sp>
      <p:sp>
        <p:nvSpPr>
          <p:cNvPr id="4" name="">
            <a:extLst xmlns:a="http://schemas.openxmlformats.org/drawingml/2006/main">
              <a:ext uri="{FF2B5EF4-FFF2-40B4-BE49-F238E27FC236}">
                <a16:creationId xmlns:a16="http://schemas.microsoft.com/office/drawing/2014/main" id="{51FC9696-485B-4563-AA30-03A00ECC212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2">
            <a:extLst xmlns:a="http://schemas.openxmlformats.org/drawingml/2006/main">
              <a:ext uri="{FF2B5EF4-FFF2-40B4-BE49-F238E27FC236}">
                <a16:creationId xmlns:a16="http://schemas.microsoft.com/office/drawing/2014/main" id="{D23A7EA8-EEFF-4E45-B9BA-54EBDEDF7489}"/>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3">
            <a:extLst xmlns:a="http://schemas.openxmlformats.org/drawingml/2006/main">
              <a:ext uri="{FF2B5EF4-FFF2-40B4-BE49-F238E27FC236}">
                <a16:creationId xmlns:a16="http://schemas.microsoft.com/office/drawing/2014/main" id="{BA905842-BE4A-4100-A8B8-9D376019FA27}"/>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02</a:t>
            </a:r>
          </a:p>
        </p:txBody>
      </p:sp>
      <p:sp>
        <p:nvSpPr>
          <p:cNvPr id="7" name="text-14">
            <a:extLst xmlns:a="http://schemas.openxmlformats.org/drawingml/2006/main">
              <a:ext uri="{FF2B5EF4-FFF2-40B4-BE49-F238E27FC236}">
                <a16:creationId xmlns:a16="http://schemas.microsoft.com/office/drawing/2014/main" id="{353EE0E4-4115-4175-B57D-393639052078}"/>
              </a:ext>
            </a:extLst>
          </p:cNvPr>
          <p:cNvSpPr>
            <a:spLocks xmlns:a="http://schemas.openxmlformats.org/drawingml/2006/main" noGrp="1"/>
          </p:cNvSpPr>
          <p:nvPr/>
        </p:nvSpPr>
        <p:spPr>
          <a:xfrm xmlns:a="http://schemas.openxmlformats.org/drawingml/2006/main">
            <a:off x="609600" y="24860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Calibri"/>
                <a:ea typeface="Calibri"/>
                <a:cs typeface="Calibri"/>
              </a:defRPr>
            </a:pPr>
            <a:r>
              <a:rPr sz="2250" b="1">
                <a:solidFill>
                  <a:srgbClr val="123F32"/>
                </a:solidFill>
                <a:latin typeface="Calibri"/>
                <a:ea typeface="Calibri"/>
                <a:cs typeface="Calibri"/>
              </a:rPr>
              <a:t>Yang sudah kita punya</a:t>
            </a:r>
          </a:p>
        </p:txBody>
      </p:sp>
      <p:sp>
        <p:nvSpPr>
          <p:cNvPr id="8" name="text-15">
            <a:extLst xmlns:a="http://schemas.openxmlformats.org/drawingml/2006/main">
              <a:ext uri="{FF2B5EF4-FFF2-40B4-BE49-F238E27FC236}">
                <a16:creationId xmlns:a16="http://schemas.microsoft.com/office/drawing/2014/main" id="{1DB40507-F84F-4F2E-A04A-FF5B472515BD}"/>
              </a:ext>
            </a:extLst>
          </p:cNvPr>
          <p:cNvSpPr>
            <a:spLocks xmlns:a="http://schemas.openxmlformats.org/drawingml/2006/main" noGrp="1"/>
          </p:cNvSpPr>
          <p:nvPr/>
        </p:nvSpPr>
        <p:spPr>
          <a:xfrm xmlns:a="http://schemas.openxmlformats.org/drawingml/2006/main">
            <a:off x="609600" y="303847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Modul rekaman + tools / AI</a:t>
            </a:r>
          </a:p>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Founder Live batch pertama</a:t>
            </a:r>
          </a:p>
        </p:txBody>
      </p:sp>
      <p:sp>
        <p:nvSpPr>
          <p:cNvPr id="9" name="text-16">
            <a:extLst xmlns:a="http://schemas.openxmlformats.org/drawingml/2006/main">
              <a:ext uri="{FF2B5EF4-FFF2-40B4-BE49-F238E27FC236}">
                <a16:creationId xmlns:a16="http://schemas.microsoft.com/office/drawing/2014/main" id="{83EBBDBC-0006-4015-B590-854F4B78D668}"/>
              </a:ext>
            </a:extLst>
          </p:cNvPr>
          <p:cNvSpPr>
            <a:spLocks xmlns:a="http://schemas.openxmlformats.org/drawingml/2006/main" noGrp="1"/>
          </p:cNvSpPr>
          <p:nvPr/>
        </p:nvSpPr>
        <p:spPr>
          <a:xfrm xmlns:a="http://schemas.openxmlformats.org/drawingml/2006/main">
            <a:off x="609600" y="42386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3F32"/>
                </a:solidFill>
                <a:latin typeface="Calibri"/>
                <a:ea typeface="Calibri"/>
                <a:cs typeface="Calibri"/>
              </a:defRPr>
            </a:pPr>
            <a:r>
              <a:rPr sz="3600" b="1">
                <a:solidFill>
                  <a:srgbClr val="123F32"/>
                </a:solidFill>
                <a:latin typeface="Calibri"/>
                <a:ea typeface="Calibri"/>
                <a:cs typeface="Calibri"/>
              </a:rPr>
              <a:t>Rp1,5 jt</a:t>
            </a:r>
          </a:p>
        </p:txBody>
      </p:sp>
      <p:sp>
        <p:nvSpPr>
          <p:cNvPr id="10" name="text-17">
            <a:extLst xmlns:a="http://schemas.openxmlformats.org/drawingml/2006/main">
              <a:ext uri="{FF2B5EF4-FFF2-40B4-BE49-F238E27FC236}">
                <a16:creationId xmlns:a16="http://schemas.microsoft.com/office/drawing/2014/main" id="{2A03D8E5-5CCB-43FC-B64B-B3E9DF592FA4}"/>
              </a:ext>
            </a:extLst>
          </p:cNvPr>
          <p:cNvSpPr>
            <a:spLocks xmlns:a="http://schemas.openxmlformats.org/drawingml/2006/main" noGrp="1"/>
          </p:cNvSpPr>
          <p:nvPr/>
        </p:nvSpPr>
        <p:spPr>
          <a:xfrm xmlns:a="http://schemas.openxmlformats.org/drawingml/2006/main">
            <a:off x="609600" y="48672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membership saat ini</a:t>
            </a:r>
          </a:p>
        </p:txBody>
      </p:sp>
      <p:sp>
        <p:nvSpPr>
          <p:cNvPr id="11" name="text-18">
            <a:extLst xmlns:a="http://schemas.openxmlformats.org/drawingml/2006/main">
              <a:ext uri="{FF2B5EF4-FFF2-40B4-BE49-F238E27FC236}">
                <a16:creationId xmlns:a16="http://schemas.microsoft.com/office/drawing/2014/main" id="{57290B2C-EBCF-4A12-A921-46D451389389}"/>
              </a:ext>
            </a:extLst>
          </p:cNvPr>
          <p:cNvSpPr>
            <a:spLocks xmlns:a="http://schemas.openxmlformats.org/drawingml/2006/main" noGrp="1"/>
          </p:cNvSpPr>
          <p:nvPr/>
        </p:nvSpPr>
        <p:spPr>
          <a:xfrm xmlns:a="http://schemas.openxmlformats.org/drawingml/2006/main">
            <a:off x="6343650" y="25241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8 sesi / 1 bulan</a:t>
            </a:r>
          </a:p>
        </p:txBody>
      </p:sp>
      <p:sp>
        <p:nvSpPr>
          <p:cNvPr id="12" name="text-19">
            <a:extLst xmlns:a="http://schemas.openxmlformats.org/drawingml/2006/main">
              <a:ext uri="{FF2B5EF4-FFF2-40B4-BE49-F238E27FC236}">
                <a16:creationId xmlns:a16="http://schemas.microsoft.com/office/drawing/2014/main" id="{04180600-6659-4249-9678-806CB52CBD3B}"/>
              </a:ext>
            </a:extLst>
          </p:cNvPr>
          <p:cNvSpPr>
            <a:spLocks xmlns:a="http://schemas.openxmlformats.org/drawingml/2006/main" noGrp="1"/>
          </p:cNvSpPr>
          <p:nvPr/>
        </p:nvSpPr>
        <p:spPr>
          <a:xfrm xmlns:a="http://schemas.openxmlformats.org/drawingml/2006/main">
            <a:off x="6343650" y="31146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Founder Live</a:t>
            </a:r>
          </a:p>
        </p:txBody>
      </p:sp>
      <p:sp>
        <p:nvSpPr>
          <p:cNvPr id="13" name="text-20">
            <a:extLst xmlns:a="http://schemas.openxmlformats.org/drawingml/2006/main">
              <a:ext uri="{FF2B5EF4-FFF2-40B4-BE49-F238E27FC236}">
                <a16:creationId xmlns:a16="http://schemas.microsoft.com/office/drawing/2014/main" id="{A9AE142A-41A2-4934-83AF-9B6C8E7C82D7}"/>
              </a:ext>
            </a:extLst>
          </p:cNvPr>
          <p:cNvSpPr>
            <a:spLocks xmlns:a="http://schemas.openxmlformats.org/drawingml/2006/main" noGrp="1"/>
          </p:cNvSpPr>
          <p:nvPr/>
        </p:nvSpPr>
        <p:spPr>
          <a:xfrm xmlns:a="http://schemas.openxmlformats.org/drawingml/2006/main">
            <a:off x="6343650" y="34956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Selasa–Kamis, 3–26 November 2026 (usulan)</a:t>
            </a:r>
          </a:p>
        </p:txBody>
      </p:sp>
      <p:sp>
        <p:nvSpPr>
          <p:cNvPr id="14" name="text-21">
            <a:extLst xmlns:a="http://schemas.openxmlformats.org/drawingml/2006/main">
              <a:ext uri="{FF2B5EF4-FFF2-40B4-BE49-F238E27FC236}">
                <a16:creationId xmlns:a16="http://schemas.microsoft.com/office/drawing/2014/main" id="{B74F4CEB-A9F4-4922-8475-2153339D0D1F}"/>
              </a:ext>
            </a:extLst>
          </p:cNvPr>
          <p:cNvSpPr>
            <a:spLocks xmlns:a="http://schemas.openxmlformats.org/drawingml/2006/main" noGrp="1"/>
          </p:cNvSpPr>
          <p:nvPr/>
        </p:nvSpPr>
        <p:spPr>
          <a:xfrm xmlns:a="http://schemas.openxmlformats.org/drawingml/2006/main">
            <a:off x="6343650" y="40005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20 peserta</a:t>
            </a:r>
          </a:p>
        </p:txBody>
      </p:sp>
      <p:sp>
        <p:nvSpPr>
          <p:cNvPr id="15" name="text-22">
            <a:extLst xmlns:a="http://schemas.openxmlformats.org/drawingml/2006/main">
              <a:ext uri="{FF2B5EF4-FFF2-40B4-BE49-F238E27FC236}">
                <a16:creationId xmlns:a16="http://schemas.microsoft.com/office/drawing/2014/main" id="{8C4FCFC4-F6CC-4CA4-BC65-A690E94951D5}"/>
              </a:ext>
            </a:extLst>
          </p:cNvPr>
          <p:cNvSpPr>
            <a:spLocks xmlns:a="http://schemas.openxmlformats.org/drawingml/2006/main" noGrp="1"/>
          </p:cNvSpPr>
          <p:nvPr/>
        </p:nvSpPr>
        <p:spPr>
          <a:xfrm xmlns:a="http://schemas.openxmlformats.org/drawingml/2006/main">
            <a:off x="6343650" y="45910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Intimate Dinner</a:t>
            </a:r>
          </a:p>
        </p:txBody>
      </p:sp>
      <p:sp>
        <p:nvSpPr>
          <p:cNvPr id="16" name="text-23">
            <a:extLst xmlns:a="http://schemas.openxmlformats.org/drawingml/2006/main">
              <a:ext uri="{FF2B5EF4-FFF2-40B4-BE49-F238E27FC236}">
                <a16:creationId xmlns:a16="http://schemas.microsoft.com/office/drawing/2014/main" id="{7A7C6DF6-BF8D-4EB7-A97B-6F29E7B480AE}"/>
              </a:ext>
            </a:extLst>
          </p:cNvPr>
          <p:cNvSpPr>
            <a:spLocks xmlns:a="http://schemas.openxmlformats.org/drawingml/2006/main" noGrp="1"/>
          </p:cNvSpPr>
          <p:nvPr/>
        </p:nvSpPr>
        <p:spPr>
          <a:xfrm xmlns:a="http://schemas.openxmlformats.org/drawingml/2006/main">
            <a:off x="6343650" y="49720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Sesi offline terbatas, dengan biaya terpisah</a:t>
            </a:r>
          </a:p>
        </p:txBody>
      </p:sp>
      <p:sp>
        <p:nvSpPr>
          <p:cNvPr id="17" name="">
            <a:extLst xmlns:a="http://schemas.openxmlformats.org/drawingml/2006/main">
              <a:ext uri="{FF2B5EF4-FFF2-40B4-BE49-F238E27FC236}">
                <a16:creationId xmlns:a16="http://schemas.microsoft.com/office/drawing/2014/main" id="{B8B43B5B-820B-4F8A-88F8-D8EA43C7C2B3}"/>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8" name="text-24">
            <a:extLst xmlns:a="http://schemas.openxmlformats.org/drawingml/2006/main">
              <a:ext uri="{FF2B5EF4-FFF2-40B4-BE49-F238E27FC236}">
                <a16:creationId xmlns:a16="http://schemas.microsoft.com/office/drawing/2014/main" id="{17CC18F3-4AF9-400A-8211-7AFFE2F68C86}"/>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Rp2,5 jt dan ~Rp5 jt kita putuskan setelah melihat hasil pilot.</a:t>
            </a:r>
          </a:p>
        </p:txBody>
      </p:sp>
    </p:spTree>
    <p:extLst>
      <p:ext uri="{BB962C8B-B14F-4D97-AF65-F5344CB8AC3E}">
        <p14:creationId xmlns:p14="http://schemas.microsoft.com/office/powerpoint/2010/main" val="9073699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25">
            <a:extLst xmlns:a="http://schemas.openxmlformats.org/drawingml/2006/main">
              <a:ext uri="{FF2B5EF4-FFF2-40B4-BE49-F238E27FC236}">
                <a16:creationId xmlns:a16="http://schemas.microsoft.com/office/drawing/2014/main" id="{EB2C2857-1CBA-4B79-8034-BA4D3D461BF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POSISI PASAR</a:t>
            </a:r>
          </a:p>
        </p:txBody>
      </p:sp>
      <p:sp>
        <p:nvSpPr>
          <p:cNvPr id="2" name="text-26">
            <a:extLst xmlns:a="http://schemas.openxmlformats.org/drawingml/2006/main">
              <a:ext uri="{FF2B5EF4-FFF2-40B4-BE49-F238E27FC236}">
                <a16:creationId xmlns:a16="http://schemas.microsoft.com/office/drawing/2014/main" id="{BA30FDBB-A3CC-4153-BD2E-38BF2E09C7E4}"/>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Harga CMC masih di sisi bawah pasar kelas live</a:t>
            </a:r>
          </a:p>
        </p:txBody>
      </p:sp>
      <p:sp>
        <p:nvSpPr>
          <p:cNvPr id="3" name="text-27">
            <a:extLst xmlns:a="http://schemas.openxmlformats.org/drawingml/2006/main">
              <a:ext uri="{FF2B5EF4-FFF2-40B4-BE49-F238E27FC236}">
                <a16:creationId xmlns:a16="http://schemas.microsoft.com/office/drawing/2014/main" id="{71D57AD2-CD78-4A43-9E96-0E344F812D6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dalam Rp juta. Tiap paket menawarkan tingkat akses yang berbeda.</a:t>
            </a:r>
          </a:p>
        </p:txBody>
      </p:sp>
      <p:sp>
        <p:nvSpPr>
          <p:cNvPr id="4" name="">
            <a:extLst xmlns:a="http://schemas.openxmlformats.org/drawingml/2006/main">
              <a:ext uri="{FF2B5EF4-FFF2-40B4-BE49-F238E27FC236}">
                <a16:creationId xmlns:a16="http://schemas.microsoft.com/office/drawing/2014/main" id="{41EE86DD-3B2A-4B99-B3E9-9FCD6C52EF3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8">
            <a:extLst xmlns:a="http://schemas.openxmlformats.org/drawingml/2006/main">
              <a:ext uri="{FF2B5EF4-FFF2-40B4-BE49-F238E27FC236}">
                <a16:creationId xmlns:a16="http://schemas.microsoft.com/office/drawing/2014/main" id="{7E97657B-A9FB-480E-8704-0F9A9DF371AA}"/>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Sevenpreneur Batch 8; Aksoro CEO 3.0, deck sumber (2–3 Okt 2026). Paket tidak identik.</a:t>
            </a:r>
          </a:p>
        </p:txBody>
      </p:sp>
      <p:sp>
        <p:nvSpPr>
          <p:cNvPr id="6" name="text-29">
            <a:extLst xmlns:a="http://schemas.openxmlformats.org/drawingml/2006/main">
              <a:ext uri="{FF2B5EF4-FFF2-40B4-BE49-F238E27FC236}">
                <a16:creationId xmlns:a16="http://schemas.microsoft.com/office/drawing/2014/main" id="{CA8B7F07-C6BB-4635-8051-5F5B7C7CB626}"/>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03</a:t>
            </a:r>
          </a:p>
        </p:txBody>
      </p:sp>
      <p:graphicFrame>
        <p:nvGraphicFramePr>
          <p:cNvPr id="23" name="Chart"/>
          <p:cNvGraphicFramePr/>
          <p:nvPr/>
        </p:nvGraphicFramePr>
        <p:xfrm>
          <a:off xmlns:a="http://schemas.openxmlformats.org/drawingml/2006/main" x="571500" y="2276475"/>
          <a:ext xmlns:a="http://schemas.openxmlformats.org/drawingml/2006/main" cx="7620000" cy="3276600"/>
        </p:xfrm>
        <a:graphic xmlns:a="http://schemas.openxmlformats.org/drawingml/2006/main">
          <a:graphicData uri="http://schemas.openxmlformats.org/drawingml/2006/chart">
            <c:chart xmlns:r="http://schemas.openxmlformats.org/officeDocument/2006/relationships" xmlns:c="http://schemas.openxmlformats.org/drawingml/2006/chart" r:id="R4979b8dad8414d63"/>
          </a:graphicData>
        </a:graphic>
      </p:graphicFrame>
      <p:sp>
        <p:nvSpPr>
          <p:cNvPr id="8" name="text-30">
            <a:extLst xmlns:a="http://schemas.openxmlformats.org/drawingml/2006/main">
              <a:ext uri="{FF2B5EF4-FFF2-40B4-BE49-F238E27FC236}">
                <a16:creationId xmlns:a16="http://schemas.microsoft.com/office/drawing/2014/main" id="{FAF7DD83-B24A-49B3-92C3-4BFEA6C69B47}"/>
              </a:ext>
            </a:extLst>
          </p:cNvPr>
          <p:cNvSpPr>
            <a:spLocks xmlns:a="http://schemas.openxmlformats.org/drawingml/2006/main" noGrp="1"/>
          </p:cNvSpPr>
          <p:nvPr/>
        </p:nvSpPr>
        <p:spPr>
          <a:xfrm xmlns:a="http://schemas.openxmlformats.org/drawingml/2006/main">
            <a:off x="8858250" y="23336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Yang perlu ditambah</a:t>
            </a:r>
          </a:p>
        </p:txBody>
      </p:sp>
      <p:sp>
        <p:nvSpPr>
          <p:cNvPr id="9" name="text-31">
            <a:extLst xmlns:a="http://schemas.openxmlformats.org/drawingml/2006/main">
              <a:ext uri="{FF2B5EF4-FFF2-40B4-BE49-F238E27FC236}">
                <a16:creationId xmlns:a16="http://schemas.microsoft.com/office/drawing/2014/main" id="{857AE422-3E7C-406B-B7BD-BCB2865CAAFB}"/>
              </a:ext>
            </a:extLst>
          </p:cNvPr>
          <p:cNvSpPr>
            <a:spLocks xmlns:a="http://schemas.openxmlformats.org/drawingml/2006/main" noGrp="1"/>
          </p:cNvSpPr>
          <p:nvPr/>
        </p:nvSpPr>
        <p:spPr>
          <a:xfrm xmlns:a="http://schemas.openxmlformats.org/drawingml/2006/main">
            <a:off x="8858250" y="2962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Komunitas</a:t>
            </a:r>
          </a:p>
        </p:txBody>
      </p:sp>
      <p:sp>
        <p:nvSpPr>
          <p:cNvPr id="10" name="text-32">
            <a:extLst xmlns:a="http://schemas.openxmlformats.org/drawingml/2006/main">
              <a:ext uri="{FF2B5EF4-FFF2-40B4-BE49-F238E27FC236}">
                <a16:creationId xmlns:a16="http://schemas.microsoft.com/office/drawing/2014/main" id="{D00C8BA8-7D90-40E3-9D2D-098E8633EE87}"/>
              </a:ext>
            </a:extLst>
          </p:cNvPr>
          <p:cNvSpPr>
            <a:spLocks xmlns:a="http://schemas.openxmlformats.org/drawingml/2006/main" noGrp="1"/>
          </p:cNvSpPr>
          <p:nvPr/>
        </p:nvSpPr>
        <p:spPr>
          <a:xfrm xmlns:a="http://schemas.openxmlformats.org/drawingml/2006/main">
            <a:off x="8858250" y="3295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1" name="text-33">
            <a:extLst xmlns:a="http://schemas.openxmlformats.org/drawingml/2006/main">
              <a:ext uri="{FF2B5EF4-FFF2-40B4-BE49-F238E27FC236}">
                <a16:creationId xmlns:a16="http://schemas.microsoft.com/office/drawing/2014/main" id="{63C9130C-9AD6-4CE0-AE10-A31BC9E41D23}"/>
              </a:ext>
            </a:extLst>
          </p:cNvPr>
          <p:cNvSpPr>
            <a:spLocks xmlns:a="http://schemas.openxmlformats.org/drawingml/2006/main" noGrp="1"/>
          </p:cNvSpPr>
          <p:nvPr/>
        </p:nvSpPr>
        <p:spPr>
          <a:xfrm xmlns:a="http://schemas.openxmlformats.org/drawingml/2006/main">
            <a:off x="8858250" y="3724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Akses offline</a:t>
            </a:r>
          </a:p>
        </p:txBody>
      </p:sp>
      <p:sp>
        <p:nvSpPr>
          <p:cNvPr id="12" name="text-34">
            <a:extLst xmlns:a="http://schemas.openxmlformats.org/drawingml/2006/main">
              <a:ext uri="{FF2B5EF4-FFF2-40B4-BE49-F238E27FC236}">
                <a16:creationId xmlns:a16="http://schemas.microsoft.com/office/drawing/2014/main" id="{98E6F36D-E9FE-45C5-B898-39C53832AD3F}"/>
              </a:ext>
            </a:extLst>
          </p:cNvPr>
          <p:cNvSpPr>
            <a:spLocks xmlns:a="http://schemas.openxmlformats.org/drawingml/2006/main" noGrp="1"/>
          </p:cNvSpPr>
          <p:nvPr/>
        </p:nvSpPr>
        <p:spPr>
          <a:xfrm xmlns:a="http://schemas.openxmlformats.org/drawingml/2006/main">
            <a:off x="8858250" y="4057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3" name="text-35">
            <a:extLst xmlns:a="http://schemas.openxmlformats.org/drawingml/2006/main">
              <a:ext uri="{FF2B5EF4-FFF2-40B4-BE49-F238E27FC236}">
                <a16:creationId xmlns:a16="http://schemas.microsoft.com/office/drawing/2014/main" id="{A8D6D972-E490-4D31-9F16-46895AFE60C4}"/>
              </a:ext>
            </a:extLst>
          </p:cNvPr>
          <p:cNvSpPr>
            <a:spLocks xmlns:a="http://schemas.openxmlformats.org/drawingml/2006/main" noGrp="1"/>
          </p:cNvSpPr>
          <p:nvPr/>
        </p:nvSpPr>
        <p:spPr>
          <a:xfrm xmlns:a="http://schemas.openxmlformats.org/drawingml/2006/main">
            <a:off x="8858250" y="4486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Sertifikasi</a:t>
            </a:r>
          </a:p>
        </p:txBody>
      </p:sp>
      <p:sp>
        <p:nvSpPr>
          <p:cNvPr id="14" name="text-36">
            <a:extLst xmlns:a="http://schemas.openxmlformats.org/drawingml/2006/main">
              <a:ext uri="{FF2B5EF4-FFF2-40B4-BE49-F238E27FC236}">
                <a16:creationId xmlns:a16="http://schemas.microsoft.com/office/drawing/2014/main" id="{E73F4086-F4CB-4FAE-977F-B8743ABFA417}"/>
              </a:ext>
            </a:extLst>
          </p:cNvPr>
          <p:cNvSpPr>
            <a:spLocks xmlns:a="http://schemas.openxmlformats.org/drawingml/2006/main" noGrp="1"/>
          </p:cNvSpPr>
          <p:nvPr/>
        </p:nvSpPr>
        <p:spPr>
          <a:xfrm xmlns:a="http://schemas.openxmlformats.org/drawingml/2006/main">
            <a:off x="8858250" y="4819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5" name="">
            <a:extLst xmlns:a="http://schemas.openxmlformats.org/drawingml/2006/main">
              <a:ext uri="{FF2B5EF4-FFF2-40B4-BE49-F238E27FC236}">
                <a16:creationId xmlns:a16="http://schemas.microsoft.com/office/drawing/2014/main" id="{10ADEBEF-97BF-467D-868F-1EA2CBBC1082}"/>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6" name="text-37">
            <a:extLst xmlns:a="http://schemas.openxmlformats.org/drawingml/2006/main">
              <a:ext uri="{FF2B5EF4-FFF2-40B4-BE49-F238E27FC236}">
                <a16:creationId xmlns:a16="http://schemas.microsoft.com/office/drawing/2014/main" id="{81EAC111-1AEC-4176-8A88-A38E43CEBE4D}"/>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berikutnya perlu manfaat tambahan di luar modul dan live Q&amp;A.</a:t>
            </a:r>
          </a:p>
        </p:txBody>
      </p:sp>
    </p:spTree>
    <p:extLst>
      <p:ext uri="{BB962C8B-B14F-4D97-AF65-F5344CB8AC3E}">
        <p14:creationId xmlns:p14="http://schemas.microsoft.com/office/powerpoint/2010/main" val="1364706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38">
            <a:extLst xmlns:a="http://schemas.openxmlformats.org/drawingml/2006/main">
              <a:ext uri="{FF2B5EF4-FFF2-40B4-BE49-F238E27FC236}">
                <a16:creationId xmlns:a16="http://schemas.microsoft.com/office/drawing/2014/main" id="{69AB9727-D4E1-4514-AD6D-85B15564AA4B}"/>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RENCANA HARGA</a:t>
            </a:r>
          </a:p>
        </p:txBody>
      </p:sp>
      <p:sp>
        <p:nvSpPr>
          <p:cNvPr id="2" name="text-39">
            <a:extLst xmlns:a="http://schemas.openxmlformats.org/drawingml/2006/main">
              <a:ext uri="{FF2B5EF4-FFF2-40B4-BE49-F238E27FC236}">
                <a16:creationId xmlns:a16="http://schemas.microsoft.com/office/drawing/2014/main" id="{3D45B661-BC65-402D-A736-C8FBAFC3ABEE}"/>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Rp2,5 jt perlu manfaat member yang lebih terasa</a:t>
            </a:r>
          </a:p>
        </p:txBody>
      </p:sp>
      <p:sp>
        <p:nvSpPr>
          <p:cNvPr id="3" name="text-40">
            <a:extLst xmlns:a="http://schemas.openxmlformats.org/drawingml/2006/main">
              <a:ext uri="{FF2B5EF4-FFF2-40B4-BE49-F238E27FC236}">
                <a16:creationId xmlns:a16="http://schemas.microsoft.com/office/drawing/2014/main" id="{6B558A97-E1F0-4BD5-BE7A-B035C9987902}"/>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Founder Live batch pertama sudah termasuk harga saat ini.</a:t>
            </a:r>
          </a:p>
        </p:txBody>
      </p:sp>
      <p:sp>
        <p:nvSpPr>
          <p:cNvPr id="4" name="">
            <a:extLst xmlns:a="http://schemas.openxmlformats.org/drawingml/2006/main">
              <a:ext uri="{FF2B5EF4-FFF2-40B4-BE49-F238E27FC236}">
                <a16:creationId xmlns:a16="http://schemas.microsoft.com/office/drawing/2014/main" id="{6654D37A-0764-4414-AAF7-98FB0E5B294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41">
            <a:extLst xmlns:a="http://schemas.openxmlformats.org/drawingml/2006/main">
              <a:ext uri="{FF2B5EF4-FFF2-40B4-BE49-F238E27FC236}">
                <a16:creationId xmlns:a16="http://schemas.microsoft.com/office/drawing/2014/main" id="{F15DFC9B-FC90-441F-AD3B-7218CDD6069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42">
            <a:extLst xmlns:a="http://schemas.openxmlformats.org/drawingml/2006/main">
              <a:ext uri="{FF2B5EF4-FFF2-40B4-BE49-F238E27FC236}">
                <a16:creationId xmlns:a16="http://schemas.microsoft.com/office/drawing/2014/main" id="{F982E846-83F6-458D-BC48-5DBABA11963F}"/>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04</a:t>
            </a:r>
          </a:p>
        </p:txBody>
      </p:sp>
      <p:sp>
        <p:nvSpPr>
          <p:cNvPr id="7" name="text-43">
            <a:extLst xmlns:a="http://schemas.openxmlformats.org/drawingml/2006/main">
              <a:ext uri="{FF2B5EF4-FFF2-40B4-BE49-F238E27FC236}">
                <a16:creationId xmlns:a16="http://schemas.microsoft.com/office/drawing/2014/main" id="{1464940A-40A7-4CC6-8025-B601EDB826E4}"/>
              </a:ext>
            </a:extLst>
          </p:cNvPr>
          <p:cNvSpPr>
            <a:spLocks xmlns:a="http://schemas.openxmlformats.org/drawingml/2006/main" noGrp="1"/>
          </p:cNvSpPr>
          <p:nvPr/>
        </p:nvSpPr>
        <p:spPr>
          <a:xfrm xmlns:a="http://schemas.openxmlformats.org/drawingml/2006/main">
            <a:off x="60960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SAAT INI / INTERNAL</a:t>
            </a:r>
          </a:p>
        </p:txBody>
      </p:sp>
      <p:sp>
        <p:nvSpPr>
          <p:cNvPr id="8" name="text-44">
            <a:extLst xmlns:a="http://schemas.openxmlformats.org/drawingml/2006/main">
              <a:ext uri="{FF2B5EF4-FFF2-40B4-BE49-F238E27FC236}">
                <a16:creationId xmlns:a16="http://schemas.microsoft.com/office/drawing/2014/main" id="{12D087B3-66D4-435D-B66E-5EF1CEA127AC}"/>
              </a:ext>
            </a:extLst>
          </p:cNvPr>
          <p:cNvSpPr>
            <a:spLocks xmlns:a="http://schemas.openxmlformats.org/drawingml/2006/main" noGrp="1"/>
          </p:cNvSpPr>
          <p:nvPr/>
        </p:nvSpPr>
        <p:spPr>
          <a:xfrm xmlns:a="http://schemas.openxmlformats.org/drawingml/2006/main">
            <a:off x="60960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23F32"/>
                </a:solidFill>
                <a:latin typeface="Calibri"/>
                <a:ea typeface="Calibri"/>
                <a:cs typeface="Calibri"/>
              </a:defRPr>
            </a:pPr>
            <a:r>
              <a:rPr sz="3675" b="1">
                <a:solidFill>
                  <a:srgbClr val="123F32"/>
                </a:solidFill>
                <a:latin typeface="Calibri"/>
                <a:ea typeface="Calibri"/>
                <a:cs typeface="Calibri"/>
              </a:rPr>
              <a:t>Rp1,5 jt</a:t>
            </a:r>
          </a:p>
        </p:txBody>
      </p:sp>
      <p:sp>
        <p:nvSpPr>
          <p:cNvPr id="9" name="">
            <a:extLst xmlns:a="http://schemas.openxmlformats.org/drawingml/2006/main">
              <a:ext uri="{FF2B5EF4-FFF2-40B4-BE49-F238E27FC236}">
                <a16:creationId xmlns:a16="http://schemas.microsoft.com/office/drawing/2014/main" id="{FE34DF5F-01FC-42D2-976E-865DFDE9091F}"/>
              </a:ext>
            </a:extLst>
          </p:cNvPr>
          <p:cNvSpPr>
            <a:spLocks xmlns:a="http://schemas.openxmlformats.org/drawingml/2006/main" noGrp="1"/>
          </p:cNvSpPr>
          <p:nvPr/>
        </p:nvSpPr>
        <p:spPr>
          <a:xfrm xmlns:a="http://schemas.openxmlformats.org/drawingml/2006/main">
            <a:off x="609600" y="3562350"/>
            <a:ext cx="3286125" cy="0"/>
          </a:xfrm>
          <a:prstGeom xmlns:a="http://schemas.openxmlformats.org/drawingml/2006/main" prst="line">
            <a:avLst/>
          </a:prstGeom>
          <a:noFill xmlns:a="http://schemas.openxmlformats.org/drawingml/2006/main"/>
          <a:ln xmlns:a="http://schemas.openxmlformats.org/drawingml/2006/main" w="28575">
            <a:solidFill>
              <a:srgbClr val="123F32"/>
            </a:solidFill>
          </a:ln>
        </p:spPr>
      </p:sp>
      <p:sp>
        <p:nvSpPr>
          <p:cNvPr id="10" name="text-45">
            <a:extLst xmlns:a="http://schemas.openxmlformats.org/drawingml/2006/main">
              <a:ext uri="{FF2B5EF4-FFF2-40B4-BE49-F238E27FC236}">
                <a16:creationId xmlns:a16="http://schemas.microsoft.com/office/drawing/2014/main" id="{CBC93B06-8B59-4172-9944-64761B784E0F}"/>
              </a:ext>
            </a:extLst>
          </p:cNvPr>
          <p:cNvSpPr>
            <a:spLocks xmlns:a="http://schemas.openxmlformats.org/drawingml/2006/main" noGrp="1"/>
          </p:cNvSpPr>
          <p:nvPr/>
        </p:nvSpPr>
        <p:spPr>
          <a:xfrm xmlns:a="http://schemas.openxmlformats.org/drawingml/2006/main">
            <a:off x="60960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Membership saat ini</a:t>
            </a:r>
          </a:p>
        </p:txBody>
      </p:sp>
      <p:sp>
        <p:nvSpPr>
          <p:cNvPr id="11" name="text-46">
            <a:extLst xmlns:a="http://schemas.openxmlformats.org/drawingml/2006/main">
              <a:ext uri="{FF2B5EF4-FFF2-40B4-BE49-F238E27FC236}">
                <a16:creationId xmlns:a16="http://schemas.microsoft.com/office/drawing/2014/main" id="{E04B8DEB-EAAF-42F2-8364-E8239043697F}"/>
              </a:ext>
            </a:extLst>
          </p:cNvPr>
          <p:cNvSpPr>
            <a:spLocks xmlns:a="http://schemas.openxmlformats.org/drawingml/2006/main" noGrp="1"/>
          </p:cNvSpPr>
          <p:nvPr/>
        </p:nvSpPr>
        <p:spPr>
          <a:xfrm xmlns:a="http://schemas.openxmlformats.org/drawingml/2006/main">
            <a:off x="60960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Modul rekaman</a:t>
            </a:r>
          </a:p>
        </p:txBody>
      </p:sp>
      <p:sp>
        <p:nvSpPr>
          <p:cNvPr id="12" name="text-47">
            <a:extLst xmlns:a="http://schemas.openxmlformats.org/drawingml/2006/main">
              <a:ext uri="{FF2B5EF4-FFF2-40B4-BE49-F238E27FC236}">
                <a16:creationId xmlns:a16="http://schemas.microsoft.com/office/drawing/2014/main" id="{69208123-8298-420F-BC61-B8119097A004}"/>
              </a:ext>
            </a:extLst>
          </p:cNvPr>
          <p:cNvSpPr>
            <a:spLocks xmlns:a="http://schemas.openxmlformats.org/drawingml/2006/main" noGrp="1"/>
          </p:cNvSpPr>
          <p:nvPr/>
        </p:nvSpPr>
        <p:spPr>
          <a:xfrm xmlns:a="http://schemas.openxmlformats.org/drawingml/2006/main">
            <a:off x="60960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Tools / AI</a:t>
            </a:r>
          </a:p>
        </p:txBody>
      </p:sp>
      <p:sp>
        <p:nvSpPr>
          <p:cNvPr id="13" name="text-48">
            <a:extLst xmlns:a="http://schemas.openxmlformats.org/drawingml/2006/main">
              <a:ext uri="{FF2B5EF4-FFF2-40B4-BE49-F238E27FC236}">
                <a16:creationId xmlns:a16="http://schemas.microsoft.com/office/drawing/2014/main" id="{62782874-51FD-45A8-B8E9-E2CA04EB3CF5}"/>
              </a:ext>
            </a:extLst>
          </p:cNvPr>
          <p:cNvSpPr>
            <a:spLocks xmlns:a="http://schemas.openxmlformats.org/drawingml/2006/main" noGrp="1"/>
          </p:cNvSpPr>
          <p:nvPr/>
        </p:nvSpPr>
        <p:spPr>
          <a:xfrm xmlns:a="http://schemas.openxmlformats.org/drawingml/2006/main">
            <a:off x="60960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Founder Live batch pertama</a:t>
            </a:r>
          </a:p>
        </p:txBody>
      </p:sp>
      <p:sp>
        <p:nvSpPr>
          <p:cNvPr id="14" name="text-49">
            <a:extLst xmlns:a="http://schemas.openxmlformats.org/drawingml/2006/main">
              <a:ext uri="{FF2B5EF4-FFF2-40B4-BE49-F238E27FC236}">
                <a16:creationId xmlns:a16="http://schemas.microsoft.com/office/drawing/2014/main" id="{08C6CC18-7775-4B20-9321-0BEB3557339B}"/>
              </a:ext>
            </a:extLst>
          </p:cNvPr>
          <p:cNvSpPr>
            <a:spLocks xmlns:a="http://schemas.openxmlformats.org/drawingml/2006/main" noGrp="1"/>
          </p:cNvSpPr>
          <p:nvPr/>
        </p:nvSpPr>
        <p:spPr>
          <a:xfrm xmlns:a="http://schemas.openxmlformats.org/drawingml/2006/main">
            <a:off x="4448175"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BERIKUTNYA / USULAN</a:t>
            </a:r>
          </a:p>
        </p:txBody>
      </p:sp>
      <p:sp>
        <p:nvSpPr>
          <p:cNvPr id="15" name="text-50">
            <a:extLst xmlns:a="http://schemas.openxmlformats.org/drawingml/2006/main">
              <a:ext uri="{FF2B5EF4-FFF2-40B4-BE49-F238E27FC236}">
                <a16:creationId xmlns:a16="http://schemas.microsoft.com/office/drawing/2014/main" id="{ED6ACE14-1695-4987-85E2-5347EBEAB8E7}"/>
              </a:ext>
            </a:extLst>
          </p:cNvPr>
          <p:cNvSpPr>
            <a:spLocks xmlns:a="http://schemas.openxmlformats.org/drawingml/2006/main" noGrp="1"/>
          </p:cNvSpPr>
          <p:nvPr/>
        </p:nvSpPr>
        <p:spPr>
          <a:xfrm xmlns:a="http://schemas.openxmlformats.org/drawingml/2006/main">
            <a:off x="4448175"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23F32"/>
                </a:solidFill>
                <a:latin typeface="Calibri"/>
                <a:ea typeface="Calibri"/>
                <a:cs typeface="Calibri"/>
              </a:defRPr>
            </a:pPr>
            <a:r>
              <a:rPr sz="3675" b="1">
                <a:solidFill>
                  <a:srgbClr val="123F32"/>
                </a:solidFill>
                <a:latin typeface="Calibri"/>
                <a:ea typeface="Calibri"/>
                <a:cs typeface="Calibri"/>
              </a:rPr>
              <a:t>Rp2,5 jt</a:t>
            </a:r>
          </a:p>
        </p:txBody>
      </p:sp>
      <p:sp>
        <p:nvSpPr>
          <p:cNvPr id="16" name="">
            <a:extLst xmlns:a="http://schemas.openxmlformats.org/drawingml/2006/main">
              <a:ext uri="{FF2B5EF4-FFF2-40B4-BE49-F238E27FC236}">
                <a16:creationId xmlns:a16="http://schemas.microsoft.com/office/drawing/2014/main" id="{C6CFC1F4-F9DC-4BC7-8703-635DF4960FBE}"/>
              </a:ext>
            </a:extLst>
          </p:cNvPr>
          <p:cNvSpPr>
            <a:spLocks xmlns:a="http://schemas.openxmlformats.org/drawingml/2006/main" noGrp="1"/>
          </p:cNvSpPr>
          <p:nvPr/>
        </p:nvSpPr>
        <p:spPr>
          <a:xfrm xmlns:a="http://schemas.openxmlformats.org/drawingml/2006/main">
            <a:off x="4448175" y="3562350"/>
            <a:ext cx="3286125" cy="0"/>
          </a:xfrm>
          <a:prstGeom xmlns:a="http://schemas.openxmlformats.org/drawingml/2006/main" prst="line">
            <a:avLst/>
          </a:prstGeom>
          <a:noFill xmlns:a="http://schemas.openxmlformats.org/drawingml/2006/main"/>
          <a:ln xmlns:a="http://schemas.openxmlformats.org/drawingml/2006/main" w="28575">
            <a:solidFill>
              <a:srgbClr val="123F32"/>
            </a:solidFill>
          </a:ln>
        </p:spPr>
      </p:sp>
      <p:sp>
        <p:nvSpPr>
          <p:cNvPr id="17" name="text-51">
            <a:extLst xmlns:a="http://schemas.openxmlformats.org/drawingml/2006/main">
              <a:ext uri="{FF2B5EF4-FFF2-40B4-BE49-F238E27FC236}">
                <a16:creationId xmlns:a16="http://schemas.microsoft.com/office/drawing/2014/main" id="{5EC9EA74-0C06-4D9C-9095-5E862FA55CA4}"/>
              </a:ext>
            </a:extLst>
          </p:cNvPr>
          <p:cNvSpPr>
            <a:spLocks xmlns:a="http://schemas.openxmlformats.org/drawingml/2006/main" noGrp="1"/>
          </p:cNvSpPr>
          <p:nvPr/>
        </p:nvSpPr>
        <p:spPr>
          <a:xfrm xmlns:a="http://schemas.openxmlformats.org/drawingml/2006/main">
            <a:off x="4448175"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Manfaat tambahan</a:t>
            </a:r>
          </a:p>
        </p:txBody>
      </p:sp>
      <p:sp>
        <p:nvSpPr>
          <p:cNvPr id="18" name="text-52">
            <a:extLst xmlns:a="http://schemas.openxmlformats.org/drawingml/2006/main">
              <a:ext uri="{FF2B5EF4-FFF2-40B4-BE49-F238E27FC236}">
                <a16:creationId xmlns:a16="http://schemas.microsoft.com/office/drawing/2014/main" id="{7DC4DCA6-BC65-41E3-B8CE-D3CA386ABF68}"/>
              </a:ext>
            </a:extLst>
          </p:cNvPr>
          <p:cNvSpPr>
            <a:spLocks xmlns:a="http://schemas.openxmlformats.org/drawingml/2006/main" noGrp="1"/>
          </p:cNvSpPr>
          <p:nvPr/>
        </p:nvSpPr>
        <p:spPr>
          <a:xfrm xmlns:a="http://schemas.openxmlformats.org/drawingml/2006/main">
            <a:off x="4448175"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Komunitas + CMC Connect</a:t>
            </a:r>
          </a:p>
        </p:txBody>
      </p:sp>
      <p:sp>
        <p:nvSpPr>
          <p:cNvPr id="19" name="text-53">
            <a:extLst xmlns:a="http://schemas.openxmlformats.org/drawingml/2006/main">
              <a:ext uri="{FF2B5EF4-FFF2-40B4-BE49-F238E27FC236}">
                <a16:creationId xmlns:a16="http://schemas.microsoft.com/office/drawing/2014/main" id="{26FF1729-9F63-48C1-BE50-B919A4CB2E5C}"/>
              </a:ext>
            </a:extLst>
          </p:cNvPr>
          <p:cNvSpPr>
            <a:spLocks xmlns:a="http://schemas.openxmlformats.org/drawingml/2006/main" noGrp="1"/>
          </p:cNvSpPr>
          <p:nvPr/>
        </p:nvSpPr>
        <p:spPr>
          <a:xfrm xmlns:a="http://schemas.openxmlformats.org/drawingml/2006/main">
            <a:off x="4448175"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Gathering + jaringan alumni</a:t>
            </a:r>
          </a:p>
        </p:txBody>
      </p:sp>
      <p:sp>
        <p:nvSpPr>
          <p:cNvPr id="20" name="text-54">
            <a:extLst xmlns:a="http://schemas.openxmlformats.org/drawingml/2006/main">
              <a:ext uri="{FF2B5EF4-FFF2-40B4-BE49-F238E27FC236}">
                <a16:creationId xmlns:a16="http://schemas.microsoft.com/office/drawing/2014/main" id="{2F508DCA-3FE1-4D52-B5D7-BA73120ECDBB}"/>
              </a:ext>
            </a:extLst>
          </p:cNvPr>
          <p:cNvSpPr>
            <a:spLocks xmlns:a="http://schemas.openxmlformats.org/drawingml/2006/main" noGrp="1"/>
          </p:cNvSpPr>
          <p:nvPr/>
        </p:nvSpPr>
        <p:spPr>
          <a:xfrm xmlns:a="http://schemas.openxmlformats.org/drawingml/2006/main">
            <a:off x="4448175"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Prioritas dan harga member Dinner</a:t>
            </a:r>
          </a:p>
        </p:txBody>
      </p:sp>
      <p:sp>
        <p:nvSpPr>
          <p:cNvPr id="21" name="text-55">
            <a:extLst xmlns:a="http://schemas.openxmlformats.org/drawingml/2006/main">
              <a:ext uri="{FF2B5EF4-FFF2-40B4-BE49-F238E27FC236}">
                <a16:creationId xmlns:a16="http://schemas.microsoft.com/office/drawing/2014/main" id="{76082FA9-08A5-41E9-8A47-F21C2B043BCE}"/>
              </a:ext>
            </a:extLst>
          </p:cNvPr>
          <p:cNvSpPr>
            <a:spLocks xmlns:a="http://schemas.openxmlformats.org/drawingml/2006/main" noGrp="1"/>
          </p:cNvSpPr>
          <p:nvPr/>
        </p:nvSpPr>
        <p:spPr>
          <a:xfrm xmlns:a="http://schemas.openxmlformats.org/drawingml/2006/main">
            <a:off x="828675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PREMIUM / USULAN</a:t>
            </a:r>
          </a:p>
        </p:txBody>
      </p:sp>
      <p:sp>
        <p:nvSpPr>
          <p:cNvPr id="22" name="text-56">
            <a:extLst xmlns:a="http://schemas.openxmlformats.org/drawingml/2006/main">
              <a:ext uri="{FF2B5EF4-FFF2-40B4-BE49-F238E27FC236}">
                <a16:creationId xmlns:a16="http://schemas.microsoft.com/office/drawing/2014/main" id="{E98F4BA6-D3F2-4F5F-BEA4-9B5F2A7F54FE}"/>
              </a:ext>
            </a:extLst>
          </p:cNvPr>
          <p:cNvSpPr>
            <a:spLocks xmlns:a="http://schemas.openxmlformats.org/drawingml/2006/main" noGrp="1"/>
          </p:cNvSpPr>
          <p:nvPr/>
        </p:nvSpPr>
        <p:spPr>
          <a:xfrm xmlns:a="http://schemas.openxmlformats.org/drawingml/2006/main">
            <a:off x="828675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A27D42"/>
                </a:solidFill>
                <a:latin typeface="Calibri"/>
                <a:ea typeface="Calibri"/>
                <a:cs typeface="Calibri"/>
              </a:defRPr>
            </a:pPr>
            <a:r>
              <a:rPr sz="3675" b="1">
                <a:solidFill>
                  <a:srgbClr val="A27D42"/>
                </a:solidFill>
                <a:latin typeface="Calibri"/>
                <a:ea typeface="Calibri"/>
                <a:cs typeface="Calibri"/>
              </a:rPr>
              <a:t>~Rp5 jt</a:t>
            </a:r>
          </a:p>
        </p:txBody>
      </p:sp>
      <p:sp>
        <p:nvSpPr>
          <p:cNvPr id="23" name="">
            <a:extLst xmlns:a="http://schemas.openxmlformats.org/drawingml/2006/main">
              <a:ext uri="{FF2B5EF4-FFF2-40B4-BE49-F238E27FC236}">
                <a16:creationId xmlns:a16="http://schemas.microsoft.com/office/drawing/2014/main" id="{0AFD5C65-E929-4095-8722-019A1CBC2476}"/>
              </a:ext>
            </a:extLst>
          </p:cNvPr>
          <p:cNvSpPr>
            <a:spLocks xmlns:a="http://schemas.openxmlformats.org/drawingml/2006/main" noGrp="1"/>
          </p:cNvSpPr>
          <p:nvPr/>
        </p:nvSpPr>
        <p:spPr>
          <a:xfrm xmlns:a="http://schemas.openxmlformats.org/drawingml/2006/main">
            <a:off x="8286750" y="3562350"/>
            <a:ext cx="3286125" cy="0"/>
          </a:xfrm>
          <a:prstGeom xmlns:a="http://schemas.openxmlformats.org/drawingml/2006/main" prst="line">
            <a:avLst/>
          </a:prstGeom>
          <a:noFill xmlns:a="http://schemas.openxmlformats.org/drawingml/2006/main"/>
          <a:ln xmlns:a="http://schemas.openxmlformats.org/drawingml/2006/main" w="28575">
            <a:solidFill>
              <a:srgbClr val="A27D42"/>
            </a:solidFill>
          </a:ln>
        </p:spPr>
      </p:sp>
      <p:sp>
        <p:nvSpPr>
          <p:cNvPr id="24" name="text-57">
            <a:extLst xmlns:a="http://schemas.openxmlformats.org/drawingml/2006/main">
              <a:ext uri="{FF2B5EF4-FFF2-40B4-BE49-F238E27FC236}">
                <a16:creationId xmlns:a16="http://schemas.microsoft.com/office/drawing/2014/main" id="{273BEF3B-54D2-4634-B2E3-1BC9202F968B}"/>
              </a:ext>
            </a:extLst>
          </p:cNvPr>
          <p:cNvSpPr>
            <a:spLocks xmlns:a="http://schemas.openxmlformats.org/drawingml/2006/main" noGrp="1"/>
          </p:cNvSpPr>
          <p:nvPr/>
        </p:nvSpPr>
        <p:spPr>
          <a:xfrm xmlns:a="http://schemas.openxmlformats.org/drawingml/2006/main">
            <a:off x="828675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Manfaat premium</a:t>
            </a:r>
          </a:p>
        </p:txBody>
      </p:sp>
      <p:sp>
        <p:nvSpPr>
          <p:cNvPr id="25" name="text-58">
            <a:extLst xmlns:a="http://schemas.openxmlformats.org/drawingml/2006/main">
              <a:ext uri="{FF2B5EF4-FFF2-40B4-BE49-F238E27FC236}">
                <a16:creationId xmlns:a16="http://schemas.microsoft.com/office/drawing/2014/main" id="{59106228-AD2C-451B-B2C8-88F422FCC70F}"/>
              </a:ext>
            </a:extLst>
          </p:cNvPr>
          <p:cNvSpPr>
            <a:spLocks xmlns:a="http://schemas.openxmlformats.org/drawingml/2006/main" noGrp="1"/>
          </p:cNvSpPr>
          <p:nvPr/>
        </p:nvSpPr>
        <p:spPr>
          <a:xfrm xmlns:a="http://schemas.openxmlformats.org/drawingml/2006/main">
            <a:off x="828675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Sertifikasi kompetensi via LSP</a:t>
            </a:r>
          </a:p>
        </p:txBody>
      </p:sp>
      <p:sp>
        <p:nvSpPr>
          <p:cNvPr id="26" name="text-59">
            <a:extLst xmlns:a="http://schemas.openxmlformats.org/drawingml/2006/main">
              <a:ext uri="{FF2B5EF4-FFF2-40B4-BE49-F238E27FC236}">
                <a16:creationId xmlns:a16="http://schemas.microsoft.com/office/drawing/2014/main" id="{15023465-1AD4-4A5A-987C-1D3E5FFF18E2}"/>
              </a:ext>
            </a:extLst>
          </p:cNvPr>
          <p:cNvSpPr>
            <a:spLocks xmlns:a="http://schemas.openxmlformats.org/drawingml/2006/main" noGrp="1"/>
          </p:cNvSpPr>
          <p:nvPr/>
        </p:nvSpPr>
        <p:spPr>
          <a:xfrm xmlns:a="http://schemas.openxmlformats.org/drawingml/2006/main">
            <a:off x="828675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Ekosistem Kadin</a:t>
            </a:r>
          </a:p>
        </p:txBody>
      </p:sp>
      <p:sp>
        <p:nvSpPr>
          <p:cNvPr id="27" name="text-60">
            <a:extLst xmlns:a="http://schemas.openxmlformats.org/drawingml/2006/main">
              <a:ext uri="{FF2B5EF4-FFF2-40B4-BE49-F238E27FC236}">
                <a16:creationId xmlns:a16="http://schemas.microsoft.com/office/drawing/2014/main" id="{40B23E11-1066-495B-A647-451A1B66E7A5}"/>
              </a:ext>
            </a:extLst>
          </p:cNvPr>
          <p:cNvSpPr>
            <a:spLocks xmlns:a="http://schemas.openxmlformats.org/drawingml/2006/main" noGrp="1"/>
          </p:cNvSpPr>
          <p:nvPr/>
        </p:nvSpPr>
        <p:spPr>
          <a:xfrm xmlns:a="http://schemas.openxmlformats.org/drawingml/2006/main">
            <a:off x="828675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Benefit khusus member premium</a:t>
            </a:r>
          </a:p>
        </p:txBody>
      </p:sp>
      <p:sp>
        <p:nvSpPr>
          <p:cNvPr id="28" name="">
            <a:extLst xmlns:a="http://schemas.openxmlformats.org/drawingml/2006/main">
              <a:ext uri="{FF2B5EF4-FFF2-40B4-BE49-F238E27FC236}">
                <a16:creationId xmlns:a16="http://schemas.microsoft.com/office/drawing/2014/main" id="{6AC916AC-19E1-4B74-9B39-1F73FEE76282}"/>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9" name="text-61">
            <a:extLst xmlns:a="http://schemas.openxmlformats.org/drawingml/2006/main">
              <a:ext uri="{FF2B5EF4-FFF2-40B4-BE49-F238E27FC236}">
                <a16:creationId xmlns:a16="http://schemas.microsoft.com/office/drawing/2014/main" id="{206B9C89-965F-4BFF-8946-203B00B60940}"/>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Dinner tetap berbayar. Member mendapat prioritas dan harga khusus.</a:t>
            </a:r>
          </a:p>
        </p:txBody>
      </p:sp>
    </p:spTree>
    <p:extLst>
      <p:ext uri="{BB962C8B-B14F-4D97-AF65-F5344CB8AC3E}">
        <p14:creationId xmlns:p14="http://schemas.microsoft.com/office/powerpoint/2010/main" val="11455677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62">
            <a:extLst xmlns:a="http://schemas.openxmlformats.org/drawingml/2006/main">
              <a:ext uri="{FF2B5EF4-FFF2-40B4-BE49-F238E27FC236}">
                <a16:creationId xmlns:a16="http://schemas.microsoft.com/office/drawing/2014/main" id="{1DE7CC73-98A6-49C3-AF5B-CF6FB540C3EF}"/>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FOUNDER LIVE</a:t>
            </a:r>
          </a:p>
        </p:txBody>
      </p:sp>
      <p:sp>
        <p:nvSpPr>
          <p:cNvPr id="2" name="text-63">
            <a:extLst xmlns:a="http://schemas.openxmlformats.org/drawingml/2006/main">
              <a:ext uri="{FF2B5EF4-FFF2-40B4-BE49-F238E27FC236}">
                <a16:creationId xmlns:a16="http://schemas.microsoft.com/office/drawing/2014/main" id="{1590966E-9130-4B6F-B56A-A7AD78871BFA}"/>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Delapan topik yang dekat dengan keputusan sehari-hari</a:t>
            </a:r>
          </a:p>
        </p:txBody>
      </p:sp>
      <p:sp>
        <p:nvSpPr>
          <p:cNvPr id="3" name="text-64">
            <a:extLst xmlns:a="http://schemas.openxmlformats.org/drawingml/2006/main">
              <a:ext uri="{FF2B5EF4-FFF2-40B4-BE49-F238E27FC236}">
                <a16:creationId xmlns:a16="http://schemas.microsoft.com/office/drawing/2014/main" id="{CDAD65F2-7992-478D-B10B-788B3C773FB8}"/>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8 sesi dari modul utama CMC. Dua pertiga waktu sesi untuk pertanyaan peserta.</a:t>
            </a:r>
          </a:p>
        </p:txBody>
      </p:sp>
      <p:sp>
        <p:nvSpPr>
          <p:cNvPr id="4" name="">
            <a:extLst xmlns:a="http://schemas.openxmlformats.org/drawingml/2006/main">
              <a:ext uri="{FF2B5EF4-FFF2-40B4-BE49-F238E27FC236}">
                <a16:creationId xmlns:a16="http://schemas.microsoft.com/office/drawing/2014/main" id="{3D131A46-1DF6-4DF2-9EAB-F6AEC665DF2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65">
            <a:extLst xmlns:a="http://schemas.openxmlformats.org/drawingml/2006/main">
              <a:ext uri="{FF2B5EF4-FFF2-40B4-BE49-F238E27FC236}">
                <a16:creationId xmlns:a16="http://schemas.microsoft.com/office/drawing/2014/main" id="{DC1597D4-8AC7-4AE4-B9D6-8E272E39F00F}"/>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CEO Masterclass - Live Topic.pdf. Format 90 menit: rencana internal CMC.</a:t>
            </a:r>
          </a:p>
        </p:txBody>
      </p:sp>
      <p:sp>
        <p:nvSpPr>
          <p:cNvPr id="6" name="text-66">
            <a:extLst xmlns:a="http://schemas.openxmlformats.org/drawingml/2006/main">
              <a:ext uri="{FF2B5EF4-FFF2-40B4-BE49-F238E27FC236}">
                <a16:creationId xmlns:a16="http://schemas.microsoft.com/office/drawing/2014/main" id="{41C732C6-087E-4F7B-AE03-396CE671E834}"/>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05</a:t>
            </a:r>
          </a:p>
        </p:txBody>
      </p:sp>
      <p:sp>
        <p:nvSpPr>
          <p:cNvPr id="7" name="text-67">
            <a:extLst xmlns:a="http://schemas.openxmlformats.org/drawingml/2006/main">
              <a:ext uri="{FF2B5EF4-FFF2-40B4-BE49-F238E27FC236}">
                <a16:creationId xmlns:a16="http://schemas.microsoft.com/office/drawing/2014/main" id="{AB8E7B7E-FF01-47C2-9DC9-F953EF404137}"/>
              </a:ext>
            </a:extLst>
          </p:cNvPr>
          <p:cNvSpPr>
            <a:spLocks xmlns:a="http://schemas.openxmlformats.org/drawingml/2006/main" noGrp="1"/>
          </p:cNvSpPr>
          <p:nvPr/>
        </p:nvSpPr>
        <p:spPr>
          <a:xfrm xmlns:a="http://schemas.openxmlformats.org/drawingml/2006/main">
            <a:off x="609600" y="220027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01  MINDSET</a:t>
            </a:r>
          </a:p>
        </p:txBody>
      </p:sp>
      <p:sp>
        <p:nvSpPr>
          <p:cNvPr id="8" name="text-68">
            <a:extLst xmlns:a="http://schemas.openxmlformats.org/drawingml/2006/main">
              <a:ext uri="{FF2B5EF4-FFF2-40B4-BE49-F238E27FC236}">
                <a16:creationId xmlns:a16="http://schemas.microsoft.com/office/drawing/2014/main" id="{A4700974-FD75-4F0B-BA06-C89A21637572}"/>
              </a:ext>
            </a:extLst>
          </p:cNvPr>
          <p:cNvSpPr>
            <a:spLocks xmlns:a="http://schemas.openxmlformats.org/drawingml/2006/main" noGrp="1"/>
          </p:cNvSpPr>
          <p:nvPr/>
        </p:nvSpPr>
        <p:spPr>
          <a:xfrm xmlns:a="http://schemas.openxmlformats.org/drawingml/2006/main">
            <a:off x="609600" y="24288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harus bertahan, kapan harus berubah arah?</a:t>
            </a:r>
          </a:p>
        </p:txBody>
      </p:sp>
      <p:sp>
        <p:nvSpPr>
          <p:cNvPr id="9" name="text-69">
            <a:extLst xmlns:a="http://schemas.openxmlformats.org/drawingml/2006/main">
              <a:ext uri="{FF2B5EF4-FFF2-40B4-BE49-F238E27FC236}">
                <a16:creationId xmlns:a16="http://schemas.microsoft.com/office/drawing/2014/main" id="{010D7AB8-48A6-40F6-9CC0-DE1B48576A58}"/>
              </a:ext>
            </a:extLst>
          </p:cNvPr>
          <p:cNvSpPr>
            <a:spLocks xmlns:a="http://schemas.openxmlformats.org/drawingml/2006/main" noGrp="1"/>
          </p:cNvSpPr>
          <p:nvPr/>
        </p:nvSpPr>
        <p:spPr>
          <a:xfrm xmlns:a="http://schemas.openxmlformats.org/drawingml/2006/main">
            <a:off x="609600" y="295275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02  PROBLEM SOLVING</a:t>
            </a:r>
          </a:p>
        </p:txBody>
      </p:sp>
      <p:sp>
        <p:nvSpPr>
          <p:cNvPr id="10" name="text-70">
            <a:extLst xmlns:a="http://schemas.openxmlformats.org/drawingml/2006/main">
              <a:ext uri="{FF2B5EF4-FFF2-40B4-BE49-F238E27FC236}">
                <a16:creationId xmlns:a16="http://schemas.microsoft.com/office/drawing/2014/main" id="{0CA7432C-3404-431D-BFAD-F547F3FB7E5D}"/>
              </a:ext>
            </a:extLst>
          </p:cNvPr>
          <p:cNvSpPr>
            <a:spLocks xmlns:a="http://schemas.openxmlformats.org/drawingml/2006/main" noGrp="1"/>
          </p:cNvSpPr>
          <p:nvPr/>
        </p:nvSpPr>
        <p:spPr>
          <a:xfrm xmlns:a="http://schemas.openxmlformats.org/drawingml/2006/main">
            <a:off x="609600" y="318135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Masalah mana yang harus diselesaikan dulu?</a:t>
            </a:r>
          </a:p>
        </p:txBody>
      </p:sp>
      <p:sp>
        <p:nvSpPr>
          <p:cNvPr id="11" name="text-71">
            <a:extLst xmlns:a="http://schemas.openxmlformats.org/drawingml/2006/main">
              <a:ext uri="{FF2B5EF4-FFF2-40B4-BE49-F238E27FC236}">
                <a16:creationId xmlns:a16="http://schemas.microsoft.com/office/drawing/2014/main" id="{2F75C321-124D-47DD-89A2-E3B94696AD0F}"/>
              </a:ext>
            </a:extLst>
          </p:cNvPr>
          <p:cNvSpPr>
            <a:spLocks xmlns:a="http://schemas.openxmlformats.org/drawingml/2006/main" noGrp="1"/>
          </p:cNvSpPr>
          <p:nvPr/>
        </p:nvSpPr>
        <p:spPr>
          <a:xfrm xmlns:a="http://schemas.openxmlformats.org/drawingml/2006/main">
            <a:off x="609600" y="37052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03  TEAM</a:t>
            </a:r>
          </a:p>
        </p:txBody>
      </p:sp>
      <p:sp>
        <p:nvSpPr>
          <p:cNvPr id="12" name="text-72">
            <a:extLst xmlns:a="http://schemas.openxmlformats.org/drawingml/2006/main">
              <a:ext uri="{FF2B5EF4-FFF2-40B4-BE49-F238E27FC236}">
                <a16:creationId xmlns:a16="http://schemas.microsoft.com/office/drawing/2014/main" id="{3EE0E418-61C6-4D14-9D54-A2EEC6D22C9E}"/>
              </a:ext>
            </a:extLst>
          </p:cNvPr>
          <p:cNvSpPr>
            <a:spLocks xmlns:a="http://schemas.openxmlformats.org/drawingml/2006/main" noGrp="1"/>
          </p:cNvSpPr>
          <p:nvPr/>
        </p:nvSpPr>
        <p:spPr>
          <a:xfrm xmlns:a="http://schemas.openxmlformats.org/drawingml/2006/main">
            <a:off x="609600" y="393382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harus mulai bangun team?</a:t>
            </a:r>
          </a:p>
        </p:txBody>
      </p:sp>
      <p:sp>
        <p:nvSpPr>
          <p:cNvPr id="13" name="text-73">
            <a:extLst xmlns:a="http://schemas.openxmlformats.org/drawingml/2006/main">
              <a:ext uri="{FF2B5EF4-FFF2-40B4-BE49-F238E27FC236}">
                <a16:creationId xmlns:a16="http://schemas.microsoft.com/office/drawing/2014/main" id="{F49E48F0-5FC7-4D04-BD0B-C304643CCB44}"/>
              </a:ext>
            </a:extLst>
          </p:cNvPr>
          <p:cNvSpPr>
            <a:spLocks xmlns:a="http://schemas.openxmlformats.org/drawingml/2006/main" noGrp="1"/>
          </p:cNvSpPr>
          <p:nvPr/>
        </p:nvSpPr>
        <p:spPr>
          <a:xfrm xmlns:a="http://schemas.openxmlformats.org/drawingml/2006/main">
            <a:off x="609600" y="44577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04  PRODUCT</a:t>
            </a:r>
          </a:p>
        </p:txBody>
      </p:sp>
      <p:sp>
        <p:nvSpPr>
          <p:cNvPr id="14" name="text-74">
            <a:extLst xmlns:a="http://schemas.openxmlformats.org/drawingml/2006/main">
              <a:ext uri="{FF2B5EF4-FFF2-40B4-BE49-F238E27FC236}">
                <a16:creationId xmlns:a16="http://schemas.microsoft.com/office/drawing/2014/main" id="{54F810F7-CFD1-47ED-8AE1-FC14A2D6B4CC}"/>
              </a:ext>
            </a:extLst>
          </p:cNvPr>
          <p:cNvSpPr>
            <a:spLocks xmlns:a="http://schemas.openxmlformats.org/drawingml/2006/main" noGrp="1"/>
          </p:cNvSpPr>
          <p:nvPr/>
        </p:nvSpPr>
        <p:spPr>
          <a:xfrm xmlns:a="http://schemas.openxmlformats.org/drawingml/2006/main">
            <a:off x="609600" y="46863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Apa yang bikin produk benar-benar layak dijual?</a:t>
            </a:r>
          </a:p>
        </p:txBody>
      </p:sp>
      <p:sp>
        <p:nvSpPr>
          <p:cNvPr id="15" name="text-75">
            <a:extLst xmlns:a="http://schemas.openxmlformats.org/drawingml/2006/main">
              <a:ext uri="{FF2B5EF4-FFF2-40B4-BE49-F238E27FC236}">
                <a16:creationId xmlns:a16="http://schemas.microsoft.com/office/drawing/2014/main" id="{09FF437A-42C4-4ACF-8546-E58AD0400B4D}"/>
              </a:ext>
            </a:extLst>
          </p:cNvPr>
          <p:cNvSpPr>
            <a:spLocks xmlns:a="http://schemas.openxmlformats.org/drawingml/2006/main" noGrp="1"/>
          </p:cNvSpPr>
          <p:nvPr/>
        </p:nvSpPr>
        <p:spPr>
          <a:xfrm xmlns:a="http://schemas.openxmlformats.org/drawingml/2006/main">
            <a:off x="6362700" y="220027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05  GO-TO-MARKET</a:t>
            </a:r>
          </a:p>
        </p:txBody>
      </p:sp>
      <p:sp>
        <p:nvSpPr>
          <p:cNvPr id="16" name="text-76">
            <a:extLst xmlns:a="http://schemas.openxmlformats.org/drawingml/2006/main">
              <a:ext uri="{FF2B5EF4-FFF2-40B4-BE49-F238E27FC236}">
                <a16:creationId xmlns:a16="http://schemas.microsoft.com/office/drawing/2014/main" id="{EB5504BB-62A8-4E51-9579-187DE20C59C4}"/>
              </a:ext>
            </a:extLst>
          </p:cNvPr>
          <p:cNvSpPr>
            <a:spLocks xmlns:a="http://schemas.openxmlformats.org/drawingml/2006/main" noGrp="1"/>
          </p:cNvSpPr>
          <p:nvPr/>
        </p:nvSpPr>
        <p:spPr>
          <a:xfrm xmlns:a="http://schemas.openxmlformats.org/drawingml/2006/main">
            <a:off x="6362700" y="24288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Gimana menemukan cara jual yang efektif?</a:t>
            </a:r>
          </a:p>
        </p:txBody>
      </p:sp>
      <p:sp>
        <p:nvSpPr>
          <p:cNvPr id="17" name="text-77">
            <a:extLst xmlns:a="http://schemas.openxmlformats.org/drawingml/2006/main">
              <a:ext uri="{FF2B5EF4-FFF2-40B4-BE49-F238E27FC236}">
                <a16:creationId xmlns:a16="http://schemas.microsoft.com/office/drawing/2014/main" id="{F2412C31-B76A-46C7-B4EB-80248F3D438F}"/>
              </a:ext>
            </a:extLst>
          </p:cNvPr>
          <p:cNvSpPr>
            <a:spLocks xmlns:a="http://schemas.openxmlformats.org/drawingml/2006/main" noGrp="1"/>
          </p:cNvSpPr>
          <p:nvPr/>
        </p:nvSpPr>
        <p:spPr>
          <a:xfrm xmlns:a="http://schemas.openxmlformats.org/drawingml/2006/main">
            <a:off x="6362700" y="295275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06  OPERATIONS</a:t>
            </a:r>
          </a:p>
        </p:txBody>
      </p:sp>
      <p:sp>
        <p:nvSpPr>
          <p:cNvPr id="18" name="text-78">
            <a:extLst xmlns:a="http://schemas.openxmlformats.org/drawingml/2006/main">
              <a:ext uri="{FF2B5EF4-FFF2-40B4-BE49-F238E27FC236}">
                <a16:creationId xmlns:a16="http://schemas.microsoft.com/office/drawing/2014/main" id="{35D4AC86-2968-48F5-929A-55AD683DA6BD}"/>
              </a:ext>
            </a:extLst>
          </p:cNvPr>
          <p:cNvSpPr>
            <a:spLocks xmlns:a="http://schemas.openxmlformats.org/drawingml/2006/main" noGrp="1"/>
          </p:cNvSpPr>
          <p:nvPr/>
        </p:nvSpPr>
        <p:spPr>
          <a:xfrm xmlns:a="http://schemas.openxmlformats.org/drawingml/2006/main">
            <a:off x="6362700" y="318135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bisnis harus mulai dibikin lebih rapi?</a:t>
            </a:r>
          </a:p>
        </p:txBody>
      </p:sp>
      <p:sp>
        <p:nvSpPr>
          <p:cNvPr id="19" name="text-79">
            <a:extLst xmlns:a="http://schemas.openxmlformats.org/drawingml/2006/main">
              <a:ext uri="{FF2B5EF4-FFF2-40B4-BE49-F238E27FC236}">
                <a16:creationId xmlns:a16="http://schemas.microsoft.com/office/drawing/2014/main" id="{42525970-2218-4805-B664-470D1ECADBD0}"/>
              </a:ext>
            </a:extLst>
          </p:cNvPr>
          <p:cNvSpPr>
            <a:spLocks xmlns:a="http://schemas.openxmlformats.org/drawingml/2006/main" noGrp="1"/>
          </p:cNvSpPr>
          <p:nvPr/>
        </p:nvSpPr>
        <p:spPr>
          <a:xfrm xmlns:a="http://schemas.openxmlformats.org/drawingml/2006/main">
            <a:off x="6362700" y="37052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07  FINANCE</a:t>
            </a:r>
          </a:p>
        </p:txBody>
      </p:sp>
      <p:sp>
        <p:nvSpPr>
          <p:cNvPr id="20" name="text-80">
            <a:extLst xmlns:a="http://schemas.openxmlformats.org/drawingml/2006/main">
              <a:ext uri="{FF2B5EF4-FFF2-40B4-BE49-F238E27FC236}">
                <a16:creationId xmlns:a16="http://schemas.microsoft.com/office/drawing/2014/main" id="{A4B6032D-37AB-49B9-BEC1-396ECDB78EE6}"/>
              </a:ext>
            </a:extLst>
          </p:cNvPr>
          <p:cNvSpPr>
            <a:spLocks xmlns:a="http://schemas.openxmlformats.org/drawingml/2006/main" noGrp="1"/>
          </p:cNvSpPr>
          <p:nvPr/>
        </p:nvSpPr>
        <p:spPr>
          <a:xfrm xmlns:a="http://schemas.openxmlformats.org/drawingml/2006/main">
            <a:off x="6362700" y="393382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Bisnis untung, tapi kenapa cash liquid nggak ada?</a:t>
            </a:r>
          </a:p>
        </p:txBody>
      </p:sp>
      <p:sp>
        <p:nvSpPr>
          <p:cNvPr id="21" name="text-81">
            <a:extLst xmlns:a="http://schemas.openxmlformats.org/drawingml/2006/main">
              <a:ext uri="{FF2B5EF4-FFF2-40B4-BE49-F238E27FC236}">
                <a16:creationId xmlns:a16="http://schemas.microsoft.com/office/drawing/2014/main" id="{271551FD-0A11-4CF5-9AE5-AA74156CC737}"/>
              </a:ext>
            </a:extLst>
          </p:cNvPr>
          <p:cNvSpPr>
            <a:spLocks xmlns:a="http://schemas.openxmlformats.org/drawingml/2006/main" noGrp="1"/>
          </p:cNvSpPr>
          <p:nvPr/>
        </p:nvSpPr>
        <p:spPr>
          <a:xfrm xmlns:a="http://schemas.openxmlformats.org/drawingml/2006/main">
            <a:off x="6362700" y="44577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08  SCALE</a:t>
            </a:r>
          </a:p>
        </p:txBody>
      </p:sp>
      <p:sp>
        <p:nvSpPr>
          <p:cNvPr id="22" name="text-82">
            <a:extLst xmlns:a="http://schemas.openxmlformats.org/drawingml/2006/main">
              <a:ext uri="{FF2B5EF4-FFF2-40B4-BE49-F238E27FC236}">
                <a16:creationId xmlns:a16="http://schemas.microsoft.com/office/drawing/2014/main" id="{7A2418E9-87C8-48D9-B1AE-B0A6389D3BEF}"/>
              </a:ext>
            </a:extLst>
          </p:cNvPr>
          <p:cNvSpPr>
            <a:spLocks xmlns:a="http://schemas.openxmlformats.org/drawingml/2006/main" noGrp="1"/>
          </p:cNvSpPr>
          <p:nvPr/>
        </p:nvSpPr>
        <p:spPr>
          <a:xfrm xmlns:a="http://schemas.openxmlformats.org/drawingml/2006/main">
            <a:off x="6362700" y="46863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bisnis sudah siap untuk scale dan cari modal?</a:t>
            </a:r>
          </a:p>
        </p:txBody>
      </p:sp>
      <p:sp>
        <p:nvSpPr>
          <p:cNvPr id="23" name="">
            <a:extLst xmlns:a="http://schemas.openxmlformats.org/drawingml/2006/main">
              <a:ext uri="{FF2B5EF4-FFF2-40B4-BE49-F238E27FC236}">
                <a16:creationId xmlns:a16="http://schemas.microsoft.com/office/drawing/2014/main" id="{360CC0C6-4AC0-457F-80B8-0FD196A22913}"/>
              </a:ext>
            </a:extLst>
          </p:cNvPr>
          <p:cNvSpPr>
            <a:spLocks xmlns:a="http://schemas.openxmlformats.org/drawingml/2006/main" noGrp="1"/>
          </p:cNvSpPr>
          <p:nvPr/>
        </p:nvSpPr>
        <p:spPr>
          <a:xfrm xmlns:a="http://schemas.openxmlformats.org/drawingml/2006/main">
            <a:off x="609600" y="5410200"/>
            <a:ext cx="5810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24" name="text-83">
            <a:extLst xmlns:a="http://schemas.openxmlformats.org/drawingml/2006/main">
              <a:ext uri="{FF2B5EF4-FFF2-40B4-BE49-F238E27FC236}">
                <a16:creationId xmlns:a16="http://schemas.microsoft.com/office/drawing/2014/main" id="{4DF71A13-11E8-4A8C-94B2-C976B891D8B9}"/>
              </a:ext>
            </a:extLst>
          </p:cNvPr>
          <p:cNvSpPr>
            <a:spLocks xmlns:a="http://schemas.openxmlformats.org/drawingml/2006/main" noGrp="1"/>
          </p:cNvSpPr>
          <p:nvPr/>
        </p:nvSpPr>
        <p:spPr>
          <a:xfrm xmlns:a="http://schemas.openxmlformats.org/drawingml/2006/main">
            <a:off x="609600" y="5572125"/>
            <a:ext cx="581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5</a:t>
            </a:r>
          </a:p>
        </p:txBody>
      </p:sp>
      <p:sp>
        <p:nvSpPr>
          <p:cNvPr id="25" name="text-84">
            <a:extLst xmlns:a="http://schemas.openxmlformats.org/drawingml/2006/main">
              <a:ext uri="{FF2B5EF4-FFF2-40B4-BE49-F238E27FC236}">
                <a16:creationId xmlns:a16="http://schemas.microsoft.com/office/drawing/2014/main" id="{B272BA91-609C-40AE-BCC9-CA02542F4ED1}"/>
              </a:ext>
            </a:extLst>
          </p:cNvPr>
          <p:cNvSpPr>
            <a:spLocks xmlns:a="http://schemas.openxmlformats.org/drawingml/2006/main" noGrp="1"/>
          </p:cNvSpPr>
          <p:nvPr/>
        </p:nvSpPr>
        <p:spPr>
          <a:xfrm xmlns:a="http://schemas.openxmlformats.org/drawingml/2006/main">
            <a:off x="609600" y="58674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6746B"/>
                </a:solidFill>
                <a:latin typeface="Calibri"/>
                <a:ea typeface="Calibri"/>
                <a:cs typeface="Calibri"/>
              </a:defRPr>
            </a:pPr>
            <a:r>
              <a:rPr sz="1050" b="0">
                <a:solidFill>
                  <a:srgbClr val="66746B"/>
                </a:solidFill>
                <a:latin typeface="Calibri"/>
                <a:ea typeface="Calibri"/>
                <a:cs typeface="Calibri"/>
              </a:rPr>
              <a:t>Buka</a:t>
            </a:r>
          </a:p>
        </p:txBody>
      </p:sp>
      <p:sp>
        <p:nvSpPr>
          <p:cNvPr id="26" name="">
            <a:extLst xmlns:a="http://schemas.openxmlformats.org/drawingml/2006/main">
              <a:ext uri="{FF2B5EF4-FFF2-40B4-BE49-F238E27FC236}">
                <a16:creationId xmlns:a16="http://schemas.microsoft.com/office/drawing/2014/main" id="{6F6ACAE4-7541-4A24-AB9C-873F780E3F27}"/>
              </a:ext>
            </a:extLst>
          </p:cNvPr>
          <p:cNvSpPr>
            <a:spLocks xmlns:a="http://schemas.openxmlformats.org/drawingml/2006/main" noGrp="1"/>
          </p:cNvSpPr>
          <p:nvPr/>
        </p:nvSpPr>
        <p:spPr>
          <a:xfrm xmlns:a="http://schemas.openxmlformats.org/drawingml/2006/main">
            <a:off x="1219200" y="5410200"/>
            <a:ext cx="24098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27" name="text-85">
            <a:extLst xmlns:a="http://schemas.openxmlformats.org/drawingml/2006/main">
              <a:ext uri="{FF2B5EF4-FFF2-40B4-BE49-F238E27FC236}">
                <a16:creationId xmlns:a16="http://schemas.microsoft.com/office/drawing/2014/main" id="{219C117F-43DE-4809-A779-C7BEE4FAF3A0}"/>
              </a:ext>
            </a:extLst>
          </p:cNvPr>
          <p:cNvSpPr>
            <a:spLocks xmlns:a="http://schemas.openxmlformats.org/drawingml/2006/main" noGrp="1"/>
          </p:cNvSpPr>
          <p:nvPr/>
        </p:nvSpPr>
        <p:spPr>
          <a:xfrm xmlns:a="http://schemas.openxmlformats.org/drawingml/2006/main">
            <a:off x="1219200" y="5572125"/>
            <a:ext cx="2409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20</a:t>
            </a:r>
          </a:p>
        </p:txBody>
      </p:sp>
      <p:sp>
        <p:nvSpPr>
          <p:cNvPr id="28" name="text-86">
            <a:extLst xmlns:a="http://schemas.openxmlformats.org/drawingml/2006/main">
              <a:ext uri="{FF2B5EF4-FFF2-40B4-BE49-F238E27FC236}">
                <a16:creationId xmlns:a16="http://schemas.microsoft.com/office/drawing/2014/main" id="{C3977E88-49EA-42E2-82C4-63EED7E7D16E}"/>
              </a:ext>
            </a:extLst>
          </p:cNvPr>
          <p:cNvSpPr>
            <a:spLocks xmlns:a="http://schemas.openxmlformats.org/drawingml/2006/main" noGrp="1"/>
          </p:cNvSpPr>
          <p:nvPr/>
        </p:nvSpPr>
        <p:spPr>
          <a:xfrm xmlns:a="http://schemas.openxmlformats.org/drawingml/2006/main">
            <a:off x="1219200" y="5867400"/>
            <a:ext cx="2438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Cerita speaker</a:t>
            </a:r>
          </a:p>
        </p:txBody>
      </p:sp>
      <p:sp>
        <p:nvSpPr>
          <p:cNvPr id="29" name="">
            <a:extLst xmlns:a="http://schemas.openxmlformats.org/drawingml/2006/main">
              <a:ext uri="{FF2B5EF4-FFF2-40B4-BE49-F238E27FC236}">
                <a16:creationId xmlns:a16="http://schemas.microsoft.com/office/drawing/2014/main" id="{69523D96-47DA-46D4-ABEE-FA567117FDCD}"/>
              </a:ext>
            </a:extLst>
          </p:cNvPr>
          <p:cNvSpPr>
            <a:spLocks xmlns:a="http://schemas.openxmlformats.org/drawingml/2006/main" noGrp="1"/>
          </p:cNvSpPr>
          <p:nvPr/>
        </p:nvSpPr>
        <p:spPr>
          <a:xfrm xmlns:a="http://schemas.openxmlformats.org/drawingml/2006/main">
            <a:off x="3657600" y="5410200"/>
            <a:ext cx="7286625" cy="85725"/>
          </a:xfrm>
          <a:prstGeom xmlns:a="http://schemas.openxmlformats.org/drawingml/2006/main" prst="rect">
            <a:avLst/>
          </a:prstGeom>
          <a:solidFill xmlns:a="http://schemas.openxmlformats.org/drawingml/2006/main">
            <a:srgbClr val="123F32"/>
          </a:solidFill>
          <a:ln xmlns:a="http://schemas.openxmlformats.org/drawingml/2006/main" w="0">
            <a:noFill/>
          </a:ln>
        </p:spPr>
      </p:sp>
      <p:sp>
        <p:nvSpPr>
          <p:cNvPr id="30" name="text-87">
            <a:extLst xmlns:a="http://schemas.openxmlformats.org/drawingml/2006/main">
              <a:ext uri="{FF2B5EF4-FFF2-40B4-BE49-F238E27FC236}">
                <a16:creationId xmlns:a16="http://schemas.microsoft.com/office/drawing/2014/main" id="{08BDD357-57BF-46EA-86B5-38F6A20AB5B9}"/>
              </a:ext>
            </a:extLst>
          </p:cNvPr>
          <p:cNvSpPr>
            <a:spLocks xmlns:a="http://schemas.openxmlformats.org/drawingml/2006/main" noGrp="1"/>
          </p:cNvSpPr>
          <p:nvPr/>
        </p:nvSpPr>
        <p:spPr>
          <a:xfrm xmlns:a="http://schemas.openxmlformats.org/drawingml/2006/main">
            <a:off x="3657600" y="5572125"/>
            <a:ext cx="728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60</a:t>
            </a:r>
          </a:p>
        </p:txBody>
      </p:sp>
      <p:sp>
        <p:nvSpPr>
          <p:cNvPr id="31" name="text-88">
            <a:extLst xmlns:a="http://schemas.openxmlformats.org/drawingml/2006/main">
              <a:ext uri="{FF2B5EF4-FFF2-40B4-BE49-F238E27FC236}">
                <a16:creationId xmlns:a16="http://schemas.microsoft.com/office/drawing/2014/main" id="{76B2E601-CAAC-4186-8070-81FF8BAFCDFC}"/>
              </a:ext>
            </a:extLst>
          </p:cNvPr>
          <p:cNvSpPr>
            <a:spLocks xmlns:a="http://schemas.openxmlformats.org/drawingml/2006/main" noGrp="1"/>
          </p:cNvSpPr>
          <p:nvPr/>
        </p:nvSpPr>
        <p:spPr>
          <a:xfrm xmlns:a="http://schemas.openxmlformats.org/drawingml/2006/main">
            <a:off x="3657600" y="5867400"/>
            <a:ext cx="731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Tanya jawab + bedah kasus</a:t>
            </a:r>
          </a:p>
        </p:txBody>
      </p:sp>
      <p:sp>
        <p:nvSpPr>
          <p:cNvPr id="32" name="">
            <a:extLst xmlns:a="http://schemas.openxmlformats.org/drawingml/2006/main">
              <a:ext uri="{FF2B5EF4-FFF2-40B4-BE49-F238E27FC236}">
                <a16:creationId xmlns:a16="http://schemas.microsoft.com/office/drawing/2014/main" id="{F93B5A16-551F-43D2-B5CE-8467F30AE516}"/>
              </a:ext>
            </a:extLst>
          </p:cNvPr>
          <p:cNvSpPr>
            <a:spLocks xmlns:a="http://schemas.openxmlformats.org/drawingml/2006/main" noGrp="1"/>
          </p:cNvSpPr>
          <p:nvPr/>
        </p:nvSpPr>
        <p:spPr>
          <a:xfrm xmlns:a="http://schemas.openxmlformats.org/drawingml/2006/main">
            <a:off x="10972800" y="5410200"/>
            <a:ext cx="5810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33" name="text-89">
            <a:extLst xmlns:a="http://schemas.openxmlformats.org/drawingml/2006/main">
              <a:ext uri="{FF2B5EF4-FFF2-40B4-BE49-F238E27FC236}">
                <a16:creationId xmlns:a16="http://schemas.microsoft.com/office/drawing/2014/main" id="{76994FDE-E73B-44BA-93BB-16B52652590B}"/>
              </a:ext>
            </a:extLst>
          </p:cNvPr>
          <p:cNvSpPr>
            <a:spLocks xmlns:a="http://schemas.openxmlformats.org/drawingml/2006/main" noGrp="1"/>
          </p:cNvSpPr>
          <p:nvPr/>
        </p:nvSpPr>
        <p:spPr>
          <a:xfrm xmlns:a="http://schemas.openxmlformats.org/drawingml/2006/main">
            <a:off x="10972800" y="5572125"/>
            <a:ext cx="581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5</a:t>
            </a:r>
          </a:p>
        </p:txBody>
      </p:sp>
      <p:sp>
        <p:nvSpPr>
          <p:cNvPr id="34" name="text-90">
            <a:extLst xmlns:a="http://schemas.openxmlformats.org/drawingml/2006/main">
              <a:ext uri="{FF2B5EF4-FFF2-40B4-BE49-F238E27FC236}">
                <a16:creationId xmlns:a16="http://schemas.microsoft.com/office/drawing/2014/main" id="{503816D8-AC44-4796-BE67-C71C04DF1C7B}"/>
              </a:ext>
            </a:extLst>
          </p:cNvPr>
          <p:cNvSpPr>
            <a:spLocks xmlns:a="http://schemas.openxmlformats.org/drawingml/2006/main" noGrp="1"/>
          </p:cNvSpPr>
          <p:nvPr/>
        </p:nvSpPr>
        <p:spPr>
          <a:xfrm xmlns:a="http://schemas.openxmlformats.org/drawingml/2006/main">
            <a:off x="10972800" y="58674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6746B"/>
                </a:solidFill>
                <a:latin typeface="Calibri"/>
                <a:ea typeface="Calibri"/>
                <a:cs typeface="Calibri"/>
              </a:defRPr>
            </a:pPr>
            <a:r>
              <a:rPr sz="1050" b="0">
                <a:solidFill>
                  <a:srgbClr val="66746B"/>
                </a:solidFill>
                <a:latin typeface="Calibri"/>
                <a:ea typeface="Calibri"/>
                <a:cs typeface="Calibri"/>
              </a:rPr>
              <a:t>Tutup</a:t>
            </a:r>
          </a:p>
        </p:txBody>
      </p:sp>
    </p:spTree>
    <p:extLst>
      <p:ext uri="{BB962C8B-B14F-4D97-AF65-F5344CB8AC3E}">
        <p14:creationId xmlns:p14="http://schemas.microsoft.com/office/powerpoint/2010/main" val="508353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text-91">
            <a:extLst xmlns:a="http://schemas.openxmlformats.org/drawingml/2006/main">
              <a:ext uri="{FF2B5EF4-FFF2-40B4-BE49-F238E27FC236}">
                <a16:creationId xmlns:a16="http://schemas.microsoft.com/office/drawing/2014/main" id="{37A4BD8E-6208-487A-B2F2-8A35C41A70A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JADWAL FOUNDER LIVE</a:t>
            </a:r>
          </a:p>
        </p:txBody>
      </p:sp>
      <p:sp>
        <p:nvSpPr>
          <p:cNvPr id="2" name="text-92">
            <a:extLst xmlns:a="http://schemas.openxmlformats.org/drawingml/2006/main">
              <a:ext uri="{FF2B5EF4-FFF2-40B4-BE49-F238E27FC236}">
                <a16:creationId xmlns:a16="http://schemas.microsoft.com/office/drawing/2014/main" id="{F0D2C847-A912-443F-84FA-98CADCC80BF3}"/>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Delapan kelas selesai dalam empat minggu</a:t>
            </a:r>
          </a:p>
        </p:txBody>
      </p:sp>
      <p:sp>
        <p:nvSpPr>
          <p:cNvPr id="3" name="text-93">
            <a:extLst xmlns:a="http://schemas.openxmlformats.org/drawingml/2006/main">
              <a:ext uri="{FF2B5EF4-FFF2-40B4-BE49-F238E27FC236}">
                <a16:creationId xmlns:a16="http://schemas.microsoft.com/office/drawing/2014/main" id="{42A29794-33FB-4400-AD07-00F40476426E}"/>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Usulan Selasa–Kamis, 19.00–20.30 WIB. Semua speaker masih kandidat.</a:t>
            </a:r>
          </a:p>
        </p:txBody>
      </p:sp>
      <p:sp>
        <p:nvSpPr>
          <p:cNvPr id="4" name="">
            <a:extLst xmlns:a="http://schemas.openxmlformats.org/drawingml/2006/main">
              <a:ext uri="{FF2B5EF4-FFF2-40B4-BE49-F238E27FC236}">
                <a16:creationId xmlns:a16="http://schemas.microsoft.com/office/drawing/2014/main" id="{25EBBEFF-9E98-480A-90DD-9E8A8B0C14C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94">
            <a:extLst xmlns:a="http://schemas.openxmlformats.org/drawingml/2006/main">
              <a:ext uri="{FF2B5EF4-FFF2-40B4-BE49-F238E27FC236}">
                <a16:creationId xmlns:a16="http://schemas.microsoft.com/office/drawing/2014/main" id="{458ED11F-3564-4BF9-BC74-9CD15C2B9701}"/>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topik PDF CMC; tanggal dan speaker adalah usulan. Dasar pencocokan ada di speaker notes.</a:t>
            </a:r>
          </a:p>
        </p:txBody>
      </p:sp>
      <p:sp>
        <p:nvSpPr>
          <p:cNvPr id="6" name="text-95">
            <a:extLst xmlns:a="http://schemas.openxmlformats.org/drawingml/2006/main">
              <a:ext uri="{FF2B5EF4-FFF2-40B4-BE49-F238E27FC236}">
                <a16:creationId xmlns:a16="http://schemas.microsoft.com/office/drawing/2014/main" id="{5990D15F-DFEC-4047-8BB5-623CC4B856D7}"/>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06</a:t>
            </a:r>
          </a:p>
        </p:txBody>
      </p:sp>
      <p:sp>
        <p:nvSpPr>
          <p:cNvPr id="7" name="text-96">
            <a:extLst xmlns:a="http://schemas.openxmlformats.org/drawingml/2006/main">
              <a:ext uri="{FF2B5EF4-FFF2-40B4-BE49-F238E27FC236}">
                <a16:creationId xmlns:a16="http://schemas.microsoft.com/office/drawing/2014/main" id="{8B20FF18-B533-49B8-944F-8B5B4BB54BCA}"/>
              </a:ext>
            </a:extLst>
          </p:cNvPr>
          <p:cNvSpPr>
            <a:spLocks xmlns:a="http://schemas.openxmlformats.org/drawingml/2006/main" noGrp="1"/>
          </p:cNvSpPr>
          <p:nvPr/>
        </p:nvSpPr>
        <p:spPr>
          <a:xfrm xmlns:a="http://schemas.openxmlformats.org/drawingml/2006/main">
            <a:off x="609600" y="2247900"/>
            <a:ext cx="242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NOVEMBER 2026</a:t>
            </a:r>
          </a:p>
        </p:txBody>
      </p:sp>
      <p:sp>
        <p:nvSpPr>
          <p:cNvPr id="8" name="text-97">
            <a:extLst xmlns:a="http://schemas.openxmlformats.org/drawingml/2006/main">
              <a:ext uri="{FF2B5EF4-FFF2-40B4-BE49-F238E27FC236}">
                <a16:creationId xmlns:a16="http://schemas.microsoft.com/office/drawing/2014/main" id="{A6699BDB-FF41-49A1-982F-8D76B762221C}"/>
              </a:ext>
            </a:extLst>
          </p:cNvPr>
          <p:cNvSpPr>
            <a:spLocks xmlns:a="http://schemas.openxmlformats.org/drawingml/2006/main" noGrp="1"/>
          </p:cNvSpPr>
          <p:nvPr/>
        </p:nvSpPr>
        <p:spPr>
          <a:xfrm xmlns:a="http://schemas.openxmlformats.org/drawingml/2006/main">
            <a:off x="3009900" y="22479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KANDIDAT UTAMA</a:t>
            </a:r>
          </a:p>
        </p:txBody>
      </p:sp>
      <p:sp>
        <p:nvSpPr>
          <p:cNvPr id="9" name="text-98">
            <a:extLst xmlns:a="http://schemas.openxmlformats.org/drawingml/2006/main">
              <a:ext uri="{FF2B5EF4-FFF2-40B4-BE49-F238E27FC236}">
                <a16:creationId xmlns:a16="http://schemas.microsoft.com/office/drawing/2014/main" id="{8AF3B8E1-9551-4313-9CED-53251BDF432A}"/>
              </a:ext>
            </a:extLst>
          </p:cNvPr>
          <p:cNvSpPr>
            <a:spLocks xmlns:a="http://schemas.openxmlformats.org/drawingml/2006/main" noGrp="1"/>
          </p:cNvSpPr>
          <p:nvPr/>
        </p:nvSpPr>
        <p:spPr>
          <a:xfrm xmlns:a="http://schemas.openxmlformats.org/drawingml/2006/main">
            <a:off x="9172575" y="22479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MODUL</a:t>
            </a:r>
          </a:p>
        </p:txBody>
      </p:sp>
      <p:sp>
        <p:nvSpPr>
          <p:cNvPr id="10" name="text-99">
            <a:extLst xmlns:a="http://schemas.openxmlformats.org/drawingml/2006/main">
              <a:ext uri="{FF2B5EF4-FFF2-40B4-BE49-F238E27FC236}">
                <a16:creationId xmlns:a16="http://schemas.microsoft.com/office/drawing/2014/main" id="{1B812195-B05D-41EA-840D-F423DD17D164}"/>
              </a:ext>
            </a:extLst>
          </p:cNvPr>
          <p:cNvSpPr>
            <a:spLocks xmlns:a="http://schemas.openxmlformats.org/drawingml/2006/main" noGrp="1"/>
          </p:cNvSpPr>
          <p:nvPr/>
        </p:nvSpPr>
        <p:spPr>
          <a:xfrm xmlns:a="http://schemas.openxmlformats.org/drawingml/2006/main">
            <a:off x="609600" y="26098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03 / SELASA</a:t>
            </a:r>
          </a:p>
        </p:txBody>
      </p:sp>
      <p:sp>
        <p:nvSpPr>
          <p:cNvPr id="11" name="text-100">
            <a:extLst xmlns:a="http://schemas.openxmlformats.org/drawingml/2006/main">
              <a:ext uri="{FF2B5EF4-FFF2-40B4-BE49-F238E27FC236}">
                <a16:creationId xmlns:a16="http://schemas.microsoft.com/office/drawing/2014/main" id="{69E783F8-F77A-44DE-B0EE-421777260548}"/>
              </a:ext>
            </a:extLst>
          </p:cNvPr>
          <p:cNvSpPr>
            <a:spLocks xmlns:a="http://schemas.openxmlformats.org/drawingml/2006/main" noGrp="1"/>
          </p:cNvSpPr>
          <p:nvPr/>
        </p:nvSpPr>
        <p:spPr>
          <a:xfrm xmlns:a="http://schemas.openxmlformats.org/drawingml/2006/main">
            <a:off x="3009900" y="26098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Yukka Harlanda</a:t>
            </a:r>
          </a:p>
        </p:txBody>
      </p:sp>
      <p:sp>
        <p:nvSpPr>
          <p:cNvPr id="12" name="text-101">
            <a:extLst xmlns:a="http://schemas.openxmlformats.org/drawingml/2006/main">
              <a:ext uri="{FF2B5EF4-FFF2-40B4-BE49-F238E27FC236}">
                <a16:creationId xmlns:a16="http://schemas.microsoft.com/office/drawing/2014/main" id="{C18849E6-D00A-4FDE-98DC-66491796370F}"/>
              </a:ext>
            </a:extLst>
          </p:cNvPr>
          <p:cNvSpPr>
            <a:spLocks xmlns:a="http://schemas.openxmlformats.org/drawingml/2006/main" noGrp="1"/>
          </p:cNvSpPr>
          <p:nvPr/>
        </p:nvSpPr>
        <p:spPr>
          <a:xfrm xmlns:a="http://schemas.openxmlformats.org/drawingml/2006/main">
            <a:off x="6191250" y="26289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Brodo</a:t>
            </a:r>
          </a:p>
        </p:txBody>
      </p:sp>
      <p:sp>
        <p:nvSpPr>
          <p:cNvPr id="13" name="text-102">
            <a:extLst xmlns:a="http://schemas.openxmlformats.org/drawingml/2006/main">
              <a:ext uri="{FF2B5EF4-FFF2-40B4-BE49-F238E27FC236}">
                <a16:creationId xmlns:a16="http://schemas.microsoft.com/office/drawing/2014/main" id="{B49CAB23-984C-4338-AB30-4FA58A5156EC}"/>
              </a:ext>
            </a:extLst>
          </p:cNvPr>
          <p:cNvSpPr>
            <a:spLocks xmlns:a="http://schemas.openxmlformats.org/drawingml/2006/main" noGrp="1"/>
          </p:cNvSpPr>
          <p:nvPr/>
        </p:nvSpPr>
        <p:spPr>
          <a:xfrm xmlns:a="http://schemas.openxmlformats.org/drawingml/2006/main">
            <a:off x="9172575" y="26193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Mindset</a:t>
            </a:r>
          </a:p>
        </p:txBody>
      </p:sp>
      <p:sp>
        <p:nvSpPr>
          <p:cNvPr id="14" name="">
            <a:extLst xmlns:a="http://schemas.openxmlformats.org/drawingml/2006/main">
              <a:ext uri="{FF2B5EF4-FFF2-40B4-BE49-F238E27FC236}">
                <a16:creationId xmlns:a16="http://schemas.microsoft.com/office/drawing/2014/main" id="{4AF0E174-6C32-4E4A-B516-612CC412F090}"/>
              </a:ext>
            </a:extLst>
          </p:cNvPr>
          <p:cNvSpPr>
            <a:spLocks xmlns:a="http://schemas.openxmlformats.org/drawingml/2006/main" noGrp="1"/>
          </p:cNvSpPr>
          <p:nvPr/>
        </p:nvSpPr>
        <p:spPr>
          <a:xfrm xmlns:a="http://schemas.openxmlformats.org/drawingml/2006/main">
            <a:off x="609600" y="2952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103">
            <a:extLst xmlns:a="http://schemas.openxmlformats.org/drawingml/2006/main">
              <a:ext uri="{FF2B5EF4-FFF2-40B4-BE49-F238E27FC236}">
                <a16:creationId xmlns:a16="http://schemas.microsoft.com/office/drawing/2014/main" id="{CC9267BB-87D9-4144-A638-DBDAD32A0DB3}"/>
              </a:ext>
            </a:extLst>
          </p:cNvPr>
          <p:cNvSpPr>
            <a:spLocks xmlns:a="http://schemas.openxmlformats.org/drawingml/2006/main" noGrp="1"/>
          </p:cNvSpPr>
          <p:nvPr/>
        </p:nvSpPr>
        <p:spPr>
          <a:xfrm xmlns:a="http://schemas.openxmlformats.org/drawingml/2006/main">
            <a:off x="609600" y="30289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05 / KAMIS</a:t>
            </a:r>
          </a:p>
        </p:txBody>
      </p:sp>
      <p:sp>
        <p:nvSpPr>
          <p:cNvPr id="16" name="text-104">
            <a:extLst xmlns:a="http://schemas.openxmlformats.org/drawingml/2006/main">
              <a:ext uri="{FF2B5EF4-FFF2-40B4-BE49-F238E27FC236}">
                <a16:creationId xmlns:a16="http://schemas.microsoft.com/office/drawing/2014/main" id="{64AE4CDF-59BB-41D4-AF4C-B6D1E02E0157}"/>
              </a:ext>
            </a:extLst>
          </p:cNvPr>
          <p:cNvSpPr>
            <a:spLocks xmlns:a="http://schemas.openxmlformats.org/drawingml/2006/main" noGrp="1"/>
          </p:cNvSpPr>
          <p:nvPr/>
        </p:nvSpPr>
        <p:spPr>
          <a:xfrm xmlns:a="http://schemas.openxmlformats.org/drawingml/2006/main">
            <a:off x="3009900" y="30289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Dokter Tirta</a:t>
            </a:r>
          </a:p>
        </p:txBody>
      </p:sp>
      <p:sp>
        <p:nvSpPr>
          <p:cNvPr id="17" name="text-105">
            <a:extLst xmlns:a="http://schemas.openxmlformats.org/drawingml/2006/main">
              <a:ext uri="{FF2B5EF4-FFF2-40B4-BE49-F238E27FC236}">
                <a16:creationId xmlns:a16="http://schemas.microsoft.com/office/drawing/2014/main" id="{AE875DF9-2D7F-4F31-B3B6-79EDB25E7064}"/>
              </a:ext>
            </a:extLst>
          </p:cNvPr>
          <p:cNvSpPr>
            <a:spLocks xmlns:a="http://schemas.openxmlformats.org/drawingml/2006/main" noGrp="1"/>
          </p:cNvSpPr>
          <p:nvPr/>
        </p:nvSpPr>
        <p:spPr>
          <a:xfrm xmlns:a="http://schemas.openxmlformats.org/drawingml/2006/main">
            <a:off x="6191250" y="30480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Shoes and Care</a:t>
            </a:r>
          </a:p>
        </p:txBody>
      </p:sp>
      <p:sp>
        <p:nvSpPr>
          <p:cNvPr id="18" name="text-106">
            <a:extLst xmlns:a="http://schemas.openxmlformats.org/drawingml/2006/main">
              <a:ext uri="{FF2B5EF4-FFF2-40B4-BE49-F238E27FC236}">
                <a16:creationId xmlns:a16="http://schemas.microsoft.com/office/drawing/2014/main" id="{58E74596-1E67-4964-AC86-76ABA0927176}"/>
              </a:ext>
            </a:extLst>
          </p:cNvPr>
          <p:cNvSpPr>
            <a:spLocks xmlns:a="http://schemas.openxmlformats.org/drawingml/2006/main" noGrp="1"/>
          </p:cNvSpPr>
          <p:nvPr/>
        </p:nvSpPr>
        <p:spPr>
          <a:xfrm xmlns:a="http://schemas.openxmlformats.org/drawingml/2006/main">
            <a:off x="9172575" y="30384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Problem Solving</a:t>
            </a:r>
          </a:p>
        </p:txBody>
      </p:sp>
      <p:sp>
        <p:nvSpPr>
          <p:cNvPr id="19" name="">
            <a:extLst xmlns:a="http://schemas.openxmlformats.org/drawingml/2006/main">
              <a:ext uri="{FF2B5EF4-FFF2-40B4-BE49-F238E27FC236}">
                <a16:creationId xmlns:a16="http://schemas.microsoft.com/office/drawing/2014/main" id="{326EFF9B-2C5D-4CAB-984E-FA4F216AC9A6}"/>
              </a:ext>
            </a:extLst>
          </p:cNvPr>
          <p:cNvSpPr>
            <a:spLocks xmlns:a="http://schemas.openxmlformats.org/drawingml/2006/main" noGrp="1"/>
          </p:cNvSpPr>
          <p:nvPr/>
        </p:nvSpPr>
        <p:spPr>
          <a:xfrm xmlns:a="http://schemas.openxmlformats.org/drawingml/2006/main">
            <a:off x="609600" y="33718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0" name="text-107">
            <a:extLst xmlns:a="http://schemas.openxmlformats.org/drawingml/2006/main">
              <a:ext uri="{FF2B5EF4-FFF2-40B4-BE49-F238E27FC236}">
                <a16:creationId xmlns:a16="http://schemas.microsoft.com/office/drawing/2014/main" id="{6002ED85-3F32-4819-883C-1ADFFEFEFF3A}"/>
              </a:ext>
            </a:extLst>
          </p:cNvPr>
          <p:cNvSpPr>
            <a:spLocks xmlns:a="http://schemas.openxmlformats.org/drawingml/2006/main" noGrp="1"/>
          </p:cNvSpPr>
          <p:nvPr/>
        </p:nvSpPr>
        <p:spPr>
          <a:xfrm xmlns:a="http://schemas.openxmlformats.org/drawingml/2006/main">
            <a:off x="609600" y="34480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10 / SELASA</a:t>
            </a:r>
          </a:p>
        </p:txBody>
      </p:sp>
      <p:sp>
        <p:nvSpPr>
          <p:cNvPr id="21" name="text-108">
            <a:extLst xmlns:a="http://schemas.openxmlformats.org/drawingml/2006/main">
              <a:ext uri="{FF2B5EF4-FFF2-40B4-BE49-F238E27FC236}">
                <a16:creationId xmlns:a16="http://schemas.microsoft.com/office/drawing/2014/main" id="{D143596F-045A-40F6-B941-F2AEFBDFE5EE}"/>
              </a:ext>
            </a:extLst>
          </p:cNvPr>
          <p:cNvSpPr>
            <a:spLocks xmlns:a="http://schemas.openxmlformats.org/drawingml/2006/main" noGrp="1"/>
          </p:cNvSpPr>
          <p:nvPr/>
        </p:nvSpPr>
        <p:spPr>
          <a:xfrm xmlns:a="http://schemas.openxmlformats.org/drawingml/2006/main">
            <a:off x="3009900" y="34480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Anthony Soehartono</a:t>
            </a:r>
          </a:p>
        </p:txBody>
      </p:sp>
      <p:sp>
        <p:nvSpPr>
          <p:cNvPr id="22" name="text-109">
            <a:extLst xmlns:a="http://schemas.openxmlformats.org/drawingml/2006/main">
              <a:ext uri="{FF2B5EF4-FFF2-40B4-BE49-F238E27FC236}">
                <a16:creationId xmlns:a16="http://schemas.microsoft.com/office/drawing/2014/main" id="{32F1F13E-D07C-4E19-A55B-5A671F7231BC}"/>
              </a:ext>
            </a:extLst>
          </p:cNvPr>
          <p:cNvSpPr>
            <a:spLocks xmlns:a="http://schemas.openxmlformats.org/drawingml/2006/main" noGrp="1"/>
          </p:cNvSpPr>
          <p:nvPr/>
        </p:nvSpPr>
        <p:spPr>
          <a:xfrm xmlns:a="http://schemas.openxmlformats.org/drawingml/2006/main">
            <a:off x="6191250" y="34671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BP Consulting / Mega Perintis</a:t>
            </a:r>
          </a:p>
        </p:txBody>
      </p:sp>
      <p:sp>
        <p:nvSpPr>
          <p:cNvPr id="23" name="text-110">
            <a:extLst xmlns:a="http://schemas.openxmlformats.org/drawingml/2006/main">
              <a:ext uri="{FF2B5EF4-FFF2-40B4-BE49-F238E27FC236}">
                <a16:creationId xmlns:a16="http://schemas.microsoft.com/office/drawing/2014/main" id="{BBF50826-1E75-4B90-9B35-A42467B0E8A2}"/>
              </a:ext>
            </a:extLst>
          </p:cNvPr>
          <p:cNvSpPr>
            <a:spLocks xmlns:a="http://schemas.openxmlformats.org/drawingml/2006/main" noGrp="1"/>
          </p:cNvSpPr>
          <p:nvPr/>
        </p:nvSpPr>
        <p:spPr>
          <a:xfrm xmlns:a="http://schemas.openxmlformats.org/drawingml/2006/main">
            <a:off x="9172575" y="3457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Team</a:t>
            </a:r>
          </a:p>
        </p:txBody>
      </p:sp>
      <p:sp>
        <p:nvSpPr>
          <p:cNvPr id="24" name="">
            <a:extLst xmlns:a="http://schemas.openxmlformats.org/drawingml/2006/main">
              <a:ext uri="{FF2B5EF4-FFF2-40B4-BE49-F238E27FC236}">
                <a16:creationId xmlns:a16="http://schemas.microsoft.com/office/drawing/2014/main" id="{8BDD2665-84EF-4A6C-8A00-4A99974F6AF1}"/>
              </a:ext>
            </a:extLst>
          </p:cNvPr>
          <p:cNvSpPr>
            <a:spLocks xmlns:a="http://schemas.openxmlformats.org/drawingml/2006/main" noGrp="1"/>
          </p:cNvSpPr>
          <p:nvPr/>
        </p:nvSpPr>
        <p:spPr>
          <a:xfrm xmlns:a="http://schemas.openxmlformats.org/drawingml/2006/main">
            <a:off x="609600" y="37909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5" name="text-111">
            <a:extLst xmlns:a="http://schemas.openxmlformats.org/drawingml/2006/main">
              <a:ext uri="{FF2B5EF4-FFF2-40B4-BE49-F238E27FC236}">
                <a16:creationId xmlns:a16="http://schemas.microsoft.com/office/drawing/2014/main" id="{D9001994-F271-4AC5-8AC9-DC2BEB4A8983}"/>
              </a:ext>
            </a:extLst>
          </p:cNvPr>
          <p:cNvSpPr>
            <a:spLocks xmlns:a="http://schemas.openxmlformats.org/drawingml/2006/main" noGrp="1"/>
          </p:cNvSpPr>
          <p:nvPr/>
        </p:nvSpPr>
        <p:spPr>
          <a:xfrm xmlns:a="http://schemas.openxmlformats.org/drawingml/2006/main">
            <a:off x="609600" y="38671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12 / KAMIS</a:t>
            </a:r>
          </a:p>
        </p:txBody>
      </p:sp>
      <p:sp>
        <p:nvSpPr>
          <p:cNvPr id="26" name="text-112">
            <a:extLst xmlns:a="http://schemas.openxmlformats.org/drawingml/2006/main">
              <a:ext uri="{FF2B5EF4-FFF2-40B4-BE49-F238E27FC236}">
                <a16:creationId xmlns:a16="http://schemas.microsoft.com/office/drawing/2014/main" id="{C5AEDA65-BFC3-4CF2-98DA-32B5FA99D398}"/>
              </a:ext>
            </a:extLst>
          </p:cNvPr>
          <p:cNvSpPr>
            <a:spLocks xmlns:a="http://schemas.openxmlformats.org/drawingml/2006/main" noGrp="1"/>
          </p:cNvSpPr>
          <p:nvPr/>
        </p:nvSpPr>
        <p:spPr>
          <a:xfrm xmlns:a="http://schemas.openxmlformats.org/drawingml/2006/main">
            <a:off x="3009900" y="38671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Christopher Aldo</a:t>
            </a:r>
          </a:p>
        </p:txBody>
      </p:sp>
      <p:sp>
        <p:nvSpPr>
          <p:cNvPr id="27" name="text-113">
            <a:extLst xmlns:a="http://schemas.openxmlformats.org/drawingml/2006/main">
              <a:ext uri="{FF2B5EF4-FFF2-40B4-BE49-F238E27FC236}">
                <a16:creationId xmlns:a16="http://schemas.microsoft.com/office/drawing/2014/main" id="{E8685D1B-9690-4B95-AC09-FD4ED9409A39}"/>
              </a:ext>
            </a:extLst>
          </p:cNvPr>
          <p:cNvSpPr>
            <a:spLocks xmlns:a="http://schemas.openxmlformats.org/drawingml/2006/main" noGrp="1"/>
          </p:cNvSpPr>
          <p:nvPr/>
        </p:nvSpPr>
        <p:spPr>
          <a:xfrm xmlns:a="http://schemas.openxmlformats.org/drawingml/2006/main">
            <a:off x="6191250" y="38862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Yellow Fit Kitchen</a:t>
            </a:r>
          </a:p>
        </p:txBody>
      </p:sp>
      <p:sp>
        <p:nvSpPr>
          <p:cNvPr id="28" name="text-114">
            <a:extLst xmlns:a="http://schemas.openxmlformats.org/drawingml/2006/main">
              <a:ext uri="{FF2B5EF4-FFF2-40B4-BE49-F238E27FC236}">
                <a16:creationId xmlns:a16="http://schemas.microsoft.com/office/drawing/2014/main" id="{70AE791D-AA3B-4E5A-9A05-E47BA0F367F8}"/>
              </a:ext>
            </a:extLst>
          </p:cNvPr>
          <p:cNvSpPr>
            <a:spLocks xmlns:a="http://schemas.openxmlformats.org/drawingml/2006/main" noGrp="1"/>
          </p:cNvSpPr>
          <p:nvPr/>
        </p:nvSpPr>
        <p:spPr>
          <a:xfrm xmlns:a="http://schemas.openxmlformats.org/drawingml/2006/main">
            <a:off x="9172575" y="38766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Product</a:t>
            </a:r>
          </a:p>
        </p:txBody>
      </p:sp>
      <p:sp>
        <p:nvSpPr>
          <p:cNvPr id="29" name="">
            <a:extLst xmlns:a="http://schemas.openxmlformats.org/drawingml/2006/main">
              <a:ext uri="{FF2B5EF4-FFF2-40B4-BE49-F238E27FC236}">
                <a16:creationId xmlns:a16="http://schemas.microsoft.com/office/drawing/2014/main" id="{27DE0889-C4F7-4CD2-AEF6-4F34D8B31283}"/>
              </a:ext>
            </a:extLst>
          </p:cNvPr>
          <p:cNvSpPr>
            <a:spLocks xmlns:a="http://schemas.openxmlformats.org/drawingml/2006/main" noGrp="1"/>
          </p:cNvSpPr>
          <p:nvPr/>
        </p:nvSpPr>
        <p:spPr>
          <a:xfrm xmlns:a="http://schemas.openxmlformats.org/drawingml/2006/main">
            <a:off x="609600" y="42100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30" name="text-115">
            <a:extLst xmlns:a="http://schemas.openxmlformats.org/drawingml/2006/main">
              <a:ext uri="{FF2B5EF4-FFF2-40B4-BE49-F238E27FC236}">
                <a16:creationId xmlns:a16="http://schemas.microsoft.com/office/drawing/2014/main" id="{2A36993A-177B-4A08-89BF-3FB263444F13}"/>
              </a:ext>
            </a:extLst>
          </p:cNvPr>
          <p:cNvSpPr>
            <a:spLocks xmlns:a="http://schemas.openxmlformats.org/drawingml/2006/main" noGrp="1"/>
          </p:cNvSpPr>
          <p:nvPr/>
        </p:nvSpPr>
        <p:spPr>
          <a:xfrm xmlns:a="http://schemas.openxmlformats.org/drawingml/2006/main">
            <a:off x="609600" y="42862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17 / SELASA</a:t>
            </a:r>
          </a:p>
        </p:txBody>
      </p:sp>
      <p:sp>
        <p:nvSpPr>
          <p:cNvPr id="31" name="text-116">
            <a:extLst xmlns:a="http://schemas.openxmlformats.org/drawingml/2006/main">
              <a:ext uri="{FF2B5EF4-FFF2-40B4-BE49-F238E27FC236}">
                <a16:creationId xmlns:a16="http://schemas.microsoft.com/office/drawing/2014/main" id="{579937C9-3B28-4CE4-BE58-F38C95F927B8}"/>
              </a:ext>
            </a:extLst>
          </p:cNvPr>
          <p:cNvSpPr>
            <a:spLocks xmlns:a="http://schemas.openxmlformats.org/drawingml/2006/main" noGrp="1"/>
          </p:cNvSpPr>
          <p:nvPr/>
        </p:nvSpPr>
        <p:spPr>
          <a:xfrm xmlns:a="http://schemas.openxmlformats.org/drawingml/2006/main">
            <a:off x="3009900" y="42862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Aristia Chen</a:t>
            </a:r>
          </a:p>
        </p:txBody>
      </p:sp>
      <p:sp>
        <p:nvSpPr>
          <p:cNvPr id="32" name="text-117">
            <a:extLst xmlns:a="http://schemas.openxmlformats.org/drawingml/2006/main">
              <a:ext uri="{FF2B5EF4-FFF2-40B4-BE49-F238E27FC236}">
                <a16:creationId xmlns:a16="http://schemas.microsoft.com/office/drawing/2014/main" id="{55B3B41F-8427-43BD-948A-8B2BFCFA27B7}"/>
              </a:ext>
            </a:extLst>
          </p:cNvPr>
          <p:cNvSpPr>
            <a:spLocks xmlns:a="http://schemas.openxmlformats.org/drawingml/2006/main" noGrp="1"/>
          </p:cNvSpPr>
          <p:nvPr/>
        </p:nvSpPr>
        <p:spPr>
          <a:xfrm xmlns:a="http://schemas.openxmlformats.org/drawingml/2006/main">
            <a:off x="6191250" y="43053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Mazuta Indonesia</a:t>
            </a:r>
          </a:p>
        </p:txBody>
      </p:sp>
      <p:sp>
        <p:nvSpPr>
          <p:cNvPr id="33" name="text-118">
            <a:extLst xmlns:a="http://schemas.openxmlformats.org/drawingml/2006/main">
              <a:ext uri="{FF2B5EF4-FFF2-40B4-BE49-F238E27FC236}">
                <a16:creationId xmlns:a16="http://schemas.microsoft.com/office/drawing/2014/main" id="{9F9DA95A-8D3D-4B7C-BCF9-945C404FBD41}"/>
              </a:ext>
            </a:extLst>
          </p:cNvPr>
          <p:cNvSpPr>
            <a:spLocks xmlns:a="http://schemas.openxmlformats.org/drawingml/2006/main" noGrp="1"/>
          </p:cNvSpPr>
          <p:nvPr/>
        </p:nvSpPr>
        <p:spPr>
          <a:xfrm xmlns:a="http://schemas.openxmlformats.org/drawingml/2006/main">
            <a:off x="9172575" y="42957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Go-to-Market</a:t>
            </a:r>
          </a:p>
        </p:txBody>
      </p:sp>
      <p:sp>
        <p:nvSpPr>
          <p:cNvPr id="34" name="">
            <a:extLst xmlns:a="http://schemas.openxmlformats.org/drawingml/2006/main">
              <a:ext uri="{FF2B5EF4-FFF2-40B4-BE49-F238E27FC236}">
                <a16:creationId xmlns:a16="http://schemas.microsoft.com/office/drawing/2014/main" id="{637C2056-01FB-499D-8C24-C4D19D8F3F9F}"/>
              </a:ext>
            </a:extLst>
          </p:cNvPr>
          <p:cNvSpPr>
            <a:spLocks xmlns:a="http://schemas.openxmlformats.org/drawingml/2006/main" noGrp="1"/>
          </p:cNvSpPr>
          <p:nvPr/>
        </p:nvSpPr>
        <p:spPr>
          <a:xfrm xmlns:a="http://schemas.openxmlformats.org/drawingml/2006/main">
            <a:off x="609600" y="46291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35" name="text-119">
            <a:extLst xmlns:a="http://schemas.openxmlformats.org/drawingml/2006/main">
              <a:ext uri="{FF2B5EF4-FFF2-40B4-BE49-F238E27FC236}">
                <a16:creationId xmlns:a16="http://schemas.microsoft.com/office/drawing/2014/main" id="{0E36E0A9-895F-46D1-8BAF-43C49B831F4D}"/>
              </a:ext>
            </a:extLst>
          </p:cNvPr>
          <p:cNvSpPr>
            <a:spLocks xmlns:a="http://schemas.openxmlformats.org/drawingml/2006/main" noGrp="1"/>
          </p:cNvSpPr>
          <p:nvPr/>
        </p:nvSpPr>
        <p:spPr>
          <a:xfrm xmlns:a="http://schemas.openxmlformats.org/drawingml/2006/main">
            <a:off x="609600" y="47053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19 / KAMIS</a:t>
            </a:r>
          </a:p>
        </p:txBody>
      </p:sp>
      <p:sp>
        <p:nvSpPr>
          <p:cNvPr id="36" name="text-120">
            <a:extLst xmlns:a="http://schemas.openxmlformats.org/drawingml/2006/main">
              <a:ext uri="{FF2B5EF4-FFF2-40B4-BE49-F238E27FC236}">
                <a16:creationId xmlns:a16="http://schemas.microsoft.com/office/drawing/2014/main" id="{A597DB78-A23B-4E21-B501-0E8DA1B198E0}"/>
              </a:ext>
            </a:extLst>
          </p:cNvPr>
          <p:cNvSpPr>
            <a:spLocks xmlns:a="http://schemas.openxmlformats.org/drawingml/2006/main" noGrp="1"/>
          </p:cNvSpPr>
          <p:nvPr/>
        </p:nvSpPr>
        <p:spPr>
          <a:xfrm xmlns:a="http://schemas.openxmlformats.org/drawingml/2006/main">
            <a:off x="3009900" y="47053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Daniel Sidik</a:t>
            </a:r>
          </a:p>
        </p:txBody>
      </p:sp>
      <p:sp>
        <p:nvSpPr>
          <p:cNvPr id="37" name="text-121">
            <a:extLst xmlns:a="http://schemas.openxmlformats.org/drawingml/2006/main">
              <a:ext uri="{FF2B5EF4-FFF2-40B4-BE49-F238E27FC236}">
                <a16:creationId xmlns:a16="http://schemas.microsoft.com/office/drawing/2014/main" id="{95EDDA2E-E5FD-44B6-B31A-0D007763EAD4}"/>
              </a:ext>
            </a:extLst>
          </p:cNvPr>
          <p:cNvSpPr>
            <a:spLocks xmlns:a="http://schemas.openxmlformats.org/drawingml/2006/main" noGrp="1"/>
          </p:cNvSpPr>
          <p:nvPr/>
        </p:nvSpPr>
        <p:spPr>
          <a:xfrm xmlns:a="http://schemas.openxmlformats.org/drawingml/2006/main">
            <a:off x="6191250" y="47244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Jago Coffee</a:t>
            </a:r>
          </a:p>
        </p:txBody>
      </p:sp>
      <p:sp>
        <p:nvSpPr>
          <p:cNvPr id="38" name="text-122">
            <a:extLst xmlns:a="http://schemas.openxmlformats.org/drawingml/2006/main">
              <a:ext uri="{FF2B5EF4-FFF2-40B4-BE49-F238E27FC236}">
                <a16:creationId xmlns:a16="http://schemas.microsoft.com/office/drawing/2014/main" id="{CE5492BE-1D04-4C84-AEC2-9F55E221BC11}"/>
              </a:ext>
            </a:extLst>
          </p:cNvPr>
          <p:cNvSpPr>
            <a:spLocks xmlns:a="http://schemas.openxmlformats.org/drawingml/2006/main" noGrp="1"/>
          </p:cNvSpPr>
          <p:nvPr/>
        </p:nvSpPr>
        <p:spPr>
          <a:xfrm xmlns:a="http://schemas.openxmlformats.org/drawingml/2006/main">
            <a:off x="9172575" y="47148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Operations</a:t>
            </a:r>
          </a:p>
        </p:txBody>
      </p:sp>
      <p:sp>
        <p:nvSpPr>
          <p:cNvPr id="39" name="">
            <a:extLst xmlns:a="http://schemas.openxmlformats.org/drawingml/2006/main">
              <a:ext uri="{FF2B5EF4-FFF2-40B4-BE49-F238E27FC236}">
                <a16:creationId xmlns:a16="http://schemas.microsoft.com/office/drawing/2014/main" id="{6E034C0E-0F61-42E4-8B4B-13C266CC7B7D}"/>
              </a:ext>
            </a:extLst>
          </p:cNvPr>
          <p:cNvSpPr>
            <a:spLocks xmlns:a="http://schemas.openxmlformats.org/drawingml/2006/main" noGrp="1"/>
          </p:cNvSpPr>
          <p:nvPr/>
        </p:nvSpPr>
        <p:spPr>
          <a:xfrm xmlns:a="http://schemas.openxmlformats.org/drawingml/2006/main">
            <a:off x="609600" y="50482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40" name="text-123">
            <a:extLst xmlns:a="http://schemas.openxmlformats.org/drawingml/2006/main">
              <a:ext uri="{FF2B5EF4-FFF2-40B4-BE49-F238E27FC236}">
                <a16:creationId xmlns:a16="http://schemas.microsoft.com/office/drawing/2014/main" id="{31582CA4-BF73-45DF-B368-5577097E83E3}"/>
              </a:ext>
            </a:extLst>
          </p:cNvPr>
          <p:cNvSpPr>
            <a:spLocks xmlns:a="http://schemas.openxmlformats.org/drawingml/2006/main" noGrp="1"/>
          </p:cNvSpPr>
          <p:nvPr/>
        </p:nvSpPr>
        <p:spPr>
          <a:xfrm xmlns:a="http://schemas.openxmlformats.org/drawingml/2006/main">
            <a:off x="609600" y="51244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24 / SELASA</a:t>
            </a:r>
          </a:p>
        </p:txBody>
      </p:sp>
      <p:sp>
        <p:nvSpPr>
          <p:cNvPr id="41" name="text-124">
            <a:extLst xmlns:a="http://schemas.openxmlformats.org/drawingml/2006/main">
              <a:ext uri="{FF2B5EF4-FFF2-40B4-BE49-F238E27FC236}">
                <a16:creationId xmlns:a16="http://schemas.microsoft.com/office/drawing/2014/main" id="{BE4E5BE0-5EB6-4EA0-9393-DD3BA4906CFD}"/>
              </a:ext>
            </a:extLst>
          </p:cNvPr>
          <p:cNvSpPr>
            <a:spLocks xmlns:a="http://schemas.openxmlformats.org/drawingml/2006/main" noGrp="1"/>
          </p:cNvSpPr>
          <p:nvPr/>
        </p:nvSpPr>
        <p:spPr>
          <a:xfrm xmlns:a="http://schemas.openxmlformats.org/drawingml/2006/main">
            <a:off x="3009900" y="51244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Daniel Liu</a:t>
            </a:r>
          </a:p>
        </p:txBody>
      </p:sp>
      <p:sp>
        <p:nvSpPr>
          <p:cNvPr id="42" name="text-125">
            <a:extLst xmlns:a="http://schemas.openxmlformats.org/drawingml/2006/main">
              <a:ext uri="{FF2B5EF4-FFF2-40B4-BE49-F238E27FC236}">
                <a16:creationId xmlns:a16="http://schemas.microsoft.com/office/drawing/2014/main" id="{9A34CA74-E3DE-4EC9-B180-A8B81C40DBB9}"/>
              </a:ext>
            </a:extLst>
          </p:cNvPr>
          <p:cNvSpPr>
            <a:spLocks xmlns:a="http://schemas.openxmlformats.org/drawingml/2006/main" noGrp="1"/>
          </p:cNvSpPr>
          <p:nvPr/>
        </p:nvSpPr>
        <p:spPr>
          <a:xfrm xmlns:a="http://schemas.openxmlformats.org/drawingml/2006/main">
            <a:off x="6191250" y="51435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Rocketindo</a:t>
            </a:r>
          </a:p>
        </p:txBody>
      </p:sp>
      <p:sp>
        <p:nvSpPr>
          <p:cNvPr id="43" name="text-126">
            <a:extLst xmlns:a="http://schemas.openxmlformats.org/drawingml/2006/main">
              <a:ext uri="{FF2B5EF4-FFF2-40B4-BE49-F238E27FC236}">
                <a16:creationId xmlns:a16="http://schemas.microsoft.com/office/drawing/2014/main" id="{C6801AF0-C9D3-4CAD-ACD2-FE76202377AD}"/>
              </a:ext>
            </a:extLst>
          </p:cNvPr>
          <p:cNvSpPr>
            <a:spLocks xmlns:a="http://schemas.openxmlformats.org/drawingml/2006/main" noGrp="1"/>
          </p:cNvSpPr>
          <p:nvPr/>
        </p:nvSpPr>
        <p:spPr>
          <a:xfrm xmlns:a="http://schemas.openxmlformats.org/drawingml/2006/main">
            <a:off x="9172575" y="51339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Finance</a:t>
            </a:r>
          </a:p>
        </p:txBody>
      </p:sp>
      <p:sp>
        <p:nvSpPr>
          <p:cNvPr id="44" name="">
            <a:extLst xmlns:a="http://schemas.openxmlformats.org/drawingml/2006/main">
              <a:ext uri="{FF2B5EF4-FFF2-40B4-BE49-F238E27FC236}">
                <a16:creationId xmlns:a16="http://schemas.microsoft.com/office/drawing/2014/main" id="{1408041E-F2F5-40AA-957F-804B81A8D446}"/>
              </a:ext>
            </a:extLst>
          </p:cNvPr>
          <p:cNvSpPr>
            <a:spLocks xmlns:a="http://schemas.openxmlformats.org/drawingml/2006/main" noGrp="1"/>
          </p:cNvSpPr>
          <p:nvPr/>
        </p:nvSpPr>
        <p:spPr>
          <a:xfrm xmlns:a="http://schemas.openxmlformats.org/drawingml/2006/main">
            <a:off x="609600" y="54673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45" name="text-127">
            <a:extLst xmlns:a="http://schemas.openxmlformats.org/drawingml/2006/main">
              <a:ext uri="{FF2B5EF4-FFF2-40B4-BE49-F238E27FC236}">
                <a16:creationId xmlns:a16="http://schemas.microsoft.com/office/drawing/2014/main" id="{5F0420E6-1B98-464D-B9DF-E43E2B38C1BB}"/>
              </a:ext>
            </a:extLst>
          </p:cNvPr>
          <p:cNvSpPr>
            <a:spLocks xmlns:a="http://schemas.openxmlformats.org/drawingml/2006/main" noGrp="1"/>
          </p:cNvSpPr>
          <p:nvPr/>
        </p:nvSpPr>
        <p:spPr>
          <a:xfrm xmlns:a="http://schemas.openxmlformats.org/drawingml/2006/main">
            <a:off x="609600" y="5543550"/>
            <a:ext cx="2238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23F32"/>
                </a:solidFill>
                <a:latin typeface="Calibri"/>
                <a:ea typeface="Calibri"/>
                <a:cs typeface="Calibri"/>
              </a:defRPr>
            </a:pPr>
            <a:r>
              <a:rPr sz="1500" b="1">
                <a:solidFill>
                  <a:srgbClr val="123F32"/>
                </a:solidFill>
                <a:latin typeface="Calibri"/>
                <a:ea typeface="Calibri"/>
                <a:cs typeface="Calibri"/>
              </a:rPr>
              <a:t>26 / KAMIS</a:t>
            </a:r>
          </a:p>
        </p:txBody>
      </p:sp>
      <p:sp>
        <p:nvSpPr>
          <p:cNvPr id="46" name="text-128">
            <a:extLst xmlns:a="http://schemas.openxmlformats.org/drawingml/2006/main">
              <a:ext uri="{FF2B5EF4-FFF2-40B4-BE49-F238E27FC236}">
                <a16:creationId xmlns:a16="http://schemas.microsoft.com/office/drawing/2014/main" id="{4F43C496-A88D-4D12-BA30-06C6C544A80A}"/>
              </a:ext>
            </a:extLst>
          </p:cNvPr>
          <p:cNvSpPr>
            <a:spLocks xmlns:a="http://schemas.openxmlformats.org/drawingml/2006/main" noGrp="1"/>
          </p:cNvSpPr>
          <p:nvPr/>
        </p:nvSpPr>
        <p:spPr>
          <a:xfrm xmlns:a="http://schemas.openxmlformats.org/drawingml/2006/main">
            <a:off x="3009900" y="5543550"/>
            <a:ext cx="320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Winston Utomo</a:t>
            </a:r>
          </a:p>
        </p:txBody>
      </p:sp>
      <p:sp>
        <p:nvSpPr>
          <p:cNvPr id="47" name="text-129">
            <a:extLst xmlns:a="http://schemas.openxmlformats.org/drawingml/2006/main">
              <a:ext uri="{FF2B5EF4-FFF2-40B4-BE49-F238E27FC236}">
                <a16:creationId xmlns:a16="http://schemas.microsoft.com/office/drawing/2014/main" id="{18BEF4B3-3C99-4FAD-BA63-338E09D74E7E}"/>
              </a:ext>
            </a:extLst>
          </p:cNvPr>
          <p:cNvSpPr>
            <a:spLocks xmlns:a="http://schemas.openxmlformats.org/drawingml/2006/main" noGrp="1"/>
          </p:cNvSpPr>
          <p:nvPr/>
        </p:nvSpPr>
        <p:spPr>
          <a:xfrm xmlns:a="http://schemas.openxmlformats.org/drawingml/2006/main">
            <a:off x="6191250" y="55626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6746B"/>
                </a:solidFill>
                <a:latin typeface="Calibri"/>
                <a:ea typeface="Calibri"/>
                <a:cs typeface="Calibri"/>
              </a:defRPr>
            </a:pPr>
            <a:r>
              <a:rPr sz="1275" b="0">
                <a:solidFill>
                  <a:srgbClr val="66746B"/>
                </a:solidFill>
                <a:latin typeface="Calibri"/>
                <a:ea typeface="Calibri"/>
                <a:cs typeface="Calibri"/>
              </a:rPr>
              <a:t>IDN</a:t>
            </a:r>
          </a:p>
        </p:txBody>
      </p:sp>
      <p:sp>
        <p:nvSpPr>
          <p:cNvPr id="48" name="text-130">
            <a:extLst xmlns:a="http://schemas.openxmlformats.org/drawingml/2006/main">
              <a:ext uri="{FF2B5EF4-FFF2-40B4-BE49-F238E27FC236}">
                <a16:creationId xmlns:a16="http://schemas.microsoft.com/office/drawing/2014/main" id="{E20E6A58-947A-461C-A46F-2970615655A0}"/>
              </a:ext>
            </a:extLst>
          </p:cNvPr>
          <p:cNvSpPr>
            <a:spLocks xmlns:a="http://schemas.openxmlformats.org/drawingml/2006/main" noGrp="1"/>
          </p:cNvSpPr>
          <p:nvPr/>
        </p:nvSpPr>
        <p:spPr>
          <a:xfrm xmlns:a="http://schemas.openxmlformats.org/drawingml/2006/main">
            <a:off x="9172575" y="55530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93D34"/>
                </a:solidFill>
                <a:latin typeface="Calibri"/>
                <a:ea typeface="Calibri"/>
                <a:cs typeface="Calibri"/>
              </a:defRPr>
            </a:pPr>
            <a:r>
              <a:rPr sz="1500" b="0">
                <a:solidFill>
                  <a:srgbClr val="293D34"/>
                </a:solidFill>
                <a:latin typeface="Calibri"/>
                <a:ea typeface="Calibri"/>
                <a:cs typeface="Calibri"/>
              </a:rPr>
              <a:t>Scale</a:t>
            </a:r>
          </a:p>
        </p:txBody>
      </p:sp>
      <p:sp>
        <p:nvSpPr>
          <p:cNvPr id="49" name="">
            <a:extLst xmlns:a="http://schemas.openxmlformats.org/drawingml/2006/main">
              <a:ext uri="{FF2B5EF4-FFF2-40B4-BE49-F238E27FC236}">
                <a16:creationId xmlns:a16="http://schemas.microsoft.com/office/drawing/2014/main" id="{25740261-726C-4F1C-AD9A-F94853EE2CB1}"/>
              </a:ext>
            </a:extLst>
          </p:cNvPr>
          <p:cNvSpPr>
            <a:spLocks xmlns:a="http://schemas.openxmlformats.org/drawingml/2006/main" noGrp="1"/>
          </p:cNvSpPr>
          <p:nvPr/>
        </p:nvSpPr>
        <p:spPr>
          <a:xfrm xmlns:a="http://schemas.openxmlformats.org/drawingml/2006/main">
            <a:off x="609600" y="58864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0" name="text-131">
            <a:extLst xmlns:a="http://schemas.openxmlformats.org/drawingml/2006/main">
              <a:ext uri="{FF2B5EF4-FFF2-40B4-BE49-F238E27FC236}">
                <a16:creationId xmlns:a16="http://schemas.microsoft.com/office/drawing/2014/main" id="{0494602F-2C02-4E00-87F0-6C5C3EA83B29}"/>
              </a:ext>
            </a:extLst>
          </p:cNvPr>
          <p:cNvSpPr>
            <a:spLocks xmlns:a="http://schemas.openxmlformats.org/drawingml/2006/main" noGrp="1"/>
          </p:cNvSpPr>
          <p:nvPr/>
        </p:nvSpPr>
        <p:spPr>
          <a:xfrm xmlns:a="http://schemas.openxmlformats.org/drawingml/2006/main">
            <a:off x="609600" y="6067425"/>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23F32"/>
                </a:solidFill>
                <a:latin typeface="Calibri"/>
                <a:ea typeface="Calibri"/>
                <a:cs typeface="Calibri"/>
              </a:defRPr>
            </a:pPr>
            <a:r>
              <a:rPr sz="1575" b="1">
                <a:solidFill>
                  <a:srgbClr val="123F32"/>
                </a:solidFill>
                <a:latin typeface="Calibri"/>
                <a:ea typeface="Calibri"/>
                <a:cs typeface="Calibri"/>
              </a:rPr>
              <a:t>Urutan modul tetap. Speaker pengganti harus bisa membawa case yang sesuai.</a:t>
            </a:r>
          </a:p>
        </p:txBody>
      </p:sp>
    </p:spTree>
    <p:extLst>
      <p:ext uri="{BB962C8B-B14F-4D97-AF65-F5344CB8AC3E}">
        <p14:creationId xmlns:p14="http://schemas.microsoft.com/office/powerpoint/2010/main" val="1466399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32">
            <a:extLst xmlns:a="http://schemas.openxmlformats.org/drawingml/2006/main">
              <a:ext uri="{FF2B5EF4-FFF2-40B4-BE49-F238E27FC236}">
                <a16:creationId xmlns:a16="http://schemas.microsoft.com/office/drawing/2014/main" id="{A6D7AE3F-DC6C-4249-8446-131F8677DD2D}"/>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TOR &amp; PROPOSAL</a:t>
            </a:r>
          </a:p>
        </p:txBody>
      </p:sp>
      <p:sp>
        <p:nvSpPr>
          <p:cNvPr id="2" name="text-133">
            <a:extLst xmlns:a="http://schemas.openxmlformats.org/drawingml/2006/main">
              <a:ext uri="{FF2B5EF4-FFF2-40B4-BE49-F238E27FC236}">
                <a16:creationId xmlns:a16="http://schemas.microsoft.com/office/drawing/2014/main" id="{8C43D5BD-FE29-481F-9D57-EED748703AB7}"/>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CMC menyiapkan kasus, speaker membawa pengalaman</a:t>
            </a:r>
          </a:p>
        </p:txBody>
      </p:sp>
      <p:sp>
        <p:nvSpPr>
          <p:cNvPr id="3" name="text-134">
            <a:extLst xmlns:a="http://schemas.openxmlformats.org/drawingml/2006/main">
              <a:ext uri="{FF2B5EF4-FFF2-40B4-BE49-F238E27FC236}">
                <a16:creationId xmlns:a16="http://schemas.microsoft.com/office/drawing/2014/main" id="{E2D820DD-38EE-4D4D-A0C4-CAAA2C94F0BA}"/>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Tujuan: membantu member mengambil keputusan bisnis dari delapan modul yang sudah dipelajari.</a:t>
            </a:r>
          </a:p>
        </p:txBody>
      </p:sp>
      <p:sp>
        <p:nvSpPr>
          <p:cNvPr id="4" name="">
            <a:extLst xmlns:a="http://schemas.openxmlformats.org/drawingml/2006/main">
              <a:ext uri="{FF2B5EF4-FFF2-40B4-BE49-F238E27FC236}">
                <a16:creationId xmlns:a16="http://schemas.microsoft.com/office/drawing/2014/main" id="{A8608DE6-6A39-4DFB-898A-B3D5A524303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35">
            <a:extLst xmlns:a="http://schemas.openxmlformats.org/drawingml/2006/main">
              <a:ext uri="{FF2B5EF4-FFF2-40B4-BE49-F238E27FC236}">
                <a16:creationId xmlns:a16="http://schemas.microsoft.com/office/drawing/2014/main" id="{62BD1C2F-89AE-4275-BD95-F3CAC9681869}"/>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Rancangan TOR dan proposal internal CMC. Scope, fee dan hak penggunaan materi dikonfirmasi tertulis.</a:t>
            </a:r>
          </a:p>
        </p:txBody>
      </p:sp>
      <p:sp>
        <p:nvSpPr>
          <p:cNvPr id="6" name="text-136">
            <a:extLst xmlns:a="http://schemas.openxmlformats.org/drawingml/2006/main">
              <a:ext uri="{FF2B5EF4-FFF2-40B4-BE49-F238E27FC236}">
                <a16:creationId xmlns:a16="http://schemas.microsoft.com/office/drawing/2014/main" id="{5DAFB2F9-9764-46DF-9B7C-A4BCD2A2FFA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07</a:t>
            </a:r>
          </a:p>
        </p:txBody>
      </p:sp>
      <p:sp>
        <p:nvSpPr>
          <p:cNvPr id="7" name="text-137">
            <a:extLst xmlns:a="http://schemas.openxmlformats.org/drawingml/2006/main">
              <a:ext uri="{FF2B5EF4-FFF2-40B4-BE49-F238E27FC236}">
                <a16:creationId xmlns:a16="http://schemas.microsoft.com/office/drawing/2014/main" id="{080676ED-20DA-42D3-A279-F8E083545D9B}"/>
              </a:ext>
            </a:extLst>
          </p:cNvPr>
          <p:cNvSpPr>
            <a:spLocks xmlns:a="http://schemas.openxmlformats.org/drawingml/2006/main" noGrp="1"/>
          </p:cNvSpPr>
          <p:nvPr/>
        </p:nvSpPr>
        <p:spPr>
          <a:xfrm xmlns:a="http://schemas.openxmlformats.org/drawingml/2006/main">
            <a:off x="609600" y="2390775"/>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CMC SIAPKAN</a:t>
            </a:r>
          </a:p>
        </p:txBody>
      </p:sp>
      <p:sp>
        <p:nvSpPr>
          <p:cNvPr id="8" name="text-138">
            <a:extLst xmlns:a="http://schemas.openxmlformats.org/drawingml/2006/main">
              <a:ext uri="{FF2B5EF4-FFF2-40B4-BE49-F238E27FC236}">
                <a16:creationId xmlns:a16="http://schemas.microsoft.com/office/drawing/2014/main" id="{BD7C7CEE-9660-4A5A-8930-F45FF91CB675}"/>
              </a:ext>
            </a:extLst>
          </p:cNvPr>
          <p:cNvSpPr>
            <a:spLocks xmlns:a="http://schemas.openxmlformats.org/drawingml/2006/main" noGrp="1"/>
          </p:cNvSpPr>
          <p:nvPr/>
        </p:nvSpPr>
        <p:spPr>
          <a:xfrm xmlns:a="http://schemas.openxmlformats.org/drawingml/2006/main">
            <a:off x="609600" y="2914650"/>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Proposal undangan</a:t>
            </a:r>
          </a:p>
        </p:txBody>
      </p:sp>
      <p:sp>
        <p:nvSpPr>
          <p:cNvPr id="9" name="text-139">
            <a:extLst xmlns:a="http://schemas.openxmlformats.org/drawingml/2006/main">
              <a:ext uri="{FF2B5EF4-FFF2-40B4-BE49-F238E27FC236}">
                <a16:creationId xmlns:a16="http://schemas.microsoft.com/office/drawing/2014/main" id="{7597D63F-D5CD-4135-9C51-516746346B6E}"/>
              </a:ext>
            </a:extLst>
          </p:cNvPr>
          <p:cNvSpPr>
            <a:spLocks xmlns:a="http://schemas.openxmlformats.org/drawingml/2006/main" noGrp="1"/>
          </p:cNvSpPr>
          <p:nvPr/>
        </p:nvSpPr>
        <p:spPr>
          <a:xfrm xmlns:a="http://schemas.openxmlformats.org/drawingml/2006/main">
            <a:off x="609600" y="3276600"/>
            <a:ext cx="600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Tujuan, profil peserta, topik, jadwal dan budget</a:t>
            </a:r>
          </a:p>
        </p:txBody>
      </p:sp>
      <p:sp>
        <p:nvSpPr>
          <p:cNvPr id="10" name="text-140">
            <a:extLst xmlns:a="http://schemas.openxmlformats.org/drawingml/2006/main">
              <a:ext uri="{FF2B5EF4-FFF2-40B4-BE49-F238E27FC236}">
                <a16:creationId xmlns:a16="http://schemas.microsoft.com/office/drawing/2014/main" id="{331D12F4-4225-4D01-9FC2-EB7266D43863}"/>
              </a:ext>
            </a:extLst>
          </p:cNvPr>
          <p:cNvSpPr>
            <a:spLocks xmlns:a="http://schemas.openxmlformats.org/drawingml/2006/main" noGrp="1"/>
          </p:cNvSpPr>
          <p:nvPr/>
        </p:nvSpPr>
        <p:spPr>
          <a:xfrm xmlns:a="http://schemas.openxmlformats.org/drawingml/2006/main">
            <a:off x="609600" y="3781425"/>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TOR per sesi</a:t>
            </a:r>
          </a:p>
        </p:txBody>
      </p:sp>
      <p:sp>
        <p:nvSpPr>
          <p:cNvPr id="11" name="text-141">
            <a:extLst xmlns:a="http://schemas.openxmlformats.org/drawingml/2006/main">
              <a:ext uri="{FF2B5EF4-FFF2-40B4-BE49-F238E27FC236}">
                <a16:creationId xmlns:a16="http://schemas.microsoft.com/office/drawing/2014/main" id="{1278CF4E-DE23-4851-BE9A-276FFAC30D89}"/>
              </a:ext>
            </a:extLst>
          </p:cNvPr>
          <p:cNvSpPr>
            <a:spLocks xmlns:a="http://schemas.openxmlformats.org/drawingml/2006/main" noGrp="1"/>
          </p:cNvSpPr>
          <p:nvPr/>
        </p:nvSpPr>
        <p:spPr>
          <a:xfrm xmlns:a="http://schemas.openxmlformats.org/drawingml/2006/main">
            <a:off x="609600" y="4143375"/>
            <a:ext cx="600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Angle kasus, alur 90 menit dan shortlist pertanyaan</a:t>
            </a:r>
          </a:p>
        </p:txBody>
      </p:sp>
      <p:sp>
        <p:nvSpPr>
          <p:cNvPr id="12" name="text-142">
            <a:extLst xmlns:a="http://schemas.openxmlformats.org/drawingml/2006/main">
              <a:ext uri="{FF2B5EF4-FFF2-40B4-BE49-F238E27FC236}">
                <a16:creationId xmlns:a16="http://schemas.microsoft.com/office/drawing/2014/main" id="{6341C30E-0CBA-4E6B-ABC4-7A9D9984DB98}"/>
              </a:ext>
            </a:extLst>
          </p:cNvPr>
          <p:cNvSpPr>
            <a:spLocks xmlns:a="http://schemas.openxmlformats.org/drawingml/2006/main" noGrp="1"/>
          </p:cNvSpPr>
          <p:nvPr/>
        </p:nvSpPr>
        <p:spPr>
          <a:xfrm xmlns:a="http://schemas.openxmlformats.org/drawingml/2006/main">
            <a:off x="609600" y="4648200"/>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Konfirmasi speaker</a:t>
            </a:r>
          </a:p>
        </p:txBody>
      </p:sp>
      <p:sp>
        <p:nvSpPr>
          <p:cNvPr id="13" name="text-143">
            <a:extLst xmlns:a="http://schemas.openxmlformats.org/drawingml/2006/main">
              <a:ext uri="{FF2B5EF4-FFF2-40B4-BE49-F238E27FC236}">
                <a16:creationId xmlns:a16="http://schemas.microsoft.com/office/drawing/2014/main" id="{9AB73191-5E0C-4BA4-BE2B-B998CA003547}"/>
              </a:ext>
            </a:extLst>
          </p:cNvPr>
          <p:cNvSpPr>
            <a:spLocks xmlns:a="http://schemas.openxmlformats.org/drawingml/2006/main" noGrp="1"/>
          </p:cNvSpPr>
          <p:nvPr/>
        </p:nvSpPr>
        <p:spPr>
          <a:xfrm xmlns:a="http://schemas.openxmlformats.org/drawingml/2006/main">
            <a:off x="609600" y="5010150"/>
            <a:ext cx="600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Fee gross/nett, pembayaran, recording dan foto</a:t>
            </a:r>
          </a:p>
        </p:txBody>
      </p:sp>
      <p:sp>
        <p:nvSpPr>
          <p:cNvPr id="14" name="text-144">
            <a:extLst xmlns:a="http://schemas.openxmlformats.org/drawingml/2006/main">
              <a:ext uri="{FF2B5EF4-FFF2-40B4-BE49-F238E27FC236}">
                <a16:creationId xmlns:a16="http://schemas.microsoft.com/office/drawing/2014/main" id="{B8028269-2630-4715-BD0D-E812185EB423}"/>
              </a:ext>
            </a:extLst>
          </p:cNvPr>
          <p:cNvSpPr>
            <a:spLocks xmlns:a="http://schemas.openxmlformats.org/drawingml/2006/main" noGrp="1"/>
          </p:cNvSpPr>
          <p:nvPr/>
        </p:nvSpPr>
        <p:spPr>
          <a:xfrm xmlns:a="http://schemas.openxmlformats.org/drawingml/2006/main">
            <a:off x="7620000" y="2390775"/>
            <a:ext cx="388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KOMITMEN SPEAKER</a:t>
            </a:r>
          </a:p>
        </p:txBody>
      </p:sp>
      <p:sp>
        <p:nvSpPr>
          <p:cNvPr id="15" name="text-145">
            <a:extLst xmlns:a="http://schemas.openxmlformats.org/drawingml/2006/main">
              <a:ext uri="{FF2B5EF4-FFF2-40B4-BE49-F238E27FC236}">
                <a16:creationId xmlns:a16="http://schemas.microsoft.com/office/drawing/2014/main" id="{0A44530A-C32B-42AB-8C1D-9336C699A55E}"/>
              </a:ext>
            </a:extLst>
          </p:cNvPr>
          <p:cNvSpPr>
            <a:spLocks xmlns:a="http://schemas.openxmlformats.org/drawingml/2006/main" noGrp="1"/>
          </p:cNvSpPr>
          <p:nvPr/>
        </p:nvSpPr>
        <p:spPr>
          <a:xfrm xmlns:a="http://schemas.openxmlformats.org/drawingml/2006/main">
            <a:off x="7620000" y="2867025"/>
            <a:ext cx="3933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120–125 menit</a:t>
            </a:r>
          </a:p>
        </p:txBody>
      </p:sp>
      <p:sp>
        <p:nvSpPr>
          <p:cNvPr id="16" name="text-146">
            <a:extLst xmlns:a="http://schemas.openxmlformats.org/drawingml/2006/main">
              <a:ext uri="{FF2B5EF4-FFF2-40B4-BE49-F238E27FC236}">
                <a16:creationId xmlns:a16="http://schemas.microsoft.com/office/drawing/2014/main" id="{A0F31182-FCF1-4051-93FE-361A0209A2EA}"/>
              </a:ext>
            </a:extLst>
          </p:cNvPr>
          <p:cNvSpPr>
            <a:spLocks xmlns:a="http://schemas.openxmlformats.org/drawingml/2006/main" noGrp="1"/>
          </p:cNvSpPr>
          <p:nvPr/>
        </p:nvSpPr>
        <p:spPr>
          <a:xfrm xmlns:a="http://schemas.openxmlformats.org/drawingml/2006/main">
            <a:off x="7620000" y="3686175"/>
            <a:ext cx="38766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20–25 menit briefing</a:t>
            </a:r>
          </a:p>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10 menit backstage</a:t>
            </a:r>
          </a:p>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90 menit live</a:t>
            </a:r>
          </a:p>
        </p:txBody>
      </p:sp>
      <p:sp>
        <p:nvSpPr>
          <p:cNvPr id="17" name="">
            <a:extLst xmlns:a="http://schemas.openxmlformats.org/drawingml/2006/main">
              <a:ext uri="{FF2B5EF4-FFF2-40B4-BE49-F238E27FC236}">
                <a16:creationId xmlns:a16="http://schemas.microsoft.com/office/drawing/2014/main" id="{0CE5D1E2-B758-4980-BC89-38D2BE52BC02}"/>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8" name="text-147">
            <a:extLst xmlns:a="http://schemas.openxmlformats.org/drawingml/2006/main">
              <a:ext uri="{FF2B5EF4-FFF2-40B4-BE49-F238E27FC236}">
                <a16:creationId xmlns:a16="http://schemas.microsoft.com/office/drawing/2014/main" id="{2EBCCBC6-3938-48FD-8C4C-297233D1F9D4}"/>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Output tiap sesi: rekaman berizin, rangkuman keputusan, dan satu action plan peserta.</a:t>
            </a:r>
          </a:p>
        </p:txBody>
      </p:sp>
    </p:spTree>
    <p:extLst>
      <p:ext uri="{BB962C8B-B14F-4D97-AF65-F5344CB8AC3E}">
        <p14:creationId xmlns:p14="http://schemas.microsoft.com/office/powerpoint/2010/main" val="12115500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148">
            <a:extLst xmlns:a="http://schemas.openxmlformats.org/drawingml/2006/main">
              <a:ext uri="{FF2B5EF4-FFF2-40B4-BE49-F238E27FC236}">
                <a16:creationId xmlns:a16="http://schemas.microsoft.com/office/drawing/2014/main" id="{FA98A606-BA9B-43DA-B27A-5CA7F7670D9F}"/>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TOOLS &amp; PELAKSANAAN</a:t>
            </a:r>
          </a:p>
        </p:txBody>
      </p:sp>
      <p:sp>
        <p:nvSpPr>
          <p:cNvPr id="2" name="text-149">
            <a:extLst xmlns:a="http://schemas.openxmlformats.org/drawingml/2006/main">
              <a:ext uri="{FF2B5EF4-FFF2-40B4-BE49-F238E27FC236}">
                <a16:creationId xmlns:a16="http://schemas.microsoft.com/office/drawing/2014/main" id="{A0DC4188-1883-47F4-8FDE-C007809E6C2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Tools yang dibutuhkan cukup sederhana</a:t>
            </a:r>
          </a:p>
        </p:txBody>
      </p:sp>
      <p:sp>
        <p:nvSpPr>
          <p:cNvPr id="3" name="text-150">
            <a:extLst xmlns:a="http://schemas.openxmlformats.org/drawingml/2006/main">
              <a:ext uri="{FF2B5EF4-FFF2-40B4-BE49-F238E27FC236}">
                <a16:creationId xmlns:a16="http://schemas.microsoft.com/office/drawing/2014/main" id="{A3B773DC-5C54-4F79-AC51-D254E2BD0E60}"/>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Gunakan tools dan tim yang sudah ada. Biaya tunai utama tetap honor speaker dan Zoom.</a:t>
            </a:r>
          </a:p>
        </p:txBody>
      </p:sp>
      <p:sp>
        <p:nvSpPr>
          <p:cNvPr id="4" name="">
            <a:extLst xmlns:a="http://schemas.openxmlformats.org/drawingml/2006/main">
              <a:ext uri="{FF2B5EF4-FFF2-40B4-BE49-F238E27FC236}">
                <a16:creationId xmlns:a16="http://schemas.microsoft.com/office/drawing/2014/main" id="{C8826C2C-BAA3-41E4-B440-E473E8BB013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51">
            <a:extLst xmlns:a="http://schemas.openxmlformats.org/drawingml/2006/main">
              <a:ext uri="{FF2B5EF4-FFF2-40B4-BE49-F238E27FC236}">
                <a16:creationId xmlns:a16="http://schemas.microsoft.com/office/drawing/2014/main" id="{9B37895E-BCB1-4C54-B960-2619C765C216}"/>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Rancangan operasional CMC. Lisensi, storage, internet cadangan dan kapasitas tim perlu dicek sebelum pelaksanaan.</a:t>
            </a:r>
          </a:p>
        </p:txBody>
      </p:sp>
      <p:sp>
        <p:nvSpPr>
          <p:cNvPr id="6" name="text-152">
            <a:extLst xmlns:a="http://schemas.openxmlformats.org/drawingml/2006/main">
              <a:ext uri="{FF2B5EF4-FFF2-40B4-BE49-F238E27FC236}">
                <a16:creationId xmlns:a16="http://schemas.microsoft.com/office/drawing/2014/main" id="{7FD6B528-97BE-487E-A97F-A810BCC68777}"/>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08</a:t>
            </a:r>
          </a:p>
        </p:txBody>
      </p:sp>
      <p:sp>
        <p:nvSpPr>
          <p:cNvPr id="7" name="text-153">
            <a:extLst xmlns:a="http://schemas.openxmlformats.org/drawingml/2006/main">
              <a:ext uri="{FF2B5EF4-FFF2-40B4-BE49-F238E27FC236}">
                <a16:creationId xmlns:a16="http://schemas.microsoft.com/office/drawing/2014/main" id="{8CC87391-4FF5-471F-919E-A712939BC0AC}"/>
              </a:ext>
            </a:extLst>
          </p:cNvPr>
          <p:cNvSpPr>
            <a:spLocks xmlns:a="http://schemas.openxmlformats.org/drawingml/2006/main" noGrp="1"/>
          </p:cNvSpPr>
          <p:nvPr/>
        </p:nvSpPr>
        <p:spPr>
          <a:xfrm xmlns:a="http://schemas.openxmlformats.org/drawingml/2006/main">
            <a:off x="609600" y="2552700"/>
            <a:ext cx="3419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F9182"/>
                </a:solidFill>
                <a:latin typeface="Calibri"/>
                <a:ea typeface="Calibri"/>
                <a:cs typeface="Calibri"/>
              </a:defRPr>
            </a:pPr>
            <a:r>
              <a:rPr sz="1350" b="1">
                <a:solidFill>
                  <a:srgbClr val="6F9182"/>
                </a:solidFill>
                <a:latin typeface="Calibri"/>
                <a:ea typeface="Calibri"/>
                <a:cs typeface="Calibri"/>
              </a:rPr>
              <a:t>FORM + SHEET</a:t>
            </a:r>
          </a:p>
        </p:txBody>
      </p:sp>
      <p:sp>
        <p:nvSpPr>
          <p:cNvPr id="8" name="text-154">
            <a:extLst xmlns:a="http://schemas.openxmlformats.org/drawingml/2006/main">
              <a:ext uri="{FF2B5EF4-FFF2-40B4-BE49-F238E27FC236}">
                <a16:creationId xmlns:a16="http://schemas.microsoft.com/office/drawing/2014/main" id="{7695026E-2688-43D4-9478-928F41F7B102}"/>
              </a:ext>
            </a:extLst>
          </p:cNvPr>
          <p:cNvSpPr>
            <a:spLocks xmlns:a="http://schemas.openxmlformats.org/drawingml/2006/main" noGrp="1"/>
          </p:cNvSpPr>
          <p:nvPr/>
        </p:nvSpPr>
        <p:spPr>
          <a:xfrm xmlns:a="http://schemas.openxmlformats.org/drawingml/2006/main">
            <a:off x="609600" y="3000375"/>
            <a:ext cx="3419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Pertanyaan dan case</a:t>
            </a:r>
          </a:p>
        </p:txBody>
      </p:sp>
      <p:sp>
        <p:nvSpPr>
          <p:cNvPr id="9" name="text-155">
            <a:extLst xmlns:a="http://schemas.openxmlformats.org/drawingml/2006/main">
              <a:ext uri="{FF2B5EF4-FFF2-40B4-BE49-F238E27FC236}">
                <a16:creationId xmlns:a16="http://schemas.microsoft.com/office/drawing/2014/main" id="{54901FA2-F719-4FA1-B7DF-8EFE15029985}"/>
              </a:ext>
            </a:extLst>
          </p:cNvPr>
          <p:cNvSpPr>
            <a:spLocks xmlns:a="http://schemas.openxmlformats.org/drawingml/2006/main" noGrp="1"/>
          </p:cNvSpPr>
          <p:nvPr/>
        </p:nvSpPr>
        <p:spPr>
          <a:xfrm xmlns:a="http://schemas.openxmlformats.org/drawingml/2006/main">
            <a:off x="609600" y="3457575"/>
            <a:ext cx="3419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PIC: kurator materi</a:t>
            </a:r>
          </a:p>
        </p:txBody>
      </p:sp>
      <p:sp>
        <p:nvSpPr>
          <p:cNvPr id="10" name="">
            <a:extLst xmlns:a="http://schemas.openxmlformats.org/drawingml/2006/main">
              <a:ext uri="{FF2B5EF4-FFF2-40B4-BE49-F238E27FC236}">
                <a16:creationId xmlns:a16="http://schemas.microsoft.com/office/drawing/2014/main" id="{7754DD77-A2E5-4D1E-8CC2-4D107D5139FF}"/>
              </a:ext>
            </a:extLst>
          </p:cNvPr>
          <p:cNvSpPr>
            <a:spLocks xmlns:a="http://schemas.openxmlformats.org/drawingml/2006/main" noGrp="1"/>
          </p:cNvSpPr>
          <p:nvPr/>
        </p:nvSpPr>
        <p:spPr>
          <a:xfrm xmlns:a="http://schemas.openxmlformats.org/drawingml/2006/main">
            <a:off x="609600" y="3943350"/>
            <a:ext cx="321945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1" name="text-156">
            <a:extLst xmlns:a="http://schemas.openxmlformats.org/drawingml/2006/main">
              <a:ext uri="{FF2B5EF4-FFF2-40B4-BE49-F238E27FC236}">
                <a16:creationId xmlns:a16="http://schemas.microsoft.com/office/drawing/2014/main" id="{9E58E2B7-4829-42F2-8115-F8464ADDCA96}"/>
              </a:ext>
            </a:extLst>
          </p:cNvPr>
          <p:cNvSpPr>
            <a:spLocks xmlns:a="http://schemas.openxmlformats.org/drawingml/2006/main" noGrp="1"/>
          </p:cNvSpPr>
          <p:nvPr/>
        </p:nvSpPr>
        <p:spPr>
          <a:xfrm xmlns:a="http://schemas.openxmlformats.org/drawingml/2006/main">
            <a:off x="4324350" y="2552700"/>
            <a:ext cx="3419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F9182"/>
                </a:solidFill>
                <a:latin typeface="Calibri"/>
                <a:ea typeface="Calibri"/>
                <a:cs typeface="Calibri"/>
              </a:defRPr>
            </a:pPr>
            <a:r>
              <a:rPr sz="1350" b="1">
                <a:solidFill>
                  <a:srgbClr val="6F9182"/>
                </a:solidFill>
                <a:latin typeface="Calibri"/>
                <a:ea typeface="Calibri"/>
                <a:cs typeface="Calibri"/>
              </a:rPr>
              <a:t>ZOOM 1.000</a:t>
            </a:r>
          </a:p>
        </p:txBody>
      </p:sp>
      <p:sp>
        <p:nvSpPr>
          <p:cNvPr id="12" name="text-157">
            <a:extLst xmlns:a="http://schemas.openxmlformats.org/drawingml/2006/main">
              <a:ext uri="{FF2B5EF4-FFF2-40B4-BE49-F238E27FC236}">
                <a16:creationId xmlns:a16="http://schemas.microsoft.com/office/drawing/2014/main" id="{8AF3E9EF-01C5-40AD-9483-DA5FAC580765}"/>
              </a:ext>
            </a:extLst>
          </p:cNvPr>
          <p:cNvSpPr>
            <a:spLocks xmlns:a="http://schemas.openxmlformats.org/drawingml/2006/main" noGrp="1"/>
          </p:cNvSpPr>
          <p:nvPr/>
        </p:nvSpPr>
        <p:spPr>
          <a:xfrm xmlns:a="http://schemas.openxmlformats.org/drawingml/2006/main">
            <a:off x="4324350" y="3000375"/>
            <a:ext cx="3419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Live + recording</a:t>
            </a:r>
          </a:p>
        </p:txBody>
      </p:sp>
      <p:sp>
        <p:nvSpPr>
          <p:cNvPr id="13" name="text-158">
            <a:extLst xmlns:a="http://schemas.openxmlformats.org/drawingml/2006/main">
              <a:ext uri="{FF2B5EF4-FFF2-40B4-BE49-F238E27FC236}">
                <a16:creationId xmlns:a16="http://schemas.microsoft.com/office/drawing/2014/main" id="{BD7EDF87-CA17-4575-8276-5B2E36FFCE5F}"/>
              </a:ext>
            </a:extLst>
          </p:cNvPr>
          <p:cNvSpPr>
            <a:spLocks xmlns:a="http://schemas.openxmlformats.org/drawingml/2006/main" noGrp="1"/>
          </p:cNvSpPr>
          <p:nvPr/>
        </p:nvSpPr>
        <p:spPr>
          <a:xfrm xmlns:a="http://schemas.openxmlformats.org/drawingml/2006/main">
            <a:off x="4324350" y="3457575"/>
            <a:ext cx="3419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PIC: host dan operator</a:t>
            </a:r>
          </a:p>
        </p:txBody>
      </p:sp>
      <p:sp>
        <p:nvSpPr>
          <p:cNvPr id="14" name="">
            <a:extLst xmlns:a="http://schemas.openxmlformats.org/drawingml/2006/main">
              <a:ext uri="{FF2B5EF4-FFF2-40B4-BE49-F238E27FC236}">
                <a16:creationId xmlns:a16="http://schemas.microsoft.com/office/drawing/2014/main" id="{A73E066A-FDD7-493F-A215-550BAFA376A3}"/>
              </a:ext>
            </a:extLst>
          </p:cNvPr>
          <p:cNvSpPr>
            <a:spLocks xmlns:a="http://schemas.openxmlformats.org/drawingml/2006/main" noGrp="1"/>
          </p:cNvSpPr>
          <p:nvPr/>
        </p:nvSpPr>
        <p:spPr>
          <a:xfrm xmlns:a="http://schemas.openxmlformats.org/drawingml/2006/main">
            <a:off x="4324350" y="3943350"/>
            <a:ext cx="321945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159">
            <a:extLst xmlns:a="http://schemas.openxmlformats.org/drawingml/2006/main">
              <a:ext uri="{FF2B5EF4-FFF2-40B4-BE49-F238E27FC236}">
                <a16:creationId xmlns:a16="http://schemas.microsoft.com/office/drawing/2014/main" id="{DF958829-1B8E-441B-B6D0-7BA0884160C6}"/>
              </a:ext>
            </a:extLst>
          </p:cNvPr>
          <p:cNvSpPr>
            <a:spLocks xmlns:a="http://schemas.openxmlformats.org/drawingml/2006/main" noGrp="1"/>
          </p:cNvSpPr>
          <p:nvPr/>
        </p:nvSpPr>
        <p:spPr>
          <a:xfrm xmlns:a="http://schemas.openxmlformats.org/drawingml/2006/main">
            <a:off x="8039100" y="2552700"/>
            <a:ext cx="3419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F9182"/>
                </a:solidFill>
                <a:latin typeface="Calibri"/>
                <a:ea typeface="Calibri"/>
                <a:cs typeface="Calibri"/>
              </a:defRPr>
            </a:pPr>
            <a:r>
              <a:rPr sz="1350" b="1">
                <a:solidFill>
                  <a:srgbClr val="6F9182"/>
                </a:solidFill>
                <a:latin typeface="Calibri"/>
                <a:ea typeface="Calibri"/>
                <a:cs typeface="Calibri"/>
              </a:rPr>
              <a:t>LMS / DRIVE</a:t>
            </a:r>
          </a:p>
        </p:txBody>
      </p:sp>
      <p:sp>
        <p:nvSpPr>
          <p:cNvPr id="16" name="text-160">
            <a:extLst xmlns:a="http://schemas.openxmlformats.org/drawingml/2006/main">
              <a:ext uri="{FF2B5EF4-FFF2-40B4-BE49-F238E27FC236}">
                <a16:creationId xmlns:a16="http://schemas.microsoft.com/office/drawing/2014/main" id="{7A9064FF-EE86-4361-B362-DDB3FAFBB9AD}"/>
              </a:ext>
            </a:extLst>
          </p:cNvPr>
          <p:cNvSpPr>
            <a:spLocks xmlns:a="http://schemas.openxmlformats.org/drawingml/2006/main" noGrp="1"/>
          </p:cNvSpPr>
          <p:nvPr/>
        </p:nvSpPr>
        <p:spPr>
          <a:xfrm xmlns:a="http://schemas.openxmlformats.org/drawingml/2006/main">
            <a:off x="8039100" y="3000375"/>
            <a:ext cx="3419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Rekaman + catatan</a:t>
            </a:r>
          </a:p>
        </p:txBody>
      </p:sp>
      <p:sp>
        <p:nvSpPr>
          <p:cNvPr id="17" name="text-161">
            <a:extLst xmlns:a="http://schemas.openxmlformats.org/drawingml/2006/main">
              <a:ext uri="{FF2B5EF4-FFF2-40B4-BE49-F238E27FC236}">
                <a16:creationId xmlns:a16="http://schemas.microsoft.com/office/drawing/2014/main" id="{983B3D2D-D673-4557-B326-655A918DA854}"/>
              </a:ext>
            </a:extLst>
          </p:cNvPr>
          <p:cNvSpPr>
            <a:spLocks xmlns:a="http://schemas.openxmlformats.org/drawingml/2006/main" noGrp="1"/>
          </p:cNvSpPr>
          <p:nvPr/>
        </p:nvSpPr>
        <p:spPr>
          <a:xfrm xmlns:a="http://schemas.openxmlformats.org/drawingml/2006/main">
            <a:off x="8039100" y="3457575"/>
            <a:ext cx="34194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PIC: admin program</a:t>
            </a:r>
          </a:p>
        </p:txBody>
      </p:sp>
      <p:sp>
        <p:nvSpPr>
          <p:cNvPr id="18" name="">
            <a:extLst xmlns:a="http://schemas.openxmlformats.org/drawingml/2006/main">
              <a:ext uri="{FF2B5EF4-FFF2-40B4-BE49-F238E27FC236}">
                <a16:creationId xmlns:a16="http://schemas.microsoft.com/office/drawing/2014/main" id="{A51FEEEE-9B74-4E3C-8408-C1AEEAD260E5}"/>
              </a:ext>
            </a:extLst>
          </p:cNvPr>
          <p:cNvSpPr>
            <a:spLocks xmlns:a="http://schemas.openxmlformats.org/drawingml/2006/main" noGrp="1"/>
          </p:cNvSpPr>
          <p:nvPr/>
        </p:nvSpPr>
        <p:spPr>
          <a:xfrm xmlns:a="http://schemas.openxmlformats.org/drawingml/2006/main">
            <a:off x="8039100" y="3943350"/>
            <a:ext cx="321945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9" name="text-162">
            <a:extLst xmlns:a="http://schemas.openxmlformats.org/drawingml/2006/main">
              <a:ext uri="{FF2B5EF4-FFF2-40B4-BE49-F238E27FC236}">
                <a16:creationId xmlns:a16="http://schemas.microsoft.com/office/drawing/2014/main" id="{4E24D28A-74A6-425A-8D50-FE1A1A87319B}"/>
              </a:ext>
            </a:extLst>
          </p:cNvPr>
          <p:cNvSpPr>
            <a:spLocks xmlns:a="http://schemas.openxmlformats.org/drawingml/2006/main" noGrp="1"/>
          </p:cNvSpPr>
          <p:nvPr/>
        </p:nvSpPr>
        <p:spPr>
          <a:xfrm xmlns:a="http://schemas.openxmlformats.org/drawingml/2006/main">
            <a:off x="609600" y="4400550"/>
            <a:ext cx="338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Sebelum live</a:t>
            </a:r>
          </a:p>
        </p:txBody>
      </p:sp>
      <p:sp>
        <p:nvSpPr>
          <p:cNvPr id="20" name="text-163">
            <a:extLst xmlns:a="http://schemas.openxmlformats.org/drawingml/2006/main">
              <a:ext uri="{FF2B5EF4-FFF2-40B4-BE49-F238E27FC236}">
                <a16:creationId xmlns:a16="http://schemas.microsoft.com/office/drawing/2014/main" id="{389A7DEE-EDAC-496C-9BFC-48C948D5E8BF}"/>
              </a:ext>
            </a:extLst>
          </p:cNvPr>
          <p:cNvSpPr>
            <a:spLocks xmlns:a="http://schemas.openxmlformats.org/drawingml/2006/main" noGrp="1"/>
          </p:cNvSpPr>
          <p:nvPr/>
        </p:nvSpPr>
        <p:spPr>
          <a:xfrm xmlns:a="http://schemas.openxmlformats.org/drawingml/2006/main">
            <a:off x="609600" y="4829175"/>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3D34"/>
                </a:solidFill>
                <a:latin typeface="Calibri"/>
                <a:ea typeface="Calibri"/>
                <a:cs typeface="Calibri"/>
              </a:defRPr>
            </a:pPr>
            <a:r>
              <a:rPr sz="1800" b="0">
                <a:solidFill>
                  <a:srgbClr val="293D34"/>
                </a:solidFill>
                <a:latin typeface="Calibri"/>
                <a:ea typeface="Calibri"/>
                <a:cs typeface="Calibri"/>
              </a:rPr>
              <a:t>Laptop + headset, internet utama/cadangan, co-host dan uji recording.</a:t>
            </a:r>
          </a:p>
        </p:txBody>
      </p:sp>
      <p:sp>
        <p:nvSpPr>
          <p:cNvPr id="21" name="text-164">
            <a:extLst xmlns:a="http://schemas.openxmlformats.org/drawingml/2006/main">
              <a:ext uri="{FF2B5EF4-FFF2-40B4-BE49-F238E27FC236}">
                <a16:creationId xmlns:a16="http://schemas.microsoft.com/office/drawing/2014/main" id="{B7701684-6AD8-479F-BE29-94E3D8528BC2}"/>
              </a:ext>
            </a:extLst>
          </p:cNvPr>
          <p:cNvSpPr>
            <a:spLocks xmlns:a="http://schemas.openxmlformats.org/drawingml/2006/main" noGrp="1"/>
          </p:cNvSpPr>
          <p:nvPr/>
        </p:nvSpPr>
        <p:spPr>
          <a:xfrm xmlns:a="http://schemas.openxmlformats.org/drawingml/2006/main">
            <a:off x="6610350" y="4400550"/>
            <a:ext cx="4895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Ritme dua sesi seminggu</a:t>
            </a:r>
          </a:p>
        </p:txBody>
      </p:sp>
      <p:sp>
        <p:nvSpPr>
          <p:cNvPr id="22" name="text-165">
            <a:extLst xmlns:a="http://schemas.openxmlformats.org/drawingml/2006/main">
              <a:ext uri="{FF2B5EF4-FFF2-40B4-BE49-F238E27FC236}">
                <a16:creationId xmlns:a16="http://schemas.microsoft.com/office/drawing/2014/main" id="{435895E0-CB10-4F7D-B907-2BC6D5B4AD88}"/>
              </a:ext>
            </a:extLst>
          </p:cNvPr>
          <p:cNvSpPr>
            <a:spLocks xmlns:a="http://schemas.openxmlformats.org/drawingml/2006/main" noGrp="1"/>
          </p:cNvSpPr>
          <p:nvPr/>
        </p:nvSpPr>
        <p:spPr>
          <a:xfrm xmlns:a="http://schemas.openxmlformats.org/drawingml/2006/main">
            <a:off x="6610350" y="482917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3D34"/>
                </a:solidFill>
                <a:latin typeface="Calibri"/>
                <a:ea typeface="Calibri"/>
                <a:cs typeface="Calibri"/>
              </a:defRPr>
            </a:pPr>
            <a:r>
              <a:rPr sz="1800" b="0">
                <a:solidFill>
                  <a:srgbClr val="293D34"/>
                </a:solidFill>
                <a:latin typeface="Calibri"/>
                <a:ea typeface="Calibri"/>
                <a:cs typeface="Calibri"/>
              </a:rPr>
              <a:t>H-7 form, H-3 kurasi, H-1 tech check. Setelah sesi, upload maksimal H+3.</a:t>
            </a:r>
          </a:p>
        </p:txBody>
      </p:sp>
      <p:sp>
        <p:nvSpPr>
          <p:cNvPr id="23" name="">
            <a:extLst xmlns:a="http://schemas.openxmlformats.org/drawingml/2006/main">
              <a:ext uri="{FF2B5EF4-FFF2-40B4-BE49-F238E27FC236}">
                <a16:creationId xmlns:a16="http://schemas.microsoft.com/office/drawing/2014/main" id="{F78D17B1-D809-478A-B1E2-FAC28E1DB72A}"/>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4" name="text-166">
            <a:extLst xmlns:a="http://schemas.openxmlformats.org/drawingml/2006/main">
              <a:ext uri="{FF2B5EF4-FFF2-40B4-BE49-F238E27FC236}">
                <a16:creationId xmlns:a16="http://schemas.microsoft.com/office/drawing/2014/main" id="{58B31A29-A2E4-41DE-9FF9-F3986AC4C533}"/>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Reminder dan link peserta lewat kanal CMC. Akses rekaman mengikuti persetujuan speaker.</a:t>
            </a:r>
          </a:p>
        </p:txBody>
      </p:sp>
    </p:spTree>
    <p:extLst>
      <p:ext uri="{BB962C8B-B14F-4D97-AF65-F5344CB8AC3E}">
        <p14:creationId xmlns:p14="http://schemas.microsoft.com/office/powerpoint/2010/main" val="10649569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67">
            <a:extLst xmlns:a="http://schemas.openxmlformats.org/drawingml/2006/main">
              <a:ext uri="{FF2B5EF4-FFF2-40B4-BE49-F238E27FC236}">
                <a16:creationId xmlns:a16="http://schemas.microsoft.com/office/drawing/2014/main" id="{73D28DFD-FA7A-4946-945E-084F23D4D4B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BIAYA FOUNDER LIVE</a:t>
            </a:r>
          </a:p>
        </p:txBody>
      </p:sp>
      <p:sp>
        <p:nvSpPr>
          <p:cNvPr id="2" name="text-168">
            <a:extLst xmlns:a="http://schemas.openxmlformats.org/drawingml/2006/main">
              <a:ext uri="{FF2B5EF4-FFF2-40B4-BE49-F238E27FC236}">
                <a16:creationId xmlns:a16="http://schemas.microsoft.com/office/drawing/2014/main" id="{C4C1DB7C-81E2-4295-8CE6-7650D9E5DD38}"/>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Budget base satu batch sekitar Rp34,66 jt</a:t>
            </a:r>
          </a:p>
        </p:txBody>
      </p:sp>
      <p:sp>
        <p:nvSpPr>
          <p:cNvPr id="3" name="text-169">
            <a:extLst xmlns:a="http://schemas.openxmlformats.org/drawingml/2006/main">
              <a:ext uri="{FF2B5EF4-FFF2-40B4-BE49-F238E27FC236}">
                <a16:creationId xmlns:a16="http://schemas.microsoft.com/office/drawing/2014/main" id="{5BEDD94B-67B5-406E-9A3A-8EDBF5C5FA1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8 speaker × Rp4 jt + subscribe Zoom satu bulan. Sebelum pajak dan gross-up jika diperlukan.</a:t>
            </a:r>
          </a:p>
        </p:txBody>
      </p:sp>
      <p:sp>
        <p:nvSpPr>
          <p:cNvPr id="4" name="">
            <a:extLst xmlns:a="http://schemas.openxmlformats.org/drawingml/2006/main">
              <a:ext uri="{FF2B5EF4-FFF2-40B4-BE49-F238E27FC236}">
                <a16:creationId xmlns:a16="http://schemas.microsoft.com/office/drawing/2014/main" id="{2E881387-A3D2-45A2-932A-E0C17C145F7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70">
            <a:extLst xmlns:a="http://schemas.openxmlformats.org/drawingml/2006/main">
              <a:ext uri="{FF2B5EF4-FFF2-40B4-BE49-F238E27FC236}">
                <a16:creationId xmlns:a16="http://schemas.microsoft.com/office/drawing/2014/main" id="{651CA174-FBA7-4F2D-AA38-270F6CC6AFE4}"/>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Honor: budget internal. Subscribe: acuan checkout sebelumnya, perlu verifikasi; opsi sewa Rp2,8 jt / 8 sesi.</a:t>
            </a:r>
          </a:p>
        </p:txBody>
      </p:sp>
      <p:sp>
        <p:nvSpPr>
          <p:cNvPr id="6" name="text-171">
            <a:extLst xmlns:a="http://schemas.openxmlformats.org/drawingml/2006/main">
              <a:ext uri="{FF2B5EF4-FFF2-40B4-BE49-F238E27FC236}">
                <a16:creationId xmlns:a16="http://schemas.microsoft.com/office/drawing/2014/main" id="{FD6DA14C-31D1-4FA9-AE7A-86985C619305}"/>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09</a:t>
            </a:r>
          </a:p>
        </p:txBody>
      </p:sp>
      <p:graphicFrame>
        <p:nvGraphicFramePr>
          <p:cNvPr id="21" name="Chart"/>
          <p:cNvGraphicFramePr/>
          <p:nvPr/>
        </p:nvGraphicFramePr>
        <p:xfrm>
          <a:off xmlns:a="http://schemas.openxmlformats.org/drawingml/2006/main" x="590550" y="2286000"/>
          <a:ext xmlns:a="http://schemas.openxmlformats.org/drawingml/2006/main" cx="7334250" cy="3238500"/>
        </p:xfrm>
        <a:graphic xmlns:a="http://schemas.openxmlformats.org/drawingml/2006/main">
          <a:graphicData uri="http://schemas.openxmlformats.org/drawingml/2006/chart">
            <c:chart xmlns:r="http://schemas.openxmlformats.org/officeDocument/2006/relationships" xmlns:c="http://schemas.openxmlformats.org/drawingml/2006/chart" r:id="R7ffdcc0052214810"/>
          </a:graphicData>
        </a:graphic>
      </p:graphicFrame>
      <p:sp>
        <p:nvSpPr>
          <p:cNvPr id="8" name="text-172">
            <a:extLst xmlns:a="http://schemas.openxmlformats.org/drawingml/2006/main">
              <a:ext uri="{FF2B5EF4-FFF2-40B4-BE49-F238E27FC236}">
                <a16:creationId xmlns:a16="http://schemas.microsoft.com/office/drawing/2014/main" id="{343CB66A-5695-4014-8309-B2E00CE2F44B}"/>
              </a:ext>
            </a:extLst>
          </p:cNvPr>
          <p:cNvSpPr>
            <a:spLocks xmlns:a="http://schemas.openxmlformats.org/drawingml/2006/main" noGrp="1"/>
          </p:cNvSpPr>
          <p:nvPr/>
        </p:nvSpPr>
        <p:spPr>
          <a:xfrm xmlns:a="http://schemas.openxmlformats.org/drawingml/2006/main">
            <a:off x="8810625" y="2390775"/>
            <a:ext cx="2724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SKENARIO BASE</a:t>
            </a:r>
          </a:p>
        </p:txBody>
      </p:sp>
      <p:sp>
        <p:nvSpPr>
          <p:cNvPr id="9" name="text-173">
            <a:extLst xmlns:a="http://schemas.openxmlformats.org/drawingml/2006/main">
              <a:ext uri="{FF2B5EF4-FFF2-40B4-BE49-F238E27FC236}">
                <a16:creationId xmlns:a16="http://schemas.microsoft.com/office/drawing/2014/main" id="{5788EB36-EFF6-40EB-95D7-5ED22CF1BFFB}"/>
              </a:ext>
            </a:extLst>
          </p:cNvPr>
          <p:cNvSpPr>
            <a:spLocks xmlns:a="http://schemas.openxmlformats.org/drawingml/2006/main" noGrp="1"/>
          </p:cNvSpPr>
          <p:nvPr/>
        </p:nvSpPr>
        <p:spPr>
          <a:xfrm xmlns:a="http://schemas.openxmlformats.org/drawingml/2006/main">
            <a:off x="8810625" y="27813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Rp34,66 jt</a:t>
            </a:r>
          </a:p>
        </p:txBody>
      </p:sp>
      <p:sp>
        <p:nvSpPr>
          <p:cNvPr id="10" name="text-174">
            <a:extLst xmlns:a="http://schemas.openxmlformats.org/drawingml/2006/main">
              <a:ext uri="{FF2B5EF4-FFF2-40B4-BE49-F238E27FC236}">
                <a16:creationId xmlns:a16="http://schemas.microsoft.com/office/drawing/2014/main" id="{8DCE6A6B-91E8-4BBC-B2FD-121AB654E989}"/>
              </a:ext>
            </a:extLst>
          </p:cNvPr>
          <p:cNvSpPr>
            <a:spLocks xmlns:a="http://schemas.openxmlformats.org/drawingml/2006/main" noGrp="1"/>
          </p:cNvSpPr>
          <p:nvPr/>
        </p:nvSpPr>
        <p:spPr>
          <a:xfrm xmlns:a="http://schemas.openxmlformats.org/drawingml/2006/main">
            <a:off x="8810625" y="360997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3D34"/>
                </a:solidFill>
                <a:latin typeface="Calibri"/>
                <a:ea typeface="Calibri"/>
                <a:cs typeface="Calibri"/>
              </a:defRPr>
            </a:pPr>
            <a:r>
              <a:rPr sz="1950" b="0">
                <a:solidFill>
                  <a:srgbClr val="293D34"/>
                </a:solidFill>
                <a:latin typeface="Calibri"/>
                <a:ea typeface="Calibri"/>
                <a:cs typeface="Calibri"/>
              </a:rPr>
              <a:t>Rp32 jt speaker</a:t>
            </a:r>
          </a:p>
          <a:p xmlns:a="http://schemas.openxmlformats.org/drawingml/2006/main">
            <a:pPr>
              <a:defRPr sz="1950" b="0">
                <a:solidFill>
                  <a:srgbClr val="293D34"/>
                </a:solidFill>
                <a:latin typeface="Calibri"/>
                <a:ea typeface="Calibri"/>
                <a:cs typeface="Calibri"/>
              </a:defRPr>
            </a:pPr>
            <a:r>
              <a:rPr sz="1950" b="0">
                <a:solidFill>
                  <a:srgbClr val="293D34"/>
                </a:solidFill>
                <a:latin typeface="Calibri"/>
                <a:ea typeface="Calibri"/>
                <a:cs typeface="Calibri"/>
              </a:rPr>
              <a:t>Rp2,66 jt Zoom</a:t>
            </a:r>
          </a:p>
        </p:txBody>
      </p:sp>
      <p:sp>
        <p:nvSpPr>
          <p:cNvPr id="11" name="text-175">
            <a:extLst xmlns:a="http://schemas.openxmlformats.org/drawingml/2006/main">
              <a:ext uri="{FF2B5EF4-FFF2-40B4-BE49-F238E27FC236}">
                <a16:creationId xmlns:a16="http://schemas.microsoft.com/office/drawing/2014/main" id="{1EEE8ED9-9E43-45ED-80D8-DE2A9CF9D4F0}"/>
              </a:ext>
            </a:extLst>
          </p:cNvPr>
          <p:cNvSpPr>
            <a:spLocks xmlns:a="http://schemas.openxmlformats.org/drawingml/2006/main" noGrp="1"/>
          </p:cNvSpPr>
          <p:nvPr/>
        </p:nvSpPr>
        <p:spPr>
          <a:xfrm xmlns:a="http://schemas.openxmlformats.org/drawingml/2006/main">
            <a:off x="8810625" y="469582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23F32"/>
                </a:solidFill>
                <a:latin typeface="Calibri"/>
                <a:ea typeface="Calibri"/>
                <a:cs typeface="Calibri"/>
              </a:defRPr>
            </a:pPr>
            <a:r>
              <a:rPr sz="2550" b="1">
                <a:solidFill>
                  <a:srgbClr val="123F32"/>
                </a:solidFill>
                <a:latin typeface="Calibri"/>
                <a:ea typeface="Calibri"/>
                <a:cs typeface="Calibri"/>
              </a:rPr>
              <a:t>Rp46,2 rb</a:t>
            </a:r>
          </a:p>
        </p:txBody>
      </p:sp>
      <p:sp>
        <p:nvSpPr>
          <p:cNvPr id="12" name="text-176">
            <a:extLst xmlns:a="http://schemas.openxmlformats.org/drawingml/2006/main">
              <a:ext uri="{FF2B5EF4-FFF2-40B4-BE49-F238E27FC236}">
                <a16:creationId xmlns:a16="http://schemas.microsoft.com/office/drawing/2014/main" id="{CCB75A08-A4D4-4E83-95EF-6FB46A341C88}"/>
              </a:ext>
            </a:extLst>
          </p:cNvPr>
          <p:cNvSpPr>
            <a:spLocks xmlns:a="http://schemas.openxmlformats.org/drawingml/2006/main" noGrp="1"/>
          </p:cNvSpPr>
          <p:nvPr/>
        </p:nvSpPr>
        <p:spPr>
          <a:xfrm xmlns:a="http://schemas.openxmlformats.org/drawingml/2006/main">
            <a:off x="8810625" y="5200650"/>
            <a:ext cx="2619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per peserta unik jika 750 orang / batch</a:t>
            </a:r>
          </a:p>
        </p:txBody>
      </p:sp>
      <p:sp>
        <p:nvSpPr>
          <p:cNvPr id="13" name="">
            <a:extLst xmlns:a="http://schemas.openxmlformats.org/drawingml/2006/main">
              <a:ext uri="{FF2B5EF4-FFF2-40B4-BE49-F238E27FC236}">
                <a16:creationId xmlns:a16="http://schemas.microsoft.com/office/drawing/2014/main" id="{18DA1C02-072E-48BB-B96E-A69E1B905AF5}"/>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177">
            <a:extLst xmlns:a="http://schemas.openxmlformats.org/drawingml/2006/main">
              <a:ext uri="{FF2B5EF4-FFF2-40B4-BE49-F238E27FC236}">
                <a16:creationId xmlns:a16="http://schemas.microsoft.com/office/drawing/2014/main" id="{021F6FCC-A919-4A33-8316-036EFC11146D}"/>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Dengan sewa, total base Rp34,8 jt. Selisih biaya Zoom hanya sekitar Rp144 rb.</a:t>
            </a:r>
          </a:p>
        </p:txBody>
      </p:sp>
    </p:spTree>
    <p:extLst>
      <p:ext uri="{BB962C8B-B14F-4D97-AF65-F5344CB8AC3E}">
        <p14:creationId xmlns:p14="http://schemas.microsoft.com/office/powerpoint/2010/main" val="18763904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78">
            <a:extLst xmlns:a="http://schemas.openxmlformats.org/drawingml/2006/main">
              <a:ext uri="{FF2B5EF4-FFF2-40B4-BE49-F238E27FC236}">
                <a16:creationId xmlns:a16="http://schemas.microsoft.com/office/drawing/2014/main" id="{C9D072E9-564C-449B-97CB-4C5D3D1339F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KEPUTUSAN PLATFORM</a:t>
            </a:r>
          </a:p>
        </p:txBody>
      </p:sp>
      <p:sp>
        <p:nvSpPr>
          <p:cNvPr id="2" name="text-179">
            <a:extLst xmlns:a="http://schemas.openxmlformats.org/drawingml/2006/main">
              <a:ext uri="{FF2B5EF4-FFF2-40B4-BE49-F238E27FC236}">
                <a16:creationId xmlns:a16="http://schemas.microsoft.com/office/drawing/2014/main" id="{076C776D-3E06-4252-B964-80DB808C341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Dalam satu bulan, subscribe sedikit lebih murah</a:t>
            </a:r>
          </a:p>
        </p:txBody>
      </p:sp>
      <p:sp>
        <p:nvSpPr>
          <p:cNvPr id="3" name="text-180">
            <a:extLst xmlns:a="http://schemas.openxmlformats.org/drawingml/2006/main">
              <a:ext uri="{FF2B5EF4-FFF2-40B4-BE49-F238E27FC236}">
                <a16:creationId xmlns:a16="http://schemas.microsoft.com/office/drawing/2014/main" id="{FE0764D3-C0FB-4EFA-A2D9-FAECF028410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Kapasitas 1.000 total koneksi. Bandingkan juga akses host, recording, durasi dan dukungan vendor.</a:t>
            </a:r>
          </a:p>
        </p:txBody>
      </p:sp>
      <p:sp>
        <p:nvSpPr>
          <p:cNvPr id="4" name="">
            <a:extLst xmlns:a="http://schemas.openxmlformats.org/drawingml/2006/main">
              <a:ext uri="{FF2B5EF4-FFF2-40B4-BE49-F238E27FC236}">
                <a16:creationId xmlns:a16="http://schemas.microsoft.com/office/drawing/2014/main" id="{905BDDE6-4CA9-49BB-9ED9-E5659D17EF41}"/>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81">
            <a:extLst xmlns:a="http://schemas.openxmlformats.org/drawingml/2006/main">
              <a:ext uri="{FF2B5EF4-FFF2-40B4-BE49-F238E27FC236}">
                <a16:creationId xmlns:a16="http://schemas.microsoft.com/office/drawing/2014/main" id="{42D49F9D-8179-40C0-B124-DAE38871232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Subscribe: acuan checkout deck sebelumnya, belum harga baru. Sewa: Rp350 rb/sesi, asumsi pengguna. Belum pajak.</a:t>
            </a:r>
          </a:p>
        </p:txBody>
      </p:sp>
      <p:sp>
        <p:nvSpPr>
          <p:cNvPr id="6" name="text-182">
            <a:extLst xmlns:a="http://schemas.openxmlformats.org/drawingml/2006/main">
              <a:ext uri="{FF2B5EF4-FFF2-40B4-BE49-F238E27FC236}">
                <a16:creationId xmlns:a16="http://schemas.microsoft.com/office/drawing/2014/main" id="{5FEF1467-EEAD-443F-A3D0-4EFE004E8D81}"/>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10</a:t>
            </a:r>
          </a:p>
        </p:txBody>
      </p:sp>
      <p:graphicFrame>
        <p:nvGraphicFramePr>
          <p:cNvPr id="21" name="Chart"/>
          <p:cNvGraphicFramePr/>
          <p:nvPr/>
        </p:nvGraphicFramePr>
        <p:xfrm>
          <a:off xmlns:a="http://schemas.openxmlformats.org/drawingml/2006/main" x="552450" y="2409825"/>
          <a:ext xmlns:a="http://schemas.openxmlformats.org/drawingml/2006/main" cx="7524750" cy="2428875"/>
        </p:xfrm>
        <a:graphic xmlns:a="http://schemas.openxmlformats.org/drawingml/2006/main">
          <a:graphicData uri="http://schemas.openxmlformats.org/drawingml/2006/chart">
            <c:chart xmlns:r="http://schemas.openxmlformats.org/officeDocument/2006/relationships" xmlns:c="http://schemas.openxmlformats.org/drawingml/2006/chart" r:id="R8493d6ff13f44393"/>
          </a:graphicData>
        </a:graphic>
      </p:graphicFrame>
      <p:sp>
        <p:nvSpPr>
          <p:cNvPr id="8" name="text-183">
            <a:extLst xmlns:a="http://schemas.openxmlformats.org/drawingml/2006/main">
              <a:ext uri="{FF2B5EF4-FFF2-40B4-BE49-F238E27FC236}">
                <a16:creationId xmlns:a16="http://schemas.microsoft.com/office/drawing/2014/main" id="{02B707EB-3E90-4896-94F8-D25B9B409399}"/>
              </a:ext>
            </a:extLst>
          </p:cNvPr>
          <p:cNvSpPr>
            <a:spLocks xmlns:a="http://schemas.openxmlformats.org/drawingml/2006/main" noGrp="1"/>
          </p:cNvSpPr>
          <p:nvPr/>
        </p:nvSpPr>
        <p:spPr>
          <a:xfrm xmlns:a="http://schemas.openxmlformats.org/drawingml/2006/main">
            <a:off x="8801100" y="268605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3F32"/>
                </a:solidFill>
                <a:latin typeface="Calibri"/>
                <a:ea typeface="Calibri"/>
                <a:cs typeface="Calibri"/>
              </a:defRPr>
            </a:pPr>
            <a:r>
              <a:rPr sz="3600" b="1">
                <a:solidFill>
                  <a:srgbClr val="123F32"/>
                </a:solidFill>
                <a:latin typeface="Calibri"/>
                <a:ea typeface="Calibri"/>
                <a:cs typeface="Calibri"/>
              </a:rPr>
              <a:t>Rp144 rb</a:t>
            </a:r>
          </a:p>
        </p:txBody>
      </p:sp>
      <p:sp>
        <p:nvSpPr>
          <p:cNvPr id="9" name="text-184">
            <a:extLst xmlns:a="http://schemas.openxmlformats.org/drawingml/2006/main">
              <a:ext uri="{FF2B5EF4-FFF2-40B4-BE49-F238E27FC236}">
                <a16:creationId xmlns:a16="http://schemas.microsoft.com/office/drawing/2014/main" id="{E3A9E29F-C147-48AF-BA50-CE6848DCEB58}"/>
              </a:ext>
            </a:extLst>
          </p:cNvPr>
          <p:cNvSpPr>
            <a:spLocks xmlns:a="http://schemas.openxmlformats.org/drawingml/2006/main" noGrp="1"/>
          </p:cNvSpPr>
          <p:nvPr/>
        </p:nvSpPr>
        <p:spPr>
          <a:xfrm xmlns:a="http://schemas.openxmlformats.org/drawingml/2006/main">
            <a:off x="8801100" y="3590925"/>
            <a:ext cx="2724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3D34"/>
                </a:solidFill>
                <a:latin typeface="Calibri"/>
                <a:ea typeface="Calibri"/>
                <a:cs typeface="Calibri"/>
              </a:defRPr>
            </a:pPr>
            <a:r>
              <a:rPr sz="1875" b="0">
                <a:solidFill>
                  <a:srgbClr val="293D34"/>
                </a:solidFill>
                <a:latin typeface="Calibri"/>
                <a:ea typeface="Calibri"/>
                <a:cs typeface="Calibri"/>
              </a:rPr>
              <a:t>selisih untuk seluruh batch</a:t>
            </a:r>
          </a:p>
        </p:txBody>
      </p:sp>
      <p:sp>
        <p:nvSpPr>
          <p:cNvPr id="10" name="text-185">
            <a:extLst xmlns:a="http://schemas.openxmlformats.org/drawingml/2006/main">
              <a:ext uri="{FF2B5EF4-FFF2-40B4-BE49-F238E27FC236}">
                <a16:creationId xmlns:a16="http://schemas.microsoft.com/office/drawing/2014/main" id="{A4B499FE-FA06-4A46-B7FB-22C7B404EB8F}"/>
              </a:ext>
            </a:extLst>
          </p:cNvPr>
          <p:cNvSpPr>
            <a:spLocks xmlns:a="http://schemas.openxmlformats.org/drawingml/2006/main" noGrp="1"/>
          </p:cNvSpPr>
          <p:nvPr/>
        </p:nvSpPr>
        <p:spPr>
          <a:xfrm xmlns:a="http://schemas.openxmlformats.org/drawingml/2006/main">
            <a:off x="8801100" y="444817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≈5,1% lebih murah</a:t>
            </a:r>
          </a:p>
        </p:txBody>
      </p:sp>
      <p:sp>
        <p:nvSpPr>
          <p:cNvPr id="11" name="text-186">
            <a:extLst xmlns:a="http://schemas.openxmlformats.org/drawingml/2006/main">
              <a:ext uri="{FF2B5EF4-FFF2-40B4-BE49-F238E27FC236}">
                <a16:creationId xmlns:a16="http://schemas.microsoft.com/office/drawing/2014/main" id="{C4BB6537-2B43-442B-AC84-BEC2BC0A7B8A}"/>
              </a:ext>
            </a:extLst>
          </p:cNvPr>
          <p:cNvSpPr>
            <a:spLocks xmlns:a="http://schemas.openxmlformats.org/drawingml/2006/main" noGrp="1"/>
          </p:cNvSpPr>
          <p:nvPr/>
        </p:nvSpPr>
        <p:spPr>
          <a:xfrm xmlns:a="http://schemas.openxmlformats.org/drawingml/2006/main">
            <a:off x="609600" y="50958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Pro + Large Meeting 1.000</a:t>
            </a:r>
          </a:p>
        </p:txBody>
      </p:sp>
      <p:sp>
        <p:nvSpPr>
          <p:cNvPr id="12" name="text-187">
            <a:extLst xmlns:a="http://schemas.openxmlformats.org/drawingml/2006/main">
              <a:ext uri="{FF2B5EF4-FFF2-40B4-BE49-F238E27FC236}">
                <a16:creationId xmlns:a16="http://schemas.microsoft.com/office/drawing/2014/main" id="{E713BDAF-7306-4DB4-AAA4-22F69F4A8EA1}"/>
              </a:ext>
            </a:extLst>
          </p:cNvPr>
          <p:cNvSpPr>
            <a:spLocks xmlns:a="http://schemas.openxmlformats.org/drawingml/2006/main" noGrp="1"/>
          </p:cNvSpPr>
          <p:nvPr/>
        </p:nvSpPr>
        <p:spPr>
          <a:xfrm xmlns:a="http://schemas.openxmlformats.org/drawingml/2006/main">
            <a:off x="609600" y="5467350"/>
            <a:ext cx="738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Rp2.655.839 / bulan vs Rp350.000 × 8 sesi</a:t>
            </a:r>
          </a:p>
        </p:txBody>
      </p:sp>
      <p:sp>
        <p:nvSpPr>
          <p:cNvPr id="13" name="">
            <a:extLst xmlns:a="http://schemas.openxmlformats.org/drawingml/2006/main">
              <a:ext uri="{FF2B5EF4-FFF2-40B4-BE49-F238E27FC236}">
                <a16:creationId xmlns:a16="http://schemas.microsoft.com/office/drawing/2014/main" id="{0EC7603E-543D-435C-9C93-9413CB3C1580}"/>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188">
            <a:extLst xmlns:a="http://schemas.openxmlformats.org/drawingml/2006/main">
              <a:ext uri="{FF2B5EF4-FFF2-40B4-BE49-F238E27FC236}">
                <a16:creationId xmlns:a16="http://schemas.microsoft.com/office/drawing/2014/main" id="{A7F48107-D078-406D-9311-B52714880BE5}"/>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Usulan: subscribe satu bulan jika harga tetap dan tim siap mengoperasikan Zoom.</a:t>
            </a:r>
          </a:p>
        </p:txBody>
      </p:sp>
    </p:spTree>
    <p:extLst>
      <p:ext uri="{BB962C8B-B14F-4D97-AF65-F5344CB8AC3E}">
        <p14:creationId xmlns:p14="http://schemas.microsoft.com/office/powerpoint/2010/main" val="1425257224"/>
      </p:ext>
    </p:extLst>
  </p:cSld>
</p:sld>
</file>

<file path=ppt/slides/slide11.xml><?xml version="1.0" encoding="utf-8"?>
<p:sld xmlns:p="http://schemas.openxmlformats.org/presentationml/2006/main">
  <p:cSld>
    <p:bg>
      <p:bgPr>
        <a:solidFill xmlns:a="http://schemas.openxmlformats.org/drawingml/2006/main">
          <a:srgbClr val="F2F5EF"/>
        </a:solidFill>
      </p:bgPr>
    </p:bg>
    <p:spTree>
      <p:nvGrpSpPr>
        <p:cNvPr id="1" name=""/>
        <p:cNvGrpSpPr/>
        <p:nvPr/>
      </p:nvGrpSpPr>
      <p:grpSpPr>
        <a:xfrm xmlns:a="http://schemas.openxmlformats.org/drawingml/2006/main"/>
      </p:grpSpPr>
      <p:sp>
        <p:nvSpPr>
          <p:cNvPr id="19" name="text-189">
            <a:extLst xmlns:a="http://schemas.openxmlformats.org/drawingml/2006/main">
              <a:ext uri="{FF2B5EF4-FFF2-40B4-BE49-F238E27FC236}">
                <a16:creationId xmlns:a16="http://schemas.microsoft.com/office/drawing/2014/main" id="{110CE557-7069-4C1B-B663-A96E7EC57EF9}"/>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INTIMATE DINNER</a:t>
            </a:r>
          </a:p>
        </p:txBody>
      </p:sp>
      <p:sp>
        <p:nvSpPr>
          <p:cNvPr id="2" name="text-190">
            <a:extLst xmlns:a="http://schemas.openxmlformats.org/drawingml/2006/main">
              <a:ext uri="{FF2B5EF4-FFF2-40B4-BE49-F238E27FC236}">
                <a16:creationId xmlns:a16="http://schemas.microsoft.com/office/drawing/2014/main" id="{179EA8B6-A0EA-4A03-9603-8CB283CF1AC1}"/>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Maksimal 20 peserta supaya diskusinya bisa lebih dalam</a:t>
            </a:r>
          </a:p>
        </p:txBody>
      </p:sp>
      <p:sp>
        <p:nvSpPr>
          <p:cNvPr id="3" name="text-191">
            <a:extLst xmlns:a="http://schemas.openxmlformats.org/drawingml/2006/main">
              <a:ext uri="{FF2B5EF4-FFF2-40B4-BE49-F238E27FC236}">
                <a16:creationId xmlns:a16="http://schemas.microsoft.com/office/drawing/2014/main" id="{C8D4CE44-C2F8-4708-928D-79B46079BEFE}"/>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Usulan pilot di Jakarta. Peserta diseleksi dan isi diskusi dijaga rahasia.</a:t>
            </a:r>
          </a:p>
        </p:txBody>
      </p:sp>
      <p:sp>
        <p:nvSpPr>
          <p:cNvPr id="4" name="">
            <a:extLst xmlns:a="http://schemas.openxmlformats.org/drawingml/2006/main">
              <a:ext uri="{FF2B5EF4-FFF2-40B4-BE49-F238E27FC236}">
                <a16:creationId xmlns:a16="http://schemas.microsoft.com/office/drawing/2014/main" id="{187DF5FA-92B0-42B7-8D65-C786DDB440C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92">
            <a:extLst xmlns:a="http://schemas.openxmlformats.org/drawingml/2006/main">
              <a:ext uri="{FF2B5EF4-FFF2-40B4-BE49-F238E27FC236}">
                <a16:creationId xmlns:a16="http://schemas.microsoft.com/office/drawing/2014/main" id="{3304D85B-CAFF-4DBA-9DF2-67359AB66A34}"/>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93">
            <a:extLst xmlns:a="http://schemas.openxmlformats.org/drawingml/2006/main">
              <a:ext uri="{FF2B5EF4-FFF2-40B4-BE49-F238E27FC236}">
                <a16:creationId xmlns:a16="http://schemas.microsoft.com/office/drawing/2014/main" id="{1D39381A-B371-4329-B7EC-54E2E95AD8CD}"/>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11</a:t>
            </a:r>
          </a:p>
        </p:txBody>
      </p:sp>
      <p:sp>
        <p:nvSpPr>
          <p:cNvPr id="7" name="text-194">
            <a:extLst xmlns:a="http://schemas.openxmlformats.org/drawingml/2006/main">
              <a:ext uri="{FF2B5EF4-FFF2-40B4-BE49-F238E27FC236}">
                <a16:creationId xmlns:a16="http://schemas.microsoft.com/office/drawing/2014/main" id="{D643D6D1-7D59-4B39-8678-42D44738E62C}"/>
              </a:ext>
            </a:extLst>
          </p:cNvPr>
          <p:cNvSpPr>
            <a:spLocks xmlns:a="http://schemas.openxmlformats.org/drawingml/2006/main" noGrp="1"/>
          </p:cNvSpPr>
          <p:nvPr/>
        </p:nvSpPr>
        <p:spPr>
          <a:xfrm xmlns:a="http://schemas.openxmlformats.org/drawingml/2006/main">
            <a:off x="590550" y="2324100"/>
            <a:ext cx="4095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950" b="1">
                <a:solidFill>
                  <a:srgbClr val="123F32"/>
                </a:solidFill>
                <a:latin typeface="Calibri"/>
                <a:ea typeface="Calibri"/>
                <a:cs typeface="Calibri"/>
              </a:defRPr>
            </a:pPr>
            <a:r>
              <a:rPr sz="10950" b="1">
                <a:solidFill>
                  <a:srgbClr val="123F32"/>
                </a:solidFill>
                <a:latin typeface="Calibri"/>
                <a:ea typeface="Calibri"/>
                <a:cs typeface="Calibri"/>
              </a:rPr>
              <a:t>20</a:t>
            </a:r>
          </a:p>
        </p:txBody>
      </p:sp>
      <p:sp>
        <p:nvSpPr>
          <p:cNvPr id="8" name="text-195">
            <a:extLst xmlns:a="http://schemas.openxmlformats.org/drawingml/2006/main">
              <a:ext uri="{FF2B5EF4-FFF2-40B4-BE49-F238E27FC236}">
                <a16:creationId xmlns:a16="http://schemas.microsoft.com/office/drawing/2014/main" id="{DE47133A-EA0C-43BF-9122-FE84EED2C953}"/>
              </a:ext>
            </a:extLst>
          </p:cNvPr>
          <p:cNvSpPr>
            <a:spLocks xmlns:a="http://schemas.openxmlformats.org/drawingml/2006/main" noGrp="1"/>
          </p:cNvSpPr>
          <p:nvPr/>
        </p:nvSpPr>
        <p:spPr>
          <a:xfrm xmlns:a="http://schemas.openxmlformats.org/drawingml/2006/main">
            <a:off x="647700" y="40957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maksimal peserta berbayar</a:t>
            </a:r>
          </a:p>
        </p:txBody>
      </p:sp>
      <p:sp>
        <p:nvSpPr>
          <p:cNvPr id="9" name="text-196">
            <a:extLst xmlns:a="http://schemas.openxmlformats.org/drawingml/2006/main">
              <a:ext uri="{FF2B5EF4-FFF2-40B4-BE49-F238E27FC236}">
                <a16:creationId xmlns:a16="http://schemas.microsoft.com/office/drawing/2014/main" id="{980D03FB-6ECE-4B6F-8C13-B83927A43AC3}"/>
              </a:ext>
            </a:extLst>
          </p:cNvPr>
          <p:cNvSpPr>
            <a:spLocks xmlns:a="http://schemas.openxmlformats.org/drawingml/2006/main" noGrp="1"/>
          </p:cNvSpPr>
          <p:nvPr/>
        </p:nvSpPr>
        <p:spPr>
          <a:xfrm xmlns:a="http://schemas.openxmlformats.org/drawingml/2006/main">
            <a:off x="647700" y="4572000"/>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746B"/>
                </a:solidFill>
                <a:latin typeface="Calibri"/>
                <a:ea typeface="Calibri"/>
                <a:cs typeface="Calibri"/>
              </a:defRPr>
            </a:pPr>
            <a:r>
              <a:rPr sz="1800" b="0">
                <a:solidFill>
                  <a:srgbClr val="66746B"/>
                </a:solidFill>
                <a:latin typeface="Calibri"/>
                <a:ea typeface="Calibri"/>
                <a:cs typeface="Calibri"/>
              </a:rPr>
              <a:t>Target 15–20 peserta</a:t>
            </a:r>
          </a:p>
        </p:txBody>
      </p:sp>
      <p:sp>
        <p:nvSpPr>
          <p:cNvPr id="10" name="text-197">
            <a:extLst xmlns:a="http://schemas.openxmlformats.org/drawingml/2006/main">
              <a:ext uri="{FF2B5EF4-FFF2-40B4-BE49-F238E27FC236}">
                <a16:creationId xmlns:a16="http://schemas.microsoft.com/office/drawing/2014/main" id="{F4BD2746-79D0-4FDE-8C6B-98044C4BBF3C}"/>
              </a:ext>
            </a:extLst>
          </p:cNvPr>
          <p:cNvSpPr>
            <a:spLocks xmlns:a="http://schemas.openxmlformats.org/drawingml/2006/main" noGrp="1"/>
          </p:cNvSpPr>
          <p:nvPr/>
        </p:nvSpPr>
        <p:spPr>
          <a:xfrm xmlns:a="http://schemas.openxmlformats.org/drawingml/2006/main">
            <a:off x="6429375" y="2381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23F32"/>
                </a:solidFill>
                <a:latin typeface="Calibri"/>
                <a:ea typeface="Calibri"/>
                <a:cs typeface="Calibri"/>
              </a:defRPr>
            </a:pPr>
            <a:r>
              <a:rPr sz="2625" b="1">
                <a:solidFill>
                  <a:srgbClr val="123F32"/>
                </a:solidFill>
                <a:latin typeface="Calibri"/>
                <a:ea typeface="Calibri"/>
                <a:cs typeface="Calibri"/>
              </a:rPr>
              <a:t>1 Master</a:t>
            </a:r>
          </a:p>
        </p:txBody>
      </p:sp>
      <p:sp>
        <p:nvSpPr>
          <p:cNvPr id="11" name="text-198">
            <a:extLst xmlns:a="http://schemas.openxmlformats.org/drawingml/2006/main">
              <a:ext uri="{FF2B5EF4-FFF2-40B4-BE49-F238E27FC236}">
                <a16:creationId xmlns:a16="http://schemas.microsoft.com/office/drawing/2014/main" id="{AAF9D773-ED4C-467D-B749-E92FF96153AC}"/>
              </a:ext>
            </a:extLst>
          </p:cNvPr>
          <p:cNvSpPr>
            <a:spLocks xmlns:a="http://schemas.openxmlformats.org/drawingml/2006/main" noGrp="1"/>
          </p:cNvSpPr>
          <p:nvPr/>
        </p:nvSpPr>
        <p:spPr>
          <a:xfrm xmlns:a="http://schemas.openxmlformats.org/drawingml/2006/main">
            <a:off x="6429375" y="3067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3–4 kasus terpilih</a:t>
            </a:r>
          </a:p>
        </p:txBody>
      </p:sp>
      <p:sp>
        <p:nvSpPr>
          <p:cNvPr id="12" name="text-199">
            <a:extLst xmlns:a="http://schemas.openxmlformats.org/drawingml/2006/main">
              <a:ext uri="{FF2B5EF4-FFF2-40B4-BE49-F238E27FC236}">
                <a16:creationId xmlns:a16="http://schemas.microsoft.com/office/drawing/2014/main" id="{2B4E64FA-966A-44D7-B22E-377605BB1168}"/>
              </a:ext>
            </a:extLst>
          </p:cNvPr>
          <p:cNvSpPr>
            <a:spLocks xmlns:a="http://schemas.openxmlformats.org/drawingml/2006/main" noGrp="1"/>
          </p:cNvSpPr>
          <p:nvPr/>
        </p:nvSpPr>
        <p:spPr>
          <a:xfrm xmlns:a="http://schemas.openxmlformats.org/drawingml/2006/main">
            <a:off x="6429375" y="37338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Tanpa rekaman</a:t>
            </a:r>
          </a:p>
        </p:txBody>
      </p:sp>
      <p:sp>
        <p:nvSpPr>
          <p:cNvPr id="13" name="text-200">
            <a:extLst xmlns:a="http://schemas.openxmlformats.org/drawingml/2006/main">
              <a:ext uri="{FF2B5EF4-FFF2-40B4-BE49-F238E27FC236}">
                <a16:creationId xmlns:a16="http://schemas.microsoft.com/office/drawing/2014/main" id="{F945CC3D-3E0C-434D-BF90-2EFDE10FC065}"/>
              </a:ext>
            </a:extLst>
          </p:cNvPr>
          <p:cNvSpPr>
            <a:spLocks xmlns:a="http://schemas.openxmlformats.org/drawingml/2006/main" noGrp="1"/>
          </p:cNvSpPr>
          <p:nvPr/>
        </p:nvSpPr>
        <p:spPr>
          <a:xfrm xmlns:a="http://schemas.openxmlformats.org/drawingml/2006/main">
            <a:off x="6429375" y="44196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±150 menit</a:t>
            </a:r>
          </a:p>
        </p:txBody>
      </p:sp>
      <p:sp>
        <p:nvSpPr>
          <p:cNvPr id="14" name="">
            <a:extLst xmlns:a="http://schemas.openxmlformats.org/drawingml/2006/main">
              <a:ext uri="{FF2B5EF4-FFF2-40B4-BE49-F238E27FC236}">
                <a16:creationId xmlns:a16="http://schemas.microsoft.com/office/drawing/2014/main" id="{9FD747D1-8B61-45AF-9D6B-4D19E71308FF}"/>
              </a:ext>
            </a:extLst>
          </p:cNvPr>
          <p:cNvSpPr>
            <a:spLocks xmlns:a="http://schemas.openxmlformats.org/drawingml/2006/main" noGrp="1"/>
          </p:cNvSpPr>
          <p:nvPr/>
        </p:nvSpPr>
        <p:spPr>
          <a:xfrm xmlns:a="http://schemas.openxmlformats.org/drawingml/2006/main">
            <a:off x="609600" y="53054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201">
            <a:extLst xmlns:a="http://schemas.openxmlformats.org/drawingml/2006/main">
              <a:ext uri="{FF2B5EF4-FFF2-40B4-BE49-F238E27FC236}">
                <a16:creationId xmlns:a16="http://schemas.microsoft.com/office/drawing/2014/main" id="{04C69B8B-3343-40AC-B973-2DFBD361CD0B}"/>
              </a:ext>
            </a:extLst>
          </p:cNvPr>
          <p:cNvSpPr>
            <a:spLocks xmlns:a="http://schemas.openxmlformats.org/drawingml/2006/main" noGrp="1"/>
          </p:cNvSpPr>
          <p:nvPr/>
        </p:nvSpPr>
        <p:spPr>
          <a:xfrm xmlns:a="http://schemas.openxmlformats.org/drawingml/2006/main">
            <a:off x="609600"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30 menit berkenalan</a:t>
            </a:r>
          </a:p>
        </p:txBody>
      </p:sp>
      <p:sp>
        <p:nvSpPr>
          <p:cNvPr id="16" name="text-202">
            <a:extLst xmlns:a="http://schemas.openxmlformats.org/drawingml/2006/main">
              <a:ext uri="{FF2B5EF4-FFF2-40B4-BE49-F238E27FC236}">
                <a16:creationId xmlns:a16="http://schemas.microsoft.com/office/drawing/2014/main" id="{8B5A92C0-A6F2-4F03-AF5C-71BE45512BAC}"/>
              </a:ext>
            </a:extLst>
          </p:cNvPr>
          <p:cNvSpPr>
            <a:spLocks xmlns:a="http://schemas.openxmlformats.org/drawingml/2006/main" noGrp="1"/>
          </p:cNvSpPr>
          <p:nvPr/>
        </p:nvSpPr>
        <p:spPr>
          <a:xfrm xmlns:a="http://schemas.openxmlformats.org/drawingml/2006/main">
            <a:off x="3495675"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45 menit bersama Master</a:t>
            </a:r>
          </a:p>
        </p:txBody>
      </p:sp>
      <p:sp>
        <p:nvSpPr>
          <p:cNvPr id="17" name="text-203">
            <a:extLst xmlns:a="http://schemas.openxmlformats.org/drawingml/2006/main">
              <a:ext uri="{FF2B5EF4-FFF2-40B4-BE49-F238E27FC236}">
                <a16:creationId xmlns:a16="http://schemas.microsoft.com/office/drawing/2014/main" id="{FFEA7815-DC7D-49E7-9AD2-45DF9A446380}"/>
              </a:ext>
            </a:extLst>
          </p:cNvPr>
          <p:cNvSpPr>
            <a:spLocks xmlns:a="http://schemas.openxmlformats.org/drawingml/2006/main" noGrp="1"/>
          </p:cNvSpPr>
          <p:nvPr/>
        </p:nvSpPr>
        <p:spPr>
          <a:xfrm xmlns:a="http://schemas.openxmlformats.org/drawingml/2006/main">
            <a:off x="6381750" y="5486400"/>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60 menit bedah kasus</a:t>
            </a:r>
          </a:p>
        </p:txBody>
      </p:sp>
      <p:sp>
        <p:nvSpPr>
          <p:cNvPr id="18" name="text-204">
            <a:extLst xmlns:a="http://schemas.openxmlformats.org/drawingml/2006/main">
              <a:ext uri="{FF2B5EF4-FFF2-40B4-BE49-F238E27FC236}">
                <a16:creationId xmlns:a16="http://schemas.microsoft.com/office/drawing/2014/main" id="{43CF08C9-1F34-4AD4-AB75-6707471C49F0}"/>
              </a:ext>
            </a:extLst>
          </p:cNvPr>
          <p:cNvSpPr>
            <a:spLocks xmlns:a="http://schemas.openxmlformats.org/drawingml/2006/main" noGrp="1"/>
          </p:cNvSpPr>
          <p:nvPr/>
        </p:nvSpPr>
        <p:spPr>
          <a:xfrm xmlns:a="http://schemas.openxmlformats.org/drawingml/2006/main">
            <a:off x="9553575" y="548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15 menit penutup</a:t>
            </a:r>
          </a:p>
        </p:txBody>
      </p:sp>
    </p:spTree>
    <p:extLst>
      <p:ext uri="{BB962C8B-B14F-4D97-AF65-F5344CB8AC3E}">
        <p14:creationId xmlns:p14="http://schemas.microsoft.com/office/powerpoint/2010/main" val="17067900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205">
            <a:extLst xmlns:a="http://schemas.openxmlformats.org/drawingml/2006/main">
              <a:ext uri="{FF2B5EF4-FFF2-40B4-BE49-F238E27FC236}">
                <a16:creationId xmlns:a16="http://schemas.microsoft.com/office/drawing/2014/main" id="{97EA2572-DD71-4329-968D-1304229E744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HARGA INTIMATE DINNER</a:t>
            </a:r>
          </a:p>
        </p:txBody>
      </p:sp>
      <p:sp>
        <p:nvSpPr>
          <p:cNvPr id="2" name="text-206">
            <a:extLst xmlns:a="http://schemas.openxmlformats.org/drawingml/2006/main">
              <a:ext uri="{FF2B5EF4-FFF2-40B4-BE49-F238E27FC236}">
                <a16:creationId xmlns:a16="http://schemas.microsoft.com/office/drawing/2014/main" id="{C669CDC7-A5D4-407E-AD93-DD5E54E8D84B}"/>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Satu Dinner memberi member penghematan Rp1,5 jt</a:t>
            </a:r>
          </a:p>
        </p:txBody>
      </p:sp>
      <p:sp>
        <p:nvSpPr>
          <p:cNvPr id="3" name="text-207">
            <a:extLst xmlns:a="http://schemas.openxmlformats.org/drawingml/2006/main">
              <a:ext uri="{FF2B5EF4-FFF2-40B4-BE49-F238E27FC236}">
                <a16:creationId xmlns:a16="http://schemas.microsoft.com/office/drawing/2014/main" id="{797E5174-F514-4C34-B12C-320EC0BBCA0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ini untuk pilot. Harga final mengikuti biaya venue, fee Master, dan hasil uji coba.</a:t>
            </a:r>
          </a:p>
        </p:txBody>
      </p:sp>
      <p:sp>
        <p:nvSpPr>
          <p:cNvPr id="4" name="">
            <a:extLst xmlns:a="http://schemas.openxmlformats.org/drawingml/2006/main">
              <a:ext uri="{FF2B5EF4-FFF2-40B4-BE49-F238E27FC236}">
                <a16:creationId xmlns:a16="http://schemas.microsoft.com/office/drawing/2014/main" id="{A1A2AD3A-F482-4412-840D-BED20D90A58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08">
            <a:extLst xmlns:a="http://schemas.openxmlformats.org/drawingml/2006/main">
              <a:ext uri="{FF2B5EF4-FFF2-40B4-BE49-F238E27FC236}">
                <a16:creationId xmlns:a16="http://schemas.microsoft.com/office/drawing/2014/main" id="{9A3D7821-0093-43D0-AA4A-32CAC0D6A66F}"/>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09">
            <a:extLst xmlns:a="http://schemas.openxmlformats.org/drawingml/2006/main">
              <a:ext uri="{FF2B5EF4-FFF2-40B4-BE49-F238E27FC236}">
                <a16:creationId xmlns:a16="http://schemas.microsoft.com/office/drawing/2014/main" id="{F43862D2-26B9-425C-94D3-9A3FAB177C72}"/>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12</a:t>
            </a:r>
          </a:p>
        </p:txBody>
      </p:sp>
      <p:sp>
        <p:nvSpPr>
          <p:cNvPr id="7" name="text-210">
            <a:extLst xmlns:a="http://schemas.openxmlformats.org/drawingml/2006/main">
              <a:ext uri="{FF2B5EF4-FFF2-40B4-BE49-F238E27FC236}">
                <a16:creationId xmlns:a16="http://schemas.microsoft.com/office/drawing/2014/main" id="{C92C9D06-A108-465F-88FC-03E33FA8FB34}"/>
              </a:ext>
            </a:extLst>
          </p:cNvPr>
          <p:cNvSpPr>
            <a:spLocks xmlns:a="http://schemas.openxmlformats.org/drawingml/2006/main" noGrp="1"/>
          </p:cNvSpPr>
          <p:nvPr/>
        </p:nvSpPr>
        <p:spPr>
          <a:xfrm xmlns:a="http://schemas.openxmlformats.org/drawingml/2006/main">
            <a:off x="6096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6746B"/>
                </a:solidFill>
                <a:latin typeface="Calibri"/>
                <a:ea typeface="Calibri"/>
                <a:cs typeface="Calibri"/>
              </a:defRPr>
            </a:pPr>
            <a:r>
              <a:rPr sz="1350" b="1">
                <a:solidFill>
                  <a:srgbClr val="66746B"/>
                </a:solidFill>
                <a:latin typeface="Calibri"/>
                <a:ea typeface="Calibri"/>
                <a:cs typeface="Calibri"/>
              </a:rPr>
              <a:t>CMC MEMBER</a:t>
            </a:r>
          </a:p>
        </p:txBody>
      </p:sp>
      <p:sp>
        <p:nvSpPr>
          <p:cNvPr id="8" name="text-211">
            <a:extLst xmlns:a="http://schemas.openxmlformats.org/drawingml/2006/main">
              <a:ext uri="{FF2B5EF4-FFF2-40B4-BE49-F238E27FC236}">
                <a16:creationId xmlns:a16="http://schemas.microsoft.com/office/drawing/2014/main" id="{0B05DCAE-D1E0-4AA4-9521-A7270A967FF5}"/>
              </a:ext>
            </a:extLst>
          </p:cNvPr>
          <p:cNvSpPr>
            <a:spLocks xmlns:a="http://schemas.openxmlformats.org/drawingml/2006/main" noGrp="1"/>
          </p:cNvSpPr>
          <p:nvPr/>
        </p:nvSpPr>
        <p:spPr>
          <a:xfrm xmlns:a="http://schemas.openxmlformats.org/drawingml/2006/main">
            <a:off x="609600" y="2981325"/>
            <a:ext cx="5429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123F32"/>
                </a:solidFill>
                <a:latin typeface="Calibri"/>
                <a:ea typeface="Calibri"/>
                <a:cs typeface="Calibri"/>
              </a:defRPr>
            </a:pPr>
            <a:r>
              <a:rPr sz="5475" b="1">
                <a:solidFill>
                  <a:srgbClr val="123F32"/>
                </a:solidFill>
                <a:latin typeface="Calibri"/>
                <a:ea typeface="Calibri"/>
                <a:cs typeface="Calibri"/>
              </a:rPr>
              <a:t>Rp1,5 jt</a:t>
            </a:r>
          </a:p>
        </p:txBody>
      </p:sp>
      <p:sp>
        <p:nvSpPr>
          <p:cNvPr id="9" name="text-212">
            <a:extLst xmlns:a="http://schemas.openxmlformats.org/drawingml/2006/main">
              <a:ext uri="{FF2B5EF4-FFF2-40B4-BE49-F238E27FC236}">
                <a16:creationId xmlns:a16="http://schemas.microsoft.com/office/drawing/2014/main" id="{A51D9240-8BE0-4096-B036-C19B84BEA9BA}"/>
              </a:ext>
            </a:extLst>
          </p:cNvPr>
          <p:cNvSpPr>
            <a:spLocks xmlns:a="http://schemas.openxmlformats.org/drawingml/2006/main" noGrp="1"/>
          </p:cNvSpPr>
          <p:nvPr/>
        </p:nvSpPr>
        <p:spPr>
          <a:xfrm xmlns:a="http://schemas.openxmlformats.org/drawingml/2006/main">
            <a:off x="65913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6746B"/>
                </a:solidFill>
                <a:latin typeface="Calibri"/>
                <a:ea typeface="Calibri"/>
                <a:cs typeface="Calibri"/>
              </a:defRPr>
            </a:pPr>
            <a:r>
              <a:rPr sz="1350" b="1">
                <a:solidFill>
                  <a:srgbClr val="66746B"/>
                </a:solidFill>
                <a:latin typeface="Calibri"/>
                <a:ea typeface="Calibri"/>
                <a:cs typeface="Calibri"/>
              </a:rPr>
              <a:t>NON-MEMBER</a:t>
            </a:r>
          </a:p>
        </p:txBody>
      </p:sp>
      <p:sp>
        <p:nvSpPr>
          <p:cNvPr id="10" name="text-213">
            <a:extLst xmlns:a="http://schemas.openxmlformats.org/drawingml/2006/main">
              <a:ext uri="{FF2B5EF4-FFF2-40B4-BE49-F238E27FC236}">
                <a16:creationId xmlns:a16="http://schemas.microsoft.com/office/drawing/2014/main" id="{9FFA3DBB-8C7F-4DB8-A790-8AF57D480E98}"/>
              </a:ext>
            </a:extLst>
          </p:cNvPr>
          <p:cNvSpPr>
            <a:spLocks xmlns:a="http://schemas.openxmlformats.org/drawingml/2006/main" noGrp="1"/>
          </p:cNvSpPr>
          <p:nvPr/>
        </p:nvSpPr>
        <p:spPr>
          <a:xfrm xmlns:a="http://schemas.openxmlformats.org/drawingml/2006/main">
            <a:off x="6591300" y="2981325"/>
            <a:ext cx="4762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123F32"/>
                </a:solidFill>
                <a:latin typeface="Calibri"/>
                <a:ea typeface="Calibri"/>
                <a:cs typeface="Calibri"/>
              </a:defRPr>
            </a:pPr>
            <a:r>
              <a:rPr sz="5475" b="1">
                <a:solidFill>
                  <a:srgbClr val="123F32"/>
                </a:solidFill>
                <a:latin typeface="Calibri"/>
                <a:ea typeface="Calibri"/>
                <a:cs typeface="Calibri"/>
              </a:rPr>
              <a:t>Rp3 jt</a:t>
            </a:r>
          </a:p>
        </p:txBody>
      </p:sp>
      <p:sp>
        <p:nvSpPr>
          <p:cNvPr id="11" name="text-214">
            <a:extLst xmlns:a="http://schemas.openxmlformats.org/drawingml/2006/main">
              <a:ext uri="{FF2B5EF4-FFF2-40B4-BE49-F238E27FC236}">
                <a16:creationId xmlns:a16="http://schemas.microsoft.com/office/drawing/2014/main" id="{55BA470C-53B6-4003-AE12-AD8C91C1AA46}"/>
              </a:ext>
            </a:extLst>
          </p:cNvPr>
          <p:cNvSpPr>
            <a:spLocks xmlns:a="http://schemas.openxmlformats.org/drawingml/2006/main" noGrp="1"/>
          </p:cNvSpPr>
          <p:nvPr/>
        </p:nvSpPr>
        <p:spPr>
          <a:xfrm xmlns:a="http://schemas.openxmlformats.org/drawingml/2006/main">
            <a:off x="6591300" y="4086225"/>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A27D42"/>
                </a:solidFill>
                <a:latin typeface="Calibri"/>
                <a:ea typeface="Calibri"/>
                <a:cs typeface="Calibri"/>
              </a:defRPr>
            </a:pPr>
            <a:r>
              <a:rPr sz="1650" b="0">
                <a:solidFill>
                  <a:srgbClr val="A27D42"/>
                </a:solidFill>
                <a:latin typeface="Calibri"/>
                <a:ea typeface="Calibri"/>
                <a:cs typeface="Calibri"/>
              </a:rPr>
              <a:t>Usulan pilot per peserta</a:t>
            </a:r>
          </a:p>
        </p:txBody>
      </p:sp>
      <p:sp>
        <p:nvSpPr>
          <p:cNvPr id="12" name="text-215">
            <a:extLst xmlns:a="http://schemas.openxmlformats.org/drawingml/2006/main">
              <a:ext uri="{FF2B5EF4-FFF2-40B4-BE49-F238E27FC236}">
                <a16:creationId xmlns:a16="http://schemas.microsoft.com/office/drawing/2014/main" id="{FE1149C0-F9A3-4747-B237-05F9D0F5E885}"/>
              </a:ext>
            </a:extLst>
          </p:cNvPr>
          <p:cNvSpPr>
            <a:spLocks xmlns:a="http://schemas.openxmlformats.org/drawingml/2006/main" noGrp="1"/>
          </p:cNvSpPr>
          <p:nvPr/>
        </p:nvSpPr>
        <p:spPr>
          <a:xfrm xmlns:a="http://schemas.openxmlformats.org/drawingml/2006/main">
            <a:off x="609600" y="40862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Member hemat 50%</a:t>
            </a:r>
          </a:p>
        </p:txBody>
      </p:sp>
      <p:sp>
        <p:nvSpPr>
          <p:cNvPr id="13" name="">
            <a:extLst xmlns:a="http://schemas.openxmlformats.org/drawingml/2006/main">
              <a:ext uri="{FF2B5EF4-FFF2-40B4-BE49-F238E27FC236}">
                <a16:creationId xmlns:a16="http://schemas.microsoft.com/office/drawing/2014/main" id="{C67C3E5D-6618-4C7C-975F-D2D78E637C45}"/>
              </a:ext>
            </a:extLst>
          </p:cNvPr>
          <p:cNvSpPr>
            <a:spLocks xmlns:a="http://schemas.openxmlformats.org/drawingml/2006/main" noGrp="1"/>
          </p:cNvSpPr>
          <p:nvPr/>
        </p:nvSpPr>
        <p:spPr>
          <a:xfrm xmlns:a="http://schemas.openxmlformats.org/drawingml/2006/main">
            <a:off x="609600" y="49530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216">
            <a:extLst xmlns:a="http://schemas.openxmlformats.org/drawingml/2006/main">
              <a:ext uri="{FF2B5EF4-FFF2-40B4-BE49-F238E27FC236}">
                <a16:creationId xmlns:a16="http://schemas.microsoft.com/office/drawing/2014/main" id="{9C379A23-C46D-4199-8094-B33B74854C58}"/>
              </a:ext>
            </a:extLst>
          </p:cNvPr>
          <p:cNvSpPr>
            <a:spLocks xmlns:a="http://schemas.openxmlformats.org/drawingml/2006/main" noGrp="1"/>
          </p:cNvSpPr>
          <p:nvPr/>
        </p:nvSpPr>
        <p:spPr>
          <a:xfrm xmlns:a="http://schemas.openxmlformats.org/drawingml/2006/main">
            <a:off x="609600" y="51816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6746B"/>
                </a:solidFill>
                <a:latin typeface="Calibri"/>
                <a:ea typeface="Calibri"/>
                <a:cs typeface="Calibri"/>
              </a:defRPr>
            </a:pPr>
            <a:r>
              <a:rPr sz="1500" b="1">
                <a:solidFill>
                  <a:srgbClr val="66746B"/>
                </a:solidFill>
                <a:latin typeface="Calibri"/>
                <a:ea typeface="Calibri"/>
                <a:cs typeface="Calibri"/>
              </a:rPr>
              <a:t>Pembanding paket premium</a:t>
            </a:r>
          </a:p>
        </p:txBody>
      </p:sp>
      <p:sp>
        <p:nvSpPr>
          <p:cNvPr id="15" name="text-217">
            <a:extLst xmlns:a="http://schemas.openxmlformats.org/drawingml/2006/main">
              <a:ext uri="{FF2B5EF4-FFF2-40B4-BE49-F238E27FC236}">
                <a16:creationId xmlns:a16="http://schemas.microsoft.com/office/drawing/2014/main" id="{01EE7C08-F0D4-4E77-8763-E2C040B4EB47}"/>
              </a:ext>
            </a:extLst>
          </p:cNvPr>
          <p:cNvSpPr>
            <a:spLocks xmlns:a="http://schemas.openxmlformats.org/drawingml/2006/main" noGrp="1"/>
          </p:cNvSpPr>
          <p:nvPr/>
        </p:nvSpPr>
        <p:spPr>
          <a:xfrm xmlns:a="http://schemas.openxmlformats.org/drawingml/2006/main">
            <a:off x="4572000" y="51816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Sevenpreneur +Rp3,5 jt</a:t>
            </a:r>
          </a:p>
        </p:txBody>
      </p:sp>
      <p:sp>
        <p:nvSpPr>
          <p:cNvPr id="16" name="text-218">
            <a:extLst xmlns:a="http://schemas.openxmlformats.org/drawingml/2006/main">
              <a:ext uri="{FF2B5EF4-FFF2-40B4-BE49-F238E27FC236}">
                <a16:creationId xmlns:a16="http://schemas.microsoft.com/office/drawing/2014/main" id="{6C170E46-57A0-4265-889A-42204AE3997F}"/>
              </a:ext>
            </a:extLst>
          </p:cNvPr>
          <p:cNvSpPr>
            <a:spLocks xmlns:a="http://schemas.openxmlformats.org/drawingml/2006/main" noGrp="1"/>
          </p:cNvSpPr>
          <p:nvPr/>
        </p:nvSpPr>
        <p:spPr>
          <a:xfrm xmlns:a="http://schemas.openxmlformats.org/drawingml/2006/main">
            <a:off x="8477250" y="51816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Aksoro +Rp6 jt</a:t>
            </a:r>
          </a:p>
        </p:txBody>
      </p:sp>
      <p:sp>
        <p:nvSpPr>
          <p:cNvPr id="17" name="text-219">
            <a:extLst xmlns:a="http://schemas.openxmlformats.org/drawingml/2006/main">
              <a:ext uri="{FF2B5EF4-FFF2-40B4-BE49-F238E27FC236}">
                <a16:creationId xmlns:a16="http://schemas.microsoft.com/office/drawing/2014/main" id="{DBAA30A5-193B-4983-9788-B5875F7BDC28}"/>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Selisih harga untuk seluruh paket premium. Produk mereka berbeda dari Dinner CMC.</a:t>
            </a:r>
          </a:p>
        </p:txBody>
      </p:sp>
    </p:spTree>
    <p:extLst>
      <p:ext uri="{BB962C8B-B14F-4D97-AF65-F5344CB8AC3E}">
        <p14:creationId xmlns:p14="http://schemas.microsoft.com/office/powerpoint/2010/main" val="20567637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220">
            <a:extLst xmlns:a="http://schemas.openxmlformats.org/drawingml/2006/main">
              <a:ext uri="{FF2B5EF4-FFF2-40B4-BE49-F238E27FC236}">
                <a16:creationId xmlns:a16="http://schemas.microsoft.com/office/drawing/2014/main" id="{EE36B30F-8D53-450A-A279-D4116BA9C10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BIAYA INTIMATE DINNER</a:t>
            </a:r>
          </a:p>
        </p:txBody>
      </p:sp>
      <p:sp>
        <p:nvSpPr>
          <p:cNvPr id="2" name="text-221">
            <a:extLst xmlns:a="http://schemas.openxmlformats.org/drawingml/2006/main">
              <a:ext uri="{FF2B5EF4-FFF2-40B4-BE49-F238E27FC236}">
                <a16:creationId xmlns:a16="http://schemas.microsoft.com/office/drawing/2014/main" id="{8BBF2A1E-7E18-49EC-A799-81B1BF8CFD0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Di skenario base, sisa biaya hanya Rp40 rb per peserta</a:t>
            </a:r>
          </a:p>
        </p:txBody>
      </p:sp>
      <p:sp>
        <p:nvSpPr>
          <p:cNvPr id="3" name="text-222">
            <a:extLst xmlns:a="http://schemas.openxmlformats.org/drawingml/2006/main">
              <a:ext uri="{FF2B5EF4-FFF2-40B4-BE49-F238E27FC236}">
                <a16:creationId xmlns:a16="http://schemas.microsoft.com/office/drawing/2014/main" id="{4F51EE0D-0C9A-4E4D-9B8B-3E1310F786C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20 peserta berbayar, 24 orang hadir. Biaya operasional dan pajak tambahan belum masuk.</a:t>
            </a:r>
          </a:p>
        </p:txBody>
      </p:sp>
      <p:sp>
        <p:nvSpPr>
          <p:cNvPr id="4" name="">
            <a:extLst xmlns:a="http://schemas.openxmlformats.org/drawingml/2006/main">
              <a:ext uri="{FF2B5EF4-FFF2-40B4-BE49-F238E27FC236}">
                <a16:creationId xmlns:a16="http://schemas.microsoft.com/office/drawing/2014/main" id="{B22B745B-B90C-4571-B98F-F2C997A75B8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23">
            <a:extLst xmlns:a="http://schemas.openxmlformats.org/drawingml/2006/main">
              <a:ext uri="{FF2B5EF4-FFF2-40B4-BE49-F238E27FC236}">
                <a16:creationId xmlns:a16="http://schemas.microsoft.com/office/drawing/2014/main" id="{742C9A8C-C914-4071-A2CF-4357D45D2399}"/>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Usulan pilot: BEP inti = (24 × venue/head + fee Master) ÷ 20. Venue Rp600 rb–1 jt/head: planning range.</a:t>
            </a:r>
          </a:p>
        </p:txBody>
      </p:sp>
      <p:sp>
        <p:nvSpPr>
          <p:cNvPr id="6" name="text-224">
            <a:extLst xmlns:a="http://schemas.openxmlformats.org/drawingml/2006/main">
              <a:ext uri="{FF2B5EF4-FFF2-40B4-BE49-F238E27FC236}">
                <a16:creationId xmlns:a16="http://schemas.microsoft.com/office/drawing/2014/main" id="{0C3A78F8-D438-44CD-94D2-B7CE8E19FDFD}"/>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13</a:t>
            </a:r>
          </a:p>
        </p:txBody>
      </p:sp>
      <p:sp>
        <p:nvSpPr>
          <p:cNvPr id="7" name="text-225">
            <a:extLst xmlns:a="http://schemas.openxmlformats.org/drawingml/2006/main">
              <a:ext uri="{FF2B5EF4-FFF2-40B4-BE49-F238E27FC236}">
                <a16:creationId xmlns:a16="http://schemas.microsoft.com/office/drawing/2014/main" id="{B4438F8B-8917-4FC3-BC0A-CAE5FF872BC9}"/>
              </a:ext>
            </a:extLst>
          </p:cNvPr>
          <p:cNvSpPr>
            <a:spLocks xmlns:a="http://schemas.openxmlformats.org/drawingml/2006/main" noGrp="1"/>
          </p:cNvSpPr>
          <p:nvPr/>
        </p:nvSpPr>
        <p:spPr>
          <a:xfrm xmlns:a="http://schemas.openxmlformats.org/drawingml/2006/main">
            <a:off x="609600" y="22764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BEP biaya utama / peserta, Rp jt</a:t>
            </a:r>
          </a:p>
        </p:txBody>
      </p:sp>
      <p:graphicFrame>
        <p:nvGraphicFramePr>
          <p:cNvPr id="24" name=""/>
          <p:cNvGraphicFramePr/>
          <p:nvPr/>
        </p:nvGraphicFramePr>
        <p:xfrm>
          <a:off xmlns:a="http://schemas.openxmlformats.org/drawingml/2006/main" x="609600" y="2724150"/>
          <a:ext xmlns:a="http://schemas.openxmlformats.org/drawingml/2006/main" cx="6896100" cy="2628900"/>
        </p:xfrm>
        <a:graphic xmlns:a="http://schemas.openxmlformats.org/drawingml/2006/main">
          <a:graphicData uri="http://schemas.openxmlformats.org/drawingml/2006/table">
            <a:tbl>
              <a:tblPr/>
              <a:tblGrid>
                <a:gridCol w="2095500"/>
                <a:gridCol w="1600200"/>
                <a:gridCol w="1600200"/>
                <a:gridCol w="1600200"/>
              </a:tblGrid>
              <a:tr h="438150">
                <a:tc>
                  <a:txBody>
                    <a:bodyPr lIns="95250" tIns="76200" rIns="95250" bIns="57150"/>
                    <a:lstStyle/>
                    <a:p>
                      <a:r>
                        <a:rPr sz="1650" b="1">
                          <a:solidFill>
                            <a:srgbClr val="FFFFFF"/>
                          </a:solidFill>
                          <a:latin typeface="Calibri"/>
                          <a:ea typeface="Calibri"/>
                          <a:cs typeface="Calibri"/>
                        </a:rPr>
                        <a:t>Fee Master</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Rp600 rb</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Rp800 rb</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Rp1 jt</a:t>
                      </a:r>
                    </a:p>
                  </a:txBody>
                  <a:tcPr marL="91440" marR="91440" marT="45720" marB="45720">
                    <a:solidFill>
                      <a:srgbClr val="123F32"/>
                    </a:solidFill>
                  </a:tcPr>
                </a:tc>
              </a:tr>
              <a:tr h="438150">
                <a:tc>
                  <a:txBody>
                    <a:bodyPr lIns="95250" tIns="76200" rIns="95250" bIns="57150"/>
                    <a:lstStyle/>
                    <a:p>
                      <a:r>
                        <a:rPr sz="1650" b="0">
                          <a:solidFill>
                            <a:srgbClr val="293D34"/>
                          </a:solidFill>
                          <a:latin typeface="Calibri"/>
                          <a:ea typeface="Calibri"/>
                          <a:cs typeface="Calibri"/>
                        </a:rPr>
                        <a:t>Rp0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0,72</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0,96</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1,20</a:t>
                      </a:r>
                    </a:p>
                  </a:txBody>
                  <a:tcPr marL="91440" marR="91440" marT="45720" marB="45720">
                    <a:solidFill>
                      <a:srgbClr val="EAF1EC"/>
                    </a:solidFill>
                  </a:tcPr>
                </a:tc>
              </a:tr>
              <a:tr h="438150">
                <a:tc>
                  <a:txBody>
                    <a:bodyPr lIns="95250" tIns="76200" rIns="95250" bIns="57150"/>
                    <a:lstStyle/>
                    <a:p>
                      <a:r>
                        <a:rPr sz="1650" b="0">
                          <a:solidFill>
                            <a:srgbClr val="293D34"/>
                          </a:solidFill>
                          <a:latin typeface="Calibri"/>
                          <a:ea typeface="Calibri"/>
                          <a:cs typeface="Calibri"/>
                        </a:rPr>
                        <a:t>Rp5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0,97</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1,21</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1,45</a:t>
                      </a:r>
                    </a:p>
                  </a:txBody>
                  <a:tcPr marL="91440" marR="91440" marT="45720" marB="45720">
                    <a:solidFill>
                      <a:srgbClr val="EAF1EC"/>
                    </a:solidFill>
                  </a:tcPr>
                </a:tc>
              </a:tr>
              <a:tr h="438150">
                <a:tc>
                  <a:txBody>
                    <a:bodyPr lIns="95250" tIns="76200" rIns="95250" bIns="57150"/>
                    <a:lstStyle/>
                    <a:p>
                      <a:r>
                        <a:rPr sz="1650" b="0">
                          <a:solidFill>
                            <a:srgbClr val="293D34"/>
                          </a:solidFill>
                          <a:latin typeface="Calibri"/>
                          <a:ea typeface="Calibri"/>
                          <a:cs typeface="Calibri"/>
                        </a:rPr>
                        <a:t>Rp10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1,22</a:t>
                      </a:r>
                    </a:p>
                  </a:txBody>
                  <a:tcPr marL="91440" marR="91440" marT="45720" marB="45720">
                    <a:solidFill>
                      <a:srgbClr val="EAF1EC"/>
                    </a:solidFill>
                  </a:tcPr>
                </a:tc>
                <a:tc>
                  <a:txBody>
                    <a:bodyPr lIns="95250" tIns="76200" rIns="95250" bIns="57150"/>
                    <a:lstStyle/>
                    <a:p>
                      <a:r>
                        <a:rPr sz="1725" b="1">
                          <a:solidFill>
                            <a:srgbClr val="FFFFFF"/>
                          </a:solidFill>
                          <a:latin typeface="Calibri"/>
                          <a:ea typeface="Calibri"/>
                          <a:cs typeface="Calibri"/>
                        </a:rPr>
                        <a:t>1,46</a:t>
                      </a:r>
                    </a:p>
                  </a:txBody>
                  <a:tcPr marL="91440" marR="91440" marT="45720" marB="45720">
                    <a:solidFill>
                      <a:srgbClr val="123F32"/>
                    </a:solidFill>
                  </a:tcPr>
                </a:tc>
                <a:tc>
                  <a:txBody>
                    <a:bodyPr lIns="95250" tIns="76200" rIns="95250" bIns="57150"/>
                    <a:lstStyle/>
                    <a:p>
                      <a:r>
                        <a:rPr sz="1650" b="0">
                          <a:solidFill>
                            <a:srgbClr val="293D34"/>
                          </a:solidFill>
                          <a:latin typeface="Calibri"/>
                          <a:ea typeface="Calibri"/>
                          <a:cs typeface="Calibri"/>
                        </a:rPr>
                        <a:t>1,70</a:t>
                      </a:r>
                    </a:p>
                  </a:txBody>
                  <a:tcPr marL="91440" marR="91440" marT="45720" marB="45720">
                    <a:solidFill>
                      <a:srgbClr val="F2F2F2"/>
                    </a:solidFill>
                  </a:tcPr>
                </a:tc>
              </a:tr>
              <a:tr h="438150">
                <a:tc>
                  <a:txBody>
                    <a:bodyPr lIns="95250" tIns="76200" rIns="95250" bIns="57150"/>
                    <a:lstStyle/>
                    <a:p>
                      <a:r>
                        <a:rPr sz="1650" b="0">
                          <a:solidFill>
                            <a:srgbClr val="293D34"/>
                          </a:solidFill>
                          <a:latin typeface="Calibri"/>
                          <a:ea typeface="Calibri"/>
                          <a:cs typeface="Calibri"/>
                        </a:rPr>
                        <a:t>Rp15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1,47</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1,71</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1,95</a:t>
                      </a:r>
                    </a:p>
                  </a:txBody>
                  <a:tcPr marL="91440" marR="91440" marT="45720" marB="45720">
                    <a:solidFill>
                      <a:srgbClr val="F2F2F2"/>
                    </a:solidFill>
                  </a:tcPr>
                </a:tc>
              </a:tr>
              <a:tr h="438150">
                <a:tc>
                  <a:txBody>
                    <a:bodyPr lIns="95250" tIns="76200" rIns="95250" bIns="57150"/>
                    <a:lstStyle/>
                    <a:p>
                      <a:r>
                        <a:rPr sz="1650" b="0">
                          <a:solidFill>
                            <a:srgbClr val="293D34"/>
                          </a:solidFill>
                          <a:latin typeface="Calibri"/>
                          <a:ea typeface="Calibri"/>
                          <a:cs typeface="Calibri"/>
                        </a:rPr>
                        <a:t>Rp20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1,72</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1,96</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2,20</a:t>
                      </a:r>
                    </a:p>
                  </a:txBody>
                  <a:tcPr marL="91440" marR="91440" marT="45720" marB="45720">
                    <a:solidFill>
                      <a:srgbClr val="F2F2F2"/>
                    </a:solidFill>
                  </a:tcPr>
                </a:tc>
              </a:tr>
            </a:tbl>
          </a:graphicData>
        </a:graphic>
      </p:graphicFrame>
      <p:sp>
        <p:nvSpPr>
          <p:cNvPr id="9" name="text-226">
            <a:extLst xmlns:a="http://schemas.openxmlformats.org/drawingml/2006/main">
              <a:ext uri="{FF2B5EF4-FFF2-40B4-BE49-F238E27FC236}">
                <a16:creationId xmlns:a16="http://schemas.microsoft.com/office/drawing/2014/main" id="{4199D922-4D71-4921-8B4C-612641B9B168}"/>
              </a:ext>
            </a:extLst>
          </p:cNvPr>
          <p:cNvSpPr>
            <a:spLocks xmlns:a="http://schemas.openxmlformats.org/drawingml/2006/main" noGrp="1"/>
          </p:cNvSpPr>
          <p:nvPr/>
        </p:nvSpPr>
        <p:spPr>
          <a:xfrm xmlns:a="http://schemas.openxmlformats.org/drawingml/2006/main">
            <a:off x="8667750"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SKENARIO BASE</a:t>
            </a:r>
          </a:p>
        </p:txBody>
      </p:sp>
      <p:sp>
        <p:nvSpPr>
          <p:cNvPr id="10" name="text-227">
            <a:extLst xmlns:a="http://schemas.openxmlformats.org/drawingml/2006/main">
              <a:ext uri="{FF2B5EF4-FFF2-40B4-BE49-F238E27FC236}">
                <a16:creationId xmlns:a16="http://schemas.microsoft.com/office/drawing/2014/main" id="{DE9200A9-7832-4533-9925-2AF1EE99D027}"/>
              </a:ext>
            </a:extLst>
          </p:cNvPr>
          <p:cNvSpPr>
            <a:spLocks xmlns:a="http://schemas.openxmlformats.org/drawingml/2006/main" noGrp="1"/>
          </p:cNvSpPr>
          <p:nvPr/>
        </p:nvSpPr>
        <p:spPr>
          <a:xfrm xmlns:a="http://schemas.openxmlformats.org/drawingml/2006/main">
            <a:off x="8667750" y="27908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3F32"/>
                </a:solidFill>
                <a:latin typeface="Calibri"/>
                <a:ea typeface="Calibri"/>
                <a:cs typeface="Calibri"/>
              </a:defRPr>
            </a:pPr>
            <a:r>
              <a:rPr sz="3600" b="1">
                <a:solidFill>
                  <a:srgbClr val="123F32"/>
                </a:solidFill>
                <a:latin typeface="Calibri"/>
                <a:ea typeface="Calibri"/>
                <a:cs typeface="Calibri"/>
              </a:rPr>
              <a:t>Rp1,46 jt</a:t>
            </a:r>
          </a:p>
        </p:txBody>
      </p:sp>
      <p:sp>
        <p:nvSpPr>
          <p:cNvPr id="11" name="text-228">
            <a:extLst xmlns:a="http://schemas.openxmlformats.org/drawingml/2006/main">
              <a:ext uri="{FF2B5EF4-FFF2-40B4-BE49-F238E27FC236}">
                <a16:creationId xmlns:a16="http://schemas.microsoft.com/office/drawing/2014/main" id="{BD02BD49-FAB2-4D99-8208-3B417C7D9F7B}"/>
              </a:ext>
            </a:extLst>
          </p:cNvPr>
          <p:cNvSpPr>
            <a:spLocks xmlns:a="http://schemas.openxmlformats.org/drawingml/2006/main" noGrp="1"/>
          </p:cNvSpPr>
          <p:nvPr/>
        </p:nvSpPr>
        <p:spPr>
          <a:xfrm xmlns:a="http://schemas.openxmlformats.org/drawingml/2006/main">
            <a:off x="8667750" y="35147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BEP utama per peserta</a:t>
            </a:r>
          </a:p>
        </p:txBody>
      </p:sp>
      <p:sp>
        <p:nvSpPr>
          <p:cNvPr id="12" name="text-229">
            <a:extLst xmlns:a="http://schemas.openxmlformats.org/drawingml/2006/main">
              <a:ext uri="{FF2B5EF4-FFF2-40B4-BE49-F238E27FC236}">
                <a16:creationId xmlns:a16="http://schemas.microsoft.com/office/drawing/2014/main" id="{2FD7BDCC-E654-4F1A-9B02-1D20C2F99DEA}"/>
              </a:ext>
            </a:extLst>
          </p:cNvPr>
          <p:cNvSpPr>
            <a:spLocks xmlns:a="http://schemas.openxmlformats.org/drawingml/2006/main" noGrp="1"/>
          </p:cNvSpPr>
          <p:nvPr/>
        </p:nvSpPr>
        <p:spPr>
          <a:xfrm xmlns:a="http://schemas.openxmlformats.org/drawingml/2006/main">
            <a:off x="8667750" y="40195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Harga member Rp1,5 jt</a:t>
            </a:r>
          </a:p>
        </p:txBody>
      </p:sp>
      <p:sp>
        <p:nvSpPr>
          <p:cNvPr id="13" name="text-230">
            <a:extLst xmlns:a="http://schemas.openxmlformats.org/drawingml/2006/main">
              <a:ext uri="{FF2B5EF4-FFF2-40B4-BE49-F238E27FC236}">
                <a16:creationId xmlns:a16="http://schemas.microsoft.com/office/drawing/2014/main" id="{26E479F9-6F99-4834-825F-16CD9340345F}"/>
              </a:ext>
            </a:extLst>
          </p:cNvPr>
          <p:cNvSpPr>
            <a:spLocks xmlns:a="http://schemas.openxmlformats.org/drawingml/2006/main" noGrp="1"/>
          </p:cNvSpPr>
          <p:nvPr/>
        </p:nvSpPr>
        <p:spPr>
          <a:xfrm xmlns:a="http://schemas.openxmlformats.org/drawingml/2006/main">
            <a:off x="8667750" y="45148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A27D42"/>
                </a:solidFill>
                <a:latin typeface="Calibri"/>
                <a:ea typeface="Calibri"/>
                <a:cs typeface="Calibri"/>
              </a:defRPr>
            </a:pPr>
            <a:r>
              <a:rPr sz="3300" b="1">
                <a:solidFill>
                  <a:srgbClr val="A27D42"/>
                </a:solidFill>
                <a:latin typeface="Calibri"/>
                <a:ea typeface="Calibri"/>
                <a:cs typeface="Calibri"/>
              </a:rPr>
              <a:t>Rp40 rb</a:t>
            </a:r>
          </a:p>
        </p:txBody>
      </p:sp>
      <p:sp>
        <p:nvSpPr>
          <p:cNvPr id="14" name="text-231">
            <a:extLst xmlns:a="http://schemas.openxmlformats.org/drawingml/2006/main">
              <a:ext uri="{FF2B5EF4-FFF2-40B4-BE49-F238E27FC236}">
                <a16:creationId xmlns:a16="http://schemas.microsoft.com/office/drawing/2014/main" id="{2199FD11-B061-4F55-B59F-884AAA5797A8}"/>
              </a:ext>
            </a:extLst>
          </p:cNvPr>
          <p:cNvSpPr>
            <a:spLocks xmlns:a="http://schemas.openxmlformats.org/drawingml/2006/main" noGrp="1"/>
          </p:cNvSpPr>
          <p:nvPr/>
        </p:nvSpPr>
        <p:spPr>
          <a:xfrm xmlns:a="http://schemas.openxmlformats.org/drawingml/2006/main">
            <a:off x="8667750" y="51625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sisa per peserta sebelum biaya lain</a:t>
            </a:r>
          </a:p>
        </p:txBody>
      </p:sp>
      <p:sp>
        <p:nvSpPr>
          <p:cNvPr id="15" name="">
            <a:extLst xmlns:a="http://schemas.openxmlformats.org/drawingml/2006/main">
              <a:ext uri="{FF2B5EF4-FFF2-40B4-BE49-F238E27FC236}">
                <a16:creationId xmlns:a16="http://schemas.microsoft.com/office/drawing/2014/main" id="{C692240A-31C4-4ABF-86DF-7F4ED21978D6}"/>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6" name="text-232">
            <a:extLst xmlns:a="http://schemas.openxmlformats.org/drawingml/2006/main">
              <a:ext uri="{FF2B5EF4-FFF2-40B4-BE49-F238E27FC236}">
                <a16:creationId xmlns:a16="http://schemas.microsoft.com/office/drawing/2014/main" id="{B5E846B4-F57D-435D-9BD5-AD6E01D94E9C}"/>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member perlu biaya yang terkendali, sponsor, atau tambahan peserta non-member.</a:t>
            </a:r>
          </a:p>
        </p:txBody>
      </p:sp>
    </p:spTree>
    <p:extLst>
      <p:ext uri="{BB962C8B-B14F-4D97-AF65-F5344CB8AC3E}">
        <p14:creationId xmlns:p14="http://schemas.microsoft.com/office/powerpoint/2010/main" val="15811900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233">
            <a:extLst xmlns:a="http://schemas.openxmlformats.org/drawingml/2006/main">
              <a:ext uri="{FF2B5EF4-FFF2-40B4-BE49-F238E27FC236}">
                <a16:creationId xmlns:a16="http://schemas.microsoft.com/office/drawing/2014/main" id="{0E250EFC-0F12-4DE4-AFD8-21950B0CC2F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PERSIAPAN PILOT</a:t>
            </a:r>
          </a:p>
        </p:txBody>
      </p:sp>
      <p:sp>
        <p:nvSpPr>
          <p:cNvPr id="2" name="text-234">
            <a:extLst xmlns:a="http://schemas.openxmlformats.org/drawingml/2006/main">
              <a:ext uri="{FF2B5EF4-FFF2-40B4-BE49-F238E27FC236}">
                <a16:creationId xmlns:a16="http://schemas.microsoft.com/office/drawing/2014/main" id="{80A0BC18-89A2-42D5-A876-0F9BD504DC1A}"/>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Empat hal masih perlu kita pastikan sebelum melangkah</a:t>
            </a:r>
          </a:p>
        </p:txBody>
      </p:sp>
      <p:sp>
        <p:nvSpPr>
          <p:cNvPr id="3" name="text-235">
            <a:extLst xmlns:a="http://schemas.openxmlformats.org/drawingml/2006/main">
              <a:ext uri="{FF2B5EF4-FFF2-40B4-BE49-F238E27FC236}">
                <a16:creationId xmlns:a16="http://schemas.microsoft.com/office/drawing/2014/main" id="{498D3D0B-F831-422E-865B-43AFDAB3459F}"/>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Budget sudah ada. Detail vendor, kontrak speaker, dan sertifikasi perlu dipastikan.</a:t>
            </a:r>
          </a:p>
        </p:txBody>
      </p:sp>
      <p:sp>
        <p:nvSpPr>
          <p:cNvPr id="4" name="">
            <a:extLst xmlns:a="http://schemas.openxmlformats.org/drawingml/2006/main">
              <a:ext uri="{FF2B5EF4-FFF2-40B4-BE49-F238E27FC236}">
                <a16:creationId xmlns:a16="http://schemas.microsoft.com/office/drawing/2014/main" id="{BB3FA49B-C927-4576-A15B-811B2960F33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36">
            <a:extLst xmlns:a="http://schemas.openxmlformats.org/drawingml/2006/main">
              <a:ext uri="{FF2B5EF4-FFF2-40B4-BE49-F238E27FC236}">
                <a16:creationId xmlns:a16="http://schemas.microsoft.com/office/drawing/2014/main" id="{1DEDD953-A397-4A2F-B154-98B3A821EB6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37">
            <a:extLst xmlns:a="http://schemas.openxmlformats.org/drawingml/2006/main">
              <a:ext uri="{FF2B5EF4-FFF2-40B4-BE49-F238E27FC236}">
                <a16:creationId xmlns:a16="http://schemas.microsoft.com/office/drawing/2014/main" id="{F71E5F96-3B88-4A97-AC77-CC622A8D8DC0}"/>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14</a:t>
            </a:r>
          </a:p>
        </p:txBody>
      </p:sp>
      <p:sp>
        <p:nvSpPr>
          <p:cNvPr id="7" name="text-238">
            <a:extLst xmlns:a="http://schemas.openxmlformats.org/drawingml/2006/main">
              <a:ext uri="{FF2B5EF4-FFF2-40B4-BE49-F238E27FC236}">
                <a16:creationId xmlns:a16="http://schemas.microsoft.com/office/drawing/2014/main" id="{F1EAA721-F06E-4A41-B51E-C8B8D1DBB411}"/>
              </a:ext>
            </a:extLst>
          </p:cNvPr>
          <p:cNvSpPr>
            <a:spLocks xmlns:a="http://schemas.openxmlformats.org/drawingml/2006/main" noGrp="1"/>
          </p:cNvSpPr>
          <p:nvPr/>
        </p:nvSpPr>
        <p:spPr>
          <a:xfrm xmlns:a="http://schemas.openxmlformats.org/drawingml/2006/main">
            <a:off x="609600" y="2390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Zoom</a:t>
            </a:r>
          </a:p>
        </p:txBody>
      </p:sp>
      <p:sp>
        <p:nvSpPr>
          <p:cNvPr id="8" name="text-239">
            <a:extLst xmlns:a="http://schemas.openxmlformats.org/drawingml/2006/main">
              <a:ext uri="{FF2B5EF4-FFF2-40B4-BE49-F238E27FC236}">
                <a16:creationId xmlns:a16="http://schemas.microsoft.com/office/drawing/2014/main" id="{CB7A56C4-E6DC-41C4-B9E7-769235A0C646}"/>
              </a:ext>
            </a:extLst>
          </p:cNvPr>
          <p:cNvSpPr>
            <a:spLocks xmlns:a="http://schemas.openxmlformats.org/drawingml/2006/main" noGrp="1"/>
          </p:cNvSpPr>
          <p:nvPr/>
        </p:nvSpPr>
        <p:spPr>
          <a:xfrm xmlns:a="http://schemas.openxmlformats.org/drawingml/2006/main">
            <a:off x="3143250" y="2390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±Rp2,66 jt / bulan</a:t>
            </a:r>
          </a:p>
        </p:txBody>
      </p:sp>
      <p:sp>
        <p:nvSpPr>
          <p:cNvPr id="9" name="text-240">
            <a:extLst xmlns:a="http://schemas.openxmlformats.org/drawingml/2006/main">
              <a:ext uri="{FF2B5EF4-FFF2-40B4-BE49-F238E27FC236}">
                <a16:creationId xmlns:a16="http://schemas.microsoft.com/office/drawing/2014/main" id="{19173D08-1411-455D-8D5B-99F692E7CD5E}"/>
              </a:ext>
            </a:extLst>
          </p:cNvPr>
          <p:cNvSpPr>
            <a:spLocks xmlns:a="http://schemas.openxmlformats.org/drawingml/2006/main" noGrp="1"/>
          </p:cNvSpPr>
          <p:nvPr/>
        </p:nvSpPr>
        <p:spPr>
          <a:xfrm xmlns:a="http://schemas.openxmlformats.org/drawingml/2006/main">
            <a:off x="6858000" y="2390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Harga checkout, kapasitas dan siklus tagihan</a:t>
            </a:r>
          </a:p>
        </p:txBody>
      </p:sp>
      <p:sp>
        <p:nvSpPr>
          <p:cNvPr id="10" name="">
            <a:extLst xmlns:a="http://schemas.openxmlformats.org/drawingml/2006/main">
              <a:ext uri="{FF2B5EF4-FFF2-40B4-BE49-F238E27FC236}">
                <a16:creationId xmlns:a16="http://schemas.microsoft.com/office/drawing/2014/main" id="{9F181FBC-43DB-4224-B70C-EAD5D015081D}"/>
              </a:ext>
            </a:extLst>
          </p:cNvPr>
          <p:cNvSpPr>
            <a:spLocks xmlns:a="http://schemas.openxmlformats.org/drawingml/2006/main" noGrp="1"/>
          </p:cNvSpPr>
          <p:nvPr/>
        </p:nvSpPr>
        <p:spPr>
          <a:xfrm xmlns:a="http://schemas.openxmlformats.org/drawingml/2006/main">
            <a:off x="609600" y="3009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1" name="text-241">
            <a:extLst xmlns:a="http://schemas.openxmlformats.org/drawingml/2006/main">
              <a:ext uri="{FF2B5EF4-FFF2-40B4-BE49-F238E27FC236}">
                <a16:creationId xmlns:a16="http://schemas.microsoft.com/office/drawing/2014/main" id="{A98E3BE7-D965-4E84-8AD4-4C5C2249CBDE}"/>
              </a:ext>
            </a:extLst>
          </p:cNvPr>
          <p:cNvSpPr>
            <a:spLocks xmlns:a="http://schemas.openxmlformats.org/drawingml/2006/main" noGrp="1"/>
          </p:cNvSpPr>
          <p:nvPr/>
        </p:nvSpPr>
        <p:spPr>
          <a:xfrm xmlns:a="http://schemas.openxmlformats.org/drawingml/2006/main">
            <a:off x="609600" y="3152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Speaker</a:t>
            </a:r>
          </a:p>
        </p:txBody>
      </p:sp>
      <p:sp>
        <p:nvSpPr>
          <p:cNvPr id="12" name="text-242">
            <a:extLst xmlns:a="http://schemas.openxmlformats.org/drawingml/2006/main">
              <a:ext uri="{FF2B5EF4-FFF2-40B4-BE49-F238E27FC236}">
                <a16:creationId xmlns:a16="http://schemas.microsoft.com/office/drawing/2014/main" id="{34B82AFF-A288-433D-BE9F-B4D976EA9ED2}"/>
              </a:ext>
            </a:extLst>
          </p:cNvPr>
          <p:cNvSpPr>
            <a:spLocks xmlns:a="http://schemas.openxmlformats.org/drawingml/2006/main" noGrp="1"/>
          </p:cNvSpPr>
          <p:nvPr/>
        </p:nvSpPr>
        <p:spPr>
          <a:xfrm xmlns:a="http://schemas.openxmlformats.org/drawingml/2006/main">
            <a:off x="3143250" y="3152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Rp3–5 jt / sesi</a:t>
            </a:r>
          </a:p>
        </p:txBody>
      </p:sp>
      <p:sp>
        <p:nvSpPr>
          <p:cNvPr id="13" name="text-243">
            <a:extLst xmlns:a="http://schemas.openxmlformats.org/drawingml/2006/main">
              <a:ext uri="{FF2B5EF4-FFF2-40B4-BE49-F238E27FC236}">
                <a16:creationId xmlns:a16="http://schemas.microsoft.com/office/drawing/2014/main" id="{34ECA07B-B4A2-46CF-B4E8-E351C7B8BFFE}"/>
              </a:ext>
            </a:extLst>
          </p:cNvPr>
          <p:cNvSpPr>
            <a:spLocks xmlns:a="http://schemas.openxmlformats.org/drawingml/2006/main" noGrp="1"/>
          </p:cNvSpPr>
          <p:nvPr/>
        </p:nvSpPr>
        <p:spPr>
          <a:xfrm xmlns:a="http://schemas.openxmlformats.org/drawingml/2006/main">
            <a:off x="6858000" y="3152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Kesediaan, jadwal, gross/nett dan hak rekaman</a:t>
            </a:r>
          </a:p>
        </p:txBody>
      </p:sp>
      <p:sp>
        <p:nvSpPr>
          <p:cNvPr id="14" name="">
            <a:extLst xmlns:a="http://schemas.openxmlformats.org/drawingml/2006/main">
              <a:ext uri="{FF2B5EF4-FFF2-40B4-BE49-F238E27FC236}">
                <a16:creationId xmlns:a16="http://schemas.microsoft.com/office/drawing/2014/main" id="{D8FB0BF2-ACD2-41C3-9183-18D351F2B69A}"/>
              </a:ext>
            </a:extLst>
          </p:cNvPr>
          <p:cNvSpPr>
            <a:spLocks xmlns:a="http://schemas.openxmlformats.org/drawingml/2006/main" noGrp="1"/>
          </p:cNvSpPr>
          <p:nvPr/>
        </p:nvSpPr>
        <p:spPr>
          <a:xfrm xmlns:a="http://schemas.openxmlformats.org/drawingml/2006/main">
            <a:off x="609600" y="3771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244">
            <a:extLst xmlns:a="http://schemas.openxmlformats.org/drawingml/2006/main">
              <a:ext uri="{FF2B5EF4-FFF2-40B4-BE49-F238E27FC236}">
                <a16:creationId xmlns:a16="http://schemas.microsoft.com/office/drawing/2014/main" id="{BF1B0AB6-1AB0-451F-A0C6-8FAF668071D0}"/>
              </a:ext>
            </a:extLst>
          </p:cNvPr>
          <p:cNvSpPr>
            <a:spLocks xmlns:a="http://schemas.openxmlformats.org/drawingml/2006/main" noGrp="1"/>
          </p:cNvSpPr>
          <p:nvPr/>
        </p:nvSpPr>
        <p:spPr>
          <a:xfrm xmlns:a="http://schemas.openxmlformats.org/drawingml/2006/main">
            <a:off x="609600" y="3914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Dinner</a:t>
            </a:r>
          </a:p>
        </p:txBody>
      </p:sp>
      <p:sp>
        <p:nvSpPr>
          <p:cNvPr id="16" name="text-245">
            <a:extLst xmlns:a="http://schemas.openxmlformats.org/drawingml/2006/main">
              <a:ext uri="{FF2B5EF4-FFF2-40B4-BE49-F238E27FC236}">
                <a16:creationId xmlns:a16="http://schemas.microsoft.com/office/drawing/2014/main" id="{E85A4A37-06D5-4411-B0D9-45B3D9E97130}"/>
              </a:ext>
            </a:extLst>
          </p:cNvPr>
          <p:cNvSpPr>
            <a:spLocks xmlns:a="http://schemas.openxmlformats.org/drawingml/2006/main" noGrp="1"/>
          </p:cNvSpPr>
          <p:nvPr/>
        </p:nvSpPr>
        <p:spPr>
          <a:xfrm xmlns:a="http://schemas.openxmlformats.org/drawingml/2006/main">
            <a:off x="3143250" y="3914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BEP inti Rp1,46 jt</a:t>
            </a:r>
          </a:p>
        </p:txBody>
      </p:sp>
      <p:sp>
        <p:nvSpPr>
          <p:cNvPr id="17" name="text-246">
            <a:extLst xmlns:a="http://schemas.openxmlformats.org/drawingml/2006/main">
              <a:ext uri="{FF2B5EF4-FFF2-40B4-BE49-F238E27FC236}">
                <a16:creationId xmlns:a16="http://schemas.microsoft.com/office/drawing/2014/main" id="{D7CE2B97-D434-4915-AA97-9A5A1AFA4FA0}"/>
              </a:ext>
            </a:extLst>
          </p:cNvPr>
          <p:cNvSpPr>
            <a:spLocks xmlns:a="http://schemas.openxmlformats.org/drawingml/2006/main" noGrp="1"/>
          </p:cNvSpPr>
          <p:nvPr/>
        </p:nvSpPr>
        <p:spPr>
          <a:xfrm xmlns:a="http://schemas.openxmlformats.org/drawingml/2006/main">
            <a:off x="6858000" y="3914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Fee Master, penawaran venue, dan biaya lain</a:t>
            </a:r>
          </a:p>
        </p:txBody>
      </p:sp>
      <p:sp>
        <p:nvSpPr>
          <p:cNvPr id="18" name="">
            <a:extLst xmlns:a="http://schemas.openxmlformats.org/drawingml/2006/main">
              <a:ext uri="{FF2B5EF4-FFF2-40B4-BE49-F238E27FC236}">
                <a16:creationId xmlns:a16="http://schemas.microsoft.com/office/drawing/2014/main" id="{235DAFE9-AEC1-48C4-80B2-3AC1A27E0042}"/>
              </a:ext>
            </a:extLst>
          </p:cNvPr>
          <p:cNvSpPr>
            <a:spLocks xmlns:a="http://schemas.openxmlformats.org/drawingml/2006/main" noGrp="1"/>
          </p:cNvSpPr>
          <p:nvPr/>
        </p:nvSpPr>
        <p:spPr>
          <a:xfrm xmlns:a="http://schemas.openxmlformats.org/drawingml/2006/main">
            <a:off x="609600" y="4533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9" name="text-247">
            <a:extLst xmlns:a="http://schemas.openxmlformats.org/drawingml/2006/main">
              <a:ext uri="{FF2B5EF4-FFF2-40B4-BE49-F238E27FC236}">
                <a16:creationId xmlns:a16="http://schemas.microsoft.com/office/drawing/2014/main" id="{ED69591E-D5AD-4654-80F5-E1364555D4F9}"/>
              </a:ext>
            </a:extLst>
          </p:cNvPr>
          <p:cNvSpPr>
            <a:spLocks xmlns:a="http://schemas.openxmlformats.org/drawingml/2006/main" noGrp="1"/>
          </p:cNvSpPr>
          <p:nvPr/>
        </p:nvSpPr>
        <p:spPr>
          <a:xfrm xmlns:a="http://schemas.openxmlformats.org/drawingml/2006/main">
            <a:off x="609600" y="4676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Sertifikasi</a:t>
            </a:r>
          </a:p>
        </p:txBody>
      </p:sp>
      <p:sp>
        <p:nvSpPr>
          <p:cNvPr id="20" name="text-248">
            <a:extLst xmlns:a="http://schemas.openxmlformats.org/drawingml/2006/main">
              <a:ext uri="{FF2B5EF4-FFF2-40B4-BE49-F238E27FC236}">
                <a16:creationId xmlns:a16="http://schemas.microsoft.com/office/drawing/2014/main" id="{3C1CE596-EA45-4688-9041-EA10B0499D8E}"/>
              </a:ext>
            </a:extLst>
          </p:cNvPr>
          <p:cNvSpPr>
            <a:spLocks xmlns:a="http://schemas.openxmlformats.org/drawingml/2006/main" noGrp="1"/>
          </p:cNvSpPr>
          <p:nvPr/>
        </p:nvSpPr>
        <p:spPr>
          <a:xfrm xmlns:a="http://schemas.openxmlformats.org/drawingml/2006/main">
            <a:off x="3143250" y="4676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~Rp1,7 jt benchmark</a:t>
            </a:r>
          </a:p>
        </p:txBody>
      </p:sp>
      <p:sp>
        <p:nvSpPr>
          <p:cNvPr id="21" name="text-249">
            <a:extLst xmlns:a="http://schemas.openxmlformats.org/drawingml/2006/main">
              <a:ext uri="{FF2B5EF4-FFF2-40B4-BE49-F238E27FC236}">
                <a16:creationId xmlns:a16="http://schemas.microsoft.com/office/drawing/2014/main" id="{CD406A63-9E31-45E0-A73F-DC11364D82C2}"/>
              </a:ext>
            </a:extLst>
          </p:cNvPr>
          <p:cNvSpPr>
            <a:spLocks xmlns:a="http://schemas.openxmlformats.org/drawingml/2006/main" noGrp="1"/>
          </p:cNvSpPr>
          <p:nvPr/>
        </p:nvSpPr>
        <p:spPr>
          <a:xfrm xmlns:a="http://schemas.openxmlformats.org/drawingml/2006/main">
            <a:off x="6858000" y="4676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LSP berlisensi + skema + struktur biaya</a:t>
            </a:r>
          </a:p>
        </p:txBody>
      </p:sp>
      <p:sp>
        <p:nvSpPr>
          <p:cNvPr id="22" name="">
            <a:extLst xmlns:a="http://schemas.openxmlformats.org/drawingml/2006/main">
              <a:ext uri="{FF2B5EF4-FFF2-40B4-BE49-F238E27FC236}">
                <a16:creationId xmlns:a16="http://schemas.microsoft.com/office/drawing/2014/main" id="{1A77FCF3-F273-4D00-A0C3-E0384C390BF8}"/>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3" name="text-250">
            <a:extLst xmlns:a="http://schemas.openxmlformats.org/drawingml/2006/main">
              <a:ext uri="{FF2B5EF4-FFF2-40B4-BE49-F238E27FC236}">
                <a16:creationId xmlns:a16="http://schemas.microsoft.com/office/drawing/2014/main" id="{FD02AE6B-4F92-4995-81BD-A6542032FB14}"/>
              </a:ext>
            </a:extLst>
          </p:cNvPr>
          <p:cNvSpPr>
            <a:spLocks xmlns:a="http://schemas.openxmlformats.org/drawingml/2006/main" noGrp="1"/>
          </p:cNvSpPr>
          <p:nvPr/>
        </p:nvSpPr>
        <p:spPr>
          <a:xfrm xmlns:a="http://schemas.openxmlformats.org/drawingml/2006/main">
            <a:off x="609600" y="58293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Sertifikasi untuk paket premium bisa disiapkan sambil Founder Live berjalan.</a:t>
            </a:r>
          </a:p>
        </p:txBody>
      </p:sp>
    </p:spTree>
    <p:extLst>
      <p:ext uri="{BB962C8B-B14F-4D97-AF65-F5344CB8AC3E}">
        <p14:creationId xmlns:p14="http://schemas.microsoft.com/office/powerpoint/2010/main" val="5507386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251">
            <a:extLst xmlns:a="http://schemas.openxmlformats.org/drawingml/2006/main">
              <a:ext uri="{FF2B5EF4-FFF2-40B4-BE49-F238E27FC236}">
                <a16:creationId xmlns:a16="http://schemas.microsoft.com/office/drawing/2014/main" id="{06A70876-0927-4809-BCC0-B55079D7CE60}"/>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KEPUTUSAN MANAJEMEN</a:t>
            </a:r>
          </a:p>
        </p:txBody>
      </p:sp>
      <p:sp>
        <p:nvSpPr>
          <p:cNvPr id="2" name="text-252">
            <a:extLst xmlns:a="http://schemas.openxmlformats.org/drawingml/2006/main">
              <a:ext uri="{FF2B5EF4-FFF2-40B4-BE49-F238E27FC236}">
                <a16:creationId xmlns:a16="http://schemas.microsoft.com/office/drawing/2014/main" id="{701A474E-671F-4B64-A1D1-6A3E878334BA}"/>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Hasil pilot jadi dasar kita menentukan harga berikutnya</a:t>
            </a:r>
          </a:p>
        </p:txBody>
      </p:sp>
      <p:sp>
        <p:nvSpPr>
          <p:cNvPr id="3" name="text-253">
            <a:extLst xmlns:a="http://schemas.openxmlformats.org/drawingml/2006/main">
              <a:ext uri="{FF2B5EF4-FFF2-40B4-BE49-F238E27FC236}">
                <a16:creationId xmlns:a16="http://schemas.microsoft.com/office/drawing/2014/main" id="{7F3E8351-A4BD-447F-A835-D2F85EFB318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Yang perlu disepakati: jalankan Founder Live dan uji tiga Intimate Dinner.</a:t>
            </a:r>
          </a:p>
        </p:txBody>
      </p:sp>
      <p:sp>
        <p:nvSpPr>
          <p:cNvPr id="4" name="">
            <a:extLst xmlns:a="http://schemas.openxmlformats.org/drawingml/2006/main">
              <a:ext uri="{FF2B5EF4-FFF2-40B4-BE49-F238E27FC236}">
                <a16:creationId xmlns:a16="http://schemas.microsoft.com/office/drawing/2014/main" id="{BCACABCE-41F4-4895-80C5-B5F0973517F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54">
            <a:extLst xmlns:a="http://schemas.openxmlformats.org/drawingml/2006/main">
              <a:ext uri="{FF2B5EF4-FFF2-40B4-BE49-F238E27FC236}">
                <a16:creationId xmlns:a16="http://schemas.microsoft.com/office/drawing/2014/main" id="{BF9D8410-840D-4A94-A04D-567FB824EC2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55">
            <a:extLst xmlns:a="http://schemas.openxmlformats.org/drawingml/2006/main">
              <a:ext uri="{FF2B5EF4-FFF2-40B4-BE49-F238E27FC236}">
                <a16:creationId xmlns:a16="http://schemas.microsoft.com/office/drawing/2014/main" id="{9BF44429-0BCA-4A1C-B59A-B26BAFDEB110}"/>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15</a:t>
            </a:r>
          </a:p>
        </p:txBody>
      </p:sp>
      <p:sp>
        <p:nvSpPr>
          <p:cNvPr id="7" name="text-256">
            <a:extLst xmlns:a="http://schemas.openxmlformats.org/drawingml/2006/main">
              <a:ext uri="{FF2B5EF4-FFF2-40B4-BE49-F238E27FC236}">
                <a16:creationId xmlns:a16="http://schemas.microsoft.com/office/drawing/2014/main" id="{64D367F1-6986-4814-A87A-A94C3506B2EB}"/>
              </a:ext>
            </a:extLst>
          </p:cNvPr>
          <p:cNvSpPr>
            <a:spLocks xmlns:a="http://schemas.openxmlformats.org/drawingml/2006/main" noGrp="1"/>
          </p:cNvSpPr>
          <p:nvPr/>
        </p:nvSpPr>
        <p:spPr>
          <a:xfrm xmlns:a="http://schemas.openxmlformats.org/drawingml/2006/main">
            <a:off x="609600" y="23526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01</a:t>
            </a:r>
          </a:p>
        </p:txBody>
      </p:sp>
      <p:sp>
        <p:nvSpPr>
          <p:cNvPr id="8" name="text-257">
            <a:extLst xmlns:a="http://schemas.openxmlformats.org/drawingml/2006/main">
              <a:ext uri="{FF2B5EF4-FFF2-40B4-BE49-F238E27FC236}">
                <a16:creationId xmlns:a16="http://schemas.microsoft.com/office/drawing/2014/main" id="{E0A9AC15-0283-4BA6-B7EE-EE481CE16ADC}"/>
              </a:ext>
            </a:extLst>
          </p:cNvPr>
          <p:cNvSpPr>
            <a:spLocks xmlns:a="http://schemas.openxmlformats.org/drawingml/2006/main" noGrp="1"/>
          </p:cNvSpPr>
          <p:nvPr/>
        </p:nvSpPr>
        <p:spPr>
          <a:xfrm xmlns:a="http://schemas.openxmlformats.org/drawingml/2006/main">
            <a:off x="1714500" y="23526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Jalankan Founder Live</a:t>
            </a:r>
          </a:p>
        </p:txBody>
      </p:sp>
      <p:sp>
        <p:nvSpPr>
          <p:cNvPr id="9" name="text-258">
            <a:extLst xmlns:a="http://schemas.openxmlformats.org/drawingml/2006/main">
              <a:ext uri="{FF2B5EF4-FFF2-40B4-BE49-F238E27FC236}">
                <a16:creationId xmlns:a16="http://schemas.microsoft.com/office/drawing/2014/main" id="{38CF89A0-27DC-41E8-98A3-246ABAD395AF}"/>
              </a:ext>
            </a:extLst>
          </p:cNvPr>
          <p:cNvSpPr>
            <a:spLocks xmlns:a="http://schemas.openxmlformats.org/drawingml/2006/main" noGrp="1"/>
          </p:cNvSpPr>
          <p:nvPr/>
        </p:nvSpPr>
        <p:spPr>
          <a:xfrm xmlns:a="http://schemas.openxmlformats.org/drawingml/2006/main">
            <a:off x="1714500" y="27908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8 sesi / 3–26 Nov 2026 (usulan)</a:t>
            </a:r>
          </a:p>
        </p:txBody>
      </p:sp>
      <p:sp>
        <p:nvSpPr>
          <p:cNvPr id="10" name="text-259">
            <a:extLst xmlns:a="http://schemas.openxmlformats.org/drawingml/2006/main">
              <a:ext uri="{FF2B5EF4-FFF2-40B4-BE49-F238E27FC236}">
                <a16:creationId xmlns:a16="http://schemas.microsoft.com/office/drawing/2014/main" id="{0B534AFF-2647-40A6-9D42-70F59475C4F3}"/>
              </a:ext>
            </a:extLst>
          </p:cNvPr>
          <p:cNvSpPr>
            <a:spLocks xmlns:a="http://schemas.openxmlformats.org/drawingml/2006/main" noGrp="1"/>
          </p:cNvSpPr>
          <p:nvPr/>
        </p:nvSpPr>
        <p:spPr>
          <a:xfrm xmlns:a="http://schemas.openxmlformats.org/drawingml/2006/main">
            <a:off x="7772400" y="24384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Base ±Rp34,66 jt sebelum pajak</a:t>
            </a:r>
          </a:p>
        </p:txBody>
      </p:sp>
      <p:sp>
        <p:nvSpPr>
          <p:cNvPr id="11" name="">
            <a:extLst xmlns:a="http://schemas.openxmlformats.org/drawingml/2006/main">
              <a:ext uri="{FF2B5EF4-FFF2-40B4-BE49-F238E27FC236}">
                <a16:creationId xmlns:a16="http://schemas.microsoft.com/office/drawing/2014/main" id="{960B9855-A1A7-4FAC-BB34-8C2280102255}"/>
              </a:ext>
            </a:extLst>
          </p:cNvPr>
          <p:cNvSpPr>
            <a:spLocks xmlns:a="http://schemas.openxmlformats.org/drawingml/2006/main" noGrp="1"/>
          </p:cNvSpPr>
          <p:nvPr/>
        </p:nvSpPr>
        <p:spPr>
          <a:xfrm xmlns:a="http://schemas.openxmlformats.org/drawingml/2006/main">
            <a:off x="1714500" y="323850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2" name="text-260">
            <a:extLst xmlns:a="http://schemas.openxmlformats.org/drawingml/2006/main">
              <a:ext uri="{FF2B5EF4-FFF2-40B4-BE49-F238E27FC236}">
                <a16:creationId xmlns:a16="http://schemas.microsoft.com/office/drawing/2014/main" id="{EA3B7E46-DFA6-4AD3-96D2-6EF1C29D19A4}"/>
              </a:ext>
            </a:extLst>
          </p:cNvPr>
          <p:cNvSpPr>
            <a:spLocks xmlns:a="http://schemas.openxmlformats.org/drawingml/2006/main" noGrp="1"/>
          </p:cNvSpPr>
          <p:nvPr/>
        </p:nvSpPr>
        <p:spPr>
          <a:xfrm xmlns:a="http://schemas.openxmlformats.org/drawingml/2006/main">
            <a:off x="609600" y="340042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02</a:t>
            </a:r>
          </a:p>
        </p:txBody>
      </p:sp>
      <p:sp>
        <p:nvSpPr>
          <p:cNvPr id="13" name="text-261">
            <a:extLst xmlns:a="http://schemas.openxmlformats.org/drawingml/2006/main">
              <a:ext uri="{FF2B5EF4-FFF2-40B4-BE49-F238E27FC236}">
                <a16:creationId xmlns:a16="http://schemas.microsoft.com/office/drawing/2014/main" id="{80D4105B-EDA8-4F89-B260-796E23F26DBF}"/>
              </a:ext>
            </a:extLst>
          </p:cNvPr>
          <p:cNvSpPr>
            <a:spLocks xmlns:a="http://schemas.openxmlformats.org/drawingml/2006/main" noGrp="1"/>
          </p:cNvSpPr>
          <p:nvPr/>
        </p:nvSpPr>
        <p:spPr>
          <a:xfrm xmlns:a="http://schemas.openxmlformats.org/drawingml/2006/main">
            <a:off x="1714500" y="340042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Uji Intimate Dinner</a:t>
            </a:r>
          </a:p>
        </p:txBody>
      </p:sp>
      <p:sp>
        <p:nvSpPr>
          <p:cNvPr id="14" name="text-262">
            <a:extLst xmlns:a="http://schemas.openxmlformats.org/drawingml/2006/main">
              <a:ext uri="{FF2B5EF4-FFF2-40B4-BE49-F238E27FC236}">
                <a16:creationId xmlns:a16="http://schemas.microsoft.com/office/drawing/2014/main" id="{1FF25493-FA0D-4B81-8D81-FFC94C943B75}"/>
              </a:ext>
            </a:extLst>
          </p:cNvPr>
          <p:cNvSpPr>
            <a:spLocks xmlns:a="http://schemas.openxmlformats.org/drawingml/2006/main" noGrp="1"/>
          </p:cNvSpPr>
          <p:nvPr/>
        </p:nvSpPr>
        <p:spPr>
          <a:xfrm xmlns:a="http://schemas.openxmlformats.org/drawingml/2006/main">
            <a:off x="1714500" y="38385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3 event / maksimal 20 peserta</a:t>
            </a:r>
          </a:p>
        </p:txBody>
      </p:sp>
      <p:sp>
        <p:nvSpPr>
          <p:cNvPr id="15" name="text-263">
            <a:extLst xmlns:a="http://schemas.openxmlformats.org/drawingml/2006/main">
              <a:ext uri="{FF2B5EF4-FFF2-40B4-BE49-F238E27FC236}">
                <a16:creationId xmlns:a16="http://schemas.microsoft.com/office/drawing/2014/main" id="{3AE0E4A3-0C99-4A92-8F37-7A897A71EB00}"/>
              </a:ext>
            </a:extLst>
          </p:cNvPr>
          <p:cNvSpPr>
            <a:spLocks xmlns:a="http://schemas.openxmlformats.org/drawingml/2006/main" noGrp="1"/>
          </p:cNvSpPr>
          <p:nvPr/>
        </p:nvSpPr>
        <p:spPr>
          <a:xfrm xmlns:a="http://schemas.openxmlformats.org/drawingml/2006/main">
            <a:off x="7772400" y="348615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Member Rp1,5 jt / umum Rp3 jt</a:t>
            </a:r>
          </a:p>
        </p:txBody>
      </p:sp>
      <p:sp>
        <p:nvSpPr>
          <p:cNvPr id="16" name="">
            <a:extLst xmlns:a="http://schemas.openxmlformats.org/drawingml/2006/main">
              <a:ext uri="{FF2B5EF4-FFF2-40B4-BE49-F238E27FC236}">
                <a16:creationId xmlns:a16="http://schemas.microsoft.com/office/drawing/2014/main" id="{13730A6C-BE8A-4484-AFC4-D763C2C78E84}"/>
              </a:ext>
            </a:extLst>
          </p:cNvPr>
          <p:cNvSpPr>
            <a:spLocks xmlns:a="http://schemas.openxmlformats.org/drawingml/2006/main" noGrp="1"/>
          </p:cNvSpPr>
          <p:nvPr/>
        </p:nvSpPr>
        <p:spPr>
          <a:xfrm xmlns:a="http://schemas.openxmlformats.org/drawingml/2006/main">
            <a:off x="1714500" y="428625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7" name="text-264">
            <a:extLst xmlns:a="http://schemas.openxmlformats.org/drawingml/2006/main">
              <a:ext uri="{FF2B5EF4-FFF2-40B4-BE49-F238E27FC236}">
                <a16:creationId xmlns:a16="http://schemas.microsoft.com/office/drawing/2014/main" id="{EF7ACE97-49A4-48B1-A505-74939085092C}"/>
              </a:ext>
            </a:extLst>
          </p:cNvPr>
          <p:cNvSpPr>
            <a:spLocks xmlns:a="http://schemas.openxmlformats.org/drawingml/2006/main" noGrp="1"/>
          </p:cNvSpPr>
          <p:nvPr/>
        </p:nvSpPr>
        <p:spPr>
          <a:xfrm xmlns:a="http://schemas.openxmlformats.org/drawingml/2006/main">
            <a:off x="609600" y="44481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03</a:t>
            </a:r>
          </a:p>
        </p:txBody>
      </p:sp>
      <p:sp>
        <p:nvSpPr>
          <p:cNvPr id="18" name="text-265">
            <a:extLst xmlns:a="http://schemas.openxmlformats.org/drawingml/2006/main">
              <a:ext uri="{FF2B5EF4-FFF2-40B4-BE49-F238E27FC236}">
                <a16:creationId xmlns:a16="http://schemas.microsoft.com/office/drawing/2014/main" id="{E63E7655-74B0-4DBA-8250-345A30388EE2}"/>
              </a:ext>
            </a:extLst>
          </p:cNvPr>
          <p:cNvSpPr>
            <a:spLocks xmlns:a="http://schemas.openxmlformats.org/drawingml/2006/main" noGrp="1"/>
          </p:cNvSpPr>
          <p:nvPr/>
        </p:nvSpPr>
        <p:spPr>
          <a:xfrm xmlns:a="http://schemas.openxmlformats.org/drawingml/2006/main">
            <a:off x="1714500" y="44481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Tentukan harga berikutnya</a:t>
            </a:r>
          </a:p>
        </p:txBody>
      </p:sp>
      <p:sp>
        <p:nvSpPr>
          <p:cNvPr id="19" name="text-266">
            <a:extLst xmlns:a="http://schemas.openxmlformats.org/drawingml/2006/main">
              <a:ext uri="{FF2B5EF4-FFF2-40B4-BE49-F238E27FC236}">
                <a16:creationId xmlns:a16="http://schemas.microsoft.com/office/drawing/2014/main" id="{659ADB27-1E86-44BD-BD8A-826AF4230ABD}"/>
              </a:ext>
            </a:extLst>
          </p:cNvPr>
          <p:cNvSpPr>
            <a:spLocks xmlns:a="http://schemas.openxmlformats.org/drawingml/2006/main" noGrp="1"/>
          </p:cNvSpPr>
          <p:nvPr/>
        </p:nvSpPr>
        <p:spPr>
          <a:xfrm xmlns:a="http://schemas.openxmlformats.org/drawingml/2006/main">
            <a:off x="1714500" y="48863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Rp2,5 jt, lalu ~Rp5 jt</a:t>
            </a:r>
          </a:p>
        </p:txBody>
      </p:sp>
      <p:sp>
        <p:nvSpPr>
          <p:cNvPr id="20" name="text-267">
            <a:extLst xmlns:a="http://schemas.openxmlformats.org/drawingml/2006/main">
              <a:ext uri="{FF2B5EF4-FFF2-40B4-BE49-F238E27FC236}">
                <a16:creationId xmlns:a16="http://schemas.microsoft.com/office/drawing/2014/main" id="{2D3B204A-4B35-4EF0-A3A2-453BCD36603A}"/>
              </a:ext>
            </a:extLst>
          </p:cNvPr>
          <p:cNvSpPr>
            <a:spLocks xmlns:a="http://schemas.openxmlformats.org/drawingml/2006/main" noGrp="1"/>
          </p:cNvSpPr>
          <p:nvPr/>
        </p:nvSpPr>
        <p:spPr>
          <a:xfrm xmlns:a="http://schemas.openxmlformats.org/drawingml/2006/main">
            <a:off x="7772400" y="45339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Setelah hasil pilot dan biaya aktual tersedia</a:t>
            </a:r>
          </a:p>
        </p:txBody>
      </p:sp>
      <p:sp>
        <p:nvSpPr>
          <p:cNvPr id="21" name="">
            <a:extLst xmlns:a="http://schemas.openxmlformats.org/drawingml/2006/main">
              <a:ext uri="{FF2B5EF4-FFF2-40B4-BE49-F238E27FC236}">
                <a16:creationId xmlns:a16="http://schemas.microsoft.com/office/drawing/2014/main" id="{72804042-7545-44B5-B882-40C374D0AEA8}"/>
              </a:ext>
            </a:extLst>
          </p:cNvPr>
          <p:cNvSpPr>
            <a:spLocks xmlns:a="http://schemas.openxmlformats.org/drawingml/2006/main" noGrp="1"/>
          </p:cNvSpPr>
          <p:nvPr/>
        </p:nvSpPr>
        <p:spPr>
          <a:xfrm xmlns:a="http://schemas.openxmlformats.org/drawingml/2006/main">
            <a:off x="1714500" y="533400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2" name="text-268">
            <a:extLst xmlns:a="http://schemas.openxmlformats.org/drawingml/2006/main">
              <a:ext uri="{FF2B5EF4-FFF2-40B4-BE49-F238E27FC236}">
                <a16:creationId xmlns:a16="http://schemas.microsoft.com/office/drawing/2014/main" id="{43D54099-AFC3-4F77-9E42-059E9380F0BA}"/>
              </a:ext>
            </a:extLst>
          </p:cNvPr>
          <p:cNvSpPr>
            <a:spLocks xmlns:a="http://schemas.openxmlformats.org/drawingml/2006/main" noGrp="1"/>
          </p:cNvSpPr>
          <p:nvPr/>
        </p:nvSpPr>
        <p:spPr>
          <a:xfrm xmlns:a="http://schemas.openxmlformats.org/drawingml/2006/main">
            <a:off x="609600" y="58102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Evaluasi peserta yang membayar, kehadiran, kepuasan, margin, dan minat ikut lagi.</a:t>
            </a:r>
          </a:p>
        </p:txBody>
      </p:sp>
    </p:spTree>
    <p:extLst>
      <p:ext uri="{BB962C8B-B14F-4D97-AF65-F5344CB8AC3E}">
        <p14:creationId xmlns:p14="http://schemas.microsoft.com/office/powerpoint/2010/main" val="4873614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69">
            <a:extLst xmlns:a="http://schemas.openxmlformats.org/drawingml/2006/main">
              <a:ext uri="{FF2B5EF4-FFF2-40B4-BE49-F238E27FC236}">
                <a16:creationId xmlns:a16="http://schemas.microsoft.com/office/drawing/2014/main" id="{A36C78CF-4456-4946-A9FF-F125EE0FB5D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A1 / ALTERNATIF SPEAKER</a:t>
            </a:r>
          </a:p>
        </p:txBody>
      </p:sp>
      <p:sp>
        <p:nvSpPr>
          <p:cNvPr id="2" name="text-270">
            <a:extLst xmlns:a="http://schemas.openxmlformats.org/drawingml/2006/main">
              <a:ext uri="{FF2B5EF4-FFF2-40B4-BE49-F238E27FC236}">
                <a16:creationId xmlns:a16="http://schemas.microsoft.com/office/drawing/2014/main" id="{DA7DC0A6-F4FC-4919-8EF1-1F106103128D}"/>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Enam nama lain tetap masuk daftar pendek</a:t>
            </a:r>
          </a:p>
        </p:txBody>
      </p:sp>
      <p:sp>
        <p:nvSpPr>
          <p:cNvPr id="3" name="text-271">
            <a:extLst xmlns:a="http://schemas.openxmlformats.org/drawingml/2006/main">
              <a:ext uri="{FF2B5EF4-FFF2-40B4-BE49-F238E27FC236}">
                <a16:creationId xmlns:a16="http://schemas.microsoft.com/office/drawing/2014/main" id="{781688C6-A07F-4F7C-94D0-7955517B991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Pemilihan mengikuti kebutuhan modul. Seluruh kandidat masih menunggu approach dan konfirmasi.</a:t>
            </a:r>
          </a:p>
        </p:txBody>
      </p:sp>
      <p:sp>
        <p:nvSpPr>
          <p:cNvPr id="4" name="">
            <a:extLst xmlns:a="http://schemas.openxmlformats.org/drawingml/2006/main">
              <a:ext uri="{FF2B5EF4-FFF2-40B4-BE49-F238E27FC236}">
                <a16:creationId xmlns:a16="http://schemas.microsoft.com/office/drawing/2014/main" id="{3921D874-34A3-4AB1-BF26-8B296FAF150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72">
            <a:extLst xmlns:a="http://schemas.openxmlformats.org/drawingml/2006/main">
              <a:ext uri="{FF2B5EF4-FFF2-40B4-BE49-F238E27FC236}">
                <a16:creationId xmlns:a16="http://schemas.microsoft.com/office/drawing/2014/main" id="{E691362B-E6E2-4427-9237-A0986411F4A5}"/>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profil organisasi, profil mandiri, dan daftar CMC. Pemetaan topik adalah rekomendasi; tautan di notes.</a:t>
            </a:r>
          </a:p>
        </p:txBody>
      </p:sp>
      <p:sp>
        <p:nvSpPr>
          <p:cNvPr id="6" name="text-273">
            <a:extLst xmlns:a="http://schemas.openxmlformats.org/drawingml/2006/main">
              <a:ext uri="{FF2B5EF4-FFF2-40B4-BE49-F238E27FC236}">
                <a16:creationId xmlns:a16="http://schemas.microsoft.com/office/drawing/2014/main" id="{E9894BB9-F59F-4F7E-AB6F-BB3AE140E9D4}"/>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16</a:t>
            </a:r>
          </a:p>
        </p:txBody>
      </p:sp>
      <p:graphicFrame>
        <p:nvGraphicFramePr>
          <p:cNvPr id="15" name=""/>
          <p:cNvGraphicFramePr/>
          <p:nvPr/>
        </p:nvGraphicFramePr>
        <p:xfrm>
          <a:off xmlns:a="http://schemas.openxmlformats.org/drawingml/2006/main" x="609600" y="2343150"/>
          <a:ext xmlns:a="http://schemas.openxmlformats.org/drawingml/2006/main" cx="10972800" cy="3200400"/>
        </p:xfrm>
        <a:graphic xmlns:a="http://schemas.openxmlformats.org/drawingml/2006/main">
          <a:graphicData uri="http://schemas.openxmlformats.org/drawingml/2006/table">
            <a:tbl>
              <a:tblPr/>
              <a:tblGrid>
                <a:gridCol w="3543300"/>
                <a:gridCol w="2381250"/>
                <a:gridCol w="5048250"/>
              </a:tblGrid>
              <a:tr h="457200">
                <a:tc>
                  <a:txBody>
                    <a:bodyPr lIns="95250" tIns="76200" rIns="95250" bIns="57150"/>
                    <a:lstStyle/>
                    <a:p>
                      <a:r>
                        <a:rPr sz="1575" b="1">
                          <a:solidFill>
                            <a:srgbClr val="FFFFFF"/>
                          </a:solidFill>
                          <a:latin typeface="Calibri"/>
                          <a:ea typeface="Calibri"/>
                          <a:cs typeface="Calibri"/>
                        </a:rPr>
                        <a:t>Kandidat</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Alternatif modul</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Yang perlu dipastikan</a:t>
                      </a:r>
                    </a:p>
                  </a:txBody>
                  <a:tcPr marL="91440" marR="91440" marT="45720" marB="45720">
                    <a:solidFill>
                      <a:srgbClr val="123F32"/>
                    </a:solidFill>
                  </a:tcPr>
                </a:tc>
              </a:tr>
              <a:tr h="457200">
                <a:tc>
                  <a:txBody>
                    <a:bodyPr lIns="95250" tIns="76200" rIns="95250" bIns="57150"/>
                    <a:lstStyle/>
                    <a:p>
                      <a:r>
                        <a:rPr sz="1575" b="0">
                          <a:solidFill>
                            <a:srgbClr val="293D34"/>
                          </a:solidFill>
                          <a:latin typeface="Calibri"/>
                          <a:ea typeface="Calibri"/>
                          <a:cs typeface="Calibri"/>
                        </a:rPr>
                        <a:t>Nicholas Dennis / BD Ekspor</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GTM / Finance</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Case buyer, termin dan modal kerja</a:t>
                      </a:r>
                    </a:p>
                  </a:txBody>
                  <a:tcPr marL="91440" marR="91440" marT="45720" marB="45720">
                    <a:solidFill>
                      <a:srgbClr val="FFFFFF"/>
                    </a:solidFill>
                  </a:tcPr>
                </a:tc>
              </a:tr>
              <a:tr h="457200">
                <a:tc>
                  <a:txBody>
                    <a:bodyPr lIns="95250" tIns="76200" rIns="95250" bIns="57150"/>
                    <a:lstStyle/>
                    <a:p>
                      <a:r>
                        <a:rPr sz="1575" b="0">
                          <a:solidFill>
                            <a:srgbClr val="293D34"/>
                          </a:solidFill>
                          <a:latin typeface="Calibri"/>
                          <a:ea typeface="Calibri"/>
                          <a:cs typeface="Calibri"/>
                        </a:rPr>
                        <a:t>Purwa Hartono / Purwadhika</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Mindset / Product</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Case perubahan produk / pasar</a:t>
                      </a:r>
                    </a:p>
                  </a:txBody>
                  <a:tcPr marL="91440" marR="91440" marT="45720" marB="45720">
                    <a:solidFill>
                      <a:srgbClr val="F3F6F2"/>
                    </a:solidFill>
                  </a:tcPr>
                </a:tc>
              </a:tr>
              <a:tr h="457200">
                <a:tc>
                  <a:txBody>
                    <a:bodyPr lIns="95250" tIns="76200" rIns="95250" bIns="57150"/>
                    <a:lstStyle/>
                    <a:p>
                      <a:r>
                        <a:rPr sz="1575" b="0">
                          <a:solidFill>
                            <a:srgbClr val="293D34"/>
                          </a:solidFill>
                          <a:latin typeface="Calibri"/>
                          <a:ea typeface="Calibri"/>
                          <a:cs typeface="Calibri"/>
                        </a:rPr>
                        <a:t>Samuel Christ / Seefluencer</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Go-to-Market</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Case channel dan konversi penjualan</a:t>
                      </a:r>
                    </a:p>
                  </a:txBody>
                  <a:tcPr marL="91440" marR="91440" marT="45720" marB="45720">
                    <a:solidFill>
                      <a:srgbClr val="FFFFFF"/>
                    </a:solidFill>
                  </a:tcPr>
                </a:tc>
              </a:tr>
              <a:tr h="457200">
                <a:tc>
                  <a:txBody>
                    <a:bodyPr lIns="95250" tIns="76200" rIns="95250" bIns="57150"/>
                    <a:lstStyle/>
                    <a:p>
                      <a:r>
                        <a:rPr sz="1575" b="0">
                          <a:solidFill>
                            <a:srgbClr val="293D34"/>
                          </a:solidFill>
                          <a:latin typeface="Calibri"/>
                          <a:ea typeface="Calibri"/>
                          <a:cs typeface="Calibri"/>
                        </a:rPr>
                        <a:t>dr. Richard Lee / Athena</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Product / GTM</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Case produk dan pemasaran bisnis</a:t>
                      </a:r>
                    </a:p>
                  </a:txBody>
                  <a:tcPr marL="91440" marR="91440" marT="45720" marB="45720">
                    <a:solidFill>
                      <a:srgbClr val="F3F6F2"/>
                    </a:solidFill>
                  </a:tcPr>
                </a:tc>
              </a:tr>
              <a:tr h="457200">
                <a:tc>
                  <a:txBody>
                    <a:bodyPr lIns="95250" tIns="76200" rIns="95250" bIns="57150"/>
                    <a:lstStyle/>
                    <a:p>
                      <a:r>
                        <a:rPr sz="1575" b="0">
                          <a:solidFill>
                            <a:srgbClr val="293D34"/>
                          </a:solidFill>
                          <a:latin typeface="Calibri"/>
                          <a:ea typeface="Calibri"/>
                          <a:cs typeface="Calibri"/>
                        </a:rPr>
                        <a:t>Jill Gladys</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Product / Operations</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Afiliasi Wolf Gang Steak belum terverifikasi</a:t>
                      </a:r>
                    </a:p>
                  </a:txBody>
                  <a:tcPr marL="91440" marR="91440" marT="45720" marB="45720">
                    <a:solidFill>
                      <a:srgbClr val="FFFFFF"/>
                    </a:solidFill>
                  </a:tcPr>
                </a:tc>
              </a:tr>
              <a:tr h="457200">
                <a:tc>
                  <a:txBody>
                    <a:bodyPr lIns="95250" tIns="76200" rIns="95250" bIns="57150"/>
                    <a:lstStyle/>
                    <a:p>
                      <a:r>
                        <a:rPr sz="1575" b="0">
                          <a:solidFill>
                            <a:srgbClr val="293D34"/>
                          </a:solidFill>
                          <a:latin typeface="Calibri"/>
                          <a:ea typeface="Calibri"/>
                          <a:cs typeface="Calibri"/>
                        </a:rPr>
                        <a:t>FX Iwan</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Finance / Scale</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Cocokkan identitas dan afiliasi terlebih dulu</a:t>
                      </a:r>
                    </a:p>
                  </a:txBody>
                  <a:tcPr marL="91440" marR="91440" marT="45720" marB="45720">
                    <a:solidFill>
                      <a:srgbClr val="F3F6F2"/>
                    </a:solidFill>
                  </a:tcPr>
                </a:tc>
              </a:tr>
            </a:tbl>
          </a:graphicData>
        </a:graphic>
      </p:graphicFrame>
      <p:sp>
        <p:nvSpPr>
          <p:cNvPr id="8" name="text-274">
            <a:extLst xmlns:a="http://schemas.openxmlformats.org/drawingml/2006/main">
              <a:ext uri="{FF2B5EF4-FFF2-40B4-BE49-F238E27FC236}">
                <a16:creationId xmlns:a16="http://schemas.microsoft.com/office/drawing/2014/main" id="{5173BD7C-43BA-448D-B836-D19DFBFD4DDF}"/>
              </a:ext>
            </a:extLst>
          </p:cNvPr>
          <p:cNvSpPr>
            <a:spLocks xmlns:a="http://schemas.openxmlformats.org/drawingml/2006/main" noGrp="1"/>
          </p:cNvSpPr>
          <p:nvPr/>
        </p:nvSpPr>
        <p:spPr>
          <a:xfrm xmlns:a="http://schemas.openxmlformats.org/drawingml/2006/main">
            <a:off x="609600" y="58483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Cadangan lintas sesi: Daniel Liu untuk Scale; Anthony untuk Operations.</a:t>
            </a:r>
          </a:p>
        </p:txBody>
      </p:sp>
    </p:spTree>
    <p:extLst>
      <p:ext uri="{BB962C8B-B14F-4D97-AF65-F5344CB8AC3E}">
        <p14:creationId xmlns:p14="http://schemas.microsoft.com/office/powerpoint/2010/main" val="7292653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75">
            <a:extLst xmlns:a="http://schemas.openxmlformats.org/drawingml/2006/main">
              <a:ext uri="{FF2B5EF4-FFF2-40B4-BE49-F238E27FC236}">
                <a16:creationId xmlns:a16="http://schemas.microsoft.com/office/drawing/2014/main" id="{54C2F7C9-35F4-40A5-9A4E-067FB3DDFB45}"/>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A2 / ZOOM</a:t>
            </a:r>
          </a:p>
        </p:txBody>
      </p:sp>
      <p:sp>
        <p:nvSpPr>
          <p:cNvPr id="2" name="text-276">
            <a:extLst xmlns:a="http://schemas.openxmlformats.org/drawingml/2006/main">
              <a:ext uri="{FF2B5EF4-FFF2-40B4-BE49-F238E27FC236}">
                <a16:creationId xmlns:a16="http://schemas.microsoft.com/office/drawing/2014/main" id="{0D575C43-87F6-43A6-AECF-19554792348B}"/>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Bandingkan paket untuk satu periode November</a:t>
            </a:r>
          </a:p>
        </p:txBody>
      </p:sp>
      <p:sp>
        <p:nvSpPr>
          <p:cNvPr id="3" name="text-277">
            <a:extLst xmlns:a="http://schemas.openxmlformats.org/drawingml/2006/main">
              <a:ext uri="{FF2B5EF4-FFF2-40B4-BE49-F238E27FC236}">
                <a16:creationId xmlns:a16="http://schemas.microsoft.com/office/drawing/2014/main" id="{8DCA42F1-59B4-4115-B05F-5109A9A1337C}"/>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Seluruh tarif subscribe adalah acuan sebelumnya, perlu dicek lagi saat checkout. Belum termasuk pajak.</a:t>
            </a:r>
          </a:p>
        </p:txBody>
      </p:sp>
      <p:sp>
        <p:nvSpPr>
          <p:cNvPr id="4" name="">
            <a:extLst xmlns:a="http://schemas.openxmlformats.org/drawingml/2006/main">
              <a:ext uri="{FF2B5EF4-FFF2-40B4-BE49-F238E27FC236}">
                <a16:creationId xmlns:a16="http://schemas.microsoft.com/office/drawing/2014/main" id="{F924D4ED-42BF-4C13-8495-C47EF9FF851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78">
            <a:extLst xmlns:a="http://schemas.openxmlformats.org/drawingml/2006/main">
              <a:ext uri="{FF2B5EF4-FFF2-40B4-BE49-F238E27FC236}">
                <a16:creationId xmlns:a16="http://schemas.microsoft.com/office/drawing/2014/main" id="{BECC6C60-0028-4D13-976E-736A94D15041}"/>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79">
            <a:extLst xmlns:a="http://schemas.openxmlformats.org/drawingml/2006/main">
              <a:ext uri="{FF2B5EF4-FFF2-40B4-BE49-F238E27FC236}">
                <a16:creationId xmlns:a16="http://schemas.microsoft.com/office/drawing/2014/main" id="{48314D4B-C528-447A-9B35-0287D3CF1B62}"/>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17</a:t>
            </a:r>
          </a:p>
        </p:txBody>
      </p:sp>
      <p:graphicFrame>
        <p:nvGraphicFramePr>
          <p:cNvPr id="18" name=""/>
          <p:cNvGraphicFramePr/>
          <p:nvPr/>
        </p:nvGraphicFramePr>
        <p:xfrm>
          <a:off xmlns:a="http://schemas.openxmlformats.org/drawingml/2006/main" x="609600" y="2352675"/>
          <a:ext xmlns:a="http://schemas.openxmlformats.org/drawingml/2006/main" cx="10972800" cy="2333625"/>
        </p:xfrm>
        <a:graphic xmlns:a="http://schemas.openxmlformats.org/drawingml/2006/main">
          <a:graphicData uri="http://schemas.openxmlformats.org/drawingml/2006/table">
            <a:tbl>
              <a:tblPr/>
              <a:tblGrid>
                <a:gridCol w="3571875"/>
                <a:gridCol w="2590800"/>
                <a:gridCol w="2143125"/>
                <a:gridCol w="2667000"/>
              </a:tblGrid>
              <a:tr h="466725">
                <a:tc>
                  <a:txBody>
                    <a:bodyPr lIns="95250" tIns="76200" rIns="95250" bIns="57150"/>
                    <a:lstStyle/>
                    <a:p>
                      <a:r>
                        <a:rPr sz="1575" b="1">
                          <a:solidFill>
                            <a:srgbClr val="FFFFFF"/>
                          </a:solidFill>
                          <a:latin typeface="Calibri"/>
                          <a:ea typeface="Calibri"/>
                          <a:cs typeface="Calibri"/>
                        </a:rPr>
                        <a:t>Opsi kapasitas 1.000</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Tarif</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Total batch</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Status</a:t>
                      </a:r>
                    </a:p>
                  </a:txBody>
                  <a:tcPr marL="91440" marR="91440" marT="45720" marB="45720">
                    <a:solidFill>
                      <a:srgbClr val="123F32"/>
                    </a:solidFill>
                  </a:tcPr>
                </a:tc>
              </a:tr>
              <a:tr h="466725">
                <a:tc>
                  <a:txBody>
                    <a:bodyPr lIns="95250" tIns="76200" rIns="95250" bIns="57150"/>
                    <a:lstStyle/>
                    <a:p>
                      <a:r>
                        <a:rPr sz="1575" b="0">
                          <a:solidFill>
                            <a:srgbClr val="293D34"/>
                          </a:solidFill>
                          <a:latin typeface="Calibri"/>
                          <a:ea typeface="Calibri"/>
                          <a:cs typeface="Calibri"/>
                        </a:rPr>
                        <a:t>Pro + Large Meeting</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Rp2.655.839 / bulan</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Rp2.655.839</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Usulan base</a:t>
                      </a:r>
                    </a:p>
                  </a:txBody>
                  <a:tcPr marL="91440" marR="91440" marT="45720" marB="45720">
                    <a:solidFill>
                      <a:srgbClr val="FFFFFF"/>
                    </a:solidFill>
                  </a:tcPr>
                </a:tc>
              </a:tr>
              <a:tr h="466725">
                <a:tc>
                  <a:txBody>
                    <a:bodyPr lIns="95250" tIns="76200" rIns="95250" bIns="57150"/>
                    <a:lstStyle/>
                    <a:p>
                      <a:r>
                        <a:rPr sz="1575" b="0">
                          <a:solidFill>
                            <a:srgbClr val="293D34"/>
                          </a:solidFill>
                          <a:latin typeface="Calibri"/>
                          <a:ea typeface="Calibri"/>
                          <a:cs typeface="Calibri"/>
                        </a:rPr>
                        <a:t>Business + Large Meeting</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Rp2.735.839 / bulan</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Rp2.735.839</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Alternatif</a:t>
                      </a:r>
                    </a:p>
                  </a:txBody>
                  <a:tcPr marL="91440" marR="91440" marT="45720" marB="45720">
                    <a:solidFill>
                      <a:srgbClr val="F3F6F2"/>
                    </a:solidFill>
                  </a:tcPr>
                </a:tc>
              </a:tr>
              <a:tr h="466725">
                <a:tc>
                  <a:txBody>
                    <a:bodyPr lIns="95250" tIns="76200" rIns="95250" bIns="57150"/>
                    <a:lstStyle/>
                    <a:p>
                      <a:r>
                        <a:rPr sz="1575" b="0">
                          <a:solidFill>
                            <a:srgbClr val="293D34"/>
                          </a:solidFill>
                          <a:latin typeface="Calibri"/>
                          <a:ea typeface="Calibri"/>
                          <a:cs typeface="Calibri"/>
                        </a:rPr>
                        <a:t>Pro + Webinar</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Rp5.350.420 / bulan</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Rp5.350.420</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Alternatif kontrol audiens</a:t>
                      </a:r>
                    </a:p>
                  </a:txBody>
                  <a:tcPr marL="91440" marR="91440" marT="45720" marB="45720">
                    <a:solidFill>
                      <a:srgbClr val="FFFFFF"/>
                    </a:solidFill>
                  </a:tcPr>
                </a:tc>
              </a:tr>
              <a:tr h="466725">
                <a:tc>
                  <a:txBody>
                    <a:bodyPr lIns="95250" tIns="76200" rIns="95250" bIns="57150"/>
                    <a:lstStyle/>
                    <a:p>
                      <a:r>
                        <a:rPr sz="1575" b="0">
                          <a:solidFill>
                            <a:srgbClr val="293D34"/>
                          </a:solidFill>
                          <a:latin typeface="Calibri"/>
                          <a:ea typeface="Calibri"/>
                          <a:cs typeface="Calibri"/>
                        </a:rPr>
                        <a:t>Sewa kapasitas 1.000</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Rp350.000 / sesi</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Rp2.800.000</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Asumsi CMC</a:t>
                      </a:r>
                    </a:p>
                  </a:txBody>
                  <a:tcPr marL="91440" marR="91440" marT="45720" marB="45720">
                    <a:solidFill>
                      <a:srgbClr val="F3F6F2"/>
                    </a:solidFill>
                  </a:tcPr>
                </a:tc>
              </a:tr>
            </a:tbl>
          </a:graphicData>
        </a:graphic>
      </p:graphicFrame>
      <p:sp>
        <p:nvSpPr>
          <p:cNvPr id="8" name="text-280">
            <a:extLst xmlns:a="http://schemas.openxmlformats.org/drawingml/2006/main">
              <a:ext uri="{FF2B5EF4-FFF2-40B4-BE49-F238E27FC236}">
                <a16:creationId xmlns:a16="http://schemas.microsoft.com/office/drawing/2014/main" id="{DC4F22F4-195C-4863-A5A4-6EFB5D795724}"/>
              </a:ext>
            </a:extLst>
          </p:cNvPr>
          <p:cNvSpPr>
            <a:spLocks xmlns:a="http://schemas.openxmlformats.org/drawingml/2006/main" noGrp="1"/>
          </p:cNvSpPr>
          <p:nvPr/>
        </p:nvSpPr>
        <p:spPr>
          <a:xfrm xmlns:a="http://schemas.openxmlformats.org/drawingml/2006/main">
            <a:off x="609600" y="49530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Subscribe</a:t>
            </a:r>
          </a:p>
        </p:txBody>
      </p:sp>
      <p:sp>
        <p:nvSpPr>
          <p:cNvPr id="9" name="text-281">
            <a:extLst xmlns:a="http://schemas.openxmlformats.org/drawingml/2006/main">
              <a:ext uri="{FF2B5EF4-FFF2-40B4-BE49-F238E27FC236}">
                <a16:creationId xmlns:a16="http://schemas.microsoft.com/office/drawing/2014/main" id="{E8947540-7671-4F7B-B01F-E0268C183C43}"/>
              </a:ext>
            </a:extLst>
          </p:cNvPr>
          <p:cNvSpPr>
            <a:spLocks xmlns:a="http://schemas.openxmlformats.org/drawingml/2006/main" noGrp="1"/>
          </p:cNvSpPr>
          <p:nvPr/>
        </p:nvSpPr>
        <p:spPr>
          <a:xfrm xmlns:a="http://schemas.openxmlformats.org/drawingml/2006/main">
            <a:off x="609600" y="53625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Host/co-host CMC. Seluruh kelas dan rehearsal</a:t>
            </a:r>
          </a:p>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harus masuk satu siklus tagihan.</a:t>
            </a:r>
          </a:p>
        </p:txBody>
      </p:sp>
      <p:sp>
        <p:nvSpPr>
          <p:cNvPr id="10" name="text-282">
            <a:extLst xmlns:a="http://schemas.openxmlformats.org/drawingml/2006/main">
              <a:ext uri="{FF2B5EF4-FFF2-40B4-BE49-F238E27FC236}">
                <a16:creationId xmlns:a16="http://schemas.microsoft.com/office/drawing/2014/main" id="{82D3202C-E66F-4716-89AF-877C3385EA6E}"/>
              </a:ext>
            </a:extLst>
          </p:cNvPr>
          <p:cNvSpPr>
            <a:spLocks xmlns:a="http://schemas.openxmlformats.org/drawingml/2006/main" noGrp="1"/>
          </p:cNvSpPr>
          <p:nvPr/>
        </p:nvSpPr>
        <p:spPr>
          <a:xfrm xmlns:a="http://schemas.openxmlformats.org/drawingml/2006/main">
            <a:off x="6619875" y="4953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Sewa</a:t>
            </a:r>
          </a:p>
        </p:txBody>
      </p:sp>
      <p:sp>
        <p:nvSpPr>
          <p:cNvPr id="11" name="text-283">
            <a:extLst xmlns:a="http://schemas.openxmlformats.org/drawingml/2006/main">
              <a:ext uri="{FF2B5EF4-FFF2-40B4-BE49-F238E27FC236}">
                <a16:creationId xmlns:a16="http://schemas.microsoft.com/office/drawing/2014/main" id="{AF1ED009-C0D8-4C4A-AB25-39B3258F9A44}"/>
              </a:ext>
            </a:extLst>
          </p:cNvPr>
          <p:cNvSpPr>
            <a:spLocks xmlns:a="http://schemas.openxmlformats.org/drawingml/2006/main" noGrp="1"/>
          </p:cNvSpPr>
          <p:nvPr/>
        </p:nvSpPr>
        <p:spPr>
          <a:xfrm xmlns:a="http://schemas.openxmlformats.org/drawingml/2006/main">
            <a:off x="6619875" y="53625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Cek kapasitas, akses host, recording/report,</a:t>
            </a:r>
          </a:p>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durasi persiapan + live dan dukungan operator.</a:t>
            </a:r>
          </a:p>
        </p:txBody>
      </p:sp>
    </p:spTree>
    <p:extLst>
      <p:ext uri="{BB962C8B-B14F-4D97-AF65-F5344CB8AC3E}">
        <p14:creationId xmlns:p14="http://schemas.microsoft.com/office/powerpoint/2010/main" val="16240098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84">
            <a:extLst xmlns:a="http://schemas.openxmlformats.org/drawingml/2006/main">
              <a:ext uri="{FF2B5EF4-FFF2-40B4-BE49-F238E27FC236}">
                <a16:creationId xmlns:a16="http://schemas.microsoft.com/office/drawing/2014/main" id="{A7369057-93BE-482A-BF97-20F18D7751DA}"/>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A3 / RAB FOUNDER LIVE</a:t>
            </a:r>
          </a:p>
        </p:txBody>
      </p:sp>
      <p:sp>
        <p:nvSpPr>
          <p:cNvPr id="2" name="text-285">
            <a:extLst xmlns:a="http://schemas.openxmlformats.org/drawingml/2006/main">
              <a:ext uri="{FF2B5EF4-FFF2-40B4-BE49-F238E27FC236}">
                <a16:creationId xmlns:a16="http://schemas.microsoft.com/office/drawing/2014/main" id="{BACE6589-EDE3-41DB-B09A-ECEC08D00177}"/>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Budget berubah karena durasi program jadi satu bulan</a:t>
            </a:r>
          </a:p>
        </p:txBody>
      </p:sp>
      <p:sp>
        <p:nvSpPr>
          <p:cNvPr id="3" name="text-286">
            <a:extLst xmlns:a="http://schemas.openxmlformats.org/drawingml/2006/main">
              <a:ext uri="{FF2B5EF4-FFF2-40B4-BE49-F238E27FC236}">
                <a16:creationId xmlns:a16="http://schemas.microsoft.com/office/drawing/2014/main" id="{E186E00E-69BF-4DB6-9F00-6C12A9D0EDC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Pilihan Zoom saling menggantikan. Tidak dijumlahkan. Honor Rp3 / Rp4 / Rp5 jt per sesi.</a:t>
            </a:r>
          </a:p>
        </p:txBody>
      </p:sp>
      <p:sp>
        <p:nvSpPr>
          <p:cNvPr id="4" name="">
            <a:extLst xmlns:a="http://schemas.openxmlformats.org/drawingml/2006/main">
              <a:ext uri="{FF2B5EF4-FFF2-40B4-BE49-F238E27FC236}">
                <a16:creationId xmlns:a16="http://schemas.microsoft.com/office/drawing/2014/main" id="{1EAD61FC-2562-4AC8-83E1-0AA44895505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87">
            <a:extLst xmlns:a="http://schemas.openxmlformats.org/drawingml/2006/main">
              <a:ext uri="{FF2B5EF4-FFF2-40B4-BE49-F238E27FC236}">
                <a16:creationId xmlns:a16="http://schemas.microsoft.com/office/drawing/2014/main" id="{EFB0ADE7-9EA8-405C-98A2-CE72CD935DEF}"/>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88">
            <a:extLst xmlns:a="http://schemas.openxmlformats.org/drawingml/2006/main">
              <a:ext uri="{FF2B5EF4-FFF2-40B4-BE49-F238E27FC236}">
                <a16:creationId xmlns:a16="http://schemas.microsoft.com/office/drawing/2014/main" id="{6B1EBC46-613E-4F95-827E-A3E7E0B39E9F}"/>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18</a:t>
            </a:r>
          </a:p>
        </p:txBody>
      </p:sp>
      <p:graphicFrame>
        <p:nvGraphicFramePr>
          <p:cNvPr id="16" name=""/>
          <p:cNvGraphicFramePr/>
          <p:nvPr/>
        </p:nvGraphicFramePr>
        <p:xfrm>
          <a:off xmlns:a="http://schemas.openxmlformats.org/drawingml/2006/main" x="609600" y="2352675"/>
          <a:ext xmlns:a="http://schemas.openxmlformats.org/drawingml/2006/main" cx="10972800" cy="2933700"/>
        </p:xfrm>
        <a:graphic xmlns:a="http://schemas.openxmlformats.org/drawingml/2006/main">
          <a:graphicData uri="http://schemas.openxmlformats.org/drawingml/2006/table">
            <a:tbl>
              <a:tblPr/>
              <a:tblGrid>
                <a:gridCol w="3714750"/>
                <a:gridCol w="2419350"/>
                <a:gridCol w="2419350"/>
                <a:gridCol w="2419350"/>
              </a:tblGrid>
              <a:tr h="419100">
                <a:tc>
                  <a:txBody>
                    <a:bodyPr lIns="95250" tIns="76200" rIns="95250" bIns="57150"/>
                    <a:lstStyle/>
                    <a:p>
                      <a:r>
                        <a:rPr sz="1650" b="1">
                          <a:solidFill>
                            <a:srgbClr val="FFFFFF"/>
                          </a:solidFill>
                          <a:latin typeface="Calibri"/>
                          <a:ea typeface="Calibri"/>
                          <a:cs typeface="Calibri"/>
                        </a:rPr>
                        <a:t>Komponen / Rp</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Optimis</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Base</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Pesimis</a:t>
                      </a:r>
                    </a:p>
                  </a:txBody>
                  <a:tcPr marL="91440" marR="91440" marT="45720" marB="45720">
                    <a:solidFill>
                      <a:srgbClr val="123F32"/>
                    </a:solidFill>
                  </a:tcPr>
                </a:tc>
              </a:tr>
              <a:tr h="419100">
                <a:tc>
                  <a:txBody>
                    <a:bodyPr lIns="95250" tIns="76200" rIns="95250" bIns="57150"/>
                    <a:lstStyle/>
                    <a:p>
                      <a:r>
                        <a:rPr sz="1650" b="0">
                          <a:solidFill>
                            <a:srgbClr val="293D34"/>
                          </a:solidFill>
                          <a:latin typeface="Calibri"/>
                          <a:ea typeface="Calibri"/>
                          <a:cs typeface="Calibri"/>
                        </a:rPr>
                        <a:t>Honor speaker / 8 sesi</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24.000.000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32.000.000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40.000.000</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Subscribe / 1 bulan</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2.655.839</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2.655.839</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2.655.839</a:t>
                      </a:r>
                    </a:p>
                  </a:txBody>
                  <a:tcPr marL="91440" marR="91440" marT="45720" marB="45720">
                    <a:solidFill>
                      <a:srgbClr val="F3F6F2"/>
                    </a:solidFill>
                  </a:tcPr>
                </a:tc>
              </a:tr>
              <a:tr h="419100">
                <a:tc>
                  <a:txBody>
                    <a:bodyPr lIns="95250" tIns="76200" rIns="95250" bIns="57150"/>
                    <a:lstStyle/>
                    <a:p>
                      <a:r>
                        <a:rPr sz="1650" b="0">
                          <a:solidFill>
                            <a:srgbClr val="293D34"/>
                          </a:solidFill>
                          <a:latin typeface="Calibri"/>
                          <a:ea typeface="Calibri"/>
                          <a:cs typeface="Calibri"/>
                        </a:rPr>
                        <a:t>TOTAL dengan subscribe</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26.655.839</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34.655.839</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42.655.839</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Sewa / 8 × Rp350 rb</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2.800.000</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2.800.000</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2.800.000</a:t>
                      </a:r>
                    </a:p>
                  </a:txBody>
                  <a:tcPr marL="91440" marR="91440" marT="45720" marB="45720">
                    <a:solidFill>
                      <a:srgbClr val="F3F6F2"/>
                    </a:solidFill>
                  </a:tcPr>
                </a:tc>
              </a:tr>
              <a:tr h="419100">
                <a:tc>
                  <a:txBody>
                    <a:bodyPr lIns="95250" tIns="76200" rIns="95250" bIns="57150"/>
                    <a:lstStyle/>
                    <a:p>
                      <a:r>
                        <a:rPr sz="1650" b="0">
                          <a:solidFill>
                            <a:srgbClr val="293D34"/>
                          </a:solidFill>
                          <a:latin typeface="Calibri"/>
                          <a:ea typeface="Calibri"/>
                          <a:cs typeface="Calibri"/>
                        </a:rPr>
                        <a:t>TOTAL dengan sewa</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26.800.000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34.800.000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42.800.000</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Pajak / gross-up jika berlaku</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r>
            </a:tbl>
          </a:graphicData>
        </a:graphic>
      </p:graphicFrame>
      <p:sp>
        <p:nvSpPr>
          <p:cNvPr id="8" name="text-289">
            <a:extLst xmlns:a="http://schemas.openxmlformats.org/drawingml/2006/main">
              <a:ext uri="{FF2B5EF4-FFF2-40B4-BE49-F238E27FC236}">
                <a16:creationId xmlns:a16="http://schemas.microsoft.com/office/drawing/2014/main" id="{913CD616-3A44-40D6-8B20-43E2467CB1FE}"/>
              </a:ext>
            </a:extLst>
          </p:cNvPr>
          <p:cNvSpPr>
            <a:spLocks xmlns:a="http://schemas.openxmlformats.org/drawingml/2006/main" noGrp="1"/>
          </p:cNvSpPr>
          <p:nvPr/>
        </p:nvSpPr>
        <p:spPr>
          <a:xfrm xmlns:a="http://schemas.openxmlformats.org/drawingml/2006/main">
            <a:off x="609600" y="55626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Tim &amp; tools existing</a:t>
            </a:r>
          </a:p>
        </p:txBody>
      </p:sp>
      <p:sp>
        <p:nvSpPr>
          <p:cNvPr id="9" name="text-290">
            <a:extLst xmlns:a="http://schemas.openxmlformats.org/drawingml/2006/main">
              <a:ext uri="{FF2B5EF4-FFF2-40B4-BE49-F238E27FC236}">
                <a16:creationId xmlns:a16="http://schemas.microsoft.com/office/drawing/2014/main" id="{6103718C-156C-4609-8F64-8F607B4CB9CD}"/>
              </a:ext>
            </a:extLst>
          </p:cNvPr>
          <p:cNvSpPr>
            <a:spLocks xmlns:a="http://schemas.openxmlformats.org/drawingml/2006/main" noGrp="1"/>
          </p:cNvSpPr>
          <p:nvPr/>
        </p:nvSpPr>
        <p:spPr>
          <a:xfrm xmlns:a="http://schemas.openxmlformats.org/drawingml/2006/main">
            <a:off x="4286250" y="5562600"/>
            <a:ext cx="714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Tidak dibebankan sebagai biaya tambahan pada base budget.</a:t>
            </a:r>
          </a:p>
        </p:txBody>
      </p:sp>
    </p:spTree>
    <p:extLst>
      <p:ext uri="{BB962C8B-B14F-4D97-AF65-F5344CB8AC3E}">
        <p14:creationId xmlns:p14="http://schemas.microsoft.com/office/powerpoint/2010/main" val="4972466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91">
            <a:extLst xmlns:a="http://schemas.openxmlformats.org/drawingml/2006/main">
              <a:ext uri="{FF2B5EF4-FFF2-40B4-BE49-F238E27FC236}">
                <a16:creationId xmlns:a16="http://schemas.microsoft.com/office/drawing/2014/main" id="{E6CD6931-DFB2-4DAD-A6D5-BFEA914BD588}"/>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A4 / BIAYA DINNER DAN VENUE</a:t>
            </a:r>
          </a:p>
        </p:txBody>
      </p:sp>
      <p:sp>
        <p:nvSpPr>
          <p:cNvPr id="2" name="text-292">
            <a:extLst xmlns:a="http://schemas.openxmlformats.org/drawingml/2006/main">
              <a:ext uri="{FF2B5EF4-FFF2-40B4-BE49-F238E27FC236}">
                <a16:creationId xmlns:a16="http://schemas.microsoft.com/office/drawing/2014/main" id="{F6B877F8-330A-4AC4-B7D4-71B447056274}"/>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Fee Master naik Rp5 jt, BEP naik Rp250 rb per peserta</a:t>
            </a:r>
          </a:p>
        </p:txBody>
      </p:sp>
      <p:sp>
        <p:nvSpPr>
          <p:cNvPr id="3" name="text-293">
            <a:extLst xmlns:a="http://schemas.openxmlformats.org/drawingml/2006/main">
              <a:ext uri="{FF2B5EF4-FFF2-40B4-BE49-F238E27FC236}">
                <a16:creationId xmlns:a16="http://schemas.microsoft.com/office/drawing/2014/main" id="{3C3E4CBB-AD69-4520-B057-6616865E2AC0}"/>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BEP inti = (24 × venue/head + fee Master) ÷ 20. Ops belum dimodelkan.</a:t>
            </a:r>
          </a:p>
        </p:txBody>
      </p:sp>
      <p:sp>
        <p:nvSpPr>
          <p:cNvPr id="4" name="">
            <a:extLst xmlns:a="http://schemas.openxmlformats.org/drawingml/2006/main">
              <a:ext uri="{FF2B5EF4-FFF2-40B4-BE49-F238E27FC236}">
                <a16:creationId xmlns:a16="http://schemas.microsoft.com/office/drawing/2014/main" id="{C94AB1B1-6D48-42E9-8636-62475EEC48C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94">
            <a:extLst xmlns:a="http://schemas.openxmlformats.org/drawingml/2006/main">
              <a:ext uri="{FF2B5EF4-FFF2-40B4-BE49-F238E27FC236}">
                <a16:creationId xmlns:a16="http://schemas.microsoft.com/office/drawing/2014/main" id="{BCBD16CC-2A5F-477F-8BC5-57D9E5C0322D}"/>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95">
            <a:extLst xmlns:a="http://schemas.openxmlformats.org/drawingml/2006/main">
              <a:ext uri="{FF2B5EF4-FFF2-40B4-BE49-F238E27FC236}">
                <a16:creationId xmlns:a16="http://schemas.microsoft.com/office/drawing/2014/main" id="{D793D865-BBE5-45BB-B454-BCC1E0B75D5F}"/>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19</a:t>
            </a:r>
          </a:p>
        </p:txBody>
      </p:sp>
      <p:graphicFrame>
        <p:nvGraphicFramePr>
          <p:cNvPr id="16" name="Chart"/>
          <p:cNvGraphicFramePr/>
          <p:nvPr/>
        </p:nvGraphicFramePr>
        <p:xfrm>
          <a:off xmlns:a="http://schemas.openxmlformats.org/drawingml/2006/main" x="609600" y="2457450"/>
          <a:ext xmlns:a="http://schemas.openxmlformats.org/drawingml/2006/main" cx="6048375" cy="3143250"/>
        </p:xfrm>
        <a:graphic xmlns:a="http://schemas.openxmlformats.org/drawingml/2006/main">
          <a:graphicData uri="http://schemas.openxmlformats.org/drawingml/2006/chart">
            <c:chart xmlns:r="http://schemas.openxmlformats.org/officeDocument/2006/relationships" xmlns:c="http://schemas.openxmlformats.org/drawingml/2006/chart" r:id="R863e8a29766d435f"/>
          </a:graphicData>
        </a:graphic>
      </p:graphicFrame>
      <p:graphicFrame>
        <p:nvGraphicFramePr>
          <p:cNvPr id="17" name=""/>
          <p:cNvGraphicFramePr/>
          <p:nvPr/>
        </p:nvGraphicFramePr>
        <p:xfrm>
          <a:off xmlns:a="http://schemas.openxmlformats.org/drawingml/2006/main" x="7115175" y="2600325"/>
          <a:ext xmlns:a="http://schemas.openxmlformats.org/drawingml/2006/main" cx="4467225" cy="2428875"/>
        </p:xfrm>
        <a:graphic xmlns:a="http://schemas.openxmlformats.org/drawingml/2006/main">
          <a:graphicData uri="http://schemas.openxmlformats.org/drawingml/2006/table">
            <a:tbl>
              <a:tblPr/>
              <a:tblGrid>
                <a:gridCol w="1533525"/>
                <a:gridCol w="1495425"/>
                <a:gridCol w="1438275"/>
              </a:tblGrid>
              <a:tr h="485775">
                <a:tc>
                  <a:txBody>
                    <a:bodyPr lIns="95250" tIns="76200" rIns="95250" bIns="57150"/>
                    <a:lstStyle/>
                    <a:p>
                      <a:r>
                        <a:rPr sz="1350" b="1">
                          <a:solidFill>
                            <a:srgbClr val="FFFFFF"/>
                          </a:solidFill>
                          <a:latin typeface="Calibri"/>
                          <a:ea typeface="Calibri"/>
                          <a:cs typeface="Calibri"/>
                        </a:rPr>
                        <a:t>Venue</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Per orang</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Catatan</a:t>
                      </a:r>
                    </a:p>
                  </a:txBody>
                  <a:tcPr marL="91440" marR="91440" marT="45720" marB="45720">
                    <a:solidFill>
                      <a:srgbClr val="123F32"/>
                    </a:solidFill>
                  </a:tcPr>
                </a:tc>
              </a:tr>
              <a:tr h="485775">
                <a:tc>
                  <a:txBody>
                    <a:bodyPr lIns="95250" tIns="76200" rIns="95250" bIns="57150"/>
                    <a:lstStyle/>
                    <a:p>
                      <a:r>
                        <a:rPr sz="1350" b="0">
                          <a:solidFill>
                            <a:srgbClr val="293D34"/>
                          </a:solidFill>
                          <a:latin typeface="Calibri"/>
                          <a:ea typeface="Calibri"/>
                          <a:cs typeface="Calibri"/>
                        </a:rPr>
                        <a:t>Park Hyatt</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~Rp500 rb++</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Room maks 20</a:t>
                      </a:r>
                    </a:p>
                  </a:txBody>
                  <a:tcPr marL="91440" marR="91440" marT="45720" marB="45720">
                    <a:solidFill>
                      <a:srgbClr val="FFFFFF"/>
                    </a:solidFill>
                  </a:tcPr>
                </a:tc>
              </a:tr>
              <a:tr h="485775">
                <a:tc>
                  <a:txBody>
                    <a:bodyPr lIns="95250" tIns="76200" rIns="95250" bIns="57150"/>
                    <a:lstStyle/>
                    <a:p>
                      <a:r>
                        <a:rPr sz="1350" b="0">
                          <a:solidFill>
                            <a:srgbClr val="293D34"/>
                          </a:solidFill>
                          <a:latin typeface="Calibri"/>
                          <a:ea typeface="Calibri"/>
                          <a:cs typeface="Calibri"/>
                        </a:rPr>
                        <a:t>Ritz-Carlton</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Rp540 rb</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Cek room charge</a:t>
                      </a:r>
                    </a:p>
                  </a:txBody>
                  <a:tcPr marL="91440" marR="91440" marT="45720" marB="45720">
                    <a:solidFill>
                      <a:srgbClr val="F3F6F2"/>
                    </a:solidFill>
                  </a:tcPr>
                </a:tc>
              </a:tr>
              <a:tr h="485775">
                <a:tc>
                  <a:txBody>
                    <a:bodyPr lIns="95250" tIns="76200" rIns="95250" bIns="57150"/>
                    <a:lstStyle/>
                    <a:p>
                      <a:r>
                        <a:rPr sz="1350" b="0">
                          <a:solidFill>
                            <a:srgbClr val="293D34"/>
                          </a:solidFill>
                          <a:latin typeface="Calibri"/>
                          <a:ea typeface="Calibri"/>
                          <a:cs typeface="Calibri"/>
                        </a:rPr>
                        <a:t>Westin</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Rp850 rb</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Dinner catering</a:t>
                      </a:r>
                    </a:p>
                  </a:txBody>
                  <a:tcPr marL="91440" marR="91440" marT="45720" marB="45720">
                    <a:solidFill>
                      <a:srgbClr val="FFFFFF"/>
                    </a:solidFill>
                  </a:tcPr>
                </a:tc>
              </a:tr>
              <a:tr h="485775">
                <a:tc>
                  <a:txBody>
                    <a:bodyPr lIns="95250" tIns="76200" rIns="95250" bIns="57150"/>
                    <a:lstStyle/>
                    <a:p>
                      <a:r>
                        <a:rPr sz="1350" b="0">
                          <a:solidFill>
                            <a:srgbClr val="293D34"/>
                          </a:solidFill>
                          <a:latin typeface="Calibri"/>
                          <a:ea typeface="Calibri"/>
                          <a:cs typeface="Calibri"/>
                        </a:rPr>
                        <a:t>Raffles</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Rp995 rb++</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Pajak/service lagi</a:t>
                      </a:r>
                    </a:p>
                  </a:txBody>
                  <a:tcPr marL="91440" marR="91440" marT="45720" marB="45720">
                    <a:solidFill>
                      <a:srgbClr val="F3F6F2"/>
                    </a:solidFill>
                  </a:tcPr>
                </a:tc>
              </a:tr>
            </a:tbl>
          </a:graphicData>
        </a:graphic>
      </p:graphicFrame>
      <p:sp>
        <p:nvSpPr>
          <p:cNvPr id="9" name="text-296">
            <a:extLst xmlns:a="http://schemas.openxmlformats.org/drawingml/2006/main">
              <a:ext uri="{FF2B5EF4-FFF2-40B4-BE49-F238E27FC236}">
                <a16:creationId xmlns:a16="http://schemas.microsoft.com/office/drawing/2014/main" id="{40E538CF-CB10-44D6-BC5F-E53059CE6F46}"/>
              </a:ext>
            </a:extLst>
          </p:cNvPr>
          <p:cNvSpPr>
            <a:spLocks xmlns:a="http://schemas.openxmlformats.org/drawingml/2006/main" noGrp="1"/>
          </p:cNvSpPr>
          <p:nvPr/>
        </p:nvSpPr>
        <p:spPr>
          <a:xfrm xmlns:a="http://schemas.openxmlformats.org/drawingml/2006/main">
            <a:off x="7115175" y="5343525"/>
            <a:ext cx="4467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24 orang = 20 peserta + 1 Master + 3 tim.</a:t>
            </a:r>
          </a:p>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Park Hyatt 20 pax tidak cukup untuk seluruh tim.</a:t>
            </a:r>
          </a:p>
        </p:txBody>
      </p:sp>
    </p:spTree>
    <p:extLst>
      <p:ext uri="{BB962C8B-B14F-4D97-AF65-F5344CB8AC3E}">
        <p14:creationId xmlns:p14="http://schemas.microsoft.com/office/powerpoint/2010/main" val="2240419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97">
            <a:extLst xmlns:a="http://schemas.openxmlformats.org/drawingml/2006/main">
              <a:ext uri="{FF2B5EF4-FFF2-40B4-BE49-F238E27FC236}">
                <a16:creationId xmlns:a16="http://schemas.microsoft.com/office/drawing/2014/main" id="{11857671-B8A2-412A-A8DF-97F984341293}"/>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A5 / SERTIFIKASI</a:t>
            </a:r>
          </a:p>
        </p:txBody>
      </p:sp>
      <p:sp>
        <p:nvSpPr>
          <p:cNvPr id="2" name="text-298">
            <a:extLst xmlns:a="http://schemas.openxmlformats.org/drawingml/2006/main">
              <a:ext uri="{FF2B5EF4-FFF2-40B4-BE49-F238E27FC236}">
                <a16:creationId xmlns:a16="http://schemas.microsoft.com/office/drawing/2014/main" id="{070A245E-5BB1-4209-9171-8B1CA07BF8D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Sertifikat CMC dan sertifikasi kompetensi berbeda fungsi</a:t>
            </a:r>
          </a:p>
        </p:txBody>
      </p:sp>
      <p:sp>
        <p:nvSpPr>
          <p:cNvPr id="3" name="text-299">
            <a:extLst xmlns:a="http://schemas.openxmlformats.org/drawingml/2006/main">
              <a:ext uri="{FF2B5EF4-FFF2-40B4-BE49-F238E27FC236}">
                <a16:creationId xmlns:a16="http://schemas.microsoft.com/office/drawing/2014/main" id="{84865280-EAD9-4D38-9C64-326452881B12}"/>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Tier premium memerlukan mitra LSP, skema yang sesuai, dan biaya final.</a:t>
            </a:r>
          </a:p>
        </p:txBody>
      </p:sp>
      <p:sp>
        <p:nvSpPr>
          <p:cNvPr id="4" name="">
            <a:extLst xmlns:a="http://schemas.openxmlformats.org/drawingml/2006/main">
              <a:ext uri="{FF2B5EF4-FFF2-40B4-BE49-F238E27FC236}">
                <a16:creationId xmlns:a16="http://schemas.microsoft.com/office/drawing/2014/main" id="{5B665AE4-B2E1-4DA4-91D3-121713930B4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300">
            <a:extLst xmlns:a="http://schemas.openxmlformats.org/drawingml/2006/main">
              <a:ext uri="{FF2B5EF4-FFF2-40B4-BE49-F238E27FC236}">
                <a16:creationId xmlns:a16="http://schemas.microsoft.com/office/drawing/2014/main" id="{CACBDBB9-09FE-4B92-B34A-82863D6431B1}"/>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301">
            <a:extLst xmlns:a="http://schemas.openxmlformats.org/drawingml/2006/main">
              <a:ext uri="{FF2B5EF4-FFF2-40B4-BE49-F238E27FC236}">
                <a16:creationId xmlns:a16="http://schemas.microsoft.com/office/drawing/2014/main" id="{0EECA64D-1301-4752-AE60-E2FD34C521D5}"/>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20</a:t>
            </a:r>
          </a:p>
        </p:txBody>
      </p:sp>
      <p:sp>
        <p:nvSpPr>
          <p:cNvPr id="7" name="text-302">
            <a:extLst xmlns:a="http://schemas.openxmlformats.org/drawingml/2006/main">
              <a:ext uri="{FF2B5EF4-FFF2-40B4-BE49-F238E27FC236}">
                <a16:creationId xmlns:a16="http://schemas.microsoft.com/office/drawing/2014/main" id="{CECBA26A-4195-46B6-91A7-2706693FE1A4}"/>
              </a:ext>
            </a:extLst>
          </p:cNvPr>
          <p:cNvSpPr>
            <a:spLocks xmlns:a="http://schemas.openxmlformats.org/drawingml/2006/main" noGrp="1"/>
          </p:cNvSpPr>
          <p:nvPr/>
        </p:nvSpPr>
        <p:spPr>
          <a:xfrm xmlns:a="http://schemas.openxmlformats.org/drawingml/2006/main">
            <a:off x="609600" y="229552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Sertifikat CMC</a:t>
            </a:r>
          </a:p>
        </p:txBody>
      </p:sp>
      <p:sp>
        <p:nvSpPr>
          <p:cNvPr id="8" name="text-303">
            <a:extLst xmlns:a="http://schemas.openxmlformats.org/drawingml/2006/main">
              <a:ext uri="{FF2B5EF4-FFF2-40B4-BE49-F238E27FC236}">
                <a16:creationId xmlns:a16="http://schemas.microsoft.com/office/drawing/2014/main" id="{00B94B5F-B78C-419B-BB75-B1E6A827FF17}"/>
              </a:ext>
            </a:extLst>
          </p:cNvPr>
          <p:cNvSpPr>
            <a:spLocks xmlns:a="http://schemas.openxmlformats.org/drawingml/2006/main" noGrp="1"/>
          </p:cNvSpPr>
          <p:nvPr/>
        </p:nvSpPr>
        <p:spPr>
          <a:xfrm xmlns:a="http://schemas.openxmlformats.org/drawingml/2006/main">
            <a:off x="609600" y="27146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Bukti penyelesaian program</a:t>
            </a:r>
          </a:p>
        </p:txBody>
      </p:sp>
      <p:sp>
        <p:nvSpPr>
          <p:cNvPr id="9" name="text-304">
            <a:extLst xmlns:a="http://schemas.openxmlformats.org/drawingml/2006/main">
              <a:ext uri="{FF2B5EF4-FFF2-40B4-BE49-F238E27FC236}">
                <a16:creationId xmlns:a16="http://schemas.microsoft.com/office/drawing/2014/main" id="{2812BF74-0917-4D69-A601-D3C581D72368}"/>
              </a:ext>
            </a:extLst>
          </p:cNvPr>
          <p:cNvSpPr>
            <a:spLocks xmlns:a="http://schemas.openxmlformats.org/drawingml/2006/main" noGrp="1"/>
          </p:cNvSpPr>
          <p:nvPr/>
        </p:nvSpPr>
        <p:spPr>
          <a:xfrm xmlns:a="http://schemas.openxmlformats.org/drawingml/2006/main">
            <a:off x="6619875" y="229552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Sertifikasi kompetensi</a:t>
            </a:r>
          </a:p>
        </p:txBody>
      </p:sp>
      <p:sp>
        <p:nvSpPr>
          <p:cNvPr id="10" name="text-305">
            <a:extLst xmlns:a="http://schemas.openxmlformats.org/drawingml/2006/main">
              <a:ext uri="{FF2B5EF4-FFF2-40B4-BE49-F238E27FC236}">
                <a16:creationId xmlns:a16="http://schemas.microsoft.com/office/drawing/2014/main" id="{905AEFBF-7B93-4D50-8882-D397299A8D32}"/>
              </a:ext>
            </a:extLst>
          </p:cNvPr>
          <p:cNvSpPr>
            <a:spLocks xmlns:a="http://schemas.openxmlformats.org/drawingml/2006/main" noGrp="1"/>
          </p:cNvSpPr>
          <p:nvPr/>
        </p:nvSpPr>
        <p:spPr>
          <a:xfrm xmlns:a="http://schemas.openxmlformats.org/drawingml/2006/main">
            <a:off x="6619875" y="2714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Uji kompetensi lewat LSP berlisensi</a:t>
            </a:r>
          </a:p>
        </p:txBody>
      </p:sp>
      <p:graphicFrame>
        <p:nvGraphicFramePr>
          <p:cNvPr id="22" name=""/>
          <p:cNvGraphicFramePr/>
          <p:nvPr/>
        </p:nvGraphicFramePr>
        <p:xfrm>
          <a:off xmlns:a="http://schemas.openxmlformats.org/drawingml/2006/main" x="609600" y="3333750"/>
          <a:ext xmlns:a="http://schemas.openxmlformats.org/drawingml/2006/main" cx="10972800" cy="2600325"/>
        </p:xfrm>
        <a:graphic xmlns:a="http://schemas.openxmlformats.org/drawingml/2006/main">
          <a:graphicData uri="http://schemas.openxmlformats.org/drawingml/2006/table">
            <a:tbl>
              <a:tblPr/>
              <a:tblGrid>
                <a:gridCol w="4095750"/>
                <a:gridCol w="3286125"/>
                <a:gridCol w="3590925"/>
              </a:tblGrid>
              <a:tr h="371475">
                <a:tc>
                  <a:txBody>
                    <a:bodyPr lIns="95250" tIns="76200" rIns="95250" bIns="57150"/>
                    <a:lstStyle/>
                    <a:p>
                      <a:r>
                        <a:rPr sz="1425" b="1">
                          <a:solidFill>
                            <a:srgbClr val="FFFFFF"/>
                          </a:solidFill>
                          <a:latin typeface="Calibri"/>
                          <a:ea typeface="Calibri"/>
                          <a:cs typeface="Calibri"/>
                        </a:rPr>
                        <a:t>Skema / program</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Biaya benchmark</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Sumber</a:t>
                      </a:r>
                    </a:p>
                  </a:txBody>
                  <a:tcPr marL="91440" marR="91440" marT="45720" marB="45720">
                    <a:solidFill>
                      <a:srgbClr val="123F32"/>
                    </a:solidFill>
                  </a:tcPr>
                </a:tc>
              </a:tr>
              <a:tr h="371475">
                <a:tc>
                  <a:txBody>
                    <a:bodyPr lIns="95250" tIns="76200" rIns="95250" bIns="57150"/>
                    <a:lstStyle/>
                    <a:p>
                      <a:r>
                        <a:rPr sz="1425" b="0">
                          <a:solidFill>
                            <a:srgbClr val="293D34"/>
                          </a:solidFill>
                          <a:latin typeface="Calibri"/>
                          <a:ea typeface="Calibri"/>
                          <a:cs typeface="Calibri"/>
                        </a:rPr>
                        <a:t>Dasar / digital marketing</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Rp0,75–1,3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LSP UMS, Ditekindo</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Pelaksana kewirausahaan</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Rp1,5 jt + Rp0,2 jt daftar</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LSP UMKM Profesional</a:t>
                      </a:r>
                    </a:p>
                  </a:txBody>
                  <a:tcPr marL="91440" marR="91440" marT="45720" marB="45720">
                    <a:solidFill>
                      <a:srgbClr val="F3F6F2"/>
                    </a:solidFill>
                  </a:tcPr>
                </a:tc>
              </a:tr>
              <a:tr h="371475">
                <a:tc>
                  <a:txBody>
                    <a:bodyPr lIns="95250" tIns="76200" rIns="95250" bIns="57150"/>
                    <a:lstStyle/>
                    <a:p>
                      <a:r>
                        <a:rPr sz="1425" b="0">
                          <a:solidFill>
                            <a:srgbClr val="293D34"/>
                          </a:solidFill>
                          <a:latin typeface="Calibri"/>
                          <a:ea typeface="Calibri"/>
                          <a:cs typeface="Calibri"/>
                        </a:rPr>
                        <a:t>Pelaksana + pelatihan</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Rp2,5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Pustama Indonesia</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Supervisor</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Rp1,75–2,5 jt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Ditekindo, MarkPlus</a:t>
                      </a:r>
                    </a:p>
                  </a:txBody>
                  <a:tcPr marL="91440" marR="91440" marT="45720" marB="45720">
                    <a:solidFill>
                      <a:srgbClr val="F3F6F2"/>
                    </a:solidFill>
                  </a:tcPr>
                </a:tc>
              </a:tr>
              <a:tr h="371475">
                <a:tc>
                  <a:txBody>
                    <a:bodyPr lIns="95250" tIns="76200" rIns="95250" bIns="57150"/>
                    <a:lstStyle/>
                    <a:p>
                      <a:r>
                        <a:rPr sz="1425" b="0">
                          <a:solidFill>
                            <a:srgbClr val="293D34"/>
                          </a:solidFill>
                          <a:latin typeface="Calibri"/>
                          <a:ea typeface="Calibri"/>
                          <a:cs typeface="Calibri"/>
                        </a:rPr>
                        <a:t>Manajer</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Rp3,25–5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Ditekindo, MarkPlus</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Manajer + pelatihan</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Rp4–7,5 jt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Indo Asia (2025)</a:t>
                      </a:r>
                    </a:p>
                  </a:txBody>
                  <a:tcPr marL="91440" marR="91440" marT="45720" marB="45720">
                    <a:solidFill>
                      <a:srgbClr val="F3F6F2"/>
                    </a:solidFill>
                  </a:tcPr>
                </a:tc>
              </a:tr>
            </a:tbl>
          </a:graphicData>
        </a:graphic>
      </p:graphicFrame>
    </p:spTree>
    <p:extLst>
      <p:ext uri="{BB962C8B-B14F-4D97-AF65-F5344CB8AC3E}">
        <p14:creationId xmlns:p14="http://schemas.microsoft.com/office/powerpoint/2010/main" val="13736410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06">
            <a:extLst xmlns:a="http://schemas.openxmlformats.org/drawingml/2006/main">
              <a:ext uri="{FF2B5EF4-FFF2-40B4-BE49-F238E27FC236}">
                <a16:creationId xmlns:a16="http://schemas.microsoft.com/office/drawing/2014/main" id="{D818DFAF-54FB-4155-BC6B-C5EF923DC157}"/>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A6 / RENCANA MODUL</a:t>
            </a:r>
          </a:p>
        </p:txBody>
      </p:sp>
      <p:sp>
        <p:nvSpPr>
          <p:cNvPr id="2" name="text-307">
            <a:extLst xmlns:a="http://schemas.openxmlformats.org/drawingml/2006/main">
              <a:ext uri="{FF2B5EF4-FFF2-40B4-BE49-F238E27FC236}">
                <a16:creationId xmlns:a16="http://schemas.microsoft.com/office/drawing/2014/main" id="{7A5A6516-3996-438F-B016-E91B9F42ADDC}"/>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Sembilan modul baru menambah manfaat program</a:t>
            </a:r>
          </a:p>
        </p:txBody>
      </p:sp>
      <p:sp>
        <p:nvSpPr>
          <p:cNvPr id="3" name="text-308">
            <a:extLst xmlns:a="http://schemas.openxmlformats.org/drawingml/2006/main">
              <a:ext uri="{FF2B5EF4-FFF2-40B4-BE49-F238E27FC236}">
                <a16:creationId xmlns:a16="http://schemas.microsoft.com/office/drawing/2014/main" id="{B502778B-D871-4ED9-8A66-5DB7D7BFD41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Calon Master masih perlu dikonfirmasi. Rincian materi ada di speaker notes.</a:t>
            </a:r>
          </a:p>
        </p:txBody>
      </p:sp>
      <p:sp>
        <p:nvSpPr>
          <p:cNvPr id="4" name="">
            <a:extLst xmlns:a="http://schemas.openxmlformats.org/drawingml/2006/main">
              <a:ext uri="{FF2B5EF4-FFF2-40B4-BE49-F238E27FC236}">
                <a16:creationId xmlns:a16="http://schemas.microsoft.com/office/drawing/2014/main" id="{DC6C7D72-995B-431A-9AD4-9A504C16DB9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309">
            <a:extLst xmlns:a="http://schemas.openxmlformats.org/drawingml/2006/main">
              <a:ext uri="{FF2B5EF4-FFF2-40B4-BE49-F238E27FC236}">
                <a16:creationId xmlns:a16="http://schemas.microsoft.com/office/drawing/2014/main" id="{8E221276-5809-43E7-9620-5B1CFC377A5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310">
            <a:extLst xmlns:a="http://schemas.openxmlformats.org/drawingml/2006/main">
              <a:ext uri="{FF2B5EF4-FFF2-40B4-BE49-F238E27FC236}">
                <a16:creationId xmlns:a16="http://schemas.microsoft.com/office/drawing/2014/main" id="{DF1C4F35-FEE8-4EF5-A92B-694956A0560A}"/>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21</a:t>
            </a:r>
          </a:p>
        </p:txBody>
      </p:sp>
      <p:graphicFrame>
        <p:nvGraphicFramePr>
          <p:cNvPr id="14" name=""/>
          <p:cNvGraphicFramePr/>
          <p:nvPr/>
        </p:nvGraphicFramePr>
        <p:xfrm>
          <a:off xmlns:a="http://schemas.openxmlformats.org/drawingml/2006/main" x="609600" y="2343150"/>
          <a:ext xmlns:a="http://schemas.openxmlformats.org/drawingml/2006/main" cx="10972800" cy="3619500"/>
        </p:xfrm>
        <a:graphic xmlns:a="http://schemas.openxmlformats.org/drawingml/2006/main">
          <a:graphicData uri="http://schemas.openxmlformats.org/drawingml/2006/table">
            <a:tbl>
              <a:tblPr/>
              <a:tblGrid>
                <a:gridCol w="571500"/>
                <a:gridCol w="2714625"/>
                <a:gridCol w="3409950"/>
                <a:gridCol w="4276725"/>
              </a:tblGrid>
              <a:tr h="361950">
                <a:tc>
                  <a:txBody>
                    <a:bodyPr lIns="95250" tIns="76200" rIns="95250" bIns="57150"/>
                    <a:lstStyle/>
                    <a:p>
                      <a:r>
                        <a:rPr sz="1425" b="1">
                          <a:solidFill>
                            <a:srgbClr val="FFFFFF"/>
                          </a:solidFill>
                          <a:latin typeface="Calibri"/>
                          <a:ea typeface="Calibri"/>
                          <a:cs typeface="Calibri"/>
                        </a:rPr>
                        <a:t>#</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Modul</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Calon Master</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Output / tujuan</a:t>
                      </a:r>
                    </a:p>
                  </a:txBody>
                  <a:tcPr marL="91440" marR="91440" marT="45720" marB="45720">
                    <a:solidFill>
                      <a:srgbClr val="123F32"/>
                    </a:solidFill>
                  </a:tcPr>
                </a:tc>
              </a:tr>
              <a:tr h="361950">
                <a:tc>
                  <a:txBody>
                    <a:bodyPr lIns="95250" tIns="76200" rIns="95250" bIns="57150"/>
                    <a:lstStyle/>
                    <a:p>
                      <a:r>
                        <a:rPr sz="1425" b="0">
                          <a:solidFill>
                            <a:srgbClr val="293D34"/>
                          </a:solidFill>
                          <a:latin typeface="Calibri"/>
                          <a:ea typeface="Calibri"/>
                          <a:cs typeface="Calibri"/>
                        </a:rPr>
                        <a:t>09</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UMKM Naik Kelas</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M. Arsjad Rasjid P.M.</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Pembukuan, legal, pembiayaan, pasar</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10</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Hukum Bisnis</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Ahmad Fikri Assegaf</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Badan usaha, perjanjian, sengketa</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11</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ESG &amp; Keberlanjutan</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Hashim S. Djojohadikusumo</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Regulasi dan standar keberlanjutan</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12</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Transformasi Digital</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Chairul Tanjung</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Materi masih dikonstruksi</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13</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Distribusi &amp; Channel</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Hermanto Tanoko</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Channel Map</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14</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Sistem &amp; Delegasi</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Theodore Permadi Rachmat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Founder Dependency Audit</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15</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Bangun, Beli, atau Partner</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Edwin Soeryadjaya</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Scorecard pilihan ekspansi</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16</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Daerah ke Nasional</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Erwin Aksa</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Scorecard kota berikutnya</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17</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Bisnis Keluarga</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Axton Salim</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Family Role Map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555578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11">
            <a:extLst xmlns:a="http://schemas.openxmlformats.org/drawingml/2006/main">
              <a:ext uri="{FF2B5EF4-FFF2-40B4-BE49-F238E27FC236}">
                <a16:creationId xmlns:a16="http://schemas.microsoft.com/office/drawing/2014/main" id="{617C6C80-DD0C-4D4C-A4D0-4C761A0CC9C2}"/>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A7 / SUMBER HARGA KOMPETITOR</a:t>
            </a:r>
          </a:p>
        </p:txBody>
      </p:sp>
      <p:sp>
        <p:nvSpPr>
          <p:cNvPr id="2" name="text-312">
            <a:extLst xmlns:a="http://schemas.openxmlformats.org/drawingml/2006/main">
              <a:ext uri="{FF2B5EF4-FFF2-40B4-BE49-F238E27FC236}">
                <a16:creationId xmlns:a16="http://schemas.microsoft.com/office/drawing/2014/main" id="{6E639143-EC09-4EE7-BBE5-F774B7DA6BF7}"/>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Harga kompetitor jadi pembanding untuk pilot CMC</a:t>
            </a:r>
          </a:p>
        </p:txBody>
      </p:sp>
      <p:sp>
        <p:nvSpPr>
          <p:cNvPr id="3" name="text-313">
            <a:extLst xmlns:a="http://schemas.openxmlformats.org/drawingml/2006/main">
              <a:ext uri="{FF2B5EF4-FFF2-40B4-BE49-F238E27FC236}">
                <a16:creationId xmlns:a16="http://schemas.microsoft.com/office/drawing/2014/main" id="{D3A2B64B-7906-4950-999B-F16FDF639D8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dan tanggal mengikuti deck sumber. Asian Tiger masih perlu verifikasi.</a:t>
            </a:r>
          </a:p>
        </p:txBody>
      </p:sp>
      <p:sp>
        <p:nvSpPr>
          <p:cNvPr id="4" name="">
            <a:extLst xmlns:a="http://schemas.openxmlformats.org/drawingml/2006/main">
              <a:ext uri="{FF2B5EF4-FFF2-40B4-BE49-F238E27FC236}">
                <a16:creationId xmlns:a16="http://schemas.microsoft.com/office/drawing/2014/main" id="{D9B9BE95-4ABE-48BF-B0D3-59C919847A4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314">
            <a:extLst xmlns:a="http://schemas.openxmlformats.org/drawingml/2006/main">
              <a:ext uri="{FF2B5EF4-FFF2-40B4-BE49-F238E27FC236}">
                <a16:creationId xmlns:a16="http://schemas.microsoft.com/office/drawing/2014/main" id="{AC86476E-4642-4A46-95EF-41549BDBBC64}"/>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315">
            <a:extLst xmlns:a="http://schemas.openxmlformats.org/drawingml/2006/main">
              <a:ext uri="{FF2B5EF4-FFF2-40B4-BE49-F238E27FC236}">
                <a16:creationId xmlns:a16="http://schemas.microsoft.com/office/drawing/2014/main" id="{DA949C7B-DA4B-461A-B9DB-2A61ADD9D03F}"/>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22</a:t>
            </a:r>
          </a:p>
        </p:txBody>
      </p:sp>
      <p:graphicFrame>
        <p:nvGraphicFramePr>
          <p:cNvPr id="15" name=""/>
          <p:cNvGraphicFramePr/>
          <p:nvPr/>
        </p:nvGraphicFramePr>
        <p:xfrm>
          <a:off xmlns:a="http://schemas.openxmlformats.org/drawingml/2006/main" x="609600" y="2409825"/>
          <a:ext xmlns:a="http://schemas.openxmlformats.org/drawingml/2006/main" cx="10972800" cy="2857500"/>
        </p:xfrm>
        <a:graphic xmlns:a="http://schemas.openxmlformats.org/drawingml/2006/main">
          <a:graphicData uri="http://schemas.openxmlformats.org/drawingml/2006/table">
            <a:tbl>
              <a:tblPr/>
              <a:tblGrid>
                <a:gridCol w="3524250"/>
                <a:gridCol w="2286000"/>
                <a:gridCol w="2095500"/>
                <a:gridCol w="3067050"/>
              </a:tblGrid>
              <a:tr h="476250">
                <a:tc>
                  <a:txBody>
                    <a:bodyPr lIns="95250" tIns="76200" rIns="95250" bIns="57150"/>
                    <a:lstStyle/>
                    <a:p>
                      <a:r>
                        <a:rPr sz="1650" b="1">
                          <a:solidFill>
                            <a:srgbClr val="FFFFFF"/>
                          </a:solidFill>
                          <a:latin typeface="Calibri"/>
                          <a:ea typeface="Calibri"/>
                          <a:cs typeface="Calibri"/>
                        </a:rPr>
                        <a:t>Program</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Paket</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Harga</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Caveat</a:t>
                      </a:r>
                    </a:p>
                  </a:txBody>
                  <a:tcPr marL="91440" marR="91440" marT="45720" marB="45720">
                    <a:solidFill>
                      <a:srgbClr val="123F32"/>
                    </a:solidFill>
                  </a:tcPr>
                </a:tc>
              </a:tr>
              <a:tr h="476250">
                <a:tc>
                  <a:txBody>
                    <a:bodyPr lIns="95250" tIns="76200" rIns="95250" bIns="57150"/>
                    <a:lstStyle/>
                    <a:p>
                      <a:r>
                        <a:rPr sz="1650" b="0">
                          <a:solidFill>
                            <a:srgbClr val="293D34"/>
                          </a:solidFill>
                          <a:latin typeface="Calibri"/>
                          <a:ea typeface="Calibri"/>
                          <a:cs typeface="Calibri"/>
                        </a:rPr>
                        <a:t>Sevenpreneur Batch 8</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Regular</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Rp1,499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Harga coret Rp3 jt</a:t>
                      </a:r>
                    </a:p>
                  </a:txBody>
                  <a:tcPr marL="91440" marR="91440" marT="45720" marB="45720">
                    <a:solidFill>
                      <a:srgbClr val="FFFFFF"/>
                    </a:solidFill>
                  </a:tcPr>
                </a:tc>
              </a:tr>
              <a:tr h="476250">
                <a:tc>
                  <a:txBody>
                    <a:bodyPr lIns="95250" tIns="76200" rIns="95250" bIns="57150"/>
                    <a:lstStyle/>
                    <a:p>
                      <a:r>
                        <a:rPr sz="1650" b="0">
                          <a:solidFill>
                            <a:srgbClr val="293D34"/>
                          </a:solidFill>
                          <a:latin typeface="Calibri"/>
                          <a:ea typeface="Calibri"/>
                          <a:cs typeface="Calibri"/>
                        </a:rPr>
                        <a:t>Sevenpreneur Batch 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VIP</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Rp4,999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Harga coret Rp8,5 jt</a:t>
                      </a:r>
                    </a:p>
                  </a:txBody>
                  <a:tcPr marL="91440" marR="91440" marT="45720" marB="45720">
                    <a:solidFill>
                      <a:srgbClr val="F3F6F2"/>
                    </a:solidFill>
                  </a:tcPr>
                </a:tc>
              </a:tr>
              <a:tr h="476250">
                <a:tc>
                  <a:txBody>
                    <a:bodyPr lIns="95250" tIns="76200" rIns="95250" bIns="57150"/>
                    <a:lstStyle/>
                    <a:p>
                      <a:r>
                        <a:rPr sz="1650" b="0">
                          <a:solidFill>
                            <a:srgbClr val="293D34"/>
                          </a:solidFill>
                          <a:latin typeface="Calibri"/>
                          <a:ea typeface="Calibri"/>
                          <a:cs typeface="Calibri"/>
                        </a:rPr>
                        <a:t>Aksoro CEO 3.0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Online</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Rp3,3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2 hari live</a:t>
                      </a:r>
                    </a:p>
                  </a:txBody>
                  <a:tcPr marL="91440" marR="91440" marT="45720" marB="45720">
                    <a:solidFill>
                      <a:srgbClr val="FFFFFF"/>
                    </a:solidFill>
                  </a:tcPr>
                </a:tc>
              </a:tr>
              <a:tr h="476250">
                <a:tc>
                  <a:txBody>
                    <a:bodyPr lIns="95250" tIns="76200" rIns="95250" bIns="57150"/>
                    <a:lstStyle/>
                    <a:p>
                      <a:r>
                        <a:rPr sz="1650" b="0">
                          <a:solidFill>
                            <a:srgbClr val="293D34"/>
                          </a:solidFill>
                          <a:latin typeface="Calibri"/>
                          <a:ea typeface="Calibri"/>
                          <a:cs typeface="Calibri"/>
                        </a:rPr>
                        <a:t>Aksoro CEO 3.0</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Offline</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Rp9,3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Early bird, Juni 2026</a:t>
                      </a:r>
                    </a:p>
                  </a:txBody>
                  <a:tcPr marL="91440" marR="91440" marT="45720" marB="45720">
                    <a:solidFill>
                      <a:srgbClr val="F3F6F2"/>
                    </a:solidFill>
                  </a:tcPr>
                </a:tc>
              </a:tr>
              <a:tr h="476250">
                <a:tc>
                  <a:txBody>
                    <a:bodyPr lIns="95250" tIns="76200" rIns="95250" bIns="57150"/>
                    <a:lstStyle/>
                    <a:p>
                      <a:r>
                        <a:rPr sz="1650" b="0">
                          <a:solidFill>
                            <a:srgbClr val="293D34"/>
                          </a:solidFill>
                          <a:latin typeface="Calibri"/>
                          <a:ea typeface="Calibri"/>
                          <a:cs typeface="Calibri"/>
                        </a:rPr>
                        <a:t>Asian Tiger School</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Property Dev.</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Rp7–10,6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Sumber 404; verifikasi lemah</a:t>
                      </a:r>
                    </a:p>
                  </a:txBody>
                  <a:tcPr marL="91440" marR="91440" marT="45720" marB="45720">
                    <a:solidFill>
                      <a:srgbClr val="FFFFFF"/>
                    </a:solidFill>
                  </a:tcPr>
                </a:tc>
              </a:tr>
            </a:tbl>
          </a:graphicData>
        </a:graphic>
      </p:graphicFrame>
      <p:sp>
        <p:nvSpPr>
          <p:cNvPr id="8" name="text-316">
            <a:extLst xmlns:a="http://schemas.openxmlformats.org/drawingml/2006/main">
              <a:ext uri="{FF2B5EF4-FFF2-40B4-BE49-F238E27FC236}">
                <a16:creationId xmlns:a16="http://schemas.microsoft.com/office/drawing/2014/main" id="{A41765D6-3159-4D94-AF13-2017FA671064}"/>
              </a:ext>
            </a:extLst>
          </p:cNvPr>
          <p:cNvSpPr>
            <a:spLocks xmlns:a="http://schemas.openxmlformats.org/drawingml/2006/main" noGrp="1"/>
          </p:cNvSpPr>
          <p:nvPr/>
        </p:nvSpPr>
        <p:spPr>
          <a:xfrm xmlns:a="http://schemas.openxmlformats.org/drawingml/2006/main">
            <a:off x="609600" y="57245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sevenpreneur.com     aksoro.co.id     info.aksoro.co.id     asiantigerschool.id</a:t>
            </a:r>
          </a:p>
        </p:txBody>
      </p:sp>
    </p:spTree>
    <p:extLst>
      <p:ext uri="{BB962C8B-B14F-4D97-AF65-F5344CB8AC3E}">
        <p14:creationId xmlns:p14="http://schemas.microsoft.com/office/powerpoint/2010/main" val="18292408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2026-10-06T01:31:00.4080000Z</dcterms:created>
  <dcterms:modified xsi:type="dcterms:W3CDTF">2026-10-06T01:31:00.4080000Z</dcterms:modified>
</coreProperties>
</file>