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5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6.xml" ContentType="application/vnd.openxmlformats-officedocument.presentationml.notes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Slides/notesSlide7.xml" ContentType="application/vnd.openxmlformats-officedocument.presentationml.notesSlide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notesSlides/notesSlide8.xml" ContentType="application/vnd.openxmlformats-officedocument.presentationml.notesSlide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notesSlides/notesSlide9.xml" ContentType="application/vnd.openxmlformats-officedocument.presentationml.notesSlide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notesSlides/notesSlide10.xml" ContentType="application/vnd.openxmlformats-officedocument.presentationml.notesSlide+xml"/>
  <Override PartName="/ppt/charts/chart16.xml" ContentType="application/vnd.openxmlformats-officedocument.drawingml.chart+xml"/>
  <Override PartName="/ppt/notesSlides/notesSlide11.xml" ContentType="application/vnd.openxmlformats-officedocument.presentationml.notesSlide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notesSlides/notesSlide12.xml" ContentType="application/vnd.openxmlformats-officedocument.presentationml.notesSlide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notesSlides/notesSlide13.xml" ContentType="application/vnd.openxmlformats-officedocument.presentationml.notesSlide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3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8"/>
    <p:restoredTop sz="94610"/>
  </p:normalViewPr>
  <p:slideViewPr>
    <p:cSldViewPr snapToGrid="0" snapToObjects="1">
      <p:cViewPr>
        <p:scale>
          <a:sx n="124" d="100"/>
          <a:sy n="124" d="100"/>
        </p:scale>
        <p:origin x="144" y="3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1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_rels/chart1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_rels/chart1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8.xlsx"/></Relationships>
</file>

<file path=ppt/charts/_rels/chart2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9.xlsx"/></Relationships>
</file>

<file path=ppt/charts/_rels/chart2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0.xlsx"/></Relationships>
</file>

<file path=ppt/charts/_rels/chart2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1.xlsx"/></Relationships>
</file>

<file path=ppt/charts/_rels/chart2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2.xlsx"/></Relationships>
</file>

<file path=ppt/charts/_rels/chart2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3.xlsx"/></Relationships>
</file>

<file path=ppt/charts/_rels/chart2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05"/>
          <c:y val="0.18"/>
          <c:w val="0.92"/>
          <c:h val="0.66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ln w="28575" cap="flat">
              <a:solidFill>
                <a:srgbClr val="E97132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E97132"/>
              </a:solidFill>
              <a:ln w="9525" cap="flat">
                <a:solidFill>
                  <a:srgbClr val="E97132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  <c:pt idx="4">
                  <c:v>2017</c:v>
                </c:pt>
                <c:pt idx="5">
                  <c:v>2018</c:v>
                </c:pt>
                <c:pt idx="6">
                  <c:v>2019</c:v>
                </c:pt>
                <c:pt idx="7">
                  <c:v>2020</c:v>
                </c:pt>
                <c:pt idx="8">
                  <c:v>2021</c:v>
                </c:pt>
                <c:pt idx="9">
                  <c:v>2022</c:v>
                </c:pt>
                <c:pt idx="10">
                  <c:v>2023</c:v>
                </c:pt>
                <c:pt idx="11">
                  <c:v>2024</c:v>
                </c:pt>
                <c:pt idx="12">
                  <c:v>2025</c:v>
                </c:pt>
                <c:pt idx="13">
                  <c:v>2026 H1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37.299999999999997</c:v>
                </c:pt>
                <c:pt idx="1">
                  <c:v>52.9</c:v>
                </c:pt>
                <c:pt idx="2">
                  <c:v>43.8</c:v>
                </c:pt>
                <c:pt idx="3">
                  <c:v>54</c:v>
                </c:pt>
                <c:pt idx="4">
                  <c:v>65.3</c:v>
                </c:pt>
                <c:pt idx="5">
                  <c:v>75.2</c:v>
                </c:pt>
                <c:pt idx="6">
                  <c:v>76.3</c:v>
                </c:pt>
                <c:pt idx="7">
                  <c:v>77.900000000000006</c:v>
                </c:pt>
                <c:pt idx="8">
                  <c:v>78.900000000000006</c:v>
                </c:pt>
                <c:pt idx="9">
                  <c:v>78.599999999999994</c:v>
                </c:pt>
                <c:pt idx="10">
                  <c:v>80.599999999999994</c:v>
                </c:pt>
                <c:pt idx="12">
                  <c:v>80.599999999999994</c:v>
                </c:pt>
                <c:pt idx="13">
                  <c:v>80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877-A54A-BC80-2C84865A215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Value</c:v>
                </c:pt>
              </c:strCache>
            </c:strRef>
          </c:tx>
          <c:spPr>
            <a:ln w="28575" cap="flat">
              <a:solidFill>
                <a:srgbClr val="002060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002060"/>
              </a:solidFill>
              <a:ln w="9525" cap="flat">
                <a:solidFill>
                  <a:srgbClr val="002060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  <c:pt idx="4">
                  <c:v>2017</c:v>
                </c:pt>
                <c:pt idx="5">
                  <c:v>2018</c:v>
                </c:pt>
                <c:pt idx="6">
                  <c:v>2019</c:v>
                </c:pt>
                <c:pt idx="7">
                  <c:v>2020</c:v>
                </c:pt>
                <c:pt idx="8">
                  <c:v>2021</c:v>
                </c:pt>
                <c:pt idx="9">
                  <c:v>2022</c:v>
                </c:pt>
                <c:pt idx="10">
                  <c:v>2023</c:v>
                </c:pt>
                <c:pt idx="11">
                  <c:v>2024</c:v>
                </c:pt>
                <c:pt idx="12">
                  <c:v>2025</c:v>
                </c:pt>
                <c:pt idx="13">
                  <c:v>2026 H1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0.9</c:v>
                </c:pt>
                <c:pt idx="1">
                  <c:v>1.7</c:v>
                </c:pt>
                <c:pt idx="2">
                  <c:v>1.9</c:v>
                </c:pt>
                <c:pt idx="3">
                  <c:v>3.8</c:v>
                </c:pt>
                <c:pt idx="4">
                  <c:v>5.6</c:v>
                </c:pt>
                <c:pt idx="5">
                  <c:v>7.6</c:v>
                </c:pt>
                <c:pt idx="6">
                  <c:v>8.6999999999999993</c:v>
                </c:pt>
                <c:pt idx="7">
                  <c:v>9.8000000000000007</c:v>
                </c:pt>
                <c:pt idx="8">
                  <c:v>10.7</c:v>
                </c:pt>
                <c:pt idx="9">
                  <c:v>9.8000000000000007</c:v>
                </c:pt>
                <c:pt idx="10">
                  <c:v>9.1</c:v>
                </c:pt>
                <c:pt idx="12">
                  <c:v>8.5</c:v>
                </c:pt>
                <c:pt idx="13">
                  <c:v>7.6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877-A54A-BC80-2C84865A21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9525" cap="flat">
            <a:solidFill>
              <a:srgbClr val="000000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0343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numFmt formatCode="0&quot;%&quot;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0343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Alipay</c:v>
                </c:pt>
              </c:strCache>
            </c:strRef>
          </c:tx>
          <c:spPr>
            <a:solidFill>
              <a:srgbClr val="E97132"/>
            </a:solidFill>
            <a:effectLst/>
          </c:spPr>
          <c:invertIfNegative val="0"/>
          <c:dLbls>
            <c:dLbl>
              <c:idx val="0"/>
              <c:tx>
                <c:rich>
                  <a:bodyPr wrap="none" anchor="ctr"/>
                  <a:lstStyle/>
                  <a:p>
                    <a:pPr>
                      <a:defRPr sz="1050" b="1" i="0" u="none" strike="noStrike">
                        <a:solidFill>
                          <a:srgbClr val="FFFFFF"/>
                        </a:solidFill>
                        <a:latin typeface="Calibri"/>
                      </a:defRPr>
                    </a:pPr>
                    <a:r>
                      <a:rPr lang="en-US" sz="1050" b="1" i="0" u="none" strike="noStrike">
                        <a:solidFill>
                          <a:srgbClr val="FFFFFF"/>
                        </a:solidFill>
                        <a:latin typeface="Calibri"/>
                      </a:rPr>
                      <a:t>72.9</a:t>
                    </a:r>
                  </a:p>
                </c:rich>
              </c:tx>
              <c:spPr>
                <a:noFill/>
                <a:ln>
                  <a:noFill/>
                </a:ln>
              </c:sp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0-067C-C049-AB4E-4A879739E2F0}"/>
                </c:ext>
              </c:extLst>
            </c:dLbl>
            <c:dLbl>
              <c:idx val="1"/>
              <c:tx>
                <c:rich>
                  <a:bodyPr wrap="none" anchor="ctr"/>
                  <a:lstStyle/>
                  <a:p>
                    <a:pPr>
                      <a:defRPr sz="1050" b="1" i="0" u="none" strike="noStrike">
                        <a:solidFill>
                          <a:srgbClr val="FFFFFF"/>
                        </a:solidFill>
                        <a:latin typeface="Calibri"/>
                      </a:defRPr>
                    </a:pPr>
                    <a:r>
                      <a:rPr lang="en-US" sz="1050" b="1" i="0" u="none" strike="noStrike">
                        <a:solidFill>
                          <a:srgbClr val="FFFFFF"/>
                        </a:solidFill>
                        <a:latin typeface="Calibri"/>
                      </a:rPr>
                      <a:t>54.1</a:t>
                    </a:r>
                  </a:p>
                </c:rich>
              </c:tx>
              <c:spPr>
                <a:noFill/>
                <a:ln>
                  <a:noFill/>
                </a:ln>
              </c:sp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1-067C-C049-AB4E-4A879739E2F0}"/>
                </c:ext>
              </c:extLst>
            </c:dLbl>
            <c:dLbl>
              <c:idx val="2"/>
              <c:tx>
                <c:rich>
                  <a:bodyPr wrap="none" anchor="ctr"/>
                  <a:lstStyle/>
                  <a:p>
                    <a:pPr>
                      <a:defRPr sz="1050" b="1" i="0" u="none" strike="noStrike">
                        <a:solidFill>
                          <a:srgbClr val="FFFFFF"/>
                        </a:solidFill>
                        <a:latin typeface="Calibri"/>
                      </a:defRPr>
                    </a:pPr>
                    <a:r>
                      <a:rPr lang="en-US" sz="1050" b="1" i="0" u="none" strike="noStrike">
                        <a:solidFill>
                          <a:srgbClr val="FFFFFF"/>
                        </a:solidFill>
                        <a:latin typeface="Calibri"/>
                      </a:rPr>
                      <a:t>54.3</a:t>
                    </a:r>
                  </a:p>
                </c:rich>
              </c:tx>
              <c:spPr>
                <a:noFill/>
                <a:ln>
                  <a:noFill/>
                </a:ln>
              </c:sp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2-067C-C049-AB4E-4A879739E2F0}"/>
                </c:ext>
              </c:extLst>
            </c:dLbl>
            <c:dLbl>
              <c:idx val="3"/>
              <c:tx>
                <c:rich>
                  <a:bodyPr wrap="none" anchor="ctr"/>
                  <a:lstStyle/>
                  <a:p>
                    <a:pPr>
                      <a:defRPr sz="1050" b="1" i="0" u="none" strike="noStrike">
                        <a:solidFill>
                          <a:srgbClr val="FFFFFF"/>
                        </a:solidFill>
                        <a:latin typeface="Calibri"/>
                      </a:defRPr>
                    </a:pPr>
                    <a:r>
                      <a:rPr lang="en-US" sz="1050" b="1" i="0" u="none" strike="noStrike">
                        <a:solidFill>
                          <a:srgbClr val="FFFFFF"/>
                        </a:solidFill>
                        <a:latin typeface="Calibri"/>
                      </a:rPr>
                      <a:t>53.8</a:t>
                    </a:r>
                  </a:p>
                </c:rich>
              </c:tx>
              <c:spPr>
                <a:noFill/>
                <a:ln>
                  <a:noFill/>
                </a:ln>
              </c:sp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3-067C-C049-AB4E-4A879739E2F0}"/>
                </c:ext>
              </c:extLst>
            </c:dLbl>
            <c:dLbl>
              <c:idx val="4"/>
              <c:tx>
                <c:rich>
                  <a:bodyPr wrap="none" anchor="ctr"/>
                  <a:lstStyle/>
                  <a:p>
                    <a:pPr>
                      <a:defRPr sz="1050" b="1" i="0" u="none" strike="noStrike">
                        <a:solidFill>
                          <a:srgbClr val="FFFFFF"/>
                        </a:solidFill>
                        <a:latin typeface="Calibri"/>
                      </a:defRPr>
                    </a:pPr>
                    <a:r>
                      <a:rPr lang="en-US" sz="1050" b="1" i="0" u="none" strike="noStrike">
                        <a:solidFill>
                          <a:srgbClr val="FFFFFF"/>
                        </a:solidFill>
                        <a:latin typeface="Calibri"/>
                      </a:rPr>
                      <a:t>53.2</a:t>
                    </a:r>
                  </a:p>
                </c:rich>
              </c:tx>
              <c:spPr>
                <a:noFill/>
                <a:ln>
                  <a:noFill/>
                </a:ln>
              </c:sp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4-067C-C049-AB4E-4A879739E2F0}"/>
                </c:ext>
              </c:extLst>
            </c:dLbl>
            <c:dLbl>
              <c:idx val="5"/>
              <c:tx>
                <c:rich>
                  <a:bodyPr wrap="none" anchor="ctr"/>
                  <a:lstStyle/>
                  <a:p>
                    <a:pPr>
                      <a:defRPr sz="1050" b="1" i="0" u="none" strike="noStrike">
                        <a:solidFill>
                          <a:srgbClr val="FFFFFF"/>
                        </a:solidFill>
                        <a:latin typeface="Calibri"/>
                      </a:defRPr>
                    </a:pPr>
                    <a:r>
                      <a:rPr lang="en-US" sz="1050" b="1" i="0" u="none" strike="noStrike">
                        <a:solidFill>
                          <a:srgbClr val="FFFFFF"/>
                        </a:solidFill>
                        <a:latin typeface="Calibri"/>
                      </a:rPr>
                      <a:t>55.6</a:t>
                    </a:r>
                  </a:p>
                </c:rich>
              </c:tx>
              <c:spPr>
                <a:noFill/>
                <a:ln>
                  <a:noFill/>
                </a:ln>
              </c:sp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5-067C-C049-AB4E-4A879739E2F0}"/>
                </c:ext>
              </c:extLst>
            </c:dLbl>
            <c:dLbl>
              <c:idx val="6"/>
              <c:tx>
                <c:rich>
                  <a:bodyPr wrap="none" anchor="ctr"/>
                  <a:lstStyle/>
                  <a:p>
                    <a:pPr>
                      <a:defRPr sz="1050" b="1" i="0" u="none" strike="noStrike">
                        <a:solidFill>
                          <a:srgbClr val="FFFFFF"/>
                        </a:solidFill>
                        <a:latin typeface="Calibri"/>
                      </a:defRPr>
                    </a:pPr>
                    <a:r>
                      <a:rPr lang="en-US" sz="1050" b="1" i="0" u="none" strike="noStrike">
                        <a:solidFill>
                          <a:srgbClr val="FFFFFF"/>
                        </a:solidFill>
                        <a:latin typeface="Calibri"/>
                      </a:rPr>
                      <a:t>55.0</a:t>
                    </a:r>
                  </a:p>
                </c:rich>
              </c:tx>
              <c:spPr>
                <a:noFill/>
                <a:ln>
                  <a:noFill/>
                </a:ln>
              </c:sp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6-067C-C049-AB4E-4A879739E2F0}"/>
                </c:ext>
              </c:extLst>
            </c:dLbl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50" b="1" i="0" u="none" strike="noStrike">
                    <a:solidFill>
                      <a:srgbClr val="FFFFFF"/>
                    </a:solidFill>
                    <a:latin typeface="Calibri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1Q19</c:v>
                </c:pt>
                <c:pt idx="5">
                  <c:v>2Q20</c:v>
                </c:pt>
                <c:pt idx="6">
                  <c:v>2024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72.900000000000006</c:v>
                </c:pt>
                <c:pt idx="1">
                  <c:v>54.1</c:v>
                </c:pt>
                <c:pt idx="2">
                  <c:v>54.3</c:v>
                </c:pt>
                <c:pt idx="3">
                  <c:v>53.8</c:v>
                </c:pt>
                <c:pt idx="4">
                  <c:v>53.2</c:v>
                </c:pt>
                <c:pt idx="5">
                  <c:v>55.6</c:v>
                </c:pt>
                <c:pt idx="6">
                  <c:v>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067C-C049-AB4E-4A879739E2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Tenpay (WeChat Pay)</c:v>
                </c:pt>
              </c:strCache>
            </c:strRef>
          </c:tx>
          <c:spPr>
            <a:solidFill>
              <a:srgbClr val="002060"/>
            </a:solidFill>
            <a:effectLst/>
          </c:spPr>
          <c:invertIfNegative val="0"/>
          <c:dLbls>
            <c:dLbl>
              <c:idx val="0"/>
              <c:tx>
                <c:rich>
                  <a:bodyPr wrap="none" anchor="ctr"/>
                  <a:lstStyle/>
                  <a:p>
                    <a:pPr>
                      <a:defRPr sz="1050" b="1" i="0" u="none" strike="noStrike">
                        <a:solidFill>
                          <a:srgbClr val="FFFFFF"/>
                        </a:solidFill>
                        <a:latin typeface="Calibri"/>
                      </a:defRPr>
                    </a:pPr>
                    <a:r>
                      <a:rPr lang="en-US" sz="1050" b="1" i="0" u="none" strike="noStrike">
                        <a:solidFill>
                          <a:srgbClr val="FFFFFF"/>
                        </a:solidFill>
                        <a:latin typeface="Calibri"/>
                      </a:rPr>
                      <a:t>17.4</a:t>
                    </a:r>
                  </a:p>
                </c:rich>
              </c:tx>
              <c:spPr>
                <a:noFill/>
                <a:ln>
                  <a:noFill/>
                </a:ln>
              </c:sp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8-067C-C049-AB4E-4A879739E2F0}"/>
                </c:ext>
              </c:extLst>
            </c:dLbl>
            <c:dLbl>
              <c:idx val="1"/>
              <c:tx>
                <c:rich>
                  <a:bodyPr wrap="none" anchor="ctr"/>
                  <a:lstStyle/>
                  <a:p>
                    <a:pPr>
                      <a:defRPr sz="1050" b="1" i="0" u="none" strike="noStrike">
                        <a:solidFill>
                          <a:srgbClr val="FFFFFF"/>
                        </a:solidFill>
                        <a:latin typeface="Calibri"/>
                      </a:defRPr>
                    </a:pPr>
                    <a:r>
                      <a:rPr lang="en-US" sz="1050" b="1" i="0" u="none" strike="noStrike">
                        <a:solidFill>
                          <a:srgbClr val="FFFFFF"/>
                        </a:solidFill>
                        <a:latin typeface="Calibri"/>
                      </a:rPr>
                      <a:t>37.0</a:t>
                    </a:r>
                  </a:p>
                </c:rich>
              </c:tx>
              <c:spPr>
                <a:noFill/>
                <a:ln>
                  <a:noFill/>
                </a:ln>
              </c:sp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9-067C-C049-AB4E-4A879739E2F0}"/>
                </c:ext>
              </c:extLst>
            </c:dLbl>
            <c:dLbl>
              <c:idx val="2"/>
              <c:tx>
                <c:rich>
                  <a:bodyPr wrap="none" anchor="ctr"/>
                  <a:lstStyle/>
                  <a:p>
                    <a:pPr>
                      <a:defRPr sz="1050" b="1" i="0" u="none" strike="noStrike">
                        <a:solidFill>
                          <a:srgbClr val="FFFFFF"/>
                        </a:solidFill>
                        <a:latin typeface="Calibri"/>
                      </a:defRPr>
                    </a:pPr>
                    <a:r>
                      <a:rPr lang="en-US" sz="1050" b="1" i="0" u="none" strike="noStrike">
                        <a:solidFill>
                          <a:srgbClr val="FFFFFF"/>
                        </a:solidFill>
                        <a:latin typeface="Calibri"/>
                      </a:rPr>
                      <a:t>38.2</a:t>
                    </a:r>
                  </a:p>
                </c:rich>
              </c:tx>
              <c:spPr>
                <a:noFill/>
                <a:ln>
                  <a:noFill/>
                </a:ln>
              </c:sp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A-067C-C049-AB4E-4A879739E2F0}"/>
                </c:ext>
              </c:extLst>
            </c:dLbl>
            <c:dLbl>
              <c:idx val="3"/>
              <c:tx>
                <c:rich>
                  <a:bodyPr wrap="none" anchor="ctr"/>
                  <a:lstStyle/>
                  <a:p>
                    <a:pPr>
                      <a:defRPr sz="1050" b="1" i="0" u="none" strike="noStrike">
                        <a:solidFill>
                          <a:srgbClr val="FFFFFF"/>
                        </a:solidFill>
                        <a:latin typeface="Calibri"/>
                      </a:defRPr>
                    </a:pPr>
                    <a:r>
                      <a:rPr lang="en-US" sz="1050" b="1" i="0" u="none" strike="noStrike">
                        <a:solidFill>
                          <a:srgbClr val="FFFFFF"/>
                        </a:solidFill>
                        <a:latin typeface="Calibri"/>
                      </a:rPr>
                      <a:t>38.9</a:t>
                    </a:r>
                  </a:p>
                </c:rich>
              </c:tx>
              <c:spPr>
                <a:noFill/>
                <a:ln>
                  <a:noFill/>
                </a:ln>
              </c:sp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B-067C-C049-AB4E-4A879739E2F0}"/>
                </c:ext>
              </c:extLst>
            </c:dLbl>
            <c:dLbl>
              <c:idx val="4"/>
              <c:tx>
                <c:rich>
                  <a:bodyPr wrap="none" anchor="ctr"/>
                  <a:lstStyle/>
                  <a:p>
                    <a:pPr>
                      <a:defRPr sz="1050" b="1" i="0" u="none" strike="noStrike">
                        <a:solidFill>
                          <a:srgbClr val="FFFFFF"/>
                        </a:solidFill>
                        <a:latin typeface="Calibri"/>
                      </a:defRPr>
                    </a:pPr>
                    <a:r>
                      <a:rPr lang="en-US" sz="1050" b="1" i="0" u="none" strike="noStrike">
                        <a:solidFill>
                          <a:srgbClr val="FFFFFF"/>
                        </a:solidFill>
                        <a:latin typeface="Calibri"/>
                      </a:rPr>
                      <a:t>39.4</a:t>
                    </a:r>
                  </a:p>
                </c:rich>
              </c:tx>
              <c:spPr>
                <a:noFill/>
                <a:ln>
                  <a:noFill/>
                </a:ln>
              </c:sp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C-067C-C049-AB4E-4A879739E2F0}"/>
                </c:ext>
              </c:extLst>
            </c:dLbl>
            <c:dLbl>
              <c:idx val="5"/>
              <c:tx>
                <c:rich>
                  <a:bodyPr wrap="none" anchor="ctr"/>
                  <a:lstStyle/>
                  <a:p>
                    <a:pPr>
                      <a:defRPr sz="1050" b="1" i="0" u="none" strike="noStrike">
                        <a:solidFill>
                          <a:srgbClr val="FFFFFF"/>
                        </a:solidFill>
                        <a:latin typeface="Calibri"/>
                      </a:defRPr>
                    </a:pPr>
                    <a:r>
                      <a:rPr lang="en-US" sz="1050" b="1" i="0" u="none" strike="noStrike">
                        <a:solidFill>
                          <a:srgbClr val="FFFFFF"/>
                        </a:solidFill>
                        <a:latin typeface="Calibri"/>
                      </a:rPr>
                      <a:t>38.8</a:t>
                    </a:r>
                  </a:p>
                </c:rich>
              </c:tx>
              <c:spPr>
                <a:noFill/>
                <a:ln>
                  <a:noFill/>
                </a:ln>
              </c:sp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D-067C-C049-AB4E-4A879739E2F0}"/>
                </c:ext>
              </c:extLst>
            </c:dLbl>
            <c:dLbl>
              <c:idx val="6"/>
              <c:tx>
                <c:rich>
                  <a:bodyPr wrap="none" anchor="ctr"/>
                  <a:lstStyle/>
                  <a:p>
                    <a:pPr>
                      <a:defRPr sz="1050" b="1" i="0" u="none" strike="noStrike">
                        <a:solidFill>
                          <a:srgbClr val="FFFFFF"/>
                        </a:solidFill>
                        <a:latin typeface="Calibri"/>
                      </a:defRPr>
                    </a:pPr>
                    <a:r>
                      <a:rPr lang="en-US" sz="1050" b="1" i="0" u="none" strike="noStrike">
                        <a:solidFill>
                          <a:srgbClr val="FFFFFF"/>
                        </a:solidFill>
                        <a:latin typeface="Calibri"/>
                      </a:rPr>
                      <a:t>39.0</a:t>
                    </a:r>
                  </a:p>
                </c:rich>
              </c:tx>
              <c:spPr>
                <a:noFill/>
                <a:ln>
                  <a:noFill/>
                </a:ln>
              </c:sp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E-067C-C049-AB4E-4A879739E2F0}"/>
                </c:ext>
              </c:extLst>
            </c:dLbl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50" b="1" i="0" u="none" strike="noStrike">
                    <a:solidFill>
                      <a:srgbClr val="FFFFFF"/>
                    </a:solidFill>
                    <a:latin typeface="Calibri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1Q19</c:v>
                </c:pt>
                <c:pt idx="5">
                  <c:v>2Q20</c:v>
                </c:pt>
                <c:pt idx="6">
                  <c:v>2024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17.399999999999999</c:v>
                </c:pt>
                <c:pt idx="1">
                  <c:v>37</c:v>
                </c:pt>
                <c:pt idx="2">
                  <c:v>38.200000000000003</c:v>
                </c:pt>
                <c:pt idx="3">
                  <c:v>38.9</c:v>
                </c:pt>
                <c:pt idx="4">
                  <c:v>39.4</c:v>
                </c:pt>
                <c:pt idx="5">
                  <c:v>38.799999999999997</c:v>
                </c:pt>
                <c:pt idx="6">
                  <c:v>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F-067C-C049-AB4E-4A879739E2F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Others</c:v>
                </c:pt>
              </c:strCache>
            </c:strRef>
          </c:tx>
          <c:spPr>
            <a:solidFill>
              <a:srgbClr val="7F7F7F"/>
            </a:solidFill>
            <a:effectLst/>
          </c:spPr>
          <c:invertIfNegative val="0"/>
          <c:dLbls>
            <c:dLbl>
              <c:idx val="0"/>
              <c:tx>
                <c:rich>
                  <a:bodyPr wrap="none" anchor="ctr"/>
                  <a:lstStyle/>
                  <a:p>
                    <a:pPr>
                      <a:defRPr sz="1050" b="1" i="0" u="none" strike="noStrike">
                        <a:solidFill>
                          <a:srgbClr val="FFFFFF"/>
                        </a:solidFill>
                        <a:latin typeface="Calibri"/>
                      </a:defRPr>
                    </a:pPr>
                    <a:r>
                      <a:rPr lang="en-US" sz="1050" b="1" i="0" u="none" strike="noStrike">
                        <a:solidFill>
                          <a:srgbClr val="FFFFFF"/>
                        </a:solidFill>
                        <a:latin typeface="Calibri"/>
                      </a:rPr>
                      <a:t>9.7</a:t>
                    </a:r>
                  </a:p>
                </c:rich>
              </c:tx>
              <c:spPr>
                <a:noFill/>
                <a:ln>
                  <a:noFill/>
                </a:ln>
              </c:sp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10-067C-C049-AB4E-4A879739E2F0}"/>
                </c:ext>
              </c:extLst>
            </c:dLbl>
            <c:dLbl>
              <c:idx val="1"/>
              <c:tx>
                <c:rich>
                  <a:bodyPr wrap="none" anchor="ctr"/>
                  <a:lstStyle/>
                  <a:p>
                    <a:pPr>
                      <a:defRPr sz="1050" b="1" i="0" u="none" strike="noStrike">
                        <a:solidFill>
                          <a:srgbClr val="FFFFFF"/>
                        </a:solidFill>
                        <a:latin typeface="Calibri"/>
                      </a:defRPr>
                    </a:pPr>
                    <a:r>
                      <a:rPr lang="en-US" sz="1050" b="1" i="0" u="none" strike="noStrike">
                        <a:solidFill>
                          <a:srgbClr val="FFFFFF"/>
                        </a:solidFill>
                        <a:latin typeface="Calibri"/>
                      </a:rPr>
                      <a:t>8.9</a:t>
                    </a:r>
                  </a:p>
                </c:rich>
              </c:tx>
              <c:spPr>
                <a:noFill/>
                <a:ln>
                  <a:noFill/>
                </a:ln>
              </c:sp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11-067C-C049-AB4E-4A879739E2F0}"/>
                </c:ext>
              </c:extLst>
            </c:dLbl>
            <c:dLbl>
              <c:idx val="2"/>
              <c:tx>
                <c:rich>
                  <a:bodyPr wrap="none" anchor="ctr"/>
                  <a:lstStyle/>
                  <a:p>
                    <a:pPr>
                      <a:defRPr sz="1050" b="1" i="0" u="none" strike="noStrike">
                        <a:solidFill>
                          <a:srgbClr val="FFFFFF"/>
                        </a:solidFill>
                        <a:latin typeface="Calibri"/>
                      </a:defRPr>
                    </a:pPr>
                    <a:r>
                      <a:rPr lang="en-US" sz="1050" b="1" i="0" u="none" strike="noStrike">
                        <a:solidFill>
                          <a:srgbClr val="FFFFFF"/>
                        </a:solidFill>
                        <a:latin typeface="Calibri"/>
                      </a:rPr>
                      <a:t>7.5</a:t>
                    </a:r>
                  </a:p>
                </c:rich>
              </c:tx>
              <c:spPr>
                <a:noFill/>
                <a:ln>
                  <a:noFill/>
                </a:ln>
              </c:sp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12-067C-C049-AB4E-4A879739E2F0}"/>
                </c:ext>
              </c:extLst>
            </c:dLbl>
            <c:dLbl>
              <c:idx val="3"/>
              <c:tx>
                <c:rich>
                  <a:bodyPr wrap="none" anchor="ctr"/>
                  <a:lstStyle/>
                  <a:p>
                    <a:pPr>
                      <a:defRPr sz="1050" b="1" i="0" u="none" strike="noStrike">
                        <a:solidFill>
                          <a:srgbClr val="FFFFFF"/>
                        </a:solidFill>
                        <a:latin typeface="Calibri"/>
                      </a:defRPr>
                    </a:pPr>
                    <a:r>
                      <a:rPr lang="en-US" sz="1050" b="1" i="0" u="none" strike="noStrike">
                        <a:solidFill>
                          <a:srgbClr val="FFFFFF"/>
                        </a:solidFill>
                        <a:latin typeface="Calibri"/>
                      </a:rPr>
                      <a:t>7.3</a:t>
                    </a:r>
                  </a:p>
                </c:rich>
              </c:tx>
              <c:spPr>
                <a:noFill/>
                <a:ln>
                  <a:noFill/>
                </a:ln>
              </c:sp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13-067C-C049-AB4E-4A879739E2F0}"/>
                </c:ext>
              </c:extLst>
            </c:dLbl>
            <c:dLbl>
              <c:idx val="4"/>
              <c:tx>
                <c:rich>
                  <a:bodyPr wrap="none" anchor="ctr"/>
                  <a:lstStyle/>
                  <a:p>
                    <a:pPr>
                      <a:defRPr sz="1050" b="1" i="0" u="none" strike="noStrike">
                        <a:solidFill>
                          <a:srgbClr val="FFFFFF"/>
                        </a:solidFill>
                        <a:latin typeface="Calibri"/>
                      </a:defRPr>
                    </a:pPr>
                    <a:r>
                      <a:rPr lang="en-US" sz="1050" b="1" i="0" u="none" strike="noStrike">
                        <a:solidFill>
                          <a:srgbClr val="FFFFFF"/>
                        </a:solidFill>
                        <a:latin typeface="Calibri"/>
                      </a:rPr>
                      <a:t>7.4</a:t>
                    </a:r>
                  </a:p>
                </c:rich>
              </c:tx>
              <c:spPr>
                <a:noFill/>
                <a:ln>
                  <a:noFill/>
                </a:ln>
              </c:sp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14-067C-C049-AB4E-4A879739E2F0}"/>
                </c:ext>
              </c:extLst>
            </c:dLbl>
            <c:dLbl>
              <c:idx val="5"/>
              <c:tx>
                <c:rich>
                  <a:bodyPr wrap="none" anchor="ctr"/>
                  <a:lstStyle/>
                  <a:p>
                    <a:pPr>
                      <a:defRPr sz="1050" b="1" i="0" u="none" strike="noStrike">
                        <a:solidFill>
                          <a:srgbClr val="FFFFFF"/>
                        </a:solidFill>
                        <a:latin typeface="Calibri"/>
                      </a:defRPr>
                    </a:pPr>
                    <a:r>
                      <a:rPr lang="en-US" sz="1050" b="1" i="0" u="none" strike="noStrike">
                        <a:solidFill>
                          <a:srgbClr val="FFFFFF"/>
                        </a:solidFill>
                        <a:latin typeface="Calibri"/>
                      </a:rPr>
                      <a:t>5.6</a:t>
                    </a:r>
                  </a:p>
                </c:rich>
              </c:tx>
              <c:spPr>
                <a:noFill/>
                <a:ln>
                  <a:noFill/>
                </a:ln>
              </c:sp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15-067C-C049-AB4E-4A879739E2F0}"/>
                </c:ext>
              </c:extLst>
            </c:dLbl>
            <c:dLbl>
              <c:idx val="6"/>
              <c:tx>
                <c:rich>
                  <a:bodyPr wrap="none" anchor="ctr"/>
                  <a:lstStyle/>
                  <a:p>
                    <a:pPr>
                      <a:defRPr sz="1050" b="1" i="0" u="none" strike="noStrike">
                        <a:solidFill>
                          <a:srgbClr val="FFFFFF"/>
                        </a:solidFill>
                        <a:latin typeface="Calibri"/>
                      </a:defRPr>
                    </a:pPr>
                    <a:r>
                      <a:rPr lang="en-US" sz="1050" b="1" i="0" u="none" strike="noStrike">
                        <a:solidFill>
                          <a:srgbClr val="FFFFFF"/>
                        </a:solidFill>
                        <a:latin typeface="Calibri"/>
                      </a:rPr>
                      <a:t>6.0</a:t>
                    </a:r>
                  </a:p>
                </c:rich>
              </c:tx>
              <c:spPr>
                <a:noFill/>
                <a:ln>
                  <a:noFill/>
                </a:ln>
              </c:sp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16-067C-C049-AB4E-4A879739E2F0}"/>
                </c:ext>
              </c:extLst>
            </c:dLbl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50" b="1" i="0" u="none" strike="noStrike">
                    <a:solidFill>
                      <a:srgbClr val="FFFFFF"/>
                    </a:solidFill>
                    <a:latin typeface="Calibri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1Q19</c:v>
                </c:pt>
                <c:pt idx="5">
                  <c:v>2Q20</c:v>
                </c:pt>
                <c:pt idx="6">
                  <c:v>2024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9.6999999999999993</c:v>
                </c:pt>
                <c:pt idx="1">
                  <c:v>8.9</c:v>
                </c:pt>
                <c:pt idx="2">
                  <c:v>7.5</c:v>
                </c:pt>
                <c:pt idx="3">
                  <c:v>7.3</c:v>
                </c:pt>
                <c:pt idx="4">
                  <c:v>7.4</c:v>
                </c:pt>
                <c:pt idx="5">
                  <c:v>5.6</c:v>
                </c:pt>
                <c:pt idx="6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7-067C-C049-AB4E-4A879739E2F0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45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9525" cap="flat">
            <a:solidFill>
              <a:srgbClr val="000000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0343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</c:scaling>
        <c:delete val="1"/>
        <c:axPos val="l"/>
        <c:numFmt formatCode="General" sourceLinked="0"/>
        <c:majorTickMark val="none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30343B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Users</c:v>
                </c:pt>
              </c:strCache>
            </c:strRef>
          </c:tx>
          <c:spPr>
            <a:solidFill>
              <a:srgbClr val="00206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8407-9844-B84F-72C64A88D18D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8407-9844-B84F-72C64A88D18D}"/>
              </c:ext>
            </c:extLst>
          </c:dPt>
          <c:dPt>
            <c:idx val="2"/>
            <c:invertIfNegative val="0"/>
            <c:bubble3D val="0"/>
            <c:spPr>
              <a:solidFill>
                <a:srgbClr val="E9713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407-9844-B84F-72C64A88D18D}"/>
              </c:ext>
            </c:extLst>
          </c:dPt>
          <c:dPt>
            <c:idx val="3"/>
            <c:invertIfNegative val="0"/>
            <c:bubble3D val="0"/>
            <c:spPr>
              <a:solidFill>
                <a:srgbClr val="A5A5A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8407-9844-B84F-72C64A88D18D}"/>
              </c:ext>
            </c:extLst>
          </c:dPt>
          <c:dLbls>
            <c:dLbl>
              <c:idx val="0"/>
              <c:tx>
                <c:rich>
                  <a:bodyPr wrap="none" anchor="ctr"/>
                  <a:lstStyle/>
                  <a:p>
                    <a:pPr>
                      <a:defRPr sz="1050" b="1" i="0" u="none" strike="noStrike">
                        <a:solidFill>
                          <a:srgbClr val="30343B"/>
                        </a:solidFill>
                        <a:latin typeface="Calibri"/>
                      </a:defRPr>
                    </a:pPr>
                    <a:r>
                      <a:rPr lang="en-US" sz="1050" b="1" i="0" u="none" strike="noStrike">
                        <a:solidFill>
                          <a:srgbClr val="30343B"/>
                        </a:solidFill>
                        <a:latin typeface="Calibri"/>
                      </a:rPr>
                      <a:t>80.9%</a:t>
                    </a:r>
                  </a:p>
                </c:rich>
              </c:tx>
              <c:spPr>
                <a:noFill/>
                <a:ln>
                  <a:noFill/>
                </a:ln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1-8407-9844-B84F-72C64A88D18D}"/>
                </c:ext>
              </c:extLst>
            </c:dLbl>
            <c:dLbl>
              <c:idx val="1"/>
              <c:tx>
                <c:rich>
                  <a:bodyPr wrap="none" anchor="ctr"/>
                  <a:lstStyle/>
                  <a:p>
                    <a:pPr>
                      <a:defRPr sz="1050" b="1" i="0" u="none" strike="noStrike">
                        <a:solidFill>
                          <a:srgbClr val="30343B"/>
                        </a:solidFill>
                        <a:latin typeface="Calibri"/>
                      </a:defRPr>
                    </a:pPr>
                    <a:r>
                      <a:rPr lang="en-US" sz="1050" b="1" i="0" u="none" strike="noStrike">
                        <a:solidFill>
                          <a:srgbClr val="30343B"/>
                        </a:solidFill>
                        <a:latin typeface="Calibri"/>
                      </a:rPr>
                      <a:t>69.3%</a:t>
                    </a:r>
                  </a:p>
                </c:rich>
              </c:tx>
              <c:spPr>
                <a:noFill/>
                <a:ln>
                  <a:noFill/>
                </a:ln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3-8407-9844-B84F-72C64A88D18D}"/>
                </c:ext>
              </c:extLst>
            </c:dLbl>
            <c:dLbl>
              <c:idx val="2"/>
              <c:tx>
                <c:rich>
                  <a:bodyPr wrap="none" anchor="ctr"/>
                  <a:lstStyle/>
                  <a:p>
                    <a:pPr>
                      <a:defRPr sz="1050" b="1" i="0" u="none" strike="noStrike">
                        <a:solidFill>
                          <a:srgbClr val="30343B"/>
                        </a:solidFill>
                        <a:latin typeface="Calibri"/>
                      </a:defRPr>
                    </a:pPr>
                    <a:r>
                      <a:rPr lang="en-US" sz="1050" b="1" i="0" u="none" strike="noStrike">
                        <a:solidFill>
                          <a:srgbClr val="30343B"/>
                        </a:solidFill>
                        <a:latin typeface="Calibri"/>
                      </a:rPr>
                      <a:t>41.2%</a:t>
                    </a:r>
                  </a:p>
                </c:rich>
              </c:tx>
              <c:spPr>
                <a:noFill/>
                <a:ln>
                  <a:noFill/>
                </a:ln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5-8407-9844-B84F-72C64A88D18D}"/>
                </c:ext>
              </c:extLst>
            </c:dLbl>
            <c:dLbl>
              <c:idx val="3"/>
              <c:tx>
                <c:rich>
                  <a:bodyPr wrap="none" anchor="ctr"/>
                  <a:lstStyle/>
                  <a:p>
                    <a:pPr>
                      <a:defRPr sz="1050" b="1" i="0" u="none" strike="noStrike">
                        <a:solidFill>
                          <a:srgbClr val="30343B"/>
                        </a:solidFill>
                        <a:latin typeface="Calibri"/>
                      </a:defRPr>
                    </a:pPr>
                    <a:r>
                      <a:rPr lang="en-US" sz="1050" b="1" i="0" u="none" strike="noStrike">
                        <a:solidFill>
                          <a:srgbClr val="30343B"/>
                        </a:solidFill>
                        <a:latin typeface="Calibri"/>
                      </a:rPr>
                      <a:t>10.8%</a:t>
                    </a:r>
                  </a:p>
                </c:rich>
              </c:tx>
              <c:spPr>
                <a:noFill/>
                <a:ln>
                  <a:noFill/>
                </a:ln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7-8407-9844-B84F-72C64A88D18D}"/>
                </c:ext>
              </c:extLst>
            </c:dLbl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50" b="1" i="0" u="none" strike="noStrike">
                    <a:solidFill>
                      <a:srgbClr val="30343B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Debit card</c:v>
                </c:pt>
                <c:pt idx="1">
                  <c:v>Credit card</c:v>
                </c:pt>
                <c:pt idx="2">
                  <c:v>Wallet balance</c:v>
                </c:pt>
                <c:pt idx="3">
                  <c:v>e-CNY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80.900000000000006</c:v>
                </c:pt>
                <c:pt idx="1">
                  <c:v>69.3</c:v>
                </c:pt>
                <c:pt idx="2">
                  <c:v>41.2</c:v>
                </c:pt>
                <c:pt idx="3">
                  <c:v>10.8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8407-9844-B84F-72C64A88D18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9525" cap="flat">
            <a:solidFill>
              <a:srgbClr val="000000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30343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</c:scaling>
        <c:delete val="1"/>
        <c:axPos val="t"/>
        <c:numFmt formatCode="General" sourceLinked="0"/>
        <c:majorTickMark val="none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08"/>
          <c:y val="0.05"/>
          <c:w val="0.9"/>
          <c:h val="0.85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Payment apps</c:v>
                </c:pt>
              </c:strCache>
            </c:strRef>
          </c:tx>
          <c:spPr>
            <a:ln w="28575" cap="flat">
              <a:solidFill>
                <a:srgbClr val="E97132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97132"/>
              </a:solidFill>
              <a:ln w="9525" cap="flat">
                <a:solidFill>
                  <a:srgbClr val="E97132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2011</c:v>
                </c:pt>
                <c:pt idx="1">
                  <c:v>2012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  <c:pt idx="7">
                  <c:v>2018</c:v>
                </c:pt>
                <c:pt idx="8">
                  <c:v>2019</c:v>
                </c:pt>
                <c:pt idx="9">
                  <c:v>2020</c:v>
                </c:pt>
                <c:pt idx="10">
                  <c:v>2021</c:v>
                </c:pt>
                <c:pt idx="11">
                  <c:v>2022</c:v>
                </c:pt>
                <c:pt idx="12">
                  <c:v>2023</c:v>
                </c:pt>
                <c:pt idx="13">
                  <c:v>2024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32.5</c:v>
                </c:pt>
                <c:pt idx="3">
                  <c:v>46.9</c:v>
                </c:pt>
                <c:pt idx="4">
                  <c:v>53.7</c:v>
                </c:pt>
                <c:pt idx="7">
                  <c:v>71</c:v>
                </c:pt>
                <c:pt idx="8">
                  <c:v>74.099999999999994</c:v>
                </c:pt>
                <c:pt idx="9">
                  <c:v>85.7</c:v>
                </c:pt>
                <c:pt idx="10">
                  <c:v>87.6</c:v>
                </c:pt>
                <c:pt idx="13">
                  <c:v>92.9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576-AB48-B616-2EF70F85A1D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Mobile banking</c:v>
                </c:pt>
              </c:strCache>
            </c:strRef>
          </c:tx>
          <c:spPr>
            <a:ln w="28575" cap="flat">
              <a:solidFill>
                <a:srgbClr val="00206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2060"/>
              </a:solidFill>
              <a:ln w="9525" cap="flat">
                <a:solidFill>
                  <a:srgbClr val="002060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2011</c:v>
                </c:pt>
                <c:pt idx="1">
                  <c:v>2012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  <c:pt idx="7">
                  <c:v>2018</c:v>
                </c:pt>
                <c:pt idx="8">
                  <c:v>2019</c:v>
                </c:pt>
                <c:pt idx="9">
                  <c:v>2020</c:v>
                </c:pt>
                <c:pt idx="10">
                  <c:v>2021</c:v>
                </c:pt>
                <c:pt idx="11">
                  <c:v>2022</c:v>
                </c:pt>
                <c:pt idx="12">
                  <c:v>2023</c:v>
                </c:pt>
                <c:pt idx="13">
                  <c:v>2024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4">
                  <c:v>32.4</c:v>
                </c:pt>
                <c:pt idx="5">
                  <c:v>42</c:v>
                </c:pt>
                <c:pt idx="9">
                  <c:v>71</c:v>
                </c:pt>
                <c:pt idx="13">
                  <c:v>88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576-AB48-B616-2EF70F85A1D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9525" cap="flat">
            <a:solidFill>
              <a:srgbClr val="000000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0343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tickLblSkip val="1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numFmt formatCode="0&quot;%&quot;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0343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MAU</c:v>
                </c:pt>
              </c:strCache>
            </c:strRef>
          </c:tx>
          <c:spPr>
            <a:solidFill>
              <a:srgbClr val="E97132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AFAF-5145-B0A9-0D8F64926B42}"/>
              </c:ext>
            </c:extLst>
          </c:dPt>
          <c:dPt>
            <c:idx val="1"/>
            <c:invertIfNegative val="0"/>
            <c:bubble3D val="0"/>
            <c:spPr>
              <a:solidFill>
                <a:srgbClr val="00206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FAF-5145-B0A9-0D8F64926B42}"/>
              </c:ext>
            </c:extLst>
          </c:dPt>
          <c:dPt>
            <c:idx val="2"/>
            <c:invertIfNegative val="0"/>
            <c:bubble3D val="0"/>
            <c:spPr>
              <a:solidFill>
                <a:srgbClr val="00206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FAF-5145-B0A9-0D8F64926B42}"/>
              </c:ext>
            </c:extLst>
          </c:dPt>
          <c:dPt>
            <c:idx val="3"/>
            <c:invertIfNegative val="0"/>
            <c:bubble3D val="0"/>
            <c:spPr>
              <a:solidFill>
                <a:srgbClr val="00206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AFAF-5145-B0A9-0D8F64926B42}"/>
              </c:ext>
            </c:extLst>
          </c:dPt>
          <c:dPt>
            <c:idx val="4"/>
            <c:invertIfNegative val="0"/>
            <c:bubble3D val="0"/>
            <c:spPr>
              <a:solidFill>
                <a:srgbClr val="00206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AFAF-5145-B0A9-0D8F64926B42}"/>
              </c:ext>
            </c:extLst>
          </c:dPt>
          <c:dLbls>
            <c:dLbl>
              <c:idx val="0"/>
              <c:tx>
                <c:rich>
                  <a:bodyPr wrap="none" anchor="ctr"/>
                  <a:lstStyle/>
                  <a:p>
                    <a:pPr>
                      <a:defRPr sz="1050" b="1" i="0" u="none" strike="noStrike">
                        <a:solidFill>
                          <a:srgbClr val="30343B"/>
                        </a:solidFill>
                        <a:latin typeface="Calibri"/>
                      </a:defRPr>
                    </a:pPr>
                    <a:r>
                      <a:rPr lang="en-US" sz="1050" b="1" i="0" u="none" strike="noStrike">
                        <a:solidFill>
                          <a:srgbClr val="30343B"/>
                        </a:solidFill>
                        <a:latin typeface="Calibri"/>
                      </a:rPr>
                      <a:t>711</a:t>
                    </a:r>
                  </a:p>
                </c:rich>
              </c:tx>
              <c:spPr>
                <a:noFill/>
                <a:ln>
                  <a:noFill/>
                </a:ln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1-AFAF-5145-B0A9-0D8F64926B42}"/>
                </c:ext>
              </c:extLst>
            </c:dLbl>
            <c:dLbl>
              <c:idx val="1"/>
              <c:tx>
                <c:rich>
                  <a:bodyPr wrap="none" anchor="ctr"/>
                  <a:lstStyle/>
                  <a:p>
                    <a:pPr>
                      <a:defRPr sz="1050" b="1" i="0" u="none" strike="noStrike">
                        <a:solidFill>
                          <a:srgbClr val="30343B"/>
                        </a:solidFill>
                        <a:latin typeface="Calibri"/>
                      </a:defRPr>
                    </a:pPr>
                    <a:r>
                      <a:rPr lang="en-US" sz="1050" b="1" i="0" u="none" strike="noStrike">
                        <a:solidFill>
                          <a:srgbClr val="30343B"/>
                        </a:solidFill>
                        <a:latin typeface="Calibri"/>
                      </a:rPr>
                      <a:t>290</a:t>
                    </a:r>
                  </a:p>
                </c:rich>
              </c:tx>
              <c:spPr>
                <a:noFill/>
                <a:ln>
                  <a:noFill/>
                </a:ln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3-AFAF-5145-B0A9-0D8F64926B42}"/>
                </c:ext>
              </c:extLst>
            </c:dLbl>
            <c:dLbl>
              <c:idx val="2"/>
              <c:tx>
                <c:rich>
                  <a:bodyPr wrap="none" anchor="ctr"/>
                  <a:lstStyle/>
                  <a:p>
                    <a:pPr>
                      <a:defRPr sz="1050" b="1" i="0" u="none" strike="noStrike">
                        <a:solidFill>
                          <a:srgbClr val="30343B"/>
                        </a:solidFill>
                        <a:latin typeface="Calibri"/>
                      </a:defRPr>
                    </a:pPr>
                    <a:r>
                      <a:rPr lang="en-US" sz="1050" b="1" i="0" u="none" strike="noStrike">
                        <a:solidFill>
                          <a:srgbClr val="30343B"/>
                        </a:solidFill>
                        <a:latin typeface="Calibri"/>
                      </a:rPr>
                      <a:t>276</a:t>
                    </a:r>
                  </a:p>
                </c:rich>
              </c:tx>
              <c:spPr>
                <a:noFill/>
                <a:ln>
                  <a:noFill/>
                </a:ln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5-AFAF-5145-B0A9-0D8F64926B42}"/>
                </c:ext>
              </c:extLst>
            </c:dLbl>
            <c:dLbl>
              <c:idx val="3"/>
              <c:tx>
                <c:rich>
                  <a:bodyPr wrap="none" anchor="ctr"/>
                  <a:lstStyle/>
                  <a:p>
                    <a:pPr>
                      <a:defRPr sz="1050" b="1" i="0" u="none" strike="noStrike">
                        <a:solidFill>
                          <a:srgbClr val="30343B"/>
                        </a:solidFill>
                        <a:latin typeface="Calibri"/>
                      </a:defRPr>
                    </a:pPr>
                    <a:r>
                      <a:rPr lang="en-US" sz="1050" b="1" i="0" u="none" strike="noStrike">
                        <a:solidFill>
                          <a:srgbClr val="30343B"/>
                        </a:solidFill>
                        <a:latin typeface="Calibri"/>
                      </a:rPr>
                      <a:t>243</a:t>
                    </a:r>
                  </a:p>
                </c:rich>
              </c:tx>
              <c:spPr>
                <a:noFill/>
                <a:ln>
                  <a:noFill/>
                </a:ln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7-AFAF-5145-B0A9-0D8F64926B42}"/>
                </c:ext>
              </c:extLst>
            </c:dLbl>
            <c:dLbl>
              <c:idx val="4"/>
              <c:tx>
                <c:rich>
                  <a:bodyPr wrap="none" anchor="ctr"/>
                  <a:lstStyle/>
                  <a:p>
                    <a:pPr>
                      <a:defRPr sz="1050" b="1" i="0" u="none" strike="noStrike">
                        <a:solidFill>
                          <a:srgbClr val="30343B"/>
                        </a:solidFill>
                        <a:latin typeface="Calibri"/>
                      </a:defRPr>
                    </a:pPr>
                    <a:r>
                      <a:rPr lang="en-US" sz="1050" b="1" i="0" u="none" strike="noStrike">
                        <a:solidFill>
                          <a:srgbClr val="30343B"/>
                        </a:solidFill>
                        <a:latin typeface="Calibri"/>
                      </a:rPr>
                      <a:t>129</a:t>
                    </a:r>
                  </a:p>
                </c:rich>
              </c:tx>
              <c:spPr>
                <a:noFill/>
                <a:ln>
                  <a:noFill/>
                </a:ln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9-AFAF-5145-B0A9-0D8F64926B42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50" b="1" i="0" u="none" strike="noStrike">
                    <a:solidFill>
                      <a:srgbClr val="30343B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Alipay (Jun 2020)</c:v>
                </c:pt>
                <c:pt idx="1">
                  <c:v>ICBC (2025)</c:v>
                </c:pt>
                <c:pt idx="2">
                  <c:v>ABC (2025)</c:v>
                </c:pt>
                <c:pt idx="3">
                  <c:v>CCB (H1 2025)</c:v>
                </c:pt>
                <c:pt idx="4">
                  <c:v>CMB (2025)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711</c:v>
                </c:pt>
                <c:pt idx="1">
                  <c:v>290</c:v>
                </c:pt>
                <c:pt idx="2">
                  <c:v>276</c:v>
                </c:pt>
                <c:pt idx="3">
                  <c:v>243</c:v>
                </c:pt>
                <c:pt idx="4">
                  <c:v>129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AFAF-5145-B0A9-0D8F64926B4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9525" cap="flat">
            <a:solidFill>
              <a:srgbClr val="000000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30343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50"/>
        </c:scaling>
        <c:delete val="1"/>
        <c:axPos val="t"/>
        <c:numFmt formatCode="General" sourceLinked="0"/>
        <c:majorTickMark val="none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08"/>
          <c:y val="0.04"/>
          <c:w val="0.9"/>
          <c:h val="0.86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Bank mobile</c:v>
                </c:pt>
              </c:strCache>
            </c:strRef>
          </c:tx>
          <c:spPr>
            <a:ln w="28575" cap="flat">
              <a:solidFill>
                <a:srgbClr val="002060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Sheet1!$A$2:$A$17</c:f>
              <c:strCache>
                <c:ptCount val="16"/>
                <c:pt idx="0">
                  <c:v>2010</c:v>
                </c:pt>
                <c:pt idx="1">
                  <c:v>2011</c:v>
                </c:pt>
                <c:pt idx="2">
                  <c:v>2012</c:v>
                </c:pt>
                <c:pt idx="3">
                  <c:v>2013</c:v>
                </c:pt>
                <c:pt idx="4">
                  <c:v>2014</c:v>
                </c:pt>
                <c:pt idx="5">
                  <c:v>2015</c:v>
                </c:pt>
                <c:pt idx="6">
                  <c:v>2016</c:v>
                </c:pt>
                <c:pt idx="7">
                  <c:v>2017</c:v>
                </c:pt>
                <c:pt idx="8">
                  <c:v>2018</c:v>
                </c:pt>
                <c:pt idx="9">
                  <c:v>2019</c:v>
                </c:pt>
                <c:pt idx="10">
                  <c:v>2020</c:v>
                </c:pt>
                <c:pt idx="11">
                  <c:v>2021</c:v>
                </c:pt>
                <c:pt idx="12">
                  <c:v>2022</c:v>
                </c:pt>
                <c:pt idx="13">
                  <c:v>2023</c:v>
                </c:pt>
                <c:pt idx="14">
                  <c:v>2024</c:v>
                </c:pt>
                <c:pt idx="15">
                  <c:v>2025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0.56999999999999995</c:v>
                </c:pt>
                <c:pt idx="2">
                  <c:v>2.31</c:v>
                </c:pt>
                <c:pt idx="3">
                  <c:v>9.64</c:v>
                </c:pt>
                <c:pt idx="4">
                  <c:v>22.59</c:v>
                </c:pt>
                <c:pt idx="5">
                  <c:v>108.22</c:v>
                </c:pt>
                <c:pt idx="6">
                  <c:v>157.55000000000001</c:v>
                </c:pt>
                <c:pt idx="7">
                  <c:v>202.93</c:v>
                </c:pt>
                <c:pt idx="8">
                  <c:v>277.39</c:v>
                </c:pt>
                <c:pt idx="9">
                  <c:v>347.11</c:v>
                </c:pt>
                <c:pt idx="10">
                  <c:v>432.16</c:v>
                </c:pt>
                <c:pt idx="11">
                  <c:v>526.98</c:v>
                </c:pt>
                <c:pt idx="12">
                  <c:v>499.62</c:v>
                </c:pt>
                <c:pt idx="13">
                  <c:v>555.33000000000004</c:v>
                </c:pt>
                <c:pt idx="14">
                  <c:v>563.70000000000005</c:v>
                </c:pt>
                <c:pt idx="15">
                  <c:v>571.97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924-014B-AD3C-F8175BFDF57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Non-bank network</c:v>
                </c:pt>
              </c:strCache>
            </c:strRef>
          </c:tx>
          <c:spPr>
            <a:ln w="28575" cap="flat">
              <a:solidFill>
                <a:srgbClr val="E97132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Sheet1!$A$2:$A$17</c:f>
              <c:strCache>
                <c:ptCount val="16"/>
                <c:pt idx="0">
                  <c:v>2010</c:v>
                </c:pt>
                <c:pt idx="1">
                  <c:v>2011</c:v>
                </c:pt>
                <c:pt idx="2">
                  <c:v>2012</c:v>
                </c:pt>
                <c:pt idx="3">
                  <c:v>2013</c:v>
                </c:pt>
                <c:pt idx="4">
                  <c:v>2014</c:v>
                </c:pt>
                <c:pt idx="5">
                  <c:v>2015</c:v>
                </c:pt>
                <c:pt idx="6">
                  <c:v>2016</c:v>
                </c:pt>
                <c:pt idx="7">
                  <c:v>2017</c:v>
                </c:pt>
                <c:pt idx="8">
                  <c:v>2018</c:v>
                </c:pt>
                <c:pt idx="9">
                  <c:v>2019</c:v>
                </c:pt>
                <c:pt idx="10">
                  <c:v>2020</c:v>
                </c:pt>
                <c:pt idx="11">
                  <c:v>2021</c:v>
                </c:pt>
                <c:pt idx="12">
                  <c:v>2022</c:v>
                </c:pt>
                <c:pt idx="13">
                  <c:v>2023</c:v>
                </c:pt>
                <c:pt idx="14">
                  <c:v>2024</c:v>
                </c:pt>
                <c:pt idx="15">
                  <c:v>2025</c:v>
                </c:pt>
              </c:strCache>
            </c: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1.0860000000000001</c:v>
                </c:pt>
                <c:pt idx="1">
                  <c:v>2.161</c:v>
                </c:pt>
                <c:pt idx="2">
                  <c:v>6.89</c:v>
                </c:pt>
                <c:pt idx="3">
                  <c:v>9.2200000000000006</c:v>
                </c:pt>
                <c:pt idx="4">
                  <c:v>24.72</c:v>
                </c:pt>
                <c:pt idx="5">
                  <c:v>49.48</c:v>
                </c:pt>
                <c:pt idx="6">
                  <c:v>99.27</c:v>
                </c:pt>
                <c:pt idx="7">
                  <c:v>143.26</c:v>
                </c:pt>
                <c:pt idx="8">
                  <c:v>208.07</c:v>
                </c:pt>
                <c:pt idx="9">
                  <c:v>249.88</c:v>
                </c:pt>
                <c:pt idx="10">
                  <c:v>294.56</c:v>
                </c:pt>
                <c:pt idx="11">
                  <c:v>355.46</c:v>
                </c:pt>
                <c:pt idx="12">
                  <c:v>337.87</c:v>
                </c:pt>
                <c:pt idx="13">
                  <c:v>340.25</c:v>
                </c:pt>
                <c:pt idx="14">
                  <c:v>331.68</c:v>
                </c:pt>
                <c:pt idx="15">
                  <c:v>337.81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924-014B-AD3C-F8175BFDF57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9525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0343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tickLblSkip val="3"/>
        <c:noMultiLvlLbl val="1"/>
      </c:catAx>
      <c:valAx>
        <c:axId val="2094734552"/>
        <c:scaling>
          <c:logBase val="10"/>
          <c:orientation val="minMax"/>
          <c:max val="1000"/>
          <c:min val="0.1"/>
        </c:scaling>
        <c:delete val="1"/>
        <c:axPos val="l"/>
        <c:numFmt formatCode="General" sourceLinked="0"/>
        <c:majorTickMark val="none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CAGR</c:v>
                </c:pt>
              </c:strCache>
            </c:strRef>
          </c:tx>
          <c:spPr>
            <a:solidFill>
              <a:srgbClr val="002060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206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F3FC-A64E-8914-1FDCF9EA807E}"/>
              </c:ext>
            </c:extLst>
          </c:dPt>
          <c:dPt>
            <c:idx val="1"/>
            <c:invertIfNegative val="0"/>
            <c:bubble3D val="0"/>
            <c:spPr>
              <a:solidFill>
                <a:srgbClr val="E9713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3FC-A64E-8914-1FDCF9EA807E}"/>
              </c:ext>
            </c:extLst>
          </c:dPt>
          <c:dPt>
            <c:idx val="2"/>
            <c:invertIfNegative val="0"/>
            <c:bubble3D val="0"/>
            <c:spPr>
              <a:solidFill>
                <a:srgbClr val="E9713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3FC-A64E-8914-1FDCF9EA807E}"/>
              </c:ext>
            </c:extLst>
          </c:dPt>
          <c:dPt>
            <c:idx val="3"/>
            <c:invertIfNegative val="0"/>
            <c:bubble3D val="0"/>
            <c:spPr>
              <a:solidFill>
                <a:srgbClr val="A5A5A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F3FC-A64E-8914-1FDCF9EA807E}"/>
              </c:ext>
            </c:extLst>
          </c:dPt>
          <c:dPt>
            <c:idx val="4"/>
            <c:invertIfNegative val="0"/>
            <c:bubble3D val="0"/>
            <c:spPr>
              <a:solidFill>
                <a:srgbClr val="A5A5A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F3FC-A64E-8914-1FDCF9EA807E}"/>
              </c:ext>
            </c:extLst>
          </c:dPt>
          <c:dLbls>
            <c:dLbl>
              <c:idx val="0"/>
              <c:tx>
                <c:rich>
                  <a:bodyPr wrap="none" anchor="ctr"/>
                  <a:lstStyle/>
                  <a:p>
                    <a:pPr>
                      <a:defRPr sz="1050" b="1" i="0" u="none" strike="noStrike">
                        <a:solidFill>
                          <a:srgbClr val="30343B"/>
                        </a:solidFill>
                        <a:latin typeface="Calibri"/>
                      </a:defRPr>
                    </a:pPr>
                    <a:r>
                      <a:rPr lang="en-US" sz="1050" b="1" i="0" u="none" strike="noStrike">
                        <a:solidFill>
                          <a:srgbClr val="30343B"/>
                        </a:solidFill>
                        <a:latin typeface="Calibri"/>
                      </a:rPr>
                      <a:t>58.5%</a:t>
                    </a:r>
                  </a:p>
                </c:rich>
              </c:tx>
              <c:spPr>
                <a:noFill/>
                <a:ln>
                  <a:noFill/>
                </a:ln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1-F3FC-A64E-8914-1FDCF9EA807E}"/>
                </c:ext>
              </c:extLst>
            </c:dLbl>
            <c:dLbl>
              <c:idx val="1"/>
              <c:tx>
                <c:rich>
                  <a:bodyPr wrap="none" anchor="ctr"/>
                  <a:lstStyle/>
                  <a:p>
                    <a:pPr>
                      <a:defRPr sz="1050" b="1" i="0" u="none" strike="noStrike">
                        <a:solidFill>
                          <a:srgbClr val="30343B"/>
                        </a:solidFill>
                        <a:latin typeface="Calibri"/>
                      </a:defRPr>
                    </a:pPr>
                    <a:r>
                      <a:rPr lang="en-US" sz="1050" b="1" i="0" u="none" strike="noStrike">
                        <a:solidFill>
                          <a:srgbClr val="30343B"/>
                        </a:solidFill>
                        <a:latin typeface="Calibri"/>
                      </a:rPr>
                      <a:t>45.0%</a:t>
                    </a:r>
                  </a:p>
                </c:rich>
              </c:tx>
              <c:spPr>
                <a:noFill/>
                <a:ln>
                  <a:noFill/>
                </a:ln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3-F3FC-A64E-8914-1FDCF9EA807E}"/>
                </c:ext>
              </c:extLst>
            </c:dLbl>
            <c:dLbl>
              <c:idx val="2"/>
              <c:tx>
                <c:rich>
                  <a:bodyPr wrap="none" anchor="ctr"/>
                  <a:lstStyle/>
                  <a:p>
                    <a:pPr>
                      <a:defRPr sz="1050" b="1" i="0" u="none" strike="noStrike">
                        <a:solidFill>
                          <a:srgbClr val="30343B"/>
                        </a:solidFill>
                        <a:latin typeface="Calibri"/>
                      </a:defRPr>
                    </a:pPr>
                    <a:r>
                      <a:rPr lang="en-US" sz="1050" b="1" i="0" u="none" strike="noStrike">
                        <a:solidFill>
                          <a:srgbClr val="30343B"/>
                        </a:solidFill>
                        <a:latin typeface="Calibri"/>
                      </a:rPr>
                      <a:t>35.0%</a:t>
                    </a:r>
                  </a:p>
                </c:rich>
              </c:tx>
              <c:spPr>
                <a:noFill/>
                <a:ln>
                  <a:noFill/>
                </a:ln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5-F3FC-A64E-8914-1FDCF9EA807E}"/>
                </c:ext>
              </c:extLst>
            </c:dLbl>
            <c:dLbl>
              <c:idx val="3"/>
              <c:tx>
                <c:rich>
                  <a:bodyPr wrap="none" anchor="ctr"/>
                  <a:lstStyle/>
                  <a:p>
                    <a:pPr>
                      <a:defRPr sz="1050" b="1" i="0" u="none" strike="noStrike">
                        <a:solidFill>
                          <a:srgbClr val="30343B"/>
                        </a:solidFill>
                        <a:latin typeface="Calibri"/>
                      </a:defRPr>
                    </a:pPr>
                    <a:r>
                      <a:rPr lang="en-US" sz="1050" b="1" i="0" u="none" strike="noStrike">
                        <a:solidFill>
                          <a:srgbClr val="30343B"/>
                        </a:solidFill>
                        <a:latin typeface="Calibri"/>
                      </a:rPr>
                      <a:t>23.3%</a:t>
                    </a:r>
                  </a:p>
                </c:rich>
              </c:tx>
              <c:spPr>
                <a:noFill/>
                <a:ln>
                  <a:noFill/>
                </a:ln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7-F3FC-A64E-8914-1FDCF9EA807E}"/>
                </c:ext>
              </c:extLst>
            </c:dLbl>
            <c:dLbl>
              <c:idx val="4"/>
              <c:tx>
                <c:rich>
                  <a:bodyPr wrap="none" anchor="ctr"/>
                  <a:lstStyle/>
                  <a:p>
                    <a:pPr>
                      <a:defRPr sz="1050" b="1" i="0" u="none" strike="noStrike">
                        <a:solidFill>
                          <a:srgbClr val="30343B"/>
                        </a:solidFill>
                        <a:latin typeface="Calibri"/>
                      </a:defRPr>
                    </a:pPr>
                    <a:r>
                      <a:rPr lang="en-US" sz="1050" b="1" i="0" u="none" strike="noStrike">
                        <a:solidFill>
                          <a:srgbClr val="30343B"/>
                        </a:solidFill>
                        <a:latin typeface="Calibri"/>
                      </a:rPr>
                      <a:t>10.7%</a:t>
                    </a:r>
                  </a:p>
                </c:rich>
              </c:tx>
              <c:spPr>
                <a:noFill/>
                <a:ln>
                  <a:noFill/>
                </a:ln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9-F3FC-A64E-8914-1FDCF9EA807E}"/>
                </c:ext>
              </c:extLst>
            </c:dLbl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50" b="1" i="0" u="none" strike="noStrike">
                    <a:solidFill>
                      <a:srgbClr val="30343B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Bank mobile, value</c:v>
                </c:pt>
                <c:pt idx="1">
                  <c:v>Non-bank, count</c:v>
                </c:pt>
                <c:pt idx="2">
                  <c:v>Non-bank, value</c:v>
                </c:pt>
                <c:pt idx="3">
                  <c:v>Bank e-pay, count</c:v>
                </c:pt>
                <c:pt idx="4">
                  <c:v>Bank e-pay, value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58.5</c:v>
                </c:pt>
                <c:pt idx="1">
                  <c:v>45</c:v>
                </c:pt>
                <c:pt idx="2">
                  <c:v>35</c:v>
                </c:pt>
                <c:pt idx="3">
                  <c:v>23.3</c:v>
                </c:pt>
                <c:pt idx="4">
                  <c:v>10.7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F3FC-A64E-8914-1FDCF9EA807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9525" cap="flat">
            <a:solidFill>
              <a:srgbClr val="000000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30343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72"/>
        </c:scaling>
        <c:delete val="1"/>
        <c:axPos val="t"/>
        <c:numFmt formatCode="General" sourceLinked="0"/>
        <c:majorTickMark val="none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Assets</c:v>
                </c:pt>
              </c:strCache>
            </c:strRef>
          </c:tx>
          <c:spPr>
            <a:solidFill>
              <a:srgbClr val="002060"/>
            </a:solidFill>
            <a:effectLst/>
          </c:spPr>
          <c:invertIfNegative val="0"/>
          <c:dLbls>
            <c:dLbl>
              <c:idx val="0"/>
              <c:tx>
                <c:rich>
                  <a:bodyPr wrap="none" anchor="ctr"/>
                  <a:lstStyle/>
                  <a:p>
                    <a:pPr>
                      <a:defRPr sz="1050" b="1" i="0" u="none" strike="noStrike">
                        <a:solidFill>
                          <a:srgbClr val="002060"/>
                        </a:solidFill>
                        <a:latin typeface="Calibri"/>
                      </a:defRPr>
                    </a:pPr>
                    <a:r>
                      <a:rPr lang="en-US" sz="1050" b="1" i="0" u="none" strike="noStrike">
                        <a:solidFill>
                          <a:srgbClr val="002060"/>
                        </a:solidFill>
                        <a:latin typeface="Calibri"/>
                      </a:rPr>
                      <a:t>95</a:t>
                    </a:r>
                  </a:p>
                </c:rich>
              </c:tx>
              <c:spPr>
                <a:noFill/>
                <a:ln>
                  <a:noFill/>
                </a:ln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0-9B05-0C49-83D9-738D8BF074A5}"/>
                </c:ext>
              </c:extLst>
            </c:dLbl>
            <c:dLbl>
              <c:idx val="1"/>
              <c:tx>
                <c:rich>
                  <a:bodyPr wrap="none" anchor="ctr"/>
                  <a:lstStyle/>
                  <a:p>
                    <a:pPr>
                      <a:defRPr sz="1050" b="1" i="0" u="none" strike="noStrike">
                        <a:solidFill>
                          <a:srgbClr val="002060"/>
                        </a:solidFill>
                        <a:latin typeface="Calibri"/>
                      </a:defRPr>
                    </a:pPr>
                    <a:r>
                      <a:rPr lang="en-US" sz="1050" b="1" i="0" u="none" strike="noStrike">
                        <a:solidFill>
                          <a:srgbClr val="002060"/>
                        </a:solidFill>
                        <a:latin typeface="Calibri"/>
                      </a:rPr>
                      <a:t>199</a:t>
                    </a:r>
                  </a:p>
                </c:rich>
              </c:tx>
              <c:spPr>
                <a:noFill/>
                <a:ln>
                  <a:noFill/>
                </a:ln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1-9B05-0C49-83D9-738D8BF074A5}"/>
                </c:ext>
              </c:extLst>
            </c:dLbl>
            <c:dLbl>
              <c:idx val="2"/>
              <c:tx>
                <c:rich>
                  <a:bodyPr wrap="none" anchor="ctr"/>
                  <a:lstStyle/>
                  <a:p>
                    <a:pPr>
                      <a:defRPr sz="1050" b="1" i="0" u="none" strike="noStrike">
                        <a:solidFill>
                          <a:srgbClr val="002060"/>
                        </a:solidFill>
                        <a:latin typeface="Calibri"/>
                      </a:defRPr>
                    </a:pPr>
                    <a:r>
                      <a:rPr lang="en-US" sz="1050" b="1" i="0" u="none" strike="noStrike">
                        <a:solidFill>
                          <a:srgbClr val="002060"/>
                        </a:solidFill>
                        <a:latin typeface="Calibri"/>
                      </a:rPr>
                      <a:t>320</a:t>
                    </a:r>
                  </a:p>
                </c:rich>
              </c:tx>
              <c:spPr>
                <a:noFill/>
                <a:ln>
                  <a:noFill/>
                </a:ln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2-9B05-0C49-83D9-738D8BF074A5}"/>
                </c:ext>
              </c:extLst>
            </c:dLbl>
            <c:dLbl>
              <c:idx val="3"/>
              <c:tx>
                <c:rich>
                  <a:bodyPr wrap="none" anchor="ctr"/>
                  <a:lstStyle/>
                  <a:p>
                    <a:pPr>
                      <a:defRPr sz="1050" b="1" i="0" u="none" strike="noStrike">
                        <a:solidFill>
                          <a:srgbClr val="002060"/>
                        </a:solidFill>
                        <a:latin typeface="Calibri"/>
                      </a:defRPr>
                    </a:pPr>
                    <a:r>
                      <a:rPr lang="en-US" sz="1050" b="1" i="0" u="none" strike="noStrike">
                        <a:solidFill>
                          <a:srgbClr val="002060"/>
                        </a:solidFill>
                        <a:latin typeface="Calibri"/>
                      </a:rPr>
                      <a:t>417</a:t>
                    </a:r>
                  </a:p>
                </c:rich>
              </c:tx>
              <c:spPr>
                <a:noFill/>
                <a:ln>
                  <a:noFill/>
                </a:ln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3-9B05-0C49-83D9-738D8BF074A5}"/>
                </c:ext>
              </c:extLst>
            </c:dLbl>
            <c:dLbl>
              <c:idx val="4"/>
              <c:tx>
                <c:rich>
                  <a:bodyPr wrap="none" anchor="ctr"/>
                  <a:lstStyle/>
                  <a:p>
                    <a:pPr>
                      <a:defRPr sz="1050" b="1" i="0" u="none" strike="noStrike">
                        <a:solidFill>
                          <a:srgbClr val="002060"/>
                        </a:solidFill>
                        <a:latin typeface="Calibri"/>
                      </a:defRPr>
                    </a:pPr>
                    <a:r>
                      <a:rPr lang="en-US" sz="1050" b="1" i="0" u="none" strike="noStrike">
                        <a:solidFill>
                          <a:srgbClr val="002060"/>
                        </a:solidFill>
                        <a:latin typeface="Calibri"/>
                      </a:rPr>
                      <a:t>445</a:t>
                    </a:r>
                  </a:p>
                </c:rich>
              </c:tx>
              <c:spPr>
                <a:noFill/>
                <a:ln>
                  <a:noFill/>
                </a:ln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4-9B05-0C49-83D9-738D8BF074A5}"/>
                </c:ext>
              </c:extLst>
            </c:dLbl>
            <c:dLbl>
              <c:idx val="5"/>
              <c:tx>
                <c:rich>
                  <a:bodyPr wrap="none" anchor="ctr"/>
                  <a:lstStyle/>
                  <a:p>
                    <a:pPr>
                      <a:defRPr sz="1050" b="1" i="0" u="none" strike="noStrike">
                        <a:solidFill>
                          <a:srgbClr val="002060"/>
                        </a:solidFill>
                        <a:latin typeface="Calibri"/>
                      </a:defRPr>
                    </a:pPr>
                    <a:r>
                      <a:rPr lang="en-US" sz="1050" b="1" i="0" u="none" strike="noStrike">
                        <a:solidFill>
                          <a:srgbClr val="002060"/>
                        </a:solidFill>
                        <a:latin typeface="Calibri"/>
                      </a:rPr>
                      <a:t>480</a:t>
                    </a:r>
                  </a:p>
                </c:rich>
              </c:tx>
              <c:spPr>
                <a:noFill/>
                <a:ln>
                  <a:noFill/>
                </a:ln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5-9B05-0C49-83D9-738D8BF074A5}"/>
                </c:ext>
              </c:extLst>
            </c:dLbl>
            <c:dLbl>
              <c:idx val="6"/>
              <c:tx>
                <c:rich>
                  <a:bodyPr wrap="none" anchor="ctr"/>
                  <a:lstStyle/>
                  <a:p>
                    <a:pPr>
                      <a:defRPr sz="1050" b="1" i="0" u="none" strike="noStrike">
                        <a:solidFill>
                          <a:srgbClr val="002060"/>
                        </a:solidFill>
                        <a:latin typeface="Calibri"/>
                      </a:defRPr>
                    </a:pPr>
                    <a:r>
                      <a:rPr lang="en-US" sz="1050" b="1" i="0" u="none" strike="noStrike">
                        <a:solidFill>
                          <a:srgbClr val="002060"/>
                        </a:solidFill>
                        <a:latin typeface="Calibri"/>
                      </a:rPr>
                      <a:t>498</a:t>
                    </a:r>
                  </a:p>
                </c:rich>
              </c:tx>
              <c:spPr>
                <a:noFill/>
                <a:ln>
                  <a:noFill/>
                </a:ln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6-9B05-0C49-83D9-738D8BF074A5}"/>
                </c:ext>
              </c:extLst>
            </c:dLbl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50" b="1" i="0" u="none" strike="noStrike">
                    <a:solidFill>
                      <a:srgbClr val="002060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2010</c:v>
                </c:pt>
                <c:pt idx="1">
                  <c:v>2015</c:v>
                </c:pt>
                <c:pt idx="2">
                  <c:v>2020</c:v>
                </c:pt>
                <c:pt idx="3">
                  <c:v>2023</c:v>
                </c:pt>
                <c:pt idx="4">
                  <c:v>2024</c:v>
                </c:pt>
                <c:pt idx="5">
                  <c:v>2025</c:v>
                </c:pt>
                <c:pt idx="6">
                  <c:v>2026 H1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95.3</c:v>
                </c:pt>
                <c:pt idx="1">
                  <c:v>199.3</c:v>
                </c:pt>
                <c:pt idx="2">
                  <c:v>319.7</c:v>
                </c:pt>
                <c:pt idx="3">
                  <c:v>417.3</c:v>
                </c:pt>
                <c:pt idx="4">
                  <c:v>444.6</c:v>
                </c:pt>
                <c:pt idx="5">
                  <c:v>480</c:v>
                </c:pt>
                <c:pt idx="6">
                  <c:v>498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9B05-0C49-83D9-738D8BF074A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9525" cap="flat">
            <a:solidFill>
              <a:srgbClr val="000000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0343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80"/>
        </c:scaling>
        <c:delete val="1"/>
        <c:axPos val="l"/>
        <c:numFmt formatCode="General" sourceLinked="0"/>
        <c:majorTickMark val="none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ROE</c:v>
                </c:pt>
              </c:strCache>
            </c:strRef>
          </c:tx>
          <c:spPr>
            <a:solidFill>
              <a:srgbClr val="E97132"/>
            </a:solidFill>
            <a:effectLst/>
          </c:spPr>
          <c:invertIfNegative val="0"/>
          <c:dLbls>
            <c:dLbl>
              <c:idx val="0"/>
              <c:tx>
                <c:rich>
                  <a:bodyPr wrap="none" anchor="ctr"/>
                  <a:lstStyle/>
                  <a:p>
                    <a:pPr>
                      <a:defRPr sz="1050" b="1" i="0" u="none" strike="noStrike">
                        <a:solidFill>
                          <a:srgbClr val="E97132"/>
                        </a:solidFill>
                        <a:latin typeface="Calibri"/>
                      </a:defRPr>
                    </a:pPr>
                    <a:r>
                      <a:rPr lang="en-US" sz="1050" b="1" i="0" u="none" strike="noStrike">
                        <a:solidFill>
                          <a:srgbClr val="E97132"/>
                        </a:solidFill>
                        <a:latin typeface="Calibri"/>
                      </a:rPr>
                      <a:t>17.5</a:t>
                    </a:r>
                  </a:p>
                </c:rich>
              </c:tx>
              <c:spPr>
                <a:noFill/>
                <a:ln>
                  <a:noFill/>
                </a:ln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0-D44C-A34A-BFB7-5AEB0167C37E}"/>
                </c:ext>
              </c:extLst>
            </c:dLbl>
            <c:dLbl>
              <c:idx val="1"/>
              <c:tx>
                <c:rich>
                  <a:bodyPr wrap="none" anchor="ctr"/>
                  <a:lstStyle/>
                  <a:p>
                    <a:pPr>
                      <a:defRPr sz="1050" b="1" i="0" u="none" strike="noStrike">
                        <a:solidFill>
                          <a:srgbClr val="E97132"/>
                        </a:solidFill>
                        <a:latin typeface="Calibri"/>
                      </a:defRPr>
                    </a:pPr>
                    <a:r>
                      <a:rPr lang="en-US" sz="1050" b="1" i="0" u="none" strike="noStrike">
                        <a:solidFill>
                          <a:srgbClr val="E97132"/>
                        </a:solidFill>
                        <a:latin typeface="Calibri"/>
                      </a:rPr>
                      <a:t>9.5</a:t>
                    </a:r>
                  </a:p>
                </c:rich>
              </c:tx>
              <c:spPr>
                <a:noFill/>
                <a:ln>
                  <a:noFill/>
                </a:ln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1-D44C-A34A-BFB7-5AEB0167C37E}"/>
                </c:ext>
              </c:extLst>
            </c:dLbl>
            <c:dLbl>
              <c:idx val="2"/>
              <c:tx>
                <c:rich>
                  <a:bodyPr wrap="none" anchor="ctr"/>
                  <a:lstStyle/>
                  <a:p>
                    <a:pPr>
                      <a:defRPr sz="1050" b="1" i="0" u="none" strike="noStrike">
                        <a:solidFill>
                          <a:srgbClr val="E97132"/>
                        </a:solidFill>
                        <a:latin typeface="Calibri"/>
                      </a:defRPr>
                    </a:pPr>
                    <a:r>
                      <a:rPr lang="en-US" sz="1050" b="1" i="0" u="none" strike="noStrike">
                        <a:solidFill>
                          <a:srgbClr val="E97132"/>
                        </a:solidFill>
                        <a:latin typeface="Calibri"/>
                      </a:rPr>
                      <a:t>8.9</a:t>
                    </a:r>
                  </a:p>
                </c:rich>
              </c:tx>
              <c:spPr>
                <a:noFill/>
                <a:ln>
                  <a:noFill/>
                </a:ln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2-D44C-A34A-BFB7-5AEB0167C37E}"/>
                </c:ext>
              </c:extLst>
            </c:dLbl>
            <c:dLbl>
              <c:idx val="3"/>
              <c:tx>
                <c:rich>
                  <a:bodyPr wrap="none" anchor="ctr"/>
                  <a:lstStyle/>
                  <a:p>
                    <a:pPr>
                      <a:defRPr sz="1050" b="1" i="0" u="none" strike="noStrike">
                        <a:solidFill>
                          <a:srgbClr val="E97132"/>
                        </a:solidFill>
                        <a:latin typeface="Calibri"/>
                      </a:defRPr>
                    </a:pPr>
                    <a:r>
                      <a:rPr lang="en-US" sz="1050" b="1" i="0" u="none" strike="noStrike">
                        <a:solidFill>
                          <a:srgbClr val="E97132"/>
                        </a:solidFill>
                        <a:latin typeface="Calibri"/>
                      </a:rPr>
                      <a:t>8.1</a:t>
                    </a:r>
                  </a:p>
                </c:rich>
              </c:tx>
              <c:spPr>
                <a:noFill/>
                <a:ln>
                  <a:noFill/>
                </a:ln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3-D44C-A34A-BFB7-5AEB0167C37E}"/>
                </c:ext>
              </c:extLst>
            </c:dLbl>
            <c:dLbl>
              <c:idx val="4"/>
              <c:tx>
                <c:rich>
                  <a:bodyPr wrap="none" anchor="ctr"/>
                  <a:lstStyle/>
                  <a:p>
                    <a:pPr>
                      <a:defRPr sz="1050" b="1" i="0" u="none" strike="noStrike">
                        <a:solidFill>
                          <a:srgbClr val="E97132"/>
                        </a:solidFill>
                        <a:latin typeface="Calibri"/>
                      </a:defRPr>
                    </a:pPr>
                    <a:r>
                      <a:rPr lang="en-US" sz="1050" b="1" i="0" u="none" strike="noStrike">
                        <a:solidFill>
                          <a:srgbClr val="E97132"/>
                        </a:solidFill>
                        <a:latin typeface="Calibri"/>
                      </a:rPr>
                      <a:t>7.8</a:t>
                    </a:r>
                  </a:p>
                </c:rich>
              </c:tx>
              <c:spPr>
                <a:noFill/>
                <a:ln>
                  <a:noFill/>
                </a:ln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4-D44C-A34A-BFB7-5AEB0167C37E}"/>
                </c:ext>
              </c:extLst>
            </c:dLbl>
            <c:dLbl>
              <c:idx val="5"/>
              <c:tx>
                <c:rich>
                  <a:bodyPr wrap="none" anchor="ctr"/>
                  <a:lstStyle/>
                  <a:p>
                    <a:pPr>
                      <a:defRPr sz="1050" b="1" i="0" u="none" strike="noStrike">
                        <a:solidFill>
                          <a:srgbClr val="E97132"/>
                        </a:solidFill>
                        <a:latin typeface="Calibri"/>
                      </a:defRPr>
                    </a:pPr>
                    <a:r>
                      <a:rPr lang="en-US" sz="1050" b="1" i="0" u="none" strike="noStrike">
                        <a:solidFill>
                          <a:srgbClr val="E97132"/>
                        </a:solidFill>
                        <a:latin typeface="Calibri"/>
                      </a:rPr>
                      <a:t>7.7</a:t>
                    </a:r>
                  </a:p>
                </c:rich>
              </c:tx>
              <c:spPr>
                <a:noFill/>
                <a:ln>
                  <a:noFill/>
                </a:ln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5-D44C-A34A-BFB7-5AEB0167C37E}"/>
                </c:ext>
              </c:extLst>
            </c:dLbl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50" b="1" i="0" u="none" strike="noStrike">
                    <a:solidFill>
                      <a:srgbClr val="E97132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2010</c:v>
                </c:pt>
                <c:pt idx="1">
                  <c:v>2020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 H1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17.5</c:v>
                </c:pt>
                <c:pt idx="1">
                  <c:v>9.48</c:v>
                </c:pt>
                <c:pt idx="2">
                  <c:v>8.93</c:v>
                </c:pt>
                <c:pt idx="3">
                  <c:v>8.1</c:v>
                </c:pt>
                <c:pt idx="4">
                  <c:v>7.78</c:v>
                </c:pt>
                <c:pt idx="5">
                  <c:v>7.72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D44C-A34A-BFB7-5AEB0167C37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9525" cap="flat">
            <a:solidFill>
              <a:srgbClr val="000000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0343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1"/>
        </c:scaling>
        <c:delete val="1"/>
        <c:axPos val="l"/>
        <c:numFmt formatCode="General" sourceLinked="0"/>
        <c:majorTickMark val="none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7.0000000000000007E-2"/>
          <c:y val="0.2"/>
          <c:w val="0.92"/>
          <c:h val="0.6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NIM</c:v>
                </c:pt>
              </c:strCache>
            </c:strRef>
          </c:tx>
          <c:spPr>
            <a:ln w="28575" cap="flat">
              <a:solidFill>
                <a:srgbClr val="002060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Sheet1!$A$2:$A$18</c:f>
              <c:strCache>
                <c:ptCount val="17"/>
                <c:pt idx="0">
                  <c:v>2010</c:v>
                </c:pt>
                <c:pt idx="1">
                  <c:v>2011</c:v>
                </c:pt>
                <c:pt idx="2">
                  <c:v>2012</c:v>
                </c:pt>
                <c:pt idx="3">
                  <c:v>2013</c:v>
                </c:pt>
                <c:pt idx="4">
                  <c:v>2014</c:v>
                </c:pt>
                <c:pt idx="5">
                  <c:v>2015</c:v>
                </c:pt>
                <c:pt idx="6">
                  <c:v>2016</c:v>
                </c:pt>
                <c:pt idx="7">
                  <c:v>2017</c:v>
                </c:pt>
                <c:pt idx="8">
                  <c:v>2018</c:v>
                </c:pt>
                <c:pt idx="9">
                  <c:v>2019</c:v>
                </c:pt>
                <c:pt idx="10">
                  <c:v>2020</c:v>
                </c:pt>
                <c:pt idx="11">
                  <c:v>2021</c:v>
                </c:pt>
                <c:pt idx="12">
                  <c:v>2022</c:v>
                </c:pt>
                <c:pt idx="13">
                  <c:v>2023</c:v>
                </c:pt>
                <c:pt idx="14">
                  <c:v>2024</c:v>
                </c:pt>
                <c:pt idx="15">
                  <c:v>2025</c:v>
                </c:pt>
                <c:pt idx="16">
                  <c:v>2026 H1</c:v>
                </c:pt>
              </c:strCache>
            </c:strRef>
          </c:cat>
          <c:val>
            <c:numRef>
              <c:f>Sheet1!$B$2:$B$18</c:f>
              <c:numCache>
                <c:formatCode>General</c:formatCode>
                <c:ptCount val="17"/>
                <c:pt idx="0">
                  <c:v>2.83</c:v>
                </c:pt>
                <c:pt idx="1">
                  <c:v>3.25</c:v>
                </c:pt>
                <c:pt idx="2">
                  <c:v>3.14</c:v>
                </c:pt>
                <c:pt idx="3">
                  <c:v>3.1</c:v>
                </c:pt>
                <c:pt idx="4">
                  <c:v>3.08</c:v>
                </c:pt>
                <c:pt idx="5">
                  <c:v>3.07</c:v>
                </c:pt>
                <c:pt idx="6">
                  <c:v>2.44</c:v>
                </c:pt>
                <c:pt idx="7">
                  <c:v>2.48</c:v>
                </c:pt>
                <c:pt idx="8">
                  <c:v>2.4900000000000002</c:v>
                </c:pt>
                <c:pt idx="9">
                  <c:v>2.4300000000000002</c:v>
                </c:pt>
                <c:pt idx="10">
                  <c:v>2.34</c:v>
                </c:pt>
                <c:pt idx="11">
                  <c:v>2.2799999999999998</c:v>
                </c:pt>
                <c:pt idx="12">
                  <c:v>2.0299999999999998</c:v>
                </c:pt>
                <c:pt idx="13">
                  <c:v>1.7</c:v>
                </c:pt>
                <c:pt idx="14">
                  <c:v>1.5</c:v>
                </c:pt>
                <c:pt idx="15">
                  <c:v>1.36</c:v>
                </c:pt>
                <c:pt idx="16">
                  <c:v>1.38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B81-4545-8048-5C30915B70F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9525" cap="flat">
            <a:solidFill>
              <a:srgbClr val="000000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0343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tickLblSkip val="4"/>
        <c:noMultiLvlLbl val="1"/>
      </c:catAx>
      <c:valAx>
        <c:axId val="2094734552"/>
        <c:scaling>
          <c:orientation val="minMax"/>
          <c:max val="3.5"/>
          <c:min val="1"/>
        </c:scaling>
        <c:delete val="0"/>
        <c:axPos val="l"/>
        <c:numFmt formatCode="0&quot;%&quot;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0343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E97132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2EE6-5443-B4D5-DBD9D803EE2B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2EE6-5443-B4D5-DBD9D803EE2B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2EE6-5443-B4D5-DBD9D803EE2B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2EE6-5443-B4D5-DBD9D803EE2B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2EE6-5443-B4D5-DBD9D803EE2B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2EE6-5443-B4D5-DBD9D803EE2B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D-2EE6-5443-B4D5-DBD9D803EE2B}"/>
              </c:ext>
            </c:extLst>
          </c:dPt>
          <c:dPt>
            <c:idx val="7"/>
            <c:invertIfNegative val="0"/>
            <c:bubble3D val="0"/>
            <c:spPr>
              <a:solidFill>
                <a:srgbClr val="F4B18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2EE6-5443-B4D5-DBD9D803EE2B}"/>
              </c:ext>
            </c:extLst>
          </c:dPt>
          <c:dPt>
            <c:idx val="8"/>
            <c:invertIfNegative val="0"/>
            <c:bubble3D val="0"/>
            <c:spPr>
              <a:solidFill>
                <a:srgbClr val="F4B18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2EE6-5443-B4D5-DBD9D803EE2B}"/>
              </c:ext>
            </c:extLst>
          </c:dPt>
          <c:dLbls>
            <c:dLbl>
              <c:idx val="0"/>
              <c:tx>
                <c:rich>
                  <a:bodyPr wrap="none" anchor="ctr"/>
                  <a:lstStyle/>
                  <a:p>
                    <a:pPr>
                      <a:defRPr sz="1050" b="1" i="0" u="none" strike="noStrike">
                        <a:solidFill>
                          <a:srgbClr val="30343B"/>
                        </a:solidFill>
                        <a:latin typeface="Calibri"/>
                      </a:defRPr>
                    </a:pPr>
                    <a:r>
                      <a:rPr lang="en-US" sz="1050" b="1" i="0" u="none" strike="noStrike">
                        <a:solidFill>
                          <a:srgbClr val="30343B"/>
                        </a:solidFill>
                        <a:latin typeface="Calibri"/>
                      </a:rPr>
                      <a:t>101</a:t>
                    </a:r>
                  </a:p>
                </c:rich>
              </c:tx>
              <c:spPr>
                <a:noFill/>
                <a:ln>
                  <a:noFill/>
                </a:ln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1-2EE6-5443-B4D5-DBD9D803EE2B}"/>
                </c:ext>
              </c:extLst>
            </c:dLbl>
            <c:dLbl>
              <c:idx val="1"/>
              <c:tx>
                <c:rich>
                  <a:bodyPr wrap="none" anchor="ctr"/>
                  <a:lstStyle/>
                  <a:p>
                    <a:pPr>
                      <a:defRPr sz="1050" b="1" i="0" u="none" strike="noStrike">
                        <a:solidFill>
                          <a:srgbClr val="30343B"/>
                        </a:solidFill>
                        <a:latin typeface="Calibri"/>
                      </a:defRPr>
                    </a:pPr>
                    <a:r>
                      <a:rPr lang="en-US" sz="1050" b="1" i="0" u="none" strike="noStrike">
                        <a:solidFill>
                          <a:srgbClr val="30343B"/>
                        </a:solidFill>
                        <a:latin typeface="Calibri"/>
                      </a:rPr>
                      <a:t>128</a:t>
                    </a:r>
                  </a:p>
                </c:rich>
              </c:tx>
              <c:spPr>
                <a:noFill/>
                <a:ln>
                  <a:noFill/>
                </a:ln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3-2EE6-5443-B4D5-DBD9D803EE2B}"/>
                </c:ext>
              </c:extLst>
            </c:dLbl>
            <c:dLbl>
              <c:idx val="2"/>
              <c:tx>
                <c:rich>
                  <a:bodyPr wrap="none" anchor="ctr"/>
                  <a:lstStyle/>
                  <a:p>
                    <a:pPr>
                      <a:defRPr sz="1050" b="1" i="0" u="none" strike="noStrike">
                        <a:solidFill>
                          <a:srgbClr val="30343B"/>
                        </a:solidFill>
                        <a:latin typeface="Calibri"/>
                      </a:defRPr>
                    </a:pPr>
                    <a:r>
                      <a:rPr lang="en-US" sz="1050" b="1" i="0" u="none" strike="noStrike">
                        <a:solidFill>
                          <a:srgbClr val="30343B"/>
                        </a:solidFill>
                        <a:latin typeface="Calibri"/>
                      </a:rPr>
                      <a:t>172</a:t>
                    </a:r>
                  </a:p>
                </c:rich>
              </c:tx>
              <c:spPr>
                <a:noFill/>
                <a:ln>
                  <a:noFill/>
                </a:ln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5-2EE6-5443-B4D5-DBD9D803EE2B}"/>
                </c:ext>
              </c:extLst>
            </c:dLbl>
            <c:dLbl>
              <c:idx val="3"/>
              <c:tx>
                <c:rich>
                  <a:bodyPr wrap="none" anchor="ctr"/>
                  <a:lstStyle/>
                  <a:p>
                    <a:pPr>
                      <a:defRPr sz="1050" b="1" i="0" u="none" strike="noStrike">
                        <a:solidFill>
                          <a:srgbClr val="30343B"/>
                        </a:solidFill>
                        <a:latin typeface="Calibri"/>
                      </a:defRPr>
                    </a:pPr>
                    <a:r>
                      <a:rPr lang="en-US" sz="1050" b="1" i="0" u="none" strike="noStrike">
                        <a:solidFill>
                          <a:srgbClr val="30343B"/>
                        </a:solidFill>
                        <a:latin typeface="Calibri"/>
                      </a:rPr>
                      <a:t>177</a:t>
                    </a:r>
                  </a:p>
                </c:rich>
              </c:tx>
              <c:spPr>
                <a:noFill/>
                <a:ln>
                  <a:noFill/>
                </a:ln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7-2EE6-5443-B4D5-DBD9D803EE2B}"/>
                </c:ext>
              </c:extLst>
            </c:dLbl>
            <c:dLbl>
              <c:idx val="4"/>
              <c:tx>
                <c:rich>
                  <a:bodyPr wrap="none" anchor="ctr"/>
                  <a:lstStyle/>
                  <a:p>
                    <a:pPr>
                      <a:defRPr sz="1050" b="1" i="0" u="none" strike="noStrike">
                        <a:solidFill>
                          <a:srgbClr val="30343B"/>
                        </a:solidFill>
                        <a:latin typeface="Calibri"/>
                      </a:defRPr>
                    </a:pPr>
                    <a:r>
                      <a:rPr lang="en-US" sz="1050" b="1" i="0" u="none" strike="noStrike">
                        <a:solidFill>
                          <a:srgbClr val="30343B"/>
                        </a:solidFill>
                        <a:latin typeface="Calibri"/>
                      </a:rPr>
                      <a:t>204</a:t>
                    </a:r>
                  </a:p>
                </c:rich>
              </c:tx>
              <c:spPr>
                <a:noFill/>
                <a:ln>
                  <a:noFill/>
                </a:ln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9-2EE6-5443-B4D5-DBD9D803EE2B}"/>
                </c:ext>
              </c:extLst>
            </c:dLbl>
            <c:dLbl>
              <c:idx val="5"/>
              <c:tx>
                <c:rich>
                  <a:bodyPr wrap="none" anchor="ctr"/>
                  <a:lstStyle/>
                  <a:p>
                    <a:pPr>
                      <a:defRPr sz="1050" b="1" i="0" u="none" strike="noStrike">
                        <a:solidFill>
                          <a:srgbClr val="30343B"/>
                        </a:solidFill>
                        <a:latin typeface="Calibri"/>
                      </a:defRPr>
                    </a:pPr>
                    <a:r>
                      <a:rPr lang="en-US" sz="1050" b="1" i="0" u="none" strike="noStrike">
                        <a:solidFill>
                          <a:srgbClr val="30343B"/>
                        </a:solidFill>
                        <a:latin typeface="Calibri"/>
                      </a:rPr>
                      <a:t>212</a:t>
                    </a:r>
                  </a:p>
                </c:rich>
              </c:tx>
              <c:spPr>
                <a:noFill/>
                <a:ln>
                  <a:noFill/>
                </a:ln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B-2EE6-5443-B4D5-DBD9D803EE2B}"/>
                </c:ext>
              </c:extLst>
            </c:dLbl>
            <c:dLbl>
              <c:idx val="6"/>
              <c:tx>
                <c:rich>
                  <a:bodyPr wrap="none" anchor="ctr"/>
                  <a:lstStyle/>
                  <a:p>
                    <a:pPr>
                      <a:defRPr sz="1050" b="1" i="0" u="none" strike="noStrike">
                        <a:solidFill>
                          <a:srgbClr val="30343B"/>
                        </a:solidFill>
                        <a:latin typeface="Calibri"/>
                      </a:defRPr>
                    </a:pPr>
                    <a:r>
                      <a:rPr lang="en-US" sz="1050" b="1" i="0" u="none" strike="noStrike">
                        <a:solidFill>
                          <a:srgbClr val="30343B"/>
                        </a:solidFill>
                        <a:latin typeface="Calibri"/>
                      </a:rPr>
                      <a:t>229</a:t>
                    </a:r>
                  </a:p>
                </c:rich>
              </c:tx>
              <c:spPr>
                <a:noFill/>
                <a:ln>
                  <a:noFill/>
                </a:ln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D-2EE6-5443-B4D5-DBD9D803EE2B}"/>
                </c:ext>
              </c:extLst>
            </c:dLbl>
            <c:dLbl>
              <c:idx val="7"/>
              <c:tx>
                <c:rich>
                  <a:bodyPr wrap="none" anchor="ctr"/>
                  <a:lstStyle/>
                  <a:p>
                    <a:pPr>
                      <a:defRPr sz="1050" b="1" i="0" u="none" strike="noStrike">
                        <a:solidFill>
                          <a:srgbClr val="30343B"/>
                        </a:solidFill>
                        <a:latin typeface="Calibri"/>
                      </a:defRPr>
                    </a:pPr>
                    <a:r>
                      <a:rPr lang="en-US" sz="1050" b="1" i="0" u="none" strike="noStrike">
                        <a:solidFill>
                          <a:srgbClr val="30343B"/>
                        </a:solidFill>
                        <a:latin typeface="Calibri"/>
                      </a:rPr>
                      <a:t>252</a:t>
                    </a:r>
                  </a:p>
                </c:rich>
              </c:tx>
              <c:spPr>
                <a:noFill/>
                <a:ln>
                  <a:noFill/>
                </a:ln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F-2EE6-5443-B4D5-DBD9D803EE2B}"/>
                </c:ext>
              </c:extLst>
            </c:dLbl>
            <c:dLbl>
              <c:idx val="8"/>
              <c:tx>
                <c:rich>
                  <a:bodyPr wrap="none" anchor="ctr"/>
                  <a:lstStyle/>
                  <a:p>
                    <a:pPr>
                      <a:defRPr sz="1050" b="1" i="0" u="none" strike="noStrike">
                        <a:solidFill>
                          <a:srgbClr val="30343B"/>
                        </a:solidFill>
                        <a:latin typeface="Calibri"/>
                      </a:defRPr>
                    </a:pPr>
                    <a:r>
                      <a:rPr lang="en-US" sz="1050" b="1" i="0" u="none" strike="noStrike">
                        <a:solidFill>
                          <a:srgbClr val="30343B"/>
                        </a:solidFill>
                        <a:latin typeface="Calibri"/>
                      </a:rPr>
                      <a:t>275</a:t>
                    </a:r>
                  </a:p>
                </c:rich>
              </c:tx>
              <c:spPr>
                <a:noFill/>
                <a:ln>
                  <a:noFill/>
                </a:ln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11-2EE6-5443-B4D5-DBD9D803EE2B}"/>
                </c:ext>
              </c:extLst>
            </c:dLbl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50" b="1" i="0" u="none" strike="noStrike">
                    <a:solidFill>
                      <a:srgbClr val="30343B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  <c:pt idx="6">
                  <c:v>2025</c:v>
                </c:pt>
                <c:pt idx="7">
                  <c:v>2026E</c:v>
                </c:pt>
                <c:pt idx="8">
                  <c:v>2027E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101</c:v>
                </c:pt>
                <c:pt idx="1">
                  <c:v>128</c:v>
                </c:pt>
                <c:pt idx="2">
                  <c:v>172</c:v>
                </c:pt>
                <c:pt idx="3">
                  <c:v>177</c:v>
                </c:pt>
                <c:pt idx="4">
                  <c:v>204</c:v>
                </c:pt>
                <c:pt idx="5">
                  <c:v>212</c:v>
                </c:pt>
                <c:pt idx="6">
                  <c:v>229</c:v>
                </c:pt>
                <c:pt idx="7">
                  <c:v>252</c:v>
                </c:pt>
                <c:pt idx="8">
                  <c:v>275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2EE6-5443-B4D5-DBD9D803EE2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9525" cap="flat">
            <a:solidFill>
              <a:srgbClr val="000000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0343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10"/>
        </c:scaling>
        <c:delete val="1"/>
        <c:axPos val="l"/>
        <c:numFmt formatCode="General" sourceLinked="0"/>
        <c:majorTickMark val="none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Profit</c:v>
                </c:pt>
              </c:strCache>
            </c:strRef>
          </c:tx>
          <c:spPr>
            <a:solidFill>
              <a:srgbClr val="E97132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EDD8-2446-95FB-424A6C121225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EDD8-2446-95FB-424A6C121225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EDD8-2446-95FB-424A6C121225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EDD8-2446-95FB-424A6C121225}"/>
              </c:ext>
            </c:extLst>
          </c:dPt>
          <c:dLbls>
            <c:dLbl>
              <c:idx val="0"/>
              <c:tx>
                <c:rich>
                  <a:bodyPr wrap="none" anchor="ctr"/>
                  <a:lstStyle/>
                  <a:p>
                    <a:pPr>
                      <a:defRPr sz="1050" b="1" i="0" u="none" strike="noStrike">
                        <a:solidFill>
                          <a:srgbClr val="30343B"/>
                        </a:solidFill>
                        <a:latin typeface="Calibri"/>
                      </a:defRPr>
                    </a:pPr>
                    <a:r>
                      <a:rPr lang="en-US" sz="1050" b="1" i="0" u="none" strike="noStrike">
                        <a:solidFill>
                          <a:srgbClr val="30343B"/>
                        </a:solidFill>
                        <a:latin typeface="Calibri"/>
                      </a:rPr>
                      <a:t>18</a:t>
                    </a:r>
                  </a:p>
                </c:rich>
              </c:tx>
              <c:spPr>
                <a:noFill/>
                <a:ln>
                  <a:noFill/>
                </a:ln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1-EDD8-2446-95FB-424A6C121225}"/>
                </c:ext>
              </c:extLst>
            </c:dLbl>
            <c:dLbl>
              <c:idx val="1"/>
              <c:tx>
                <c:rich>
                  <a:bodyPr wrap="none" anchor="ctr"/>
                  <a:lstStyle/>
                  <a:p>
                    <a:pPr>
                      <a:defRPr sz="1050" b="1" i="0" u="none" strike="noStrike">
                        <a:solidFill>
                          <a:srgbClr val="30343B"/>
                        </a:solidFill>
                        <a:latin typeface="Calibri"/>
                      </a:defRPr>
                    </a:pPr>
                    <a:r>
                      <a:rPr lang="en-US" sz="1050" b="1" i="0" u="none" strike="noStrike">
                        <a:solidFill>
                          <a:srgbClr val="30343B"/>
                        </a:solidFill>
                        <a:latin typeface="Calibri"/>
                      </a:rPr>
                      <a:t>24</a:t>
                    </a:r>
                  </a:p>
                </c:rich>
              </c:tx>
              <c:spPr>
                <a:noFill/>
                <a:ln>
                  <a:noFill/>
                </a:ln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3-EDD8-2446-95FB-424A6C121225}"/>
                </c:ext>
              </c:extLst>
            </c:dLbl>
            <c:dLbl>
              <c:idx val="2"/>
              <c:tx>
                <c:rich>
                  <a:bodyPr wrap="none" anchor="ctr"/>
                  <a:lstStyle/>
                  <a:p>
                    <a:pPr>
                      <a:defRPr sz="1050" b="1" i="0" u="none" strike="noStrike">
                        <a:solidFill>
                          <a:srgbClr val="30343B"/>
                        </a:solidFill>
                        <a:latin typeface="Calibri"/>
                      </a:defRPr>
                    </a:pPr>
                    <a:r>
                      <a:rPr lang="en-US" sz="1050" b="1" i="0" u="none" strike="noStrike">
                        <a:solidFill>
                          <a:srgbClr val="30343B"/>
                        </a:solidFill>
                        <a:latin typeface="Calibri"/>
                      </a:rPr>
                      <a:t>38</a:t>
                    </a:r>
                  </a:p>
                </c:rich>
              </c:tx>
              <c:spPr>
                <a:noFill/>
                <a:ln>
                  <a:noFill/>
                </a:ln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5-EDD8-2446-95FB-424A6C121225}"/>
                </c:ext>
              </c:extLst>
            </c:dLbl>
            <c:dLbl>
              <c:idx val="3"/>
              <c:tx>
                <c:rich>
                  <a:bodyPr wrap="none" anchor="ctr"/>
                  <a:lstStyle/>
                  <a:p>
                    <a:pPr>
                      <a:defRPr sz="1050" b="1" i="0" u="none" strike="noStrike">
                        <a:solidFill>
                          <a:srgbClr val="30343B"/>
                        </a:solidFill>
                        <a:latin typeface="Calibri"/>
                      </a:defRPr>
                    </a:pPr>
                    <a:r>
                      <a:rPr lang="en-US" sz="1050" b="1" i="0" u="none" strike="noStrike">
                        <a:solidFill>
                          <a:srgbClr val="30343B"/>
                        </a:solidFill>
                        <a:latin typeface="Calibri"/>
                      </a:rPr>
                      <a:t>15</a:t>
                    </a:r>
                  </a:p>
                </c:rich>
              </c:tx>
              <c:spPr>
                <a:noFill/>
                <a:ln>
                  <a:noFill/>
                </a:ln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7-EDD8-2446-95FB-424A6C121225}"/>
                </c:ext>
              </c:extLst>
            </c:dLbl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50" b="1" i="0" u="none" strike="noStrike">
                    <a:solidFill>
                      <a:srgbClr val="30343B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2019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18.100000000000001</c:v>
                </c:pt>
                <c:pt idx="1">
                  <c:v>24</c:v>
                </c:pt>
                <c:pt idx="2">
                  <c:v>38</c:v>
                </c:pt>
                <c:pt idx="3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EDD8-2446-95FB-424A6C12122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9525" cap="flat">
            <a:solidFill>
              <a:srgbClr val="000000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0343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6"/>
        </c:scaling>
        <c:delete val="1"/>
        <c:axPos val="l"/>
        <c:numFmt formatCode="General" sourceLinked="0"/>
        <c:majorTickMark val="none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rgbClr val="A5A5A5"/>
            </a:solidFill>
            <a:effectLst/>
          </c:spPr>
          <c:invertIfNegative val="0"/>
          <c:dLbls>
            <c:dLbl>
              <c:idx val="0"/>
              <c:tx>
                <c:rich>
                  <a:bodyPr wrap="none" anchor="ctr"/>
                  <a:lstStyle/>
                  <a:p>
                    <a:pPr>
                      <a:defRPr sz="950" b="1" i="0" u="none" strike="noStrike">
                        <a:solidFill>
                          <a:srgbClr val="30343B"/>
                        </a:solidFill>
                        <a:latin typeface="Calibri"/>
                      </a:defRPr>
                    </a:pPr>
                    <a:r>
                      <a:rPr lang="en-US" sz="950" b="1" i="0" u="none" strike="noStrike">
                        <a:solidFill>
                          <a:srgbClr val="30343B"/>
                        </a:solidFill>
                        <a:latin typeface="Calibri"/>
                      </a:rPr>
                      <a:t>6.3</a:t>
                    </a:r>
                  </a:p>
                </c:rich>
              </c:tx>
              <c:spPr>
                <a:noFill/>
                <a:ln>
                  <a:noFill/>
                </a:ln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0-B7E3-E449-B108-098D1357D0F9}"/>
                </c:ext>
              </c:extLst>
            </c:dLbl>
            <c:dLbl>
              <c:idx val="1"/>
              <c:tx>
                <c:rich>
                  <a:bodyPr wrap="none" anchor="ctr"/>
                  <a:lstStyle/>
                  <a:p>
                    <a:pPr>
                      <a:defRPr sz="950" b="1" i="0" u="none" strike="noStrike">
                        <a:solidFill>
                          <a:srgbClr val="30343B"/>
                        </a:solidFill>
                        <a:latin typeface="Calibri"/>
                      </a:defRPr>
                    </a:pPr>
                    <a:r>
                      <a:rPr lang="en-US" sz="950" b="1" i="0" u="none" strike="noStrike">
                        <a:solidFill>
                          <a:srgbClr val="30343B"/>
                        </a:solidFill>
                        <a:latin typeface="Calibri"/>
                      </a:rPr>
                      <a:t>5.8</a:t>
                    </a:r>
                  </a:p>
                </c:rich>
              </c:tx>
              <c:spPr>
                <a:noFill/>
                <a:ln>
                  <a:noFill/>
                </a:ln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1-B7E3-E449-B108-098D1357D0F9}"/>
                </c:ext>
              </c:extLst>
            </c:dLbl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50" b="1" i="0" u="none" strike="noStrike">
                    <a:solidFill>
                      <a:srgbClr val="30343B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Online lenders</c:v>
                </c:pt>
                <c:pt idx="1">
                  <c:v>Online brokers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6.3</c:v>
                </c:pt>
                <c:pt idx="1">
                  <c:v>5.8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7E3-E449-B108-098D1357D0F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002060"/>
            </a:solidFill>
            <a:effectLst/>
          </c:spPr>
          <c:invertIfNegative val="0"/>
          <c:dLbls>
            <c:dLbl>
              <c:idx val="0"/>
              <c:tx>
                <c:rich>
                  <a:bodyPr wrap="none" anchor="ctr"/>
                  <a:lstStyle/>
                  <a:p>
                    <a:pPr>
                      <a:defRPr sz="950" b="1" i="0" u="none" strike="noStrike">
                        <a:solidFill>
                          <a:srgbClr val="30343B"/>
                        </a:solidFill>
                        <a:latin typeface="Calibri"/>
                      </a:defRPr>
                    </a:pPr>
                    <a:r>
                      <a:rPr lang="en-US" sz="950" b="1" i="0" u="none" strike="noStrike">
                        <a:solidFill>
                          <a:srgbClr val="30343B"/>
                        </a:solidFill>
                        <a:latin typeface="Calibri"/>
                      </a:rPr>
                      <a:t>8.8</a:t>
                    </a:r>
                  </a:p>
                </c:rich>
              </c:tx>
              <c:spPr>
                <a:noFill/>
                <a:ln>
                  <a:noFill/>
                </a:ln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3-B7E3-E449-B108-098D1357D0F9}"/>
                </c:ext>
              </c:extLst>
            </c:dLbl>
            <c:dLbl>
              <c:idx val="1"/>
              <c:tx>
                <c:rich>
                  <a:bodyPr wrap="none" anchor="ctr"/>
                  <a:lstStyle/>
                  <a:p>
                    <a:pPr>
                      <a:defRPr sz="950" b="1" i="0" u="none" strike="noStrike">
                        <a:solidFill>
                          <a:srgbClr val="30343B"/>
                        </a:solidFill>
                        <a:latin typeface="Calibri"/>
                      </a:defRPr>
                    </a:pPr>
                    <a:r>
                      <a:rPr lang="en-US" sz="950" b="1" i="0" u="none" strike="noStrike">
                        <a:solidFill>
                          <a:srgbClr val="30343B"/>
                        </a:solidFill>
                        <a:latin typeface="Calibri"/>
                      </a:rPr>
                      <a:t>12.0</a:t>
                    </a:r>
                  </a:p>
                </c:rich>
              </c:tx>
              <c:spPr>
                <a:noFill/>
                <a:ln>
                  <a:noFill/>
                </a:ln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4-B7E3-E449-B108-098D1357D0F9}"/>
                </c:ext>
              </c:extLst>
            </c:dLbl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50" b="1" i="0" u="none" strike="noStrike">
                    <a:solidFill>
                      <a:srgbClr val="30343B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Online lenders</c:v>
                </c:pt>
                <c:pt idx="1">
                  <c:v>Online brokers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8.8000000000000007</c:v>
                </c:pt>
                <c:pt idx="1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B7E3-E449-B108-098D1357D0F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2026E</c:v>
                </c:pt>
              </c:strCache>
            </c:strRef>
          </c:tx>
          <c:spPr>
            <a:solidFill>
              <a:srgbClr val="F4B183"/>
            </a:solidFill>
            <a:effectLst/>
          </c:spPr>
          <c:invertIfNegative val="0"/>
          <c:dLbls>
            <c:dLbl>
              <c:idx val="0"/>
              <c:tx>
                <c:rich>
                  <a:bodyPr wrap="none" anchor="ctr"/>
                  <a:lstStyle/>
                  <a:p>
                    <a:pPr>
                      <a:defRPr sz="950" b="1" i="0" u="none" strike="noStrike">
                        <a:solidFill>
                          <a:srgbClr val="30343B"/>
                        </a:solidFill>
                        <a:latin typeface="Calibri"/>
                      </a:defRPr>
                    </a:pPr>
                    <a:r>
                      <a:rPr lang="en-US" sz="950" b="1" i="0" u="none" strike="noStrike">
                        <a:solidFill>
                          <a:srgbClr val="30343B"/>
                        </a:solidFill>
                        <a:latin typeface="Calibri"/>
                      </a:rPr>
                      <a:t>6.9</a:t>
                    </a:r>
                  </a:p>
                </c:rich>
              </c:tx>
              <c:spPr>
                <a:noFill/>
                <a:ln>
                  <a:noFill/>
                </a:ln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6-B7E3-E449-B108-098D1357D0F9}"/>
                </c:ext>
              </c:extLst>
            </c:dLbl>
            <c:dLbl>
              <c:idx val="1"/>
              <c:tx>
                <c:rich>
                  <a:bodyPr wrap="none" anchor="ctr"/>
                  <a:lstStyle/>
                  <a:p>
                    <a:pPr>
                      <a:defRPr sz="950" b="1" i="0" u="none" strike="noStrike">
                        <a:solidFill>
                          <a:srgbClr val="30343B"/>
                        </a:solidFill>
                        <a:latin typeface="Calibri"/>
                      </a:defRPr>
                    </a:pPr>
                    <a:r>
                      <a:rPr lang="en-US" sz="950" b="1" i="0" u="none" strike="noStrike">
                        <a:solidFill>
                          <a:srgbClr val="30343B"/>
                        </a:solidFill>
                        <a:latin typeface="Calibri"/>
                      </a:rPr>
                      <a:t>9.5</a:t>
                    </a:r>
                  </a:p>
                </c:rich>
              </c:tx>
              <c:spPr>
                <a:noFill/>
                <a:ln>
                  <a:noFill/>
                </a:ln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7-B7E3-E449-B108-098D1357D0F9}"/>
                </c:ext>
              </c:extLst>
            </c:dLbl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50" b="1" i="0" u="none" strike="noStrike">
                    <a:solidFill>
                      <a:srgbClr val="30343B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Online lenders</c:v>
                </c:pt>
                <c:pt idx="1">
                  <c:v>Online brokers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6.9</c:v>
                </c:pt>
                <c:pt idx="1">
                  <c:v>9.5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B7E3-E449-B108-098D1357D0F9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2027E</c:v>
                </c:pt>
              </c:strCache>
            </c:strRef>
          </c:tx>
          <c:spPr>
            <a:solidFill>
              <a:srgbClr val="E97132"/>
            </a:solidFill>
            <a:effectLst/>
          </c:spPr>
          <c:invertIfNegative val="0"/>
          <c:dLbls>
            <c:dLbl>
              <c:idx val="0"/>
              <c:tx>
                <c:rich>
                  <a:bodyPr wrap="none" anchor="ctr"/>
                  <a:lstStyle/>
                  <a:p>
                    <a:pPr>
                      <a:defRPr sz="950" b="1" i="0" u="none" strike="noStrike">
                        <a:solidFill>
                          <a:srgbClr val="30343B"/>
                        </a:solidFill>
                        <a:latin typeface="Calibri"/>
                      </a:defRPr>
                    </a:pPr>
                    <a:r>
                      <a:rPr lang="en-US" sz="950" b="1" i="0" u="none" strike="noStrike">
                        <a:solidFill>
                          <a:srgbClr val="30343B"/>
                        </a:solidFill>
                        <a:latin typeface="Calibri"/>
                      </a:rPr>
                      <a:t>9.2</a:t>
                    </a:r>
                  </a:p>
                </c:rich>
              </c:tx>
              <c:spPr>
                <a:noFill/>
                <a:ln>
                  <a:noFill/>
                </a:ln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9-B7E3-E449-B108-098D1357D0F9}"/>
                </c:ext>
              </c:extLst>
            </c:dLbl>
            <c:dLbl>
              <c:idx val="1"/>
              <c:tx>
                <c:rich>
                  <a:bodyPr wrap="none" anchor="ctr"/>
                  <a:lstStyle/>
                  <a:p>
                    <a:pPr>
                      <a:defRPr sz="950" b="1" i="0" u="none" strike="noStrike">
                        <a:solidFill>
                          <a:srgbClr val="30343B"/>
                        </a:solidFill>
                        <a:latin typeface="Calibri"/>
                      </a:defRPr>
                    </a:pPr>
                    <a:r>
                      <a:rPr lang="en-US" sz="950" b="1" i="0" u="none" strike="noStrike">
                        <a:solidFill>
                          <a:srgbClr val="30343B"/>
                        </a:solidFill>
                        <a:latin typeface="Calibri"/>
                      </a:rPr>
                      <a:t>12.2</a:t>
                    </a:r>
                  </a:p>
                </c:rich>
              </c:tx>
              <c:spPr>
                <a:noFill/>
                <a:ln>
                  <a:noFill/>
                </a:ln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A-B7E3-E449-B108-098D1357D0F9}"/>
                </c:ext>
              </c:extLst>
            </c:dLbl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50" b="1" i="0" u="none" strike="noStrike">
                    <a:solidFill>
                      <a:srgbClr val="30343B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Online lenders</c:v>
                </c:pt>
                <c:pt idx="1">
                  <c:v>Online brokers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9.1999999999999993</c:v>
                </c:pt>
                <c:pt idx="1">
                  <c:v>12.2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B7E3-E449-B108-098D1357D0F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9525" cap="flat">
            <a:solidFill>
              <a:srgbClr val="000000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0343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5"/>
        </c:scaling>
        <c:delete val="1"/>
        <c:axPos val="l"/>
        <c:numFmt formatCode="General" sourceLinked="0"/>
        <c:majorTickMark val="none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50">
              <a:solidFill>
                <a:srgbClr val="30343B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08"/>
          <c:y val="0.05"/>
          <c:w val="0.9"/>
          <c:h val="0.8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Banks</c:v>
                </c:pt>
              </c:strCache>
            </c:strRef>
          </c:tx>
          <c:spPr>
            <a:ln w="28575" cap="flat">
              <a:solidFill>
                <a:srgbClr val="002060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Sheet1!$A$2:$A$18</c:f>
              <c:strCache>
                <c:ptCount val="17"/>
                <c:pt idx="0">
                  <c:v>2010</c:v>
                </c:pt>
                <c:pt idx="1">
                  <c:v>2011</c:v>
                </c:pt>
                <c:pt idx="2">
                  <c:v>2012</c:v>
                </c:pt>
                <c:pt idx="3">
                  <c:v>2013</c:v>
                </c:pt>
                <c:pt idx="4">
                  <c:v>2014</c:v>
                </c:pt>
                <c:pt idx="5">
                  <c:v>2015</c:v>
                </c:pt>
                <c:pt idx="6">
                  <c:v>2016</c:v>
                </c:pt>
                <c:pt idx="7">
                  <c:v>2017</c:v>
                </c:pt>
                <c:pt idx="8">
                  <c:v>2018</c:v>
                </c:pt>
                <c:pt idx="9">
                  <c:v>2019</c:v>
                </c:pt>
                <c:pt idx="10">
                  <c:v>2020</c:v>
                </c:pt>
                <c:pt idx="11">
                  <c:v>2021</c:v>
                </c:pt>
                <c:pt idx="12">
                  <c:v>2022</c:v>
                </c:pt>
                <c:pt idx="13">
                  <c:v>2023</c:v>
                </c:pt>
                <c:pt idx="14">
                  <c:v>2024</c:v>
                </c:pt>
                <c:pt idx="15">
                  <c:v>2025</c:v>
                </c:pt>
                <c:pt idx="16">
                  <c:v>2026 H1</c:v>
                </c:pt>
              </c:strCache>
            </c:strRef>
          </c:cat>
          <c:val>
            <c:numRef>
              <c:f>Sheet1!$B$2:$B$18</c:f>
              <c:numCache>
                <c:formatCode>General</c:formatCode>
                <c:ptCount val="17"/>
                <c:pt idx="0">
                  <c:v>1.61</c:v>
                </c:pt>
                <c:pt idx="1">
                  <c:v>1.21</c:v>
                </c:pt>
                <c:pt idx="2">
                  <c:v>1.21</c:v>
                </c:pt>
                <c:pt idx="3">
                  <c:v>0.97</c:v>
                </c:pt>
                <c:pt idx="4">
                  <c:v>1.22</c:v>
                </c:pt>
                <c:pt idx="5">
                  <c:v>1.02</c:v>
                </c:pt>
                <c:pt idx="6">
                  <c:v>0.86</c:v>
                </c:pt>
                <c:pt idx="7">
                  <c:v>0.93</c:v>
                </c:pt>
                <c:pt idx="8">
                  <c:v>0.73</c:v>
                </c:pt>
                <c:pt idx="9">
                  <c:v>0.79</c:v>
                </c:pt>
                <c:pt idx="10">
                  <c:v>0.62</c:v>
                </c:pt>
                <c:pt idx="11">
                  <c:v>0.53</c:v>
                </c:pt>
                <c:pt idx="12">
                  <c:v>0.47</c:v>
                </c:pt>
                <c:pt idx="13">
                  <c:v>0.51</c:v>
                </c:pt>
                <c:pt idx="14">
                  <c:v>0.68</c:v>
                </c:pt>
                <c:pt idx="15">
                  <c:v>0.67</c:v>
                </c:pt>
                <c:pt idx="16">
                  <c:v>0.6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6AB-7649-BC1E-5D21EF3795B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Fintech</c:v>
                </c:pt>
              </c:strCache>
            </c:strRef>
          </c:tx>
          <c:spPr>
            <a:ln w="28575" cap="flat">
              <a:solidFill>
                <a:srgbClr val="E97132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Sheet1!$A$2:$A$18</c:f>
              <c:strCache>
                <c:ptCount val="17"/>
                <c:pt idx="0">
                  <c:v>2010</c:v>
                </c:pt>
                <c:pt idx="1">
                  <c:v>2011</c:v>
                </c:pt>
                <c:pt idx="2">
                  <c:v>2012</c:v>
                </c:pt>
                <c:pt idx="3">
                  <c:v>2013</c:v>
                </c:pt>
                <c:pt idx="4">
                  <c:v>2014</c:v>
                </c:pt>
                <c:pt idx="5">
                  <c:v>2015</c:v>
                </c:pt>
                <c:pt idx="6">
                  <c:v>2016</c:v>
                </c:pt>
                <c:pt idx="7">
                  <c:v>2017</c:v>
                </c:pt>
                <c:pt idx="8">
                  <c:v>2018</c:v>
                </c:pt>
                <c:pt idx="9">
                  <c:v>2019</c:v>
                </c:pt>
                <c:pt idx="10">
                  <c:v>2020</c:v>
                </c:pt>
                <c:pt idx="11">
                  <c:v>2021</c:v>
                </c:pt>
                <c:pt idx="12">
                  <c:v>2022</c:v>
                </c:pt>
                <c:pt idx="13">
                  <c:v>2023</c:v>
                </c:pt>
                <c:pt idx="14">
                  <c:v>2024</c:v>
                </c:pt>
                <c:pt idx="15">
                  <c:v>2025</c:v>
                </c:pt>
                <c:pt idx="16">
                  <c:v>2026 H1</c:v>
                </c:pt>
              </c:strCache>
            </c:strRef>
          </c:cat>
          <c:val>
            <c:numRef>
              <c:f>Sheet1!$C$2:$C$18</c:f>
              <c:numCache>
                <c:formatCode>General</c:formatCode>
                <c:ptCount val="17"/>
                <c:pt idx="0">
                  <c:v>5.03</c:v>
                </c:pt>
                <c:pt idx="1">
                  <c:v>2.5099999999999998</c:v>
                </c:pt>
                <c:pt idx="2">
                  <c:v>2.59</c:v>
                </c:pt>
                <c:pt idx="3">
                  <c:v>6.04</c:v>
                </c:pt>
                <c:pt idx="4">
                  <c:v>9.6999999999999993</c:v>
                </c:pt>
                <c:pt idx="5">
                  <c:v>9.1999999999999993</c:v>
                </c:pt>
                <c:pt idx="6">
                  <c:v>4.7</c:v>
                </c:pt>
                <c:pt idx="7">
                  <c:v>8.7100000000000009</c:v>
                </c:pt>
                <c:pt idx="8">
                  <c:v>3.98</c:v>
                </c:pt>
                <c:pt idx="9">
                  <c:v>3.12</c:v>
                </c:pt>
                <c:pt idx="10">
                  <c:v>2.84</c:v>
                </c:pt>
                <c:pt idx="11">
                  <c:v>3.28</c:v>
                </c:pt>
                <c:pt idx="12">
                  <c:v>3.03</c:v>
                </c:pt>
                <c:pt idx="13">
                  <c:v>2.9</c:v>
                </c:pt>
                <c:pt idx="14">
                  <c:v>3.59</c:v>
                </c:pt>
                <c:pt idx="15">
                  <c:v>3.34</c:v>
                </c:pt>
                <c:pt idx="16">
                  <c:v>2.06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6AB-7649-BC1E-5D21EF3795B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9525" cap="flat">
            <a:solidFill>
              <a:srgbClr val="000000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0343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tickLblSkip val="4"/>
        <c:noMultiLvlLbl val="1"/>
      </c:catAx>
      <c:valAx>
        <c:axId val="2094734552"/>
        <c:scaling>
          <c:orientation val="minMax"/>
          <c:max val="10"/>
          <c:min val="0"/>
        </c:scaling>
        <c:delete val="0"/>
        <c:axPos val="l"/>
        <c:numFmt formatCode="0&quot;x&quot;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0343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08"/>
          <c:y val="0.05"/>
          <c:w val="0.9"/>
          <c:h val="0.8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Banks</c:v>
                </c:pt>
              </c:strCache>
            </c:strRef>
          </c:tx>
          <c:spPr>
            <a:ln w="28575" cap="flat">
              <a:solidFill>
                <a:srgbClr val="002060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Sheet1!$A$2:$A$18</c:f>
              <c:strCache>
                <c:ptCount val="17"/>
                <c:pt idx="0">
                  <c:v>2010</c:v>
                </c:pt>
                <c:pt idx="1">
                  <c:v>2011</c:v>
                </c:pt>
                <c:pt idx="2">
                  <c:v>2012</c:v>
                </c:pt>
                <c:pt idx="3">
                  <c:v>2013</c:v>
                </c:pt>
                <c:pt idx="4">
                  <c:v>2014</c:v>
                </c:pt>
                <c:pt idx="5">
                  <c:v>2015</c:v>
                </c:pt>
                <c:pt idx="6">
                  <c:v>2016</c:v>
                </c:pt>
                <c:pt idx="7">
                  <c:v>2017</c:v>
                </c:pt>
                <c:pt idx="8">
                  <c:v>2018</c:v>
                </c:pt>
                <c:pt idx="9">
                  <c:v>2019</c:v>
                </c:pt>
                <c:pt idx="10">
                  <c:v>2020</c:v>
                </c:pt>
                <c:pt idx="11">
                  <c:v>2021</c:v>
                </c:pt>
                <c:pt idx="12">
                  <c:v>2022</c:v>
                </c:pt>
                <c:pt idx="13">
                  <c:v>2023</c:v>
                </c:pt>
                <c:pt idx="14">
                  <c:v>2024</c:v>
                </c:pt>
                <c:pt idx="15">
                  <c:v>2025</c:v>
                </c:pt>
                <c:pt idx="16">
                  <c:v>2026 H1</c:v>
                </c:pt>
              </c:strCache>
            </c:strRef>
          </c:cat>
          <c:val>
            <c:numRef>
              <c:f>Sheet1!$B$2:$B$18</c:f>
              <c:numCache>
                <c:formatCode>General</c:formatCode>
                <c:ptCount val="17"/>
                <c:pt idx="0">
                  <c:v>20.87</c:v>
                </c:pt>
                <c:pt idx="1">
                  <c:v>20.52</c:v>
                </c:pt>
                <c:pt idx="2">
                  <c:v>20.95</c:v>
                </c:pt>
                <c:pt idx="3">
                  <c:v>21.38</c:v>
                </c:pt>
                <c:pt idx="4">
                  <c:v>19.57</c:v>
                </c:pt>
                <c:pt idx="5">
                  <c:v>16.96</c:v>
                </c:pt>
                <c:pt idx="6">
                  <c:v>15.14</c:v>
                </c:pt>
                <c:pt idx="7">
                  <c:v>14.09</c:v>
                </c:pt>
                <c:pt idx="8">
                  <c:v>12.86</c:v>
                </c:pt>
                <c:pt idx="9">
                  <c:v>12.38</c:v>
                </c:pt>
                <c:pt idx="10">
                  <c:v>11.41</c:v>
                </c:pt>
                <c:pt idx="11">
                  <c:v>11.91</c:v>
                </c:pt>
                <c:pt idx="12">
                  <c:v>11.41</c:v>
                </c:pt>
                <c:pt idx="13">
                  <c:v>10.97</c:v>
                </c:pt>
                <c:pt idx="14">
                  <c:v>10.32</c:v>
                </c:pt>
                <c:pt idx="15">
                  <c:v>9.68</c:v>
                </c:pt>
                <c:pt idx="16">
                  <c:v>9.4700000000000006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BD2-5849-881F-4948D14FA4E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Fintech</c:v>
                </c:pt>
              </c:strCache>
            </c:strRef>
          </c:tx>
          <c:spPr>
            <a:ln w="28575" cap="flat">
              <a:solidFill>
                <a:srgbClr val="E97132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Sheet1!$A$2:$A$18</c:f>
              <c:strCache>
                <c:ptCount val="17"/>
                <c:pt idx="0">
                  <c:v>2010</c:v>
                </c:pt>
                <c:pt idx="1">
                  <c:v>2011</c:v>
                </c:pt>
                <c:pt idx="2">
                  <c:v>2012</c:v>
                </c:pt>
                <c:pt idx="3">
                  <c:v>2013</c:v>
                </c:pt>
                <c:pt idx="4">
                  <c:v>2014</c:v>
                </c:pt>
                <c:pt idx="5">
                  <c:v>2015</c:v>
                </c:pt>
                <c:pt idx="6">
                  <c:v>2016</c:v>
                </c:pt>
                <c:pt idx="7">
                  <c:v>2017</c:v>
                </c:pt>
                <c:pt idx="8">
                  <c:v>2018</c:v>
                </c:pt>
                <c:pt idx="9">
                  <c:v>2019</c:v>
                </c:pt>
                <c:pt idx="10">
                  <c:v>2020</c:v>
                </c:pt>
                <c:pt idx="11">
                  <c:v>2021</c:v>
                </c:pt>
                <c:pt idx="12">
                  <c:v>2022</c:v>
                </c:pt>
                <c:pt idx="13">
                  <c:v>2023</c:v>
                </c:pt>
                <c:pt idx="14">
                  <c:v>2024</c:v>
                </c:pt>
                <c:pt idx="15">
                  <c:v>2025</c:v>
                </c:pt>
                <c:pt idx="16">
                  <c:v>2026 H1</c:v>
                </c:pt>
              </c:strCache>
            </c:strRef>
          </c:cat>
          <c:val>
            <c:numRef>
              <c:f>Sheet1!$C$2:$C$18</c:f>
              <c:numCache>
                <c:formatCode>General</c:formatCode>
                <c:ptCount val="17"/>
                <c:pt idx="0">
                  <c:v>17.57</c:v>
                </c:pt>
                <c:pt idx="1">
                  <c:v>16.04</c:v>
                </c:pt>
                <c:pt idx="2">
                  <c:v>13.8</c:v>
                </c:pt>
                <c:pt idx="3">
                  <c:v>16.45</c:v>
                </c:pt>
                <c:pt idx="4">
                  <c:v>16.63</c:v>
                </c:pt>
                <c:pt idx="5">
                  <c:v>28.8</c:v>
                </c:pt>
                <c:pt idx="6">
                  <c:v>22.64</c:v>
                </c:pt>
                <c:pt idx="7">
                  <c:v>20.8</c:v>
                </c:pt>
                <c:pt idx="8">
                  <c:v>20.86</c:v>
                </c:pt>
                <c:pt idx="9">
                  <c:v>27.24</c:v>
                </c:pt>
                <c:pt idx="10">
                  <c:v>24.19</c:v>
                </c:pt>
                <c:pt idx="11">
                  <c:v>22.16</c:v>
                </c:pt>
                <c:pt idx="12">
                  <c:v>13.99</c:v>
                </c:pt>
                <c:pt idx="13">
                  <c:v>11.95</c:v>
                </c:pt>
                <c:pt idx="14">
                  <c:v>16.46</c:v>
                </c:pt>
                <c:pt idx="15">
                  <c:v>14.78</c:v>
                </c:pt>
                <c:pt idx="16">
                  <c:v>15.34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BD2-5849-881F-4948D14FA4E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9525" cap="flat">
            <a:solidFill>
              <a:srgbClr val="000000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0343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tickLblSkip val="4"/>
        <c:noMultiLvlLbl val="1"/>
      </c:catAx>
      <c:valAx>
        <c:axId val="2094734552"/>
        <c:scaling>
          <c:orientation val="minMax"/>
          <c:max val="30"/>
          <c:min val="0"/>
        </c:scaling>
        <c:delete val="0"/>
        <c:axPos val="l"/>
        <c:numFmt formatCode="0&quot;%&quot;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0343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Mix</c:v>
                </c:pt>
              </c:strCache>
            </c:strRef>
          </c:tx>
          <c:spPr>
            <a:solidFill>
              <a:srgbClr val="E97132"/>
            </a:solidFill>
            <a:effectLst/>
          </c:spPr>
          <c:invertIfNegative val="0"/>
          <c:dLbls>
            <c:dLbl>
              <c:idx val="0"/>
              <c:tx>
                <c:rich>
                  <a:bodyPr wrap="none" anchor="ctr"/>
                  <a:lstStyle/>
                  <a:p>
                    <a:pPr>
                      <a:defRPr sz="1050" b="1" i="0" u="none" strike="noStrike">
                        <a:solidFill>
                          <a:srgbClr val="30343B"/>
                        </a:solidFill>
                        <a:latin typeface="Calibri"/>
                      </a:defRPr>
                    </a:pPr>
                    <a:r>
                      <a:rPr lang="en-US" sz="1050" b="1" i="0" u="none" strike="noStrike">
                        <a:solidFill>
                          <a:srgbClr val="30343B"/>
                        </a:solidFill>
                        <a:latin typeface="Calibri"/>
                      </a:rPr>
                      <a:t>39.4%</a:t>
                    </a:r>
                  </a:p>
                </c:rich>
              </c:tx>
              <c:spPr>
                <a:noFill/>
                <a:ln>
                  <a:noFill/>
                </a:ln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0-F3D9-4D47-BC2D-0AF8EAEF2F9B}"/>
                </c:ext>
              </c:extLst>
            </c:dLbl>
            <c:dLbl>
              <c:idx val="1"/>
              <c:tx>
                <c:rich>
                  <a:bodyPr wrap="none" anchor="ctr"/>
                  <a:lstStyle/>
                  <a:p>
                    <a:pPr>
                      <a:defRPr sz="1050" b="1" i="0" u="none" strike="noStrike">
                        <a:solidFill>
                          <a:srgbClr val="30343B"/>
                        </a:solidFill>
                        <a:latin typeface="Calibri"/>
                      </a:defRPr>
                    </a:pPr>
                    <a:r>
                      <a:rPr lang="en-US" sz="1050" b="1" i="0" u="none" strike="noStrike">
                        <a:solidFill>
                          <a:srgbClr val="30343B"/>
                        </a:solidFill>
                        <a:latin typeface="Calibri"/>
                      </a:rPr>
                      <a:t>35.9%</a:t>
                    </a:r>
                  </a:p>
                </c:rich>
              </c:tx>
              <c:spPr>
                <a:noFill/>
                <a:ln>
                  <a:noFill/>
                </a:ln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1-F3D9-4D47-BC2D-0AF8EAEF2F9B}"/>
                </c:ext>
              </c:extLst>
            </c:dLbl>
            <c:dLbl>
              <c:idx val="2"/>
              <c:tx>
                <c:rich>
                  <a:bodyPr wrap="none" anchor="ctr"/>
                  <a:lstStyle/>
                  <a:p>
                    <a:pPr>
                      <a:defRPr sz="1050" b="1" i="0" u="none" strike="noStrike">
                        <a:solidFill>
                          <a:srgbClr val="30343B"/>
                        </a:solidFill>
                        <a:latin typeface="Calibri"/>
                      </a:defRPr>
                    </a:pPr>
                    <a:r>
                      <a:rPr lang="en-US" sz="1050" b="1" i="0" u="none" strike="noStrike">
                        <a:solidFill>
                          <a:srgbClr val="30343B"/>
                        </a:solidFill>
                        <a:latin typeface="Calibri"/>
                      </a:rPr>
                      <a:t>15.6%</a:t>
                    </a:r>
                  </a:p>
                </c:rich>
              </c:tx>
              <c:spPr>
                <a:noFill/>
                <a:ln>
                  <a:noFill/>
                </a:ln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2-F3D9-4D47-BC2D-0AF8EAEF2F9B}"/>
                </c:ext>
              </c:extLst>
            </c:dLbl>
            <c:dLbl>
              <c:idx val="3"/>
              <c:tx>
                <c:rich>
                  <a:bodyPr wrap="none" anchor="ctr"/>
                  <a:lstStyle/>
                  <a:p>
                    <a:pPr>
                      <a:defRPr sz="1050" b="1" i="0" u="none" strike="noStrike">
                        <a:solidFill>
                          <a:srgbClr val="30343B"/>
                        </a:solidFill>
                        <a:latin typeface="Calibri"/>
                      </a:defRPr>
                    </a:pPr>
                    <a:r>
                      <a:rPr lang="en-US" sz="1050" b="1" i="0" u="none" strike="noStrike">
                        <a:solidFill>
                          <a:srgbClr val="30343B"/>
                        </a:solidFill>
                        <a:latin typeface="Calibri"/>
                      </a:rPr>
                      <a:t>8.4%</a:t>
                    </a:r>
                  </a:p>
                </c:rich>
              </c:tx>
              <c:spPr>
                <a:noFill/>
                <a:ln>
                  <a:noFill/>
                </a:ln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3-F3D9-4D47-BC2D-0AF8EAEF2F9B}"/>
                </c:ext>
              </c:extLst>
            </c:dLbl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50" b="1" i="0" u="none" strike="noStrike">
                    <a:solidFill>
                      <a:srgbClr val="30343B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CreditTech</c:v>
                </c:pt>
                <c:pt idx="1">
                  <c:v>Payments</c:v>
                </c:pt>
                <c:pt idx="2">
                  <c:v>InvestmentTech</c:v>
                </c:pt>
                <c:pt idx="3">
                  <c:v>InsureTech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39.4</c:v>
                </c:pt>
                <c:pt idx="1">
                  <c:v>35.9</c:v>
                </c:pt>
                <c:pt idx="2">
                  <c:v>15.6</c:v>
                </c:pt>
                <c:pt idx="3">
                  <c:v>8.4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3D9-4D47-BC2D-0AF8EAEF2F9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9525" cap="flat">
            <a:solidFill>
              <a:srgbClr val="000000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0343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0"/>
        </c:scaling>
        <c:delete val="1"/>
        <c:axPos val="t"/>
        <c:numFmt formatCode="General" sourceLinked="0"/>
        <c:majorTickMark val="none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Loans</c:v>
                </c:pt>
              </c:strCache>
            </c:strRef>
          </c:tx>
          <c:spPr>
            <a:solidFill>
              <a:srgbClr val="A5A5A5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92DD-FB4C-BDB0-6D0F25CAC52E}"/>
              </c:ext>
            </c:extLst>
          </c:dPt>
          <c:dPt>
            <c:idx val="1"/>
            <c:invertIfNegative val="0"/>
            <c:bubble3D val="0"/>
            <c:spPr>
              <a:solidFill>
                <a:srgbClr val="00206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2DD-FB4C-BDB0-6D0F25CAC52E}"/>
              </c:ext>
            </c:extLst>
          </c:dPt>
          <c:dPt>
            <c:idx val="2"/>
            <c:invertIfNegative val="0"/>
            <c:bubble3D val="0"/>
            <c:spPr>
              <a:solidFill>
                <a:srgbClr val="00206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2DD-FB4C-BDB0-6D0F25CAC52E}"/>
              </c:ext>
            </c:extLst>
          </c:dPt>
          <c:dPt>
            <c:idx val="3"/>
            <c:invertIfNegative val="0"/>
            <c:bubble3D val="0"/>
            <c:spPr>
              <a:solidFill>
                <a:srgbClr val="00206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92DD-FB4C-BDB0-6D0F25CAC52E}"/>
              </c:ext>
            </c:extLst>
          </c:dPt>
          <c:dLbls>
            <c:dLbl>
              <c:idx val="0"/>
              <c:tx>
                <c:rich>
                  <a:bodyPr wrap="none" anchor="ctr"/>
                  <a:lstStyle/>
                  <a:p>
                    <a:pPr>
                      <a:defRPr sz="1050" b="1" i="0" u="none" strike="noStrike">
                        <a:solidFill>
                          <a:srgbClr val="002060"/>
                        </a:solidFill>
                        <a:latin typeface="Calibri"/>
                      </a:defRPr>
                    </a:pPr>
                    <a:r>
                      <a:rPr lang="en-US" sz="1050" b="1" i="0" u="none" strike="noStrike">
                        <a:solidFill>
                          <a:srgbClr val="002060"/>
                        </a:solidFill>
                        <a:latin typeface="Calibri"/>
                      </a:rPr>
                      <a:t>8.2</a:t>
                    </a:r>
                  </a:p>
                </c:rich>
              </c:tx>
              <c:spPr>
                <a:noFill/>
                <a:ln>
                  <a:noFill/>
                </a:ln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1-92DD-FB4C-BDB0-6D0F25CAC52E}"/>
                </c:ext>
              </c:extLst>
            </c:dLbl>
            <c:dLbl>
              <c:idx val="1"/>
              <c:tx>
                <c:rich>
                  <a:bodyPr wrap="none" anchor="ctr"/>
                  <a:lstStyle/>
                  <a:p>
                    <a:pPr>
                      <a:defRPr sz="1050" b="1" i="0" u="none" strike="noStrike">
                        <a:solidFill>
                          <a:srgbClr val="002060"/>
                        </a:solidFill>
                        <a:latin typeface="Calibri"/>
                      </a:defRPr>
                    </a:pPr>
                    <a:r>
                      <a:rPr lang="en-US" sz="1050" b="1" i="0" u="none" strike="noStrike">
                        <a:solidFill>
                          <a:srgbClr val="002060"/>
                        </a:solidFill>
                        <a:latin typeface="Calibri"/>
                      </a:rPr>
                      <a:t>10.2</a:t>
                    </a:r>
                  </a:p>
                </c:rich>
              </c:tx>
              <c:spPr>
                <a:noFill/>
                <a:ln>
                  <a:noFill/>
                </a:ln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3-92DD-FB4C-BDB0-6D0F25CAC52E}"/>
                </c:ext>
              </c:extLst>
            </c:dLbl>
            <c:dLbl>
              <c:idx val="2"/>
              <c:tx>
                <c:rich>
                  <a:bodyPr wrap="none" anchor="ctr"/>
                  <a:lstStyle/>
                  <a:p>
                    <a:pPr>
                      <a:defRPr sz="1050" b="1" i="0" u="none" strike="noStrike">
                        <a:solidFill>
                          <a:srgbClr val="002060"/>
                        </a:solidFill>
                        <a:latin typeface="Calibri"/>
                      </a:defRPr>
                    </a:pPr>
                    <a:r>
                      <a:rPr lang="en-US" sz="1050" b="1" i="0" u="none" strike="noStrike">
                        <a:solidFill>
                          <a:srgbClr val="002060"/>
                        </a:solidFill>
                        <a:latin typeface="Calibri"/>
                      </a:rPr>
                      <a:t>9.5</a:t>
                    </a:r>
                  </a:p>
                </c:rich>
              </c:tx>
              <c:spPr>
                <a:noFill/>
                <a:ln>
                  <a:noFill/>
                </a:ln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5-92DD-FB4C-BDB0-6D0F25CAC52E}"/>
                </c:ext>
              </c:extLst>
            </c:dLbl>
            <c:dLbl>
              <c:idx val="3"/>
              <c:tx>
                <c:rich>
                  <a:bodyPr wrap="none" anchor="ctr"/>
                  <a:lstStyle/>
                  <a:p>
                    <a:pPr>
                      <a:defRPr sz="1050" b="1" i="0" u="none" strike="noStrike">
                        <a:solidFill>
                          <a:srgbClr val="002060"/>
                        </a:solidFill>
                        <a:latin typeface="Calibri"/>
                      </a:defRPr>
                    </a:pPr>
                    <a:r>
                      <a:rPr lang="en-US" sz="1050" b="1" i="0" u="none" strike="noStrike">
                        <a:solidFill>
                          <a:srgbClr val="002060"/>
                        </a:solidFill>
                        <a:latin typeface="Calibri"/>
                      </a:rPr>
                      <a:t>8.8</a:t>
                    </a:r>
                  </a:p>
                </c:rich>
              </c:tx>
              <c:spPr>
                <a:noFill/>
                <a:ln>
                  <a:noFill/>
                </a:ln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7-92DD-FB4C-BDB0-6D0F25CAC52E}"/>
                </c:ext>
              </c:extLst>
            </c:dLbl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50" b="1" i="0" u="none" strike="noStrike">
                    <a:solidFill>
                      <a:srgbClr val="002060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Jun 2020</c:v>
                </c:pt>
                <c:pt idx="1">
                  <c:v>Dec 2024</c:v>
                </c:pt>
                <c:pt idx="2">
                  <c:v>Dec 2025</c:v>
                </c:pt>
                <c:pt idx="3">
                  <c:v>May 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10.199999999999999</c:v>
                </c:pt>
                <c:pt idx="2">
                  <c:v>9.49</c:v>
                </c:pt>
                <c:pt idx="3">
                  <c:v>8.7899999999999991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92DD-FB4C-BDB0-6D0F25CAC52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9525" cap="flat">
            <a:solidFill>
              <a:srgbClr val="000000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0343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2"/>
        </c:scaling>
        <c:delete val="1"/>
        <c:axPos val="l"/>
        <c:numFmt formatCode="General" sourceLinked="0"/>
        <c:majorTickMark val="none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Cards</c:v>
                </c:pt>
              </c:strCache>
            </c:strRef>
          </c:tx>
          <c:spPr>
            <a:solidFill>
              <a:srgbClr val="A5A5A5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DF12-644A-96B5-700501AA1BC0}"/>
              </c:ext>
            </c:extLst>
          </c:dPt>
          <c:dPt>
            <c:idx val="1"/>
            <c:invertIfNegative val="0"/>
            <c:bubble3D val="0"/>
            <c:spPr>
              <a:solidFill>
                <a:srgbClr val="00206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F12-644A-96B5-700501AA1BC0}"/>
              </c:ext>
            </c:extLst>
          </c:dPt>
          <c:dPt>
            <c:idx val="2"/>
            <c:invertIfNegative val="0"/>
            <c:bubble3D val="0"/>
            <c:spPr>
              <a:solidFill>
                <a:srgbClr val="00206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F12-644A-96B5-700501AA1BC0}"/>
              </c:ext>
            </c:extLst>
          </c:dPt>
          <c:dPt>
            <c:idx val="3"/>
            <c:invertIfNegative val="0"/>
            <c:bubble3D val="0"/>
            <c:spPr>
              <a:solidFill>
                <a:srgbClr val="00206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DF12-644A-96B5-700501AA1BC0}"/>
              </c:ext>
            </c:extLst>
          </c:dPt>
          <c:dLbls>
            <c:dLbl>
              <c:idx val="0"/>
              <c:tx>
                <c:rich>
                  <a:bodyPr wrap="none" anchor="ctr"/>
                  <a:lstStyle/>
                  <a:p>
                    <a:pPr>
                      <a:defRPr sz="1050" b="1" i="0" u="none" strike="noStrike">
                        <a:solidFill>
                          <a:srgbClr val="002060"/>
                        </a:solidFill>
                        <a:latin typeface="Calibri"/>
                      </a:defRPr>
                    </a:pPr>
                    <a:r>
                      <a:rPr lang="en-US" sz="1050" b="1" i="0" u="none" strike="noStrike">
                        <a:solidFill>
                          <a:srgbClr val="002060"/>
                        </a:solidFill>
                        <a:latin typeface="Calibri"/>
                      </a:rPr>
                      <a:t>340</a:t>
                    </a:r>
                  </a:p>
                </c:rich>
              </c:tx>
              <c:spPr>
                <a:noFill/>
                <a:ln>
                  <a:noFill/>
                </a:ln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1-DF12-644A-96B5-700501AA1BC0}"/>
                </c:ext>
              </c:extLst>
            </c:dLbl>
            <c:dLbl>
              <c:idx val="1"/>
              <c:tx>
                <c:rich>
                  <a:bodyPr wrap="none" anchor="ctr"/>
                  <a:lstStyle/>
                  <a:p>
                    <a:pPr>
                      <a:defRPr sz="1050" b="1" i="0" u="none" strike="noStrike">
                        <a:solidFill>
                          <a:srgbClr val="002060"/>
                        </a:solidFill>
                        <a:latin typeface="Calibri"/>
                      </a:defRPr>
                    </a:pPr>
                    <a:r>
                      <a:rPr lang="en-US" sz="1050" b="1" i="0" u="none" strike="noStrike">
                        <a:solidFill>
                          <a:srgbClr val="002060"/>
                        </a:solidFill>
                        <a:latin typeface="Calibri"/>
                      </a:rPr>
                      <a:t>807</a:t>
                    </a:r>
                  </a:p>
                </c:rich>
              </c:tx>
              <c:spPr>
                <a:noFill/>
                <a:ln>
                  <a:noFill/>
                </a:ln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3-DF12-644A-96B5-700501AA1BC0}"/>
                </c:ext>
              </c:extLst>
            </c:dLbl>
            <c:dLbl>
              <c:idx val="2"/>
              <c:tx>
                <c:rich>
                  <a:bodyPr wrap="none" anchor="ctr"/>
                  <a:lstStyle/>
                  <a:p>
                    <a:pPr>
                      <a:defRPr sz="1050" b="1" i="0" u="none" strike="noStrike">
                        <a:solidFill>
                          <a:srgbClr val="002060"/>
                        </a:solidFill>
                        <a:latin typeface="Calibri"/>
                      </a:defRPr>
                    </a:pPr>
                    <a:r>
                      <a:rPr lang="en-US" sz="1050" b="1" i="0" u="none" strike="noStrike">
                        <a:solidFill>
                          <a:srgbClr val="002060"/>
                        </a:solidFill>
                        <a:latin typeface="Calibri"/>
                      </a:rPr>
                      <a:t>696</a:t>
                    </a:r>
                  </a:p>
                </c:rich>
              </c:tx>
              <c:spPr>
                <a:noFill/>
                <a:ln>
                  <a:noFill/>
                </a:ln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5-DF12-644A-96B5-700501AA1BC0}"/>
                </c:ext>
              </c:extLst>
            </c:dLbl>
            <c:dLbl>
              <c:idx val="3"/>
              <c:tx>
                <c:rich>
                  <a:bodyPr wrap="none" anchor="ctr"/>
                  <a:lstStyle/>
                  <a:p>
                    <a:pPr>
                      <a:defRPr sz="1050" b="1" i="0" u="none" strike="noStrike">
                        <a:solidFill>
                          <a:srgbClr val="002060"/>
                        </a:solidFill>
                        <a:latin typeface="Calibri"/>
                      </a:defRPr>
                    </a:pPr>
                    <a:r>
                      <a:rPr lang="en-US" sz="1050" b="1" i="0" u="none" strike="noStrike">
                        <a:solidFill>
                          <a:srgbClr val="002060"/>
                        </a:solidFill>
                        <a:latin typeface="Calibri"/>
                      </a:rPr>
                      <a:t>677</a:t>
                    </a:r>
                  </a:p>
                </c:rich>
              </c:tx>
              <c:spPr>
                <a:noFill/>
                <a:ln>
                  <a:noFill/>
                </a:ln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7-DF12-644A-96B5-700501AA1BC0}"/>
                </c:ext>
              </c:extLst>
            </c:dLbl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50" b="1" i="0" u="none" strike="noStrike">
                    <a:solidFill>
                      <a:srgbClr val="002060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Q1 2012</c:v>
                </c:pt>
                <c:pt idx="1">
                  <c:v>2022 peak</c:v>
                </c:pt>
                <c:pt idx="2">
                  <c:v>2025</c:v>
                </c:pt>
                <c:pt idx="3">
                  <c:v>Q2 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340</c:v>
                </c:pt>
                <c:pt idx="1">
                  <c:v>807</c:v>
                </c:pt>
                <c:pt idx="2">
                  <c:v>696</c:v>
                </c:pt>
                <c:pt idx="3">
                  <c:v>677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DF12-644A-96B5-700501AA1BC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9525" cap="flat">
            <a:solidFill>
              <a:srgbClr val="000000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0343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950"/>
        </c:scaling>
        <c:delete val="1"/>
        <c:axPos val="l"/>
        <c:numFmt formatCode="General" sourceLinked="0"/>
        <c:majorTickMark val="none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Net interest income</c:v>
                </c:pt>
              </c:strCache>
            </c:strRef>
          </c:tx>
          <c:spPr>
            <a:solidFill>
              <a:srgbClr val="002060"/>
            </a:solidFill>
            <a:effectLst/>
          </c:spPr>
          <c:invertIfNegative val="0"/>
          <c:dLbls>
            <c:dLbl>
              <c:idx val="0"/>
              <c:tx>
                <c:rich>
                  <a:bodyPr wrap="none" anchor="ctr"/>
                  <a:lstStyle/>
                  <a:p>
                    <a:pPr>
                      <a:defRPr sz="900" b="1" i="0" u="none" strike="noStrike">
                        <a:solidFill>
                          <a:srgbClr val="30343B"/>
                        </a:solidFill>
                        <a:latin typeface="Calibri"/>
                      </a:defRPr>
                    </a:pPr>
                    <a:r>
                      <a:rPr lang="en-US" sz="900" b="1" i="0" u="none" strike="noStrike">
                        <a:solidFill>
                          <a:srgbClr val="30343B"/>
                        </a:solidFill>
                        <a:latin typeface="Calibri"/>
                      </a:rPr>
                      <a:t>2.7</a:t>
                    </a:r>
                  </a:p>
                </c:rich>
              </c:tx>
              <c:spPr>
                <a:noFill/>
                <a:ln>
                  <a:noFill/>
                </a:ln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0-9C56-5D43-989B-CA4167308332}"/>
                </c:ext>
              </c:extLst>
            </c:dLbl>
            <c:dLbl>
              <c:idx val="1"/>
              <c:tx>
                <c:rich>
                  <a:bodyPr wrap="none" anchor="ctr"/>
                  <a:lstStyle/>
                  <a:p>
                    <a:pPr>
                      <a:defRPr sz="900" b="1" i="0" u="none" strike="noStrike">
                        <a:solidFill>
                          <a:srgbClr val="30343B"/>
                        </a:solidFill>
                        <a:latin typeface="Calibri"/>
                      </a:defRPr>
                    </a:pPr>
                    <a:r>
                      <a:rPr lang="en-US" sz="900" b="1" i="0" u="none" strike="noStrike">
                        <a:solidFill>
                          <a:srgbClr val="30343B"/>
                        </a:solidFill>
                        <a:latin typeface="Calibri"/>
                      </a:rPr>
                      <a:t>5.9</a:t>
                    </a:r>
                  </a:p>
                </c:rich>
              </c:tx>
              <c:spPr>
                <a:noFill/>
                <a:ln>
                  <a:noFill/>
                </a:ln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1-9C56-5D43-989B-CA4167308332}"/>
                </c:ext>
              </c:extLst>
            </c:dLbl>
            <c:dLbl>
              <c:idx val="2"/>
              <c:tx>
                <c:rich>
                  <a:bodyPr wrap="none" anchor="ctr"/>
                  <a:lstStyle/>
                  <a:p>
                    <a:pPr>
                      <a:defRPr sz="900" b="1" i="0" u="none" strike="noStrike">
                        <a:solidFill>
                          <a:srgbClr val="30343B"/>
                        </a:solidFill>
                        <a:latin typeface="Calibri"/>
                      </a:defRPr>
                    </a:pPr>
                    <a:r>
                      <a:rPr lang="en-US" sz="900" b="1" i="0" u="none" strike="noStrike">
                        <a:solidFill>
                          <a:srgbClr val="30343B"/>
                        </a:solidFill>
                        <a:latin typeface="Calibri"/>
                      </a:rPr>
                      <a:t>11.6</a:t>
                    </a:r>
                  </a:p>
                </c:rich>
              </c:tx>
              <c:spPr>
                <a:noFill/>
                <a:ln>
                  <a:noFill/>
                </a:ln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2-9C56-5D43-989B-CA4167308332}"/>
                </c:ext>
              </c:extLst>
            </c:dLbl>
            <c:dLbl>
              <c:idx val="3"/>
              <c:tx>
                <c:rich>
                  <a:bodyPr wrap="none" anchor="ctr"/>
                  <a:lstStyle/>
                  <a:p>
                    <a:pPr>
                      <a:defRPr sz="900" b="1" i="0" u="none" strike="noStrike">
                        <a:solidFill>
                          <a:srgbClr val="30343B"/>
                        </a:solidFill>
                        <a:latin typeface="Calibri"/>
                      </a:defRPr>
                    </a:pPr>
                    <a:r>
                      <a:rPr lang="en-US" sz="900" b="1" i="0" u="none" strike="noStrike">
                        <a:solidFill>
                          <a:srgbClr val="30343B"/>
                        </a:solidFill>
                        <a:latin typeface="Calibri"/>
                      </a:rPr>
                      <a:t>18.7</a:t>
                    </a:r>
                  </a:p>
                </c:rich>
              </c:tx>
              <c:spPr>
                <a:noFill/>
                <a:ln>
                  <a:noFill/>
                </a:ln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3-9C56-5D43-989B-CA4167308332}"/>
                </c:ext>
              </c:extLst>
            </c:dLbl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 i="0" u="none" strike="noStrike">
                    <a:solidFill>
                      <a:srgbClr val="30343B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2.7</c:v>
                </c:pt>
                <c:pt idx="1">
                  <c:v>5.9</c:v>
                </c:pt>
                <c:pt idx="2">
                  <c:v>11.6</c:v>
                </c:pt>
                <c:pt idx="3">
                  <c:v>18.7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C56-5D43-989B-CA416730833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Credit costs</c:v>
                </c:pt>
              </c:strCache>
            </c:strRef>
          </c:tx>
          <c:spPr>
            <a:solidFill>
              <a:srgbClr val="E97132"/>
            </a:solidFill>
            <a:effectLst/>
          </c:spPr>
          <c:invertIfNegative val="0"/>
          <c:dLbls>
            <c:dLbl>
              <c:idx val="0"/>
              <c:tx>
                <c:rich>
                  <a:bodyPr wrap="none" anchor="ctr"/>
                  <a:lstStyle/>
                  <a:p>
                    <a:pPr>
                      <a:defRPr sz="900" b="1" i="0" u="none" strike="noStrike">
                        <a:solidFill>
                          <a:srgbClr val="30343B"/>
                        </a:solidFill>
                        <a:latin typeface="Calibri"/>
                      </a:defRPr>
                    </a:pPr>
                    <a:r>
                      <a:rPr lang="en-US" sz="900" b="1" i="0" u="none" strike="noStrike">
                        <a:solidFill>
                          <a:srgbClr val="30343B"/>
                        </a:solidFill>
                        <a:latin typeface="Calibri"/>
                      </a:rPr>
                      <a:t>2.7</a:t>
                    </a:r>
                  </a:p>
                </c:rich>
              </c:tx>
              <c:spPr>
                <a:noFill/>
                <a:ln>
                  <a:noFill/>
                </a:ln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5-9C56-5D43-989B-CA4167308332}"/>
                </c:ext>
              </c:extLst>
            </c:dLbl>
            <c:dLbl>
              <c:idx val="1"/>
              <c:tx>
                <c:rich>
                  <a:bodyPr wrap="none" anchor="ctr"/>
                  <a:lstStyle/>
                  <a:p>
                    <a:pPr>
                      <a:defRPr sz="900" b="1" i="0" u="none" strike="noStrike">
                        <a:solidFill>
                          <a:srgbClr val="30343B"/>
                        </a:solidFill>
                        <a:latin typeface="Calibri"/>
                      </a:defRPr>
                    </a:pPr>
                    <a:r>
                      <a:rPr lang="en-US" sz="900" b="1" i="0" u="none" strike="noStrike">
                        <a:solidFill>
                          <a:srgbClr val="30343B"/>
                        </a:solidFill>
                        <a:latin typeface="Calibri"/>
                      </a:rPr>
                      <a:t>7.4</a:t>
                    </a:r>
                  </a:p>
                </c:rich>
              </c:tx>
              <c:spPr>
                <a:noFill/>
                <a:ln>
                  <a:noFill/>
                </a:ln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6-9C56-5D43-989B-CA4167308332}"/>
                </c:ext>
              </c:extLst>
            </c:dLbl>
            <c:dLbl>
              <c:idx val="2"/>
              <c:tx>
                <c:rich>
                  <a:bodyPr wrap="none" anchor="ctr"/>
                  <a:lstStyle/>
                  <a:p>
                    <a:pPr>
                      <a:defRPr sz="900" b="1" i="0" u="none" strike="noStrike">
                        <a:solidFill>
                          <a:srgbClr val="30343B"/>
                        </a:solidFill>
                        <a:latin typeface="Calibri"/>
                      </a:defRPr>
                    </a:pPr>
                    <a:r>
                      <a:rPr lang="en-US" sz="900" b="1" i="0" u="none" strike="noStrike">
                        <a:solidFill>
                          <a:srgbClr val="30343B"/>
                        </a:solidFill>
                        <a:latin typeface="Calibri"/>
                      </a:rPr>
                      <a:t>10.2</a:t>
                    </a:r>
                  </a:p>
                </c:rich>
              </c:tx>
              <c:spPr>
                <a:noFill/>
                <a:ln>
                  <a:noFill/>
                </a:ln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7-9C56-5D43-989B-CA4167308332}"/>
                </c:ext>
              </c:extLst>
            </c:dLbl>
            <c:dLbl>
              <c:idx val="3"/>
              <c:tx>
                <c:rich>
                  <a:bodyPr wrap="none" anchor="ctr"/>
                  <a:lstStyle/>
                  <a:p>
                    <a:pPr>
                      <a:defRPr sz="900" b="1" i="0" u="none" strike="noStrike">
                        <a:solidFill>
                          <a:srgbClr val="30343B"/>
                        </a:solidFill>
                        <a:latin typeface="Calibri"/>
                      </a:defRPr>
                    </a:pPr>
                    <a:r>
                      <a:rPr lang="en-US" sz="900" b="1" i="0" u="none" strike="noStrike">
                        <a:solidFill>
                          <a:srgbClr val="30343B"/>
                        </a:solidFill>
                        <a:latin typeface="Calibri"/>
                      </a:rPr>
                      <a:t>15.9</a:t>
                    </a:r>
                  </a:p>
                </c:rich>
              </c:tx>
              <c:spPr>
                <a:noFill/>
                <a:ln>
                  <a:noFill/>
                </a:ln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8-9C56-5D43-989B-CA4167308332}"/>
                </c:ext>
              </c:extLst>
            </c:dLbl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 i="0" u="none" strike="noStrike">
                    <a:solidFill>
                      <a:srgbClr val="30343B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2.7</c:v>
                </c:pt>
                <c:pt idx="1">
                  <c:v>7.4</c:v>
                </c:pt>
                <c:pt idx="2">
                  <c:v>10.199999999999999</c:v>
                </c:pt>
                <c:pt idx="3">
                  <c:v>15.9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9C56-5D43-989B-CA416730833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9525" cap="flat">
            <a:solidFill>
              <a:srgbClr val="000000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0343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2"/>
        </c:scaling>
        <c:delete val="1"/>
        <c:axPos val="l"/>
        <c:numFmt formatCode="General" sourceLinked="0"/>
        <c:majorTickMark val="none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>
              <a:solidFill>
                <a:srgbClr val="30343B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Banks</c:v>
                </c:pt>
              </c:strCache>
            </c:strRef>
          </c:tx>
          <c:spPr>
            <a:solidFill>
              <a:srgbClr val="002060"/>
            </a:solidFill>
            <a:effectLst/>
          </c:spPr>
          <c:invertIfNegative val="0"/>
          <c:dLbls>
            <c:dLbl>
              <c:idx val="0"/>
              <c:tx>
                <c:rich>
                  <a:bodyPr wrap="none" anchor="ctr"/>
                  <a:lstStyle/>
                  <a:p>
                    <a:pPr>
                      <a:defRPr sz="1050" b="1" i="0" u="none" strike="noStrike">
                        <a:solidFill>
                          <a:srgbClr val="FFFFFF"/>
                        </a:solidFill>
                        <a:latin typeface="Calibri"/>
                      </a:defRPr>
                    </a:pPr>
                    <a:r>
                      <a:rPr lang="en-US" sz="1050" b="1" i="0" u="none" strike="noStrike">
                        <a:solidFill>
                          <a:srgbClr val="FFFFFF"/>
                        </a:solidFill>
                        <a:latin typeface="Calibri"/>
                      </a:rPr>
                      <a:t>45.0</a:t>
                    </a:r>
                  </a:p>
                </c:rich>
              </c:tx>
              <c:spPr>
                <a:noFill/>
                <a:ln>
                  <a:noFill/>
                </a:ln>
              </c:sp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0-0E64-6B4C-8610-561C2C404C13}"/>
                </c:ext>
              </c:extLst>
            </c:dLbl>
            <c:dLbl>
              <c:idx val="1"/>
              <c:tx>
                <c:rich>
                  <a:bodyPr wrap="none" anchor="ctr"/>
                  <a:lstStyle/>
                  <a:p>
                    <a:pPr>
                      <a:defRPr sz="1050" b="1" i="0" u="none" strike="noStrike">
                        <a:solidFill>
                          <a:srgbClr val="FFFFFF"/>
                        </a:solidFill>
                        <a:latin typeface="Calibri"/>
                      </a:defRPr>
                    </a:pPr>
                    <a:r>
                      <a:rPr lang="en-US" sz="1050" b="1" i="0" u="none" strike="noStrike">
                        <a:solidFill>
                          <a:srgbClr val="FFFFFF"/>
                        </a:solidFill>
                        <a:latin typeface="Calibri"/>
                      </a:rPr>
                      <a:t>38.7</a:t>
                    </a:r>
                  </a:p>
                </c:rich>
              </c:tx>
              <c:spPr>
                <a:noFill/>
                <a:ln>
                  <a:noFill/>
                </a:ln>
              </c:sp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1-0E64-6B4C-8610-561C2C404C13}"/>
                </c:ext>
              </c:extLst>
            </c:dLbl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50" b="1" i="0" u="none" strike="noStrike">
                    <a:solidFill>
                      <a:srgbClr val="FFFFFF"/>
                    </a:solidFill>
                    <a:latin typeface="Calibri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H2 2024</c:v>
                </c:pt>
                <c:pt idx="1">
                  <c:v>H1 2026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45</c:v>
                </c:pt>
                <c:pt idx="1">
                  <c:v>38.700000000000003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E64-6B4C-8610-561C2C404C1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Platforms</c:v>
                </c:pt>
              </c:strCache>
            </c:strRef>
          </c:tx>
          <c:spPr>
            <a:solidFill>
              <a:srgbClr val="E97132"/>
            </a:solidFill>
            <a:effectLst/>
          </c:spPr>
          <c:invertIfNegative val="0"/>
          <c:dLbls>
            <c:dLbl>
              <c:idx val="0"/>
              <c:tx>
                <c:rich>
                  <a:bodyPr wrap="none" anchor="ctr"/>
                  <a:lstStyle/>
                  <a:p>
                    <a:pPr>
                      <a:defRPr sz="1050" b="1" i="0" u="none" strike="noStrike">
                        <a:solidFill>
                          <a:srgbClr val="FFFFFF"/>
                        </a:solidFill>
                        <a:latin typeface="Calibri"/>
                      </a:defRPr>
                    </a:pPr>
                    <a:r>
                      <a:rPr lang="en-US" sz="1050" b="1" i="0" u="none" strike="noStrike">
                        <a:solidFill>
                          <a:srgbClr val="FFFFFF"/>
                        </a:solidFill>
                        <a:latin typeface="Calibri"/>
                      </a:rPr>
                      <a:t>34.7</a:t>
                    </a:r>
                  </a:p>
                </c:rich>
              </c:tx>
              <c:spPr>
                <a:noFill/>
                <a:ln>
                  <a:noFill/>
                </a:ln>
              </c:sp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3-0E64-6B4C-8610-561C2C404C13}"/>
                </c:ext>
              </c:extLst>
            </c:dLbl>
            <c:dLbl>
              <c:idx val="1"/>
              <c:tx>
                <c:rich>
                  <a:bodyPr wrap="none" anchor="ctr"/>
                  <a:lstStyle/>
                  <a:p>
                    <a:pPr>
                      <a:defRPr sz="1050" b="1" i="0" u="none" strike="noStrike">
                        <a:solidFill>
                          <a:srgbClr val="FFFFFF"/>
                        </a:solidFill>
                        <a:latin typeface="Calibri"/>
                      </a:defRPr>
                    </a:pPr>
                    <a:r>
                      <a:rPr lang="en-US" sz="1050" b="1" i="0" u="none" strike="noStrike">
                        <a:solidFill>
                          <a:srgbClr val="FFFFFF"/>
                        </a:solidFill>
                        <a:latin typeface="Calibri"/>
                      </a:rPr>
                      <a:t>39.2</a:t>
                    </a:r>
                  </a:p>
                </c:rich>
              </c:tx>
              <c:spPr>
                <a:noFill/>
                <a:ln>
                  <a:noFill/>
                </a:ln>
              </c:sp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4-0E64-6B4C-8610-561C2C404C13}"/>
                </c:ext>
              </c:extLst>
            </c:dLbl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50" b="1" i="0" u="none" strike="noStrike">
                    <a:solidFill>
                      <a:srgbClr val="FFFFFF"/>
                    </a:solidFill>
                    <a:latin typeface="Calibri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H2 2024</c:v>
                </c:pt>
                <c:pt idx="1">
                  <c:v>H1 2026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34.700000000000003</c:v>
                </c:pt>
                <c:pt idx="1">
                  <c:v>39.200000000000003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0E64-6B4C-8610-561C2C404C1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Brokers</c:v>
                </c:pt>
              </c:strCache>
            </c:strRef>
          </c:tx>
          <c:spPr>
            <a:solidFill>
              <a:srgbClr val="A5A5A5"/>
            </a:solidFill>
            <a:effectLst/>
          </c:spPr>
          <c:invertIfNegative val="0"/>
          <c:dLbls>
            <c:dLbl>
              <c:idx val="0"/>
              <c:tx>
                <c:rich>
                  <a:bodyPr wrap="none" anchor="ctr"/>
                  <a:lstStyle/>
                  <a:p>
                    <a:pPr>
                      <a:defRPr sz="1050" b="1" i="0" u="none" strike="noStrike">
                        <a:solidFill>
                          <a:srgbClr val="FFFFFF"/>
                        </a:solidFill>
                        <a:latin typeface="Calibri"/>
                      </a:defRPr>
                    </a:pPr>
                    <a:r>
                      <a:rPr lang="en-US" sz="1050" b="1" i="0" u="none" strike="noStrike">
                        <a:solidFill>
                          <a:srgbClr val="FFFFFF"/>
                        </a:solidFill>
                        <a:latin typeface="Calibri"/>
                      </a:rPr>
                      <a:t>20.3</a:t>
                    </a:r>
                  </a:p>
                </c:rich>
              </c:tx>
              <c:spPr>
                <a:noFill/>
                <a:ln>
                  <a:noFill/>
                </a:ln>
              </c:sp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6-0E64-6B4C-8610-561C2C404C13}"/>
                </c:ext>
              </c:extLst>
            </c:dLbl>
            <c:dLbl>
              <c:idx val="1"/>
              <c:tx>
                <c:rich>
                  <a:bodyPr wrap="none" anchor="ctr"/>
                  <a:lstStyle/>
                  <a:p>
                    <a:pPr>
                      <a:defRPr sz="1050" b="1" i="0" u="none" strike="noStrike">
                        <a:solidFill>
                          <a:srgbClr val="FFFFFF"/>
                        </a:solidFill>
                        <a:latin typeface="Calibri"/>
                      </a:defRPr>
                    </a:pPr>
                    <a:r>
                      <a:rPr lang="en-US" sz="1050" b="1" i="0" u="none" strike="noStrike">
                        <a:solidFill>
                          <a:srgbClr val="FFFFFF"/>
                        </a:solidFill>
                        <a:latin typeface="Calibri"/>
                      </a:rPr>
                      <a:t>22.1</a:t>
                    </a:r>
                  </a:p>
                </c:rich>
              </c:tx>
              <c:spPr>
                <a:noFill/>
                <a:ln>
                  <a:noFill/>
                </a:ln>
              </c:sp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7-0E64-6B4C-8610-561C2C404C13}"/>
                </c:ext>
              </c:extLst>
            </c:dLbl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50" b="1" i="0" u="none" strike="noStrike">
                    <a:solidFill>
                      <a:srgbClr val="FFFFFF"/>
                    </a:solidFill>
                    <a:latin typeface="Calibri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H2 2024</c:v>
                </c:pt>
                <c:pt idx="1">
                  <c:v>H1 2026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20.3</c:v>
                </c:pt>
                <c:pt idx="1">
                  <c:v>22.1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0E64-6B4C-8610-561C2C404C13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45"/>
        <c:overlap val="10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9525" cap="flat">
            <a:solidFill>
              <a:srgbClr val="000000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0343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</c:scaling>
        <c:delete val="1"/>
        <c:axPos val="t"/>
        <c:numFmt formatCode="General" sourceLinked="0"/>
        <c:majorTickMark val="none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50">
              <a:solidFill>
                <a:srgbClr val="30343B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1"/>
          <c:y val="0.08"/>
          <c:w val="0.86"/>
          <c:h val="0.7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Ant Fund</c:v>
                </c:pt>
              </c:strCache>
            </c:strRef>
          </c:tx>
          <c:spPr>
            <a:ln w="28575" cap="flat">
              <a:solidFill>
                <a:srgbClr val="E97132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97132"/>
              </a:solidFill>
              <a:ln w="9525" cap="flat">
                <a:solidFill>
                  <a:srgbClr val="E97132"/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H1 2024</c:v>
                </c:pt>
                <c:pt idx="1">
                  <c:v>H2 2024</c:v>
                </c:pt>
                <c:pt idx="2">
                  <c:v>H1 2025</c:v>
                </c:pt>
                <c:pt idx="3">
                  <c:v>H1 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1.35</c:v>
                </c:pt>
                <c:pt idx="1">
                  <c:v>1.45</c:v>
                </c:pt>
                <c:pt idx="2">
                  <c:v>1.57</c:v>
                </c:pt>
                <c:pt idx="3">
                  <c:v>2.21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26B-3F47-B2DF-B52609978E7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CMB</c:v>
                </c:pt>
              </c:strCache>
            </c:strRef>
          </c:tx>
          <c:spPr>
            <a:ln w="28575" cap="flat">
              <a:solidFill>
                <a:srgbClr val="00206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2060"/>
              </a:solidFill>
              <a:ln w="9525" cap="flat">
                <a:solidFill>
                  <a:srgbClr val="002060"/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H1 2024</c:v>
                </c:pt>
                <c:pt idx="1">
                  <c:v>H2 2024</c:v>
                </c:pt>
                <c:pt idx="2">
                  <c:v>H1 2025</c:v>
                </c:pt>
                <c:pt idx="3">
                  <c:v>H1 2026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0.86</c:v>
                </c:pt>
                <c:pt idx="1">
                  <c:v>0.95</c:v>
                </c:pt>
                <c:pt idx="2">
                  <c:v>1.04</c:v>
                </c:pt>
                <c:pt idx="3">
                  <c:v>1.58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26B-3F47-B2DF-B52609978E7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9525" cap="flat">
            <a:solidFill>
              <a:srgbClr val="000000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0343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.5"/>
          <c:min val="0.5"/>
        </c:scaling>
        <c:delete val="1"/>
        <c:axPos val="l"/>
        <c:numFmt formatCode="General" sourceLinked="0"/>
        <c:majorTickMark val="none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WMP</c:v>
                </c:pt>
              </c:strCache>
            </c:strRef>
          </c:tx>
          <c:spPr>
            <a:solidFill>
              <a:srgbClr val="002060"/>
            </a:solidFill>
            <a:effectLst/>
          </c:spPr>
          <c:invertIfNegative val="0"/>
          <c:dLbls>
            <c:dLbl>
              <c:idx val="0"/>
              <c:tx>
                <c:rich>
                  <a:bodyPr wrap="none" anchor="ctr"/>
                  <a:lstStyle/>
                  <a:p>
                    <a:pPr>
                      <a:defRPr sz="950" b="1" i="0" u="none" strike="noStrike">
                        <a:solidFill>
                          <a:srgbClr val="002060"/>
                        </a:solidFill>
                        <a:latin typeface="Calibri"/>
                      </a:defRPr>
                    </a:pPr>
                    <a:r>
                      <a:rPr lang="en-US" sz="950" b="1" i="0" u="none" strike="noStrike">
                        <a:solidFill>
                          <a:srgbClr val="002060"/>
                        </a:solidFill>
                        <a:latin typeface="Calibri"/>
                      </a:rPr>
                      <a:t>23.5</a:t>
                    </a:r>
                  </a:p>
                </c:rich>
              </c:tx>
              <c:spPr>
                <a:noFill/>
                <a:ln>
                  <a:noFill/>
                </a:ln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0-BB6E-5B48-B7BD-6CC25936D2E0}"/>
                </c:ext>
              </c:extLst>
            </c:dLbl>
            <c:dLbl>
              <c:idx val="1"/>
              <c:tx>
                <c:rich>
                  <a:bodyPr wrap="none" anchor="ctr"/>
                  <a:lstStyle/>
                  <a:p>
                    <a:pPr>
                      <a:defRPr sz="950" b="1" i="0" u="none" strike="noStrike">
                        <a:solidFill>
                          <a:srgbClr val="002060"/>
                        </a:solidFill>
                        <a:latin typeface="Calibri"/>
                      </a:defRPr>
                    </a:pPr>
                    <a:r>
                      <a:rPr lang="en-US" sz="950" b="1" i="0" u="none" strike="noStrike">
                        <a:solidFill>
                          <a:srgbClr val="002060"/>
                        </a:solidFill>
                        <a:latin typeface="Calibri"/>
                      </a:rPr>
                      <a:t>29.1</a:t>
                    </a:r>
                  </a:p>
                </c:rich>
              </c:tx>
              <c:spPr>
                <a:noFill/>
                <a:ln>
                  <a:noFill/>
                </a:ln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1-BB6E-5B48-B7BD-6CC25936D2E0}"/>
                </c:ext>
              </c:extLst>
            </c:dLbl>
            <c:dLbl>
              <c:idx val="2"/>
              <c:tx>
                <c:rich>
                  <a:bodyPr wrap="none" anchor="ctr"/>
                  <a:lstStyle/>
                  <a:p>
                    <a:pPr>
                      <a:defRPr sz="950" b="1" i="0" u="none" strike="noStrike">
                        <a:solidFill>
                          <a:srgbClr val="002060"/>
                        </a:solidFill>
                        <a:latin typeface="Calibri"/>
                      </a:defRPr>
                    </a:pPr>
                    <a:r>
                      <a:rPr lang="en-US" sz="950" b="1" i="0" u="none" strike="noStrike">
                        <a:solidFill>
                          <a:srgbClr val="002060"/>
                        </a:solidFill>
                        <a:latin typeface="Calibri"/>
                      </a:rPr>
                      <a:t>22.0</a:t>
                    </a:r>
                  </a:p>
                </c:rich>
              </c:tx>
              <c:spPr>
                <a:noFill/>
                <a:ln>
                  <a:noFill/>
                </a:ln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2-BB6E-5B48-B7BD-6CC25936D2E0}"/>
                </c:ext>
              </c:extLst>
            </c:dLbl>
            <c:dLbl>
              <c:idx val="3"/>
              <c:tx>
                <c:rich>
                  <a:bodyPr wrap="none" anchor="ctr"/>
                  <a:lstStyle/>
                  <a:p>
                    <a:pPr>
                      <a:defRPr sz="950" b="1" i="0" u="none" strike="noStrike">
                        <a:solidFill>
                          <a:srgbClr val="002060"/>
                        </a:solidFill>
                        <a:latin typeface="Calibri"/>
                      </a:defRPr>
                    </a:pPr>
                    <a:r>
                      <a:rPr lang="en-US" sz="950" b="1" i="0" u="none" strike="noStrike">
                        <a:solidFill>
                          <a:srgbClr val="002060"/>
                        </a:solidFill>
                        <a:latin typeface="Calibri"/>
                      </a:rPr>
                      <a:t>23.4</a:t>
                    </a:r>
                  </a:p>
                </c:rich>
              </c:tx>
              <c:spPr>
                <a:noFill/>
                <a:ln>
                  <a:noFill/>
                </a:ln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3-BB6E-5B48-B7BD-6CC25936D2E0}"/>
                </c:ext>
              </c:extLst>
            </c:dLbl>
            <c:dLbl>
              <c:idx val="4"/>
              <c:tx>
                <c:rich>
                  <a:bodyPr wrap="none" anchor="ctr"/>
                  <a:lstStyle/>
                  <a:p>
                    <a:pPr>
                      <a:defRPr sz="950" b="1" i="0" u="none" strike="noStrike">
                        <a:solidFill>
                          <a:srgbClr val="002060"/>
                        </a:solidFill>
                        <a:latin typeface="Calibri"/>
                      </a:defRPr>
                    </a:pPr>
                    <a:r>
                      <a:rPr lang="en-US" sz="950" b="1" i="0" u="none" strike="noStrike">
                        <a:solidFill>
                          <a:srgbClr val="002060"/>
                        </a:solidFill>
                        <a:latin typeface="Calibri"/>
                      </a:rPr>
                      <a:t>25.9</a:t>
                    </a:r>
                  </a:p>
                </c:rich>
              </c:tx>
              <c:spPr>
                <a:noFill/>
                <a:ln>
                  <a:noFill/>
                </a:ln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4-BB6E-5B48-B7BD-6CC25936D2E0}"/>
                </c:ext>
              </c:extLst>
            </c:dLbl>
            <c:dLbl>
              <c:idx val="5"/>
              <c:tx>
                <c:rich>
                  <a:bodyPr wrap="none" anchor="ctr"/>
                  <a:lstStyle/>
                  <a:p>
                    <a:pPr>
                      <a:defRPr sz="950" b="1" i="0" u="none" strike="noStrike">
                        <a:solidFill>
                          <a:srgbClr val="002060"/>
                        </a:solidFill>
                        <a:latin typeface="Calibri"/>
                      </a:defRPr>
                    </a:pPr>
                    <a:r>
                      <a:rPr lang="en-US" sz="950" b="1" i="0" u="none" strike="noStrike">
                        <a:solidFill>
                          <a:srgbClr val="002060"/>
                        </a:solidFill>
                        <a:latin typeface="Calibri"/>
                      </a:rPr>
                      <a:t>29.0</a:t>
                    </a:r>
                  </a:p>
                </c:rich>
              </c:tx>
              <c:spPr>
                <a:noFill/>
                <a:ln>
                  <a:noFill/>
                </a:ln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5-BB6E-5B48-B7BD-6CC25936D2E0}"/>
                </c:ext>
              </c:extLst>
            </c:dLbl>
            <c:dLbl>
              <c:idx val="6"/>
              <c:tx>
                <c:rich>
                  <a:bodyPr wrap="none" anchor="ctr"/>
                  <a:lstStyle/>
                  <a:p>
                    <a:pPr>
                      <a:defRPr sz="950" b="1" i="0" u="none" strike="noStrike">
                        <a:solidFill>
                          <a:srgbClr val="002060"/>
                        </a:solidFill>
                        <a:latin typeface="Calibri"/>
                      </a:defRPr>
                    </a:pPr>
                    <a:r>
                      <a:rPr lang="en-US" sz="950" b="1" i="0" u="none" strike="noStrike">
                        <a:solidFill>
                          <a:srgbClr val="002060"/>
                        </a:solidFill>
                        <a:latin typeface="Calibri"/>
                      </a:rPr>
                      <a:t>26.8</a:t>
                    </a:r>
                  </a:p>
                </c:rich>
              </c:tx>
              <c:spPr>
                <a:noFill/>
                <a:ln>
                  <a:noFill/>
                </a:ln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6-BB6E-5B48-B7BD-6CC25936D2E0}"/>
                </c:ext>
              </c:extLst>
            </c:dLbl>
            <c:dLbl>
              <c:idx val="7"/>
              <c:tx>
                <c:rich>
                  <a:bodyPr wrap="none" anchor="ctr"/>
                  <a:lstStyle/>
                  <a:p>
                    <a:pPr>
                      <a:defRPr sz="950" b="1" i="0" u="none" strike="noStrike">
                        <a:solidFill>
                          <a:srgbClr val="002060"/>
                        </a:solidFill>
                        <a:latin typeface="Calibri"/>
                      </a:defRPr>
                    </a:pPr>
                    <a:r>
                      <a:rPr lang="en-US" sz="950" b="1" i="0" u="none" strike="noStrike">
                        <a:solidFill>
                          <a:srgbClr val="002060"/>
                        </a:solidFill>
                        <a:latin typeface="Calibri"/>
                      </a:rPr>
                      <a:t>29.9</a:t>
                    </a:r>
                  </a:p>
                </c:rich>
              </c:tx>
              <c:spPr>
                <a:noFill/>
                <a:ln>
                  <a:noFill/>
                </a:ln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7-BB6E-5B48-B7BD-6CC25936D2E0}"/>
                </c:ext>
              </c:extLst>
            </c:dLbl>
            <c:dLbl>
              <c:idx val="8"/>
              <c:tx>
                <c:rich>
                  <a:bodyPr wrap="none" anchor="ctr"/>
                  <a:lstStyle/>
                  <a:p>
                    <a:pPr>
                      <a:defRPr sz="950" b="1" i="0" u="none" strike="noStrike">
                        <a:solidFill>
                          <a:srgbClr val="002060"/>
                        </a:solidFill>
                        <a:latin typeface="Calibri"/>
                      </a:defRPr>
                    </a:pPr>
                    <a:r>
                      <a:rPr lang="en-US" sz="950" b="1" i="0" u="none" strike="noStrike">
                        <a:solidFill>
                          <a:srgbClr val="002060"/>
                        </a:solidFill>
                        <a:latin typeface="Calibri"/>
                      </a:rPr>
                      <a:t>33.3</a:t>
                    </a:r>
                  </a:p>
                </c:rich>
              </c:tx>
              <c:spPr>
                <a:noFill/>
                <a:ln>
                  <a:noFill/>
                </a:ln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8-BB6E-5B48-B7BD-6CC25936D2E0}"/>
                </c:ext>
              </c:extLst>
            </c:dLbl>
            <c:dLbl>
              <c:idx val="9"/>
              <c:tx>
                <c:rich>
                  <a:bodyPr wrap="none" anchor="ctr"/>
                  <a:lstStyle/>
                  <a:p>
                    <a:pPr>
                      <a:defRPr sz="950" b="1" i="0" u="none" strike="noStrike">
                        <a:solidFill>
                          <a:srgbClr val="002060"/>
                        </a:solidFill>
                        <a:latin typeface="Calibri"/>
                      </a:defRPr>
                    </a:pPr>
                    <a:r>
                      <a:rPr lang="en-US" sz="950" b="1" i="0" u="none" strike="noStrike">
                        <a:solidFill>
                          <a:srgbClr val="002060"/>
                        </a:solidFill>
                        <a:latin typeface="Calibri"/>
                      </a:rPr>
                      <a:t>33.7</a:t>
                    </a:r>
                  </a:p>
                </c:rich>
              </c:tx>
              <c:spPr>
                <a:noFill/>
                <a:ln>
                  <a:noFill/>
                </a:ln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9-BB6E-5B48-B7BD-6CC25936D2E0}"/>
                </c:ext>
              </c:extLst>
            </c:dLbl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50" b="1" i="0" u="none" strike="noStrike">
                    <a:solidFill>
                      <a:srgbClr val="002060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2015</c:v>
                </c:pt>
                <c:pt idx="1">
                  <c:v>2016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Jun 26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23.5</c:v>
                </c:pt>
                <c:pt idx="1">
                  <c:v>29.05</c:v>
                </c:pt>
                <c:pt idx="2">
                  <c:v>22.04</c:v>
                </c:pt>
                <c:pt idx="3">
                  <c:v>23.4</c:v>
                </c:pt>
                <c:pt idx="4">
                  <c:v>25.86</c:v>
                </c:pt>
                <c:pt idx="5">
                  <c:v>29</c:v>
                </c:pt>
                <c:pt idx="6">
                  <c:v>26.8</c:v>
                </c:pt>
                <c:pt idx="7">
                  <c:v>29.95</c:v>
                </c:pt>
                <c:pt idx="8">
                  <c:v>33.29</c:v>
                </c:pt>
                <c:pt idx="9">
                  <c:v>33.659999999999997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BB6E-5B48-B7BD-6CC25936D2E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9525" cap="flat">
            <a:solidFill>
              <a:srgbClr val="000000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0343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0"/>
        </c:scaling>
        <c:delete val="1"/>
        <c:axPos val="l"/>
        <c:numFmt formatCode="General" sourceLinked="0"/>
        <c:majorTickMark val="none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AUM</c:v>
                </c:pt>
              </c:strCache>
            </c:strRef>
          </c:tx>
          <c:spPr>
            <a:solidFill>
              <a:srgbClr val="F4B183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6CD8-5D4D-AB28-ED828C886ECA}"/>
              </c:ext>
            </c:extLst>
          </c:dPt>
          <c:dPt>
            <c:idx val="1"/>
            <c:invertIfNegative val="0"/>
            <c:bubble3D val="0"/>
            <c:spPr>
              <a:solidFill>
                <a:srgbClr val="E9713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CD8-5D4D-AB28-ED828C886ECA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6CD8-5D4D-AB28-ED828C886ECA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6CD8-5D4D-AB28-ED828C886ECA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6CD8-5D4D-AB28-ED828C886ECA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6CD8-5D4D-AB28-ED828C886ECA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D-6CD8-5D4D-AB28-ED828C886ECA}"/>
              </c:ext>
            </c:extLst>
          </c:dPt>
          <c:dLbls>
            <c:dLbl>
              <c:idx val="0"/>
              <c:tx>
                <c:rich>
                  <a:bodyPr wrap="none" anchor="ctr"/>
                  <a:lstStyle/>
                  <a:p>
                    <a:pPr>
                      <a:defRPr sz="900" b="1" i="0" u="none" strike="noStrike">
                        <a:solidFill>
                          <a:srgbClr val="30343B"/>
                        </a:solidFill>
                        <a:latin typeface="Calibri"/>
                      </a:defRPr>
                    </a:pPr>
                    <a:r>
                      <a:rPr lang="en-US" sz="900" b="1" i="0" u="none" strike="noStrike">
                        <a:solidFill>
                          <a:srgbClr val="30343B"/>
                        </a:solidFill>
                        <a:latin typeface="Calibri"/>
                      </a:rPr>
                      <a:t>574</a:t>
                    </a:r>
                  </a:p>
                </c:rich>
              </c:tx>
              <c:spPr>
                <a:noFill/>
                <a:ln>
                  <a:noFill/>
                </a:ln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1-6CD8-5D4D-AB28-ED828C886ECA}"/>
                </c:ext>
              </c:extLst>
            </c:dLbl>
            <c:dLbl>
              <c:idx val="1"/>
              <c:tx>
                <c:rich>
                  <a:bodyPr wrap="none" anchor="ctr"/>
                  <a:lstStyle/>
                  <a:p>
                    <a:pPr>
                      <a:defRPr sz="900" b="1" i="0" u="none" strike="noStrike">
                        <a:solidFill>
                          <a:srgbClr val="30343B"/>
                        </a:solidFill>
                        <a:latin typeface="Calibri"/>
                      </a:defRPr>
                    </a:pPr>
                    <a:r>
                      <a:rPr lang="en-US" sz="900" b="1" i="0" u="none" strike="noStrike">
                        <a:solidFill>
                          <a:srgbClr val="30343B"/>
                        </a:solidFill>
                        <a:latin typeface="Calibri"/>
                      </a:rPr>
                      <a:t>1,689</a:t>
                    </a:r>
                  </a:p>
                </c:rich>
              </c:tx>
              <c:spPr>
                <a:noFill/>
                <a:ln>
                  <a:noFill/>
                </a:ln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3-6CD8-5D4D-AB28-ED828C886ECA}"/>
                </c:ext>
              </c:extLst>
            </c:dLbl>
            <c:dLbl>
              <c:idx val="2"/>
              <c:tx>
                <c:rich>
                  <a:bodyPr wrap="none" anchor="ctr"/>
                  <a:lstStyle/>
                  <a:p>
                    <a:pPr>
                      <a:defRPr sz="900" b="1" i="0" u="none" strike="noStrike">
                        <a:solidFill>
                          <a:srgbClr val="30343B"/>
                        </a:solidFill>
                        <a:latin typeface="Calibri"/>
                      </a:defRPr>
                    </a:pPr>
                    <a:r>
                      <a:rPr lang="en-US" sz="900" b="1" i="0" u="none" strike="noStrike">
                        <a:solidFill>
                          <a:srgbClr val="30343B"/>
                        </a:solidFill>
                        <a:latin typeface="Calibri"/>
                      </a:rPr>
                      <a:t>1,030</a:t>
                    </a:r>
                  </a:p>
                </c:rich>
              </c:tx>
              <c:spPr>
                <a:noFill/>
                <a:ln>
                  <a:noFill/>
                </a:ln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5-6CD8-5D4D-AB28-ED828C886ECA}"/>
                </c:ext>
              </c:extLst>
            </c:dLbl>
            <c:dLbl>
              <c:idx val="3"/>
              <c:tx>
                <c:rich>
                  <a:bodyPr wrap="none" anchor="ctr"/>
                  <a:lstStyle/>
                  <a:p>
                    <a:pPr>
                      <a:defRPr sz="900" b="1" i="0" u="none" strike="noStrike">
                        <a:solidFill>
                          <a:srgbClr val="30343B"/>
                        </a:solidFill>
                        <a:latin typeface="Calibri"/>
                      </a:defRPr>
                    </a:pPr>
                    <a:r>
                      <a:rPr lang="en-US" sz="900" b="1" i="0" u="none" strike="noStrike">
                        <a:solidFill>
                          <a:srgbClr val="30343B"/>
                        </a:solidFill>
                        <a:latin typeface="Calibri"/>
                      </a:rPr>
                      <a:t>781</a:t>
                    </a:r>
                  </a:p>
                </c:rich>
              </c:tx>
              <c:spPr>
                <a:noFill/>
                <a:ln>
                  <a:noFill/>
                </a:ln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7-6CD8-5D4D-AB28-ED828C886ECA}"/>
                </c:ext>
              </c:extLst>
            </c:dLbl>
            <c:dLbl>
              <c:idx val="4"/>
              <c:tx>
                <c:rich>
                  <a:bodyPr wrap="none" anchor="ctr"/>
                  <a:lstStyle/>
                  <a:p>
                    <a:pPr>
                      <a:defRPr sz="900" b="1" i="0" u="none" strike="noStrike">
                        <a:solidFill>
                          <a:srgbClr val="30343B"/>
                        </a:solidFill>
                        <a:latin typeface="Calibri"/>
                      </a:defRPr>
                    </a:pPr>
                    <a:r>
                      <a:rPr lang="en-US" sz="900" b="1" i="0" u="none" strike="noStrike">
                        <a:solidFill>
                          <a:srgbClr val="30343B"/>
                        </a:solidFill>
                        <a:latin typeface="Calibri"/>
                      </a:rPr>
                      <a:t>675</a:t>
                    </a:r>
                  </a:p>
                </c:rich>
              </c:tx>
              <c:spPr>
                <a:noFill/>
                <a:ln>
                  <a:noFill/>
                </a:ln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9-6CD8-5D4D-AB28-ED828C886ECA}"/>
                </c:ext>
              </c:extLst>
            </c:dLbl>
            <c:dLbl>
              <c:idx val="5"/>
              <c:tx>
                <c:rich>
                  <a:bodyPr wrap="none" anchor="ctr"/>
                  <a:lstStyle/>
                  <a:p>
                    <a:pPr>
                      <a:defRPr sz="900" b="1" i="0" u="none" strike="noStrike">
                        <a:solidFill>
                          <a:srgbClr val="30343B"/>
                        </a:solidFill>
                        <a:latin typeface="Calibri"/>
                      </a:defRPr>
                    </a:pPr>
                    <a:r>
                      <a:rPr lang="en-US" sz="900" b="1" i="0" u="none" strike="noStrike">
                        <a:solidFill>
                          <a:srgbClr val="30343B"/>
                        </a:solidFill>
                        <a:latin typeface="Calibri"/>
                      </a:rPr>
                      <a:t>793</a:t>
                    </a:r>
                  </a:p>
                </c:rich>
              </c:tx>
              <c:spPr>
                <a:noFill/>
                <a:ln>
                  <a:noFill/>
                </a:ln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B-6CD8-5D4D-AB28-ED828C886ECA}"/>
                </c:ext>
              </c:extLst>
            </c:dLbl>
            <c:dLbl>
              <c:idx val="6"/>
              <c:tx>
                <c:rich>
                  <a:bodyPr wrap="none" anchor="ctr"/>
                  <a:lstStyle/>
                  <a:p>
                    <a:pPr>
                      <a:defRPr sz="900" b="1" i="0" u="none" strike="noStrike">
                        <a:solidFill>
                          <a:srgbClr val="30343B"/>
                        </a:solidFill>
                        <a:latin typeface="Calibri"/>
                      </a:defRPr>
                    </a:pPr>
                    <a:r>
                      <a:rPr lang="en-US" sz="900" b="1" i="0" u="none" strike="noStrike">
                        <a:solidFill>
                          <a:srgbClr val="30343B"/>
                        </a:solidFill>
                        <a:latin typeface="Calibri"/>
                      </a:rPr>
                      <a:t>708</a:t>
                    </a:r>
                  </a:p>
                </c:rich>
              </c:tx>
              <c:spPr>
                <a:noFill/>
                <a:ln>
                  <a:noFill/>
                </a:ln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D-6CD8-5D4D-AB28-ED828C886ECA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 i="0" u="none" strike="noStrike">
                    <a:solidFill>
                      <a:srgbClr val="30343B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Jun 14</c:v>
                </c:pt>
                <c:pt idx="1">
                  <c:v>Mar 18</c:v>
                </c:pt>
                <c:pt idx="2">
                  <c:v>Jun 19</c:v>
                </c:pt>
                <c:pt idx="3">
                  <c:v>Jun 21</c:v>
                </c:pt>
                <c:pt idx="4">
                  <c:v>Jun 23</c:v>
                </c:pt>
                <c:pt idx="5">
                  <c:v>Jun 25</c:v>
                </c:pt>
                <c:pt idx="6">
                  <c:v>Mar 26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574</c:v>
                </c:pt>
                <c:pt idx="1">
                  <c:v>1689</c:v>
                </c:pt>
                <c:pt idx="2">
                  <c:v>1030</c:v>
                </c:pt>
                <c:pt idx="3">
                  <c:v>781</c:v>
                </c:pt>
                <c:pt idx="4">
                  <c:v>675</c:v>
                </c:pt>
                <c:pt idx="5">
                  <c:v>793</c:v>
                </c:pt>
                <c:pt idx="6">
                  <c:v>708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6CD8-5D4D-AB28-ED828C886EC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9525" cap="flat">
            <a:solidFill>
              <a:srgbClr val="000000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0343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000"/>
        </c:scaling>
        <c:delete val="1"/>
        <c:axPos val="l"/>
        <c:numFmt formatCode="General" sourceLinked="0"/>
        <c:majorTickMark val="none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WeBank</c:v>
                </c:pt>
              </c:strCache>
            </c:strRef>
          </c:tx>
          <c:spPr>
            <a:solidFill>
              <a:srgbClr val="E97132"/>
            </a:solidFill>
            <a:effectLst/>
          </c:spPr>
          <c:invertIfNegative val="0"/>
          <c:dLbls>
            <c:dLbl>
              <c:idx val="0"/>
              <c:tx>
                <c:rich>
                  <a:bodyPr wrap="none" anchor="ctr"/>
                  <a:lstStyle/>
                  <a:p>
                    <a:pPr>
                      <a:defRPr sz="950" b="1" i="0" u="none" strike="noStrike">
                        <a:solidFill>
                          <a:srgbClr val="30343B"/>
                        </a:solidFill>
                        <a:latin typeface="Calibri"/>
                      </a:defRPr>
                    </a:pPr>
                    <a:r>
                      <a:rPr lang="en-US" sz="950" b="1" i="0" u="none" strike="noStrike">
                        <a:solidFill>
                          <a:srgbClr val="30343B"/>
                        </a:solidFill>
                        <a:latin typeface="Calibri"/>
                      </a:rPr>
                      <a:t>4</a:t>
                    </a:r>
                  </a:p>
                </c:rich>
              </c:tx>
              <c:spPr>
                <a:noFill/>
                <a:ln>
                  <a:noFill/>
                </a:ln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0-DD9C-4443-B9D7-966B21357F69}"/>
                </c:ext>
              </c:extLst>
            </c:dLbl>
            <c:dLbl>
              <c:idx val="1"/>
              <c:tx>
                <c:rich>
                  <a:bodyPr wrap="none" anchor="ctr"/>
                  <a:lstStyle/>
                  <a:p>
                    <a:pPr>
                      <a:defRPr sz="950" b="1" i="0" u="none" strike="noStrike">
                        <a:solidFill>
                          <a:srgbClr val="30343B"/>
                        </a:solidFill>
                        <a:latin typeface="Calibri"/>
                      </a:defRPr>
                    </a:pPr>
                    <a:r>
                      <a:rPr lang="en-US" sz="950" b="1" i="0" u="none" strike="noStrike">
                        <a:solidFill>
                          <a:srgbClr val="30343B"/>
                        </a:solidFill>
                        <a:latin typeface="Calibri"/>
                      </a:rPr>
                      <a:t>31</a:t>
                    </a:r>
                  </a:p>
                </c:rich>
              </c:tx>
              <c:spPr>
                <a:noFill/>
                <a:ln>
                  <a:noFill/>
                </a:ln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1-DD9C-4443-B9D7-966B21357F69}"/>
                </c:ext>
              </c:extLst>
            </c:dLbl>
            <c:dLbl>
              <c:idx val="2"/>
              <c:tx>
                <c:rich>
                  <a:bodyPr wrap="none" anchor="ctr"/>
                  <a:lstStyle/>
                  <a:p>
                    <a:pPr>
                      <a:defRPr sz="950" b="1" i="0" u="none" strike="noStrike">
                        <a:solidFill>
                          <a:srgbClr val="30343B"/>
                        </a:solidFill>
                        <a:latin typeface="Calibri"/>
                      </a:defRPr>
                    </a:pPr>
                    <a:r>
                      <a:rPr lang="en-US" sz="950" b="1" i="0" u="none" strike="noStrike">
                        <a:solidFill>
                          <a:srgbClr val="30343B"/>
                        </a:solidFill>
                        <a:latin typeface="Calibri"/>
                      </a:rPr>
                      <a:t>48</a:t>
                    </a:r>
                  </a:p>
                </c:rich>
              </c:tx>
              <c:spPr>
                <a:noFill/>
                <a:ln>
                  <a:noFill/>
                </a:ln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2-DD9C-4443-B9D7-966B21357F69}"/>
                </c:ext>
              </c:extLst>
            </c:dLbl>
            <c:dLbl>
              <c:idx val="3"/>
              <c:tx>
                <c:rich>
                  <a:bodyPr wrap="none" anchor="ctr"/>
                  <a:lstStyle/>
                  <a:p>
                    <a:pPr>
                      <a:defRPr sz="950" b="1" i="0" u="none" strike="noStrike">
                        <a:solidFill>
                          <a:srgbClr val="30343B"/>
                        </a:solidFill>
                        <a:latin typeface="Calibri"/>
                      </a:defRPr>
                    </a:pPr>
                    <a:r>
                      <a:rPr lang="en-US" sz="950" b="1" i="0" u="none" strike="noStrike">
                        <a:solidFill>
                          <a:srgbClr val="30343B"/>
                        </a:solidFill>
                        <a:latin typeface="Calibri"/>
                      </a:rPr>
                      <a:t>120</a:t>
                    </a:r>
                  </a:p>
                </c:rich>
              </c:tx>
              <c:spPr>
                <a:noFill/>
                <a:ln>
                  <a:noFill/>
                </a:ln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3-DD9C-4443-B9D7-966B21357F69}"/>
                </c:ext>
              </c:extLst>
            </c:dLbl>
            <c:dLbl>
              <c:idx val="4"/>
              <c:tx>
                <c:rich>
                  <a:bodyPr wrap="none" anchor="ctr"/>
                  <a:lstStyle/>
                  <a:p>
                    <a:pPr>
                      <a:defRPr sz="950" b="1" i="0" u="none" strike="noStrike">
                        <a:solidFill>
                          <a:srgbClr val="30343B"/>
                        </a:solidFill>
                        <a:latin typeface="Calibri"/>
                      </a:defRPr>
                    </a:pPr>
                    <a:r>
                      <a:rPr lang="en-US" sz="950" b="1" i="0" u="none" strike="noStrike">
                        <a:solidFill>
                          <a:srgbClr val="30343B"/>
                        </a:solidFill>
                        <a:latin typeface="Calibri"/>
                      </a:rPr>
                      <a:t>436</a:t>
                    </a:r>
                  </a:p>
                </c:rich>
              </c:tx>
              <c:spPr>
                <a:noFill/>
                <a:ln>
                  <a:noFill/>
                </a:ln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4-DD9C-4443-B9D7-966B21357F69}"/>
                </c:ext>
              </c:extLst>
            </c:dLbl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50" b="1" i="0" u="none" strike="noStrike">
                    <a:solidFill>
                      <a:srgbClr val="30343B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2024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</c:v>
                </c:pt>
                <c:pt idx="1">
                  <c:v>31</c:v>
                </c:pt>
                <c:pt idx="2">
                  <c:v>48</c:v>
                </c:pt>
                <c:pt idx="3">
                  <c:v>120</c:v>
                </c:pt>
                <c:pt idx="4">
                  <c:v>436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DD9C-4443-B9D7-966B21357F6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MYbank</c:v>
                </c:pt>
              </c:strCache>
            </c:strRef>
          </c:tx>
          <c:spPr>
            <a:solidFill>
              <a:srgbClr val="002060"/>
            </a:solidFill>
            <a:effectLst/>
          </c:spPr>
          <c:invertIfNegative val="0"/>
          <c:dLbls>
            <c:dLbl>
              <c:idx val="0"/>
              <c:tx>
                <c:rich>
                  <a:bodyPr wrap="none" anchor="ctr"/>
                  <a:lstStyle/>
                  <a:p>
                    <a:pPr>
                      <a:defRPr sz="950" b="1" i="0" u="none" strike="noStrike">
                        <a:solidFill>
                          <a:srgbClr val="30343B"/>
                        </a:solidFill>
                        <a:latin typeface="Calibri"/>
                      </a:defRPr>
                    </a:pPr>
                    <a:r>
                      <a:rPr lang="en-US" sz="950" b="1" i="0" u="none" strike="noStrike">
                        <a:solidFill>
                          <a:srgbClr val="30343B"/>
                        </a:solidFill>
                        <a:latin typeface="Calibri"/>
                      </a:rPr>
                      <a:t>7</a:t>
                    </a:r>
                  </a:p>
                </c:rich>
              </c:tx>
              <c:spPr>
                <a:noFill/>
                <a:ln>
                  <a:noFill/>
                </a:ln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6-DD9C-4443-B9D7-966B21357F69}"/>
                </c:ext>
              </c:extLst>
            </c:dLbl>
            <c:dLbl>
              <c:idx val="1"/>
              <c:tx>
                <c:rich>
                  <a:bodyPr wrap="none" anchor="ctr"/>
                  <a:lstStyle/>
                  <a:p>
                    <a:pPr>
                      <a:defRPr sz="950" b="1" i="0" u="none" strike="noStrike">
                        <a:solidFill>
                          <a:srgbClr val="30343B"/>
                        </a:solidFill>
                        <a:latin typeface="Calibri"/>
                      </a:defRPr>
                    </a:pPr>
                    <a:r>
                      <a:rPr lang="en-US" sz="950" b="1" i="0" u="none" strike="noStrike">
                        <a:solidFill>
                          <a:srgbClr val="30343B"/>
                        </a:solidFill>
                        <a:latin typeface="Calibri"/>
                      </a:rPr>
                      <a:t>33</a:t>
                    </a:r>
                  </a:p>
                </c:rich>
              </c:tx>
              <c:spPr>
                <a:noFill/>
                <a:ln>
                  <a:noFill/>
                </a:ln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7-DD9C-4443-B9D7-966B21357F69}"/>
                </c:ext>
              </c:extLst>
            </c:dLbl>
            <c:dLbl>
              <c:idx val="2"/>
              <c:tx>
                <c:rich>
                  <a:bodyPr wrap="none" anchor="ctr"/>
                  <a:lstStyle/>
                  <a:p>
                    <a:pPr>
                      <a:defRPr sz="950" b="1" i="0" u="none" strike="noStrike">
                        <a:solidFill>
                          <a:srgbClr val="30343B"/>
                        </a:solidFill>
                        <a:latin typeface="Calibri"/>
                      </a:defRPr>
                    </a:pPr>
                    <a:r>
                      <a:rPr lang="en-US" sz="950" b="1" i="0" u="none" strike="noStrike">
                        <a:solidFill>
                          <a:srgbClr val="30343B"/>
                        </a:solidFill>
                        <a:latin typeface="Calibri"/>
                      </a:rPr>
                      <a:t>32</a:t>
                    </a:r>
                  </a:p>
                </c:rich>
              </c:tx>
              <c:spPr>
                <a:noFill/>
                <a:ln>
                  <a:noFill/>
                </a:ln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8-DD9C-4443-B9D7-966B21357F69}"/>
                </c:ext>
              </c:extLst>
            </c:dLbl>
            <c:dLbl>
              <c:idx val="3"/>
              <c:tx>
                <c:rich>
                  <a:bodyPr wrap="none" anchor="ctr"/>
                  <a:lstStyle/>
                  <a:p>
                    <a:pPr>
                      <a:defRPr sz="950" b="1" i="0" u="none" strike="noStrike">
                        <a:solidFill>
                          <a:srgbClr val="30343B"/>
                        </a:solidFill>
                        <a:latin typeface="Calibri"/>
                      </a:defRPr>
                    </a:pPr>
                    <a:r>
                      <a:rPr lang="en-US" sz="950" b="1" i="0" u="none" strike="noStrike">
                        <a:solidFill>
                          <a:srgbClr val="30343B"/>
                        </a:solidFill>
                        <a:latin typeface="Calibri"/>
                      </a:rPr>
                      <a:t>48</a:t>
                    </a:r>
                  </a:p>
                </c:rich>
              </c:tx>
              <c:spPr>
                <a:noFill/>
                <a:ln>
                  <a:noFill/>
                </a:ln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9-DD9C-4443-B9D7-966B21357F69}"/>
                </c:ext>
              </c:extLst>
            </c:dLbl>
            <c:dLbl>
              <c:idx val="4"/>
              <c:tx>
                <c:rich>
                  <a:bodyPr wrap="none" anchor="ctr"/>
                  <a:lstStyle/>
                  <a:p>
                    <a:pPr>
                      <a:defRPr sz="950" b="1" i="0" u="none" strike="noStrike">
                        <a:solidFill>
                          <a:srgbClr val="30343B"/>
                        </a:solidFill>
                        <a:latin typeface="Calibri"/>
                      </a:defRPr>
                    </a:pPr>
                    <a:r>
                      <a:rPr lang="en-US" sz="950" b="1" i="0" u="none" strike="noStrike">
                        <a:solidFill>
                          <a:srgbClr val="30343B"/>
                        </a:solidFill>
                        <a:latin typeface="Calibri"/>
                      </a:rPr>
                      <a:t>298</a:t>
                    </a:r>
                  </a:p>
                </c:rich>
              </c:tx>
              <c:spPr>
                <a:noFill/>
                <a:ln>
                  <a:noFill/>
                </a:ln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A-DD9C-4443-B9D7-966B21357F69}"/>
                </c:ext>
              </c:extLst>
            </c:dLbl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50" b="1" i="0" u="none" strike="noStrike">
                    <a:solidFill>
                      <a:srgbClr val="30343B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2024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7</c:v>
                </c:pt>
                <c:pt idx="1">
                  <c:v>33</c:v>
                </c:pt>
                <c:pt idx="2">
                  <c:v>32</c:v>
                </c:pt>
                <c:pt idx="3">
                  <c:v>48</c:v>
                </c:pt>
                <c:pt idx="4">
                  <c:v>298.5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DD9C-4443-B9D7-966B21357F6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9525" cap="flat">
            <a:solidFill>
              <a:srgbClr val="000000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0343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20"/>
        </c:scaling>
        <c:delete val="1"/>
        <c:axPos val="l"/>
        <c:numFmt formatCode="General" sourceLinked="0"/>
        <c:majorTickMark val="none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30343B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WeBank</c:v>
                </c:pt>
              </c:strCache>
            </c:strRef>
          </c:tx>
          <c:spPr>
            <a:solidFill>
              <a:srgbClr val="E97132"/>
            </a:solidFill>
            <a:effectLst/>
          </c:spPr>
          <c:invertIfNegative val="0"/>
          <c:dLbls>
            <c:dLbl>
              <c:idx val="0"/>
              <c:tx>
                <c:rich>
                  <a:bodyPr wrap="none" anchor="ctr"/>
                  <a:lstStyle/>
                  <a:p>
                    <a:pPr>
                      <a:defRPr sz="950" b="1" i="0" u="none" strike="noStrike">
                        <a:solidFill>
                          <a:srgbClr val="30343B"/>
                        </a:solidFill>
                        <a:latin typeface="Calibri"/>
                      </a:defRPr>
                    </a:pPr>
                    <a:r>
                      <a:rPr lang="en-US" sz="950" b="1" i="0" u="none" strike="noStrike">
                        <a:solidFill>
                          <a:srgbClr val="30343B"/>
                        </a:solidFill>
                        <a:latin typeface="Calibri"/>
                      </a:rPr>
                      <a:t>12</a:t>
                    </a:r>
                  </a:p>
                </c:rich>
              </c:tx>
              <c:spPr>
                <a:noFill/>
                <a:ln>
                  <a:noFill/>
                </a:ln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0-A497-DA42-90DF-200C354A9DB3}"/>
                </c:ext>
              </c:extLst>
            </c:dLbl>
            <c:dLbl>
              <c:idx val="1"/>
              <c:tx>
                <c:rich>
                  <a:bodyPr wrap="none" anchor="ctr"/>
                  <a:lstStyle/>
                  <a:p>
                    <a:pPr>
                      <a:defRPr sz="950" b="1" i="0" u="none" strike="noStrike">
                        <a:solidFill>
                          <a:srgbClr val="30343B"/>
                        </a:solidFill>
                        <a:latin typeface="Calibri"/>
                      </a:defRPr>
                    </a:pPr>
                    <a:r>
                      <a:rPr lang="en-US" sz="950" b="1" i="0" u="none" strike="noStrike">
                        <a:solidFill>
                          <a:srgbClr val="30343B"/>
                        </a:solidFill>
                        <a:latin typeface="Calibri"/>
                      </a:rPr>
                      <a:t>23</a:t>
                    </a:r>
                  </a:p>
                </c:rich>
              </c:tx>
              <c:spPr>
                <a:noFill/>
                <a:ln>
                  <a:noFill/>
                </a:ln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1-A497-DA42-90DF-200C354A9DB3}"/>
                </c:ext>
              </c:extLst>
            </c:dLbl>
            <c:dLbl>
              <c:idx val="2"/>
              <c:tx>
                <c:rich>
                  <a:bodyPr wrap="none" anchor="ctr"/>
                  <a:lstStyle/>
                  <a:p>
                    <a:pPr>
                      <a:defRPr sz="950" b="1" i="0" u="none" strike="noStrike">
                        <a:solidFill>
                          <a:srgbClr val="30343B"/>
                        </a:solidFill>
                        <a:latin typeface="Calibri"/>
                      </a:defRPr>
                    </a:pPr>
                    <a:r>
                      <a:rPr lang="en-US" sz="950" b="1" i="0" u="none" strike="noStrike">
                        <a:solidFill>
                          <a:srgbClr val="30343B"/>
                        </a:solidFill>
                        <a:latin typeface="Calibri"/>
                      </a:rPr>
                      <a:t>34</a:t>
                    </a:r>
                  </a:p>
                </c:rich>
              </c:tx>
              <c:spPr>
                <a:noFill/>
                <a:ln>
                  <a:noFill/>
                </a:ln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2-A497-DA42-90DF-200C354A9DB3}"/>
                </c:ext>
              </c:extLst>
            </c:dLbl>
            <c:dLbl>
              <c:idx val="3"/>
              <c:tx>
                <c:rich>
                  <a:bodyPr wrap="none" anchor="ctr"/>
                  <a:lstStyle/>
                  <a:p>
                    <a:pPr>
                      <a:defRPr sz="950" b="1" i="0" u="none" strike="noStrike">
                        <a:solidFill>
                          <a:srgbClr val="30343B"/>
                        </a:solidFill>
                        <a:latin typeface="Calibri"/>
                      </a:defRPr>
                    </a:pPr>
                    <a:r>
                      <a:rPr lang="en-US" sz="950" b="1" i="0" u="none" strike="noStrike">
                        <a:solidFill>
                          <a:srgbClr val="30343B"/>
                        </a:solidFill>
                        <a:latin typeface="Calibri"/>
                      </a:rPr>
                      <a:t>44</a:t>
                    </a:r>
                  </a:p>
                </c:rich>
              </c:tx>
              <c:spPr>
                <a:noFill/>
                <a:ln>
                  <a:noFill/>
                </a:ln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3-A497-DA42-90DF-200C354A9DB3}"/>
                </c:ext>
              </c:extLst>
            </c:dLbl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50" b="1" i="0" u="none" strike="noStrike">
                    <a:solidFill>
                      <a:srgbClr val="30343B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</c:v>
                </c:pt>
                <c:pt idx="1">
                  <c:v>23</c:v>
                </c:pt>
                <c:pt idx="2">
                  <c:v>34</c:v>
                </c:pt>
                <c:pt idx="3">
                  <c:v>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A497-DA42-90DF-200C354A9DB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MYbank</c:v>
                </c:pt>
              </c:strCache>
            </c:strRef>
          </c:tx>
          <c:spPr>
            <a:solidFill>
              <a:srgbClr val="002060"/>
            </a:solidFill>
            <a:effectLst/>
          </c:spPr>
          <c:invertIfNegative val="0"/>
          <c:dLbls>
            <c:dLbl>
              <c:idx val="0"/>
              <c:tx>
                <c:rich>
                  <a:bodyPr wrap="none" anchor="ctr"/>
                  <a:lstStyle/>
                  <a:p>
                    <a:pPr>
                      <a:defRPr sz="950" b="1" i="0" u="none" strike="noStrike">
                        <a:solidFill>
                          <a:srgbClr val="30343B"/>
                        </a:solidFill>
                        <a:latin typeface="Calibri"/>
                      </a:defRPr>
                    </a:pPr>
                    <a:r>
                      <a:rPr lang="en-US" sz="950" b="1" i="0" u="none" strike="noStrike">
                        <a:solidFill>
                          <a:srgbClr val="30343B"/>
                        </a:solidFill>
                        <a:latin typeface="Calibri"/>
                      </a:rPr>
                      <a:t>0</a:t>
                    </a:r>
                  </a:p>
                </c:rich>
              </c:tx>
              <c:spPr>
                <a:noFill/>
                <a:ln>
                  <a:noFill/>
                </a:ln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5-A497-DA42-90DF-200C354A9DB3}"/>
                </c:ext>
              </c:extLst>
            </c:dLbl>
            <c:dLbl>
              <c:idx val="1"/>
              <c:tx>
                <c:rich>
                  <a:bodyPr wrap="none" anchor="ctr"/>
                  <a:lstStyle/>
                  <a:p>
                    <a:pPr>
                      <a:defRPr sz="950" b="1" i="0" u="none" strike="noStrike">
                        <a:solidFill>
                          <a:srgbClr val="30343B"/>
                        </a:solidFill>
                        <a:latin typeface="Calibri"/>
                      </a:defRPr>
                    </a:pPr>
                    <a:r>
                      <a:rPr lang="en-US" sz="950" b="1" i="0" u="none" strike="noStrike">
                        <a:solidFill>
                          <a:srgbClr val="30343B"/>
                        </a:solidFill>
                        <a:latin typeface="Calibri"/>
                      </a:rPr>
                      <a:t>7</a:t>
                    </a:r>
                  </a:p>
                </c:rich>
              </c:tx>
              <c:spPr>
                <a:noFill/>
                <a:ln>
                  <a:noFill/>
                </a:ln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6-A497-DA42-90DF-200C354A9DB3}"/>
                </c:ext>
              </c:extLst>
            </c:dLbl>
            <c:dLbl>
              <c:idx val="2"/>
              <c:tx>
                <c:rich>
                  <a:bodyPr wrap="none" anchor="ctr"/>
                  <a:lstStyle/>
                  <a:p>
                    <a:pPr>
                      <a:defRPr sz="950" b="1" i="0" u="none" strike="noStrike">
                        <a:solidFill>
                          <a:srgbClr val="30343B"/>
                        </a:solidFill>
                        <a:latin typeface="Calibri"/>
                      </a:defRPr>
                    </a:pPr>
                    <a:r>
                      <a:rPr lang="en-US" sz="950" b="1" i="0" u="none" strike="noStrike">
                        <a:solidFill>
                          <a:srgbClr val="30343B"/>
                        </a:solidFill>
                        <a:latin typeface="Calibri"/>
                      </a:rPr>
                      <a:t>13</a:t>
                    </a:r>
                  </a:p>
                </c:rich>
              </c:tx>
              <c:spPr>
                <a:noFill/>
                <a:ln>
                  <a:noFill/>
                </a:ln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7-A497-DA42-90DF-200C354A9DB3}"/>
                </c:ext>
              </c:extLst>
            </c:dLbl>
            <c:dLbl>
              <c:idx val="3"/>
              <c:tx>
                <c:rich>
                  <a:bodyPr wrap="none" anchor="ctr"/>
                  <a:lstStyle/>
                  <a:p>
                    <a:pPr>
                      <a:defRPr sz="950" b="1" i="0" u="none" strike="noStrike">
                        <a:solidFill>
                          <a:srgbClr val="30343B"/>
                        </a:solidFill>
                        <a:latin typeface="Calibri"/>
                      </a:defRPr>
                    </a:pPr>
                    <a:r>
                      <a:rPr lang="en-US" sz="950" b="1" i="0" u="none" strike="noStrike">
                        <a:solidFill>
                          <a:srgbClr val="30343B"/>
                        </a:solidFill>
                        <a:latin typeface="Calibri"/>
                      </a:rPr>
                      <a:t>26</a:t>
                    </a:r>
                  </a:p>
                </c:rich>
              </c:tx>
              <c:spPr>
                <a:noFill/>
                <a:ln>
                  <a:noFill/>
                </a:ln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8-A497-DA42-90DF-200C354A9DB3}"/>
                </c:ext>
              </c:extLst>
            </c:dLbl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50" b="1" i="0" u="none" strike="noStrike">
                    <a:solidFill>
                      <a:srgbClr val="30343B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7</c:v>
                </c:pt>
                <c:pt idx="2">
                  <c:v>13</c:v>
                </c:pt>
                <c:pt idx="3">
                  <c:v>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A497-DA42-90DF-200C354A9DB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9525" cap="flat">
            <a:solidFill>
              <a:srgbClr val="000000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0343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2"/>
        </c:scaling>
        <c:delete val="1"/>
        <c:axPos val="l"/>
        <c:numFmt formatCode="General" sourceLinked="0"/>
        <c:majorTickMark val="none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50">
              <a:solidFill>
                <a:srgbClr val="30343B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55007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10.xml"/><Relationship Id="rId4" Type="http://schemas.openxmlformats.org/officeDocument/2006/relationships/chart" Target="../charts/char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13.xml"/><Relationship Id="rId4" Type="http://schemas.openxmlformats.org/officeDocument/2006/relationships/chart" Target="../charts/char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4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6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7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19.xml"/><Relationship Id="rId4" Type="http://schemas.openxmlformats.org/officeDocument/2006/relationships/chart" Target="../charts/chart1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0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23.xml"/><Relationship Id="rId5" Type="http://schemas.openxmlformats.org/officeDocument/2006/relationships/chart" Target="../charts/chart22.xml"/><Relationship Id="rId4" Type="http://schemas.openxmlformats.org/officeDocument/2006/relationships/chart" Target="../charts/chart2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4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04088" y="2394135"/>
            <a:ext cx="8522105" cy="6066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 vs Conventional Bank – China Edition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704088" y="3000824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banks vs fintech in China, 2010 – 2026H1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704088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i="1" dirty="0">
                <a:solidFill>
                  <a:srgbClr val="7A83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PBOC, internal calculations. Internal use – contains licensed Bloomberg content.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85216" y="219456"/>
            <a:ext cx="11027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7A83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ANSWER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85216" y="420624"/>
            <a:ext cx="11027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Fintech’s Share Shrinks as Ticket Size and Capital Rise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88696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30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share depends on the layer: platforms dominate frequency and distribution, banks still own value, credit and deposits.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85216" y="6382512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i="1" dirty="0">
                <a:solidFill>
                  <a:srgbClr val="7A83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PBOC payment statistics (2026 H1); IMF 2026 (wallet share); AMAC top-100 distributors via 36Kr/Tiger (H1 2026); Ant Group prospectus (2020); WeBank/MYbank 2024 annual reports; NBS/NFRA 2025; internal calculations. Fund distribution: third-party incl. insurers. Wallets: non-Alipay/WeChat includes UnionPay QuickPass and banks.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92256" y="6364224"/>
            <a:ext cx="7680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7A83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85216" y="1408176"/>
            <a:ext cx="11027664" cy="4809744"/>
          </a:xfrm>
          <a:prstGeom prst="rect">
            <a:avLst/>
          </a:prstGeom>
          <a:solidFill>
            <a:srgbClr val="FFFFFF"/>
          </a:solidFill>
          <a:ln w="9525">
            <a:solidFill>
              <a:srgbClr val="00206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298448"/>
            <a:ext cx="2692908" cy="237744"/>
          </a:xfrm>
          <a:prstGeom prst="rect">
            <a:avLst/>
          </a:prstGeom>
          <a:solidFill>
            <a:srgbClr val="002060"/>
          </a:solidFill>
          <a:ln w="6350">
            <a:solidFill>
              <a:srgbClr val="00206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1298448"/>
            <a:ext cx="26929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BY LAYER OF THE FINANCE STACK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96112" y="1984248"/>
            <a:ext cx="0" cy="3859682"/>
          </a:xfrm>
          <a:prstGeom prst="line">
            <a:avLst/>
          </a:prstGeom>
          <a:noFill/>
          <a:ln w="15875">
            <a:solidFill>
              <a:srgbClr val="7A838E"/>
            </a:solidFill>
            <a:prstDash val="solid"/>
            <a:tailEnd type="triangle"/>
          </a:ln>
        </p:spPr>
      </p:sp>
      <p:sp>
        <p:nvSpPr>
          <p:cNvPr id="11" name="Text 9"/>
          <p:cNvSpPr txBox="1"/>
          <p:nvPr/>
        </p:nvSpPr>
        <p:spPr>
          <a:xfrm>
            <a:off x="960120" y="157276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7A83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tickets,</a:t>
            </a:r>
            <a:endParaRPr lang="en-US" sz="900" dirty="0"/>
          </a:p>
          <a:p>
            <a:pPr marL="0" indent="0">
              <a:buNone/>
            </a:pPr>
            <a:r>
              <a:rPr lang="en-US" sz="900" i="1" dirty="0">
                <a:solidFill>
                  <a:srgbClr val="7A83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frequency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576072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7A83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tickets,</a:t>
            </a:r>
            <a:endParaRPr lang="en-US" sz="900" dirty="0"/>
          </a:p>
          <a:p>
            <a:pPr marL="0" indent="0">
              <a:buNone/>
            </a:pPr>
            <a:r>
              <a:rPr lang="en-US" sz="900" i="1" dirty="0">
                <a:solidFill>
                  <a:srgbClr val="7A83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required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104120" y="160020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 share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1956816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30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transactions, count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2139696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H1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160520" y="1938528"/>
            <a:ext cx="4608576" cy="365760"/>
          </a:xfrm>
          <a:prstGeom prst="rect">
            <a:avLst/>
          </a:prstGeom>
          <a:solidFill>
            <a:srgbClr val="E9713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233672" y="1938528"/>
            <a:ext cx="4462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80.0%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769096" y="1938528"/>
            <a:ext cx="1152144" cy="365760"/>
          </a:xfrm>
          <a:prstGeom prst="rect">
            <a:avLst/>
          </a:prstGeom>
          <a:solidFill>
            <a:srgbClr val="00206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842248" y="193852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20.0%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10104120" y="1901952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80.0%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1234440" y="2532888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30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mobile-wallet payments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1234440" y="2715768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160520" y="2514600"/>
            <a:ext cx="5472684" cy="365760"/>
          </a:xfrm>
          <a:prstGeom prst="rect">
            <a:avLst/>
          </a:prstGeom>
          <a:solidFill>
            <a:srgbClr val="E9713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233672" y="2514600"/>
            <a:ext cx="53263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95.0%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9633204" y="2514600"/>
            <a:ext cx="288036" cy="365760"/>
          </a:xfrm>
          <a:prstGeom prst="rect">
            <a:avLst/>
          </a:prstGeom>
          <a:solidFill>
            <a:srgbClr val="00206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0104120" y="2478024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95.0%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1234440" y="3108960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30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Mutual-fund distribution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1234440" y="3291840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2026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160520" y="3090672"/>
            <a:ext cx="2258202" cy="365760"/>
          </a:xfrm>
          <a:prstGeom prst="rect">
            <a:avLst/>
          </a:prstGeom>
          <a:solidFill>
            <a:srgbClr val="E9713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233672" y="3090672"/>
            <a:ext cx="21118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39.2%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418722" y="3090672"/>
            <a:ext cx="2229399" cy="365760"/>
          </a:xfrm>
          <a:prstGeom prst="rect">
            <a:avLst/>
          </a:prstGeom>
          <a:solidFill>
            <a:srgbClr val="00206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491874" y="3090672"/>
            <a:ext cx="2083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38.7%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8648121" y="3090672"/>
            <a:ext cx="1273119" cy="365760"/>
          </a:xfrm>
          <a:prstGeom prst="rect">
            <a:avLst/>
          </a:prstGeom>
          <a:solidFill>
            <a:srgbClr val="A5A5A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721273" y="3090672"/>
            <a:ext cx="11268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22.1%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10104120" y="305409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39.2%</a:t>
            </a:r>
            <a:endParaRPr lang="en-US" sz="2000" dirty="0"/>
          </a:p>
        </p:txBody>
      </p:sp>
      <p:sp>
        <p:nvSpPr>
          <p:cNvPr id="36" name="Text 34"/>
          <p:cNvSpPr txBox="1"/>
          <p:nvPr/>
        </p:nvSpPr>
        <p:spPr>
          <a:xfrm>
            <a:off x="1234440" y="3685032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30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transactions, value</a:t>
            </a:r>
            <a:endParaRPr lang="en-US" sz="1150" dirty="0"/>
          </a:p>
        </p:txBody>
      </p:sp>
      <p:sp>
        <p:nvSpPr>
          <p:cNvPr id="37" name="Text 35"/>
          <p:cNvSpPr txBox="1"/>
          <p:nvPr/>
        </p:nvSpPr>
        <p:spPr>
          <a:xfrm>
            <a:off x="1234440" y="3867912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H1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160520" y="3666744"/>
            <a:ext cx="437815" cy="365760"/>
          </a:xfrm>
          <a:prstGeom prst="rect">
            <a:avLst/>
          </a:prstGeom>
          <a:solidFill>
            <a:srgbClr val="E9713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598335" y="3666744"/>
            <a:ext cx="5322905" cy="365760"/>
          </a:xfrm>
          <a:prstGeom prst="rect">
            <a:avLst/>
          </a:prstGeom>
          <a:solidFill>
            <a:srgbClr val="00206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671487" y="3666744"/>
            <a:ext cx="517660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92.4%</a:t>
            </a:r>
            <a:endParaRPr lang="en-US" sz="1150" dirty="0"/>
          </a:p>
        </p:txBody>
      </p:sp>
      <p:sp>
        <p:nvSpPr>
          <p:cNvPr id="41" name="Text 39"/>
          <p:cNvSpPr txBox="1"/>
          <p:nvPr/>
        </p:nvSpPr>
        <p:spPr>
          <a:xfrm>
            <a:off x="10104120" y="363016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7.6%</a:t>
            </a:r>
            <a:endParaRPr lang="en-US" sz="2000" dirty="0"/>
          </a:p>
        </p:txBody>
      </p:sp>
      <p:sp>
        <p:nvSpPr>
          <p:cNvPr id="42" name="Text 40"/>
          <p:cNvSpPr txBox="1"/>
          <p:nvPr/>
        </p:nvSpPr>
        <p:spPr>
          <a:xfrm>
            <a:off x="1234440" y="4261104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30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of platform consumer credit</a:t>
            </a:r>
            <a:endParaRPr lang="en-US" sz="1150" dirty="0"/>
          </a:p>
        </p:txBody>
      </p:sp>
      <p:sp>
        <p:nvSpPr>
          <p:cNvPr id="43" name="Text 41"/>
          <p:cNvSpPr txBox="1"/>
          <p:nvPr/>
        </p:nvSpPr>
        <p:spPr>
          <a:xfrm>
            <a:off x="1234440" y="4443984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Ant, Jun 2020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160520" y="4242816"/>
            <a:ext cx="115214" cy="365760"/>
          </a:xfrm>
          <a:prstGeom prst="rect">
            <a:avLst/>
          </a:prstGeom>
          <a:solidFill>
            <a:srgbClr val="E9713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275734" y="4242816"/>
            <a:ext cx="5645506" cy="365760"/>
          </a:xfrm>
          <a:prstGeom prst="rect">
            <a:avLst/>
          </a:prstGeom>
          <a:solidFill>
            <a:srgbClr val="00206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4348886" y="4242816"/>
            <a:ext cx="54992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98.0%</a:t>
            </a:r>
            <a:endParaRPr lang="en-US" sz="1150" dirty="0"/>
          </a:p>
        </p:txBody>
      </p:sp>
      <p:sp>
        <p:nvSpPr>
          <p:cNvPr id="47" name="Text 45"/>
          <p:cNvSpPr txBox="1"/>
          <p:nvPr/>
        </p:nvSpPr>
        <p:spPr>
          <a:xfrm>
            <a:off x="10104120" y="420624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2.0%</a:t>
            </a:r>
            <a:endParaRPr lang="en-US" sz="2000" dirty="0"/>
          </a:p>
        </p:txBody>
      </p:sp>
      <p:sp>
        <p:nvSpPr>
          <p:cNvPr id="48" name="Text 46"/>
          <p:cNvSpPr txBox="1"/>
          <p:nvPr/>
        </p:nvSpPr>
        <p:spPr>
          <a:xfrm>
            <a:off x="1234440" y="4837176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30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loans</a:t>
            </a:r>
            <a:endParaRPr lang="en-US" sz="1150" dirty="0"/>
          </a:p>
        </p:txBody>
      </p:sp>
      <p:sp>
        <p:nvSpPr>
          <p:cNvPr id="49" name="Text 47"/>
          <p:cNvSpPr txBox="1"/>
          <p:nvPr/>
        </p:nvSpPr>
        <p:spPr>
          <a:xfrm>
            <a:off x="1234440" y="5020056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2024–25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160520" y="4818888"/>
            <a:ext cx="27432" cy="365760"/>
          </a:xfrm>
          <a:prstGeom prst="rect">
            <a:avLst/>
          </a:prstGeom>
          <a:solidFill>
            <a:srgbClr val="E9713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177802" y="4818888"/>
            <a:ext cx="5743438" cy="365760"/>
          </a:xfrm>
          <a:prstGeom prst="rect">
            <a:avLst/>
          </a:prstGeom>
          <a:solidFill>
            <a:srgbClr val="00206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4250954" y="4818888"/>
            <a:ext cx="55971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99.7%</a:t>
            </a:r>
            <a:endParaRPr lang="en-US" sz="1150" dirty="0"/>
          </a:p>
        </p:txBody>
      </p:sp>
      <p:sp>
        <p:nvSpPr>
          <p:cNvPr id="53" name="Text 51"/>
          <p:cNvSpPr txBox="1"/>
          <p:nvPr/>
        </p:nvSpPr>
        <p:spPr>
          <a:xfrm>
            <a:off x="10104120" y="4782312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0.3%</a:t>
            </a:r>
            <a:endParaRPr lang="en-US" sz="2000" dirty="0"/>
          </a:p>
        </p:txBody>
      </p:sp>
      <p:sp>
        <p:nvSpPr>
          <p:cNvPr id="54" name="Text 52"/>
          <p:cNvSpPr txBox="1"/>
          <p:nvPr/>
        </p:nvSpPr>
        <p:spPr>
          <a:xfrm>
            <a:off x="1234440" y="5413248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30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deposits</a:t>
            </a:r>
            <a:endParaRPr lang="en-US" sz="1150" dirty="0"/>
          </a:p>
        </p:txBody>
      </p:sp>
      <p:sp>
        <p:nvSpPr>
          <p:cNvPr id="55" name="Text 53"/>
          <p:cNvSpPr txBox="1"/>
          <p:nvPr/>
        </p:nvSpPr>
        <p:spPr>
          <a:xfrm>
            <a:off x="1234440" y="5596128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4160520" y="5394960"/>
            <a:ext cx="27432" cy="365760"/>
          </a:xfrm>
          <a:prstGeom prst="rect">
            <a:avLst/>
          </a:prstGeom>
          <a:solidFill>
            <a:srgbClr val="E9713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172041" y="5394960"/>
            <a:ext cx="5749199" cy="365760"/>
          </a:xfrm>
          <a:prstGeom prst="rect">
            <a:avLst/>
          </a:prstGeom>
          <a:solidFill>
            <a:srgbClr val="00206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4245193" y="5394960"/>
            <a:ext cx="560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99.8%</a:t>
            </a:r>
            <a:endParaRPr lang="en-US" sz="1150" dirty="0"/>
          </a:p>
        </p:txBody>
      </p:sp>
      <p:sp>
        <p:nvSpPr>
          <p:cNvPr id="59" name="Text 57"/>
          <p:cNvSpPr txBox="1"/>
          <p:nvPr/>
        </p:nvSpPr>
        <p:spPr>
          <a:xfrm>
            <a:off x="10104120" y="5358384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0.2%</a:t>
            </a:r>
            <a:endParaRPr lang="en-US" sz="2000" dirty="0"/>
          </a:p>
        </p:txBody>
      </p:sp>
      <p:sp>
        <p:nvSpPr>
          <p:cNvPr id="60" name="Text 58"/>
          <p:cNvSpPr txBox="1"/>
          <p:nvPr/>
        </p:nvSpPr>
        <p:spPr>
          <a:xfrm>
            <a:off x="4160520" y="16002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</a:t>
            </a:r>
            <a:r>
              <a:rPr lang="en-US" sz="1000" b="1" dirty="0">
                <a:solidFill>
                  <a:srgbClr val="30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 / platforms   </a:t>
            </a:r>
            <a:r>
              <a:rPr lang="en-US" sz="10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</a:t>
            </a:r>
            <a:r>
              <a:rPr lang="en-US" sz="1000" b="1" dirty="0">
                <a:solidFill>
                  <a:srgbClr val="30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   </a:t>
            </a:r>
            <a:r>
              <a:rPr lang="en-US" sz="1000" b="1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</a:t>
            </a:r>
            <a:r>
              <a:rPr lang="en-US" sz="1000" b="1" dirty="0">
                <a:solidFill>
                  <a:srgbClr val="30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85216" y="219456"/>
            <a:ext cx="11027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7A83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85216" y="420624"/>
            <a:ext cx="11027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 Took the Transactions, Banks Kept the Value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88696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30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Non-bank payments now make up four in five transactions, but their share of value peaked in 2021 and has since slipped.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85216" y="6382512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i="1" dirty="0">
                <a:solidFill>
                  <a:srgbClr val="7A83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PBOC Payment System Reports 2013–2023; 2025 data reproduced in Cuiwei annual report; PBOC Q1–Q2 2026; internal calculations. Share = non-bank network payments ÷ (bank e-payments + non-bank). Series overlap and have breaks in 2015, 2018 and 2023; 2024 not plotted (bank total unverified). Ticket = value ÷ count.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92256" y="6364224"/>
            <a:ext cx="7680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7A83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85216" y="1408176"/>
            <a:ext cx="11027664" cy="2615184"/>
          </a:xfrm>
          <a:prstGeom prst="rect">
            <a:avLst/>
          </a:prstGeom>
          <a:solidFill>
            <a:srgbClr val="FFFFFF"/>
          </a:solidFill>
          <a:ln w="9525">
            <a:solidFill>
              <a:srgbClr val="00206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298448"/>
            <a:ext cx="2212848" cy="237744"/>
          </a:xfrm>
          <a:prstGeom prst="rect">
            <a:avLst/>
          </a:prstGeom>
          <a:solidFill>
            <a:srgbClr val="002060"/>
          </a:solidFill>
          <a:ln w="6350">
            <a:solidFill>
              <a:srgbClr val="00206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1298448"/>
            <a:ext cx="2212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NON-BANK SHARE OF E-PAYMENTS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94944" y="1591056"/>
            <a:ext cx="10808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Non-bank share of China’s electronic payments (%)</a:t>
            </a:r>
            <a:endParaRPr lang="en-US" sz="1050" dirty="0"/>
          </a:p>
        </p:txBody>
      </p:sp>
      <p:graphicFrame>
        <p:nvGraphicFramePr>
          <p:cNvPr id="11" name="Chart 0"/>
          <p:cNvGraphicFramePr/>
          <p:nvPr/>
        </p:nvGraphicFramePr>
        <p:xfrm>
          <a:off x="694944" y="1591056"/>
          <a:ext cx="932688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Text 9"/>
          <p:cNvSpPr txBox="1"/>
          <p:nvPr/>
        </p:nvSpPr>
        <p:spPr>
          <a:xfrm>
            <a:off x="9796882" y="2223089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count 80.0%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9796882" y="3359125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value 7.6%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5730937" y="3109315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 peak: 10.7%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1577471" y="3039403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37.3% in 2013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85216" y="4334256"/>
            <a:ext cx="5760720" cy="1883664"/>
          </a:xfrm>
          <a:prstGeom prst="rect">
            <a:avLst/>
          </a:prstGeom>
          <a:solidFill>
            <a:srgbClr val="FFFFFF"/>
          </a:solidFill>
          <a:ln w="9525">
            <a:solidFill>
              <a:srgbClr val="00206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31520" y="4224528"/>
            <a:ext cx="1595628" cy="237744"/>
          </a:xfrm>
          <a:prstGeom prst="rect">
            <a:avLst/>
          </a:prstGeom>
          <a:solidFill>
            <a:srgbClr val="002060"/>
          </a:solidFill>
          <a:ln w="6350">
            <a:solidFill>
              <a:srgbClr val="00206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31520" y="4224528"/>
            <a:ext cx="15956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TICKET SIZE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768096" y="451713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RMB per transaction</a:t>
            </a:r>
            <a:endParaRPr lang="en-US" sz="950" dirty="0"/>
          </a:p>
        </p:txBody>
      </p:sp>
      <p:sp>
        <p:nvSpPr>
          <p:cNvPr id="20" name="Text 17"/>
          <p:cNvSpPr txBox="1"/>
          <p:nvPr/>
        </p:nvSpPr>
        <p:spPr>
          <a:xfrm>
            <a:off x="1965960" y="471830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2013</a:t>
            </a:r>
            <a:endParaRPr lang="en-US" sz="950" dirty="0"/>
          </a:p>
        </p:txBody>
      </p:sp>
      <p:sp>
        <p:nvSpPr>
          <p:cNvPr id="21" name="Text 18"/>
          <p:cNvSpPr txBox="1"/>
          <p:nvPr/>
        </p:nvSpPr>
        <p:spPr>
          <a:xfrm>
            <a:off x="3154680" y="471830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768096" y="495604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0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</a:t>
            </a:r>
            <a:endParaRPr lang="en-US" sz="1150" dirty="0"/>
          </a:p>
        </p:txBody>
      </p:sp>
      <p:sp>
        <p:nvSpPr>
          <p:cNvPr id="23" name="Text 20"/>
          <p:cNvSpPr txBox="1"/>
          <p:nvPr/>
        </p:nvSpPr>
        <p:spPr>
          <a:xfrm>
            <a:off x="1965960" y="495604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41,700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2926080" y="5138928"/>
            <a:ext cx="274320" cy="0"/>
          </a:xfrm>
          <a:prstGeom prst="line">
            <a:avLst/>
          </a:prstGeom>
          <a:noFill/>
          <a:ln w="12700">
            <a:solidFill>
              <a:srgbClr val="A5A5A5"/>
            </a:solidFill>
            <a:prstDash val="solid"/>
            <a:tailEnd type="triangle"/>
          </a:ln>
        </p:spPr>
      </p:sp>
      <p:sp>
        <p:nvSpPr>
          <p:cNvPr id="25" name="Text 22"/>
          <p:cNvSpPr txBox="1"/>
          <p:nvPr/>
        </p:nvSpPr>
        <p:spPr>
          <a:xfrm>
            <a:off x="3154680" y="495604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11,400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768096" y="543153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0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Non-banks</a:t>
            </a:r>
            <a:endParaRPr lang="en-US" sz="1150" dirty="0"/>
          </a:p>
        </p:txBody>
      </p:sp>
      <p:sp>
        <p:nvSpPr>
          <p:cNvPr id="27" name="Text 24"/>
          <p:cNvSpPr txBox="1"/>
          <p:nvPr/>
        </p:nvSpPr>
        <p:spPr>
          <a:xfrm>
            <a:off x="1965960" y="543153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601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2926080" y="5614416"/>
            <a:ext cx="274320" cy="0"/>
          </a:xfrm>
          <a:prstGeom prst="line">
            <a:avLst/>
          </a:prstGeom>
          <a:noFill/>
          <a:ln w="12700">
            <a:solidFill>
              <a:srgbClr val="A5A5A5"/>
            </a:solidFill>
            <a:prstDash val="solid"/>
            <a:tailEnd type="triangle"/>
          </a:ln>
        </p:spPr>
      </p:sp>
      <p:sp>
        <p:nvSpPr>
          <p:cNvPr id="29" name="Text 26"/>
          <p:cNvSpPr txBox="1"/>
          <p:nvPr/>
        </p:nvSpPr>
        <p:spPr>
          <a:xfrm>
            <a:off x="3154680" y="543153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255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4480560" y="4553712"/>
            <a:ext cx="0" cy="1517904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4645152" y="4608576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30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gap</a:t>
            </a:r>
            <a:endParaRPr lang="en-US" sz="1150" dirty="0"/>
          </a:p>
        </p:txBody>
      </p:sp>
      <p:sp>
        <p:nvSpPr>
          <p:cNvPr id="32" name="Text 29"/>
          <p:cNvSpPr txBox="1"/>
          <p:nvPr/>
        </p:nvSpPr>
        <p:spPr>
          <a:xfrm>
            <a:off x="4645152" y="4837176"/>
            <a:ext cx="1600200" cy="42203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4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45x</a:t>
            </a:r>
            <a:endParaRPr lang="en-US" sz="2400" dirty="0"/>
          </a:p>
        </p:txBody>
      </p:sp>
      <p:sp>
        <p:nvSpPr>
          <p:cNvPr id="33" name="Text 30"/>
          <p:cNvSpPr txBox="1"/>
          <p:nvPr/>
        </p:nvSpPr>
        <p:spPr>
          <a:xfrm>
            <a:off x="4645152" y="5286639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bank payment is 45x the size of a non-bank one (2025)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6656832" y="4334256"/>
            <a:ext cx="4956048" cy="1883664"/>
          </a:xfrm>
          <a:prstGeom prst="rect">
            <a:avLst/>
          </a:prstGeom>
          <a:solidFill>
            <a:srgbClr val="FFFFFF"/>
          </a:solidFill>
          <a:ln w="9525">
            <a:solidFill>
              <a:srgbClr val="002060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6803136" y="4224528"/>
            <a:ext cx="1869948" cy="237744"/>
          </a:xfrm>
          <a:prstGeom prst="rect">
            <a:avLst/>
          </a:prstGeom>
          <a:solidFill>
            <a:srgbClr val="002060"/>
          </a:solidFill>
          <a:ln w="6350">
            <a:solidFill>
              <a:srgbClr val="002060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6803136" y="4224528"/>
            <a:ext cx="18699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CLEARING RAILS, 2026 H1</a:t>
            </a:r>
            <a:endParaRPr lang="en-US" sz="1000" dirty="0"/>
          </a:p>
        </p:txBody>
      </p:sp>
      <p:sp>
        <p:nvSpPr>
          <p:cNvPr id="37" name="Text 34"/>
          <p:cNvSpPr txBox="1"/>
          <p:nvPr/>
        </p:nvSpPr>
        <p:spPr>
          <a:xfrm>
            <a:off x="6839712" y="451713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UnionPay + NetsUnion activity</a:t>
            </a:r>
            <a:endParaRPr lang="en-US" sz="950" dirty="0"/>
          </a:p>
        </p:txBody>
      </p:sp>
      <p:sp>
        <p:nvSpPr>
          <p:cNvPr id="38" name="Text 35"/>
          <p:cNvSpPr txBox="1"/>
          <p:nvPr/>
        </p:nvSpPr>
        <p:spPr>
          <a:xfrm>
            <a:off x="6839712" y="4846320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0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</a:t>
            </a:r>
            <a:endParaRPr lang="en-US" sz="1150" dirty="0"/>
          </a:p>
        </p:txBody>
      </p:sp>
      <p:sp>
        <p:nvSpPr>
          <p:cNvPr id="39" name="Shape 36"/>
          <p:cNvSpPr/>
          <p:nvPr/>
        </p:nvSpPr>
        <p:spPr>
          <a:xfrm>
            <a:off x="7635240" y="4846320"/>
            <a:ext cx="2898008" cy="347472"/>
          </a:xfrm>
          <a:prstGeom prst="rect">
            <a:avLst/>
          </a:prstGeom>
          <a:solidFill>
            <a:srgbClr val="E9713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10533248" y="4846320"/>
            <a:ext cx="851032" cy="347472"/>
          </a:xfrm>
          <a:prstGeom prst="rect">
            <a:avLst/>
          </a:prstGeom>
          <a:solidFill>
            <a:srgbClr val="00206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7708392" y="4846320"/>
            <a:ext cx="2806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NetsUnion 77.3%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10533248" y="4846320"/>
            <a:ext cx="777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22.7%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6839712" y="5349240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0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1150" dirty="0"/>
          </a:p>
        </p:txBody>
      </p:sp>
      <p:sp>
        <p:nvSpPr>
          <p:cNvPr id="44" name="Shape 41"/>
          <p:cNvSpPr/>
          <p:nvPr/>
        </p:nvSpPr>
        <p:spPr>
          <a:xfrm>
            <a:off x="7635240" y="5349240"/>
            <a:ext cx="2481864" cy="347472"/>
          </a:xfrm>
          <a:prstGeom prst="rect">
            <a:avLst/>
          </a:prstGeom>
          <a:solidFill>
            <a:srgbClr val="E9713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10117104" y="5349240"/>
            <a:ext cx="1267176" cy="347472"/>
          </a:xfrm>
          <a:prstGeom prst="rect">
            <a:avLst/>
          </a:prstGeom>
          <a:solidFill>
            <a:srgbClr val="00206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7708392" y="5349240"/>
            <a:ext cx="23904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NetsUnion 66.2%</a:t>
            </a: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10117104" y="5349240"/>
            <a:ext cx="1194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33.8%</a:t>
            </a:r>
            <a:endParaRPr lang="en-US" sz="1100" dirty="0"/>
          </a:p>
        </p:txBody>
      </p:sp>
      <p:sp>
        <p:nvSpPr>
          <p:cNvPr id="48" name="Text 45"/>
          <p:cNvSpPr txBox="1"/>
          <p:nvPr/>
        </p:nvSpPr>
        <p:spPr>
          <a:xfrm>
            <a:off x="6839712" y="58704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NetsUnion (platform traffic) vs UnionPay (bank cards). Both still settle in bank and PBOC money.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85216" y="219456"/>
            <a:ext cx="11027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7A83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85216" y="420624"/>
            <a:ext cx="11027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Wallets Own China’s Checkout, but Bank Money Funds It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88696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30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Alipay and WeChat Pay hold ~95% of mobile payments, yet most users fund those payments from a bank card.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85216" y="6382512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i="1" dirty="0">
                <a:solidFill>
                  <a:srgbClr val="7A83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Analysys 2015–1Q19 and iResearch 2Q20 via Bloomberg Intelligence; AMRO AFSR 2025 (2024); IMF 2026 ("close to 95%"); Payment &amp; Clearing Association of China, 2025 mobile-payment user survey (multi-select, % of users). Provider estimates differ by source and basis.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92256" y="6364224"/>
            <a:ext cx="7680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7A83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4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85216" y="1408176"/>
            <a:ext cx="6400800" cy="4809744"/>
          </a:xfrm>
          <a:prstGeom prst="rect">
            <a:avLst/>
          </a:prstGeom>
          <a:solidFill>
            <a:srgbClr val="FFFFFF"/>
          </a:solidFill>
          <a:ln w="9525">
            <a:solidFill>
              <a:srgbClr val="00206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298448"/>
            <a:ext cx="2144268" cy="237744"/>
          </a:xfrm>
          <a:prstGeom prst="rect">
            <a:avLst/>
          </a:prstGeom>
          <a:solidFill>
            <a:srgbClr val="002060"/>
          </a:solidFill>
          <a:ln w="6350">
            <a:solidFill>
              <a:srgbClr val="00206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1298448"/>
            <a:ext cx="21442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MOBILE-PAYMENT MARKET SHARE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94944" y="1591056"/>
            <a:ext cx="6181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mobile-payment share (%)</a:t>
            </a:r>
            <a:endParaRPr lang="en-US" sz="1050" dirty="0"/>
          </a:p>
        </p:txBody>
      </p:sp>
      <p:graphicFrame>
        <p:nvGraphicFramePr>
          <p:cNvPr id="11" name="Chart 0"/>
          <p:cNvGraphicFramePr/>
          <p:nvPr/>
        </p:nvGraphicFramePr>
        <p:xfrm>
          <a:off x="694944" y="1828800"/>
          <a:ext cx="6181344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Text 9"/>
          <p:cNvSpPr txBox="1"/>
          <p:nvPr/>
        </p:nvSpPr>
        <p:spPr>
          <a:xfrm>
            <a:off x="768096" y="5742432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Combined: 90.3% (2015) → ~95% (2026)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296912" y="1408176"/>
            <a:ext cx="4315968" cy="2615184"/>
          </a:xfrm>
          <a:prstGeom prst="rect">
            <a:avLst/>
          </a:prstGeom>
          <a:solidFill>
            <a:srgbClr val="FFFFFF"/>
          </a:solidFill>
          <a:ln w="9525">
            <a:solidFill>
              <a:srgbClr val="00206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443216" y="1298448"/>
            <a:ext cx="1732788" cy="237744"/>
          </a:xfrm>
          <a:prstGeom prst="rect">
            <a:avLst/>
          </a:prstGeom>
          <a:solidFill>
            <a:srgbClr val="002060"/>
          </a:solidFill>
          <a:ln w="6350">
            <a:solidFill>
              <a:srgbClr val="00206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443216" y="1298448"/>
            <a:ext cx="17327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FUNDS THE WALLET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7406640" y="1591056"/>
            <a:ext cx="4096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funding source used (% of users, 2025)</a:t>
            </a:r>
            <a:endParaRPr lang="en-US" sz="1050" dirty="0"/>
          </a:p>
        </p:txBody>
      </p:sp>
      <p:graphicFrame>
        <p:nvGraphicFramePr>
          <p:cNvPr id="17" name="Chart 1"/>
          <p:cNvGraphicFramePr/>
          <p:nvPr/>
        </p:nvGraphicFramePr>
        <p:xfrm>
          <a:off x="7406640" y="1828800"/>
          <a:ext cx="4096512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8" name="Shape 14"/>
          <p:cNvSpPr/>
          <p:nvPr/>
        </p:nvSpPr>
        <p:spPr>
          <a:xfrm>
            <a:off x="7296912" y="4334256"/>
            <a:ext cx="4315968" cy="1883664"/>
          </a:xfrm>
          <a:prstGeom prst="rect">
            <a:avLst/>
          </a:prstGeom>
          <a:solidFill>
            <a:srgbClr val="FFFFFF"/>
          </a:solidFill>
          <a:ln w="9525">
            <a:solidFill>
              <a:srgbClr val="002060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443216" y="4224528"/>
            <a:ext cx="1321308" cy="237744"/>
          </a:xfrm>
          <a:prstGeom prst="rect">
            <a:avLst/>
          </a:prstGeom>
          <a:solidFill>
            <a:srgbClr val="002060"/>
          </a:solidFill>
          <a:ln w="6350">
            <a:solidFill>
              <a:srgbClr val="002060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7443216" y="4224528"/>
            <a:ext cx="13213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CHINESE PAY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8732520" y="4553712"/>
            <a:ext cx="0" cy="1517904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10168128" y="4553712"/>
            <a:ext cx="0" cy="1517904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7461504" y="4572000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30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use</a:t>
            </a:r>
            <a:endParaRPr lang="en-US" sz="1150" dirty="0"/>
          </a:p>
        </p:txBody>
      </p:sp>
      <p:sp>
        <p:nvSpPr>
          <p:cNvPr id="24" name="Text 20"/>
          <p:cNvSpPr txBox="1"/>
          <p:nvPr/>
        </p:nvSpPr>
        <p:spPr>
          <a:xfrm>
            <a:off x="7461504" y="4800600"/>
            <a:ext cx="1234440" cy="38686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88.5%</a:t>
            </a:r>
            <a:endParaRPr lang="en-US" sz="2200" dirty="0"/>
          </a:p>
        </p:txBody>
      </p:sp>
      <p:sp>
        <p:nvSpPr>
          <p:cNvPr id="25" name="Text 21"/>
          <p:cNvSpPr txBox="1"/>
          <p:nvPr/>
        </p:nvSpPr>
        <p:spPr>
          <a:xfrm>
            <a:off x="7461504" y="5214894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by phone every day</a:t>
            </a:r>
            <a:endParaRPr lang="en-US" sz="1000" dirty="0"/>
          </a:p>
        </p:txBody>
      </p:sp>
      <p:sp>
        <p:nvSpPr>
          <p:cNvPr id="26" name="Text 22"/>
          <p:cNvSpPr txBox="1"/>
          <p:nvPr/>
        </p:nvSpPr>
        <p:spPr>
          <a:xfrm>
            <a:off x="8897112" y="4572000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30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code</a:t>
            </a:r>
            <a:endParaRPr lang="en-US" sz="1150" dirty="0"/>
          </a:p>
        </p:txBody>
      </p:sp>
      <p:sp>
        <p:nvSpPr>
          <p:cNvPr id="27" name="Text 23"/>
          <p:cNvSpPr txBox="1"/>
          <p:nvPr/>
        </p:nvSpPr>
        <p:spPr>
          <a:xfrm>
            <a:off x="8897112" y="4800600"/>
            <a:ext cx="1234440" cy="38686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93.1%</a:t>
            </a:r>
            <a:endParaRPr lang="en-US" sz="2200" dirty="0"/>
          </a:p>
        </p:txBody>
      </p:sp>
      <p:sp>
        <p:nvSpPr>
          <p:cNvPr id="28" name="Text 24"/>
          <p:cNvSpPr txBox="1"/>
          <p:nvPr/>
        </p:nvSpPr>
        <p:spPr>
          <a:xfrm>
            <a:off x="8897112" y="5214894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mostly scan QR codes</a:t>
            </a:r>
            <a:endParaRPr lang="en-US" sz="1000" dirty="0"/>
          </a:p>
        </p:txBody>
      </p:sp>
      <p:sp>
        <p:nvSpPr>
          <p:cNvPr id="29" name="Text 25"/>
          <p:cNvSpPr txBox="1"/>
          <p:nvPr/>
        </p:nvSpPr>
        <p:spPr>
          <a:xfrm>
            <a:off x="10332720" y="4572000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30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ticket</a:t>
            </a:r>
            <a:endParaRPr lang="en-US" sz="1150" dirty="0"/>
          </a:p>
        </p:txBody>
      </p:sp>
      <p:sp>
        <p:nvSpPr>
          <p:cNvPr id="30" name="Text 26"/>
          <p:cNvSpPr txBox="1"/>
          <p:nvPr/>
        </p:nvSpPr>
        <p:spPr>
          <a:xfrm>
            <a:off x="10332720" y="4800600"/>
            <a:ext cx="1234440" cy="38686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77.6%</a:t>
            </a:r>
            <a:endParaRPr lang="en-US" sz="2200" dirty="0"/>
          </a:p>
        </p:txBody>
      </p:sp>
      <p:sp>
        <p:nvSpPr>
          <p:cNvPr id="31" name="Text 27"/>
          <p:cNvSpPr txBox="1"/>
          <p:nvPr/>
        </p:nvSpPr>
        <p:spPr>
          <a:xfrm>
            <a:off x="10332720" y="5214894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usually pay below RMB100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85216" y="219456"/>
            <a:ext cx="11027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7A83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85216" y="420624"/>
            <a:ext cx="11027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Adopted Wallets First, Bank Apps Caught Up Four Years Later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88696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30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Payment-app use was near universal by 2020; mobile banking reached 88% by 2024 as banks rebuilt their front end.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85216" y="6382512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i="1" dirty="0">
                <a:solidFill>
                  <a:srgbClr val="7A83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CNNIC Statistical Reports (network-payment users, % of internet users); CFCA China e-/digital banking surveys (personal mobile-banking users, % of respondents; 2015 derived); ICBC/ABC 2025 annual reports, CCB 2025 interim, CMB 2025 annual report; Ant Group prospectus (Alipay MAU, Jun 2020). Definitions differ by institution.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92256" y="6364224"/>
            <a:ext cx="7680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7A83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5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85216" y="1408176"/>
            <a:ext cx="6400800" cy="4809744"/>
          </a:xfrm>
          <a:prstGeom prst="rect">
            <a:avLst/>
          </a:prstGeom>
          <a:solidFill>
            <a:srgbClr val="FFFFFF"/>
          </a:solidFill>
          <a:ln w="9525">
            <a:solidFill>
              <a:srgbClr val="00206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298448"/>
            <a:ext cx="841248" cy="237744"/>
          </a:xfrm>
          <a:prstGeom prst="rect">
            <a:avLst/>
          </a:prstGeom>
          <a:solidFill>
            <a:srgbClr val="002060"/>
          </a:solidFill>
          <a:ln w="6350">
            <a:solidFill>
              <a:srgbClr val="00206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1298448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94944" y="1591056"/>
            <a:ext cx="6181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of payment apps vs mobile banking (%)</a:t>
            </a:r>
            <a:endParaRPr lang="en-US" sz="1050" dirty="0"/>
          </a:p>
        </p:txBody>
      </p:sp>
      <p:graphicFrame>
        <p:nvGraphicFramePr>
          <p:cNvPr id="11" name="Chart 0"/>
          <p:cNvGraphicFramePr/>
          <p:nvPr/>
        </p:nvGraphicFramePr>
        <p:xfrm>
          <a:off x="694944" y="1828800"/>
          <a:ext cx="512064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Text 9"/>
          <p:cNvSpPr txBox="1"/>
          <p:nvPr/>
        </p:nvSpPr>
        <p:spPr>
          <a:xfrm>
            <a:off x="5768035" y="2061519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apps 92.9%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5768035" y="2426452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banking 88%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768096" y="5870448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1.03bn people paid online in 2024, up from 167m in 2011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296912" y="1408176"/>
            <a:ext cx="4315968" cy="4809744"/>
          </a:xfrm>
          <a:prstGeom prst="rect">
            <a:avLst/>
          </a:prstGeom>
          <a:solidFill>
            <a:srgbClr val="FFFFFF"/>
          </a:solidFill>
          <a:ln w="9525">
            <a:solidFill>
              <a:srgbClr val="00206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443216" y="1298448"/>
            <a:ext cx="1664208" cy="237744"/>
          </a:xfrm>
          <a:prstGeom prst="rect">
            <a:avLst/>
          </a:prstGeom>
          <a:solidFill>
            <a:srgbClr val="002060"/>
          </a:solidFill>
          <a:ln w="6350">
            <a:solidFill>
              <a:srgbClr val="00206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443216" y="1298448"/>
            <a:ext cx="1664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ACTIVE USERS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7406640" y="1591056"/>
            <a:ext cx="4096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MAU (millions)</a:t>
            </a:r>
            <a:endParaRPr lang="en-US" sz="1050" dirty="0"/>
          </a:p>
        </p:txBody>
      </p:sp>
      <p:graphicFrame>
        <p:nvGraphicFramePr>
          <p:cNvPr id="19" name="Chart 1"/>
          <p:cNvGraphicFramePr/>
          <p:nvPr/>
        </p:nvGraphicFramePr>
        <p:xfrm>
          <a:off x="7406640" y="1874520"/>
          <a:ext cx="4096512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0" name="Shape 16"/>
          <p:cNvSpPr/>
          <p:nvPr/>
        </p:nvSpPr>
        <p:spPr>
          <a:xfrm>
            <a:off x="7498080" y="5029200"/>
            <a:ext cx="3931920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7498080" y="5138928"/>
            <a:ext cx="1920240" cy="38686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938m</a:t>
            </a:r>
            <a:endParaRPr lang="en-US" sz="2200" dirty="0"/>
          </a:p>
        </p:txBody>
      </p:sp>
      <p:sp>
        <p:nvSpPr>
          <p:cNvPr id="22" name="Text 18"/>
          <p:cNvSpPr txBox="1"/>
          <p:nvPr/>
        </p:nvSpPr>
        <p:spPr>
          <a:xfrm>
            <a:off x="7498080" y="555322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MAU of the four bank apps combined</a:t>
            </a:r>
            <a:endParaRPr lang="en-US" sz="1000" dirty="0"/>
          </a:p>
        </p:txBody>
      </p:sp>
      <p:sp>
        <p:nvSpPr>
          <p:cNvPr id="23" name="Text 19"/>
          <p:cNvSpPr txBox="1"/>
          <p:nvPr/>
        </p:nvSpPr>
        <p:spPr>
          <a:xfrm>
            <a:off x="9509760" y="5138928"/>
            <a:ext cx="1920240" cy="38686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711m</a:t>
            </a:r>
            <a:endParaRPr lang="en-US" sz="2200" dirty="0"/>
          </a:p>
        </p:txBody>
      </p:sp>
      <p:sp>
        <p:nvSpPr>
          <p:cNvPr id="24" name="Text 20"/>
          <p:cNvSpPr txBox="1"/>
          <p:nvPr/>
        </p:nvSpPr>
        <p:spPr>
          <a:xfrm>
            <a:off x="9509760" y="555322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Alipay alone in 2020, three-quarters of that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85216" y="219456"/>
            <a:ext cx="11027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7A83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· ACTIVITY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85216" y="420624"/>
            <a:ext cx="11027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Sides Digitised, at Very Different Speeds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88696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30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mobile payments grew fastest in value, non-banks fastest in count. Fintech forced banks to digitise rather than replacing them.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85216" y="6382512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i="1" dirty="0">
                <a:solidFill>
                  <a:srgbClr val="7A83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PBOC Payment System Reports; Analysys/Sina (2010–2011 non-bank online payment estimates); internal calculations. CAGR periods: bank mobile 2010–2025; bank e-payments and non-bank network payments 2013–2025. 2026 H1 is half-year actual, not annualised.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92256" y="6364224"/>
            <a:ext cx="7680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7A83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6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85216" y="1408176"/>
            <a:ext cx="6949440" cy="4809744"/>
          </a:xfrm>
          <a:prstGeom prst="rect">
            <a:avLst/>
          </a:prstGeom>
          <a:solidFill>
            <a:srgbClr val="FFFFFF"/>
          </a:solidFill>
          <a:ln w="9525">
            <a:solidFill>
              <a:srgbClr val="00206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298448"/>
            <a:ext cx="1184148" cy="237744"/>
          </a:xfrm>
          <a:prstGeom prst="rect">
            <a:avLst/>
          </a:prstGeom>
          <a:solidFill>
            <a:srgbClr val="002060"/>
          </a:solidFill>
          <a:ln w="6350">
            <a:solidFill>
              <a:srgbClr val="00206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1298448"/>
            <a:ext cx="11841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VALUE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94944" y="1591056"/>
            <a:ext cx="6729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of payments, RMB tn (log scale)</a:t>
            </a:r>
            <a:endParaRPr lang="en-US" sz="1050" dirty="0"/>
          </a:p>
        </p:txBody>
      </p:sp>
      <p:graphicFrame>
        <p:nvGraphicFramePr>
          <p:cNvPr id="11" name="Chart 0"/>
          <p:cNvGraphicFramePr/>
          <p:nvPr>
            <p:extLst>
              <p:ext uri="{D42A27DB-BD31-4B8C-83A1-F6EECF244321}">
                <p14:modId xmlns:p14="http://schemas.microsoft.com/office/powerpoint/2010/main" val="3394610055"/>
              </p:ext>
            </p:extLst>
          </p:nvPr>
        </p:nvGraphicFramePr>
        <p:xfrm>
          <a:off x="694944" y="1828800"/>
          <a:ext cx="548640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Text 9"/>
          <p:cNvSpPr txBox="1"/>
          <p:nvPr/>
        </p:nvSpPr>
        <p:spPr>
          <a:xfrm>
            <a:off x="6126480" y="204199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mobile 572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6126480" y="2454277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Non-bank 338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845552" y="1408176"/>
            <a:ext cx="3767328" cy="4809744"/>
          </a:xfrm>
          <a:prstGeom prst="rect">
            <a:avLst/>
          </a:prstGeom>
          <a:solidFill>
            <a:srgbClr val="FFFFFF"/>
          </a:solidFill>
          <a:ln w="9525">
            <a:solidFill>
              <a:srgbClr val="00206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991856" y="1298448"/>
            <a:ext cx="1801368" cy="237744"/>
          </a:xfrm>
          <a:prstGeom prst="rect">
            <a:avLst/>
          </a:prstGeom>
          <a:solidFill>
            <a:srgbClr val="002060"/>
          </a:solidFill>
          <a:ln w="6350">
            <a:solidFill>
              <a:srgbClr val="00206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991856" y="1298448"/>
            <a:ext cx="1801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 ANNUAL GROWTH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7955280" y="1591056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 (%)</a:t>
            </a:r>
            <a:endParaRPr lang="en-US" sz="1050" dirty="0"/>
          </a:p>
        </p:txBody>
      </p:sp>
      <p:graphicFrame>
        <p:nvGraphicFramePr>
          <p:cNvPr id="18" name="Chart 1"/>
          <p:cNvGraphicFramePr/>
          <p:nvPr/>
        </p:nvGraphicFramePr>
        <p:xfrm>
          <a:off x="7955280" y="1828800"/>
          <a:ext cx="3547872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9" name="Shape 15"/>
          <p:cNvSpPr/>
          <p:nvPr/>
        </p:nvSpPr>
        <p:spPr>
          <a:xfrm>
            <a:off x="8028432" y="4892040"/>
            <a:ext cx="3401568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8028432" y="4983480"/>
            <a:ext cx="3383280" cy="42203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4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1,003x</a:t>
            </a:r>
            <a:endParaRPr lang="en-US" sz="2400" dirty="0"/>
          </a:p>
        </p:txBody>
      </p:sp>
      <p:sp>
        <p:nvSpPr>
          <p:cNvPr id="21" name="Text 17"/>
          <p:cNvSpPr txBox="1"/>
          <p:nvPr/>
        </p:nvSpPr>
        <p:spPr>
          <a:xfrm>
            <a:off x="8028432" y="5432943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mobile-payment value, 2010 to 2025 (RMB0.57tn to RMB572tn)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85216" y="219456"/>
            <a:ext cx="11027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7A83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· BANKS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85216" y="420624"/>
            <a:ext cx="11027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 Grew Fivefold but Earn Half the Return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88696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30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Assets compounded at 11.4% a year, but profit grew only 6.8% as margins were squeezed by rate liberalisation, policy lending and rate cuts.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85216" y="6382512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i="1" dirty="0">
                <a:solidFill>
                  <a:srgbClr val="7A83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CBRC/CBIRC/NFRA annual statistics (sector assets, ROE, NIM, profit); Bloomberg TIM-11 panel (median T12 NIM of 10 listed banks: ICBC, CCB, ABC, BOC, BoCom, PSBC, CMB, SPDB, Minsheng, Ping An Bank; CICC excluded); internal calculations. 2026 H1 = Q2 actual.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92256" y="6364224"/>
            <a:ext cx="7680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7A83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7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85216" y="1408176"/>
            <a:ext cx="5358384" cy="2615184"/>
          </a:xfrm>
          <a:prstGeom prst="rect">
            <a:avLst/>
          </a:prstGeom>
          <a:solidFill>
            <a:srgbClr val="FFFFFF"/>
          </a:solidFill>
          <a:ln w="9525">
            <a:solidFill>
              <a:srgbClr val="00206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298448"/>
            <a:ext cx="1252728" cy="237744"/>
          </a:xfrm>
          <a:prstGeom prst="rect">
            <a:avLst/>
          </a:prstGeom>
          <a:solidFill>
            <a:srgbClr val="002060"/>
          </a:solidFill>
          <a:ln w="6350">
            <a:solidFill>
              <a:srgbClr val="00206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1298448"/>
            <a:ext cx="1252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ASSETS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94944" y="1591056"/>
            <a:ext cx="5138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banking assets (RMB tn)</a:t>
            </a:r>
            <a:endParaRPr lang="en-US" sz="1050" dirty="0"/>
          </a:p>
        </p:txBody>
      </p:sp>
      <p:graphicFrame>
        <p:nvGraphicFramePr>
          <p:cNvPr id="11" name="Chart 0"/>
          <p:cNvGraphicFramePr/>
          <p:nvPr/>
        </p:nvGraphicFramePr>
        <p:xfrm>
          <a:off x="694944" y="1828800"/>
          <a:ext cx="5138928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Shape 9"/>
          <p:cNvSpPr/>
          <p:nvPr/>
        </p:nvSpPr>
        <p:spPr>
          <a:xfrm>
            <a:off x="6254496" y="1408176"/>
            <a:ext cx="5358384" cy="2615184"/>
          </a:xfrm>
          <a:prstGeom prst="rect">
            <a:avLst/>
          </a:prstGeom>
          <a:solidFill>
            <a:srgbClr val="FFFFFF"/>
          </a:solidFill>
          <a:ln w="9525">
            <a:solidFill>
              <a:srgbClr val="00206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400800" y="1298448"/>
            <a:ext cx="1389888" cy="237744"/>
          </a:xfrm>
          <a:prstGeom prst="rect">
            <a:avLst/>
          </a:prstGeom>
          <a:solidFill>
            <a:srgbClr val="002060"/>
          </a:solidFill>
          <a:ln w="6350">
            <a:solidFill>
              <a:srgbClr val="00206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00800" y="1298448"/>
            <a:ext cx="1389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ON EQUITY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6364224" y="1591056"/>
            <a:ext cx="5138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Banking-sector ROE (%)</a:t>
            </a:r>
            <a:endParaRPr lang="en-US" sz="1050" dirty="0"/>
          </a:p>
        </p:txBody>
      </p:sp>
      <p:graphicFrame>
        <p:nvGraphicFramePr>
          <p:cNvPr id="16" name="Chart 1"/>
          <p:cNvGraphicFramePr/>
          <p:nvPr/>
        </p:nvGraphicFramePr>
        <p:xfrm>
          <a:off x="6364224" y="1828800"/>
          <a:ext cx="5138928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7" name="Shape 13"/>
          <p:cNvSpPr/>
          <p:nvPr/>
        </p:nvSpPr>
        <p:spPr>
          <a:xfrm>
            <a:off x="585216" y="4334256"/>
            <a:ext cx="11027664" cy="1883664"/>
          </a:xfrm>
          <a:prstGeom prst="rect">
            <a:avLst/>
          </a:prstGeom>
          <a:solidFill>
            <a:srgbClr val="FFFFFF"/>
          </a:solidFill>
          <a:ln w="9525">
            <a:solidFill>
              <a:srgbClr val="002060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731520" y="4224528"/>
            <a:ext cx="1527048" cy="237744"/>
          </a:xfrm>
          <a:prstGeom prst="rect">
            <a:avLst/>
          </a:prstGeom>
          <a:solidFill>
            <a:srgbClr val="002060"/>
          </a:solidFill>
          <a:ln w="6350">
            <a:solidFill>
              <a:srgbClr val="002060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731520" y="4224528"/>
            <a:ext cx="1527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MARGIN SQUEEZE</a:t>
            </a:r>
            <a:endParaRPr lang="en-US" sz="1000" dirty="0"/>
          </a:p>
        </p:txBody>
      </p:sp>
      <p:sp>
        <p:nvSpPr>
          <p:cNvPr id="20" name="Text 16"/>
          <p:cNvSpPr txBox="1"/>
          <p:nvPr/>
        </p:nvSpPr>
        <p:spPr>
          <a:xfrm>
            <a:off x="694944" y="4498848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net interest margin, 10 listed banks (%)</a:t>
            </a:r>
            <a:endParaRPr lang="en-US" sz="1050" dirty="0"/>
          </a:p>
        </p:txBody>
      </p:sp>
      <p:graphicFrame>
        <p:nvGraphicFramePr>
          <p:cNvPr id="21" name="Chart 2"/>
          <p:cNvGraphicFramePr/>
          <p:nvPr/>
        </p:nvGraphicFramePr>
        <p:xfrm>
          <a:off x="694944" y="4498848"/>
          <a:ext cx="5852160" cy="1645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2" name="Text 17"/>
          <p:cNvSpPr txBox="1"/>
          <p:nvPr/>
        </p:nvSpPr>
        <p:spPr>
          <a:xfrm>
            <a:off x="6543446" y="5555748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1.38%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7315200" y="4553712"/>
            <a:ext cx="0" cy="1517904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9418320" y="4553712"/>
            <a:ext cx="0" cy="1517904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7498080" y="455371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30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vs profit</a:t>
            </a:r>
            <a:endParaRPr lang="en-US" sz="1150" dirty="0"/>
          </a:p>
        </p:txBody>
      </p:sp>
      <p:sp>
        <p:nvSpPr>
          <p:cNvPr id="26" name="Text 21"/>
          <p:cNvSpPr txBox="1"/>
          <p:nvPr/>
        </p:nvSpPr>
        <p:spPr>
          <a:xfrm>
            <a:off x="7498080" y="478231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2010–2025</a:t>
            </a:r>
            <a:endParaRPr lang="en-US" sz="950" dirty="0"/>
          </a:p>
        </p:txBody>
      </p:sp>
      <p:sp>
        <p:nvSpPr>
          <p:cNvPr id="27" name="Text 22"/>
          <p:cNvSpPr txBox="1"/>
          <p:nvPr/>
        </p:nvSpPr>
        <p:spPr>
          <a:xfrm>
            <a:off x="7498080" y="5001768"/>
            <a:ext cx="1828800" cy="3516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0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11.4% vs 6.8%</a:t>
            </a:r>
            <a:endParaRPr lang="en-US" sz="2000" dirty="0"/>
          </a:p>
        </p:txBody>
      </p:sp>
      <p:sp>
        <p:nvSpPr>
          <p:cNvPr id="28" name="Text 23"/>
          <p:cNvSpPr txBox="1"/>
          <p:nvPr/>
        </p:nvSpPr>
        <p:spPr>
          <a:xfrm>
            <a:off x="7498080" y="53808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 of assets vs profit, 2010–2025</a:t>
            </a:r>
            <a:endParaRPr lang="en-US" sz="1000" dirty="0"/>
          </a:p>
        </p:txBody>
      </p:sp>
      <p:sp>
        <p:nvSpPr>
          <p:cNvPr id="29" name="Text 24"/>
          <p:cNvSpPr txBox="1"/>
          <p:nvPr/>
        </p:nvSpPr>
        <p:spPr>
          <a:xfrm>
            <a:off x="9601200" y="455371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30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quality</a:t>
            </a:r>
            <a:endParaRPr lang="en-US" sz="1150" dirty="0"/>
          </a:p>
        </p:txBody>
      </p:sp>
      <p:sp>
        <p:nvSpPr>
          <p:cNvPr id="30" name="Text 25"/>
          <p:cNvSpPr txBox="1"/>
          <p:nvPr/>
        </p:nvSpPr>
        <p:spPr>
          <a:xfrm>
            <a:off x="9601200" y="478231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NPL ratio</a:t>
            </a:r>
            <a:endParaRPr lang="en-US" sz="950" dirty="0"/>
          </a:p>
        </p:txBody>
      </p:sp>
      <p:sp>
        <p:nvSpPr>
          <p:cNvPr id="31" name="Text 26"/>
          <p:cNvSpPr txBox="1"/>
          <p:nvPr/>
        </p:nvSpPr>
        <p:spPr>
          <a:xfrm>
            <a:off x="9601200" y="5001768"/>
            <a:ext cx="1828800" cy="3516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000" b="1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1.13% → 1.52%</a:t>
            </a:r>
            <a:endParaRPr lang="en-US" sz="2000" dirty="0"/>
          </a:p>
        </p:txBody>
      </p:sp>
      <p:sp>
        <p:nvSpPr>
          <p:cNvPr id="32" name="Text 27"/>
          <p:cNvSpPr txBox="1"/>
          <p:nvPr/>
        </p:nvSpPr>
        <p:spPr>
          <a:xfrm>
            <a:off x="9601200" y="53808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NPL ratio, 2010 to 2026 Q2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85216" y="219456"/>
            <a:ext cx="11027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7A83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· PLATFORMS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85216" y="420624"/>
            <a:ext cx="11027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Profits Peaked, Then Split by Business Model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88696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30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Tencent’s fintech revenue keeps compounding, Ant’s profit is absorbed by AI spending, and loan facilitators are shrinking.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85216" y="6382512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i="1" dirty="0">
                <a:solidFill>
                  <a:srgbClr val="7A83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Bloomberg Intelligence (Jul–Sep 2026): Tencent FinTech &amp; Business Services revenue (company filings; 2026E–27E consensus; includes cloud); Ant net profit is a BI calculation from Alibaba equity-method disclosure, 2026E is a BI estimate (RMB16–20bn, midpoint shown); 2019 from Ant prospectus. Group net income: online lenders = Lufax, Qifu, FinVolution, Lexin; brokers = Futu, Tiger (consensus, approx. from BI chart).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92256" y="6364224"/>
            <a:ext cx="7680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7A83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8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85216" y="1408176"/>
            <a:ext cx="5760720" cy="4809744"/>
          </a:xfrm>
          <a:prstGeom prst="rect">
            <a:avLst/>
          </a:prstGeom>
          <a:solidFill>
            <a:srgbClr val="FFFFFF"/>
          </a:solidFill>
          <a:ln w="9525">
            <a:solidFill>
              <a:srgbClr val="00206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298448"/>
            <a:ext cx="2692908" cy="237744"/>
          </a:xfrm>
          <a:prstGeom prst="rect">
            <a:avLst/>
          </a:prstGeom>
          <a:solidFill>
            <a:srgbClr val="002060"/>
          </a:solidFill>
          <a:ln w="6350">
            <a:solidFill>
              <a:srgbClr val="00206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1298448"/>
            <a:ext cx="26929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TENCENT FINTECH &amp; BUSINESS SERVICES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94944" y="1591056"/>
            <a:ext cx="5541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revenue (RMB bn)</a:t>
            </a:r>
            <a:endParaRPr lang="en-US" sz="1050" dirty="0"/>
          </a:p>
        </p:txBody>
      </p:sp>
      <p:graphicFrame>
        <p:nvGraphicFramePr>
          <p:cNvPr id="11" name="Chart 0"/>
          <p:cNvGraphicFramePr/>
          <p:nvPr/>
        </p:nvGraphicFramePr>
        <p:xfrm>
          <a:off x="694944" y="1828800"/>
          <a:ext cx="5541264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Text 9"/>
          <p:cNvSpPr txBox="1"/>
          <p:nvPr/>
        </p:nvSpPr>
        <p:spPr>
          <a:xfrm>
            <a:off x="768096" y="55595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+14.6% </a:t>
            </a: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CAGR 2019–2025; consensus +10% in 2026E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656832" y="1408176"/>
            <a:ext cx="4956048" cy="2157984"/>
          </a:xfrm>
          <a:prstGeom prst="rect">
            <a:avLst/>
          </a:prstGeom>
          <a:solidFill>
            <a:srgbClr val="FFFFFF"/>
          </a:solidFill>
          <a:ln w="9525">
            <a:solidFill>
              <a:srgbClr val="00206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803136" y="1298448"/>
            <a:ext cx="1664208" cy="237744"/>
          </a:xfrm>
          <a:prstGeom prst="rect">
            <a:avLst/>
          </a:prstGeom>
          <a:solidFill>
            <a:srgbClr val="002060"/>
          </a:solidFill>
          <a:ln w="6350">
            <a:solidFill>
              <a:srgbClr val="00206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803136" y="1298448"/>
            <a:ext cx="1664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 GROUP NET PROFIT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6766560" y="1591056"/>
            <a:ext cx="4736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profit (RMB bn)</a:t>
            </a:r>
            <a:endParaRPr lang="en-US" sz="1050" dirty="0"/>
          </a:p>
        </p:txBody>
      </p:sp>
      <p:graphicFrame>
        <p:nvGraphicFramePr>
          <p:cNvPr id="17" name="Chart 1"/>
          <p:cNvGraphicFramePr/>
          <p:nvPr/>
        </p:nvGraphicFramePr>
        <p:xfrm>
          <a:off x="6766560" y="1810512"/>
          <a:ext cx="3291840" cy="17007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8" name="Shape 14"/>
          <p:cNvSpPr/>
          <p:nvPr/>
        </p:nvSpPr>
        <p:spPr>
          <a:xfrm>
            <a:off x="10149840" y="1874520"/>
            <a:ext cx="0" cy="155448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10277856" y="182880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30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2026E</a:t>
            </a:r>
            <a:endParaRPr lang="en-US" sz="1150" dirty="0"/>
          </a:p>
        </p:txBody>
      </p:sp>
      <p:sp>
        <p:nvSpPr>
          <p:cNvPr id="20" name="Text 16"/>
          <p:cNvSpPr txBox="1"/>
          <p:nvPr/>
        </p:nvSpPr>
        <p:spPr>
          <a:xfrm>
            <a:off x="10277856" y="2057400"/>
            <a:ext cx="1280160" cy="3516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000" b="1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16–20</a:t>
            </a:r>
            <a:endParaRPr lang="en-US" sz="2000" dirty="0"/>
          </a:p>
        </p:txBody>
      </p:sp>
      <p:sp>
        <p:nvSpPr>
          <p:cNvPr id="21" name="Text 17"/>
          <p:cNvSpPr txBox="1"/>
          <p:nvPr/>
        </p:nvSpPr>
        <p:spPr>
          <a:xfrm>
            <a:off x="10277856" y="2436524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2026E estimate, as R&amp;D rose 44% to RMB35bn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6656832" y="3877056"/>
            <a:ext cx="4956048" cy="2340864"/>
          </a:xfrm>
          <a:prstGeom prst="rect">
            <a:avLst/>
          </a:prstGeom>
          <a:solidFill>
            <a:srgbClr val="FFFFFF"/>
          </a:solidFill>
          <a:ln w="9525">
            <a:solidFill>
              <a:srgbClr val="002060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803136" y="3767328"/>
            <a:ext cx="2281428" cy="237744"/>
          </a:xfrm>
          <a:prstGeom prst="rect">
            <a:avLst/>
          </a:prstGeom>
          <a:solidFill>
            <a:srgbClr val="002060"/>
          </a:solidFill>
          <a:ln w="6350">
            <a:solidFill>
              <a:srgbClr val="002060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6803136" y="3767328"/>
            <a:ext cx="22814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CONSENSUS NET INCOME BY MODEL</a:t>
            </a:r>
            <a:endParaRPr lang="en-US" sz="1000" dirty="0"/>
          </a:p>
        </p:txBody>
      </p:sp>
      <p:sp>
        <p:nvSpPr>
          <p:cNvPr id="25" name="Text 21"/>
          <p:cNvSpPr txBox="1"/>
          <p:nvPr/>
        </p:nvSpPr>
        <p:spPr>
          <a:xfrm>
            <a:off x="6766560" y="4041648"/>
            <a:ext cx="4736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net income (RMB bn)</a:t>
            </a:r>
            <a:endParaRPr lang="en-US" sz="1050" dirty="0"/>
          </a:p>
        </p:txBody>
      </p:sp>
      <p:graphicFrame>
        <p:nvGraphicFramePr>
          <p:cNvPr id="26" name="Chart 2"/>
          <p:cNvGraphicFramePr/>
          <p:nvPr/>
        </p:nvGraphicFramePr>
        <p:xfrm>
          <a:off x="6766560" y="4224528"/>
          <a:ext cx="4736592" cy="19385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85216" y="219456"/>
            <a:ext cx="11027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7A83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· VALUATION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85216" y="420624"/>
            <a:ext cx="11027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Markets Price Banks as Utilities and Platforms as Options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88696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30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price-to-book fell below 1.0x in 2016 and has stayed there. Platform premiums are compressing as regulation caps returns.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85216" y="6382512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i="1" dirty="0">
                <a:solidFill>
                  <a:srgbClr val="7A83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Bloomberg TIM-11 workbook (PX_TO_BOOK_RATIO, RETURN_COM_EQY, DIVIDEND_12_MONTH_YIELD), year-end medians, audit-cleaned (CICC removed, duplicate JD removed). Fintech panel: Tencent, Alibaba, JD, Ping An, East Money, Futu, Qfin, Lexin, FinVolution; coverage rises from 3 names (2010) to 9. Forward P/E: BI, 7 Jul 2026.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92256" y="6364224"/>
            <a:ext cx="7680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7A83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9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85216" y="1408176"/>
            <a:ext cx="5358384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00206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298448"/>
            <a:ext cx="1184148" cy="237744"/>
          </a:xfrm>
          <a:prstGeom prst="rect">
            <a:avLst/>
          </a:prstGeom>
          <a:solidFill>
            <a:srgbClr val="002060"/>
          </a:solidFill>
          <a:ln w="6350">
            <a:solidFill>
              <a:srgbClr val="00206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1298448"/>
            <a:ext cx="11841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PRICE-TO-BOOK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94944" y="1591056"/>
            <a:ext cx="5138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P/B (x)</a:t>
            </a:r>
            <a:endParaRPr lang="en-US" sz="1050" dirty="0"/>
          </a:p>
        </p:txBody>
      </p:sp>
      <p:graphicFrame>
        <p:nvGraphicFramePr>
          <p:cNvPr id="11" name="Chart 0"/>
          <p:cNvGraphicFramePr/>
          <p:nvPr/>
        </p:nvGraphicFramePr>
        <p:xfrm>
          <a:off x="694944" y="1810512"/>
          <a:ext cx="4114800" cy="26151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Text 9"/>
          <p:cNvSpPr txBox="1"/>
          <p:nvPr/>
        </p:nvSpPr>
        <p:spPr>
          <a:xfrm>
            <a:off x="4782312" y="338298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 2.06x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4782312" y="3889602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 0.60x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254496" y="1408176"/>
            <a:ext cx="5358384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00206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400800" y="1298448"/>
            <a:ext cx="1389888" cy="237744"/>
          </a:xfrm>
          <a:prstGeom prst="rect">
            <a:avLst/>
          </a:prstGeom>
          <a:solidFill>
            <a:srgbClr val="002060"/>
          </a:solidFill>
          <a:ln w="6350">
            <a:solidFill>
              <a:srgbClr val="00206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00800" y="1298448"/>
            <a:ext cx="1389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ON EQUITY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6364224" y="1591056"/>
            <a:ext cx="5138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ROE (%)</a:t>
            </a:r>
            <a:endParaRPr lang="en-US" sz="1050" dirty="0"/>
          </a:p>
        </p:txBody>
      </p:sp>
      <p:graphicFrame>
        <p:nvGraphicFramePr>
          <p:cNvPr id="18" name="Chart 1"/>
          <p:cNvGraphicFramePr/>
          <p:nvPr/>
        </p:nvGraphicFramePr>
        <p:xfrm>
          <a:off x="6364224" y="1810512"/>
          <a:ext cx="4114800" cy="26151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9" name="Text 15"/>
          <p:cNvSpPr txBox="1"/>
          <p:nvPr/>
        </p:nvSpPr>
        <p:spPr>
          <a:xfrm>
            <a:off x="10451592" y="2799042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 15.3%</a:t>
            </a:r>
            <a:endParaRPr lang="en-US" sz="1100" dirty="0"/>
          </a:p>
        </p:txBody>
      </p:sp>
      <p:sp>
        <p:nvSpPr>
          <p:cNvPr id="20" name="Text 16"/>
          <p:cNvSpPr txBox="1"/>
          <p:nvPr/>
        </p:nvSpPr>
        <p:spPr>
          <a:xfrm>
            <a:off x="10451592" y="3318133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 9.5%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585216" y="4828032"/>
            <a:ext cx="11027664" cy="1389888"/>
          </a:xfrm>
          <a:prstGeom prst="rect">
            <a:avLst/>
          </a:prstGeom>
          <a:solidFill>
            <a:srgbClr val="FFFFFF"/>
          </a:solidFill>
          <a:ln w="9525">
            <a:solidFill>
              <a:srgbClr val="002060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731520" y="4718304"/>
            <a:ext cx="2350008" cy="237744"/>
          </a:xfrm>
          <a:prstGeom prst="rect">
            <a:avLst/>
          </a:prstGeom>
          <a:solidFill>
            <a:srgbClr val="002060"/>
          </a:solidFill>
          <a:ln w="6350">
            <a:solidFill>
              <a:srgbClr val="002060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731520" y="4718304"/>
            <a:ext cx="2350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VALUATIONS SIT, MID-2026</a:t>
            </a:r>
            <a:endParaRPr lang="en-US" sz="1000" dirty="0"/>
          </a:p>
        </p:txBody>
      </p:sp>
      <p:sp>
        <p:nvSpPr>
          <p:cNvPr id="24" name="Text 20"/>
          <p:cNvSpPr txBox="1"/>
          <p:nvPr/>
        </p:nvSpPr>
        <p:spPr>
          <a:xfrm>
            <a:off x="768096" y="4956048"/>
            <a:ext cx="2468880" cy="38686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3.4x</a:t>
            </a:r>
            <a:endParaRPr lang="en-US" sz="2200" dirty="0"/>
          </a:p>
        </p:txBody>
      </p:sp>
      <p:sp>
        <p:nvSpPr>
          <p:cNvPr id="25" name="Text 21"/>
          <p:cNvSpPr txBox="1"/>
          <p:nvPr/>
        </p:nvSpPr>
        <p:spPr>
          <a:xfrm>
            <a:off x="768096" y="537034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 P/B premium over banks (2.06x vs 0.60x)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3346704" y="5029200"/>
            <a:ext cx="0" cy="1060704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3511296" y="4956048"/>
            <a:ext cx="2468880" cy="38686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4.25%</a:t>
            </a:r>
            <a:endParaRPr lang="en-US" sz="2200" dirty="0"/>
          </a:p>
        </p:txBody>
      </p:sp>
      <p:sp>
        <p:nvSpPr>
          <p:cNvPr id="28" name="Text 24"/>
          <p:cNvSpPr txBox="1"/>
          <p:nvPr/>
        </p:nvSpPr>
        <p:spPr>
          <a:xfrm>
            <a:off x="3511296" y="537034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bank dividend yield, policy-anchored payout</a:t>
            </a:r>
            <a:endParaRPr lang="en-US" sz="1000" dirty="0"/>
          </a:p>
        </p:txBody>
      </p:sp>
      <p:sp>
        <p:nvSpPr>
          <p:cNvPr id="29" name="Shape 25"/>
          <p:cNvSpPr/>
          <p:nvPr/>
        </p:nvSpPr>
        <p:spPr>
          <a:xfrm>
            <a:off x="6089904" y="5029200"/>
            <a:ext cx="0" cy="1060704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6254496" y="4956048"/>
            <a:ext cx="2468880" cy="38686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0.47x</a:t>
            </a:r>
            <a:endParaRPr lang="en-US" sz="2200" dirty="0"/>
          </a:p>
        </p:txBody>
      </p:sp>
      <p:sp>
        <p:nvSpPr>
          <p:cNvPr id="31" name="Text 27"/>
          <p:cNvSpPr txBox="1"/>
          <p:nvPr/>
        </p:nvSpPr>
        <p:spPr>
          <a:xfrm>
            <a:off x="6254496" y="537034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P/B trough in 2022, before the dividend-led rebound</a:t>
            </a:r>
            <a:endParaRPr lang="en-US" sz="1000" dirty="0"/>
          </a:p>
        </p:txBody>
      </p:sp>
      <p:sp>
        <p:nvSpPr>
          <p:cNvPr id="32" name="Shape 28"/>
          <p:cNvSpPr/>
          <p:nvPr/>
        </p:nvSpPr>
        <p:spPr>
          <a:xfrm>
            <a:off x="8833104" y="5029200"/>
            <a:ext cx="0" cy="1060704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8997696" y="4956048"/>
            <a:ext cx="2468880" cy="38686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1.8–3.6x</a:t>
            </a:r>
            <a:endParaRPr lang="en-US" sz="2200" dirty="0"/>
          </a:p>
        </p:txBody>
      </p:sp>
      <p:sp>
        <p:nvSpPr>
          <p:cNvPr id="34" name="Text 30"/>
          <p:cNvSpPr txBox="1"/>
          <p:nvPr/>
        </p:nvSpPr>
        <p:spPr>
          <a:xfrm>
            <a:off x="8997696" y="537034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P/E for Qfin, Lexin, FinVolution: a shrinking earnings base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85216" y="219456"/>
            <a:ext cx="11027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7A83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USAGE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85216" y="420624"/>
            <a:ext cx="11027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Customer, Different Jobs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88696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30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use platforms for frequent, small and contextual needs, and banks for large, sticky and trust-heavy ones.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85216" y="6382512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i="1" dirty="0">
                <a:solidFill>
                  <a:srgbClr val="7A83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PCAC 2025 survey; NBS 2025; AMAC (H1 2026); China Wealth Mgmt Registry (Jun 2026); East Money 2025 annual report; Ant prospectus (H1 2020 revenue mix, total RMB72.5bn); NFRA 2025; MYbank 2025; BOC 2025. Lead/support classification: internal judgement. Fee share: Bloomberg Intelligence (2019) for WeBank 2018 and traditional-bank range.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92256" y="6364224"/>
            <a:ext cx="7680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7A83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10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85216" y="1408176"/>
            <a:ext cx="7223760" cy="4809744"/>
          </a:xfrm>
          <a:prstGeom prst="rect">
            <a:avLst/>
          </a:prstGeom>
          <a:solidFill>
            <a:srgbClr val="FFFFFF"/>
          </a:solidFill>
          <a:ln w="9525">
            <a:solidFill>
              <a:srgbClr val="00206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298448"/>
            <a:ext cx="2144268" cy="237744"/>
          </a:xfrm>
          <a:prstGeom prst="rect">
            <a:avLst/>
          </a:prstGeom>
          <a:solidFill>
            <a:srgbClr val="002060"/>
          </a:solidFill>
          <a:ln w="6350">
            <a:solidFill>
              <a:srgbClr val="00206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1298448"/>
            <a:ext cx="21442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SERVES WHICH CLIENT JOB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2788920" y="16276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886200" y="16276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074920" y="162763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30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marker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1956816"/>
            <a:ext cx="6931152" cy="429768"/>
          </a:xfrm>
          <a:prstGeom prst="rect">
            <a:avLst/>
          </a:prstGeom>
          <a:solidFill>
            <a:srgbClr val="F2F2F2"/>
          </a:solidFill>
          <a:ln w="6350">
            <a:solidFill>
              <a:srgbClr val="F2F2F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41248" y="201168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0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payments &amp; P2P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136392" y="2057400"/>
            <a:ext cx="219456" cy="219456"/>
          </a:xfrm>
          <a:prstGeom prst="ellipse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33672" y="2057400"/>
            <a:ext cx="219456" cy="21945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00206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074920" y="2011680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~95% wallet share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841248" y="244144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0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&amp; savings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136392" y="2487168"/>
            <a:ext cx="219456" cy="21945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E9713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233672" y="2487168"/>
            <a:ext cx="219456" cy="219456"/>
          </a:xfrm>
          <a:prstGeom prst="ellipse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074920" y="2441448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RMB167tn household deposits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31520" y="2816352"/>
            <a:ext cx="6931152" cy="429768"/>
          </a:xfrm>
          <a:prstGeom prst="rect">
            <a:avLst/>
          </a:prstGeom>
          <a:solidFill>
            <a:srgbClr val="F2F2F2"/>
          </a:solidFill>
          <a:ln w="6350">
            <a:solidFill>
              <a:srgbClr val="F2F2F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41248" y="2871216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0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Self-directed funds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136392" y="2916936"/>
            <a:ext cx="219456" cy="219456"/>
          </a:xfrm>
          <a:prstGeom prst="ellipse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233672" y="2916936"/>
            <a:ext cx="219456" cy="21945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00206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074920" y="2871216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 RMB2.21tn vs CMB 1.58tn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841248" y="3300984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0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Wealth products &amp; advice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136392" y="3346704"/>
            <a:ext cx="219456" cy="21945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E9713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233672" y="3346704"/>
            <a:ext cx="219456" cy="219456"/>
          </a:xfrm>
          <a:prstGeom prst="ellipse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074920" y="330098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WMPs RMB33.7tn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31520" y="3675888"/>
            <a:ext cx="6931152" cy="429768"/>
          </a:xfrm>
          <a:prstGeom prst="rect">
            <a:avLst/>
          </a:prstGeom>
          <a:solidFill>
            <a:srgbClr val="F2F2F2"/>
          </a:solidFill>
          <a:ln w="6350">
            <a:solidFill>
              <a:srgbClr val="F2F2F2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41248" y="3730752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0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trading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136392" y="3776472"/>
            <a:ext cx="219456" cy="219456"/>
          </a:xfrm>
          <a:prstGeom prst="ellipse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233672" y="3776472"/>
            <a:ext cx="219456" cy="21945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00206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074920" y="3730752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Money turnover RMB38.5tn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841248" y="416052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0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unsecured credit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136392" y="4206240"/>
            <a:ext cx="219456" cy="219456"/>
          </a:xfrm>
          <a:prstGeom prst="ellipse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233672" y="4206240"/>
            <a:ext cx="219456" cy="219456"/>
          </a:xfrm>
          <a:prstGeom prst="ellipse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5074920" y="4160520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originates, bank funds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31520" y="4535424"/>
            <a:ext cx="6931152" cy="429768"/>
          </a:xfrm>
          <a:prstGeom prst="rect">
            <a:avLst/>
          </a:prstGeom>
          <a:solidFill>
            <a:srgbClr val="F2F2F2"/>
          </a:solidFill>
          <a:ln w="6350">
            <a:solidFill>
              <a:srgbClr val="F2F2F2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841248" y="459028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0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Mortgages &amp; large loans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3063240" y="4590288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4233672" y="4636008"/>
            <a:ext cx="219456" cy="219456"/>
          </a:xfrm>
          <a:prstGeom prst="ellipse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5074920" y="4590288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RMB48.7tn medium/long-term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841248" y="5020056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0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/ merchant credit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3136392" y="5065776"/>
            <a:ext cx="219456" cy="21945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E9713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233672" y="5065776"/>
            <a:ext cx="219456" cy="219456"/>
          </a:xfrm>
          <a:prstGeom prst="ellipse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5074920" y="5020056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Inclusive loans RMB37tn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731520" y="5394960"/>
            <a:ext cx="6931152" cy="429768"/>
          </a:xfrm>
          <a:prstGeom prst="rect">
            <a:avLst/>
          </a:prstGeom>
          <a:solidFill>
            <a:srgbClr val="F2F2F2"/>
          </a:solidFill>
          <a:ln w="6350">
            <a:solidFill>
              <a:srgbClr val="F2F2F2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841248" y="5449824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0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&amp; cross-border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3136392" y="5495544"/>
            <a:ext cx="219456" cy="21945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E9713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233672" y="5495544"/>
            <a:ext cx="219456" cy="219456"/>
          </a:xfrm>
          <a:prstGeom prst="ellipse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5074920" y="544982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BOC ~25% of settlement</a:t>
            </a:r>
            <a:endParaRPr lang="en-US" sz="1000" dirty="0"/>
          </a:p>
        </p:txBody>
      </p:sp>
      <p:sp>
        <p:nvSpPr>
          <p:cNvPr id="54" name="Text 52"/>
          <p:cNvSpPr txBox="1"/>
          <p:nvPr/>
        </p:nvSpPr>
        <p:spPr>
          <a:xfrm>
            <a:off x="841248" y="592531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0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    </a:t>
            </a:r>
            <a:r>
              <a:rPr lang="en-US" sz="1000" dirty="0">
                <a:solidFill>
                  <a:srgbClr val="30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</a:t>
            </a: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/ distributes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8119872" y="1408176"/>
            <a:ext cx="3493008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00206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266176" y="1298448"/>
            <a:ext cx="1801368" cy="237744"/>
          </a:xfrm>
          <a:prstGeom prst="rect">
            <a:avLst/>
          </a:prstGeom>
          <a:solidFill>
            <a:srgbClr val="002060"/>
          </a:solidFill>
          <a:ln w="6350">
            <a:solidFill>
              <a:srgbClr val="002060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8266176" y="1298448"/>
            <a:ext cx="1801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ANT EARNS, H1 2020</a:t>
            </a:r>
            <a:endParaRPr lang="en-US" sz="1000" dirty="0"/>
          </a:p>
        </p:txBody>
      </p:sp>
      <p:graphicFrame>
        <p:nvGraphicFramePr>
          <p:cNvPr id="58" name="Chart 0"/>
          <p:cNvGraphicFramePr/>
          <p:nvPr/>
        </p:nvGraphicFramePr>
        <p:xfrm>
          <a:off x="8211312" y="1664208"/>
          <a:ext cx="3310128" cy="182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9" name="Text 56"/>
          <p:cNvSpPr txBox="1"/>
          <p:nvPr/>
        </p:nvSpPr>
        <p:spPr>
          <a:xfrm>
            <a:off x="8284464" y="35661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63% of revenue comes from selling products made by licensed partners</a:t>
            </a:r>
            <a:endParaRPr lang="en-US" sz="1000" dirty="0"/>
          </a:p>
        </p:txBody>
      </p:sp>
      <p:sp>
        <p:nvSpPr>
          <p:cNvPr id="60" name="Shape 57"/>
          <p:cNvSpPr/>
          <p:nvPr/>
        </p:nvSpPr>
        <p:spPr>
          <a:xfrm>
            <a:off x="8119872" y="4462272"/>
            <a:ext cx="3493008" cy="1755648"/>
          </a:xfrm>
          <a:prstGeom prst="rect">
            <a:avLst/>
          </a:prstGeom>
          <a:solidFill>
            <a:srgbClr val="FFFFFF"/>
          </a:solidFill>
          <a:ln w="9525">
            <a:solidFill>
              <a:srgbClr val="002060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8266176" y="4352544"/>
            <a:ext cx="1664208" cy="237744"/>
          </a:xfrm>
          <a:prstGeom prst="rect">
            <a:avLst/>
          </a:prstGeom>
          <a:solidFill>
            <a:srgbClr val="002060"/>
          </a:solidFill>
          <a:ln w="6350">
            <a:solidFill>
              <a:srgbClr val="002060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8266176" y="4352544"/>
            <a:ext cx="1664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FEES AS % OF REVENUE</a:t>
            </a:r>
            <a:endParaRPr lang="en-US" sz="1000" dirty="0"/>
          </a:p>
        </p:txBody>
      </p:sp>
      <p:sp>
        <p:nvSpPr>
          <p:cNvPr id="63" name="Text 60"/>
          <p:cNvSpPr txBox="1"/>
          <p:nvPr/>
        </p:nvSpPr>
        <p:spPr>
          <a:xfrm>
            <a:off x="8284464" y="470916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0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WeBank (2018)</a:t>
            </a:r>
            <a:endParaRPr lang="en-US" sz="1050" dirty="0"/>
          </a:p>
        </p:txBody>
      </p:sp>
      <p:sp>
        <p:nvSpPr>
          <p:cNvPr id="64" name="Shape 61"/>
          <p:cNvSpPr/>
          <p:nvPr/>
        </p:nvSpPr>
        <p:spPr>
          <a:xfrm>
            <a:off x="9555480" y="4709160"/>
            <a:ext cx="1609344" cy="329184"/>
          </a:xfrm>
          <a:prstGeom prst="rect">
            <a:avLst/>
          </a:prstGeom>
          <a:solidFill>
            <a:srgbClr val="E97132"/>
          </a:solidFill>
          <a:ln w="6350">
            <a:solidFill>
              <a:srgbClr val="E97132"/>
            </a:solidFill>
            <a:prstDash val="solid"/>
          </a:ln>
        </p:spPr>
      </p:sp>
      <p:sp>
        <p:nvSpPr>
          <p:cNvPr id="65" name="Text 62"/>
          <p:cNvSpPr txBox="1"/>
          <p:nvPr/>
        </p:nvSpPr>
        <p:spPr>
          <a:xfrm>
            <a:off x="9610344" y="470916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44%</a:t>
            </a:r>
            <a:endParaRPr lang="en-US" sz="1100" dirty="0"/>
          </a:p>
        </p:txBody>
      </p:sp>
      <p:sp>
        <p:nvSpPr>
          <p:cNvPr id="66" name="Text 63"/>
          <p:cNvSpPr txBox="1"/>
          <p:nvPr/>
        </p:nvSpPr>
        <p:spPr>
          <a:xfrm>
            <a:off x="8284464" y="525780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0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banks</a:t>
            </a:r>
            <a:endParaRPr lang="en-US" sz="1050" dirty="0"/>
          </a:p>
        </p:txBody>
      </p:sp>
      <p:sp>
        <p:nvSpPr>
          <p:cNvPr id="67" name="Shape 64"/>
          <p:cNvSpPr/>
          <p:nvPr/>
        </p:nvSpPr>
        <p:spPr>
          <a:xfrm>
            <a:off x="9555480" y="5257800"/>
            <a:ext cx="914400" cy="329184"/>
          </a:xfrm>
          <a:prstGeom prst="rect">
            <a:avLst/>
          </a:prstGeom>
          <a:solidFill>
            <a:srgbClr val="002060"/>
          </a:solidFill>
          <a:ln w="6350">
            <a:solidFill>
              <a:srgbClr val="002060"/>
            </a:solidFill>
            <a:prstDash val="solid"/>
          </a:ln>
        </p:spPr>
      </p:sp>
      <p:sp>
        <p:nvSpPr>
          <p:cNvPr id="68" name="Text 65"/>
          <p:cNvSpPr txBox="1"/>
          <p:nvPr/>
        </p:nvSpPr>
        <p:spPr>
          <a:xfrm>
            <a:off x="9610344" y="525780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20–30%</a:t>
            </a:r>
            <a:endParaRPr lang="en-US" sz="1100" dirty="0"/>
          </a:p>
        </p:txBody>
      </p:sp>
      <p:sp>
        <p:nvSpPr>
          <p:cNvPr id="69" name="Text 66"/>
          <p:cNvSpPr txBox="1"/>
          <p:nvPr/>
        </p:nvSpPr>
        <p:spPr>
          <a:xfrm>
            <a:off x="8284464" y="58338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 monetise flow, banks monetise stock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85216" y="219456"/>
            <a:ext cx="11027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7A83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USAGE · CREDIT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85216" y="420624"/>
            <a:ext cx="11027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Credit, the Platform Originates but the Bank Funds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88696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30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 took small-ticket demand from bank cards, but regulation keeps most of the credit risk and capital on licensed balance sheets.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85216" y="6382512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i="1" dirty="0">
                <a:solidFill>
                  <a:srgbClr val="7A83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PBOC credit statistics via STCN/Yicai (household short-term consumer loans; Jun 2020 implied from Ant’s 21% share); PBOC payment reports via press (credit cards incl. combined cards); Bloomberg Intelligence (Chongqing Ant Consumer Finance, approx. from chart); Ant prospectus (enabled credit, Jun 2020); CBIRC 2021 internet-loan rules; Qfin, FinVolution Q2 2026 releases.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92256" y="6364224"/>
            <a:ext cx="7680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7A83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11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85216" y="1408176"/>
            <a:ext cx="5358384" cy="2615184"/>
          </a:xfrm>
          <a:prstGeom prst="rect">
            <a:avLst/>
          </a:prstGeom>
          <a:solidFill>
            <a:srgbClr val="FFFFFF"/>
          </a:solidFill>
          <a:ln w="9525">
            <a:solidFill>
              <a:srgbClr val="00206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298448"/>
            <a:ext cx="2350008" cy="237744"/>
          </a:xfrm>
          <a:prstGeom prst="rect">
            <a:avLst/>
          </a:prstGeom>
          <a:solidFill>
            <a:srgbClr val="002060"/>
          </a:solidFill>
          <a:ln w="6350">
            <a:solidFill>
              <a:srgbClr val="00206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1298448"/>
            <a:ext cx="2350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SHORT-TERM CONSUMER LOANS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94944" y="1591056"/>
            <a:ext cx="5138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 short-term consumer loans (RMB tn)</a:t>
            </a:r>
            <a:endParaRPr lang="en-US" sz="1050" dirty="0"/>
          </a:p>
        </p:txBody>
      </p:sp>
      <p:graphicFrame>
        <p:nvGraphicFramePr>
          <p:cNvPr id="11" name="Chart 0"/>
          <p:cNvGraphicFramePr/>
          <p:nvPr/>
        </p:nvGraphicFramePr>
        <p:xfrm>
          <a:off x="694944" y="1828800"/>
          <a:ext cx="3566160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Shape 9"/>
          <p:cNvSpPr/>
          <p:nvPr/>
        </p:nvSpPr>
        <p:spPr>
          <a:xfrm>
            <a:off x="4389120" y="1920240"/>
            <a:ext cx="0" cy="192024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526280" y="2103120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30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Shrinking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4526280" y="2331720"/>
            <a:ext cx="1325880" cy="38686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−13.8%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4526280" y="2746014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 2024 to May 2026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54496" y="1408176"/>
            <a:ext cx="5358384" cy="2615184"/>
          </a:xfrm>
          <a:prstGeom prst="rect">
            <a:avLst/>
          </a:prstGeom>
          <a:solidFill>
            <a:srgbClr val="FFFFFF"/>
          </a:solidFill>
          <a:ln w="9525">
            <a:solidFill>
              <a:srgbClr val="00206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400800" y="1298448"/>
            <a:ext cx="1732788" cy="237744"/>
          </a:xfrm>
          <a:prstGeom prst="rect">
            <a:avLst/>
          </a:prstGeom>
          <a:solidFill>
            <a:srgbClr val="002060"/>
          </a:solidFill>
          <a:ln w="6350">
            <a:solidFill>
              <a:srgbClr val="00206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400800" y="1298448"/>
            <a:ext cx="17327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CARDS IN ISSUE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6364224" y="1591056"/>
            <a:ext cx="5138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cards incl. combined cards (millions)</a:t>
            </a:r>
            <a:endParaRPr lang="en-US" sz="1050" dirty="0"/>
          </a:p>
        </p:txBody>
      </p:sp>
      <p:graphicFrame>
        <p:nvGraphicFramePr>
          <p:cNvPr id="20" name="Chart 1"/>
          <p:cNvGraphicFramePr/>
          <p:nvPr/>
        </p:nvGraphicFramePr>
        <p:xfrm>
          <a:off x="6364224" y="1828800"/>
          <a:ext cx="3566160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1" name="Shape 17"/>
          <p:cNvSpPr/>
          <p:nvPr/>
        </p:nvSpPr>
        <p:spPr>
          <a:xfrm>
            <a:off x="10058400" y="1920240"/>
            <a:ext cx="0" cy="192024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10195560" y="2103120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30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retreat</a:t>
            </a:r>
            <a:endParaRPr lang="en-US" sz="1150" dirty="0"/>
          </a:p>
        </p:txBody>
      </p:sp>
      <p:sp>
        <p:nvSpPr>
          <p:cNvPr id="23" name="Text 19"/>
          <p:cNvSpPr txBox="1"/>
          <p:nvPr/>
        </p:nvSpPr>
        <p:spPr>
          <a:xfrm>
            <a:off x="10195560" y="2331720"/>
            <a:ext cx="1325880" cy="38686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−130m</a:t>
            </a:r>
            <a:endParaRPr lang="en-US" sz="2200" dirty="0"/>
          </a:p>
        </p:txBody>
      </p:sp>
      <p:sp>
        <p:nvSpPr>
          <p:cNvPr id="24" name="Text 20"/>
          <p:cNvSpPr txBox="1"/>
          <p:nvPr/>
        </p:nvSpPr>
        <p:spPr>
          <a:xfrm>
            <a:off x="10195560" y="2746014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 since the 2022 peak, as Huabei won young users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585216" y="4334256"/>
            <a:ext cx="5760720" cy="1883664"/>
          </a:xfrm>
          <a:prstGeom prst="rect">
            <a:avLst/>
          </a:prstGeom>
          <a:solidFill>
            <a:srgbClr val="FFFFFF"/>
          </a:solidFill>
          <a:ln w="9525">
            <a:solidFill>
              <a:srgbClr val="002060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731520" y="4224528"/>
            <a:ext cx="2761488" cy="237744"/>
          </a:xfrm>
          <a:prstGeom prst="rect">
            <a:avLst/>
          </a:prstGeom>
          <a:solidFill>
            <a:srgbClr val="002060"/>
          </a:solidFill>
          <a:ln w="6350">
            <a:solidFill>
              <a:srgbClr val="002060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731520" y="4224528"/>
            <a:ext cx="2761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 CONSUMER FINANCE (HUABEI/JIEBEI)</a:t>
            </a:r>
            <a:endParaRPr lang="en-US" sz="1000" dirty="0"/>
          </a:p>
        </p:txBody>
      </p:sp>
      <p:sp>
        <p:nvSpPr>
          <p:cNvPr id="28" name="Text 24"/>
          <p:cNvSpPr txBox="1"/>
          <p:nvPr/>
        </p:nvSpPr>
        <p:spPr>
          <a:xfrm>
            <a:off x="694944" y="448056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interest income vs credit costs (RMB bn)</a:t>
            </a:r>
            <a:endParaRPr lang="en-US" sz="1050" dirty="0"/>
          </a:p>
        </p:txBody>
      </p:sp>
      <p:graphicFrame>
        <p:nvGraphicFramePr>
          <p:cNvPr id="29" name="Chart 2"/>
          <p:cNvGraphicFramePr/>
          <p:nvPr/>
        </p:nvGraphicFramePr>
        <p:xfrm>
          <a:off x="694944" y="4681728"/>
          <a:ext cx="3749040" cy="14813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30" name="Shape 25"/>
          <p:cNvSpPr/>
          <p:nvPr/>
        </p:nvSpPr>
        <p:spPr>
          <a:xfrm>
            <a:off x="4572000" y="4553712"/>
            <a:ext cx="0" cy="1517904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31" name="Text 26"/>
          <p:cNvSpPr txBox="1"/>
          <p:nvPr/>
        </p:nvSpPr>
        <p:spPr>
          <a:xfrm>
            <a:off x="4709160" y="4553712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30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balance sheet</a:t>
            </a:r>
            <a:endParaRPr lang="en-US" sz="1150" dirty="0"/>
          </a:p>
        </p:txBody>
      </p:sp>
      <p:sp>
        <p:nvSpPr>
          <p:cNvPr id="32" name="Text 27"/>
          <p:cNvSpPr txBox="1"/>
          <p:nvPr/>
        </p:nvSpPr>
        <p:spPr>
          <a:xfrm>
            <a:off x="4709160" y="4782312"/>
            <a:ext cx="1554480" cy="31652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8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RMB303bn</a:t>
            </a:r>
            <a:endParaRPr lang="en-US" sz="1800" dirty="0"/>
          </a:p>
        </p:txBody>
      </p:sp>
      <p:sp>
        <p:nvSpPr>
          <p:cNvPr id="33" name="Text 28"/>
          <p:cNvSpPr txBox="1"/>
          <p:nvPr/>
        </p:nvSpPr>
        <p:spPr>
          <a:xfrm>
            <a:off x="4709160" y="5126267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loans 2025, 3.4x 2022; profit only RMB3.1bn</a:t>
            </a:r>
            <a:endParaRPr lang="en-US" sz="1000" dirty="0"/>
          </a:p>
        </p:txBody>
      </p:sp>
      <p:sp>
        <p:nvSpPr>
          <p:cNvPr id="34" name="Shape 29"/>
          <p:cNvSpPr/>
          <p:nvPr/>
        </p:nvSpPr>
        <p:spPr>
          <a:xfrm>
            <a:off x="6656832" y="4334256"/>
            <a:ext cx="4956048" cy="1883664"/>
          </a:xfrm>
          <a:prstGeom prst="rect">
            <a:avLst/>
          </a:prstGeom>
          <a:solidFill>
            <a:srgbClr val="FFFFFF"/>
          </a:solidFill>
          <a:ln w="9525">
            <a:solidFill>
              <a:srgbClr val="002060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6803136" y="4224528"/>
            <a:ext cx="1664208" cy="237744"/>
          </a:xfrm>
          <a:prstGeom prst="rect">
            <a:avLst/>
          </a:prstGeom>
          <a:solidFill>
            <a:srgbClr val="002060"/>
          </a:solidFill>
          <a:ln w="6350">
            <a:solidFill>
              <a:srgbClr val="002060"/>
            </a:solidFill>
            <a:prstDash val="solid"/>
          </a:ln>
        </p:spPr>
      </p:sp>
      <p:sp>
        <p:nvSpPr>
          <p:cNvPr id="36" name="Text 31"/>
          <p:cNvSpPr txBox="1"/>
          <p:nvPr/>
        </p:nvSpPr>
        <p:spPr>
          <a:xfrm>
            <a:off x="6803136" y="4224528"/>
            <a:ext cx="1664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CARRIES THE RISK</a:t>
            </a:r>
            <a:endParaRPr lang="en-US" sz="1000" dirty="0"/>
          </a:p>
        </p:txBody>
      </p:sp>
      <p:sp>
        <p:nvSpPr>
          <p:cNvPr id="37" name="Shape 32"/>
          <p:cNvSpPr/>
          <p:nvPr/>
        </p:nvSpPr>
        <p:spPr>
          <a:xfrm>
            <a:off x="8302752" y="4553712"/>
            <a:ext cx="0" cy="1517904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38" name="Shape 33"/>
          <p:cNvSpPr/>
          <p:nvPr/>
        </p:nvSpPr>
        <p:spPr>
          <a:xfrm>
            <a:off x="9948672" y="4553712"/>
            <a:ext cx="0" cy="1517904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39" name="Text 34"/>
          <p:cNvSpPr txBox="1"/>
          <p:nvPr/>
        </p:nvSpPr>
        <p:spPr>
          <a:xfrm>
            <a:off x="6821424" y="4553712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30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</a:t>
            </a:r>
            <a:endParaRPr lang="en-US" sz="1150" dirty="0"/>
          </a:p>
        </p:txBody>
      </p:sp>
      <p:sp>
        <p:nvSpPr>
          <p:cNvPr id="40" name="Text 35"/>
          <p:cNvSpPr txBox="1"/>
          <p:nvPr/>
        </p:nvSpPr>
        <p:spPr>
          <a:xfrm>
            <a:off x="6821424" y="4782312"/>
            <a:ext cx="1417320" cy="38686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~21%</a:t>
            </a:r>
            <a:endParaRPr lang="en-US" sz="2200" dirty="0"/>
          </a:p>
        </p:txBody>
      </p:sp>
      <p:sp>
        <p:nvSpPr>
          <p:cNvPr id="41" name="Text 36"/>
          <p:cNvSpPr txBox="1"/>
          <p:nvPr/>
        </p:nvSpPr>
        <p:spPr>
          <a:xfrm>
            <a:off x="6821424" y="5196606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short-term consumer credit enabled by Ant (Jun 2020)</a:t>
            </a:r>
            <a:endParaRPr lang="en-US" sz="1000" dirty="0"/>
          </a:p>
        </p:txBody>
      </p:sp>
      <p:sp>
        <p:nvSpPr>
          <p:cNvPr id="42" name="Text 37"/>
          <p:cNvSpPr txBox="1"/>
          <p:nvPr/>
        </p:nvSpPr>
        <p:spPr>
          <a:xfrm>
            <a:off x="8467344" y="4553712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30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</a:t>
            </a:r>
            <a:endParaRPr lang="en-US" sz="1150" dirty="0"/>
          </a:p>
        </p:txBody>
      </p:sp>
      <p:sp>
        <p:nvSpPr>
          <p:cNvPr id="43" name="Text 38"/>
          <p:cNvSpPr txBox="1"/>
          <p:nvPr/>
        </p:nvSpPr>
        <p:spPr>
          <a:xfrm>
            <a:off x="8467344" y="4782312"/>
            <a:ext cx="1417320" cy="38686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~98%</a:t>
            </a:r>
            <a:endParaRPr lang="en-US" sz="2200" dirty="0"/>
          </a:p>
        </p:txBody>
      </p:sp>
      <p:sp>
        <p:nvSpPr>
          <p:cNvPr id="44" name="Text 39"/>
          <p:cNvSpPr txBox="1"/>
          <p:nvPr/>
        </p:nvSpPr>
        <p:spPr>
          <a:xfrm>
            <a:off x="8467344" y="5196606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it funded by partner banks / securitisation</a:t>
            </a:r>
            <a:endParaRPr lang="en-US" sz="1000" dirty="0"/>
          </a:p>
        </p:txBody>
      </p:sp>
      <p:sp>
        <p:nvSpPr>
          <p:cNvPr id="45" name="Text 40"/>
          <p:cNvSpPr txBox="1"/>
          <p:nvPr/>
        </p:nvSpPr>
        <p:spPr>
          <a:xfrm>
            <a:off x="10113264" y="4553712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30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Squeeze</a:t>
            </a:r>
            <a:endParaRPr lang="en-US" sz="1150" dirty="0"/>
          </a:p>
        </p:txBody>
      </p:sp>
      <p:sp>
        <p:nvSpPr>
          <p:cNvPr id="46" name="Text 41"/>
          <p:cNvSpPr txBox="1"/>
          <p:nvPr/>
        </p:nvSpPr>
        <p:spPr>
          <a:xfrm>
            <a:off x="10113264" y="4782312"/>
            <a:ext cx="1417320" cy="38686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−25%</a:t>
            </a:r>
            <a:endParaRPr lang="en-US" sz="2200" dirty="0"/>
          </a:p>
        </p:txBody>
      </p:sp>
      <p:sp>
        <p:nvSpPr>
          <p:cNvPr id="47" name="Text 42"/>
          <p:cNvSpPr txBox="1"/>
          <p:nvPr/>
        </p:nvSpPr>
        <p:spPr>
          <a:xfrm>
            <a:off x="10113264" y="5196606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Qfin loan volume YoY, Q2 2026 (FinVolution −19%)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85216" y="219456"/>
            <a:ext cx="11027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7A83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USAGE · WEALTH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85216" y="420624"/>
            <a:ext cx="11027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Wealth Is Where Both Sides Grow Together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88696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30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 now lead fund distribution, while bank wealth subsidiaries still manufacture the largest product pool, and sell it through the platforms.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85216" y="6382512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i="1" dirty="0">
                <a:solidFill>
                  <a:srgbClr val="7A83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AMAC top-100 fund distributors via Jiemian, 36Kr, Tiger, 10jqka (non-money-market fund holdings; H2 2024 shares computed from channel totals); China Wealth Management Registry, CS.com.cn, Caixin (bank WMPs; 2018–2019 non-guaranteed only); Tianhong reports via Xinhua, Fitch, Jiemian, Wind (Yu’e Bao).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92256" y="6364224"/>
            <a:ext cx="7680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7A83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12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85216" y="1408176"/>
            <a:ext cx="5358384" cy="2615184"/>
          </a:xfrm>
          <a:prstGeom prst="rect">
            <a:avLst/>
          </a:prstGeom>
          <a:solidFill>
            <a:srgbClr val="FFFFFF"/>
          </a:solidFill>
          <a:ln w="9525">
            <a:solidFill>
              <a:srgbClr val="00206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298448"/>
            <a:ext cx="2418588" cy="237744"/>
          </a:xfrm>
          <a:prstGeom prst="rect">
            <a:avLst/>
          </a:prstGeom>
          <a:solidFill>
            <a:srgbClr val="002060"/>
          </a:solidFill>
          <a:ln w="6350">
            <a:solidFill>
              <a:srgbClr val="00206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1298448"/>
            <a:ext cx="24185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FUND-DISTRIBUTION CHANNEL SHARE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94944" y="1591056"/>
            <a:ext cx="5138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Top-100 non-money fund holdings (%)</a:t>
            </a:r>
            <a:endParaRPr lang="en-US" sz="1050" dirty="0"/>
          </a:p>
        </p:txBody>
      </p:sp>
      <p:graphicFrame>
        <p:nvGraphicFramePr>
          <p:cNvPr id="11" name="Chart 0"/>
          <p:cNvGraphicFramePr/>
          <p:nvPr/>
        </p:nvGraphicFramePr>
        <p:xfrm>
          <a:off x="694944" y="1828800"/>
          <a:ext cx="3291840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Shape 9"/>
          <p:cNvSpPr/>
          <p:nvPr/>
        </p:nvSpPr>
        <p:spPr>
          <a:xfrm>
            <a:off x="4114800" y="1920240"/>
            <a:ext cx="0" cy="192024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251960" y="2011680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30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Crossover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4251960" y="2240280"/>
            <a:ext cx="160020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700" b="1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39.2% vs 38.7%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4251960" y="256665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 overtake banks for the first time, H1 2026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54496" y="1408176"/>
            <a:ext cx="5358384" cy="2615184"/>
          </a:xfrm>
          <a:prstGeom prst="rect">
            <a:avLst/>
          </a:prstGeom>
          <a:solidFill>
            <a:srgbClr val="FFFFFF"/>
          </a:solidFill>
          <a:ln w="9525">
            <a:solidFill>
              <a:srgbClr val="00206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400800" y="1298448"/>
            <a:ext cx="1664208" cy="237744"/>
          </a:xfrm>
          <a:prstGeom prst="rect">
            <a:avLst/>
          </a:prstGeom>
          <a:solidFill>
            <a:srgbClr val="002060"/>
          </a:solidFill>
          <a:ln w="6350">
            <a:solidFill>
              <a:srgbClr val="00206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400800" y="1298448"/>
            <a:ext cx="1664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DISTRIBUTORS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6364224" y="1591056"/>
            <a:ext cx="5138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Non-money fund holdings (RMB tn)</a:t>
            </a:r>
            <a:endParaRPr lang="en-US" sz="1050" dirty="0"/>
          </a:p>
        </p:txBody>
      </p:sp>
      <p:graphicFrame>
        <p:nvGraphicFramePr>
          <p:cNvPr id="20" name="Chart 1"/>
          <p:cNvGraphicFramePr/>
          <p:nvPr>
            <p:extLst>
              <p:ext uri="{D42A27DB-BD31-4B8C-83A1-F6EECF244321}">
                <p14:modId xmlns:p14="http://schemas.microsoft.com/office/powerpoint/2010/main" val="1031304641"/>
              </p:ext>
            </p:extLst>
          </p:nvPr>
        </p:nvGraphicFramePr>
        <p:xfrm>
          <a:off x="6364224" y="1810512"/>
          <a:ext cx="4206240" cy="21579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1" name="Text 17"/>
          <p:cNvSpPr txBox="1"/>
          <p:nvPr/>
        </p:nvSpPr>
        <p:spPr>
          <a:xfrm>
            <a:off x="10457078" y="209871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 Fund 2.21</a:t>
            </a:r>
            <a:endParaRPr lang="en-US" sz="1100" dirty="0"/>
          </a:p>
        </p:txBody>
      </p:sp>
      <p:sp>
        <p:nvSpPr>
          <p:cNvPr id="22" name="Text 18"/>
          <p:cNvSpPr txBox="1"/>
          <p:nvPr/>
        </p:nvSpPr>
        <p:spPr>
          <a:xfrm>
            <a:off x="10457078" y="2588147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CMB 1.58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585216" y="4334256"/>
            <a:ext cx="5760720" cy="1883664"/>
          </a:xfrm>
          <a:prstGeom prst="rect">
            <a:avLst/>
          </a:prstGeom>
          <a:solidFill>
            <a:srgbClr val="FFFFFF"/>
          </a:solidFill>
          <a:ln w="9525">
            <a:solidFill>
              <a:srgbClr val="002060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31520" y="4224528"/>
            <a:ext cx="2418588" cy="237744"/>
          </a:xfrm>
          <a:prstGeom prst="rect">
            <a:avLst/>
          </a:prstGeom>
          <a:solidFill>
            <a:srgbClr val="002060"/>
          </a:solidFill>
          <a:ln w="6350">
            <a:solidFill>
              <a:srgbClr val="002060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731520" y="4224528"/>
            <a:ext cx="24185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WEALTH-MANAGEMENT PRODUCTS</a:t>
            </a:r>
            <a:endParaRPr lang="en-US" sz="1000" dirty="0"/>
          </a:p>
        </p:txBody>
      </p:sp>
      <p:sp>
        <p:nvSpPr>
          <p:cNvPr id="26" name="Text 22"/>
          <p:cNvSpPr txBox="1"/>
          <p:nvPr/>
        </p:nvSpPr>
        <p:spPr>
          <a:xfrm>
            <a:off x="694944" y="4480560"/>
            <a:ext cx="5541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Outstanding bank WMPs (RMB tn)</a:t>
            </a:r>
            <a:endParaRPr lang="en-US" sz="1050" dirty="0"/>
          </a:p>
        </p:txBody>
      </p:sp>
      <p:graphicFrame>
        <p:nvGraphicFramePr>
          <p:cNvPr id="27" name="Chart 2"/>
          <p:cNvGraphicFramePr/>
          <p:nvPr/>
        </p:nvGraphicFramePr>
        <p:xfrm>
          <a:off x="694944" y="4681728"/>
          <a:ext cx="5541264" cy="14813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8" name="Shape 23"/>
          <p:cNvSpPr/>
          <p:nvPr/>
        </p:nvSpPr>
        <p:spPr>
          <a:xfrm>
            <a:off x="6656832" y="4334256"/>
            <a:ext cx="4956048" cy="1883664"/>
          </a:xfrm>
          <a:prstGeom prst="rect">
            <a:avLst/>
          </a:prstGeom>
          <a:solidFill>
            <a:srgbClr val="FFFFFF"/>
          </a:solidFill>
          <a:ln w="9525">
            <a:solidFill>
              <a:srgbClr val="002060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6803136" y="4224528"/>
            <a:ext cx="2692908" cy="237744"/>
          </a:xfrm>
          <a:prstGeom prst="rect">
            <a:avLst/>
          </a:prstGeom>
          <a:solidFill>
            <a:srgbClr val="002060"/>
          </a:solidFill>
          <a:ln w="6350">
            <a:solidFill>
              <a:srgbClr val="002060"/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6803136" y="4224528"/>
            <a:ext cx="26929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YU’E BAO: THE DISRUPTOR THAT SHRANK</a:t>
            </a:r>
            <a:endParaRPr lang="en-US" sz="1000" dirty="0"/>
          </a:p>
        </p:txBody>
      </p:sp>
      <p:sp>
        <p:nvSpPr>
          <p:cNvPr id="31" name="Text 26"/>
          <p:cNvSpPr txBox="1"/>
          <p:nvPr/>
        </p:nvSpPr>
        <p:spPr>
          <a:xfrm>
            <a:off x="6766560" y="4480560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 (RMB bn)</a:t>
            </a:r>
            <a:endParaRPr lang="en-US" sz="1050" dirty="0"/>
          </a:p>
        </p:txBody>
      </p:sp>
      <p:graphicFrame>
        <p:nvGraphicFramePr>
          <p:cNvPr id="32" name="Chart 3"/>
          <p:cNvGraphicFramePr/>
          <p:nvPr/>
        </p:nvGraphicFramePr>
        <p:xfrm>
          <a:off x="6766560" y="4681728"/>
          <a:ext cx="3383280" cy="14813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33" name="Shape 27"/>
          <p:cNvSpPr/>
          <p:nvPr/>
        </p:nvSpPr>
        <p:spPr>
          <a:xfrm>
            <a:off x="10241280" y="4553712"/>
            <a:ext cx="0" cy="1517904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34" name="Text 28"/>
          <p:cNvSpPr txBox="1"/>
          <p:nvPr/>
        </p:nvSpPr>
        <p:spPr>
          <a:xfrm>
            <a:off x="10351008" y="4590288"/>
            <a:ext cx="1188720" cy="3516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000" b="1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−58%</a:t>
            </a:r>
            <a:endParaRPr lang="en-US" sz="2000" dirty="0"/>
          </a:p>
        </p:txBody>
      </p:sp>
      <p:sp>
        <p:nvSpPr>
          <p:cNvPr id="35" name="Text 29"/>
          <p:cNvSpPr txBox="1"/>
          <p:nvPr/>
        </p:nvSpPr>
        <p:spPr>
          <a:xfrm>
            <a:off x="10351008" y="496941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Mar 2018 peak; ~2% of bank WMPs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85216" y="219456"/>
            <a:ext cx="11027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7A83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USAGE · HYBRIDS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85216" y="420624"/>
            <a:ext cx="11027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Licensed Digital Banks Show What a Hybrid Looks Like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88696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30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WeBank and MYbank turned platform traffic into deposits, loans and fees, but they are still far smaller than the 2019 bull case.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85216" y="6382512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i="1" dirty="0">
                <a:solidFill>
                  <a:srgbClr val="7A83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Bloomberg Intelligence, "Fertile Soil for Online Banks in China" (11 Nov 2019): 2015–2018 actuals and 2025 bear/bull scenarios (historical expectations, not current forecasts); WeBank and MYbank 2024 annual reports; NBS 2025 (system loans RMB275.7tn); internal calculations.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92256" y="6364224"/>
            <a:ext cx="7680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7A83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13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85216" y="1408176"/>
            <a:ext cx="6675120" cy="4809744"/>
          </a:xfrm>
          <a:prstGeom prst="rect">
            <a:avLst/>
          </a:prstGeom>
          <a:solidFill>
            <a:srgbClr val="FFFFFF"/>
          </a:solidFill>
          <a:ln w="9525">
            <a:solidFill>
              <a:srgbClr val="00206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298448"/>
            <a:ext cx="2418588" cy="237744"/>
          </a:xfrm>
          <a:prstGeom prst="rect">
            <a:avLst/>
          </a:prstGeom>
          <a:solidFill>
            <a:srgbClr val="002060"/>
          </a:solidFill>
          <a:ln w="6350">
            <a:solidFill>
              <a:srgbClr val="00206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1298448"/>
            <a:ext cx="24185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BOOKS VS 2019 EXPECTATIONS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94944" y="1591056"/>
            <a:ext cx="6455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balance (RMB bn)</a:t>
            </a:r>
            <a:endParaRPr lang="en-US" sz="1050" dirty="0"/>
          </a:p>
        </p:txBody>
      </p:sp>
      <p:graphicFrame>
        <p:nvGraphicFramePr>
          <p:cNvPr id="11" name="Chart 0"/>
          <p:cNvGraphicFramePr/>
          <p:nvPr/>
        </p:nvGraphicFramePr>
        <p:xfrm>
          <a:off x="694944" y="1828800"/>
          <a:ext cx="6455664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Shape 9"/>
          <p:cNvSpPr/>
          <p:nvPr/>
        </p:nvSpPr>
        <p:spPr>
          <a:xfrm>
            <a:off x="768096" y="4224528"/>
            <a:ext cx="6309360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68096" y="4315968"/>
            <a:ext cx="6309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2024 vs BI’s 2025 bear–bull range from 2019 (RMB bn)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768096" y="477316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WeBank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1828800" y="4864608"/>
            <a:ext cx="5120640" cy="91440"/>
          </a:xfrm>
          <a:prstGeom prst="rect">
            <a:avLst/>
          </a:prstGeom>
          <a:solidFill>
            <a:srgbClr val="F2F2F2"/>
          </a:solidFill>
          <a:ln w="6350">
            <a:solidFill>
              <a:srgbClr val="F2F2F2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752685" y="4791456"/>
            <a:ext cx="2089221" cy="237744"/>
          </a:xfrm>
          <a:prstGeom prst="rect">
            <a:avLst/>
          </a:prstGeom>
          <a:solidFill>
            <a:srgbClr val="E97132">
              <a:alpha val="25000"/>
            </a:srgbClr>
          </a:solidFill>
          <a:ln w="9525">
            <a:solidFill>
              <a:srgbClr val="E97132"/>
            </a:solidFill>
            <a:prstDash val="dash"/>
          </a:ln>
        </p:spPr>
      </p:sp>
      <p:sp>
        <p:nvSpPr>
          <p:cNvPr id="17" name="Shape 14"/>
          <p:cNvSpPr/>
          <p:nvPr/>
        </p:nvSpPr>
        <p:spPr>
          <a:xfrm>
            <a:off x="4038539" y="4736592"/>
            <a:ext cx="45720" cy="347472"/>
          </a:xfrm>
          <a:prstGeom prst="rect">
            <a:avLst/>
          </a:prstGeom>
          <a:solidFill>
            <a:srgbClr val="E97132"/>
          </a:solidFill>
          <a:ln w="6350">
            <a:solidFill>
              <a:srgbClr val="E9713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532664" y="4503472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436</a:t>
            </a:r>
            <a:endParaRPr lang="en-US" sz="950" dirty="0"/>
          </a:p>
        </p:txBody>
      </p:sp>
      <p:sp>
        <p:nvSpPr>
          <p:cNvPr id="19" name="Text 16"/>
          <p:cNvSpPr txBox="1"/>
          <p:nvPr/>
        </p:nvSpPr>
        <p:spPr>
          <a:xfrm>
            <a:off x="6018946" y="5020056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571–979</a:t>
            </a:r>
            <a:endParaRPr lang="en-US" sz="950" dirty="0"/>
          </a:p>
        </p:txBody>
      </p:sp>
      <p:sp>
        <p:nvSpPr>
          <p:cNvPr id="20" name="Text 17"/>
          <p:cNvSpPr txBox="1"/>
          <p:nvPr/>
        </p:nvSpPr>
        <p:spPr>
          <a:xfrm>
            <a:off x="768096" y="52760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MYbank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1828800" y="5367528"/>
            <a:ext cx="5120640" cy="91440"/>
          </a:xfrm>
          <a:prstGeom prst="rect">
            <a:avLst/>
          </a:prstGeom>
          <a:solidFill>
            <a:srgbClr val="F2F2F2"/>
          </a:solidFill>
          <a:ln w="6350">
            <a:solidFill>
              <a:srgbClr val="F2F2F2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2704429" y="5294376"/>
            <a:ext cx="655442" cy="237744"/>
          </a:xfrm>
          <a:prstGeom prst="rect">
            <a:avLst/>
          </a:prstGeom>
          <a:solidFill>
            <a:srgbClr val="002060">
              <a:alpha val="25000"/>
            </a:srgbClr>
          </a:solidFill>
          <a:ln w="9525">
            <a:solidFill>
              <a:srgbClr val="002060"/>
            </a:solidFill>
            <a:prstDash val="dash"/>
          </a:ln>
        </p:spPr>
      </p:sp>
      <p:sp>
        <p:nvSpPr>
          <p:cNvPr id="23" name="Shape 20"/>
          <p:cNvSpPr/>
          <p:nvPr/>
        </p:nvSpPr>
        <p:spPr>
          <a:xfrm>
            <a:off x="3334451" y="5239512"/>
            <a:ext cx="45720" cy="347472"/>
          </a:xfrm>
          <a:prstGeom prst="rect">
            <a:avLst/>
          </a:prstGeom>
          <a:solidFill>
            <a:srgbClr val="002060"/>
          </a:solidFill>
          <a:ln w="6350">
            <a:solidFill>
              <a:srgbClr val="00206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2825777" y="5623560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298.5</a:t>
            </a:r>
            <a:endParaRPr lang="en-US" sz="950" dirty="0"/>
          </a:p>
        </p:txBody>
      </p:sp>
      <p:sp>
        <p:nvSpPr>
          <p:cNvPr id="25" name="Text 22"/>
          <p:cNvSpPr txBox="1"/>
          <p:nvPr/>
        </p:nvSpPr>
        <p:spPr>
          <a:xfrm>
            <a:off x="2715049" y="504748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171–299</a:t>
            </a:r>
            <a:endParaRPr lang="en-US" sz="950" dirty="0"/>
          </a:p>
        </p:txBody>
      </p:sp>
      <p:sp>
        <p:nvSpPr>
          <p:cNvPr id="26" name="Text 23"/>
          <p:cNvSpPr txBox="1"/>
          <p:nvPr/>
        </p:nvSpPr>
        <p:spPr>
          <a:xfrm>
            <a:off x="768096" y="583387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2024: RMB734bn vs RMB1.3tn expected for 2025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7571232" y="1408176"/>
            <a:ext cx="4041648" cy="2615184"/>
          </a:xfrm>
          <a:prstGeom prst="rect">
            <a:avLst/>
          </a:prstGeom>
          <a:solidFill>
            <a:srgbClr val="FFFFFF"/>
          </a:solidFill>
          <a:ln w="9525">
            <a:solidFill>
              <a:srgbClr val="002060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717536" y="1298448"/>
            <a:ext cx="1664208" cy="237744"/>
          </a:xfrm>
          <a:prstGeom prst="rect">
            <a:avLst/>
          </a:prstGeom>
          <a:solidFill>
            <a:srgbClr val="002060"/>
          </a:solidFill>
          <a:ln w="6350">
            <a:solidFill>
              <a:srgbClr val="002060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717536" y="1298448"/>
            <a:ext cx="1664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SHARE OF REVENUE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7680960" y="1591056"/>
            <a:ext cx="3822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fees / revenue (%)</a:t>
            </a:r>
            <a:endParaRPr lang="en-US" sz="1050" dirty="0"/>
          </a:p>
        </p:txBody>
      </p:sp>
      <p:graphicFrame>
        <p:nvGraphicFramePr>
          <p:cNvPr id="31" name="Chart 1"/>
          <p:cNvGraphicFramePr/>
          <p:nvPr/>
        </p:nvGraphicFramePr>
        <p:xfrm>
          <a:off x="7680960" y="1828800"/>
          <a:ext cx="3822192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2" name="Shape 28"/>
          <p:cNvSpPr/>
          <p:nvPr/>
        </p:nvSpPr>
        <p:spPr>
          <a:xfrm>
            <a:off x="7571232" y="4334256"/>
            <a:ext cx="4041648" cy="1883664"/>
          </a:xfrm>
          <a:prstGeom prst="rect">
            <a:avLst/>
          </a:prstGeom>
          <a:solidFill>
            <a:srgbClr val="FFFFFF"/>
          </a:solidFill>
          <a:ln w="9525">
            <a:solidFill>
              <a:srgbClr val="002060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7717536" y="4224528"/>
            <a:ext cx="1184148" cy="237744"/>
          </a:xfrm>
          <a:prstGeom prst="rect">
            <a:avLst/>
          </a:prstGeom>
          <a:solidFill>
            <a:srgbClr val="002060"/>
          </a:solidFill>
          <a:ln w="6350">
            <a:solidFill>
              <a:srgbClr val="002060"/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7717536" y="4224528"/>
            <a:ext cx="11841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A NICHE</a:t>
            </a:r>
            <a:endParaRPr lang="en-US" sz="1000" dirty="0"/>
          </a:p>
        </p:txBody>
      </p:sp>
      <p:sp>
        <p:nvSpPr>
          <p:cNvPr id="35" name="Shape 31"/>
          <p:cNvSpPr/>
          <p:nvPr/>
        </p:nvSpPr>
        <p:spPr>
          <a:xfrm>
            <a:off x="9592056" y="4553712"/>
            <a:ext cx="0" cy="1517904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7735824" y="4553712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30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share</a:t>
            </a:r>
            <a:endParaRPr lang="en-US" sz="1150" dirty="0"/>
          </a:p>
        </p:txBody>
      </p:sp>
      <p:sp>
        <p:nvSpPr>
          <p:cNvPr id="37" name="Text 33"/>
          <p:cNvSpPr txBox="1"/>
          <p:nvPr/>
        </p:nvSpPr>
        <p:spPr>
          <a:xfrm>
            <a:off x="7735824" y="4782312"/>
            <a:ext cx="1737360" cy="38686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~0.3%</a:t>
            </a:r>
            <a:endParaRPr lang="en-US" sz="2200" dirty="0"/>
          </a:p>
        </p:txBody>
      </p:sp>
      <p:sp>
        <p:nvSpPr>
          <p:cNvPr id="38" name="Text 34"/>
          <p:cNvSpPr txBox="1"/>
          <p:nvPr/>
        </p:nvSpPr>
        <p:spPr>
          <a:xfrm>
            <a:off x="7735824" y="519660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system loans in 2024 (0.15% in 2018)</a:t>
            </a:r>
            <a:endParaRPr lang="en-US" sz="1000" dirty="0"/>
          </a:p>
        </p:txBody>
      </p:sp>
      <p:sp>
        <p:nvSpPr>
          <p:cNvPr id="39" name="Text 35"/>
          <p:cNvSpPr txBox="1"/>
          <p:nvPr/>
        </p:nvSpPr>
        <p:spPr>
          <a:xfrm>
            <a:off x="9756648" y="4553712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30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</a:t>
            </a:r>
            <a:endParaRPr lang="en-US" sz="1150" dirty="0"/>
          </a:p>
        </p:txBody>
      </p:sp>
      <p:sp>
        <p:nvSpPr>
          <p:cNvPr id="40" name="Text 36"/>
          <p:cNvSpPr txBox="1"/>
          <p:nvPr/>
        </p:nvSpPr>
        <p:spPr>
          <a:xfrm>
            <a:off x="9756648" y="4782312"/>
            <a:ext cx="1737360" cy="38686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~1%</a:t>
            </a:r>
            <a:endParaRPr lang="en-US" sz="2200" dirty="0"/>
          </a:p>
        </p:txBody>
      </p:sp>
      <p:sp>
        <p:nvSpPr>
          <p:cNvPr id="41" name="Text 37"/>
          <p:cNvSpPr txBox="1"/>
          <p:nvPr/>
        </p:nvSpPr>
        <p:spPr>
          <a:xfrm>
            <a:off x="9756648" y="519660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BI expected by 2025, back in 2019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05840" y="2697480"/>
            <a:ext cx="54864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3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A8DBA00-9FA7-504D-A258-8BB11ECB9B88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67a83345-3153-4432-a485-5e5229da06b1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2368</Words>
  <Application>Microsoft Macintosh PowerPoint</Application>
  <PresentationFormat>Widescreen</PresentationFormat>
  <Paragraphs>441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China Banks vs Fintech 2010-2026</dc:title>
  <dc:subject>PptxGenJS Presentation</dc:subject>
  <dc:creator>PptxGenJS</dc:creator>
  <cp:lastModifiedBy>Microsoft Office User</cp:lastModifiedBy>
  <cp:revision>3</cp:revision>
  <dcterms:created xsi:type="dcterms:W3CDTF">2026-10-14T08:22:42Z</dcterms:created>
  <dcterms:modified xsi:type="dcterms:W3CDTF">2026-10-14T08:50:01Z</dcterms:modified>
</cp:coreProperties>
</file>