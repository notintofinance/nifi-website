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9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e1a7a4da244fd4" /><Relationship Type="http://schemas.openxmlformats.org/officeDocument/2006/relationships/extended-properties" Target="/docProps/app.xml" Id="Re60a538ec9094da8" /><Relationship Type="http://schemas.openxmlformats.org/officeDocument/2006/relationships/officeDocument" Target="/ppt/presentation.xml" Id="Rcd818c2d3391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6ec94b4314b6d"/>
  </p:sldMasterIdLst>
  <p:notesMasterIdLst>
    <p:notesMasterId xmlns:r="http://schemas.openxmlformats.org/officeDocument/2006/relationships" r:id="R5186ceaa9ba0491d"/>
  </p:notesMasterIdLst>
  <p:sldIdLst>
    <p:sldId xmlns:r="http://schemas.openxmlformats.org/officeDocument/2006/relationships" id="256" r:id="R9855cf4d9ce848e1"/>
    <p:sldId xmlns:r="http://schemas.openxmlformats.org/officeDocument/2006/relationships" id="257" r:id="R1a7cec6840d74208"/>
    <p:sldId xmlns:r="http://schemas.openxmlformats.org/officeDocument/2006/relationships" id="258" r:id="Rb37099ffcff1450c"/>
    <p:sldId xmlns:r="http://schemas.openxmlformats.org/officeDocument/2006/relationships" id="259" r:id="R9accafdeddd24e46"/>
    <p:sldId xmlns:r="http://schemas.openxmlformats.org/officeDocument/2006/relationships" id="260" r:id="Rbdf1b4aef506454f"/>
    <p:sldId xmlns:r="http://schemas.openxmlformats.org/officeDocument/2006/relationships" id="261" r:id="Rb6be8858a4d74ffe"/>
    <p:sldId xmlns:r="http://schemas.openxmlformats.org/officeDocument/2006/relationships" id="262" r:id="R8021894a8486449d"/>
    <p:sldId xmlns:r="http://schemas.openxmlformats.org/officeDocument/2006/relationships" id="263" r:id="Rdf331ff829f2446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c80ac3cdc54050" /><Relationship Type="http://schemas.openxmlformats.org/officeDocument/2006/relationships/slideMaster" Target="/ppt/slideMasters/slideMaster1.xml" Id="R67a6ec94b4314b6d" /><Relationship Type="http://schemas.openxmlformats.org/officeDocument/2006/relationships/notesMaster" Target="/ppt/notesMasters/notesMaster1.xml" Id="R5186ceaa9ba0491d" /><Relationship Type="http://schemas.openxmlformats.org/officeDocument/2006/relationships/presProps" Target="/ppt/presProps.xml" Id="R3886f47497ee424c" /><Relationship Type="http://schemas.openxmlformats.org/officeDocument/2006/relationships/viewProps" Target="/ppt/viewProps.xml" Id="R4c6a2b69a69e433f" /><Relationship Type="http://schemas.openxmlformats.org/officeDocument/2006/relationships/tableStyles" Target="/ppt/tableStyles.xml" Id="Rc799cee1312c4fd7" /><Relationship Type="http://schemas.openxmlformats.org/officeDocument/2006/relationships/slide" Target="/ppt/slides/slide1.xml" Id="R9855cf4d9ce848e1" /><Relationship Type="http://schemas.openxmlformats.org/officeDocument/2006/relationships/slide" Target="/ppt/slides/slide2.xml" Id="R1a7cec6840d74208" /><Relationship Type="http://schemas.openxmlformats.org/officeDocument/2006/relationships/slide" Target="/ppt/slides/slide3.xml" Id="Rb37099ffcff1450c" /><Relationship Type="http://schemas.openxmlformats.org/officeDocument/2006/relationships/slide" Target="/ppt/slides/slide4.xml" Id="R9accafdeddd24e46" /><Relationship Type="http://schemas.openxmlformats.org/officeDocument/2006/relationships/slide" Target="/ppt/slides/slide5.xml" Id="Rbdf1b4aef506454f" /><Relationship Type="http://schemas.openxmlformats.org/officeDocument/2006/relationships/slide" Target="/ppt/slides/slide6.xml" Id="Rb6be8858a4d74ffe" /><Relationship Type="http://schemas.openxmlformats.org/officeDocument/2006/relationships/slide" Target="/ppt/slides/slide7.xml" Id="R8021894a8486449d" /><Relationship Type="http://schemas.openxmlformats.org/officeDocument/2006/relationships/slide" Target="/ppt/slides/slide8.xml" Id="Rdf331ff829f2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e7092d2eb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63024ad84047b2" /><Relationship Type="http://schemas.openxmlformats.org/officeDocument/2006/relationships/notesMaster" Target="/ppt/notesMasters/notesMaster1.xml" Id="R3925bf25b32c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0720f89294215" /><Relationship Type="http://schemas.openxmlformats.org/officeDocument/2006/relationships/notesMaster" Target="/ppt/notesMasters/notesMaster1.xml" Id="R05f500927fbe44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1aac2b3c54496" /><Relationship Type="http://schemas.openxmlformats.org/officeDocument/2006/relationships/notesMaster" Target="/ppt/notesMasters/notesMaster1.xml" Id="R76983931cb924d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7301dc52b640de" /><Relationship Type="http://schemas.openxmlformats.org/officeDocument/2006/relationships/notesMaster" Target="/ppt/notesMasters/notesMaster1.xml" Id="Rcb49951c114d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08f5842b3142f8" /><Relationship Type="http://schemas.openxmlformats.org/officeDocument/2006/relationships/notesMaster" Target="/ppt/notesMasters/notesMaster1.xml" Id="R382efa758508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67757ead324726" /><Relationship Type="http://schemas.openxmlformats.org/officeDocument/2006/relationships/notesMaster" Target="/ppt/notesMasters/notesMaster1.xml" Id="R4036ab4e2ac142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09a2a027ab4f37" /><Relationship Type="http://schemas.openxmlformats.org/officeDocument/2006/relationships/notesMaster" Target="/ppt/notesMasters/notesMaster1.xml" Id="R0d3de0328f4f47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8aefe1fd064605" /><Relationship Type="http://schemas.openxmlformats.org/officeDocument/2006/relationships/notesMaster" Target="/ppt/notesMasters/notesMaster1.xml" Id="R7436255d2dc442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Banks vs Fintech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Cover illustration generated for this presentation; no company logos or documentary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Fintech Owns Frequency; Banks Still Own Value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PBOC 2013 payment-system report: https://www.gov.cn/gzdt/att/att/site1/20140217/782bcb8883ce146be61101.pdf</a:t>
            </a:r>
          </a:p>
          <a:p xmlns:a="http://schemas.openxmlformats.org/drawingml/2006/main">
            <a:r>
              <a:t>- PBOC 2023 definitions and overlap footnotes: https://www.pbc.gov.cn/zhifujiesuansi/128525/128545/128643/e65053157ab14b9abf06bc9b18badb3a/2024032815235914509.pdf</a:t>
            </a:r>
          </a:p>
          <a:p xmlns:a="http://schemas.openxmlformats.org/drawingml/2006/main">
            <a:r>
              <a:t>- 2025 data reproduced in Cuiwei filing: https://static.cninfo.com.cn/finalpage/2026-03-28/1225042491.PDF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displayed shares combine overlapping PBOC bank-electronic and non-bank network-payment series. They are a mechanical activity index, not mutually exclusive ownership shares.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China Finance Splits Across Four Layers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AMRO 2025: https://amro-asia.org/wp-content/uploads/2025/10/AMRO-AFSR-2025-Full-Report-Web.pdf</a:t>
            </a:r>
          </a:p>
          <a:p xmlns:a="http://schemas.openxmlformats.org/drawingml/2006/main">
            <a:r>
              <a:t>- PBOC/Cuiwei 2025 activity data: https://static.cninfo.com.cn/finalpage/2026-03-28/1225042491.PDF</a:t>
            </a:r>
          </a:p>
          <a:p xmlns:a="http://schemas.openxmlformats.org/drawingml/2006/main">
            <a:r>
              <a:t>- NBS 2025 communiqué: https://www.stats.gov.cn/english/PressRelease/202602/t20260228_1962661.html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1 Alipay plus WeChat Pay estimate. 2 Mechanical combined-series index. 3 Clearing-rail share. Denominators differ and must not be summed.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Banks Still Own the Balance Sheet</a:t>
            </a:r>
            <a:endParaRPr/>
          </a:p>
          <a:p xmlns:a="http://schemas.openxmlformats.org/drawingml/2006/main">
            <a:r>
              <a:t>Sources:</a:t>
            </a:r>
            <a:endParaRPr/>
          </a:p>
          <a:p xmlns:a="http://schemas.openxmlformats.org/drawingml/2006/main">
            <a:r>
              <a:t>- CBRC 2010 annual report: https://www.nfra.gov.cn/chinese/subject/subject/nianbao2010/english/1.pdf</a:t>
            </a:r>
            <a:endParaRPr/>
          </a:p>
          <a:p xmlns:a="http://schemas.openxmlformats.org/drawingml/2006/main">
            <a:r>
              <a:t>- NFRA 2025 sector data: https://www.nfra.gov.cn/en/view/pages/ItemDetail.html?docId=1251267&amp;itemId=980</a:t>
            </a:r>
            <a:endParaRPr/>
          </a:p>
          <a:p xmlns:a="http://schemas.openxmlformats.org/drawingml/2006/main">
            <a:r>
              <a:t>- NBS 2025 communiqué: https://www.stats.gov.cn/english/PressRelease/202602/t20260228_1962661.html</a:t>
            </a:r>
            <a:endParaRPr/>
          </a:p>
          <a:p xmlns:a="http://schemas.openxmlformats.org/drawingml/2006/main">
            <a:r>
              <a:t>- NFRA 2026 H1/Q2: https://www.nfra.gov.cn/en/view/pages/ItemDetail.html?docId=1270720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Clients Use Both Stacks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CNNIC historical multi-homing: https://www3.cnnic.cn/n4/2022/0401/c119-1026.html</a:t>
            </a:r>
          </a:p>
          <a:p xmlns:a="http://schemas.openxmlformats.org/drawingml/2006/main">
            <a:r>
              <a:t>- Ant prospectus: https://wynthia.com/wp-content/uploads/2020/09/ant-draft-ipo-prospectus-2020-08-read.pdf</a:t>
            </a:r>
          </a:p>
          <a:p xmlns:a="http://schemas.openxmlformats.org/drawingml/2006/main">
            <a:r>
              <a:t>- WeBank 2024 report: https://tctp.tctpwebankcdn.net/owb-admin/data/appsystems/owb-admin/1756804158938-13423.pdf</a:t>
            </a:r>
          </a:p>
          <a:p xmlns:a="http://schemas.openxmlformats.org/drawingml/2006/main">
            <a:r>
              <a:t>- MYbank 2024 report: https://qxb-pdf-osscache.qixin.com/AnBaseinfo/7f4fb677abdf6a905d911992520c8b93.pdf</a:t>
            </a:r>
          </a:p>
          <a:p xmlns:a="http://schemas.openxmlformats.org/drawingml/2006/main">
            <a:r>
              <a:t>- Bloomberg Intelligence, China fintech report, Nov 2019 (user-provided PDF 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Reported digital-bank loan balances are company-filing / Bloomberg Intelligence figures. They are not comparable with platform-enabled origination volumes without a funding and risk-bearing bridge.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Prices Business Models, Not Categories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User-provided Bloomberg workbook: TIM - 11.xlsx, Bank 1 and Fin sheets.</a:t>
            </a:r>
          </a:p>
          <a:p xmlns:a="http://schemas.openxmlformats.org/drawingml/2006/main">
            <a:r>
              <a:t>- Bank peer medians exclude the workbook's mislabeled 601995 / CICC block. Fintech valuation medians use names with populated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The fintech sample is heterogeneous and includes platforms, digital brokers, insurers and loan facilitators. Medians describe the supplied listed sample, not the whole sector.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Business Models; Three Different Risk Profiles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Bloomberg workbook supplied by user for listed bank and fintech valuation/financial comparisons.</a:t>
            </a:r>
          </a:p>
          <a:p xmlns:a="http://schemas.openxmlformats.org/drawingml/2006/main">
            <a:r>
              <a:t>- WeBank and MYbank company reports; Ant prospectus; Tencent and East Money filings.</a:t>
            </a:r>
          </a:p>
          <a:p xmlns:a="http://schemas.openxmlformats.org/drawingml/2006/main">
            <a:r>
              <a:t>- NFRA/PBOC 2020–2026 regulatory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Methodology / caveat:</a:t>
            </a:r>
          </a:p>
          <a:p xmlns:a="http://schemas.openxmlformats.org/drawingml/2006/main">
            <a:r>
              <a:t>Bubble size is a qualitative depiction of relative business-model emphasis, not a quantitative market-share or valuation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Analysis based on PBOC, NFRA/CBRC/CBIRC, NBS, company filings, Bloomberg Intelligence PDFs and the user-provided Bloomberg workbook.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f82d68d9146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0763ba05a4f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2cb617d2a43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be85ea3a740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af1ef585a49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0f07741d04b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3fc9c0eae4c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dae2b76e849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b2cdecdf545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ad2853c3749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5f37fdb12471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EF7692-D0BF-93E1-909C-4E7603BD51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71B751A-B839-B89D-B1F1-EF83525010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6B04B9-DA51-0C5C-84F1-5149F15A1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63838-D73B-0177-BE1E-F060223B20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62382D-5257-7891-9412-A5AF7D732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CEFEE7-2F08-FAF1-1B31-DEFF8150A5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58D69C-C848-0D16-1DD6-A16745FC9E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15FF82-FF0A-C0CA-FD64-673606F109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F7E66C-FA75-96D9-C2C5-C36B0B11A1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630CD9-E546-98E1-0E0F-7139EDCFC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91720D-E9ED-F886-C762-1988C483C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FA7F8A-5FC1-D265-7FDE-93DB0642B0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51043C-4C97-FE32-B1E2-2D3A23C83D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E6E5E8-B2D7-6E1C-DCE5-A6D3BBCC1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1DE801-3919-34A4-E54F-1448AE9A98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C8005A-77D3-E8FB-D58C-B99B8BAE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3EA38-6E80-3AC4-DB11-B2623C72F94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C82C40-99EB-6C74-B65D-3546B8D175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397756-14C0-337D-9E42-071D3E85EE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F7E310F-8954-A5D3-CA32-ECCA5BE74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1E1D85-93E2-54F9-C9E1-3CE0E511A2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0D513-A6DF-2DA0-BBAB-3BE825DD7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BBCBB2-0578-A11F-3A14-891149CC3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6B3C6A-C714-9F64-B721-EF4CD9B2402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3F3C3A4-D272-5428-F1BB-DD72447EFD0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D33C8C4-F01B-E70B-2D57-621098F5CA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EE74FE-3EE1-AABF-6C20-D677B9553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4D84C70-8038-F23A-4B87-D2912EF464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F47A143-6627-961A-1B12-E9DEFC5D2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768E0F-8410-6191-2596-68A21FF66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3F06390-B68E-B76E-07F1-FC4C1A88C6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E66337C-2985-ABE2-C010-6C480591A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4A865D-5C65-8DB7-6FA7-D8503A74FD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A78279E-0B83-293B-F314-B5A3A2DE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8050AA-6F7B-0949-35A0-CFA7E54C66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90F705-CED0-13ED-5D0F-B2104E94FD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5DC4CE-C968-BB3D-483C-42A98322A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99A83B-FE61-7D87-EDF4-D9E04B6B12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7AF4B5-E79A-8B4E-14D2-69C7366D5D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B36254C-D882-D6F2-1248-D31907BA1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9CB0F7-BC81-23EA-8948-5002D886F1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A6C97F6-5E24-2AEC-7E70-8A7D32725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9BFC6-2F8D-38B7-41DA-AF2F844DD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32A14E9-946F-2D0C-7CE2-CC0405EDBA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EAC576-6871-B647-D8FF-F745218997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18E932-DB6B-3454-3099-B08F2170A8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7F6556-34D4-3C85-D150-34A37B32EA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C85435-53CF-E107-8D3E-6B7D0ABE7A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F197F9-2AE8-CEA3-3D27-5FE9CF20B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40D77-CF95-32F1-A330-34658DFB5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61D249-0864-C56E-0D1E-53D3AFC07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064013-CE5B-42DA-B215-DBF391243A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419A1B-C0C2-F215-02A7-8AF6AFF49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D537FD5-9C5C-4C69-66E7-4F6B928F74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DA47AF-BFDE-DB74-B082-D1AC37729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80A0E6-6021-087D-7A6F-33845A9174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5ACEDA-6026-FB62-D7A8-593A902F7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B4ADBC-2137-EA5E-64A2-6ECDA2D719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14a382161a4d31" /><Relationship Type="http://schemas.openxmlformats.org/officeDocument/2006/relationships/slideLayout" Target="/ppt/slideLayouts/slideLayout1.xml" Id="R13c286f6310849fe" /><Relationship Type="http://schemas.openxmlformats.org/officeDocument/2006/relationships/slideLayout" Target="/ppt/slideLayouts/slideLayout2.xml" Id="R8449ae741461428c" /><Relationship Type="http://schemas.openxmlformats.org/officeDocument/2006/relationships/slideLayout" Target="/ppt/slideLayouts/slideLayout3.xml" Id="R6dd0012e41fc44e8" /><Relationship Type="http://schemas.openxmlformats.org/officeDocument/2006/relationships/slideLayout" Target="/ppt/slideLayouts/slideLayout4.xml" Id="Red3afb53bd4d4423" /><Relationship Type="http://schemas.openxmlformats.org/officeDocument/2006/relationships/slideLayout" Target="/ppt/slideLayouts/slideLayout5.xml" Id="R859a9cc2b568403b" /><Relationship Type="http://schemas.openxmlformats.org/officeDocument/2006/relationships/slideLayout" Target="/ppt/slideLayouts/slideLayout6.xml" Id="R586e3b98849644d1" /><Relationship Type="http://schemas.openxmlformats.org/officeDocument/2006/relationships/slideLayout" Target="/ppt/slideLayouts/slideLayout7.xml" Id="Rf3e9d79cc9fa4d1d" /><Relationship Type="http://schemas.openxmlformats.org/officeDocument/2006/relationships/slideLayout" Target="/ppt/slideLayouts/slideLayout8.xml" Id="R97d4595345034c5b" /><Relationship Type="http://schemas.openxmlformats.org/officeDocument/2006/relationships/slideLayout" Target="/ppt/slideLayouts/slideLayout9.xml" Id="R5d8b79050d464c06" /><Relationship Type="http://schemas.openxmlformats.org/officeDocument/2006/relationships/slideLayout" Target="/ppt/slideLayouts/slideLayout10.xml" Id="Rbc16ccc417f845d0" /><Relationship Type="http://schemas.openxmlformats.org/officeDocument/2006/relationships/slideLayout" Target="/ppt/slideLayouts/slideLayout11.xml" Id="R010447f790e946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69ED60-E438-BA2C-7AE8-133BD9517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AC153-BA00-431B-12A1-8833AB6EA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470832-0887-2137-B91B-6C97233FAA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AD20CFD-3E78-F14D-B45F-64BD22A17E06}" type="datetimeFigureOut">
              <a:t>9/30/26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5765DA-7464-0E50-5D3F-9E96E96B40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24007-E902-00A7-B84C-02F0976626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EED6F8-50A0-8C45-86AB-DC3C8EEBA9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286f6310849fe"/>
    <p:sldLayoutId xmlns:r="http://schemas.openxmlformats.org/officeDocument/2006/relationships" id="2147483650" r:id="R8449ae741461428c"/>
    <p:sldLayoutId xmlns:r="http://schemas.openxmlformats.org/officeDocument/2006/relationships" id="2147483651" r:id="R6dd0012e41fc44e8"/>
    <p:sldLayoutId xmlns:r="http://schemas.openxmlformats.org/officeDocument/2006/relationships" id="2147483652" r:id="Red3afb53bd4d4423"/>
    <p:sldLayoutId xmlns:r="http://schemas.openxmlformats.org/officeDocument/2006/relationships" id="2147483653" r:id="R859a9cc2b568403b"/>
    <p:sldLayoutId xmlns:r="http://schemas.openxmlformats.org/officeDocument/2006/relationships" id="2147483654" r:id="R586e3b98849644d1"/>
    <p:sldLayoutId xmlns:r="http://schemas.openxmlformats.org/officeDocument/2006/relationships" id="2147483655" r:id="Rf3e9d79cc9fa4d1d"/>
    <p:sldLayoutId xmlns:r="http://schemas.openxmlformats.org/officeDocument/2006/relationships" id="2147483656" r:id="R97d4595345034c5b"/>
    <p:sldLayoutId xmlns:r="http://schemas.openxmlformats.org/officeDocument/2006/relationships" id="2147483657" r:id="R5d8b79050d464c06"/>
    <p:sldLayoutId xmlns:r="http://schemas.openxmlformats.org/officeDocument/2006/relationships" id="2147483658" r:id="Rbc16ccc417f845d0"/>
    <p:sldLayoutId xmlns:r="http://schemas.openxmlformats.org/officeDocument/2006/relationships" id="2147483659" r:id="R010447f790e946a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ede4952cf4f0f" /><Relationship Type="http://schemas.openxmlformats.org/officeDocument/2006/relationships/image" Target="/ppt/media/image.png" Id="R64154ad46e474ae9" /><Relationship Type="http://schemas.openxmlformats.org/officeDocument/2006/relationships/notesSlide" Target="/ppt/notesSlides/notesSlide1.xml" Id="R95670005fa31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2731a96a6d44a6" /><Relationship Type="http://schemas.openxmlformats.org/officeDocument/2006/relationships/chart" Target="/ppt/slides/charts/chart1.xml" Id="Rc98da46c36b04824" /><Relationship Type="http://schemas.openxmlformats.org/officeDocument/2006/relationships/chart" Target="/ppt/slides/charts/chart2.xml" Id="R3b2c9b222fee4cc0" /><Relationship Type="http://schemas.openxmlformats.org/officeDocument/2006/relationships/chart" Target="/ppt/slides/charts/chart3.xml" Id="Rd45fdf7619124ad8" /><Relationship Type="http://schemas.openxmlformats.org/officeDocument/2006/relationships/notesSlide" Target="/ppt/notesSlides/notesSlide2.xml" Id="Rff35ba7d757141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765aece6c48df" /><Relationship Type="http://schemas.openxmlformats.org/officeDocument/2006/relationships/chart" Target="/ppt/slides/charts/chart4.xml" Id="Rfcbc91552dba4844" /><Relationship Type="http://schemas.openxmlformats.org/officeDocument/2006/relationships/chart" Target="/ppt/slides/charts/chart5.xml" Id="R8f865fca05994310" /><Relationship Type="http://schemas.openxmlformats.org/officeDocument/2006/relationships/chart" Target="/ppt/slides/charts/chart6.xml" Id="Ra1a33ef2022e45b9" /><Relationship Type="http://schemas.openxmlformats.org/officeDocument/2006/relationships/notesSlide" Target="/ppt/notesSlides/notesSlide3.xml" Id="R71d249b28fb746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2b80df243b4e51" /><Relationship Type="http://schemas.openxmlformats.org/officeDocument/2006/relationships/chart" Target="/ppt/slides/charts/chart7.xml" Id="Re1331740c2414632" /><Relationship Type="http://schemas.openxmlformats.org/officeDocument/2006/relationships/chart" Target="/ppt/slides/charts/chart8.xml" Id="R9d5b2f49fc57455c" /><Relationship Type="http://schemas.openxmlformats.org/officeDocument/2006/relationships/notesSlide" Target="/ppt/notesSlides/notesSlide4.xml" Id="R840c31bf619c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ce5327870045c1" /><Relationship Type="http://schemas.openxmlformats.org/officeDocument/2006/relationships/chart" Target="/ppt/slides/charts/chart9.xml" Id="Rb18e30ff7abd4a92" /><Relationship Type="http://schemas.openxmlformats.org/officeDocument/2006/relationships/notesSlide" Target="/ppt/notesSlides/notesSlide5.xml" Id="R534366d9fd834c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e999cc4a2f415c" /><Relationship Type="http://schemas.openxmlformats.org/officeDocument/2006/relationships/chart" Target="/ppt/slides/charts/chart10.xml" Id="R01b5757647224f8f" /><Relationship Type="http://schemas.openxmlformats.org/officeDocument/2006/relationships/chart" Target="/ppt/slides/charts/chart11.xml" Id="R66dac9b8a0514bef" /><Relationship Type="http://schemas.openxmlformats.org/officeDocument/2006/relationships/notesSlide" Target="/ppt/notesSlides/notesSlide6.xml" Id="Ree9fc3f3226c47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e43231d8a44fa1" /><Relationship Type="http://schemas.openxmlformats.org/officeDocument/2006/relationships/notesSlide" Target="/ppt/notesSlides/notesSlide7.xml" Id="R7e3d3c6e640b45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a0cc8b8a9451c" /><Relationship Type="http://schemas.openxmlformats.org/officeDocument/2006/relationships/notesSlide" Target="/ppt/notesSlides/notesSlide8.xml" Id="R3811916250564e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count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2860">
              <a:solidFill>
                <a:srgbClr val="00206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827</c:v>
                </c:pt>
                <c:pt idx="2">
                  <c:v>2243</c:v>
                </c:pt>
                <c:pt idx="3">
                  <c:v>6060</c:v>
                </c:pt>
                <c:pt idx="4">
                  <c:v>9034</c:v>
                </c:pt>
                <c:pt idx="5">
                  <c:v>11060</c:v>
                </c:pt>
                <c:pt idx="6">
                  <c:v>13827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2860">
              <a:solidFill>
                <a:srgbClr val="E9713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536</c:v>
                </c:pt>
                <c:pt idx="2">
                  <c:v>1869</c:v>
                </c:pt>
                <c:pt idx="3">
                  <c:v>4694</c:v>
                </c:pt>
                <c:pt idx="4">
                  <c:v>6704</c:v>
                </c:pt>
                <c:pt idx="5">
                  <c:v>8020</c:v>
                </c:pt>
                <c:pt idx="6">
                  <c:v>8642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PBOC transaction value index, 2013 = 100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Bank electronic</c:v>
          </c:tx>
          <c:spPr>
            <a:ln xmlns:a="http://schemas.openxmlformats.org/drawingml/2006/main" w="20955">
              <a:solidFill>
                <a:srgbClr val="002060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2060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100</c:v>
                </c:pt>
                <c:pt idx="1">
                  <c:v>1123</c:v>
                </c:pt>
                <c:pt idx="2">
                  <c:v>2105</c:v>
                </c:pt>
                <c:pt idx="3">
                  <c:v>3601</c:v>
                </c:pt>
                <c:pt idx="4">
                  <c:v>5467</c:v>
                </c:pt>
                <c:pt idx="5">
                  <c:v>5761</c:v>
                </c:pt>
                <c:pt idx="6">
                  <c:v>5933</c:v>
                </c:pt>
              </c:numCache>
            </c:numRef>
          </c:val>
        </c:ser>
        <c:ser>
          <c:idx val="1"/>
          <c:order val="1"/>
          <c:tx>
            <c:v>Non-bank network</c:v>
          </c:tx>
          <c:spPr>
            <a:ln xmlns:a="http://schemas.openxmlformats.org/drawingml/2006/main" w="20955">
              <a:solidFill>
                <a:srgbClr val="E9713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E97132"/>
              </a:solidFill>
            </c:spPr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2013</c:v>
                </c:pt>
                <c:pt idx="1">
                  <c:v>2015</c:v>
                </c:pt>
                <c:pt idx="2">
                  <c:v>2017</c:v>
                </c:pt>
                <c:pt idx="3">
                  <c:v>2019</c:v>
                </c:pt>
                <c:pt idx="4">
                  <c:v>2021</c:v>
                </c:pt>
                <c:pt idx="5">
                  <c:v>2023</c:v>
                </c:pt>
                <c:pt idx="6">
                  <c:v>2025</c:v>
                </c:pt>
              </c:numCache>
            </c:numRef>
          </c:cat>
          <c:val>
            <c:numRef>
              <c:f>'Chart Data'!$D$2:$D$8</c:f>
              <c:numCache>
                <c:formatCode>0</c:formatCode>
                <c:ptCount val="7"/>
                <c:pt idx="0">
                  <c:v>100</c:v>
                </c:pt>
                <c:pt idx="1">
                  <c:v>537</c:v>
                </c:pt>
                <c:pt idx="2">
                  <c:v>1554</c:v>
                </c:pt>
                <c:pt idx="3">
                  <c:v>2710</c:v>
                </c:pt>
                <c:pt idx="4">
                  <c:v>3855</c:v>
                </c:pt>
                <c:pt idx="5">
                  <c:v>3690</c:v>
                </c:pt>
                <c:pt idx="6">
                  <c:v>3664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Combined-series activity split, 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 count</c:v>
                </c:pt>
                <c:pt idx="1">
                  <c:v>Non-bank count</c:v>
                </c:pt>
                <c:pt idx="2">
                  <c:v>Bank value</c:v>
                </c:pt>
                <c:pt idx="3">
                  <c:v>Non-bank value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19.4</c:v>
                </c:pt>
                <c:pt idx="1">
                  <c:v>80.6</c:v>
                </c:pt>
                <c:pt idx="2">
                  <c:v>91.5</c:v>
                </c:pt>
                <c:pt idx="3">
                  <c:v>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Leading share by market layer, 2024–2025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Leading share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Wallet interface¹</c:v>
                </c:pt>
                <c:pt idx="1">
                  <c:v>Non-bank activity count²</c:v>
                </c:pt>
                <c:pt idx="2">
                  <c:v>NetsUnion clearing count³</c:v>
                </c:pt>
                <c:pt idx="3">
                  <c:v>Bank activity value²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94</c:v>
                </c:pt>
                <c:pt idx="1">
                  <c:v>80.6</c:v>
                </c:pt>
                <c:pt idx="2">
                  <c:v>75.9</c:v>
                </c:pt>
                <c:pt idx="3">
                  <c:v>91.5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 vs non-bank count share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Bank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19.4</c:v>
                </c:pt>
              </c:numCache>
            </c:numRef>
          </c:val>
        </c:ser>
        <c:ser>
          <c:idx val="1"/>
          <c:order val="1"/>
          <c:tx>
            <c:v>Non-bank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Data'!$C$2:$C$2</c:f>
              <c:numCache>
                <c:formatCode>General</c:formatCode>
                <c:ptCount val="1"/>
                <c:pt idx="0">
                  <c:v>2025</c:v>
                </c:pt>
              </c:numCache>
            </c:num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80.6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FFFFF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38">
              <a:solidFill>
                <a:srgbClr val="595959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Average transaction ticket, 2025 (RMB '000)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RMB '000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Bank electronic</c:v>
                </c:pt>
                <c:pt idx="1">
                  <c:v>Non-bank network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11.332</c:v>
                </c:pt>
                <c:pt idx="1">
                  <c:v>0.255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30343B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Banking-system assets (RMB tn)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Assets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numRef>
              <c:f>'Chart Data'!$A$2:$A$5</c:f>
              <c:numCache>
                <c:formatCode>General</c:formatCode>
                <c:ptCount val="4"/>
                <c:pt idx="0">
                  <c:v>2010</c:v>
                </c:pt>
                <c:pt idx="1">
                  <c:v>2015</c:v>
                </c:pt>
                <c:pt idx="2">
                  <c:v>2020</c:v>
                </c:pt>
                <c:pt idx="3">
                  <c:v>2025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95.3</c:v>
                </c:pt>
                <c:pt idx="1">
                  <c:v>199.3</c:v>
                </c:pt>
                <c:pt idx="2">
                  <c:v>319.7</c:v>
                </c:pt>
                <c:pt idx="3">
                  <c:v>480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Sector ROE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ROE</c:v>
          </c:tx>
          <c:spPr>
            <a:solidFill xmlns:a="http://schemas.openxmlformats.org/drawingml/2006/main">
              <a:srgbClr val="E9713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2010</c:v>
                </c:pt>
                <c:pt idx="1">
                  <c:v>2020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17.5</c:v>
                </c:pt>
                <c:pt idx="1">
                  <c:v>9.48</c:v>
                </c:pt>
                <c:pt idx="2">
                  <c:v>8.93</c:v>
                </c:pt>
                <c:pt idx="3">
                  <c:v>8.1</c:v>
                </c:pt>
                <c:pt idx="4">
                  <c:v>7.78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788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Reported loan balance (RMB bn)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Loans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A838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WeBank 2018</c:v>
                </c:pt>
                <c:pt idx="1">
                  <c:v>WeBank 2024</c:v>
                </c:pt>
                <c:pt idx="2">
                  <c:v>MYbank 2018</c:v>
                </c:pt>
                <c:pt idx="3">
                  <c:v>MYbank 2024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120</c:v>
                </c:pt>
                <c:pt idx="1">
                  <c:v>436</c:v>
                </c:pt>
                <c:pt idx="2">
                  <c:v>48</c:v>
                </c:pt>
                <c:pt idx="3">
                  <c:v>298.5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38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8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2025Q4 median ROE (%) and trailing P/E (x)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Median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9713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Banks ROE</c:v>
                </c:pt>
                <c:pt idx="1">
                  <c:v>Fintech ROE</c:v>
                </c:pt>
                <c:pt idx="2">
                  <c:v>Banks P/E</c:v>
                </c:pt>
                <c:pt idx="3">
                  <c:v>Fintech P/E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9.68</c:v>
                </c:pt>
                <c:pt idx="1">
                  <c:v>14.78</c:v>
                </c:pt>
                <c:pt idx="2">
                  <c:v>7.35</c:v>
                </c:pt>
                <c:pt idx="3">
                  <c:v>17.29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825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income growth, H1 2026 (% YoY)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 b="1">
              <a:solidFill>
                <a:srgbClr val="30343B"/>
              </a:solidFill>
              <a:latin typeface="Calibri"/>
              <a:ea typeface="Calibri"/>
              <a:cs typeface="Calibri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Growth</c:v>
          </c:tx>
          <c:spPr>
            <a:solidFill xmlns:a="http://schemas.openxmlformats.org/drawingml/2006/main">
              <a:srgbClr val="E97132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206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70C0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Tencent</c:v>
                </c:pt>
                <c:pt idx="1">
                  <c:v>East Money</c:v>
                </c:pt>
                <c:pt idx="2">
                  <c:v>Qfin</c:v>
                </c:pt>
                <c:pt idx="3">
                  <c:v>Lexin</c:v>
                </c:pt>
                <c:pt idx="4">
                  <c:v>FinVolution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10.3</c:v>
                </c:pt>
                <c:pt idx="1">
                  <c:v>44.8</c:v>
                </c:pt>
                <c:pt idx="2">
                  <c:v>-63.5</c:v>
                </c:pt>
                <c:pt idx="3">
                  <c:v>-67.9</c:v>
                </c:pt>
                <c:pt idx="4">
                  <c:v>-42.6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30343B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-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38">
                <a:solidFill>
                  <a:srgbClr val="59595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953">
          <a:solidFill>
            <a:srgbClr val="000000">
              <a:alpha val="0"/>
            </a:srgbClr>
          </a:solidFill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953">
      <a:solidFill>
        <a:srgbClr val="000000">
          <a:alpha val="0"/>
        </a:srgbClr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2700534"/>
            <a:ext cx="5288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 i="0" u="none" strike="noStrike">
                <a:solidFill>
                  <a:srgbClr val="002060"/>
                </a:solidFill>
              </a:rPr>
              <a:t>China Banks vs Fintech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30" y="3280144"/>
            <a:ext cx="682815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0" i="0" u="none" strike="noStrike">
                <a:solidFill>
                  <a:srgbClr val="002060"/>
                </a:solidFill>
              </a:rPr>
              <a:t>The interface moved, the balance sheet stayed | 2010 to H1 2026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026" name="Picture 2">
            <a:extLst xmlns:a="http://schemas.openxmlformats.org/drawingml/2006/main">
              <a:ext uri="{FF2B5EF4-FFF2-40B4-BE49-F238E27FC236}">
                <a16:creationId xmlns:a16="http://schemas.microsoft.com/office/drawing/2014/main" id="{03A94F5D-989C-4AEE-B926-B0327EA94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54ad46e474a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795" y="1619619"/>
            <a:ext cx="3262140" cy="332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698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25A8D7-2586-431E-9E5C-B0D704D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MARKET STRUCTURE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322249-E430-4CDB-B563-830D7BA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Fintech Owns Frequency; Banks Still Own Value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5A97DF-8B71-4122-83EB-107FBB1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The same transaction can be platform-initiated, bank-funded and bank-settled.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5E229F-5FF0-4E03-B4B9-BD0FDD92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PBOC payment-system statistics; 2025 figures reproduced by Cuiwei; internal calculations. Bank and non-bank series overlap and are not ownership shares.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B4A258-0C69-4EC0-9F3F-A36B5C9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B11787-B1DA-45F1-A5DC-C9091D35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615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9721E5-1240-4881-A01B-5F4AD9D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FF69C89-8291-48A6-A274-FE400530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2962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COUNT INDEX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537317-C47E-43B9-9BF8-14AFDCCA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905" y="3248387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2013 = 100 | non-bank activity scaled faster, while bank channels also digitised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D61F23D-53E1-4530-AC3E-CDF2F70C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34256"/>
            <a:ext cx="5760720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B9795D-E58D-4D2B-8D6D-3820FA3C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49DF2B0-E31E-4781-BA0C-F4A4D0C0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24528"/>
            <a:ext cx="111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TRANSACTION VALUE INDEX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CF5908C-2307-43C9-A108-8C8B7F7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3" y="4608576"/>
            <a:ext cx="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73CCDA-5FE7-4350-9E8A-F753BC0D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4791456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Average ticket, 2025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84B497-9AD6-4102-9970-CBC1F8C9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009126"/>
            <a:ext cx="13716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RMB11.3k vs RMB255</a:t>
            </a:r>
            <a:endParaRPr sz="2400" b="1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D1883C-F695-421F-B871-50EE7C5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7" y="5431536"/>
            <a:ext cx="1371600" cy="434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bank electronic vs non-bank network payment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B17ED6-DFAF-4D1C-97DD-A4E255F2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4334256"/>
            <a:ext cx="4956048" cy="188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92B3078-AA84-40D9-9791-AD13B214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AB5ECF5-76A6-47B8-A6BC-003D3FA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4224528"/>
            <a:ext cx="157050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SPLIT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A4AB17A-EE47-412E-A8AF-FE581394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366140"/>
            <a:ext cx="14593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Count: 19.4% bank / 80.6% non-bank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FC6FCF-E4A8-4DA4-9368-570C72A4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657" y="5640460"/>
            <a:ext cx="14593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Value: 91.5% bank / 8.5% non-bank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67C4309D-E00A-400F-BCCB-172170849D25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234086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8da46c36b04824"/>
          </a:graphicData>
        </a:graphic>
      </p:graphicFrame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1158EDD1-957D-443B-A596-AF1FF5D356DD}"/>
              </a:ext>
            </a:extLst>
          </p:cNvPr>
          <p:cNvGraphicFramePr/>
          <p:nvPr/>
        </p:nvGraphicFramePr>
        <p:xfrm>
          <a:off xmlns:a="http://schemas.openxmlformats.org/drawingml/2006/main" x="694944" y="4517136"/>
          <a:ext xmlns:a="http://schemas.openxmlformats.org/drawingml/2006/main" cx="5541264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c9b222fee4cc0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E03FFA78-5072-479F-81D5-2FA9F309F007}"/>
              </a:ext>
            </a:extLst>
          </p:cNvPr>
          <p:cNvGraphicFramePr/>
          <p:nvPr/>
        </p:nvGraphicFramePr>
        <p:xfrm>
          <a:off xmlns:a="http://schemas.openxmlformats.org/drawingml/2006/main" x="6766560" y="4517136"/>
          <a:ext xmlns:a="http://schemas.openxmlformats.org/drawingml/2006/main" cx="4736592" cy="160934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5fdf7619124ad8"/>
          </a:graphicData>
        </a:graphic>
      </p:graphicFrame>
    </p:spTree>
    <p:extLst>
      <p:ext uri="{BB962C8B-B14F-4D97-AF65-F5344CB8AC3E}">
        <p14:creationId xmlns:p14="http://schemas.microsoft.com/office/powerpoint/2010/main" val="875782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FA6ACD-4ACA-4469-9239-F99567A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FOUR-LAYER 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85FC38-38DB-420A-8B08-45115FCC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Finance Splits Across Four Layers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0F9764-BFAF-4B99-B5A1-559C392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Interface, activity, clearing and settlement produce different winners.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97D5BA-B83E-466B-8633-45379C0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AMRO; IMF; PBOC; NetsUnion statistics; NBS; internal calculations. Each layer uses a different denominator.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4B083D9-2617-4514-9510-D7979133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D3BB7F-64B4-4D4C-8029-D772F7D8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6492240" cy="4809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885421-4D08-44FC-A893-4B085800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4D3239-5DAF-4534-B11D-ECBADE9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84604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LEADING SHARE BY LAYER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2F8550-DBEA-462E-9B6D-C09D339B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5" y="2271003"/>
            <a:ext cx="0" cy="3401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95959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928A89-C6B5-4D2B-AA77-A06C9931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07" y="5398617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No single market-share number describes the stack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6C856F8-2643-4E22-A62C-C413E290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408176"/>
            <a:ext cx="4224528" cy="184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82B467-A4E5-4E3A-961F-E69BBEBA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8DB43F-23AF-44FB-BD65-3814AFE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298448"/>
            <a:ext cx="176872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ACTIVITY 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B23FA72-61D3-40DF-B1FD-71635AB5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3427872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8C634CF-2440-44D9-B2D3-4401F03E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375A102-E271-45B0-A302-F783521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053" y="2286000"/>
            <a:ext cx="0" cy="64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0567C63-42C7-46B1-9204-813F9EE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181" y="2048256"/>
            <a:ext cx="342787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80.6% non-bank activity count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88115DB-5201-41EB-949F-754F0BE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770" y="2885846"/>
            <a:ext cx="10972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19.4% bank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5C0E62C-8BBA-4344-ACA8-9B0FC3F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3566160"/>
            <a:ext cx="4224528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D6D94A1-0638-4F03-8567-1337070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69AB9FD-F043-4231-8A0B-E3B620FE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456432"/>
            <a:ext cx="145249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AVERAGE TICKET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2D06036-8437-4AAA-A7F3-F3373D5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5833872"/>
            <a:ext cx="4224528" cy="378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5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 channels move larger-value money; wallets win daily frequency.</a:t>
            </a:r>
          </a:p>
        </p:txBody>
      </p:sp>
      <p:graphicFrame>
        <p:nvGraphicFramePr>
          <p:cNvPr id="27" name="Chart">
            <a:extLst xmlns:a="http://schemas.openxmlformats.org/drawingml/2006/main">
              <a:ext uri="{FF2B5EF4-FFF2-40B4-BE49-F238E27FC236}">
                <a16:creationId xmlns:a16="http://schemas.microsoft.com/office/drawing/2014/main" id="{1B1C7A11-CD25-4C48-A241-418AE51AFA71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6272784" cy="45354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bc91552dba4844"/>
          </a:graphicData>
        </a:graphic>
      </p:graphicFrame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28C95DE7-A573-4ABF-93E6-48B0E8D78A8A}"/>
              </a:ext>
            </a:extLst>
          </p:cNvPr>
          <p:cNvGraphicFramePr/>
          <p:nvPr/>
        </p:nvGraphicFramePr>
        <p:xfrm>
          <a:off xmlns:a="http://schemas.openxmlformats.org/drawingml/2006/main" x="7498080" y="1591056"/>
          <a:ext xmlns:a="http://schemas.openxmlformats.org/drawingml/2006/main" cx="4005072" cy="157276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65fca05994310"/>
          </a:graphicData>
        </a:graphic>
      </p:graphicFrame>
      <p:graphicFrame>
        <p:nvGraphicFramePr>
          <p:cNvPr id="29" name="Chart">
            <a:extLst xmlns:a="http://schemas.openxmlformats.org/drawingml/2006/main">
              <a:ext uri="{FF2B5EF4-FFF2-40B4-BE49-F238E27FC236}">
                <a16:creationId xmlns:a16="http://schemas.microsoft.com/office/drawing/2014/main" id="{D968A5A7-74ED-4B62-BDF4-4CC1732890AE}"/>
              </a:ext>
            </a:extLst>
          </p:cNvPr>
          <p:cNvGraphicFramePr/>
          <p:nvPr/>
        </p:nvGraphicFramePr>
        <p:xfrm>
          <a:off xmlns:a="http://schemas.openxmlformats.org/drawingml/2006/main" x="7498080" y="3749040"/>
          <a:ext xmlns:a="http://schemas.openxmlformats.org/drawingml/2006/main" cx="4005072" cy="1920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a33ef2022e45b9"/>
          </a:graphicData>
        </a:graphic>
      </p:graphicFrame>
    </p:spTree>
    <p:extLst>
      <p:ext uri="{BB962C8B-B14F-4D97-AF65-F5344CB8AC3E}">
        <p14:creationId xmlns:p14="http://schemas.microsoft.com/office/powerpoint/2010/main" val="50458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5CDA200-B12A-443D-83CF-B179EAE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BANKING CAPACITY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C8866F9-73C7-4CEB-A5DE-F38E8BC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 Still Own the Balance Sheet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1EECBBF-8F18-4DE0-BFEB-DC856DDC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Assets quintupled while ROE halved and margins compressed.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56F803-BB8D-46F1-826D-E5DA1436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CBRC/CBIRC/NFRA; NBS; Bloomberg workbook; internal calculations. 2025 values are full-year actuals.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A0E556F-7F2D-41B6-BEAE-ACCB93E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84E571-C74B-4AD0-B647-6495BCDA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C3E040-54B5-400E-9A3D-BD6F0E2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35B95A6-9B6F-42F9-A1FD-8BAB395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76796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ASSET SCALE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88DEFD-E18F-46CD-AF31-857ECAC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384" y="2011679"/>
            <a:ext cx="0" cy="1243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95959"/>
            </a:soli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C58C35-4847-4EFD-B2C8-6DEAB01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248" y="1819655"/>
            <a:ext cx="2011680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2010–2025 CAGR: 11.4%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31B7298-4391-465D-85E1-C6104C1C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408176"/>
            <a:ext cx="535838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A432191-9DB8-4CF1-9690-C80F4F36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09DC2B3-D03B-42F5-8C1C-93E41713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98448"/>
            <a:ext cx="1143889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PROFITABILITY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E681949-A38C-435C-AAB9-BDE9002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840480"/>
            <a:ext cx="11027664" cy="2377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CD83B78-93BA-4FA0-9C09-22B4667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A473725-7264-4B9E-B52E-FF8379CF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30752"/>
            <a:ext cx="173435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 BALANCE-SHEET CAPACITY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9BECF32-E00F-435B-B786-B321EA9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2FBBDFA-2CFF-4B1D-A747-41243ED8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63F000F-2A3E-49A0-8359-79811B7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1" y="4078224"/>
            <a:ext cx="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74307D-F29A-4674-A4A5-767D4452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Deposits and loans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1EF581B-C25D-41BB-8DB0-8DC5EF29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RMB tn, end-2025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52EA88B-BFCF-40C3-9DD3-8D228A0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553712"/>
            <a:ext cx="22466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D85225E-37DF-490F-95C5-D34E831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Deposits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991D0C4-2C45-4948-95DA-C3B1BF51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553712"/>
            <a:ext cx="2100376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336.1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DDD44F3-65C2-4036-83E4-2AC00FE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919472"/>
            <a:ext cx="1800636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E58CB43-686B-413B-993E-613A7A8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B593D06-D76F-4A6C-B007-7F66F3A8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919472"/>
            <a:ext cx="1654332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275.7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729591-C707-4ED8-AD92-19517D0D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RMB2.4tn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F76B4FB-9FD8-47EA-8A3E-834ECD4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profit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750B25C-3DD6-46D6-9D8B-49219BDE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Net interest margin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4C09D5E-CA64-4E8D-A5C1-238557BE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29A32F7-97DE-4875-8A31-546452AF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BF070F9-11A6-4E7F-B0C4-2A814C6B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202250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91D7980-9FB9-43A4-AD4E-F395BE7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4645152"/>
            <a:ext cx="194935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1.42%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F7AFCA0-9950-49BA-A42B-BC7226F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A45FF8B-9660-47F4-9C5D-75D0296C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ROA 0.60%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D892CD6-7549-4871-B056-32A5DEB9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7.78%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F248A85-5D65-454F-98E2-8DC41196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sector ROE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48223B-2DF5-4EA4-A3E6-E83A5474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078224"/>
            <a:ext cx="2633471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Capital adequacy ratio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5F2EFEC-75BF-4033-B920-F24D47A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306824"/>
            <a:ext cx="2633471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2025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DAEE2FDC-1E59-440B-AEA2-BA4045C1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2633471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694FB03-5E58-4EC6-BB5D-E540F6F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75103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E61C8F2-E890-40E9-8F85-DBBCB69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4645152"/>
            <a:ext cx="1901951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15.46%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DA4F09B4-AF1E-416A-8AC8-0AF29A5F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04" y="4572000"/>
            <a:ext cx="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713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50E4443-582E-49CA-A39A-2BBE809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116" y="5047488"/>
            <a:ext cx="109728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NPL 1.50%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B8A21B4-92CF-4221-BD5D-EC94FD9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413248"/>
            <a:ext cx="263347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4.9x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8290E0F6-5BC9-4BD3-8D83-7B0E131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5" y="5779008"/>
            <a:ext cx="2633471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assets vs 2010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8382CC9-FFDD-4BD3-B7E5-9E80F0CD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078224"/>
            <a:ext cx="1335024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2026 H1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7AF694-E5E5-416F-AB7C-0B4ADCB2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306824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latest system snapshot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522EF90-DDBC-4920-B821-AE385FC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4608576"/>
            <a:ext cx="1335024" cy="25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RMB498tn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35DC73D4-E32F-4991-A46C-4D3C9F4B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976" y="5010912"/>
            <a:ext cx="1335024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total banking assets</a:t>
            </a:r>
          </a:p>
        </p:txBody>
      </p:sp>
      <p:graphicFrame>
        <p:nvGraphicFramePr>
          <p:cNvPr id="55" name="Chart">
            <a:extLst xmlns:a="http://schemas.openxmlformats.org/drawingml/2006/main">
              <a:ext uri="{FF2B5EF4-FFF2-40B4-BE49-F238E27FC236}">
                <a16:creationId xmlns:a16="http://schemas.microsoft.com/office/drawing/2014/main" id="{24757398-8C3A-4BCD-AF1B-1B19A59B379D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331740c2414632"/>
          </a:graphicData>
        </a:graphic>
      </p:graphicFrame>
      <p:graphicFrame>
        <p:nvGraphicFramePr>
          <p:cNvPr id="56" name="Chart">
            <a:extLst xmlns:a="http://schemas.openxmlformats.org/drawingml/2006/main">
              <a:ext uri="{FF2B5EF4-FFF2-40B4-BE49-F238E27FC236}">
                <a16:creationId xmlns:a16="http://schemas.microsoft.com/office/drawing/2014/main" id="{9877B99F-0CD4-45E3-B99A-376942B1D69D}"/>
              </a:ext>
            </a:extLst>
          </p:cNvPr>
          <p:cNvGraphicFramePr/>
          <p:nvPr/>
        </p:nvGraphicFramePr>
        <p:xfrm>
          <a:off xmlns:a="http://schemas.openxmlformats.org/drawingml/2006/main" x="6364224" y="1591056"/>
          <a:ext xmlns:a="http://schemas.openxmlformats.org/drawingml/2006/main" cx="513892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5b2f49fc57455c"/>
          </a:graphicData>
        </a:graphic>
      </p:graphicFrame>
    </p:spTree>
    <p:extLst>
      <p:ext uri="{BB962C8B-B14F-4D97-AF65-F5344CB8AC3E}">
        <p14:creationId xmlns:p14="http://schemas.microsoft.com/office/powerpoint/2010/main" val="15309421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9702AA5-DC1D-4736-BFC7-580CD48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CLIENT JOURNEY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E094A5-87AF-438E-A10C-BBE42B6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Clients Use Both Stacks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4EBA72-30AC-4695-BCCF-6D06C241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 own context; licensed institutions hold deposits, custody and most credit risk.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F1BC19-538D-4BC8-A4D9-3AFF6AD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Sources: CNNIC; NBS; Ant prospectus; WeBank and MYbank reports; Bloomberg Intelligence. Diagram is a functional map,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5FC226D-7105-43E1-9BFD-2433CD1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933863F-758E-43D8-BA69-B6DB64B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C57DD0A-7137-4654-A7C8-829ACC2C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A7E6995-1DC5-4EE4-A9CC-673957C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2361531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WHERE THE CLIENT MEETS EACH STACK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A56E7F4-B834-4ED9-84DE-8B73AF0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79392"/>
            <a:ext cx="4846320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BB91817-52A1-4A4A-A5BE-3755919F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3BB8373-01BA-4531-996E-1970EBFF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663"/>
            <a:ext cx="234209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DIGITAL BANK LOAN SCALE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7F1642A-38D2-4AB3-8F6D-04F47072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616061"/>
            <a:ext cx="4480559" cy="144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Ecosystem traffic became a licensed deposit-and-loan franchise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83C55F8-71BB-431D-B05C-64F99BDB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1" y="4279392"/>
            <a:ext cx="5870448" cy="1609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49A256D-B312-4E84-9B60-957D3983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CB2663C-EC15-4493-AFC6-7946D4CE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4169663"/>
            <a:ext cx="206187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MODEL, 2024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09B1FAC-6E79-46B2-8978-F3C80CAF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016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47EF76D-9786-441B-8B73-A65C8015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98848"/>
            <a:ext cx="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56527D5-E2D1-40D9-A78B-D406D59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4700016"/>
            <a:ext cx="201168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72D23FBD-3C63-4290-B434-BDA2BC24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047488"/>
            <a:ext cx="950976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RMB436bn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783895C-A2B0-40B6-B06C-01EA7A33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065FF27-3A2A-44A8-8022-D59375B9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047488"/>
            <a:ext cx="950976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424m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DEDFEBE-1A60-4DD3-8CBF-B3D07DE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449824"/>
            <a:ext cx="950976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retail clients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38ED721-6F5C-47FC-B2E4-C4BD0582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700016"/>
            <a:ext cx="11887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MYbank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D9478F7-971D-45C7-890C-4129F3A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85623"/>
            <a:ext cx="118872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RMB298.5bn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A3F352F-A9BF-4832-BC58-17013D6B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449824"/>
            <a:ext cx="11887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loans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59A00B0-A549-438B-8871-06735CF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700016"/>
            <a:ext cx="1645920" cy="175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68m+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B0B77A2-665B-4449-A1B8-6377C77A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047488"/>
            <a:ext cx="164592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E97132"/>
                </a:solidFill>
                <a:latin typeface="Calibri"/>
                <a:ea typeface="Calibri"/>
                <a:cs typeface="Calibri"/>
              </a:rPr>
              <a:t>SME clients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83A5CFF-9978-489D-98F0-5FFAD307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5449824"/>
            <a:ext cx="16459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cumulative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E90F250-6C06-446A-9BF0-08451C3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952744"/>
            <a:ext cx="11027664" cy="129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5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Client functions overlap; funding, custody and final risk-bearing remain concentrated in licensed institutions.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822938-BBBE-431E-B67C-4A61A04E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39052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2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</a:t>
            </a:r>
          </a:p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Deposits • custody • settlement</a:t>
            </a:r>
          </a:p>
          <a:p xmlns:a="http://schemas.openxmlformats.org/drawingml/2006/main">
            <a:pPr algn="ctr">
              <a:defRPr sz="97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Mortgage • corporate 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E4D7B-1961-4E34-88EA-06BA50C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00250"/>
            <a:ext cx="39052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5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FINTECH</a:t>
            </a:r>
          </a:p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Context • discovery • daily UX</a:t>
            </a:r>
          </a:p>
          <a:p xmlns:a="http://schemas.openxmlformats.org/drawingml/2006/main">
            <a:pPr algn="ctr">
              <a:defRPr sz="975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Data • distribution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504DC9-F4DD-4AE3-B07B-680F8D9C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381125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PAYMENTS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1C4937-CF95-4A4F-8963-6D2879BB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11906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WEALTH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94FCDD-1964-41E6-A892-50B836A6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05125"/>
            <a:ext cx="1381125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SHORT CREDIT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F739B8-E9CB-4886-AEA8-FD39D7AF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1571625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2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LICENSED</a:t>
            </a:r>
          </a:p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HYBRID</a:t>
            </a:r>
          </a:p>
          <a:p xmlns:a="http://schemas.openxmlformats.org/drawingml/2006/main">
            <a:pPr algn="ctr">
              <a:defRPr sz="863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WeBank • MYbank</a:t>
            </a:r>
          </a:p>
        </p:txBody>
      </p:sp>
      <p:graphicFrame>
        <p:nvGraphicFramePr>
          <p:cNvPr id="46" name="Chart">
            <a:extLst xmlns:a="http://schemas.openxmlformats.org/drawingml/2006/main">
              <a:ext uri="{FF2B5EF4-FFF2-40B4-BE49-F238E27FC236}">
                <a16:creationId xmlns:a16="http://schemas.microsoft.com/office/drawing/2014/main" id="{77D15903-ACCB-46A1-BFF4-825F41D2A198}"/>
              </a:ext>
            </a:extLst>
          </p:cNvPr>
          <p:cNvGraphicFramePr/>
          <p:nvPr/>
        </p:nvGraphicFramePr>
        <p:xfrm>
          <a:off xmlns:a="http://schemas.openxmlformats.org/drawingml/2006/main" x="694944" y="4462272"/>
          <a:ext xmlns:a="http://schemas.openxmlformats.org/drawingml/2006/main" cx="4626864" cy="133502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8e30ff7abd4a92"/>
          </a:graphicData>
        </a:graphic>
      </p:graphicFrame>
    </p:spTree>
    <p:extLst>
      <p:ext uri="{BB962C8B-B14F-4D97-AF65-F5344CB8AC3E}">
        <p14:creationId xmlns:p14="http://schemas.microsoft.com/office/powerpoint/2010/main" val="15787868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67A7641-DCA9-4020-A76A-AF6EE17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PUBLIC-MARKET LENS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1316CD-5A18-44AA-8FCD-328106A7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The Market Prices Business Models, Not Categories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8F4C1CD-A0A1-44C8-8594-A88AB6F6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Banks trade at a discount; platform returns command a premium; facilitators weakened in H1 2026.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3CBEC6-4655-41E9-B73B-5E02D028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Bloomberg workbook supplied by user; internal cleaning and calculations. Valuation and ROE are 2025Q4 medians; earnings growth is H1 2026 actual.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BD8E446-CF39-4058-971B-E24E007C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CA88042-D5CD-4983-BFA1-4A22A72B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08176"/>
            <a:ext cx="11027664" cy="1938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A7F1A1E-88B4-4992-BF3A-8216279E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61058D0-BE95-4A16-AC69-E66DA29F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98448"/>
            <a:ext cx="1926615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AND RETURNS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2BD2F5-223D-4865-B7CD-C849E377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D7F2DA-FD2E-4504-AC24-8AEDFEC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694176"/>
            <a:ext cx="2103120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Banks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DEF6D7DA-A9C7-4139-ADAB-CA6DA066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B525DAE-9CDA-4B3E-B1EB-5712D51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7108811-562F-4B9D-B2DE-85AFC5A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Platforms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32A265CC-E65D-48F6-B607-6282E58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739896"/>
            <a:ext cx="585216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A6A6A6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36A4DC-6027-4F8F-9E98-5B71F729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511296"/>
            <a:ext cx="2103120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RISK / RULES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C6A33CF-D10F-48F2-B6C8-F52D92F4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694176"/>
            <a:ext cx="2103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Facilitators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4A3D881-2453-49C6-B994-9426F68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639312"/>
            <a:ext cx="237744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Funding → Interface → Regulation → Earnings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227728-753A-4D80-907B-21E9555E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114800"/>
            <a:ext cx="11027664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20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1A9C89-A4C9-4D6F-985C-2FA8E22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05072"/>
            <a:ext cx="1416919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F3E2140-BA61-4DEA-9D49-F1B6B7E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47000"/>
            <a:ext cx="1416919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H1 2026 EARNINGS DISPERSION</a:t>
            </a:r>
            <a:endParaRPr sz="1000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09DB94CE-075B-4FAB-B858-E95D0D4052B6}"/>
              </a:ext>
            </a:extLst>
          </p:cNvPr>
          <p:cNvGraphicFramePr/>
          <p:nvPr/>
        </p:nvGraphicFramePr>
        <p:xfrm>
          <a:off xmlns:a="http://schemas.openxmlformats.org/drawingml/2006/main" x="694944" y="1591056"/>
          <a:ext xmlns:a="http://schemas.openxmlformats.org/drawingml/2006/main" cx="10808208" cy="16642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b5757647224f8f"/>
          </a:graphicData>
        </a:graphic>
      </p:graphicFrame>
      <p:graphicFrame>
        <p:nvGraphicFramePr>
          <p:cNvPr id="24" name="Chart">
            <a:extLst xmlns:a="http://schemas.openxmlformats.org/drawingml/2006/main">
              <a:ext uri="{FF2B5EF4-FFF2-40B4-BE49-F238E27FC236}">
                <a16:creationId xmlns:a16="http://schemas.microsoft.com/office/drawing/2014/main" id="{4FFC7164-DD0D-4A20-858D-0E85D059A03E}"/>
              </a:ext>
            </a:extLst>
          </p:cNvPr>
          <p:cNvGraphicFramePr/>
          <p:nvPr/>
        </p:nvGraphicFramePr>
        <p:xfrm>
          <a:off xmlns:a="http://schemas.openxmlformats.org/drawingml/2006/main" x="694944" y="4297680"/>
          <a:ext xmlns:a="http://schemas.openxmlformats.org/drawingml/2006/main" cx="10808208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dac9b8a0514bef"/>
          </a:graphicData>
        </a:graphic>
      </p:graphicFrame>
    </p:spTree>
    <p:extLst>
      <p:ext uri="{BB962C8B-B14F-4D97-AF65-F5344CB8AC3E}">
        <p14:creationId xmlns:p14="http://schemas.microsoft.com/office/powerpoint/2010/main" val="13192331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30D38D2-5F27-41FA-B3B0-8096A73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032"/>
            <a:ext cx="11027664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 BUSINESS MODELS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DDEDAB-C4BB-4EBC-BEAA-BC5FD2A1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20624"/>
            <a:ext cx="1102766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Three Business Models; Three Different Risk Profiles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9AF06D-B105-45C9-AF64-7DF9F2DE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86968"/>
            <a:ext cx="11027664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Funding control and interface control determine the investment case.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9F39DC1-69E9-4F0C-9AD8-4111F23D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382512"/>
            <a:ext cx="10332720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 i="1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Source: company filings; Bloomberg workbook; regulatory chronology; internal synthesis. Bubble size is qualitative, not market share.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BE0FFC2-54E3-4A47-85B2-A66E3DEE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256" y="6364224"/>
            <a:ext cx="768096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| </a:t>
            </a:r>
            <a:r>
              <a:rPr sz="1100" b="0" i="0">
                <a:solidFill>
                  <a:srgbClr val="7A838E"/>
                </a:solidFill>
                <a:latin typeface="Calibri"/>
                <a:ea typeface="Calibri"/>
                <a:cs typeface="Calibri"/>
              </a:rPr>
              <a:t>7</a:t>
            </a:r>
            <a:endParaRPr sz="1100" b="0" i="0">
              <a:solidFill>
                <a:srgbClr val="7A838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F007197-24BD-4C7D-B5A1-59DC167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9995BA1-E282-4815-BEEA-98945CA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1353312"/>
            <a:ext cx="0" cy="4178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65EE66-D839-4EA9-8F66-523DABA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87732D8-E2AB-4F90-9197-07AA9BB4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649" y="1371600"/>
            <a:ext cx="1599261" cy="167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BALANCE SHEET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AF876D2-E318-4BFF-A432-A811BF4D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Large banks / CMB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368EE96-C820-4588-8B2C-F25A5A7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Cheap valuation | yield | policy exposure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1146DC7D-2AE3-427F-950E-77D60979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548C260-3252-4D91-8486-CBB65877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777" y="1371600"/>
            <a:ext cx="1026541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LICENSED HYBRID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56ACE8C-A25F-467B-8E94-CCB8123F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WeBank / MYbank / East Money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343B513-8514-4F61-AC4E-EFD85974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Preferred structure | two or more advantages</a:t>
            </a:r>
          </a:p>
        </p:txBody>
      </p:sp>
      <p:sp>
        <p:nvSpPr>
          <p:cNvPr id="95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04CE5361-DE64-46E4-B12C-D890C0B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0181A685-016E-48D9-A437-BC2F3980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78" y="1371600"/>
            <a:ext cx="1268476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PLATFORM / FACILITATOR</a:t>
            </a: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1F703793-0B12-4A39-B433-81AF2CDE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00784"/>
            <a:ext cx="3310128" cy="231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600" b="1" i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Tencent / Ant / loan facilitators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6AD4C972-A5F9-42E5-8F35-CF71E238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31136"/>
            <a:ext cx="3310128" cy="15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Selective | transparency and funding matter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86076F-6A3E-4DC4-B4D8-0E42052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5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45B350B-0BDE-48CA-85ED-761FA9D4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5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F8A147-1384-4F39-9213-C70E8D5B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04875" cy="904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2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AF11D4-6893-4C0A-8786-78F74E9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4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FUNDING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893BF4-49AD-4849-9CD6-94DCE8E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3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AE9A37A-F583-446A-8125-A0B5F806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1285875" cy="1285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4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6F85583-89D3-486F-ABA9-AF4C7DE7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132">
              <a:alpha val="16000"/>
            </a:srgbClr>
          </a:solidFill>
          <a:ln xmlns:a="http://schemas.openxmlformats.org/drawingml/2006/main" w="14288">
            <a:solidFill>
              <a:srgbClr val="E97132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9E3F1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E3F13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D88A44-B7DD-4700-B13D-F96C2496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38E">
              <a:alpha val="14000"/>
            </a:srgbClr>
          </a:solidFill>
          <a:ln xmlns:a="http://schemas.openxmlformats.org/drawingml/2006/main" w="14288">
            <a:solidFill>
              <a:srgbClr val="7A838E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REGULATION</a:t>
            </a:r>
          </a:p>
          <a:p xmlns:a="http://schemas.openxmlformats.org/drawingml/2006/main">
            <a:pPr algn="ctr">
              <a:defRPr sz="788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788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+ FUNDING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92539A1-8F14-4910-8005-76540043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060">
              <a:alpha val="10000"/>
            </a:srgbClr>
          </a:solidFill>
          <a:ln xmlns:a="http://schemas.openxmlformats.org/drawingml/2006/main" w="14288">
            <a:solidFill>
              <a:srgbClr val="00206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002060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LICENCE</a:t>
            </a:r>
          </a:p>
        </p:txBody>
      </p:sp>
    </p:spTree>
    <p:extLst>
      <p:ext uri="{BB962C8B-B14F-4D97-AF65-F5344CB8AC3E}">
        <p14:creationId xmlns:p14="http://schemas.microsoft.com/office/powerpoint/2010/main" val="4409994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0CF68F-FB30-717E-980D-3D91710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2700534"/>
            <a:ext cx="2443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sz="3600" b="1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Thank you</a:t>
            </a:r>
            <a:endParaRPr sz="3600" b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BDC267-2CB9-F5BB-ED15-8A4D3E5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30" y="3280144"/>
            <a:ext cx="438023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>
                <a:latin typeface="Calibri"/>
                <a:ea typeface="Calibri"/>
                <a:cs typeface="Calibri"/>
              </a:defRPr>
            </a:pPr>
            <a:r>
              <a:rPr b="0" i="0" u="none" strike="noStrik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China banks vs fintech | 2010 to H1 2026</a:t>
            </a:r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1550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2026-10-14T08:04:38.6020000Z</dcterms:created>
  <dcterms:modified xsi:type="dcterms:W3CDTF">2026-10-14T08:04:38.6020000Z</dcterms:modified>
</coreProperties>
</file>