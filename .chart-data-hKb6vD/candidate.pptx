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2f223ae5fb4131" /><Relationship Type="http://schemas.openxmlformats.org/officeDocument/2006/relationships/extended-properties" Target="/docProps/app.xml" Id="R355f555579bd4125" /><Relationship Type="http://schemas.openxmlformats.org/officeDocument/2006/relationships/officeDocument" Target="/ppt/presentation.xml" Id="Raf0f98aa37df48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aeeca1c1e422f"/>
  </p:sldMasterIdLst>
  <p:notesMasterIdLst>
    <p:notesMasterId xmlns:r="http://schemas.openxmlformats.org/officeDocument/2006/relationships" r:id="R643b6c792eb54500"/>
  </p:notesMasterIdLst>
  <p:sldIdLst>
    <p:sldId xmlns:r="http://schemas.openxmlformats.org/officeDocument/2006/relationships" id="256" r:id="R1c1b07a4b1234294"/>
    <p:sldId xmlns:r="http://schemas.openxmlformats.org/officeDocument/2006/relationships" id="257" r:id="Rcc7c57fec9d54182"/>
    <p:sldId xmlns:r="http://schemas.openxmlformats.org/officeDocument/2006/relationships" id="258" r:id="R739d6c8d3cd84ef0"/>
    <p:sldId xmlns:r="http://schemas.openxmlformats.org/officeDocument/2006/relationships" id="259" r:id="Rc4add02fe1964e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43fb1b661e4333" /><Relationship Type="http://schemas.openxmlformats.org/officeDocument/2006/relationships/slideMaster" Target="/ppt/slideMasters/slideMaster1.xml" Id="R313aeeca1c1e422f" /><Relationship Type="http://schemas.openxmlformats.org/officeDocument/2006/relationships/notesMaster" Target="/ppt/notesMasters/notesMaster1.xml" Id="R643b6c792eb54500" /><Relationship Type="http://schemas.openxmlformats.org/officeDocument/2006/relationships/presProps" Target="/ppt/presProps.xml" Id="Rb27649e7102f4fba" /><Relationship Type="http://schemas.openxmlformats.org/officeDocument/2006/relationships/viewProps" Target="/ppt/viewProps.xml" Id="R50a0b3173c834350" /><Relationship Type="http://schemas.openxmlformats.org/officeDocument/2006/relationships/tableStyles" Target="/ppt/tableStyles.xml" Id="R47bdabcbf60a4ffc" /><Relationship Type="http://schemas.openxmlformats.org/officeDocument/2006/relationships/slide" Target="/ppt/slides/slide1.xml" Id="R1c1b07a4b1234294" /><Relationship Type="http://schemas.openxmlformats.org/officeDocument/2006/relationships/slide" Target="/ppt/slides/slide2.xml" Id="Rcc7c57fec9d54182" /><Relationship Type="http://schemas.openxmlformats.org/officeDocument/2006/relationships/slide" Target="/ppt/slides/slide3.xml" Id="R739d6c8d3cd84ef0" /><Relationship Type="http://schemas.openxmlformats.org/officeDocument/2006/relationships/slide" Target="/ppt/slides/slide4.xml" Id="Rc4add02fe1964e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bcdf558504c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5fcb3aaa764052" /><Relationship Type="http://schemas.openxmlformats.org/officeDocument/2006/relationships/notesMaster" Target="/ppt/notesMasters/notesMaster1.xml" Id="R86e733d310774a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4ef0dd8b8c479e" /><Relationship Type="http://schemas.openxmlformats.org/officeDocument/2006/relationships/notesMaster" Target="/ppt/notesMasters/notesMaster1.xml" Id="R23960f6252404a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8edf1a1d1b411e" /><Relationship Type="http://schemas.openxmlformats.org/officeDocument/2006/relationships/notesMaster" Target="/ppt/notesMasters/notesMaster1.xml" Id="Rf6e1aa159a2047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3f907319064501" /><Relationship Type="http://schemas.openxmlformats.org/officeDocument/2006/relationships/notesMaster" Target="/ppt/notesMasters/notesMaster1.xml" Id="R461c1e09a59344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/Users/agatbe/Downloads/TIM - 3.xlsx; BSDE Annual Report 2025; BSDE 1H26 Financial Statements and press release; PEFINDO Rating Summary dated 18 March 2026.</a:t>
            </a:r>
            <a:endParaRPr/>
          </a:p>
          <a:p xmlns:a="http://schemas.openxmlformats.org/drawingml/2006/main">
            <a:r>
              <a:t>https://www.bsdcity.com/app/uploads/2026/04/BSDE-Annual-Report-2025.pdf</a:t>
            </a:r>
            <a:endParaRPr/>
          </a:p>
          <a:p xmlns:a="http://schemas.openxmlformats.org/drawingml/2006/main">
            <a:r>
              <a:t>https://www.bsdcity.com/app/uploads/2026/07/BSDE-LK-Q2-2026.pdf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Figures are in IDR million unless stated otherwise. The 1H26 column aggregates 1Q26 and 2Q26 for P&amp;L and cash flow items and uses 2Q26 ending balances for balance-sheet and ratio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Annual data are FY figures; 1H26 revenue and profit margin are cumulative, while total assets, liabilities, equity, ROA and ROE use the latest 2Q26 workbook values.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</a:t>
            </a:r>
            <a:endParaRPr/>
          </a:p>
          <a:p xmlns:a="http://schemas.openxmlformats.org/drawingml/2006/main">
            <a:r>
              <a:t>Company-defined 1H26 capital expenditure was IDR3.25tn including IDR2.51tn of land purchases. The workbook capital-expenditure series excludes land purchases, which property developers classify in operating cash flow.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3e0b686be4b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9400c214b4d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3c5eab4b04d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954bd320849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0afbaa70c40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ec3a2eca346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71ea0297348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8bec4af1d4c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70c128e9043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58e32b6a844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5c0aa05b4441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ec35c6b1274315" /><Relationship Type="http://schemas.openxmlformats.org/officeDocument/2006/relationships/slideLayout" Target="/ppt/slideLayouts/slideLayout1.xml" Id="Rc065b022804d49fd" /><Relationship Type="http://schemas.openxmlformats.org/officeDocument/2006/relationships/slideLayout" Target="/ppt/slideLayouts/slideLayout2.xml" Id="R169888aaf4d14400" /><Relationship Type="http://schemas.openxmlformats.org/officeDocument/2006/relationships/slideLayout" Target="/ppt/slideLayouts/slideLayout3.xml" Id="Rdfd54154f6944b09" /><Relationship Type="http://schemas.openxmlformats.org/officeDocument/2006/relationships/slideLayout" Target="/ppt/slideLayouts/slideLayout4.xml" Id="R92449c30d3fb4b42" /><Relationship Type="http://schemas.openxmlformats.org/officeDocument/2006/relationships/slideLayout" Target="/ppt/slideLayouts/slideLayout5.xml" Id="R4b48dbc8de224a5e" /><Relationship Type="http://schemas.openxmlformats.org/officeDocument/2006/relationships/slideLayout" Target="/ppt/slideLayouts/slideLayout6.xml" Id="R53b2b0975f514ae8" /><Relationship Type="http://schemas.openxmlformats.org/officeDocument/2006/relationships/slideLayout" Target="/ppt/slideLayouts/slideLayout7.xml" Id="R7ec6a82a276a49e1" /><Relationship Type="http://schemas.openxmlformats.org/officeDocument/2006/relationships/slideLayout" Target="/ppt/slideLayouts/slideLayout8.xml" Id="R8201c068e6484328" /><Relationship Type="http://schemas.openxmlformats.org/officeDocument/2006/relationships/slideLayout" Target="/ppt/slideLayouts/slideLayout9.xml" Id="R95ed68db6ac84c45" /><Relationship Type="http://schemas.openxmlformats.org/officeDocument/2006/relationships/slideLayout" Target="/ppt/slideLayouts/slideLayout10.xml" Id="Raf3e989b65874737" /><Relationship Type="http://schemas.openxmlformats.org/officeDocument/2006/relationships/slideLayout" Target="/ppt/slideLayouts/slideLayout11.xml" Id="Ra50def44600344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65b022804d49fd"/>
    <p:sldLayoutId xmlns:r="http://schemas.openxmlformats.org/officeDocument/2006/relationships" id="2147483650" r:id="R169888aaf4d14400"/>
    <p:sldLayoutId xmlns:r="http://schemas.openxmlformats.org/officeDocument/2006/relationships" id="2147483651" r:id="Rdfd54154f6944b09"/>
    <p:sldLayoutId xmlns:r="http://schemas.openxmlformats.org/officeDocument/2006/relationships" id="2147483652" r:id="R92449c30d3fb4b42"/>
    <p:sldLayoutId xmlns:r="http://schemas.openxmlformats.org/officeDocument/2006/relationships" id="2147483653" r:id="R4b48dbc8de224a5e"/>
    <p:sldLayoutId xmlns:r="http://schemas.openxmlformats.org/officeDocument/2006/relationships" id="2147483654" r:id="R53b2b0975f514ae8"/>
    <p:sldLayoutId xmlns:r="http://schemas.openxmlformats.org/officeDocument/2006/relationships" id="2147483655" r:id="R7ec6a82a276a49e1"/>
    <p:sldLayoutId xmlns:r="http://schemas.openxmlformats.org/officeDocument/2006/relationships" id="2147483656" r:id="R8201c068e6484328"/>
    <p:sldLayoutId xmlns:r="http://schemas.openxmlformats.org/officeDocument/2006/relationships" id="2147483657" r:id="R95ed68db6ac84c45"/>
    <p:sldLayoutId xmlns:r="http://schemas.openxmlformats.org/officeDocument/2006/relationships" id="2147483658" r:id="Raf3e989b65874737"/>
    <p:sldLayoutId xmlns:r="http://schemas.openxmlformats.org/officeDocument/2006/relationships" id="2147483659" r:id="Ra50def446003442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a6c318a7f46b6" /><Relationship Type="http://schemas.openxmlformats.org/officeDocument/2006/relationships/chart" Target="/ppt/slides/charts/chart1.xml" Id="R40b91cd4d4f944de" /><Relationship Type="http://schemas.openxmlformats.org/officeDocument/2006/relationships/chart" Target="/ppt/slides/charts/chart2.xml" Id="R1c15789019a0475e" /><Relationship Type="http://schemas.openxmlformats.org/officeDocument/2006/relationships/chart" Target="/ppt/slides/charts/chart3.xml" Id="R87e17f95b3c24b40" /><Relationship Type="http://schemas.openxmlformats.org/officeDocument/2006/relationships/notesSlide" Target="/ppt/notesSlides/notesSlide1.xml" Id="R0621ea8c9edc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a5968e5374cb5" /><Relationship Type="http://schemas.openxmlformats.org/officeDocument/2006/relationships/notesSlide" Target="/ppt/notesSlides/notesSlide2.xml" Id="R88b85723b55b4d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5d2e0346b44773" /><Relationship Type="http://schemas.openxmlformats.org/officeDocument/2006/relationships/chart" Target="/ppt/slides/charts/chart4.xml" Id="Rd5150abe079d4d78" /><Relationship Type="http://schemas.openxmlformats.org/officeDocument/2006/relationships/chart" Target="/ppt/slides/charts/chart5.xml" Id="R951f77587e274045" /><Relationship Type="http://schemas.openxmlformats.org/officeDocument/2006/relationships/chart" Target="/ppt/slides/charts/chart6.xml" Id="R8b6172402d7147fa" /><Relationship Type="http://schemas.openxmlformats.org/officeDocument/2006/relationships/chart" Target="/ppt/slides/charts/chart7.xml" Id="R6973cbfaca6b474c" /><Relationship Type="http://schemas.openxmlformats.org/officeDocument/2006/relationships/chart" Target="/ppt/slides/charts/chart8.xml" Id="R751b1d0830e34867" /><Relationship Type="http://schemas.openxmlformats.org/officeDocument/2006/relationships/chart" Target="/ppt/slides/charts/chart9.xml" Id="Rfc2f7462b19149b9" /><Relationship Type="http://schemas.openxmlformats.org/officeDocument/2006/relationships/notesSlide" Target="/ppt/notesSlides/notesSlide3.xml" Id="R427801ea073840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dcf70cca9847a3" /><Relationship Type="http://schemas.openxmlformats.org/officeDocument/2006/relationships/chart" Target="/ppt/slides/charts/chart10.xml" Id="Rb1b725f41ef2437a" /><Relationship Type="http://schemas.openxmlformats.org/officeDocument/2006/relationships/chart" Target="/ppt/slides/charts/chart11.xml" Id="R48c17841786440a3" /><Relationship Type="http://schemas.openxmlformats.org/officeDocument/2006/relationships/chart" Target="/ppt/slides/charts/chart12.xml" Id="R9399e7b3f81d47bf" /><Relationship Type="http://schemas.openxmlformats.org/officeDocument/2006/relationships/chart" Target="/ppt/slides/charts/chart13.xml" Id="R3563663e7c434bde" /><Relationship Type="http://schemas.openxmlformats.org/officeDocument/2006/relationships/chart" Target="/ppt/slides/charts/chart14.xml" Id="R92174353e4ff4366" /><Relationship Type="http://schemas.openxmlformats.org/officeDocument/2006/relationships/chart" Target="/ppt/slides/charts/chart15.xml" Id="R25fa389817e4478f" /><Relationship Type="http://schemas.openxmlformats.org/officeDocument/2006/relationships/notesSlide" Target="/ppt/notesSlides/notesSlide4.xml" Id="R36172ca7cd4340a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Free Cash Flow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Debt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Net Debt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2520.67</c:v>
                </c:pt>
                <c:pt idx="1">
                  <c:v>3430.45</c:v>
                </c:pt>
                <c:pt idx="2">
                  <c:v>3184.77</c:v>
                </c:pt>
                <c:pt idx="3">
                  <c:v>1918.69</c:v>
                </c:pt>
                <c:pt idx="4">
                  <c:v>153.73</c:v>
                </c:pt>
                <c:pt idx="5">
                  <c:v>38.63</c:v>
                </c:pt>
                <c:pt idx="6">
                  <c:v>1025.23</c:v>
                </c:pt>
                <c:pt idx="7">
                  <c:v>3454.3</c:v>
                </c:pt>
                <c:pt idx="8">
                  <c:v>4614.04</c:v>
                </c:pt>
                <c:pt idx="9">
                  <c:v>8761.26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Income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Net Income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4920.23</c:v>
                </c:pt>
                <c:pt idx="1">
                  <c:v>1293.85</c:v>
                </c:pt>
                <c:pt idx="2">
                  <c:v>2791.42</c:v>
                </c:pt>
                <c:pt idx="3">
                  <c:v>281.7</c:v>
                </c:pt>
                <c:pt idx="4">
                  <c:v>1348.62</c:v>
                </c:pt>
                <c:pt idx="5">
                  <c:v>2433.15</c:v>
                </c:pt>
                <c:pt idx="6">
                  <c:v>1945.47</c:v>
                </c:pt>
                <c:pt idx="7">
                  <c:v>4359.06</c:v>
                </c:pt>
                <c:pt idx="8">
                  <c:v>2545.38</c:v>
                </c:pt>
                <c:pt idx="9">
                  <c:v>603.9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Profit Margin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Profit Margin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47.55</c:v>
                </c:pt>
                <c:pt idx="1">
                  <c:v>19.52</c:v>
                </c:pt>
                <c:pt idx="2">
                  <c:v>39.4</c:v>
                </c:pt>
                <c:pt idx="3">
                  <c:v>4.56</c:v>
                </c:pt>
                <c:pt idx="4">
                  <c:v>17.62</c:v>
                </c:pt>
                <c:pt idx="5">
                  <c:v>23.77</c:v>
                </c:pt>
                <c:pt idx="6">
                  <c:v>16.86</c:v>
                </c:pt>
                <c:pt idx="7">
                  <c:v>31.6</c:v>
                </c:pt>
                <c:pt idx="8">
                  <c:v>19.9</c:v>
                </c:pt>
                <c:pt idx="9">
                  <c:v>12.71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Return on Equity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21.4</c:v>
                </c:pt>
                <c:pt idx="1">
                  <c:v>5.02</c:v>
                </c:pt>
                <c:pt idx="2">
                  <c:v>10.08</c:v>
                </c:pt>
                <c:pt idx="3">
                  <c:v>0.95</c:v>
                </c:pt>
                <c:pt idx="4">
                  <c:v>4.38</c:v>
                </c:pt>
                <c:pt idx="5">
                  <c:v>7.48</c:v>
                </c:pt>
                <c:pt idx="6">
                  <c:v>5.55</c:v>
                </c:pt>
                <c:pt idx="7">
                  <c:v>11.27</c:v>
                </c:pt>
                <c:pt idx="8">
                  <c:v>6.01</c:v>
                </c:pt>
                <c:pt idx="9">
                  <c:v>4.26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Assets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Return on Assets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11.65</c:v>
                </c:pt>
                <c:pt idx="1">
                  <c:v>2.64</c:v>
                </c:pt>
                <c:pt idx="2">
                  <c:v>5.23</c:v>
                </c:pt>
                <c:pt idx="3">
                  <c:v>0.49</c:v>
                </c:pt>
                <c:pt idx="4">
                  <c:v>2.2</c:v>
                </c:pt>
                <c:pt idx="5">
                  <c:v>3.85</c:v>
                </c:pt>
                <c:pt idx="6">
                  <c:v>2.95</c:v>
                </c:pt>
                <c:pt idx="7">
                  <c:v>6.1</c:v>
                </c:pt>
                <c:pt idx="8">
                  <c:v>3.28</c:v>
                </c:pt>
                <c:pt idx="9">
                  <c:v>2.35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Revenue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10.35</c:v>
                </c:pt>
                <c:pt idx="1">
                  <c:v>6.63</c:v>
                </c:pt>
                <c:pt idx="2">
                  <c:v>7.08</c:v>
                </c:pt>
                <c:pt idx="3">
                  <c:v>6.18</c:v>
                </c:pt>
                <c:pt idx="4">
                  <c:v>7.65</c:v>
                </c:pt>
                <c:pt idx="5">
                  <c:v>10.24</c:v>
                </c:pt>
                <c:pt idx="6">
                  <c:v>11.54</c:v>
                </c:pt>
                <c:pt idx="7">
                  <c:v>13.8</c:v>
                </c:pt>
                <c:pt idx="8">
                  <c:v>12.79</c:v>
                </c:pt>
                <c:pt idx="9">
                  <c:v>4.75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Total Assets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Total Assets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0.00%</c:formatCode>
                <c:ptCount val="10"/>
                <c:pt idx="0">
                  <c:v>45.95</c:v>
                </c:pt>
                <c:pt idx="1">
                  <c:v>52.19</c:v>
                </c:pt>
                <c:pt idx="2">
                  <c:v>54.54</c:v>
                </c:pt>
                <c:pt idx="3">
                  <c:v>60.86</c:v>
                </c:pt>
                <c:pt idx="4">
                  <c:v>61.47</c:v>
                </c:pt>
                <c:pt idx="5">
                  <c:v>65</c:v>
                </c:pt>
                <c:pt idx="6">
                  <c:v>66.83</c:v>
                </c:pt>
                <c:pt idx="7">
                  <c:v>76.02</c:v>
                </c:pt>
                <c:pt idx="8">
                  <c:v>79.27</c:v>
                </c:pt>
                <c:pt idx="9">
                  <c:v>81.94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Capital Structure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ysClr val="windowText" lastClr="000000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9496806538531846"/>
          <c:y val="0.21433841084997937"/>
          <c:w val="0.9276297606938425"/>
          <c:h val="0.666235926492064"/>
        </c:manualLayout>
      </c:layout>
      <c:barChart>
        <c:barDir val="col"/>
        <c:grouping val="stacked"/>
        <c:varyColors val="0"/>
        <c:ser>
          <c:idx val="0"/>
          <c:order val="0"/>
          <c:tx>
            <c:v>Total Equity</c:v>
          </c:tx>
          <c:spPr>
            <a:solidFill xmlns:a="http://schemas.openxmlformats.org/drawingml/2006/main">
              <a:srgbClr val="002060"/>
            </a:solidFill>
            <a:ln xmlns:a="http://schemas.openxmlformats.org/drawingml/2006/main">
              <a:noFill/>
            </a:ln>
          </c:spPr>
          <c:dLbls>
            <c:dLbl>
              <c:idx val="0"/>
            </c:dLbl>
            <c:dLbl>
              <c:idx val="1"/>
            </c:dLbl>
            <c:dLbl>
              <c:idx val="2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29.2</c:v>
                </c:pt>
                <c:pt idx="1">
                  <c:v>30.36</c:v>
                </c:pt>
                <c:pt idx="2">
                  <c:v>33.63</c:v>
                </c:pt>
                <c:pt idx="3">
                  <c:v>34.47</c:v>
                </c:pt>
                <c:pt idx="4">
                  <c:v>35.89</c:v>
                </c:pt>
                <c:pt idx="5">
                  <c:v>38.05</c:v>
                </c:pt>
                <c:pt idx="6">
                  <c:v>41.2</c:v>
                </c:pt>
                <c:pt idx="7">
                  <c:v>47.32</c:v>
                </c:pt>
                <c:pt idx="8">
                  <c:v>52.67</c:v>
                </c:pt>
                <c:pt idx="9">
                  <c:v>53.15</c:v>
                </c:pt>
              </c:numCache>
            </c:numRef>
          </c:val>
        </c:ser>
        <c:ser>
          <c:idx val="1"/>
          <c:order val="1"/>
          <c:tx>
            <c:v>Total Liabilities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8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Data'!$D$2:$D$11</c:f>
              <c:numCache>
                <c:formatCode>0.0</c:formatCode>
                <c:ptCount val="10"/>
                <c:pt idx="0">
                  <c:v>16.75</c:v>
                </c:pt>
                <c:pt idx="1">
                  <c:v>21.83</c:v>
                </c:pt>
                <c:pt idx="2">
                  <c:v>20.92</c:v>
                </c:pt>
                <c:pt idx="3">
                  <c:v>26.39</c:v>
                </c:pt>
                <c:pt idx="4">
                  <c:v>25.58</c:v>
                </c:pt>
                <c:pt idx="5">
                  <c:v>26.95</c:v>
                </c:pt>
                <c:pt idx="6">
                  <c:v>25.63</c:v>
                </c:pt>
                <c:pt idx="7">
                  <c:v>28.7</c:v>
                </c:pt>
                <c:pt idx="8">
                  <c:v>26.6</c:v>
                </c:pt>
                <c:pt idx="9">
                  <c:v>28.79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905087776"/>
        <c:crosses val="autoZero"/>
        <c:lblOffset val="10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"/>
          <c:h val="0.08703357538430549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10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Quick Ratio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Quick Ratio (X)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0.93</c:v>
                </c:pt>
                <c:pt idx="1">
                  <c:v>1.51</c:v>
                </c:pt>
                <c:pt idx="2">
                  <c:v>1.61</c:v>
                </c:pt>
                <c:pt idx="3">
                  <c:v>1.13</c:v>
                </c:pt>
                <c:pt idx="4">
                  <c:v>1.09</c:v>
                </c:pt>
                <c:pt idx="5">
                  <c:v>1.07</c:v>
                </c:pt>
                <c:pt idx="6">
                  <c:v>0.93</c:v>
                </c:pt>
                <c:pt idx="7">
                  <c:v>0.78</c:v>
                </c:pt>
                <c:pt idx="8">
                  <c:v>1.23</c:v>
                </c:pt>
                <c:pt idx="9">
                  <c:v>1.08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Debt to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6190322236349486"/>
          <c:y val="0.17596823108959184"/>
          <c:w val="0.927619355527301"/>
          <c:h val="0.7095092937901203"/>
        </c:manualLayout>
      </c:layout>
      <c:barChart>
        <c:barDir val="col"/>
        <c:grouping val="clustered"/>
        <c:varyColors val="0"/>
        <c:ser>
          <c:idx val="0"/>
          <c:order val="0"/>
          <c:tx>
            <c:v>Debt to Equity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31.09</c:v>
                </c:pt>
                <c:pt idx="1">
                  <c:v>45.96</c:v>
                </c:pt>
                <c:pt idx="2">
                  <c:v>39.87</c:v>
                </c:pt>
                <c:pt idx="3">
                  <c:v>49.67</c:v>
                </c:pt>
                <c:pt idx="4">
                  <c:v>33.42</c:v>
                </c:pt>
                <c:pt idx="5">
                  <c:v>31.48</c:v>
                </c:pt>
                <c:pt idx="6">
                  <c:v>28.72</c:v>
                </c:pt>
                <c:pt idx="7">
                  <c:v>30.55</c:v>
                </c:pt>
                <c:pt idx="8">
                  <c:v>31.14</c:v>
                </c:pt>
                <c:pt idx="9">
                  <c:v>35.16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Financial Leverage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Financial Leverage (X)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1.84</c:v>
                </c:pt>
                <c:pt idx="1">
                  <c:v>1.9</c:v>
                </c:pt>
                <c:pt idx="2">
                  <c:v>1.93</c:v>
                </c:pt>
                <c:pt idx="3">
                  <c:v>1.94</c:v>
                </c:pt>
                <c:pt idx="4">
                  <c:v>1.99</c:v>
                </c:pt>
                <c:pt idx="5">
                  <c:v>1.94</c:v>
                </c:pt>
                <c:pt idx="6">
                  <c:v>1.88</c:v>
                </c:pt>
                <c:pt idx="7">
                  <c:v>1.85</c:v>
                </c:pt>
                <c:pt idx="8">
                  <c:v>1.83</c:v>
                </c:pt>
                <c:pt idx="9">
                  <c:v>1.82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Operating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Operating Cash Flow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4606.85</c:v>
                </c:pt>
                <c:pt idx="1">
                  <c:v>1125.47</c:v>
                </c:pt>
                <c:pt idx="2">
                  <c:v>2557.66</c:v>
                </c:pt>
                <c:pt idx="3">
                  <c:v>1103.95</c:v>
                </c:pt>
                <c:pt idx="4">
                  <c:v>2887.01</c:v>
                </c:pt>
                <c:pt idx="5">
                  <c:v>2816.81</c:v>
                </c:pt>
                <c:pt idx="6">
                  <c:v>1207.98</c:v>
                </c:pt>
                <c:pt idx="7">
                  <c:v>1046.66</c:v>
                </c:pt>
                <c:pt idx="8">
                  <c:v>-1351.7</c:v>
                </c:pt>
                <c:pt idx="9">
                  <c:v>-1370.74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Capital Expenditure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Capital Expenditure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-79.65</c:v>
                </c:pt>
                <c:pt idx="1">
                  <c:v>-42.04</c:v>
                </c:pt>
                <c:pt idx="2">
                  <c:v>-384.77</c:v>
                </c:pt>
                <c:pt idx="3">
                  <c:v>-132.54</c:v>
                </c:pt>
                <c:pt idx="4">
                  <c:v>-23.18</c:v>
                </c:pt>
                <c:pt idx="5">
                  <c:v>-198.46</c:v>
                </c:pt>
                <c:pt idx="6">
                  <c:v>-577.12</c:v>
                </c:pt>
                <c:pt idx="7">
                  <c:v>-822.57</c:v>
                </c:pt>
                <c:pt idx="8">
                  <c:v>-322.81</c:v>
                </c:pt>
                <c:pt idx="9">
                  <c:v>-107.86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Free Cash Flow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D423E7-81D8-440D-809E-773079CB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8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EFE791-2B54-4979-84B6-65A1DB77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bg1"/>
                </a:solidFill>
              </a:rPr>
              <a:t>Bumi Serpong Damai</a:t>
            </a:r>
            <a:r>
              <a:rPr sz="32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(</a:t>
            </a:r>
            <a:r>
              <a:rPr sz="1600" b="1">
                <a:solidFill>
                  <a:schemeClr val="bg1"/>
                </a:solidFill>
              </a:rPr>
              <a:t>Pefindo</a:t>
            </a:r>
            <a:r>
              <a:rPr sz="1600" b="1">
                <a:solidFill>
                  <a:schemeClr val="bg1"/>
                </a:solidFill>
              </a:rPr>
              <a:t>: </a:t>
            </a:r>
            <a:r>
              <a:rPr sz="1600" b="1">
                <a:solidFill>
                  <a:schemeClr val="bg1"/>
                </a:solidFill>
              </a:rPr>
              <a:t>idAA</a:t>
            </a:r>
            <a:r>
              <a:rPr sz="1600" b="1">
                <a:solidFill>
                  <a:schemeClr val="bg1"/>
                </a:solidFill>
              </a:rPr>
              <a:t>)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64E349-C601-4F63-A49F-0B9EABF3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49" y="3445577"/>
            <a:ext cx="11423301" cy="3293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Profitability: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FY25 revenue turun 7,3% menjadi Rp12,79 triliun dan laba bersih turun 41,6% menjadi Rp2,55 triliun. FY24 mencakup bargain purchase gain Rp1,55 triliun, sehingga penurunan laba underlying diperkirakan sekitar 9,5%. Pada 1H26, revenue turun 25,6% dan laba bersih turun 53,1%, tetapi gross margin naik dari 63,5% menjadi 66,5% dan recurring revenue tumbuh 19%.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Solvency: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Net debt meningkat dari Rp4,61 triliun pada FY25 menjadi Rp8,76 triliun pada 1H26. Debt-to-Equity naik dari 31,1% menjadi 35,2% dan net debt-to-equity mencapai 16,4%. Quick ratio turun menjadi 1,08x, tetapi current ratio masih 3,56x. PEFINDO mempertahankan rating idAA dengan outlook stabil, meski debt-to-EBITDA FY25 naik menjadi 3,5x.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 Cash Flow: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 cash flow turun dari positif Rp224 miliar pada FY24 menjadi negatif Rp1,67 triliun pada FY25 dan negatif Rp1,48 triliun pada 1H26. Penerimaan pelanggan naik 15%, tetapi pembelian lahan mencapai Rp2,51 triliun. Marketing sales Rp5,12 triliun telah memenuhi 51% target FY26. Revenue recognition dan stabilisasi net debt menjadi indikator utama 2H26.</a:t>
            </a:r>
          </a:p>
        </p:txBody>
      </p:sp>
      <p:graphicFrame>
        <p:nvGraphicFramePr>
          <p:cNvPr id="16" name="Chart 6"/>
          <p:cNvGraphicFramePr/>
          <p:nvPr/>
        </p:nvGraphicFramePr>
        <p:xfrm>
          <a:off xmlns:a="http://schemas.openxmlformats.org/drawingml/2006/main" x="8006209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b91cd4d4f944de"/>
          </a:graphicData>
        </a:graphic>
      </p:graphicFrame>
      <p:graphicFrame>
        <p:nvGraphicFramePr>
          <p:cNvPr id="17" name="Chart 7"/>
          <p:cNvGraphicFramePr/>
          <p:nvPr/>
        </p:nvGraphicFramePr>
        <p:xfrm>
          <a:off xmlns:a="http://schemas.openxmlformats.org/drawingml/2006/main" x="4195278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15789019a0475e"/>
          </a:graphicData>
        </a:graphic>
      </p:graphicFrame>
      <p:graphicFrame>
        <p:nvGraphicFramePr>
          <p:cNvPr id="18" name="Chart 10"/>
          <p:cNvGraphicFramePr/>
          <p:nvPr/>
        </p:nvGraphicFramePr>
        <p:xfrm>
          <a:off xmlns:a="http://schemas.openxmlformats.org/drawingml/2006/main" x="389092" y="943686"/>
          <a:ext xmlns:a="http://schemas.openxmlformats.org/drawingml/2006/main" cx="3801441" cy="25725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e17f95b3c24b40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A4521E-3420-312E-9AEC-8D40FBF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92D3B0D-0A31-CF27-98DE-44A022E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Yearly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7BC1D2-752C-8803-6651-5D1106A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3751922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Quarterly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" name="Table 15"/>
          <p:cNvGraphicFramePr/>
          <p:nvPr/>
        </p:nvGraphicFramePr>
        <p:xfrm>
          <a:off xmlns:a="http://schemas.openxmlformats.org/drawingml/2006/main" x="341067" y="1174408"/>
          <a:ext xmlns:a="http://schemas.openxmlformats.org/drawingml/2006/main" cx="11509854" cy="25286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48525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942683"/>
                <a:gridCol w="942683"/>
                <a:gridCol w="942683"/>
              </a:tblGrid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6,209,574.07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6,602,955.28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10,347,343.19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6,628,782.19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7,084,864.04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6,180,589.09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7,654,802.25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10,235,479.96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11,539,141.25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13,796,572.15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12,788,452.34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(143,094.70)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(129,290.35)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(79,649.11)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(42,038.69)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(384,767.06)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(132,542.14)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(23,182.59)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(198,459.21)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(577,124.90)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(822,574.94)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(322,805.88)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2,139,496.60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1,796,156.48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4,920,228.06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1,293,850.22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2,791,416.33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281,700.89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1,348,623.04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2,433,146.91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1,945,467.44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4,359,063.78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2,545,380.72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36,022,148.49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38,536,825.18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45,951,188.48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52,190,720.01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54,540,978.40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60,862,926.59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61,469,712.17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64,999,403.48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13,925,458.01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14,074,217.87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16,754,337.39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21,832,718.50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20,915,564.10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26,391,824.11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25,575,995.15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26,953,967.35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22,096,690.48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24,462,607.31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29,196,851.09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30,358,001.50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33,625,414.30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34,471,102.48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35,893,717.01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38,045,436.13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1,132,372.29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3,457,406.18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2,520,674.05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3,430,445.21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3,184,765.00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1,918,687.66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153,731.62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38,630.07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(366,494.06)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(605,189.89)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4,606,851.24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1,125,468.09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2,557,655.41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1,103,950.69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2,887,014.89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2,816,809.60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1,207,984.65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1,046,659.71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(1,351,699.49)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7DB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(509,588.76)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(734,480.24)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4,527,202.13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1,083,429.40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2,172,888.35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971,408.55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2,863,832.30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2,618,350.38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630,859.75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224,084.77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(1,674,505.37)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49.67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1D9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 19"/>
          <p:cNvGraphicFramePr/>
          <p:nvPr/>
        </p:nvGraphicFramePr>
        <p:xfrm>
          <a:off xmlns:a="http://schemas.openxmlformats.org/drawingml/2006/main" x="341059" y="4077753"/>
          <a:ext xmlns:a="http://schemas.openxmlformats.org/drawingml/2006/main" cx="11509867" cy="23641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6159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71321"/>
                <a:gridCol w="871321"/>
                <a:gridCol w="871321"/>
                <a:gridCol w="871321"/>
              </a:tblGrid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1H26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4,230,823.25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3,774,499.93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3,572,133.03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2,720,373.60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3,729,565.59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2,700,904.01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3,689,852.47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2,372,024.73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4,025,671.12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2,368,795.97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2,382,857.13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4,751,653.10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(234,074.86)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(112,485.07)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(107,952.65)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(304,506.73)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(297,630.49)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(95,354.47)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(87,216.89)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(78,447.68)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(61,865.53)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(40,092.19)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(67,771.26)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(107,863.45)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176,421.45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E7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1,436,953.18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896,097.25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368,868.03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1,657,145.32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305,874.26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982,173.64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75,523.35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1,181,809.47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277,628.65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326,267.38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603,896.02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ED981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67,653,911.80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67,862,665.42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68,466,170.28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75,916,736.81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76,641,008.60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77,400,079.56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80,125,884.90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24,935,494.70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24,310,502.86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24,632,854.28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27,469,342.35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25,905,271.53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26,075,586.09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27,257,461.88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42,718,417.11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43,552,162.56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43,833,316.00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48,447,394.46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50,735,737.06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51,324,493.47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52,868,423.02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1,263,661.32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1,329,674.01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4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2,194,292.97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3,741,557.78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1,746,344.99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4,162,834.42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6,250,119.00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410,737.07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(27,801.76)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899,529.55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449,588.74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(274,656.83)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(491,662.12)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(472,830.85)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(362,085.79)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(25,120.73)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(816,556.72)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(554,186.50)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(1,370,743.23)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176,662.21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(140,286.83)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791,576.91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145,082.01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(572,287.31)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(587,016.59)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(560,047.74)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(440,533.47)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(86,986.26)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(856,648.91)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(621,957.76)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6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(1,478,606.67)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46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28.37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50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Scale Metrics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Profitability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5"/>
          <p:cNvGraphicFramePr/>
          <p:nvPr/>
        </p:nvGraphicFramePr>
        <p:xfrm>
          <a:off xmlns:a="http://schemas.openxmlformats.org/drawingml/2006/main" x="350593" y="4136012"/>
          <a:ext xmlns:a="http://schemas.openxmlformats.org/drawingml/2006/main" cx="3817063" cy="24624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150abe079d4d78"/>
          </a:graphicData>
        </a:graphic>
      </p:graphicFrame>
      <p:graphicFrame>
        <p:nvGraphicFramePr>
          <p:cNvPr id="31" name="Chart 7"/>
          <p:cNvGraphicFramePr/>
          <p:nvPr/>
        </p:nvGraphicFramePr>
        <p:xfrm>
          <a:off xmlns:a="http://schemas.openxmlformats.org/drawingml/2006/main" x="4189474" y="4136012"/>
          <a:ext xmlns:a="http://schemas.openxmlformats.org/drawingml/2006/main" cx="3813048" cy="246695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1f77587e274045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7980704" y="4136012"/>
          <a:ext xmlns:a="http://schemas.openxmlformats.org/drawingml/2006/main" cx="3870225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6172402d7147fa"/>
          </a:graphicData>
        </a:graphic>
      </p:graphicFrame>
      <p:graphicFrame>
        <p:nvGraphicFramePr>
          <p:cNvPr id="33" name="Chart 9"/>
          <p:cNvGraphicFramePr/>
          <p:nvPr/>
        </p:nvGraphicFramePr>
        <p:xfrm>
          <a:off xmlns:a="http://schemas.openxmlformats.org/drawingml/2006/main" x="372411" y="1157088"/>
          <a:ext xmlns:a="http://schemas.openxmlformats.org/drawingml/2006/main" cx="3817063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73cbfaca6b474c"/>
          </a:graphicData>
        </a:graphic>
      </p:graphicFrame>
      <p:graphicFrame>
        <p:nvGraphicFramePr>
          <p:cNvPr id="34" name="Chart 10"/>
          <p:cNvGraphicFramePr/>
          <p:nvPr/>
        </p:nvGraphicFramePr>
        <p:xfrm>
          <a:off xmlns:a="http://schemas.openxmlformats.org/drawingml/2006/main" x="4189474" y="1157088"/>
          <a:ext xmlns:a="http://schemas.openxmlformats.org/drawingml/2006/main" cx="3813048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1b1d0830e34867"/>
          </a:graphicData>
        </a:graphic>
      </p:graphicFrame>
      <p:graphicFrame>
        <p:nvGraphicFramePr>
          <p:cNvPr id="35" name="Chart 11"/>
          <p:cNvGraphicFramePr/>
          <p:nvPr/>
        </p:nvGraphicFramePr>
        <p:xfrm>
          <a:off xmlns:a="http://schemas.openxmlformats.org/drawingml/2006/main" x="7980704" y="1157087"/>
          <a:ext xmlns:a="http://schemas.openxmlformats.org/drawingml/2006/main" cx="3834867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2f7462b19149b9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Liquidity &amp; Solvency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Cash Flow &amp; Sustainability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2"/>
          <p:cNvGraphicFramePr/>
          <p:nvPr/>
        </p:nvGraphicFramePr>
        <p:xfrm>
          <a:off xmlns:a="http://schemas.openxmlformats.org/drawingml/2006/main" x="339822" y="1143334"/>
          <a:ext xmlns:a="http://schemas.openxmlformats.org/drawingml/2006/main" cx="3824990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b725f41ef2437a"/>
          </a:graphicData>
        </a:graphic>
      </p:graphicFrame>
      <p:graphicFrame>
        <p:nvGraphicFramePr>
          <p:cNvPr id="31" name="Chart 3"/>
          <p:cNvGraphicFramePr/>
          <p:nvPr/>
        </p:nvGraphicFramePr>
        <p:xfrm>
          <a:off xmlns:a="http://schemas.openxmlformats.org/drawingml/2006/main" x="4141263" y="1149364"/>
          <a:ext xmlns:a="http://schemas.openxmlformats.org/drawingml/2006/main" cx="3860148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c17841786440a3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8001410" y="1143334"/>
          <a:ext xmlns:a="http://schemas.openxmlformats.org/drawingml/2006/main" cx="3782815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99e7b3f81d47bf"/>
          </a:graphicData>
        </a:graphic>
      </p:graphicFrame>
      <p:graphicFrame>
        <p:nvGraphicFramePr>
          <p:cNvPr id="33" name="Chart 12"/>
          <p:cNvGraphicFramePr/>
          <p:nvPr/>
        </p:nvGraphicFramePr>
        <p:xfrm>
          <a:off xmlns:a="http://schemas.openxmlformats.org/drawingml/2006/main" x="339822" y="4084048"/>
          <a:ext xmlns:a="http://schemas.openxmlformats.org/drawingml/2006/main" cx="3824990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63663e7c434bde"/>
          </a:graphicData>
        </a:graphic>
      </p:graphicFrame>
      <p:graphicFrame>
        <p:nvGraphicFramePr>
          <p:cNvPr id="34" name="Chart 14"/>
          <p:cNvGraphicFramePr/>
          <p:nvPr/>
        </p:nvGraphicFramePr>
        <p:xfrm>
          <a:off xmlns:a="http://schemas.openxmlformats.org/drawingml/2006/main" x="8001410" y="4084048"/>
          <a:ext xmlns:a="http://schemas.openxmlformats.org/drawingml/2006/main" cx="3801443" cy="258463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174353e4ff4366"/>
          </a:graphicData>
        </a:graphic>
      </p:graphicFrame>
      <p:graphicFrame>
        <p:nvGraphicFramePr>
          <p:cNvPr id="35" name="Chart 15"/>
          <p:cNvGraphicFramePr/>
          <p:nvPr/>
        </p:nvGraphicFramePr>
        <p:xfrm>
          <a:off xmlns:a="http://schemas.openxmlformats.org/drawingml/2006/main" x="4141263" y="4084048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fa389817e4478f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2026-10-08T02:16:53.8060000Z</dcterms:created>
  <dcterms:modified xsi:type="dcterms:W3CDTF">2026-10-08T02:16:53.8060000Z</dcterms:modified>
</coreProperties>
</file>