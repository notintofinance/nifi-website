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38"/>
  </p:normalViewPr>
  <p:slideViewPr>
    <p:cSldViewPr snapToGrid="0">
      <p:cViewPr varScale="1">
        <p:scale>
          <a:sx n="117" d="100"/>
          <a:sy n="117" d="100"/>
        </p:scale>
        <p:origin x="192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D" sz="1100" b="1">
                <a:solidFill>
                  <a:srgbClr val="000000"/>
                </a:solidFill>
                <a:latin typeface="Calibri"/>
              </a:rPr>
              <a:t>ASEAN currencies vs USD, month-end, Sep 2023 = 100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4.4999999999999998E-2"/>
          <c:y val="0.14000000000000001"/>
          <c:w val="0.84499999999999997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IDR</c:v>
                </c:pt>
              </c:strCache>
            </c:strRef>
          </c:tx>
          <c:spPr>
            <a:ln w="41275">
              <a:solidFill>
                <a:srgbClr val="002060"/>
              </a:solidFill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C8E-6B4B-9462-EDCF8B5DE6F5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C8E-6B4B-9462-EDCF8B5DE6F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C8E-6B4B-9462-EDCF8B5DE6F5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C8E-6B4B-9462-EDCF8B5DE6F5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C8E-6B4B-9462-EDCF8B5DE6F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C8E-6B4B-9462-EDCF8B5DE6F5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C8E-6B4B-9462-EDCF8B5DE6F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C8E-6B4B-9462-EDCF8B5DE6F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C8E-6B4B-9462-EDCF8B5DE6F5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C8E-6B4B-9462-EDCF8B5DE6F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C8E-6B4B-9462-EDCF8B5DE6F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C8E-6B4B-9462-EDCF8B5DE6F5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C8E-6B4B-9462-EDCF8B5DE6F5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C8E-6B4B-9462-EDCF8B5DE6F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C8E-6B4B-9462-EDCF8B5DE6F5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C8E-6B4B-9462-EDCF8B5DE6F5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C8E-6B4B-9462-EDCF8B5DE6F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2C8E-6B4B-9462-EDCF8B5DE6F5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2C8E-6B4B-9462-EDCF8B5DE6F5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2C8E-6B4B-9462-EDCF8B5DE6F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2C8E-6B4B-9462-EDCF8B5DE6F5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2C8E-6B4B-9462-EDCF8B5DE6F5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2C8E-6B4B-9462-EDCF8B5DE6F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2C8E-6B4B-9462-EDCF8B5DE6F5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2C8E-6B4B-9462-EDCF8B5DE6F5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2C8E-6B4B-9462-EDCF8B5DE6F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2C8E-6B4B-9462-EDCF8B5DE6F5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2C8E-6B4B-9462-EDCF8B5DE6F5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2C8E-6B4B-9462-EDCF8B5DE6F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2C8E-6B4B-9462-EDCF8B5DE6F5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2C8E-6B4B-9462-EDCF8B5DE6F5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2C8E-6B4B-9462-EDCF8B5DE6F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2C8E-6B4B-9462-EDCF8B5DE6F5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2C8E-6B4B-9462-EDCF8B5DE6F5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2C8E-6B4B-9462-EDCF8B5DE6F5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2C8E-6B4B-9462-EDCF8B5DE6F5}"/>
                </c:ext>
              </c:extLst>
            </c:dLbl>
            <c:dLbl>
              <c:idx val="36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IDR  86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24-2C8E-6B4B-9462-EDCF8B5DE6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00206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Sheet1!$A$2:$A$38</c:f>
              <c:strCache>
                <c:ptCount val="37"/>
                <c:pt idx="0">
                  <c:v>Sep-23</c:v>
                </c:pt>
                <c:pt idx="6">
                  <c:v>Mar-24</c:v>
                </c:pt>
                <c:pt idx="12">
                  <c:v>Sep-24</c:v>
                </c:pt>
                <c:pt idx="18">
                  <c:v>Mar-25</c:v>
                </c:pt>
                <c:pt idx="24">
                  <c:v>Sep-25</c:v>
                </c:pt>
                <c:pt idx="30">
                  <c:v>Mar-26</c:v>
                </c:pt>
                <c:pt idx="36">
                  <c:v>Sep-26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100</c:v>
                </c:pt>
                <c:pt idx="1">
                  <c:v>97.293043751967261</c:v>
                </c:pt>
                <c:pt idx="2">
                  <c:v>99.645390070921991</c:v>
                </c:pt>
                <c:pt idx="3">
                  <c:v>100.37669675910892</c:v>
                </c:pt>
                <c:pt idx="4">
                  <c:v>97.940430925221804</c:v>
                </c:pt>
                <c:pt idx="5">
                  <c:v>98.345529748647792</c:v>
                </c:pt>
                <c:pt idx="6">
                  <c:v>97.477136549984237</c:v>
                </c:pt>
                <c:pt idx="7">
                  <c:v>95.049200492004914</c:v>
                </c:pt>
                <c:pt idx="8">
                  <c:v>95.107692307692304</c:v>
                </c:pt>
                <c:pt idx="9">
                  <c:v>94.381679389312978</c:v>
                </c:pt>
                <c:pt idx="10">
                  <c:v>95.049200492004914</c:v>
                </c:pt>
                <c:pt idx="11">
                  <c:v>100</c:v>
                </c:pt>
                <c:pt idx="12">
                  <c:v>102.08058124174373</c:v>
                </c:pt>
                <c:pt idx="13">
                  <c:v>98.458304134548001</c:v>
                </c:pt>
                <c:pt idx="14">
                  <c:v>97.538655727358787</c:v>
                </c:pt>
                <c:pt idx="15">
                  <c:v>95.981865606756926</c:v>
                </c:pt>
                <c:pt idx="16">
                  <c:v>94.815950920245399</c:v>
                </c:pt>
                <c:pt idx="17">
                  <c:v>93.214716525934861</c:v>
                </c:pt>
                <c:pt idx="18">
                  <c:v>93.327294685990339</c:v>
                </c:pt>
                <c:pt idx="19">
                  <c:v>93.096801397506184</c:v>
                </c:pt>
                <c:pt idx="20">
                  <c:v>94.874155923879684</c:v>
                </c:pt>
                <c:pt idx="21">
                  <c:v>95.177977583446236</c:v>
                </c:pt>
                <c:pt idx="22">
                  <c:v>93.922819811607411</c:v>
                </c:pt>
                <c:pt idx="23">
                  <c:v>93.72346876895088</c:v>
                </c:pt>
                <c:pt idx="24">
                  <c:v>92.739273927392745</c:v>
                </c:pt>
                <c:pt idx="25">
                  <c:v>92.934455802766081</c:v>
                </c:pt>
                <c:pt idx="26">
                  <c:v>92.767106842737093</c:v>
                </c:pt>
                <c:pt idx="27">
                  <c:v>92.600359496704613</c:v>
                </c:pt>
                <c:pt idx="28">
                  <c:v>92.07625856419422</c:v>
                </c:pt>
                <c:pt idx="29">
                  <c:v>92.153121459662515</c:v>
                </c:pt>
                <c:pt idx="30">
                  <c:v>90.938511326860834</c:v>
                </c:pt>
                <c:pt idx="31">
                  <c:v>89.062409957932346</c:v>
                </c:pt>
                <c:pt idx="32">
                  <c:v>86.466375741300212</c:v>
                </c:pt>
                <c:pt idx="33">
                  <c:v>86.427692651828664</c:v>
                </c:pt>
                <c:pt idx="34">
                  <c:v>85.861111111111114</c:v>
                </c:pt>
                <c:pt idx="35">
                  <c:v>87.217832957110602</c:v>
                </c:pt>
                <c:pt idx="36">
                  <c:v>86.172288820741571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5-2C8E-6B4B-9462-EDCF8B5DE6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SGD</c:v>
                </c:pt>
              </c:strCache>
            </c:strRef>
          </c:tx>
          <c:spPr>
            <a:ln w="19050">
              <a:solidFill>
                <a:srgbClr val="A6A6A6"/>
              </a:solidFill>
            </a:ln>
          </c:spPr>
          <c:marker>
            <c:symbol val="none"/>
          </c:marker>
          <c:cat>
            <c:strRef>
              <c:f>Sheet1!$A$2:$A$38</c:f>
              <c:strCache>
                <c:ptCount val="37"/>
                <c:pt idx="0">
                  <c:v>Sep-23</c:v>
                </c:pt>
                <c:pt idx="6">
                  <c:v>Mar-24</c:v>
                </c:pt>
                <c:pt idx="12">
                  <c:v>Sep-24</c:v>
                </c:pt>
                <c:pt idx="18">
                  <c:v>Mar-25</c:v>
                </c:pt>
                <c:pt idx="24">
                  <c:v>Sep-25</c:v>
                </c:pt>
                <c:pt idx="30">
                  <c:v>Mar-26</c:v>
                </c:pt>
                <c:pt idx="36">
                  <c:v>Sep-26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100</c:v>
                </c:pt>
                <c:pt idx="1">
                  <c:v>99.74446959188144</c:v>
                </c:pt>
                <c:pt idx="2">
                  <c:v>102.16107081432739</c:v>
                </c:pt>
                <c:pt idx="3">
                  <c:v>103.47648261758691</c:v>
                </c:pt>
                <c:pt idx="4">
                  <c:v>101.89439140811456</c:v>
                </c:pt>
                <c:pt idx="5">
                  <c:v>101.53091557669443</c:v>
                </c:pt>
                <c:pt idx="6">
                  <c:v>101.25250129696882</c:v>
                </c:pt>
                <c:pt idx="7">
                  <c:v>100.05126327352617</c:v>
                </c:pt>
                <c:pt idx="8">
                  <c:v>101.11012433392541</c:v>
                </c:pt>
                <c:pt idx="9">
                  <c:v>100.75221238938053</c:v>
                </c:pt>
                <c:pt idx="10">
                  <c:v>102.26047904191617</c:v>
                </c:pt>
                <c:pt idx="11">
                  <c:v>104.55345526899823</c:v>
                </c:pt>
                <c:pt idx="12">
                  <c:v>106.31906614785993</c:v>
                </c:pt>
                <c:pt idx="13">
                  <c:v>103.51568419457493</c:v>
                </c:pt>
                <c:pt idx="14">
                  <c:v>101.99328107502801</c:v>
                </c:pt>
                <c:pt idx="15">
                  <c:v>100.03661126162409</c:v>
                </c:pt>
                <c:pt idx="16">
                  <c:v>100.6928066037736</c:v>
                </c:pt>
                <c:pt idx="17">
                  <c:v>101.09516057421935</c:v>
                </c:pt>
                <c:pt idx="18">
                  <c:v>101.75020481120131</c:v>
                </c:pt>
                <c:pt idx="19">
                  <c:v>104.58547041261579</c:v>
                </c:pt>
                <c:pt idx="20">
                  <c:v>105.82494190549963</c:v>
                </c:pt>
                <c:pt idx="21">
                  <c:v>107.43944636678199</c:v>
                </c:pt>
                <c:pt idx="22">
                  <c:v>105.24612895770741</c:v>
                </c:pt>
                <c:pt idx="23">
                  <c:v>106.4018691588785</c:v>
                </c:pt>
                <c:pt idx="24">
                  <c:v>105.89876753740019</c:v>
                </c:pt>
                <c:pt idx="25">
                  <c:v>105.01152959262107</c:v>
                </c:pt>
                <c:pt idx="26">
                  <c:v>105.35975938921879</c:v>
                </c:pt>
                <c:pt idx="27">
                  <c:v>106.28598101758206</c:v>
                </c:pt>
                <c:pt idx="28">
                  <c:v>107.54939778005198</c:v>
                </c:pt>
                <c:pt idx="29">
                  <c:v>107.99146312544465</c:v>
                </c:pt>
                <c:pt idx="30">
                  <c:v>106.17034504196457</c:v>
                </c:pt>
                <c:pt idx="31">
                  <c:v>107.30442978322337</c:v>
                </c:pt>
                <c:pt idx="32">
                  <c:v>107.01864327118911</c:v>
                </c:pt>
                <c:pt idx="33">
                  <c:v>105.59591899829958</c:v>
                </c:pt>
                <c:pt idx="34">
                  <c:v>106.50140318054258</c:v>
                </c:pt>
                <c:pt idx="35">
                  <c:v>107.49862302305455</c:v>
                </c:pt>
                <c:pt idx="36">
                  <c:v>106.88468158347678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B-2C8E-6B4B-9462-EDCF8B5DE6F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MYR</c:v>
                </c:pt>
              </c:strCache>
            </c:strRef>
          </c:tx>
          <c:spPr>
            <a:ln w="22225">
              <a:solidFill>
                <a:srgbClr val="E97132"/>
              </a:solidFill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2C8E-6B4B-9462-EDCF8B5DE6F5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2C8E-6B4B-9462-EDCF8B5DE6F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2C8E-6B4B-9462-EDCF8B5DE6F5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2C8E-6B4B-9462-EDCF8B5DE6F5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2C8E-6B4B-9462-EDCF8B5DE6F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2C8E-6B4B-9462-EDCF8B5DE6F5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2C8E-6B4B-9462-EDCF8B5DE6F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2C8E-6B4B-9462-EDCF8B5DE6F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2C8E-6B4B-9462-EDCF8B5DE6F5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2C8E-6B4B-9462-EDCF8B5DE6F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2C8E-6B4B-9462-EDCF8B5DE6F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2C8E-6B4B-9462-EDCF8B5DE6F5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2C8E-6B4B-9462-EDCF8B5DE6F5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2C8E-6B4B-9462-EDCF8B5DE6F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2C8E-6B4B-9462-EDCF8B5DE6F5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2C8E-6B4B-9462-EDCF8B5DE6F5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2C8E-6B4B-9462-EDCF8B5DE6F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2C8E-6B4B-9462-EDCF8B5DE6F5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2C8E-6B4B-9462-EDCF8B5DE6F5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F-2C8E-6B4B-9462-EDCF8B5DE6F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2C8E-6B4B-9462-EDCF8B5DE6F5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2C8E-6B4B-9462-EDCF8B5DE6F5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2C8E-6B4B-9462-EDCF8B5DE6F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2C8E-6B4B-9462-EDCF8B5DE6F5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2C8E-6B4B-9462-EDCF8B5DE6F5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2C8E-6B4B-9462-EDCF8B5DE6F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2C8E-6B4B-9462-EDCF8B5DE6F5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2C8E-6B4B-9462-EDCF8B5DE6F5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2C8E-6B4B-9462-EDCF8B5DE6F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2C8E-6B4B-9462-EDCF8B5DE6F5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2C8E-6B4B-9462-EDCF8B5DE6F5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2C8E-6B4B-9462-EDCF8B5DE6F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2C8E-6B4B-9462-EDCF8B5DE6F5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2C8E-6B4B-9462-EDCF8B5DE6F5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2C8E-6B4B-9462-EDCF8B5DE6F5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2C8E-6B4B-9462-EDCF8B5DE6F5}"/>
                </c:ext>
              </c:extLst>
            </c:dLbl>
            <c:dLbl>
              <c:idx val="36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rPr>
                      <a:t>MYR  115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70-2C8E-6B4B-9462-EDCF8B5DE6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E97132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Sheet1!$A$2:$A$38</c:f>
              <c:strCache>
                <c:ptCount val="37"/>
                <c:pt idx="0">
                  <c:v>Sep-23</c:v>
                </c:pt>
                <c:pt idx="6">
                  <c:v>Mar-24</c:v>
                </c:pt>
                <c:pt idx="12">
                  <c:v>Sep-24</c:v>
                </c:pt>
                <c:pt idx="18">
                  <c:v>Mar-25</c:v>
                </c:pt>
                <c:pt idx="24">
                  <c:v>Sep-25</c:v>
                </c:pt>
                <c:pt idx="30">
                  <c:v>Mar-26</c:v>
                </c:pt>
                <c:pt idx="36">
                  <c:v>Sep-26</c:v>
                </c:pt>
              </c:strCache>
            </c: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100</c:v>
                </c:pt>
                <c:pt idx="1">
                  <c:v>98.574487739334884</c:v>
                </c:pt>
                <c:pt idx="2">
                  <c:v>100.70348525469169</c:v>
                </c:pt>
                <c:pt idx="3">
                  <c:v>102.20505006530256</c:v>
                </c:pt>
                <c:pt idx="4">
                  <c:v>99.203465032748781</c:v>
                </c:pt>
                <c:pt idx="5">
                  <c:v>98.99848190942059</c:v>
                </c:pt>
                <c:pt idx="6">
                  <c:v>99.371428571428567</c:v>
                </c:pt>
                <c:pt idx="7">
                  <c:v>98.382399161864839</c:v>
                </c:pt>
                <c:pt idx="8">
                  <c:v>99.762031233400606</c:v>
                </c:pt>
                <c:pt idx="9">
                  <c:v>99.52941176470587</c:v>
                </c:pt>
                <c:pt idx="10">
                  <c:v>102.28297571070691</c:v>
                </c:pt>
                <c:pt idx="11">
                  <c:v>108.6749218840412</c:v>
                </c:pt>
                <c:pt idx="12">
                  <c:v>113.86686067660968</c:v>
                </c:pt>
                <c:pt idx="13">
                  <c:v>107.24760164458655</c:v>
                </c:pt>
                <c:pt idx="14">
                  <c:v>105.57166947723439</c:v>
                </c:pt>
                <c:pt idx="15">
                  <c:v>104.98859621662714</c:v>
                </c:pt>
                <c:pt idx="16">
                  <c:v>105.27106407784403</c:v>
                </c:pt>
                <c:pt idx="17">
                  <c:v>105.21680672268904</c:v>
                </c:pt>
                <c:pt idx="18">
                  <c:v>105.79050537367911</c:v>
                </c:pt>
                <c:pt idx="19">
                  <c:v>108.7932712359238</c:v>
                </c:pt>
                <c:pt idx="20">
                  <c:v>110.30116519451229</c:v>
                </c:pt>
                <c:pt idx="21">
                  <c:v>111.52201795639161</c:v>
                </c:pt>
                <c:pt idx="22">
                  <c:v>110.08909730363423</c:v>
                </c:pt>
                <c:pt idx="23">
                  <c:v>111.13662185192197</c:v>
                </c:pt>
                <c:pt idx="24">
                  <c:v>111.60154021677123</c:v>
                </c:pt>
                <c:pt idx="25">
                  <c:v>112.09979706338783</c:v>
                </c:pt>
                <c:pt idx="26">
                  <c:v>113.61062717770034</c:v>
                </c:pt>
                <c:pt idx="27">
                  <c:v>115.63923847991526</c:v>
                </c:pt>
                <c:pt idx="28">
                  <c:v>119.0099612196791</c:v>
                </c:pt>
                <c:pt idx="29">
                  <c:v>120.62427745664739</c:v>
                </c:pt>
                <c:pt idx="30">
                  <c:v>115.94764785776019</c:v>
                </c:pt>
                <c:pt idx="31">
                  <c:v>118.21889870836166</c:v>
                </c:pt>
                <c:pt idx="32">
                  <c:v>118.43359818388193</c:v>
                </c:pt>
                <c:pt idx="33">
                  <c:v>114.96816846229187</c:v>
                </c:pt>
                <c:pt idx="34">
                  <c:v>114.91189427312773</c:v>
                </c:pt>
                <c:pt idx="35">
                  <c:v>116.66211146172385</c:v>
                </c:pt>
                <c:pt idx="36">
                  <c:v>114.94002447980417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71-2C8E-6B4B-9462-EDCF8B5DE6F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THB</c:v>
                </c:pt>
              </c:strCache>
            </c:strRef>
          </c:tx>
          <c:spPr>
            <a:ln w="19050">
              <a:solidFill>
                <a:srgbClr val="A6A6A6"/>
              </a:solidFill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2C8E-6B4B-9462-EDCF8B5DE6F5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2C8E-6B4B-9462-EDCF8B5DE6F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2C8E-6B4B-9462-EDCF8B5DE6F5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2C8E-6B4B-9462-EDCF8B5DE6F5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2C8E-6B4B-9462-EDCF8B5DE6F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2C8E-6B4B-9462-EDCF8B5DE6F5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2C8E-6B4B-9462-EDCF8B5DE6F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2C8E-6B4B-9462-EDCF8B5DE6F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2C8E-6B4B-9462-EDCF8B5DE6F5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2C8E-6B4B-9462-EDCF8B5DE6F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2C8E-6B4B-9462-EDCF8B5DE6F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2C8E-6B4B-9462-EDCF8B5DE6F5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2C8E-6B4B-9462-EDCF8B5DE6F5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2C8E-6B4B-9462-EDCF8B5DE6F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0-2C8E-6B4B-9462-EDCF8B5DE6F5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1-2C8E-6B4B-9462-EDCF8B5DE6F5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2-2C8E-6B4B-9462-EDCF8B5DE6F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3-2C8E-6B4B-9462-EDCF8B5DE6F5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4-2C8E-6B4B-9462-EDCF8B5DE6F5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5-2C8E-6B4B-9462-EDCF8B5DE6F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6-2C8E-6B4B-9462-EDCF8B5DE6F5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7-2C8E-6B4B-9462-EDCF8B5DE6F5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8-2C8E-6B4B-9462-EDCF8B5DE6F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9-2C8E-6B4B-9462-EDCF8B5DE6F5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A-2C8E-6B4B-9462-EDCF8B5DE6F5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B-2C8E-6B4B-9462-EDCF8B5DE6F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C-2C8E-6B4B-9462-EDCF8B5DE6F5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D-2C8E-6B4B-9462-EDCF8B5DE6F5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E-2C8E-6B4B-9462-EDCF8B5DE6F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F-2C8E-6B4B-9462-EDCF8B5DE6F5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0-2C8E-6B4B-9462-EDCF8B5DE6F5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1-2C8E-6B4B-9462-EDCF8B5DE6F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2-2C8E-6B4B-9462-EDCF8B5DE6F5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3-2C8E-6B4B-9462-EDCF8B5DE6F5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4-2C8E-6B4B-9462-EDCF8B5DE6F5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5-2C8E-6B4B-9462-EDCF8B5DE6F5}"/>
                </c:ext>
              </c:extLst>
            </c:dLbl>
            <c:dLbl>
              <c:idx val="36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595959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595959"/>
                        </a:solidFill>
                        <a:latin typeface="Calibri"/>
                        <a:cs typeface="Calibri"/>
                      </a:rPr>
                      <a:t>THB 109  ·  SGD 107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96-2C8E-6B4B-9462-EDCF8B5DE6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595959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Sheet1!$A$2:$A$38</c:f>
              <c:strCache>
                <c:ptCount val="37"/>
                <c:pt idx="0">
                  <c:v>Sep-23</c:v>
                </c:pt>
                <c:pt idx="6">
                  <c:v>Mar-24</c:v>
                </c:pt>
                <c:pt idx="12">
                  <c:v>Sep-24</c:v>
                </c:pt>
                <c:pt idx="18">
                  <c:v>Mar-25</c:v>
                </c:pt>
                <c:pt idx="24">
                  <c:v>Sep-25</c:v>
                </c:pt>
                <c:pt idx="30">
                  <c:v>Mar-26</c:v>
                </c:pt>
                <c:pt idx="36">
                  <c:v>Sep-26</c:v>
                </c:pt>
              </c:strCache>
            </c:strRef>
          </c:cat>
          <c:val>
            <c:numRef>
              <c:f>Sheet1!$E$2:$E$38</c:f>
              <c:numCache>
                <c:formatCode>General</c:formatCode>
                <c:ptCount val="37"/>
                <c:pt idx="0">
                  <c:v>100</c:v>
                </c:pt>
                <c:pt idx="1">
                  <c:v>101.3132999443517</c:v>
                </c:pt>
                <c:pt idx="2">
                  <c:v>103.47845856542001</c:v>
                </c:pt>
                <c:pt idx="3">
                  <c:v>106.65495020503808</c:v>
                </c:pt>
                <c:pt idx="4">
                  <c:v>102.64997744700044</c:v>
                </c:pt>
                <c:pt idx="5">
                  <c:v>101.5110119877335</c:v>
                </c:pt>
                <c:pt idx="6">
                  <c:v>100.06045616927727</c:v>
                </c:pt>
                <c:pt idx="7">
                  <c:v>98.259438162830222</c:v>
                </c:pt>
                <c:pt idx="8">
                  <c:v>98.980618153151937</c:v>
                </c:pt>
                <c:pt idx="9">
                  <c:v>99.209852324124029</c:v>
                </c:pt>
                <c:pt idx="10">
                  <c:v>102.1374474053296</c:v>
                </c:pt>
                <c:pt idx="11">
                  <c:v>107.53691671588896</c:v>
                </c:pt>
                <c:pt idx="12">
                  <c:v>113.175644173686</c:v>
                </c:pt>
                <c:pt idx="13">
                  <c:v>107.92578101843617</c:v>
                </c:pt>
                <c:pt idx="14">
                  <c:v>106.15124482537462</c:v>
                </c:pt>
                <c:pt idx="15">
                  <c:v>106.79571784719167</c:v>
                </c:pt>
                <c:pt idx="16">
                  <c:v>108.13411338461081</c:v>
                </c:pt>
                <c:pt idx="17">
                  <c:v>106.55195622274896</c:v>
                </c:pt>
                <c:pt idx="18">
                  <c:v>107.33720484626947</c:v>
                </c:pt>
                <c:pt idx="19">
                  <c:v>108.96250411467217</c:v>
                </c:pt>
                <c:pt idx="20">
                  <c:v>110.91075236064576</c:v>
                </c:pt>
                <c:pt idx="21">
                  <c:v>112.03002892129714</c:v>
                </c:pt>
                <c:pt idx="22">
                  <c:v>111.41301021969279</c:v>
                </c:pt>
                <c:pt idx="23">
                  <c:v>112.40700151267249</c:v>
                </c:pt>
                <c:pt idx="24">
                  <c:v>112.37231120575255</c:v>
                </c:pt>
                <c:pt idx="25">
                  <c:v>112.591218305504</c:v>
                </c:pt>
                <c:pt idx="26">
                  <c:v>113.09830719055753</c:v>
                </c:pt>
                <c:pt idx="27">
                  <c:v>115.57530550706237</c:v>
                </c:pt>
                <c:pt idx="28">
                  <c:v>115.68546465448767</c:v>
                </c:pt>
                <c:pt idx="29">
                  <c:v>117.15572715572715</c:v>
                </c:pt>
                <c:pt idx="30">
                  <c:v>110.43979375189565</c:v>
                </c:pt>
                <c:pt idx="31">
                  <c:v>111.70353099978524</c:v>
                </c:pt>
                <c:pt idx="32">
                  <c:v>111.89232376620981</c:v>
                </c:pt>
                <c:pt idx="33">
                  <c:v>109.59877193510519</c:v>
                </c:pt>
                <c:pt idx="34">
                  <c:v>109.04081693768156</c:v>
                </c:pt>
                <c:pt idx="35">
                  <c:v>109.80699638118216</c:v>
                </c:pt>
                <c:pt idx="36">
                  <c:v>108.53055141579733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97-2C8E-6B4B-9462-EDCF8B5DE6F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VND</c:v>
                </c:pt>
              </c:strCache>
            </c:strRef>
          </c:tx>
          <c:spPr>
            <a:ln w="25400">
              <a:solidFill>
                <a:srgbClr val="D9D9D9"/>
              </a:solidFill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8-2C8E-6B4B-9462-EDCF8B5DE6F5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9-2C8E-6B4B-9462-EDCF8B5DE6F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A-2C8E-6B4B-9462-EDCF8B5DE6F5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B-2C8E-6B4B-9462-EDCF8B5DE6F5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C-2C8E-6B4B-9462-EDCF8B5DE6F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D-2C8E-6B4B-9462-EDCF8B5DE6F5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E-2C8E-6B4B-9462-EDCF8B5DE6F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9F-2C8E-6B4B-9462-EDCF8B5DE6F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0-2C8E-6B4B-9462-EDCF8B5DE6F5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1-2C8E-6B4B-9462-EDCF8B5DE6F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2-2C8E-6B4B-9462-EDCF8B5DE6F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3-2C8E-6B4B-9462-EDCF8B5DE6F5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4-2C8E-6B4B-9462-EDCF8B5DE6F5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5-2C8E-6B4B-9462-EDCF8B5DE6F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6-2C8E-6B4B-9462-EDCF8B5DE6F5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7-2C8E-6B4B-9462-EDCF8B5DE6F5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8-2C8E-6B4B-9462-EDCF8B5DE6F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9-2C8E-6B4B-9462-EDCF8B5DE6F5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A-2C8E-6B4B-9462-EDCF8B5DE6F5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B-2C8E-6B4B-9462-EDCF8B5DE6F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C-2C8E-6B4B-9462-EDCF8B5DE6F5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D-2C8E-6B4B-9462-EDCF8B5DE6F5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E-2C8E-6B4B-9462-EDCF8B5DE6F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F-2C8E-6B4B-9462-EDCF8B5DE6F5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0-2C8E-6B4B-9462-EDCF8B5DE6F5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1-2C8E-6B4B-9462-EDCF8B5DE6F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2-2C8E-6B4B-9462-EDCF8B5DE6F5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3-2C8E-6B4B-9462-EDCF8B5DE6F5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4-2C8E-6B4B-9462-EDCF8B5DE6F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5-2C8E-6B4B-9462-EDCF8B5DE6F5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6-2C8E-6B4B-9462-EDCF8B5DE6F5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7-2C8E-6B4B-9462-EDCF8B5DE6F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8-2C8E-6B4B-9462-EDCF8B5DE6F5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9-2C8E-6B4B-9462-EDCF8B5DE6F5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A-2C8E-6B4B-9462-EDCF8B5DE6F5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BB-2C8E-6B4B-9462-EDCF8B5DE6F5}"/>
                </c:ext>
              </c:extLst>
            </c:dLbl>
            <c:dLbl>
              <c:idx val="36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595959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595959"/>
                        </a:solidFill>
                        <a:latin typeface="Calibri"/>
                        <a:cs typeface="Calibri"/>
                      </a:rPr>
                      <a:t>VND  94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BC-2C8E-6B4B-9462-EDCF8B5DE6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595959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Sheet1!$A$2:$A$38</c:f>
              <c:strCache>
                <c:ptCount val="37"/>
                <c:pt idx="0">
                  <c:v>Sep-23</c:v>
                </c:pt>
                <c:pt idx="6">
                  <c:v>Mar-24</c:v>
                </c:pt>
                <c:pt idx="12">
                  <c:v>Sep-24</c:v>
                </c:pt>
                <c:pt idx="18">
                  <c:v>Mar-25</c:v>
                </c:pt>
                <c:pt idx="24">
                  <c:v>Sep-25</c:v>
                </c:pt>
                <c:pt idx="30">
                  <c:v>Mar-26</c:v>
                </c:pt>
                <c:pt idx="36">
                  <c:v>Sep-26</c:v>
                </c:pt>
              </c:strCache>
            </c:strRef>
          </c:cat>
          <c:val>
            <c:numRef>
              <c:f>Sheet1!$F$2:$F$38</c:f>
              <c:numCache>
                <c:formatCode>General</c:formatCode>
                <c:ptCount val="37"/>
                <c:pt idx="0">
                  <c:v>100</c:v>
                </c:pt>
                <c:pt idx="1">
                  <c:v>98.941583553836765</c:v>
                </c:pt>
                <c:pt idx="2">
                  <c:v>100.18136103210915</c:v>
                </c:pt>
                <c:pt idx="3">
                  <c:v>100.14833738514153</c:v>
                </c:pt>
                <c:pt idx="4">
                  <c:v>99.50870010235414</c:v>
                </c:pt>
                <c:pt idx="5">
                  <c:v>98.608406361570928</c:v>
                </c:pt>
                <c:pt idx="6">
                  <c:v>98.039611149207374</c:v>
                </c:pt>
                <c:pt idx="7">
                  <c:v>95.934477994868757</c:v>
                </c:pt>
                <c:pt idx="8">
                  <c:v>95.500982318271127</c:v>
                </c:pt>
                <c:pt idx="9">
                  <c:v>95.482223531722639</c:v>
                </c:pt>
                <c:pt idx="10">
                  <c:v>96.204084863837863</c:v>
                </c:pt>
                <c:pt idx="11">
                  <c:v>97.708542713567837</c:v>
                </c:pt>
                <c:pt idx="12">
                  <c:v>98.929501790947569</c:v>
                </c:pt>
                <c:pt idx="13">
                  <c:v>96.143196202531641</c:v>
                </c:pt>
                <c:pt idx="14">
                  <c:v>95.892843052158128</c:v>
                </c:pt>
                <c:pt idx="15">
                  <c:v>95.369825387482834</c:v>
                </c:pt>
                <c:pt idx="16">
                  <c:v>96.902160912207961</c:v>
                </c:pt>
                <c:pt idx="17">
                  <c:v>95.101146456939389</c:v>
                </c:pt>
                <c:pt idx="18">
                  <c:v>95.02678187434023</c:v>
                </c:pt>
                <c:pt idx="19">
                  <c:v>93.516737206617933</c:v>
                </c:pt>
                <c:pt idx="20">
                  <c:v>93.40173699177619</c:v>
                </c:pt>
                <c:pt idx="21">
                  <c:v>93.058427138371997</c:v>
                </c:pt>
                <c:pt idx="22">
                  <c:v>92.774257576914266</c:v>
                </c:pt>
                <c:pt idx="23">
                  <c:v>92.256595179350924</c:v>
                </c:pt>
                <c:pt idx="24">
                  <c:v>91.980775052982139</c:v>
                </c:pt>
                <c:pt idx="25">
                  <c:v>92.365280839097068</c:v>
                </c:pt>
                <c:pt idx="26">
                  <c:v>92.186611037360137</c:v>
                </c:pt>
                <c:pt idx="27">
                  <c:v>92.421476918396834</c:v>
                </c:pt>
                <c:pt idx="28">
                  <c:v>93.664495741647073</c:v>
                </c:pt>
                <c:pt idx="29">
                  <c:v>93.272699362959557</c:v>
                </c:pt>
                <c:pt idx="30">
                  <c:v>92.274107820804858</c:v>
                </c:pt>
                <c:pt idx="31">
                  <c:v>92.246090784879314</c:v>
                </c:pt>
                <c:pt idx="32">
                  <c:v>92.368791091855741</c:v>
                </c:pt>
                <c:pt idx="33">
                  <c:v>92.379323451159252</c:v>
                </c:pt>
                <c:pt idx="34">
                  <c:v>92.428506236689984</c:v>
                </c:pt>
                <c:pt idx="35">
                  <c:v>93.211888782358571</c:v>
                </c:pt>
                <c:pt idx="36">
                  <c:v>93.621933462296752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BD-2C8E-6B4B-9462-EDCF8B5DE6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  <c:max val="125"/>
          <c:min val="8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18791784"/>
        <c:crosses val="autoZero"/>
        <c:crossBetween val="between"/>
        <c:majorUnit val="10"/>
      </c:valAx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D" sz="1050" b="1">
                <a:solidFill>
                  <a:srgbClr val="000000"/>
                </a:solidFill>
                <a:latin typeface="Calibri"/>
              </a:rPr>
              <a:t>10Y government bond yields, month-end (%)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0000000000000007E-2"/>
          <c:y val="0.19"/>
          <c:w val="0.49"/>
          <c:h val="0.6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UST 10Y</c:v>
                </c:pt>
              </c:strCache>
            </c:strRef>
          </c:tx>
          <c:spPr>
            <a:ln w="25400">
              <a:solidFill>
                <a:srgbClr val="E97132"/>
              </a:solidFill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1F8-664A-8883-AE1A91927816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F8-664A-8883-AE1A9192781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1F8-664A-8883-AE1A91927816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F8-664A-8883-AE1A91927816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1F8-664A-8883-AE1A91927816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F8-664A-8883-AE1A91927816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1F8-664A-8883-AE1A91927816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1F8-664A-8883-AE1A9192781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1F8-664A-8883-AE1A91927816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1F8-664A-8883-AE1A9192781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1F8-664A-8883-AE1A9192781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1F8-664A-8883-AE1A9192781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1F8-664A-8883-AE1A9192781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1F8-664A-8883-AE1A9192781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1F8-664A-8883-AE1A91927816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81F8-664A-8883-AE1A91927816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81F8-664A-8883-AE1A91927816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81F8-664A-8883-AE1A91927816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81F8-664A-8883-AE1A91927816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81F8-664A-8883-AE1A91927816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81F8-664A-8883-AE1A91927816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81F8-664A-8883-AE1A91927816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81F8-664A-8883-AE1A91927816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81F8-664A-8883-AE1A91927816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81F8-664A-8883-AE1A91927816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81F8-664A-8883-AE1A91927816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81F8-664A-8883-AE1A91927816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81F8-664A-8883-AE1A91927816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81F8-664A-8883-AE1A91927816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81F8-664A-8883-AE1A91927816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81F8-664A-8883-AE1A91927816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81F8-664A-8883-AE1A91927816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81F8-664A-8883-AE1A91927816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81F8-664A-8883-AE1A91927816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81F8-664A-8883-AE1A91927816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81F8-664A-8883-AE1A91927816}"/>
                </c:ext>
              </c:extLst>
            </c:dLbl>
            <c:dLbl>
              <c:idx val="36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rPr>
                      <a:t>UST 5.20%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24-81F8-664A-8883-AE1A919278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E97132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Sheet1!$A$2:$A$38</c:f>
              <c:strCache>
                <c:ptCount val="37"/>
                <c:pt idx="0">
                  <c:v>Sep-23</c:v>
                </c:pt>
                <c:pt idx="12">
                  <c:v>Sep-24</c:v>
                </c:pt>
                <c:pt idx="24">
                  <c:v>Sep-25</c:v>
                </c:pt>
                <c:pt idx="36">
                  <c:v>Sep-26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4.5711000000000004</c:v>
                </c:pt>
                <c:pt idx="1">
                  <c:v>4.9306999999999999</c:v>
                </c:pt>
                <c:pt idx="2">
                  <c:v>4.3263999999999996</c:v>
                </c:pt>
                <c:pt idx="3">
                  <c:v>3.8791000000000002</c:v>
                </c:pt>
                <c:pt idx="4">
                  <c:v>3.9123999999999999</c:v>
                </c:pt>
                <c:pt idx="5">
                  <c:v>4.2502000000000004</c:v>
                </c:pt>
                <c:pt idx="6">
                  <c:v>4.2003000000000004</c:v>
                </c:pt>
                <c:pt idx="7">
                  <c:v>4.6798000000000002</c:v>
                </c:pt>
                <c:pt idx="8">
                  <c:v>4.4984999999999999</c:v>
                </c:pt>
                <c:pt idx="9">
                  <c:v>4.3960999999999997</c:v>
                </c:pt>
                <c:pt idx="10">
                  <c:v>4.0296000000000003</c:v>
                </c:pt>
                <c:pt idx="11">
                  <c:v>3.9034</c:v>
                </c:pt>
                <c:pt idx="12">
                  <c:v>3.7808999999999999</c:v>
                </c:pt>
                <c:pt idx="13">
                  <c:v>4.2843999999999998</c:v>
                </c:pt>
                <c:pt idx="14">
                  <c:v>4.1684999999999999</c:v>
                </c:pt>
                <c:pt idx="15">
                  <c:v>4.569</c:v>
                </c:pt>
                <c:pt idx="16">
                  <c:v>4.5387000000000004</c:v>
                </c:pt>
                <c:pt idx="17">
                  <c:v>4.2081999999999997</c:v>
                </c:pt>
                <c:pt idx="18">
                  <c:v>4.2053000000000003</c:v>
                </c:pt>
                <c:pt idx="19">
                  <c:v>4.1619000000000002</c:v>
                </c:pt>
                <c:pt idx="20">
                  <c:v>4.4004000000000003</c:v>
                </c:pt>
                <c:pt idx="21">
                  <c:v>4.2279999999999998</c:v>
                </c:pt>
                <c:pt idx="22">
                  <c:v>4.3739999999999997</c:v>
                </c:pt>
                <c:pt idx="23">
                  <c:v>4.2283999999999997</c:v>
                </c:pt>
                <c:pt idx="24">
                  <c:v>4.1502999999999997</c:v>
                </c:pt>
                <c:pt idx="25">
                  <c:v>4.0774999999999997</c:v>
                </c:pt>
                <c:pt idx="26">
                  <c:v>4.0132000000000003</c:v>
                </c:pt>
                <c:pt idx="27">
                  <c:v>4.1669999999999998</c:v>
                </c:pt>
                <c:pt idx="28">
                  <c:v>4.2355</c:v>
                </c:pt>
                <c:pt idx="29">
                  <c:v>3.9375</c:v>
                </c:pt>
                <c:pt idx="30">
                  <c:v>4.3166000000000002</c:v>
                </c:pt>
                <c:pt idx="31">
                  <c:v>4.3705999999999996</c:v>
                </c:pt>
                <c:pt idx="32">
                  <c:v>4.4355000000000002</c:v>
                </c:pt>
                <c:pt idx="33">
                  <c:v>4.4652000000000003</c:v>
                </c:pt>
                <c:pt idx="34">
                  <c:v>4.7347000000000001</c:v>
                </c:pt>
                <c:pt idx="35">
                  <c:v>4.75</c:v>
                </c:pt>
                <c:pt idx="36">
                  <c:v>5.1962000000000002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5-81F8-664A-8883-AE1A919278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Indonesia 10Y</c:v>
                </c:pt>
              </c:strCache>
            </c:strRef>
          </c:tx>
          <c:spPr>
            <a:ln w="31750">
              <a:solidFill>
                <a:srgbClr val="002060"/>
              </a:solidFill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81F8-664A-8883-AE1A91927816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81F8-664A-8883-AE1A9192781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81F8-664A-8883-AE1A91927816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81F8-664A-8883-AE1A91927816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81F8-664A-8883-AE1A91927816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81F8-664A-8883-AE1A91927816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81F8-664A-8883-AE1A91927816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81F8-664A-8883-AE1A9192781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81F8-664A-8883-AE1A91927816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81F8-664A-8883-AE1A9192781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81F8-664A-8883-AE1A9192781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81F8-664A-8883-AE1A9192781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81F8-664A-8883-AE1A9192781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81F8-664A-8883-AE1A9192781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81F8-664A-8883-AE1A91927816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81F8-664A-8883-AE1A91927816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81F8-664A-8883-AE1A91927816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81F8-664A-8883-AE1A91927816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81F8-664A-8883-AE1A91927816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81F8-664A-8883-AE1A91927816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81F8-664A-8883-AE1A91927816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81F8-664A-8883-AE1A91927816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81F8-664A-8883-AE1A91927816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81F8-664A-8883-AE1A91927816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81F8-664A-8883-AE1A91927816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81F8-664A-8883-AE1A91927816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81F8-664A-8883-AE1A91927816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81F8-664A-8883-AE1A91927816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81F8-664A-8883-AE1A91927816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81F8-664A-8883-AE1A91927816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81F8-664A-8883-AE1A91927816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81F8-664A-8883-AE1A91927816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81F8-664A-8883-AE1A91927816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81F8-664A-8883-AE1A91927816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81F8-664A-8883-AE1A91927816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81F8-664A-8883-AE1A91927816}"/>
                </c:ext>
              </c:extLst>
            </c:dLbl>
            <c:dLbl>
              <c:idx val="36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IndoGB 7.10%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4A-81F8-664A-8883-AE1A919278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206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Sheet1!$A$2:$A$38</c:f>
              <c:strCache>
                <c:ptCount val="37"/>
                <c:pt idx="0">
                  <c:v>Sep-23</c:v>
                </c:pt>
                <c:pt idx="12">
                  <c:v>Sep-24</c:v>
                </c:pt>
                <c:pt idx="24">
                  <c:v>Sep-25</c:v>
                </c:pt>
                <c:pt idx="36">
                  <c:v>Sep-26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6.9135999999999997</c:v>
                </c:pt>
                <c:pt idx="1">
                  <c:v>7.1071999999999997</c:v>
                </c:pt>
                <c:pt idx="2">
                  <c:v>6.6287000000000003</c:v>
                </c:pt>
                <c:pt idx="3">
                  <c:v>6.4801000000000002</c:v>
                </c:pt>
                <c:pt idx="4">
                  <c:v>6.58</c:v>
                </c:pt>
                <c:pt idx="5">
                  <c:v>6.6047000000000002</c:v>
                </c:pt>
                <c:pt idx="6">
                  <c:v>6.6932999999999998</c:v>
                </c:pt>
                <c:pt idx="7">
                  <c:v>7.2468000000000004</c:v>
                </c:pt>
                <c:pt idx="8">
                  <c:v>6.9234999999999998</c:v>
                </c:pt>
                <c:pt idx="9">
                  <c:v>7.0726000000000004</c:v>
                </c:pt>
                <c:pt idx="10">
                  <c:v>6.9025999999999996</c:v>
                </c:pt>
                <c:pt idx="11">
                  <c:v>6.6334999999999997</c:v>
                </c:pt>
                <c:pt idx="12">
                  <c:v>6.4531000000000001</c:v>
                </c:pt>
                <c:pt idx="13">
                  <c:v>6.7916999999999996</c:v>
                </c:pt>
                <c:pt idx="14">
                  <c:v>6.8720999999999997</c:v>
                </c:pt>
                <c:pt idx="15">
                  <c:v>7.0194000000000001</c:v>
                </c:pt>
                <c:pt idx="16">
                  <c:v>6.9897999999999998</c:v>
                </c:pt>
                <c:pt idx="17">
                  <c:v>6.9097999999999997</c:v>
                </c:pt>
                <c:pt idx="18">
                  <c:v>7.0039999999999996</c:v>
                </c:pt>
                <c:pt idx="19">
                  <c:v>6.8746</c:v>
                </c:pt>
                <c:pt idx="20">
                  <c:v>6.8380000000000001</c:v>
                </c:pt>
                <c:pt idx="21">
                  <c:v>6.6275000000000004</c:v>
                </c:pt>
                <c:pt idx="22">
                  <c:v>6.5674000000000001</c:v>
                </c:pt>
                <c:pt idx="23">
                  <c:v>6.3593999999999999</c:v>
                </c:pt>
                <c:pt idx="24">
                  <c:v>6.3666999999999998</c:v>
                </c:pt>
                <c:pt idx="25">
                  <c:v>6.0777999999999999</c:v>
                </c:pt>
                <c:pt idx="26">
                  <c:v>6.3174999999999999</c:v>
                </c:pt>
                <c:pt idx="27">
                  <c:v>6.0857999999999999</c:v>
                </c:pt>
                <c:pt idx="28">
                  <c:v>6.3342999999999998</c:v>
                </c:pt>
                <c:pt idx="29">
                  <c:v>6.4267000000000003</c:v>
                </c:pt>
                <c:pt idx="30">
                  <c:v>6.8550000000000004</c:v>
                </c:pt>
                <c:pt idx="31">
                  <c:v>6.8525999999999998</c:v>
                </c:pt>
                <c:pt idx="32">
                  <c:v>6.7196999999999996</c:v>
                </c:pt>
                <c:pt idx="33">
                  <c:v>7.1581000000000001</c:v>
                </c:pt>
                <c:pt idx="34">
                  <c:v>7.3361000000000001</c:v>
                </c:pt>
                <c:pt idx="35">
                  <c:v>7.0247000000000002</c:v>
                </c:pt>
                <c:pt idx="36">
                  <c:v>7.0952000000000002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4B-81F8-664A-8883-AE1A919278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orientation val="minMax"/>
          <c:max val="8"/>
          <c:min val="3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18791784"/>
        <c:crosses val="autoZero"/>
        <c:crossBetween val="between"/>
        <c:majorUnit val="1"/>
      </c:valAx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D" sz="1050" b="1">
                <a:solidFill>
                  <a:srgbClr val="000000"/>
                </a:solidFill>
                <a:latin typeface="Calibri"/>
              </a:rPr>
              <a:t>Net foreign buy / sell, IDX equities, 2026 (USD mn; Sep to 25 Sep)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3"/>
          <c:y val="0.2"/>
          <c:w val="0.94"/>
          <c:h val="0.6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F98-5043-B30C-4889CE19E689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F98-5043-B30C-4889CE19E689}"/>
              </c:ext>
            </c:extLst>
          </c:dPt>
          <c:dPt>
            <c:idx val="2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F98-5043-B30C-4889CE19E689}"/>
              </c:ext>
            </c:extLst>
          </c:dPt>
          <c:dPt>
            <c:idx val="3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F98-5043-B30C-4889CE19E689}"/>
              </c:ext>
            </c:extLst>
          </c:dPt>
          <c:dPt>
            <c:idx val="4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EF98-5043-B30C-4889CE19E689}"/>
              </c:ext>
            </c:extLst>
          </c:dPt>
          <c:dPt>
            <c:idx val="5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EF98-5043-B30C-4889CE19E689}"/>
              </c:ext>
            </c:extLst>
          </c:dPt>
          <c:dPt>
            <c:idx val="6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EF98-5043-B30C-4889CE19E689}"/>
              </c:ext>
            </c:extLst>
          </c:dPt>
          <c:dPt>
            <c:idx val="7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EF98-5043-B30C-4889CE19E689}"/>
              </c:ext>
            </c:extLst>
          </c:dPt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EF98-5043-B30C-4889CE19E689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rPr>
                      <a:t>−589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EF98-5043-B30C-4889CE19E689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+21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EF98-5043-B30C-4889CE19E689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rPr>
                      <a:t>−1,380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EF98-5043-B30C-4889CE19E689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rPr>
                      <a:t>−990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EF98-5043-B30C-4889CE19E689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rPr>
                      <a:t>−217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EF98-5043-B30C-4889CE19E689}"/>
                </c:ext>
              </c:extLst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rPr>
                      <a:t>−1,094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B-EF98-5043-B30C-4889CE19E689}"/>
                </c:ext>
              </c:extLst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+89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D-EF98-5043-B30C-4889CE19E689}"/>
                </c:ext>
              </c:extLst>
            </c:dLbl>
            <c:dLbl>
              <c:idx val="7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+68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F-EF98-5043-B30C-4889CE19E689}"/>
                </c:ext>
              </c:extLst>
            </c:dLbl>
            <c:dLbl>
              <c:idx val="8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E97132"/>
                        </a:solidFill>
                        <a:latin typeface="Calibri"/>
                        <a:cs typeface="Calibri"/>
                      </a:rPr>
                      <a:t>−378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11-EF98-5043-B30C-4889CE19E6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-588.72299999999996</c:v>
                </c:pt>
                <c:pt idx="1">
                  <c:v>21.155000000000001</c:v>
                </c:pt>
                <c:pt idx="2">
                  <c:v>-1380.0820000000001</c:v>
                </c:pt>
                <c:pt idx="3">
                  <c:v>-989.96500000000003</c:v>
                </c:pt>
                <c:pt idx="4">
                  <c:v>-216.90600000000001</c:v>
                </c:pt>
                <c:pt idx="5">
                  <c:v>-1093.683</c:v>
                </c:pt>
                <c:pt idx="6">
                  <c:v>88.53</c:v>
                </c:pt>
                <c:pt idx="7">
                  <c:v>68.131</c:v>
                </c:pt>
                <c:pt idx="8">
                  <c:v>-377.95800000000003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F98-5043-B30C-4889CE19E6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orientation val="minMax"/>
          <c:max val="420"/>
          <c:min val="-1700"/>
        </c:scaling>
        <c:delete val="1"/>
        <c:axPos val="l"/>
        <c:numFmt formatCode="General" sourceLinked="1"/>
        <c:majorTickMark val="out"/>
        <c:minorTickMark val="none"/>
        <c:tickLblPos val="nextTo"/>
        <c:crossAx val="2226939960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D" sz="1100" b="1">
                <a:solidFill>
                  <a:srgbClr val="000000"/>
                </a:solidFill>
                <a:latin typeface="Calibri"/>
              </a:rPr>
              <a:t>Aug 2026 growth (% YoY)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"/>
          <c:y val="0.16"/>
          <c:w val="0.64"/>
          <c:h val="0.74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F3E-364F-A78D-14CBB0B228B2}"/>
              </c:ext>
            </c:extLst>
          </c:dPt>
          <c:dPt>
            <c:idx val="1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F3E-364F-A78D-14CBB0B228B2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F3E-364F-A78D-14CBB0B228B2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2000" b="1" i="0">
                        <a:solidFill>
                          <a:srgbClr val="595959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2000" b="1" i="0">
                        <a:solidFill>
                          <a:srgbClr val="595959"/>
                        </a:solidFill>
                        <a:latin typeface="Calibri"/>
                        <a:cs typeface="Calibri"/>
                      </a:rPr>
                      <a:t>+5.0%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BF3E-364F-A78D-14CBB0B228B2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2000" b="1" i="0">
                        <a:solidFill>
                          <a:srgbClr val="FFFFFF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20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+12.3%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BF3E-364F-A78D-14CBB0B228B2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20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20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+23.4%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BF3E-364F-A78D-14CBB0B228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0000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Working capital</c:v>
                </c:pt>
                <c:pt idx="2">
                  <c:v>Investment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5.0015248551387392</c:v>
                </c:pt>
                <c:pt idx="1">
                  <c:v>12.299154487607877</c:v>
                </c:pt>
                <c:pt idx="2">
                  <c:v>23.402437379142871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F3E-364F-A78D-14CBB0B228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orientation val="minMax"/>
          <c:max val="3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2226939960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5"/>
          <c:w val="0.96"/>
          <c:h val="0.3"/>
        </c:manualLayout>
      </c:layout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FFFFFF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Investment 49.2%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9852-5C42-9424-4B675733FF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FFFFFF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49.163911195087394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52-5C42-9424-4B675733FF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Working capital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FFFFFF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Working capital 40.0%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9852-5C42-9424-4B675733FF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FFFFFF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39.990552668871061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52-5C42-9424-4B675733FF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Consumer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10.8%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4-9852-5C42-9424-4B675733FF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00000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10.845536136041542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852-5C42-9424-4B675733FF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2226939960"/>
        <c:axId val="2180972856"/>
      </c:barChart>
      <c:catAx>
        <c:axId val="2226939960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orientation val="minMax"/>
          <c:max val="1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2226939960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D" sz="1050" b="1">
                <a:solidFill>
                  <a:srgbClr val="000000"/>
                </a:solidFill>
                <a:latin typeface="Calibri"/>
              </a:rPr>
              <a:t>Credit growth by property segment (% YoY)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8"/>
          <c:y val="0.22"/>
          <c:w val="0.5"/>
          <c:h val="0.72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EF3-AB48-A5EF-22B6C51D16CF}"/>
              </c:ext>
            </c:extLst>
          </c:dPt>
          <c:dPt>
            <c:idx val="1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EF3-AB48-A5EF-22B6C51D16CF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EF3-AB48-A5EF-22B6C51D16CF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300" b="1" i="0">
                        <a:solidFill>
                          <a:srgbClr val="595959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300" b="1" i="0">
                        <a:solidFill>
                          <a:srgbClr val="595959"/>
                        </a:solidFill>
                        <a:latin typeface="Calibri"/>
                        <a:cs typeface="Calibri"/>
                      </a:rPr>
                      <a:t>+4.2%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9EF3-AB48-A5EF-22B6C51D16CF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300" b="1" i="0">
                        <a:solidFill>
                          <a:srgbClr val="E97132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300" b="1" i="0">
                        <a:solidFill>
                          <a:srgbClr val="E97132"/>
                        </a:solidFill>
                        <a:latin typeface="Calibri"/>
                        <a:cs typeface="Calibri"/>
                      </a:rPr>
                      <a:t>+15.8%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9EF3-AB48-A5EF-22B6C51D16CF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3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3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+49.5%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9EF3-AB48-A5EF-22B6C51D16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300" b="1" i="0" u="none" strike="noStrike" kern="1200" baseline="0">
                    <a:solidFill>
                      <a:srgbClr val="00000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KPR / KPA (mortgages)</c:v>
                </c:pt>
                <c:pt idx="1">
                  <c:v>Real estate</c:v>
                </c:pt>
                <c:pt idx="2">
                  <c:v>Construction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4.2005584557484488</c:v>
                </c:pt>
                <c:pt idx="1">
                  <c:v>15.822002472187901</c:v>
                </c:pt>
                <c:pt idx="2">
                  <c:v>49.501915708812241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F3-AB48-A5EF-22B6C51D16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 rot="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orientation val="minMax"/>
          <c:max val="66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2226939960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D" sz="1100" b="1">
                <a:solidFill>
                  <a:srgbClr val="000000"/>
                </a:solidFill>
                <a:latin typeface="Calibri"/>
              </a:rPr>
              <a:t>Capital adequacy ratio (%)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9"/>
          <c:y val="0.25"/>
          <c:w val="0.64"/>
          <c:h val="0.66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6FD-C84B-9CBA-0CB3B0AA5B35}"/>
              </c:ext>
            </c:extLst>
          </c:dPt>
          <c:dPt>
            <c:idx val="1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6FD-C84B-9CBA-0CB3B0AA5B35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5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5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23.84%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16FD-C84B-9CBA-0CB3B0AA5B35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500" b="1" i="0">
                        <a:solidFill>
                          <a:srgbClr val="E97132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500" b="1" i="0">
                        <a:solidFill>
                          <a:srgbClr val="E97132"/>
                        </a:solidFill>
                        <a:latin typeface="Calibri"/>
                        <a:cs typeface="Calibri"/>
                      </a:rPr>
                      <a:t>25.09%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16FD-C84B-9CBA-0CB3B0AA5B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500" b="1" i="0" u="none" strike="noStrike" kern="1200" baseline="0">
                    <a:solidFill>
                      <a:srgbClr val="00000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Jul 2026</c:v>
                </c:pt>
                <c:pt idx="1">
                  <c:v>Mar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23.84</c:v>
                </c:pt>
                <c:pt idx="1">
                  <c:v>25.09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FD-C84B-9CBA-0CB3B0AA5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27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 rot="0" spcFirstLastPara="1" vertOverflow="ellipsis" vert="horz" wrap="square" anchor="ctr" anchorCtr="1"/>
          <a:lstStyle/>
          <a:p>
            <a:pPr>
              <a:defRPr sz="1150" b="1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orientation val="minMax"/>
          <c:max val="3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2226939960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D" sz="1100" b="1">
                <a:solidFill>
                  <a:srgbClr val="000000"/>
                </a:solidFill>
                <a:latin typeface="Calibri"/>
              </a:rPr>
              <a:t>Gross NPL ratio (%)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9"/>
          <c:y val="0.25"/>
          <c:w val="0.64"/>
          <c:h val="0.66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663-EB43-85D1-FF578C275F50}"/>
              </c:ext>
            </c:extLst>
          </c:dPt>
          <c:dPt>
            <c:idx val="1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663-EB43-85D1-FF578C275F50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5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5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2.10%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1663-EB43-85D1-FF578C275F50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500" b="1" i="0">
                        <a:solidFill>
                          <a:srgbClr val="E97132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500" b="1" i="0">
                        <a:solidFill>
                          <a:srgbClr val="E97132"/>
                        </a:solidFill>
                        <a:latin typeface="Calibri"/>
                        <a:cs typeface="Calibri"/>
                      </a:rPr>
                      <a:t>2.14%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1663-EB43-85D1-FF578C275F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500" b="1" i="0" u="none" strike="noStrike" kern="1200" baseline="0">
                    <a:solidFill>
                      <a:srgbClr val="00000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Jul 2026</c:v>
                </c:pt>
                <c:pt idx="1">
                  <c:v>Mar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2.1</c:v>
                </c:pt>
                <c:pt idx="1">
                  <c:v>2.14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63-EB43-85D1-FF578C275F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27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 rot="0" spcFirstLastPara="1" vertOverflow="ellipsis" vert="horz" wrap="square" anchor="ctr" anchorCtr="1"/>
          <a:lstStyle/>
          <a:p>
            <a:pPr>
              <a:defRPr sz="1150" b="1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orientation val="minMax"/>
          <c:max val="4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2226939960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D" sz="1100" b="1">
                <a:solidFill>
                  <a:srgbClr val="000000"/>
                </a:solidFill>
                <a:latin typeface="Calibri"/>
              </a:rPr>
              <a:t>Where the money is going: realised investment, 1H25 vs 1H26 (Rp tn)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3499999999999999"/>
          <c:y val="0.14000000000000001"/>
          <c:w val="0.6"/>
          <c:h val="0.78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1H25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110.7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9612-5B48-B7A8-9330DA635FD8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102.2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9612-5B48-B7A8-9330DA635FD8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75.0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9612-5B48-B7A8-9330DA635FD8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85.7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9612-5B48-B7A8-9330DA635FD8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0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134.4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4-9612-5B48-B7A8-9330DA635F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Transport / warehousing / telecom</c:v>
                </c:pt>
                <c:pt idx="1">
                  <c:v>Mining</c:v>
                </c:pt>
                <c:pt idx="2">
                  <c:v>Industrial property / offices</c:v>
                </c:pt>
                <c:pt idx="3">
                  <c:v>Other services / data-centre linked</c:v>
                </c:pt>
                <c:pt idx="4">
                  <c:v>Basic metals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110.7</c:v>
                </c:pt>
                <c:pt idx="1">
                  <c:v>102.2</c:v>
                </c:pt>
                <c:pt idx="2">
                  <c:v>75</c:v>
                </c:pt>
                <c:pt idx="3">
                  <c:v>85.7</c:v>
                </c:pt>
                <c:pt idx="4">
                  <c:v>134.4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612-5B48-B7A8-9330DA635F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1H26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102.7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6-9612-5B48-B7A8-9330DA635FD8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105.0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9612-5B48-B7A8-9330DA635FD8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85.8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8-9612-5B48-B7A8-9330DA635FD8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114.0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9612-5B48-B7A8-9330DA635FD8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150.4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A-9612-5B48-B7A8-9330DA635F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00206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Transport / warehousing / telecom</c:v>
                </c:pt>
                <c:pt idx="1">
                  <c:v>Mining</c:v>
                </c:pt>
                <c:pt idx="2">
                  <c:v>Industrial property / offices</c:v>
                </c:pt>
                <c:pt idx="3">
                  <c:v>Other services / data-centre linked</c:v>
                </c:pt>
                <c:pt idx="4">
                  <c:v>Basic metals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102.7</c:v>
                </c:pt>
                <c:pt idx="1">
                  <c:v>105</c:v>
                </c:pt>
                <c:pt idx="2">
                  <c:v>85.8</c:v>
                </c:pt>
                <c:pt idx="3">
                  <c:v>114</c:v>
                </c:pt>
                <c:pt idx="4">
                  <c:v>150.4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9612-5B48-B7A8-9330DA635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8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 rot="0" spcFirstLastPara="1" vertOverflow="ellipsis" vert="horz" wrap="square" anchor="ctr" anchorCtr="1"/>
          <a:lstStyle/>
          <a:p>
            <a:pPr>
              <a:defRPr sz="1150" b="0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orientation val="minMax"/>
          <c:max val="17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2226939960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D" sz="1000" b="1">
                <a:solidFill>
                  <a:srgbClr val="000000"/>
                </a:solidFill>
                <a:latin typeface="Calibri"/>
              </a:rPr>
              <a:t>1H26 downstreaming investment by commodity (Rp tn)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"/>
          <c:y val="0.19"/>
          <c:w val="0.6"/>
          <c:h val="0.64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DFC-E948-BE6A-BA6194E62803}"/>
              </c:ext>
            </c:extLst>
          </c:dPt>
          <c:dPt>
            <c:idx val="1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DFC-E948-BE6A-BA6194E62803}"/>
              </c:ext>
            </c:extLst>
          </c:dPt>
          <c:dPt>
            <c:idx val="2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DFC-E948-BE6A-BA6194E62803}"/>
              </c:ext>
            </c:extLst>
          </c:dPt>
          <c:dPt>
            <c:idx val="3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DFC-E948-BE6A-BA6194E62803}"/>
              </c:ext>
            </c:extLst>
          </c:dPt>
          <c:dPt>
            <c:idx val="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EDFC-E948-BE6A-BA6194E62803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05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5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5.9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EDFC-E948-BE6A-BA6194E62803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05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5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30.2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EDFC-E948-BE6A-BA6194E62803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05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5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37.4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EDFC-E948-BE6A-BA6194E62803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050" b="1" i="0">
                        <a:solidFill>
                          <a:srgbClr val="E97132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50" b="1" i="0">
                        <a:solidFill>
                          <a:srgbClr val="E97132"/>
                        </a:solidFill>
                        <a:latin typeface="Calibri"/>
                        <a:cs typeface="Calibri"/>
                      </a:rPr>
                      <a:t>53.8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EDFC-E948-BE6A-BA6194E62803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05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05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71.0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EDFC-E948-BE6A-BA6194E628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rgbClr val="00000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Silica sand</c:v>
                </c:pt>
                <c:pt idx="1">
                  <c:v>Iron &amp; steel</c:v>
                </c:pt>
                <c:pt idx="2">
                  <c:v>Copper</c:v>
                </c:pt>
                <c:pt idx="3">
                  <c:v>Bauxite</c:v>
                </c:pt>
                <c:pt idx="4">
                  <c:v>Nickel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5.9</c:v>
                </c:pt>
                <c:pt idx="1">
                  <c:v>30.2</c:v>
                </c:pt>
                <c:pt idx="2">
                  <c:v>37.4</c:v>
                </c:pt>
                <c:pt idx="3">
                  <c:v>53.8</c:v>
                </c:pt>
                <c:pt idx="4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DFC-E948-BE6A-BA6194E62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overlap val="-27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orientation val="minMax"/>
          <c:max val="84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2226939960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D" sz="1100" b="1">
                <a:solidFill>
                  <a:srgbClr val="000000"/>
                </a:solidFill>
                <a:latin typeface="Calibri"/>
              </a:rPr>
              <a:t>Forward P/E vs own 3Y median (%)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4"/>
          <c:y val="0.2"/>
          <c:w val="0.92"/>
          <c:h val="0.5799999999999999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2B0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A5A-0F48-B888-00AB28CA3530}"/>
              </c:ext>
            </c:extLst>
          </c:dPt>
          <c:dPt>
            <c:idx val="1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A5A-0F48-B888-00AB28CA3530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A5A-0F48-B888-00AB28CA3530}"/>
              </c:ext>
            </c:extLst>
          </c:dPt>
          <c:dPt>
            <c:idx val="3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2A5A-0F48-B888-00AB28CA3530}"/>
              </c:ext>
            </c:extLst>
          </c:dPt>
          <c:dPt>
            <c:idx val="4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2A5A-0F48-B888-00AB28CA3530}"/>
              </c:ext>
            </c:extLst>
          </c:dPt>
          <c:dPt>
            <c:idx val="5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2A5A-0F48-B888-00AB28CA3530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−47%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2A5A-0F48-B888-00AB28CA3530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−30%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2A5A-0F48-B888-00AB28CA3530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2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2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−25.7% vs 3Y median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2A5A-0F48-B888-00AB28CA3530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−18%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2A5A-0F48-B888-00AB28CA3530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−6%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2A5A-0F48-B888-00AB28CA3530}"/>
                </c:ext>
              </c:extLst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+42%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B-2A5A-0F48-B888-00AB28CA353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00000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Basic Materials</c:v>
                </c:pt>
                <c:pt idx="1">
                  <c:v>Non-Cyclicals</c:v>
                </c:pt>
                <c:pt idx="2">
                  <c:v>Financials</c:v>
                </c:pt>
                <c:pt idx="3">
                  <c:v>Property</c:v>
                </c:pt>
                <c:pt idx="4">
                  <c:v>Infrastructure</c:v>
                </c:pt>
                <c:pt idx="5">
                  <c:v>Industrials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-47.01481807263562</c:v>
                </c:pt>
                <c:pt idx="1">
                  <c:v>-29.575498671331037</c:v>
                </c:pt>
                <c:pt idx="2">
                  <c:v>-25.669373269663133</c:v>
                </c:pt>
                <c:pt idx="3">
                  <c:v>-17.966118149604394</c:v>
                </c:pt>
                <c:pt idx="4">
                  <c:v>-6.1926897605705573</c:v>
                </c:pt>
                <c:pt idx="5">
                  <c:v>41.652464286209145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A5A-0F48-B888-00AB28CA3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-27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 rot="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orientation val="minMax"/>
          <c:max val="60"/>
          <c:min val="-70"/>
        </c:scaling>
        <c:delete val="1"/>
        <c:axPos val="l"/>
        <c:numFmt formatCode="General" sourceLinked="1"/>
        <c:majorTickMark val="out"/>
        <c:minorTickMark val="none"/>
        <c:tickLblPos val="nextTo"/>
        <c:crossAx val="2226939960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D" sz="1100" b="1" dirty="0">
                <a:solidFill>
                  <a:srgbClr val="000000"/>
                </a:solidFill>
                <a:latin typeface="Calibri"/>
              </a:rPr>
              <a:t>3-month forward EPS (%)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4"/>
          <c:y val="0.2"/>
          <c:w val="0.92"/>
          <c:h val="0.5799999999999999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2B0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CAF-AB41-8C7F-642AE29BD5A2}"/>
              </c:ext>
            </c:extLst>
          </c:dPt>
          <c:dPt>
            <c:idx val="1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CAF-AB41-8C7F-642AE29BD5A2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CAF-AB41-8C7F-642AE29BD5A2}"/>
              </c:ext>
            </c:extLst>
          </c:dPt>
          <c:dPt>
            <c:idx val="3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CAF-AB41-8C7F-642AE29BD5A2}"/>
              </c:ext>
            </c:extLst>
          </c:dPt>
          <c:dPt>
            <c:idx val="4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1CAF-AB41-8C7F-642AE29BD5A2}"/>
              </c:ext>
            </c:extLst>
          </c:dPt>
          <c:dPt>
            <c:idx val="5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1CAF-AB41-8C7F-642AE29BD5A2}"/>
              </c:ext>
            </c:extLst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−10.9%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1CAF-AB41-8C7F-642AE29BD5A2}"/>
                </c:ext>
              </c:extLst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+14.4%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1CAF-AB41-8C7F-642AE29BD5A2}"/>
                </c:ext>
              </c:extLst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sz="1200" b="1" i="0">
                        <a:solidFill>
                          <a:srgbClr val="00206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200" b="1" i="0">
                        <a:solidFill>
                          <a:srgbClr val="002060"/>
                        </a:solidFill>
                        <a:latin typeface="Calibri"/>
                        <a:cs typeface="Calibri"/>
                      </a:rPr>
                      <a:t>+6.8% upgrades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1CAF-AB41-8C7F-642AE29BD5A2}"/>
                </c:ext>
              </c:extLst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595959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595959"/>
                        </a:solidFill>
                        <a:latin typeface="Calibri"/>
                        <a:cs typeface="Calibri"/>
                      </a:rPr>
                      <a:t>no change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1CAF-AB41-8C7F-642AE29BD5A2}"/>
                </c:ext>
              </c:extLst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−7.4%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1CAF-AB41-8C7F-642AE29BD5A2}"/>
                </c:ext>
              </c:extLst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defRPr>
                    </a:pPr>
                    <a:r>
                      <a:rPr lang="en-US" sz="1100" b="1" i="0">
                        <a:solidFill>
                          <a:srgbClr val="000000"/>
                        </a:solidFill>
                        <a:latin typeface="Calibri"/>
                        <a:cs typeface="Calibri"/>
                      </a:rPr>
                      <a:t>−2.8%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B-1CAF-AB41-8C7F-642AE29BD5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000000"/>
                    </a:solidFill>
                    <a:latin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Basic Materials</c:v>
                </c:pt>
                <c:pt idx="1">
                  <c:v>Non-Cyclicals</c:v>
                </c:pt>
                <c:pt idx="2">
                  <c:v>Financials</c:v>
                </c:pt>
                <c:pt idx="3">
                  <c:v>Property</c:v>
                </c:pt>
                <c:pt idx="4">
                  <c:v>Infrastructure</c:v>
                </c:pt>
                <c:pt idx="5">
                  <c:v>Industrials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-10.862477647136092</c:v>
                </c:pt>
                <c:pt idx="1">
                  <c:v>14.376309790126784</c:v>
                </c:pt>
                <c:pt idx="2">
                  <c:v>6.8169040479760135</c:v>
                </c:pt>
                <c:pt idx="3">
                  <c:v>0</c:v>
                </c:pt>
                <c:pt idx="4">
                  <c:v>-7.4290827101072594</c:v>
                </c:pt>
                <c:pt idx="5">
                  <c:v>-2.8393747355357379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CAF-AB41-8C7F-642AE29BD5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-27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 rot="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orientation val="minMax"/>
          <c:max val="21"/>
          <c:min val="-18"/>
        </c:scaling>
        <c:delete val="1"/>
        <c:axPos val="l"/>
        <c:numFmt formatCode="General" sourceLinked="1"/>
        <c:majorTickMark val="out"/>
        <c:minorTickMark val="none"/>
        <c:tickLblPos val="nextTo"/>
        <c:crossAx val="2226939960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0000000000000027E-2"/>
          <c:y val="3.0000000000000027E-2"/>
          <c:w val="0.94"/>
          <c:h val="0.9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 (%)</c:v>
                </c:pt>
              </c:strCache>
            </c:strRef>
          </c:tx>
          <c:dPt>
            <c:idx val="0"/>
            <c:bubble3D val="0"/>
            <c:spPr>
              <a:solidFill>
                <a:srgbClr val="00206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95E-2D44-BBE9-B09C0A6A6A5A}"/>
              </c:ext>
            </c:extLst>
          </c:dPt>
          <c:dPt>
            <c:idx val="1"/>
            <c:bubble3D val="0"/>
            <c:spPr>
              <a:solidFill>
                <a:srgbClr val="00206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95E-2D44-BBE9-B09C0A6A6A5A}"/>
              </c:ext>
            </c:extLst>
          </c:dPt>
          <c:dPt>
            <c:idx val="2"/>
            <c:bubble3D val="0"/>
            <c:spPr>
              <a:solidFill>
                <a:srgbClr val="00206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95E-2D44-BBE9-B09C0A6A6A5A}"/>
              </c:ext>
            </c:extLst>
          </c:dPt>
          <c:dPt>
            <c:idx val="3"/>
            <c:bubble3D val="0"/>
            <c:spPr>
              <a:solidFill>
                <a:srgbClr val="E97132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B95E-2D44-BBE9-B09C0A6A6A5A}"/>
              </c:ext>
            </c:extLst>
          </c:dPt>
          <c:dPt>
            <c:idx val="4"/>
            <c:bubble3D val="0"/>
            <c:spPr>
              <a:solidFill>
                <a:srgbClr val="E97132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B95E-2D44-BBE9-B09C0A6A6A5A}"/>
              </c:ext>
            </c:extLst>
          </c:dPt>
          <c:dPt>
            <c:idx val="5"/>
            <c:bubble3D val="0"/>
            <c:spPr>
              <a:solidFill>
                <a:srgbClr val="E97132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B95E-2D44-BBE9-B09C0A6A6A5A}"/>
              </c:ext>
            </c:extLst>
          </c:dPt>
          <c:dPt>
            <c:idx val="6"/>
            <c:bubble3D val="0"/>
            <c:spPr>
              <a:solidFill>
                <a:srgbClr val="0070C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B95E-2D44-BBE9-B09C0A6A6A5A}"/>
              </c:ext>
            </c:extLst>
          </c:dPt>
          <c:dPt>
            <c:idx val="7"/>
            <c:bubble3D val="0"/>
            <c:spPr>
              <a:solidFill>
                <a:srgbClr val="0070C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B95E-2D44-BBE9-B09C0A6A6A5A}"/>
              </c:ext>
            </c:extLst>
          </c:dPt>
          <c:dPt>
            <c:idx val="8"/>
            <c:bubble3D val="0"/>
            <c:spPr>
              <a:solidFill>
                <a:srgbClr val="0070C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B95E-2D44-BBE9-B09C0A6A6A5A}"/>
              </c:ext>
            </c:extLst>
          </c:dPt>
          <c:dPt>
            <c:idx val="9"/>
            <c:bubble3D val="0"/>
            <c:spPr>
              <a:solidFill>
                <a:srgbClr val="A6A6A6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3-B95E-2D44-BBE9-B09C0A6A6A5A}"/>
              </c:ext>
            </c:extLst>
          </c:dPt>
          <c:dPt>
            <c:idx val="10"/>
            <c:bubble3D val="0"/>
            <c:spPr>
              <a:solidFill>
                <a:srgbClr val="D9D9D9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5-B95E-2D44-BBE9-B09C0A6A6A5A}"/>
              </c:ext>
            </c:extLst>
          </c:dPt>
          <c:dPt>
            <c:idx val="11"/>
            <c:bubble3D val="0"/>
            <c:spPr>
              <a:solidFill>
                <a:srgbClr val="D9D9D9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7-B95E-2D44-BBE9-B09C0A6A6A5A}"/>
              </c:ext>
            </c:extLst>
          </c:dPt>
          <c:cat>
            <c:strRef>
              <c:f>Sheet1!$A$2:$A$13</c:f>
              <c:strCache>
                <c:ptCount val="12"/>
                <c:pt idx="0">
                  <c:v>BBCA</c:v>
                </c:pt>
                <c:pt idx="1">
                  <c:v>BBRI</c:v>
                </c:pt>
                <c:pt idx="2">
                  <c:v>BBNI</c:v>
                </c:pt>
                <c:pt idx="3">
                  <c:v>MDKA</c:v>
                </c:pt>
                <c:pt idx="4">
                  <c:v>AMMN</c:v>
                </c:pt>
                <c:pt idx="5">
                  <c:v>ANTM</c:v>
                </c:pt>
                <c:pt idx="6">
                  <c:v>TLKM</c:v>
                </c:pt>
                <c:pt idx="7">
                  <c:v>ASII</c:v>
                </c:pt>
                <c:pt idx="8">
                  <c:v>MIKA</c:v>
                </c:pt>
                <c:pt idx="9">
                  <c:v>Other equities</c:v>
                </c:pt>
                <c:pt idx="10">
                  <c:v>Mega Syariah MM</c:v>
                </c:pt>
                <c:pt idx="11">
                  <c:v>Other MM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8.61</c:v>
                </c:pt>
                <c:pt idx="1">
                  <c:v>5.09</c:v>
                </c:pt>
                <c:pt idx="2">
                  <c:v>3.82</c:v>
                </c:pt>
                <c:pt idx="3">
                  <c:v>4.46</c:v>
                </c:pt>
                <c:pt idx="4">
                  <c:v>4.22</c:v>
                </c:pt>
                <c:pt idx="5">
                  <c:v>4.1500000000000004</c:v>
                </c:pt>
                <c:pt idx="6">
                  <c:v>5.09</c:v>
                </c:pt>
                <c:pt idx="7">
                  <c:v>3.37</c:v>
                </c:pt>
                <c:pt idx="8">
                  <c:v>2.82</c:v>
                </c:pt>
                <c:pt idx="9">
                  <c:v>51.71</c:v>
                </c:pt>
                <c:pt idx="10">
                  <c:v>3.78</c:v>
                </c:pt>
                <c:pt idx="11">
                  <c:v>2.88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B95E-2D44-BBE9-B09C0A6A6A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0000000000000027E-2"/>
          <c:y val="3.0000000000000027E-2"/>
          <c:w val="0.94"/>
          <c:h val="0.9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 (%)</c:v>
                </c:pt>
              </c:strCache>
            </c:strRef>
          </c:tx>
          <c:dPt>
            <c:idx val="0"/>
            <c:bubble3D val="0"/>
            <c:spPr>
              <a:solidFill>
                <a:srgbClr val="E97132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9E1A-AC42-861C-9256712CE7F7}"/>
              </c:ext>
            </c:extLst>
          </c:dPt>
          <c:dPt>
            <c:idx val="1"/>
            <c:bubble3D val="0"/>
            <c:spPr>
              <a:solidFill>
                <a:srgbClr val="E97132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9E1A-AC42-861C-9256712CE7F7}"/>
              </c:ext>
            </c:extLst>
          </c:dPt>
          <c:dPt>
            <c:idx val="2"/>
            <c:bubble3D val="0"/>
            <c:spPr>
              <a:solidFill>
                <a:srgbClr val="E97132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9E1A-AC42-861C-9256712CE7F7}"/>
              </c:ext>
            </c:extLst>
          </c:dPt>
          <c:dPt>
            <c:idx val="3"/>
            <c:bubble3D val="0"/>
            <c:spPr>
              <a:solidFill>
                <a:srgbClr val="E97132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9E1A-AC42-861C-9256712CE7F7}"/>
              </c:ext>
            </c:extLst>
          </c:dPt>
          <c:dPt>
            <c:idx val="4"/>
            <c:bubble3D val="0"/>
            <c:spPr>
              <a:solidFill>
                <a:srgbClr val="00206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9E1A-AC42-861C-9256712CE7F7}"/>
              </c:ext>
            </c:extLst>
          </c:dPt>
          <c:dPt>
            <c:idx val="5"/>
            <c:bubble3D val="0"/>
            <c:spPr>
              <a:solidFill>
                <a:srgbClr val="00206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9E1A-AC42-861C-9256712CE7F7}"/>
              </c:ext>
            </c:extLst>
          </c:dPt>
          <c:dPt>
            <c:idx val="6"/>
            <c:bubble3D val="0"/>
            <c:spPr>
              <a:solidFill>
                <a:srgbClr val="00206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9E1A-AC42-861C-9256712CE7F7}"/>
              </c:ext>
            </c:extLst>
          </c:dPt>
          <c:dPt>
            <c:idx val="7"/>
            <c:bubble3D val="0"/>
            <c:spPr>
              <a:solidFill>
                <a:srgbClr val="00206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9E1A-AC42-861C-9256712CE7F7}"/>
              </c:ext>
            </c:extLst>
          </c:dPt>
          <c:dPt>
            <c:idx val="8"/>
            <c:bubble3D val="0"/>
            <c:spPr>
              <a:solidFill>
                <a:srgbClr val="00206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9E1A-AC42-861C-9256712CE7F7}"/>
              </c:ext>
            </c:extLst>
          </c:dPt>
          <c:dPt>
            <c:idx val="9"/>
            <c:bubble3D val="0"/>
            <c:spPr>
              <a:solidFill>
                <a:srgbClr val="00206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3-9E1A-AC42-861C-9256712CE7F7}"/>
              </c:ext>
            </c:extLst>
          </c:dPt>
          <c:dPt>
            <c:idx val="10"/>
            <c:bubble3D val="0"/>
            <c:spPr>
              <a:solidFill>
                <a:srgbClr val="A6A6A6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5-9E1A-AC42-861C-9256712CE7F7}"/>
              </c:ext>
            </c:extLst>
          </c:dPt>
          <c:dPt>
            <c:idx val="11"/>
            <c:bubble3D val="0"/>
            <c:spPr>
              <a:solidFill>
                <a:srgbClr val="D9D9D9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7-9E1A-AC42-861C-9256712CE7F7}"/>
              </c:ext>
            </c:extLst>
          </c:dPt>
          <c:cat>
            <c:strRef>
              <c:f>Sheet1!$A$2:$A$13</c:f>
              <c:strCache>
                <c:ptCount val="12"/>
                <c:pt idx="0">
                  <c:v>FR0101</c:v>
                </c:pt>
                <c:pt idx="1">
                  <c:v>FR0104</c:v>
                </c:pt>
                <c:pt idx="2">
                  <c:v>FR0059</c:v>
                </c:pt>
                <c:pt idx="3">
                  <c:v>FR0087</c:v>
                </c:pt>
                <c:pt idx="4">
                  <c:v>IJE</c:v>
                </c:pt>
                <c:pt idx="5">
                  <c:v>Adaro</c:v>
                </c:pt>
                <c:pt idx="6">
                  <c:v>MBMA</c:v>
                </c:pt>
                <c:pt idx="7">
                  <c:v>Pegadaian</c:v>
                </c:pt>
                <c:pt idx="8">
                  <c:v>SMF</c:v>
                </c:pt>
                <c:pt idx="9">
                  <c:v>Samudera sukuk</c:v>
                </c:pt>
                <c:pt idx="10">
                  <c:v>Other bonds</c:v>
                </c:pt>
                <c:pt idx="11">
                  <c:v>Cash / MM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11.92</c:v>
                </c:pt>
                <c:pt idx="1">
                  <c:v>11.56</c:v>
                </c:pt>
                <c:pt idx="2">
                  <c:v>11.17</c:v>
                </c:pt>
                <c:pt idx="3">
                  <c:v>9.73</c:v>
                </c:pt>
                <c:pt idx="4">
                  <c:v>7.17</c:v>
                </c:pt>
                <c:pt idx="5">
                  <c:v>5.63</c:v>
                </c:pt>
                <c:pt idx="6">
                  <c:v>5.44</c:v>
                </c:pt>
                <c:pt idx="7">
                  <c:v>5.19</c:v>
                </c:pt>
                <c:pt idx="8">
                  <c:v>3.59</c:v>
                </c:pt>
                <c:pt idx="9">
                  <c:v>2.15</c:v>
                </c:pt>
                <c:pt idx="10">
                  <c:v>18.91</c:v>
                </c:pt>
                <c:pt idx="11">
                  <c:v>7.54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E1A-AC42-861C-9256712CE7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0000000000000027E-2"/>
          <c:y val="3.0000000000000027E-2"/>
          <c:w val="0.94"/>
          <c:h val="0.9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 (%)</c:v>
                </c:pt>
              </c:strCache>
            </c:strRef>
          </c:tx>
          <c:dPt>
            <c:idx val="0"/>
            <c:bubble3D val="0"/>
            <c:spPr>
              <a:solidFill>
                <a:srgbClr val="0070C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1DA0-584A-84E3-97C7BE8E089C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1DA0-584A-84E3-97C7BE8E089C}"/>
              </c:ext>
            </c:extLst>
          </c:dPt>
          <c:dPt>
            <c:idx val="2"/>
            <c:bubble3D val="0"/>
            <c:spPr>
              <a:solidFill>
                <a:srgbClr val="0070C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1DA0-584A-84E3-97C7BE8E089C}"/>
              </c:ext>
            </c:extLst>
          </c:dPt>
          <c:dPt>
            <c:idx val="3"/>
            <c:bubble3D val="0"/>
            <c:spPr>
              <a:solidFill>
                <a:srgbClr val="0070C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1DA0-584A-84E3-97C7BE8E089C}"/>
              </c:ext>
            </c:extLst>
          </c:dPt>
          <c:dPt>
            <c:idx val="4"/>
            <c:bubble3D val="0"/>
            <c:spPr>
              <a:solidFill>
                <a:srgbClr val="0070C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1DA0-584A-84E3-97C7BE8E089C}"/>
              </c:ext>
            </c:extLst>
          </c:dPt>
          <c:dPt>
            <c:idx val="5"/>
            <c:bubble3D val="0"/>
            <c:spPr>
              <a:solidFill>
                <a:srgbClr val="0070C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1DA0-584A-84E3-97C7BE8E089C}"/>
              </c:ext>
            </c:extLst>
          </c:dPt>
          <c:dPt>
            <c:idx val="6"/>
            <c:bubble3D val="0"/>
            <c:spPr>
              <a:solidFill>
                <a:srgbClr val="0070C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1DA0-584A-84E3-97C7BE8E089C}"/>
              </c:ext>
            </c:extLst>
          </c:dPt>
          <c:dPt>
            <c:idx val="7"/>
            <c:bubble3D val="0"/>
            <c:spPr>
              <a:solidFill>
                <a:srgbClr val="0070C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1DA0-584A-84E3-97C7BE8E089C}"/>
              </c:ext>
            </c:extLst>
          </c:dPt>
          <c:dPt>
            <c:idx val="8"/>
            <c:bubble3D val="0"/>
            <c:spPr>
              <a:solidFill>
                <a:srgbClr val="0070C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1DA0-584A-84E3-97C7BE8E089C}"/>
              </c:ext>
            </c:extLst>
          </c:dPt>
          <c:dPt>
            <c:idx val="9"/>
            <c:bubble3D val="0"/>
            <c:spPr>
              <a:solidFill>
                <a:srgbClr val="002060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3-1DA0-584A-84E3-97C7BE8E089C}"/>
              </c:ext>
            </c:extLst>
          </c:dPt>
          <c:dPt>
            <c:idx val="10"/>
            <c:bubble3D val="0"/>
            <c:spPr>
              <a:solidFill>
                <a:srgbClr val="A6A6A6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5-1DA0-584A-84E3-97C7BE8E089C}"/>
              </c:ext>
            </c:extLst>
          </c:dPt>
          <c:cat>
            <c:strRef>
              <c:f>Sheet1!$A$2:$A$12</c:f>
              <c:strCache>
                <c:ptCount val="11"/>
                <c:pt idx="0">
                  <c:v>KB Bukopin TD</c:v>
                </c:pt>
                <c:pt idx="1">
                  <c:v>Bank Mega TD</c:v>
                </c:pt>
                <c:pt idx="2">
                  <c:v>BTN TD</c:v>
                </c:pt>
                <c:pt idx="3">
                  <c:v>BRI TD</c:v>
                </c:pt>
                <c:pt idx="4">
                  <c:v>CIMB Niaga TD</c:v>
                </c:pt>
                <c:pt idx="5">
                  <c:v>Maybank TD</c:v>
                </c:pt>
                <c:pt idx="6">
                  <c:v>CTBC TD</c:v>
                </c:pt>
                <c:pt idx="7">
                  <c:v>Allo Bank TD</c:v>
                </c:pt>
                <c:pt idx="8">
                  <c:v>BSI TD</c:v>
                </c:pt>
                <c:pt idx="9">
                  <c:v>INDON 2027</c:v>
                </c:pt>
                <c:pt idx="10">
                  <c:v>Other MM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9.91</c:v>
                </c:pt>
                <c:pt idx="1">
                  <c:v>9.86</c:v>
                </c:pt>
                <c:pt idx="2">
                  <c:v>9.74</c:v>
                </c:pt>
                <c:pt idx="3">
                  <c:v>9.7200000000000006</c:v>
                </c:pt>
                <c:pt idx="4">
                  <c:v>9.61</c:v>
                </c:pt>
                <c:pt idx="5">
                  <c:v>9.43</c:v>
                </c:pt>
                <c:pt idx="6">
                  <c:v>9.32</c:v>
                </c:pt>
                <c:pt idx="7">
                  <c:v>5.86</c:v>
                </c:pt>
                <c:pt idx="8">
                  <c:v>4.92</c:v>
                </c:pt>
                <c:pt idx="9">
                  <c:v>5.72</c:v>
                </c:pt>
                <c:pt idx="10">
                  <c:v>15.91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1DA0-584A-84E3-97C7BE8E0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3090F-680E-614C-8D79-2428543062E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EB8219-49FF-2E41-815A-E379C09F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9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 Market Indo very uncomfortable -&gt; Weakest currency even in SEA -&gt;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penyebabnya</a:t>
            </a:r>
            <a:r>
              <a:rPr lang="en-US" dirty="0"/>
              <a:t> </a:t>
            </a:r>
            <a:r>
              <a:rPr lang="en-US" dirty="0" err="1"/>
              <a:t>krn</a:t>
            </a:r>
            <a:r>
              <a:rPr lang="en-US" dirty="0"/>
              <a:t> UST Spread </a:t>
            </a:r>
            <a:r>
              <a:rPr lang="en-US" dirty="0" err="1"/>
              <a:t>membuat</a:t>
            </a:r>
            <a:r>
              <a:rPr lang="en-US" dirty="0"/>
              <a:t> relative attractiveness </a:t>
            </a:r>
            <a:r>
              <a:rPr lang="en-US" dirty="0" err="1"/>
              <a:t>indo</a:t>
            </a:r>
            <a:r>
              <a:rPr lang="en-US" dirty="0"/>
              <a:t> </a:t>
            </a:r>
            <a:r>
              <a:rPr lang="en-US" dirty="0" err="1"/>
              <a:t>berkurang</a:t>
            </a:r>
            <a:r>
              <a:rPr lang="en-US" dirty="0"/>
              <a:t>-&gt; </a:t>
            </a:r>
            <a:r>
              <a:rPr lang="en-US" dirty="0" err="1"/>
              <a:t>Ditambah</a:t>
            </a:r>
            <a:r>
              <a:rPr lang="en-US" dirty="0"/>
              <a:t> Foreign equity outflow $4.47Bn -&gt; </a:t>
            </a: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bertanya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catalyst + </a:t>
            </a:r>
            <a:r>
              <a:rPr lang="en-US" dirty="0" err="1"/>
              <a:t>indo</a:t>
            </a:r>
            <a:r>
              <a:rPr lang="en-US" dirty="0"/>
              <a:t> </a:t>
            </a:r>
            <a:r>
              <a:rPr lang="en-US" dirty="0" err="1"/>
              <a:t>sekarang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B8219-49FF-2E41-815A-E379C09F1C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42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notes: Hal </a:t>
            </a:r>
            <a:r>
              <a:rPr lang="en-US" dirty="0" err="1"/>
              <a:t>menarik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dilihat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credit rotation -&gt; Loan growth </a:t>
            </a:r>
            <a:r>
              <a:rPr lang="en-US" dirty="0" err="1"/>
              <a:t>itu</a:t>
            </a:r>
            <a:r>
              <a:rPr lang="en-US" dirty="0"/>
              <a:t> di 13%, driven by investment dan </a:t>
            </a:r>
            <a:r>
              <a:rPr lang="en-US" dirty="0" err="1"/>
              <a:t>jg</a:t>
            </a:r>
            <a:r>
              <a:rPr lang="en-US" dirty="0"/>
              <a:t> working capital (productive) -&gt; New credit </a:t>
            </a:r>
            <a:r>
              <a:rPr lang="en-US" dirty="0" err="1"/>
              <a:t>itu</a:t>
            </a:r>
            <a:r>
              <a:rPr lang="en-US" dirty="0"/>
              <a:t> 89% Bizz related -&gt; mortgage growth gak </a:t>
            </a:r>
            <a:r>
              <a:rPr lang="en-US" dirty="0" err="1"/>
              <a:t>sebesar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dan driven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construction builder dan real estate. Lalu, </a:t>
            </a:r>
            <a:r>
              <a:rPr lang="en-US" dirty="0" err="1"/>
              <a:t>apakah</a:t>
            </a:r>
            <a:r>
              <a:rPr lang="en-US" dirty="0"/>
              <a:t> banking system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balance sheet yang </a:t>
            </a:r>
            <a:r>
              <a:rPr lang="en-US" dirty="0" err="1"/>
              <a:t>kuat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credit cycle </a:t>
            </a:r>
            <a:r>
              <a:rPr lang="en-US" dirty="0" err="1"/>
              <a:t>ini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B8219-49FF-2E41-815A-E379C09F1C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7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meaningful loss-absorption capacity -&gt; Gross NPL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masih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sekitar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2.1%, essentially stable versus March -&gt;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Namun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yg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perlu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kita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highlight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ke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depan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adalah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loans growth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ini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grow faster than the deposits growth. Belum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menjadi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concern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besar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because liquidity buffers are still ample,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tapi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kalau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divergence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ini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terus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melebar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, funding competition dan cost of funds </a:t>
            </a:r>
            <a:r>
              <a:rPr lang="en-ID" b="0" i="0" u="none" strike="noStrike" dirty="0" err="1">
                <a:solidFill>
                  <a:srgbClr val="FFFFFF"/>
                </a:solidFill>
                <a:effectLst/>
                <a:latin typeface="-webkit-standard"/>
              </a:rPr>
              <a:t>bisa</a:t>
            </a:r>
            <a:r>
              <a:rPr lang="en-ID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 naik -&gt; liquid assets available relative to customer deposits.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B8219-49FF-2E41-815A-E379C09F1C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03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F7692-D0BF-93E1-909C-4E7603BD5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B751A-B839-B89D-B1F1-EF8352501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B04B9-DA51-0C5C-84F1-5149F15A1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0CFD-3E78-F14D-B45F-64BD22A17E0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63838-D73B-0177-BE1E-F060223B2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2382D-5257-7891-9412-A5AF7D73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D6F8-50A0-8C45-86AB-DC3C8EEBA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70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EFEE7-2F08-FAF1-1B31-DEFF8150A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8D69C-C848-0D16-1DD6-A16745FC9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5FF82-FF0A-C0CA-FD64-673606F10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0CFD-3E78-F14D-B45F-64BD22A17E0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7E66C-FA75-96D9-C2C5-C36B0B11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30CD9-E546-98E1-0E0F-7139EDCF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D6F8-50A0-8C45-86AB-DC3C8EEBA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68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720D-E9ED-F886-C762-1988C483C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A7F8A-5FC1-D265-7FDE-93DB0642B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043C-4C97-FE32-B1E2-2D3A23C83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0CFD-3E78-F14D-B45F-64BD22A17E0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6E5E8-B2D7-6E1C-DCE5-A6D3BBCC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DE801-3919-34A4-E54F-1448AE9A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D6F8-50A0-8C45-86AB-DC3C8EEBA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4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005A-77D3-E8FB-D58C-B99B8BAE1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3EA38-6E80-3AC4-DB11-B2623C72F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82C40-99EB-6C74-B65D-3546B8D17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97756-14C0-337D-9E42-071D3E85E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0CFD-3E78-F14D-B45F-64BD22A17E0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E310F-8954-A5D3-CA32-ECCA5BE7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E1D85-93E2-54F9-C9E1-3CE0E511A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D6F8-50A0-8C45-86AB-DC3C8EEBA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71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0D513-A6DF-2DA0-BBAB-3BE825DD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BCBB2-0578-A11F-3A14-891149CC3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6B3C6A-C714-9F64-B721-EF4CD9B24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3C3A4-D272-5428-F1BB-DD72447EFD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3C8C4-F01B-E70B-2D57-621098F5C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E74FE-3EE1-AABF-6C20-D677B9553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0CFD-3E78-F14D-B45F-64BD22A17E0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D84C70-8038-F23A-4B87-D2912EF46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47A143-6627-961A-1B12-E9DEFC5D2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D6F8-50A0-8C45-86AB-DC3C8EEBA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0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8E0F-8410-6191-2596-68A21FF6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06390-B68E-B76E-07F1-FC4C1A88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0CFD-3E78-F14D-B45F-64BD22A17E0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6337C-2985-ABE2-C010-6C480591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A865D-5C65-8DB7-6FA7-D8503A74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D6F8-50A0-8C45-86AB-DC3C8EEBA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5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78279E-0B83-293B-F314-B5A3A2DEA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0CFD-3E78-F14D-B45F-64BD22A17E0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8050AA-6F7B-0949-35A0-CFA7E54C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0F705-CED0-13ED-5D0F-B2104E94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D6F8-50A0-8C45-86AB-DC3C8EEBA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23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DC4CE-C968-BB3D-483C-42A98322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9A83B-FE61-7D87-EDF4-D9E04B6B1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AF4B5-E79A-8B4E-14D2-69C7366D5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6254C-D882-D6F2-1248-D31907BA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0CFD-3E78-F14D-B45F-64BD22A17E0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CB0F7-BC81-23EA-8948-5002D886F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C97F6-5E24-2AEC-7E70-8A7D3272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D6F8-50A0-8C45-86AB-DC3C8EEBA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0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9BFC6-2F8D-38B7-41DA-AF2F844DD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2A14E9-946F-2D0C-7CE2-CC0405EDB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AC576-6871-B647-D8FF-F74521899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8E932-DB6B-3454-3099-B08F2170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0CFD-3E78-F14D-B45F-64BD22A17E0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F6556-34D4-3C85-D150-34A37B32E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85435-53CF-E107-8D3E-6B7D0ABE7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D6F8-50A0-8C45-86AB-DC3C8EEBA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5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197F9-2AE8-CEA3-3D27-5FE9CF20B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540D77-CF95-32F1-A330-34658DFB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1D249-0864-C56E-0D1E-53D3AFC0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0CFD-3E78-F14D-B45F-64BD22A17E0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64013-CE5B-42DA-B215-DBF391243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19A1B-C0C2-F215-02A7-8AF6AFF4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D6F8-50A0-8C45-86AB-DC3C8EEBA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93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537FD5-9C5C-4C69-66E7-4F6B928F7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A47AF-BFDE-DB74-B082-D1AC37729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0A0E6-6021-087D-7A6F-33845A917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0CFD-3E78-F14D-B45F-64BD22A17E0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ACEDA-6026-FB62-D7A8-593A902F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4ADBC-2137-EA5E-64A2-6ECDA2D7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D6F8-50A0-8C45-86AB-DC3C8EEBA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8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9ED60-E438-BA2C-7AE8-133BD9517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AC153-BA00-431B-12A1-8833AB6EA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70832-0887-2137-B91B-6C97233FAA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20CFD-3E78-F14D-B45F-64BD22A17E0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765DA-7464-0E50-5D3F-9E96E96B4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24007-E902-00A7-B84C-02F097662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ED6F8-50A0-8C45-86AB-DC3C8EEBA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0CF68F-FB30-717E-980D-3D91710B3A3D}"/>
              </a:ext>
            </a:extLst>
          </p:cNvPr>
          <p:cNvSpPr txBox="1"/>
          <p:nvPr/>
        </p:nvSpPr>
        <p:spPr>
          <a:xfrm>
            <a:off x="704430" y="2700534"/>
            <a:ext cx="52581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3600" b="1" i="0" u="none" strike="noStrike" dirty="0">
                <a:solidFill>
                  <a:srgbClr val="002060"/>
                </a:solidFill>
                <a:effectLst/>
              </a:rPr>
              <a:t>The Indonesian Contrarian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DC267-2CB9-F5BB-ED15-8A4D3E56A93F}"/>
              </a:ext>
            </a:extLst>
          </p:cNvPr>
          <p:cNvSpPr txBox="1"/>
          <p:nvPr/>
        </p:nvSpPr>
        <p:spPr>
          <a:xfrm>
            <a:off x="704430" y="3280144"/>
            <a:ext cx="6707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0" i="0" u="none" strike="noStrike" dirty="0">
                <a:solidFill>
                  <a:srgbClr val="002060"/>
                </a:solidFill>
                <a:effectLst/>
              </a:rPr>
              <a:t>The market sees pressure, we sees opportunity – 29 September 2026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1026" name="Picture 2" descr="🚨🇵🇹 Nuno Mendes: “Pressure! What Pressure?”">
            <a:extLst>
              <a:ext uri="{FF2B5EF4-FFF2-40B4-BE49-F238E27FC236}">
                <a16:creationId xmlns:a16="http://schemas.microsoft.com/office/drawing/2014/main" id="{6BBA16BE-0E49-BE4C-662C-39F5DA0A8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795" y="1619619"/>
            <a:ext cx="3262140" cy="332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169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110276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A838E"/>
                </a:solidFill>
                <a:latin typeface="Calibri"/>
              </a:rPr>
              <a:t>MACRO BACKDROP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420624"/>
            <a:ext cx="1102766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 dirty="0">
                <a:solidFill>
                  <a:srgbClr val="002060"/>
                </a:solidFill>
                <a:latin typeface="Calibri"/>
              </a:rPr>
              <a:t>External Pressure Remains the Main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 dirty="0">
                <a:solidFill>
                  <a:srgbClr val="30343B"/>
                </a:solidFill>
                <a:latin typeface="Calibri"/>
              </a:rPr>
              <a:t>IDR weakness and elevated US yields remain the key external headwinds, while domestic bond pricing has been relatively resilient.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38251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7A838E"/>
                </a:solidFill>
                <a:latin typeface="Calibri"/>
              </a:rPr>
              <a:t>Source: Bloomberg; internal calculations. Month-end series use the last valid observation in each month (Sep 2026: 28 Sep; foreign flow month-to-date to 25 Sep). FX is inverted, so higher = stronger local currency. Foreign flow = net foreign buy/sell on IDX equities.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A838E"/>
                </a:solidFill>
                <a:latin typeface="Calibri"/>
              </a:rPr>
              <a:t>|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408176"/>
            <a:ext cx="11027664" cy="2615184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1296219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98448"/>
            <a:ext cx="12962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ASEAN FX REGIME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4944" y="1591056"/>
          <a:ext cx="10808208" cy="234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345905" y="3248387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IDR −13.8% vs USD since Sep 2023: the weakest of the five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4334256"/>
            <a:ext cx="5760720" cy="1883663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224528"/>
            <a:ext cx="1113200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224528"/>
            <a:ext cx="111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RATES REGIME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94944" y="4517136"/>
          <a:ext cx="5541264" cy="1609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Rectangle 15"/>
          <p:cNvSpPr/>
          <p:nvPr/>
        </p:nvSpPr>
        <p:spPr>
          <a:xfrm>
            <a:off x="4718303" y="4608576"/>
            <a:ext cx="0" cy="146304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7" y="479145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Calibri"/>
              </a:rPr>
              <a:t>IndoGB – UST spread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7" y="5009126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2060"/>
                </a:solidFill>
                <a:latin typeface="Calibri"/>
              </a:rPr>
              <a:t>190bp</a:t>
            </a:r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s</a:t>
            </a:r>
            <a:endParaRPr sz="2400" b="1" i="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64607" y="5431536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narrowest month-end since Sep 2023 (234bp then)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56831" y="4334256"/>
            <a:ext cx="4956048" cy="1883663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03136" y="4224528"/>
            <a:ext cx="1570509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03136" y="4224528"/>
            <a:ext cx="157050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FOREIGN EQUITY FLOW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766559" y="4517136"/>
          <a:ext cx="4736592" cy="1609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9901657" y="5366140"/>
            <a:ext cx="14593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 dirty="0">
                <a:solidFill>
                  <a:srgbClr val="E97132"/>
                </a:solidFill>
                <a:latin typeface="Calibri"/>
              </a:rPr>
              <a:t>YTD −USD4.47bn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1657" y="5640460"/>
            <a:ext cx="14593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 dirty="0">
                <a:solidFill>
                  <a:srgbClr val="595959"/>
                </a:solidFill>
                <a:latin typeface="Calibri"/>
              </a:rPr>
              <a:t>net selling in 6 of 9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110276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A838E"/>
                </a:solidFill>
                <a:latin typeface="Calibri"/>
              </a:rPr>
              <a:t>CREDIT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420624"/>
            <a:ext cx="1102766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 dirty="0">
                <a:solidFill>
                  <a:srgbClr val="002060"/>
                </a:solidFill>
                <a:latin typeface="Calibri"/>
              </a:rPr>
              <a:t>Indonesia’s Credit Cycle Is Rotating Toward Productive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 dirty="0">
                <a:solidFill>
                  <a:srgbClr val="30343B"/>
                </a:solidFill>
                <a:latin typeface="Calibri"/>
              </a:rPr>
              <a:t>Incremental lending is increasingly going to investment and working capital rather than household borrowing.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38251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7A838E"/>
                </a:solidFill>
                <a:latin typeface="Calibri"/>
              </a:rPr>
              <a:t>Source: Bank Indonesia (bank credit by loan purpose and by sector, Aug 2026); internal calculations. Aug 2025 values are implied from reported Aug 2026 outstanding and YoY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A838E"/>
                </a:solidFill>
                <a:latin typeface="Calibri"/>
              </a:rPr>
              <a:t>|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408176"/>
            <a:ext cx="6492240" cy="4809744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1846040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98448"/>
            <a:ext cx="18460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LOAN GROWTH BY PURPOSE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4944" y="1591056"/>
          <a:ext cx="6272783" cy="4535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4105755" y="2271003"/>
            <a:ext cx="0" cy="3401933"/>
          </a:xfrm>
          <a:prstGeom prst="rect">
            <a:avLst/>
          </a:prstGeom>
          <a:noFill/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78907" y="5398617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dirty="0">
                <a:solidFill>
                  <a:srgbClr val="595959"/>
                </a:solidFill>
                <a:latin typeface="Calibri"/>
              </a:rPr>
              <a:t>Banking system credit growth: +13.3%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88352" y="1408176"/>
            <a:ext cx="4224528" cy="1847088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34656" y="1298448"/>
            <a:ext cx="1768729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34656" y="1298448"/>
            <a:ext cx="176872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WHERE NEW CREDIT WENT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498079" y="1591056"/>
          <a:ext cx="4005072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ectangle 16"/>
          <p:cNvSpPr/>
          <p:nvPr/>
        </p:nvSpPr>
        <p:spPr>
          <a:xfrm>
            <a:off x="7578181" y="2286000"/>
            <a:ext cx="3427872" cy="0"/>
          </a:xfrm>
          <a:prstGeom prst="rect">
            <a:avLst/>
          </a:prstGeom>
          <a:noFill/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78181" y="2286000"/>
            <a:ext cx="0" cy="64008"/>
          </a:xfrm>
          <a:prstGeom prst="rect">
            <a:avLst/>
          </a:prstGeom>
          <a:noFill/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006053" y="2286000"/>
            <a:ext cx="0" cy="64008"/>
          </a:xfrm>
          <a:prstGeom prst="rect">
            <a:avLst/>
          </a:prstGeom>
          <a:noFill/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78181" y="2048256"/>
            <a:ext cx="34278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89% business-related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5770" y="288584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595959"/>
                </a:solidFill>
                <a:latin typeface="Calibri"/>
              </a:rPr>
              <a:t>Consumer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88352" y="3566160"/>
            <a:ext cx="4224528" cy="2194560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34656" y="3456432"/>
            <a:ext cx="1452499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34656" y="3456432"/>
            <a:ext cx="145249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BUILDERS VS BUYERS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498079" y="3749039"/>
          <a:ext cx="4005072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88352" y="5833872"/>
            <a:ext cx="42245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002060"/>
                </a:solidFill>
                <a:latin typeface="Calibri"/>
              </a:rPr>
              <a:t>Construction lending is growing almost 12x faster than household mortgages.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110276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A838E"/>
                </a:solidFill>
                <a:latin typeface="Calibri"/>
              </a:rPr>
              <a:t>BANKING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420624"/>
            <a:ext cx="1102766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02060"/>
                </a:solidFill>
                <a:latin typeface="Calibri"/>
              </a:rPr>
              <a:t>Banks Still Have the Balance Sheet to Fund the Credit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30343B"/>
                </a:solidFill>
                <a:latin typeface="Calibri"/>
              </a:rPr>
              <a:t>Credit growth is accelerating while capital, asset quality and liquidity buffers remain comfortably above regulatory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38251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7A838E"/>
                </a:solidFill>
                <a:latin typeface="Calibri"/>
              </a:rPr>
              <a:t>Sources: Bank Indonesia (Sep 2026 Monetary Policy Review); OJK (Aug 2026 Board of Commissioners Meeting; Banking Sector Update, Mar 2026); internal calculations. CAR, NPL and LCR: Jul 2026; AL/DPK, loan and deposit growth: Aug 2026. Minimums: AL/DPK 10% (OJK reference), LCR 100% (POJK 42/2015).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A838E"/>
                </a:solidFill>
                <a:latin typeface="Calibri"/>
              </a:rPr>
              <a:t>|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408176"/>
            <a:ext cx="5358384" cy="2103120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767969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98448"/>
            <a:ext cx="76796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CAPITAL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4944" y="1591056"/>
          <a:ext cx="5138928" cy="1828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548384" y="2011679"/>
            <a:ext cx="0" cy="1243584"/>
          </a:xfrm>
          <a:prstGeom prst="rect">
            <a:avLst/>
          </a:prstGeom>
          <a:noFill/>
          <a:ln w="19050">
            <a:solidFill>
              <a:srgbClr val="595959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3248" y="1819655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595959"/>
                </a:solidFill>
                <a:latin typeface="Calibri"/>
              </a:rPr>
              <a:t>Basel III minimum 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408176"/>
            <a:ext cx="5358384" cy="2103120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298448"/>
            <a:ext cx="1143889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298448"/>
            <a:ext cx="11438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ASSET QUALITY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364224" y="1591056"/>
          <a:ext cx="5138928" cy="1828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ectangle 16"/>
          <p:cNvSpPr/>
          <p:nvPr/>
        </p:nvSpPr>
        <p:spPr>
          <a:xfrm>
            <a:off x="585216" y="3840480"/>
            <a:ext cx="11027664" cy="2377439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730752"/>
            <a:ext cx="1734359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730752"/>
            <a:ext cx="173435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BALANCE-SHEET CAPACITY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39311" y="4078224"/>
            <a:ext cx="0" cy="2011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48271" y="4078224"/>
            <a:ext cx="0" cy="2011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57231" y="4078224"/>
            <a:ext cx="0" cy="2011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4078224"/>
            <a:ext cx="2633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0343B"/>
                </a:solidFill>
                <a:latin typeface="Calibri"/>
              </a:rPr>
              <a:t>Loan vs deposit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306824"/>
            <a:ext cx="263347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Aug 2026, % YoY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4553712"/>
            <a:ext cx="2246680" cy="2743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4553712"/>
            <a:ext cx="21003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553712"/>
            <a:ext cx="21003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Calibri"/>
              </a:rPr>
              <a:t>13.65%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" y="4919472"/>
            <a:ext cx="1800636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7" y="4919472"/>
            <a:ext cx="16543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Deposits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4919472"/>
            <a:ext cx="16543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Calibri"/>
              </a:rPr>
              <a:t>10.94%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5413248"/>
            <a:ext cx="263347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60"/>
                </a:solidFill>
                <a:latin typeface="Calibri"/>
              </a:rPr>
              <a:t>+2.71pp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779008"/>
            <a:ext cx="263347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loans outgrowing deposits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77055" y="4078224"/>
            <a:ext cx="2633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0343B"/>
                </a:solidFill>
                <a:latin typeface="Calibri"/>
              </a:rPr>
              <a:t>Liquid assets / deposits (AL/DPK)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77055" y="4306824"/>
            <a:ext cx="263347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Aug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77055" y="4645152"/>
            <a:ext cx="2633471" cy="310896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877055" y="4645152"/>
            <a:ext cx="2022506" cy="31089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77055" y="4645152"/>
            <a:ext cx="194935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23.04%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79" y="4572000"/>
            <a:ext cx="0" cy="457200"/>
          </a:xfrm>
          <a:prstGeom prst="rect">
            <a:avLst/>
          </a:prstGeom>
          <a:noFill/>
          <a:ln w="317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36592" y="504748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97132"/>
                </a:solidFill>
                <a:latin typeface="Calibri"/>
              </a:rPr>
              <a:t>Min. 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77055" y="5413248"/>
            <a:ext cx="263347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60"/>
                </a:solidFill>
                <a:latin typeface="Calibri"/>
              </a:rPr>
              <a:t>2.3x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77055" y="5779008"/>
            <a:ext cx="263347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the regulatory minimum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6015" y="4078224"/>
            <a:ext cx="2633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0343B"/>
                </a:solidFill>
                <a:latin typeface="Calibri"/>
              </a:rPr>
              <a:t>Liquidity coverage ratio (LCR)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86015" y="4306824"/>
            <a:ext cx="263347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Jul 2026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86015" y="4645152"/>
            <a:ext cx="2633471" cy="310896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986015" y="4645152"/>
            <a:ext cx="1975103" cy="31089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86015" y="4645152"/>
            <a:ext cx="190195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187.5%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9404" y="4572000"/>
            <a:ext cx="0" cy="457200"/>
          </a:xfrm>
          <a:prstGeom prst="rect">
            <a:avLst/>
          </a:prstGeom>
          <a:noFill/>
          <a:ln w="317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21116" y="504748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97132"/>
                </a:solidFill>
                <a:latin typeface="Calibri"/>
              </a:rPr>
              <a:t>Min. 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86015" y="5413248"/>
            <a:ext cx="263347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60"/>
                </a:solidFill>
                <a:latin typeface="Calibri"/>
              </a:rPr>
              <a:t>1.9x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86015" y="5779008"/>
            <a:ext cx="263347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the regulatory minimum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94976" y="4078224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0343B"/>
                </a:solidFill>
                <a:latin typeface="Calibri"/>
              </a:rPr>
              <a:t>KLM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94976" y="4306824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1st week Sep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94976" y="4608576"/>
            <a:ext cx="13350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Rp461.2tn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4976" y="5010912"/>
            <a:ext cx="13350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BI macroprudential liquidity incentives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110276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A838E"/>
                </a:solidFill>
                <a:latin typeface="Calibri"/>
              </a:rPr>
              <a:t>REAL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420624"/>
            <a:ext cx="1102766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02060"/>
                </a:solidFill>
                <a:latin typeface="Calibri"/>
              </a:rPr>
              <a:t>The Credit Expansion Is Showing Up in Real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30343B"/>
                </a:solidFill>
                <a:latin typeface="Calibri"/>
              </a:rPr>
              <a:t>Investment realisation is concentrating in capacity-building sectors rather than broad-based consumption.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38251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7A838E"/>
                </a:solidFill>
                <a:latin typeface="Calibri"/>
              </a:rPr>
              <a:t>Source: BKPM (1H26 investment realisation by sector; 1H26 downstreaming investment by commodity); Princeton Digital Group; BP Batam / PLN Batam public announcements; internal calculations. Other minerals (Rp8.2tn) not shown.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A838E"/>
                </a:solidFill>
                <a:latin typeface="Calibri"/>
              </a:rPr>
              <a:t>|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408176"/>
            <a:ext cx="11027664" cy="2560320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2361531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98448"/>
            <a:ext cx="2361531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INVESTMENT REALISATION BY SECTOR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4944" y="1591056"/>
          <a:ext cx="10808208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994117" y="1673351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Calibri"/>
              </a:rPr>
              <a:t>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117" y="1979675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+11.9%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94117" y="2336291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+33.0%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4117" y="269290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+14.4%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94117" y="304952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6A6A6"/>
                </a:solidFill>
                <a:latin typeface="Calibri"/>
              </a:rPr>
              <a:t>+2.7%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94117" y="340613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6A6A6"/>
                </a:solidFill>
                <a:latin typeface="Calibri"/>
              </a:rPr>
              <a:t>−7.2%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160934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E97132"/>
                </a:solidFill>
                <a:latin typeface="Calibri"/>
              </a:rPr>
              <a:t>■ </a:t>
            </a:r>
            <a:r>
              <a:rPr sz="1050" b="1">
                <a:solidFill>
                  <a:srgbClr val="595959"/>
                </a:solidFill>
                <a:latin typeface="Calibri"/>
              </a:rPr>
              <a:t>1H25      </a:t>
            </a:r>
            <a:r>
              <a:rPr sz="1050" b="1">
                <a:solidFill>
                  <a:srgbClr val="002060"/>
                </a:solidFill>
                <a:latin typeface="Calibri"/>
              </a:rPr>
              <a:t>■ </a:t>
            </a:r>
            <a:r>
              <a:rPr sz="1050" b="1">
                <a:solidFill>
                  <a:srgbClr val="595959"/>
                </a:solidFill>
                <a:latin typeface="Calibri"/>
              </a:rPr>
              <a:t>1H26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4279392"/>
            <a:ext cx="4846320" cy="1609344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169663"/>
            <a:ext cx="2342094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169663"/>
            <a:ext cx="234209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MINERAL DOWNSTREAMING DRIVERS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94944" y="4462272"/>
          <a:ext cx="4626864" cy="1335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68096" y="5616061"/>
            <a:ext cx="448055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E97132"/>
                </a:solidFill>
                <a:latin typeface="Calibri"/>
              </a:rPr>
              <a:t>Bauxite became the largest downstreaming commodity in Q2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42431" y="4279392"/>
            <a:ext cx="5870448" cy="1609344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88736" y="4169663"/>
            <a:ext cx="2061870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88736" y="4169663"/>
            <a:ext cx="206187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PUBLIC DATA-CENTRE BUILDOUT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9016" y="4498848"/>
            <a:ext cx="0" cy="128016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01784" y="4498848"/>
            <a:ext cx="0" cy="128016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25312" y="470001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2060"/>
                </a:solidFill>
                <a:latin typeface="Calibri"/>
              </a:rPr>
              <a:t>PDG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5047488"/>
            <a:ext cx="95097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E97132"/>
                </a:solidFill>
                <a:latin typeface="Calibri"/>
              </a:rPr>
              <a:t>120 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544982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JC3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5047488"/>
            <a:ext cx="95097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E97132"/>
                </a:solidFill>
                <a:latin typeface="Calibri"/>
              </a:rPr>
              <a:t>240 MW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544982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JC4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70001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2060"/>
                </a:solidFill>
                <a:latin typeface="Calibri"/>
              </a:rPr>
              <a:t>DayOne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085623"/>
            <a:ext cx="11887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000" b="1" dirty="0">
                <a:solidFill>
                  <a:srgbClr val="E97132"/>
                </a:solidFill>
                <a:latin typeface="Calibri"/>
              </a:rPr>
              <a:t>~</a:t>
            </a:r>
            <a:r>
              <a:rPr sz="2000" b="1" i="0" dirty="0">
                <a:solidFill>
                  <a:srgbClr val="E97132"/>
                </a:solidFill>
                <a:latin typeface="Calibri"/>
              </a:rPr>
              <a:t>450 MW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44982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Batam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4700016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2060"/>
                </a:solidFill>
                <a:latin typeface="Calibri"/>
              </a:rPr>
              <a:t>Equator Gate / Range IDC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5047488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E97132"/>
                </a:solidFill>
                <a:latin typeface="Calibri"/>
              </a:rPr>
              <a:t>Rp88tn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93808" y="5449824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announced investment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5952744"/>
            <a:ext cx="1102766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595959"/>
                </a:solidFill>
                <a:latin typeface="Calibri"/>
              </a:rPr>
              <a:t>Mineral downstreaming and business-sector investment use different BKPM classifications and should not be reconciled directly. Public data-centre projects illustrate the buildout and do not reconcile to the Rp114tn Other Services realisation, which is not a pure data-centre series.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110276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A838E"/>
                </a:solidFill>
                <a:latin typeface="Calibri"/>
              </a:rPr>
              <a:t>SECTOR MONETISATION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420624"/>
            <a:ext cx="1102766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02060"/>
                </a:solidFill>
                <a:latin typeface="Calibri"/>
              </a:rPr>
              <a:t>Banks Are Monetising the Credit Cycle Before the Builders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30343B"/>
                </a:solidFill>
                <a:latin typeface="Calibri"/>
              </a:rPr>
              <a:t>Real investment is already accelerating, but listed-company earnings have not caught up evenly — putting the financiers ahead of the builders.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38251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7A838E"/>
                </a:solidFill>
                <a:latin typeface="Calibri"/>
              </a:rPr>
              <a:t>Source: Bloomberg (IDX sector BEst forward P/E and forward EPS, 25 Sep 2026); internal calculations. P/E vs its own trailing three-year median; EPS revision 25 Jun–25 Sep 2026. Stage sequence: BCA WM Research judgement.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364224"/>
            <a:ext cx="76809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A838E"/>
                </a:solidFill>
                <a:latin typeface="Calibri"/>
              </a:rPr>
              <a:t>|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408176"/>
            <a:ext cx="11027664" cy="1938528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1926615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98448"/>
            <a:ext cx="192661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VALUATION VS OWN HISTORY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4944" y="1591056"/>
          <a:ext cx="10808208" cy="1664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12848" y="3511296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Calibri"/>
              </a:rPr>
              <a:t>FINANCING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369417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Banks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3739896"/>
            <a:ext cx="585216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47488" y="3511296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595959"/>
                </a:solidFill>
                <a:latin typeface="Calibri"/>
              </a:rPr>
              <a:t>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369417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30343B"/>
                </a:solidFill>
                <a:latin typeface="Calibri"/>
              </a:rPr>
              <a:t>Industrials / Materials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23759" y="3739896"/>
            <a:ext cx="585216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82127" y="3511296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595959"/>
                </a:solidFill>
                <a:latin typeface="Calibri"/>
              </a:rPr>
              <a:t>OPERATING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369417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30343B"/>
                </a:solidFill>
                <a:latin typeface="Calibri"/>
              </a:rPr>
              <a:t>Infrastructure / Digital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63931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Credit → Capex → Execution → Earnings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4114800"/>
            <a:ext cx="11027664" cy="2103120"/>
          </a:xfrm>
          <a:prstGeom prst="rect">
            <a:avLst/>
          </a:prstGeom>
          <a:noFill/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005072"/>
            <a:ext cx="1416919" cy="23774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047000"/>
            <a:ext cx="1416919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FORWARD EARNINGS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23" name="Char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90831"/>
              </p:ext>
            </p:extLst>
          </p:nvPr>
        </p:nvGraphicFramePr>
        <p:xfrm>
          <a:off x="694944" y="4297680"/>
          <a:ext cx="10808208" cy="1828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56032"/>
            <a:ext cx="110276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A838E"/>
                </a:solidFill>
                <a:latin typeface="Calibri"/>
              </a:rPr>
              <a:t> PORTFOLIO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420624"/>
            <a:ext cx="1102766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02060"/>
                </a:solidFill>
                <a:latin typeface="Calibri"/>
              </a:rPr>
              <a:t>Three Ways to Express the Same Macro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86968"/>
            <a:ext cx="11027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30343B"/>
                </a:solidFill>
                <a:latin typeface="Calibri"/>
              </a:rPr>
              <a:t>Growth, carry and liquidity across three different portfolio exposures.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38251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7A838E"/>
                </a:solidFill>
                <a:latin typeface="Calibri"/>
              </a:rPr>
              <a:t>Source: Batavia Dana Saham factsheet, 31 Aug 2026; Eastspring Investments Yield Discovery Kelas A factsheet, 31 Aug 2026; Manulife Liquid Fund USD Kelas A factsheet, Aug 2026; internal calculations.</a:t>
            </a:r>
          </a:p>
          <a:p>
            <a:pPr>
              <a:lnSpc>
                <a:spcPct val="100000"/>
              </a:lnSpc>
            </a:pPr>
            <a:r>
              <a:rPr sz="800" i="1">
                <a:solidFill>
                  <a:srgbClr val="7A838E"/>
                </a:solidFill>
                <a:latin typeface="Calibri"/>
              </a:rPr>
              <a:t>Named holdings are each fund’s published top 10; “Other” is the rest of the reported asset class, which the factsheets do not itemise. TD = time deposit; MM = money market.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364224"/>
            <a:ext cx="76809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7A838E"/>
                </a:solidFill>
                <a:latin typeface="Calibri"/>
              </a:rPr>
              <a:t>| </a:t>
            </a:r>
            <a:r>
              <a:rPr lang="en-US" sz="1100" b="0" i="0" dirty="0">
                <a:solidFill>
                  <a:srgbClr val="7A838E"/>
                </a:solidFill>
                <a:latin typeface="Calibri"/>
              </a:rPr>
              <a:t>7</a:t>
            </a:r>
            <a:endParaRPr sz="1100" b="0" i="0" dirty="0">
              <a:solidFill>
                <a:srgbClr val="7A838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69664" y="1353312"/>
            <a:ext cx="0" cy="4178807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28432" y="1353312"/>
            <a:ext cx="0" cy="4178807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40649" y="1371600"/>
            <a:ext cx="1599261" cy="25603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40649" y="1371600"/>
            <a:ext cx="159926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DOMESTIC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00784"/>
            <a:ext cx="3310128" cy="5120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30343B"/>
                </a:solidFill>
                <a:latin typeface="Calibri"/>
              </a:rPr>
              <a:t>Batavia Dana Saham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231136"/>
            <a:ext cx="33101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Factsheet 31 Aug 2026  |  IDR Equity Fund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1316736" y="2487168"/>
          <a:ext cx="1847088" cy="184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16736" y="3163824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2060"/>
                </a:solidFill>
                <a:latin typeface="Calibri"/>
              </a:rPr>
              <a:t>93.34%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493008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595959"/>
                </a:solidFill>
                <a:latin typeface="Calibri"/>
              </a:rPr>
              <a:t>EQUITY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4434840"/>
            <a:ext cx="91440" cy="91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BBCA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389120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8.61%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" y="4622292"/>
            <a:ext cx="91440" cy="91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576572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BBRI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576572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5.09%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" y="4809744"/>
            <a:ext cx="91440" cy="91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764024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BBNI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764024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3.82%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" y="4997196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951476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MDKA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951476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4.46%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" y="5184648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138928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AMMN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138928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4.22%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" y="5372099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326379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ANTM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326379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4.15%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13432" y="4434840"/>
            <a:ext cx="9144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59736" y="4389120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TLKM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19856" y="4389120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5.09%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13432" y="4622292"/>
            <a:ext cx="9144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59736" y="4576572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ASII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9856" y="4576572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3.37%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13432" y="4809744"/>
            <a:ext cx="9144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59736" y="4764024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MIKA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19856" y="4764024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2.82%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13432" y="4997196"/>
            <a:ext cx="91440" cy="9144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59736" y="4951476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Other equities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9856" y="4951476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30343B"/>
                </a:solidFill>
                <a:latin typeface="Calibri"/>
              </a:rPr>
              <a:t>51.71%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13432" y="5184648"/>
            <a:ext cx="91440" cy="914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459736" y="5138928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Mega Syariah MM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19856" y="5138928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30343B"/>
                </a:solidFill>
                <a:latin typeface="Calibri"/>
              </a:rPr>
              <a:t>3.78%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13432" y="5372099"/>
            <a:ext cx="91440" cy="914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59736" y="5326379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Other MM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19856" y="5326379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30343B"/>
                </a:solidFill>
                <a:latin typeface="Calibri"/>
              </a:rPr>
              <a:t>2.88%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5777" y="1371600"/>
            <a:ext cx="1026541" cy="25603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85777" y="1371600"/>
            <a:ext cx="102654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IDR CARRY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43984" y="1700784"/>
            <a:ext cx="3310128" cy="5120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30343B"/>
                </a:solidFill>
                <a:latin typeface="Calibri"/>
              </a:rPr>
              <a:t>Eastspring Investments</a:t>
            </a:r>
          </a:p>
          <a:p>
            <a:pPr algn="ctr">
              <a:lnSpc>
                <a:spcPct val="95000"/>
              </a:lnSpc>
            </a:pPr>
            <a:r>
              <a:rPr sz="1600" b="1">
                <a:solidFill>
                  <a:srgbClr val="30343B"/>
                </a:solidFill>
                <a:latin typeface="Calibri"/>
              </a:rPr>
              <a:t>Yield Discovery Kelas 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43984" y="2231136"/>
            <a:ext cx="33101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Factsheet 31 Aug 2026  |  IDR Fixed Income Fund</a:t>
            </a:r>
          </a:p>
        </p:txBody>
      </p:sp>
      <p:graphicFrame>
        <p:nvGraphicFramePr>
          <p:cNvPr id="56" name="Chart 55"/>
          <p:cNvGraphicFramePr>
            <a:graphicFrameLocks noGrp="1"/>
          </p:cNvGraphicFramePr>
          <p:nvPr/>
        </p:nvGraphicFramePr>
        <p:xfrm>
          <a:off x="5175504" y="2487168"/>
          <a:ext cx="1847088" cy="184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5175504" y="3163824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97132"/>
                </a:solidFill>
                <a:latin typeface="Calibri"/>
              </a:rPr>
              <a:t>92.46%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75504" y="3493008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595959"/>
                </a:solidFill>
                <a:latin typeface="Calibri"/>
              </a:rPr>
              <a:t>BONDS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43984" y="4434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90288" y="4389120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FR0101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50408" y="4389120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11.92%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43984" y="4622292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90288" y="4576572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FR0104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4576572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11.56%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43984" y="4809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90288" y="4764024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FR0059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4764024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11.17%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43984" y="4997196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90288" y="4951476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FR0087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0408" y="4951476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9.73%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43984" y="5184648"/>
            <a:ext cx="91440" cy="91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90288" y="5138928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IJE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5138928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7.17%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43984" y="5372099"/>
            <a:ext cx="91440" cy="91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90288" y="5326379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Adaro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5326379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5.63%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72200" y="4434840"/>
            <a:ext cx="91440" cy="91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318504" y="4389120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MBMA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78624" y="4389120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5.44%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72200" y="4622292"/>
            <a:ext cx="91440" cy="91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18504" y="4576572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Pegadaian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78624" y="4576572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5.19%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72200" y="4809744"/>
            <a:ext cx="91440" cy="91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318504" y="4764024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SMF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78624" y="4764024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3.59%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72200" y="4997196"/>
            <a:ext cx="91440" cy="91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318504" y="4951476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Samudera sukuk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78624" y="4951476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2.15%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72200" y="5184648"/>
            <a:ext cx="91440" cy="9144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18504" y="5138928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Other bonds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78624" y="5138928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30343B"/>
                </a:solidFill>
                <a:latin typeface="Calibri"/>
              </a:rPr>
              <a:t>18.91%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72200" y="5372099"/>
            <a:ext cx="91440" cy="914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318504" y="5326379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Cash / MM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78624" y="5326379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30343B"/>
                </a:solidFill>
                <a:latin typeface="Calibri"/>
              </a:rPr>
              <a:t>7.54%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3578" y="1371600"/>
            <a:ext cx="1268476" cy="25603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323578" y="1371600"/>
            <a:ext cx="12684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USD LIQUIDITY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02752" y="1700784"/>
            <a:ext cx="3310128" cy="5120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sz="1600" b="1" i="0" dirty="0">
                <a:solidFill>
                  <a:srgbClr val="30343B"/>
                </a:solidFill>
                <a:latin typeface="Calibri"/>
              </a:rPr>
              <a:t>Manulife Liquid Fund USD</a:t>
            </a:r>
          </a:p>
          <a:p>
            <a:pPr algn="ctr">
              <a:lnSpc>
                <a:spcPct val="95000"/>
              </a:lnSpc>
            </a:pPr>
            <a:r>
              <a:rPr sz="1600" b="1" dirty="0" err="1">
                <a:solidFill>
                  <a:srgbClr val="30343B"/>
                </a:solidFill>
                <a:latin typeface="Calibri"/>
              </a:rPr>
              <a:t>Kelas</a:t>
            </a:r>
            <a:r>
              <a:rPr sz="1600" b="1" dirty="0">
                <a:solidFill>
                  <a:srgbClr val="30343B"/>
                </a:solidFill>
                <a:latin typeface="Calibri"/>
              </a:rPr>
              <a:t> 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02752" y="2231136"/>
            <a:ext cx="331012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dirty="0">
                <a:solidFill>
                  <a:srgbClr val="595959"/>
                </a:solidFill>
                <a:latin typeface="Calibri"/>
              </a:rPr>
              <a:t>Factsheet </a:t>
            </a:r>
            <a:r>
              <a:rPr lang="en-US" sz="1000" b="0" i="0" dirty="0">
                <a:solidFill>
                  <a:srgbClr val="595959"/>
                </a:solidFill>
                <a:latin typeface="Calibri"/>
              </a:rPr>
              <a:t>31 </a:t>
            </a:r>
            <a:r>
              <a:rPr sz="1000" b="0" i="0" dirty="0">
                <a:solidFill>
                  <a:srgbClr val="595959"/>
                </a:solidFill>
                <a:latin typeface="Calibri"/>
              </a:rPr>
              <a:t>Aug 2026  |  USD Money Market Fund</a:t>
            </a:r>
          </a:p>
        </p:txBody>
      </p:sp>
      <p:graphicFrame>
        <p:nvGraphicFramePr>
          <p:cNvPr id="99" name="Chart 98"/>
          <p:cNvGraphicFramePr>
            <a:graphicFrameLocks noGrp="1"/>
          </p:cNvGraphicFramePr>
          <p:nvPr/>
        </p:nvGraphicFramePr>
        <p:xfrm>
          <a:off x="9034272" y="2487168"/>
          <a:ext cx="1847088" cy="184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0" name="TextBox 99"/>
          <p:cNvSpPr txBox="1"/>
          <p:nvPr/>
        </p:nvSpPr>
        <p:spPr>
          <a:xfrm>
            <a:off x="9034272" y="3163824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70C0"/>
                </a:solidFill>
                <a:latin typeface="Calibri"/>
              </a:rPr>
              <a:t>100.00%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34272" y="3493008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595959"/>
                </a:solidFill>
                <a:latin typeface="Calibri"/>
              </a:rPr>
              <a:t>USD MM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02752" y="4434840"/>
            <a:ext cx="9144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449056" y="4389120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KB Bukopin TD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409176" y="4389120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9.91%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302752" y="4622292"/>
            <a:ext cx="9144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49056" y="4576572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Bank Mega TD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409176" y="4576572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9.86%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302752" y="4809744"/>
            <a:ext cx="9144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449056" y="4764024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BTN TD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409176" y="4764024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9.74%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302752" y="4997196"/>
            <a:ext cx="9144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449056" y="4951476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BRI TD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09176" y="4951476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9.72%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302752" y="5184648"/>
            <a:ext cx="9144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449056" y="5138928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CIMB Niaga TD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409176" y="5138928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9.61%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302752" y="5372099"/>
            <a:ext cx="9144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449056" y="5326379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Maybank TD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09176" y="5326379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9.43%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030968" y="4434840"/>
            <a:ext cx="9144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177272" y="4389120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CTBC TD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137392" y="4389120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9.32%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30968" y="4622292"/>
            <a:ext cx="9144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177272" y="4576572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Allo Bank TD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37392" y="4576572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5.86%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030968" y="4809744"/>
            <a:ext cx="91440" cy="914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177272" y="4764024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BSI TD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137392" y="4764024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4.92%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030968" y="4997196"/>
            <a:ext cx="91440" cy="9144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177272" y="4951476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INDON 2027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137392" y="4951476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30343B"/>
                </a:solidFill>
                <a:latin typeface="Calibri"/>
              </a:rPr>
              <a:t>5.72%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030968" y="5184648"/>
            <a:ext cx="91440" cy="9144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177272" y="5138928"/>
            <a:ext cx="960120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0343B"/>
                </a:solidFill>
                <a:latin typeface="Calibri"/>
              </a:rPr>
              <a:t>Other MM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137392" y="5138928"/>
            <a:ext cx="475488" cy="1874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30343B"/>
                </a:solidFill>
                <a:latin typeface="Calibri"/>
              </a:rPr>
              <a:t>15.91%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85216" y="5669280"/>
            <a:ext cx="11027664" cy="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585216" y="577900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002060"/>
                </a:solidFill>
                <a:latin typeface="Calibri"/>
              </a:rPr>
              <a:t>DOMESTIC GROWTH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85216" y="6053328"/>
            <a:ext cx="33101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Upside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3122143" y="5907024"/>
            <a:ext cx="2420772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4443984" y="577900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002060"/>
                </a:solidFill>
                <a:latin typeface="Calibri"/>
              </a:rPr>
              <a:t>IDR CARRY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43984" y="6053328"/>
            <a:ext cx="33101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Income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6655181" y="5907024"/>
            <a:ext cx="2609342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8302752" y="577900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002060"/>
                </a:solidFill>
                <a:latin typeface="Calibri"/>
              </a:rPr>
              <a:t>USD LIQUIDITY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02752" y="6053328"/>
            <a:ext cx="33101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Protection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0CF68F-FB30-717E-980D-3D91710B3A3D}"/>
              </a:ext>
            </a:extLst>
          </p:cNvPr>
          <p:cNvSpPr txBox="1"/>
          <p:nvPr/>
        </p:nvSpPr>
        <p:spPr>
          <a:xfrm>
            <a:off x="1009230" y="2700534"/>
            <a:ext cx="2173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3600" b="1" i="0" u="none" strike="noStrike" dirty="0">
                <a:solidFill>
                  <a:srgbClr val="002060"/>
                </a:solidFill>
                <a:effectLst/>
                <a:latin typeface="-webkit-standard"/>
              </a:rPr>
              <a:t>Thank you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DC267-2CB9-F5BB-ED15-8A4D3E56A93F}"/>
              </a:ext>
            </a:extLst>
          </p:cNvPr>
          <p:cNvSpPr txBox="1"/>
          <p:nvPr/>
        </p:nvSpPr>
        <p:spPr>
          <a:xfrm>
            <a:off x="1009230" y="3280144"/>
            <a:ext cx="3471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0" i="0" u="none" strike="noStrike" dirty="0">
                <a:solidFill>
                  <a:srgbClr val="002060"/>
                </a:solidFill>
                <a:effectLst/>
                <a:latin typeface="-webkit-standard"/>
              </a:rPr>
              <a:t>Market update 29 September 2026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155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2379</TotalTime>
  <Words>1401</Words>
  <Application>Microsoft Macintosh PowerPoint</Application>
  <PresentationFormat>Widescreen</PresentationFormat>
  <Paragraphs>276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-webkit-standard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11</cp:revision>
  <dcterms:created xsi:type="dcterms:W3CDTF">2026-09-28T02:00:41Z</dcterms:created>
  <dcterms:modified xsi:type="dcterms:W3CDTF">2026-09-30T09:23:54Z</dcterms:modified>
</cp:coreProperties>
</file>