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8" r:id="rId2"/>
    <p:sldId id="267" r:id="rId3"/>
    <p:sldId id="263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113" d="100"/>
          <a:sy n="113" d="100"/>
        </p:scale>
        <p:origin x="65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Book2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Book2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Book2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Book2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Book2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Book2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Book2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Book2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Book2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Book2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Book2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Book2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Book2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D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CF-462B-B06A-2B2ADD12606F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FCF-462B-B06A-2B2ADD1260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Sheet1!$C$5:$L$5</c:f>
              <c:numCache>
                <c:formatCode>#,##0</c:formatCode>
                <c:ptCount val="10"/>
                <c:pt idx="0">
                  <c:v>4527.202132</c:v>
                </c:pt>
                <c:pt idx="1">
                  <c:v>1083.429397</c:v>
                </c:pt>
                <c:pt idx="2">
                  <c:v>2172.888353</c:v>
                </c:pt>
                <c:pt idx="3">
                  <c:v>971.4085482</c:v>
                </c:pt>
                <c:pt idx="4">
                  <c:v>2863.832298</c:v>
                </c:pt>
                <c:pt idx="5">
                  <c:v>2618.350384</c:v>
                </c:pt>
                <c:pt idx="6">
                  <c:v>630.8597505</c:v>
                </c:pt>
                <c:pt idx="7">
                  <c:v>224.0847655</c:v>
                </c:pt>
                <c:pt idx="8">
                  <c:v>-1674.505367</c:v>
                </c:pt>
                <c:pt idx="9">
                  <c:v>-1478.606675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CF-462B-B06A-2B2ADD126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sz="1200" b="1" dirty="0"/>
              <a:t>Net Debt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Net Debt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Sheet1!$C$4:$L$4</c:f>
              <c:numCache>
                <c:formatCode>#,##0</c:formatCode>
                <c:ptCount val="10"/>
                <c:pt idx="0">
                  <c:v>2520.674049</c:v>
                </c:pt>
                <c:pt idx="1">
                  <c:v>3430.445205</c:v>
                </c:pt>
                <c:pt idx="2">
                  <c:v>3184.765004</c:v>
                </c:pt>
                <c:pt idx="3">
                  <c:v>1918.68766</c:v>
                </c:pt>
                <c:pt idx="4">
                  <c:v>153.7316231</c:v>
                </c:pt>
                <c:pt idx="5">
                  <c:v>38.6300655</c:v>
                </c:pt>
                <c:pt idx="6">
                  <c:v>1025.232656</c:v>
                </c:pt>
                <c:pt idx="7">
                  <c:v>3454.295102</c:v>
                </c:pt>
                <c:pt idx="8">
                  <c:v>4614.035549</c:v>
                </c:pt>
                <c:pt idx="9">
                  <c:v>8761.255253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sz="1200" b="1" dirty="0"/>
              <a:t>Net Income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Sheet1!$C$3:$L$3</c:f>
              <c:numCache>
                <c:formatCode>#,##0</c:formatCode>
                <c:ptCount val="10"/>
                <c:pt idx="0">
                  <c:v>4920.228055</c:v>
                </c:pt>
                <c:pt idx="1">
                  <c:v>1293.850223</c:v>
                </c:pt>
                <c:pt idx="2">
                  <c:v>2791.416326</c:v>
                </c:pt>
                <c:pt idx="3">
                  <c:v>281.7008887</c:v>
                </c:pt>
                <c:pt idx="4">
                  <c:v>1348.623038</c:v>
                </c:pt>
                <c:pt idx="5">
                  <c:v>2433.146905</c:v>
                </c:pt>
                <c:pt idx="6">
                  <c:v>1945.467441</c:v>
                </c:pt>
                <c:pt idx="7">
                  <c:v>4359.063784</c:v>
                </c:pt>
                <c:pt idx="8">
                  <c:v>2545.380719</c:v>
                </c:pt>
                <c:pt idx="9">
                  <c:v>603.8960249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Profit Margin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Profit Margin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Sheet1!$C$8:$L$8</c:f>
              <c:numCache>
                <c:formatCode>0.0</c:formatCode>
                <c:ptCount val="10"/>
                <c:pt idx="0">
                  <c:v>47.5506</c:v>
                </c:pt>
                <c:pt idx="1">
                  <c:v>19.5187</c:v>
                </c:pt>
                <c:pt idx="2">
                  <c:v>39.3997</c:v>
                </c:pt>
                <c:pt idx="3">
                  <c:v>4.5578</c:v>
                </c:pt>
                <c:pt idx="4">
                  <c:v>17.618</c:v>
                </c:pt>
                <c:pt idx="5">
                  <c:v>23.7717</c:v>
                </c:pt>
                <c:pt idx="6">
                  <c:v>16.8597</c:v>
                </c:pt>
                <c:pt idx="7">
                  <c:v>31.5953</c:v>
                </c:pt>
                <c:pt idx="8">
                  <c:v>19.9037</c:v>
                </c:pt>
                <c:pt idx="9">
                  <c:v>12.70917695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Return on Equity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Return on Equity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Sheet1!$C$9:$L$9</c:f>
              <c:numCache>
                <c:formatCode>0.0</c:formatCode>
                <c:ptCount val="10"/>
                <c:pt idx="0">
                  <c:v>21.4005</c:v>
                </c:pt>
                <c:pt idx="1">
                  <c:v>5.0225</c:v>
                </c:pt>
                <c:pt idx="2">
                  <c:v>10.0758</c:v>
                </c:pt>
                <c:pt idx="3">
                  <c:v>0.9493</c:v>
                </c:pt>
                <c:pt idx="4">
                  <c:v>4.3804</c:v>
                </c:pt>
                <c:pt idx="5">
                  <c:v>7.4759</c:v>
                </c:pt>
                <c:pt idx="6">
                  <c:v>5.5499</c:v>
                </c:pt>
                <c:pt idx="7">
                  <c:v>11.2736</c:v>
                </c:pt>
                <c:pt idx="8">
                  <c:v>6.0117</c:v>
                </c:pt>
                <c:pt idx="9">
                  <c:v>4.2605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Return on Assets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Sheet1!$B$10</c:f>
              <c:strCache>
                <c:ptCount val="1"/>
                <c:pt idx="0">
                  <c:v>Return on Assets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Sheet1!$C$10:$L$10</c:f>
              <c:numCache>
                <c:formatCode>0.0</c:formatCode>
                <c:ptCount val="10"/>
                <c:pt idx="0">
                  <c:v>11.6472</c:v>
                </c:pt>
                <c:pt idx="1">
                  <c:v>2.6367</c:v>
                </c:pt>
                <c:pt idx="2">
                  <c:v>5.2307</c:v>
                </c:pt>
                <c:pt idx="3">
                  <c:v>0.4882</c:v>
                </c:pt>
                <c:pt idx="4">
                  <c:v>2.2048</c:v>
                </c:pt>
                <c:pt idx="5">
                  <c:v>3.8478</c:v>
                </c:pt>
                <c:pt idx="6">
                  <c:v>2.9515</c:v>
                </c:pt>
                <c:pt idx="7">
                  <c:v>6.103</c:v>
                </c:pt>
                <c:pt idx="8">
                  <c:v>3.2782</c:v>
                </c:pt>
                <c:pt idx="9">
                  <c:v>2.3473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Revenue (IDR Tn)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Sheet4!$B$5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61-4FFA-BFA9-537AD5D1DA0F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61-4FFA-BFA9-537AD5D1DA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Sheet4!$C$4:$L$4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Sheet4!$C$5:$L$5</c:f>
              <c:numCache>
                <c:formatCode>0.0</c:formatCode>
                <c:ptCount val="10"/>
                <c:pt idx="0">
                  <c:v>10.34734319</c:v>
                </c:pt>
                <c:pt idx="1">
                  <c:v>6.628782185</c:v>
                </c:pt>
                <c:pt idx="2">
                  <c:v>7.084864039</c:v>
                </c:pt>
                <c:pt idx="3">
                  <c:v>6.180589086</c:v>
                </c:pt>
                <c:pt idx="4">
                  <c:v>7.654802251</c:v>
                </c:pt>
                <c:pt idx="5">
                  <c:v>10.23547996</c:v>
                </c:pt>
                <c:pt idx="6">
                  <c:v>11.53914125</c:v>
                </c:pt>
                <c:pt idx="7">
                  <c:v>13.79657215</c:v>
                </c:pt>
                <c:pt idx="8">
                  <c:v>12.78845234</c:v>
                </c:pt>
                <c:pt idx="9">
                  <c:v>4.751653096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61-4FFA-BFA9-537AD5D1D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Total Assets (IDR Tn)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Sheet4!$B$9</c:f>
              <c:strCache>
                <c:ptCount val="1"/>
                <c:pt idx="0">
                  <c:v>Total Assets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CF-497E-AB76-4A5B28ADF111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CF-497E-AB76-4A5B28ADF111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Sheet4!$C$8:$L$8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Sheet4!$C$9:$L$9</c:f>
              <c:numCache>
                <c:formatCode>0.0</c:formatCode>
                <c:ptCount val="10"/>
                <c:pt idx="0">
                  <c:v>45.95118848</c:v>
                </c:pt>
                <c:pt idx="1">
                  <c:v>52.19072001</c:v>
                </c:pt>
                <c:pt idx="2">
                  <c:v>54.5409784</c:v>
                </c:pt>
                <c:pt idx="3">
                  <c:v>60.86292659</c:v>
                </c:pt>
                <c:pt idx="4">
                  <c:v>61.46971217</c:v>
                </c:pt>
                <c:pt idx="5">
                  <c:v>64.99940348</c:v>
                </c:pt>
                <c:pt idx="6">
                  <c:v>66.82764849</c:v>
                </c:pt>
                <c:pt idx="7">
                  <c:v>76.02334889</c:v>
                </c:pt>
                <c:pt idx="8">
                  <c:v>79.2684022</c:v>
                </c:pt>
                <c:pt idx="9">
                  <c:v>81.94288058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CF-497E-AB76-4A5B28ADF1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200" b="1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Capital Structure (IDR Tn)</a:t>
            </a:r>
            <a:r>
              <a:rPr lang="en-ID" sz="1200" b="1" baseline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endParaRPr lang="en-ID" sz="1200" b="1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496806538531846E-2"/>
          <c:y val="0.21433841084997937"/>
          <c:w val="0.92762976069384251"/>
          <c:h val="0.666235926492063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Sheet4!$B$13</c:f>
              <c:strCache>
                <c:ptCount val="1"/>
                <c:pt idx="0">
                  <c:v>Total Equity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88E-403A-9AF7-5D01D19C0CF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8E-403A-9AF7-5D01D19C0CF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8E-403A-9AF7-5D01D19C0C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Sheet4!$C$11:$L$12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  <c:extLst/>
            </c:strRef>
          </c:cat>
          <c:val>
            <c:numRef>
              <c:f>Sheet4!$C$13:$L$13</c:f>
              <c:numCache>
                <c:formatCode>0.0</c:formatCode>
                <c:ptCount val="10"/>
                <c:pt idx="0">
                  <c:v>29.19685109</c:v>
                </c:pt>
                <c:pt idx="1">
                  <c:v>30.3580015</c:v>
                </c:pt>
                <c:pt idx="2">
                  <c:v>33.6254143</c:v>
                </c:pt>
                <c:pt idx="3">
                  <c:v>34.47110248</c:v>
                </c:pt>
                <c:pt idx="4">
                  <c:v>35.89371701</c:v>
                </c:pt>
                <c:pt idx="5">
                  <c:v>38.04543613</c:v>
                </c:pt>
                <c:pt idx="6">
                  <c:v>41.2015862</c:v>
                </c:pt>
                <c:pt idx="7">
                  <c:v>47.31932815</c:v>
                </c:pt>
                <c:pt idx="8">
                  <c:v>52.66890468</c:v>
                </c:pt>
                <c:pt idx="9">
                  <c:v>53.15400325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8E-403A-9AF7-5D01D19C0CF9}"/>
            </c:ext>
          </c:extLst>
        </c:ser>
        <c:ser>
          <c:idx val="1"/>
          <c:order val="1"/>
          <c:tx>
            <c:strRef>
              <c:f>Sheet4!$B$14</c:f>
              <c:strCache>
                <c:ptCount val="1"/>
                <c:pt idx="0">
                  <c:v>Total Liabilities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-1.2142827568928447E-16"/>
                  <c:y val="-8.767769047460473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3AA-8D49-B8A9-505100D606E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8E-403A-9AF7-5D01D19C0C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Sheet4!$C$11:$L$12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  <c:extLst/>
            </c:strRef>
          </c:cat>
          <c:val>
            <c:numRef>
              <c:f>Sheet4!$C$14:$L$14</c:f>
              <c:numCache>
                <c:formatCode>0.0</c:formatCode>
                <c:ptCount val="10"/>
                <c:pt idx="0">
                  <c:v>16.75433739</c:v>
                </c:pt>
                <c:pt idx="1">
                  <c:v>21.8327185</c:v>
                </c:pt>
                <c:pt idx="2">
                  <c:v>20.9155641</c:v>
                </c:pt>
                <c:pt idx="3">
                  <c:v>26.39182411</c:v>
                </c:pt>
                <c:pt idx="4">
                  <c:v>25.57599515</c:v>
                </c:pt>
                <c:pt idx="5">
                  <c:v>26.95396735</c:v>
                </c:pt>
                <c:pt idx="6">
                  <c:v>25.62606228</c:v>
                </c:pt>
                <c:pt idx="7">
                  <c:v>28.70402073</c:v>
                </c:pt>
                <c:pt idx="8">
                  <c:v>26.59949752</c:v>
                </c:pt>
                <c:pt idx="9">
                  <c:v>28.78887734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8E-403A-9AF7-5D01D19C0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905087776"/>
        <c:crosses val="autoZero"/>
        <c:auto val="1"/>
        <c:lblAlgn val="ctr"/>
        <c:lblOffset val="100"/>
        <c:noMultiLvlLbl val="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5"/>
          <c:h val="8.70335753843054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Quick Ratio (X)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Sheet1!$B$13</c:f>
              <c:strCache>
                <c:ptCount val="1"/>
                <c:pt idx="0">
                  <c:v>Quick Ratio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Sheet1!$C$13:$L$13</c:f>
              <c:numCache>
                <c:formatCode>0.00</c:formatCode>
                <c:ptCount val="10"/>
                <c:pt idx="0">
                  <c:v>0.9311</c:v>
                </c:pt>
                <c:pt idx="1">
                  <c:v>1.5144</c:v>
                </c:pt>
                <c:pt idx="2">
                  <c:v>1.6126</c:v>
                </c:pt>
                <c:pt idx="3">
                  <c:v>1.1338</c:v>
                </c:pt>
                <c:pt idx="4">
                  <c:v>1.0919</c:v>
                </c:pt>
                <c:pt idx="5">
                  <c:v>1.0695</c:v>
                </c:pt>
                <c:pt idx="6">
                  <c:v>0.9304</c:v>
                </c:pt>
                <c:pt idx="7">
                  <c:v>0.7754</c:v>
                </c:pt>
                <c:pt idx="8">
                  <c:v>1.2315</c:v>
                </c:pt>
                <c:pt idx="9">
                  <c:v>1.0829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Debt to Equity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90322236349486E-2"/>
          <c:y val="0.17596823108959184"/>
          <c:w val="0.92761935552730101"/>
          <c:h val="0.70950929379012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Sheet1!$B$14</c:f>
              <c:strCache>
                <c:ptCount val="1"/>
                <c:pt idx="0">
                  <c:v>Debt to Equity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Sheet1!$C$14:$L$14</c:f>
              <c:numCache>
                <c:formatCode>0.0</c:formatCode>
                <c:ptCount val="10"/>
                <c:pt idx="0">
                  <c:v>31.0926</c:v>
                </c:pt>
                <c:pt idx="1">
                  <c:v>45.9566</c:v>
                </c:pt>
                <c:pt idx="2">
                  <c:v>39.872</c:v>
                </c:pt>
                <c:pt idx="3">
                  <c:v>49.6679</c:v>
                </c:pt>
                <c:pt idx="4">
                  <c:v>33.417</c:v>
                </c:pt>
                <c:pt idx="5">
                  <c:v>31.4832</c:v>
                </c:pt>
                <c:pt idx="6">
                  <c:v>28.7199</c:v>
                </c:pt>
                <c:pt idx="7">
                  <c:v>30.5526</c:v>
                </c:pt>
                <c:pt idx="8">
                  <c:v>31.1426</c:v>
                </c:pt>
                <c:pt idx="9">
                  <c:v>35.1641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Financial Leverage (X)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Sheet1!$B$15</c:f>
              <c:strCache>
                <c:ptCount val="1"/>
                <c:pt idx="0">
                  <c:v>Financial Leverage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Sheet1!$C$15:$L$15</c:f>
              <c:numCache>
                <c:formatCode>0.00</c:formatCode>
                <c:ptCount val="10"/>
                <c:pt idx="0">
                  <c:v>1.8374</c:v>
                </c:pt>
                <c:pt idx="1">
                  <c:v>1.9048</c:v>
                </c:pt>
                <c:pt idx="2">
                  <c:v>1.9263</c:v>
                </c:pt>
                <c:pt idx="3">
                  <c:v>1.9446</c:v>
                </c:pt>
                <c:pt idx="4">
                  <c:v>1.9867</c:v>
                </c:pt>
                <c:pt idx="5">
                  <c:v>1.9429</c:v>
                </c:pt>
                <c:pt idx="6">
                  <c:v>1.8803</c:v>
                </c:pt>
                <c:pt idx="7">
                  <c:v>1.8472</c:v>
                </c:pt>
                <c:pt idx="8">
                  <c:v>1.8338</c:v>
                </c:pt>
                <c:pt idx="9">
                  <c:v>1.8174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Operating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Sheet1!$B$18</c:f>
              <c:strCache>
                <c:ptCount val="1"/>
                <c:pt idx="0">
                  <c:v>Operating Cash Flow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dLbl>
              <c:idx val="6"/>
              <c:layout>
                <c:manualLayout>
                  <c:x val="-1.3281080473413002E-2"/>
                  <c:y val="1.481004657584735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E5-7045-BE26-3F6F97A10E4F}"/>
                </c:ext>
              </c:extLst>
            </c:dLbl>
            <c:dLbl>
              <c:idx val="7"/>
              <c:layout>
                <c:manualLayout>
                  <c:x val="3.3202701183532505E-3"/>
                  <c:y val="2.46834109597455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2E5-7045-BE26-3F6F97A10E4F}"/>
                </c:ext>
              </c:extLst>
            </c:dLbl>
            <c:dLbl>
              <c:idx val="9"/>
              <c:layout>
                <c:manualLayout>
                  <c:x val="6.6405402367065011E-3"/>
                  <c:y val="1.9435756663026978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03-4418-A8A1-89C0CEF34F5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Sheet1!$C$18:$L$18</c:f>
              <c:numCache>
                <c:formatCode>#,##0</c:formatCode>
                <c:ptCount val="10"/>
                <c:pt idx="0">
                  <c:v>4606.851241</c:v>
                </c:pt>
                <c:pt idx="1">
                  <c:v>1125.468091</c:v>
                </c:pt>
                <c:pt idx="2">
                  <c:v>2557.65541</c:v>
                </c:pt>
                <c:pt idx="3">
                  <c:v>1103.95069</c:v>
                </c:pt>
                <c:pt idx="4">
                  <c:v>2887.014889</c:v>
                </c:pt>
                <c:pt idx="5">
                  <c:v>2816.809598</c:v>
                </c:pt>
                <c:pt idx="6">
                  <c:v>1207.984649</c:v>
                </c:pt>
                <c:pt idx="7">
                  <c:v>1046.659707</c:v>
                </c:pt>
                <c:pt idx="8">
                  <c:v>-1351.699488</c:v>
                </c:pt>
                <c:pt idx="9">
                  <c:v>-1370.743226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Capital Expenditure (IDR Bn)</a:t>
            </a:r>
            <a:r>
              <a:rPr lang="en-ID" dirty="0" err="1"/>
              <a:t/>
            </a:r>
            <a:r>
              <a:rPr lang="en-ID" dirty="0"/>
              <a:t/>
            </a:r>
            <a:r>
              <a:rPr lang="en-ID" baseline="0" dirty="0"/>
              <a:t/>
            </a:r>
            <a:endParaRPr lang="en-ID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Sheet1!$B$20</c:f>
              <c:strCache>
                <c:ptCount val="1"/>
                <c:pt idx="0">
                  <c:v>Capital Expenditure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Sheet1!$C$20:$L$20</c:f>
              <c:numCache>
                <c:formatCode>#,##0</c:formatCode>
                <c:ptCount val="10"/>
                <c:pt idx="0">
                  <c:v>-79.6491091</c:v>
                </c:pt>
                <c:pt idx="1">
                  <c:v>-42.0386942</c:v>
                </c:pt>
                <c:pt idx="2">
                  <c:v>-384.7670573</c:v>
                </c:pt>
                <c:pt idx="3">
                  <c:v>-132.5421418</c:v>
                </c:pt>
                <c:pt idx="4">
                  <c:v>-23.1825909</c:v>
                </c:pt>
                <c:pt idx="5">
                  <c:v>-198.4592147</c:v>
                </c:pt>
                <c:pt idx="6">
                  <c:v>-577.1248988</c:v>
                </c:pt>
                <c:pt idx="7">
                  <c:v>-822.5749411</c:v>
                </c:pt>
                <c:pt idx="8">
                  <c:v>-322.805879</c:v>
                </c:pt>
                <c:pt idx="9">
                  <c:v>-107.8634491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Free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Sheet1!$C$5:$L$5</c:f>
              <c:numCache>
                <c:formatCode>#,##0</c:formatCode>
                <c:ptCount val="10"/>
                <c:pt idx="0">
                  <c:v>4527.202132</c:v>
                </c:pt>
                <c:pt idx="1">
                  <c:v>1083.429397</c:v>
                </c:pt>
                <c:pt idx="2">
                  <c:v>2172.888353</c:v>
                </c:pt>
                <c:pt idx="3">
                  <c:v>971.4085482</c:v>
                </c:pt>
                <c:pt idx="4">
                  <c:v>2863.832298</c:v>
                </c:pt>
                <c:pt idx="5">
                  <c:v>2618.350384</c:v>
                </c:pt>
                <c:pt idx="6">
                  <c:v>630.8597505</c:v>
                </c:pt>
                <c:pt idx="7">
                  <c:v>224.0847655</c:v>
                </c:pt>
                <c:pt idx="8">
                  <c:v>-1674.505367</c:v>
                </c:pt>
                <c:pt idx="9">
                  <c:v>-1478.606675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5F1AD-FEAE-434E-B97C-E95F59767822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8C95F-1AB2-4A77-9B98-DD4F46A368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4747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ED3391-5473-4368-8387-5983A9DC3B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6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F54FC-A085-4F07-844D-85C9C98AEA15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474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F54FC-A085-4F07-844D-85C9C98AEA15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28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656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04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238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757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844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138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30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14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559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522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038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2458A-D894-4A55-AB51-91A9CDAD3556}" type="datetimeFigureOut">
              <a:rPr lang="en-ID" smtClean="0"/>
              <a:t>18/09/26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5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Bumi Serpong</a:t>
            </a:r>
            <a:r>
              <a:rPr lang="en-US" sz="3200" b="1" dirty="0">
                <a:solidFill>
                  <a:schemeClr val="bg1"/>
                </a:solidFill>
              </a:rPr>
              <a:t> Damai </a:t>
            </a:r>
            <a:r>
              <a:rPr lang="en-US" sz="1600" b="1" dirty="0">
                <a:solidFill>
                  <a:schemeClr val="bg1"/>
                </a:solidFill>
              </a:rPr>
              <a:t>(</a:t>
            </a:r>
            <a:r>
              <a:rPr lang="en-US" sz="1600" b="1" dirty="0" err="1">
                <a:solidFill>
                  <a:schemeClr val="bg1"/>
                </a:solidFill>
              </a:rPr>
              <a:t>Pefindo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b="1" dirty="0" err="1">
                <a:solidFill>
                  <a:schemeClr val="bg1"/>
                </a:solidFill>
              </a:rPr>
              <a:t>idAA</a:t>
            </a:r>
            <a:r>
              <a:rPr lang="en-US" sz="1600" b="1" dirty="0">
                <a:solidFill>
                  <a:schemeClr val="bg1"/>
                </a:solidFill>
              </a:rPr>
              <a:t/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349" y="3445577"/>
            <a:ext cx="114233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Profitability:</a:t>
            </a:r>
            <a:endParaRPr lang="en-US" sz="15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2024: </a:t>
            </a:r>
            <a:r>
              <a:rPr lang="en-ID" sz="1200" dirty="0">
                <a:solidFill>
                  <a:srgbClr val="FFFFFF"/>
                </a:solidFill>
              </a:rPr>
              <a:t>Revenue naik 19,6% menjadi Rp13,80 triliun dan laba bersih naik 124,1%. Penjualan residensial/komersial, efisiensi HPP, serta gain akuisisi SMDM Rp1,55 triliun menjadi pendorong utama.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2025: </a:t>
            </a:r>
            <a:r>
              <a:rPr lang="en-ID" sz="1200" dirty="0">
                <a:solidFill>
                  <a:srgbClr val="FFFFFF"/>
                </a:solidFill>
              </a:rPr>
              <a:t>Revenue turun 7,3% menjadi Rp12,79 triliun akibat jasa konstruksi turun Rp615 miliar dan penjualan turun Rp581 miliar. Laba bersih turun 41,6% karena normalisasi gain akuisisi dan beban bunga/keuangan naik menjadi Rp1,53 triliun.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1H26: </a:t>
            </a:r>
            <a:r>
              <a:rPr lang="en-ID" sz="1200" dirty="0">
                <a:solidFill>
                  <a:srgbClr val="FFFFFF"/>
                </a:solidFill>
              </a:rPr>
              <a:t>Revenue turun 25,6% YoY dan laba bersih turun 53,1%, meski gross margin naik menjadi 66,5%. Marketing sales Rp5,12 triliun atau 51% target memberi dukungan untuk pengakuan pendapatan 2H26.</a:t>
            </a:r>
            <a:endParaRPr lang="en-US" sz="1200"/>
          </a:p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Solvency:</a:t>
            </a:r>
            <a:endParaRPr lang="en-US" sz="15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2025: </a:t>
            </a:r>
            <a:r>
              <a:rPr lang="en-ID" sz="1200" dirty="0">
                <a:solidFill>
                  <a:srgbClr val="FFFFFF"/>
                </a:solidFill>
              </a:rPr>
              <a:t>Total aset naik 4,3% menjadi Rp79,27 triliun, terutama dari kas dan persediaan; ekuitas naik 11,3% dan Debt-to-Equity berada di 31,1%.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1H26: </a:t>
            </a:r>
            <a:r>
              <a:rPr lang="en-ID" sz="1200" dirty="0">
                <a:solidFill>
                  <a:srgbClr val="FFFFFF"/>
                </a:solidFill>
              </a:rPr>
              <a:t>Total aset naik 3,4% menjadi Rp81,94 triliun karena persediaan, uang muka, dan investasi. Liabilitas naik 8,2% dan net debt meningkat menjadi Rp8,76 triliun setelah penarikan utang bank baru Rp4,42 triliun.</a:t>
            </a:r>
            <a:endParaRPr lang="en-US" sz="1200"/>
          </a:p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Free Cash Flow:</a:t>
            </a:r>
            <a:endParaRPr lang="en-US" sz="15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2024–2025: </a:t>
            </a:r>
            <a:r>
              <a:rPr lang="en-ID" sz="1200" dirty="0">
                <a:solidFill>
                  <a:srgbClr val="FFFFFF"/>
                </a:solidFill>
              </a:rPr>
              <a:t>FCF berbalik dari positif Rp224 miliar menjadi negatif Rp1,67 triliun seiring operating cash flow menjadi negatif.</a:t>
            </a:r>
            <a:endParaRPr lang="en-US" sz="120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 xml:space="preserve">1H26: </a:t>
            </a:r>
            <a:r>
              <a:rPr lang="en-ID" sz="1200" dirty="0">
                <a:solidFill>
                  <a:srgbClr val="FFFFFF"/>
                </a:solidFill>
              </a:rPr>
              <a:t>Penerimaan pelanggan naik 15%, tetapi pembelian tanah/bangunan Rp2,51 triliun menekan CFO dan FCF ke sekitar negatif Rp1,4 triliun; ekspansi yang dibiayai utang perlu dimonitor.</a:t>
            </a:r>
            <a:endParaRPr lang="en-US" sz="120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D89B647-A979-355D-5E19-A3FD210BAE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850567"/>
              </p:ext>
            </p:extLst>
          </p:nvPr>
        </p:nvGraphicFramePr>
        <p:xfrm>
          <a:off x="8006209" y="943685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8B64B41-7D64-42AE-B846-A50A136AA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10339"/>
              </p:ext>
            </p:extLst>
          </p:nvPr>
        </p:nvGraphicFramePr>
        <p:xfrm>
          <a:off x="4195278" y="943685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DE9653D-E1FE-4B85-961D-700052DF6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4605094"/>
              </p:ext>
            </p:extLst>
          </p:nvPr>
        </p:nvGraphicFramePr>
        <p:xfrm>
          <a:off x="389092" y="943686"/>
          <a:ext cx="3801441" cy="2572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  <p:clrMapOvr>
    <a:masterClrMapping/>
  </p:clrMapOvr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7" name="TextBox 6"><a:extLst><a:ext uri="{FF2B5EF4-FFF2-40B4-BE49-F238E27FC236}"><a16:creationId xmlns:a16="http://schemas.microsoft.com/office/drawing/2014/main" id="{27A4521E-3420-312E-9AEC-8D40FBF9E325}"/></a:ext></a:extLst></p:cNvPr><p:cNvSpPr txBox="1"/><p:nvPr/></p:nvSpPr><p:spPr><a:xfrm><a:off x="341069" y="259558"/><a:ext cx="9636369" cy="584775"/></a:xfrm><a:prstGeom prst="rect"><a:avLst/></a:prstGeom><a:noFill/></p:spPr><p:txBody><a:bodyPr wrap="square" rtlCol="0"><a:spAutoFit/></a:bodyPr><a:lstStyle/><a:p><a:r><a:rPr lang="en-US" sz="3200" b="1" dirty="0" err="1"/><a:t>Bumi Serpong</a:t></a:r><a:r><a:rPr lang="en-US" sz="3200" b="1" dirty="0"/><a:t> Damai </a:t></a:r><a:r><a:rPr lang="en-US" sz="1600" b="1" dirty="0"/><a:t>(</a:t></a:r><a:r><a:rPr lang="en-US" sz="1600" b="1" dirty="0" err="1"/><a:t>Pefindo</a:t></a:r><a:r><a:rPr lang="en-US" sz="1600" b="1" dirty="0"/><a:t>: </a:t></a:r><a:r><a:rPr lang="en-US" sz="1600" b="1" dirty="0" err="1"/><a:t>idAA</a:t></a:r><a:r><a:rPr lang="en-US" sz="1600" b="1" dirty="0"/><a:t></a:t></a:r><a:endParaRPr lang="en-US" sz="3200" b="1" dirty="0"/></a:p></p:txBody></p:sp><p:sp><p:nvSpPr><p:cNvPr id="10" name="TextBox 9"><a:extLst><a:ext uri="{FF2B5EF4-FFF2-40B4-BE49-F238E27FC236}"><a16:creationId xmlns:a16="http://schemas.microsoft.com/office/drawing/2014/main" id="{492D3B0D-0A31-CF27-98DE-44A022E9D277}"/></a:ext></a:extLst></p:cNvPr><p:cNvSpPr txBox="1"/><p:nvPr/></p:nvSpPr><p:spPr><a:xfrm><a:off x="341069" y="844333"/><a:ext cx="11509862" cy="276999"/></a:xfrm><a:prstGeom prst="rect"><a:avLst/></a:prstGeom><a:solidFill><a:srgbClr val="002060"/></a:solidFill></p:spPr><p:txBody><a:bodyPr wrap="square" rtlCol="0"><a:spAutoFit/></a:bodyPr><a:lstStyle/><a:p><a:pPr algn="ctr"/><a:r><a:rPr lang="en-US" sz="1200" b="1" i="1" dirty="0"><a:solidFill><a:schemeClr val="bg1"/></a:solidFill><a:latin typeface="Calibri" panose="020F0502020204030204" pitchFamily="34" charset="0"/><a:ea typeface="Calibri" panose="020F0502020204030204" pitchFamily="34" charset="0"/><a:cs typeface="Calibri" panose="020F0502020204030204" pitchFamily="34" charset="0"/></a:rPr><a:t>Yearly Performance</a:t></a:r><a:endParaRPr lang="en-ID" sz="1200" b="1" i="1" dirty="0"><a:solidFill><a:schemeClr val="bg1"/></a:solidFill><a:latin typeface="Calibri" panose="020F0502020204030204" pitchFamily="34" charset="0"/><a:ea typeface="Calibri" panose="020F0502020204030204" pitchFamily="34" charset="0"/><a:cs typeface="Calibri" panose="020F0502020204030204" pitchFamily="34" charset="0"/></a:endParaRPr></a:p></p:txBody></p:sp><p:sp><p:nvSpPr><p:cNvPr id="11" name="TextBox 10"><a:extLst><a:ext uri="{FF2B5EF4-FFF2-40B4-BE49-F238E27FC236}"><a16:creationId xmlns:a16="http://schemas.microsoft.com/office/drawing/2014/main" id="{567BC1D2-752C-8803-6651-5D1106A28588}"/></a:ext></a:extLst></p:cNvPr><p:cNvSpPr txBox="1"/><p:nvPr/></p:nvSpPr><p:spPr><a:xfrm><a:off x="341069" y="3751922"/><a:ext cx="11509862" cy="276999"/></a:xfrm><a:prstGeom prst="rect"><a:avLst/></a:prstGeom><a:solidFill><a:srgbClr val="002060"/></a:solidFill></p:spPr><p:txBody><a:bodyPr wrap="square" rtlCol="0"><a:spAutoFit/></a:bodyPr><a:lstStyle/><a:p><a:pPr algn="ctr"/><a:r><a:rPr lang="en-US" sz="1200" b="1" i="1" dirty="0"><a:solidFill><a:schemeClr val="bg1"/></a:solidFill><a:latin typeface="Calibri" panose="020F0502020204030204" pitchFamily="34" charset="0"/><a:ea typeface="Calibri" panose="020F0502020204030204" pitchFamily="34" charset="0"/><a:cs typeface="Calibri" panose="020F0502020204030204" pitchFamily="34" charset="0"/></a:rPr><a:t>Quarterly Performance</a:t></a:r><a:endParaRPr lang="en-ID" sz="1200" b="1" i="1" dirty="0"><a:solidFill><a:schemeClr val="bg1"/></a:solidFill><a:latin typeface="Calibri" panose="020F0502020204030204" pitchFamily="34" charset="0"/><a:ea typeface="Calibri" panose="020F0502020204030204" pitchFamily="34" charset="0"/><a:cs typeface="Calibri" panose="020F0502020204030204" pitchFamily="34" charset="0"/></a:endParaRPr></a:p></p:txBody></p:sp><p:graphicFrame><p:nvGraphicFramePr><p:cNvPr id="16" name="Table 15"><a:extLst><a:ext uri="{FF2B5EF4-FFF2-40B4-BE49-F238E27FC236}"><a16:creationId xmlns:a16="http://schemas.microsoft.com/office/drawing/2014/main" id="{3CF6F7C9-9DCD-48A3-BC89-DEFAE6116050}"/></a:ext></a:extLst></p:cNvPr><p:cNvGraphicFramePr><a:graphicFrameLocks noGrp="1"/></p:cNvGraphicFramePr><p:nvPr><p:extLst><p:ext uri="{D42A27DB-BD31-4B8C-83A1-F6EECF244321}"><p14:modId xmlns:p14="http://schemas.microsoft.com/office/powerpoint/2010/main" val="807607334"/></p:ext></p:extLst></p:nvPr></p:nvGraphicFramePr><p:xfrm><a:off x="341067" y="1174408"/><a:ext cx="11509854" cy="2528682"/></p:xfrm><a:graphic><a:graphicData uri="http://schemas.openxmlformats.org/drawingml/2006/table"><a:tbl><a:tblPr/><a:tblGrid><a:gridCol w="1748525"><a:extLst><a:ext uri="{9D8B030D-6E8A-4147-A177-3AD203B41FA5}"><a16:colId xmlns:a16="http://schemas.microsoft.com/office/drawing/2014/main" val="1139494516"/></a:ext></a:extLst></a:gridCol><a:gridCol w="866660"><a:extLst><a:ext uri="{9D8B030D-6E8A-4147-A177-3AD203B41FA5}"><a16:colId xmlns:a16="http://schemas.microsoft.com/office/drawing/2014/main" val="3126844501"/></a:ext></a:extLst></a:gridCol><a:gridCol w="866660"><a:extLst><a:ext uri="{9D8B030D-6E8A-4147-A177-3AD203B41FA5}"><a16:colId xmlns:a16="http://schemas.microsoft.com/office/drawing/2014/main" val="2584166784"/></a:ext></a:extLst></a:gridCol><a:gridCol w="866660"><a:extLst><a:ext uri="{9D8B030D-6E8A-4147-A177-3AD203B41FA5}"><a16:colId xmlns:a16="http://schemas.microsoft.com/office/drawing/2014/main" val="2223669831"/></a:ext></a:extLst></a:gridCol><a:gridCol w="866660"><a:extLst><a:ext uri="{9D8B030D-6E8A-4147-A177-3AD203B41FA5}"><a16:colId xmlns:a16="http://schemas.microsoft.com/office/drawing/2014/main" val="2544691179"/></a:ext></a:extLst></a:gridCol><a:gridCol w="866660"><a:extLst><a:ext uri="{9D8B030D-6E8A-4147-A177-3AD203B41FA5}"><a16:colId xmlns:a16="http://schemas.microsoft.com/office/drawing/2014/main" val="2899485236"/></a:ext></a:extLst></a:gridCol><a:gridCol w="866660"><a:extLst><a:ext uri="{9D8B030D-6E8A-4147-A177-3AD203B41FA5}"><a16:colId xmlns:a16="http://schemas.microsoft.com/office/drawing/2014/main" val="1521664289"/></a:ext></a:extLst></a:gridCol><a:gridCol w="866660"><a:extLst><a:ext uri="{9D8B030D-6E8A-4147-A177-3AD203B41FA5}"><a16:colId xmlns:a16="http://schemas.microsoft.com/office/drawing/2014/main" val="3616357771"/></a:ext></a:extLst></a:gridCol><a:gridCol w="866660"><a:extLst><a:ext uri="{9D8B030D-6E8A-4147-A177-3AD203B41FA5}"><a16:colId xmlns:a16="http://schemas.microsoft.com/office/drawing/2014/main" val="994274472"/></a:ext></a:extLst></a:gridCol><a:gridCol w="942683"><a:extLst><a:ext uri="{9D8B030D-6E8A-4147-A177-3AD203B41FA5}"><a16:colId xmlns:a16="http://schemas.microsoft.com/office/drawing/2014/main" val="3005976039"/></a:ext></a:extLst></a:gridCol><a:gridCol w="942683"><a:extLst><a:ext uri="{9D8B030D-6E8A-4147-A177-3AD203B41FA5}"><a16:colId xmlns:a16="http://schemas.microsoft.com/office/drawing/2014/main" val="60612397"/></a:ext></a:extLst></a:gridCol><a:gridCol w="942683"><a:extLst><a:ext uri="{9D8B030D-6E8A-4147-A177-3AD203B41FA5}"><a16:colId xmlns:a16="http://schemas.microsoft.com/office/drawing/2014/main" val="3639356590"/></a:ext></a:extLst></a:gridCol></a:tblGrid><a:tr h="148746"><a:tc>Dates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2015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2016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2017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2018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2019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2021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2022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2023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2024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2025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extLst><a:ext uri="{0D108BD9-81ED-4DB2-BD59-A6C34878D82A}"><a16:rowId xmlns:a16="http://schemas.microsoft.com/office/drawing/2014/main" val="2923400488"/></a:ext></a:extLst></a:tr><a:tr h="148746"><a:tc>Revenue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6,209,574.07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6,602,955.28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10,347,343.19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6,628,782.18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7,084,864.04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6,180,589.09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7,654,802.25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10,235,479.96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11,539,141.25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13,796,572.15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12,788,452.34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841752046"/></a:ext></a:extLst></a:tr><a:tr h="148746"><a:tc>Capital Expenditures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(143,094.70)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(129,290.35)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(79,649.11)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(42,038.69)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(384,767.06)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(132,542.14)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(23,182.59)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(198,459.21)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(577,124.90)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(822,574.94)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(322,805.88)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3162054632"/></a:ext></a:extLst></a:tr><a:tr h="148746"><a:tc>Net Income/Net Profit (Losses)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2,139,496.60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96B"/></a:solidFill></a:tcPr></a:tc><a:tc>1,796,156.48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FEB84"/></a:solidFill></a:tcPr></a:tc><a:tc>4,920,228.06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A9C74"/></a:solidFill></a:tcPr></a:tc><a:tc>1,293,850.22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BAD78"/></a:solidFill></a:tcPr></a:tc><a:tc>2,791,416.33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F7E"/></a:solidFill></a:tcPr></a:tc><a:tc>281,700.89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983"/></a:solidFill></a:tcPr></a:tc><a:tc>1,348,623.04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BEA84"/></a:solidFill></a:tcPr></a:tc><a:tc>2,433,146.91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0E784"/></a:solidFill></a:tcPr></a:tc><a:tc>1,945,467.44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6E483"/></a:solidFill></a:tcPr></a:tc><a:tc>4,359,063.78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CBDC81"/></a:solidFill></a:tcPr></a:tc><a:tc>2,545,380.72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3BE7B"/></a:solidFill></a:tcPr></a:tc><a:extLst><a:ext uri="{0D108BD9-81ED-4DB2-BD59-A6C34878D82A}"><a16:rowId xmlns:a16="http://schemas.microsoft.com/office/drawing/2014/main" val="1645080201"/></a:ext></a:extLst></a:tr><a:tr h="148746"><a:tc>Total Assets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36,022,148.49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38,536,825.18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45,951,188.48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52,190,720.01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54,540,978.40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60,862,926.59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61,469,712.17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64,999,403.48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66,827,648.49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76,023,348.89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79,268,402.20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1698826477"/></a:ext></a:extLst></a:tr><a:tr h="148746"><a:tc>Total Liabilities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13,925,458.01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14,074,217.87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16,754,337.39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21,832,718.50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20,915,564.10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26,391,824.11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25,575,995.15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26,953,967.35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25,626,062.28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28,704,020.73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26,599,497.52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3874620213"/></a:ext></a:extLst></a:tr><a:tr h="148746"><a:tc>Total Equity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22,096,690.48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24,462,607.31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29,196,851.09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30,358,001.50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33,625,414.30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34,471,102.48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35,893,717.01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38,045,436.13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41,201,586.20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47,319,328.15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52,668,904.68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2743103835"/></a:ext></a:extLst></a:tr><a:tr h="148746"><a:tc>Net Debt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1,132,372.29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AE583"/></a:solidFill></a:tcPr></a:tc><a:tc>3,457,406.18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9E583"/></a:solidFill></a:tcPr></a:tc><a:tc>2,520,674.05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1E784"/></a:solidFill></a:tcPr></a:tc><a:tc>3,430,445.21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EE683"/></a:solidFill></a:tcPr></a:tc><a:tc>3,184,765.00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1E383"/></a:solidFill></a:tcPr></a:tc><a:tc>1,918,687.66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BCD881"/></a:solidFill></a:tcPr></a:tc><a:tc>153,731.62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A6D27F"/></a:solidFill></a:tcPr></a:tc><a:tc>38,630.07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A1D07F"/></a:solidFill></a:tcPr></a:tc><a:tc>1,025,232.66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86C87D"/></a:solidFill></a:tcPr></a:tc><a:tc>3,454,295.10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3BE7B"/></a:solidFill></a:tcPr></a:tc><a:tc>4,614,035.55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86C87D"/></a:solidFill></a:tcPr></a:tc><a:extLst><a:ext uri="{0D108BD9-81ED-4DB2-BD59-A6C34878D82A}"><a16:rowId xmlns:a16="http://schemas.microsoft.com/office/drawing/2014/main" val="4166796146"/></a:ext></a:extLst></a:tr><a:tr h="148746"><a:tc>Cash From Operations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(366,494.06)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D780"/></a:solidFill></a:tcPr></a:tc><a:tc>(605,189.89)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FEB84"/></a:solidFill></a:tcPr></a:tc><a:tc>4,606,851.24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D27F"/></a:solidFill></a:tcPr></a:tc><a:tc>1,125,468.09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FEB84"/></a:solidFill></a:tcPr></a:tc><a:tc>2,557,655.41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C37C"/></a:solidFill></a:tcPr></a:tc><a:tc>1,103,950.69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726C"/></a:solidFill></a:tcPr></a:tc><a:tc>2,887,014.89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BA276"/></a:solidFill></a:tcPr></a:tc><a:tc>2,816,809.60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EB84"/></a:solidFill></a:tcPr></a:tc><a:tc>1,207,984.65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BA376"/></a:solidFill></a:tcPr></a:tc><a:tc>1,046,659.71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A9D75"/></a:solidFill></a:tcPr></a:tc><a:tc>(1,351,699.49)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C7DB81"/></a:solidFill></a:tcPr></a:tc><a:extLst><a:ext uri="{0D108BD9-81ED-4DB2-BD59-A6C34878D82A}"><a16:rowId xmlns:a16="http://schemas.microsoft.com/office/drawing/2014/main" val="739139062"/></a:ext></a:extLst></a:tr><a:tr h="148746"><a:tc>Free Cash Flow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(509,588.76)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D780"/></a:solidFill></a:tcPr></a:tc><a:tc>(734,480.24)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FEB84"/></a:solidFill></a:tcPr></a:tc><a:tc>4,527,202.13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E7E"/></a:solidFill></a:tcPr></a:tc><a:tc>1,083,429.40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A83"/></a:solidFill></a:tcPr></a:tc><a:tc>2,172,888.35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C17C"/></a:solidFill></a:tcPr></a:tc><a:tc>971,408.55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96B"/></a:solidFill></a:tcPr></a:tc><a:tc>2,863,832.30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A9E75"/></a:solidFill></a:tcPr></a:tc><a:tc>2,618,350.38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582"/></a:solidFill></a:tcPr></a:tc><a:tc>630,859.75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A9974"/></a:solidFill></a:tcPr></a:tc><a:tc>224,084.77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7A6E"/></a:solidFill></a:tcPr></a:tc><a:tc>(1,674,505.37)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D5DF82"/></a:solidFill></a:tcPr></a:tc><a:extLst><a:ext uri="{0D108BD9-81ED-4DB2-BD59-A6C34878D82A}"><a16:rowId xmlns:a16="http://schemas.microsoft.com/office/drawing/2014/main" val="1970595632"/></a:ext></a:extLst></a:tr><a:tr h="148746"><a:tc>Return on Assets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6.66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4.82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11.65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2.64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5.23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0.49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2.20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3.85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2.95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379788542"/></a:ext></a:extLst></a:tr><a:tr h="148746"><a:tc>Return on Common Equity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12.51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9.10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21.40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5.02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10.08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0.95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4.38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7.48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11.27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3469801968"/></a:ext></a:extLst></a:tr><a:tr h="148746"><a:tc>Profit Margin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34.45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27.20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47.55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19.52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39.40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4.56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17.62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23.77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16.86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31.60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19.90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1160601644"/></a:ext></a:extLst></a:tr><a:tr h="148746"><a:tc>Total Debt to Total Equity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35.86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FEB84"/></a:solidFill></a:tcPr></a:tc><a:tc>31.30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B87A"/></a:solidFill></a:tcPr></a:tc><a:tc>31.09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716C"/></a:solidFill></a:tcPr></a:tc><a:tc>45.96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96B"/></a:solidFill></a:tcPr></a:tc><a:tc>39.87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C17C"/></a:solidFill></a:tcPr></a:tc><a:tc>49.67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082"/></a:solidFill></a:tcPr></a:tc><a:tc>33.42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C0D981"/></a:solidFill></a:tcPr></a:tc><a:tc>31.48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DBE182"/></a:solidFill></a:tcPr></a:tc><a:tc>28.72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75C47D"/></a:solidFill></a:tcPr></a:tc><a:tc>30.55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3BE7B"/></a:solidFill></a:tcPr></a:tc><a:tc>31.14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C1D981"/></a:solidFill></a:tcPr></a:tc><a:extLst><a:ext uri="{0D108BD9-81ED-4DB2-BD59-A6C34878D82A}"><a16:rowId xmlns:a16="http://schemas.microsoft.com/office/drawing/2014/main" val="1160390245"/></a:ext></a:extLst></a:tr><a:tr h="148746"><a:tc>Financial Leverage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1.90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1.93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1.94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1.99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1.94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2016796814"/></a:ext></a:extLst></a:tr><a:tr h="148746"><a:tc>Quick Ratio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1.13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0.81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0.93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1.51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1.61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1.13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1.07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0.93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0.78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1.23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907400861"/></a:ext></a:extLst></a:tr><a:tr h="148746"><a:tc>Profit Margin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34.45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27.20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47.55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19.52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39.40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4.56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17.62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23.77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16.86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31.60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19.90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2026574914"/></a:ext></a:extLst></a:tr></a:tbl></a:graphicData></a:graphic></p:graphicFrame><p:graphicFrame><p:nvGraphicFramePr><p:cNvPr id="20" name="Table 19"><a:extLst><a:ext uri="{FF2B5EF4-FFF2-40B4-BE49-F238E27FC236}"><a16:creationId xmlns:a16="http://schemas.microsoft.com/office/drawing/2014/main" id="{B3BDF922-5636-202F-51C6-580CA3E41638}"/></a:ext></a:extLst></p:cNvPr><p:cNvGraphicFramePr><a:graphicFrameLocks noGrp="1"/></p:cNvGraphicFramePr><p:nvPr><p:extLst><p:ext uri="{D42A27DB-BD31-4B8C-83A1-F6EECF244321}"><p14:modId xmlns:p14="http://schemas.microsoft.com/office/powerpoint/2010/main" val="3888282778"/></p:ext></p:extLst></p:nvPr></p:nvGraphicFramePr><p:xfrm><a:off x="341059" y="4077753"/><a:ext cx="11509867" cy="2364105"/></p:xfrm><a:graphic><a:graphicData uri="http://schemas.openxmlformats.org/drawingml/2006/table"><a:tbl><a:tblPr/><a:tblGrid><a:gridCol w="1616159"><a:extLst><a:ext uri="{9D8B030D-6E8A-4147-A177-3AD203B41FA5}"><a16:colId xmlns:a16="http://schemas.microsoft.com/office/drawing/2014/main" val="2422759176"/></a:ext></a:extLst></a:gridCol><a:gridCol w="801053"><a:extLst><a:ext uri="{9D8B030D-6E8A-4147-A177-3AD203B41FA5}"><a16:colId xmlns:a16="http://schemas.microsoft.com/office/drawing/2014/main" val="318634021"/></a:ext></a:extLst></a:gridCol><a:gridCol w="801053"><a:extLst><a:ext uri="{9D8B030D-6E8A-4147-A177-3AD203B41FA5}"><a16:colId xmlns:a16="http://schemas.microsoft.com/office/drawing/2014/main" val="4249969728"/></a:ext></a:extLst></a:gridCol><a:gridCol w="801053"><a:extLst><a:ext uri="{9D8B030D-6E8A-4147-A177-3AD203B41FA5}"><a16:colId xmlns:a16="http://schemas.microsoft.com/office/drawing/2014/main" val="756699647"/></a:ext></a:extLst></a:gridCol><a:gridCol w="801053"><a:extLst><a:ext uri="{9D8B030D-6E8A-4147-A177-3AD203B41FA5}"><a16:colId xmlns:a16="http://schemas.microsoft.com/office/drawing/2014/main" val="2995966305"/></a:ext></a:extLst></a:gridCol><a:gridCol w="801053"><a:extLst><a:ext uri="{9D8B030D-6E8A-4147-A177-3AD203B41FA5}"><a16:colId xmlns:a16="http://schemas.microsoft.com/office/drawing/2014/main" val="2012810933"/></a:ext></a:extLst></a:gridCol><a:gridCol w="801053"><a:extLst><a:ext uri="{9D8B030D-6E8A-4147-A177-3AD203B41FA5}"><a16:colId xmlns:a16="http://schemas.microsoft.com/office/drawing/2014/main" val="3820903466"/></a:ext></a:extLst></a:gridCol><a:gridCol w="801053"><a:extLst><a:ext uri="{9D8B030D-6E8A-4147-A177-3AD203B41FA5}"><a16:colId xmlns:a16="http://schemas.microsoft.com/office/drawing/2014/main" val="1219846998"/></a:ext></a:extLst></a:gridCol><a:gridCol w="801053"><a:extLst><a:ext uri="{9D8B030D-6E8A-4147-A177-3AD203B41FA5}"><a16:colId xmlns:a16="http://schemas.microsoft.com/office/drawing/2014/main" val="717088158"/></a:ext></a:extLst></a:gridCol><a:gridCol w="871321"><a:extLst><a:ext uri="{9D8B030D-6E8A-4147-A177-3AD203B41FA5}"><a16:colId xmlns:a16="http://schemas.microsoft.com/office/drawing/2014/main" val="2580879977"/></a:ext></a:extLst></a:gridCol><a:gridCol w="871321"><a:extLst><a:ext uri="{9D8B030D-6E8A-4147-A177-3AD203B41FA5}"><a16:colId xmlns:a16="http://schemas.microsoft.com/office/drawing/2014/main" val="3041129128"/></a:ext></a:extLst></a:gridCol><a:gridCol w="871321"><a:extLst><a:ext uri="{9D8B030D-6E8A-4147-A177-3AD203B41FA5}"><a16:colId xmlns:a16="http://schemas.microsoft.com/office/drawing/2014/main" val="2643269296"/></a:ext></a:extLst></a:gridCol><a:gridCol w="871321"><a:extLst><a:ext uri="{9D8B030D-6E8A-4147-A177-3AD203B41FA5}"><a16:colId xmlns:a16="http://schemas.microsoft.com/office/drawing/2014/main" val="264018285"/></a:ext></a:extLst></a:gridCol></a:tblGrid><a:tr h="132702"><a:tc>Dates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4Q23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1Q24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2Q24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3Q24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4Q24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1Q25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2Q25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3Q25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4Q25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1Q26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2Q26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tc>1H26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002060"/></a:solidFill></a:tcPr></a:tc><a:extLst><a:ext uri="{0D108BD9-81ED-4DB2-BD59-A6C34878D82A}"><a16:rowId xmlns:a16="http://schemas.microsoft.com/office/drawing/2014/main" val="2885202700"/></a:ext></a:extLst></a:tr><a:tr h="132702"><a:tc>Revenue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4,230,823.25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3,774,499.93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3,572,133.03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2,720,373.60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3,729,565.59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2,700,904.01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3,689,852.47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2,372,024.73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4,025,671.12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2,368,795.97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2,382,857.13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4,751,653.10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4072456436"/></a:ext></a:extLst></a:tr><a:tr h="132702"><a:tc>Capital Expenditures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(234,074.86)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(112,485.07)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(107,952.65)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(304,506.73)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(297,630.49)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(95,354.47)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(87,216.89)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(78,447.68)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(61,865.53)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(40,092.19)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(67,771.26)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(107,863.45)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224409333"/></a:ext></a:extLst></a:tr><a:tr h="132702"><a:tc>Net Income/Net Profit (Losses)</a:t></a:r><a:r><a:rPr lang="nl-NL" sz="850" b="0" i="0" u="none" strike="noStrike" dirty="0" err="1"><a:solidFill><a:srgbClr val="000000"/></a:solidFill><a:effectLst/><a:latin typeface="Calibri" panose="020F0502020204030204" pitchFamily="34" charset="0"/></a:rPr><a:t></a:t></a:r><a:r><a:rPr lang="nl-NL" sz="850" b="0" i="0" u="none" strike="noStrike" dirty="0"><a:solidFill><a:srgbClr val="000000"/></a:solidFill><a:effectLst/><a:latin typeface="Calibri" panose="020F0502020204030204" pitchFamily="34" charset="0"/></a:rPr><a:t></a:t></a:r><a:r><a:rPr lang="nl-NL" sz="850" b="0" i="0" u="none" strike="noStrike" dirty="0" err="1"><a:solidFill><a:srgbClr val="000000"/></a:solidFill><a:effectLst/><a:latin typeface="Calibri" panose="020F0502020204030204" pitchFamily="34" charset="0"/></a:rPr><a:t></a:t></a:r><a:r><a:rPr lang="nl-NL" sz="850" b="0" i="0" u="none" strike="noStrike" dirty="0"><a:solidFill><a:srgbClr val="000000"/></a:solidFill><a:effectLst/><a:latin typeface="Calibri" panose="020F0502020204030204" pitchFamily="34" charset="0"/></a:rPr><a:t>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176,421.45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98E72"/></a:solidFill></a:tcPr></a:tc><a:tc>1,436,953.18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96B"/></a:solidFill></a:tcPr></a:tc><a:tc>896,097.25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B379"/></a:solidFill></a:tcPr></a:tc><a:tc>368,868.03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B379"/></a:solidFill></a:tcPr></a:tc><a:tc>1,657,145.32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BAB77"/></a:solidFill></a:tcPr></a:tc><a:tc>305,874.26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482"/></a:solidFill></a:tcPr></a:tc><a:tc>982,173.64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EB84"/></a:solidFill></a:tcPr></a:tc><a:tc>75,523.35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2E383"/></a:solidFill></a:tcPr></a:tc><a:tc>1,181,809.47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D3DF82"/></a:solidFill></a:tcPr></a:tc><a:tc>277,628.65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74C37C"/></a:solidFill></a:tcPr></a:tc><a:tc>326,267.38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3BE7B"/></a:solidFill></a:tcPr></a:tc><a:tc>603,896.02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BED981"/></a:solidFill></a:tcPr></a:tc><a:extLst><a:ext uri="{0D108BD9-81ED-4DB2-BD59-A6C34878D82A}"><a16:rowId xmlns:a16="http://schemas.microsoft.com/office/drawing/2014/main" val="608918913"/></a:ext></a:extLst></a:tr><a:tr h="132702"><a:tc>Total Assets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66,827,648.49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67,653,911.80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67,862,665.42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68,466,170.28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76,023,348.89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75,916,736.81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76,641,008.60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77,400,079.56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79,268,402.20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80,125,884.90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81,942,880.58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81,942,880.58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2956574"/></a:ext></a:extLst></a:tr><a:tr h="132702"><a:tc>Total Liabilities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25,626,062.28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24,935,494.70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24,310,502.86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24,632,854.28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28,704,020.73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27,469,342.35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25,905,271.53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26,075,586.09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26,599,497.52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27,257,461.88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28,788,877.34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28,788,877.34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706887965"/></a:ext></a:extLst></a:tr><a:tr h="132702"><a:tc>Total Equity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41,201,586.20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42,718,417.10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43,552,162.56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43,833,316.00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47,319,328.15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48,447,394.46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50,735,737.06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51,324,493.47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52,668,904.68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52,868,423.02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53,154,003.25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53,154,003.25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545863842"/></a:ext></a:extLst></a:tr><a:tr h="132702"><a:tc>Net Debt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1,025,232.66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8ACA7E"/></a:solidFill></a:tcPr></a:tc><a:tc>1,263,661.32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95CD7E"/></a:solidFill></a:tcPr></a:tc><a:tc>1,329,674.01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94CD7E"/></a:solidFill></a:tcPr></a:tc><a:tc>2,194,292.97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96CD7E"/></a:solidFill></a:tcPr></a:tc><a:tc>3,454,295.10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82C77D"/></a:solidFill></a:tcPr></a:tc><a:tc>3,741,557.78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73C37C"/></a:solidFill></a:tcPr></a:tc><a:tc>1,746,344.99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CC17C"/></a:solidFill></a:tcPr></a:tc><a:tc>4,162,834.42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3BE7B"/></a:solidFill></a:tcPr></a:tc><a:tc>4,614,035.55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85C87D"/></a:solidFill></a:tcPr></a:tc><a:tc>6,250,119.00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95CD7E"/></a:solidFill></a:tcPr></a:tc><a:tc>8,761,255.25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CBDC81"/></a:solidFill></a:tcPr></a:tc><a:tc>8,761,255.25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73C37C"/></a:solidFill></a:tcPr></a:tc><a:extLst><a:ext uri="{0D108BD9-81ED-4DB2-BD59-A6C34878D82A}"><a16:rowId xmlns:a16="http://schemas.microsoft.com/office/drawing/2014/main" val="2240904842"/></a:ext></a:extLst></a:tr><a:tr h="132702"><a:tc>Cash From Operations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410,737.07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77D"/></a:solidFill></a:tcPr></a:tc><a:tc>(27,801.76)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983"/></a:solidFill></a:tcPr></a:tc><a:tc>899,529.55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DB80"/></a:solidFill></a:tcPr></a:tc><a:tc>449,588.74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082"/></a:solidFill></a:tcPr></a:tc><a:tc>(274,656.83)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C17B"/></a:solidFill></a:tcPr></a:tc><a:tc>(491,662.12)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E7E"/></a:solidFill></a:tcPr></a:tc><a:tc>(472,830.85)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D47F"/></a:solidFill></a:tcPr></a:tc><a:tc>(362,085.79)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D27F"/></a:solidFill></a:tcPr></a:tc><a:tc>(25,120.73)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4E483"/></a:solidFill></a:tcPr></a:tc><a:tc>(816,556.72)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7E984"/></a:solidFill></a:tcPr></a:tc><a:tc>(554,186.50)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D5DF82"/></a:solidFill></a:tcPr></a:tc><a:tc>(1,370,743.23)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A6B"/></a:solidFill></a:tcPr></a:tc><a:extLst><a:ext uri="{0D108BD9-81ED-4DB2-BD59-A6C34878D82A}"><a16:rowId xmlns:a16="http://schemas.microsoft.com/office/drawing/2014/main" val="4134528538"/></a:ext></a:extLst></a:tr><a:tr h="132702"><a:tc>Free Cash Flow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176,662.21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77D"/></a:solidFill></a:tcPr></a:tc><a:tc>(140,286.83)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883"/></a:solidFill></a:tcPr></a:tc><a:tc>791,576.91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D980"/></a:solidFill></a:tcPr></a:tc><a:tc>145,082.01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DF81"/></a:solidFill></a:tcPr></a:tc><a:tc>(572,287.31)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C07B"/></a:solidFill></a:tcPr></a:tc><a:tc>(587,016.59)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67D"/></a:solidFill></a:tcPr></a:tc><a:tc>(560,047.74)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D27F"/></a:solidFill></a:tcPr></a:tc><a:tc>(440,533.47)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F7E"/></a:solidFill></a:tcPr></a:tc><a:tc>(86,986.26)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6E483"/></a:solidFill></a:tcPr></a:tc><a:tc>(856,648.91)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B84"/></a:solidFill></a:tcPr></a:tc><a:tc>(621,957.76)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D6E082"/></a:solidFill></a:tcPr></a:tc><a:tc>(1,478,606.68)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96B"/></a:solidFill></a:tcPr></a:tc><a:extLst><a:ext uri="{0D108BD9-81ED-4DB2-BD59-A6C34878D82A}"><a16:rowId xmlns:a16="http://schemas.microsoft.com/office/drawing/2014/main" val="3023288346"/></a:ext></a:extLst></a:tr><a:tr h="132702"><a:tc>Return on Assets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2.95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3.68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4.54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4.12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6.10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4.50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4.59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4.14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3.23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2.35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2.35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1748905369"/></a:ext></a:extLst></a:tr><a:tr h="132702"><a:tc>Return on Common Equity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5.55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796E"/></a:solidFill></a:tcPr></a:tc><a:tc>6.84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B6B"/></a:solidFill></a:tcPr></a:tc><a:tc>8.28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98770"/></a:solidFill></a:tcPr></a:tc><a:tc>7.65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96B"/></a:solidFill></a:tcPr></a:tc><a:tc>11.27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746D"/></a:solidFill></a:tcPr></a:tc><a:tc>8.12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DD81"/></a:solidFill></a:tcPr></a:tc><a:tc>8.14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EB84"/></a:solidFill></a:tcPr></a:tc><a:tc>7.38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2E383"/></a:solidFill></a:tcPr></a:tc><a:tc>6.01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C8DB81"/></a:solidFill></a:tcPr></a:tc><a:tc>5.86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96CD7E"/></a:solidFill></a:tcPr></a:tc><a:tc>4.26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BC17C"/></a:solidFill></a:tcPr></a:tc><a:tc>4.26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3BE7B"/></a:solidFill></a:tcPr></a:tc><a:extLst><a:ext uri="{0D108BD9-81ED-4DB2-BD59-A6C34878D82A}"><a16:rowId xmlns:a16="http://schemas.microsoft.com/office/drawing/2014/main" val="2989247281"/></a:ext></a:extLst></a:tr><a:tr h="132702"><a:tc>Profit Margin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4.17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38.07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25.09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13.56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44.43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11.32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26.62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3.18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29.36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11.72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13.69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12.71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2002116787"/></a:ext></a:extLst></a:tr><a:tr h="132702"><a:tc>Total Debt to Total Equity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28.72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8CCA7E"/></a:solidFill></a:tcPr></a:tc><a:tc>28.82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E0E383"/></a:solidFill></a:tcPr></a:tc><a:tc>27.78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C87D"/></a:solidFill></a:tcPr></a:tc><a:tc>26.51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CC27C"/></a:solidFill></a:tcPr></a:tc><a:tc>30.55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DEB84"/></a:solidFill></a:tcPr></a:tc><a:tc>28.37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9CCF7F"/></a:solidFill></a:tcPr></a:tc><a:tc>25.26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74C37C"/></a:solidFill></a:tcPr></a:tc><a:tc>29.15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63BE7B"/></a:solidFill></a:tcPr></a:tc><a:tc>31.14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EEA83"/></a:solidFill></a:tcPr></a:tc><a:tc>33.05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BA476"/></a:solidFill></a:tcPr></a:tc><a:tc>35.16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A6B"/></a:solidFill></a:tcPr></a:tc><a:tc>35.16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solidFill><a:srgbClr val="F8696B"/></a:solidFill></a:tcPr></a:tc><a:extLst><a:ext uri="{0D108BD9-81ED-4DB2-BD59-A6C34878D82A}"><a16:rowId xmlns:a16="http://schemas.microsoft.com/office/drawing/2014/main" val="3887869145"/></a:ext></a:extLst></a:tr><a:tr h="132702"><a:tc>Financial Leverage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1.90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1.77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1.75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1.82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3522743194"/></a:ext></a:extLst></a:tr><a:tr h="132702"><a:tc>Quick Ratio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0.93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0.91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0.87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0.73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0.78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0.80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0.94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0.98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1.23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1.28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1.08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1.08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2030421657"/></a:ext></a:extLst></a:tr><a:tr h="132702"><a:tc>Profit Margin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4.17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38.07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25.09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13.56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44.43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11.32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26.62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3.18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29.36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11.72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13.69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tc>12.71</a:t></a:r></a:p></a:txBody><a:tcPr marL="9525" marR="9525" marT="9525" marB="0" anchor="b"><a:lnL w="6350" cap="flat" cmpd="sng" algn="ctr"><a:solidFill><a:srgbClr val="000000"/></a:solidFill><a:prstDash val="solid"/><a:round/><a:headEnd type="none" w="med" len="med"/><a:tailEnd type="none" w="med" len="med"/></a:lnL><a:lnR w="6350" cap="flat" cmpd="sng" algn="ctr"><a:solidFill><a:srgbClr val="000000"/></a:solidFill><a:prstDash val="solid"/><a:round/><a:headEnd type="none" w="med" len="med"/><a:tailEnd type="none" w="med" len="med"/></a:lnR><a:lnT w="6350" cap="flat" cmpd="sng" algn="ctr"><a:solidFill><a:srgbClr val="000000"/></a:solidFill><a:prstDash val="solid"/><a:round/><a:headEnd type="none" w="med" len="med"/><a:tailEnd type="none" w="med" len="med"/></a:lnT><a:lnB w="6350" cap="flat" cmpd="sng" algn="ctr"><a:solidFill><a:srgbClr val="000000"/></a:solidFill><a:prstDash val="solid"/><a:round/><a:headEnd type="none" w="med" len="med"/><a:tailEnd type="none" w="med" len="med"/></a:lnB><a:noFill/></a:tcPr></a:tc><a:extLst><a:ext uri="{0D108BD9-81ED-4DB2-BD59-A6C34878D82A}"><a16:rowId xmlns:a16="http://schemas.microsoft.com/office/drawing/2014/main" val="3204227548"/></a:ext></a:extLst></a:tr></a:tbl></a:graphicData></a:graphic></p:graphicFrame></p:spTree><p:extLst><p:ext uri="{BB962C8B-B14F-4D97-AF65-F5344CB8AC3E}"><p14:creationId xmlns:p14="http://schemas.microsoft.com/office/powerpoint/2010/main" val="4065475020"/></p:ext></p:extLst></p:cSld><p:clrMapOvr><a:masterClrMapping/></p:clrMapOvr>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Metrics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 txBox="1"/>
          <p:nvPr/>
        </p:nvSpPr>
        <p:spPr>
          <a:xfrm>
            <a:off x="341068" y="3743944"/>
            <a:ext cx="11509861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/>
            </a:r>
            <a:endParaRPr lang="en-US" sz="3200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3400D90-0849-4FC9-8495-F74D96107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190596"/>
              </p:ext>
            </p:extLst>
          </p:nvPr>
        </p:nvGraphicFramePr>
        <p:xfrm>
          <a:off x="350593" y="4136012"/>
          <a:ext cx="3817063" cy="2462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130D22B-9F65-4732-B05A-B23F64FD5D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298179"/>
              </p:ext>
            </p:extLst>
          </p:nvPr>
        </p:nvGraphicFramePr>
        <p:xfrm>
          <a:off x="4189474" y="4136012"/>
          <a:ext cx="3813048" cy="2466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A39E550-FF15-4C80-822B-BBBF14C018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4635603"/>
              </p:ext>
            </p:extLst>
          </p:nvPr>
        </p:nvGraphicFramePr>
        <p:xfrm>
          <a:off x="7980704" y="4136012"/>
          <a:ext cx="3870225" cy="246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F355FC6-3A02-8037-9B56-67B3D4B5AC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0214378"/>
              </p:ext>
            </p:extLst>
          </p:nvPr>
        </p:nvGraphicFramePr>
        <p:xfrm>
          <a:off x="372411" y="1157088"/>
          <a:ext cx="3817063" cy="246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8EEAC1B-9C48-468F-26D0-DAEBA843A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4899665"/>
              </p:ext>
            </p:extLst>
          </p:nvPr>
        </p:nvGraphicFramePr>
        <p:xfrm>
          <a:off x="4189474" y="1157088"/>
          <a:ext cx="3813048" cy="2462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6DF3791-F7F9-2F8A-E289-E2DA3F6159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926597"/>
              </p:ext>
            </p:extLst>
          </p:nvPr>
        </p:nvGraphicFramePr>
        <p:xfrm>
          <a:off x="7980704" y="1157087"/>
          <a:ext cx="3834867" cy="2462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Liquidity &amp; Solvency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 txBox="1"/>
          <p:nvPr/>
        </p:nvSpPr>
        <p:spPr>
          <a:xfrm>
            <a:off x="341068" y="3743944"/>
            <a:ext cx="11509861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Flow &amp; Sustainability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/>
            </a:r>
            <a:endParaRPr lang="en-US" sz="32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420D482-40FF-4813-9A4B-25410D757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8882366"/>
              </p:ext>
            </p:extLst>
          </p:nvPr>
        </p:nvGraphicFramePr>
        <p:xfrm>
          <a:off x="339822" y="1143334"/>
          <a:ext cx="3824990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41FC39-E2F2-4C4A-8522-5EC28D0A30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9362204"/>
              </p:ext>
            </p:extLst>
          </p:nvPr>
        </p:nvGraphicFramePr>
        <p:xfrm>
          <a:off x="4141263" y="1149364"/>
          <a:ext cx="3860148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E6608BA-F9CA-42A0-938A-48AA29C518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636077"/>
              </p:ext>
            </p:extLst>
          </p:nvPr>
        </p:nvGraphicFramePr>
        <p:xfrm>
          <a:off x="8001410" y="1143334"/>
          <a:ext cx="3782815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F3EA468-713E-47B2-BC20-2C2F084A3B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9467646"/>
              </p:ext>
            </p:extLst>
          </p:nvPr>
        </p:nvGraphicFramePr>
        <p:xfrm>
          <a:off x="339822" y="4084048"/>
          <a:ext cx="3824990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DF659C6-97B4-4ED3-B321-F65B2C028B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55357"/>
              </p:ext>
            </p:extLst>
          </p:nvPr>
        </p:nvGraphicFramePr>
        <p:xfrm>
          <a:off x="8001410" y="4084048"/>
          <a:ext cx="3801443" cy="258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3575B30-E482-420D-A2C3-81CBC6CCC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850689"/>
              </p:ext>
            </p:extLst>
          </p:nvPr>
        </p:nvGraphicFramePr>
        <p:xfrm>
          <a:off x="4141263" y="4084048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4097</TotalTime>
  <Words>1301</Words>
  <Application>Microsoft Macintosh PowerPoint</Application>
  <PresentationFormat>Widescreen</PresentationFormat>
  <Paragraphs>465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-webkit-standard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Company 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bloomberg</dc:creator>
  <cp:lastModifiedBy>Microsoft Office User</cp:lastModifiedBy>
  <cp:revision>4</cp:revision>
  <dcterms:created xsi:type="dcterms:W3CDTF">2026-09-18T02:57:23Z</dcterms:created>
  <dcterms:modified xsi:type="dcterms:W3CDTF">2026-09-21T06:07:14Z</dcterms:modified>
</cp:coreProperties>
</file>