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3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9.xml" ContentType="application/vnd.openxmlformats-officedocument.themeOverr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10.xml" ContentType="application/vnd.openxmlformats-officedocument.themeOverr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1.xml" ContentType="application/vnd.openxmlformats-officedocument.themeOverr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12.xml" ContentType="application/vnd.openxmlformats-officedocument.themeOverr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3.xml" ContentType="application/vnd.openxmlformats-officedocument.themeOverr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1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8" r:id="rId2"/>
    <p:sldId id="267" r:id="rId3"/>
    <p:sldId id="263" r:id="rId4"/>
    <p:sldId id="26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>
        <p:scale>
          <a:sx n="113" d="100"/>
          <a:sy n="113" d="100"/>
        </p:scale>
        <p:origin x="656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Book2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Book2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Book2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Book2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Book2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Book2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Book2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Book2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oleObject" Target="Book2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oleObject" Target="Book2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oleObject" Target="Book2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oleObject" Target="Book2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oleObject" Target="Book2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oleObject" Target="Book2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ID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 Cash Flow (IDR 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Sheet1!$B$5</c:f>
              <c:strCache>
                <c:ptCount val="1"/>
                <c:pt idx="0">
                  <c:v>Free Cash Flow</c:v>
                </c:pt>
              </c:strCache>
            </c:strRef>
          </c:tx>
          <c:spPr>
            <a:solidFill>
              <a:srgbClr val="E9713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FCF-462B-B06A-2B2ADD12606F}"/>
              </c:ext>
            </c:extLst>
          </c:dPt>
          <c:dPt>
            <c:idx val="9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FCF-462B-B06A-2B2ADD12606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Sheet1!$C$5:$L$5</c:f>
              <c:numCache>
                <c:formatCode>#,##0</c:formatCode>
                <c:ptCount val="10"/>
                <c:pt idx="0">
                  <c:v>4527.202132</c:v>
                </c:pt>
                <c:pt idx="1">
                  <c:v>1083.429397</c:v>
                </c:pt>
                <c:pt idx="2">
                  <c:v>2172.888353</c:v>
                </c:pt>
                <c:pt idx="3">
                  <c:v>971.4085482</c:v>
                </c:pt>
                <c:pt idx="4">
                  <c:v>2863.832298</c:v>
                </c:pt>
                <c:pt idx="5">
                  <c:v>2618.350384</c:v>
                </c:pt>
                <c:pt idx="6">
                  <c:v>630.8597505</c:v>
                </c:pt>
                <c:pt idx="7">
                  <c:v>224.0847655</c:v>
                </c:pt>
                <c:pt idx="8">
                  <c:v>-1674.505367</c:v>
                </c:pt>
                <c:pt idx="9">
                  <c:v>-1478.606675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FCF-462B-B06A-2B2ADD126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ysClr val="window" lastClr="FFFFF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 sz="1200" b="1" dirty="0"/>
              <a:t>Net Debt (IDR 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Sheet1!$B$4</c:f>
              <c:strCache>
                <c:ptCount val="1"/>
                <c:pt idx="0">
                  <c:v>Net Debt</c:v>
                </c:pt>
              </c:strCache>
            </c:strRef>
          </c:tx>
          <c:spPr>
            <a:solidFill>
              <a:srgbClr val="E9713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Sheet1!$C$4:$L$4</c:f>
              <c:numCache>
                <c:formatCode>#,##0</c:formatCode>
                <c:ptCount val="10"/>
                <c:pt idx="0">
                  <c:v>2520.674049</c:v>
                </c:pt>
                <c:pt idx="1">
                  <c:v>3430.445205</c:v>
                </c:pt>
                <c:pt idx="2">
                  <c:v>3184.765004</c:v>
                </c:pt>
                <c:pt idx="3">
                  <c:v>1918.68766</c:v>
                </c:pt>
                <c:pt idx="4">
                  <c:v>153.7316231</c:v>
                </c:pt>
                <c:pt idx="5">
                  <c:v>38.6300655</c:v>
                </c:pt>
                <c:pt idx="6">
                  <c:v>1025.232656</c:v>
                </c:pt>
                <c:pt idx="7">
                  <c:v>3454.295102</c:v>
                </c:pt>
                <c:pt idx="8">
                  <c:v>4614.035549</c:v>
                </c:pt>
                <c:pt idx="9">
                  <c:v>8761.255253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ysClr val="window" lastClr="FFFFF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 sz="1200" b="1" dirty="0"/>
              <a:t>Net Income (IDR 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Net Income</c:v>
                </c:pt>
              </c:strCache>
            </c:strRef>
          </c:tx>
          <c:spPr>
            <a:solidFill>
              <a:srgbClr val="E9713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Sheet1!$C$3:$L$3</c:f>
              <c:numCache>
                <c:formatCode>#,##0</c:formatCode>
                <c:ptCount val="10"/>
                <c:pt idx="0">
                  <c:v>4920.228055</c:v>
                </c:pt>
                <c:pt idx="1">
                  <c:v>1293.850223</c:v>
                </c:pt>
                <c:pt idx="2">
                  <c:v>2791.416326</c:v>
                </c:pt>
                <c:pt idx="3">
                  <c:v>281.7008887</c:v>
                </c:pt>
                <c:pt idx="4">
                  <c:v>1348.623038</c:v>
                </c:pt>
                <c:pt idx="5">
                  <c:v>2433.146905</c:v>
                </c:pt>
                <c:pt idx="6">
                  <c:v>1945.467441</c:v>
                </c:pt>
                <c:pt idx="7">
                  <c:v>4359.063784</c:v>
                </c:pt>
                <c:pt idx="8">
                  <c:v>2545.380719</c:v>
                </c:pt>
                <c:pt idx="9">
                  <c:v>603.8960249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ysClr val="window" lastClr="FFFFF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Profit Margin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Profit Margin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Sheet1!$C$8:$L$8</c:f>
              <c:numCache>
                <c:formatCode>0.0</c:formatCode>
                <c:ptCount val="10"/>
                <c:pt idx="0">
                  <c:v>47.5506</c:v>
                </c:pt>
                <c:pt idx="1">
                  <c:v>19.5187</c:v>
                </c:pt>
                <c:pt idx="2">
                  <c:v>39.3997</c:v>
                </c:pt>
                <c:pt idx="3">
                  <c:v>4.5578</c:v>
                </c:pt>
                <c:pt idx="4">
                  <c:v>17.618</c:v>
                </c:pt>
                <c:pt idx="5">
                  <c:v>23.7717</c:v>
                </c:pt>
                <c:pt idx="6">
                  <c:v>16.8597</c:v>
                </c:pt>
                <c:pt idx="7">
                  <c:v>31.5953</c:v>
                </c:pt>
                <c:pt idx="8">
                  <c:v>19.9037</c:v>
                </c:pt>
                <c:pt idx="9">
                  <c:v>12.70917695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Return on Equity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Sheet1!$B$9</c:f>
              <c:strCache>
                <c:ptCount val="1"/>
                <c:pt idx="0">
                  <c:v>Return on Equity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Sheet1!$C$9:$L$9</c:f>
              <c:numCache>
                <c:formatCode>0.0</c:formatCode>
                <c:ptCount val="10"/>
                <c:pt idx="0">
                  <c:v>21.4005</c:v>
                </c:pt>
                <c:pt idx="1">
                  <c:v>5.0225</c:v>
                </c:pt>
                <c:pt idx="2">
                  <c:v>10.0758</c:v>
                </c:pt>
                <c:pt idx="3">
                  <c:v>0.9493</c:v>
                </c:pt>
                <c:pt idx="4">
                  <c:v>4.3804</c:v>
                </c:pt>
                <c:pt idx="5">
                  <c:v>7.4759</c:v>
                </c:pt>
                <c:pt idx="6">
                  <c:v>5.5499</c:v>
                </c:pt>
                <c:pt idx="7">
                  <c:v>11.2736</c:v>
                </c:pt>
                <c:pt idx="8">
                  <c:v>6.0117</c:v>
                </c:pt>
                <c:pt idx="9">
                  <c:v>4.2605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Return on Assets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Sheet1!$B$10</c:f>
              <c:strCache>
                <c:ptCount val="1"/>
                <c:pt idx="0">
                  <c:v>Return on Assets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Sheet1!$C$10:$L$10</c:f>
              <c:numCache>
                <c:formatCode>0.0</c:formatCode>
                <c:ptCount val="10"/>
                <c:pt idx="0">
                  <c:v>11.6472</c:v>
                </c:pt>
                <c:pt idx="1">
                  <c:v>2.6367</c:v>
                </c:pt>
                <c:pt idx="2">
                  <c:v>5.2307</c:v>
                </c:pt>
                <c:pt idx="3">
                  <c:v>0.4882</c:v>
                </c:pt>
                <c:pt idx="4">
                  <c:v>2.2048</c:v>
                </c:pt>
                <c:pt idx="5">
                  <c:v>3.8478</c:v>
                </c:pt>
                <c:pt idx="6">
                  <c:v>2.9515</c:v>
                </c:pt>
                <c:pt idx="7">
                  <c:v>6.103</c:v>
                </c:pt>
                <c:pt idx="8">
                  <c:v>3.2782</c:v>
                </c:pt>
                <c:pt idx="9">
                  <c:v>2.3473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Revenue (IDR Tn)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Sheet4!$B$5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D61-4FFA-BFA9-537AD5D1DA0F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D61-4FFA-BFA9-537AD5D1DA0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Sheet4!$C$4:$L$4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Sheet4!$C$5:$L$5</c:f>
              <c:numCache>
                <c:formatCode>0.0</c:formatCode>
                <c:ptCount val="10"/>
                <c:pt idx="0">
                  <c:v>10.34734319</c:v>
                </c:pt>
                <c:pt idx="1">
                  <c:v>6.628782185</c:v>
                </c:pt>
                <c:pt idx="2">
                  <c:v>7.084864039</c:v>
                </c:pt>
                <c:pt idx="3">
                  <c:v>6.180589086</c:v>
                </c:pt>
                <c:pt idx="4">
                  <c:v>7.654802251</c:v>
                </c:pt>
                <c:pt idx="5">
                  <c:v>10.23547996</c:v>
                </c:pt>
                <c:pt idx="6">
                  <c:v>11.53914125</c:v>
                </c:pt>
                <c:pt idx="7">
                  <c:v>13.79657215</c:v>
                </c:pt>
                <c:pt idx="8">
                  <c:v>12.78845234</c:v>
                </c:pt>
                <c:pt idx="9">
                  <c:v>4.751653096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61-4FFA-BFA9-537AD5D1DA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Total Assets (IDR Tn)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Sheet4!$B$9</c:f>
              <c:strCache>
                <c:ptCount val="1"/>
                <c:pt idx="0">
                  <c:v>Total Assets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0CF-497E-AB76-4A5B28ADF111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0CF-497E-AB76-4A5B28ADF111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Sheet4!$C$8:$L$8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Sheet4!$C$9:$L$9</c:f>
              <c:numCache>
                <c:formatCode>0.0</c:formatCode>
                <c:ptCount val="10"/>
                <c:pt idx="0">
                  <c:v>45.95118848</c:v>
                </c:pt>
                <c:pt idx="1">
                  <c:v>52.19072001</c:v>
                </c:pt>
                <c:pt idx="2">
                  <c:v>54.5409784</c:v>
                </c:pt>
                <c:pt idx="3">
                  <c:v>60.86292659</c:v>
                </c:pt>
                <c:pt idx="4">
                  <c:v>61.46971217</c:v>
                </c:pt>
                <c:pt idx="5">
                  <c:v>64.99940348</c:v>
                </c:pt>
                <c:pt idx="6">
                  <c:v>66.82764849</c:v>
                </c:pt>
                <c:pt idx="7">
                  <c:v>76.02334889</c:v>
                </c:pt>
                <c:pt idx="8">
                  <c:v>79.2684022</c:v>
                </c:pt>
                <c:pt idx="9">
                  <c:v>81.94288058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CF-497E-AB76-4A5B28ADF1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 sz="1200" b="1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Capital Structure (IDR Tn)</a:t>
            </a:r>
            <a:r>
              <a:rPr lang="en-ID" sz="1200" b="1" baseline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endParaRPr lang="en-ID" sz="1200" b="1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9496806538531846E-2"/>
          <c:y val="0.21433841084997937"/>
          <c:w val="0.92762976069384251"/>
          <c:h val="0.6662359264920639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Sheet4!$B$13</c:f>
              <c:strCache>
                <c:ptCount val="1"/>
                <c:pt idx="0">
                  <c:v>Total Equity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88E-403A-9AF7-5D01D19C0CF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8E-403A-9AF7-5D01D19C0CF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88E-403A-9AF7-5D01D19C0C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Sheet4!$C$11:$L$12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  <c:extLst/>
            </c:strRef>
          </c:cat>
          <c:val>
            <c:numRef>
              <c:f>Sheet4!$C$13:$L$13</c:f>
              <c:numCache>
                <c:formatCode>0.0</c:formatCode>
                <c:ptCount val="10"/>
                <c:pt idx="0">
                  <c:v>29.19685109</c:v>
                </c:pt>
                <c:pt idx="1">
                  <c:v>30.3580015</c:v>
                </c:pt>
                <c:pt idx="2">
                  <c:v>33.6254143</c:v>
                </c:pt>
                <c:pt idx="3">
                  <c:v>34.47110248</c:v>
                </c:pt>
                <c:pt idx="4">
                  <c:v>35.89371701</c:v>
                </c:pt>
                <c:pt idx="5">
                  <c:v>38.04543613</c:v>
                </c:pt>
                <c:pt idx="6">
                  <c:v>41.2015862</c:v>
                </c:pt>
                <c:pt idx="7">
                  <c:v>47.31932815</c:v>
                </c:pt>
                <c:pt idx="8">
                  <c:v>52.66890468</c:v>
                </c:pt>
                <c:pt idx="9">
                  <c:v>53.15400325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88E-403A-9AF7-5D01D19C0CF9}"/>
            </c:ext>
          </c:extLst>
        </c:ser>
        <c:ser>
          <c:idx val="1"/>
          <c:order val="1"/>
          <c:tx>
            <c:strRef>
              <c:f>Sheet4!$B$14</c:f>
              <c:strCache>
                <c:ptCount val="1"/>
                <c:pt idx="0">
                  <c:v>Total Liabilities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8"/>
              <c:layout>
                <c:manualLayout>
                  <c:x val="-1.2142827568928447E-16"/>
                  <c:y val="-8.767769047460473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3AA-8D49-B8A9-505100D606E2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88E-403A-9AF7-5D01D19C0C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Sheet4!$C$11:$L$12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  <c:extLst/>
            </c:strRef>
          </c:cat>
          <c:val>
            <c:numRef>
              <c:f>Sheet4!$C$14:$L$14</c:f>
              <c:numCache>
                <c:formatCode>0.0</c:formatCode>
                <c:ptCount val="10"/>
                <c:pt idx="0">
                  <c:v>16.75433739</c:v>
                </c:pt>
                <c:pt idx="1">
                  <c:v>21.8327185</c:v>
                </c:pt>
                <c:pt idx="2">
                  <c:v>20.9155641</c:v>
                </c:pt>
                <c:pt idx="3">
                  <c:v>26.39182411</c:v>
                </c:pt>
                <c:pt idx="4">
                  <c:v>25.57599515</c:v>
                </c:pt>
                <c:pt idx="5">
                  <c:v>26.95396735</c:v>
                </c:pt>
                <c:pt idx="6">
                  <c:v>25.62606228</c:v>
                </c:pt>
                <c:pt idx="7">
                  <c:v>28.70402073</c:v>
                </c:pt>
                <c:pt idx="8">
                  <c:v>26.59949752</c:v>
                </c:pt>
                <c:pt idx="9">
                  <c:v>28.78887734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88E-403A-9AF7-5D01D19C0C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05085856"/>
        <c:axId val="905087776"/>
      </c:barChart>
      <c:catAx>
        <c:axId val="905085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905087776"/>
        <c:crosses val="autoZero"/>
        <c:auto val="1"/>
        <c:lblAlgn val="ctr"/>
        <c:lblOffset val="100"/>
        <c:noMultiLvlLbl val="0"/>
      </c:catAx>
      <c:valAx>
        <c:axId val="90508777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905085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633831196028287"/>
          <c:y val="0.17028511278903882"/>
          <c:w val="0.53416489173085835"/>
          <c:h val="8.70335753843054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Quick Ratio (X)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Sheet1!$B$13</c:f>
              <c:strCache>
                <c:ptCount val="1"/>
                <c:pt idx="0">
                  <c:v>Quick Ratio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Sheet1!$C$13:$L$13</c:f>
              <c:numCache>
                <c:formatCode>0.00</c:formatCode>
                <c:ptCount val="10"/>
                <c:pt idx="0">
                  <c:v>0.9311</c:v>
                </c:pt>
                <c:pt idx="1">
                  <c:v>1.5144</c:v>
                </c:pt>
                <c:pt idx="2">
                  <c:v>1.6126</c:v>
                </c:pt>
                <c:pt idx="3">
                  <c:v>1.1338</c:v>
                </c:pt>
                <c:pt idx="4">
                  <c:v>1.0919</c:v>
                </c:pt>
                <c:pt idx="5">
                  <c:v>1.0695</c:v>
                </c:pt>
                <c:pt idx="6">
                  <c:v>0.9304</c:v>
                </c:pt>
                <c:pt idx="7">
                  <c:v>0.7754</c:v>
                </c:pt>
                <c:pt idx="8">
                  <c:v>1.2315</c:v>
                </c:pt>
                <c:pt idx="9">
                  <c:v>1.0829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Debt to Equity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6190322236349486E-2"/>
          <c:y val="0.17596823108959184"/>
          <c:w val="0.92761935552730101"/>
          <c:h val="0.70950929379012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Sheet1!$B$14</c:f>
              <c:strCache>
                <c:ptCount val="1"/>
                <c:pt idx="0">
                  <c:v>Debt to Equity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Sheet1!$C$14:$L$14</c:f>
              <c:numCache>
                <c:formatCode>0.0</c:formatCode>
                <c:ptCount val="10"/>
                <c:pt idx="0">
                  <c:v>31.0926</c:v>
                </c:pt>
                <c:pt idx="1">
                  <c:v>45.9566</c:v>
                </c:pt>
                <c:pt idx="2">
                  <c:v>39.872</c:v>
                </c:pt>
                <c:pt idx="3">
                  <c:v>49.6679</c:v>
                </c:pt>
                <c:pt idx="4">
                  <c:v>33.417</c:v>
                </c:pt>
                <c:pt idx="5">
                  <c:v>31.4832</c:v>
                </c:pt>
                <c:pt idx="6">
                  <c:v>28.7199</c:v>
                </c:pt>
                <c:pt idx="7">
                  <c:v>30.5526</c:v>
                </c:pt>
                <c:pt idx="8">
                  <c:v>31.1426</c:v>
                </c:pt>
                <c:pt idx="9">
                  <c:v>35.1641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Financial Leverage (X)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Sheet1!$B$15</c:f>
              <c:strCache>
                <c:ptCount val="1"/>
                <c:pt idx="0">
                  <c:v>Financial Leverage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Sheet1!$C$15:$L$15</c:f>
              <c:numCache>
                <c:formatCode>0.00</c:formatCode>
                <c:ptCount val="10"/>
                <c:pt idx="0">
                  <c:v>1.8374</c:v>
                </c:pt>
                <c:pt idx="1">
                  <c:v>1.9048</c:v>
                </c:pt>
                <c:pt idx="2">
                  <c:v>1.9263</c:v>
                </c:pt>
                <c:pt idx="3">
                  <c:v>1.9446</c:v>
                </c:pt>
                <c:pt idx="4">
                  <c:v>1.9867</c:v>
                </c:pt>
                <c:pt idx="5">
                  <c:v>1.9429</c:v>
                </c:pt>
                <c:pt idx="6">
                  <c:v>1.8803</c:v>
                </c:pt>
                <c:pt idx="7">
                  <c:v>1.8472</c:v>
                </c:pt>
                <c:pt idx="8">
                  <c:v>1.8338</c:v>
                </c:pt>
                <c:pt idx="9">
                  <c:v>1.8174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 dirty="0"/>
              <a:t>Operating Cash Flow (IDR 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Sheet1!$B$18</c:f>
              <c:strCache>
                <c:ptCount val="1"/>
                <c:pt idx="0">
                  <c:v>Operating Cash Flow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dLbl>
              <c:idx val="6"/>
              <c:layout>
                <c:manualLayout>
                  <c:x val="-1.3281080473413002E-2"/>
                  <c:y val="1.481004657584735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2E5-7045-BE26-3F6F97A10E4F}"/>
                </c:ext>
              </c:extLst>
            </c:dLbl>
            <c:dLbl>
              <c:idx val="7"/>
              <c:layout>
                <c:manualLayout>
                  <c:x val="3.3202701183532505E-3"/>
                  <c:y val="2.468341095974552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2E5-7045-BE26-3F6F97A10E4F}"/>
                </c:ext>
              </c:extLst>
            </c:dLbl>
            <c:dLbl>
              <c:idx val="9"/>
              <c:layout>
                <c:manualLayout>
                  <c:x val="6.6405402367065011E-3"/>
                  <c:y val="1.9435756663026978E-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03-4418-A8A1-89C0CEF34F5D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Sheet1!$C$18:$L$18</c:f>
              <c:numCache>
                <c:formatCode>#,##0</c:formatCode>
                <c:ptCount val="10"/>
                <c:pt idx="0">
                  <c:v>4606.851241</c:v>
                </c:pt>
                <c:pt idx="1">
                  <c:v>1125.468091</c:v>
                </c:pt>
                <c:pt idx="2">
                  <c:v>2557.65541</c:v>
                </c:pt>
                <c:pt idx="3">
                  <c:v>1103.95069</c:v>
                </c:pt>
                <c:pt idx="4">
                  <c:v>2887.014889</c:v>
                </c:pt>
                <c:pt idx="5">
                  <c:v>2816.809598</c:v>
                </c:pt>
                <c:pt idx="6">
                  <c:v>1207.984649</c:v>
                </c:pt>
                <c:pt idx="7">
                  <c:v>1046.659707</c:v>
                </c:pt>
                <c:pt idx="8">
                  <c:v>-1351.699488</c:v>
                </c:pt>
                <c:pt idx="9">
                  <c:v>-1370.743226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 dirty="0"/>
              <a:t>Capital Expenditure (IDR Bn)</a:t>
            </a:r>
            <a:r>
              <a:rPr lang="en-ID" dirty="0" err="1"/>
              <a:t/>
            </a:r>
            <a:r>
              <a:rPr lang="en-ID" dirty="0"/>
              <a:t/>
            </a:r>
            <a:r>
              <a:rPr lang="en-ID" baseline="0" dirty="0"/>
              <a:t/>
            </a:r>
            <a:endParaRPr lang="en-ID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Sheet1!$B$20</c:f>
              <c:strCache>
                <c:ptCount val="1"/>
                <c:pt idx="0">
                  <c:v>Capital Expenditure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Sheet1!$C$20:$L$20</c:f>
              <c:numCache>
                <c:formatCode>#,##0</c:formatCode>
                <c:ptCount val="10"/>
                <c:pt idx="0">
                  <c:v>-79.6491091</c:v>
                </c:pt>
                <c:pt idx="1">
                  <c:v>-42.0386942</c:v>
                </c:pt>
                <c:pt idx="2">
                  <c:v>-384.7670573</c:v>
                </c:pt>
                <c:pt idx="3">
                  <c:v>-132.5421418</c:v>
                </c:pt>
                <c:pt idx="4">
                  <c:v>-23.1825909</c:v>
                </c:pt>
                <c:pt idx="5">
                  <c:v>-198.4592147</c:v>
                </c:pt>
                <c:pt idx="6">
                  <c:v>-577.1248988</c:v>
                </c:pt>
                <c:pt idx="7">
                  <c:v>-822.5749411</c:v>
                </c:pt>
                <c:pt idx="8">
                  <c:v>-322.805879</c:v>
                </c:pt>
                <c:pt idx="9">
                  <c:v>-107.8634491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 dirty="0"/>
              <a:t>Free Cash Flow (IDR 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Sheet1!$B$5</c:f>
              <c:strCache>
                <c:ptCount val="1"/>
                <c:pt idx="0">
                  <c:v>Free Cash Flow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Sheet1!$C$5:$L$5</c:f>
              <c:numCache>
                <c:formatCode>#,##0</c:formatCode>
                <c:ptCount val="10"/>
                <c:pt idx="0">
                  <c:v>4527.202132</c:v>
                </c:pt>
                <c:pt idx="1">
                  <c:v>1083.429397</c:v>
                </c:pt>
                <c:pt idx="2">
                  <c:v>2172.888353</c:v>
                </c:pt>
                <c:pt idx="3">
                  <c:v>971.4085482</c:v>
                </c:pt>
                <c:pt idx="4">
                  <c:v>2863.832298</c:v>
                </c:pt>
                <c:pt idx="5">
                  <c:v>2618.350384</c:v>
                </c:pt>
                <c:pt idx="6">
                  <c:v>630.8597505</c:v>
                </c:pt>
                <c:pt idx="7">
                  <c:v>224.0847655</c:v>
                </c:pt>
                <c:pt idx="8">
                  <c:v>-1674.505367</c:v>
                </c:pt>
                <c:pt idx="9">
                  <c:v>-1478.606675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E5F1AD-FEAE-434E-B97C-E95F59767822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8C95F-1AB2-4A77-9B98-DD4F46A3689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4747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ED3391-5473-4368-8387-5983A9DC3B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965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F54FC-A085-4F07-844D-85C9C98AEA15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94749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F54FC-A085-4F07-844D-85C9C98AEA15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328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49595-8991-F93B-D011-05F921BD7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53D45-FDD2-316B-4069-B5F586E3DF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1030E-D60A-AD35-00B2-C06DE2AB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9F748-B750-0295-19F3-C36EAE38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1C434-A940-4531-8760-FDFE25EE5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56565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F649-5DE4-50A7-35FC-43B36BCBF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CD34C-A0E0-03D5-7B46-68E20A272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3B4C6-5737-FF4D-C6D1-FE91BC478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0690F-634A-813D-AA4A-94DB06F43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69A9A-EE12-F453-A2E6-72A9D3AB6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7040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85846-0705-CF4B-8F3B-5FBEF3ABA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3F4E1-6E66-D396-AD22-E5E5F8775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5FD25-D829-A5A4-57D5-EDDE834D9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EBF84-823E-17C0-2B97-EC31285C0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6C37C-0293-76ED-BFB5-888C4640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238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EF68B-023B-4656-9B7A-8A80AF7F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AAF83-50D0-7093-A729-E90FB5C0F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9AED08-201C-5208-8C30-A6964539C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38FD2-17F5-3609-9053-5639712C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E465F-22D5-C665-77CF-E08C1E1D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EADB7A-4E48-61EE-3327-0ADF61D95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7573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964D-DFB3-EDB0-6165-919D56D9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CB428-099D-DC6E-CC5A-AA4AF921B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133F4-2967-1CFE-BC81-7177EC274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18077F-7442-C082-2DBF-5572F4C0C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BE69E-1374-1D84-F45F-723EEF562B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BC7D4D-B6A3-5309-F9FB-2EAE3183C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125A1B-21D0-51A1-4C90-BCF6A9F2C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BD7231-0D22-CA9C-8C58-0FC8AF5B0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844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142D-B1C8-A04F-DB04-913DB4F99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F0B34E-3E7F-CA8E-0408-1EE921475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B50067-2120-C824-81B3-404102753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12D05-573D-1F57-72AC-A0F3CE815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1381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9AD53E-97D1-6670-2201-0DBFB201F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731C8D-68D2-AEE1-3A71-1D9D99C78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D3C87-B564-88C9-9EFD-1AB08F4C1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80305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141AE-B2F9-8374-493E-8F67C6978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DCE6C-1501-33D4-4D23-6035839BE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F433E-D276-1347-4A8E-00C1E5A08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970C1-5B3D-12B4-C338-7E7CF7CC9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3E853-FFED-909B-B931-28044DF8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AA7B6-9E0D-E1DC-046E-2EEED50FA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4141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59102-92E6-60C5-941D-3C90711C9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59C041-E08C-E99C-361B-ACCD4F09CF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3B35D-E609-97FF-8396-EE08B7674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B490A-AD5E-4E9A-DC19-07E3E03F1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61614-47BA-D53A-8246-0C9A6E986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8CAD1-76AC-251F-577F-B1AE93689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65596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95A50-2F51-7D9E-32A7-1CCEC5D0B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A50E9F-2BE0-E71D-6758-8CE8364AD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6490C-81DA-A3A3-4CE2-1BF1EBF9B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D4C2A-7C58-1C46-5671-AF59E7C7C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9E813-502F-4823-F1DA-DC57F542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5228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91F163-43DA-C5E5-4048-EB858AD088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DB0EAB-330A-1E0A-296A-3C320CC54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A2AF7-ADA6-331E-A02E-78A5531CD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53AB3-E6D1-9CB7-AF48-CE5968CA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2568E-B049-EA63-B0BA-B34470B0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70381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F60F7D-BCBA-C720-1CF9-C05AEDD64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C4CEA-B021-87BF-254B-EB1033568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C9356-17DD-A1F5-CEF4-D09C24344E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3EE79-D6C3-EE3B-C48C-6E312DE499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A582D-040D-6BF1-C43C-14C898B51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63519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3" Type="http://schemas.openxmlformats.org/officeDocument/2006/relationships/chart" Target="../charts/chart4.xml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5.xml"/><Relationship Id="rId3" Type="http://schemas.openxmlformats.org/officeDocument/2006/relationships/chart" Target="../charts/chart10.xml"/><Relationship Id="rId7" Type="http://schemas.openxmlformats.org/officeDocument/2006/relationships/chart" Target="../charts/chart1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tx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41069" y="259558"/>
            <a:ext cx="9636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</a:rPr>
              <a:t>Bumi Serpong</a:t>
            </a:r>
            <a:r>
              <a:rPr lang="en-US" sz="3200" b="1" dirty="0">
                <a:solidFill>
                  <a:schemeClr val="bg1"/>
                </a:solidFill>
              </a:rPr>
              <a:t> Damai </a:t>
            </a:r>
            <a:r>
              <a:rPr lang="en-US" sz="1600" b="1" dirty="0">
                <a:solidFill>
                  <a:schemeClr val="bg1"/>
                </a:solidFill>
              </a:rPr>
              <a:t>(</a:t>
            </a:r>
            <a:r>
              <a:rPr lang="en-US" sz="1600" b="1" dirty="0" err="1">
                <a:solidFill>
                  <a:schemeClr val="bg1"/>
                </a:solidFill>
              </a:rPr>
              <a:t>Pefindo</a:t>
            </a:r>
            <a:r>
              <a:rPr lang="en-US" sz="1600" b="1" dirty="0">
                <a:solidFill>
                  <a:schemeClr val="bg1"/>
                </a:solidFill>
              </a:rPr>
              <a:t>: </a:t>
            </a:r>
            <a:r>
              <a:rPr lang="en-US" sz="1600" b="1" dirty="0" err="1">
                <a:solidFill>
                  <a:schemeClr val="bg1"/>
                </a:solidFill>
              </a:rPr>
              <a:t>idAA</a:t>
            </a:r>
            <a:r>
              <a:rPr lang="en-US" sz="1600" b="1" dirty="0">
                <a:solidFill>
                  <a:schemeClr val="bg1"/>
                </a:solidFill>
              </a:rPr>
              <a:t/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349" y="3445577"/>
            <a:ext cx="1142330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60"/>
              </a:spcBef>
            </a:pPr>
            <a:r>
              <a:rPr lang="en-ID" sz="1500" b="1" dirty="0">
                <a:solidFill>
                  <a:srgbClr val="FFFFFF"/>
                </a:solidFill>
              </a:rPr>
              <a:t>Profitability:</a:t>
            </a:r>
            <a:endParaRPr lang="en-US" sz="1500"/>
          </a:p>
          <a:p>
            <a:pPr marL="285750" indent="-285750" algn="just">
              <a:spcBef>
                <a:spcPts val="80"/>
              </a:spcBef>
              <a:buFont typeface="Arial"/>
              <a:buChar char="•"/>
            </a:pPr>
            <a:r>
              <a:rPr lang="en-ID" sz="1200" b="1" dirty="0">
                <a:solidFill>
                  <a:srgbClr val="FFFFFF"/>
                </a:solidFill>
              </a:rPr>
              <a:t xml:space="preserve">2024: </a:t>
            </a:r>
            <a:r>
              <a:rPr lang="en-ID" sz="1200" dirty="0">
                <a:solidFill>
                  <a:srgbClr val="FFFFFF"/>
                </a:solidFill>
              </a:rPr>
              <a:t>Revenue naik 19,6% menjadi Rp13,80 triliun dan laba bersih naik 124,1%. Penjualan residensial/komersial, efisiensi HPP, serta gain akuisisi SMDM Rp1,55 triliun menjadi pendorong utama.</a:t>
            </a:r>
            <a:endParaRPr lang="en-US" sz="1200"/>
          </a:p>
          <a:p>
            <a:pPr marL="285750" indent="-285750" algn="just">
              <a:spcBef>
                <a:spcPts val="80"/>
              </a:spcBef>
              <a:buFont typeface="Arial"/>
              <a:buChar char="•"/>
            </a:pPr>
            <a:r>
              <a:rPr lang="en-ID" sz="1200" b="1" dirty="0">
                <a:solidFill>
                  <a:srgbClr val="FFFFFF"/>
                </a:solidFill>
              </a:rPr>
              <a:t xml:space="preserve">2025: </a:t>
            </a:r>
            <a:r>
              <a:rPr lang="en-ID" sz="1200" dirty="0">
                <a:solidFill>
                  <a:srgbClr val="FFFFFF"/>
                </a:solidFill>
              </a:rPr>
              <a:t>Revenue turun 7,3% menjadi Rp12,79 triliun akibat jasa konstruksi turun Rp615 miliar dan penjualan turun Rp581 miliar. Laba bersih turun 41,6% karena normalisasi gain akuisisi dan beban bunga/keuangan naik menjadi Rp1,53 triliun.</a:t>
            </a:r>
            <a:endParaRPr lang="en-US" sz="1200"/>
          </a:p>
          <a:p>
            <a:pPr marL="285750" indent="-285750" algn="just">
              <a:spcBef>
                <a:spcPts val="80"/>
              </a:spcBef>
              <a:buFont typeface="Arial"/>
              <a:buChar char="•"/>
            </a:pPr>
            <a:r>
              <a:rPr lang="en-ID" sz="1200" b="1" dirty="0">
                <a:solidFill>
                  <a:srgbClr val="FFFFFF"/>
                </a:solidFill>
              </a:rPr>
              <a:t xml:space="preserve">1H26: </a:t>
            </a:r>
            <a:r>
              <a:rPr lang="en-ID" sz="1200" dirty="0">
                <a:solidFill>
                  <a:srgbClr val="FFFFFF"/>
                </a:solidFill>
              </a:rPr>
              <a:t>Revenue turun 25,6% YoY dan laba bersih turun 53,1%, meski gross margin naik menjadi 66,5%. Marketing sales Rp5,12 triliun atau 51% target memberi dukungan untuk pengakuan pendapatan 2H26.</a:t>
            </a:r>
            <a:endParaRPr lang="en-US" sz="1200"/>
          </a:p>
          <a:p>
            <a:pPr algn="just">
              <a:spcBef>
                <a:spcPts val="160"/>
              </a:spcBef>
            </a:pPr>
            <a:r>
              <a:rPr lang="en-ID" sz="1500" b="1" dirty="0">
                <a:solidFill>
                  <a:srgbClr val="FFFFFF"/>
                </a:solidFill>
              </a:rPr>
              <a:t>Solvency:</a:t>
            </a:r>
            <a:endParaRPr lang="en-US" sz="1500"/>
          </a:p>
          <a:p>
            <a:pPr marL="285750" indent="-285750" algn="just">
              <a:spcBef>
                <a:spcPts val="80"/>
              </a:spcBef>
              <a:buFont typeface="Arial"/>
              <a:buChar char="•"/>
            </a:pPr>
            <a:r>
              <a:rPr lang="en-ID" sz="1200" b="1" dirty="0">
                <a:solidFill>
                  <a:srgbClr val="FFFFFF"/>
                </a:solidFill>
              </a:rPr>
              <a:t xml:space="preserve">2025: </a:t>
            </a:r>
            <a:r>
              <a:rPr lang="en-ID" sz="1200" dirty="0">
                <a:solidFill>
                  <a:srgbClr val="FFFFFF"/>
                </a:solidFill>
              </a:rPr>
              <a:t>Total aset naik 4,3% menjadi Rp79,27 triliun, terutama dari kas dan persediaan; ekuitas naik 11,3% dan Debt-to-Equity berada di 31,1%.</a:t>
            </a:r>
            <a:endParaRPr lang="en-US" sz="1200"/>
          </a:p>
          <a:p>
            <a:pPr marL="285750" indent="-285750" algn="just">
              <a:spcBef>
                <a:spcPts val="80"/>
              </a:spcBef>
              <a:buFont typeface="Arial"/>
              <a:buChar char="•"/>
            </a:pPr>
            <a:r>
              <a:rPr lang="en-ID" sz="1200" b="1" dirty="0">
                <a:solidFill>
                  <a:srgbClr val="FFFFFF"/>
                </a:solidFill>
              </a:rPr>
              <a:t xml:space="preserve">1H26: </a:t>
            </a:r>
            <a:r>
              <a:rPr lang="en-ID" sz="1200" dirty="0">
                <a:solidFill>
                  <a:srgbClr val="FFFFFF"/>
                </a:solidFill>
              </a:rPr>
              <a:t>Total aset naik 3,4% menjadi Rp81,94 triliun karena persediaan, uang muka, dan investasi. Liabilitas naik 8,2% dan net debt meningkat menjadi Rp8,76 triliun setelah penarikan utang bank baru Rp4,42 triliun.</a:t>
            </a:r>
            <a:endParaRPr lang="en-US" sz="1200"/>
          </a:p>
          <a:p>
            <a:pPr algn="just">
              <a:spcBef>
                <a:spcPts val="160"/>
              </a:spcBef>
            </a:pPr>
            <a:r>
              <a:rPr lang="en-ID" sz="1500" b="1" dirty="0">
                <a:solidFill>
                  <a:srgbClr val="FFFFFF"/>
                </a:solidFill>
              </a:rPr>
              <a:t>Free Cash Flow:</a:t>
            </a:r>
            <a:endParaRPr lang="en-US" sz="1500"/>
          </a:p>
          <a:p>
            <a:pPr marL="285750" indent="-285750" algn="just">
              <a:spcBef>
                <a:spcPts val="80"/>
              </a:spcBef>
              <a:buFont typeface="Arial"/>
              <a:buChar char="•"/>
            </a:pPr>
            <a:r>
              <a:rPr lang="en-ID" sz="1200" b="1" dirty="0">
                <a:solidFill>
                  <a:srgbClr val="FFFFFF"/>
                </a:solidFill>
              </a:rPr>
              <a:t xml:space="preserve">2024–2025: </a:t>
            </a:r>
            <a:r>
              <a:rPr lang="en-ID" sz="1200" dirty="0">
                <a:solidFill>
                  <a:srgbClr val="FFFFFF"/>
                </a:solidFill>
              </a:rPr>
              <a:t>FCF berbalik dari positif Rp224 miliar menjadi negatif Rp1,67 triliun seiring operating cash flow menjadi negatif.</a:t>
            </a:r>
            <a:endParaRPr lang="en-US" sz="1200"/>
          </a:p>
          <a:p>
            <a:pPr marL="285750" indent="-285750" algn="just">
              <a:spcBef>
                <a:spcPts val="80"/>
              </a:spcBef>
              <a:buFont typeface="Arial"/>
              <a:buChar char="•"/>
            </a:pPr>
            <a:r>
              <a:rPr lang="en-ID" sz="1200" b="1" dirty="0">
                <a:solidFill>
                  <a:srgbClr val="FFFFFF"/>
                </a:solidFill>
              </a:rPr>
              <a:t xml:space="preserve">1H26: </a:t>
            </a:r>
            <a:r>
              <a:rPr lang="en-ID" sz="1200" dirty="0">
                <a:solidFill>
                  <a:srgbClr val="FFFFFF"/>
                </a:solidFill>
              </a:rPr>
              <a:t>Penerimaan pelanggan naik 15%, tetapi pembelian tanah/bangunan Rp2,51 triliun menekan CFO dan FCF ke sekitar negatif Rp1,4 triliun; ekspansi yang dibiayai utang perlu dimonitor.</a:t>
            </a:r>
            <a:endParaRPr lang="en-US" sz="120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D89B647-A979-355D-5E19-A3FD210BAE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2850567"/>
              </p:ext>
            </p:extLst>
          </p:nvPr>
        </p:nvGraphicFramePr>
        <p:xfrm>
          <a:off x="8006209" y="943685"/>
          <a:ext cx="3801441" cy="2572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8B64B41-7D64-42AE-B846-A50A136AA0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010339"/>
              </p:ext>
            </p:extLst>
          </p:nvPr>
        </p:nvGraphicFramePr>
        <p:xfrm>
          <a:off x="4195278" y="943685"/>
          <a:ext cx="3801441" cy="2572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DE9653D-E1FE-4B85-961D-700052DF62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4605094"/>
              </p:ext>
            </p:extLst>
          </p:nvPr>
        </p:nvGraphicFramePr>
        <p:xfrm>
          <a:off x="389092" y="943686"/>
          <a:ext cx="3801441" cy="25725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84592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7A4521E-3420-312E-9AEC-8D40FBF9E325}"/>
              </a:ext>
            </a:extLst>
          </p:cNvPr>
          <p:cNvSpPr txBox="1"/>
          <p:nvPr/>
        </p:nvSpPr>
        <p:spPr>
          <a:xfrm>
            <a:off x="341069" y="259558"/>
            <a:ext cx="9636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Bumi Serpong</a:t>
            </a:r>
            <a:r>
              <a:rPr lang="en-US" sz="3200" b="1" dirty="0"/>
              <a:t> Damai </a:t>
            </a:r>
            <a:r>
              <a:rPr lang="en-US" sz="1600" b="1" dirty="0"/>
              <a:t>(</a:t>
            </a:r>
            <a:r>
              <a:rPr lang="en-US" sz="1600" b="1" dirty="0" err="1"/>
              <a:t>Pefindo</a:t>
            </a:r>
            <a:r>
              <a:rPr lang="en-US" sz="1600" b="1" dirty="0"/>
              <a:t>: </a:t>
            </a:r>
            <a:r>
              <a:rPr lang="en-US" sz="1600" b="1" dirty="0" err="1"/>
              <a:t>idAA</a:t>
            </a:r>
            <a:r>
              <a:rPr lang="en-US" sz="1600" b="1" dirty="0"/>
              <a:t/>
            </a:r>
            <a:endParaRPr lang="en-US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2D3B0D-0A31-CF27-98DE-44A022E9D277}"/>
              </a:ext>
            </a:extLst>
          </p:cNvPr>
          <p:cNvSpPr txBox="1"/>
          <p:nvPr/>
        </p:nvSpPr>
        <p:spPr>
          <a:xfrm>
            <a:off x="341069" y="844333"/>
            <a:ext cx="11509862" cy="27699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Yearly Performance</a:t>
            </a:r>
            <a:endParaRPr lang="en-ID" sz="12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7BC1D2-752C-8803-6651-5D1106A28588}"/>
              </a:ext>
            </a:extLst>
          </p:cNvPr>
          <p:cNvSpPr txBox="1"/>
          <p:nvPr/>
        </p:nvSpPr>
        <p:spPr>
          <a:xfrm>
            <a:off x="341069" y="3751922"/>
            <a:ext cx="11509862" cy="27699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Quarterly Performance</a:t>
            </a:r>
            <a:endParaRPr lang="en-ID" sz="12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F6F7C9-9DCD-48A3-BC89-DEFAE6116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607334"/>
              </p:ext>
            </p:extLst>
          </p:nvPr>
        </p:nvGraphicFramePr>
        <p:xfrm>
          <a:off x="341067" y="1174408"/>
          <a:ext cx="11509854" cy="2528682"/>
        </p:xfrm>
        <a:graphic>
          <a:graphicData uri="http://schemas.openxmlformats.org/drawingml/2006/table">
            <a:tbl>
              <a:tblPr/>
              <a:tblGrid>
                <a:gridCol w="1748525">
                  <a:extLst>
                    <a:ext uri="{9D8B030D-6E8A-4147-A177-3AD203B41FA5}">
                      <a16:colId xmlns:a16="http://schemas.microsoft.com/office/drawing/2014/main" val="1139494516"/>
                    </a:ext>
                  </a:extLst>
                </a:gridCol>
                <a:gridCol w="866660">
                  <a:extLst>
                    <a:ext uri="{9D8B030D-6E8A-4147-A177-3AD203B41FA5}">
                      <a16:colId xmlns:a16="http://schemas.microsoft.com/office/drawing/2014/main" val="3126844501"/>
                    </a:ext>
                  </a:extLst>
                </a:gridCol>
                <a:gridCol w="866660">
                  <a:extLst>
                    <a:ext uri="{9D8B030D-6E8A-4147-A177-3AD203B41FA5}">
                      <a16:colId xmlns:a16="http://schemas.microsoft.com/office/drawing/2014/main" val="2584166784"/>
                    </a:ext>
                  </a:extLst>
                </a:gridCol>
                <a:gridCol w="866660">
                  <a:extLst>
                    <a:ext uri="{9D8B030D-6E8A-4147-A177-3AD203B41FA5}">
                      <a16:colId xmlns:a16="http://schemas.microsoft.com/office/drawing/2014/main" val="2223669831"/>
                    </a:ext>
                  </a:extLst>
                </a:gridCol>
                <a:gridCol w="866660">
                  <a:extLst>
                    <a:ext uri="{9D8B030D-6E8A-4147-A177-3AD203B41FA5}">
                      <a16:colId xmlns:a16="http://schemas.microsoft.com/office/drawing/2014/main" val="2544691179"/>
                    </a:ext>
                  </a:extLst>
                </a:gridCol>
                <a:gridCol w="866660">
                  <a:extLst>
                    <a:ext uri="{9D8B030D-6E8A-4147-A177-3AD203B41FA5}">
                      <a16:colId xmlns:a16="http://schemas.microsoft.com/office/drawing/2014/main" val="2899485236"/>
                    </a:ext>
                  </a:extLst>
                </a:gridCol>
                <a:gridCol w="866660">
                  <a:extLst>
                    <a:ext uri="{9D8B030D-6E8A-4147-A177-3AD203B41FA5}">
                      <a16:colId xmlns:a16="http://schemas.microsoft.com/office/drawing/2014/main" val="1521664289"/>
                    </a:ext>
                  </a:extLst>
                </a:gridCol>
                <a:gridCol w="866660">
                  <a:extLst>
                    <a:ext uri="{9D8B030D-6E8A-4147-A177-3AD203B41FA5}">
                      <a16:colId xmlns:a16="http://schemas.microsoft.com/office/drawing/2014/main" val="3616357771"/>
                    </a:ext>
                  </a:extLst>
                </a:gridCol>
                <a:gridCol w="866660">
                  <a:extLst>
                    <a:ext uri="{9D8B030D-6E8A-4147-A177-3AD203B41FA5}">
                      <a16:colId xmlns:a16="http://schemas.microsoft.com/office/drawing/2014/main" val="994274472"/>
                    </a:ext>
                  </a:extLst>
                </a:gridCol>
                <a:gridCol w="942683">
                  <a:extLst>
                    <a:ext uri="{9D8B030D-6E8A-4147-A177-3AD203B41FA5}">
                      <a16:colId xmlns:a16="http://schemas.microsoft.com/office/drawing/2014/main" val="3005976039"/>
                    </a:ext>
                  </a:extLst>
                </a:gridCol>
                <a:gridCol w="942683">
                  <a:extLst>
                    <a:ext uri="{9D8B030D-6E8A-4147-A177-3AD203B41FA5}">
                      <a16:colId xmlns:a16="http://schemas.microsoft.com/office/drawing/2014/main" val="60612397"/>
                    </a:ext>
                  </a:extLst>
                </a:gridCol>
                <a:gridCol w="942683">
                  <a:extLst>
                    <a:ext uri="{9D8B030D-6E8A-4147-A177-3AD203B41FA5}">
                      <a16:colId xmlns:a16="http://schemas.microsoft.com/office/drawing/2014/main" val="3639356590"/>
                    </a:ext>
                  </a:extLst>
                </a:gridCol>
              </a:tblGrid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400488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Revenue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6,209,574.07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6,602,955.28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10,347,343.19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6,628,782.18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7,084,864.04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6,180,589.09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7,654,802.25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10,235,479.96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11,539,141.25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13,796,572.15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12,788,452.34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752046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Capital Expenditures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(143,094.70)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(129,290.35)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(79,649.11)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(42,038.69)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(384,767.06)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(132,542.14)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(23,182.59)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(198,459.21)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(577,124.90)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(822,574.94)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(322,805.88)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054632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nl-NL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 Income/Net Profit (Losses)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2,139,496.60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1,796,156.48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4,920,228.06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C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1,293,850.22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D7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2,791,416.33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281,700.89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1,348,623.04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2,433,146.91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1,945,467.44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4,359,063.78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2,545,380.72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080201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Assets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36,022,148.49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38,536,825.18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45,951,188.48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52,190,720.01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54,540,978.40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60,862,926.59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61,469,712.17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64,999,403.48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66,827,648.49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76,023,348.89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79,268,402.20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826477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Liabilities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13,925,458.01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14,074,217.87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16,754,337.39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21,832,718.50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20,915,564.10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26,391,824.11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25,575,995.15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26,953,967.35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25,626,062.28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28,704,020.73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26,599,497.52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620213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Equity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22,096,690.48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24,462,607.31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29,196,851.09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30,358,001.50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33,625,414.30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34,471,102.48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35,893,717.01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38,045,436.13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41,201,586.20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47,319,328.15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52,668,904.68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03835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 Debt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1,132,372.29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3,457,406.18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2,520,674.05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3,430,445.21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3,184,765.00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1,918,687.66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8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153,731.62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38,630.07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1,025,232.66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8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3,454,295.10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4,614,035.55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8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796146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Cash From Operations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(366,494.06)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(605,189.89)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4,606,851.24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1,125,468.09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2,557,655.41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1,103,950.69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2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2,887,014.89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2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2,816,809.60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1,207,984.65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3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1,046,659.71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D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(1,351,699.49)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B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139062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Free Cash Flow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(509,588.76)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(734,480.24)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4,527,202.13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1,083,429.40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2,172,888.35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971,408.55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2,863,832.30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E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2,618,350.38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5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630,859.75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9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224,084.77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A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(1,674,505.37)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595632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Return on Assets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88542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Return on Common Equity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801968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601644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Debt to Total Equity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8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1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49.67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0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C4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390245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Financial Leverage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796814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Quick Ratio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400861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574914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3BDF922-5636-202F-51C6-580CA3E41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282778"/>
              </p:ext>
            </p:extLst>
          </p:nvPr>
        </p:nvGraphicFramePr>
        <p:xfrm>
          <a:off x="341059" y="4077753"/>
          <a:ext cx="11509867" cy="2364105"/>
        </p:xfrm>
        <a:graphic>
          <a:graphicData uri="http://schemas.openxmlformats.org/drawingml/2006/table">
            <a:tbl>
              <a:tblPr/>
              <a:tblGrid>
                <a:gridCol w="1616159">
                  <a:extLst>
                    <a:ext uri="{9D8B030D-6E8A-4147-A177-3AD203B41FA5}">
                      <a16:colId xmlns:a16="http://schemas.microsoft.com/office/drawing/2014/main" val="2422759176"/>
                    </a:ext>
                  </a:extLst>
                </a:gridCol>
                <a:gridCol w="801053">
                  <a:extLst>
                    <a:ext uri="{9D8B030D-6E8A-4147-A177-3AD203B41FA5}">
                      <a16:colId xmlns:a16="http://schemas.microsoft.com/office/drawing/2014/main" val="318634021"/>
                    </a:ext>
                  </a:extLst>
                </a:gridCol>
                <a:gridCol w="801053">
                  <a:extLst>
                    <a:ext uri="{9D8B030D-6E8A-4147-A177-3AD203B41FA5}">
                      <a16:colId xmlns:a16="http://schemas.microsoft.com/office/drawing/2014/main" val="4249969728"/>
                    </a:ext>
                  </a:extLst>
                </a:gridCol>
                <a:gridCol w="801053">
                  <a:extLst>
                    <a:ext uri="{9D8B030D-6E8A-4147-A177-3AD203B41FA5}">
                      <a16:colId xmlns:a16="http://schemas.microsoft.com/office/drawing/2014/main" val="756699647"/>
                    </a:ext>
                  </a:extLst>
                </a:gridCol>
                <a:gridCol w="801053">
                  <a:extLst>
                    <a:ext uri="{9D8B030D-6E8A-4147-A177-3AD203B41FA5}">
                      <a16:colId xmlns:a16="http://schemas.microsoft.com/office/drawing/2014/main" val="2995966305"/>
                    </a:ext>
                  </a:extLst>
                </a:gridCol>
                <a:gridCol w="801053">
                  <a:extLst>
                    <a:ext uri="{9D8B030D-6E8A-4147-A177-3AD203B41FA5}">
                      <a16:colId xmlns:a16="http://schemas.microsoft.com/office/drawing/2014/main" val="2012810933"/>
                    </a:ext>
                  </a:extLst>
                </a:gridCol>
                <a:gridCol w="801053">
                  <a:extLst>
                    <a:ext uri="{9D8B030D-6E8A-4147-A177-3AD203B41FA5}">
                      <a16:colId xmlns:a16="http://schemas.microsoft.com/office/drawing/2014/main" val="3820903466"/>
                    </a:ext>
                  </a:extLst>
                </a:gridCol>
                <a:gridCol w="801053">
                  <a:extLst>
                    <a:ext uri="{9D8B030D-6E8A-4147-A177-3AD203B41FA5}">
                      <a16:colId xmlns:a16="http://schemas.microsoft.com/office/drawing/2014/main" val="1219846998"/>
                    </a:ext>
                  </a:extLst>
                </a:gridCol>
                <a:gridCol w="801053">
                  <a:extLst>
                    <a:ext uri="{9D8B030D-6E8A-4147-A177-3AD203B41FA5}">
                      <a16:colId xmlns:a16="http://schemas.microsoft.com/office/drawing/2014/main" val="717088158"/>
                    </a:ext>
                  </a:extLst>
                </a:gridCol>
                <a:gridCol w="871321">
                  <a:extLst>
                    <a:ext uri="{9D8B030D-6E8A-4147-A177-3AD203B41FA5}">
                      <a16:colId xmlns:a16="http://schemas.microsoft.com/office/drawing/2014/main" val="2580879977"/>
                    </a:ext>
                  </a:extLst>
                </a:gridCol>
                <a:gridCol w="871321">
                  <a:extLst>
                    <a:ext uri="{9D8B030D-6E8A-4147-A177-3AD203B41FA5}">
                      <a16:colId xmlns:a16="http://schemas.microsoft.com/office/drawing/2014/main" val="3041129128"/>
                    </a:ext>
                  </a:extLst>
                </a:gridCol>
                <a:gridCol w="871321">
                  <a:extLst>
                    <a:ext uri="{9D8B030D-6E8A-4147-A177-3AD203B41FA5}">
                      <a16:colId xmlns:a16="http://schemas.microsoft.com/office/drawing/2014/main" val="2643269296"/>
                    </a:ext>
                  </a:extLst>
                </a:gridCol>
                <a:gridCol w="871321">
                  <a:extLst>
                    <a:ext uri="{9D8B030D-6E8A-4147-A177-3AD203B41FA5}">
                      <a16:colId xmlns:a16="http://schemas.microsoft.com/office/drawing/2014/main" val="264018285"/>
                    </a:ext>
                  </a:extLst>
                </a:gridCol>
              </a:tblGrid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4Q23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1Q24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2Q24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3Q24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4Q24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1Q25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2Q25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3Q25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4Q25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1Q26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2Q26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1H26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202700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Revenue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4,230,823.25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3,774,499.93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3,572,133.03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2,720,373.60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3,729,565.59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2,700,904.01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3,689,852.47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2,372,024.73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4,025,671.12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2,368,795.97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2,382,857.13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4,751,653.10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456436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Capital Expenditures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(234,074.86)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(112,485.07)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(107,952.65)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(304,506.73)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(297,630.49)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(95,354.47)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(87,216.89)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(78,447.68)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(61,865.53)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(40,092.19)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(67,771.26)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(107,863.45)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9333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nl-NL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 Income/Net Profit (Losses)</a:t>
                      </a:r>
                      <a:r>
                        <a:rPr lang="nl-NL" sz="8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  <a:r>
                        <a:rPr lang="nl-NL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  <a:r>
                        <a:rPr lang="nl-NL" sz="8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  <a:r>
                        <a:rPr lang="nl-NL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176,421.45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E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1,436,953.18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896,097.25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368,868.03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1,657,145.32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B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305,874.26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4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982,173.64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75,523.35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1,181,809.47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F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277,628.65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326,267.38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603,896.02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918913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Assets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66,827,648.49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67,653,911.80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67,862,665.42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68,466,170.28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76,023,348.89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75,916,736.81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76,641,008.60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77,400,079.56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79,268,402.20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80,125,884.90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81,942,880.58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81,942,880.58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574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Liabilities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25,626,062.28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24,935,494.70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24,310,502.86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24,632,854.28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28,704,020.73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27,469,342.35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25,905,271.53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26,075,586.09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26,599,497.52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27,257,461.88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28,788,877.34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28,788,877.34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887965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Equity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41,201,586.20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42,718,417.10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43,552,162.56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43,833,316.00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47,319,328.15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48,447,394.46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50,735,737.06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51,324,493.47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52,668,904.68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52,868,423.02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53,154,003.25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53,154,003.25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863842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 Debt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1,025,232.66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1,263,661.32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1,329,674.01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2,194,292.97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3,454,295.10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3,741,557.78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1,746,344.99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4,162,834.42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4,614,035.55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C8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6,250,119.00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8,761,255.25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8,761,255.25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C3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904842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Cash From Operations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410,737.07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(27,801.76)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899,529.55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B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449,588.74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0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(274,656.83)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1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(491,662.12)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(472,830.85)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4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(362,085.79)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(25,120.73)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(816,556.72)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(554,186.50)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F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(1,370,743.23)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528538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Free Cash Flow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176,662.21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(140,286.83)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791,576.91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9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145,082.01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(572,287.31)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0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(587,016.59)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(560,047.74)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(440,533.47)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(86,986.26)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(856,648.91)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(621,957.76)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(1,478,606.68)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288346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Return on Assets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905369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Return on Common Equity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9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B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7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4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D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247281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12.71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116787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Debt to Total Equity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8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2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F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A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869145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Financial Leverage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743194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Quick Ratio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421657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12.71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227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475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540A03C-0598-DD07-66B6-F795829C3FD7}"/>
              </a:ext>
            </a:extLst>
          </p:cNvPr>
          <p:cNvSpPr txBox="1"/>
          <p:nvPr/>
        </p:nvSpPr>
        <p:spPr>
          <a:xfrm>
            <a:off x="341069" y="844333"/>
            <a:ext cx="11509862" cy="27699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Scale Metrics</a:t>
            </a:r>
            <a:endParaRPr lang="en-ID" sz="12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482B1C-40E8-B49F-7AC2-55F89E95A7E1}"/>
              </a:ext>
            </a:extLst>
          </p:cNvPr>
          <p:cNvSpPr txBox="1"/>
          <p:nvPr/>
        </p:nvSpPr>
        <p:spPr>
          <a:xfrm>
            <a:off x="341068" y="3743944"/>
            <a:ext cx="11509861" cy="27699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Profitability</a:t>
            </a:r>
            <a:endParaRPr lang="en-ID" sz="12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4837A5-275D-EC01-9EB6-A8DC5B2D80F1}"/>
              </a:ext>
            </a:extLst>
          </p:cNvPr>
          <p:cNvSpPr txBox="1"/>
          <p:nvPr/>
        </p:nvSpPr>
        <p:spPr>
          <a:xfrm>
            <a:off x="341069" y="259558"/>
            <a:ext cx="9636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Bumi Serpong</a:t>
            </a:r>
            <a:r>
              <a:rPr lang="en-US" sz="3200" b="1" dirty="0"/>
              <a:t> Damai </a:t>
            </a:r>
            <a:r>
              <a:rPr lang="en-US" sz="1600" b="1" dirty="0"/>
              <a:t>(</a:t>
            </a:r>
            <a:r>
              <a:rPr lang="en-US" sz="1600" b="1" dirty="0" err="1"/>
              <a:t>Pefindo</a:t>
            </a:r>
            <a:r>
              <a:rPr lang="en-US" sz="1600" b="1" dirty="0"/>
              <a:t>: </a:t>
            </a:r>
            <a:r>
              <a:rPr lang="en-US" sz="1600" b="1" dirty="0" err="1"/>
              <a:t>idAA</a:t>
            </a:r>
            <a:r>
              <a:rPr lang="en-US" sz="1600" b="1" dirty="0"/>
              <a:t/>
            </a:r>
            <a:endParaRPr lang="en-US" sz="3200" b="1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3400D90-0849-4FC9-8495-F74D961070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9190596"/>
              </p:ext>
            </p:extLst>
          </p:nvPr>
        </p:nvGraphicFramePr>
        <p:xfrm>
          <a:off x="350593" y="4136012"/>
          <a:ext cx="3817063" cy="2462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130D22B-9F65-4732-B05A-B23F64FD5D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7298179"/>
              </p:ext>
            </p:extLst>
          </p:nvPr>
        </p:nvGraphicFramePr>
        <p:xfrm>
          <a:off x="4189474" y="4136012"/>
          <a:ext cx="3813048" cy="2466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A39E550-FF15-4C80-822B-BBBF14C018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4635603"/>
              </p:ext>
            </p:extLst>
          </p:nvPr>
        </p:nvGraphicFramePr>
        <p:xfrm>
          <a:off x="7980704" y="4136012"/>
          <a:ext cx="3870225" cy="2462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8F355FC6-3A02-8037-9B56-67B3D4B5AC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0214378"/>
              </p:ext>
            </p:extLst>
          </p:nvPr>
        </p:nvGraphicFramePr>
        <p:xfrm>
          <a:off x="372411" y="1157088"/>
          <a:ext cx="3817063" cy="2462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A8EEAC1B-9C48-468F-26D0-DAEBA843A2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4899665"/>
              </p:ext>
            </p:extLst>
          </p:nvPr>
        </p:nvGraphicFramePr>
        <p:xfrm>
          <a:off x="4189474" y="1157088"/>
          <a:ext cx="3813048" cy="2462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86DF3791-F7F9-2F8A-E289-E2DA3F6159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2926597"/>
              </p:ext>
            </p:extLst>
          </p:nvPr>
        </p:nvGraphicFramePr>
        <p:xfrm>
          <a:off x="7980704" y="1157087"/>
          <a:ext cx="3834867" cy="2462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4210913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540A03C-0598-DD07-66B6-F795829C3FD7}"/>
              </a:ext>
            </a:extLst>
          </p:cNvPr>
          <p:cNvSpPr txBox="1"/>
          <p:nvPr/>
        </p:nvSpPr>
        <p:spPr>
          <a:xfrm>
            <a:off x="341069" y="844333"/>
            <a:ext cx="11509862" cy="27699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Liquidity &amp; Solvency</a:t>
            </a:r>
            <a:endParaRPr lang="en-ID" sz="12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482B1C-40E8-B49F-7AC2-55F89E95A7E1}"/>
              </a:ext>
            </a:extLst>
          </p:cNvPr>
          <p:cNvSpPr txBox="1"/>
          <p:nvPr/>
        </p:nvSpPr>
        <p:spPr>
          <a:xfrm>
            <a:off x="341068" y="3743944"/>
            <a:ext cx="11509861" cy="27699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Cash Flow &amp; Sustainability</a:t>
            </a:r>
            <a:endParaRPr lang="en-ID" sz="12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C2A7AF-A1F9-9246-D53C-1DF615C5734E}"/>
              </a:ext>
            </a:extLst>
          </p:cNvPr>
          <p:cNvSpPr txBox="1"/>
          <p:nvPr/>
        </p:nvSpPr>
        <p:spPr>
          <a:xfrm>
            <a:off x="341069" y="259558"/>
            <a:ext cx="9636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Bumi Serpong</a:t>
            </a:r>
            <a:r>
              <a:rPr lang="en-US" sz="3200" b="1" dirty="0"/>
              <a:t> Damai </a:t>
            </a:r>
            <a:r>
              <a:rPr lang="en-US" sz="1600" b="1" dirty="0"/>
              <a:t>(</a:t>
            </a:r>
            <a:r>
              <a:rPr lang="en-US" sz="1600" b="1" dirty="0" err="1"/>
              <a:t>Pefindo</a:t>
            </a:r>
            <a:r>
              <a:rPr lang="en-US" sz="1600" b="1" dirty="0"/>
              <a:t>: </a:t>
            </a:r>
            <a:r>
              <a:rPr lang="en-US" sz="1600" b="1" dirty="0" err="1"/>
              <a:t>idAA</a:t>
            </a:r>
            <a:r>
              <a:rPr lang="en-US" sz="1600" b="1" dirty="0"/>
              <a:t/>
            </a:r>
            <a:endParaRPr lang="en-US" sz="3200" b="1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420D482-40FF-4813-9A4B-25410D7571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8882366"/>
              </p:ext>
            </p:extLst>
          </p:nvPr>
        </p:nvGraphicFramePr>
        <p:xfrm>
          <a:off x="339822" y="1143334"/>
          <a:ext cx="3824990" cy="2578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D41FC39-E2F2-4C4A-8522-5EC28D0A30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9362204"/>
              </p:ext>
            </p:extLst>
          </p:nvPr>
        </p:nvGraphicFramePr>
        <p:xfrm>
          <a:off x="4141263" y="1149364"/>
          <a:ext cx="3860148" cy="2572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E6608BA-F9CA-42A0-938A-48AA29C518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9636077"/>
              </p:ext>
            </p:extLst>
          </p:nvPr>
        </p:nvGraphicFramePr>
        <p:xfrm>
          <a:off x="8001410" y="1143334"/>
          <a:ext cx="3782815" cy="2578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F3EA468-713E-47B2-BC20-2C2F084A3B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9467646"/>
              </p:ext>
            </p:extLst>
          </p:nvPr>
        </p:nvGraphicFramePr>
        <p:xfrm>
          <a:off x="339822" y="4084048"/>
          <a:ext cx="3824990" cy="2572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CDF659C6-97B4-4ED3-B321-F65B2C028B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355357"/>
              </p:ext>
            </p:extLst>
          </p:nvPr>
        </p:nvGraphicFramePr>
        <p:xfrm>
          <a:off x="8001410" y="4084048"/>
          <a:ext cx="3801443" cy="2584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73575B30-E482-420D-A2C3-81CBC6CCC9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6850689"/>
              </p:ext>
            </p:extLst>
          </p:nvPr>
        </p:nvGraphicFramePr>
        <p:xfrm>
          <a:off x="4141263" y="4084048"/>
          <a:ext cx="3801441" cy="2572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233433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4097</TotalTime>
  <Words>1301</Words>
  <Application>Microsoft Macintosh PowerPoint</Application>
  <PresentationFormat>Widescreen</PresentationFormat>
  <Paragraphs>465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-webkit-standard</vt:lpstr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Company Name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bloomberg</dc:creator>
  <cp:lastModifiedBy>Microsoft Office User</cp:lastModifiedBy>
  <cp:revision>4</cp:revision>
  <dcterms:created xsi:type="dcterms:W3CDTF">2026-09-18T02:57:23Z</dcterms:created>
  <dcterms:modified xsi:type="dcterms:W3CDTF">2026-09-21T06:07:14Z</dcterms:modified>
</cp:coreProperties>
</file>