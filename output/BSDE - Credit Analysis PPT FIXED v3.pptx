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8" r:id="rId2"/>
    <p:sldId id="267" r:id="rId3"/>
    <p:sldId id="263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Book2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Book2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Book2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Book2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Book2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Book2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Book2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Book2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Book2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Book2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Book2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Book2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Book2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D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CF-462B-B06A-2B2ADD12606F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FCF-462B-B06A-2B2ADD1260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Sheet1!$C$5:$L$5</c:f>
              <c:numCache>
                <c:formatCode>#,##0</c:formatCode>
                <c:ptCount val="10"/>
                <c:pt idx="0">
                  <c:v>4527.2021320000003</c:v>
                </c:pt>
                <c:pt idx="1">
                  <c:v>1083.4293970000001</c:v>
                </c:pt>
                <c:pt idx="2">
                  <c:v>2172.8883529999998</c:v>
                </c:pt>
                <c:pt idx="3">
                  <c:v>971.40854820000004</c:v>
                </c:pt>
                <c:pt idx="4">
                  <c:v>2863.8322979999998</c:v>
                </c:pt>
                <c:pt idx="5">
                  <c:v>2618.3503839999998</c:v>
                </c:pt>
                <c:pt idx="6">
                  <c:v>630.85975050000002</c:v>
                </c:pt>
                <c:pt idx="7">
                  <c:v>224.0847655</c:v>
                </c:pt>
                <c:pt idx="8">
                  <c:v>-1674.505367</c:v>
                </c:pt>
                <c:pt idx="9">
                  <c:v>-1478.606675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CF-462B-B06A-2B2ADD126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sz="1200" b="1" dirty="0"/>
              <a:t>Net Debt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Net Debt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Sheet1!$C$4:$L$4</c:f>
              <c:numCache>
                <c:formatCode>#,##0</c:formatCode>
                <c:ptCount val="10"/>
                <c:pt idx="0">
                  <c:v>2520.6740490000002</c:v>
                </c:pt>
                <c:pt idx="1">
                  <c:v>3430.445205</c:v>
                </c:pt>
                <c:pt idx="2">
                  <c:v>3184.7650039999999</c:v>
                </c:pt>
                <c:pt idx="3">
                  <c:v>1918.6876600000001</c:v>
                </c:pt>
                <c:pt idx="4">
                  <c:v>153.73162310000001</c:v>
                </c:pt>
                <c:pt idx="5">
                  <c:v>38.630065500000001</c:v>
                </c:pt>
                <c:pt idx="6">
                  <c:v>1025.2326559999999</c:v>
                </c:pt>
                <c:pt idx="7">
                  <c:v>3454.295102</c:v>
                </c:pt>
                <c:pt idx="8">
                  <c:v>4614.0355490000002</c:v>
                </c:pt>
                <c:pt idx="9">
                  <c:v>8761.2552529999994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sz="1200" b="1" dirty="0"/>
              <a:t>Net Income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Sheet1!$C$3:$L$3</c:f>
              <c:numCache>
                <c:formatCode>#,##0</c:formatCode>
                <c:ptCount val="10"/>
                <c:pt idx="0">
                  <c:v>4920.2280549999996</c:v>
                </c:pt>
                <c:pt idx="1">
                  <c:v>1293.8502229999999</c:v>
                </c:pt>
                <c:pt idx="2">
                  <c:v>2791.416326</c:v>
                </c:pt>
                <c:pt idx="3">
                  <c:v>281.70088870000001</c:v>
                </c:pt>
                <c:pt idx="4">
                  <c:v>1348.623038</c:v>
                </c:pt>
                <c:pt idx="5">
                  <c:v>2433.1469050000001</c:v>
                </c:pt>
                <c:pt idx="6">
                  <c:v>1945.467441</c:v>
                </c:pt>
                <c:pt idx="7">
                  <c:v>4359.0637839999999</c:v>
                </c:pt>
                <c:pt idx="8">
                  <c:v>2545.3807190000002</c:v>
                </c:pt>
                <c:pt idx="9">
                  <c:v>603.89602490000004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Profit Margin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Profit Margin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Sheet1!$C$8:$L$8</c:f>
              <c:numCache>
                <c:formatCode>0.0</c:formatCode>
                <c:ptCount val="10"/>
                <c:pt idx="0">
                  <c:v>47.550600000000003</c:v>
                </c:pt>
                <c:pt idx="1">
                  <c:v>19.518699999999999</c:v>
                </c:pt>
                <c:pt idx="2">
                  <c:v>39.399700000000003</c:v>
                </c:pt>
                <c:pt idx="3">
                  <c:v>4.5578000000000003</c:v>
                </c:pt>
                <c:pt idx="4">
                  <c:v>17.617999999999999</c:v>
                </c:pt>
                <c:pt idx="5">
                  <c:v>23.771699999999999</c:v>
                </c:pt>
                <c:pt idx="6">
                  <c:v>16.8597</c:v>
                </c:pt>
                <c:pt idx="7">
                  <c:v>31.595300000000002</c:v>
                </c:pt>
                <c:pt idx="8">
                  <c:v>19.903700000000001</c:v>
                </c:pt>
                <c:pt idx="9">
                  <c:v>12.70917695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Return on Equity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Return on Equity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Sheet1!$C$9:$L$9</c:f>
              <c:numCache>
                <c:formatCode>0.0</c:formatCode>
                <c:ptCount val="10"/>
                <c:pt idx="0">
                  <c:v>21.400500000000001</c:v>
                </c:pt>
                <c:pt idx="1">
                  <c:v>5.0225</c:v>
                </c:pt>
                <c:pt idx="2">
                  <c:v>10.075799999999999</c:v>
                </c:pt>
                <c:pt idx="3">
                  <c:v>0.94930000000000003</c:v>
                </c:pt>
                <c:pt idx="4">
                  <c:v>4.3803999999999998</c:v>
                </c:pt>
                <c:pt idx="5">
                  <c:v>7.4759000000000002</c:v>
                </c:pt>
                <c:pt idx="6">
                  <c:v>5.5499000000000001</c:v>
                </c:pt>
                <c:pt idx="7">
                  <c:v>11.2736</c:v>
                </c:pt>
                <c:pt idx="8">
                  <c:v>6.0117000000000003</c:v>
                </c:pt>
                <c:pt idx="9">
                  <c:v>4.2605000000000004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Return on Assets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Sheet1!$B$10</c:f>
              <c:strCache>
                <c:ptCount val="1"/>
                <c:pt idx="0">
                  <c:v>Return on Assets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Sheet1!$C$10:$L$10</c:f>
              <c:numCache>
                <c:formatCode>0.0</c:formatCode>
                <c:ptCount val="10"/>
                <c:pt idx="0">
                  <c:v>11.6472</c:v>
                </c:pt>
                <c:pt idx="1">
                  <c:v>2.6366999999999998</c:v>
                </c:pt>
                <c:pt idx="2">
                  <c:v>5.2306999999999997</c:v>
                </c:pt>
                <c:pt idx="3">
                  <c:v>0.48820000000000002</c:v>
                </c:pt>
                <c:pt idx="4">
                  <c:v>2.2048000000000001</c:v>
                </c:pt>
                <c:pt idx="5">
                  <c:v>3.8477999999999999</c:v>
                </c:pt>
                <c:pt idx="6">
                  <c:v>2.9514999999999998</c:v>
                </c:pt>
                <c:pt idx="7">
                  <c:v>6.1029999999999998</c:v>
                </c:pt>
                <c:pt idx="8">
                  <c:v>3.2782</c:v>
                </c:pt>
                <c:pt idx="9">
                  <c:v>2.3473000000000002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Revenue (IDR Tn)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Sheet4!$B$5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61-4FFA-BFA9-537AD5D1DA0F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D61-4FFA-BFA9-537AD5D1DA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Sheet4!$C$4:$L$4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Sheet4!$C$5:$L$5</c:f>
              <c:numCache>
                <c:formatCode>0.0</c:formatCode>
                <c:ptCount val="10"/>
                <c:pt idx="0">
                  <c:v>10.34734319</c:v>
                </c:pt>
                <c:pt idx="1">
                  <c:v>6.6287821850000004</c:v>
                </c:pt>
                <c:pt idx="2">
                  <c:v>7.0848640390000002</c:v>
                </c:pt>
                <c:pt idx="3">
                  <c:v>6.1805890860000003</c:v>
                </c:pt>
                <c:pt idx="4">
                  <c:v>7.6548022509999996</c:v>
                </c:pt>
                <c:pt idx="5">
                  <c:v>10.235479959999999</c:v>
                </c:pt>
                <c:pt idx="6">
                  <c:v>11.53914125</c:v>
                </c:pt>
                <c:pt idx="7">
                  <c:v>13.796572149999999</c:v>
                </c:pt>
                <c:pt idx="8">
                  <c:v>12.788452339999999</c:v>
                </c:pt>
                <c:pt idx="9">
                  <c:v>4.7516530960000001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61-4FFA-BFA9-537AD5D1D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Total Assets (IDR Tn)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Sheet4!$B$9</c:f>
              <c:strCache>
                <c:ptCount val="1"/>
                <c:pt idx="0">
                  <c:v>Total Assets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CF-497E-AB76-4A5B28ADF111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CF-497E-AB76-4A5B28ADF11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Sheet4!$C$8:$L$8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Sheet4!$C$9:$L$9</c:f>
              <c:numCache>
                <c:formatCode>0.0</c:formatCode>
                <c:ptCount val="10"/>
                <c:pt idx="0">
                  <c:v>45.951188479999999</c:v>
                </c:pt>
                <c:pt idx="1">
                  <c:v>52.19072001</c:v>
                </c:pt>
                <c:pt idx="2">
                  <c:v>54.5409784</c:v>
                </c:pt>
                <c:pt idx="3">
                  <c:v>60.862926590000001</c:v>
                </c:pt>
                <c:pt idx="4">
                  <c:v>61.469712170000001</c:v>
                </c:pt>
                <c:pt idx="5">
                  <c:v>64.999403479999998</c:v>
                </c:pt>
                <c:pt idx="6">
                  <c:v>66.827648490000001</c:v>
                </c:pt>
                <c:pt idx="7">
                  <c:v>76.023348889999994</c:v>
                </c:pt>
                <c:pt idx="8">
                  <c:v>79.268402199999997</c:v>
                </c:pt>
                <c:pt idx="9">
                  <c:v>81.942880579999994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CF-497E-AB76-4A5B28ADF1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200" b="1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Capital Structure (IDR Tn)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496806538531846E-2"/>
          <c:y val="0.21433841084997937"/>
          <c:w val="0.92762976069384251"/>
          <c:h val="0.666235926492063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Sheet4!$B$13</c:f>
              <c:strCache>
                <c:ptCount val="1"/>
                <c:pt idx="0">
                  <c:v>Total Equity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Sheet4!$C$11:$L$12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  <c:extLst/>
            </c:strRef>
          </c:cat>
          <c:val>
            <c:numRef>
              <c:f>Sheet4!$C$13:$L$13</c:f>
              <c:numCache>
                <c:formatCode>0.0</c:formatCode>
                <c:ptCount val="10"/>
                <c:pt idx="0">
                  <c:v>29.196851089999999</c:v>
                </c:pt>
                <c:pt idx="1">
                  <c:v>30.3580015</c:v>
                </c:pt>
                <c:pt idx="2">
                  <c:v>33.625414300000003</c:v>
                </c:pt>
                <c:pt idx="3">
                  <c:v>34.471102479999999</c:v>
                </c:pt>
                <c:pt idx="4">
                  <c:v>35.893717010000003</c:v>
                </c:pt>
                <c:pt idx="5">
                  <c:v>38.045436129999999</c:v>
                </c:pt>
                <c:pt idx="6">
                  <c:v>41.201586200000001</c:v>
                </c:pt>
                <c:pt idx="7">
                  <c:v>47.319328149999997</c:v>
                </c:pt>
                <c:pt idx="8">
                  <c:v>52.668904679999997</c:v>
                </c:pt>
                <c:pt idx="9">
                  <c:v>53.154003250000002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8E-403A-9AF7-5D01D19C0CF9}"/>
            </c:ext>
          </c:extLst>
        </c:ser>
        <c:ser>
          <c:idx val="1"/>
          <c:order val="1"/>
          <c:tx>
            <c:strRef>
              <c:f>Sheet4!$B$14</c:f>
              <c:strCache>
                <c:ptCount val="1"/>
                <c:pt idx="0">
                  <c:v>Total Liabilities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Sheet4!$C$11:$L$12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  <c:extLst/>
            </c:strRef>
          </c:cat>
          <c:val>
            <c:numRef>
              <c:f>Sheet4!$C$14:$L$14</c:f>
              <c:numCache>
                <c:formatCode>0.0</c:formatCode>
                <c:ptCount val="10"/>
                <c:pt idx="0">
                  <c:v>16.75433739</c:v>
                </c:pt>
                <c:pt idx="1">
                  <c:v>21.832718499999999</c:v>
                </c:pt>
                <c:pt idx="2">
                  <c:v>20.915564100000001</c:v>
                </c:pt>
                <c:pt idx="3">
                  <c:v>26.391824110000002</c:v>
                </c:pt>
                <c:pt idx="4">
                  <c:v>25.575995150000001</c:v>
                </c:pt>
                <c:pt idx="5">
                  <c:v>26.953967349999999</c:v>
                </c:pt>
                <c:pt idx="6">
                  <c:v>25.626062279999999</c:v>
                </c:pt>
                <c:pt idx="7">
                  <c:v>28.70402073</c:v>
                </c:pt>
                <c:pt idx="8">
                  <c:v>26.59949752</c:v>
                </c:pt>
                <c:pt idx="9">
                  <c:v>28.788877339999999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8E-403A-9AF7-5D01D19C0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905087776"/>
        <c:crosses val="autoZero"/>
        <c:auto val="1"/>
        <c:lblAlgn val="ctr"/>
        <c:lblOffset val="100"/>
        <c:noMultiLvlLbl val="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5"/>
          <c:h val="8.70335753843054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Quick Ratio (X)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Sheet1!$B$13</c:f>
              <c:strCache>
                <c:ptCount val="1"/>
                <c:pt idx="0">
                  <c:v>Quick Ratio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Sheet1!$C$13:$L$13</c:f>
              <c:numCache>
                <c:formatCode>0.00</c:formatCode>
                <c:ptCount val="10"/>
                <c:pt idx="0">
                  <c:v>0.93110000000000004</c:v>
                </c:pt>
                <c:pt idx="1">
                  <c:v>1.5144</c:v>
                </c:pt>
                <c:pt idx="2">
                  <c:v>1.6126</c:v>
                </c:pt>
                <c:pt idx="3">
                  <c:v>1.1337999999999999</c:v>
                </c:pt>
                <c:pt idx="4">
                  <c:v>1.0919000000000001</c:v>
                </c:pt>
                <c:pt idx="5">
                  <c:v>1.0694999999999999</c:v>
                </c:pt>
                <c:pt idx="6">
                  <c:v>0.9304</c:v>
                </c:pt>
                <c:pt idx="7">
                  <c:v>0.77539999999999998</c:v>
                </c:pt>
                <c:pt idx="8">
                  <c:v>1.2315</c:v>
                </c:pt>
                <c:pt idx="9">
                  <c:v>1.0829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Debt to Equity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6190322236349486E-2"/>
          <c:y val="0.17596823108959184"/>
          <c:w val="0.92761935552730101"/>
          <c:h val="0.70950929379012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Sheet1!$B$14</c:f>
              <c:strCache>
                <c:ptCount val="1"/>
                <c:pt idx="0">
                  <c:v>Debt to Equity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Sheet1!$C$14:$L$14</c:f>
              <c:numCache>
                <c:formatCode>0.0</c:formatCode>
                <c:ptCount val="10"/>
                <c:pt idx="0">
                  <c:v>31.092600000000001</c:v>
                </c:pt>
                <c:pt idx="1">
                  <c:v>45.956600000000002</c:v>
                </c:pt>
                <c:pt idx="2">
                  <c:v>39.872</c:v>
                </c:pt>
                <c:pt idx="3">
                  <c:v>49.667900000000003</c:v>
                </c:pt>
                <c:pt idx="4">
                  <c:v>33.417000000000002</c:v>
                </c:pt>
                <c:pt idx="5">
                  <c:v>31.4832</c:v>
                </c:pt>
                <c:pt idx="6">
                  <c:v>28.719899999999999</c:v>
                </c:pt>
                <c:pt idx="7">
                  <c:v>30.552600000000002</c:v>
                </c:pt>
                <c:pt idx="8">
                  <c:v>31.142600000000002</c:v>
                </c:pt>
                <c:pt idx="9">
                  <c:v>35.164099999999998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/>
              <a:t>Financial Leverage (X)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Sheet1!$B$15</c:f>
              <c:strCache>
                <c:ptCount val="1"/>
                <c:pt idx="0">
                  <c:v>Financial Leverage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Sheet1!$C$15:$L$15</c:f>
              <c:numCache>
                <c:formatCode>0.00</c:formatCode>
                <c:ptCount val="10"/>
                <c:pt idx="0">
                  <c:v>1.8373999999999999</c:v>
                </c:pt>
                <c:pt idx="1">
                  <c:v>1.9048</c:v>
                </c:pt>
                <c:pt idx="2">
                  <c:v>1.9262999999999999</c:v>
                </c:pt>
                <c:pt idx="3">
                  <c:v>1.9446000000000001</c:v>
                </c:pt>
                <c:pt idx="4">
                  <c:v>1.9866999999999999</c:v>
                </c:pt>
                <c:pt idx="5">
                  <c:v>1.9429000000000001</c:v>
                </c:pt>
                <c:pt idx="6">
                  <c:v>1.8803000000000001</c:v>
                </c:pt>
                <c:pt idx="7">
                  <c:v>1.8472</c:v>
                </c:pt>
                <c:pt idx="8">
                  <c:v>1.8338000000000001</c:v>
                </c:pt>
                <c:pt idx="9">
                  <c:v>1.8173999999999999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Operating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Sheet1!$B$18</c:f>
              <c:strCache>
                <c:ptCount val="1"/>
                <c:pt idx="0">
                  <c:v>Operating Cash Flow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dLbl>
              <c:idx val="6"/>
              <c:layout>
                <c:manualLayout>
                  <c:x val="-1.3281080473413002E-2"/>
                  <c:y val="1.481004657584735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E5-7045-BE26-3F6F97A10E4F}"/>
                </c:ext>
              </c:extLst>
            </c:dLbl>
            <c:dLbl>
              <c:idx val="7"/>
              <c:layout>
                <c:manualLayout>
                  <c:x val="3.3202701183532505E-3"/>
                  <c:y val="2.46834109597455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2E5-7045-BE26-3F6F97A10E4F}"/>
                </c:ext>
              </c:extLst>
            </c:dLbl>
            <c:dLbl>
              <c:idx val="9"/>
              <c:layout>
                <c:manualLayout>
                  <c:x val="6.6405402367065011E-3"/>
                  <c:y val="1.9435756663026978E-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03-4418-A8A1-89C0CEF34F5D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Sheet1!$C$18:$L$18</c:f>
              <c:numCache>
                <c:formatCode>#,##0</c:formatCode>
                <c:ptCount val="10"/>
                <c:pt idx="0">
                  <c:v>4606.8512410000003</c:v>
                </c:pt>
                <c:pt idx="1">
                  <c:v>1125.468091</c:v>
                </c:pt>
                <c:pt idx="2">
                  <c:v>2557.6554099999998</c:v>
                </c:pt>
                <c:pt idx="3">
                  <c:v>1103.9506899999999</c:v>
                </c:pt>
                <c:pt idx="4">
                  <c:v>2887.014889</c:v>
                </c:pt>
                <c:pt idx="5">
                  <c:v>2816.8095979999998</c:v>
                </c:pt>
                <c:pt idx="6">
                  <c:v>1207.984649</c:v>
                </c:pt>
                <c:pt idx="7">
                  <c:v>1046.659707</c:v>
                </c:pt>
                <c:pt idx="8">
                  <c:v>-1351.699488</c:v>
                </c:pt>
                <c:pt idx="9">
                  <c:v>-1370.743226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Capital Expenditure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Sheet1!$B$20</c:f>
              <c:strCache>
                <c:ptCount val="1"/>
                <c:pt idx="0">
                  <c:v>Capital Expenditure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Sheet1!$C$20:$L$20</c:f>
              <c:numCache>
                <c:formatCode>#,##0</c:formatCode>
                <c:ptCount val="10"/>
                <c:pt idx="0">
                  <c:v>-79.649109100000004</c:v>
                </c:pt>
                <c:pt idx="1">
                  <c:v>-42.038694200000002</c:v>
                </c:pt>
                <c:pt idx="2">
                  <c:v>-384.76705729999998</c:v>
                </c:pt>
                <c:pt idx="3">
                  <c:v>-132.5421418</c:v>
                </c:pt>
                <c:pt idx="4">
                  <c:v>-23.182590900000001</c:v>
                </c:pt>
                <c:pt idx="5">
                  <c:v>-198.45921469999999</c:v>
                </c:pt>
                <c:pt idx="6">
                  <c:v>-577.12489879999998</c:v>
                </c:pt>
                <c:pt idx="7">
                  <c:v>-822.57494110000005</c:v>
                </c:pt>
                <c:pt idx="8">
                  <c:v>-322.805879</c:v>
                </c:pt>
                <c:pt idx="9">
                  <c:v>-107.8634491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ID" dirty="0"/>
              <a:t>Free Cash Flow (IDR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03-4418-A8A1-89C0CEF34F5D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03-4418-A8A1-89C0CEF34F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Sheet1!$C$2:$L$2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Sheet1!$C$5:$L$5</c:f>
              <c:numCache>
                <c:formatCode>#,##0</c:formatCode>
                <c:ptCount val="10"/>
                <c:pt idx="0">
                  <c:v>4527.2021320000003</c:v>
                </c:pt>
                <c:pt idx="1">
                  <c:v>1083.4293970000001</c:v>
                </c:pt>
                <c:pt idx="2">
                  <c:v>2172.8883529999998</c:v>
                </c:pt>
                <c:pt idx="3">
                  <c:v>971.40854820000004</c:v>
                </c:pt>
                <c:pt idx="4">
                  <c:v>2863.8322979999998</c:v>
                </c:pt>
                <c:pt idx="5">
                  <c:v>2618.3503839999998</c:v>
                </c:pt>
                <c:pt idx="6">
                  <c:v>630.85975050000002</c:v>
                </c:pt>
                <c:pt idx="7">
                  <c:v>224.0847655</c:v>
                </c:pt>
                <c:pt idx="8">
                  <c:v>-1674.505367</c:v>
                </c:pt>
                <c:pt idx="9">
                  <c:v>-1478.606675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03-4418-A8A1-89C0CEF34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12141040"/>
        <c:crosses val="autoZero"/>
        <c:auto val="1"/>
        <c:lblAlgn val="ctr"/>
        <c:lblOffset val="100"/>
        <c:noMultiLvlLbl val="0"/>
      </c:catAx>
      <c:valAx>
        <c:axId val="5121410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5F1AD-FEAE-434E-B97C-E95F59767822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8C95F-1AB2-4A77-9B98-DD4F46A3689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4747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ED3391-5473-4368-8387-5983A9DC3B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6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F54FC-A085-4F07-844D-85C9C98AEA15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4749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F54FC-A085-4F07-844D-85C9C98AEA15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28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656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04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238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757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844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138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030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14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559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522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038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2458A-D894-4A55-AB51-91A9CDAD3556}" type="datetimeFigureOut">
              <a:rPr lang="en-ID" smtClean="0"/>
              <a:t>08/10/26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D6EF6-D894-4C43-BE71-40EC1D8336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35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Bumi Serpong</a:t>
            </a:r>
            <a:r>
              <a:rPr lang="en-US" sz="3200" b="1" dirty="0">
                <a:solidFill>
                  <a:schemeClr val="bg1"/>
                </a:solidFill>
              </a:rPr>
              <a:t> Damai </a:t>
            </a:r>
            <a:r>
              <a:rPr lang="en-US" sz="1600" b="1" dirty="0">
                <a:solidFill>
                  <a:schemeClr val="bg1"/>
                </a:solidFill>
              </a:rPr>
              <a:t>(</a:t>
            </a:r>
            <a:r>
              <a:rPr lang="en-US" sz="1600" b="1" dirty="0" err="1">
                <a:solidFill>
                  <a:schemeClr val="bg1"/>
                </a:solidFill>
              </a:rPr>
              <a:t>Pefindo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b="1" dirty="0" err="1">
                <a:solidFill>
                  <a:schemeClr val="bg1"/>
                </a:solidFill>
              </a:rPr>
              <a:t>idAA</a:t>
            </a:r>
            <a:r>
              <a:rPr lang="en-US" sz="1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349" y="3445577"/>
            <a:ext cx="11423301" cy="3141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Profitability:</a:t>
            </a:r>
            <a:endParaRPr lang="en-US" sz="1500" dirty="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>2024: </a:t>
            </a:r>
            <a:r>
              <a:rPr lang="en-ID" sz="1200" dirty="0">
                <a:solidFill>
                  <a:srgbClr val="FFFFFF"/>
                </a:solidFill>
              </a:rPr>
              <a:t>Revenue naik 19,6% menjadi Rp13,80 triliun dan laba bersih naik 124,1%. Penjualan residensial/komersial, </a:t>
            </a:r>
            <a:r>
              <a:rPr lang="en-ID" sz="1200" dirty="0" err="1">
                <a:solidFill>
                  <a:srgbClr val="FFFFFF"/>
                </a:solidFill>
              </a:rPr>
              <a:t>efisiensi</a:t>
            </a:r>
            <a:r>
              <a:rPr lang="en-ID" sz="1200" dirty="0">
                <a:solidFill>
                  <a:srgbClr val="FFFFFF"/>
                </a:solidFill>
              </a:rPr>
              <a:t> </a:t>
            </a:r>
            <a:r>
              <a:rPr lang="en-ID" sz="1200" i="1" dirty="0">
                <a:solidFill>
                  <a:srgbClr val="FFFFFF"/>
                </a:solidFill>
              </a:rPr>
              <a:t>cost</a:t>
            </a:r>
            <a:r>
              <a:rPr lang="en-ID" sz="1200" dirty="0">
                <a:solidFill>
                  <a:srgbClr val="FFFFFF"/>
                </a:solidFill>
              </a:rPr>
              <a:t> , serta </a:t>
            </a:r>
            <a:r>
              <a:rPr lang="en-ID" sz="1200" i="1" dirty="0">
                <a:solidFill>
                  <a:srgbClr val="FFFFFF"/>
                </a:solidFill>
              </a:rPr>
              <a:t>gain</a:t>
            </a:r>
            <a:r>
              <a:rPr lang="en-ID" sz="1200" dirty="0">
                <a:solidFill>
                  <a:srgbClr val="FFFFFF"/>
                </a:solidFill>
              </a:rPr>
              <a:t> akuisisi SMDM Rp1,55 triliun menjadi pendorong utama.</a:t>
            </a:r>
            <a:endParaRPr lang="en-US" sz="1200" dirty="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>2025: </a:t>
            </a:r>
            <a:r>
              <a:rPr lang="en-ID" sz="1200" dirty="0">
                <a:solidFill>
                  <a:srgbClr val="FFFFFF"/>
                </a:solidFill>
              </a:rPr>
              <a:t>Revenue turun 7,3% menjadi Rp12,79 triliun akibat jasa konstruksi turun Rp615 miliar dan penjualan turun Rp581 miliar. Laba bersih turun 41,6% karena normalisasi gain akuisisi dan beban bunga/keuangan naik menjadi Rp1,53 triliun.</a:t>
            </a:r>
            <a:endParaRPr lang="en-US" sz="1200" dirty="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>1H26: </a:t>
            </a:r>
            <a:r>
              <a:rPr lang="en-ID" sz="1200" dirty="0">
                <a:solidFill>
                  <a:srgbClr val="FFFFFF"/>
                </a:solidFill>
              </a:rPr>
              <a:t>Revenue turun 25,6% YoY dan laba bersih turun 53,1%, </a:t>
            </a:r>
            <a:r>
              <a:rPr lang="en-ID" sz="1200" dirty="0" err="1">
                <a:solidFill>
                  <a:srgbClr val="FFFFFF"/>
                </a:solidFill>
              </a:rPr>
              <a:t>walaupun</a:t>
            </a:r>
            <a:r>
              <a:rPr lang="en-ID" sz="1200" dirty="0">
                <a:solidFill>
                  <a:srgbClr val="FFFFFF"/>
                </a:solidFill>
              </a:rPr>
              <a:t> gross margin naik menjadi 66,5%. Marketing sales Rp5,12 triliun atau 51% target memberi dukungan untuk pengakuan pendapatan 2H26.</a:t>
            </a:r>
            <a:endParaRPr lang="en-US" sz="1200" dirty="0"/>
          </a:p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Solvency:</a:t>
            </a:r>
            <a:endParaRPr lang="en-US" sz="1500" dirty="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>2025: </a:t>
            </a:r>
            <a:r>
              <a:rPr lang="en-ID" sz="1200" dirty="0">
                <a:solidFill>
                  <a:srgbClr val="FFFFFF"/>
                </a:solidFill>
              </a:rPr>
              <a:t>Total aset naik 4,3% menjadi Rp79,27 triliun, terutama dari kas dan persediaan; ekuitas naik 11,3% dan Debt-to-Equity berada di 31,1%.</a:t>
            </a:r>
            <a:endParaRPr lang="en-US" sz="1200" dirty="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>1H26: </a:t>
            </a:r>
            <a:r>
              <a:rPr lang="en-ID" sz="1200" dirty="0">
                <a:solidFill>
                  <a:srgbClr val="FFFFFF"/>
                </a:solidFill>
              </a:rPr>
              <a:t>Total aset naik 3,4% menjadi Rp81,94 triliun karena persediaan, uang muka, dan investasi. Liabilitas naik 8,2% dan net debt meningkat menjadi Rp8,76 triliun setelah penarikan utang bank baru Rp4,42 triliun.</a:t>
            </a:r>
            <a:endParaRPr lang="en-US" sz="1200" dirty="0"/>
          </a:p>
          <a:p>
            <a:pPr algn="just">
              <a:spcBef>
                <a:spcPts val="160"/>
              </a:spcBef>
            </a:pPr>
            <a:r>
              <a:rPr lang="en-ID" sz="1500" b="1" dirty="0">
                <a:solidFill>
                  <a:srgbClr val="FFFFFF"/>
                </a:solidFill>
              </a:rPr>
              <a:t>Free Cash Flow:</a:t>
            </a:r>
            <a:endParaRPr lang="en-US" sz="1500" dirty="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>2024–2025: </a:t>
            </a:r>
            <a:r>
              <a:rPr lang="en-ID" sz="1200" dirty="0">
                <a:solidFill>
                  <a:srgbClr val="FFFFFF"/>
                </a:solidFill>
              </a:rPr>
              <a:t>FCF berbalik dari positif Rp224 miliar menjadi negatif Rp1,67 triliun seiring operating cash flow menjadi negatif.</a:t>
            </a:r>
            <a:endParaRPr lang="en-US" sz="1200" dirty="0"/>
          </a:p>
          <a:p>
            <a:pPr marL="285750" indent="-285750" algn="just">
              <a:spcBef>
                <a:spcPts val="80"/>
              </a:spcBef>
              <a:buFont typeface="Arial"/>
              <a:buChar char="•"/>
            </a:pPr>
            <a:r>
              <a:rPr lang="en-ID" sz="1200" b="1" dirty="0">
                <a:solidFill>
                  <a:srgbClr val="FFFFFF"/>
                </a:solidFill>
              </a:rPr>
              <a:t>1H26: </a:t>
            </a:r>
            <a:r>
              <a:rPr lang="en-ID" sz="1200" dirty="0">
                <a:solidFill>
                  <a:srgbClr val="FFFFFF"/>
                </a:solidFill>
              </a:rPr>
              <a:t>Penerimaan pelanggan naik 15%, tetapi pembelian tanah/bangunan Rp2,51 triliun menekan CFO dan FCF ke sekitar negatif Rp1,4 triliun; ekspansi yang dibiayai utang perlu dimonitor.</a:t>
            </a:r>
            <a:endParaRPr lang="en-US" sz="12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D89B647-A979-355D-5E19-A3FD210BAE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2850567"/>
              </p:ext>
            </p:extLst>
          </p:nvPr>
        </p:nvGraphicFramePr>
        <p:xfrm>
          <a:off x="8006209" y="943685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8B64B41-7D64-42AE-B846-A50A136AA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10339"/>
              </p:ext>
            </p:extLst>
          </p:nvPr>
        </p:nvGraphicFramePr>
        <p:xfrm>
          <a:off x="4195278" y="943685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DE9653D-E1FE-4B85-961D-700052DF6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4605094"/>
              </p:ext>
            </p:extLst>
          </p:nvPr>
        </p:nvGraphicFramePr>
        <p:xfrm>
          <a:off x="389092" y="943686"/>
          <a:ext cx="3801441" cy="2572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A4521E-3420-312E-9AEC-8D40FBF9E325}"/>
              </a:ext>
            </a:extLst>
          </p:cNvPr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Bumi Serpong</a:t>
            </a:r>
            <a:r>
              <a:rPr lang="en-US" sz="3200" b="1" dirty="0"/>
              <a:t> Damai </a:t>
            </a:r>
            <a:r>
              <a:rPr lang="en-US" sz="1600" b="1" dirty="0"/>
              <a:t>(</a:t>
            </a:r>
            <a:r>
              <a:rPr lang="en-US" sz="1600" b="1" dirty="0" err="1"/>
              <a:t>Pefindo</a:t>
            </a:r>
            <a:r>
              <a:rPr lang="en-US" sz="1600" b="1" dirty="0"/>
              <a:t>: </a:t>
            </a:r>
            <a:r>
              <a:rPr lang="en-US" sz="1600" b="1" dirty="0" err="1"/>
              <a:t>idAA</a:t>
            </a:r>
            <a:r>
              <a:rPr lang="en-US" sz="1600" b="1" dirty="0"/>
              <a:t>)</a:t>
            </a:r>
            <a:endParaRPr lang="en-US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D3B0D-0A31-CF27-98DE-44A022E9D277}"/>
              </a:ext>
            </a:extLst>
          </p:cNvPr>
          <p:cNvSpPr txBox="1"/>
          <p:nvPr/>
        </p:nvSpPr>
        <p:spPr>
          <a:xfrm>
            <a:off x="341069" y="844333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Yearly Performance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BC1D2-752C-8803-6651-5D1106A28588}"/>
              </a:ext>
            </a:extLst>
          </p:cNvPr>
          <p:cNvSpPr txBox="1"/>
          <p:nvPr/>
        </p:nvSpPr>
        <p:spPr>
          <a:xfrm>
            <a:off x="341069" y="3751922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Performance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F6F7C9-9DCD-48A3-BC89-DEFAE6116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07334"/>
              </p:ext>
            </p:extLst>
          </p:nvPr>
        </p:nvGraphicFramePr>
        <p:xfrm>
          <a:off x="341067" y="1174408"/>
          <a:ext cx="11509854" cy="2528682"/>
        </p:xfrm>
        <a:graphic>
          <a:graphicData uri="http://schemas.openxmlformats.org/drawingml/2006/table">
            <a:tbl>
              <a:tblPr/>
              <a:tblGrid>
                <a:gridCol w="1748525">
                  <a:extLst>
                    <a:ext uri="{9D8B030D-6E8A-4147-A177-3AD203B41FA5}">
                      <a16:colId xmlns:a16="http://schemas.microsoft.com/office/drawing/2014/main" val="1139494516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3126844501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2584166784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2223669831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2544691179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2899485236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1521664289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3616357771"/>
                    </a:ext>
                  </a:extLst>
                </a:gridCol>
                <a:gridCol w="866660">
                  <a:extLst>
                    <a:ext uri="{9D8B030D-6E8A-4147-A177-3AD203B41FA5}">
                      <a16:colId xmlns:a16="http://schemas.microsoft.com/office/drawing/2014/main" val="994274472"/>
                    </a:ext>
                  </a:extLst>
                </a:gridCol>
                <a:gridCol w="942683">
                  <a:extLst>
                    <a:ext uri="{9D8B030D-6E8A-4147-A177-3AD203B41FA5}">
                      <a16:colId xmlns:a16="http://schemas.microsoft.com/office/drawing/2014/main" val="3005976039"/>
                    </a:ext>
                  </a:extLst>
                </a:gridCol>
                <a:gridCol w="942683">
                  <a:extLst>
                    <a:ext uri="{9D8B030D-6E8A-4147-A177-3AD203B41FA5}">
                      <a16:colId xmlns:a16="http://schemas.microsoft.com/office/drawing/2014/main" val="60612397"/>
                    </a:ext>
                  </a:extLst>
                </a:gridCol>
                <a:gridCol w="942683">
                  <a:extLst>
                    <a:ext uri="{9D8B030D-6E8A-4147-A177-3AD203B41FA5}">
                      <a16:colId xmlns:a16="http://schemas.microsoft.com/office/drawing/2014/main" val="3639356590"/>
                    </a:ext>
                  </a:extLst>
                </a:gridCol>
              </a:tblGrid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400488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6,209,574.07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6,602,955.28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10,347,343.19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6,628,782.18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7,084,864.04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6,180,589.09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7,654,802.25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10,235,479.96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11,539,141.25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13,796,572.15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12,788,452.34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752046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(143,094.70)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(129,290.35)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(79,649.11)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(42,038.69)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(384,767.06)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(132,542.14)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(23,182.59)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(198,459.21)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(577,124.90)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(822,574.94)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(322,805.88)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054632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nl-NL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2,139,496.60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1,796,156.48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4,920,228.06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1,293,850.22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2,791,416.33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281,700.89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1,348,623.04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2,433,146.91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1,945,467.44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4,359,063.78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2,545,380.72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080201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36,022,148.49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38,536,825.18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45,951,188.48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52,190,720.01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54,540,978.40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60,862,926.59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61,469,712.17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64,999,403.48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826477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13,925,458.01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14,074,217.87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16,754,337.39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21,832,718.50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20,915,564.10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26,391,824.11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25,575,995.15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26,953,967.35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20213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22,096,690.48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24,462,607.31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29,196,851.09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30,358,001.50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33,625,414.30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34,471,102.48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35,893,717.01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38,045,436.13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03835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1,132,372.29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3,457,406.18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2,520,674.05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3,430,445.21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3,184,765.00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1,918,687.66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153,731.62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38,630.07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796146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(366,494.06)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(605,189.89)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4,606,851.24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1,125,468.09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2,557,655.41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1,103,950.69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2,887,014.89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2,816,809.60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1,207,984.65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1,046,659.71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(1,351,699.49)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139062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(509,588.76)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(734,480.24)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4,527,202.13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1,083,429.40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2,172,888.35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971,408.55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2,863,832.30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2,618,350.38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630,859.75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224,084.77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(1,674,505.37)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595632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88542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801968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601644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390245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796814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00861"/>
                  </a:ext>
                </a:extLst>
              </a:tr>
              <a:tr h="148746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7491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3BDF922-5636-202F-51C6-580CA3E4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282778"/>
              </p:ext>
            </p:extLst>
          </p:nvPr>
        </p:nvGraphicFramePr>
        <p:xfrm>
          <a:off x="341059" y="4077753"/>
          <a:ext cx="11509867" cy="2364105"/>
        </p:xfrm>
        <a:graphic>
          <a:graphicData uri="http://schemas.openxmlformats.org/drawingml/2006/table">
            <a:tbl>
              <a:tblPr/>
              <a:tblGrid>
                <a:gridCol w="1616159">
                  <a:extLst>
                    <a:ext uri="{9D8B030D-6E8A-4147-A177-3AD203B41FA5}">
                      <a16:colId xmlns:a16="http://schemas.microsoft.com/office/drawing/2014/main" val="2422759176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318634021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4249969728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756699647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2995966305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2012810933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3820903466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1219846998"/>
                    </a:ext>
                  </a:extLst>
                </a:gridCol>
                <a:gridCol w="801053">
                  <a:extLst>
                    <a:ext uri="{9D8B030D-6E8A-4147-A177-3AD203B41FA5}">
                      <a16:colId xmlns:a16="http://schemas.microsoft.com/office/drawing/2014/main" val="717088158"/>
                    </a:ext>
                  </a:extLst>
                </a:gridCol>
                <a:gridCol w="871321">
                  <a:extLst>
                    <a:ext uri="{9D8B030D-6E8A-4147-A177-3AD203B41FA5}">
                      <a16:colId xmlns:a16="http://schemas.microsoft.com/office/drawing/2014/main" val="2580879977"/>
                    </a:ext>
                  </a:extLst>
                </a:gridCol>
                <a:gridCol w="871321">
                  <a:extLst>
                    <a:ext uri="{9D8B030D-6E8A-4147-A177-3AD203B41FA5}">
                      <a16:colId xmlns:a16="http://schemas.microsoft.com/office/drawing/2014/main" val="3041129128"/>
                    </a:ext>
                  </a:extLst>
                </a:gridCol>
                <a:gridCol w="871321">
                  <a:extLst>
                    <a:ext uri="{9D8B030D-6E8A-4147-A177-3AD203B41FA5}">
                      <a16:colId xmlns:a16="http://schemas.microsoft.com/office/drawing/2014/main" val="2643269296"/>
                    </a:ext>
                  </a:extLst>
                </a:gridCol>
                <a:gridCol w="871321">
                  <a:extLst>
                    <a:ext uri="{9D8B030D-6E8A-4147-A177-3AD203B41FA5}">
                      <a16:colId xmlns:a16="http://schemas.microsoft.com/office/drawing/2014/main" val="264018285"/>
                    </a:ext>
                  </a:extLst>
                </a:gridCol>
              </a:tblGrid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4Q23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1Q24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2Q24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3Q24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4Q24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1Q25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2Q25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3Q25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4Q25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1Q26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2Q26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1H26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202700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4,230,823.25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3,774,499.93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3,572,133.03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2,720,373.60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3,729,565.59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2,700,904.01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3,689,852.47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2,372,024.73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4,025,671.12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2,368,795.97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2,382,857.13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4,751,653.10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456436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(234,074.86)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(112,485.07)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(107,952.65)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(304,506.73)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(297,630.49)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(95,354.47)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(87,216.89)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(78,447.68)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(61,865.53)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(40,092.19)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(67,771.26)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(107,863.45)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9333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nl-NL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176,421.45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E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1,436,953.18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896,097.25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368,868.03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1,657,145.32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305,874.26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982,173.64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75,523.35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1,181,809.47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277,628.65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326,267.38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603,896.02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918913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67,653,911.80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67,862,665.42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68,466,170.28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75,916,736.81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76,641,008.60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77,400,079.56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80,125,884.90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574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24,935,494.70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24,310,502.86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24,632,854.28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27,469,342.35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25,905,271.53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26,075,586.09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27,257,461.88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887965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42,718,417.10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43,552,162.56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43,833,316.00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48,447,394.46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50,735,737.06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51,324,493.47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52,868,423.02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863842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1,263,661.32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1,329,674.01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2,194,292.97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3,741,557.78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1,746,344.99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4,162,834.42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6,250,119.00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04842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410,737.07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(27,801.76)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899,529.55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449,588.74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(274,656.83)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(491,662.12)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(472,830.85)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(362,085.79)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(25,120.73)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(816,556.72)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(554,186.50)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(1,370,743.23)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28538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176,662.21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(140,286.83)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791,576.91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145,082.01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(572,287.31)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(587,016.59)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(560,047.74)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(440,533.47)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(86,986.26)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(856,648.91)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(621,957.76)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(1,478,606.68)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288346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905369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4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247281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16787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869145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743194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421657"/>
                  </a:ext>
                </a:extLst>
              </a:tr>
              <a:tr h="132702">
                <a:tc>
                  <a:txBody>
                    <a:bodyPr/>
                    <a:lstStyle/>
                    <a:p>
                      <a:pPr algn="l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227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 txBox="1"/>
          <p:nvPr/>
        </p:nvSpPr>
        <p:spPr>
          <a:xfrm>
            <a:off x="341069" y="844333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Metrics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 txBox="1"/>
          <p:nvPr/>
        </p:nvSpPr>
        <p:spPr>
          <a:xfrm>
            <a:off x="341068" y="3743944"/>
            <a:ext cx="11509861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Bumi Serpong</a:t>
            </a:r>
            <a:r>
              <a:rPr lang="en-US" sz="3200" b="1" dirty="0"/>
              <a:t> Damai </a:t>
            </a:r>
            <a:r>
              <a:rPr lang="en-US" sz="1600" b="1" dirty="0"/>
              <a:t>(</a:t>
            </a:r>
            <a:r>
              <a:rPr lang="en-US" sz="1600" b="1" dirty="0" err="1"/>
              <a:t>Pefindo</a:t>
            </a:r>
            <a:r>
              <a:rPr lang="en-US" sz="1600" b="1" dirty="0"/>
              <a:t>: </a:t>
            </a:r>
            <a:r>
              <a:rPr lang="en-US" sz="1600" b="1" dirty="0" err="1"/>
              <a:t>idAA</a:t>
            </a:r>
            <a:r>
              <a:rPr lang="en-US" sz="1600" b="1" dirty="0"/>
              <a:t>)</a:t>
            </a:r>
            <a:endParaRPr lang="en-US" sz="3200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3400D90-0849-4FC9-8495-F74D96107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190596"/>
              </p:ext>
            </p:extLst>
          </p:nvPr>
        </p:nvGraphicFramePr>
        <p:xfrm>
          <a:off x="350593" y="4136012"/>
          <a:ext cx="3817063" cy="2462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130D22B-9F65-4732-B05A-B23F64FD5D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298179"/>
              </p:ext>
            </p:extLst>
          </p:nvPr>
        </p:nvGraphicFramePr>
        <p:xfrm>
          <a:off x="4189474" y="4136012"/>
          <a:ext cx="3813048" cy="2466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A39E550-FF15-4C80-822B-BBBF14C018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4635603"/>
              </p:ext>
            </p:extLst>
          </p:nvPr>
        </p:nvGraphicFramePr>
        <p:xfrm>
          <a:off x="7980704" y="4136012"/>
          <a:ext cx="3870225" cy="246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F355FC6-3A02-8037-9B56-67B3D4B5AC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0214378"/>
              </p:ext>
            </p:extLst>
          </p:nvPr>
        </p:nvGraphicFramePr>
        <p:xfrm>
          <a:off x="372411" y="1157088"/>
          <a:ext cx="3817063" cy="246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8EEAC1B-9C48-468F-26D0-DAEBA843A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4899665"/>
              </p:ext>
            </p:extLst>
          </p:nvPr>
        </p:nvGraphicFramePr>
        <p:xfrm>
          <a:off x="4189474" y="1157088"/>
          <a:ext cx="3813048" cy="2462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6DF3791-F7F9-2F8A-E289-E2DA3F6159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2926597"/>
              </p:ext>
            </p:extLst>
          </p:nvPr>
        </p:nvGraphicFramePr>
        <p:xfrm>
          <a:off x="7980704" y="1157087"/>
          <a:ext cx="3834867" cy="2462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 txBox="1"/>
          <p:nvPr/>
        </p:nvSpPr>
        <p:spPr>
          <a:xfrm>
            <a:off x="341069" y="844333"/>
            <a:ext cx="11509862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Liquidity &amp; Solvency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 txBox="1"/>
          <p:nvPr/>
        </p:nvSpPr>
        <p:spPr>
          <a:xfrm>
            <a:off x="341068" y="3743944"/>
            <a:ext cx="11509861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 Flow &amp; Sustainability</a:t>
            </a:r>
            <a:endParaRPr lang="en-ID" sz="1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 txBox="1"/>
          <p:nvPr/>
        </p:nvSpPr>
        <p:spPr>
          <a:xfrm>
            <a:off x="341069" y="259558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Bumi Serpong</a:t>
            </a:r>
            <a:r>
              <a:rPr lang="en-US" sz="3200" b="1" dirty="0"/>
              <a:t> Damai </a:t>
            </a:r>
            <a:r>
              <a:rPr lang="en-US" sz="1600" b="1" dirty="0"/>
              <a:t>(</a:t>
            </a:r>
            <a:r>
              <a:rPr lang="en-US" sz="1600" b="1" dirty="0" err="1"/>
              <a:t>Pefindo</a:t>
            </a:r>
            <a:r>
              <a:rPr lang="en-US" sz="1600" b="1" dirty="0"/>
              <a:t>: </a:t>
            </a:r>
            <a:r>
              <a:rPr lang="en-US" sz="1600" b="1" dirty="0" err="1"/>
              <a:t>idAA</a:t>
            </a:r>
            <a:r>
              <a:rPr lang="en-US" sz="1600" b="1" dirty="0"/>
              <a:t>)</a:t>
            </a:r>
            <a:endParaRPr lang="en-US" sz="32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420D482-40FF-4813-9A4B-25410D757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8882366"/>
              </p:ext>
            </p:extLst>
          </p:nvPr>
        </p:nvGraphicFramePr>
        <p:xfrm>
          <a:off x="339822" y="1143334"/>
          <a:ext cx="3824990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41FC39-E2F2-4C4A-8522-5EC28D0A30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9362204"/>
              </p:ext>
            </p:extLst>
          </p:nvPr>
        </p:nvGraphicFramePr>
        <p:xfrm>
          <a:off x="4141263" y="1149364"/>
          <a:ext cx="3860148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E6608BA-F9CA-42A0-938A-48AA29C518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9636077"/>
              </p:ext>
            </p:extLst>
          </p:nvPr>
        </p:nvGraphicFramePr>
        <p:xfrm>
          <a:off x="8001410" y="1143334"/>
          <a:ext cx="3782815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F3EA468-713E-47B2-BC20-2C2F084A3B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9467646"/>
              </p:ext>
            </p:extLst>
          </p:nvPr>
        </p:nvGraphicFramePr>
        <p:xfrm>
          <a:off x="339822" y="4084048"/>
          <a:ext cx="3824990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CDF659C6-97B4-4ED3-B321-F65B2C028B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55357"/>
              </p:ext>
            </p:extLst>
          </p:nvPr>
        </p:nvGraphicFramePr>
        <p:xfrm>
          <a:off x="8001410" y="4084048"/>
          <a:ext cx="3801443" cy="258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3575B30-E482-420D-A2C3-81CBC6CCC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850689"/>
              </p:ext>
            </p:extLst>
          </p:nvPr>
        </p:nvGraphicFramePr>
        <p:xfrm>
          <a:off x="4141263" y="4084048"/>
          <a:ext cx="3801441" cy="257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9010</TotalTime>
  <Words>941</Words>
  <Application>Microsoft Macintosh PowerPoint</Application>
  <PresentationFormat>Widescreen</PresentationFormat>
  <Paragraphs>466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Company 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bloomberg</dc:creator>
  <cp:lastModifiedBy>Microsoft Office User</cp:lastModifiedBy>
  <cp:revision>5</cp:revision>
  <dcterms:created xsi:type="dcterms:W3CDTF">2026-09-18T02:57:23Z</dcterms:created>
  <dcterms:modified xsi:type="dcterms:W3CDTF">2026-10-11T12:31:04Z</dcterms:modified>
</cp:coreProperties>
</file>