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7.xml" ContentType="application/vnd.openxmlformats-officedocument.drawingml.chart+xml"/>
  <Override PartName="/ppt/slides/charts/chart18.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775df83522d4402" /><Relationship Type="http://schemas.openxmlformats.org/officeDocument/2006/relationships/extended-properties" Target="/docProps/app.xml" Id="Rb98196730452480a" /><Relationship Type="http://schemas.openxmlformats.org/officeDocument/2006/relationships/officeDocument" Target="/ppt/presentation.xml" Id="R563269813b5a4ec6" /></Relationships>
</file>

<file path=ppt/presentation.xml><?xml version="1.0" encoding="utf-8"?>
<p:presentation xmlns:p="http://schemas.openxmlformats.org/presentationml/2006/main">
  <p:sldMasterIdLst>
    <p:sldMasterId xmlns:r="http://schemas.openxmlformats.org/officeDocument/2006/relationships" id="2147483648" r:id="Re67f08a9d93b4d3a"/>
  </p:sldMasterIdLst>
  <p:notesMasterIdLst>
    <p:notesMasterId xmlns:r="http://schemas.openxmlformats.org/officeDocument/2006/relationships" r:id="Ree524de89f2f4a65"/>
  </p:notesMasterIdLst>
  <p:sldIdLst>
    <p:sldId xmlns:r="http://schemas.openxmlformats.org/officeDocument/2006/relationships" id="256" r:id="R0f0545f91fcc4ee0"/>
    <p:sldId xmlns:r="http://schemas.openxmlformats.org/officeDocument/2006/relationships" id="257" r:id="R4a3cb01a42ff40fa"/>
    <p:sldId xmlns:r="http://schemas.openxmlformats.org/officeDocument/2006/relationships" id="258" r:id="Rbeb17ae3a9534de7"/>
    <p:sldId xmlns:r="http://schemas.openxmlformats.org/officeDocument/2006/relationships" id="259" r:id="Rd6184edf1d3246c8"/>
    <p:sldId xmlns:r="http://schemas.openxmlformats.org/officeDocument/2006/relationships" id="260" r:id="Ra9717ce771cd494e"/>
    <p:sldId xmlns:r="http://schemas.openxmlformats.org/officeDocument/2006/relationships" id="261" r:id="R8fda9447916d4802"/>
    <p:sldId xmlns:r="http://schemas.openxmlformats.org/officeDocument/2006/relationships" id="262" r:id="Rdbdbc72fe2664962"/>
    <p:sldId xmlns:r="http://schemas.openxmlformats.org/officeDocument/2006/relationships" id="263" r:id="R737fd17422214407"/>
    <p:sldId xmlns:r="http://schemas.openxmlformats.org/officeDocument/2006/relationships" id="264" r:id="R4622b386bac84e80"/>
    <p:sldId xmlns:r="http://schemas.openxmlformats.org/officeDocument/2006/relationships" id="265" r:id="Rfc1eb1e2fdc647ed"/>
    <p:sldId xmlns:r="http://schemas.openxmlformats.org/officeDocument/2006/relationships" id="266" r:id="R7d17a754fc7c494c"/>
    <p:sldId xmlns:r="http://schemas.openxmlformats.org/officeDocument/2006/relationships" id="267" r:id="Rde45a80e70a74975"/>
    <p:sldId xmlns:r="http://schemas.openxmlformats.org/officeDocument/2006/relationships" id="268" r:id="Rdf69d28733fe42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5b2a3cce9842d1" /><Relationship Type="http://schemas.openxmlformats.org/officeDocument/2006/relationships/slideMaster" Target="/ppt/slideMasters/slideMaster1.xml" Id="Re67f08a9d93b4d3a" /><Relationship Type="http://schemas.openxmlformats.org/officeDocument/2006/relationships/notesMaster" Target="/ppt/notesMasters/notesMaster1.xml" Id="Ree524de89f2f4a65" /><Relationship Type="http://schemas.openxmlformats.org/officeDocument/2006/relationships/presProps" Target="/ppt/presProps.xml" Id="R7d4820f1d63e471e" /><Relationship Type="http://schemas.openxmlformats.org/officeDocument/2006/relationships/tableStyles" Target="/ppt/tableStyles.xml" Id="R946cb1afc158498a" /><Relationship Type="http://schemas.openxmlformats.org/officeDocument/2006/relationships/slide" Target="/ppt/slides/slide1.xml" Id="R0f0545f91fcc4ee0" /><Relationship Type="http://schemas.openxmlformats.org/officeDocument/2006/relationships/slide" Target="/ppt/slides/slide2.xml" Id="R4a3cb01a42ff40fa" /><Relationship Type="http://schemas.openxmlformats.org/officeDocument/2006/relationships/slide" Target="/ppt/slides/slide3.xml" Id="Rbeb17ae3a9534de7" /><Relationship Type="http://schemas.openxmlformats.org/officeDocument/2006/relationships/slide" Target="/ppt/slides/slide4.xml" Id="Rd6184edf1d3246c8" /><Relationship Type="http://schemas.openxmlformats.org/officeDocument/2006/relationships/slide" Target="/ppt/slides/slide5.xml" Id="Ra9717ce771cd494e" /><Relationship Type="http://schemas.openxmlformats.org/officeDocument/2006/relationships/slide" Target="/ppt/slides/slide6.xml" Id="R8fda9447916d4802" /><Relationship Type="http://schemas.openxmlformats.org/officeDocument/2006/relationships/slide" Target="/ppt/slides/slide7.xml" Id="Rdbdbc72fe2664962" /><Relationship Type="http://schemas.openxmlformats.org/officeDocument/2006/relationships/slide" Target="/ppt/slides/slide8.xml" Id="R737fd17422214407" /><Relationship Type="http://schemas.openxmlformats.org/officeDocument/2006/relationships/slide" Target="/ppt/slides/slide9.xml" Id="R4622b386bac84e80" /><Relationship Type="http://schemas.openxmlformats.org/officeDocument/2006/relationships/slide" Target="/ppt/slides/slide10.xml" Id="Rfc1eb1e2fdc647ed" /><Relationship Type="http://schemas.openxmlformats.org/officeDocument/2006/relationships/slide" Target="/ppt/slides/slide11.xml" Id="R7d17a754fc7c494c" /><Relationship Type="http://schemas.openxmlformats.org/officeDocument/2006/relationships/slide" Target="/ppt/slides/slide12.xml" Id="Rde45a80e70a74975" /><Relationship Type="http://schemas.openxmlformats.org/officeDocument/2006/relationships/slide" Target="/ppt/slides/slide13.xml" Id="Rdf69d28733fe42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eae32ef2d745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CA Market Update Reference">
      <a:dk1>
        <a:srgbClr val="000000"/>
      </a:dk1>
      <a:lt1>
        <a:srgbClr val="FFFFFF"/>
      </a:lt1>
      <a:dk2>
        <a:srgbClr val="002060"/>
      </a:dk2>
      <a:lt2>
        <a:srgbClr val="D9D9D9"/>
      </a:lt2>
      <a:accent1>
        <a:srgbClr val="002060"/>
      </a:accent1>
      <a:accent2>
        <a:srgbClr val="E97132"/>
      </a:accent2>
      <a:accent3>
        <a:srgbClr val="0070C0"/>
      </a:accent3>
      <a:accent4>
        <a:srgbClr val="548235"/>
      </a:accent4>
      <a:accent5>
        <a:srgbClr val="7A838E"/>
      </a:accent5>
      <a:accent6>
        <a:srgbClr val="D9D9D9"/>
      </a:accent6>
      <a:hlink>
        <a:srgbClr val="0070C0"/>
      </a:hlink>
      <a:folHlink>
        <a:srgbClr val="E97132"/>
      </a:folHlink>
    </a:clrScheme>
    <a:fontScheme name="">
      <a:majorFont>
        <a:latin typeface="Calibri"/>
        <a:ea typeface=""/>
        <a:cs typeface=""/>
      </a:majorFont>
      <a:minorFont>
        <a:latin typeface="Calibri"/>
        <a:ea typeface=""/>
        <a:cs typeface=""/>
      </a:minorFont>
    </a:fontScheme>
    <a:fmtScheme name="BCA Market Update Re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4cbaf281c94192" /><Relationship Type="http://schemas.openxmlformats.org/officeDocument/2006/relationships/notesMaster" Target="/ppt/notesMasters/notesMaster1.xml" Id="R935810330dd249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037a94c6164a8e" /><Relationship Type="http://schemas.openxmlformats.org/officeDocument/2006/relationships/notesMaster" Target="/ppt/notesMasters/notesMaster1.xml" Id="R6d2fe0cf09ec4e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815534f7eb4938" /><Relationship Type="http://schemas.openxmlformats.org/officeDocument/2006/relationships/notesMaster" Target="/ppt/notesMasters/notesMaster1.xml" Id="R2733eccc6bc145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93f9a00a35479d" /><Relationship Type="http://schemas.openxmlformats.org/officeDocument/2006/relationships/notesMaster" Target="/ppt/notesMasters/notesMaster1.xml" Id="Rf91de7b034ef4d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0f03d7cd4e40da" /><Relationship Type="http://schemas.openxmlformats.org/officeDocument/2006/relationships/notesMaster" Target="/ppt/notesMasters/notesMaster1.xml" Id="R0de5d61d98564f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840c37f025472c" /><Relationship Type="http://schemas.openxmlformats.org/officeDocument/2006/relationships/notesMaster" Target="/ppt/notesMasters/notesMaster1.xml" Id="R830634fdca0b48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2c0addb7c341fb" /><Relationship Type="http://schemas.openxmlformats.org/officeDocument/2006/relationships/notesMaster" Target="/ppt/notesMasters/notesMaster1.xml" Id="R5ba62ecf6f0549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cf8d1a9d5247b4" /><Relationship Type="http://schemas.openxmlformats.org/officeDocument/2006/relationships/notesMaster" Target="/ppt/notesMasters/notesMaster1.xml" Id="R6724d93b05ce42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05be39ed9546c1" /><Relationship Type="http://schemas.openxmlformats.org/officeDocument/2006/relationships/notesMaster" Target="/ppt/notesMasters/notesMaster1.xml" Id="Rc1c1c3713e464e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f6e1d4f4c0479f" /><Relationship Type="http://schemas.openxmlformats.org/officeDocument/2006/relationships/notesMaster" Target="/ppt/notesMasters/notesMaster1.xml" Id="R3809aa92305341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a70b497c834bf4" /><Relationship Type="http://schemas.openxmlformats.org/officeDocument/2006/relationships/notesMaster" Target="/ppt/notesMasters/notesMaster1.xml" Id="R7661b63258414d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3e04b211774ec4" /><Relationship Type="http://schemas.openxmlformats.org/officeDocument/2006/relationships/notesMaster" Target="/ppt/notesMasters/notesMaster1.xml" Id="R1e7b5a1c721943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58c74f00074082" /><Relationship Type="http://schemas.openxmlformats.org/officeDocument/2006/relationships/notesMaster" Target="/ppt/notesMasters/notesMaster1.xml" Id="R29933fbc2b2d43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Headline data are a mechanical comparison of overlapping PBOC bank-electronic and non-bank network-payment series, not a mutually exclusive ownership share.</a:t>
            </a:r>
          </a:p>
          <a:p xmlns:a="http://schemas.openxmlformats.org/drawingml/2006/main">
            <a:r>
              <a:t>Sources: PBOC 2025 payment-system figures reproduced in Cuiwei filing (28 Mar 2026), https://static.cninfo.com.cn/finalpage/2026-03-28/1225042491.PDF</a:t>
            </a:r>
          </a:p>
          <a:p xmlns:a="http://schemas.openxmlformats.org/drawingml/2006/main">
            <a:r>
              <a:t>Reference design: /Users/agatbe/BCA Internship/Bonds x Mutual Fund/Market Update - 29 September 2026.pptx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2025: banks 19.4% of combined count and 91.5% of combined value; non-bank institutions 80.6% and 8.5%.</a:t>
            </a:r>
          </a:p>
          <a:p xmlns:a="http://schemas.openxmlformats.org/drawingml/2006/main">
            <a:r>
              <a:t>H1 2026 actual: non-bank 80.0% of combined count; banks 92.4% of combined value. H1 is not annualised.</a:t>
            </a:r>
          </a:p>
          <a:p xmlns:a="http://schemas.openxmlformats.org/drawingml/2006/main">
            <a:r>
              <a:t>The PBOC explicitly notes scope overlap between bank electronic payments and non-bank network payments.</a:t>
            </a:r>
          </a:p>
          <a:p xmlns:a="http://schemas.openxmlformats.org/drawingml/2006/main">
            <a:r>
              <a:t>Sources: PBOC 2023 payment-system report footnotes 11–13, https://www.pbc.gov.cn/zhifujiesuansi/128525/128545/128643/e65053157ab14b9abf06bc9b18badb3a/2024032815235914509.pdf ; 2025 data reproduced by Cuiwei, https://static.cninfo.com.cn/finalpage/2026-03-28/1225042491.PDF ; 2026 Q1/Q2 reproduction, https://www.mpaypass.com.cn/download/202609/03145833.html ; IMF 2026, https://www.elibrary.imf.org/view/journals/005/2026/009/article-A001-en.xml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Interface estimate: Alipay plus WeChat/Tenpay around 94% in 2024 and close to 95% in 2026.</a:t>
            </a:r>
          </a:p>
          <a:p xmlns:a="http://schemas.openxmlformats.org/drawingml/2006/main">
            <a:r>
              <a:t>Clearing share: NetsUnion carried 75.9% of count and 68.2% of value in 2025.</a:t>
            </a:r>
          </a:p>
          <a:p xmlns:a="http://schemas.openxmlformats.org/drawingml/2006/main">
            <a:r>
              <a:t>Activity series overlap and do not represent mutually exclusive ownership.</a:t>
            </a:r>
          </a:p>
          <a:p xmlns:a="http://schemas.openxmlformats.org/drawingml/2006/main">
            <a:r>
              <a:t>Sources: AMRO AFSR 2025, https://amro-asia.org/wp-content/uploads/2025/10/AMRO-AFSR-2025-Full-Report-Web.pdf ; IMF 2026, https://www.elibrary.imf.org/view/journals/005/2026/009/article-A001-en.xml ; PBOC / Cuiwei reproduction, https://static.cninfo.com.cn/finalpage/2026-03-28/1225042491.PDF ; NetsUnion / UnionPay report copy, https://www.fxbaogao.com/detail/5282328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Series are indexed to 2013=100. Bank mobile payments are a bank-channel subset; non-bank network payments are payment-institution transactions. They should not be added into a unique total.</a:t>
            </a:r>
          </a:p>
          <a:p xmlns:a="http://schemas.openxmlformats.org/drawingml/2006/main">
            <a:r>
              <a:t>Underlying actuals for 2013–2025 are from PBOC annual payment-system reports and reproductions. Methodology breaks occurred in 2014, 2015, 2018 and 2023.</a:t>
            </a:r>
          </a:p>
          <a:p xmlns:a="http://schemas.openxmlformats.org/drawingml/2006/main">
            <a:r>
              <a:t>Source examples: PBOC 2013, https://www.gov.cn/gzdt/att/att/site1/20140217/782bcb8883ce146be61101.pdf ; PBOC 2023, https://www.pbc.gov.cn/zhifujiesuansi/128525/128545/128643/e65053157ab14b9abf06bc9b18badb3a/2024032815235914509.pdf ; 2025 Cuiwei reproduction, https://static.cninfo.com.cn/finalpage/2026-03-28/1225042491.PDF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CNNIC network-payment users: 166.76m (32.5% of internet users) in 2011; 1.029bn (92.8%) in 2024.</a:t>
            </a:r>
          </a:p>
          <a:p xmlns:a="http://schemas.openxmlformats.org/drawingml/2006/main">
            <a:r>
              <a:t>Wallet shares use source-specific mobile-payment definitions and should be read as a range. 2015–2019 are Analysys observations; 2Q20 is around 94%; 2024 AMRO estimate 94%; 2026 IMF assessment close to 95%.</a:t>
            </a:r>
          </a:p>
          <a:p xmlns:a="http://schemas.openxmlformats.org/drawingml/2006/main">
            <a:r>
              <a:t>Sources: CNNIC 2012, https://www.cnnic.cn/NMediaFile/old_attach/P020120723477451202474.pdf ; CNNIC 2025, https://www3.cnnic.cn/NMediaFile/2025/0313/MAIN17418452848150SDUMQZGSU.pdf ; Bloomberg Intelligence 5.pdf pp.2; AMRO 2025; IMF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Banking assets rose from RMB95.3tn in 2010 to RMB480.0tn in 2025; deposits from RMB73.3tn to RMB336.1tn; loans from RMB50.9tn to RMB275.7tn.</a:t>
            </a:r>
          </a:p>
          <a:p xmlns:a="http://schemas.openxmlformats.org/drawingml/2006/main">
            <a:r>
              <a:t>ROE fell from 17.5% to 7.78%; 2025 ROA 0.60%, NIM 1.42%.</a:t>
            </a:r>
          </a:p>
          <a:p xmlns:a="http://schemas.openxmlformats.org/drawingml/2006/main">
            <a:r>
              <a:t>Sources: CBRC 2010 annual report, https://www.nfra.gov.cn/chinese/subject/subject/nianbao2010/english/1.pdf ; NFRA 2025, https://www.nfra.gov.cn/en/view/pages/ItemDetail.html?docId=1251267&amp;itemId=980 ; NBS 2025 communiqué, https://www.stats.gov.cn/english/PressRelease/202602/t20260228_1962661.html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This is a qualitative structural map, not a quantified market-share table.</a:t>
            </a:r>
          </a:p>
          <a:p xmlns:a="http://schemas.openxmlformats.org/drawingml/2006/main">
            <a:r>
              <a:t>Customer multi-homing is the core observation: platforms own convenience and discovery, while banks, brokers, fund managers, consumer-finance companies and custodians retain regulated liabilities and risk.</a:t>
            </a:r>
          </a:p>
          <a:p xmlns:a="http://schemas.openxmlformats.org/drawingml/2006/main">
            <a:r>
              <a:t>Early evidence already showed multi-homing: 79.2% of surveyed online-payment users used third-party account balances and 75.7% used online banking in 2012. Source: CNNIC, https://www3.cnnic.cn/n4/2022/0401/c119-1026.html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WeBank/MYbank are licensed banks, not non-bank fintechs.</a:t>
            </a:r>
          </a:p>
          <a:p xmlns:a="http://schemas.openxmlformats.org/drawingml/2006/main">
            <a:r>
              <a:t>2018: WeBank loans RMB120bn, deposits RMB154bn, LDR 78%, net fees RMB4.424bn and fee/revenue 44%; MYbank loans RMB48bn, deposits RMB43bn, interbank funding RMB35bn, LDR 111%, net fees RMB1.635bn and fee/revenue 26%.</a:t>
            </a:r>
          </a:p>
          <a:p xmlns:a="http://schemas.openxmlformats.org/drawingml/2006/main">
            <a:r>
              <a:t>2024 loans: WeBank RMB436bn; MYbank RMB298.5bn.</a:t>
            </a:r>
          </a:p>
          <a:p xmlns:a="http://schemas.openxmlformats.org/drawingml/2006/main">
            <a:r>
              <a:t>Sources: Bloomberg Intelligence 5.pdf pp.3–5 in /Users/agatbe/Downloads/chinafintech/5.pdf ; company disclosures cited in the underlying research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Audit-cleaned 2025Q4 sample: 10 banks and 9 unique fintech/platform names.</a:t>
            </a:r>
          </a:p>
          <a:p xmlns:a="http://schemas.openxmlformats.org/drawingml/2006/main">
            <a:r>
              <a:t>Banks: median ROA 0.65%, common ROE 9.68%, P/B 0.67x, trailing P/E 7.35x, dividend yield 4.20%.</a:t>
            </a:r>
          </a:p>
          <a:p xmlns:a="http://schemas.openxmlformats.org/drawingml/2006/main">
            <a:r>
              <a:t>Fintech/platforms: median ROA 5.86%, common ROE 14.78%, P/B 3.34x (n=6), trailing P/E 17.29x (n=6), dividend yield 3.48%.</a:t>
            </a:r>
          </a:p>
          <a:p xmlns:a="http://schemas.openxmlformats.org/drawingml/2006/main">
            <a:r>
              <a:t>Source: user-provided Bloomberg workbook /Users/agatbe/Downloads/chinafintech/TIM - 11.xlsx; audit notes in research_notes/China banks fintech Bloomberg/workbook_audit.md.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H1 2026 actual: Tencent revenue/net income +10.1%/+10.3%; East Money +53.2%/+44.8%; Qfin -25.6%/-63.5%; Lexin -2.9%/-67.9%; FinVolution -6.3%/-42.6%.</a:t>
            </a:r>
          </a:p>
          <a:p xmlns:a="http://schemas.openxmlformats.org/drawingml/2006/main">
            <a:r>
              <a:t>Bank peer medians: asset growth +8.4% YoY, loans +5.7%, deposits +3.9%, H1 operating field +6.1%, T12 NIM 1.38%, ROA 0.63%, common ROE 9.47%, NPL 1.27%.</a:t>
            </a:r>
          </a:p>
          <a:p xmlns:a="http://schemas.openxmlformats.org/drawingml/2006/main">
            <a:r>
              <a:t>Source: /Users/agatbe/Downloads/chinafintech/TIM - 11.xlsx; normalized panel in research_notes/China banks fintech Bloomberg/workbook_audit.md.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June 2020: Ant enabled RMB2.154tn of consumer and SME credit; partner institutions or securitisation funded/underwrote about 98%.</a:t>
            </a:r>
          </a:p>
          <a:p xmlns:a="http://schemas.openxmlformats.org/drawingml/2006/main">
            <a:r>
              <a:t>2025 Chongqing Ant Consumer Finance: gross loans RMB303bn, NII RMB18.7bn, credit costs RMB15.9bn, net profit RMB3.1bn.</a:t>
            </a:r>
          </a:p>
          <a:p xmlns:a="http://schemas.openxmlformats.org/drawingml/2006/main">
            <a:r>
              <a:t>The periods and entities differ. The comparison illustrates perimeter shift, not a continuous share bridge.</a:t>
            </a:r>
          </a:p>
          <a:p xmlns:a="http://schemas.openxmlformats.org/drawingml/2006/main">
            <a:r>
              <a:t>Sources: Ant IPO prospectus, https://wynthia.com/wp-content/uploads/2020/09/ant-draft-ipo-prospectus-2020-08-read.pdf ; Bloomberg Intelligence Ant Group Private Company Research 1.pdf pp.13–14 in /Users/agatbe/Downloads/chinafintech/1.pdf.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2010–11: payment licensing formalised platforms. 2017–19: QR rules, UnionPay/NetsUnion routing and 100% centralisation of customer reserves. 2020: Ant IPO suspended and operating P2P platforms closed. 2021: co-lenders required at least 30% contribution, plus partner and exposure limits. 2024: new non-bank payment regulation. 2025–26: loan-assistance, all-in cost and online-marketing rules.</a:t>
            </a:r>
          </a:p>
          <a:p xmlns:a="http://schemas.openxmlformats.org/drawingml/2006/main">
            <a:r>
              <a:t>Sources: PBOC licensing, https://www.pbc.gov.cn/english/130733/2025080815071811497/index.html ; BIS China fintech supervision, https://www.bis.org/speeches/20201222-fintech-developments-challenges-supervision-china ; HKEX Ant suspension, https://www1.hkexnews.hk/listedco/listconews/sehk/2020/1103/2020110302285.pdf ; 2021 co-lending rule, https://www.mofcom.gov.cn/zcfb/zgdwjjmywg/art/2021/art_b3faa0277ac64fefa328864628d4292c.html ; State Council Decree 768, https://www.pbc.gov.cn/tiaofasi/144941/144953/5174993/index.html ; NFRA 2025/2026 rules, https://www.nfra.gov.cn/en/view/pages/ItemDetail.html?docId=1252542&amp;itemId=981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Qualitative analytical positioning, not a price target or quantified score. The axes represent structural control of customer context and control of licensed funding/risk/product ownership.</a:t>
            </a:r>
          </a:p>
          <a:p xmlns:a="http://schemas.openxmlformats.org/drawingml/2006/main">
            <a:r>
              <a:t>Preferred examples combine at least two advantages: CMB (deposit funding + mobile/wealth engagement), WeBank/MYbank (ecosystem + banking licence), East Money (information traffic + regulated brokerage/distribution).</a:t>
            </a:r>
          </a:p>
          <a:p xmlns:a="http://schemas.openxmlformats.org/drawingml/2006/main">
            <a:r>
              <a:t>Tencent/Ant retain interface optionality but segment transparency and regulatory capital are weaker. Large banks offer cheap valuations and income but face NIM pressure. Pure loan facilitators have the weakest bargaining position under 2025–26 partner, cost and disclosure rules.</a:t>
            </a:r>
          </a:p>
          <a:p xmlns:a="http://schemas.openxmlformats.org/drawingml/2006/main">
            <a:r>
              <a:t>Underlying sources: user-provided Bloomberg workbook /Users/agatbe/Downloads/chinafintech/TIM - 11.xlsx; NFRA/PBOC evidence; Bloomberg Intelligence PDFs 1.pdf, 4.pdf and 5.pdf; full research report at /Users/agatbe/Claude Project/Claude Vibecode (NiFi)/reports/China banks fintech Bloomberg.md.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8a7a8a0a734e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21032fdfb944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e7b1d0a1f841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51a82e317245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b13626e9474d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550f0d331f42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7B5DC7-1D94-477A-953D-9A7A1BA7BE4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7DEB71-1752-40CE-BDD7-DF1C64648E8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1B571A1-C675-46B1-8D56-6B373E9241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A3CFA0-C39B-41B0-A84B-15C92CC8A5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402DC12-C66E-467D-9830-624302B296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47B9A31-FF0E-4BDC-B588-D9BDF22C81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4FB2F5-83B5-45A2-83FB-E04FEA5A18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902B7EC-659B-4F41-AF3C-CB794EAC434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68EAE7-1717-42AA-928E-C22CA90702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C99643-1E94-4528-881A-58252EA1251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91204886ad4dbe" /><Relationship Type="http://schemas.openxmlformats.org/officeDocument/2006/relationships/slideLayout" Target="/ppt/slideLayouts/slideLayout1.xml" Id="R95dc990553544346" /><Relationship Type="http://schemas.openxmlformats.org/officeDocument/2006/relationships/slideLayout" Target="/ppt/slideLayouts/slideLayout2.xml" Id="Rad1f32409b2e488e" /><Relationship Type="http://schemas.openxmlformats.org/officeDocument/2006/relationships/slideLayout" Target="/ppt/slideLayouts/slideLayout3.xml" Id="Rb20cb19d802c4cc4" /><Relationship Type="http://schemas.openxmlformats.org/officeDocument/2006/relationships/slideLayout" Target="/ppt/slideLayouts/slideLayout4.xml" Id="R66f47bc16bce4fb1" /><Relationship Type="http://schemas.openxmlformats.org/officeDocument/2006/relationships/slideLayout" Target="/ppt/slideLayouts/slideLayout5.xml" Id="R42aece823f074ce1" /><Relationship Type="http://schemas.openxmlformats.org/officeDocument/2006/relationships/slideLayout" Target="/ppt/slideLayouts/slideLayout6.xml" Id="Rdd49067f5ce042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dc990553544346"/>
    <p:sldLayoutId xmlns:r="http://schemas.openxmlformats.org/officeDocument/2006/relationships" id="2147483650" r:id="Rad1f32409b2e488e"/>
    <p:sldLayoutId xmlns:r="http://schemas.openxmlformats.org/officeDocument/2006/relationships" id="2147483651" r:id="Rb20cb19d802c4cc4"/>
    <p:sldLayoutId xmlns:r="http://schemas.openxmlformats.org/officeDocument/2006/relationships" id="2147483652" r:id="R66f47bc16bce4fb1"/>
    <p:sldLayoutId xmlns:r="http://schemas.openxmlformats.org/officeDocument/2006/relationships" id="2147483653" r:id="R42aece823f074ce1"/>
    <p:sldLayoutId xmlns:r="http://schemas.openxmlformats.org/officeDocument/2006/relationships" id="2147483654" r:id="Rdd49067f5ce042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CA Market Update Reference">
      <a:dk1>
        <a:srgbClr val="000000"/>
      </a:dk1>
      <a:lt1>
        <a:srgbClr val="FFFFFF"/>
      </a:lt1>
      <a:dk2>
        <a:srgbClr val="002060"/>
      </a:dk2>
      <a:lt2>
        <a:srgbClr val="D9D9D9"/>
      </a:lt2>
      <a:accent1>
        <a:srgbClr val="002060"/>
      </a:accent1>
      <a:accent2>
        <a:srgbClr val="E97132"/>
      </a:accent2>
      <a:accent3>
        <a:srgbClr val="0070C0"/>
      </a:accent3>
      <a:accent4>
        <a:srgbClr val="548235"/>
      </a:accent4>
      <a:accent5>
        <a:srgbClr val="7A838E"/>
      </a:accent5>
      <a:accent6>
        <a:srgbClr val="D9D9D9"/>
      </a:accent6>
      <a:hlink>
        <a:srgbClr val="0070C0"/>
      </a:hlink>
      <a:folHlink>
        <a:srgbClr val="E97132"/>
      </a:folHlink>
    </a:clrScheme>
    <a:fontScheme name="">
      <a:majorFont>
        <a:latin typeface="Calibri"/>
        <a:ea typeface=""/>
        <a:cs typeface=""/>
      </a:majorFont>
      <a:minorFont>
        <a:latin typeface="Calibri"/>
        <a:ea typeface=""/>
        <a:cs typeface=""/>
      </a:minorFont>
    </a:fontScheme>
    <a:fmtScheme name="BCA Market Update Re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5b9c878de8c4f84" /><Relationship Type="http://schemas.openxmlformats.org/officeDocument/2006/relationships/notesSlide" Target="/ppt/notesSlides/notesSlide1.xml" Id="R9c3625244b1448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194042854254277" /><Relationship Type="http://schemas.openxmlformats.org/officeDocument/2006/relationships/chart" Target="/ppt/slides/charts/chart1.xml" Id="R2d665a71beb048a8" /><Relationship Type="http://schemas.openxmlformats.org/officeDocument/2006/relationships/notesSlide" Target="/ppt/notesSlides/notesSlide2.xml" Id="R87180d64f4f247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90e20978764447b" /><Relationship Type="http://schemas.openxmlformats.org/officeDocument/2006/relationships/notesSlide" Target="/ppt/notesSlides/notesSlide3.xml" Id="R92b30e45b4d04d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b2c0925842f4e3c" /><Relationship Type="http://schemas.openxmlformats.org/officeDocument/2006/relationships/chart" Target="/ppt/slides/charts/chart2.xml" Id="R7b69c1842b984730" /><Relationship Type="http://schemas.openxmlformats.org/officeDocument/2006/relationships/chart" Target="/ppt/slides/charts/chart3.xml" Id="Rad39aee6582d4fd5" /><Relationship Type="http://schemas.openxmlformats.org/officeDocument/2006/relationships/notesSlide" Target="/ppt/notesSlides/notesSlide4.xml" Id="Rf4c084950b4845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48d36c230c947e1" /><Relationship Type="http://schemas.openxmlformats.org/officeDocument/2006/relationships/chart" Target="/ppt/slides/charts/chart4.xml" Id="Rb36f7087b91f4af1" /><Relationship Type="http://schemas.openxmlformats.org/officeDocument/2006/relationships/chart" Target="/ppt/slides/charts/chart5.xml" Id="Re8caf2d83bd6412c" /><Relationship Type="http://schemas.openxmlformats.org/officeDocument/2006/relationships/notesSlide" Target="/ppt/notesSlides/notesSlide5.xml" Id="Rc8c97a1873884f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96ce0e02db422f" /><Relationship Type="http://schemas.openxmlformats.org/officeDocument/2006/relationships/chart" Target="/ppt/slides/charts/chart6.xml" Id="Rabf06d2579854c13" /><Relationship Type="http://schemas.openxmlformats.org/officeDocument/2006/relationships/chart" Target="/ppt/slides/charts/chart7.xml" Id="Rfb842769c3ea4ae1" /><Relationship Type="http://schemas.openxmlformats.org/officeDocument/2006/relationships/chart" Target="/ppt/slides/charts/chart8.xml" Id="R9fcbfdfda0e54c6c" /><Relationship Type="http://schemas.openxmlformats.org/officeDocument/2006/relationships/notesSlide" Target="/ppt/notesSlides/notesSlide6.xml" Id="R687b4e35d5a049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ad3b759a0404a35" /><Relationship Type="http://schemas.openxmlformats.org/officeDocument/2006/relationships/notesSlide" Target="/ppt/notesSlides/notesSlide7.xml" Id="R4d99bbda69fd49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1b55c959e948c2" /><Relationship Type="http://schemas.openxmlformats.org/officeDocument/2006/relationships/chart" Target="/ppt/slides/charts/chart9.xml" Id="R96e9cb029ddb478e" /><Relationship Type="http://schemas.openxmlformats.org/officeDocument/2006/relationships/chart" Target="/ppt/slides/charts/chart10.xml" Id="Re0f195d68b604553" /><Relationship Type="http://schemas.openxmlformats.org/officeDocument/2006/relationships/chart" Target="/ppt/slides/charts/chart11.xml" Id="R84ff033c7b1744c5" /><Relationship Type="http://schemas.openxmlformats.org/officeDocument/2006/relationships/notesSlide" Target="/ppt/notesSlides/notesSlide8.xml" Id="Rf0225151e5f04d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9454f3819ec40a2" /><Relationship Type="http://schemas.openxmlformats.org/officeDocument/2006/relationships/chart" Target="/ppt/slides/charts/chart12.xml" Id="R5c4f0df5e4b14136" /><Relationship Type="http://schemas.openxmlformats.org/officeDocument/2006/relationships/chart" Target="/ppt/slides/charts/chart13.xml" Id="R1da696553205490c" /><Relationship Type="http://schemas.openxmlformats.org/officeDocument/2006/relationships/chart" Target="/ppt/slides/charts/chart14.xml" Id="Rbfe89a7652c74999" /><Relationship Type="http://schemas.openxmlformats.org/officeDocument/2006/relationships/chart" Target="/ppt/slides/charts/chart15.xml" Id="R25f2d4c0a779478b" /><Relationship Type="http://schemas.openxmlformats.org/officeDocument/2006/relationships/notesSlide" Target="/ppt/notesSlides/notesSlide9.xml" Id="Reb44d6b6c89741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aa51077d4234ec5" /><Relationship Type="http://schemas.openxmlformats.org/officeDocument/2006/relationships/chart" Target="/ppt/slides/charts/chart16.xml" Id="R46388ee899e8406c" /><Relationship Type="http://schemas.openxmlformats.org/officeDocument/2006/relationships/notesSlide" Target="/ppt/notesSlides/notesSlide10.xml" Id="R07893736205446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be763fa2bb84413" /><Relationship Type="http://schemas.openxmlformats.org/officeDocument/2006/relationships/chart" Target="/ppt/slides/charts/chart17.xml" Id="R5689c1fed3b54c41" /><Relationship Type="http://schemas.openxmlformats.org/officeDocument/2006/relationships/chart" Target="/ppt/slides/charts/chart18.xml" Id="R9e21b4649a604d32" /><Relationship Type="http://schemas.openxmlformats.org/officeDocument/2006/relationships/notesSlide" Target="/ppt/notesSlides/notesSlide11.xml" Id="R9e7dd507643b45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33b2898fa554d76" /><Relationship Type="http://schemas.openxmlformats.org/officeDocument/2006/relationships/notesSlide" Target="/ppt/notesSlides/notesSlide12.xml" Id="Re2f5e1345b4441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e7245e33bf24b45" /><Relationship Type="http://schemas.openxmlformats.org/officeDocument/2006/relationships/notesSlide" Target="/ppt/notesSlides/notesSlide13.xml" Id="R3e5066c1b25f450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Banks</c:v>
          </c:tx>
          <c:spPr>
            <a:solidFill xmlns:a="http://schemas.openxmlformats.org/drawingml/2006/main">
              <a:srgbClr val="002060"/>
            </a:solidFill>
          </c:spPr>
          <c:invertIfNegative val="0"/>
          <c:cat>
            <c:strRef>
              <c:f>'Chart Data'!$A$2:$A$3</c:f>
              <c:strCache>
                <c:ptCount val="2"/>
                <c:pt idx="0">
                  <c:v>Transaction count</c:v>
                </c:pt>
                <c:pt idx="1">
                  <c:v>Transaction value</c:v>
                </c:pt>
              </c:strCache>
            </c:strRef>
          </c:cat>
          <c:val>
            <c:numRef>
              <c:f>'Chart Data'!$B$2:$B$3</c:f>
              <c:numCache>
                <c:formatCode>General</c:formatCode>
                <c:ptCount val="2"/>
                <c:pt idx="0">
                  <c:v>19.4</c:v>
                </c:pt>
                <c:pt idx="1">
                  <c:v>91.5</c:v>
                </c:pt>
              </c:numCache>
            </c:numRef>
          </c:val>
        </c:ser>
        <c:ser>
          <c:idx val="1"/>
          <c:order val="1"/>
          <c:tx>
            <c:v>Non-bank payment institutions</c:v>
          </c:tx>
          <c:spPr>
            <a:solidFill xmlns:a="http://schemas.openxmlformats.org/drawingml/2006/main">
              <a:srgbClr val="E97132"/>
            </a:solidFill>
          </c:spPr>
          <c:invertIfNegative val="0"/>
          <c:cat>
            <c:strRef>
              <c:f>'Chart Data'!$C$2:$C$3</c:f>
              <c:strCache>
                <c:ptCount val="2"/>
                <c:pt idx="0">
                  <c:v>Transaction count</c:v>
                </c:pt>
                <c:pt idx="1">
                  <c:v>Transaction value</c:v>
                </c:pt>
              </c:strCache>
            </c:strRef>
          </c:cat>
          <c:val>
            <c:numRef>
              <c:f>'Chart Data'!$D$2:$D$3</c:f>
              <c:numCache>
                <c:formatCode>General</c:formatCode>
                <c:ptCount val="2"/>
                <c:pt idx="0">
                  <c:v>80.6</c:v>
                </c:pt>
                <c:pt idx="1">
                  <c:v>8.5</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ctr"/>
          <c:showLegendKey val="0"/>
          <c:showVal val="1"/>
          <c:showCatName val="0"/>
          <c:showSerName val="0"/>
          <c:showPercent val="0"/>
          <c:showBubbleSize val="0"/>
          <c:showLeaderLines val="0"/>
        </c:dLbls>
        <c:gapWidth val="55"/>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b="1">
                <a:solidFill>
                  <a:srgbClr val="30343B"/>
                </a:solidFil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Bank mobile</c:v>
          </c:tx>
          <c:spPr>
            <a:ln xmlns:a="http://schemas.openxmlformats.org/drawingml/2006/main" w="28575">
              <a:solidFill>
                <a:srgbClr val="002060"/>
              </a:solidFill>
              <a:prstDash val="solid"/>
            </a:ln>
          </c:spPr>
          <c:marker>
            <c:symbol val="circle"/>
            <c:size val="6"/>
            <c:spPr>
              <a:solidFill xmlns:a="http://schemas.openxmlformats.org/drawingml/2006/main">
                <a:srgbClr val="002060"/>
              </a:solidFill>
            </c:spPr>
          </c:marker>
          <c:cat>
            <c:numRef>
              <c:f>'Chart Data'!$A$2:$A$8</c:f>
              <c:numCache>
                <c:formatCode>General</c:formatCode>
                <c:ptCount val="7"/>
                <c:pt idx="0">
                  <c:v>2013</c:v>
                </c:pt>
                <c:pt idx="1">
                  <c:v>2015</c:v>
                </c:pt>
                <c:pt idx="2">
                  <c:v>2017</c:v>
                </c:pt>
                <c:pt idx="3">
                  <c:v>2019</c:v>
                </c:pt>
                <c:pt idx="4">
                  <c:v>2021</c:v>
                </c:pt>
                <c:pt idx="5">
                  <c:v>2023</c:v>
                </c:pt>
                <c:pt idx="6">
                  <c:v>2025</c:v>
                </c:pt>
              </c:numCache>
            </c:numRef>
          </c:cat>
          <c:val>
            <c:numRef>
              <c:f>'Chart Data'!$B$2:$B$8</c:f>
              <c:numCache>
                <c:formatCode>General</c:formatCode>
                <c:ptCount val="7"/>
                <c:pt idx="0">
                  <c:v>100</c:v>
                </c:pt>
                <c:pt idx="1">
                  <c:v>827</c:v>
                </c:pt>
                <c:pt idx="2">
                  <c:v>2243</c:v>
                </c:pt>
                <c:pt idx="3">
                  <c:v>6060</c:v>
                </c:pt>
                <c:pt idx="4">
                  <c:v>9034</c:v>
                </c:pt>
                <c:pt idx="5">
                  <c:v>11060</c:v>
                </c:pt>
                <c:pt idx="6">
                  <c:v>13827</c:v>
                </c:pt>
              </c:numCache>
            </c:numRef>
          </c:val>
        </c:ser>
        <c:ser>
          <c:idx val="1"/>
          <c:order val="1"/>
          <c:tx>
            <c:v>Non-bank network</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Ref>
              <c:f>'Chart Data'!$C$2:$C$8</c:f>
              <c:numCache>
                <c:formatCode>General</c:formatCode>
                <c:ptCount val="7"/>
                <c:pt idx="0">
                  <c:v>2013</c:v>
                </c:pt>
                <c:pt idx="1">
                  <c:v>2015</c:v>
                </c:pt>
                <c:pt idx="2">
                  <c:v>2017</c:v>
                </c:pt>
                <c:pt idx="3">
                  <c:v>2019</c:v>
                </c:pt>
                <c:pt idx="4">
                  <c:v>2021</c:v>
                </c:pt>
                <c:pt idx="5">
                  <c:v>2023</c:v>
                </c:pt>
                <c:pt idx="6">
                  <c:v>2025</c:v>
                </c:pt>
              </c:numCache>
            </c:numRef>
          </c:cat>
          <c:val>
            <c:numRef>
              <c:f>'Chart Data'!$D$2:$D$8</c:f>
              <c:numCache>
                <c:formatCode>General</c:formatCode>
                <c:ptCount val="7"/>
                <c:pt idx="0">
                  <c:v>100</c:v>
                </c:pt>
                <c:pt idx="1">
                  <c:v>536</c:v>
                </c:pt>
                <c:pt idx="2">
                  <c:v>1869</c:v>
                </c:pt>
                <c:pt idx="3">
                  <c:v>4694</c:v>
                </c:pt>
                <c:pt idx="4">
                  <c:v>6704</c:v>
                </c:pt>
                <c:pt idx="5">
                  <c:v>8020</c:v>
                </c:pt>
                <c:pt idx="6">
                  <c:v>8642</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150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0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Bank mobile</c:v>
          </c:tx>
          <c:spPr>
            <a:ln xmlns:a="http://schemas.openxmlformats.org/drawingml/2006/main" w="28575">
              <a:solidFill>
                <a:srgbClr val="002060"/>
              </a:solidFill>
              <a:prstDash val="solid"/>
            </a:ln>
          </c:spPr>
          <c:marker>
            <c:symbol val="circle"/>
            <c:size val="6"/>
            <c:spPr>
              <a:solidFill xmlns:a="http://schemas.openxmlformats.org/drawingml/2006/main">
                <a:srgbClr val="002060"/>
              </a:solidFill>
            </c:spPr>
          </c:marker>
          <c:cat>
            <c:numRef>
              <c:f>'Chart Data'!$A$2:$A$8</c:f>
              <c:numCache>
                <c:formatCode>General</c:formatCode>
                <c:ptCount val="7"/>
                <c:pt idx="0">
                  <c:v>2013</c:v>
                </c:pt>
                <c:pt idx="1">
                  <c:v>2015</c:v>
                </c:pt>
                <c:pt idx="2">
                  <c:v>2017</c:v>
                </c:pt>
                <c:pt idx="3">
                  <c:v>2019</c:v>
                </c:pt>
                <c:pt idx="4">
                  <c:v>2021</c:v>
                </c:pt>
                <c:pt idx="5">
                  <c:v>2023</c:v>
                </c:pt>
                <c:pt idx="6">
                  <c:v>2025</c:v>
                </c:pt>
              </c:numCache>
            </c:numRef>
          </c:cat>
          <c:val>
            <c:numRef>
              <c:f>'Chart Data'!$B$2:$B$8</c:f>
              <c:numCache>
                <c:formatCode>General</c:formatCode>
                <c:ptCount val="7"/>
                <c:pt idx="0">
                  <c:v>100</c:v>
                </c:pt>
                <c:pt idx="1">
                  <c:v>1123</c:v>
                </c:pt>
                <c:pt idx="2">
                  <c:v>2105</c:v>
                </c:pt>
                <c:pt idx="3">
                  <c:v>3601</c:v>
                </c:pt>
                <c:pt idx="4">
                  <c:v>5467</c:v>
                </c:pt>
                <c:pt idx="5">
                  <c:v>5761</c:v>
                </c:pt>
                <c:pt idx="6">
                  <c:v>5933</c:v>
                </c:pt>
              </c:numCache>
            </c:numRef>
          </c:val>
        </c:ser>
        <c:ser>
          <c:idx val="1"/>
          <c:order val="1"/>
          <c:tx>
            <c:v>Non-bank network</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Ref>
              <c:f>'Chart Data'!$C$2:$C$8</c:f>
              <c:numCache>
                <c:formatCode>General</c:formatCode>
                <c:ptCount val="7"/>
                <c:pt idx="0">
                  <c:v>2013</c:v>
                </c:pt>
                <c:pt idx="1">
                  <c:v>2015</c:v>
                </c:pt>
                <c:pt idx="2">
                  <c:v>2017</c:v>
                </c:pt>
                <c:pt idx="3">
                  <c:v>2019</c:v>
                </c:pt>
                <c:pt idx="4">
                  <c:v>2021</c:v>
                </c:pt>
                <c:pt idx="5">
                  <c:v>2023</c:v>
                </c:pt>
                <c:pt idx="6">
                  <c:v>2025</c:v>
                </c:pt>
              </c:numCache>
            </c:numRef>
          </c:cat>
          <c:val>
            <c:numRef>
              <c:f>'Chart Data'!$D$2:$D$8</c:f>
              <c:numCache>
                <c:formatCode>General</c:formatCode>
                <c:ptCount val="7"/>
                <c:pt idx="0">
                  <c:v>100</c:v>
                </c:pt>
                <c:pt idx="1">
                  <c:v>537</c:v>
                </c:pt>
                <c:pt idx="2">
                  <c:v>1554</c:v>
                </c:pt>
                <c:pt idx="3">
                  <c:v>2710</c:v>
                </c:pt>
                <c:pt idx="4">
                  <c:v>3855</c:v>
                </c:pt>
                <c:pt idx="5">
                  <c:v>3690</c:v>
                </c:pt>
                <c:pt idx="6">
                  <c:v>3664</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65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3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Users</c:v>
          </c:tx>
          <c:spPr>
            <a:solidFill xmlns:a="http://schemas.openxmlformats.org/drawingml/2006/main">
              <a:srgbClr val="002060"/>
            </a:solidFill>
          </c:spPr>
          <c:invertIfNegative val="0"/>
          <c:dPt>
            <c:idx val="0"/>
            <c:invertIfNegative val="0"/>
            <c:spPr>
              <a:solidFill xmlns:a="http://schemas.openxmlformats.org/drawingml/2006/main">
                <a:srgbClr val="0070C0"/>
              </a:solidFill>
            </c:spPr>
          </c:dPt>
          <c:dPt>
            <c:idx val="1"/>
            <c:invertIfNegative val="0"/>
            <c:spPr>
              <a:solidFill xmlns:a="http://schemas.openxmlformats.org/drawingml/2006/main">
                <a:srgbClr val="002060"/>
              </a:solidFill>
            </c:spPr>
          </c:dPt>
          <c:cat>
            <c:numRef>
              <c:f>'Chart Data'!$A$2:$A$3</c:f>
              <c:numCache>
                <c:formatCode>General</c:formatCode>
                <c:ptCount val="2"/>
                <c:pt idx="0">
                  <c:v>2011</c:v>
                </c:pt>
                <c:pt idx="1">
                  <c:v>2024</c:v>
                </c:pt>
              </c:numCache>
            </c:numRef>
          </c:cat>
          <c:val>
            <c:numRef>
              <c:f>'Chart Data'!$B$2:$B$3</c:f>
              <c:numCache>
                <c:formatCode>General</c:formatCode>
                <c:ptCount val="2"/>
                <c:pt idx="0">
                  <c:v>166.76</c:v>
                </c:pt>
                <c:pt idx="1">
                  <c:v>1029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7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595959"/>
                </a:solidFill>
              </a:defRPr>
            </a:pPr>
          </a:p>
        </c:txPr>
        <c:crossAx val="48672768"/>
      </c:catAx>
      <c:valAx>
        <c:axId val="48672768"/>
        <c:scaling>
          <c:orientation val="minMax"/>
          <c:max val="12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Combined wallet share</c:v>
          </c:tx>
          <c:spPr>
            <a:ln xmlns:a="http://schemas.openxmlformats.org/drawingml/2006/main" w="38100">
              <a:solidFill>
                <a:srgbClr val="E97132"/>
              </a:solidFill>
              <a:prstDash val="solid"/>
            </a:ln>
          </c:spPr>
          <c:marker>
            <c:symbol val="circle"/>
            <c:size val="7"/>
            <c:spPr>
              <a:solidFill xmlns:a="http://schemas.openxmlformats.org/drawingml/2006/main">
                <a:srgbClr val="E97132"/>
              </a:solidFill>
            </c:spPr>
          </c:marker>
          <c:cat>
            <c:strRef>
              <c:f>'Chart Data'!$A$2:$A$9</c:f>
              <c:strCache>
                <c:ptCount val="8"/>
                <c:pt idx="0">
                  <c:v>2015</c:v>
                </c:pt>
                <c:pt idx="1">
                  <c:v>2016</c:v>
                </c:pt>
                <c:pt idx="2">
                  <c:v>2017</c:v>
                </c:pt>
                <c:pt idx="3">
                  <c:v>2018</c:v>
                </c:pt>
                <c:pt idx="4">
                  <c:v>1Q19</c:v>
                </c:pt>
                <c:pt idx="5">
                  <c:v>2Q20</c:v>
                </c:pt>
                <c:pt idx="6">
                  <c:v>2024</c:v>
                </c:pt>
                <c:pt idx="7">
                  <c:v>2026</c:v>
                </c:pt>
              </c:strCache>
            </c:strRef>
          </c:cat>
          <c:val>
            <c:numRef>
              <c:f>'Chart Data'!$B$2:$B$9</c:f>
              <c:numCache>
                <c:formatCode>General</c:formatCode>
                <c:ptCount val="8"/>
                <c:pt idx="0">
                  <c:v>90.3</c:v>
                </c:pt>
                <c:pt idx="1">
                  <c:v>91.1</c:v>
                </c:pt>
                <c:pt idx="2">
                  <c:v>92.5</c:v>
                </c:pt>
                <c:pt idx="3">
                  <c:v>92.7</c:v>
                </c:pt>
                <c:pt idx="4">
                  <c:v>92.6</c:v>
                </c:pt>
                <c:pt idx="5">
                  <c:v>94</c:v>
                </c:pt>
                <c:pt idx="6">
                  <c:v>94</c:v>
                </c:pt>
                <c:pt idx="7">
                  <c:v>95</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88" b="1">
                  <a:solidFill>
                    <a:srgbClr val="E97132"/>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100"/>
          <c:min val="88"/>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Assets</c:v>
          </c:tx>
          <c:spPr>
            <a:ln xmlns:a="http://schemas.openxmlformats.org/drawingml/2006/main" w="38100">
              <a:solidFill>
                <a:srgbClr val="002060"/>
              </a:solidFill>
              <a:prstDash val="solid"/>
            </a:ln>
          </c:spPr>
          <c:marker>
            <c:symbol val="circle"/>
            <c:size val="7"/>
            <c:spPr>
              <a:solidFill xmlns:a="http://schemas.openxmlformats.org/drawingml/2006/main">
                <a:srgbClr val="002060"/>
              </a:solidFill>
            </c:spPr>
          </c:marker>
          <c:cat>
            <c:numRef>
              <c:f>'Chart Data'!$A$2:$A$5</c:f>
              <c:numCache>
                <c:formatCode>General</c:formatCode>
                <c:ptCount val="4"/>
                <c:pt idx="0">
                  <c:v>2010</c:v>
                </c:pt>
                <c:pt idx="1">
                  <c:v>2015</c:v>
                </c:pt>
                <c:pt idx="2">
                  <c:v>2020</c:v>
                </c:pt>
                <c:pt idx="3">
                  <c:v>2025</c:v>
                </c:pt>
              </c:numCache>
            </c:numRef>
          </c:cat>
          <c:val>
            <c:numRef>
              <c:f>'Chart Data'!$B$2:$B$5</c:f>
              <c:numCache>
                <c:formatCode>General</c:formatCode>
                <c:ptCount val="4"/>
                <c:pt idx="0">
                  <c:v>95.3</c:v>
                </c:pt>
                <c:pt idx="1">
                  <c:v>199.3</c:v>
                </c:pt>
                <c:pt idx="2">
                  <c:v>319.7</c:v>
                </c:pt>
                <c:pt idx="3">
                  <c:v>480</c:v>
                </c:pt>
              </c:numCache>
            </c:numRef>
          </c:val>
        </c:ser>
        <c:ser>
          <c:idx val="1"/>
          <c:order val="1"/>
          <c:tx>
            <c:v>Deposits</c:v>
          </c:tx>
          <c:spPr>
            <a:ln xmlns:a="http://schemas.openxmlformats.org/drawingml/2006/main" w="28575">
              <a:solidFill>
                <a:srgbClr val="0070C0"/>
              </a:solidFill>
              <a:prstDash val="solid"/>
            </a:ln>
          </c:spPr>
          <c:marker>
            <c:symbol val="circle"/>
            <c:size val="6"/>
            <c:spPr>
              <a:solidFill xmlns:a="http://schemas.openxmlformats.org/drawingml/2006/main">
                <a:srgbClr val="0070C0"/>
              </a:solidFill>
            </c:spPr>
          </c:marker>
          <c:cat>
            <c:numRef>
              <c:f>'Chart Data'!$C$2:$C$5</c:f>
              <c:numCache>
                <c:formatCode>General</c:formatCode>
                <c:ptCount val="4"/>
                <c:pt idx="0">
                  <c:v>2010</c:v>
                </c:pt>
                <c:pt idx="1">
                  <c:v>2015</c:v>
                </c:pt>
                <c:pt idx="2">
                  <c:v>2020</c:v>
                </c:pt>
                <c:pt idx="3">
                  <c:v>2025</c:v>
                </c:pt>
              </c:numCache>
            </c:numRef>
          </c:cat>
          <c:val>
            <c:numRef>
              <c:f>'Chart Data'!$D$2:$D$5</c:f>
              <c:numCache>
                <c:formatCode>General</c:formatCode>
                <c:ptCount val="4"/>
                <c:pt idx="0">
                  <c:v>73.3</c:v>
                </c:pt>
                <c:pt idx="1">
                  <c:v>139.8</c:v>
                </c:pt>
                <c:pt idx="2">
                  <c:v>218.4</c:v>
                </c:pt>
                <c:pt idx="3">
                  <c:v>336.1</c:v>
                </c:pt>
              </c:numCache>
            </c:numRef>
          </c:val>
        </c:ser>
        <c:ser>
          <c:idx val="2"/>
          <c:order val="2"/>
          <c:tx>
            <c:v>Loans</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Ref>
              <c:f>'Chart Data'!$E$2:$E$5</c:f>
              <c:numCache>
                <c:formatCode>General</c:formatCode>
                <c:ptCount val="4"/>
                <c:pt idx="0">
                  <c:v>2010</c:v>
                </c:pt>
                <c:pt idx="1">
                  <c:v>2015</c:v>
                </c:pt>
                <c:pt idx="2">
                  <c:v>2020</c:v>
                </c:pt>
                <c:pt idx="3">
                  <c:v>2025</c:v>
                </c:pt>
              </c:numCache>
            </c:numRef>
          </c:cat>
          <c:val>
            <c:numRef>
              <c:f>'Chart Data'!$F$2:$F$5</c:f>
              <c:numCache>
                <c:formatCode>General</c:formatCode>
                <c:ptCount val="4"/>
                <c:pt idx="0">
                  <c:v>50.9</c:v>
                </c:pt>
                <c:pt idx="1">
                  <c:v>99.3</c:v>
                </c:pt>
                <c:pt idx="2">
                  <c:v>178.4</c:v>
                </c:pt>
                <c:pt idx="3">
                  <c:v>275.7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713">
                  <a:solidFill>
                    <a:srgbClr val="30343B"/>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825">
                <a:solidFill>
                  <a:srgbClr val="595959"/>
                </a:solidFill>
              </a:defRPr>
            </a:pPr>
          </a:p>
        </c:txPr>
        <c:crossAx val="48672768"/>
      </c:catAx>
      <c:valAx>
        <c:axId val="48672768"/>
        <c:scaling>
          <c:orientation val="minMax"/>
          <c:max val="5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ROE</c:v>
          </c:tx>
          <c:spPr>
            <a:ln xmlns:a="http://schemas.openxmlformats.org/drawingml/2006/main" w="38100">
              <a:solidFill>
                <a:srgbClr val="E97132"/>
              </a:solidFill>
              <a:prstDash val="solid"/>
            </a:ln>
          </c:spPr>
          <c:marker>
            <c:symbol val="circle"/>
            <c:size val="7"/>
            <c:spPr>
              <a:solidFill xmlns:a="http://schemas.openxmlformats.org/drawingml/2006/main">
                <a:srgbClr val="E97132"/>
              </a:solidFill>
            </c:spPr>
          </c:marker>
          <c:cat>
            <c:numRef>
              <c:f>'Chart Data'!$A$2:$A$6</c:f>
              <c:numCache>
                <c:formatCode>General</c:formatCode>
                <c:ptCount val="5"/>
                <c:pt idx="0">
                  <c:v>2010</c:v>
                </c:pt>
                <c:pt idx="1">
                  <c:v>2020</c:v>
                </c:pt>
                <c:pt idx="2">
                  <c:v>2023</c:v>
                </c:pt>
                <c:pt idx="3">
                  <c:v>2024</c:v>
                </c:pt>
                <c:pt idx="4">
                  <c:v>2025</c:v>
                </c:pt>
              </c:numCache>
            </c:numRef>
          </c:cat>
          <c:val>
            <c:numRef>
              <c:f>'Chart Data'!$B$2:$B$6</c:f>
              <c:numCache>
                <c:formatCode>General</c:formatCode>
                <c:ptCount val="5"/>
                <c:pt idx="0">
                  <c:v>17.5</c:v>
                </c:pt>
                <c:pt idx="1">
                  <c:v>9.48</c:v>
                </c:pt>
                <c:pt idx="2">
                  <c:v>8.93</c:v>
                </c:pt>
                <c:pt idx="3">
                  <c:v>8.1</c:v>
                </c:pt>
                <c:pt idx="4">
                  <c:v>7.78</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13" b="1">
                  <a:solidFill>
                    <a:srgbClr val="E97132"/>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13">
                <a:solidFill>
                  <a:srgbClr val="7A838E"/>
                </a:solidFill>
              </a:defRPr>
            </a:pPr>
          </a:p>
        </c:txPr>
        <c:crossAx val="48672768"/>
      </c:catAx>
      <c:valAx>
        <c:axId val="48672768"/>
        <c:scaling>
          <c:orientation val="minMax"/>
          <c:max val="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CAGR</c:v>
          </c:tx>
          <c:spPr>
            <a:solidFill xmlns:a="http://schemas.openxmlformats.org/drawingml/2006/main">
              <a:srgbClr val="002060"/>
            </a:solidFill>
          </c:spPr>
          <c:invertIfNegative val="0"/>
          <c:dPt>
            <c:idx val="3"/>
            <c:invertIfNegative val="0"/>
            <c:spPr>
              <a:solidFill xmlns:a="http://schemas.openxmlformats.org/drawingml/2006/main">
                <a:srgbClr val="E97132"/>
              </a:solidFill>
            </c:spPr>
          </c:dPt>
          <c:cat>
            <c:strRef>
              <c:f>'Chart Data'!$A$2:$A$5</c:f>
              <c:strCache>
                <c:ptCount val="4"/>
                <c:pt idx="0">
                  <c:v>Assets</c:v>
                </c:pt>
                <c:pt idx="1">
                  <c:v>Deposits</c:v>
                </c:pt>
                <c:pt idx="2">
                  <c:v>Loans</c:v>
                </c:pt>
                <c:pt idx="3">
                  <c:v>Profit</c:v>
                </c:pt>
              </c:strCache>
            </c:strRef>
          </c:cat>
          <c:val>
            <c:numRef>
              <c:f>'Chart Data'!$B$2:$B$5</c:f>
              <c:numCache>
                <c:formatCode>General</c:formatCode>
                <c:ptCount val="4"/>
                <c:pt idx="0">
                  <c:v>11.4</c:v>
                </c:pt>
                <c:pt idx="1">
                  <c:v>10.7</c:v>
                </c:pt>
                <c:pt idx="2">
                  <c:v>11.9</c:v>
                </c:pt>
                <c:pt idx="3">
                  <c:v>6.8</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13"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13">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2018</c:v>
          </c:tx>
          <c:spPr>
            <a:solidFill xmlns:a="http://schemas.openxmlformats.org/drawingml/2006/main">
              <a:srgbClr val="0070C0"/>
            </a:solidFill>
          </c:spPr>
          <c:invertIfNegative val="0"/>
          <c:cat>
            <c:strRef>
              <c:f>'Chart Data'!$A$2:$A$3</c:f>
              <c:strCache>
                <c:ptCount val="2"/>
                <c:pt idx="0">
                  <c:v>WeBank</c:v>
                </c:pt>
                <c:pt idx="1">
                  <c:v>MYbank</c:v>
                </c:pt>
              </c:strCache>
            </c:strRef>
          </c:cat>
          <c:val>
            <c:numRef>
              <c:f>'Chart Data'!$B$2:$B$3</c:f>
              <c:numCache>
                <c:formatCode>General</c:formatCode>
                <c:ptCount val="2"/>
                <c:pt idx="0">
                  <c:v>120</c:v>
                </c:pt>
                <c:pt idx="1">
                  <c:v>48</c:v>
                </c:pt>
              </c:numCache>
            </c:numRef>
          </c:val>
        </c:ser>
        <c:ser>
          <c:idx val="1"/>
          <c:order val="1"/>
          <c:tx>
            <c:v>2024</c:v>
          </c:tx>
          <c:spPr>
            <a:solidFill xmlns:a="http://schemas.openxmlformats.org/drawingml/2006/main">
              <a:srgbClr val="002060"/>
            </a:solidFill>
          </c:spPr>
          <c:invertIfNegative val="0"/>
          <c:cat>
            <c:strRef>
              <c:f>'Chart Data'!$C$2:$C$3</c:f>
              <c:strCache>
                <c:ptCount val="2"/>
                <c:pt idx="0">
                  <c:v>WeBank</c:v>
                </c:pt>
                <c:pt idx="1">
                  <c:v>MYbank</c:v>
                </c:pt>
              </c:strCache>
            </c:strRef>
          </c:cat>
          <c:val>
            <c:numRef>
              <c:f>'Chart Data'!$D$2:$D$3</c:f>
              <c:numCache>
                <c:formatCode>General</c:formatCode>
                <c:ptCount val="2"/>
                <c:pt idx="0">
                  <c:v>436</c:v>
                </c:pt>
                <c:pt idx="1">
                  <c:v>298.5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30343B"/>
                </a:solidFill>
              </a:defRPr>
            </a:pPr>
          </a:p>
        </c:txPr>
        <c:crossAx val="48672768"/>
      </c:catAx>
      <c:valAx>
        <c:axId val="48672768"/>
        <c:scaling>
          <c:orientation val="minMax"/>
          <c:max val="5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LDR</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cat>
            <c:strRef>
              <c:f>'Chart Data'!$A$2:$A$3</c:f>
              <c:strCache>
                <c:ptCount val="2"/>
                <c:pt idx="0">
                  <c:v>WeBank</c:v>
                </c:pt>
                <c:pt idx="1">
                  <c:v>MYbank</c:v>
                </c:pt>
              </c:strCache>
            </c:strRef>
          </c:cat>
          <c:val>
            <c:numRef>
              <c:f>'Chart Data'!$B$2:$B$3</c:f>
              <c:numCache>
                <c:formatCode>General</c:formatCode>
                <c:ptCount val="2"/>
                <c:pt idx="0">
                  <c:v>78</c:v>
                </c:pt>
                <c:pt idx="1">
                  <c:v>111</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675">
                <a:solidFill>
                  <a:srgbClr val="7A838E"/>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88">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Fee mix</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cat>
            <c:strRef>
              <c:f>'Chart Data'!$A$2:$A$3</c:f>
              <c:strCache>
                <c:ptCount val="2"/>
                <c:pt idx="0">
                  <c:v>WeBank</c:v>
                </c:pt>
                <c:pt idx="1">
                  <c:v>MYbank</c:v>
                </c:pt>
              </c:strCache>
            </c:strRef>
          </c:cat>
          <c:val>
            <c:numRef>
              <c:f>'Chart Data'!$B$2:$B$3</c:f>
              <c:numCache>
                <c:formatCode>General</c:formatCode>
                <c:ptCount val="2"/>
                <c:pt idx="0">
                  <c:v>44</c:v>
                </c:pt>
                <c:pt idx="1">
                  <c:v>26</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675">
                <a:solidFill>
                  <a:srgbClr val="7A838E"/>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88">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9.68</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14.78</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18"/>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4.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0.65</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5.86</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7"/>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7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0.67</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3.34</c:v>
                </c:pt>
              </c:numCache>
            </c:numRef>
          </c:val>
        </c:ser>
        <c:dLbls>
          <c:numFmt formatCode="0.00&quot;x&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4"/>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7.35</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17.29</c:v>
                </c:pt>
              </c:numCache>
            </c:numRef>
          </c:val>
        </c:ser>
        <c:dLbls>
          <c:numFmt formatCode="0.0&quot;x&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Revenue</c:v>
          </c:tx>
          <c:spPr>
            <a:solidFill xmlns:a="http://schemas.openxmlformats.org/drawingml/2006/main">
              <a:srgbClr val="002060"/>
            </a:solidFill>
          </c:spPr>
          <c:invertIfNegative val="0"/>
          <c:cat>
            <c:strRef>
              <c:f>'Chart Data'!$A$2:$A$6</c:f>
              <c:strCache>
                <c:ptCount val="5"/>
                <c:pt idx="0">
                  <c:v>Tencent</c:v>
                </c:pt>
                <c:pt idx="1">
                  <c:v>East Money</c:v>
                </c:pt>
                <c:pt idx="2">
                  <c:v>Qfin</c:v>
                </c:pt>
                <c:pt idx="3">
                  <c:v>Lexin</c:v>
                </c:pt>
                <c:pt idx="4">
                  <c:v>FinVolution</c:v>
                </c:pt>
              </c:strCache>
            </c:strRef>
          </c:cat>
          <c:val>
            <c:numRef>
              <c:f>'Chart Data'!$B$2:$B$6</c:f>
              <c:numCache>
                <c:formatCode>General</c:formatCode>
                <c:ptCount val="5"/>
                <c:pt idx="0">
                  <c:v>10.1</c:v>
                </c:pt>
                <c:pt idx="1">
                  <c:v>53.2</c:v>
                </c:pt>
                <c:pt idx="2">
                  <c:v>-25.6</c:v>
                </c:pt>
                <c:pt idx="3">
                  <c:v>-2.9</c:v>
                </c:pt>
                <c:pt idx="4">
                  <c:v>-6.3</c:v>
                </c:pt>
              </c:numCache>
            </c:numRef>
          </c:val>
        </c:ser>
        <c:ser>
          <c:idx val="1"/>
          <c:order val="1"/>
          <c:tx>
            <c:v>Net income</c:v>
          </c:tx>
          <c:spPr>
            <a:solidFill xmlns:a="http://schemas.openxmlformats.org/drawingml/2006/main">
              <a:srgbClr val="E97132"/>
            </a:solidFill>
          </c:spPr>
          <c:invertIfNegative val="0"/>
          <c:cat>
            <c:strRef>
              <c:f>'Chart Data'!$C$2:$C$6</c:f>
              <c:strCache>
                <c:ptCount val="5"/>
                <c:pt idx="0">
                  <c:v>Tencent</c:v>
                </c:pt>
                <c:pt idx="1">
                  <c:v>East Money</c:v>
                </c:pt>
                <c:pt idx="2">
                  <c:v>Qfin</c:v>
                </c:pt>
                <c:pt idx="3">
                  <c:v>Lexin</c:v>
                </c:pt>
                <c:pt idx="4">
                  <c:v>FinVolution</c:v>
                </c:pt>
              </c:strCache>
            </c:strRef>
          </c:cat>
          <c:val>
            <c:numRef>
              <c:f>'Chart Data'!$D$2:$D$6</c:f>
              <c:numCache>
                <c:formatCode>General</c:formatCode>
                <c:ptCount val="5"/>
                <c:pt idx="0">
                  <c:v>10.3</c:v>
                </c:pt>
                <c:pt idx="1">
                  <c:v>44.8</c:v>
                </c:pt>
                <c:pt idx="2">
                  <c:v>-63.5</c:v>
                </c:pt>
                <c:pt idx="3">
                  <c:v>-67.9</c:v>
                </c:pt>
                <c:pt idx="4">
                  <c:v>-42.6</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50"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crossAx val="48672768"/>
      </c:catAx>
      <c:valAx>
        <c:axId val="48672768"/>
        <c:scaling>
          <c:orientation val="minMax"/>
          <c:max val="60"/>
          <c:min val="-8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Partner institutions / securitisation</c:v>
          </c:tx>
          <c:spPr>
            <a:solidFill xmlns:a="http://schemas.openxmlformats.org/drawingml/2006/main">
              <a:srgbClr val="002060"/>
            </a:solidFill>
          </c:spPr>
          <c:invertIfNegative val="0"/>
          <c:cat>
            <c:strRef>
              <c:f>'Chart Data'!$A$2:$A$2</c:f>
              <c:strCache>
                <c:ptCount val="1"/>
                <c:pt idx="0">
                  <c:v>RMB2.154tn enabled credit</c:v>
                </c:pt>
              </c:strCache>
            </c:strRef>
          </c:cat>
          <c:val>
            <c:numRef>
              <c:f>'Chart Data'!$B$2:$B$2</c:f>
              <c:numCache>
                <c:formatCode>General</c:formatCode>
                <c:ptCount val="1"/>
                <c:pt idx="0">
                  <c:v>98</c:v>
                </c:pt>
              </c:numCache>
            </c:numRef>
          </c:val>
        </c:ser>
        <c:ser>
          <c:idx val="1"/>
          <c:order val="1"/>
          <c:tx>
            <c:v>Ant / related balance sheet</c:v>
          </c:tx>
          <c:spPr>
            <a:solidFill xmlns:a="http://schemas.openxmlformats.org/drawingml/2006/main">
              <a:srgbClr val="E97132"/>
            </a:solidFill>
          </c:spPr>
          <c:invertIfNegative val="0"/>
          <c:cat>
            <c:strRef>
              <c:f>'Chart Data'!$C$2:$C$2</c:f>
              <c:strCache>
                <c:ptCount val="1"/>
                <c:pt idx="0">
                  <c:v>RMB2.154tn enabled credit</c:v>
                </c:pt>
              </c:strCache>
            </c:strRef>
          </c:cat>
          <c:val>
            <c:numRef>
              <c:f>'Chart Data'!$D$2:$D$2</c:f>
              <c:numCache>
                <c:formatCode>General</c:formatCode>
                <c:ptCount val="1"/>
                <c:pt idx="0">
                  <c:v>2</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975" b="1">
                  <a:solidFill>
                    <a:srgbClr val="FFFFFF"/>
                  </a:solidFill>
                </a:defRPr>
              </a:pPr>
            </a:p>
          </c:txPr>
          <c:dLblPos val="ctr"/>
          <c:showLegendKey val="0"/>
          <c:showVal val="1"/>
          <c:showCatName val="0"/>
          <c:showSerName val="0"/>
          <c:showPercent val="0"/>
          <c:showBubbleSize val="0"/>
          <c:showLeaderLines val="0"/>
        </c:dLbls>
        <c:gapWidth val="7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63" b="1">
                <a:solidFill>
                  <a:srgbClr val="30343B"/>
                </a:solidFil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88">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RMBbn</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dPt>
            <c:idx val="2"/>
            <c:invertIfNegative val="0"/>
            <c:spPr>
              <a:solidFill xmlns:a="http://schemas.openxmlformats.org/drawingml/2006/main">
                <a:srgbClr val="0070C0"/>
              </a:solidFill>
            </c:spPr>
          </c:dPt>
          <c:cat>
            <c:strRef>
              <c:f>'Chart Data'!$A$2:$A$4</c:f>
              <c:strCache>
                <c:ptCount val="3"/>
                <c:pt idx="0">
                  <c:v>Net interest income</c:v>
                </c:pt>
                <c:pt idx="1">
                  <c:v>Credit costs</c:v>
                </c:pt>
                <c:pt idx="2">
                  <c:v>Net profit</c:v>
                </c:pt>
              </c:strCache>
            </c:strRef>
          </c:cat>
          <c:val>
            <c:numRef>
              <c:f>'Chart Data'!$B$2:$B$4</c:f>
              <c:numCache>
                <c:formatCode>General</c:formatCode>
                <c:ptCount val="3"/>
                <c:pt idx="0">
                  <c:v>18.7</c:v>
                </c:pt>
                <c:pt idx="1">
                  <c:v>-15.9</c:v>
                </c:pt>
                <c:pt idx="2">
                  <c:v>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crossAx val="48672768"/>
      </c:catAx>
      <c:valAx>
        <c:axId val="48672768"/>
        <c:scaling>
          <c:orientation val="minMax"/>
          <c:max val="25"/>
          <c:min val="-2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436C131-561A-4384-92C0-6682E5D5595F}"/>
              </a:ext>
            </a:extLst>
          </p:cNvPr>
          <p:cNvSpPr>
            <a:spLocks xmlns:a="http://schemas.openxmlformats.org/drawingml/2006/main" noGrp="1"/>
          </p:cNvSpPr>
          <p:nvPr/>
        </p:nvSpPr>
        <p:spPr>
          <a:xfrm xmlns:a="http://schemas.openxmlformats.org/drawingml/2006/main">
            <a:off x="666750" y="5334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7A838E"/>
                </a:solidFill>
                <a:latin typeface="Calibri"/>
                <a:ea typeface="Calibri"/>
                <a:cs typeface="Calibri"/>
              </a:defRPr>
            </a:defPPr>
          </a:lstStyle>
          <a:p xmlns:a="http://schemas.openxmlformats.org/drawingml/2006/main">
            <a:pPr algn="l">
              <a:lnSpc>
                <a:spcPct val="95000"/>
              </a:lnSpc>
              <a:buNone/>
              <a:defRPr sz="900" b="1" i="0">
                <a:solidFill>
                  <a:srgbClr val="7A838E"/>
                </a:solidFill>
                <a:latin typeface="Calibri"/>
                <a:ea typeface="Calibri"/>
                <a:cs typeface="Calibri"/>
              </a:defRPr>
            </a:pPr>
            <a:r>
              <a:rPr sz="900" b="1" i="0">
                <a:solidFill>
                  <a:srgbClr val="7A838E"/>
                </a:solidFill>
                <a:latin typeface="Calibri"/>
                <a:ea typeface="Calibri"/>
                <a:cs typeface="Calibri"/>
              </a:rPr>
              <a:t>INVESTMENT RESEARCH</a:t>
            </a:r>
          </a:p>
        </p:txBody>
      </p:sp>
      <p:sp>
        <p:nvSpPr>
          <p:cNvPr id="2" name="">
            <a:extLst xmlns:a="http://schemas.openxmlformats.org/drawingml/2006/main">
              <a:ext uri="{FF2B5EF4-FFF2-40B4-BE49-F238E27FC236}">
                <a16:creationId xmlns:a16="http://schemas.microsoft.com/office/drawing/2014/main" id="{24CD94D1-123E-4897-BEF3-8C5588F37E06}"/>
              </a:ext>
            </a:extLst>
          </p:cNvPr>
          <p:cNvSpPr>
            <a:spLocks xmlns:a="http://schemas.openxmlformats.org/drawingml/2006/main" noGrp="1"/>
          </p:cNvSpPr>
          <p:nvPr/>
        </p:nvSpPr>
        <p:spPr>
          <a:xfrm xmlns:a="http://schemas.openxmlformats.org/drawingml/2006/main">
            <a:off x="666750" y="1104900"/>
            <a:ext cx="66675" cy="3143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3" name="">
            <a:extLst xmlns:a="http://schemas.openxmlformats.org/drawingml/2006/main">
              <a:ext uri="{FF2B5EF4-FFF2-40B4-BE49-F238E27FC236}">
                <a16:creationId xmlns:a16="http://schemas.microsoft.com/office/drawing/2014/main" id="{DECDB1C5-8EB7-4A96-99DA-EB88F38AA17F}"/>
              </a:ext>
            </a:extLst>
          </p:cNvPr>
          <p:cNvSpPr>
            <a:spLocks xmlns:a="http://schemas.openxmlformats.org/drawingml/2006/main" noGrp="1"/>
          </p:cNvSpPr>
          <p:nvPr/>
        </p:nvSpPr>
        <p:spPr>
          <a:xfrm xmlns:a="http://schemas.openxmlformats.org/drawingml/2006/main">
            <a:off x="990600" y="1638300"/>
            <a:ext cx="5000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i="0">
                <a:solidFill>
                  <a:srgbClr val="002060"/>
                </a:solidFill>
                <a:latin typeface="Calibri"/>
                <a:ea typeface="Calibri"/>
                <a:cs typeface="Calibri"/>
              </a:defRPr>
            </a:defPPr>
          </a:lstStyle>
          <a:p xmlns:a="http://schemas.openxmlformats.org/drawingml/2006/main">
            <a:pPr algn="l">
              <a:lnSpc>
                <a:spcPct val="90000"/>
              </a:lnSpc>
              <a:buNone/>
              <a:defRPr sz="3600" b="1" i="0">
                <a:solidFill>
                  <a:srgbClr val="002060"/>
                </a:solidFill>
                <a:latin typeface="Calibri"/>
                <a:ea typeface="Calibri"/>
                <a:cs typeface="Calibri"/>
              </a:defRPr>
            </a:pPr>
            <a:r>
              <a:rPr sz="3600" b="1" i="0">
                <a:solidFill>
                  <a:srgbClr val="002060"/>
                </a:solidFill>
                <a:latin typeface="Calibri"/>
                <a:ea typeface="Calibri"/>
                <a:cs typeface="Calibri"/>
              </a:rPr>
              <a:t>China Banks</a:t>
            </a:r>
          </a:p>
          <a:p xmlns:a="http://schemas.openxmlformats.org/drawingml/2006/main">
            <a:pPr algn="l">
              <a:lnSpc>
                <a:spcPct val="90000"/>
              </a:lnSpc>
              <a:buNone/>
              <a:defRPr sz="3600" b="1" i="0">
                <a:solidFill>
                  <a:srgbClr val="002060"/>
                </a:solidFill>
                <a:latin typeface="Calibri"/>
                <a:ea typeface="Calibri"/>
                <a:cs typeface="Calibri"/>
              </a:defRPr>
            </a:pPr>
            <a:r>
              <a:rPr sz="3600" b="1" i="0">
                <a:solidFill>
                  <a:srgbClr val="002060"/>
                </a:solidFill>
                <a:latin typeface="Calibri"/>
                <a:ea typeface="Calibri"/>
                <a:cs typeface="Calibri"/>
              </a:rPr>
              <a:t>vs Fintech</a:t>
            </a:r>
          </a:p>
        </p:txBody>
      </p:sp>
      <p:sp>
        <p:nvSpPr>
          <p:cNvPr id="4" name="">
            <a:extLst xmlns:a="http://schemas.openxmlformats.org/drawingml/2006/main">
              <a:ext uri="{FF2B5EF4-FFF2-40B4-BE49-F238E27FC236}">
                <a16:creationId xmlns:a16="http://schemas.microsoft.com/office/drawing/2014/main" id="{6733709A-1F67-4D71-9F15-F34C4F3F7CAF}"/>
              </a:ext>
            </a:extLst>
          </p:cNvPr>
          <p:cNvSpPr>
            <a:spLocks xmlns:a="http://schemas.openxmlformats.org/drawingml/2006/main" noGrp="1"/>
          </p:cNvSpPr>
          <p:nvPr/>
        </p:nvSpPr>
        <p:spPr>
          <a:xfrm xmlns:a="http://schemas.openxmlformats.org/drawingml/2006/main">
            <a:off x="1009650" y="3190875"/>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1">
                <a:solidFill>
                  <a:srgbClr val="30343B"/>
                </a:solidFill>
                <a:latin typeface="Calibri"/>
                <a:ea typeface="Calibri"/>
                <a:cs typeface="Calibri"/>
              </a:defRPr>
            </a:defPPr>
          </a:lstStyle>
          <a:p xmlns:a="http://schemas.openxmlformats.org/drawingml/2006/main">
            <a:pPr algn="l">
              <a:lnSpc>
                <a:spcPct val="95000"/>
              </a:lnSpc>
              <a:buNone/>
              <a:defRPr sz="1425" b="1" i="1">
                <a:solidFill>
                  <a:srgbClr val="30343B"/>
                </a:solidFill>
                <a:latin typeface="Calibri"/>
                <a:ea typeface="Calibri"/>
                <a:cs typeface="Calibri"/>
              </a:defRPr>
            </a:pPr>
            <a:r>
              <a:rPr sz="1425" b="1" i="1">
                <a:solidFill>
                  <a:srgbClr val="30343B"/>
                </a:solidFill>
                <a:latin typeface="Calibri"/>
                <a:ea typeface="Calibri"/>
                <a:cs typeface="Calibri"/>
              </a:rPr>
              <a:t>Who owns the click, the money and the risk — 2010 to H1 2026</a:t>
            </a:r>
          </a:p>
        </p:txBody>
      </p:sp>
      <p:sp>
        <p:nvSpPr>
          <p:cNvPr id="5" name="">
            <a:extLst xmlns:a="http://schemas.openxmlformats.org/drawingml/2006/main">
              <a:ext uri="{FF2B5EF4-FFF2-40B4-BE49-F238E27FC236}">
                <a16:creationId xmlns:a16="http://schemas.microsoft.com/office/drawing/2014/main" id="{C28E67CF-F2B7-46BD-86D6-C74E66BEE5A4}"/>
              </a:ext>
            </a:extLst>
          </p:cNvPr>
          <p:cNvSpPr>
            <a:spLocks xmlns:a="http://schemas.openxmlformats.org/drawingml/2006/main" noGrp="1"/>
          </p:cNvSpPr>
          <p:nvPr/>
        </p:nvSpPr>
        <p:spPr>
          <a:xfrm xmlns:a="http://schemas.openxmlformats.org/drawingml/2006/main">
            <a:off x="1009650" y="39814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7A838E"/>
                </a:solidFill>
                <a:latin typeface="Calibri"/>
                <a:ea typeface="Calibri"/>
                <a:cs typeface="Calibri"/>
              </a:defRPr>
            </a:defPPr>
          </a:lstStyle>
          <a:p xmlns:a="http://schemas.openxmlformats.org/drawingml/2006/main">
            <a:pPr algn="l">
              <a:lnSpc>
                <a:spcPct val="95000"/>
              </a:lnSpc>
              <a:buNone/>
              <a:defRPr sz="900" b="0" i="0">
                <a:solidFill>
                  <a:srgbClr val="7A838E"/>
                </a:solidFill>
                <a:latin typeface="Calibri"/>
                <a:ea typeface="Calibri"/>
                <a:cs typeface="Calibri"/>
              </a:defRPr>
            </a:pPr>
            <a:r>
              <a:rPr sz="900" b="0" i="0">
                <a:solidFill>
                  <a:srgbClr val="7A838E"/>
                </a:solidFill>
                <a:latin typeface="Calibri"/>
                <a:ea typeface="Calibri"/>
                <a:cs typeface="Calibri"/>
              </a:rPr>
              <a:t>14 October 2026  |  Indonesia / China Financials</a:t>
            </a:r>
          </a:p>
        </p:txBody>
      </p:sp>
      <p:sp>
        <p:nvSpPr>
          <p:cNvPr id="6" name="">
            <a:extLst xmlns:a="http://schemas.openxmlformats.org/drawingml/2006/main">
              <a:ext uri="{FF2B5EF4-FFF2-40B4-BE49-F238E27FC236}">
                <a16:creationId xmlns:a16="http://schemas.microsoft.com/office/drawing/2014/main" id="{6C12F964-770D-4F1C-AC1D-D2FE1921B342}"/>
              </a:ext>
            </a:extLst>
          </p:cNvPr>
          <p:cNvSpPr>
            <a:spLocks xmlns:a="http://schemas.openxmlformats.org/drawingml/2006/main" noGrp="1"/>
          </p:cNvSpPr>
          <p:nvPr/>
        </p:nvSpPr>
        <p:spPr>
          <a:xfrm xmlns:a="http://schemas.openxmlformats.org/drawingml/2006/main">
            <a:off x="6667500" y="876300"/>
            <a:ext cx="4667250" cy="4762500"/>
          </a:xfrm>
          <a:prstGeom xmlns:a="http://schemas.openxmlformats.org/drawingml/2006/main" prst="roundRect">
            <a:avLst>
              <a:gd name="adj" fmla="val 1020"/>
            </a:avLst>
          </a:prstGeom>
          <a:solidFill xmlns:a="http://schemas.openxmlformats.org/drawingml/2006/main">
            <a:srgbClr val="F3F5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4802650-0BD6-4F71-8E33-2336EE51C249}"/>
              </a:ext>
            </a:extLst>
          </p:cNvPr>
          <p:cNvSpPr>
            <a:spLocks xmlns:a="http://schemas.openxmlformats.org/drawingml/2006/main" noGrp="1"/>
          </p:cNvSpPr>
          <p:nvPr/>
        </p:nvSpPr>
        <p:spPr>
          <a:xfrm xmlns:a="http://schemas.openxmlformats.org/drawingml/2006/main">
            <a:off x="7000875" y="12001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7A838E"/>
                </a:solidFill>
                <a:latin typeface="Calibri"/>
                <a:ea typeface="Calibri"/>
                <a:cs typeface="Calibri"/>
              </a:defRPr>
            </a:defPPr>
          </a:lstStyle>
          <a:p xmlns:a="http://schemas.openxmlformats.org/drawingml/2006/main">
            <a:pPr algn="l">
              <a:lnSpc>
                <a:spcPct val="95000"/>
              </a:lnSpc>
              <a:buNone/>
              <a:defRPr sz="900" b="1" i="0">
                <a:solidFill>
                  <a:srgbClr val="7A838E"/>
                </a:solidFill>
                <a:latin typeface="Calibri"/>
                <a:ea typeface="Calibri"/>
                <a:cs typeface="Calibri"/>
              </a:defRPr>
            </a:pPr>
            <a:r>
              <a:rPr sz="900" b="1" i="0">
                <a:solidFill>
                  <a:srgbClr val="7A838E"/>
                </a:solidFill>
                <a:latin typeface="Calibri"/>
                <a:ea typeface="Calibri"/>
                <a:cs typeface="Calibri"/>
              </a:rPr>
              <a:t>THE TWO-SPEED EQUILIBRIUM</a:t>
            </a:r>
          </a:p>
        </p:txBody>
      </p:sp>
      <p:sp>
        <p:nvSpPr>
          <p:cNvPr id="8" name="">
            <a:extLst xmlns:a="http://schemas.openxmlformats.org/drawingml/2006/main">
              <a:ext uri="{FF2B5EF4-FFF2-40B4-BE49-F238E27FC236}">
                <a16:creationId xmlns:a16="http://schemas.microsoft.com/office/drawing/2014/main" id="{12C08E66-47EE-435F-892C-C07FE5F06CB9}"/>
              </a:ext>
            </a:extLst>
          </p:cNvPr>
          <p:cNvSpPr>
            <a:spLocks xmlns:a="http://schemas.openxmlformats.org/drawingml/2006/main" noGrp="1"/>
          </p:cNvSpPr>
          <p:nvPr/>
        </p:nvSpPr>
        <p:spPr>
          <a:xfrm xmlns:a="http://schemas.openxmlformats.org/drawingml/2006/main">
            <a:off x="7000875" y="1733550"/>
            <a:ext cx="2428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200" b="1" i="0">
                <a:solidFill>
                  <a:srgbClr val="E97132"/>
                </a:solidFill>
                <a:latin typeface="Calibri"/>
                <a:ea typeface="Calibri"/>
                <a:cs typeface="Calibri"/>
              </a:defRPr>
            </a:defPPr>
          </a:lstStyle>
          <a:p xmlns:a="http://schemas.openxmlformats.org/drawingml/2006/main">
            <a:pPr algn="l">
              <a:lnSpc>
                <a:spcPct val="95000"/>
              </a:lnSpc>
              <a:buNone/>
              <a:defRPr sz="4200" b="1" i="0">
                <a:solidFill>
                  <a:srgbClr val="E97132"/>
                </a:solidFill>
                <a:latin typeface="Calibri"/>
                <a:ea typeface="Calibri"/>
                <a:cs typeface="Calibri"/>
              </a:defRPr>
            </a:pPr>
            <a:r>
              <a:rPr sz="4200" b="1" i="0">
                <a:solidFill>
                  <a:srgbClr val="E97132"/>
                </a:solidFill>
                <a:latin typeface="Calibri"/>
                <a:ea typeface="Calibri"/>
                <a:cs typeface="Calibri"/>
              </a:rPr>
              <a:t>80.6%</a:t>
            </a:r>
          </a:p>
        </p:txBody>
      </p:sp>
      <p:sp>
        <p:nvSpPr>
          <p:cNvPr id="9" name="">
            <a:extLst xmlns:a="http://schemas.openxmlformats.org/drawingml/2006/main">
              <a:ext uri="{FF2B5EF4-FFF2-40B4-BE49-F238E27FC236}">
                <a16:creationId xmlns:a16="http://schemas.microsoft.com/office/drawing/2014/main" id="{0D0B9431-7BE8-44BF-A5EA-6F4BF1354C6A}"/>
              </a:ext>
            </a:extLst>
          </p:cNvPr>
          <p:cNvSpPr>
            <a:spLocks xmlns:a="http://schemas.openxmlformats.org/drawingml/2006/main" noGrp="1"/>
          </p:cNvSpPr>
          <p:nvPr/>
        </p:nvSpPr>
        <p:spPr>
          <a:xfrm xmlns:a="http://schemas.openxmlformats.org/drawingml/2006/main">
            <a:off x="7029450" y="247650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595959"/>
                </a:solidFill>
                <a:latin typeface="Calibri"/>
                <a:ea typeface="Calibri"/>
                <a:cs typeface="Calibri"/>
              </a:defRPr>
            </a:defPPr>
          </a:lstStyle>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non-bank share of</a:t>
            </a:r>
          </a:p>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combined transaction count</a:t>
            </a:r>
          </a:p>
        </p:txBody>
      </p:sp>
      <p:sp>
        <p:nvSpPr>
          <p:cNvPr id="10" name="">
            <a:extLst xmlns:a="http://schemas.openxmlformats.org/drawingml/2006/main">
              <a:ext uri="{FF2B5EF4-FFF2-40B4-BE49-F238E27FC236}">
                <a16:creationId xmlns:a16="http://schemas.microsoft.com/office/drawing/2014/main" id="{54F3BBD4-A88F-4250-A8F1-57877ECA80BC}"/>
              </a:ext>
            </a:extLst>
          </p:cNvPr>
          <p:cNvSpPr>
            <a:spLocks xmlns:a="http://schemas.openxmlformats.org/drawingml/2006/main" noGrp="1"/>
          </p:cNvSpPr>
          <p:nvPr/>
        </p:nvSpPr>
        <p:spPr>
          <a:xfrm xmlns:a="http://schemas.openxmlformats.org/drawingml/2006/main">
            <a:off x="7000875" y="3181350"/>
            <a:ext cx="3905250" cy="0"/>
          </a:xfrm>
          <a:prstGeom xmlns:a="http://schemas.openxmlformats.org/drawingml/2006/main" prst="line">
            <a:avLst/>
          </a:prstGeom>
          <a:noFill xmlns:a="http://schemas.openxmlformats.org/drawingml/2006/main"/>
          <a:ln xmlns:a="http://schemas.openxmlformats.org/drawingml/2006/main" w="19050">
            <a:solidFill>
              <a:srgbClr val="D9D9D9"/>
            </a:solidFill>
            <a:prstDash val="solid"/>
          </a:ln>
        </p:spPr>
      </p:sp>
      <p:sp>
        <p:nvSpPr>
          <p:cNvPr id="11" name="">
            <a:extLst xmlns:a="http://schemas.openxmlformats.org/drawingml/2006/main">
              <a:ext uri="{FF2B5EF4-FFF2-40B4-BE49-F238E27FC236}">
                <a16:creationId xmlns:a16="http://schemas.microsoft.com/office/drawing/2014/main" id="{3C7232BB-3DC6-4157-86D1-F69A911D7AFF}"/>
              </a:ext>
            </a:extLst>
          </p:cNvPr>
          <p:cNvSpPr>
            <a:spLocks xmlns:a="http://schemas.openxmlformats.org/drawingml/2006/main" noGrp="1"/>
          </p:cNvSpPr>
          <p:nvPr/>
        </p:nvSpPr>
        <p:spPr>
          <a:xfrm xmlns:a="http://schemas.openxmlformats.org/drawingml/2006/main">
            <a:off x="7000875" y="3505200"/>
            <a:ext cx="2428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200" b="1" i="0">
                <a:solidFill>
                  <a:srgbClr val="002060"/>
                </a:solidFill>
                <a:latin typeface="Calibri"/>
                <a:ea typeface="Calibri"/>
                <a:cs typeface="Calibri"/>
              </a:defRPr>
            </a:defPPr>
          </a:lstStyle>
          <a:p xmlns:a="http://schemas.openxmlformats.org/drawingml/2006/main">
            <a:pPr algn="l">
              <a:lnSpc>
                <a:spcPct val="95000"/>
              </a:lnSpc>
              <a:buNone/>
              <a:defRPr sz="4200" b="1" i="0">
                <a:solidFill>
                  <a:srgbClr val="002060"/>
                </a:solidFill>
                <a:latin typeface="Calibri"/>
                <a:ea typeface="Calibri"/>
                <a:cs typeface="Calibri"/>
              </a:defRPr>
            </a:pPr>
            <a:r>
              <a:rPr sz="4200" b="1" i="0">
                <a:solidFill>
                  <a:srgbClr val="002060"/>
                </a:solidFill>
                <a:latin typeface="Calibri"/>
                <a:ea typeface="Calibri"/>
                <a:cs typeface="Calibri"/>
              </a:rPr>
              <a:t>91.5%</a:t>
            </a:r>
          </a:p>
        </p:txBody>
      </p:sp>
      <p:sp>
        <p:nvSpPr>
          <p:cNvPr id="12" name="">
            <a:extLst xmlns:a="http://schemas.openxmlformats.org/drawingml/2006/main">
              <a:ext uri="{FF2B5EF4-FFF2-40B4-BE49-F238E27FC236}">
                <a16:creationId xmlns:a16="http://schemas.microsoft.com/office/drawing/2014/main" id="{15FC7A56-B56A-44EF-A7D3-8F937A71DB9F}"/>
              </a:ext>
            </a:extLst>
          </p:cNvPr>
          <p:cNvSpPr>
            <a:spLocks xmlns:a="http://schemas.openxmlformats.org/drawingml/2006/main" noGrp="1"/>
          </p:cNvSpPr>
          <p:nvPr/>
        </p:nvSpPr>
        <p:spPr>
          <a:xfrm xmlns:a="http://schemas.openxmlformats.org/drawingml/2006/main">
            <a:off x="7029450" y="42481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595959"/>
                </a:solidFill>
                <a:latin typeface="Calibri"/>
                <a:ea typeface="Calibri"/>
                <a:cs typeface="Calibri"/>
              </a:defRPr>
            </a:defPPr>
          </a:lstStyle>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bank share of</a:t>
            </a:r>
          </a:p>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combined transaction value</a:t>
            </a:r>
          </a:p>
        </p:txBody>
      </p:sp>
      <p:sp>
        <p:nvSpPr>
          <p:cNvPr id="13" name="">
            <a:extLst xmlns:a="http://schemas.openxmlformats.org/drawingml/2006/main">
              <a:ext uri="{FF2B5EF4-FFF2-40B4-BE49-F238E27FC236}">
                <a16:creationId xmlns:a16="http://schemas.microsoft.com/office/drawing/2014/main" id="{C523D4D7-B58D-4C21-8030-5819C457A910}"/>
              </a:ext>
            </a:extLst>
          </p:cNvPr>
          <p:cNvSpPr>
            <a:spLocks xmlns:a="http://schemas.openxmlformats.org/drawingml/2006/main" noGrp="1"/>
          </p:cNvSpPr>
          <p:nvPr/>
        </p:nvSpPr>
        <p:spPr>
          <a:xfrm xmlns:a="http://schemas.openxmlformats.org/drawingml/2006/main">
            <a:off x="7029450" y="516255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mechanical PBOC index</a:t>
            </a:r>
          </a:p>
        </p:txBody>
      </p:sp>
      <p:sp>
        <p:nvSpPr>
          <p:cNvPr id="14" name="">
            <a:extLst xmlns:a="http://schemas.openxmlformats.org/drawingml/2006/main">
              <a:ext uri="{FF2B5EF4-FFF2-40B4-BE49-F238E27FC236}">
                <a16:creationId xmlns:a16="http://schemas.microsoft.com/office/drawing/2014/main" id="{B37CBCCB-FB85-4C95-9DD7-5AC36C70B9E2}"/>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a:t>
            </a:r>
          </a:p>
        </p:txBody>
      </p:sp>
    </p:spTree>
    <p:extLst>
      <p:ext uri="{BB962C8B-B14F-4D97-AF65-F5344CB8AC3E}">
        <p14:creationId xmlns:p14="http://schemas.microsoft.com/office/powerpoint/2010/main" val="7820928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BFEAAF0-EB0C-4686-B477-DA822EEFB86A}"/>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EXECUTIVE THESIS</a:t>
            </a:r>
          </a:p>
        </p:txBody>
      </p:sp>
      <p:sp>
        <p:nvSpPr>
          <p:cNvPr id="2" name="">
            <a:extLst xmlns:a="http://schemas.openxmlformats.org/drawingml/2006/main">
              <a:ext uri="{FF2B5EF4-FFF2-40B4-BE49-F238E27FC236}">
                <a16:creationId xmlns:a16="http://schemas.microsoft.com/office/drawing/2014/main" id="{5ADFC38C-B5E3-4C61-9ED8-5FDADB507C14}"/>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Fintech owns frequency; banks still own value</a:t>
            </a:r>
          </a:p>
        </p:txBody>
      </p:sp>
      <p:sp>
        <p:nvSpPr>
          <p:cNvPr id="3" name="">
            <a:extLst xmlns:a="http://schemas.openxmlformats.org/drawingml/2006/main">
              <a:ext uri="{FF2B5EF4-FFF2-40B4-BE49-F238E27FC236}">
                <a16:creationId xmlns:a16="http://schemas.microsoft.com/office/drawing/2014/main" id="{035F38FB-A8F2-4544-8185-EEF1B793DC93}"/>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same payment can be fintech-initiated, bank-funded and bank-settled</a:t>
            </a:r>
          </a:p>
        </p:txBody>
      </p:sp>
      <p:sp>
        <p:nvSpPr>
          <p:cNvPr id="4" name="">
            <a:extLst xmlns:a="http://schemas.openxmlformats.org/drawingml/2006/main">
              <a:ext uri="{FF2B5EF4-FFF2-40B4-BE49-F238E27FC236}">
                <a16:creationId xmlns:a16="http://schemas.microsoft.com/office/drawing/2014/main" id="{869F1C05-2605-4B78-B49F-BFEA0E6ECB43}"/>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company filing reproduction; author calculations</a:t>
            </a:r>
          </a:p>
        </p:txBody>
      </p:sp>
      <p:sp>
        <p:nvSpPr>
          <p:cNvPr id="5" name="">
            <a:extLst xmlns:a="http://schemas.openxmlformats.org/drawingml/2006/main">
              <a:ext uri="{FF2B5EF4-FFF2-40B4-BE49-F238E27FC236}">
                <a16:creationId xmlns:a16="http://schemas.microsoft.com/office/drawing/2014/main" id="{1C82237A-1DDA-48AC-A98A-87700E2A21F7}"/>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a:t>
            </a:r>
          </a:p>
        </p:txBody>
      </p:sp>
      <p:sp>
        <p:nvSpPr>
          <p:cNvPr id="6" name="">
            <a:extLst xmlns:a="http://schemas.openxmlformats.org/drawingml/2006/main">
              <a:ext uri="{FF2B5EF4-FFF2-40B4-BE49-F238E27FC236}">
                <a16:creationId xmlns:a16="http://schemas.microsoft.com/office/drawing/2014/main" id="{CF7FCF98-F72A-4B20-8264-8877EB9E9EB4}"/>
              </a:ext>
            </a:extLst>
          </p:cNvPr>
          <p:cNvSpPr>
            <a:spLocks xmlns:a="http://schemas.openxmlformats.org/drawingml/2006/main" noGrp="1"/>
          </p:cNvSpPr>
          <p:nvPr/>
        </p:nvSpPr>
        <p:spPr>
          <a:xfrm xmlns:a="http://schemas.openxmlformats.org/drawingml/2006/main">
            <a:off x="666750" y="1504950"/>
            <a:ext cx="10858500" cy="4000500"/>
          </a:xfrm>
          <a:prstGeom xmlns:a="http://schemas.openxmlformats.org/drawingml/2006/main" prst="roundRect">
            <a:avLst>
              <a:gd name="adj" fmla="val 952"/>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BFDBDC41-D1AD-4ECF-9287-6651E26D3B8A}"/>
              </a:ext>
            </a:extLst>
          </p:cNvPr>
          <p:cNvSpPr>
            <a:spLocks xmlns:a="http://schemas.openxmlformats.org/drawingml/2006/main" noGrp="1"/>
          </p:cNvSpPr>
          <p:nvPr/>
        </p:nvSpPr>
        <p:spPr>
          <a:xfrm xmlns:a="http://schemas.openxmlformats.org/drawingml/2006/main">
            <a:off x="666750" y="1504950"/>
            <a:ext cx="10858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BCBDE51F-CCE0-4F8F-97F6-B459F594781F}"/>
              </a:ext>
            </a:extLst>
          </p:cNvPr>
          <p:cNvSpPr>
            <a:spLocks xmlns:a="http://schemas.openxmlformats.org/drawingml/2006/main" noGrp="1"/>
          </p:cNvSpPr>
          <p:nvPr/>
        </p:nvSpPr>
        <p:spPr>
          <a:xfrm xmlns:a="http://schemas.openxmlformats.org/drawingml/2006/main">
            <a:off x="762000" y="1533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2025 MECHANICAL ACTIVITY INDEX — OVERLAPPING SERIES</a:t>
            </a:r>
          </a:p>
        </p:txBody>
      </p:sp>
      <p:graphicFrame>
        <p:nvGraphicFramePr>
          <p:cNvPr id="9" name="Chart">
            <a:extLst xmlns:a="http://schemas.openxmlformats.org/drawingml/2006/main">
              <a:ext uri="{FF2B5EF4-FFF2-40B4-BE49-F238E27FC236}">
                <a16:creationId xmlns:a16="http://schemas.microsoft.com/office/drawing/2014/main" id="{42967156-935B-43B2-B746-0CDD02DEAD86}"/>
              </a:ext>
            </a:extLst>
          </p:cNvPr>
          <p:cNvGraphicFramePr/>
          <p:nvPr/>
        </p:nvGraphicFramePr>
        <p:xfrm>
          <a:off xmlns:a="http://schemas.openxmlformats.org/drawingml/2006/main" x="1333500" y="2095500"/>
          <a:ext xmlns:a="http://schemas.openxmlformats.org/drawingml/2006/main" cx="9525000" cy="2571750"/>
        </p:xfrm>
        <a:graphic xmlns:a="http://schemas.openxmlformats.org/drawingml/2006/main">
          <a:graphicData uri="http://schemas.openxmlformats.org/drawingml/2006/chart">
            <c:chart xmlns:r="http://schemas.openxmlformats.org/officeDocument/2006/relationships" xmlns:c="http://schemas.openxmlformats.org/drawingml/2006/chart" r:id="R2d665a71beb048a8"/>
          </a:graphicData>
        </a:graphic>
      </p:graphicFrame>
      <p:sp>
        <p:nvSpPr>
          <p:cNvPr id="10" name="">
            <a:extLst xmlns:a="http://schemas.openxmlformats.org/drawingml/2006/main">
              <a:ext uri="{FF2B5EF4-FFF2-40B4-BE49-F238E27FC236}">
                <a16:creationId xmlns:a16="http://schemas.microsoft.com/office/drawing/2014/main" id="{0E578FC7-0863-4EBD-B9B3-CAB36E04C1A5}"/>
              </a:ext>
            </a:extLst>
          </p:cNvPr>
          <p:cNvSpPr>
            <a:spLocks xmlns:a="http://schemas.openxmlformats.org/drawingml/2006/main" noGrp="1"/>
          </p:cNvSpPr>
          <p:nvPr/>
        </p:nvSpPr>
        <p:spPr>
          <a:xfrm xmlns:a="http://schemas.openxmlformats.org/drawingml/2006/main">
            <a:off x="838200" y="24955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002060"/>
                </a:solidFill>
                <a:latin typeface="Calibri"/>
                <a:ea typeface="Calibri"/>
                <a:cs typeface="Calibri"/>
              </a:defRPr>
            </a:defPPr>
          </a:lstStyle>
          <a:p xmlns:a="http://schemas.openxmlformats.org/drawingml/2006/main">
            <a:pPr algn="r">
              <a:lnSpc>
                <a:spcPct val="95000"/>
              </a:lnSpc>
              <a:buNone/>
              <a:defRPr sz="825" b="1" i="0">
                <a:solidFill>
                  <a:srgbClr val="002060"/>
                </a:solidFill>
                <a:latin typeface="Calibri"/>
                <a:ea typeface="Calibri"/>
                <a:cs typeface="Calibri"/>
              </a:defRPr>
            </a:pPr>
            <a:r>
              <a:rPr sz="825" b="1" i="0">
                <a:solidFill>
                  <a:srgbClr val="002060"/>
                </a:solidFill>
                <a:latin typeface="Calibri"/>
                <a:ea typeface="Calibri"/>
                <a:cs typeface="Calibri"/>
              </a:rPr>
              <a:t>VALUE</a:t>
            </a:r>
          </a:p>
        </p:txBody>
      </p:sp>
      <p:sp>
        <p:nvSpPr>
          <p:cNvPr id="11" name="">
            <a:extLst xmlns:a="http://schemas.openxmlformats.org/drawingml/2006/main">
              <a:ext uri="{FF2B5EF4-FFF2-40B4-BE49-F238E27FC236}">
                <a16:creationId xmlns:a16="http://schemas.microsoft.com/office/drawing/2014/main" id="{7CE74A3D-7770-4341-A0E6-8C022E6CBA59}"/>
              </a:ext>
            </a:extLst>
          </p:cNvPr>
          <p:cNvSpPr>
            <a:spLocks xmlns:a="http://schemas.openxmlformats.org/drawingml/2006/main" noGrp="1"/>
          </p:cNvSpPr>
          <p:nvPr/>
        </p:nvSpPr>
        <p:spPr>
          <a:xfrm xmlns:a="http://schemas.openxmlformats.org/drawingml/2006/main">
            <a:off x="838200" y="34575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002060"/>
                </a:solidFill>
                <a:latin typeface="Calibri"/>
                <a:ea typeface="Calibri"/>
                <a:cs typeface="Calibri"/>
              </a:defRPr>
            </a:defPPr>
          </a:lstStyle>
          <a:p xmlns:a="http://schemas.openxmlformats.org/drawingml/2006/main">
            <a:pPr algn="r">
              <a:lnSpc>
                <a:spcPct val="95000"/>
              </a:lnSpc>
              <a:buNone/>
              <a:defRPr sz="825" b="1" i="0">
                <a:solidFill>
                  <a:srgbClr val="002060"/>
                </a:solidFill>
                <a:latin typeface="Calibri"/>
                <a:ea typeface="Calibri"/>
                <a:cs typeface="Calibri"/>
              </a:defRPr>
            </a:pPr>
            <a:r>
              <a:rPr sz="825" b="1" i="0">
                <a:solidFill>
                  <a:srgbClr val="002060"/>
                </a:solidFill>
                <a:latin typeface="Calibri"/>
                <a:ea typeface="Calibri"/>
                <a:cs typeface="Calibri"/>
              </a:rPr>
              <a:t>COUNT</a:t>
            </a:r>
          </a:p>
        </p:txBody>
      </p:sp>
      <p:sp>
        <p:nvSpPr>
          <p:cNvPr id="12" name="">
            <a:extLst xmlns:a="http://schemas.openxmlformats.org/drawingml/2006/main">
              <a:ext uri="{FF2B5EF4-FFF2-40B4-BE49-F238E27FC236}">
                <a16:creationId xmlns:a16="http://schemas.microsoft.com/office/drawing/2014/main" id="{C98CCC0D-65CC-425F-9131-D8684E44CE15}"/>
              </a:ext>
            </a:extLst>
          </p:cNvPr>
          <p:cNvSpPr>
            <a:spLocks xmlns:a="http://schemas.openxmlformats.org/drawingml/2006/main" noGrp="1"/>
          </p:cNvSpPr>
          <p:nvPr/>
        </p:nvSpPr>
        <p:spPr>
          <a:xfrm xmlns:a="http://schemas.openxmlformats.org/drawingml/2006/main">
            <a:off x="1238250" y="4953000"/>
            <a:ext cx="9715500" cy="361950"/>
          </a:xfrm>
          <a:prstGeom xmlns:a="http://schemas.openxmlformats.org/drawingml/2006/main" prst="roundRect">
            <a:avLst>
              <a:gd name="adj" fmla="val 7895"/>
            </a:avLst>
          </a:prstGeom>
          <a:solidFill xmlns:a="http://schemas.openxmlformats.org/drawingml/2006/main">
            <a:srgbClr val="FCED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854A2E3-E56B-48CE-BC86-AC8870D6EB86}"/>
              </a:ext>
            </a:extLst>
          </p:cNvPr>
          <p:cNvSpPr>
            <a:spLocks xmlns:a="http://schemas.openxmlformats.org/drawingml/2006/main" noGrp="1"/>
          </p:cNvSpPr>
          <p:nvPr/>
        </p:nvSpPr>
        <p:spPr>
          <a:xfrm xmlns:a="http://schemas.openxmlformats.org/drawingml/2006/main">
            <a:off x="1428750" y="5038725"/>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E97132"/>
                </a:solidFill>
                <a:latin typeface="Calibri"/>
                <a:ea typeface="Calibri"/>
                <a:cs typeface="Calibri"/>
              </a:defRPr>
            </a:defPPr>
          </a:lstStyle>
          <a:p xmlns:a="http://schemas.openxmlformats.org/drawingml/2006/main">
            <a:pPr algn="ctr">
              <a:lnSpc>
                <a:spcPct val="95000"/>
              </a:lnSpc>
              <a:buNone/>
              <a:defRPr sz="975" b="1" i="0">
                <a:solidFill>
                  <a:srgbClr val="E97132"/>
                </a:solidFill>
                <a:latin typeface="Calibri"/>
                <a:ea typeface="Calibri"/>
                <a:cs typeface="Calibri"/>
              </a:defRPr>
            </a:pPr>
            <a:r>
              <a:rPr sz="975" b="1" i="0">
                <a:solidFill>
                  <a:srgbClr val="E97132"/>
                </a:solidFill>
                <a:latin typeface="Calibri"/>
                <a:ea typeface="Calibri"/>
                <a:cs typeface="Calibri"/>
              </a:rPr>
              <a:t>Do not add these series into a de-duplicated market share: definitions overlap by design.</a:t>
            </a:r>
          </a:p>
        </p:txBody>
      </p:sp>
      <p:sp>
        <p:nvSpPr>
          <p:cNvPr id="14" name="">
            <a:extLst xmlns:a="http://schemas.openxmlformats.org/drawingml/2006/main">
              <a:ext uri="{FF2B5EF4-FFF2-40B4-BE49-F238E27FC236}">
                <a16:creationId xmlns:a16="http://schemas.microsoft.com/office/drawing/2014/main" id="{76FACB10-41D9-4389-A3BB-F37016C250DC}"/>
              </a:ext>
            </a:extLst>
          </p:cNvPr>
          <p:cNvSpPr>
            <a:spLocks xmlns:a="http://schemas.openxmlformats.org/drawingml/2006/main" noGrp="1"/>
          </p:cNvSpPr>
          <p:nvPr/>
        </p:nvSpPr>
        <p:spPr>
          <a:xfrm xmlns:a="http://schemas.openxmlformats.org/drawingml/2006/main">
            <a:off x="666750" y="5715000"/>
            <a:ext cx="3429000" cy="609600"/>
          </a:xfrm>
          <a:prstGeom xmlns:a="http://schemas.openxmlformats.org/drawingml/2006/main" prst="roundRect">
            <a:avLst>
              <a:gd name="adj" fmla="val 6250"/>
            </a:avLst>
          </a:prstGeom>
          <a:solidFill xmlns:a="http://schemas.openxmlformats.org/drawingml/2006/main">
            <a:srgbClr val="FCEDE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2969EBF-DA4F-4333-8B5A-E4F92A566489}"/>
              </a:ext>
            </a:extLst>
          </p:cNvPr>
          <p:cNvSpPr>
            <a:spLocks xmlns:a="http://schemas.openxmlformats.org/drawingml/2006/main" noGrp="1"/>
          </p:cNvSpPr>
          <p:nvPr/>
        </p:nvSpPr>
        <p:spPr>
          <a:xfrm xmlns:a="http://schemas.openxmlformats.org/drawingml/2006/main">
            <a:off x="78105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80.0%</a:t>
            </a:r>
          </a:p>
        </p:txBody>
      </p:sp>
      <p:sp>
        <p:nvSpPr>
          <p:cNvPr id="16" name="">
            <a:extLst xmlns:a="http://schemas.openxmlformats.org/drawingml/2006/main">
              <a:ext uri="{FF2B5EF4-FFF2-40B4-BE49-F238E27FC236}">
                <a16:creationId xmlns:a16="http://schemas.microsoft.com/office/drawing/2014/main" id="{148FDC1E-D41B-4529-BF6E-6574AB818D35}"/>
              </a:ext>
            </a:extLst>
          </p:cNvPr>
          <p:cNvSpPr>
            <a:spLocks xmlns:a="http://schemas.openxmlformats.org/drawingml/2006/main" noGrp="1"/>
          </p:cNvSpPr>
          <p:nvPr/>
        </p:nvSpPr>
        <p:spPr>
          <a:xfrm xmlns:a="http://schemas.openxmlformats.org/drawingml/2006/main">
            <a:off x="78105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count share — H1 2026 actual</a:t>
            </a:r>
          </a:p>
        </p:txBody>
      </p:sp>
      <p:sp>
        <p:nvSpPr>
          <p:cNvPr id="17" name="">
            <a:extLst xmlns:a="http://schemas.openxmlformats.org/drawingml/2006/main">
              <a:ext uri="{FF2B5EF4-FFF2-40B4-BE49-F238E27FC236}">
                <a16:creationId xmlns:a16="http://schemas.microsoft.com/office/drawing/2014/main" id="{C1CD345A-D75D-4CB5-B667-0428F56308EC}"/>
              </a:ext>
            </a:extLst>
          </p:cNvPr>
          <p:cNvSpPr>
            <a:spLocks xmlns:a="http://schemas.openxmlformats.org/drawingml/2006/main" noGrp="1"/>
          </p:cNvSpPr>
          <p:nvPr/>
        </p:nvSpPr>
        <p:spPr>
          <a:xfrm xmlns:a="http://schemas.openxmlformats.org/drawingml/2006/main">
            <a:off x="4381500" y="5715000"/>
            <a:ext cx="3429000" cy="609600"/>
          </a:xfrm>
          <a:prstGeom xmlns:a="http://schemas.openxmlformats.org/drawingml/2006/main" prst="roundRect">
            <a:avLst>
              <a:gd name="adj" fmla="val 6250"/>
            </a:avLst>
          </a:prstGeom>
          <a:solidFill xmlns:a="http://schemas.openxmlformats.org/drawingml/2006/main">
            <a:srgbClr val="EAF2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42574B2-5A1B-4CAC-BEAC-B4F5D2B3BC70}"/>
              </a:ext>
            </a:extLst>
          </p:cNvPr>
          <p:cNvSpPr>
            <a:spLocks xmlns:a="http://schemas.openxmlformats.org/drawingml/2006/main" noGrp="1"/>
          </p:cNvSpPr>
          <p:nvPr/>
        </p:nvSpPr>
        <p:spPr>
          <a:xfrm xmlns:a="http://schemas.openxmlformats.org/drawingml/2006/main">
            <a:off x="449580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92.4%</a:t>
            </a:r>
          </a:p>
        </p:txBody>
      </p:sp>
      <p:sp>
        <p:nvSpPr>
          <p:cNvPr id="19" name="">
            <a:extLst xmlns:a="http://schemas.openxmlformats.org/drawingml/2006/main">
              <a:ext uri="{FF2B5EF4-FFF2-40B4-BE49-F238E27FC236}">
                <a16:creationId xmlns:a16="http://schemas.microsoft.com/office/drawing/2014/main" id="{6F21BE2C-520C-46AA-9E25-E25F099AC0CB}"/>
              </a:ext>
            </a:extLst>
          </p:cNvPr>
          <p:cNvSpPr>
            <a:spLocks xmlns:a="http://schemas.openxmlformats.org/drawingml/2006/main" noGrp="1"/>
          </p:cNvSpPr>
          <p:nvPr/>
        </p:nvSpPr>
        <p:spPr>
          <a:xfrm xmlns:a="http://schemas.openxmlformats.org/drawingml/2006/main">
            <a:off x="449580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value share — H1 2026 actual</a:t>
            </a:r>
          </a:p>
        </p:txBody>
      </p:sp>
      <p:sp>
        <p:nvSpPr>
          <p:cNvPr id="20" name="">
            <a:extLst xmlns:a="http://schemas.openxmlformats.org/drawingml/2006/main">
              <a:ext uri="{FF2B5EF4-FFF2-40B4-BE49-F238E27FC236}">
                <a16:creationId xmlns:a16="http://schemas.microsoft.com/office/drawing/2014/main" id="{3E1D9DB7-F4D8-4F84-A3F9-BE696359EC0A}"/>
              </a:ext>
            </a:extLst>
          </p:cNvPr>
          <p:cNvSpPr>
            <a:spLocks xmlns:a="http://schemas.openxmlformats.org/drawingml/2006/main" noGrp="1"/>
          </p:cNvSpPr>
          <p:nvPr/>
        </p:nvSpPr>
        <p:spPr>
          <a:xfrm xmlns:a="http://schemas.openxmlformats.org/drawingml/2006/main">
            <a:off x="8096250" y="5715000"/>
            <a:ext cx="3429000" cy="609600"/>
          </a:xfrm>
          <a:prstGeom xmlns:a="http://schemas.openxmlformats.org/drawingml/2006/main" prst="roundRect">
            <a:avLst>
              <a:gd name="adj" fmla="val 6250"/>
            </a:avLst>
          </a:prstGeom>
          <a:solidFill xmlns:a="http://schemas.openxmlformats.org/drawingml/2006/main">
            <a:srgbClr val="F3F5F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3B957DD-0447-48A8-BBEC-30BB0425005F}"/>
              </a:ext>
            </a:extLst>
          </p:cNvPr>
          <p:cNvSpPr>
            <a:spLocks xmlns:a="http://schemas.openxmlformats.org/drawingml/2006/main" noGrp="1"/>
          </p:cNvSpPr>
          <p:nvPr/>
        </p:nvSpPr>
        <p:spPr>
          <a:xfrm xmlns:a="http://schemas.openxmlformats.org/drawingml/2006/main">
            <a:off x="821055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70C0"/>
                </a:solidFill>
                <a:latin typeface="Calibri"/>
                <a:ea typeface="Calibri"/>
                <a:cs typeface="Calibri"/>
              </a:defRPr>
            </a:defPPr>
          </a:lstStyle>
          <a:p xmlns:a="http://schemas.openxmlformats.org/drawingml/2006/main">
            <a:pPr algn="l">
              <a:lnSpc>
                <a:spcPct val="95000"/>
              </a:lnSpc>
              <a:buNone/>
              <a:defRPr sz="1950" b="1" i="0">
                <a:solidFill>
                  <a:srgbClr val="0070C0"/>
                </a:solidFill>
                <a:latin typeface="Calibri"/>
                <a:ea typeface="Calibri"/>
                <a:cs typeface="Calibri"/>
              </a:defRPr>
            </a:pPr>
            <a:r>
              <a:rPr sz="1950" b="1" i="0">
                <a:solidFill>
                  <a:srgbClr val="0070C0"/>
                </a:solidFill>
                <a:latin typeface="Calibri"/>
                <a:ea typeface="Calibri"/>
                <a:cs typeface="Calibri"/>
              </a:rPr>
              <a:t>≈95%</a:t>
            </a:r>
          </a:p>
        </p:txBody>
      </p:sp>
      <p:sp>
        <p:nvSpPr>
          <p:cNvPr id="22" name="">
            <a:extLst xmlns:a="http://schemas.openxmlformats.org/drawingml/2006/main">
              <a:ext uri="{FF2B5EF4-FFF2-40B4-BE49-F238E27FC236}">
                <a16:creationId xmlns:a16="http://schemas.microsoft.com/office/drawing/2014/main" id="{947B6389-1046-4D3E-A68A-BD0E0659BCD9}"/>
              </a:ext>
            </a:extLst>
          </p:cNvPr>
          <p:cNvSpPr>
            <a:spLocks xmlns:a="http://schemas.openxmlformats.org/drawingml/2006/main" noGrp="1"/>
          </p:cNvSpPr>
          <p:nvPr/>
        </p:nvSpPr>
        <p:spPr>
          <a:xfrm xmlns:a="http://schemas.openxmlformats.org/drawingml/2006/main">
            <a:off x="821055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Alipay + WeChat retail mobile volume — 2026</a:t>
            </a:r>
          </a:p>
        </p:txBody>
      </p:sp>
    </p:spTree>
    <p:extLst>
      <p:ext uri="{BB962C8B-B14F-4D97-AF65-F5344CB8AC3E}">
        <p14:creationId xmlns:p14="http://schemas.microsoft.com/office/powerpoint/2010/main" val="18688477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B4813AD-6D28-4D62-9044-65021405019E}"/>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MARKET STRUCTURE</a:t>
            </a:r>
          </a:p>
        </p:txBody>
      </p:sp>
      <p:sp>
        <p:nvSpPr>
          <p:cNvPr id="2" name="">
            <a:extLst xmlns:a="http://schemas.openxmlformats.org/drawingml/2006/main">
              <a:ext uri="{FF2B5EF4-FFF2-40B4-BE49-F238E27FC236}">
                <a16:creationId xmlns:a16="http://schemas.microsoft.com/office/drawing/2014/main" id="{FAF4C7FF-266B-4B84-9F49-7C20C1A1FC05}"/>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Share depends on which layer you measure</a:t>
            </a:r>
          </a:p>
        </p:txBody>
      </p:sp>
      <p:sp>
        <p:nvSpPr>
          <p:cNvPr id="3" name="">
            <a:extLst xmlns:a="http://schemas.openxmlformats.org/drawingml/2006/main">
              <a:ext uri="{FF2B5EF4-FFF2-40B4-BE49-F238E27FC236}">
                <a16:creationId xmlns:a16="http://schemas.microsoft.com/office/drawing/2014/main" id="{4C628471-6F9A-453F-A543-329BA432CA4B}"/>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Interface, activity, clearing and settlement answer different questions</a:t>
            </a:r>
          </a:p>
        </p:txBody>
      </p:sp>
      <p:sp>
        <p:nvSpPr>
          <p:cNvPr id="4" name="">
            <a:extLst xmlns:a="http://schemas.openxmlformats.org/drawingml/2006/main">
              <a:ext uri="{FF2B5EF4-FFF2-40B4-BE49-F238E27FC236}">
                <a16:creationId xmlns:a16="http://schemas.microsoft.com/office/drawing/2014/main" id="{F164497F-D2A8-4FC2-9CF6-8B63D8C5AAF8}"/>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AMRO; IMF; NetsUnion / UnionPay reproductions</a:t>
            </a:r>
          </a:p>
        </p:txBody>
      </p:sp>
      <p:sp>
        <p:nvSpPr>
          <p:cNvPr id="5" name="">
            <a:extLst xmlns:a="http://schemas.openxmlformats.org/drawingml/2006/main">
              <a:ext uri="{FF2B5EF4-FFF2-40B4-BE49-F238E27FC236}">
                <a16:creationId xmlns:a16="http://schemas.microsoft.com/office/drawing/2014/main" id="{0836D339-F823-4960-8284-91730F51ACEF}"/>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3</a:t>
            </a:r>
          </a:p>
        </p:txBody>
      </p:sp>
      <p:sp>
        <p:nvSpPr>
          <p:cNvPr id="6" name="">
            <a:extLst xmlns:a="http://schemas.openxmlformats.org/drawingml/2006/main">
              <a:ext uri="{FF2B5EF4-FFF2-40B4-BE49-F238E27FC236}">
                <a16:creationId xmlns:a16="http://schemas.microsoft.com/office/drawing/2014/main" id="{BCE4B177-AABC-48AF-A95E-02DA8EFD4102}"/>
              </a:ext>
            </a:extLst>
          </p:cNvPr>
          <p:cNvSpPr>
            <a:spLocks xmlns:a="http://schemas.openxmlformats.org/drawingml/2006/main" noGrp="1"/>
          </p:cNvSpPr>
          <p:nvPr/>
        </p:nvSpPr>
        <p:spPr>
          <a:xfrm xmlns:a="http://schemas.openxmlformats.org/drawingml/2006/main">
            <a:off x="666750" y="158115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Customer interface</a:t>
            </a:r>
          </a:p>
        </p:txBody>
      </p:sp>
      <p:sp>
        <p:nvSpPr>
          <p:cNvPr id="7" name="">
            <a:extLst xmlns:a="http://schemas.openxmlformats.org/drawingml/2006/main">
              <a:ext uri="{FF2B5EF4-FFF2-40B4-BE49-F238E27FC236}">
                <a16:creationId xmlns:a16="http://schemas.microsoft.com/office/drawing/2014/main" id="{7A0E9D6C-2467-4F6A-A666-147A1FC0F8DD}"/>
              </a:ext>
            </a:extLst>
          </p:cNvPr>
          <p:cNvSpPr>
            <a:spLocks xmlns:a="http://schemas.openxmlformats.org/drawingml/2006/main" noGrp="1"/>
          </p:cNvSpPr>
          <p:nvPr/>
        </p:nvSpPr>
        <p:spPr>
          <a:xfrm xmlns:a="http://schemas.openxmlformats.org/drawingml/2006/main">
            <a:off x="666750" y="183832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2024 mobile-payment estimate</a:t>
            </a:r>
          </a:p>
        </p:txBody>
      </p:sp>
      <p:sp>
        <p:nvSpPr>
          <p:cNvPr id="8" name="">
            <a:extLst xmlns:a="http://schemas.openxmlformats.org/drawingml/2006/main">
              <a:ext uri="{FF2B5EF4-FFF2-40B4-BE49-F238E27FC236}">
                <a16:creationId xmlns:a16="http://schemas.microsoft.com/office/drawing/2014/main" id="{F19D9E65-DFBF-4204-B0AE-B958D7B7743E}"/>
              </a:ext>
            </a:extLst>
          </p:cNvPr>
          <p:cNvSpPr>
            <a:spLocks xmlns:a="http://schemas.openxmlformats.org/drawingml/2006/main" noGrp="1"/>
          </p:cNvSpPr>
          <p:nvPr/>
        </p:nvSpPr>
        <p:spPr>
          <a:xfrm xmlns:a="http://schemas.openxmlformats.org/drawingml/2006/main">
            <a:off x="3238500" y="161925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563AAD7-BA97-4199-9B0D-C34A1F1C14C2}"/>
              </a:ext>
            </a:extLst>
          </p:cNvPr>
          <p:cNvSpPr>
            <a:spLocks xmlns:a="http://schemas.openxmlformats.org/drawingml/2006/main" noGrp="1"/>
          </p:cNvSpPr>
          <p:nvPr/>
        </p:nvSpPr>
        <p:spPr>
          <a:xfrm xmlns:a="http://schemas.openxmlformats.org/drawingml/2006/main">
            <a:off x="3238500" y="1619250"/>
            <a:ext cx="6446520"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1958E80-9611-4761-A534-B44C61719D5B}"/>
              </a:ext>
            </a:extLst>
          </p:cNvPr>
          <p:cNvSpPr>
            <a:spLocks xmlns:a="http://schemas.openxmlformats.org/drawingml/2006/main" noGrp="1"/>
          </p:cNvSpPr>
          <p:nvPr/>
        </p:nvSpPr>
        <p:spPr>
          <a:xfrm xmlns:a="http://schemas.openxmlformats.org/drawingml/2006/main">
            <a:off x="9685020" y="1619250"/>
            <a:ext cx="411480" cy="361950"/>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20E3DC-9660-4232-BE67-908C6409C080}"/>
              </a:ext>
            </a:extLst>
          </p:cNvPr>
          <p:cNvSpPr>
            <a:spLocks xmlns:a="http://schemas.openxmlformats.org/drawingml/2006/main" noGrp="1"/>
          </p:cNvSpPr>
          <p:nvPr/>
        </p:nvSpPr>
        <p:spPr>
          <a:xfrm xmlns:a="http://schemas.openxmlformats.org/drawingml/2006/main">
            <a:off x="3333750" y="1695450"/>
            <a:ext cx="62560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94.0% Alipay + WeChat</a:t>
            </a:r>
          </a:p>
        </p:txBody>
      </p:sp>
      <p:sp>
        <p:nvSpPr>
          <p:cNvPr id="12" name="">
            <a:extLst xmlns:a="http://schemas.openxmlformats.org/drawingml/2006/main">
              <a:ext uri="{FF2B5EF4-FFF2-40B4-BE49-F238E27FC236}">
                <a16:creationId xmlns:a16="http://schemas.microsoft.com/office/drawing/2014/main" id="{27499D9E-0438-4E20-9BA7-8C4D7113EDCA}"/>
              </a:ext>
            </a:extLst>
          </p:cNvPr>
          <p:cNvSpPr>
            <a:spLocks xmlns:a="http://schemas.openxmlformats.org/drawingml/2006/main" noGrp="1"/>
          </p:cNvSpPr>
          <p:nvPr/>
        </p:nvSpPr>
        <p:spPr>
          <a:xfrm xmlns:a="http://schemas.openxmlformats.org/drawingml/2006/main">
            <a:off x="10334625" y="160020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E97132"/>
                </a:solidFill>
                <a:latin typeface="Calibri"/>
                <a:ea typeface="Calibri"/>
                <a:cs typeface="Calibri"/>
              </a:defRPr>
            </a:defPPr>
          </a:lstStyle>
          <a:p xmlns:a="http://schemas.openxmlformats.org/drawingml/2006/main">
            <a:pPr algn="r">
              <a:lnSpc>
                <a:spcPct val="95000"/>
              </a:lnSpc>
              <a:buNone/>
              <a:defRPr sz="2025" b="1" i="0">
                <a:solidFill>
                  <a:srgbClr val="E97132"/>
                </a:solidFill>
                <a:latin typeface="Calibri"/>
                <a:ea typeface="Calibri"/>
                <a:cs typeface="Calibri"/>
              </a:defRPr>
            </a:pPr>
            <a:r>
              <a:rPr sz="2025" b="1" i="0">
                <a:solidFill>
                  <a:srgbClr val="E97132"/>
                </a:solidFill>
                <a:latin typeface="Calibri"/>
                <a:ea typeface="Calibri"/>
                <a:cs typeface="Calibri"/>
              </a:rPr>
              <a:t>94.0%</a:t>
            </a:r>
          </a:p>
        </p:txBody>
      </p:sp>
      <p:sp>
        <p:nvSpPr>
          <p:cNvPr id="13" name="">
            <a:extLst xmlns:a="http://schemas.openxmlformats.org/drawingml/2006/main">
              <a:ext uri="{FF2B5EF4-FFF2-40B4-BE49-F238E27FC236}">
                <a16:creationId xmlns:a16="http://schemas.microsoft.com/office/drawing/2014/main" id="{29DE70E2-017F-4FC2-B2B1-727CE08C57D3}"/>
              </a:ext>
            </a:extLst>
          </p:cNvPr>
          <p:cNvSpPr>
            <a:spLocks xmlns:a="http://schemas.openxmlformats.org/drawingml/2006/main" noGrp="1"/>
          </p:cNvSpPr>
          <p:nvPr/>
        </p:nvSpPr>
        <p:spPr>
          <a:xfrm xmlns:a="http://schemas.openxmlformats.org/drawingml/2006/main">
            <a:off x="666750" y="26289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Activity count</a:t>
            </a:r>
          </a:p>
        </p:txBody>
      </p:sp>
      <p:sp>
        <p:nvSpPr>
          <p:cNvPr id="14" name="">
            <a:extLst xmlns:a="http://schemas.openxmlformats.org/drawingml/2006/main">
              <a:ext uri="{FF2B5EF4-FFF2-40B4-BE49-F238E27FC236}">
                <a16:creationId xmlns:a16="http://schemas.microsoft.com/office/drawing/2014/main" id="{9CA447DB-38B5-445E-9088-182380ED5F0D}"/>
              </a:ext>
            </a:extLst>
          </p:cNvPr>
          <p:cNvSpPr>
            <a:spLocks xmlns:a="http://schemas.openxmlformats.org/drawingml/2006/main" noGrp="1"/>
          </p:cNvSpPr>
          <p:nvPr/>
        </p:nvSpPr>
        <p:spPr>
          <a:xfrm xmlns:a="http://schemas.openxmlformats.org/drawingml/2006/main">
            <a:off x="666750" y="28860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PBOC mechanical index</a:t>
            </a:r>
          </a:p>
        </p:txBody>
      </p:sp>
      <p:sp>
        <p:nvSpPr>
          <p:cNvPr id="15" name="">
            <a:extLst xmlns:a="http://schemas.openxmlformats.org/drawingml/2006/main">
              <a:ext uri="{FF2B5EF4-FFF2-40B4-BE49-F238E27FC236}">
                <a16:creationId xmlns:a16="http://schemas.microsoft.com/office/drawing/2014/main" id="{3A37B2CA-7F9D-4E78-9ECF-F32A539F0B4A}"/>
              </a:ext>
            </a:extLst>
          </p:cNvPr>
          <p:cNvSpPr>
            <a:spLocks xmlns:a="http://schemas.openxmlformats.org/drawingml/2006/main" noGrp="1"/>
          </p:cNvSpPr>
          <p:nvPr/>
        </p:nvSpPr>
        <p:spPr>
          <a:xfrm xmlns:a="http://schemas.openxmlformats.org/drawingml/2006/main">
            <a:off x="3238500" y="266700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CF5F14C-BDDB-476E-8166-01F2AB22F490}"/>
              </a:ext>
            </a:extLst>
          </p:cNvPr>
          <p:cNvSpPr>
            <a:spLocks xmlns:a="http://schemas.openxmlformats.org/drawingml/2006/main" noGrp="1"/>
          </p:cNvSpPr>
          <p:nvPr/>
        </p:nvSpPr>
        <p:spPr>
          <a:xfrm xmlns:a="http://schemas.openxmlformats.org/drawingml/2006/main">
            <a:off x="3238500" y="2667000"/>
            <a:ext cx="5527548"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0B30048-C1CA-4DB3-8509-8F38023C61CB}"/>
              </a:ext>
            </a:extLst>
          </p:cNvPr>
          <p:cNvSpPr>
            <a:spLocks xmlns:a="http://schemas.openxmlformats.org/drawingml/2006/main" noGrp="1"/>
          </p:cNvSpPr>
          <p:nvPr/>
        </p:nvSpPr>
        <p:spPr>
          <a:xfrm xmlns:a="http://schemas.openxmlformats.org/drawingml/2006/main">
            <a:off x="8766048" y="2667000"/>
            <a:ext cx="1330452"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54DD328-3D76-4E8B-B865-2CB1B19652A6}"/>
              </a:ext>
            </a:extLst>
          </p:cNvPr>
          <p:cNvSpPr>
            <a:spLocks xmlns:a="http://schemas.openxmlformats.org/drawingml/2006/main" noGrp="1"/>
          </p:cNvSpPr>
          <p:nvPr/>
        </p:nvSpPr>
        <p:spPr>
          <a:xfrm xmlns:a="http://schemas.openxmlformats.org/drawingml/2006/main">
            <a:off x="3333750" y="2743200"/>
            <a:ext cx="533704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80.6% Non-bank</a:t>
            </a:r>
          </a:p>
        </p:txBody>
      </p:sp>
      <p:sp>
        <p:nvSpPr>
          <p:cNvPr id="19" name="">
            <a:extLst xmlns:a="http://schemas.openxmlformats.org/drawingml/2006/main">
              <a:ext uri="{FF2B5EF4-FFF2-40B4-BE49-F238E27FC236}">
                <a16:creationId xmlns:a16="http://schemas.microsoft.com/office/drawing/2014/main" id="{2C7394D2-0A2D-4F7C-965C-ED4FEA873C59}"/>
              </a:ext>
            </a:extLst>
          </p:cNvPr>
          <p:cNvSpPr>
            <a:spLocks xmlns:a="http://schemas.openxmlformats.org/drawingml/2006/main" noGrp="1"/>
          </p:cNvSpPr>
          <p:nvPr/>
        </p:nvSpPr>
        <p:spPr>
          <a:xfrm xmlns:a="http://schemas.openxmlformats.org/drawingml/2006/main">
            <a:off x="8842248" y="2743200"/>
            <a:ext cx="117805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FFFFFF"/>
                </a:solidFill>
                <a:latin typeface="Calibri"/>
                <a:ea typeface="Calibri"/>
                <a:cs typeface="Calibri"/>
              </a:defRPr>
            </a:defPPr>
          </a:lstStyle>
          <a:p xmlns:a="http://schemas.openxmlformats.org/drawingml/2006/main">
            <a:pPr algn="l">
              <a:lnSpc>
                <a:spcPct val="95000"/>
              </a:lnSpc>
              <a:buNone/>
              <a:defRPr sz="825" b="1" i="0">
                <a:solidFill>
                  <a:srgbClr val="FFFFFF"/>
                </a:solidFill>
                <a:latin typeface="Calibri"/>
                <a:ea typeface="Calibri"/>
                <a:cs typeface="Calibri"/>
              </a:defRPr>
            </a:pPr>
            <a:r>
              <a:rPr sz="825" b="1" i="0">
                <a:solidFill>
                  <a:srgbClr val="FFFFFF"/>
                </a:solidFill>
                <a:latin typeface="Calibri"/>
                <a:ea typeface="Calibri"/>
                <a:cs typeface="Calibri"/>
              </a:rPr>
              <a:t>Bank</a:t>
            </a:r>
          </a:p>
        </p:txBody>
      </p:sp>
      <p:sp>
        <p:nvSpPr>
          <p:cNvPr id="20" name="">
            <a:extLst xmlns:a="http://schemas.openxmlformats.org/drawingml/2006/main">
              <a:ext uri="{FF2B5EF4-FFF2-40B4-BE49-F238E27FC236}">
                <a16:creationId xmlns:a16="http://schemas.microsoft.com/office/drawing/2014/main" id="{6AFCFA0D-0D04-4470-AA69-8029E07C17A4}"/>
              </a:ext>
            </a:extLst>
          </p:cNvPr>
          <p:cNvSpPr>
            <a:spLocks xmlns:a="http://schemas.openxmlformats.org/drawingml/2006/main" noGrp="1"/>
          </p:cNvSpPr>
          <p:nvPr/>
        </p:nvSpPr>
        <p:spPr>
          <a:xfrm xmlns:a="http://schemas.openxmlformats.org/drawingml/2006/main">
            <a:off x="10334625" y="264795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E97132"/>
                </a:solidFill>
                <a:latin typeface="Calibri"/>
                <a:ea typeface="Calibri"/>
                <a:cs typeface="Calibri"/>
              </a:defRPr>
            </a:defPPr>
          </a:lstStyle>
          <a:p xmlns:a="http://schemas.openxmlformats.org/drawingml/2006/main">
            <a:pPr algn="r">
              <a:lnSpc>
                <a:spcPct val="95000"/>
              </a:lnSpc>
              <a:buNone/>
              <a:defRPr sz="2025" b="1" i="0">
                <a:solidFill>
                  <a:srgbClr val="E97132"/>
                </a:solidFill>
                <a:latin typeface="Calibri"/>
                <a:ea typeface="Calibri"/>
                <a:cs typeface="Calibri"/>
              </a:defRPr>
            </a:pPr>
            <a:r>
              <a:rPr sz="2025" b="1" i="0">
                <a:solidFill>
                  <a:srgbClr val="E97132"/>
                </a:solidFill>
                <a:latin typeface="Calibri"/>
                <a:ea typeface="Calibri"/>
                <a:cs typeface="Calibri"/>
              </a:rPr>
              <a:t>80.6%</a:t>
            </a:r>
          </a:p>
        </p:txBody>
      </p:sp>
      <p:sp>
        <p:nvSpPr>
          <p:cNvPr id="21" name="">
            <a:extLst xmlns:a="http://schemas.openxmlformats.org/drawingml/2006/main">
              <a:ext uri="{FF2B5EF4-FFF2-40B4-BE49-F238E27FC236}">
                <a16:creationId xmlns:a16="http://schemas.microsoft.com/office/drawing/2014/main" id="{2CB9D9C5-B888-44E7-ABDE-2F88718966A9}"/>
              </a:ext>
            </a:extLst>
          </p:cNvPr>
          <p:cNvSpPr>
            <a:spLocks xmlns:a="http://schemas.openxmlformats.org/drawingml/2006/main" noGrp="1"/>
          </p:cNvSpPr>
          <p:nvPr/>
        </p:nvSpPr>
        <p:spPr>
          <a:xfrm xmlns:a="http://schemas.openxmlformats.org/drawingml/2006/main">
            <a:off x="666750" y="367665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Clearing count</a:t>
            </a:r>
          </a:p>
        </p:txBody>
      </p:sp>
      <p:sp>
        <p:nvSpPr>
          <p:cNvPr id="22" name="">
            <a:extLst xmlns:a="http://schemas.openxmlformats.org/drawingml/2006/main">
              <a:ext uri="{FF2B5EF4-FFF2-40B4-BE49-F238E27FC236}">
                <a16:creationId xmlns:a16="http://schemas.microsoft.com/office/drawing/2014/main" id="{5318FE21-E408-4019-BD78-0351D74C8A00}"/>
              </a:ext>
            </a:extLst>
          </p:cNvPr>
          <p:cNvSpPr>
            <a:spLocks xmlns:a="http://schemas.openxmlformats.org/drawingml/2006/main" noGrp="1"/>
          </p:cNvSpPr>
          <p:nvPr/>
        </p:nvSpPr>
        <p:spPr>
          <a:xfrm xmlns:a="http://schemas.openxmlformats.org/drawingml/2006/main">
            <a:off x="666750" y="393382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clearing-rail activity</a:t>
            </a:r>
          </a:p>
        </p:txBody>
      </p:sp>
      <p:sp>
        <p:nvSpPr>
          <p:cNvPr id="23" name="">
            <a:extLst xmlns:a="http://schemas.openxmlformats.org/drawingml/2006/main">
              <a:ext uri="{FF2B5EF4-FFF2-40B4-BE49-F238E27FC236}">
                <a16:creationId xmlns:a16="http://schemas.microsoft.com/office/drawing/2014/main" id="{244F4553-F124-4CE9-A740-1234D9E951A9}"/>
              </a:ext>
            </a:extLst>
          </p:cNvPr>
          <p:cNvSpPr>
            <a:spLocks xmlns:a="http://schemas.openxmlformats.org/drawingml/2006/main" noGrp="1"/>
          </p:cNvSpPr>
          <p:nvPr/>
        </p:nvSpPr>
        <p:spPr>
          <a:xfrm xmlns:a="http://schemas.openxmlformats.org/drawingml/2006/main">
            <a:off x="3238500" y="371475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269E481-FB9A-4B25-96C3-345ED8750628}"/>
              </a:ext>
            </a:extLst>
          </p:cNvPr>
          <p:cNvSpPr>
            <a:spLocks xmlns:a="http://schemas.openxmlformats.org/drawingml/2006/main" noGrp="1"/>
          </p:cNvSpPr>
          <p:nvPr/>
        </p:nvSpPr>
        <p:spPr>
          <a:xfrm xmlns:a="http://schemas.openxmlformats.org/drawingml/2006/main">
            <a:off x="3238500" y="3714750"/>
            <a:ext cx="5205222" cy="361950"/>
          </a:xfrm>
          <a:prstGeom xmlns:a="http://schemas.openxmlformats.org/drawingml/2006/main" prst="rect">
            <a:avLst/>
          </a:prstGeom>
          <a:solidFill xmlns:a="http://schemas.openxmlformats.org/drawingml/2006/main">
            <a:srgbClr val="0070C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85492A2-90CC-46D2-923D-952EE25B98D6}"/>
              </a:ext>
            </a:extLst>
          </p:cNvPr>
          <p:cNvSpPr>
            <a:spLocks xmlns:a="http://schemas.openxmlformats.org/drawingml/2006/main" noGrp="1"/>
          </p:cNvSpPr>
          <p:nvPr/>
        </p:nvSpPr>
        <p:spPr>
          <a:xfrm xmlns:a="http://schemas.openxmlformats.org/drawingml/2006/main">
            <a:off x="8443722" y="3714750"/>
            <a:ext cx="1652778"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F6482C3-3DD1-4995-BAB7-A35F489B0A0A}"/>
              </a:ext>
            </a:extLst>
          </p:cNvPr>
          <p:cNvSpPr>
            <a:spLocks xmlns:a="http://schemas.openxmlformats.org/drawingml/2006/main" noGrp="1"/>
          </p:cNvSpPr>
          <p:nvPr/>
        </p:nvSpPr>
        <p:spPr>
          <a:xfrm xmlns:a="http://schemas.openxmlformats.org/drawingml/2006/main">
            <a:off x="3333750" y="3790950"/>
            <a:ext cx="501472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75.9% NetsUnion</a:t>
            </a:r>
          </a:p>
        </p:txBody>
      </p:sp>
      <p:sp>
        <p:nvSpPr>
          <p:cNvPr id="27" name="">
            <a:extLst xmlns:a="http://schemas.openxmlformats.org/drawingml/2006/main">
              <a:ext uri="{FF2B5EF4-FFF2-40B4-BE49-F238E27FC236}">
                <a16:creationId xmlns:a16="http://schemas.microsoft.com/office/drawing/2014/main" id="{DBCC803C-3CFC-4F9E-ACFC-ADF4833DF8F7}"/>
              </a:ext>
            </a:extLst>
          </p:cNvPr>
          <p:cNvSpPr>
            <a:spLocks xmlns:a="http://schemas.openxmlformats.org/drawingml/2006/main" noGrp="1"/>
          </p:cNvSpPr>
          <p:nvPr/>
        </p:nvSpPr>
        <p:spPr>
          <a:xfrm xmlns:a="http://schemas.openxmlformats.org/drawingml/2006/main">
            <a:off x="8519922" y="3790950"/>
            <a:ext cx="150037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FFFFFF"/>
                </a:solidFill>
                <a:latin typeface="Calibri"/>
                <a:ea typeface="Calibri"/>
                <a:cs typeface="Calibri"/>
              </a:defRPr>
            </a:defPPr>
          </a:lstStyle>
          <a:p xmlns:a="http://schemas.openxmlformats.org/drawingml/2006/main">
            <a:pPr algn="l">
              <a:lnSpc>
                <a:spcPct val="95000"/>
              </a:lnSpc>
              <a:buNone/>
              <a:defRPr sz="825" b="1" i="0">
                <a:solidFill>
                  <a:srgbClr val="FFFFFF"/>
                </a:solidFill>
                <a:latin typeface="Calibri"/>
                <a:ea typeface="Calibri"/>
                <a:cs typeface="Calibri"/>
              </a:defRPr>
            </a:pPr>
            <a:r>
              <a:rPr sz="825" b="1" i="0">
                <a:solidFill>
                  <a:srgbClr val="FFFFFF"/>
                </a:solidFill>
                <a:latin typeface="Calibri"/>
                <a:ea typeface="Calibri"/>
                <a:cs typeface="Calibri"/>
              </a:rPr>
              <a:t>UnionPay</a:t>
            </a:r>
          </a:p>
        </p:txBody>
      </p:sp>
      <p:sp>
        <p:nvSpPr>
          <p:cNvPr id="28" name="">
            <a:extLst xmlns:a="http://schemas.openxmlformats.org/drawingml/2006/main">
              <a:ext uri="{FF2B5EF4-FFF2-40B4-BE49-F238E27FC236}">
                <a16:creationId xmlns:a16="http://schemas.microsoft.com/office/drawing/2014/main" id="{6F4B1EC7-39FD-4EE6-90EA-39F963AD101A}"/>
              </a:ext>
            </a:extLst>
          </p:cNvPr>
          <p:cNvSpPr>
            <a:spLocks xmlns:a="http://schemas.openxmlformats.org/drawingml/2006/main" noGrp="1"/>
          </p:cNvSpPr>
          <p:nvPr/>
        </p:nvSpPr>
        <p:spPr>
          <a:xfrm xmlns:a="http://schemas.openxmlformats.org/drawingml/2006/main">
            <a:off x="10334625" y="369570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0070C0"/>
                </a:solidFill>
                <a:latin typeface="Calibri"/>
                <a:ea typeface="Calibri"/>
                <a:cs typeface="Calibri"/>
              </a:defRPr>
            </a:defPPr>
          </a:lstStyle>
          <a:p xmlns:a="http://schemas.openxmlformats.org/drawingml/2006/main">
            <a:pPr algn="r">
              <a:lnSpc>
                <a:spcPct val="95000"/>
              </a:lnSpc>
              <a:buNone/>
              <a:defRPr sz="2025" b="1" i="0">
                <a:solidFill>
                  <a:srgbClr val="0070C0"/>
                </a:solidFill>
                <a:latin typeface="Calibri"/>
                <a:ea typeface="Calibri"/>
                <a:cs typeface="Calibri"/>
              </a:defRPr>
            </a:pPr>
            <a:r>
              <a:rPr sz="2025" b="1" i="0">
                <a:solidFill>
                  <a:srgbClr val="0070C0"/>
                </a:solidFill>
                <a:latin typeface="Calibri"/>
                <a:ea typeface="Calibri"/>
                <a:cs typeface="Calibri"/>
              </a:rPr>
              <a:t>75.9%</a:t>
            </a:r>
          </a:p>
        </p:txBody>
      </p:sp>
      <p:sp>
        <p:nvSpPr>
          <p:cNvPr id="29" name="">
            <a:extLst xmlns:a="http://schemas.openxmlformats.org/drawingml/2006/main">
              <a:ext uri="{FF2B5EF4-FFF2-40B4-BE49-F238E27FC236}">
                <a16:creationId xmlns:a16="http://schemas.microsoft.com/office/drawing/2014/main" id="{C71F8F1D-EBC8-4B6D-AE00-073EC17635A9}"/>
              </a:ext>
            </a:extLst>
          </p:cNvPr>
          <p:cNvSpPr>
            <a:spLocks xmlns:a="http://schemas.openxmlformats.org/drawingml/2006/main" noGrp="1"/>
          </p:cNvSpPr>
          <p:nvPr/>
        </p:nvSpPr>
        <p:spPr>
          <a:xfrm xmlns:a="http://schemas.openxmlformats.org/drawingml/2006/main">
            <a:off x="666750" y="47244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Activity value</a:t>
            </a:r>
          </a:p>
        </p:txBody>
      </p:sp>
      <p:sp>
        <p:nvSpPr>
          <p:cNvPr id="30" name="">
            <a:extLst xmlns:a="http://schemas.openxmlformats.org/drawingml/2006/main">
              <a:ext uri="{FF2B5EF4-FFF2-40B4-BE49-F238E27FC236}">
                <a16:creationId xmlns:a16="http://schemas.microsoft.com/office/drawing/2014/main" id="{AC6C8FE3-E0B9-4F3D-AE0B-2BD67DCC12C9}"/>
              </a:ext>
            </a:extLst>
          </p:cNvPr>
          <p:cNvSpPr>
            <a:spLocks xmlns:a="http://schemas.openxmlformats.org/drawingml/2006/main" noGrp="1"/>
          </p:cNvSpPr>
          <p:nvPr/>
        </p:nvSpPr>
        <p:spPr>
          <a:xfrm xmlns:a="http://schemas.openxmlformats.org/drawingml/2006/main">
            <a:off x="666750" y="49815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PBOC mechanical index</a:t>
            </a:r>
          </a:p>
        </p:txBody>
      </p:sp>
      <p:sp>
        <p:nvSpPr>
          <p:cNvPr id="31" name="">
            <a:extLst xmlns:a="http://schemas.openxmlformats.org/drawingml/2006/main">
              <a:ext uri="{FF2B5EF4-FFF2-40B4-BE49-F238E27FC236}">
                <a16:creationId xmlns:a16="http://schemas.microsoft.com/office/drawing/2014/main" id="{CB628C77-8526-4534-83C8-05221D8D20EA}"/>
              </a:ext>
            </a:extLst>
          </p:cNvPr>
          <p:cNvSpPr>
            <a:spLocks xmlns:a="http://schemas.openxmlformats.org/drawingml/2006/main" noGrp="1"/>
          </p:cNvSpPr>
          <p:nvPr/>
        </p:nvSpPr>
        <p:spPr>
          <a:xfrm xmlns:a="http://schemas.openxmlformats.org/drawingml/2006/main">
            <a:off x="3238500" y="476250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C256F1D-0014-4811-8247-F0FEBB17A454}"/>
              </a:ext>
            </a:extLst>
          </p:cNvPr>
          <p:cNvSpPr>
            <a:spLocks xmlns:a="http://schemas.openxmlformats.org/drawingml/2006/main" noGrp="1"/>
          </p:cNvSpPr>
          <p:nvPr/>
        </p:nvSpPr>
        <p:spPr>
          <a:xfrm xmlns:a="http://schemas.openxmlformats.org/drawingml/2006/main">
            <a:off x="3238500" y="4762500"/>
            <a:ext cx="6275070"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298EC21-9204-4ABB-9C1B-C11E1049418C}"/>
              </a:ext>
            </a:extLst>
          </p:cNvPr>
          <p:cNvSpPr>
            <a:spLocks xmlns:a="http://schemas.openxmlformats.org/drawingml/2006/main" noGrp="1"/>
          </p:cNvSpPr>
          <p:nvPr/>
        </p:nvSpPr>
        <p:spPr>
          <a:xfrm xmlns:a="http://schemas.openxmlformats.org/drawingml/2006/main">
            <a:off x="9513570" y="4762500"/>
            <a:ext cx="582930"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4BE6483-0B96-44CA-928F-1F3EBE577082}"/>
              </a:ext>
            </a:extLst>
          </p:cNvPr>
          <p:cNvSpPr>
            <a:spLocks xmlns:a="http://schemas.openxmlformats.org/drawingml/2006/main" noGrp="1"/>
          </p:cNvSpPr>
          <p:nvPr/>
        </p:nvSpPr>
        <p:spPr>
          <a:xfrm xmlns:a="http://schemas.openxmlformats.org/drawingml/2006/main">
            <a:off x="3333750" y="4838700"/>
            <a:ext cx="608457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91.5% Bank</a:t>
            </a:r>
          </a:p>
        </p:txBody>
      </p:sp>
      <p:sp>
        <p:nvSpPr>
          <p:cNvPr id="35" name="">
            <a:extLst xmlns:a="http://schemas.openxmlformats.org/drawingml/2006/main">
              <a:ext uri="{FF2B5EF4-FFF2-40B4-BE49-F238E27FC236}">
                <a16:creationId xmlns:a16="http://schemas.microsoft.com/office/drawing/2014/main" id="{45A31102-0C07-4CC0-AB59-D3E7D5BFEDEF}"/>
              </a:ext>
            </a:extLst>
          </p:cNvPr>
          <p:cNvSpPr>
            <a:spLocks xmlns:a="http://schemas.openxmlformats.org/drawingml/2006/main" noGrp="1"/>
          </p:cNvSpPr>
          <p:nvPr/>
        </p:nvSpPr>
        <p:spPr>
          <a:xfrm xmlns:a="http://schemas.openxmlformats.org/drawingml/2006/main">
            <a:off x="10334625" y="474345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002060"/>
                </a:solidFill>
                <a:latin typeface="Calibri"/>
                <a:ea typeface="Calibri"/>
                <a:cs typeface="Calibri"/>
              </a:defRPr>
            </a:defPPr>
          </a:lstStyle>
          <a:p xmlns:a="http://schemas.openxmlformats.org/drawingml/2006/main">
            <a:pPr algn="r">
              <a:lnSpc>
                <a:spcPct val="95000"/>
              </a:lnSpc>
              <a:buNone/>
              <a:defRPr sz="2025" b="1" i="0">
                <a:solidFill>
                  <a:srgbClr val="002060"/>
                </a:solidFill>
                <a:latin typeface="Calibri"/>
                <a:ea typeface="Calibri"/>
                <a:cs typeface="Calibri"/>
              </a:defRPr>
            </a:pPr>
            <a:r>
              <a:rPr sz="2025" b="1" i="0">
                <a:solidFill>
                  <a:srgbClr val="002060"/>
                </a:solidFill>
                <a:latin typeface="Calibri"/>
                <a:ea typeface="Calibri"/>
                <a:cs typeface="Calibri"/>
              </a:rPr>
              <a:t>91.5%</a:t>
            </a:r>
          </a:p>
        </p:txBody>
      </p:sp>
      <p:sp>
        <p:nvSpPr>
          <p:cNvPr id="36" name="">
            <a:extLst xmlns:a="http://schemas.openxmlformats.org/drawingml/2006/main">
              <a:ext uri="{FF2B5EF4-FFF2-40B4-BE49-F238E27FC236}">
                <a16:creationId xmlns:a16="http://schemas.microsoft.com/office/drawing/2014/main" id="{A3681E77-CCC5-4699-AEAD-060ECD0FA733}"/>
              </a:ext>
            </a:extLst>
          </p:cNvPr>
          <p:cNvSpPr>
            <a:spLocks xmlns:a="http://schemas.openxmlformats.org/drawingml/2006/main" noGrp="1"/>
          </p:cNvSpPr>
          <p:nvPr/>
        </p:nvSpPr>
        <p:spPr>
          <a:xfrm xmlns:a="http://schemas.openxmlformats.org/drawingml/2006/main">
            <a:off x="666750" y="5953125"/>
            <a:ext cx="10858500" cy="342900"/>
          </a:xfrm>
          <a:prstGeom xmlns:a="http://schemas.openxmlformats.org/drawingml/2006/main" prst="roundRect">
            <a:avLst>
              <a:gd name="adj" fmla="val 5556"/>
            </a:avLst>
          </a:prstGeom>
          <a:solidFill xmlns:a="http://schemas.openxmlformats.org/drawingml/2006/main">
            <a:srgbClr val="F3F5F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76DC2B0-BA6E-405F-822C-19D569E5ED9A}"/>
              </a:ext>
            </a:extLst>
          </p:cNvPr>
          <p:cNvSpPr>
            <a:spLocks xmlns:a="http://schemas.openxmlformats.org/drawingml/2006/main" noGrp="1"/>
          </p:cNvSpPr>
          <p:nvPr/>
        </p:nvSpPr>
        <p:spPr>
          <a:xfrm xmlns:a="http://schemas.openxmlformats.org/drawingml/2006/main">
            <a:off x="857250" y="6029325"/>
            <a:ext cx="1047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595959"/>
                </a:solidFill>
                <a:latin typeface="Calibri"/>
                <a:ea typeface="Calibri"/>
                <a:cs typeface="Calibri"/>
              </a:defRPr>
            </a:defPPr>
          </a:lstStyle>
          <a:p xmlns:a="http://schemas.openxmlformats.org/drawingml/2006/main">
            <a:pPr algn="ctr">
              <a:lnSpc>
                <a:spcPct val="95000"/>
              </a:lnSpc>
              <a:buNone/>
              <a:defRPr sz="975" b="1" i="0">
                <a:solidFill>
                  <a:srgbClr val="595959"/>
                </a:solidFill>
                <a:latin typeface="Calibri"/>
                <a:ea typeface="Calibri"/>
                <a:cs typeface="Calibri"/>
              </a:defRPr>
            </a:pPr>
            <a:r>
              <a:rPr sz="975" b="1" i="0">
                <a:solidFill>
                  <a:srgbClr val="595959"/>
                </a:solidFill>
                <a:latin typeface="Calibri"/>
                <a:ea typeface="Calibri"/>
                <a:cs typeface="Calibri"/>
              </a:rPr>
              <a:t>One transaction can appear across all four layers — provider share is not funding share.</a:t>
            </a:r>
          </a:p>
        </p:txBody>
      </p:sp>
    </p:spTree>
    <p:extLst>
      <p:ext uri="{BB962C8B-B14F-4D97-AF65-F5344CB8AC3E}">
        <p14:creationId xmlns:p14="http://schemas.microsoft.com/office/powerpoint/2010/main" val="18075612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C2B4D08-544F-4CB5-AF13-0C062C1F53A9}"/>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COMPARABLE GROWTH</a:t>
            </a:r>
          </a:p>
        </p:txBody>
      </p:sp>
      <p:sp>
        <p:nvSpPr>
          <p:cNvPr id="2" name="">
            <a:extLst xmlns:a="http://schemas.openxmlformats.org/drawingml/2006/main">
              <a:ext uri="{FF2B5EF4-FFF2-40B4-BE49-F238E27FC236}">
                <a16:creationId xmlns:a16="http://schemas.microsoft.com/office/drawing/2014/main" id="{F1581B05-A23D-4403-B06D-EED10612209A}"/>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Both systems digitised at exponential speed</a:t>
            </a:r>
          </a:p>
        </p:txBody>
      </p:sp>
      <p:sp>
        <p:nvSpPr>
          <p:cNvPr id="3" name="">
            <a:extLst xmlns:a="http://schemas.openxmlformats.org/drawingml/2006/main">
              <a:ext uri="{FF2B5EF4-FFF2-40B4-BE49-F238E27FC236}">
                <a16:creationId xmlns:a16="http://schemas.microsoft.com/office/drawing/2014/main" id="{245AB1CD-CDB0-4517-9962-20CCF4DA3B00}"/>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Indexed growth isolates momentum; channel definitions still differ</a:t>
            </a:r>
          </a:p>
        </p:txBody>
      </p:sp>
      <p:sp>
        <p:nvSpPr>
          <p:cNvPr id="4" name="">
            <a:extLst xmlns:a="http://schemas.openxmlformats.org/drawingml/2006/main">
              <a:ext uri="{FF2B5EF4-FFF2-40B4-BE49-F238E27FC236}">
                <a16:creationId xmlns:a16="http://schemas.microsoft.com/office/drawing/2014/main" id="{AF14F39A-02E8-424B-A090-B2108E9E0988}"/>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annual payment-system reports; 2013 = 100</a:t>
            </a:r>
          </a:p>
        </p:txBody>
      </p:sp>
      <p:sp>
        <p:nvSpPr>
          <p:cNvPr id="5" name="">
            <a:extLst xmlns:a="http://schemas.openxmlformats.org/drawingml/2006/main">
              <a:ext uri="{FF2B5EF4-FFF2-40B4-BE49-F238E27FC236}">
                <a16:creationId xmlns:a16="http://schemas.microsoft.com/office/drawing/2014/main" id="{86AADF39-CD12-4E98-A142-7A8A98C6BD8C}"/>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4</a:t>
            </a:r>
          </a:p>
        </p:txBody>
      </p:sp>
      <p:sp>
        <p:nvSpPr>
          <p:cNvPr id="6" name="">
            <a:extLst xmlns:a="http://schemas.openxmlformats.org/drawingml/2006/main">
              <a:ext uri="{FF2B5EF4-FFF2-40B4-BE49-F238E27FC236}">
                <a16:creationId xmlns:a16="http://schemas.microsoft.com/office/drawing/2014/main" id="{0DA15525-2B69-4B7B-95A9-B66C92D3E396}"/>
              </a:ext>
            </a:extLst>
          </p:cNvPr>
          <p:cNvSpPr>
            <a:spLocks xmlns:a="http://schemas.openxmlformats.org/drawingml/2006/main" noGrp="1"/>
          </p:cNvSpPr>
          <p:nvPr/>
        </p:nvSpPr>
        <p:spPr>
          <a:xfrm xmlns:a="http://schemas.openxmlformats.org/drawingml/2006/main">
            <a:off x="666750" y="1571625"/>
            <a:ext cx="52387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28167FDA-2604-440F-8841-FE00420DE014}"/>
              </a:ext>
            </a:extLst>
          </p:cNvPr>
          <p:cNvSpPr>
            <a:spLocks xmlns:a="http://schemas.openxmlformats.org/drawingml/2006/main" noGrp="1"/>
          </p:cNvSpPr>
          <p:nvPr/>
        </p:nvSpPr>
        <p:spPr>
          <a:xfrm xmlns:a="http://schemas.openxmlformats.org/drawingml/2006/main">
            <a:off x="666750" y="1571625"/>
            <a:ext cx="5238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A63FF7C2-71DD-4255-9FBA-2C43D639AA2F}"/>
              </a:ext>
            </a:extLst>
          </p:cNvPr>
          <p:cNvSpPr>
            <a:spLocks xmlns:a="http://schemas.openxmlformats.org/drawingml/2006/main" noGrp="1"/>
          </p:cNvSpPr>
          <p:nvPr/>
        </p:nvSpPr>
        <p:spPr>
          <a:xfrm xmlns:a="http://schemas.openxmlformats.org/drawingml/2006/main">
            <a:off x="762000" y="1600200"/>
            <a:ext cx="504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TRANSACTION COUNT INDEX</a:t>
            </a:r>
          </a:p>
        </p:txBody>
      </p:sp>
      <p:sp>
        <p:nvSpPr>
          <p:cNvPr id="9" name="">
            <a:extLst xmlns:a="http://schemas.openxmlformats.org/drawingml/2006/main">
              <a:ext uri="{FF2B5EF4-FFF2-40B4-BE49-F238E27FC236}">
                <a16:creationId xmlns:a16="http://schemas.microsoft.com/office/drawing/2014/main" id="{44CF6A68-7ED6-46D7-ABAF-A6CBB99D3370}"/>
              </a:ext>
            </a:extLst>
          </p:cNvPr>
          <p:cNvSpPr>
            <a:spLocks xmlns:a="http://schemas.openxmlformats.org/drawingml/2006/main" noGrp="1"/>
          </p:cNvSpPr>
          <p:nvPr/>
        </p:nvSpPr>
        <p:spPr>
          <a:xfrm xmlns:a="http://schemas.openxmlformats.org/drawingml/2006/main">
            <a:off x="6286500" y="1571625"/>
            <a:ext cx="52387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10" name="">
            <a:extLst xmlns:a="http://schemas.openxmlformats.org/drawingml/2006/main">
              <a:ext uri="{FF2B5EF4-FFF2-40B4-BE49-F238E27FC236}">
                <a16:creationId xmlns:a16="http://schemas.microsoft.com/office/drawing/2014/main" id="{94CBC101-BAFF-4988-BC53-4FBB28AF31DD}"/>
              </a:ext>
            </a:extLst>
          </p:cNvPr>
          <p:cNvSpPr>
            <a:spLocks xmlns:a="http://schemas.openxmlformats.org/drawingml/2006/main" noGrp="1"/>
          </p:cNvSpPr>
          <p:nvPr/>
        </p:nvSpPr>
        <p:spPr>
          <a:xfrm xmlns:a="http://schemas.openxmlformats.org/drawingml/2006/main">
            <a:off x="6286500" y="1571625"/>
            <a:ext cx="5238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1" name="">
            <a:extLst xmlns:a="http://schemas.openxmlformats.org/drawingml/2006/main">
              <a:ext uri="{FF2B5EF4-FFF2-40B4-BE49-F238E27FC236}">
                <a16:creationId xmlns:a16="http://schemas.microsoft.com/office/drawing/2014/main" id="{94D43FBC-EB6E-4D2E-9633-EFF74073AAE7}"/>
              </a:ext>
            </a:extLst>
          </p:cNvPr>
          <p:cNvSpPr>
            <a:spLocks xmlns:a="http://schemas.openxmlformats.org/drawingml/2006/main" noGrp="1"/>
          </p:cNvSpPr>
          <p:nvPr/>
        </p:nvSpPr>
        <p:spPr>
          <a:xfrm xmlns:a="http://schemas.openxmlformats.org/drawingml/2006/main">
            <a:off x="6381750" y="1600200"/>
            <a:ext cx="504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TRANSACTION VALUE INDEX</a:t>
            </a:r>
          </a:p>
        </p:txBody>
      </p:sp>
      <p:graphicFrame>
        <p:nvGraphicFramePr>
          <p:cNvPr id="12" name="Chart">
            <a:extLst xmlns:a="http://schemas.openxmlformats.org/drawingml/2006/main">
              <a:ext uri="{FF2B5EF4-FFF2-40B4-BE49-F238E27FC236}">
                <a16:creationId xmlns:a16="http://schemas.microsoft.com/office/drawing/2014/main" id="{08DADDCA-2D09-4C38-8FA8-752AA3C6092C}"/>
              </a:ext>
            </a:extLst>
          </p:cNvPr>
          <p:cNvGraphicFramePr/>
          <p:nvPr/>
        </p:nvGraphicFramePr>
        <p:xfrm>
          <a:off xmlns:a="http://schemas.openxmlformats.org/drawingml/2006/main" x="952500" y="2095500"/>
          <a:ext xmlns:a="http://schemas.openxmlformats.org/drawingml/2006/main" cx="4667250" cy="3143250"/>
        </p:xfrm>
        <a:graphic xmlns:a="http://schemas.openxmlformats.org/drawingml/2006/main">
          <a:graphicData uri="http://schemas.openxmlformats.org/drawingml/2006/chart">
            <c:chart xmlns:r="http://schemas.openxmlformats.org/officeDocument/2006/relationships" xmlns:c="http://schemas.openxmlformats.org/drawingml/2006/chart" r:id="R7b69c1842b984730"/>
          </a:graphicData>
        </a:graphic>
      </p:graphicFrame>
      <p:graphicFrame>
        <p:nvGraphicFramePr>
          <p:cNvPr id="13" name="Chart">
            <a:extLst xmlns:a="http://schemas.openxmlformats.org/drawingml/2006/main">
              <a:ext uri="{FF2B5EF4-FFF2-40B4-BE49-F238E27FC236}">
                <a16:creationId xmlns:a16="http://schemas.microsoft.com/office/drawing/2014/main" id="{74972688-68E0-4943-8EFA-54308F9A73AF}"/>
              </a:ext>
            </a:extLst>
          </p:cNvPr>
          <p:cNvGraphicFramePr/>
          <p:nvPr/>
        </p:nvGraphicFramePr>
        <p:xfrm>
          <a:off xmlns:a="http://schemas.openxmlformats.org/drawingml/2006/main" x="6572250" y="2095500"/>
          <a:ext xmlns:a="http://schemas.openxmlformats.org/drawingml/2006/main" cx="4667250" cy="3143250"/>
        </p:xfrm>
        <a:graphic xmlns:a="http://schemas.openxmlformats.org/drawingml/2006/main">
          <a:graphicData uri="http://schemas.openxmlformats.org/drawingml/2006/chart">
            <c:chart xmlns:r="http://schemas.openxmlformats.org/officeDocument/2006/relationships" xmlns:c="http://schemas.openxmlformats.org/drawingml/2006/chart" r:id="Rad39aee6582d4fd5"/>
          </a:graphicData>
        </a:graphic>
      </p:graphicFrame>
      <p:sp>
        <p:nvSpPr>
          <p:cNvPr id="14" name="">
            <a:extLst xmlns:a="http://schemas.openxmlformats.org/drawingml/2006/main">
              <a:ext uri="{FF2B5EF4-FFF2-40B4-BE49-F238E27FC236}">
                <a16:creationId xmlns:a16="http://schemas.microsoft.com/office/drawing/2014/main" id="{B6EB1034-36ED-4C4E-80BB-4B0ABE6F2585}"/>
              </a:ext>
            </a:extLst>
          </p:cNvPr>
          <p:cNvSpPr>
            <a:spLocks xmlns:a="http://schemas.openxmlformats.org/drawingml/2006/main" noGrp="1"/>
          </p:cNvSpPr>
          <p:nvPr/>
        </p:nvSpPr>
        <p:spPr>
          <a:xfrm xmlns:a="http://schemas.openxmlformats.org/drawingml/2006/main">
            <a:off x="1047750" y="5429250"/>
            <a:ext cx="2190750" cy="590550"/>
          </a:xfrm>
          <a:prstGeom xmlns:a="http://schemas.openxmlformats.org/drawingml/2006/main" prst="roundRect">
            <a:avLst>
              <a:gd name="adj" fmla="val 6452"/>
            </a:avLst>
          </a:prstGeom>
          <a:solidFill xmlns:a="http://schemas.openxmlformats.org/drawingml/2006/main">
            <a:srgbClr val="EAF2F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F360556-8C0D-4739-8E42-2149612B3F20}"/>
              </a:ext>
            </a:extLst>
          </p:cNvPr>
          <p:cNvSpPr>
            <a:spLocks xmlns:a="http://schemas.openxmlformats.org/drawingml/2006/main" noGrp="1"/>
          </p:cNvSpPr>
          <p:nvPr/>
        </p:nvSpPr>
        <p:spPr>
          <a:xfrm xmlns:a="http://schemas.openxmlformats.org/drawingml/2006/main">
            <a:off x="116205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138×</a:t>
            </a:r>
          </a:p>
        </p:txBody>
      </p:sp>
      <p:sp>
        <p:nvSpPr>
          <p:cNvPr id="16" name="">
            <a:extLst xmlns:a="http://schemas.openxmlformats.org/drawingml/2006/main">
              <a:ext uri="{FF2B5EF4-FFF2-40B4-BE49-F238E27FC236}">
                <a16:creationId xmlns:a16="http://schemas.microsoft.com/office/drawing/2014/main" id="{D0FE8920-F6A6-4FFB-B337-0F3D40F69FAB}"/>
              </a:ext>
            </a:extLst>
          </p:cNvPr>
          <p:cNvSpPr>
            <a:spLocks xmlns:a="http://schemas.openxmlformats.org/drawingml/2006/main" noGrp="1"/>
          </p:cNvSpPr>
          <p:nvPr/>
        </p:nvSpPr>
        <p:spPr>
          <a:xfrm xmlns:a="http://schemas.openxmlformats.org/drawingml/2006/main">
            <a:off x="116205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mobile count vs 2013</a:t>
            </a:r>
          </a:p>
        </p:txBody>
      </p:sp>
      <p:sp>
        <p:nvSpPr>
          <p:cNvPr id="17" name="">
            <a:extLst xmlns:a="http://schemas.openxmlformats.org/drawingml/2006/main">
              <a:ext uri="{FF2B5EF4-FFF2-40B4-BE49-F238E27FC236}">
                <a16:creationId xmlns:a16="http://schemas.microsoft.com/office/drawing/2014/main" id="{ED46CC6B-AE0E-42CF-9920-10B8F3A15F72}"/>
              </a:ext>
            </a:extLst>
          </p:cNvPr>
          <p:cNvSpPr>
            <a:spLocks xmlns:a="http://schemas.openxmlformats.org/drawingml/2006/main" noGrp="1"/>
          </p:cNvSpPr>
          <p:nvPr/>
        </p:nvSpPr>
        <p:spPr>
          <a:xfrm xmlns:a="http://schemas.openxmlformats.org/drawingml/2006/main">
            <a:off x="3333750" y="5429250"/>
            <a:ext cx="2190750" cy="590550"/>
          </a:xfrm>
          <a:prstGeom xmlns:a="http://schemas.openxmlformats.org/drawingml/2006/main" prst="roundRect">
            <a:avLst>
              <a:gd name="adj" fmla="val 6452"/>
            </a:avLst>
          </a:prstGeom>
          <a:solidFill xmlns:a="http://schemas.openxmlformats.org/drawingml/2006/main">
            <a:srgbClr val="FCEDE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28081D0-03AB-4078-B8CB-C3CB951B02B6}"/>
              </a:ext>
            </a:extLst>
          </p:cNvPr>
          <p:cNvSpPr>
            <a:spLocks xmlns:a="http://schemas.openxmlformats.org/drawingml/2006/main" noGrp="1"/>
          </p:cNvSpPr>
          <p:nvPr/>
        </p:nvSpPr>
        <p:spPr>
          <a:xfrm xmlns:a="http://schemas.openxmlformats.org/drawingml/2006/main">
            <a:off x="344805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86×</a:t>
            </a:r>
          </a:p>
        </p:txBody>
      </p:sp>
      <p:sp>
        <p:nvSpPr>
          <p:cNvPr id="19" name="">
            <a:extLst xmlns:a="http://schemas.openxmlformats.org/drawingml/2006/main">
              <a:ext uri="{FF2B5EF4-FFF2-40B4-BE49-F238E27FC236}">
                <a16:creationId xmlns:a16="http://schemas.microsoft.com/office/drawing/2014/main" id="{E9B144BB-42A7-4A42-B82C-7225E9CC8DF6}"/>
              </a:ext>
            </a:extLst>
          </p:cNvPr>
          <p:cNvSpPr>
            <a:spLocks xmlns:a="http://schemas.openxmlformats.org/drawingml/2006/main" noGrp="1"/>
          </p:cNvSpPr>
          <p:nvPr/>
        </p:nvSpPr>
        <p:spPr>
          <a:xfrm xmlns:a="http://schemas.openxmlformats.org/drawingml/2006/main">
            <a:off x="344805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count vs 2013</a:t>
            </a:r>
          </a:p>
        </p:txBody>
      </p:sp>
      <p:sp>
        <p:nvSpPr>
          <p:cNvPr id="20" name="">
            <a:extLst xmlns:a="http://schemas.openxmlformats.org/drawingml/2006/main">
              <a:ext uri="{FF2B5EF4-FFF2-40B4-BE49-F238E27FC236}">
                <a16:creationId xmlns:a16="http://schemas.microsoft.com/office/drawing/2014/main" id="{676F265E-51F9-4A77-B7D6-912C96E58E61}"/>
              </a:ext>
            </a:extLst>
          </p:cNvPr>
          <p:cNvSpPr>
            <a:spLocks xmlns:a="http://schemas.openxmlformats.org/drawingml/2006/main" noGrp="1"/>
          </p:cNvSpPr>
          <p:nvPr/>
        </p:nvSpPr>
        <p:spPr>
          <a:xfrm xmlns:a="http://schemas.openxmlformats.org/drawingml/2006/main">
            <a:off x="6667500" y="5429250"/>
            <a:ext cx="2190750" cy="590550"/>
          </a:xfrm>
          <a:prstGeom xmlns:a="http://schemas.openxmlformats.org/drawingml/2006/main" prst="roundRect">
            <a:avLst>
              <a:gd name="adj" fmla="val 6452"/>
            </a:avLst>
          </a:prstGeom>
          <a:solidFill xmlns:a="http://schemas.openxmlformats.org/drawingml/2006/main">
            <a:srgbClr val="EAF2F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2C35060-FA06-4689-86C7-77B9226EB62F}"/>
              </a:ext>
            </a:extLst>
          </p:cNvPr>
          <p:cNvSpPr>
            <a:spLocks xmlns:a="http://schemas.openxmlformats.org/drawingml/2006/main" noGrp="1"/>
          </p:cNvSpPr>
          <p:nvPr/>
        </p:nvSpPr>
        <p:spPr>
          <a:xfrm xmlns:a="http://schemas.openxmlformats.org/drawingml/2006/main">
            <a:off x="678180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59×</a:t>
            </a:r>
          </a:p>
        </p:txBody>
      </p:sp>
      <p:sp>
        <p:nvSpPr>
          <p:cNvPr id="22" name="">
            <a:extLst xmlns:a="http://schemas.openxmlformats.org/drawingml/2006/main">
              <a:ext uri="{FF2B5EF4-FFF2-40B4-BE49-F238E27FC236}">
                <a16:creationId xmlns:a16="http://schemas.microsoft.com/office/drawing/2014/main" id="{E312B982-DBDF-4E27-A688-E8BD4AC26440}"/>
              </a:ext>
            </a:extLst>
          </p:cNvPr>
          <p:cNvSpPr>
            <a:spLocks xmlns:a="http://schemas.openxmlformats.org/drawingml/2006/main" noGrp="1"/>
          </p:cNvSpPr>
          <p:nvPr/>
        </p:nvSpPr>
        <p:spPr>
          <a:xfrm xmlns:a="http://schemas.openxmlformats.org/drawingml/2006/main">
            <a:off x="678180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mobile value vs 2013</a:t>
            </a:r>
          </a:p>
        </p:txBody>
      </p:sp>
      <p:sp>
        <p:nvSpPr>
          <p:cNvPr id="23" name="">
            <a:extLst xmlns:a="http://schemas.openxmlformats.org/drawingml/2006/main">
              <a:ext uri="{FF2B5EF4-FFF2-40B4-BE49-F238E27FC236}">
                <a16:creationId xmlns:a16="http://schemas.microsoft.com/office/drawing/2014/main" id="{E3F97A4D-9F3E-4336-A47D-B3744EE08050}"/>
              </a:ext>
            </a:extLst>
          </p:cNvPr>
          <p:cNvSpPr>
            <a:spLocks xmlns:a="http://schemas.openxmlformats.org/drawingml/2006/main" noGrp="1"/>
          </p:cNvSpPr>
          <p:nvPr/>
        </p:nvSpPr>
        <p:spPr>
          <a:xfrm xmlns:a="http://schemas.openxmlformats.org/drawingml/2006/main">
            <a:off x="8953500" y="5429250"/>
            <a:ext cx="2190750" cy="590550"/>
          </a:xfrm>
          <a:prstGeom xmlns:a="http://schemas.openxmlformats.org/drawingml/2006/main" prst="roundRect">
            <a:avLst>
              <a:gd name="adj" fmla="val 6452"/>
            </a:avLst>
          </a:prstGeom>
          <a:solidFill xmlns:a="http://schemas.openxmlformats.org/drawingml/2006/main">
            <a:srgbClr val="FCEDE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342CDC9-12B8-4FEA-ABC2-6A6D11FB7803}"/>
              </a:ext>
            </a:extLst>
          </p:cNvPr>
          <p:cNvSpPr>
            <a:spLocks xmlns:a="http://schemas.openxmlformats.org/drawingml/2006/main" noGrp="1"/>
          </p:cNvSpPr>
          <p:nvPr/>
        </p:nvSpPr>
        <p:spPr>
          <a:xfrm xmlns:a="http://schemas.openxmlformats.org/drawingml/2006/main">
            <a:off x="906780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37×</a:t>
            </a:r>
          </a:p>
        </p:txBody>
      </p:sp>
      <p:sp>
        <p:nvSpPr>
          <p:cNvPr id="25" name="">
            <a:extLst xmlns:a="http://schemas.openxmlformats.org/drawingml/2006/main">
              <a:ext uri="{FF2B5EF4-FFF2-40B4-BE49-F238E27FC236}">
                <a16:creationId xmlns:a16="http://schemas.microsoft.com/office/drawing/2014/main" id="{F7EF4529-EAFF-4A7C-8923-F9993927DE32}"/>
              </a:ext>
            </a:extLst>
          </p:cNvPr>
          <p:cNvSpPr>
            <a:spLocks xmlns:a="http://schemas.openxmlformats.org/drawingml/2006/main" noGrp="1"/>
          </p:cNvSpPr>
          <p:nvPr/>
        </p:nvSpPr>
        <p:spPr>
          <a:xfrm xmlns:a="http://schemas.openxmlformats.org/drawingml/2006/main">
            <a:off x="906780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value vs 2013</a:t>
            </a:r>
          </a:p>
        </p:txBody>
      </p:sp>
    </p:spTree>
    <p:extLst>
      <p:ext uri="{BB962C8B-B14F-4D97-AF65-F5344CB8AC3E}">
        <p14:creationId xmlns:p14="http://schemas.microsoft.com/office/powerpoint/2010/main" val="12135520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7A0959C-3702-450B-A390-8E590F968E56}"/>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USER ADOPTION</a:t>
            </a:r>
          </a:p>
        </p:txBody>
      </p:sp>
      <p:sp>
        <p:nvSpPr>
          <p:cNvPr id="2" name="">
            <a:extLst xmlns:a="http://schemas.openxmlformats.org/drawingml/2006/main">
              <a:ext uri="{FF2B5EF4-FFF2-40B4-BE49-F238E27FC236}">
                <a16:creationId xmlns:a16="http://schemas.microsoft.com/office/drawing/2014/main" id="{53B40A1F-0CC7-4FDE-8668-64765740A255}"/>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Payment usage reached mass-market saturation</a:t>
            </a:r>
          </a:p>
        </p:txBody>
      </p:sp>
      <p:sp>
        <p:nvSpPr>
          <p:cNvPr id="3" name="">
            <a:extLst xmlns:a="http://schemas.openxmlformats.org/drawingml/2006/main">
              <a:ext uri="{FF2B5EF4-FFF2-40B4-BE49-F238E27FC236}">
                <a16:creationId xmlns:a16="http://schemas.microsoft.com/office/drawing/2014/main" id="{BDA868CB-AF74-4CFF-8578-8E2F96D9AE2B}"/>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User growth broadened the market; interface share remained concentrated</a:t>
            </a:r>
          </a:p>
        </p:txBody>
      </p:sp>
      <p:sp>
        <p:nvSpPr>
          <p:cNvPr id="4" name="">
            <a:extLst xmlns:a="http://schemas.openxmlformats.org/drawingml/2006/main">
              <a:ext uri="{FF2B5EF4-FFF2-40B4-BE49-F238E27FC236}">
                <a16:creationId xmlns:a16="http://schemas.microsoft.com/office/drawing/2014/main" id="{E6BDEA39-2283-42E7-97EF-FBCA3C604873}"/>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CNNIC; Analysys; iResearch; AMRO; IMF</a:t>
            </a:r>
          </a:p>
        </p:txBody>
      </p:sp>
      <p:sp>
        <p:nvSpPr>
          <p:cNvPr id="5" name="">
            <a:extLst xmlns:a="http://schemas.openxmlformats.org/drawingml/2006/main">
              <a:ext uri="{FF2B5EF4-FFF2-40B4-BE49-F238E27FC236}">
                <a16:creationId xmlns:a16="http://schemas.microsoft.com/office/drawing/2014/main" id="{3FA9FA2D-6A25-4A3A-9860-364D151C3199}"/>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5</a:t>
            </a:r>
          </a:p>
        </p:txBody>
      </p:sp>
      <p:sp>
        <p:nvSpPr>
          <p:cNvPr id="6" name="">
            <a:extLst xmlns:a="http://schemas.openxmlformats.org/drawingml/2006/main">
              <a:ext uri="{FF2B5EF4-FFF2-40B4-BE49-F238E27FC236}">
                <a16:creationId xmlns:a16="http://schemas.microsoft.com/office/drawing/2014/main" id="{5BA71118-EC91-48DA-9A5D-3BE5B840FDF7}"/>
              </a:ext>
            </a:extLst>
          </p:cNvPr>
          <p:cNvSpPr>
            <a:spLocks xmlns:a="http://schemas.openxmlformats.org/drawingml/2006/main" noGrp="1"/>
          </p:cNvSpPr>
          <p:nvPr/>
        </p:nvSpPr>
        <p:spPr>
          <a:xfrm xmlns:a="http://schemas.openxmlformats.org/drawingml/2006/main">
            <a:off x="666750" y="1571625"/>
            <a:ext cx="4476750" cy="4238625"/>
          </a:xfrm>
          <a:prstGeom xmlns:a="http://schemas.openxmlformats.org/drawingml/2006/main" prst="roundRect">
            <a:avLst>
              <a:gd name="adj" fmla="val 89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4574ECA8-F027-4F21-982A-7FD2D7C59926}"/>
              </a:ext>
            </a:extLst>
          </p:cNvPr>
          <p:cNvSpPr>
            <a:spLocks xmlns:a="http://schemas.openxmlformats.org/drawingml/2006/main" noGrp="1"/>
          </p:cNvSpPr>
          <p:nvPr/>
        </p:nvSpPr>
        <p:spPr>
          <a:xfrm xmlns:a="http://schemas.openxmlformats.org/drawingml/2006/main">
            <a:off x="666750" y="1571625"/>
            <a:ext cx="4476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63833AAE-875D-4A4C-9E4D-EE2A52AA36DF}"/>
              </a:ext>
            </a:extLst>
          </p:cNvPr>
          <p:cNvSpPr>
            <a:spLocks xmlns:a="http://schemas.openxmlformats.org/drawingml/2006/main" noGrp="1"/>
          </p:cNvSpPr>
          <p:nvPr/>
        </p:nvSpPr>
        <p:spPr>
          <a:xfrm xmlns:a="http://schemas.openxmlformats.org/drawingml/2006/main">
            <a:off x="762000" y="16002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NETWORK-PAYMENT USERS — MILLION</a:t>
            </a:r>
          </a:p>
        </p:txBody>
      </p:sp>
      <p:graphicFrame>
        <p:nvGraphicFramePr>
          <p:cNvPr id="9" name="Chart">
            <a:extLst xmlns:a="http://schemas.openxmlformats.org/drawingml/2006/main">
              <a:ext uri="{FF2B5EF4-FFF2-40B4-BE49-F238E27FC236}">
                <a16:creationId xmlns:a16="http://schemas.microsoft.com/office/drawing/2014/main" id="{A5D87444-8AE7-45A0-BF05-0A85172C3561}"/>
              </a:ext>
            </a:extLst>
          </p:cNvPr>
          <p:cNvGraphicFramePr/>
          <p:nvPr/>
        </p:nvGraphicFramePr>
        <p:xfrm>
          <a:off xmlns:a="http://schemas.openxmlformats.org/drawingml/2006/main" x="1095375" y="2143125"/>
          <a:ext xmlns:a="http://schemas.openxmlformats.org/drawingml/2006/main" cx="3619500" cy="2571750"/>
        </p:xfrm>
        <a:graphic xmlns:a="http://schemas.openxmlformats.org/drawingml/2006/main">
          <a:graphicData uri="http://schemas.openxmlformats.org/drawingml/2006/chart">
            <c:chart xmlns:r="http://schemas.openxmlformats.org/officeDocument/2006/relationships" xmlns:c="http://schemas.openxmlformats.org/drawingml/2006/chart" r:id="Rb36f7087b91f4af1"/>
          </a:graphicData>
        </a:graphic>
      </p:graphicFrame>
      <p:sp>
        <p:nvSpPr>
          <p:cNvPr id="10" name="">
            <a:extLst xmlns:a="http://schemas.openxmlformats.org/drawingml/2006/main">
              <a:ext uri="{FF2B5EF4-FFF2-40B4-BE49-F238E27FC236}">
                <a16:creationId xmlns:a16="http://schemas.microsoft.com/office/drawing/2014/main" id="{75C54E8D-5A92-451A-88AB-0E1C9151CB63}"/>
              </a:ext>
            </a:extLst>
          </p:cNvPr>
          <p:cNvSpPr>
            <a:spLocks xmlns:a="http://schemas.openxmlformats.org/drawingml/2006/main" noGrp="1"/>
          </p:cNvSpPr>
          <p:nvPr/>
        </p:nvSpPr>
        <p:spPr>
          <a:xfrm xmlns:a="http://schemas.openxmlformats.org/drawingml/2006/main">
            <a:off x="1047750" y="4905375"/>
            <a:ext cx="1666875" cy="647700"/>
          </a:xfrm>
          <a:prstGeom xmlns:a="http://schemas.openxmlformats.org/drawingml/2006/main" prst="roundRect">
            <a:avLst>
              <a:gd name="adj" fmla="val 5882"/>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1C6C3FE-C1F5-469E-869E-AA0F93C9FDE2}"/>
              </a:ext>
            </a:extLst>
          </p:cNvPr>
          <p:cNvSpPr>
            <a:spLocks xmlns:a="http://schemas.openxmlformats.org/drawingml/2006/main" noGrp="1"/>
          </p:cNvSpPr>
          <p:nvPr/>
        </p:nvSpPr>
        <p:spPr>
          <a:xfrm xmlns:a="http://schemas.openxmlformats.org/drawingml/2006/main">
            <a:off x="1162050" y="4981575"/>
            <a:ext cx="14382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70C0"/>
                </a:solidFill>
                <a:latin typeface="Calibri"/>
                <a:ea typeface="Calibri"/>
                <a:cs typeface="Calibri"/>
              </a:defRPr>
            </a:defPPr>
          </a:lstStyle>
          <a:p xmlns:a="http://schemas.openxmlformats.org/drawingml/2006/main">
            <a:pPr algn="l">
              <a:lnSpc>
                <a:spcPct val="95000"/>
              </a:lnSpc>
              <a:buNone/>
              <a:defRPr sz="1950" b="1" i="0">
                <a:solidFill>
                  <a:srgbClr val="0070C0"/>
                </a:solidFill>
                <a:latin typeface="Calibri"/>
                <a:ea typeface="Calibri"/>
                <a:cs typeface="Calibri"/>
              </a:defRPr>
            </a:pPr>
            <a:r>
              <a:rPr sz="1950" b="1" i="0">
                <a:solidFill>
                  <a:srgbClr val="0070C0"/>
                </a:solidFill>
                <a:latin typeface="Calibri"/>
                <a:ea typeface="Calibri"/>
                <a:cs typeface="Calibri"/>
              </a:rPr>
              <a:t>32.5%</a:t>
            </a:r>
          </a:p>
        </p:txBody>
      </p:sp>
      <p:sp>
        <p:nvSpPr>
          <p:cNvPr id="12" name="">
            <a:extLst xmlns:a="http://schemas.openxmlformats.org/drawingml/2006/main">
              <a:ext uri="{FF2B5EF4-FFF2-40B4-BE49-F238E27FC236}">
                <a16:creationId xmlns:a16="http://schemas.microsoft.com/office/drawing/2014/main" id="{388ACCA1-35B5-40BB-9B6D-93562BAA4340}"/>
              </a:ext>
            </a:extLst>
          </p:cNvPr>
          <p:cNvSpPr>
            <a:spLocks xmlns:a="http://schemas.openxmlformats.org/drawingml/2006/main" noGrp="1"/>
          </p:cNvSpPr>
          <p:nvPr/>
        </p:nvSpPr>
        <p:spPr>
          <a:xfrm xmlns:a="http://schemas.openxmlformats.org/drawingml/2006/main">
            <a:off x="1162050" y="5305425"/>
            <a:ext cx="1438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556"/>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Internet-user penetration — 2011</a:t>
            </a:r>
          </a:p>
        </p:txBody>
      </p:sp>
      <p:sp>
        <p:nvSpPr>
          <p:cNvPr id="13" name="">
            <a:extLst xmlns:a="http://schemas.openxmlformats.org/drawingml/2006/main">
              <a:ext uri="{FF2B5EF4-FFF2-40B4-BE49-F238E27FC236}">
                <a16:creationId xmlns:a16="http://schemas.microsoft.com/office/drawing/2014/main" id="{4163BAF9-5A5F-4BFE-A6DF-DEF6CBE692AF}"/>
              </a:ext>
            </a:extLst>
          </p:cNvPr>
          <p:cNvSpPr>
            <a:spLocks xmlns:a="http://schemas.openxmlformats.org/drawingml/2006/main" noGrp="1"/>
          </p:cNvSpPr>
          <p:nvPr/>
        </p:nvSpPr>
        <p:spPr>
          <a:xfrm xmlns:a="http://schemas.openxmlformats.org/drawingml/2006/main">
            <a:off x="2857500" y="4905375"/>
            <a:ext cx="1857375" cy="647700"/>
          </a:xfrm>
          <a:prstGeom xmlns:a="http://schemas.openxmlformats.org/drawingml/2006/main" prst="roundRect">
            <a:avLst>
              <a:gd name="adj" fmla="val 5882"/>
            </a:avLst>
          </a:prstGeom>
          <a:solidFill xmlns:a="http://schemas.openxmlformats.org/drawingml/2006/main">
            <a:srgbClr val="EAF2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7007380-527B-45C8-923D-8D5FFAB96773}"/>
              </a:ext>
            </a:extLst>
          </p:cNvPr>
          <p:cNvSpPr>
            <a:spLocks xmlns:a="http://schemas.openxmlformats.org/drawingml/2006/main" noGrp="1"/>
          </p:cNvSpPr>
          <p:nvPr/>
        </p:nvSpPr>
        <p:spPr>
          <a:xfrm xmlns:a="http://schemas.openxmlformats.org/drawingml/2006/main">
            <a:off x="2971800" y="4981575"/>
            <a:ext cx="1628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92.8%</a:t>
            </a:r>
          </a:p>
        </p:txBody>
      </p:sp>
      <p:sp>
        <p:nvSpPr>
          <p:cNvPr id="15" name="">
            <a:extLst xmlns:a="http://schemas.openxmlformats.org/drawingml/2006/main">
              <a:ext uri="{FF2B5EF4-FFF2-40B4-BE49-F238E27FC236}">
                <a16:creationId xmlns:a16="http://schemas.microsoft.com/office/drawing/2014/main" id="{B455B860-C7A1-46FD-93CC-31BEF536A1CC}"/>
              </a:ext>
            </a:extLst>
          </p:cNvPr>
          <p:cNvSpPr>
            <a:spLocks xmlns:a="http://schemas.openxmlformats.org/drawingml/2006/main" noGrp="1"/>
          </p:cNvSpPr>
          <p:nvPr/>
        </p:nvSpPr>
        <p:spPr>
          <a:xfrm xmlns:a="http://schemas.openxmlformats.org/drawingml/2006/main">
            <a:off x="2971800" y="5305425"/>
            <a:ext cx="16287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54"/>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Internet-user penetration — 2024</a:t>
            </a:r>
          </a:p>
        </p:txBody>
      </p:sp>
      <p:sp>
        <p:nvSpPr>
          <p:cNvPr id="16" name="">
            <a:extLst xmlns:a="http://schemas.openxmlformats.org/drawingml/2006/main">
              <a:ext uri="{FF2B5EF4-FFF2-40B4-BE49-F238E27FC236}">
                <a16:creationId xmlns:a16="http://schemas.microsoft.com/office/drawing/2014/main" id="{5EE29512-E03D-4E2D-A468-89D133DCF1AE}"/>
              </a:ext>
            </a:extLst>
          </p:cNvPr>
          <p:cNvSpPr>
            <a:spLocks xmlns:a="http://schemas.openxmlformats.org/drawingml/2006/main" noGrp="1"/>
          </p:cNvSpPr>
          <p:nvPr/>
        </p:nvSpPr>
        <p:spPr>
          <a:xfrm xmlns:a="http://schemas.openxmlformats.org/drawingml/2006/main">
            <a:off x="5524500" y="1571625"/>
            <a:ext cx="6000750" cy="4238625"/>
          </a:xfrm>
          <a:prstGeom xmlns:a="http://schemas.openxmlformats.org/drawingml/2006/main" prst="roundRect">
            <a:avLst>
              <a:gd name="adj" fmla="val 899"/>
            </a:avLst>
          </a:prstGeom>
          <a:solidFill xmlns:a="http://schemas.openxmlformats.org/drawingml/2006/main">
            <a:srgbClr val="FFFFFF"/>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10773D41-CD69-4239-B5D7-C1368F140174}"/>
              </a:ext>
            </a:extLst>
          </p:cNvPr>
          <p:cNvSpPr>
            <a:spLocks xmlns:a="http://schemas.openxmlformats.org/drawingml/2006/main" noGrp="1"/>
          </p:cNvSpPr>
          <p:nvPr/>
        </p:nvSpPr>
        <p:spPr>
          <a:xfrm xmlns:a="http://schemas.openxmlformats.org/drawingml/2006/main">
            <a:off x="5524500" y="1571625"/>
            <a:ext cx="6000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8" name="">
            <a:extLst xmlns:a="http://schemas.openxmlformats.org/drawingml/2006/main">
              <a:ext uri="{FF2B5EF4-FFF2-40B4-BE49-F238E27FC236}">
                <a16:creationId xmlns:a16="http://schemas.microsoft.com/office/drawing/2014/main" id="{C116AC5E-4181-4663-AFEB-4BA5C031B448}"/>
              </a:ext>
            </a:extLst>
          </p:cNvPr>
          <p:cNvSpPr>
            <a:spLocks xmlns:a="http://schemas.openxmlformats.org/drawingml/2006/main" noGrp="1"/>
          </p:cNvSpPr>
          <p:nvPr/>
        </p:nvSpPr>
        <p:spPr>
          <a:xfrm xmlns:a="http://schemas.openxmlformats.org/drawingml/2006/main">
            <a:off x="5619750" y="1600200"/>
            <a:ext cx="581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ALIPAY + TENPAY / WECHAT PAY — COMBINED SHARE</a:t>
            </a:r>
          </a:p>
        </p:txBody>
      </p:sp>
      <p:graphicFrame>
        <p:nvGraphicFramePr>
          <p:cNvPr id="19" name="Chart">
            <a:extLst xmlns:a="http://schemas.openxmlformats.org/drawingml/2006/main">
              <a:ext uri="{FF2B5EF4-FFF2-40B4-BE49-F238E27FC236}">
                <a16:creationId xmlns:a16="http://schemas.microsoft.com/office/drawing/2014/main" id="{8B6FF9AD-87F6-488E-A0C3-6A4F923364D5}"/>
              </a:ext>
            </a:extLst>
          </p:cNvPr>
          <p:cNvGraphicFramePr/>
          <p:nvPr/>
        </p:nvGraphicFramePr>
        <p:xfrm>
          <a:off xmlns:a="http://schemas.openxmlformats.org/drawingml/2006/main" x="5905500" y="2143125"/>
          <a:ext xmlns:a="http://schemas.openxmlformats.org/drawingml/2006/main" cx="5238750" cy="2952750"/>
        </p:xfrm>
        <a:graphic xmlns:a="http://schemas.openxmlformats.org/drawingml/2006/main">
          <a:graphicData uri="http://schemas.openxmlformats.org/drawingml/2006/chart">
            <c:chart xmlns:r="http://schemas.openxmlformats.org/officeDocument/2006/relationships" xmlns:c="http://schemas.openxmlformats.org/drawingml/2006/chart" r:id="Re8caf2d83bd6412c"/>
          </a:graphicData>
        </a:graphic>
      </p:graphicFrame>
      <p:sp>
        <p:nvSpPr>
          <p:cNvPr id="20" name="">
            <a:extLst xmlns:a="http://schemas.openxmlformats.org/drawingml/2006/main">
              <a:ext uri="{FF2B5EF4-FFF2-40B4-BE49-F238E27FC236}">
                <a16:creationId xmlns:a16="http://schemas.microsoft.com/office/drawing/2014/main" id="{98F9C617-D78F-4858-BCDF-5611364AC4E3}"/>
              </a:ext>
            </a:extLst>
          </p:cNvPr>
          <p:cNvSpPr>
            <a:spLocks xmlns:a="http://schemas.openxmlformats.org/drawingml/2006/main" noGrp="1"/>
          </p:cNvSpPr>
          <p:nvPr/>
        </p:nvSpPr>
        <p:spPr>
          <a:xfrm xmlns:a="http://schemas.openxmlformats.org/drawingml/2006/main">
            <a:off x="6096000" y="5219700"/>
            <a:ext cx="4857750" cy="333375"/>
          </a:xfrm>
          <a:prstGeom xmlns:a="http://schemas.openxmlformats.org/drawingml/2006/main" prst="roundRect">
            <a:avLst>
              <a:gd name="adj" fmla="val 5714"/>
            </a:avLst>
          </a:prstGeom>
          <a:solidFill xmlns:a="http://schemas.openxmlformats.org/drawingml/2006/main">
            <a:srgbClr val="FCEDE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1CE9AAC-4582-4FB1-893B-5D44FF84A9D9}"/>
              </a:ext>
            </a:extLst>
          </p:cNvPr>
          <p:cNvSpPr>
            <a:spLocks xmlns:a="http://schemas.openxmlformats.org/drawingml/2006/main" noGrp="1"/>
          </p:cNvSpPr>
          <p:nvPr/>
        </p:nvSpPr>
        <p:spPr>
          <a:xfrm xmlns:a="http://schemas.openxmlformats.org/drawingml/2006/main">
            <a:off x="6238875" y="5295900"/>
            <a:ext cx="4572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38" b="1" i="0">
                <a:solidFill>
                  <a:srgbClr val="E97132"/>
                </a:solidFill>
                <a:latin typeface="Calibri"/>
                <a:ea typeface="Calibri"/>
                <a:cs typeface="Calibri"/>
              </a:defRPr>
            </a:defPPr>
          </a:lstStyle>
          <a:p xmlns:a="http://schemas.openxmlformats.org/drawingml/2006/main">
            <a:pPr algn="ctr">
              <a:lnSpc>
                <a:spcPct val="95000"/>
              </a:lnSpc>
              <a:buNone/>
              <a:defRPr sz="938" b="1" i="0">
                <a:solidFill>
                  <a:srgbClr val="E97132"/>
                </a:solidFill>
                <a:latin typeface="Calibri"/>
                <a:ea typeface="Calibri"/>
                <a:cs typeface="Calibri"/>
              </a:defRPr>
            </a:pPr>
            <a:r>
              <a:rPr sz="938" b="1" i="0">
                <a:solidFill>
                  <a:srgbClr val="E97132"/>
                </a:solidFill>
                <a:latin typeface="Calibri"/>
                <a:ea typeface="Calibri"/>
                <a:cs typeface="Calibri"/>
              </a:rPr>
              <a:t>The market expanded six-fold while the wallet duopoly held above 90%.</a:t>
            </a:r>
          </a:p>
        </p:txBody>
      </p:sp>
    </p:spTree>
    <p:extLst>
      <p:ext uri="{BB962C8B-B14F-4D97-AF65-F5344CB8AC3E}">
        <p14:creationId xmlns:p14="http://schemas.microsoft.com/office/powerpoint/2010/main" val="1866494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07D5E86-6629-45AE-8073-5157D04EB1D5}"/>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BANKING ECONOMICS</a:t>
            </a:r>
          </a:p>
        </p:txBody>
      </p:sp>
      <p:sp>
        <p:nvSpPr>
          <p:cNvPr id="2" name="">
            <a:extLst xmlns:a="http://schemas.openxmlformats.org/drawingml/2006/main">
              <a:ext uri="{FF2B5EF4-FFF2-40B4-BE49-F238E27FC236}">
                <a16:creationId xmlns:a16="http://schemas.microsoft.com/office/drawing/2014/main" id="{C565C7DE-5762-463A-B01E-4748440B4436}"/>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Bank balance sheets compounded; returns did not</a:t>
            </a:r>
          </a:p>
        </p:txBody>
      </p:sp>
      <p:sp>
        <p:nvSpPr>
          <p:cNvPr id="3" name="">
            <a:extLst xmlns:a="http://schemas.openxmlformats.org/drawingml/2006/main">
              <a:ext uri="{FF2B5EF4-FFF2-40B4-BE49-F238E27FC236}">
                <a16:creationId xmlns:a16="http://schemas.microsoft.com/office/drawing/2014/main" id="{3DB64269-2A65-4986-8773-BC9233CBB5BE}"/>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Funding scale survived fintech disruption, but margin and capital intensity diluted ROE</a:t>
            </a:r>
          </a:p>
        </p:txBody>
      </p:sp>
      <p:sp>
        <p:nvSpPr>
          <p:cNvPr id="4" name="">
            <a:extLst xmlns:a="http://schemas.openxmlformats.org/drawingml/2006/main">
              <a:ext uri="{FF2B5EF4-FFF2-40B4-BE49-F238E27FC236}">
                <a16:creationId xmlns:a16="http://schemas.microsoft.com/office/drawing/2014/main" id="{46C1D5A7-B5C9-4984-B889-B2088719DD15}"/>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CBRC / NFRA; NBS; author calculations</a:t>
            </a:r>
          </a:p>
        </p:txBody>
      </p:sp>
      <p:sp>
        <p:nvSpPr>
          <p:cNvPr id="5" name="">
            <a:extLst xmlns:a="http://schemas.openxmlformats.org/drawingml/2006/main">
              <a:ext uri="{FF2B5EF4-FFF2-40B4-BE49-F238E27FC236}">
                <a16:creationId xmlns:a16="http://schemas.microsoft.com/office/drawing/2014/main" id="{E90D0D7F-6331-44DA-9EC6-F7FD55DF2AC8}"/>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6</a:t>
            </a:r>
          </a:p>
        </p:txBody>
      </p:sp>
      <p:sp>
        <p:nvSpPr>
          <p:cNvPr id="6" name="">
            <a:extLst xmlns:a="http://schemas.openxmlformats.org/drawingml/2006/main">
              <a:ext uri="{FF2B5EF4-FFF2-40B4-BE49-F238E27FC236}">
                <a16:creationId xmlns:a16="http://schemas.microsoft.com/office/drawing/2014/main" id="{39E503F4-0B3A-433F-94B0-7EB2F43E55AE}"/>
              </a:ext>
            </a:extLst>
          </p:cNvPr>
          <p:cNvSpPr>
            <a:spLocks xmlns:a="http://schemas.openxmlformats.org/drawingml/2006/main" noGrp="1"/>
          </p:cNvSpPr>
          <p:nvPr/>
        </p:nvSpPr>
        <p:spPr>
          <a:xfrm xmlns:a="http://schemas.openxmlformats.org/drawingml/2006/main">
            <a:off x="666750" y="1571625"/>
            <a:ext cx="65722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CEB8AD45-40C9-4BFD-A0E4-91EB502746BD}"/>
              </a:ext>
            </a:extLst>
          </p:cNvPr>
          <p:cNvSpPr>
            <a:spLocks xmlns:a="http://schemas.openxmlformats.org/drawingml/2006/main" noGrp="1"/>
          </p:cNvSpPr>
          <p:nvPr/>
        </p:nvSpPr>
        <p:spPr>
          <a:xfrm xmlns:a="http://schemas.openxmlformats.org/drawingml/2006/main">
            <a:off x="666750" y="1571625"/>
            <a:ext cx="65722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BC370F1A-6246-4A8E-BE64-33BC7E1D4DBA}"/>
              </a:ext>
            </a:extLst>
          </p:cNvPr>
          <p:cNvSpPr>
            <a:spLocks xmlns:a="http://schemas.openxmlformats.org/drawingml/2006/main" noGrp="1"/>
          </p:cNvSpPr>
          <p:nvPr/>
        </p:nvSpPr>
        <p:spPr>
          <a:xfrm xmlns:a="http://schemas.openxmlformats.org/drawingml/2006/main">
            <a:off x="762000" y="1600200"/>
            <a:ext cx="638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BANKING SYSTEM BALANCE SHEET — RMB TRILLION</a:t>
            </a:r>
          </a:p>
        </p:txBody>
      </p:sp>
      <p:graphicFrame>
        <p:nvGraphicFramePr>
          <p:cNvPr id="9" name="Chart">
            <a:extLst xmlns:a="http://schemas.openxmlformats.org/drawingml/2006/main">
              <a:ext uri="{FF2B5EF4-FFF2-40B4-BE49-F238E27FC236}">
                <a16:creationId xmlns:a16="http://schemas.microsoft.com/office/drawing/2014/main" id="{EF4DFDAF-73D0-40CC-9FE1-B5AE85940BCC}"/>
              </a:ext>
            </a:extLst>
          </p:cNvPr>
          <p:cNvGraphicFramePr/>
          <p:nvPr/>
        </p:nvGraphicFramePr>
        <p:xfrm>
          <a:off xmlns:a="http://schemas.openxmlformats.org/drawingml/2006/main" x="1047750" y="2095500"/>
          <a:ext xmlns:a="http://schemas.openxmlformats.org/drawingml/2006/main" cx="5810250" cy="3190875"/>
        </p:xfrm>
        <a:graphic xmlns:a="http://schemas.openxmlformats.org/drawingml/2006/main">
          <a:graphicData uri="http://schemas.openxmlformats.org/drawingml/2006/chart">
            <c:chart xmlns:r="http://schemas.openxmlformats.org/officeDocument/2006/relationships" xmlns:c="http://schemas.openxmlformats.org/drawingml/2006/chart" r:id="Rabf06d2579854c13"/>
          </a:graphicData>
        </a:graphic>
      </p:graphicFrame>
      <p:sp>
        <p:nvSpPr>
          <p:cNvPr id="10" name="">
            <a:extLst xmlns:a="http://schemas.openxmlformats.org/drawingml/2006/main">
              <a:ext uri="{FF2B5EF4-FFF2-40B4-BE49-F238E27FC236}">
                <a16:creationId xmlns:a16="http://schemas.microsoft.com/office/drawing/2014/main" id="{0114C168-D144-429E-9DFC-C21CB09209B3}"/>
              </a:ext>
            </a:extLst>
          </p:cNvPr>
          <p:cNvSpPr>
            <a:spLocks xmlns:a="http://schemas.openxmlformats.org/drawingml/2006/main" noGrp="1"/>
          </p:cNvSpPr>
          <p:nvPr/>
        </p:nvSpPr>
        <p:spPr>
          <a:xfrm xmlns:a="http://schemas.openxmlformats.org/drawingml/2006/main">
            <a:off x="7524750" y="1571625"/>
            <a:ext cx="4000500" cy="238125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D9D9D9"/>
            </a:solidFill>
            <a:prstDash val="solid"/>
          </a:ln>
        </p:spPr>
      </p:sp>
      <p:sp>
        <p:nvSpPr>
          <p:cNvPr id="11" name="">
            <a:extLst xmlns:a="http://schemas.openxmlformats.org/drawingml/2006/main">
              <a:ext uri="{FF2B5EF4-FFF2-40B4-BE49-F238E27FC236}">
                <a16:creationId xmlns:a16="http://schemas.microsoft.com/office/drawing/2014/main" id="{1135E55B-BD9E-41F4-9262-ED4007C4D5AE}"/>
              </a:ext>
            </a:extLst>
          </p:cNvPr>
          <p:cNvSpPr>
            <a:spLocks xmlns:a="http://schemas.openxmlformats.org/drawingml/2006/main" noGrp="1"/>
          </p:cNvSpPr>
          <p:nvPr/>
        </p:nvSpPr>
        <p:spPr>
          <a:xfrm xmlns:a="http://schemas.openxmlformats.org/drawingml/2006/main">
            <a:off x="7524750" y="1571625"/>
            <a:ext cx="4000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2" name="">
            <a:extLst xmlns:a="http://schemas.openxmlformats.org/drawingml/2006/main">
              <a:ext uri="{FF2B5EF4-FFF2-40B4-BE49-F238E27FC236}">
                <a16:creationId xmlns:a16="http://schemas.microsoft.com/office/drawing/2014/main" id="{0333586F-267E-4E11-B775-8EAA1983D1B4}"/>
              </a:ext>
            </a:extLst>
          </p:cNvPr>
          <p:cNvSpPr>
            <a:spLocks xmlns:a="http://schemas.openxmlformats.org/drawingml/2006/main" noGrp="1"/>
          </p:cNvSpPr>
          <p:nvPr/>
        </p:nvSpPr>
        <p:spPr>
          <a:xfrm xmlns:a="http://schemas.openxmlformats.org/drawingml/2006/main">
            <a:off x="7620000" y="16002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SECTOR ROE — %</a:t>
            </a:r>
          </a:p>
        </p:txBody>
      </p:sp>
      <p:graphicFrame>
        <p:nvGraphicFramePr>
          <p:cNvPr id="13" name="Chart">
            <a:extLst xmlns:a="http://schemas.openxmlformats.org/drawingml/2006/main">
              <a:ext uri="{FF2B5EF4-FFF2-40B4-BE49-F238E27FC236}">
                <a16:creationId xmlns:a16="http://schemas.microsoft.com/office/drawing/2014/main" id="{37144D0F-6A4F-4857-B58A-A66E141530D8}"/>
              </a:ext>
            </a:extLst>
          </p:cNvPr>
          <p:cNvGraphicFramePr/>
          <p:nvPr/>
        </p:nvGraphicFramePr>
        <p:xfrm>
          <a:off xmlns:a="http://schemas.openxmlformats.org/drawingml/2006/main" x="7905750" y="2095500"/>
          <a:ext xmlns:a="http://schemas.openxmlformats.org/drawingml/2006/main" cx="3238500" cy="1476375"/>
        </p:xfrm>
        <a:graphic xmlns:a="http://schemas.openxmlformats.org/drawingml/2006/main">
          <a:graphicData uri="http://schemas.openxmlformats.org/drawingml/2006/chart">
            <c:chart xmlns:r="http://schemas.openxmlformats.org/officeDocument/2006/relationships" xmlns:c="http://schemas.openxmlformats.org/drawingml/2006/chart" r:id="Rfb842769c3ea4ae1"/>
          </a:graphicData>
        </a:graphic>
      </p:graphicFrame>
      <p:sp>
        <p:nvSpPr>
          <p:cNvPr id="14" name="">
            <a:extLst xmlns:a="http://schemas.openxmlformats.org/drawingml/2006/main">
              <a:ext uri="{FF2B5EF4-FFF2-40B4-BE49-F238E27FC236}">
                <a16:creationId xmlns:a16="http://schemas.microsoft.com/office/drawing/2014/main" id="{7CEB30B9-8E79-4288-9A6D-44C09C62DC4F}"/>
              </a:ext>
            </a:extLst>
          </p:cNvPr>
          <p:cNvSpPr>
            <a:spLocks xmlns:a="http://schemas.openxmlformats.org/drawingml/2006/main" noGrp="1"/>
          </p:cNvSpPr>
          <p:nvPr/>
        </p:nvSpPr>
        <p:spPr>
          <a:xfrm xmlns:a="http://schemas.openxmlformats.org/drawingml/2006/main">
            <a:off x="7524750" y="4191000"/>
            <a:ext cx="4000500" cy="17145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9D9D9"/>
            </a:solidFill>
            <a:prstDash val="solid"/>
          </a:ln>
        </p:spPr>
      </p:sp>
      <p:sp>
        <p:nvSpPr>
          <p:cNvPr id="15" name="">
            <a:extLst xmlns:a="http://schemas.openxmlformats.org/drawingml/2006/main">
              <a:ext uri="{FF2B5EF4-FFF2-40B4-BE49-F238E27FC236}">
                <a16:creationId xmlns:a16="http://schemas.microsoft.com/office/drawing/2014/main" id="{6E9F2DAA-CE27-4235-9B02-C71F1DDF15B9}"/>
              </a:ext>
            </a:extLst>
          </p:cNvPr>
          <p:cNvSpPr>
            <a:spLocks xmlns:a="http://schemas.openxmlformats.org/drawingml/2006/main" noGrp="1"/>
          </p:cNvSpPr>
          <p:nvPr/>
        </p:nvSpPr>
        <p:spPr>
          <a:xfrm xmlns:a="http://schemas.openxmlformats.org/drawingml/2006/main">
            <a:off x="7524750" y="4191000"/>
            <a:ext cx="4000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2314AE20-4A9A-4230-9BBF-61FD2C4D917D}"/>
              </a:ext>
            </a:extLst>
          </p:cNvPr>
          <p:cNvSpPr>
            <a:spLocks xmlns:a="http://schemas.openxmlformats.org/drawingml/2006/main" noGrp="1"/>
          </p:cNvSpPr>
          <p:nvPr/>
        </p:nvSpPr>
        <p:spPr>
          <a:xfrm xmlns:a="http://schemas.openxmlformats.org/drawingml/2006/main">
            <a:off x="7620000" y="42195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2010–2025 CAGR</a:t>
            </a:r>
          </a:p>
        </p:txBody>
      </p:sp>
      <p:graphicFrame>
        <p:nvGraphicFramePr>
          <p:cNvPr id="17" name="Chart">
            <a:extLst xmlns:a="http://schemas.openxmlformats.org/drawingml/2006/main">
              <a:ext uri="{FF2B5EF4-FFF2-40B4-BE49-F238E27FC236}">
                <a16:creationId xmlns:a16="http://schemas.microsoft.com/office/drawing/2014/main" id="{D96D4E7E-9941-49E5-9176-726A93597A1E}"/>
              </a:ext>
            </a:extLst>
          </p:cNvPr>
          <p:cNvGraphicFramePr/>
          <p:nvPr/>
        </p:nvGraphicFramePr>
        <p:xfrm>
          <a:off xmlns:a="http://schemas.openxmlformats.org/drawingml/2006/main" x="7810500" y="4686300"/>
          <a:ext xmlns:a="http://schemas.openxmlformats.org/drawingml/2006/main" cx="3429000" cy="1000125"/>
        </p:xfrm>
        <a:graphic xmlns:a="http://schemas.openxmlformats.org/drawingml/2006/main">
          <a:graphicData uri="http://schemas.openxmlformats.org/drawingml/2006/chart">
            <c:chart xmlns:r="http://schemas.openxmlformats.org/officeDocument/2006/relationships" xmlns:c="http://schemas.openxmlformats.org/drawingml/2006/chart" r:id="R9fcbfdfda0e54c6c"/>
          </a:graphicData>
        </a:graphic>
      </p:graphicFrame>
      <p:sp>
        <p:nvSpPr>
          <p:cNvPr id="18" name="">
            <a:extLst xmlns:a="http://schemas.openxmlformats.org/drawingml/2006/main">
              <a:ext uri="{FF2B5EF4-FFF2-40B4-BE49-F238E27FC236}">
                <a16:creationId xmlns:a16="http://schemas.microsoft.com/office/drawing/2014/main" id="{3A8C0768-D052-4082-B5CA-58FC8A8E5EE1}"/>
              </a:ext>
            </a:extLst>
          </p:cNvPr>
          <p:cNvSpPr>
            <a:spLocks xmlns:a="http://schemas.openxmlformats.org/drawingml/2006/main" noGrp="1"/>
          </p:cNvSpPr>
          <p:nvPr/>
        </p:nvSpPr>
        <p:spPr>
          <a:xfrm xmlns:a="http://schemas.openxmlformats.org/drawingml/2006/main">
            <a:off x="666750" y="6000750"/>
            <a:ext cx="2095500" cy="400050"/>
          </a:xfrm>
          <a:prstGeom xmlns:a="http://schemas.openxmlformats.org/drawingml/2006/main" prst="roundRect">
            <a:avLst>
              <a:gd name="adj" fmla="val 9524"/>
            </a:avLst>
          </a:prstGeom>
          <a:solidFill xmlns:a="http://schemas.openxmlformats.org/drawingml/2006/main">
            <a:srgbClr val="FCEDE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5A2E8B9-9B10-488B-A6FF-B7E6F38CE2AA}"/>
              </a:ext>
            </a:extLst>
          </p:cNvPr>
          <p:cNvSpPr>
            <a:spLocks xmlns:a="http://schemas.openxmlformats.org/drawingml/2006/main" noGrp="1"/>
          </p:cNvSpPr>
          <p:nvPr/>
        </p:nvSpPr>
        <p:spPr>
          <a:xfrm xmlns:a="http://schemas.openxmlformats.org/drawingml/2006/main">
            <a:off x="781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1.42%</a:t>
            </a:r>
          </a:p>
        </p:txBody>
      </p:sp>
      <p:sp>
        <p:nvSpPr>
          <p:cNvPr id="20" name="">
            <a:extLst xmlns:a="http://schemas.openxmlformats.org/drawingml/2006/main">
              <a:ext uri="{FF2B5EF4-FFF2-40B4-BE49-F238E27FC236}">
                <a16:creationId xmlns:a16="http://schemas.microsoft.com/office/drawing/2014/main" id="{4AE96045-F6BC-43AC-ADCA-A5A3904C93EE}"/>
              </a:ext>
            </a:extLst>
          </p:cNvPr>
          <p:cNvSpPr>
            <a:spLocks xmlns:a="http://schemas.openxmlformats.org/drawingml/2006/main" noGrp="1"/>
          </p:cNvSpPr>
          <p:nvPr/>
        </p:nvSpPr>
        <p:spPr>
          <a:xfrm xmlns:a="http://schemas.openxmlformats.org/drawingml/2006/main">
            <a:off x="781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sector NIM</a:t>
            </a:r>
          </a:p>
        </p:txBody>
      </p:sp>
      <p:sp>
        <p:nvSpPr>
          <p:cNvPr id="21" name="">
            <a:extLst xmlns:a="http://schemas.openxmlformats.org/drawingml/2006/main">
              <a:ext uri="{FF2B5EF4-FFF2-40B4-BE49-F238E27FC236}">
                <a16:creationId xmlns:a16="http://schemas.microsoft.com/office/drawing/2014/main" id="{044678D9-08DD-43E1-84C0-6168CB452821}"/>
              </a:ext>
            </a:extLst>
          </p:cNvPr>
          <p:cNvSpPr>
            <a:spLocks xmlns:a="http://schemas.openxmlformats.org/drawingml/2006/main" noGrp="1"/>
          </p:cNvSpPr>
          <p:nvPr/>
        </p:nvSpPr>
        <p:spPr>
          <a:xfrm xmlns:a="http://schemas.openxmlformats.org/drawingml/2006/main">
            <a:off x="2952750" y="6000750"/>
            <a:ext cx="2095500" cy="400050"/>
          </a:xfrm>
          <a:prstGeom xmlns:a="http://schemas.openxmlformats.org/drawingml/2006/main" prst="roundRect">
            <a:avLst>
              <a:gd name="adj" fmla="val 9524"/>
            </a:avLst>
          </a:prstGeom>
          <a:solidFill xmlns:a="http://schemas.openxmlformats.org/drawingml/2006/main">
            <a:srgbClr val="EAF2F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9DAE6DD-0D34-4B2F-8E46-3D31109C084E}"/>
              </a:ext>
            </a:extLst>
          </p:cNvPr>
          <p:cNvSpPr>
            <a:spLocks xmlns:a="http://schemas.openxmlformats.org/drawingml/2006/main" noGrp="1"/>
          </p:cNvSpPr>
          <p:nvPr/>
        </p:nvSpPr>
        <p:spPr>
          <a:xfrm xmlns:a="http://schemas.openxmlformats.org/drawingml/2006/main">
            <a:off x="3067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0.60%</a:t>
            </a:r>
          </a:p>
        </p:txBody>
      </p:sp>
      <p:sp>
        <p:nvSpPr>
          <p:cNvPr id="23" name="">
            <a:extLst xmlns:a="http://schemas.openxmlformats.org/drawingml/2006/main">
              <a:ext uri="{FF2B5EF4-FFF2-40B4-BE49-F238E27FC236}">
                <a16:creationId xmlns:a16="http://schemas.microsoft.com/office/drawing/2014/main" id="{9476E63F-94C1-4F77-906D-85DDD3437857}"/>
              </a:ext>
            </a:extLst>
          </p:cNvPr>
          <p:cNvSpPr>
            <a:spLocks xmlns:a="http://schemas.openxmlformats.org/drawingml/2006/main" noGrp="1"/>
          </p:cNvSpPr>
          <p:nvPr/>
        </p:nvSpPr>
        <p:spPr>
          <a:xfrm xmlns:a="http://schemas.openxmlformats.org/drawingml/2006/main">
            <a:off x="3067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sector ROA</a:t>
            </a:r>
          </a:p>
        </p:txBody>
      </p:sp>
      <p:sp>
        <p:nvSpPr>
          <p:cNvPr id="24" name="">
            <a:extLst xmlns:a="http://schemas.openxmlformats.org/drawingml/2006/main">
              <a:ext uri="{FF2B5EF4-FFF2-40B4-BE49-F238E27FC236}">
                <a16:creationId xmlns:a16="http://schemas.microsoft.com/office/drawing/2014/main" id="{847D8D25-C397-43BD-8EB8-6677628B98A0}"/>
              </a:ext>
            </a:extLst>
          </p:cNvPr>
          <p:cNvSpPr>
            <a:spLocks xmlns:a="http://schemas.openxmlformats.org/drawingml/2006/main" noGrp="1"/>
          </p:cNvSpPr>
          <p:nvPr/>
        </p:nvSpPr>
        <p:spPr>
          <a:xfrm xmlns:a="http://schemas.openxmlformats.org/drawingml/2006/main">
            <a:off x="5238750" y="6000750"/>
            <a:ext cx="2095500" cy="400050"/>
          </a:xfrm>
          <a:prstGeom xmlns:a="http://schemas.openxmlformats.org/drawingml/2006/main" prst="roundRect">
            <a:avLst>
              <a:gd name="adj" fmla="val 9524"/>
            </a:avLst>
          </a:prstGeom>
          <a:solidFill xmlns:a="http://schemas.openxmlformats.org/drawingml/2006/main">
            <a:srgbClr val="F3F5F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3B3701A-C6DA-4311-A95C-95FF5EF49CDB}"/>
              </a:ext>
            </a:extLst>
          </p:cNvPr>
          <p:cNvSpPr>
            <a:spLocks xmlns:a="http://schemas.openxmlformats.org/drawingml/2006/main" noGrp="1"/>
          </p:cNvSpPr>
          <p:nvPr/>
        </p:nvSpPr>
        <p:spPr>
          <a:xfrm xmlns:a="http://schemas.openxmlformats.org/drawingml/2006/main">
            <a:off x="5353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RMB2.4tn</a:t>
            </a:r>
          </a:p>
        </p:txBody>
      </p:sp>
      <p:sp>
        <p:nvSpPr>
          <p:cNvPr id="26" name="">
            <a:extLst xmlns:a="http://schemas.openxmlformats.org/drawingml/2006/main">
              <a:ext uri="{FF2B5EF4-FFF2-40B4-BE49-F238E27FC236}">
                <a16:creationId xmlns:a16="http://schemas.microsoft.com/office/drawing/2014/main" id="{305521D9-15F7-4E91-860F-EC4A3907F294}"/>
              </a:ext>
            </a:extLst>
          </p:cNvPr>
          <p:cNvSpPr>
            <a:spLocks xmlns:a="http://schemas.openxmlformats.org/drawingml/2006/main" noGrp="1"/>
          </p:cNvSpPr>
          <p:nvPr/>
        </p:nvSpPr>
        <p:spPr>
          <a:xfrm xmlns:a="http://schemas.openxmlformats.org/drawingml/2006/main">
            <a:off x="5353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net profit</a:t>
            </a:r>
          </a:p>
        </p:txBody>
      </p:sp>
    </p:spTree>
    <p:extLst>
      <p:ext uri="{BB962C8B-B14F-4D97-AF65-F5344CB8AC3E}">
        <p14:creationId xmlns:p14="http://schemas.microsoft.com/office/powerpoint/2010/main" val="4483974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B4CA0D64-F364-4691-A338-571B52D82C59}"/>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CUSTOMER PERSPECTIVE</a:t>
            </a:r>
          </a:p>
        </p:txBody>
      </p:sp>
      <p:sp>
        <p:nvSpPr>
          <p:cNvPr id="2" name="">
            <a:extLst xmlns:a="http://schemas.openxmlformats.org/drawingml/2006/main">
              <a:ext uri="{FF2B5EF4-FFF2-40B4-BE49-F238E27FC236}">
                <a16:creationId xmlns:a16="http://schemas.microsoft.com/office/drawing/2014/main" id="{7923E9B7-ACBC-48A9-99CB-53FA29E7762E}"/>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The same customer uses both stacks</a:t>
            </a:r>
          </a:p>
        </p:txBody>
      </p:sp>
      <p:sp>
        <p:nvSpPr>
          <p:cNvPr id="3" name="">
            <a:extLst xmlns:a="http://schemas.openxmlformats.org/drawingml/2006/main">
              <a:ext uri="{FF2B5EF4-FFF2-40B4-BE49-F238E27FC236}">
                <a16:creationId xmlns:a16="http://schemas.microsoft.com/office/drawing/2014/main" id="{9AC7E794-6D31-4D1C-938D-453E1B53507C}"/>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Fintech wins context and discovery; licensed institutions retain money, product and risk</a:t>
            </a:r>
          </a:p>
        </p:txBody>
      </p:sp>
      <p:sp>
        <p:nvSpPr>
          <p:cNvPr id="4" name="">
            <a:extLst xmlns:a="http://schemas.openxmlformats.org/drawingml/2006/main">
              <a:ext uri="{FF2B5EF4-FFF2-40B4-BE49-F238E27FC236}">
                <a16:creationId xmlns:a16="http://schemas.microsoft.com/office/drawing/2014/main" id="{830C1F12-FB8E-4AC3-9A2E-DAD599681423}"/>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Company filings; PBOC structure; author framework</a:t>
            </a:r>
          </a:p>
        </p:txBody>
      </p:sp>
      <p:sp>
        <p:nvSpPr>
          <p:cNvPr id="5" name="">
            <a:extLst xmlns:a="http://schemas.openxmlformats.org/drawingml/2006/main">
              <a:ext uri="{FF2B5EF4-FFF2-40B4-BE49-F238E27FC236}">
                <a16:creationId xmlns:a16="http://schemas.microsoft.com/office/drawing/2014/main" id="{90037122-431E-413F-93D7-5043979195F5}"/>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7</a:t>
            </a:r>
          </a:p>
        </p:txBody>
      </p:sp>
      <p:sp>
        <p:nvSpPr>
          <p:cNvPr id="6" name="">
            <a:extLst xmlns:a="http://schemas.openxmlformats.org/drawingml/2006/main">
              <a:ext uri="{FF2B5EF4-FFF2-40B4-BE49-F238E27FC236}">
                <a16:creationId xmlns:a16="http://schemas.microsoft.com/office/drawing/2014/main" id="{25E293A2-B621-420D-AC84-73E0B5F40A35}"/>
              </a:ext>
            </a:extLst>
          </p:cNvPr>
          <p:cNvSpPr>
            <a:spLocks xmlns:a="http://schemas.openxmlformats.org/drawingml/2006/main" noGrp="1"/>
          </p:cNvSpPr>
          <p:nvPr/>
        </p:nvSpPr>
        <p:spPr>
          <a:xfrm xmlns:a="http://schemas.openxmlformats.org/drawingml/2006/main">
            <a:off x="666750" y="1600200"/>
            <a:ext cx="10858500" cy="4000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7" name="">
            <a:extLst xmlns:a="http://schemas.openxmlformats.org/drawingml/2006/main">
              <a:ext uri="{FF2B5EF4-FFF2-40B4-BE49-F238E27FC236}">
                <a16:creationId xmlns:a16="http://schemas.microsoft.com/office/drawing/2014/main" id="{CEBD2FBA-5720-4611-BA7E-D95205757D0D}"/>
              </a:ext>
            </a:extLst>
          </p:cNvPr>
          <p:cNvSpPr>
            <a:spLocks xmlns:a="http://schemas.openxmlformats.org/drawingml/2006/main" noGrp="1"/>
          </p:cNvSpPr>
          <p:nvPr/>
        </p:nvSpPr>
        <p:spPr>
          <a:xfrm xmlns:a="http://schemas.openxmlformats.org/drawingml/2006/main">
            <a:off x="800100" y="16954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CUSTOMER JOB</a:t>
            </a:r>
          </a:p>
        </p:txBody>
      </p:sp>
      <p:sp>
        <p:nvSpPr>
          <p:cNvPr id="8" name="">
            <a:extLst xmlns:a="http://schemas.openxmlformats.org/drawingml/2006/main">
              <a:ext uri="{FF2B5EF4-FFF2-40B4-BE49-F238E27FC236}">
                <a16:creationId xmlns:a16="http://schemas.microsoft.com/office/drawing/2014/main" id="{BEC542C9-6906-4D0B-BB5C-67AB8858C675}"/>
              </a:ext>
            </a:extLst>
          </p:cNvPr>
          <p:cNvSpPr>
            <a:spLocks xmlns:a="http://schemas.openxmlformats.org/drawingml/2006/main" noGrp="1"/>
          </p:cNvSpPr>
          <p:nvPr/>
        </p:nvSpPr>
        <p:spPr>
          <a:xfrm xmlns:a="http://schemas.openxmlformats.org/drawingml/2006/main">
            <a:off x="4095750" y="16954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BANK FRONT DOOR</a:t>
            </a:r>
          </a:p>
        </p:txBody>
      </p:sp>
      <p:sp>
        <p:nvSpPr>
          <p:cNvPr id="9" name="">
            <a:extLst xmlns:a="http://schemas.openxmlformats.org/drawingml/2006/main">
              <a:ext uri="{FF2B5EF4-FFF2-40B4-BE49-F238E27FC236}">
                <a16:creationId xmlns:a16="http://schemas.microsoft.com/office/drawing/2014/main" id="{968D4136-CA63-4FBF-A206-05BCFA52A343}"/>
              </a:ext>
            </a:extLst>
          </p:cNvPr>
          <p:cNvSpPr>
            <a:spLocks xmlns:a="http://schemas.openxmlformats.org/drawingml/2006/main" noGrp="1"/>
          </p:cNvSpPr>
          <p:nvPr/>
        </p:nvSpPr>
        <p:spPr>
          <a:xfrm xmlns:a="http://schemas.openxmlformats.org/drawingml/2006/main">
            <a:off x="6286500" y="16954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FINTECH FRONT DOOR</a:t>
            </a:r>
          </a:p>
        </p:txBody>
      </p:sp>
      <p:sp>
        <p:nvSpPr>
          <p:cNvPr id="10" name="">
            <a:extLst xmlns:a="http://schemas.openxmlformats.org/drawingml/2006/main">
              <a:ext uri="{FF2B5EF4-FFF2-40B4-BE49-F238E27FC236}">
                <a16:creationId xmlns:a16="http://schemas.microsoft.com/office/drawing/2014/main" id="{B54BC039-45F0-4FB8-9C97-898C79FA2569}"/>
              </a:ext>
            </a:extLst>
          </p:cNvPr>
          <p:cNvSpPr>
            <a:spLocks xmlns:a="http://schemas.openxmlformats.org/drawingml/2006/main" noGrp="1"/>
          </p:cNvSpPr>
          <p:nvPr/>
        </p:nvSpPr>
        <p:spPr>
          <a:xfrm xmlns:a="http://schemas.openxmlformats.org/drawingml/2006/main">
            <a:off x="8477250" y="16954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LICENSED RISK / CUSTODY</a:t>
            </a:r>
          </a:p>
        </p:txBody>
      </p:sp>
      <p:sp>
        <p:nvSpPr>
          <p:cNvPr id="11" name="">
            <a:extLst xmlns:a="http://schemas.openxmlformats.org/drawingml/2006/main">
              <a:ext uri="{FF2B5EF4-FFF2-40B4-BE49-F238E27FC236}">
                <a16:creationId xmlns:a16="http://schemas.microsoft.com/office/drawing/2014/main" id="{3C59B92E-A8DC-4C2B-8D58-6A7F7F72C4FD}"/>
              </a:ext>
            </a:extLst>
          </p:cNvPr>
          <p:cNvSpPr>
            <a:spLocks xmlns:a="http://schemas.openxmlformats.org/drawingml/2006/main" noGrp="1"/>
          </p:cNvSpPr>
          <p:nvPr/>
        </p:nvSpPr>
        <p:spPr>
          <a:xfrm xmlns:a="http://schemas.openxmlformats.org/drawingml/2006/main">
            <a:off x="666750" y="20002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12" name="">
            <a:extLst xmlns:a="http://schemas.openxmlformats.org/drawingml/2006/main">
              <a:ext uri="{FF2B5EF4-FFF2-40B4-BE49-F238E27FC236}">
                <a16:creationId xmlns:a16="http://schemas.microsoft.com/office/drawing/2014/main" id="{0555C819-C404-4339-ABDB-BA6A64982BF1}"/>
              </a:ext>
            </a:extLst>
          </p:cNvPr>
          <p:cNvSpPr>
            <a:spLocks xmlns:a="http://schemas.openxmlformats.org/drawingml/2006/main" noGrp="1"/>
          </p:cNvSpPr>
          <p:nvPr/>
        </p:nvSpPr>
        <p:spPr>
          <a:xfrm xmlns:a="http://schemas.openxmlformats.org/drawingml/2006/main">
            <a:off x="800100" y="21526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Merchant pay / P2P / bills</a:t>
            </a:r>
          </a:p>
        </p:txBody>
      </p:sp>
      <p:sp>
        <p:nvSpPr>
          <p:cNvPr id="13" name="">
            <a:extLst xmlns:a="http://schemas.openxmlformats.org/drawingml/2006/main">
              <a:ext uri="{FF2B5EF4-FFF2-40B4-BE49-F238E27FC236}">
                <a16:creationId xmlns:a16="http://schemas.microsoft.com/office/drawing/2014/main" id="{6C61DE0B-8274-46A0-8E6F-203B859347C8}"/>
              </a:ext>
            </a:extLst>
          </p:cNvPr>
          <p:cNvSpPr>
            <a:spLocks xmlns:a="http://schemas.openxmlformats.org/drawingml/2006/main" noGrp="1"/>
          </p:cNvSpPr>
          <p:nvPr/>
        </p:nvSpPr>
        <p:spPr>
          <a:xfrm xmlns:a="http://schemas.openxmlformats.org/drawingml/2006/main">
            <a:off x="4924425" y="218122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4" name="">
            <a:extLst xmlns:a="http://schemas.openxmlformats.org/drawingml/2006/main">
              <a:ext uri="{FF2B5EF4-FFF2-40B4-BE49-F238E27FC236}">
                <a16:creationId xmlns:a16="http://schemas.microsoft.com/office/drawing/2014/main" id="{7F873731-A10E-4F8D-A533-0AF12F186FDD}"/>
              </a:ext>
            </a:extLst>
          </p:cNvPr>
          <p:cNvSpPr>
            <a:spLocks xmlns:a="http://schemas.openxmlformats.org/drawingml/2006/main" noGrp="1"/>
          </p:cNvSpPr>
          <p:nvPr/>
        </p:nvSpPr>
        <p:spPr>
          <a:xfrm xmlns:a="http://schemas.openxmlformats.org/drawingml/2006/main">
            <a:off x="7077075" y="21431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15" name="">
            <a:extLst xmlns:a="http://schemas.openxmlformats.org/drawingml/2006/main">
              <a:ext uri="{FF2B5EF4-FFF2-40B4-BE49-F238E27FC236}">
                <a16:creationId xmlns:a16="http://schemas.microsoft.com/office/drawing/2014/main" id="{12622724-DCD5-4C48-9BC7-30482CC4695B}"/>
              </a:ext>
            </a:extLst>
          </p:cNvPr>
          <p:cNvSpPr>
            <a:spLocks xmlns:a="http://schemas.openxmlformats.org/drawingml/2006/main" noGrp="1"/>
          </p:cNvSpPr>
          <p:nvPr/>
        </p:nvSpPr>
        <p:spPr>
          <a:xfrm xmlns:a="http://schemas.openxmlformats.org/drawingml/2006/main">
            <a:off x="9267825" y="21431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CA8414FC-EA66-420B-9A3D-043971F3E6D4}"/>
              </a:ext>
            </a:extLst>
          </p:cNvPr>
          <p:cNvSpPr>
            <a:spLocks xmlns:a="http://schemas.openxmlformats.org/drawingml/2006/main" noGrp="1"/>
          </p:cNvSpPr>
          <p:nvPr/>
        </p:nvSpPr>
        <p:spPr>
          <a:xfrm xmlns:a="http://schemas.openxmlformats.org/drawingml/2006/main">
            <a:off x="666750" y="25146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68572D08-4324-4697-8BD7-4983B2B9022F}"/>
              </a:ext>
            </a:extLst>
          </p:cNvPr>
          <p:cNvSpPr>
            <a:spLocks xmlns:a="http://schemas.openxmlformats.org/drawingml/2006/main" noGrp="1"/>
          </p:cNvSpPr>
          <p:nvPr/>
        </p:nvSpPr>
        <p:spPr>
          <a:xfrm xmlns:a="http://schemas.openxmlformats.org/drawingml/2006/main">
            <a:off x="800100" y="2667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Salary and deposits</a:t>
            </a:r>
          </a:p>
        </p:txBody>
      </p:sp>
      <p:sp>
        <p:nvSpPr>
          <p:cNvPr id="18" name="">
            <a:extLst xmlns:a="http://schemas.openxmlformats.org/drawingml/2006/main">
              <a:ext uri="{FF2B5EF4-FFF2-40B4-BE49-F238E27FC236}">
                <a16:creationId xmlns:a16="http://schemas.microsoft.com/office/drawing/2014/main" id="{9AFE2C49-46F7-48AB-B708-E6403C3E118A}"/>
              </a:ext>
            </a:extLst>
          </p:cNvPr>
          <p:cNvSpPr>
            <a:spLocks xmlns:a="http://schemas.openxmlformats.org/drawingml/2006/main" noGrp="1"/>
          </p:cNvSpPr>
          <p:nvPr/>
        </p:nvSpPr>
        <p:spPr>
          <a:xfrm xmlns:a="http://schemas.openxmlformats.org/drawingml/2006/main">
            <a:off x="4886325" y="26574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9" name="">
            <a:extLst xmlns:a="http://schemas.openxmlformats.org/drawingml/2006/main">
              <a:ext uri="{FF2B5EF4-FFF2-40B4-BE49-F238E27FC236}">
                <a16:creationId xmlns:a16="http://schemas.microsoft.com/office/drawing/2014/main" id="{9EAD8100-7177-453E-B56D-9CDA0DFD396B}"/>
              </a:ext>
            </a:extLst>
          </p:cNvPr>
          <p:cNvSpPr>
            <a:spLocks xmlns:a="http://schemas.openxmlformats.org/drawingml/2006/main" noGrp="1"/>
          </p:cNvSpPr>
          <p:nvPr/>
        </p:nvSpPr>
        <p:spPr>
          <a:xfrm xmlns:a="http://schemas.openxmlformats.org/drawingml/2006/main">
            <a:off x="7153275" y="27336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20" name="">
            <a:extLst xmlns:a="http://schemas.openxmlformats.org/drawingml/2006/main">
              <a:ext uri="{FF2B5EF4-FFF2-40B4-BE49-F238E27FC236}">
                <a16:creationId xmlns:a16="http://schemas.microsoft.com/office/drawing/2014/main" id="{21DCAA82-A892-453C-8DA2-05E48366706C}"/>
              </a:ext>
            </a:extLst>
          </p:cNvPr>
          <p:cNvSpPr>
            <a:spLocks xmlns:a="http://schemas.openxmlformats.org/drawingml/2006/main" noGrp="1"/>
          </p:cNvSpPr>
          <p:nvPr/>
        </p:nvSpPr>
        <p:spPr>
          <a:xfrm xmlns:a="http://schemas.openxmlformats.org/drawingml/2006/main">
            <a:off x="9267825" y="26574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1" name="">
            <a:extLst xmlns:a="http://schemas.openxmlformats.org/drawingml/2006/main">
              <a:ext uri="{FF2B5EF4-FFF2-40B4-BE49-F238E27FC236}">
                <a16:creationId xmlns:a16="http://schemas.microsoft.com/office/drawing/2014/main" id="{79490C7C-86D2-4477-9994-18985667EEAE}"/>
              </a:ext>
            </a:extLst>
          </p:cNvPr>
          <p:cNvSpPr>
            <a:spLocks xmlns:a="http://schemas.openxmlformats.org/drawingml/2006/main" noGrp="1"/>
          </p:cNvSpPr>
          <p:nvPr/>
        </p:nvSpPr>
        <p:spPr>
          <a:xfrm xmlns:a="http://schemas.openxmlformats.org/drawingml/2006/main">
            <a:off x="666750" y="30289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22" name="">
            <a:extLst xmlns:a="http://schemas.openxmlformats.org/drawingml/2006/main">
              <a:ext uri="{FF2B5EF4-FFF2-40B4-BE49-F238E27FC236}">
                <a16:creationId xmlns:a16="http://schemas.microsoft.com/office/drawing/2014/main" id="{5C3D3EBA-99DF-4CE9-A376-4ED5E0291AE8}"/>
              </a:ext>
            </a:extLst>
          </p:cNvPr>
          <p:cNvSpPr>
            <a:spLocks xmlns:a="http://schemas.openxmlformats.org/drawingml/2006/main" noGrp="1"/>
          </p:cNvSpPr>
          <p:nvPr/>
        </p:nvSpPr>
        <p:spPr>
          <a:xfrm xmlns:a="http://schemas.openxmlformats.org/drawingml/2006/main">
            <a:off x="800100" y="31813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Funds and wealth</a:t>
            </a:r>
          </a:p>
        </p:txBody>
      </p:sp>
      <p:sp>
        <p:nvSpPr>
          <p:cNvPr id="23" name="">
            <a:extLst xmlns:a="http://schemas.openxmlformats.org/drawingml/2006/main">
              <a:ext uri="{FF2B5EF4-FFF2-40B4-BE49-F238E27FC236}">
                <a16:creationId xmlns:a16="http://schemas.microsoft.com/office/drawing/2014/main" id="{57CECC4D-10A3-4A63-ADA2-3DD633A196AC}"/>
              </a:ext>
            </a:extLst>
          </p:cNvPr>
          <p:cNvSpPr>
            <a:spLocks xmlns:a="http://schemas.openxmlformats.org/drawingml/2006/main" noGrp="1"/>
          </p:cNvSpPr>
          <p:nvPr/>
        </p:nvSpPr>
        <p:spPr>
          <a:xfrm xmlns:a="http://schemas.openxmlformats.org/drawingml/2006/main">
            <a:off x="4924425" y="320992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4" name="">
            <a:extLst xmlns:a="http://schemas.openxmlformats.org/drawingml/2006/main">
              <a:ext uri="{FF2B5EF4-FFF2-40B4-BE49-F238E27FC236}">
                <a16:creationId xmlns:a16="http://schemas.microsoft.com/office/drawing/2014/main" id="{63727D66-AE00-4982-877D-9CA3D8216877}"/>
              </a:ext>
            </a:extLst>
          </p:cNvPr>
          <p:cNvSpPr>
            <a:spLocks xmlns:a="http://schemas.openxmlformats.org/drawingml/2006/main" noGrp="1"/>
          </p:cNvSpPr>
          <p:nvPr/>
        </p:nvSpPr>
        <p:spPr>
          <a:xfrm xmlns:a="http://schemas.openxmlformats.org/drawingml/2006/main">
            <a:off x="7077075" y="31718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5" name="">
            <a:extLst xmlns:a="http://schemas.openxmlformats.org/drawingml/2006/main">
              <a:ext uri="{FF2B5EF4-FFF2-40B4-BE49-F238E27FC236}">
                <a16:creationId xmlns:a16="http://schemas.microsoft.com/office/drawing/2014/main" id="{E1504434-0066-44DD-AEF3-E73756C34C2C}"/>
              </a:ext>
            </a:extLst>
          </p:cNvPr>
          <p:cNvSpPr>
            <a:spLocks xmlns:a="http://schemas.openxmlformats.org/drawingml/2006/main" noGrp="1"/>
          </p:cNvSpPr>
          <p:nvPr/>
        </p:nvSpPr>
        <p:spPr>
          <a:xfrm xmlns:a="http://schemas.openxmlformats.org/drawingml/2006/main">
            <a:off x="9267825" y="31718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6" name="">
            <a:extLst xmlns:a="http://schemas.openxmlformats.org/drawingml/2006/main">
              <a:ext uri="{FF2B5EF4-FFF2-40B4-BE49-F238E27FC236}">
                <a16:creationId xmlns:a16="http://schemas.microsoft.com/office/drawing/2014/main" id="{934B79A6-AC1B-484A-828C-A3A5BDE06DA2}"/>
              </a:ext>
            </a:extLst>
          </p:cNvPr>
          <p:cNvSpPr>
            <a:spLocks xmlns:a="http://schemas.openxmlformats.org/drawingml/2006/main" noGrp="1"/>
          </p:cNvSpPr>
          <p:nvPr/>
        </p:nvSpPr>
        <p:spPr>
          <a:xfrm xmlns:a="http://schemas.openxmlformats.org/drawingml/2006/main">
            <a:off x="666750" y="35433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27" name="">
            <a:extLst xmlns:a="http://schemas.openxmlformats.org/drawingml/2006/main">
              <a:ext uri="{FF2B5EF4-FFF2-40B4-BE49-F238E27FC236}">
                <a16:creationId xmlns:a16="http://schemas.microsoft.com/office/drawing/2014/main" id="{6D3DC83E-0ACD-4051-9405-4F337AC287B2}"/>
              </a:ext>
            </a:extLst>
          </p:cNvPr>
          <p:cNvSpPr>
            <a:spLocks xmlns:a="http://schemas.openxmlformats.org/drawingml/2006/main" noGrp="1"/>
          </p:cNvSpPr>
          <p:nvPr/>
        </p:nvSpPr>
        <p:spPr>
          <a:xfrm xmlns:a="http://schemas.openxmlformats.org/drawingml/2006/main">
            <a:off x="800100" y="36957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Securities investment</a:t>
            </a:r>
          </a:p>
        </p:txBody>
      </p:sp>
      <p:sp>
        <p:nvSpPr>
          <p:cNvPr id="28" name="">
            <a:extLst xmlns:a="http://schemas.openxmlformats.org/drawingml/2006/main">
              <a:ext uri="{FF2B5EF4-FFF2-40B4-BE49-F238E27FC236}">
                <a16:creationId xmlns:a16="http://schemas.microsoft.com/office/drawing/2014/main" id="{D23E3DD3-9FA0-4DD3-AD69-4B1DE1AAB272}"/>
              </a:ext>
            </a:extLst>
          </p:cNvPr>
          <p:cNvSpPr>
            <a:spLocks xmlns:a="http://schemas.openxmlformats.org/drawingml/2006/main" noGrp="1"/>
          </p:cNvSpPr>
          <p:nvPr/>
        </p:nvSpPr>
        <p:spPr>
          <a:xfrm xmlns:a="http://schemas.openxmlformats.org/drawingml/2006/main">
            <a:off x="4924425" y="372427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9" name="">
            <a:extLst xmlns:a="http://schemas.openxmlformats.org/drawingml/2006/main">
              <a:ext uri="{FF2B5EF4-FFF2-40B4-BE49-F238E27FC236}">
                <a16:creationId xmlns:a16="http://schemas.microsoft.com/office/drawing/2014/main" id="{FD86989D-F926-40CF-91F4-DDF4CA175607}"/>
              </a:ext>
            </a:extLst>
          </p:cNvPr>
          <p:cNvSpPr>
            <a:spLocks xmlns:a="http://schemas.openxmlformats.org/drawingml/2006/main" noGrp="1"/>
          </p:cNvSpPr>
          <p:nvPr/>
        </p:nvSpPr>
        <p:spPr>
          <a:xfrm xmlns:a="http://schemas.openxmlformats.org/drawingml/2006/main">
            <a:off x="7077075" y="368617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30" name="">
            <a:extLst xmlns:a="http://schemas.openxmlformats.org/drawingml/2006/main">
              <a:ext uri="{FF2B5EF4-FFF2-40B4-BE49-F238E27FC236}">
                <a16:creationId xmlns:a16="http://schemas.microsoft.com/office/drawing/2014/main" id="{DFD6DF08-3796-4E6A-8E47-65310C728A41}"/>
              </a:ext>
            </a:extLst>
          </p:cNvPr>
          <p:cNvSpPr>
            <a:spLocks xmlns:a="http://schemas.openxmlformats.org/drawingml/2006/main" noGrp="1"/>
          </p:cNvSpPr>
          <p:nvPr/>
        </p:nvSpPr>
        <p:spPr>
          <a:xfrm xmlns:a="http://schemas.openxmlformats.org/drawingml/2006/main">
            <a:off x="9267825" y="36861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1" name="">
            <a:extLst xmlns:a="http://schemas.openxmlformats.org/drawingml/2006/main">
              <a:ext uri="{FF2B5EF4-FFF2-40B4-BE49-F238E27FC236}">
                <a16:creationId xmlns:a16="http://schemas.microsoft.com/office/drawing/2014/main" id="{BC96AFB2-6878-4235-9538-EC1118F9EE1F}"/>
              </a:ext>
            </a:extLst>
          </p:cNvPr>
          <p:cNvSpPr>
            <a:spLocks xmlns:a="http://schemas.openxmlformats.org/drawingml/2006/main" noGrp="1"/>
          </p:cNvSpPr>
          <p:nvPr/>
        </p:nvSpPr>
        <p:spPr>
          <a:xfrm xmlns:a="http://schemas.openxmlformats.org/drawingml/2006/main">
            <a:off x="666750" y="40576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32" name="">
            <a:extLst xmlns:a="http://schemas.openxmlformats.org/drawingml/2006/main">
              <a:ext uri="{FF2B5EF4-FFF2-40B4-BE49-F238E27FC236}">
                <a16:creationId xmlns:a16="http://schemas.microsoft.com/office/drawing/2014/main" id="{0AB6BC51-6316-47C8-8410-50EF92DA6C2F}"/>
              </a:ext>
            </a:extLst>
          </p:cNvPr>
          <p:cNvSpPr>
            <a:spLocks xmlns:a="http://schemas.openxmlformats.org/drawingml/2006/main" noGrp="1"/>
          </p:cNvSpPr>
          <p:nvPr/>
        </p:nvSpPr>
        <p:spPr>
          <a:xfrm xmlns:a="http://schemas.openxmlformats.org/drawingml/2006/main">
            <a:off x="800100" y="42100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Short unsecured credit</a:t>
            </a:r>
          </a:p>
        </p:txBody>
      </p:sp>
      <p:sp>
        <p:nvSpPr>
          <p:cNvPr id="33" name="">
            <a:extLst xmlns:a="http://schemas.openxmlformats.org/drawingml/2006/main">
              <a:ext uri="{FF2B5EF4-FFF2-40B4-BE49-F238E27FC236}">
                <a16:creationId xmlns:a16="http://schemas.microsoft.com/office/drawing/2014/main" id="{AA920CB4-AB05-4D63-AE5C-6AD21B0D6F4D}"/>
              </a:ext>
            </a:extLst>
          </p:cNvPr>
          <p:cNvSpPr>
            <a:spLocks xmlns:a="http://schemas.openxmlformats.org/drawingml/2006/main" noGrp="1"/>
          </p:cNvSpPr>
          <p:nvPr/>
        </p:nvSpPr>
        <p:spPr>
          <a:xfrm xmlns:a="http://schemas.openxmlformats.org/drawingml/2006/main">
            <a:off x="4962525" y="427672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002060"/>
            </a:solidFill>
            <a:prstDash val="solid"/>
          </a:ln>
        </p:spPr>
      </p:sp>
      <p:sp>
        <p:nvSpPr>
          <p:cNvPr id="34" name="">
            <a:extLst xmlns:a="http://schemas.openxmlformats.org/drawingml/2006/main">
              <a:ext uri="{FF2B5EF4-FFF2-40B4-BE49-F238E27FC236}">
                <a16:creationId xmlns:a16="http://schemas.microsoft.com/office/drawing/2014/main" id="{A7EB223C-D68C-4F27-9608-1F050444A2C9}"/>
              </a:ext>
            </a:extLst>
          </p:cNvPr>
          <p:cNvSpPr>
            <a:spLocks xmlns:a="http://schemas.openxmlformats.org/drawingml/2006/main" noGrp="1"/>
          </p:cNvSpPr>
          <p:nvPr/>
        </p:nvSpPr>
        <p:spPr>
          <a:xfrm xmlns:a="http://schemas.openxmlformats.org/drawingml/2006/main">
            <a:off x="7077075" y="42005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35" name="">
            <a:extLst xmlns:a="http://schemas.openxmlformats.org/drawingml/2006/main">
              <a:ext uri="{FF2B5EF4-FFF2-40B4-BE49-F238E27FC236}">
                <a16:creationId xmlns:a16="http://schemas.microsoft.com/office/drawing/2014/main" id="{1A64A31D-4CC0-42EA-AB54-BAAAEB4529D7}"/>
              </a:ext>
            </a:extLst>
          </p:cNvPr>
          <p:cNvSpPr>
            <a:spLocks xmlns:a="http://schemas.openxmlformats.org/drawingml/2006/main" noGrp="1"/>
          </p:cNvSpPr>
          <p:nvPr/>
        </p:nvSpPr>
        <p:spPr>
          <a:xfrm xmlns:a="http://schemas.openxmlformats.org/drawingml/2006/main">
            <a:off x="9267825" y="42005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6" name="">
            <a:extLst xmlns:a="http://schemas.openxmlformats.org/drawingml/2006/main">
              <a:ext uri="{FF2B5EF4-FFF2-40B4-BE49-F238E27FC236}">
                <a16:creationId xmlns:a16="http://schemas.microsoft.com/office/drawing/2014/main" id="{D1656A9F-4B8E-458A-A453-78D4C3FC6A29}"/>
              </a:ext>
            </a:extLst>
          </p:cNvPr>
          <p:cNvSpPr>
            <a:spLocks xmlns:a="http://schemas.openxmlformats.org/drawingml/2006/main" noGrp="1"/>
          </p:cNvSpPr>
          <p:nvPr/>
        </p:nvSpPr>
        <p:spPr>
          <a:xfrm xmlns:a="http://schemas.openxmlformats.org/drawingml/2006/main">
            <a:off x="666750" y="45720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37" name="">
            <a:extLst xmlns:a="http://schemas.openxmlformats.org/drawingml/2006/main">
              <a:ext uri="{FF2B5EF4-FFF2-40B4-BE49-F238E27FC236}">
                <a16:creationId xmlns:a16="http://schemas.microsoft.com/office/drawing/2014/main" id="{7A4283CB-888B-4DFF-9C34-0C1206EA2607}"/>
              </a:ext>
            </a:extLst>
          </p:cNvPr>
          <p:cNvSpPr>
            <a:spLocks xmlns:a="http://schemas.openxmlformats.org/drawingml/2006/main" noGrp="1"/>
          </p:cNvSpPr>
          <p:nvPr/>
        </p:nvSpPr>
        <p:spPr>
          <a:xfrm xmlns:a="http://schemas.openxmlformats.org/drawingml/2006/main">
            <a:off x="800100" y="47244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Mortgage</a:t>
            </a:r>
          </a:p>
        </p:txBody>
      </p:sp>
      <p:sp>
        <p:nvSpPr>
          <p:cNvPr id="38" name="">
            <a:extLst xmlns:a="http://schemas.openxmlformats.org/drawingml/2006/main">
              <a:ext uri="{FF2B5EF4-FFF2-40B4-BE49-F238E27FC236}">
                <a16:creationId xmlns:a16="http://schemas.microsoft.com/office/drawing/2014/main" id="{CE4CCFE5-0BFE-4F2E-A7E1-059AD7526CA6}"/>
              </a:ext>
            </a:extLst>
          </p:cNvPr>
          <p:cNvSpPr>
            <a:spLocks xmlns:a="http://schemas.openxmlformats.org/drawingml/2006/main" noGrp="1"/>
          </p:cNvSpPr>
          <p:nvPr/>
        </p:nvSpPr>
        <p:spPr>
          <a:xfrm xmlns:a="http://schemas.openxmlformats.org/drawingml/2006/main">
            <a:off x="4886325" y="47148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9" name="">
            <a:extLst xmlns:a="http://schemas.openxmlformats.org/drawingml/2006/main">
              <a:ext uri="{FF2B5EF4-FFF2-40B4-BE49-F238E27FC236}">
                <a16:creationId xmlns:a16="http://schemas.microsoft.com/office/drawing/2014/main" id="{40936197-A0BE-4B79-8352-A65915B6B078}"/>
              </a:ext>
            </a:extLst>
          </p:cNvPr>
          <p:cNvSpPr>
            <a:spLocks xmlns:a="http://schemas.openxmlformats.org/drawingml/2006/main" noGrp="1"/>
          </p:cNvSpPr>
          <p:nvPr/>
        </p:nvSpPr>
        <p:spPr>
          <a:xfrm xmlns:a="http://schemas.openxmlformats.org/drawingml/2006/main">
            <a:off x="7153275" y="47910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40" name="">
            <a:extLst xmlns:a="http://schemas.openxmlformats.org/drawingml/2006/main">
              <a:ext uri="{FF2B5EF4-FFF2-40B4-BE49-F238E27FC236}">
                <a16:creationId xmlns:a16="http://schemas.microsoft.com/office/drawing/2014/main" id="{B10C9B62-9EF5-4F2B-84AD-009DC60E72FD}"/>
              </a:ext>
            </a:extLst>
          </p:cNvPr>
          <p:cNvSpPr>
            <a:spLocks xmlns:a="http://schemas.openxmlformats.org/drawingml/2006/main" noGrp="1"/>
          </p:cNvSpPr>
          <p:nvPr/>
        </p:nvSpPr>
        <p:spPr>
          <a:xfrm xmlns:a="http://schemas.openxmlformats.org/drawingml/2006/main">
            <a:off x="9267825" y="47148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1" name="">
            <a:extLst xmlns:a="http://schemas.openxmlformats.org/drawingml/2006/main">
              <a:ext uri="{FF2B5EF4-FFF2-40B4-BE49-F238E27FC236}">
                <a16:creationId xmlns:a16="http://schemas.microsoft.com/office/drawing/2014/main" id="{4170E99E-DFDD-49FA-8A39-04C078168130}"/>
              </a:ext>
            </a:extLst>
          </p:cNvPr>
          <p:cNvSpPr>
            <a:spLocks xmlns:a="http://schemas.openxmlformats.org/drawingml/2006/main" noGrp="1"/>
          </p:cNvSpPr>
          <p:nvPr/>
        </p:nvSpPr>
        <p:spPr>
          <a:xfrm xmlns:a="http://schemas.openxmlformats.org/drawingml/2006/main">
            <a:off x="666750" y="50863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42" name="">
            <a:extLst xmlns:a="http://schemas.openxmlformats.org/drawingml/2006/main">
              <a:ext uri="{FF2B5EF4-FFF2-40B4-BE49-F238E27FC236}">
                <a16:creationId xmlns:a16="http://schemas.microsoft.com/office/drawing/2014/main" id="{4F90B8DA-67F9-4A8F-BE7A-CA0F2521DFFE}"/>
              </a:ext>
            </a:extLst>
          </p:cNvPr>
          <p:cNvSpPr>
            <a:spLocks xmlns:a="http://schemas.openxmlformats.org/drawingml/2006/main" noGrp="1"/>
          </p:cNvSpPr>
          <p:nvPr/>
        </p:nvSpPr>
        <p:spPr>
          <a:xfrm xmlns:a="http://schemas.openxmlformats.org/drawingml/2006/main">
            <a:off x="800100" y="5238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SME finance</a:t>
            </a:r>
          </a:p>
        </p:txBody>
      </p:sp>
      <p:sp>
        <p:nvSpPr>
          <p:cNvPr id="43" name="">
            <a:extLst xmlns:a="http://schemas.openxmlformats.org/drawingml/2006/main">
              <a:ext uri="{FF2B5EF4-FFF2-40B4-BE49-F238E27FC236}">
                <a16:creationId xmlns:a16="http://schemas.microsoft.com/office/drawing/2014/main" id="{4F5C9330-D93D-4D36-8EA4-2E0A04704B70}"/>
              </a:ext>
            </a:extLst>
          </p:cNvPr>
          <p:cNvSpPr>
            <a:spLocks xmlns:a="http://schemas.openxmlformats.org/drawingml/2006/main" noGrp="1"/>
          </p:cNvSpPr>
          <p:nvPr/>
        </p:nvSpPr>
        <p:spPr>
          <a:xfrm xmlns:a="http://schemas.openxmlformats.org/drawingml/2006/main">
            <a:off x="4886325" y="52292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4" name="">
            <a:extLst xmlns:a="http://schemas.openxmlformats.org/drawingml/2006/main">
              <a:ext uri="{FF2B5EF4-FFF2-40B4-BE49-F238E27FC236}">
                <a16:creationId xmlns:a16="http://schemas.microsoft.com/office/drawing/2014/main" id="{B43D578D-3250-41F7-8B20-11B6CDECC9F5}"/>
              </a:ext>
            </a:extLst>
          </p:cNvPr>
          <p:cNvSpPr>
            <a:spLocks xmlns:a="http://schemas.openxmlformats.org/drawingml/2006/main" noGrp="1"/>
          </p:cNvSpPr>
          <p:nvPr/>
        </p:nvSpPr>
        <p:spPr>
          <a:xfrm xmlns:a="http://schemas.openxmlformats.org/drawingml/2006/main">
            <a:off x="7115175" y="5267325"/>
            <a:ext cx="152400" cy="1524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45" name="">
            <a:extLst xmlns:a="http://schemas.openxmlformats.org/drawingml/2006/main">
              <a:ext uri="{FF2B5EF4-FFF2-40B4-BE49-F238E27FC236}">
                <a16:creationId xmlns:a16="http://schemas.microsoft.com/office/drawing/2014/main" id="{01BEF480-A3BD-47AC-AC38-2C0D9974E329}"/>
              </a:ext>
            </a:extLst>
          </p:cNvPr>
          <p:cNvSpPr>
            <a:spLocks xmlns:a="http://schemas.openxmlformats.org/drawingml/2006/main" noGrp="1"/>
          </p:cNvSpPr>
          <p:nvPr/>
        </p:nvSpPr>
        <p:spPr>
          <a:xfrm xmlns:a="http://schemas.openxmlformats.org/drawingml/2006/main">
            <a:off x="9267825" y="52292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6" name="">
            <a:extLst xmlns:a="http://schemas.openxmlformats.org/drawingml/2006/main">
              <a:ext uri="{FF2B5EF4-FFF2-40B4-BE49-F238E27FC236}">
                <a16:creationId xmlns:a16="http://schemas.microsoft.com/office/drawing/2014/main" id="{4E702D10-A3A9-445E-9D38-19BAA4DB76C9}"/>
              </a:ext>
            </a:extLst>
          </p:cNvPr>
          <p:cNvSpPr>
            <a:spLocks xmlns:a="http://schemas.openxmlformats.org/drawingml/2006/main" noGrp="1"/>
          </p:cNvSpPr>
          <p:nvPr/>
        </p:nvSpPr>
        <p:spPr>
          <a:xfrm xmlns:a="http://schemas.openxmlformats.org/drawingml/2006/main">
            <a:off x="666750" y="56007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47" name="">
            <a:extLst xmlns:a="http://schemas.openxmlformats.org/drawingml/2006/main">
              <a:ext uri="{FF2B5EF4-FFF2-40B4-BE49-F238E27FC236}">
                <a16:creationId xmlns:a16="http://schemas.microsoft.com/office/drawing/2014/main" id="{ADFB0D67-1CF4-47EE-B77D-CB039DF5F29F}"/>
              </a:ext>
            </a:extLst>
          </p:cNvPr>
          <p:cNvSpPr>
            <a:spLocks xmlns:a="http://schemas.openxmlformats.org/drawingml/2006/main" noGrp="1"/>
          </p:cNvSpPr>
          <p:nvPr/>
        </p:nvSpPr>
        <p:spPr>
          <a:xfrm xmlns:a="http://schemas.openxmlformats.org/drawingml/2006/main">
            <a:off x="800100" y="57531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Corporate / wholesale</a:t>
            </a:r>
          </a:p>
        </p:txBody>
      </p:sp>
      <p:sp>
        <p:nvSpPr>
          <p:cNvPr id="48" name="">
            <a:extLst xmlns:a="http://schemas.openxmlformats.org/drawingml/2006/main">
              <a:ext uri="{FF2B5EF4-FFF2-40B4-BE49-F238E27FC236}">
                <a16:creationId xmlns:a16="http://schemas.microsoft.com/office/drawing/2014/main" id="{7DBA04F8-C5D3-4B14-A2BE-A6F0684AC6B8}"/>
              </a:ext>
            </a:extLst>
          </p:cNvPr>
          <p:cNvSpPr>
            <a:spLocks xmlns:a="http://schemas.openxmlformats.org/drawingml/2006/main" noGrp="1"/>
          </p:cNvSpPr>
          <p:nvPr/>
        </p:nvSpPr>
        <p:spPr>
          <a:xfrm xmlns:a="http://schemas.openxmlformats.org/drawingml/2006/main">
            <a:off x="4886325" y="57435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9" name="">
            <a:extLst xmlns:a="http://schemas.openxmlformats.org/drawingml/2006/main">
              <a:ext uri="{FF2B5EF4-FFF2-40B4-BE49-F238E27FC236}">
                <a16:creationId xmlns:a16="http://schemas.microsoft.com/office/drawing/2014/main" id="{E1EF6395-4EDF-40FF-9462-8EA7235A7472}"/>
              </a:ext>
            </a:extLst>
          </p:cNvPr>
          <p:cNvSpPr>
            <a:spLocks xmlns:a="http://schemas.openxmlformats.org/drawingml/2006/main" noGrp="1"/>
          </p:cNvSpPr>
          <p:nvPr/>
        </p:nvSpPr>
        <p:spPr>
          <a:xfrm xmlns:a="http://schemas.openxmlformats.org/drawingml/2006/main">
            <a:off x="7153275" y="58197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50" name="">
            <a:extLst xmlns:a="http://schemas.openxmlformats.org/drawingml/2006/main">
              <a:ext uri="{FF2B5EF4-FFF2-40B4-BE49-F238E27FC236}">
                <a16:creationId xmlns:a16="http://schemas.microsoft.com/office/drawing/2014/main" id="{41FDC3DC-8815-4FA1-8194-AC535A2C4FB0}"/>
              </a:ext>
            </a:extLst>
          </p:cNvPr>
          <p:cNvSpPr>
            <a:spLocks xmlns:a="http://schemas.openxmlformats.org/drawingml/2006/main" noGrp="1"/>
          </p:cNvSpPr>
          <p:nvPr/>
        </p:nvSpPr>
        <p:spPr>
          <a:xfrm xmlns:a="http://schemas.openxmlformats.org/drawingml/2006/main">
            <a:off x="9267825" y="57435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1" name="">
            <a:extLst xmlns:a="http://schemas.openxmlformats.org/drawingml/2006/main">
              <a:ext uri="{FF2B5EF4-FFF2-40B4-BE49-F238E27FC236}">
                <a16:creationId xmlns:a16="http://schemas.microsoft.com/office/drawing/2014/main" id="{C752BD13-E526-4EA4-9C67-63541DFEE5C1}"/>
              </a:ext>
            </a:extLst>
          </p:cNvPr>
          <p:cNvSpPr>
            <a:spLocks xmlns:a="http://schemas.openxmlformats.org/drawingml/2006/main" noGrp="1"/>
          </p:cNvSpPr>
          <p:nvPr/>
        </p:nvSpPr>
        <p:spPr>
          <a:xfrm xmlns:a="http://schemas.openxmlformats.org/drawingml/2006/main">
            <a:off x="8001000" y="6162675"/>
            <a:ext cx="619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PRIMARY</a:t>
            </a:r>
          </a:p>
        </p:txBody>
      </p:sp>
      <p:sp>
        <p:nvSpPr>
          <p:cNvPr id="52" name="">
            <a:extLst xmlns:a="http://schemas.openxmlformats.org/drawingml/2006/main">
              <a:ext uri="{FF2B5EF4-FFF2-40B4-BE49-F238E27FC236}">
                <a16:creationId xmlns:a16="http://schemas.microsoft.com/office/drawing/2014/main" id="{4ED81AA8-5B79-40EC-AA31-940B9B84E3BC}"/>
              </a:ext>
            </a:extLst>
          </p:cNvPr>
          <p:cNvSpPr>
            <a:spLocks xmlns:a="http://schemas.openxmlformats.org/drawingml/2006/main" noGrp="1"/>
          </p:cNvSpPr>
          <p:nvPr/>
        </p:nvSpPr>
        <p:spPr>
          <a:xfrm xmlns:a="http://schemas.openxmlformats.org/drawingml/2006/main">
            <a:off x="8677275" y="6153150"/>
            <a:ext cx="171450" cy="17145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3" name="">
            <a:extLst xmlns:a="http://schemas.openxmlformats.org/drawingml/2006/main">
              <a:ext uri="{FF2B5EF4-FFF2-40B4-BE49-F238E27FC236}">
                <a16:creationId xmlns:a16="http://schemas.microsoft.com/office/drawing/2014/main" id="{7CACED51-A022-40FA-8A57-8769A97215BF}"/>
              </a:ext>
            </a:extLst>
          </p:cNvPr>
          <p:cNvSpPr>
            <a:spLocks xmlns:a="http://schemas.openxmlformats.org/drawingml/2006/main" noGrp="1"/>
          </p:cNvSpPr>
          <p:nvPr/>
        </p:nvSpPr>
        <p:spPr>
          <a:xfrm xmlns:a="http://schemas.openxmlformats.org/drawingml/2006/main">
            <a:off x="9048750" y="6162675"/>
            <a:ext cx="781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SECONDARY</a:t>
            </a:r>
          </a:p>
        </p:txBody>
      </p:sp>
      <p:sp>
        <p:nvSpPr>
          <p:cNvPr id="54" name="">
            <a:extLst xmlns:a="http://schemas.openxmlformats.org/drawingml/2006/main">
              <a:ext uri="{FF2B5EF4-FFF2-40B4-BE49-F238E27FC236}">
                <a16:creationId xmlns:a16="http://schemas.microsoft.com/office/drawing/2014/main" id="{B602FD44-21B8-4567-8903-F6E1D8ADA009}"/>
              </a:ext>
            </a:extLst>
          </p:cNvPr>
          <p:cNvSpPr>
            <a:spLocks xmlns:a="http://schemas.openxmlformats.org/drawingml/2006/main" noGrp="1"/>
          </p:cNvSpPr>
          <p:nvPr/>
        </p:nvSpPr>
        <p:spPr>
          <a:xfrm xmlns:a="http://schemas.openxmlformats.org/drawingml/2006/main">
            <a:off x="9915525" y="6181725"/>
            <a:ext cx="114300" cy="1143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5" name="">
            <a:extLst xmlns:a="http://schemas.openxmlformats.org/drawingml/2006/main">
              <a:ext uri="{FF2B5EF4-FFF2-40B4-BE49-F238E27FC236}">
                <a16:creationId xmlns:a16="http://schemas.microsoft.com/office/drawing/2014/main" id="{9530E038-38E1-4189-B9AD-322497473BC5}"/>
              </a:ext>
            </a:extLst>
          </p:cNvPr>
          <p:cNvSpPr>
            <a:spLocks xmlns:a="http://schemas.openxmlformats.org/drawingml/2006/main" noGrp="1"/>
          </p:cNvSpPr>
          <p:nvPr/>
        </p:nvSpPr>
        <p:spPr>
          <a:xfrm xmlns:a="http://schemas.openxmlformats.org/drawingml/2006/main">
            <a:off x="10287000" y="6162675"/>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LIMITED</a:t>
            </a:r>
          </a:p>
        </p:txBody>
      </p:sp>
      <p:sp>
        <p:nvSpPr>
          <p:cNvPr id="56" name="">
            <a:extLst xmlns:a="http://schemas.openxmlformats.org/drawingml/2006/main">
              <a:ext uri="{FF2B5EF4-FFF2-40B4-BE49-F238E27FC236}">
                <a16:creationId xmlns:a16="http://schemas.microsoft.com/office/drawing/2014/main" id="{83D27C55-9EE0-4CEC-BE1B-FB8A4ED62A7B}"/>
              </a:ext>
            </a:extLst>
          </p:cNvPr>
          <p:cNvSpPr>
            <a:spLocks xmlns:a="http://schemas.openxmlformats.org/drawingml/2006/main" noGrp="1"/>
          </p:cNvSpPr>
          <p:nvPr/>
        </p:nvSpPr>
        <p:spPr>
          <a:xfrm xmlns:a="http://schemas.openxmlformats.org/drawingml/2006/main">
            <a:off x="10953750" y="62007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002060"/>
            </a:solidFill>
            <a:prstDash val="solid"/>
          </a:ln>
        </p:spPr>
      </p:sp>
    </p:spTree>
    <p:extLst>
      <p:ext uri="{BB962C8B-B14F-4D97-AF65-F5344CB8AC3E}">
        <p14:creationId xmlns:p14="http://schemas.microsoft.com/office/powerpoint/2010/main" val="17274173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60CF2F5-B881-42CD-BE66-2B87822C8AB5}"/>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LICENSED HYBRIDS</a:t>
            </a:r>
          </a:p>
        </p:txBody>
      </p:sp>
      <p:sp>
        <p:nvSpPr>
          <p:cNvPr id="2" name="">
            <a:extLst xmlns:a="http://schemas.openxmlformats.org/drawingml/2006/main">
              <a:ext uri="{FF2B5EF4-FFF2-40B4-BE49-F238E27FC236}">
                <a16:creationId xmlns:a16="http://schemas.microsoft.com/office/drawing/2014/main" id="{AAB24C7F-5E9C-4AA2-8D39-63B8A745DCA8}"/>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Digital banks bridge interface and balance sheet</a:t>
            </a:r>
          </a:p>
        </p:txBody>
      </p:sp>
      <p:sp>
        <p:nvSpPr>
          <p:cNvPr id="3" name="">
            <a:extLst xmlns:a="http://schemas.openxmlformats.org/drawingml/2006/main">
              <a:ext uri="{FF2B5EF4-FFF2-40B4-BE49-F238E27FC236}">
                <a16:creationId xmlns:a16="http://schemas.microsoft.com/office/drawing/2014/main" id="{5A08DCD2-2851-40C4-BF26-E59E53C641ED}"/>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WeBank and MYbank converted ecosystem traffic into regulated deposits, loans and fees</a:t>
            </a:r>
          </a:p>
        </p:txBody>
      </p:sp>
      <p:sp>
        <p:nvSpPr>
          <p:cNvPr id="4" name="">
            <a:extLst xmlns:a="http://schemas.openxmlformats.org/drawingml/2006/main">
              <a:ext uri="{FF2B5EF4-FFF2-40B4-BE49-F238E27FC236}">
                <a16:creationId xmlns:a16="http://schemas.microsoft.com/office/drawing/2014/main" id="{F0604B22-F5AB-4269-BA7B-DAB1385AE646}"/>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Intelligence 5.pdf; company disclosures</a:t>
            </a:r>
          </a:p>
        </p:txBody>
      </p:sp>
      <p:sp>
        <p:nvSpPr>
          <p:cNvPr id="5" name="">
            <a:extLst xmlns:a="http://schemas.openxmlformats.org/drawingml/2006/main">
              <a:ext uri="{FF2B5EF4-FFF2-40B4-BE49-F238E27FC236}">
                <a16:creationId xmlns:a16="http://schemas.microsoft.com/office/drawing/2014/main" id="{033EF5FE-0F95-4741-9AA9-890F8EBBDE48}"/>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8</a:t>
            </a:r>
          </a:p>
        </p:txBody>
      </p:sp>
      <p:sp>
        <p:nvSpPr>
          <p:cNvPr id="6" name="">
            <a:extLst xmlns:a="http://schemas.openxmlformats.org/drawingml/2006/main">
              <a:ext uri="{FF2B5EF4-FFF2-40B4-BE49-F238E27FC236}">
                <a16:creationId xmlns:a16="http://schemas.microsoft.com/office/drawing/2014/main" id="{A909F056-D604-4623-8AC7-79ED20666EFA}"/>
              </a:ext>
            </a:extLst>
          </p:cNvPr>
          <p:cNvSpPr>
            <a:spLocks xmlns:a="http://schemas.openxmlformats.org/drawingml/2006/main" noGrp="1"/>
          </p:cNvSpPr>
          <p:nvPr/>
        </p:nvSpPr>
        <p:spPr>
          <a:xfrm xmlns:a="http://schemas.openxmlformats.org/drawingml/2006/main">
            <a:off x="666750" y="1571625"/>
            <a:ext cx="57150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ECD06512-4F54-4F54-91C1-2F29F754A26A}"/>
              </a:ext>
            </a:extLst>
          </p:cNvPr>
          <p:cNvSpPr>
            <a:spLocks xmlns:a="http://schemas.openxmlformats.org/drawingml/2006/main" noGrp="1"/>
          </p:cNvSpPr>
          <p:nvPr/>
        </p:nvSpPr>
        <p:spPr>
          <a:xfrm xmlns:a="http://schemas.openxmlformats.org/drawingml/2006/main">
            <a:off x="666750" y="1571625"/>
            <a:ext cx="57150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5C111318-0FD4-4613-98E1-BF35BF365327}"/>
              </a:ext>
            </a:extLst>
          </p:cNvPr>
          <p:cNvSpPr>
            <a:spLocks xmlns:a="http://schemas.openxmlformats.org/drawingml/2006/main" noGrp="1"/>
          </p:cNvSpPr>
          <p:nvPr/>
        </p:nvSpPr>
        <p:spPr>
          <a:xfrm xmlns:a="http://schemas.openxmlformats.org/drawingml/2006/main">
            <a:off x="762000" y="1600200"/>
            <a:ext cx="552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LOAN BALANCE — RMB BILLION</a:t>
            </a:r>
          </a:p>
        </p:txBody>
      </p:sp>
      <p:graphicFrame>
        <p:nvGraphicFramePr>
          <p:cNvPr id="9" name="Chart">
            <a:extLst xmlns:a="http://schemas.openxmlformats.org/drawingml/2006/main">
              <a:ext uri="{FF2B5EF4-FFF2-40B4-BE49-F238E27FC236}">
                <a16:creationId xmlns:a16="http://schemas.microsoft.com/office/drawing/2014/main" id="{6C6F7D11-EEDC-4C55-83F2-D03D79273238}"/>
              </a:ext>
            </a:extLst>
          </p:cNvPr>
          <p:cNvGraphicFramePr/>
          <p:nvPr/>
        </p:nvGraphicFramePr>
        <p:xfrm>
          <a:off xmlns:a="http://schemas.openxmlformats.org/drawingml/2006/main" x="1047750" y="2143125"/>
          <a:ext xmlns:a="http://schemas.openxmlformats.org/drawingml/2006/main" cx="4953000" cy="3095625"/>
        </p:xfrm>
        <a:graphic xmlns:a="http://schemas.openxmlformats.org/drawingml/2006/main">
          <a:graphicData uri="http://schemas.openxmlformats.org/drawingml/2006/chart">
            <c:chart xmlns:r="http://schemas.openxmlformats.org/officeDocument/2006/relationships" xmlns:c="http://schemas.openxmlformats.org/drawingml/2006/chart" r:id="R96e9cb029ddb478e"/>
          </a:graphicData>
        </a:graphic>
      </p:graphicFrame>
      <p:sp>
        <p:nvSpPr>
          <p:cNvPr id="10" name="">
            <a:extLst xmlns:a="http://schemas.openxmlformats.org/drawingml/2006/main">
              <a:ext uri="{FF2B5EF4-FFF2-40B4-BE49-F238E27FC236}">
                <a16:creationId xmlns:a16="http://schemas.microsoft.com/office/drawing/2014/main" id="{4671DB2A-3932-405F-9955-A4F5EF469591}"/>
              </a:ext>
            </a:extLst>
          </p:cNvPr>
          <p:cNvSpPr>
            <a:spLocks xmlns:a="http://schemas.openxmlformats.org/drawingml/2006/main" noGrp="1"/>
          </p:cNvSpPr>
          <p:nvPr/>
        </p:nvSpPr>
        <p:spPr>
          <a:xfrm xmlns:a="http://schemas.openxmlformats.org/drawingml/2006/main">
            <a:off x="1047750" y="5381625"/>
            <a:ext cx="2381250" cy="514350"/>
          </a:xfrm>
          <a:prstGeom xmlns:a="http://schemas.openxmlformats.org/drawingml/2006/main" prst="roundRect">
            <a:avLst>
              <a:gd name="adj" fmla="val 7407"/>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EDC2B1D-4ADE-4554-9A27-760AE6FBB45C}"/>
              </a:ext>
            </a:extLst>
          </p:cNvPr>
          <p:cNvSpPr>
            <a:spLocks xmlns:a="http://schemas.openxmlformats.org/drawingml/2006/main" noGrp="1"/>
          </p:cNvSpPr>
          <p:nvPr/>
        </p:nvSpPr>
        <p:spPr>
          <a:xfrm xmlns:a="http://schemas.openxmlformats.org/drawingml/2006/main">
            <a:off x="1162050" y="545782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3.6×</a:t>
            </a:r>
          </a:p>
        </p:txBody>
      </p:sp>
      <p:sp>
        <p:nvSpPr>
          <p:cNvPr id="12" name="">
            <a:extLst xmlns:a="http://schemas.openxmlformats.org/drawingml/2006/main">
              <a:ext uri="{FF2B5EF4-FFF2-40B4-BE49-F238E27FC236}">
                <a16:creationId xmlns:a16="http://schemas.microsoft.com/office/drawing/2014/main" id="{E1A69A6C-7F94-46B1-87BF-6CC6C2840AB0}"/>
              </a:ext>
            </a:extLst>
          </p:cNvPr>
          <p:cNvSpPr>
            <a:spLocks xmlns:a="http://schemas.openxmlformats.org/drawingml/2006/main" noGrp="1"/>
          </p:cNvSpPr>
          <p:nvPr/>
        </p:nvSpPr>
        <p:spPr>
          <a:xfrm xmlns:a="http://schemas.openxmlformats.org/drawingml/2006/main">
            <a:off x="1162050" y="5781675"/>
            <a:ext cx="21526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WeBank loan growth — 2018 to 2024</a:t>
            </a:r>
          </a:p>
        </p:txBody>
      </p:sp>
      <p:sp>
        <p:nvSpPr>
          <p:cNvPr id="13" name="">
            <a:extLst xmlns:a="http://schemas.openxmlformats.org/drawingml/2006/main">
              <a:ext uri="{FF2B5EF4-FFF2-40B4-BE49-F238E27FC236}">
                <a16:creationId xmlns:a16="http://schemas.microsoft.com/office/drawing/2014/main" id="{15FD2322-5F9E-4927-A236-D056B0FB201E}"/>
              </a:ext>
            </a:extLst>
          </p:cNvPr>
          <p:cNvSpPr>
            <a:spLocks xmlns:a="http://schemas.openxmlformats.org/drawingml/2006/main" noGrp="1"/>
          </p:cNvSpPr>
          <p:nvPr/>
        </p:nvSpPr>
        <p:spPr>
          <a:xfrm xmlns:a="http://schemas.openxmlformats.org/drawingml/2006/main">
            <a:off x="3571875" y="5381625"/>
            <a:ext cx="2381250" cy="514350"/>
          </a:xfrm>
          <a:prstGeom xmlns:a="http://schemas.openxmlformats.org/drawingml/2006/main" prst="roundRect">
            <a:avLst>
              <a:gd name="adj" fmla="val 7407"/>
            </a:avLst>
          </a:prstGeom>
          <a:solidFill xmlns:a="http://schemas.openxmlformats.org/drawingml/2006/main">
            <a:srgbClr val="FCEDE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771BC3-29E2-4A5B-BC4C-B494FFE01CDB}"/>
              </a:ext>
            </a:extLst>
          </p:cNvPr>
          <p:cNvSpPr>
            <a:spLocks xmlns:a="http://schemas.openxmlformats.org/drawingml/2006/main" noGrp="1"/>
          </p:cNvSpPr>
          <p:nvPr/>
        </p:nvSpPr>
        <p:spPr>
          <a:xfrm xmlns:a="http://schemas.openxmlformats.org/drawingml/2006/main">
            <a:off x="3686175" y="545782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6.2×</a:t>
            </a:r>
          </a:p>
        </p:txBody>
      </p:sp>
      <p:sp>
        <p:nvSpPr>
          <p:cNvPr id="15" name="">
            <a:extLst xmlns:a="http://schemas.openxmlformats.org/drawingml/2006/main">
              <a:ext uri="{FF2B5EF4-FFF2-40B4-BE49-F238E27FC236}">
                <a16:creationId xmlns:a16="http://schemas.microsoft.com/office/drawing/2014/main" id="{C7241C2E-7835-4EE5-A913-6947215EB28B}"/>
              </a:ext>
            </a:extLst>
          </p:cNvPr>
          <p:cNvSpPr>
            <a:spLocks xmlns:a="http://schemas.openxmlformats.org/drawingml/2006/main" noGrp="1"/>
          </p:cNvSpPr>
          <p:nvPr/>
        </p:nvSpPr>
        <p:spPr>
          <a:xfrm xmlns:a="http://schemas.openxmlformats.org/drawingml/2006/main">
            <a:off x="3686175" y="5781675"/>
            <a:ext cx="21526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MYbank loan growth — 2018 to 2024</a:t>
            </a:r>
          </a:p>
        </p:txBody>
      </p:sp>
      <p:sp>
        <p:nvSpPr>
          <p:cNvPr id="16" name="">
            <a:extLst xmlns:a="http://schemas.openxmlformats.org/drawingml/2006/main">
              <a:ext uri="{FF2B5EF4-FFF2-40B4-BE49-F238E27FC236}">
                <a16:creationId xmlns:a16="http://schemas.microsoft.com/office/drawing/2014/main" id="{38101147-FB14-4496-AFBB-187ABCA671B2}"/>
              </a:ext>
            </a:extLst>
          </p:cNvPr>
          <p:cNvSpPr>
            <a:spLocks xmlns:a="http://schemas.openxmlformats.org/drawingml/2006/main" noGrp="1"/>
          </p:cNvSpPr>
          <p:nvPr/>
        </p:nvSpPr>
        <p:spPr>
          <a:xfrm xmlns:a="http://schemas.openxmlformats.org/drawingml/2006/main">
            <a:off x="6762750" y="1571625"/>
            <a:ext cx="4762500" cy="1952625"/>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15005B3D-410F-48D8-AEA1-05382D532D7F}"/>
              </a:ext>
            </a:extLst>
          </p:cNvPr>
          <p:cNvSpPr>
            <a:spLocks xmlns:a="http://schemas.openxmlformats.org/drawingml/2006/main" noGrp="1"/>
          </p:cNvSpPr>
          <p:nvPr/>
        </p:nvSpPr>
        <p:spPr>
          <a:xfrm xmlns:a="http://schemas.openxmlformats.org/drawingml/2006/main">
            <a:off x="6762750" y="1571625"/>
            <a:ext cx="4762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8" name="">
            <a:extLst xmlns:a="http://schemas.openxmlformats.org/drawingml/2006/main">
              <a:ext uri="{FF2B5EF4-FFF2-40B4-BE49-F238E27FC236}">
                <a16:creationId xmlns:a16="http://schemas.microsoft.com/office/drawing/2014/main" id="{754826A6-1D3B-406E-8B8A-D16DE217A781}"/>
              </a:ext>
            </a:extLst>
          </p:cNvPr>
          <p:cNvSpPr>
            <a:spLocks xmlns:a="http://schemas.openxmlformats.org/drawingml/2006/main" noGrp="1"/>
          </p:cNvSpPr>
          <p:nvPr/>
        </p:nvSpPr>
        <p:spPr>
          <a:xfrm xmlns:a="http://schemas.openxmlformats.org/drawingml/2006/main">
            <a:off x="6858000" y="16002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2018 LOAN-TO-DEPOSIT RATIO</a:t>
            </a:r>
          </a:p>
        </p:txBody>
      </p:sp>
      <p:graphicFrame>
        <p:nvGraphicFramePr>
          <p:cNvPr id="19" name="Chart">
            <a:extLst xmlns:a="http://schemas.openxmlformats.org/drawingml/2006/main">
              <a:ext uri="{FF2B5EF4-FFF2-40B4-BE49-F238E27FC236}">
                <a16:creationId xmlns:a16="http://schemas.microsoft.com/office/drawing/2014/main" id="{BFAD145C-952C-428B-AF30-B893573273EA}"/>
              </a:ext>
            </a:extLst>
          </p:cNvPr>
          <p:cNvGraphicFramePr/>
          <p:nvPr/>
        </p:nvGraphicFramePr>
        <p:xfrm>
          <a:off xmlns:a="http://schemas.openxmlformats.org/drawingml/2006/main" x="7143750" y="2095500"/>
          <a:ext xmlns:a="http://schemas.openxmlformats.org/drawingml/2006/main" cx="4000500" cy="1143000"/>
        </p:xfrm>
        <a:graphic xmlns:a="http://schemas.openxmlformats.org/drawingml/2006/main">
          <a:graphicData uri="http://schemas.openxmlformats.org/drawingml/2006/chart">
            <c:chart xmlns:r="http://schemas.openxmlformats.org/officeDocument/2006/relationships" xmlns:c="http://schemas.openxmlformats.org/drawingml/2006/chart" r:id="Re0f195d68b604553"/>
          </a:graphicData>
        </a:graphic>
      </p:graphicFrame>
      <p:sp>
        <p:nvSpPr>
          <p:cNvPr id="20" name="">
            <a:extLst xmlns:a="http://schemas.openxmlformats.org/drawingml/2006/main">
              <a:ext uri="{FF2B5EF4-FFF2-40B4-BE49-F238E27FC236}">
                <a16:creationId xmlns:a16="http://schemas.microsoft.com/office/drawing/2014/main" id="{ED22CD6B-F450-46CE-B7C0-6351BE0B98F7}"/>
              </a:ext>
            </a:extLst>
          </p:cNvPr>
          <p:cNvSpPr>
            <a:spLocks xmlns:a="http://schemas.openxmlformats.org/drawingml/2006/main" noGrp="1"/>
          </p:cNvSpPr>
          <p:nvPr/>
        </p:nvSpPr>
        <p:spPr>
          <a:xfrm xmlns:a="http://schemas.openxmlformats.org/drawingml/2006/main">
            <a:off x="6762750" y="3762375"/>
            <a:ext cx="4762500" cy="2143125"/>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D9D9D9"/>
            </a:solidFill>
            <a:prstDash val="solid"/>
          </a:ln>
        </p:spPr>
      </p:sp>
      <p:sp>
        <p:nvSpPr>
          <p:cNvPr id="21" name="">
            <a:extLst xmlns:a="http://schemas.openxmlformats.org/drawingml/2006/main">
              <a:ext uri="{FF2B5EF4-FFF2-40B4-BE49-F238E27FC236}">
                <a16:creationId xmlns:a16="http://schemas.microsoft.com/office/drawing/2014/main" id="{39615C1C-CB12-4CEA-875A-EF00B0B66B78}"/>
              </a:ext>
            </a:extLst>
          </p:cNvPr>
          <p:cNvSpPr>
            <a:spLocks xmlns:a="http://schemas.openxmlformats.org/drawingml/2006/main" noGrp="1"/>
          </p:cNvSpPr>
          <p:nvPr/>
        </p:nvSpPr>
        <p:spPr>
          <a:xfrm xmlns:a="http://schemas.openxmlformats.org/drawingml/2006/main">
            <a:off x="6762750" y="3762375"/>
            <a:ext cx="4762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2" name="">
            <a:extLst xmlns:a="http://schemas.openxmlformats.org/drawingml/2006/main">
              <a:ext uri="{FF2B5EF4-FFF2-40B4-BE49-F238E27FC236}">
                <a16:creationId xmlns:a16="http://schemas.microsoft.com/office/drawing/2014/main" id="{0898F37F-3FD4-40DD-83A3-8E9221017597}"/>
              </a:ext>
            </a:extLst>
          </p:cNvPr>
          <p:cNvSpPr>
            <a:spLocks xmlns:a="http://schemas.openxmlformats.org/drawingml/2006/main" noGrp="1"/>
          </p:cNvSpPr>
          <p:nvPr/>
        </p:nvSpPr>
        <p:spPr>
          <a:xfrm xmlns:a="http://schemas.openxmlformats.org/drawingml/2006/main">
            <a:off x="6858000" y="37909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2018 NET FEES / REVENUE</a:t>
            </a:r>
          </a:p>
        </p:txBody>
      </p:sp>
      <p:graphicFrame>
        <p:nvGraphicFramePr>
          <p:cNvPr id="23" name="Chart">
            <a:extLst xmlns:a="http://schemas.openxmlformats.org/drawingml/2006/main">
              <a:ext uri="{FF2B5EF4-FFF2-40B4-BE49-F238E27FC236}">
                <a16:creationId xmlns:a16="http://schemas.microsoft.com/office/drawing/2014/main" id="{09E17D40-3FAB-4F6D-B88D-5308D224AA6E}"/>
              </a:ext>
            </a:extLst>
          </p:cNvPr>
          <p:cNvGraphicFramePr/>
          <p:nvPr/>
        </p:nvGraphicFramePr>
        <p:xfrm>
          <a:off xmlns:a="http://schemas.openxmlformats.org/drawingml/2006/main" x="7143750" y="4286250"/>
          <a:ext xmlns:a="http://schemas.openxmlformats.org/drawingml/2006/main" cx="4000500" cy="1333500"/>
        </p:xfrm>
        <a:graphic xmlns:a="http://schemas.openxmlformats.org/drawingml/2006/main">
          <a:graphicData uri="http://schemas.openxmlformats.org/drawingml/2006/chart">
            <c:chart xmlns:r="http://schemas.openxmlformats.org/officeDocument/2006/relationships" xmlns:c="http://schemas.openxmlformats.org/drawingml/2006/chart" r:id="R84ff033c7b1744c5"/>
          </a:graphicData>
        </a:graphic>
      </p:graphicFrame>
    </p:spTree>
    <p:extLst>
      <p:ext uri="{BB962C8B-B14F-4D97-AF65-F5344CB8AC3E}">
        <p14:creationId xmlns:p14="http://schemas.microsoft.com/office/powerpoint/2010/main" val="7028622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5FD6198A-CC59-471A-B8C6-FBDB7E104CAC}"/>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LISTED COMPARABLES</a:t>
            </a:r>
          </a:p>
        </p:txBody>
      </p:sp>
      <p:sp>
        <p:nvSpPr>
          <p:cNvPr id="2" name="">
            <a:extLst xmlns:a="http://schemas.openxmlformats.org/drawingml/2006/main">
              <a:ext uri="{FF2B5EF4-FFF2-40B4-BE49-F238E27FC236}">
                <a16:creationId xmlns:a16="http://schemas.microsoft.com/office/drawing/2014/main" id="{A3840C46-8B68-4C6A-8A87-A51A311367BD}"/>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The market pays for return density</a:t>
            </a:r>
          </a:p>
        </p:txBody>
      </p:sp>
      <p:sp>
        <p:nvSpPr>
          <p:cNvPr id="3" name="">
            <a:extLst xmlns:a="http://schemas.openxmlformats.org/drawingml/2006/main">
              <a:ext uri="{FF2B5EF4-FFF2-40B4-BE49-F238E27FC236}">
                <a16:creationId xmlns:a16="http://schemas.microsoft.com/office/drawing/2014/main" id="{E092EDED-5BF6-4FA3-B0BA-872FAF1047CA}"/>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Banks screen cheap and income-rich; platforms screen higher-return and higher-multiple</a:t>
            </a:r>
          </a:p>
        </p:txBody>
      </p:sp>
      <p:sp>
        <p:nvSpPr>
          <p:cNvPr id="4" name="">
            <a:extLst xmlns:a="http://schemas.openxmlformats.org/drawingml/2006/main">
              <a:ext uri="{FF2B5EF4-FFF2-40B4-BE49-F238E27FC236}">
                <a16:creationId xmlns:a16="http://schemas.microsoft.com/office/drawing/2014/main" id="{F06878EF-3017-4E8D-BA87-F20561BEFC5B}"/>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workbook TIM - 11.xlsx; 2025Q4 medians</a:t>
            </a:r>
          </a:p>
        </p:txBody>
      </p:sp>
      <p:sp>
        <p:nvSpPr>
          <p:cNvPr id="5" name="">
            <a:extLst xmlns:a="http://schemas.openxmlformats.org/drawingml/2006/main">
              <a:ext uri="{FF2B5EF4-FFF2-40B4-BE49-F238E27FC236}">
                <a16:creationId xmlns:a16="http://schemas.microsoft.com/office/drawing/2014/main" id="{943D2D6B-E238-468C-B085-212D056CED86}"/>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9</a:t>
            </a:r>
          </a:p>
        </p:txBody>
      </p:sp>
      <p:sp>
        <p:nvSpPr>
          <p:cNvPr id="6" name="">
            <a:extLst xmlns:a="http://schemas.openxmlformats.org/drawingml/2006/main">
              <a:ext uri="{FF2B5EF4-FFF2-40B4-BE49-F238E27FC236}">
                <a16:creationId xmlns:a16="http://schemas.microsoft.com/office/drawing/2014/main" id="{1F6D373A-AA28-4974-B25D-21C21027BDCC}"/>
              </a:ext>
            </a:extLst>
          </p:cNvPr>
          <p:cNvSpPr>
            <a:spLocks xmlns:a="http://schemas.openxmlformats.org/drawingml/2006/main" noGrp="1"/>
          </p:cNvSpPr>
          <p:nvPr/>
        </p:nvSpPr>
        <p:spPr>
          <a:xfrm xmlns:a="http://schemas.openxmlformats.org/drawingml/2006/main">
            <a:off x="66675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4B3A3AD2-BF4D-4DCC-8253-E67E842373A5}"/>
              </a:ext>
            </a:extLst>
          </p:cNvPr>
          <p:cNvSpPr>
            <a:spLocks xmlns:a="http://schemas.openxmlformats.org/drawingml/2006/main" noGrp="1"/>
          </p:cNvSpPr>
          <p:nvPr/>
        </p:nvSpPr>
        <p:spPr>
          <a:xfrm xmlns:a="http://schemas.openxmlformats.org/drawingml/2006/main">
            <a:off x="66675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80AAD4C9-22B8-406A-B056-6B57146361E0}"/>
              </a:ext>
            </a:extLst>
          </p:cNvPr>
          <p:cNvSpPr>
            <a:spLocks xmlns:a="http://schemas.openxmlformats.org/drawingml/2006/main" noGrp="1"/>
          </p:cNvSpPr>
          <p:nvPr/>
        </p:nvSpPr>
        <p:spPr>
          <a:xfrm xmlns:a="http://schemas.openxmlformats.org/drawingml/2006/main">
            <a:off x="76200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COMMON ROE</a:t>
            </a:r>
          </a:p>
        </p:txBody>
      </p:sp>
      <p:graphicFrame>
        <p:nvGraphicFramePr>
          <p:cNvPr id="9" name="Chart">
            <a:extLst xmlns:a="http://schemas.openxmlformats.org/drawingml/2006/main">
              <a:ext uri="{FF2B5EF4-FFF2-40B4-BE49-F238E27FC236}">
                <a16:creationId xmlns:a16="http://schemas.microsoft.com/office/drawing/2014/main" id="{F0531195-16E7-4549-9ACB-2F3BDAA3AFBF}"/>
              </a:ext>
            </a:extLst>
          </p:cNvPr>
          <p:cNvGraphicFramePr/>
          <p:nvPr/>
        </p:nvGraphicFramePr>
        <p:xfrm>
          <a:off xmlns:a="http://schemas.openxmlformats.org/drawingml/2006/main" x="95250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5c4f0df5e4b14136"/>
          </a:graphicData>
        </a:graphic>
      </p:graphicFrame>
      <p:sp>
        <p:nvSpPr>
          <p:cNvPr id="10" name="">
            <a:extLst xmlns:a="http://schemas.openxmlformats.org/drawingml/2006/main">
              <a:ext uri="{FF2B5EF4-FFF2-40B4-BE49-F238E27FC236}">
                <a16:creationId xmlns:a16="http://schemas.microsoft.com/office/drawing/2014/main" id="{50303D61-C24B-4422-8A3E-A779FB3DB14E}"/>
              </a:ext>
            </a:extLst>
          </p:cNvPr>
          <p:cNvSpPr>
            <a:spLocks xmlns:a="http://schemas.openxmlformats.org/drawingml/2006/main" noGrp="1"/>
          </p:cNvSpPr>
          <p:nvPr/>
        </p:nvSpPr>
        <p:spPr>
          <a:xfrm xmlns:a="http://schemas.openxmlformats.org/drawingml/2006/main">
            <a:off x="95250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1" name="">
            <a:extLst xmlns:a="http://schemas.openxmlformats.org/drawingml/2006/main">
              <a:ext uri="{FF2B5EF4-FFF2-40B4-BE49-F238E27FC236}">
                <a16:creationId xmlns:a16="http://schemas.microsoft.com/office/drawing/2014/main" id="{49960E93-6689-4964-8C80-8B0319A88176}"/>
              </a:ext>
            </a:extLst>
          </p:cNvPr>
          <p:cNvSpPr>
            <a:spLocks xmlns:a="http://schemas.openxmlformats.org/drawingml/2006/main" noGrp="1"/>
          </p:cNvSpPr>
          <p:nvPr/>
        </p:nvSpPr>
        <p:spPr>
          <a:xfrm xmlns:a="http://schemas.openxmlformats.org/drawingml/2006/main">
            <a:off x="112395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12" name="">
            <a:extLst xmlns:a="http://schemas.openxmlformats.org/drawingml/2006/main">
              <a:ext uri="{FF2B5EF4-FFF2-40B4-BE49-F238E27FC236}">
                <a16:creationId xmlns:a16="http://schemas.microsoft.com/office/drawing/2014/main" id="{2A21965C-1870-41BB-9B75-AD84E48262F4}"/>
              </a:ext>
            </a:extLst>
          </p:cNvPr>
          <p:cNvSpPr>
            <a:spLocks xmlns:a="http://schemas.openxmlformats.org/drawingml/2006/main" noGrp="1"/>
          </p:cNvSpPr>
          <p:nvPr/>
        </p:nvSpPr>
        <p:spPr>
          <a:xfrm xmlns:a="http://schemas.openxmlformats.org/drawingml/2006/main">
            <a:off x="180975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13" name="">
            <a:extLst xmlns:a="http://schemas.openxmlformats.org/drawingml/2006/main">
              <a:ext uri="{FF2B5EF4-FFF2-40B4-BE49-F238E27FC236}">
                <a16:creationId xmlns:a16="http://schemas.microsoft.com/office/drawing/2014/main" id="{2651C3A6-4090-4246-9825-47B383C3A9DA}"/>
              </a:ext>
            </a:extLst>
          </p:cNvPr>
          <p:cNvSpPr>
            <a:spLocks xmlns:a="http://schemas.openxmlformats.org/drawingml/2006/main" noGrp="1"/>
          </p:cNvSpPr>
          <p:nvPr/>
        </p:nvSpPr>
        <p:spPr>
          <a:xfrm xmlns:a="http://schemas.openxmlformats.org/drawingml/2006/main">
            <a:off x="198120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14" name="">
            <a:extLst xmlns:a="http://schemas.openxmlformats.org/drawingml/2006/main">
              <a:ext uri="{FF2B5EF4-FFF2-40B4-BE49-F238E27FC236}">
                <a16:creationId xmlns:a16="http://schemas.microsoft.com/office/drawing/2014/main" id="{86F303DF-BE63-4AC4-AF58-C2B7F1FB183F}"/>
              </a:ext>
            </a:extLst>
          </p:cNvPr>
          <p:cNvSpPr>
            <a:spLocks xmlns:a="http://schemas.openxmlformats.org/drawingml/2006/main" noGrp="1"/>
          </p:cNvSpPr>
          <p:nvPr/>
        </p:nvSpPr>
        <p:spPr>
          <a:xfrm xmlns:a="http://schemas.openxmlformats.org/drawingml/2006/main">
            <a:off x="342900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15" name="">
            <a:extLst xmlns:a="http://schemas.openxmlformats.org/drawingml/2006/main">
              <a:ext uri="{FF2B5EF4-FFF2-40B4-BE49-F238E27FC236}">
                <a16:creationId xmlns:a16="http://schemas.microsoft.com/office/drawing/2014/main" id="{49DF83CB-F02D-4585-82EF-5DBEAE2386B1}"/>
              </a:ext>
            </a:extLst>
          </p:cNvPr>
          <p:cNvSpPr>
            <a:spLocks xmlns:a="http://schemas.openxmlformats.org/drawingml/2006/main" noGrp="1"/>
          </p:cNvSpPr>
          <p:nvPr/>
        </p:nvSpPr>
        <p:spPr>
          <a:xfrm xmlns:a="http://schemas.openxmlformats.org/drawingml/2006/main">
            <a:off x="342900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9414170E-6086-43CF-9666-CA41018B2B1A}"/>
              </a:ext>
            </a:extLst>
          </p:cNvPr>
          <p:cNvSpPr>
            <a:spLocks xmlns:a="http://schemas.openxmlformats.org/drawingml/2006/main" noGrp="1"/>
          </p:cNvSpPr>
          <p:nvPr/>
        </p:nvSpPr>
        <p:spPr>
          <a:xfrm xmlns:a="http://schemas.openxmlformats.org/drawingml/2006/main">
            <a:off x="352425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ROA</a:t>
            </a:r>
          </a:p>
        </p:txBody>
      </p:sp>
      <p:graphicFrame>
        <p:nvGraphicFramePr>
          <p:cNvPr id="17" name="Chart">
            <a:extLst xmlns:a="http://schemas.openxmlformats.org/drawingml/2006/main">
              <a:ext uri="{FF2B5EF4-FFF2-40B4-BE49-F238E27FC236}">
                <a16:creationId xmlns:a16="http://schemas.microsoft.com/office/drawing/2014/main" id="{687F277E-6FBE-41B6-82EC-70CF9A16DA35}"/>
              </a:ext>
            </a:extLst>
          </p:cNvPr>
          <p:cNvGraphicFramePr/>
          <p:nvPr/>
        </p:nvGraphicFramePr>
        <p:xfrm>
          <a:off xmlns:a="http://schemas.openxmlformats.org/drawingml/2006/main" x="371475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1da696553205490c"/>
          </a:graphicData>
        </a:graphic>
      </p:graphicFrame>
      <p:sp>
        <p:nvSpPr>
          <p:cNvPr id="18" name="">
            <a:extLst xmlns:a="http://schemas.openxmlformats.org/drawingml/2006/main">
              <a:ext uri="{FF2B5EF4-FFF2-40B4-BE49-F238E27FC236}">
                <a16:creationId xmlns:a16="http://schemas.microsoft.com/office/drawing/2014/main" id="{A3AFDF48-3D55-4170-935B-DD6B0BB7EFE0}"/>
              </a:ext>
            </a:extLst>
          </p:cNvPr>
          <p:cNvSpPr>
            <a:spLocks xmlns:a="http://schemas.openxmlformats.org/drawingml/2006/main" noGrp="1"/>
          </p:cNvSpPr>
          <p:nvPr/>
        </p:nvSpPr>
        <p:spPr>
          <a:xfrm xmlns:a="http://schemas.openxmlformats.org/drawingml/2006/main">
            <a:off x="371475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9" name="">
            <a:extLst xmlns:a="http://schemas.openxmlformats.org/drawingml/2006/main">
              <a:ext uri="{FF2B5EF4-FFF2-40B4-BE49-F238E27FC236}">
                <a16:creationId xmlns:a16="http://schemas.microsoft.com/office/drawing/2014/main" id="{8D501A6B-53AD-4246-884C-F8CBED14B846}"/>
              </a:ext>
            </a:extLst>
          </p:cNvPr>
          <p:cNvSpPr>
            <a:spLocks xmlns:a="http://schemas.openxmlformats.org/drawingml/2006/main" noGrp="1"/>
          </p:cNvSpPr>
          <p:nvPr/>
        </p:nvSpPr>
        <p:spPr>
          <a:xfrm xmlns:a="http://schemas.openxmlformats.org/drawingml/2006/main">
            <a:off x="388620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20" name="">
            <a:extLst xmlns:a="http://schemas.openxmlformats.org/drawingml/2006/main">
              <a:ext uri="{FF2B5EF4-FFF2-40B4-BE49-F238E27FC236}">
                <a16:creationId xmlns:a16="http://schemas.microsoft.com/office/drawing/2014/main" id="{C2EA9D3A-E3FC-48C9-B442-A09E5A60C0E2}"/>
              </a:ext>
            </a:extLst>
          </p:cNvPr>
          <p:cNvSpPr>
            <a:spLocks xmlns:a="http://schemas.openxmlformats.org/drawingml/2006/main" noGrp="1"/>
          </p:cNvSpPr>
          <p:nvPr/>
        </p:nvSpPr>
        <p:spPr>
          <a:xfrm xmlns:a="http://schemas.openxmlformats.org/drawingml/2006/main">
            <a:off x="457200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21" name="">
            <a:extLst xmlns:a="http://schemas.openxmlformats.org/drawingml/2006/main">
              <a:ext uri="{FF2B5EF4-FFF2-40B4-BE49-F238E27FC236}">
                <a16:creationId xmlns:a16="http://schemas.microsoft.com/office/drawing/2014/main" id="{3B701F64-A391-4C98-A1BD-74E2741CB460}"/>
              </a:ext>
            </a:extLst>
          </p:cNvPr>
          <p:cNvSpPr>
            <a:spLocks xmlns:a="http://schemas.openxmlformats.org/drawingml/2006/main" noGrp="1"/>
          </p:cNvSpPr>
          <p:nvPr/>
        </p:nvSpPr>
        <p:spPr>
          <a:xfrm xmlns:a="http://schemas.openxmlformats.org/drawingml/2006/main">
            <a:off x="474345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22" name="">
            <a:extLst xmlns:a="http://schemas.openxmlformats.org/drawingml/2006/main">
              <a:ext uri="{FF2B5EF4-FFF2-40B4-BE49-F238E27FC236}">
                <a16:creationId xmlns:a16="http://schemas.microsoft.com/office/drawing/2014/main" id="{422F9E38-09FD-49EA-BD14-B7B8C77D20FF}"/>
              </a:ext>
            </a:extLst>
          </p:cNvPr>
          <p:cNvSpPr>
            <a:spLocks xmlns:a="http://schemas.openxmlformats.org/drawingml/2006/main" noGrp="1"/>
          </p:cNvSpPr>
          <p:nvPr/>
        </p:nvSpPr>
        <p:spPr>
          <a:xfrm xmlns:a="http://schemas.openxmlformats.org/drawingml/2006/main">
            <a:off x="619125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23" name="">
            <a:extLst xmlns:a="http://schemas.openxmlformats.org/drawingml/2006/main">
              <a:ext uri="{FF2B5EF4-FFF2-40B4-BE49-F238E27FC236}">
                <a16:creationId xmlns:a16="http://schemas.microsoft.com/office/drawing/2014/main" id="{557270AC-BADB-4539-AB4D-477E84AA16C9}"/>
              </a:ext>
            </a:extLst>
          </p:cNvPr>
          <p:cNvSpPr>
            <a:spLocks xmlns:a="http://schemas.openxmlformats.org/drawingml/2006/main" noGrp="1"/>
          </p:cNvSpPr>
          <p:nvPr/>
        </p:nvSpPr>
        <p:spPr>
          <a:xfrm xmlns:a="http://schemas.openxmlformats.org/drawingml/2006/main">
            <a:off x="619125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4" name="">
            <a:extLst xmlns:a="http://schemas.openxmlformats.org/drawingml/2006/main">
              <a:ext uri="{FF2B5EF4-FFF2-40B4-BE49-F238E27FC236}">
                <a16:creationId xmlns:a16="http://schemas.microsoft.com/office/drawing/2014/main" id="{45766047-B53C-4DE3-B5D1-8ED709E69041}"/>
              </a:ext>
            </a:extLst>
          </p:cNvPr>
          <p:cNvSpPr>
            <a:spLocks xmlns:a="http://schemas.openxmlformats.org/drawingml/2006/main" noGrp="1"/>
          </p:cNvSpPr>
          <p:nvPr/>
        </p:nvSpPr>
        <p:spPr>
          <a:xfrm xmlns:a="http://schemas.openxmlformats.org/drawingml/2006/main">
            <a:off x="628650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PRICE / BOOK</a:t>
            </a:r>
          </a:p>
        </p:txBody>
      </p:sp>
      <p:graphicFrame>
        <p:nvGraphicFramePr>
          <p:cNvPr id="25" name="Chart">
            <a:extLst xmlns:a="http://schemas.openxmlformats.org/drawingml/2006/main">
              <a:ext uri="{FF2B5EF4-FFF2-40B4-BE49-F238E27FC236}">
                <a16:creationId xmlns:a16="http://schemas.microsoft.com/office/drawing/2014/main" id="{958C2688-9C61-4191-8261-97812979DEA5}"/>
              </a:ext>
            </a:extLst>
          </p:cNvPr>
          <p:cNvGraphicFramePr/>
          <p:nvPr/>
        </p:nvGraphicFramePr>
        <p:xfrm>
          <a:off xmlns:a="http://schemas.openxmlformats.org/drawingml/2006/main" x="647700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bfe89a7652c74999"/>
          </a:graphicData>
        </a:graphic>
      </p:graphicFrame>
      <p:sp>
        <p:nvSpPr>
          <p:cNvPr id="26" name="">
            <a:extLst xmlns:a="http://schemas.openxmlformats.org/drawingml/2006/main">
              <a:ext uri="{FF2B5EF4-FFF2-40B4-BE49-F238E27FC236}">
                <a16:creationId xmlns:a16="http://schemas.microsoft.com/office/drawing/2014/main" id="{7DA9710D-868E-41D3-8E4B-B10413F502C9}"/>
              </a:ext>
            </a:extLst>
          </p:cNvPr>
          <p:cNvSpPr>
            <a:spLocks xmlns:a="http://schemas.openxmlformats.org/drawingml/2006/main" noGrp="1"/>
          </p:cNvSpPr>
          <p:nvPr/>
        </p:nvSpPr>
        <p:spPr>
          <a:xfrm xmlns:a="http://schemas.openxmlformats.org/drawingml/2006/main">
            <a:off x="647700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7" name="">
            <a:extLst xmlns:a="http://schemas.openxmlformats.org/drawingml/2006/main">
              <a:ext uri="{FF2B5EF4-FFF2-40B4-BE49-F238E27FC236}">
                <a16:creationId xmlns:a16="http://schemas.microsoft.com/office/drawing/2014/main" id="{BF63D010-3E27-47E9-8EA7-8F3E4A620BA6}"/>
              </a:ext>
            </a:extLst>
          </p:cNvPr>
          <p:cNvSpPr>
            <a:spLocks xmlns:a="http://schemas.openxmlformats.org/drawingml/2006/main" noGrp="1"/>
          </p:cNvSpPr>
          <p:nvPr/>
        </p:nvSpPr>
        <p:spPr>
          <a:xfrm xmlns:a="http://schemas.openxmlformats.org/drawingml/2006/main">
            <a:off x="664845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28" name="">
            <a:extLst xmlns:a="http://schemas.openxmlformats.org/drawingml/2006/main">
              <a:ext uri="{FF2B5EF4-FFF2-40B4-BE49-F238E27FC236}">
                <a16:creationId xmlns:a16="http://schemas.microsoft.com/office/drawing/2014/main" id="{3298BE58-CC6E-417F-B60A-565D84A889E4}"/>
              </a:ext>
            </a:extLst>
          </p:cNvPr>
          <p:cNvSpPr>
            <a:spLocks xmlns:a="http://schemas.openxmlformats.org/drawingml/2006/main" noGrp="1"/>
          </p:cNvSpPr>
          <p:nvPr/>
        </p:nvSpPr>
        <p:spPr>
          <a:xfrm xmlns:a="http://schemas.openxmlformats.org/drawingml/2006/main">
            <a:off x="733425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29" name="">
            <a:extLst xmlns:a="http://schemas.openxmlformats.org/drawingml/2006/main">
              <a:ext uri="{FF2B5EF4-FFF2-40B4-BE49-F238E27FC236}">
                <a16:creationId xmlns:a16="http://schemas.microsoft.com/office/drawing/2014/main" id="{D2E4B8F7-F645-43D1-8F01-E59CE93693DE}"/>
              </a:ext>
            </a:extLst>
          </p:cNvPr>
          <p:cNvSpPr>
            <a:spLocks xmlns:a="http://schemas.openxmlformats.org/drawingml/2006/main" noGrp="1"/>
          </p:cNvSpPr>
          <p:nvPr/>
        </p:nvSpPr>
        <p:spPr>
          <a:xfrm xmlns:a="http://schemas.openxmlformats.org/drawingml/2006/main">
            <a:off x="750570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30" name="">
            <a:extLst xmlns:a="http://schemas.openxmlformats.org/drawingml/2006/main">
              <a:ext uri="{FF2B5EF4-FFF2-40B4-BE49-F238E27FC236}">
                <a16:creationId xmlns:a16="http://schemas.microsoft.com/office/drawing/2014/main" id="{A0433A64-C386-4818-8EDE-36444AEA026F}"/>
              </a:ext>
            </a:extLst>
          </p:cNvPr>
          <p:cNvSpPr>
            <a:spLocks xmlns:a="http://schemas.openxmlformats.org/drawingml/2006/main" noGrp="1"/>
          </p:cNvSpPr>
          <p:nvPr/>
        </p:nvSpPr>
        <p:spPr>
          <a:xfrm xmlns:a="http://schemas.openxmlformats.org/drawingml/2006/main">
            <a:off x="895350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31" name="">
            <a:extLst xmlns:a="http://schemas.openxmlformats.org/drawingml/2006/main">
              <a:ext uri="{FF2B5EF4-FFF2-40B4-BE49-F238E27FC236}">
                <a16:creationId xmlns:a16="http://schemas.microsoft.com/office/drawing/2014/main" id="{D9EDD335-D496-4168-A3F2-637EF5FEEA19}"/>
              </a:ext>
            </a:extLst>
          </p:cNvPr>
          <p:cNvSpPr>
            <a:spLocks xmlns:a="http://schemas.openxmlformats.org/drawingml/2006/main" noGrp="1"/>
          </p:cNvSpPr>
          <p:nvPr/>
        </p:nvSpPr>
        <p:spPr>
          <a:xfrm xmlns:a="http://schemas.openxmlformats.org/drawingml/2006/main">
            <a:off x="895350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2" name="">
            <a:extLst xmlns:a="http://schemas.openxmlformats.org/drawingml/2006/main">
              <a:ext uri="{FF2B5EF4-FFF2-40B4-BE49-F238E27FC236}">
                <a16:creationId xmlns:a16="http://schemas.microsoft.com/office/drawing/2014/main" id="{1220215E-A46F-4122-82D4-C113AC19F07B}"/>
              </a:ext>
            </a:extLst>
          </p:cNvPr>
          <p:cNvSpPr>
            <a:spLocks xmlns:a="http://schemas.openxmlformats.org/drawingml/2006/main" noGrp="1"/>
          </p:cNvSpPr>
          <p:nvPr/>
        </p:nvSpPr>
        <p:spPr>
          <a:xfrm xmlns:a="http://schemas.openxmlformats.org/drawingml/2006/main">
            <a:off x="904875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TRAILING P / E</a:t>
            </a:r>
          </a:p>
        </p:txBody>
      </p:sp>
      <p:graphicFrame>
        <p:nvGraphicFramePr>
          <p:cNvPr id="33" name="Chart">
            <a:extLst xmlns:a="http://schemas.openxmlformats.org/drawingml/2006/main">
              <a:ext uri="{FF2B5EF4-FFF2-40B4-BE49-F238E27FC236}">
                <a16:creationId xmlns:a16="http://schemas.microsoft.com/office/drawing/2014/main" id="{60182A39-8148-4355-8954-3A2E0C31C06C}"/>
              </a:ext>
            </a:extLst>
          </p:cNvPr>
          <p:cNvGraphicFramePr/>
          <p:nvPr/>
        </p:nvGraphicFramePr>
        <p:xfrm>
          <a:off xmlns:a="http://schemas.openxmlformats.org/drawingml/2006/main" x="923925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25f2d4c0a779478b"/>
          </a:graphicData>
        </a:graphic>
      </p:graphicFrame>
      <p:sp>
        <p:nvSpPr>
          <p:cNvPr id="34" name="">
            <a:extLst xmlns:a="http://schemas.openxmlformats.org/drawingml/2006/main">
              <a:ext uri="{FF2B5EF4-FFF2-40B4-BE49-F238E27FC236}">
                <a16:creationId xmlns:a16="http://schemas.microsoft.com/office/drawing/2014/main" id="{BE88F274-F84D-435C-A088-3E7FAF707197}"/>
              </a:ext>
            </a:extLst>
          </p:cNvPr>
          <p:cNvSpPr>
            <a:spLocks xmlns:a="http://schemas.openxmlformats.org/drawingml/2006/main" noGrp="1"/>
          </p:cNvSpPr>
          <p:nvPr/>
        </p:nvSpPr>
        <p:spPr>
          <a:xfrm xmlns:a="http://schemas.openxmlformats.org/drawingml/2006/main">
            <a:off x="923925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5" name="">
            <a:extLst xmlns:a="http://schemas.openxmlformats.org/drawingml/2006/main">
              <a:ext uri="{FF2B5EF4-FFF2-40B4-BE49-F238E27FC236}">
                <a16:creationId xmlns:a16="http://schemas.microsoft.com/office/drawing/2014/main" id="{95AF6CEC-C963-4DC8-A701-514503E9BA40}"/>
              </a:ext>
            </a:extLst>
          </p:cNvPr>
          <p:cNvSpPr>
            <a:spLocks xmlns:a="http://schemas.openxmlformats.org/drawingml/2006/main" noGrp="1"/>
          </p:cNvSpPr>
          <p:nvPr/>
        </p:nvSpPr>
        <p:spPr>
          <a:xfrm xmlns:a="http://schemas.openxmlformats.org/drawingml/2006/main">
            <a:off x="941070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36" name="">
            <a:extLst xmlns:a="http://schemas.openxmlformats.org/drawingml/2006/main">
              <a:ext uri="{FF2B5EF4-FFF2-40B4-BE49-F238E27FC236}">
                <a16:creationId xmlns:a16="http://schemas.microsoft.com/office/drawing/2014/main" id="{2B89771E-D00E-47C3-8B6C-BCD0D405FC2A}"/>
              </a:ext>
            </a:extLst>
          </p:cNvPr>
          <p:cNvSpPr>
            <a:spLocks xmlns:a="http://schemas.openxmlformats.org/drawingml/2006/main" noGrp="1"/>
          </p:cNvSpPr>
          <p:nvPr/>
        </p:nvSpPr>
        <p:spPr>
          <a:xfrm xmlns:a="http://schemas.openxmlformats.org/drawingml/2006/main">
            <a:off x="1009650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37" name="">
            <a:extLst xmlns:a="http://schemas.openxmlformats.org/drawingml/2006/main">
              <a:ext uri="{FF2B5EF4-FFF2-40B4-BE49-F238E27FC236}">
                <a16:creationId xmlns:a16="http://schemas.microsoft.com/office/drawing/2014/main" id="{F9BF23B5-33E3-41AC-BF2F-AD54A9960030}"/>
              </a:ext>
            </a:extLst>
          </p:cNvPr>
          <p:cNvSpPr>
            <a:spLocks xmlns:a="http://schemas.openxmlformats.org/drawingml/2006/main" noGrp="1"/>
          </p:cNvSpPr>
          <p:nvPr/>
        </p:nvSpPr>
        <p:spPr>
          <a:xfrm xmlns:a="http://schemas.openxmlformats.org/drawingml/2006/main">
            <a:off x="1026795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38" name="">
            <a:extLst xmlns:a="http://schemas.openxmlformats.org/drawingml/2006/main">
              <a:ext uri="{FF2B5EF4-FFF2-40B4-BE49-F238E27FC236}">
                <a16:creationId xmlns:a16="http://schemas.microsoft.com/office/drawing/2014/main" id="{B0BBDB3C-F625-4440-8616-F005520FB689}"/>
              </a:ext>
            </a:extLst>
          </p:cNvPr>
          <p:cNvSpPr>
            <a:spLocks xmlns:a="http://schemas.openxmlformats.org/drawingml/2006/main" noGrp="1"/>
          </p:cNvSpPr>
          <p:nvPr/>
        </p:nvSpPr>
        <p:spPr>
          <a:xfrm xmlns:a="http://schemas.openxmlformats.org/drawingml/2006/main">
            <a:off x="1524000" y="5334000"/>
            <a:ext cx="4095750" cy="723900"/>
          </a:xfrm>
          <a:prstGeom xmlns:a="http://schemas.openxmlformats.org/drawingml/2006/main" prst="roundRect">
            <a:avLst>
              <a:gd name="adj" fmla="val 5263"/>
            </a:avLst>
          </a:prstGeom>
          <a:solidFill xmlns:a="http://schemas.openxmlformats.org/drawingml/2006/main">
            <a:srgbClr val="EAF2F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E266800-3898-4879-B62C-A84859C1D535}"/>
              </a:ext>
            </a:extLst>
          </p:cNvPr>
          <p:cNvSpPr>
            <a:spLocks xmlns:a="http://schemas.openxmlformats.org/drawingml/2006/main" noGrp="1"/>
          </p:cNvSpPr>
          <p:nvPr/>
        </p:nvSpPr>
        <p:spPr>
          <a:xfrm xmlns:a="http://schemas.openxmlformats.org/drawingml/2006/main">
            <a:off x="1638300" y="5410200"/>
            <a:ext cx="3867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4.20%</a:t>
            </a:r>
          </a:p>
        </p:txBody>
      </p:sp>
      <p:sp>
        <p:nvSpPr>
          <p:cNvPr id="40" name="">
            <a:extLst xmlns:a="http://schemas.openxmlformats.org/drawingml/2006/main">
              <a:ext uri="{FF2B5EF4-FFF2-40B4-BE49-F238E27FC236}">
                <a16:creationId xmlns:a16="http://schemas.microsoft.com/office/drawing/2014/main" id="{95FF963D-F501-4E08-BD1B-6B34B9A0FC40}"/>
              </a:ext>
            </a:extLst>
          </p:cNvPr>
          <p:cNvSpPr>
            <a:spLocks xmlns:a="http://schemas.openxmlformats.org/drawingml/2006/main" noGrp="1"/>
          </p:cNvSpPr>
          <p:nvPr/>
        </p:nvSpPr>
        <p:spPr>
          <a:xfrm xmlns:a="http://schemas.openxmlformats.org/drawingml/2006/main">
            <a:off x="1638300" y="5734050"/>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dividend yield</a:t>
            </a:r>
          </a:p>
        </p:txBody>
      </p:sp>
      <p:sp>
        <p:nvSpPr>
          <p:cNvPr id="41" name="">
            <a:extLst xmlns:a="http://schemas.openxmlformats.org/drawingml/2006/main">
              <a:ext uri="{FF2B5EF4-FFF2-40B4-BE49-F238E27FC236}">
                <a16:creationId xmlns:a16="http://schemas.microsoft.com/office/drawing/2014/main" id="{F60AC92C-2F76-4C15-BACE-F7AA659AAF8F}"/>
              </a:ext>
            </a:extLst>
          </p:cNvPr>
          <p:cNvSpPr>
            <a:spLocks xmlns:a="http://schemas.openxmlformats.org/drawingml/2006/main" noGrp="1"/>
          </p:cNvSpPr>
          <p:nvPr/>
        </p:nvSpPr>
        <p:spPr>
          <a:xfrm xmlns:a="http://schemas.openxmlformats.org/drawingml/2006/main">
            <a:off x="6572250" y="5334000"/>
            <a:ext cx="4095750" cy="723900"/>
          </a:xfrm>
          <a:prstGeom xmlns:a="http://schemas.openxmlformats.org/drawingml/2006/main" prst="roundRect">
            <a:avLst>
              <a:gd name="adj" fmla="val 5263"/>
            </a:avLst>
          </a:prstGeom>
          <a:solidFill xmlns:a="http://schemas.openxmlformats.org/drawingml/2006/main">
            <a:srgbClr val="FCEDE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989BD9C-1AE8-40CF-86D3-6B231FFE0B92}"/>
              </a:ext>
            </a:extLst>
          </p:cNvPr>
          <p:cNvSpPr>
            <a:spLocks xmlns:a="http://schemas.openxmlformats.org/drawingml/2006/main" noGrp="1"/>
          </p:cNvSpPr>
          <p:nvPr/>
        </p:nvSpPr>
        <p:spPr>
          <a:xfrm xmlns:a="http://schemas.openxmlformats.org/drawingml/2006/main">
            <a:off x="6686550" y="5410200"/>
            <a:ext cx="3867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3.48%</a:t>
            </a:r>
          </a:p>
        </p:txBody>
      </p:sp>
      <p:sp>
        <p:nvSpPr>
          <p:cNvPr id="43" name="">
            <a:extLst xmlns:a="http://schemas.openxmlformats.org/drawingml/2006/main">
              <a:ext uri="{FF2B5EF4-FFF2-40B4-BE49-F238E27FC236}">
                <a16:creationId xmlns:a16="http://schemas.microsoft.com/office/drawing/2014/main" id="{60C62C87-AB92-4877-A93F-9C1E6D64A7D6}"/>
              </a:ext>
            </a:extLst>
          </p:cNvPr>
          <p:cNvSpPr>
            <a:spLocks xmlns:a="http://schemas.openxmlformats.org/drawingml/2006/main" noGrp="1"/>
          </p:cNvSpPr>
          <p:nvPr/>
        </p:nvSpPr>
        <p:spPr>
          <a:xfrm xmlns:a="http://schemas.openxmlformats.org/drawingml/2006/main">
            <a:off x="6686550" y="5734050"/>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Fintech / platform median dividend yield</a:t>
            </a:r>
          </a:p>
        </p:txBody>
      </p:sp>
    </p:spTree>
    <p:extLst>
      <p:ext uri="{BB962C8B-B14F-4D97-AF65-F5344CB8AC3E}">
        <p14:creationId xmlns:p14="http://schemas.microsoft.com/office/powerpoint/2010/main" val="11475092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B2E4E63-FCD4-4296-9501-05F4B4E04814}"/>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2026 EARNINGS</a:t>
            </a:r>
          </a:p>
        </p:txBody>
      </p:sp>
      <p:sp>
        <p:nvSpPr>
          <p:cNvPr id="2" name="">
            <a:extLst xmlns:a="http://schemas.openxmlformats.org/drawingml/2006/main">
              <a:ext uri="{FF2B5EF4-FFF2-40B4-BE49-F238E27FC236}">
                <a16:creationId xmlns:a16="http://schemas.microsoft.com/office/drawing/2014/main" id="{24363088-1240-484B-AD61-F4B4EC9DE3A6}"/>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H1 2026 exposed business-model dispersion</a:t>
            </a:r>
          </a:p>
        </p:txBody>
      </p:sp>
      <p:sp>
        <p:nvSpPr>
          <p:cNvPr id="3" name="">
            <a:extLst xmlns:a="http://schemas.openxmlformats.org/drawingml/2006/main">
              <a:ext uri="{FF2B5EF4-FFF2-40B4-BE49-F238E27FC236}">
                <a16:creationId xmlns:a16="http://schemas.microsoft.com/office/drawing/2014/main" id="{C43FF303-B677-4E25-AC1F-B41A45511F5A}"/>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Capital-market platforms accelerated; loan facilitators absorbed funding and credit pressure</a:t>
            </a:r>
          </a:p>
        </p:txBody>
      </p:sp>
      <p:sp>
        <p:nvSpPr>
          <p:cNvPr id="4" name="">
            <a:extLst xmlns:a="http://schemas.openxmlformats.org/drawingml/2006/main">
              <a:ext uri="{FF2B5EF4-FFF2-40B4-BE49-F238E27FC236}">
                <a16:creationId xmlns:a16="http://schemas.microsoft.com/office/drawing/2014/main" id="{21AAE6ED-AA53-47EB-86E0-4CA461B6B89F}"/>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workbook; H1 2026 actual, not annualised</a:t>
            </a:r>
          </a:p>
        </p:txBody>
      </p:sp>
      <p:sp>
        <p:nvSpPr>
          <p:cNvPr id="5" name="">
            <a:extLst xmlns:a="http://schemas.openxmlformats.org/drawingml/2006/main">
              <a:ext uri="{FF2B5EF4-FFF2-40B4-BE49-F238E27FC236}">
                <a16:creationId xmlns:a16="http://schemas.microsoft.com/office/drawing/2014/main" id="{F8CA0AB9-55DB-46F3-B32E-00E8BC714EE0}"/>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10</a:t>
            </a:r>
          </a:p>
        </p:txBody>
      </p:sp>
      <p:sp>
        <p:nvSpPr>
          <p:cNvPr id="6" name="">
            <a:extLst xmlns:a="http://schemas.openxmlformats.org/drawingml/2006/main">
              <a:ext uri="{FF2B5EF4-FFF2-40B4-BE49-F238E27FC236}">
                <a16:creationId xmlns:a16="http://schemas.microsoft.com/office/drawing/2014/main" id="{9D2B2BB5-C3CE-4B3D-BF9C-814001E6C678}"/>
              </a:ext>
            </a:extLst>
          </p:cNvPr>
          <p:cNvSpPr>
            <a:spLocks xmlns:a="http://schemas.openxmlformats.org/drawingml/2006/main" noGrp="1"/>
          </p:cNvSpPr>
          <p:nvPr/>
        </p:nvSpPr>
        <p:spPr>
          <a:xfrm xmlns:a="http://schemas.openxmlformats.org/drawingml/2006/main">
            <a:off x="666750" y="1571625"/>
            <a:ext cx="10858500" cy="3857625"/>
          </a:xfrm>
          <a:prstGeom xmlns:a="http://schemas.openxmlformats.org/drawingml/2006/main" prst="roundRect">
            <a:avLst>
              <a:gd name="adj" fmla="val 988"/>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CE3F7171-7918-4E6E-AEF5-209D36DFE895}"/>
              </a:ext>
            </a:extLst>
          </p:cNvPr>
          <p:cNvSpPr>
            <a:spLocks xmlns:a="http://schemas.openxmlformats.org/drawingml/2006/main" noGrp="1"/>
          </p:cNvSpPr>
          <p:nvPr/>
        </p:nvSpPr>
        <p:spPr>
          <a:xfrm xmlns:a="http://schemas.openxmlformats.org/drawingml/2006/main">
            <a:off x="666750" y="1571625"/>
            <a:ext cx="10858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F091F39C-2AB6-4646-8711-84D1C31F3A20}"/>
              </a:ext>
            </a:extLst>
          </p:cNvPr>
          <p:cNvSpPr>
            <a:spLocks xmlns:a="http://schemas.openxmlformats.org/drawingml/2006/main" noGrp="1"/>
          </p:cNvSpPr>
          <p:nvPr/>
        </p:nvSpPr>
        <p:spPr>
          <a:xfrm xmlns:a="http://schemas.openxmlformats.org/drawingml/2006/main">
            <a:off x="762000" y="1600200"/>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H1 2026 YEAR-ON-YEAR GROWTH — %</a:t>
            </a:r>
          </a:p>
        </p:txBody>
      </p:sp>
      <p:graphicFrame>
        <p:nvGraphicFramePr>
          <p:cNvPr id="9" name="Chart">
            <a:extLst xmlns:a="http://schemas.openxmlformats.org/drawingml/2006/main">
              <a:ext uri="{FF2B5EF4-FFF2-40B4-BE49-F238E27FC236}">
                <a16:creationId xmlns:a16="http://schemas.microsoft.com/office/drawing/2014/main" id="{016E990C-B411-43F4-BDC8-5DD20F72EC84}"/>
              </a:ext>
            </a:extLst>
          </p:cNvPr>
          <p:cNvGraphicFramePr/>
          <p:nvPr/>
        </p:nvGraphicFramePr>
        <p:xfrm>
          <a:off xmlns:a="http://schemas.openxmlformats.org/drawingml/2006/main" x="1095375" y="2095500"/>
          <a:ext xmlns:a="http://schemas.openxmlformats.org/drawingml/2006/main" cx="10001250" cy="2905125"/>
        </p:xfrm>
        <a:graphic xmlns:a="http://schemas.openxmlformats.org/drawingml/2006/main">
          <a:graphicData uri="http://schemas.openxmlformats.org/drawingml/2006/chart">
            <c:chart xmlns:r="http://schemas.openxmlformats.org/officeDocument/2006/relationships" xmlns:c="http://schemas.openxmlformats.org/drawingml/2006/chart" r:id="R46388ee899e8406c"/>
          </a:graphicData>
        </a:graphic>
      </p:graphicFrame>
      <p:sp>
        <p:nvSpPr>
          <p:cNvPr id="10" name="">
            <a:extLst xmlns:a="http://schemas.openxmlformats.org/drawingml/2006/main">
              <a:ext uri="{FF2B5EF4-FFF2-40B4-BE49-F238E27FC236}">
                <a16:creationId xmlns:a16="http://schemas.microsoft.com/office/drawing/2014/main" id="{5BFE9D71-B859-43D0-A585-F2ACDD686C68}"/>
              </a:ext>
            </a:extLst>
          </p:cNvPr>
          <p:cNvSpPr>
            <a:spLocks xmlns:a="http://schemas.openxmlformats.org/drawingml/2006/main" noGrp="1"/>
          </p:cNvSpPr>
          <p:nvPr/>
        </p:nvSpPr>
        <p:spPr>
          <a:xfrm xmlns:a="http://schemas.openxmlformats.org/drawingml/2006/main">
            <a:off x="666750" y="5667375"/>
            <a:ext cx="3333750" cy="628650"/>
          </a:xfrm>
          <a:prstGeom xmlns:a="http://schemas.openxmlformats.org/drawingml/2006/main" prst="roundRect">
            <a:avLst>
              <a:gd name="adj" fmla="val 6061"/>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A544B97-BE2F-4AC7-A0FE-3A14190F9D4F}"/>
              </a:ext>
            </a:extLst>
          </p:cNvPr>
          <p:cNvSpPr>
            <a:spLocks xmlns:a="http://schemas.openxmlformats.org/drawingml/2006/main" noGrp="1"/>
          </p:cNvSpPr>
          <p:nvPr/>
        </p:nvSpPr>
        <p:spPr>
          <a:xfrm xmlns:a="http://schemas.openxmlformats.org/drawingml/2006/main">
            <a:off x="781050"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+8.4%</a:t>
            </a:r>
          </a:p>
        </p:txBody>
      </p:sp>
      <p:sp>
        <p:nvSpPr>
          <p:cNvPr id="12" name="">
            <a:extLst xmlns:a="http://schemas.openxmlformats.org/drawingml/2006/main">
              <a:ext uri="{FF2B5EF4-FFF2-40B4-BE49-F238E27FC236}">
                <a16:creationId xmlns:a16="http://schemas.microsoft.com/office/drawing/2014/main" id="{07371B3D-45B7-460F-B850-6D03FAF4EB29}"/>
              </a:ext>
            </a:extLst>
          </p:cNvPr>
          <p:cNvSpPr>
            <a:spLocks xmlns:a="http://schemas.openxmlformats.org/drawingml/2006/main" noGrp="1"/>
          </p:cNvSpPr>
          <p:nvPr/>
        </p:nvSpPr>
        <p:spPr>
          <a:xfrm xmlns:a="http://schemas.openxmlformats.org/drawingml/2006/main">
            <a:off x="781050"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asset growth</a:t>
            </a:r>
          </a:p>
        </p:txBody>
      </p:sp>
      <p:sp>
        <p:nvSpPr>
          <p:cNvPr id="13" name="">
            <a:extLst xmlns:a="http://schemas.openxmlformats.org/drawingml/2006/main">
              <a:ext uri="{FF2B5EF4-FFF2-40B4-BE49-F238E27FC236}">
                <a16:creationId xmlns:a16="http://schemas.microsoft.com/office/drawing/2014/main" id="{4376C97F-0359-422E-B220-BD560E611B83}"/>
              </a:ext>
            </a:extLst>
          </p:cNvPr>
          <p:cNvSpPr>
            <a:spLocks xmlns:a="http://schemas.openxmlformats.org/drawingml/2006/main" noGrp="1"/>
          </p:cNvSpPr>
          <p:nvPr/>
        </p:nvSpPr>
        <p:spPr>
          <a:xfrm xmlns:a="http://schemas.openxmlformats.org/drawingml/2006/main">
            <a:off x="4429125" y="5667375"/>
            <a:ext cx="3333750" cy="628650"/>
          </a:xfrm>
          <a:prstGeom xmlns:a="http://schemas.openxmlformats.org/drawingml/2006/main" prst="roundRect">
            <a:avLst>
              <a:gd name="adj" fmla="val 6061"/>
            </a:avLst>
          </a:prstGeom>
          <a:solidFill xmlns:a="http://schemas.openxmlformats.org/drawingml/2006/main">
            <a:srgbClr val="EAF2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37CE9F8-52C0-4FD2-832D-267327A07CD2}"/>
              </a:ext>
            </a:extLst>
          </p:cNvPr>
          <p:cNvSpPr>
            <a:spLocks xmlns:a="http://schemas.openxmlformats.org/drawingml/2006/main" noGrp="1"/>
          </p:cNvSpPr>
          <p:nvPr/>
        </p:nvSpPr>
        <p:spPr>
          <a:xfrm xmlns:a="http://schemas.openxmlformats.org/drawingml/2006/main">
            <a:off x="4543425"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9.47%</a:t>
            </a:r>
          </a:p>
        </p:txBody>
      </p:sp>
      <p:sp>
        <p:nvSpPr>
          <p:cNvPr id="15" name="">
            <a:extLst xmlns:a="http://schemas.openxmlformats.org/drawingml/2006/main">
              <a:ext uri="{FF2B5EF4-FFF2-40B4-BE49-F238E27FC236}">
                <a16:creationId xmlns:a16="http://schemas.microsoft.com/office/drawing/2014/main" id="{AB760060-0145-4F7F-8646-2C3130D613B0}"/>
              </a:ext>
            </a:extLst>
          </p:cNvPr>
          <p:cNvSpPr>
            <a:spLocks xmlns:a="http://schemas.openxmlformats.org/drawingml/2006/main" noGrp="1"/>
          </p:cNvSpPr>
          <p:nvPr/>
        </p:nvSpPr>
        <p:spPr>
          <a:xfrm xmlns:a="http://schemas.openxmlformats.org/drawingml/2006/main">
            <a:off x="4543425"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common ROE</a:t>
            </a:r>
          </a:p>
        </p:txBody>
      </p:sp>
      <p:sp>
        <p:nvSpPr>
          <p:cNvPr id="16" name="">
            <a:extLst xmlns:a="http://schemas.openxmlformats.org/drawingml/2006/main">
              <a:ext uri="{FF2B5EF4-FFF2-40B4-BE49-F238E27FC236}">
                <a16:creationId xmlns:a16="http://schemas.microsoft.com/office/drawing/2014/main" id="{BE3D0E00-ABF3-4E2D-8BAA-829C2CF816F6}"/>
              </a:ext>
            </a:extLst>
          </p:cNvPr>
          <p:cNvSpPr>
            <a:spLocks xmlns:a="http://schemas.openxmlformats.org/drawingml/2006/main" noGrp="1"/>
          </p:cNvSpPr>
          <p:nvPr/>
        </p:nvSpPr>
        <p:spPr>
          <a:xfrm xmlns:a="http://schemas.openxmlformats.org/drawingml/2006/main">
            <a:off x="8191500" y="5667375"/>
            <a:ext cx="3333750" cy="628650"/>
          </a:xfrm>
          <a:prstGeom xmlns:a="http://schemas.openxmlformats.org/drawingml/2006/main" prst="roundRect">
            <a:avLst>
              <a:gd name="adj" fmla="val 6061"/>
            </a:avLst>
          </a:prstGeom>
          <a:solidFill xmlns:a="http://schemas.openxmlformats.org/drawingml/2006/main">
            <a:srgbClr val="FCEDE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54AB662-EB70-4E76-81EF-6836567E5561}"/>
              </a:ext>
            </a:extLst>
          </p:cNvPr>
          <p:cNvSpPr>
            <a:spLocks xmlns:a="http://schemas.openxmlformats.org/drawingml/2006/main" noGrp="1"/>
          </p:cNvSpPr>
          <p:nvPr/>
        </p:nvSpPr>
        <p:spPr>
          <a:xfrm xmlns:a="http://schemas.openxmlformats.org/drawingml/2006/main">
            <a:off x="8305800"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−28.3%</a:t>
            </a:r>
          </a:p>
        </p:txBody>
      </p:sp>
      <p:sp>
        <p:nvSpPr>
          <p:cNvPr id="18" name="">
            <a:extLst xmlns:a="http://schemas.openxmlformats.org/drawingml/2006/main">
              <a:ext uri="{FF2B5EF4-FFF2-40B4-BE49-F238E27FC236}">
                <a16:creationId xmlns:a16="http://schemas.microsoft.com/office/drawing/2014/main" id="{DAC74353-F54A-43F4-9C77-63F3FDAFFE4C}"/>
              </a:ext>
            </a:extLst>
          </p:cNvPr>
          <p:cNvSpPr>
            <a:spLocks xmlns:a="http://schemas.openxmlformats.org/drawingml/2006/main" noGrp="1"/>
          </p:cNvSpPr>
          <p:nvPr/>
        </p:nvSpPr>
        <p:spPr>
          <a:xfrm xmlns:a="http://schemas.openxmlformats.org/drawingml/2006/main">
            <a:off x="8305800"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Fintech median net-income change</a:t>
            </a:r>
          </a:p>
        </p:txBody>
      </p:sp>
    </p:spTree>
    <p:extLst>
      <p:ext uri="{BB962C8B-B14F-4D97-AF65-F5344CB8AC3E}">
        <p14:creationId xmlns:p14="http://schemas.microsoft.com/office/powerpoint/2010/main" val="19661507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FB5A324-2FD4-4AB5-9859-433A8DD70CC5}"/>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CREDIT ECONOMICS</a:t>
            </a:r>
          </a:p>
        </p:txBody>
      </p:sp>
      <p:sp>
        <p:nvSpPr>
          <p:cNvPr id="2" name="">
            <a:extLst xmlns:a="http://schemas.openxmlformats.org/drawingml/2006/main">
              <a:ext uri="{FF2B5EF4-FFF2-40B4-BE49-F238E27FC236}">
                <a16:creationId xmlns:a16="http://schemas.microsoft.com/office/drawing/2014/main" id="{A1F7537F-CA0F-43D7-B8D2-A997D2980F8B}"/>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Ant shows why enabled credit is not a loan book</a:t>
            </a:r>
          </a:p>
        </p:txBody>
      </p:sp>
      <p:sp>
        <p:nvSpPr>
          <p:cNvPr id="3" name="">
            <a:extLst xmlns:a="http://schemas.openxmlformats.org/drawingml/2006/main">
              <a:ext uri="{FF2B5EF4-FFF2-40B4-BE49-F238E27FC236}">
                <a16:creationId xmlns:a16="http://schemas.microsoft.com/office/drawing/2014/main" id="{811D0809-3105-4418-8E8F-1A733FDC32C1}"/>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Platform distribution scaled first; regulation pushed more economics onto licensed balance sheets</a:t>
            </a:r>
          </a:p>
        </p:txBody>
      </p:sp>
      <p:sp>
        <p:nvSpPr>
          <p:cNvPr id="4" name="">
            <a:extLst xmlns:a="http://schemas.openxmlformats.org/drawingml/2006/main">
              <a:ext uri="{FF2B5EF4-FFF2-40B4-BE49-F238E27FC236}">
                <a16:creationId xmlns:a16="http://schemas.microsoft.com/office/drawing/2014/main" id="{EFB31BF1-8EBD-4BAA-A7AE-CC25B99CFD46}"/>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Ant prospectus; Bloomberg Intelligence 1.pdf</a:t>
            </a:r>
          </a:p>
        </p:txBody>
      </p:sp>
      <p:sp>
        <p:nvSpPr>
          <p:cNvPr id="5" name="">
            <a:extLst xmlns:a="http://schemas.openxmlformats.org/drawingml/2006/main">
              <a:ext uri="{FF2B5EF4-FFF2-40B4-BE49-F238E27FC236}">
                <a16:creationId xmlns:a16="http://schemas.microsoft.com/office/drawing/2014/main" id="{E0B07793-3461-4215-AECC-93AF4C675163}"/>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11</a:t>
            </a:r>
          </a:p>
        </p:txBody>
      </p:sp>
      <p:sp>
        <p:nvSpPr>
          <p:cNvPr id="6" name="">
            <a:extLst xmlns:a="http://schemas.openxmlformats.org/drawingml/2006/main">
              <a:ext uri="{FF2B5EF4-FFF2-40B4-BE49-F238E27FC236}">
                <a16:creationId xmlns:a16="http://schemas.microsoft.com/office/drawing/2014/main" id="{85132DFA-4153-4843-BC42-B7AA9B643B18}"/>
              </a:ext>
            </a:extLst>
          </p:cNvPr>
          <p:cNvSpPr>
            <a:spLocks xmlns:a="http://schemas.openxmlformats.org/drawingml/2006/main" noGrp="1"/>
          </p:cNvSpPr>
          <p:nvPr/>
        </p:nvSpPr>
        <p:spPr>
          <a:xfrm xmlns:a="http://schemas.openxmlformats.org/drawingml/2006/main">
            <a:off x="666750" y="1571625"/>
            <a:ext cx="51435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3190E035-197F-45AA-BA5D-9874BFFA1049}"/>
              </a:ext>
            </a:extLst>
          </p:cNvPr>
          <p:cNvSpPr>
            <a:spLocks xmlns:a="http://schemas.openxmlformats.org/drawingml/2006/main" noGrp="1"/>
          </p:cNvSpPr>
          <p:nvPr/>
        </p:nvSpPr>
        <p:spPr>
          <a:xfrm xmlns:a="http://schemas.openxmlformats.org/drawingml/2006/main">
            <a:off x="666750" y="1571625"/>
            <a:ext cx="5143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8B604330-B1A5-4257-A3F7-F8CF8B6C288F}"/>
              </a:ext>
            </a:extLst>
          </p:cNvPr>
          <p:cNvSpPr>
            <a:spLocks xmlns:a="http://schemas.openxmlformats.org/drawingml/2006/main" noGrp="1"/>
          </p:cNvSpPr>
          <p:nvPr/>
        </p:nvSpPr>
        <p:spPr>
          <a:xfrm xmlns:a="http://schemas.openxmlformats.org/drawingml/2006/main">
            <a:off x="762000" y="16002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JUNE 2020 ENABLED CREDIT — FUNDING SHARE</a:t>
            </a:r>
          </a:p>
        </p:txBody>
      </p:sp>
      <p:graphicFrame>
        <p:nvGraphicFramePr>
          <p:cNvPr id="9" name="Chart">
            <a:extLst xmlns:a="http://schemas.openxmlformats.org/drawingml/2006/main">
              <a:ext uri="{FF2B5EF4-FFF2-40B4-BE49-F238E27FC236}">
                <a16:creationId xmlns:a16="http://schemas.microsoft.com/office/drawing/2014/main" id="{72717ACB-95DE-431B-80D0-CE954904C85F}"/>
              </a:ext>
            </a:extLst>
          </p:cNvPr>
          <p:cNvGraphicFramePr/>
          <p:nvPr/>
        </p:nvGraphicFramePr>
        <p:xfrm>
          <a:off xmlns:a="http://schemas.openxmlformats.org/drawingml/2006/main" x="1095375" y="2381250"/>
          <a:ext xmlns:a="http://schemas.openxmlformats.org/drawingml/2006/main" cx="4286250" cy="1476375"/>
        </p:xfrm>
        <a:graphic xmlns:a="http://schemas.openxmlformats.org/drawingml/2006/main">
          <a:graphicData uri="http://schemas.openxmlformats.org/drawingml/2006/chart">
            <c:chart xmlns:r="http://schemas.openxmlformats.org/officeDocument/2006/relationships" xmlns:c="http://schemas.openxmlformats.org/drawingml/2006/chart" r:id="R5689c1fed3b54c41"/>
          </a:graphicData>
        </a:graphic>
      </p:graphicFrame>
      <p:sp>
        <p:nvSpPr>
          <p:cNvPr id="10" name="">
            <a:extLst xmlns:a="http://schemas.openxmlformats.org/drawingml/2006/main">
              <a:ext uri="{FF2B5EF4-FFF2-40B4-BE49-F238E27FC236}">
                <a16:creationId xmlns:a16="http://schemas.microsoft.com/office/drawing/2014/main" id="{795273CE-CB40-4DEE-994E-35D641D0ADA2}"/>
              </a:ext>
            </a:extLst>
          </p:cNvPr>
          <p:cNvSpPr>
            <a:spLocks xmlns:a="http://schemas.openxmlformats.org/drawingml/2006/main" noGrp="1"/>
          </p:cNvSpPr>
          <p:nvPr/>
        </p:nvSpPr>
        <p:spPr>
          <a:xfrm xmlns:a="http://schemas.openxmlformats.org/drawingml/2006/main">
            <a:off x="1333500" y="4476750"/>
            <a:ext cx="3810000" cy="876300"/>
          </a:xfrm>
          <a:prstGeom xmlns:a="http://schemas.openxmlformats.org/drawingml/2006/main" prst="roundRect">
            <a:avLst>
              <a:gd name="adj" fmla="val 4348"/>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05A9CD2-F016-4A25-BDC9-C1D732EEE545}"/>
              </a:ext>
            </a:extLst>
          </p:cNvPr>
          <p:cNvSpPr>
            <a:spLocks xmlns:a="http://schemas.openxmlformats.org/drawingml/2006/main" noGrp="1"/>
          </p:cNvSpPr>
          <p:nvPr/>
        </p:nvSpPr>
        <p:spPr>
          <a:xfrm xmlns:a="http://schemas.openxmlformats.org/drawingml/2006/main">
            <a:off x="1447800" y="4552950"/>
            <a:ext cx="358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≈98%</a:t>
            </a:r>
          </a:p>
        </p:txBody>
      </p:sp>
      <p:sp>
        <p:nvSpPr>
          <p:cNvPr id="12" name="">
            <a:extLst xmlns:a="http://schemas.openxmlformats.org/drawingml/2006/main">
              <a:ext uri="{FF2B5EF4-FFF2-40B4-BE49-F238E27FC236}">
                <a16:creationId xmlns:a16="http://schemas.microsoft.com/office/drawing/2014/main" id="{FEE37BF8-A3B1-4678-9910-E1D352153F37}"/>
              </a:ext>
            </a:extLst>
          </p:cNvPr>
          <p:cNvSpPr>
            <a:spLocks xmlns:a="http://schemas.openxmlformats.org/drawingml/2006/main" noGrp="1"/>
          </p:cNvSpPr>
          <p:nvPr/>
        </p:nvSpPr>
        <p:spPr>
          <a:xfrm xmlns:a="http://schemas.openxmlformats.org/drawingml/2006/main">
            <a:off x="1447800" y="4876800"/>
            <a:ext cx="358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Funded or underwritten by partners / securitisation</a:t>
            </a:r>
          </a:p>
        </p:txBody>
      </p:sp>
      <p:sp>
        <p:nvSpPr>
          <p:cNvPr id="13" name="">
            <a:extLst xmlns:a="http://schemas.openxmlformats.org/drawingml/2006/main">
              <a:ext uri="{FF2B5EF4-FFF2-40B4-BE49-F238E27FC236}">
                <a16:creationId xmlns:a16="http://schemas.microsoft.com/office/drawing/2014/main" id="{99ED7D49-984F-4FE6-B9B3-52011A0C0044}"/>
              </a:ext>
            </a:extLst>
          </p:cNvPr>
          <p:cNvSpPr>
            <a:spLocks xmlns:a="http://schemas.openxmlformats.org/drawingml/2006/main" noGrp="1"/>
          </p:cNvSpPr>
          <p:nvPr/>
        </p:nvSpPr>
        <p:spPr>
          <a:xfrm xmlns:a="http://schemas.openxmlformats.org/drawingml/2006/main">
            <a:off x="6191250" y="1571625"/>
            <a:ext cx="53340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14" name="">
            <a:extLst xmlns:a="http://schemas.openxmlformats.org/drawingml/2006/main">
              <a:ext uri="{FF2B5EF4-FFF2-40B4-BE49-F238E27FC236}">
                <a16:creationId xmlns:a16="http://schemas.microsoft.com/office/drawing/2014/main" id="{F433A062-D9F6-49FD-963C-36132CE41283}"/>
              </a:ext>
            </a:extLst>
          </p:cNvPr>
          <p:cNvSpPr>
            <a:spLocks xmlns:a="http://schemas.openxmlformats.org/drawingml/2006/main" noGrp="1"/>
          </p:cNvSpPr>
          <p:nvPr/>
        </p:nvSpPr>
        <p:spPr>
          <a:xfrm xmlns:a="http://schemas.openxmlformats.org/drawingml/2006/main">
            <a:off x="6191250" y="1571625"/>
            <a:ext cx="53340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5" name="">
            <a:extLst xmlns:a="http://schemas.openxmlformats.org/drawingml/2006/main">
              <a:ext uri="{FF2B5EF4-FFF2-40B4-BE49-F238E27FC236}">
                <a16:creationId xmlns:a16="http://schemas.microsoft.com/office/drawing/2014/main" id="{C74414E8-8FE0-4326-A2DC-234AE2D829BA}"/>
              </a:ext>
            </a:extLst>
          </p:cNvPr>
          <p:cNvSpPr>
            <a:spLocks xmlns:a="http://schemas.openxmlformats.org/drawingml/2006/main" noGrp="1"/>
          </p:cNvSpPr>
          <p:nvPr/>
        </p:nvSpPr>
        <p:spPr>
          <a:xfrm xmlns:a="http://schemas.openxmlformats.org/drawingml/2006/main">
            <a:off x="6286500" y="160020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ANT CONSUMER FINANCE — 2025 RMB BILLION</a:t>
            </a:r>
          </a:p>
        </p:txBody>
      </p:sp>
      <p:sp>
        <p:nvSpPr>
          <p:cNvPr id="16" name="">
            <a:extLst xmlns:a="http://schemas.openxmlformats.org/drawingml/2006/main">
              <a:ext uri="{FF2B5EF4-FFF2-40B4-BE49-F238E27FC236}">
                <a16:creationId xmlns:a16="http://schemas.microsoft.com/office/drawing/2014/main" id="{47F8EB92-22BC-4F2F-A872-DAD6BC5B2E93}"/>
              </a:ext>
            </a:extLst>
          </p:cNvPr>
          <p:cNvSpPr>
            <a:spLocks xmlns:a="http://schemas.openxmlformats.org/drawingml/2006/main" noGrp="1"/>
          </p:cNvSpPr>
          <p:nvPr/>
        </p:nvSpPr>
        <p:spPr>
          <a:xfrm xmlns:a="http://schemas.openxmlformats.org/drawingml/2006/main">
            <a:off x="6667500" y="2019300"/>
            <a:ext cx="4381500" cy="704850"/>
          </a:xfrm>
          <a:prstGeom xmlns:a="http://schemas.openxmlformats.org/drawingml/2006/main" prst="roundRect">
            <a:avLst>
              <a:gd name="adj" fmla="val 5405"/>
            </a:avLst>
          </a:prstGeom>
          <a:solidFill xmlns:a="http://schemas.openxmlformats.org/drawingml/2006/main">
            <a:srgbClr val="EAF2F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7E45D86-1F69-4BA5-B1A0-9EE3E299A7FB}"/>
              </a:ext>
            </a:extLst>
          </p:cNvPr>
          <p:cNvSpPr>
            <a:spLocks xmlns:a="http://schemas.openxmlformats.org/drawingml/2006/main" noGrp="1"/>
          </p:cNvSpPr>
          <p:nvPr/>
        </p:nvSpPr>
        <p:spPr>
          <a:xfrm xmlns:a="http://schemas.openxmlformats.org/drawingml/2006/main">
            <a:off x="6781800" y="2095500"/>
            <a:ext cx="415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RMB303bn</a:t>
            </a:r>
          </a:p>
        </p:txBody>
      </p:sp>
      <p:sp>
        <p:nvSpPr>
          <p:cNvPr id="18" name="">
            <a:extLst xmlns:a="http://schemas.openxmlformats.org/drawingml/2006/main">
              <a:ext uri="{FF2B5EF4-FFF2-40B4-BE49-F238E27FC236}">
                <a16:creationId xmlns:a16="http://schemas.microsoft.com/office/drawing/2014/main" id="{CE8744C9-4314-46C7-8698-B90F464F84BC}"/>
              </a:ext>
            </a:extLst>
          </p:cNvPr>
          <p:cNvSpPr>
            <a:spLocks xmlns:a="http://schemas.openxmlformats.org/drawingml/2006/main" noGrp="1"/>
          </p:cNvSpPr>
          <p:nvPr/>
        </p:nvSpPr>
        <p:spPr>
          <a:xfrm xmlns:a="http://schemas.openxmlformats.org/drawingml/2006/main">
            <a:off x="6781800" y="2419350"/>
            <a:ext cx="415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On-balance-sheet gross loans</a:t>
            </a:r>
          </a:p>
        </p:txBody>
      </p:sp>
      <p:graphicFrame>
        <p:nvGraphicFramePr>
          <p:cNvPr id="19" name="Chart">
            <a:extLst xmlns:a="http://schemas.openxmlformats.org/drawingml/2006/main">
              <a:ext uri="{FF2B5EF4-FFF2-40B4-BE49-F238E27FC236}">
                <a16:creationId xmlns:a16="http://schemas.microsoft.com/office/drawing/2014/main" id="{854D4E6B-AAAC-4324-A3D7-9F8A48D074E9}"/>
              </a:ext>
            </a:extLst>
          </p:cNvPr>
          <p:cNvGraphicFramePr/>
          <p:nvPr/>
        </p:nvGraphicFramePr>
        <p:xfrm>
          <a:off xmlns:a="http://schemas.openxmlformats.org/drawingml/2006/main" x="6667500" y="3048000"/>
          <a:ext xmlns:a="http://schemas.openxmlformats.org/drawingml/2006/main" cx="4381500" cy="2190750"/>
        </p:xfrm>
        <a:graphic xmlns:a="http://schemas.openxmlformats.org/drawingml/2006/main">
          <a:graphicData uri="http://schemas.openxmlformats.org/drawingml/2006/chart">
            <c:chart xmlns:r="http://schemas.openxmlformats.org/officeDocument/2006/relationships" xmlns:c="http://schemas.openxmlformats.org/drawingml/2006/chart" r:id="R9e21b4649a604d32"/>
          </a:graphicData>
        </a:graphic>
      </p:graphicFrame>
      <p:sp>
        <p:nvSpPr>
          <p:cNvPr id="20" name="">
            <a:extLst xmlns:a="http://schemas.openxmlformats.org/drawingml/2006/main">
              <a:ext uri="{FF2B5EF4-FFF2-40B4-BE49-F238E27FC236}">
                <a16:creationId xmlns:a16="http://schemas.microsoft.com/office/drawing/2014/main" id="{C9CC0B01-131F-4598-9D14-8EE2A65CC831}"/>
              </a:ext>
            </a:extLst>
          </p:cNvPr>
          <p:cNvSpPr>
            <a:spLocks xmlns:a="http://schemas.openxmlformats.org/drawingml/2006/main" noGrp="1"/>
          </p:cNvSpPr>
          <p:nvPr/>
        </p:nvSpPr>
        <p:spPr>
          <a:xfrm xmlns:a="http://schemas.openxmlformats.org/drawingml/2006/main">
            <a:off x="6858000" y="5381625"/>
            <a:ext cx="4000500" cy="323850"/>
          </a:xfrm>
          <a:prstGeom xmlns:a="http://schemas.openxmlformats.org/drawingml/2006/main" prst="roundRect">
            <a:avLst>
              <a:gd name="adj" fmla="val 5882"/>
            </a:avLst>
          </a:prstGeom>
          <a:solidFill xmlns:a="http://schemas.openxmlformats.org/drawingml/2006/main">
            <a:srgbClr val="FCEDE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2B3EF2D-7B44-4428-92A9-DE95C4EF178A}"/>
              </a:ext>
            </a:extLst>
          </p:cNvPr>
          <p:cNvSpPr>
            <a:spLocks xmlns:a="http://schemas.openxmlformats.org/drawingml/2006/main" noGrp="1"/>
          </p:cNvSpPr>
          <p:nvPr/>
        </p:nvSpPr>
        <p:spPr>
          <a:xfrm xmlns:a="http://schemas.openxmlformats.org/drawingml/2006/main">
            <a:off x="7000875" y="54578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38" b="1" i="0">
                <a:solidFill>
                  <a:srgbClr val="E97132"/>
                </a:solidFill>
                <a:latin typeface="Calibri"/>
                <a:ea typeface="Calibri"/>
                <a:cs typeface="Calibri"/>
              </a:defRPr>
            </a:defPPr>
          </a:lstStyle>
          <a:p xmlns:a="http://schemas.openxmlformats.org/drawingml/2006/main">
            <a:pPr algn="ctr">
              <a:lnSpc>
                <a:spcPct val="95000"/>
              </a:lnSpc>
              <a:buNone/>
              <a:defRPr sz="938" b="1" i="0">
                <a:solidFill>
                  <a:srgbClr val="E97132"/>
                </a:solidFill>
                <a:latin typeface="Calibri"/>
                <a:ea typeface="Calibri"/>
                <a:cs typeface="Calibri"/>
              </a:defRPr>
            </a:pPr>
            <a:r>
              <a:rPr sz="938" b="1" i="0">
                <a:solidFill>
                  <a:srgbClr val="E97132"/>
                </a:solidFill>
                <a:latin typeface="Calibri"/>
                <a:ea typeface="Calibri"/>
                <a:cs typeface="Calibri"/>
              </a:rPr>
              <a:t>Credit costs absorbed ~85% of NII</a:t>
            </a:r>
          </a:p>
        </p:txBody>
      </p:sp>
    </p:spTree>
    <p:extLst>
      <p:ext uri="{BB962C8B-B14F-4D97-AF65-F5344CB8AC3E}">
        <p14:creationId xmlns:p14="http://schemas.microsoft.com/office/powerpoint/2010/main" val="183975903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722A94E-B8C5-41DB-AD6D-B75B15AABE71}"/>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REGULATORY RESET</a:t>
            </a:r>
          </a:p>
        </p:txBody>
      </p:sp>
      <p:sp>
        <p:nvSpPr>
          <p:cNvPr id="2" name="">
            <a:extLst xmlns:a="http://schemas.openxmlformats.org/drawingml/2006/main">
              <a:ext uri="{FF2B5EF4-FFF2-40B4-BE49-F238E27FC236}">
                <a16:creationId xmlns:a16="http://schemas.microsoft.com/office/drawing/2014/main" id="{7DF4FF38-2070-4A6B-BC6A-AB0A57ADF135}"/>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Regulation moved risk back inside the perimeter</a:t>
            </a:r>
          </a:p>
        </p:txBody>
      </p:sp>
      <p:sp>
        <p:nvSpPr>
          <p:cNvPr id="3" name="">
            <a:extLst xmlns:a="http://schemas.openxmlformats.org/drawingml/2006/main">
              <a:ext uri="{FF2B5EF4-FFF2-40B4-BE49-F238E27FC236}">
                <a16:creationId xmlns:a16="http://schemas.microsoft.com/office/drawing/2014/main" id="{3E4E9B91-2D33-4CE0-8968-597DF867123D}"/>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interface survived; the economics and accountability changed</a:t>
            </a:r>
          </a:p>
        </p:txBody>
      </p:sp>
      <p:sp>
        <p:nvSpPr>
          <p:cNvPr id="4" name="">
            <a:extLst xmlns:a="http://schemas.openxmlformats.org/drawingml/2006/main">
              <a:ext uri="{FF2B5EF4-FFF2-40B4-BE49-F238E27FC236}">
                <a16:creationId xmlns:a16="http://schemas.microsoft.com/office/drawing/2014/main" id="{94C91141-82C7-45D8-A314-EDD0C8A997FA}"/>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NFRA; State Council; HKEX; BIS</a:t>
            </a:r>
          </a:p>
        </p:txBody>
      </p:sp>
      <p:sp>
        <p:nvSpPr>
          <p:cNvPr id="5" name="">
            <a:extLst xmlns:a="http://schemas.openxmlformats.org/drawingml/2006/main">
              <a:ext uri="{FF2B5EF4-FFF2-40B4-BE49-F238E27FC236}">
                <a16:creationId xmlns:a16="http://schemas.microsoft.com/office/drawing/2014/main" id="{42BC3AC0-E2DE-4F56-B218-9A21BEC8AB65}"/>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12</a:t>
            </a:r>
          </a:p>
        </p:txBody>
      </p:sp>
      <p:sp>
        <p:nvSpPr>
          <p:cNvPr id="6" name="">
            <a:extLst xmlns:a="http://schemas.openxmlformats.org/drawingml/2006/main">
              <a:ext uri="{FF2B5EF4-FFF2-40B4-BE49-F238E27FC236}">
                <a16:creationId xmlns:a16="http://schemas.microsoft.com/office/drawing/2014/main" id="{39049EB5-402B-45D4-A0A8-2E7B1F9D5332}"/>
              </a:ext>
            </a:extLst>
          </p:cNvPr>
          <p:cNvSpPr>
            <a:spLocks xmlns:a="http://schemas.openxmlformats.org/drawingml/2006/main" noGrp="1"/>
          </p:cNvSpPr>
          <p:nvPr/>
        </p:nvSpPr>
        <p:spPr>
          <a:xfrm xmlns:a="http://schemas.openxmlformats.org/drawingml/2006/main">
            <a:off x="1095375" y="3238500"/>
            <a:ext cx="10001250" cy="0"/>
          </a:xfrm>
          <a:prstGeom xmlns:a="http://schemas.openxmlformats.org/drawingml/2006/main" prst="line">
            <a:avLst/>
          </a:prstGeom>
          <a:noFill xmlns:a="http://schemas.openxmlformats.org/drawingml/2006/main"/>
          <a:ln xmlns:a="http://schemas.openxmlformats.org/drawingml/2006/main" w="28575">
            <a:solidFill>
              <a:srgbClr val="002060"/>
            </a:solidFill>
            <a:prstDash val="solid"/>
          </a:ln>
        </p:spPr>
      </p:sp>
      <p:sp>
        <p:nvSpPr>
          <p:cNvPr id="7" name="">
            <a:extLst xmlns:a="http://schemas.openxmlformats.org/drawingml/2006/main">
              <a:ext uri="{FF2B5EF4-FFF2-40B4-BE49-F238E27FC236}">
                <a16:creationId xmlns:a16="http://schemas.microsoft.com/office/drawing/2014/main" id="{FCE64FA5-7219-443E-8A11-7C119002AA2B}"/>
              </a:ext>
            </a:extLst>
          </p:cNvPr>
          <p:cNvSpPr>
            <a:spLocks xmlns:a="http://schemas.openxmlformats.org/drawingml/2006/main" noGrp="1"/>
          </p:cNvSpPr>
          <p:nvPr/>
        </p:nvSpPr>
        <p:spPr>
          <a:xfrm xmlns:a="http://schemas.openxmlformats.org/drawingml/2006/main">
            <a:off x="10953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7C718001-DC4B-4D7E-B717-7326CE949C05}"/>
              </a:ext>
            </a:extLst>
          </p:cNvPr>
          <p:cNvSpPr>
            <a:spLocks xmlns:a="http://schemas.openxmlformats.org/drawingml/2006/main" noGrp="1"/>
          </p:cNvSpPr>
          <p:nvPr/>
        </p:nvSpPr>
        <p:spPr>
          <a:xfrm xmlns:a="http://schemas.openxmlformats.org/drawingml/2006/main">
            <a:off x="40957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BBD5077-1620-4764-80D6-42924BA942E7}"/>
              </a:ext>
            </a:extLst>
          </p:cNvPr>
          <p:cNvSpPr>
            <a:spLocks xmlns:a="http://schemas.openxmlformats.org/drawingml/2006/main" noGrp="1"/>
          </p:cNvSpPr>
          <p:nvPr/>
        </p:nvSpPr>
        <p:spPr>
          <a:xfrm xmlns:a="http://schemas.openxmlformats.org/drawingml/2006/main">
            <a:off x="54292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2010</a:t>
            </a:r>
          </a:p>
        </p:txBody>
      </p:sp>
      <p:sp>
        <p:nvSpPr>
          <p:cNvPr id="10" name="">
            <a:extLst xmlns:a="http://schemas.openxmlformats.org/drawingml/2006/main">
              <a:ext uri="{FF2B5EF4-FFF2-40B4-BE49-F238E27FC236}">
                <a16:creationId xmlns:a16="http://schemas.microsoft.com/office/drawing/2014/main" id="{C57EF571-04E8-4004-8D1B-7040C461C725}"/>
              </a:ext>
            </a:extLst>
          </p:cNvPr>
          <p:cNvSpPr>
            <a:spLocks xmlns:a="http://schemas.openxmlformats.org/drawingml/2006/main" noGrp="1"/>
          </p:cNvSpPr>
          <p:nvPr/>
        </p:nvSpPr>
        <p:spPr>
          <a:xfrm xmlns:a="http://schemas.openxmlformats.org/drawingml/2006/main">
            <a:off x="52387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PAYMENT</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LICENCES</a:t>
            </a:r>
          </a:p>
        </p:txBody>
      </p:sp>
      <p:sp>
        <p:nvSpPr>
          <p:cNvPr id="11" name="">
            <a:extLst xmlns:a="http://schemas.openxmlformats.org/drawingml/2006/main">
              <a:ext uri="{FF2B5EF4-FFF2-40B4-BE49-F238E27FC236}">
                <a16:creationId xmlns:a16="http://schemas.microsoft.com/office/drawing/2014/main" id="{400E92E6-D1F2-47F0-9595-F882049752AC}"/>
              </a:ext>
            </a:extLst>
          </p:cNvPr>
          <p:cNvSpPr>
            <a:spLocks xmlns:a="http://schemas.openxmlformats.org/drawingml/2006/main" noGrp="1"/>
          </p:cNvSpPr>
          <p:nvPr/>
        </p:nvSpPr>
        <p:spPr>
          <a:xfrm xmlns:a="http://schemas.openxmlformats.org/drawingml/2006/main">
            <a:off x="119062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2" name="">
            <a:extLst xmlns:a="http://schemas.openxmlformats.org/drawingml/2006/main">
              <a:ext uri="{FF2B5EF4-FFF2-40B4-BE49-F238E27FC236}">
                <a16:creationId xmlns:a16="http://schemas.microsoft.com/office/drawing/2014/main" id="{AF6274C2-3867-4A32-BA7F-C38A72D09BDF}"/>
              </a:ext>
            </a:extLst>
          </p:cNvPr>
          <p:cNvSpPr>
            <a:spLocks xmlns:a="http://schemas.openxmlformats.org/drawingml/2006/main" noGrp="1"/>
          </p:cNvSpPr>
          <p:nvPr/>
        </p:nvSpPr>
        <p:spPr>
          <a:xfrm xmlns:a="http://schemas.openxmlformats.org/drawingml/2006/main">
            <a:off x="30003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3" name="">
            <a:extLst xmlns:a="http://schemas.openxmlformats.org/drawingml/2006/main">
              <a:ext uri="{FF2B5EF4-FFF2-40B4-BE49-F238E27FC236}">
                <a16:creationId xmlns:a16="http://schemas.microsoft.com/office/drawing/2014/main" id="{6BC48047-87CF-44DA-A188-D7B0A163EBC4}"/>
              </a:ext>
            </a:extLst>
          </p:cNvPr>
          <p:cNvSpPr>
            <a:spLocks xmlns:a="http://schemas.openxmlformats.org/drawingml/2006/main" noGrp="1"/>
          </p:cNvSpPr>
          <p:nvPr/>
        </p:nvSpPr>
        <p:spPr>
          <a:xfrm xmlns:a="http://schemas.openxmlformats.org/drawingml/2006/main">
            <a:off x="23145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A229F13-A63D-45EB-882D-C7B24A5C6B38}"/>
              </a:ext>
            </a:extLst>
          </p:cNvPr>
          <p:cNvSpPr>
            <a:spLocks xmlns:a="http://schemas.openxmlformats.org/drawingml/2006/main" noGrp="1"/>
          </p:cNvSpPr>
          <p:nvPr/>
        </p:nvSpPr>
        <p:spPr>
          <a:xfrm xmlns:a="http://schemas.openxmlformats.org/drawingml/2006/main">
            <a:off x="24479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2017–19</a:t>
            </a:r>
          </a:p>
        </p:txBody>
      </p:sp>
      <p:sp>
        <p:nvSpPr>
          <p:cNvPr id="15" name="">
            <a:extLst xmlns:a="http://schemas.openxmlformats.org/drawingml/2006/main">
              <a:ext uri="{FF2B5EF4-FFF2-40B4-BE49-F238E27FC236}">
                <a16:creationId xmlns:a16="http://schemas.microsoft.com/office/drawing/2014/main" id="{22D730B9-5BC1-4C05-BC76-D8403AA25B8B}"/>
              </a:ext>
            </a:extLst>
          </p:cNvPr>
          <p:cNvSpPr>
            <a:spLocks xmlns:a="http://schemas.openxmlformats.org/drawingml/2006/main" noGrp="1"/>
          </p:cNvSpPr>
          <p:nvPr/>
        </p:nvSpPr>
        <p:spPr>
          <a:xfrm xmlns:a="http://schemas.openxmlformats.org/drawingml/2006/main">
            <a:off x="24288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NETSUNION +</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100% RESERVES</a:t>
            </a:r>
          </a:p>
        </p:txBody>
      </p:sp>
      <p:sp>
        <p:nvSpPr>
          <p:cNvPr id="16" name="">
            <a:extLst xmlns:a="http://schemas.openxmlformats.org/drawingml/2006/main">
              <a:ext uri="{FF2B5EF4-FFF2-40B4-BE49-F238E27FC236}">
                <a16:creationId xmlns:a16="http://schemas.microsoft.com/office/drawing/2014/main" id="{897B049C-0365-4A4E-AB03-C47F32968C46}"/>
              </a:ext>
            </a:extLst>
          </p:cNvPr>
          <p:cNvSpPr>
            <a:spLocks xmlns:a="http://schemas.openxmlformats.org/drawingml/2006/main" noGrp="1"/>
          </p:cNvSpPr>
          <p:nvPr/>
        </p:nvSpPr>
        <p:spPr>
          <a:xfrm xmlns:a="http://schemas.openxmlformats.org/drawingml/2006/main">
            <a:off x="30956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6A2A712A-7BED-45A3-BA8F-DDD43A5B9829}"/>
              </a:ext>
            </a:extLst>
          </p:cNvPr>
          <p:cNvSpPr>
            <a:spLocks xmlns:a="http://schemas.openxmlformats.org/drawingml/2006/main" noGrp="1"/>
          </p:cNvSpPr>
          <p:nvPr/>
        </p:nvSpPr>
        <p:spPr>
          <a:xfrm xmlns:a="http://schemas.openxmlformats.org/drawingml/2006/main">
            <a:off x="5000625" y="3143250"/>
            <a:ext cx="190500" cy="1905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18" name="">
            <a:extLst xmlns:a="http://schemas.openxmlformats.org/drawingml/2006/main">
              <a:ext uri="{FF2B5EF4-FFF2-40B4-BE49-F238E27FC236}">
                <a16:creationId xmlns:a16="http://schemas.microsoft.com/office/drawing/2014/main" id="{573A5553-0F99-4627-8EBC-370696599276}"/>
              </a:ext>
            </a:extLst>
          </p:cNvPr>
          <p:cNvSpPr>
            <a:spLocks xmlns:a="http://schemas.openxmlformats.org/drawingml/2006/main" noGrp="1"/>
          </p:cNvSpPr>
          <p:nvPr/>
        </p:nvSpPr>
        <p:spPr>
          <a:xfrm xmlns:a="http://schemas.openxmlformats.org/drawingml/2006/main">
            <a:off x="431482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8189A87-C73B-40ED-B32B-B09075521650}"/>
              </a:ext>
            </a:extLst>
          </p:cNvPr>
          <p:cNvSpPr>
            <a:spLocks xmlns:a="http://schemas.openxmlformats.org/drawingml/2006/main" noGrp="1"/>
          </p:cNvSpPr>
          <p:nvPr/>
        </p:nvSpPr>
        <p:spPr>
          <a:xfrm xmlns:a="http://schemas.openxmlformats.org/drawingml/2006/main">
            <a:off x="444817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2020</a:t>
            </a:r>
          </a:p>
        </p:txBody>
      </p:sp>
      <p:sp>
        <p:nvSpPr>
          <p:cNvPr id="20" name="">
            <a:extLst xmlns:a="http://schemas.openxmlformats.org/drawingml/2006/main">
              <a:ext uri="{FF2B5EF4-FFF2-40B4-BE49-F238E27FC236}">
                <a16:creationId xmlns:a16="http://schemas.microsoft.com/office/drawing/2014/main" id="{62E937A3-97F7-4228-A6BB-7DAE054C9D77}"/>
              </a:ext>
            </a:extLst>
          </p:cNvPr>
          <p:cNvSpPr>
            <a:spLocks xmlns:a="http://schemas.openxmlformats.org/drawingml/2006/main" noGrp="1"/>
          </p:cNvSpPr>
          <p:nvPr/>
        </p:nvSpPr>
        <p:spPr>
          <a:xfrm xmlns:a="http://schemas.openxmlformats.org/drawingml/2006/main">
            <a:off x="442912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ANT IPO HALT +</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P2P CLOSURE</a:t>
            </a:r>
          </a:p>
        </p:txBody>
      </p:sp>
      <p:sp>
        <p:nvSpPr>
          <p:cNvPr id="21" name="">
            <a:extLst xmlns:a="http://schemas.openxmlformats.org/drawingml/2006/main">
              <a:ext uri="{FF2B5EF4-FFF2-40B4-BE49-F238E27FC236}">
                <a16:creationId xmlns:a16="http://schemas.microsoft.com/office/drawing/2014/main" id="{D48CF210-F7D4-45F9-9367-BC5B82B2B097}"/>
              </a:ext>
            </a:extLst>
          </p:cNvPr>
          <p:cNvSpPr>
            <a:spLocks xmlns:a="http://schemas.openxmlformats.org/drawingml/2006/main" noGrp="1"/>
          </p:cNvSpPr>
          <p:nvPr/>
        </p:nvSpPr>
        <p:spPr>
          <a:xfrm xmlns:a="http://schemas.openxmlformats.org/drawingml/2006/main">
            <a:off x="509587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22" name="">
            <a:extLst xmlns:a="http://schemas.openxmlformats.org/drawingml/2006/main">
              <a:ext uri="{FF2B5EF4-FFF2-40B4-BE49-F238E27FC236}">
                <a16:creationId xmlns:a16="http://schemas.microsoft.com/office/drawing/2014/main" id="{F228AC6C-9F85-458E-8DBA-B34F89D62C51}"/>
              </a:ext>
            </a:extLst>
          </p:cNvPr>
          <p:cNvSpPr>
            <a:spLocks xmlns:a="http://schemas.openxmlformats.org/drawingml/2006/main" noGrp="1"/>
          </p:cNvSpPr>
          <p:nvPr/>
        </p:nvSpPr>
        <p:spPr>
          <a:xfrm xmlns:a="http://schemas.openxmlformats.org/drawingml/2006/main">
            <a:off x="7000875" y="3143250"/>
            <a:ext cx="190500" cy="1905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3" name="">
            <a:extLst xmlns:a="http://schemas.openxmlformats.org/drawingml/2006/main">
              <a:ext uri="{FF2B5EF4-FFF2-40B4-BE49-F238E27FC236}">
                <a16:creationId xmlns:a16="http://schemas.microsoft.com/office/drawing/2014/main" id="{5A246C59-EA2A-4C60-B006-15CDD1D92E0F}"/>
              </a:ext>
            </a:extLst>
          </p:cNvPr>
          <p:cNvSpPr>
            <a:spLocks xmlns:a="http://schemas.openxmlformats.org/drawingml/2006/main" noGrp="1"/>
          </p:cNvSpPr>
          <p:nvPr/>
        </p:nvSpPr>
        <p:spPr>
          <a:xfrm xmlns:a="http://schemas.openxmlformats.org/drawingml/2006/main">
            <a:off x="63150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B9763A3-84B4-4404-BF9E-0332EB152386}"/>
              </a:ext>
            </a:extLst>
          </p:cNvPr>
          <p:cNvSpPr>
            <a:spLocks xmlns:a="http://schemas.openxmlformats.org/drawingml/2006/main" noGrp="1"/>
          </p:cNvSpPr>
          <p:nvPr/>
        </p:nvSpPr>
        <p:spPr>
          <a:xfrm xmlns:a="http://schemas.openxmlformats.org/drawingml/2006/main">
            <a:off x="64484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2021</a:t>
            </a:r>
          </a:p>
        </p:txBody>
      </p:sp>
      <p:sp>
        <p:nvSpPr>
          <p:cNvPr id="25" name="">
            <a:extLst xmlns:a="http://schemas.openxmlformats.org/drawingml/2006/main">
              <a:ext uri="{FF2B5EF4-FFF2-40B4-BE49-F238E27FC236}">
                <a16:creationId xmlns:a16="http://schemas.microsoft.com/office/drawing/2014/main" id="{6B790030-6CCC-4F7A-89AE-DB87E055F168}"/>
              </a:ext>
            </a:extLst>
          </p:cNvPr>
          <p:cNvSpPr>
            <a:spLocks xmlns:a="http://schemas.openxmlformats.org/drawingml/2006/main" noGrp="1"/>
          </p:cNvSpPr>
          <p:nvPr/>
        </p:nvSpPr>
        <p:spPr>
          <a:xfrm xmlns:a="http://schemas.openxmlformats.org/drawingml/2006/main">
            <a:off x="64293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30% CO-LENDING</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CAPITAL</a:t>
            </a:r>
          </a:p>
        </p:txBody>
      </p:sp>
      <p:sp>
        <p:nvSpPr>
          <p:cNvPr id="26" name="">
            <a:extLst xmlns:a="http://schemas.openxmlformats.org/drawingml/2006/main">
              <a:ext uri="{FF2B5EF4-FFF2-40B4-BE49-F238E27FC236}">
                <a16:creationId xmlns:a16="http://schemas.microsoft.com/office/drawing/2014/main" id="{4ED7C5D5-3294-4D5E-B1C4-995BDE28A9D3}"/>
              </a:ext>
            </a:extLst>
          </p:cNvPr>
          <p:cNvSpPr>
            <a:spLocks xmlns:a="http://schemas.openxmlformats.org/drawingml/2006/main" noGrp="1"/>
          </p:cNvSpPr>
          <p:nvPr/>
        </p:nvSpPr>
        <p:spPr>
          <a:xfrm xmlns:a="http://schemas.openxmlformats.org/drawingml/2006/main">
            <a:off x="70961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27" name="">
            <a:extLst xmlns:a="http://schemas.openxmlformats.org/drawingml/2006/main">
              <a:ext uri="{FF2B5EF4-FFF2-40B4-BE49-F238E27FC236}">
                <a16:creationId xmlns:a16="http://schemas.microsoft.com/office/drawing/2014/main" id="{AA87A050-B3BD-42B6-AD04-38ECEECDDFC3}"/>
              </a:ext>
            </a:extLst>
          </p:cNvPr>
          <p:cNvSpPr>
            <a:spLocks xmlns:a="http://schemas.openxmlformats.org/drawingml/2006/main" noGrp="1"/>
          </p:cNvSpPr>
          <p:nvPr/>
        </p:nvSpPr>
        <p:spPr>
          <a:xfrm xmlns:a="http://schemas.openxmlformats.org/drawingml/2006/main">
            <a:off x="89058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8" name="">
            <a:extLst xmlns:a="http://schemas.openxmlformats.org/drawingml/2006/main">
              <a:ext uri="{FF2B5EF4-FFF2-40B4-BE49-F238E27FC236}">
                <a16:creationId xmlns:a16="http://schemas.microsoft.com/office/drawing/2014/main" id="{D0529371-6AF9-437B-B527-036CC8D8FA28}"/>
              </a:ext>
            </a:extLst>
          </p:cNvPr>
          <p:cNvSpPr>
            <a:spLocks xmlns:a="http://schemas.openxmlformats.org/drawingml/2006/main" noGrp="1"/>
          </p:cNvSpPr>
          <p:nvPr/>
        </p:nvSpPr>
        <p:spPr>
          <a:xfrm xmlns:a="http://schemas.openxmlformats.org/drawingml/2006/main">
            <a:off x="822007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B880880-7946-4407-B925-8B1C0E00C756}"/>
              </a:ext>
            </a:extLst>
          </p:cNvPr>
          <p:cNvSpPr>
            <a:spLocks xmlns:a="http://schemas.openxmlformats.org/drawingml/2006/main" noGrp="1"/>
          </p:cNvSpPr>
          <p:nvPr/>
        </p:nvSpPr>
        <p:spPr>
          <a:xfrm xmlns:a="http://schemas.openxmlformats.org/drawingml/2006/main">
            <a:off x="835342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2024</a:t>
            </a:r>
          </a:p>
        </p:txBody>
      </p:sp>
      <p:sp>
        <p:nvSpPr>
          <p:cNvPr id="30" name="">
            <a:extLst xmlns:a="http://schemas.openxmlformats.org/drawingml/2006/main">
              <a:ext uri="{FF2B5EF4-FFF2-40B4-BE49-F238E27FC236}">
                <a16:creationId xmlns:a16="http://schemas.microsoft.com/office/drawing/2014/main" id="{AF9DA5A5-8809-4452-A835-EF3F0EAC0D00}"/>
              </a:ext>
            </a:extLst>
          </p:cNvPr>
          <p:cNvSpPr>
            <a:spLocks xmlns:a="http://schemas.openxmlformats.org/drawingml/2006/main" noGrp="1"/>
          </p:cNvSpPr>
          <p:nvPr/>
        </p:nvSpPr>
        <p:spPr>
          <a:xfrm xmlns:a="http://schemas.openxmlformats.org/drawingml/2006/main">
            <a:off x="833437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NEW PAYMENT</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REGULATION</a:t>
            </a:r>
          </a:p>
        </p:txBody>
      </p:sp>
      <p:sp>
        <p:nvSpPr>
          <p:cNvPr id="31" name="">
            <a:extLst xmlns:a="http://schemas.openxmlformats.org/drawingml/2006/main">
              <a:ext uri="{FF2B5EF4-FFF2-40B4-BE49-F238E27FC236}">
                <a16:creationId xmlns:a16="http://schemas.microsoft.com/office/drawing/2014/main" id="{22704638-1AEB-49AD-9153-F0101BEE6598}"/>
              </a:ext>
            </a:extLst>
          </p:cNvPr>
          <p:cNvSpPr>
            <a:spLocks xmlns:a="http://schemas.openxmlformats.org/drawingml/2006/main" noGrp="1"/>
          </p:cNvSpPr>
          <p:nvPr/>
        </p:nvSpPr>
        <p:spPr>
          <a:xfrm xmlns:a="http://schemas.openxmlformats.org/drawingml/2006/main">
            <a:off x="900112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32" name="">
            <a:extLst xmlns:a="http://schemas.openxmlformats.org/drawingml/2006/main">
              <a:ext uri="{FF2B5EF4-FFF2-40B4-BE49-F238E27FC236}">
                <a16:creationId xmlns:a16="http://schemas.microsoft.com/office/drawing/2014/main" id="{0DAE3821-E594-441B-9D9C-808A2609F548}"/>
              </a:ext>
            </a:extLst>
          </p:cNvPr>
          <p:cNvSpPr>
            <a:spLocks xmlns:a="http://schemas.openxmlformats.org/drawingml/2006/main" noGrp="1"/>
          </p:cNvSpPr>
          <p:nvPr/>
        </p:nvSpPr>
        <p:spPr>
          <a:xfrm xmlns:a="http://schemas.openxmlformats.org/drawingml/2006/main">
            <a:off x="108108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3" name="">
            <a:extLst xmlns:a="http://schemas.openxmlformats.org/drawingml/2006/main">
              <a:ext uri="{FF2B5EF4-FFF2-40B4-BE49-F238E27FC236}">
                <a16:creationId xmlns:a16="http://schemas.microsoft.com/office/drawing/2014/main" id="{59B5E560-E28D-4F31-B8B0-CD18FB2F0417}"/>
              </a:ext>
            </a:extLst>
          </p:cNvPr>
          <p:cNvSpPr>
            <a:spLocks xmlns:a="http://schemas.openxmlformats.org/drawingml/2006/main" noGrp="1"/>
          </p:cNvSpPr>
          <p:nvPr/>
        </p:nvSpPr>
        <p:spPr>
          <a:xfrm xmlns:a="http://schemas.openxmlformats.org/drawingml/2006/main">
            <a:off x="101250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C1D8081-2A12-4ED8-ADB9-207268F082B8}"/>
              </a:ext>
            </a:extLst>
          </p:cNvPr>
          <p:cNvSpPr>
            <a:spLocks xmlns:a="http://schemas.openxmlformats.org/drawingml/2006/main" noGrp="1"/>
          </p:cNvSpPr>
          <p:nvPr/>
        </p:nvSpPr>
        <p:spPr>
          <a:xfrm xmlns:a="http://schemas.openxmlformats.org/drawingml/2006/main">
            <a:off x="102584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2025–26</a:t>
            </a:r>
          </a:p>
        </p:txBody>
      </p:sp>
      <p:sp>
        <p:nvSpPr>
          <p:cNvPr id="35" name="">
            <a:extLst xmlns:a="http://schemas.openxmlformats.org/drawingml/2006/main">
              <a:ext uri="{FF2B5EF4-FFF2-40B4-BE49-F238E27FC236}">
                <a16:creationId xmlns:a16="http://schemas.microsoft.com/office/drawing/2014/main" id="{8D65F9D9-C849-4D16-85D0-9C0A1356A699}"/>
              </a:ext>
            </a:extLst>
          </p:cNvPr>
          <p:cNvSpPr>
            <a:spLocks xmlns:a="http://schemas.openxmlformats.org/drawingml/2006/main" noGrp="1"/>
          </p:cNvSpPr>
          <p:nvPr/>
        </p:nvSpPr>
        <p:spPr>
          <a:xfrm xmlns:a="http://schemas.openxmlformats.org/drawingml/2006/main">
            <a:off x="102393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COST + MARKETING</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DISCLOSURE</a:t>
            </a:r>
          </a:p>
        </p:txBody>
      </p:sp>
      <p:sp>
        <p:nvSpPr>
          <p:cNvPr id="36" name="">
            <a:extLst xmlns:a="http://schemas.openxmlformats.org/drawingml/2006/main">
              <a:ext uri="{FF2B5EF4-FFF2-40B4-BE49-F238E27FC236}">
                <a16:creationId xmlns:a16="http://schemas.microsoft.com/office/drawing/2014/main" id="{3E510BDB-E1D9-422E-A2A8-B035AEC6C08E}"/>
              </a:ext>
            </a:extLst>
          </p:cNvPr>
          <p:cNvSpPr>
            <a:spLocks xmlns:a="http://schemas.openxmlformats.org/drawingml/2006/main" noGrp="1"/>
          </p:cNvSpPr>
          <p:nvPr/>
        </p:nvSpPr>
        <p:spPr>
          <a:xfrm xmlns:a="http://schemas.openxmlformats.org/drawingml/2006/main">
            <a:off x="109061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37" name="">
            <a:extLst xmlns:a="http://schemas.openxmlformats.org/drawingml/2006/main">
              <a:ext uri="{FF2B5EF4-FFF2-40B4-BE49-F238E27FC236}">
                <a16:creationId xmlns:a16="http://schemas.microsoft.com/office/drawing/2014/main" id="{5727DA27-2636-41BE-9AAD-80AB1F510697}"/>
              </a:ext>
            </a:extLst>
          </p:cNvPr>
          <p:cNvSpPr>
            <a:spLocks xmlns:a="http://schemas.openxmlformats.org/drawingml/2006/main" noGrp="1"/>
          </p:cNvSpPr>
          <p:nvPr/>
        </p:nvSpPr>
        <p:spPr>
          <a:xfrm xmlns:a="http://schemas.openxmlformats.org/drawingml/2006/main">
            <a:off x="1428750" y="5286375"/>
            <a:ext cx="4286250" cy="495300"/>
          </a:xfrm>
          <a:prstGeom xmlns:a="http://schemas.openxmlformats.org/drawingml/2006/main" prst="roundRect">
            <a:avLst>
              <a:gd name="adj" fmla="val 5769"/>
            </a:avLst>
          </a:prstGeom>
          <a:solidFill xmlns:a="http://schemas.openxmlformats.org/drawingml/2006/main">
            <a:srgbClr val="FCEDE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E3331DF-0C3F-4056-8CCF-77FEC88FE0F8}"/>
              </a:ext>
            </a:extLst>
          </p:cNvPr>
          <p:cNvSpPr>
            <a:spLocks xmlns:a="http://schemas.openxmlformats.org/drawingml/2006/main" noGrp="1"/>
          </p:cNvSpPr>
          <p:nvPr/>
        </p:nvSpPr>
        <p:spPr>
          <a:xfrm xmlns:a="http://schemas.openxmlformats.org/drawingml/2006/main">
            <a:off x="1619250" y="5419725"/>
            <a:ext cx="3905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PLATFORM AUTONOMY  ↓</a:t>
            </a:r>
          </a:p>
        </p:txBody>
      </p:sp>
      <p:sp>
        <p:nvSpPr>
          <p:cNvPr id="39" name="">
            <a:extLst xmlns:a="http://schemas.openxmlformats.org/drawingml/2006/main">
              <a:ext uri="{FF2B5EF4-FFF2-40B4-BE49-F238E27FC236}">
                <a16:creationId xmlns:a16="http://schemas.microsoft.com/office/drawing/2014/main" id="{69F5867B-D9AB-4737-A908-ACFC19FCEE07}"/>
              </a:ext>
            </a:extLst>
          </p:cNvPr>
          <p:cNvSpPr>
            <a:spLocks xmlns:a="http://schemas.openxmlformats.org/drawingml/2006/main" noGrp="1"/>
          </p:cNvSpPr>
          <p:nvPr/>
        </p:nvSpPr>
        <p:spPr>
          <a:xfrm xmlns:a="http://schemas.openxmlformats.org/drawingml/2006/main">
            <a:off x="6477000" y="5286375"/>
            <a:ext cx="4286250" cy="495300"/>
          </a:xfrm>
          <a:prstGeom xmlns:a="http://schemas.openxmlformats.org/drawingml/2006/main" prst="roundRect">
            <a:avLst>
              <a:gd name="adj" fmla="val 5769"/>
            </a:avLst>
          </a:prstGeom>
          <a:solidFill xmlns:a="http://schemas.openxmlformats.org/drawingml/2006/main">
            <a:srgbClr val="EAF2F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30B0EA3-59B2-4707-86BF-AC65AFEAE209}"/>
              </a:ext>
            </a:extLst>
          </p:cNvPr>
          <p:cNvSpPr>
            <a:spLocks xmlns:a="http://schemas.openxmlformats.org/drawingml/2006/main" noGrp="1"/>
          </p:cNvSpPr>
          <p:nvPr/>
        </p:nvSpPr>
        <p:spPr>
          <a:xfrm xmlns:a="http://schemas.openxmlformats.org/drawingml/2006/main">
            <a:off x="6667500" y="5419725"/>
            <a:ext cx="3905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LICENSED-OWNER RESPONSIBILITY  ↑</a:t>
            </a:r>
          </a:p>
        </p:txBody>
      </p:sp>
      <p:sp>
        <p:nvSpPr>
          <p:cNvPr id="41" name="">
            <a:extLst xmlns:a="http://schemas.openxmlformats.org/drawingml/2006/main">
              <a:ext uri="{FF2B5EF4-FFF2-40B4-BE49-F238E27FC236}">
                <a16:creationId xmlns:a16="http://schemas.microsoft.com/office/drawing/2014/main" id="{60E89900-627E-48D9-8D85-CB3959208F3A}"/>
              </a:ext>
            </a:extLst>
          </p:cNvPr>
          <p:cNvSpPr>
            <a:spLocks xmlns:a="http://schemas.openxmlformats.org/drawingml/2006/main" noGrp="1"/>
          </p:cNvSpPr>
          <p:nvPr/>
        </p:nvSpPr>
        <p:spPr>
          <a:xfrm xmlns:a="http://schemas.openxmlformats.org/drawingml/2006/main">
            <a:off x="2095500" y="6000750"/>
            <a:ext cx="800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1">
                <a:solidFill>
                  <a:srgbClr val="595959"/>
                </a:solidFill>
                <a:latin typeface="Calibri"/>
                <a:ea typeface="Calibri"/>
                <a:cs typeface="Calibri"/>
              </a:defRPr>
            </a:defPPr>
          </a:lstStyle>
          <a:p xmlns:a="http://schemas.openxmlformats.org/drawingml/2006/main">
            <a:pPr algn="ctr">
              <a:lnSpc>
                <a:spcPct val="95000"/>
              </a:lnSpc>
              <a:buNone/>
              <a:defRPr sz="1125" b="1" i="1">
                <a:solidFill>
                  <a:srgbClr val="595959"/>
                </a:solidFill>
                <a:latin typeface="Calibri"/>
                <a:ea typeface="Calibri"/>
                <a:cs typeface="Calibri"/>
              </a:defRPr>
            </a:pPr>
            <a:r>
              <a:rPr sz="1125" b="1" i="1">
                <a:solidFill>
                  <a:srgbClr val="595959"/>
                </a:solidFill>
                <a:latin typeface="Calibri"/>
                <a:ea typeface="Calibri"/>
                <a:cs typeface="Calibri"/>
              </a:rPr>
              <a:t>Result: regulated co-opetition, not bank-versus-fintech displacement</a:t>
            </a:r>
          </a:p>
        </p:txBody>
      </p:sp>
    </p:spTree>
    <p:extLst>
      <p:ext uri="{BB962C8B-B14F-4D97-AF65-F5344CB8AC3E}">
        <p14:creationId xmlns:p14="http://schemas.microsoft.com/office/powerpoint/2010/main" val="13199435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978485F2-B1D3-4D82-B766-CE764F7BA911}"/>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INVESTMENT CONCLUSION</a:t>
            </a:r>
          </a:p>
        </p:txBody>
      </p:sp>
      <p:sp>
        <p:nvSpPr>
          <p:cNvPr id="2" name="">
            <a:extLst xmlns:a="http://schemas.openxmlformats.org/drawingml/2006/main">
              <a:ext uri="{FF2B5EF4-FFF2-40B4-BE49-F238E27FC236}">
                <a16:creationId xmlns:a16="http://schemas.microsoft.com/office/drawing/2014/main" id="{A690664B-9708-4560-BB7B-8996F6EBCAF3}"/>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Own the hybrid: context + licence + funding</a:t>
            </a:r>
          </a:p>
        </p:txBody>
      </p:sp>
      <p:sp>
        <p:nvSpPr>
          <p:cNvPr id="3" name="">
            <a:extLst xmlns:a="http://schemas.openxmlformats.org/drawingml/2006/main">
              <a:ext uri="{FF2B5EF4-FFF2-40B4-BE49-F238E27FC236}">
                <a16:creationId xmlns:a16="http://schemas.microsoft.com/office/drawing/2014/main" id="{20ABC638-80A5-4A13-BED7-A7A17E2D006E}"/>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best franchises control at least two of the three</a:t>
            </a:r>
          </a:p>
        </p:txBody>
      </p:sp>
      <p:sp>
        <p:nvSpPr>
          <p:cNvPr id="4" name="">
            <a:extLst xmlns:a="http://schemas.openxmlformats.org/drawingml/2006/main">
              <a:ext uri="{FF2B5EF4-FFF2-40B4-BE49-F238E27FC236}">
                <a16:creationId xmlns:a16="http://schemas.microsoft.com/office/drawing/2014/main" id="{FF93D834-3C21-4D1D-97A7-69E37C8F626D}"/>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Author assessment based on sector evidence and Bloomberg comparables</a:t>
            </a:r>
          </a:p>
        </p:txBody>
      </p:sp>
      <p:sp>
        <p:nvSpPr>
          <p:cNvPr id="5" name="">
            <a:extLst xmlns:a="http://schemas.openxmlformats.org/drawingml/2006/main">
              <a:ext uri="{FF2B5EF4-FFF2-40B4-BE49-F238E27FC236}">
                <a16:creationId xmlns:a16="http://schemas.microsoft.com/office/drawing/2014/main" id="{7B3C3AC9-E8AF-4053-856A-DD8291EC9CCB}"/>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13</a:t>
            </a:r>
          </a:p>
        </p:txBody>
      </p:sp>
      <p:sp>
        <p:nvSpPr>
          <p:cNvPr id="6" name="">
            <a:extLst xmlns:a="http://schemas.openxmlformats.org/drawingml/2006/main">
              <a:ext uri="{FF2B5EF4-FFF2-40B4-BE49-F238E27FC236}">
                <a16:creationId xmlns:a16="http://schemas.microsoft.com/office/drawing/2014/main" id="{F92C514A-2278-4CC6-8DD4-25D0144AD0CC}"/>
              </a:ext>
            </a:extLst>
          </p:cNvPr>
          <p:cNvSpPr>
            <a:spLocks xmlns:a="http://schemas.openxmlformats.org/drawingml/2006/main" noGrp="1"/>
          </p:cNvSpPr>
          <p:nvPr/>
        </p:nvSpPr>
        <p:spPr>
          <a:xfrm xmlns:a="http://schemas.openxmlformats.org/drawingml/2006/main">
            <a:off x="1381125" y="1714500"/>
            <a:ext cx="8001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7B64DDFC-F2F8-485F-9319-83185AB45949}"/>
              </a:ext>
            </a:extLst>
          </p:cNvPr>
          <p:cNvSpPr>
            <a:spLocks xmlns:a="http://schemas.openxmlformats.org/drawingml/2006/main" noGrp="1"/>
          </p:cNvSpPr>
          <p:nvPr/>
        </p:nvSpPr>
        <p:spPr>
          <a:xfrm xmlns:a="http://schemas.openxmlformats.org/drawingml/2006/main">
            <a:off x="5381625" y="1714500"/>
            <a:ext cx="4000500" cy="2047875"/>
          </a:xfrm>
          <a:prstGeom xmlns:a="http://schemas.openxmlformats.org/drawingml/2006/main" prst="rect">
            <a:avLst/>
          </a:prstGeom>
          <a:solidFill xmlns:a="http://schemas.openxmlformats.org/drawingml/2006/main">
            <a:srgbClr val="EAF2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5A0D71E-6191-46F4-B06B-FA11909FCC08}"/>
              </a:ext>
            </a:extLst>
          </p:cNvPr>
          <p:cNvSpPr>
            <a:spLocks xmlns:a="http://schemas.openxmlformats.org/drawingml/2006/main" noGrp="1"/>
          </p:cNvSpPr>
          <p:nvPr/>
        </p:nvSpPr>
        <p:spPr>
          <a:xfrm xmlns:a="http://schemas.openxmlformats.org/drawingml/2006/main">
            <a:off x="5553075" y="188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002060"/>
                </a:solidFill>
                <a:latin typeface="Calibri"/>
                <a:ea typeface="Calibri"/>
                <a:cs typeface="Calibri"/>
              </a:defRPr>
            </a:defPPr>
          </a:lstStyle>
          <a:p xmlns:a="http://schemas.openxmlformats.org/drawingml/2006/main">
            <a:pPr algn="l">
              <a:lnSpc>
                <a:spcPct val="95000"/>
              </a:lnSpc>
              <a:buNone/>
              <a:defRPr sz="825" b="1" i="0">
                <a:solidFill>
                  <a:srgbClr val="002060"/>
                </a:solidFill>
                <a:latin typeface="Calibri"/>
                <a:ea typeface="Calibri"/>
                <a:cs typeface="Calibri"/>
              </a:defRPr>
            </a:pPr>
            <a:r>
              <a:rPr sz="825" b="1" i="0">
                <a:solidFill>
                  <a:srgbClr val="002060"/>
                </a:solidFill>
                <a:latin typeface="Calibri"/>
                <a:ea typeface="Calibri"/>
                <a:cs typeface="Calibri"/>
              </a:rPr>
              <a:t>PREFERRED ZONE</a:t>
            </a:r>
          </a:p>
        </p:txBody>
      </p:sp>
      <p:sp>
        <p:nvSpPr>
          <p:cNvPr id="9" name="">
            <a:extLst xmlns:a="http://schemas.openxmlformats.org/drawingml/2006/main">
              <a:ext uri="{FF2B5EF4-FFF2-40B4-BE49-F238E27FC236}">
                <a16:creationId xmlns:a16="http://schemas.microsoft.com/office/drawing/2014/main" id="{E9FE9988-6375-4D2B-8C07-A7A5C8AFEB35}"/>
              </a:ext>
            </a:extLst>
          </p:cNvPr>
          <p:cNvSpPr>
            <a:spLocks xmlns:a="http://schemas.openxmlformats.org/drawingml/2006/main" noGrp="1"/>
          </p:cNvSpPr>
          <p:nvPr/>
        </p:nvSpPr>
        <p:spPr>
          <a:xfrm xmlns:a="http://schemas.openxmlformats.org/drawingml/2006/main">
            <a:off x="5381625" y="1714500"/>
            <a:ext cx="0" cy="40957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0" name="">
            <a:extLst xmlns:a="http://schemas.openxmlformats.org/drawingml/2006/main">
              <a:ext uri="{FF2B5EF4-FFF2-40B4-BE49-F238E27FC236}">
                <a16:creationId xmlns:a16="http://schemas.microsoft.com/office/drawing/2014/main" id="{146BE48F-2524-4F8E-83FC-BF562ADF10C4}"/>
              </a:ext>
            </a:extLst>
          </p:cNvPr>
          <p:cNvSpPr>
            <a:spLocks xmlns:a="http://schemas.openxmlformats.org/drawingml/2006/main" noGrp="1"/>
          </p:cNvSpPr>
          <p:nvPr/>
        </p:nvSpPr>
        <p:spPr>
          <a:xfrm xmlns:a="http://schemas.openxmlformats.org/drawingml/2006/main">
            <a:off x="1381125" y="3762375"/>
            <a:ext cx="80010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1" name="">
            <a:extLst xmlns:a="http://schemas.openxmlformats.org/drawingml/2006/main">
              <a:ext uri="{FF2B5EF4-FFF2-40B4-BE49-F238E27FC236}">
                <a16:creationId xmlns:a16="http://schemas.microsoft.com/office/drawing/2014/main" id="{657B6CC5-B20D-4458-A328-3F3B375BD8DB}"/>
              </a:ext>
            </a:extLst>
          </p:cNvPr>
          <p:cNvSpPr>
            <a:spLocks xmlns:a="http://schemas.openxmlformats.org/drawingml/2006/main" noGrp="1"/>
          </p:cNvSpPr>
          <p:nvPr/>
        </p:nvSpPr>
        <p:spPr>
          <a:xfrm xmlns:a="http://schemas.openxmlformats.org/drawingml/2006/main">
            <a:off x="1285875" y="5972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7A838E"/>
                </a:solidFill>
                <a:latin typeface="Calibri"/>
                <a:ea typeface="Calibri"/>
                <a:cs typeface="Calibri"/>
              </a:defRPr>
            </a:defPPr>
          </a:lstStyle>
          <a:p xmlns:a="http://schemas.openxmlformats.org/drawingml/2006/main">
            <a:pPr algn="l">
              <a:lnSpc>
                <a:spcPct val="95000"/>
              </a:lnSpc>
              <a:buNone/>
              <a:defRPr sz="750" b="0" i="0">
                <a:solidFill>
                  <a:srgbClr val="7A838E"/>
                </a:solidFill>
                <a:latin typeface="Calibri"/>
                <a:ea typeface="Calibri"/>
                <a:cs typeface="Calibri"/>
              </a:defRPr>
            </a:pPr>
            <a:r>
              <a:rPr sz="750" b="0" i="0">
                <a:solidFill>
                  <a:srgbClr val="7A838E"/>
                </a:solidFill>
                <a:latin typeface="Calibri"/>
                <a:ea typeface="Calibri"/>
                <a:cs typeface="Calibri"/>
              </a:rPr>
              <a:t>LOW</a:t>
            </a:r>
          </a:p>
        </p:txBody>
      </p:sp>
      <p:sp>
        <p:nvSpPr>
          <p:cNvPr id="12" name="">
            <a:extLst xmlns:a="http://schemas.openxmlformats.org/drawingml/2006/main">
              <a:ext uri="{FF2B5EF4-FFF2-40B4-BE49-F238E27FC236}">
                <a16:creationId xmlns:a16="http://schemas.microsoft.com/office/drawing/2014/main" id="{DB6FDB5E-4411-488F-AA4F-A78BA7859A27}"/>
              </a:ext>
            </a:extLst>
          </p:cNvPr>
          <p:cNvSpPr>
            <a:spLocks xmlns:a="http://schemas.openxmlformats.org/drawingml/2006/main" noGrp="1"/>
          </p:cNvSpPr>
          <p:nvPr/>
        </p:nvSpPr>
        <p:spPr>
          <a:xfrm xmlns:a="http://schemas.openxmlformats.org/drawingml/2006/main">
            <a:off x="3952875" y="597217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1" i="0">
                <a:solidFill>
                  <a:srgbClr val="595959"/>
                </a:solidFill>
                <a:latin typeface="Calibri"/>
                <a:ea typeface="Calibri"/>
                <a:cs typeface="Calibri"/>
              </a:defRPr>
            </a:defPPr>
          </a:lstStyle>
          <a:p xmlns:a="http://schemas.openxmlformats.org/drawingml/2006/main">
            <a:pPr algn="ctr">
              <a:lnSpc>
                <a:spcPct val="95000"/>
              </a:lnSpc>
              <a:buNone/>
              <a:defRPr sz="825" b="1" i="0">
                <a:solidFill>
                  <a:srgbClr val="595959"/>
                </a:solidFill>
                <a:latin typeface="Calibri"/>
                <a:ea typeface="Calibri"/>
                <a:cs typeface="Calibri"/>
              </a:defRPr>
            </a:pPr>
            <a:r>
              <a:rPr sz="825" b="1" i="0">
                <a:solidFill>
                  <a:srgbClr val="595959"/>
                </a:solidFill>
                <a:latin typeface="Calibri"/>
                <a:ea typeface="Calibri"/>
                <a:cs typeface="Calibri"/>
              </a:rPr>
              <a:t>INTERFACE / CUSTOMER CONTEXT</a:t>
            </a:r>
          </a:p>
        </p:txBody>
      </p:sp>
      <p:sp>
        <p:nvSpPr>
          <p:cNvPr id="13" name="">
            <a:extLst xmlns:a="http://schemas.openxmlformats.org/drawingml/2006/main">
              <a:ext uri="{FF2B5EF4-FFF2-40B4-BE49-F238E27FC236}">
                <a16:creationId xmlns:a16="http://schemas.microsoft.com/office/drawing/2014/main" id="{98567947-0B6D-4E40-891D-D9296AD4703F}"/>
              </a:ext>
            </a:extLst>
          </p:cNvPr>
          <p:cNvSpPr>
            <a:spLocks xmlns:a="http://schemas.openxmlformats.org/drawingml/2006/main" noGrp="1"/>
          </p:cNvSpPr>
          <p:nvPr/>
        </p:nvSpPr>
        <p:spPr>
          <a:xfrm xmlns:a="http://schemas.openxmlformats.org/drawingml/2006/main">
            <a:off x="9001125" y="5972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7A838E"/>
                </a:solidFill>
                <a:latin typeface="Calibri"/>
                <a:ea typeface="Calibri"/>
                <a:cs typeface="Calibri"/>
              </a:defRPr>
            </a:defPPr>
          </a:lstStyle>
          <a:p xmlns:a="http://schemas.openxmlformats.org/drawingml/2006/main">
            <a:pPr algn="r">
              <a:lnSpc>
                <a:spcPct val="95000"/>
              </a:lnSpc>
              <a:buNone/>
              <a:defRPr sz="750" b="0" i="0">
                <a:solidFill>
                  <a:srgbClr val="7A838E"/>
                </a:solidFill>
                <a:latin typeface="Calibri"/>
                <a:ea typeface="Calibri"/>
                <a:cs typeface="Calibri"/>
              </a:defRPr>
            </a:pPr>
            <a:r>
              <a:rPr sz="750" b="0" i="0">
                <a:solidFill>
                  <a:srgbClr val="7A838E"/>
                </a:solidFill>
                <a:latin typeface="Calibri"/>
                <a:ea typeface="Calibri"/>
                <a:cs typeface="Calibri"/>
              </a:rPr>
              <a:t>HIGH</a:t>
            </a:r>
          </a:p>
        </p:txBody>
      </p:sp>
      <p:sp>
        <p:nvSpPr>
          <p:cNvPr id="14" name="">
            <a:extLst xmlns:a="http://schemas.openxmlformats.org/drawingml/2006/main">
              <a:ext uri="{FF2B5EF4-FFF2-40B4-BE49-F238E27FC236}">
                <a16:creationId xmlns:a16="http://schemas.microsoft.com/office/drawing/2014/main" id="{9891FE1B-FFC0-4B45-9A72-0EF2091EE5AD}"/>
              </a:ext>
            </a:extLst>
          </p:cNvPr>
          <p:cNvSpPr>
            <a:spLocks xmlns:a="http://schemas.openxmlformats.org/drawingml/2006/main" noGrp="1"/>
          </p:cNvSpPr>
          <p:nvPr/>
        </p:nvSpPr>
        <p:spPr>
          <a:xfrm xmlns:a="http://schemas.openxmlformats.org/drawingml/2006/main">
            <a:off x="666750" y="3095625"/>
            <a:ext cx="6286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788" b="1" i="0">
                <a:solidFill>
                  <a:srgbClr val="595959"/>
                </a:solidFill>
                <a:latin typeface="Calibri"/>
                <a:ea typeface="Calibri"/>
                <a:cs typeface="Calibri"/>
              </a:defRPr>
            </a:defPPr>
          </a:lstStyle>
          <a:p xmlns:a="http://schemas.openxmlformats.org/drawingml/2006/main">
            <a:pPr algn="ctr">
              <a:lnSpc>
                <a:spcPct val="90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FUNDING +</a:t>
            </a:r>
          </a:p>
          <a:p xmlns:a="http://schemas.openxmlformats.org/drawingml/2006/main">
            <a:pPr algn="ctr">
              <a:lnSpc>
                <a:spcPct val="90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LICENCE</a:t>
            </a:r>
          </a:p>
          <a:p xmlns:a="http://schemas.openxmlformats.org/drawingml/2006/main">
            <a:pPr algn="ctr">
              <a:lnSpc>
                <a:spcPct val="90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CONTROL</a:t>
            </a:r>
          </a:p>
        </p:txBody>
      </p:sp>
      <p:sp>
        <p:nvSpPr>
          <p:cNvPr id="15" name="">
            <a:extLst xmlns:a="http://schemas.openxmlformats.org/drawingml/2006/main">
              <a:ext uri="{FF2B5EF4-FFF2-40B4-BE49-F238E27FC236}">
                <a16:creationId xmlns:a16="http://schemas.microsoft.com/office/drawing/2014/main" id="{BF93695D-F257-46BE-B081-88E4D92D781D}"/>
              </a:ext>
            </a:extLst>
          </p:cNvPr>
          <p:cNvSpPr>
            <a:spLocks xmlns:a="http://schemas.openxmlformats.org/drawingml/2006/main" noGrp="1"/>
          </p:cNvSpPr>
          <p:nvPr/>
        </p:nvSpPr>
        <p:spPr>
          <a:xfrm xmlns:a="http://schemas.openxmlformats.org/drawingml/2006/main">
            <a:off x="3467100" y="2137410"/>
            <a:ext cx="628650" cy="62865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BDC58220-3B4E-4964-93A1-D49B3908112A}"/>
              </a:ext>
            </a:extLst>
          </p:cNvPr>
          <p:cNvSpPr>
            <a:spLocks xmlns:a="http://schemas.openxmlformats.org/drawingml/2006/main" noGrp="1"/>
          </p:cNvSpPr>
          <p:nvPr/>
        </p:nvSpPr>
        <p:spPr>
          <a:xfrm xmlns:a="http://schemas.openxmlformats.org/drawingml/2006/main">
            <a:off x="3505200" y="226123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Large</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banks</a:t>
            </a:r>
          </a:p>
        </p:txBody>
      </p:sp>
      <p:sp>
        <p:nvSpPr>
          <p:cNvPr id="17" name="">
            <a:extLst xmlns:a="http://schemas.openxmlformats.org/drawingml/2006/main">
              <a:ext uri="{FF2B5EF4-FFF2-40B4-BE49-F238E27FC236}">
                <a16:creationId xmlns:a16="http://schemas.microsoft.com/office/drawing/2014/main" id="{E0D26C2C-2C95-49E7-97A4-FAB0B88BE2B8}"/>
              </a:ext>
            </a:extLst>
          </p:cNvPr>
          <p:cNvSpPr>
            <a:spLocks xmlns:a="http://schemas.openxmlformats.org/drawingml/2006/main" noGrp="1"/>
          </p:cNvSpPr>
          <p:nvPr/>
        </p:nvSpPr>
        <p:spPr>
          <a:xfrm xmlns:a="http://schemas.openxmlformats.org/drawingml/2006/main">
            <a:off x="6837045" y="2065020"/>
            <a:ext cx="609600" cy="609600"/>
          </a:xfrm>
          <a:prstGeom xmlns:a="http://schemas.openxmlformats.org/drawingml/2006/main" prst="ellipse">
            <a:avLst/>
          </a:prstGeom>
          <a:solidFill xmlns:a="http://schemas.openxmlformats.org/drawingml/2006/main">
            <a:srgbClr val="0070C0"/>
          </a:solidFill>
          <a:ln xmlns:a="http://schemas.openxmlformats.org/drawingml/2006/main" w="9525">
            <a:solidFill>
              <a:srgbClr val="0070C0"/>
            </a:solidFill>
            <a:prstDash val="solid"/>
          </a:ln>
        </p:spPr>
      </p:sp>
      <p:sp>
        <p:nvSpPr>
          <p:cNvPr id="18" name="">
            <a:extLst xmlns:a="http://schemas.openxmlformats.org/drawingml/2006/main">
              <a:ext uri="{FF2B5EF4-FFF2-40B4-BE49-F238E27FC236}">
                <a16:creationId xmlns:a16="http://schemas.microsoft.com/office/drawing/2014/main" id="{93B8F20F-E5BE-4699-A9A7-E7E2B7F19249}"/>
              </a:ext>
            </a:extLst>
          </p:cNvPr>
          <p:cNvSpPr>
            <a:spLocks xmlns:a="http://schemas.openxmlformats.org/drawingml/2006/main" noGrp="1"/>
          </p:cNvSpPr>
          <p:nvPr/>
        </p:nvSpPr>
        <p:spPr>
          <a:xfrm xmlns:a="http://schemas.openxmlformats.org/drawingml/2006/main">
            <a:off x="6875145" y="217932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CMB</a:t>
            </a:r>
          </a:p>
        </p:txBody>
      </p:sp>
      <p:sp>
        <p:nvSpPr>
          <p:cNvPr id="19" name="">
            <a:extLst xmlns:a="http://schemas.openxmlformats.org/drawingml/2006/main">
              <a:ext uri="{FF2B5EF4-FFF2-40B4-BE49-F238E27FC236}">
                <a16:creationId xmlns:a16="http://schemas.microsoft.com/office/drawing/2014/main" id="{0B94DDFE-BCB2-49FE-A81B-19DD889CFC03}"/>
              </a:ext>
            </a:extLst>
          </p:cNvPr>
          <p:cNvSpPr>
            <a:spLocks xmlns:a="http://schemas.openxmlformats.org/drawingml/2006/main" noGrp="1"/>
          </p:cNvSpPr>
          <p:nvPr/>
        </p:nvSpPr>
        <p:spPr>
          <a:xfrm xmlns:a="http://schemas.openxmlformats.org/drawingml/2006/main">
            <a:off x="7900035" y="1844040"/>
            <a:ext cx="723900" cy="7239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0" name="">
            <a:extLst xmlns:a="http://schemas.openxmlformats.org/drawingml/2006/main">
              <a:ext uri="{FF2B5EF4-FFF2-40B4-BE49-F238E27FC236}">
                <a16:creationId xmlns:a16="http://schemas.microsoft.com/office/drawing/2014/main" id="{54040F33-C83B-4A4D-A0E7-F865DE6A162A}"/>
              </a:ext>
            </a:extLst>
          </p:cNvPr>
          <p:cNvSpPr>
            <a:spLocks xmlns:a="http://schemas.openxmlformats.org/drawingml/2006/main" noGrp="1"/>
          </p:cNvSpPr>
          <p:nvPr/>
        </p:nvSpPr>
        <p:spPr>
          <a:xfrm xmlns:a="http://schemas.openxmlformats.org/drawingml/2006/main">
            <a:off x="7938135" y="2015490"/>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WeBank /</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MYbank</a:t>
            </a:r>
          </a:p>
        </p:txBody>
      </p:sp>
      <p:sp>
        <p:nvSpPr>
          <p:cNvPr id="21" name="">
            <a:extLst xmlns:a="http://schemas.openxmlformats.org/drawingml/2006/main">
              <a:ext uri="{FF2B5EF4-FFF2-40B4-BE49-F238E27FC236}">
                <a16:creationId xmlns:a16="http://schemas.microsoft.com/office/drawing/2014/main" id="{ABB73C2C-4122-4F01-9603-4D0442367059}"/>
              </a:ext>
            </a:extLst>
          </p:cNvPr>
          <p:cNvSpPr>
            <a:spLocks xmlns:a="http://schemas.openxmlformats.org/drawingml/2006/main" noGrp="1"/>
          </p:cNvSpPr>
          <p:nvPr/>
        </p:nvSpPr>
        <p:spPr>
          <a:xfrm xmlns:a="http://schemas.openxmlformats.org/drawingml/2006/main">
            <a:off x="7086600" y="2811780"/>
            <a:ext cx="590550" cy="590550"/>
          </a:xfrm>
          <a:prstGeom xmlns:a="http://schemas.openxmlformats.org/drawingml/2006/main" prst="ellipse">
            <a:avLst/>
          </a:prstGeom>
          <a:solidFill xmlns:a="http://schemas.openxmlformats.org/drawingml/2006/main">
            <a:srgbClr val="0070C0"/>
          </a:solidFill>
          <a:ln xmlns:a="http://schemas.openxmlformats.org/drawingml/2006/main" w="9525">
            <a:solidFill>
              <a:srgbClr val="0070C0"/>
            </a:solidFill>
            <a:prstDash val="solid"/>
          </a:ln>
        </p:spPr>
      </p:sp>
      <p:sp>
        <p:nvSpPr>
          <p:cNvPr id="22" name="">
            <a:extLst xmlns:a="http://schemas.openxmlformats.org/drawingml/2006/main">
              <a:ext uri="{FF2B5EF4-FFF2-40B4-BE49-F238E27FC236}">
                <a16:creationId xmlns:a16="http://schemas.microsoft.com/office/drawing/2014/main" id="{8A0F3C4A-F495-4C0F-A733-B44B025AC311}"/>
              </a:ext>
            </a:extLst>
          </p:cNvPr>
          <p:cNvSpPr>
            <a:spLocks xmlns:a="http://schemas.openxmlformats.org/drawingml/2006/main" noGrp="1"/>
          </p:cNvSpPr>
          <p:nvPr/>
        </p:nvSpPr>
        <p:spPr>
          <a:xfrm xmlns:a="http://schemas.openxmlformats.org/drawingml/2006/main">
            <a:off x="7124700" y="291655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East</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Money</a:t>
            </a:r>
          </a:p>
        </p:txBody>
      </p:sp>
      <p:sp>
        <p:nvSpPr>
          <p:cNvPr id="23" name="">
            <a:extLst xmlns:a="http://schemas.openxmlformats.org/drawingml/2006/main">
              <a:ext uri="{FF2B5EF4-FFF2-40B4-BE49-F238E27FC236}">
                <a16:creationId xmlns:a16="http://schemas.microsoft.com/office/drawing/2014/main" id="{F496D851-9F4A-4471-B47F-4D0F79BD89BD}"/>
              </a:ext>
            </a:extLst>
          </p:cNvPr>
          <p:cNvSpPr>
            <a:spLocks xmlns:a="http://schemas.openxmlformats.org/drawingml/2006/main" noGrp="1"/>
          </p:cNvSpPr>
          <p:nvPr/>
        </p:nvSpPr>
        <p:spPr>
          <a:xfrm xmlns:a="http://schemas.openxmlformats.org/drawingml/2006/main">
            <a:off x="8220075" y="3564255"/>
            <a:ext cx="723900" cy="7239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4" name="">
            <a:extLst xmlns:a="http://schemas.openxmlformats.org/drawingml/2006/main">
              <a:ext uri="{FF2B5EF4-FFF2-40B4-BE49-F238E27FC236}">
                <a16:creationId xmlns:a16="http://schemas.microsoft.com/office/drawing/2014/main" id="{2F6547F5-09B6-43D5-90B5-871983E9691B}"/>
              </a:ext>
            </a:extLst>
          </p:cNvPr>
          <p:cNvSpPr>
            <a:spLocks xmlns:a="http://schemas.openxmlformats.org/drawingml/2006/main" noGrp="1"/>
          </p:cNvSpPr>
          <p:nvPr/>
        </p:nvSpPr>
        <p:spPr>
          <a:xfrm xmlns:a="http://schemas.openxmlformats.org/drawingml/2006/main">
            <a:off x="8258175" y="3735705"/>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Tencent /</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Ant</a:t>
            </a:r>
          </a:p>
        </p:txBody>
      </p:sp>
      <p:sp>
        <p:nvSpPr>
          <p:cNvPr id="25" name="">
            <a:extLst xmlns:a="http://schemas.openxmlformats.org/drawingml/2006/main">
              <a:ext uri="{FF2B5EF4-FFF2-40B4-BE49-F238E27FC236}">
                <a16:creationId xmlns:a16="http://schemas.microsoft.com/office/drawing/2014/main" id="{D72E7016-0B14-4226-9896-0D2CDC360184}"/>
              </a:ext>
            </a:extLst>
          </p:cNvPr>
          <p:cNvSpPr>
            <a:spLocks xmlns:a="http://schemas.openxmlformats.org/drawingml/2006/main" noGrp="1"/>
          </p:cNvSpPr>
          <p:nvPr/>
        </p:nvSpPr>
        <p:spPr>
          <a:xfrm xmlns:a="http://schemas.openxmlformats.org/drawingml/2006/main">
            <a:off x="5998845" y="4689158"/>
            <a:ext cx="685800" cy="6858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6" name="">
            <a:extLst xmlns:a="http://schemas.openxmlformats.org/drawingml/2006/main">
              <a:ext uri="{FF2B5EF4-FFF2-40B4-BE49-F238E27FC236}">
                <a16:creationId xmlns:a16="http://schemas.microsoft.com/office/drawing/2014/main" id="{85E814AC-C5BB-4308-A111-0FB09A85454F}"/>
              </a:ext>
            </a:extLst>
          </p:cNvPr>
          <p:cNvSpPr>
            <a:spLocks xmlns:a="http://schemas.openxmlformats.org/drawingml/2006/main" noGrp="1"/>
          </p:cNvSpPr>
          <p:nvPr/>
        </p:nvSpPr>
        <p:spPr>
          <a:xfrm xmlns:a="http://schemas.openxmlformats.org/drawingml/2006/main">
            <a:off x="6036945" y="4841558"/>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Loan</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facilitators</a:t>
            </a:r>
          </a:p>
        </p:txBody>
      </p:sp>
      <p:sp>
        <p:nvSpPr>
          <p:cNvPr id="27" name="">
            <a:extLst xmlns:a="http://schemas.openxmlformats.org/drawingml/2006/main">
              <a:ext uri="{FF2B5EF4-FFF2-40B4-BE49-F238E27FC236}">
                <a16:creationId xmlns:a16="http://schemas.microsoft.com/office/drawing/2014/main" id="{8F52FAE7-0B67-4D5E-AC82-44DD7CC18071}"/>
              </a:ext>
            </a:extLst>
          </p:cNvPr>
          <p:cNvSpPr>
            <a:spLocks xmlns:a="http://schemas.openxmlformats.org/drawingml/2006/main" noGrp="1"/>
          </p:cNvSpPr>
          <p:nvPr/>
        </p:nvSpPr>
        <p:spPr>
          <a:xfrm xmlns:a="http://schemas.openxmlformats.org/drawingml/2006/main">
            <a:off x="9667875" y="1762125"/>
            <a:ext cx="1857375" cy="1143000"/>
          </a:xfrm>
          <a:prstGeom xmlns:a="http://schemas.openxmlformats.org/drawingml/2006/main" prst="roundRect">
            <a:avLst>
              <a:gd name="adj" fmla="val 3333"/>
            </a:avLst>
          </a:prstGeom>
          <a:solidFill xmlns:a="http://schemas.openxmlformats.org/drawingml/2006/main">
            <a:srgbClr val="EAF2F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1E50F0E-20AE-43E8-BA48-7091ECF4834E}"/>
              </a:ext>
            </a:extLst>
          </p:cNvPr>
          <p:cNvSpPr>
            <a:spLocks xmlns:a="http://schemas.openxmlformats.org/drawingml/2006/main" noGrp="1"/>
          </p:cNvSpPr>
          <p:nvPr/>
        </p:nvSpPr>
        <p:spPr>
          <a:xfrm xmlns:a="http://schemas.openxmlformats.org/drawingml/2006/main">
            <a:off x="9858375" y="1905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02060"/>
                </a:solidFill>
                <a:latin typeface="Calibri"/>
                <a:ea typeface="Calibri"/>
                <a:cs typeface="Calibri"/>
              </a:defRPr>
            </a:defPPr>
          </a:lstStyle>
          <a:p xmlns:a="http://schemas.openxmlformats.org/drawingml/2006/main">
            <a:pPr algn="l">
              <a:lnSpc>
                <a:spcPct val="95000"/>
              </a:lnSpc>
              <a:buNone/>
              <a:defRPr sz="975" b="1" i="0">
                <a:solidFill>
                  <a:srgbClr val="002060"/>
                </a:solidFill>
                <a:latin typeface="Calibri"/>
                <a:ea typeface="Calibri"/>
                <a:cs typeface="Calibri"/>
              </a:defRPr>
            </a:pPr>
            <a:r>
              <a:rPr sz="975" b="1" i="0">
                <a:solidFill>
                  <a:srgbClr val="002060"/>
                </a:solidFill>
                <a:latin typeface="Calibri"/>
                <a:ea typeface="Calibri"/>
                <a:cs typeface="Calibri"/>
              </a:rPr>
              <a:t>PREFER</a:t>
            </a:r>
          </a:p>
        </p:txBody>
      </p:sp>
      <p:sp>
        <p:nvSpPr>
          <p:cNvPr id="29" name="">
            <a:extLst xmlns:a="http://schemas.openxmlformats.org/drawingml/2006/main">
              <a:ext uri="{FF2B5EF4-FFF2-40B4-BE49-F238E27FC236}">
                <a16:creationId xmlns:a16="http://schemas.microsoft.com/office/drawing/2014/main" id="{5537D0E0-5E07-4BD5-9E4D-7FA40C0BAE1F}"/>
              </a:ext>
            </a:extLst>
          </p:cNvPr>
          <p:cNvSpPr>
            <a:spLocks xmlns:a="http://schemas.openxmlformats.org/drawingml/2006/main" noGrp="1"/>
          </p:cNvSpPr>
          <p:nvPr/>
        </p:nvSpPr>
        <p:spPr>
          <a:xfrm xmlns:a="http://schemas.openxmlformats.org/drawingml/2006/main">
            <a:off x="9858375" y="2190750"/>
            <a:ext cx="1476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CMB</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Digital banks</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East Money</a:t>
            </a:r>
          </a:p>
        </p:txBody>
      </p:sp>
      <p:sp>
        <p:nvSpPr>
          <p:cNvPr id="30" name="">
            <a:extLst xmlns:a="http://schemas.openxmlformats.org/drawingml/2006/main">
              <a:ext uri="{FF2B5EF4-FFF2-40B4-BE49-F238E27FC236}">
                <a16:creationId xmlns:a16="http://schemas.microsoft.com/office/drawing/2014/main" id="{606C396D-FE77-4C2C-931A-BEE254E8E8C4}"/>
              </a:ext>
            </a:extLst>
          </p:cNvPr>
          <p:cNvSpPr>
            <a:spLocks xmlns:a="http://schemas.openxmlformats.org/drawingml/2006/main" noGrp="1"/>
          </p:cNvSpPr>
          <p:nvPr/>
        </p:nvSpPr>
        <p:spPr>
          <a:xfrm xmlns:a="http://schemas.openxmlformats.org/drawingml/2006/main">
            <a:off x="9667875" y="3095625"/>
            <a:ext cx="1857375" cy="1143000"/>
          </a:xfrm>
          <a:prstGeom xmlns:a="http://schemas.openxmlformats.org/drawingml/2006/main" prst="roundRect">
            <a:avLst>
              <a:gd name="adj" fmla="val 3333"/>
            </a:avLst>
          </a:prstGeom>
          <a:solidFill xmlns:a="http://schemas.openxmlformats.org/drawingml/2006/main">
            <a:srgbClr val="F3F5F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4BC9C1C-49EF-4501-9F55-F064181A5188}"/>
              </a:ext>
            </a:extLst>
          </p:cNvPr>
          <p:cNvSpPr>
            <a:spLocks xmlns:a="http://schemas.openxmlformats.org/drawingml/2006/main" noGrp="1"/>
          </p:cNvSpPr>
          <p:nvPr/>
        </p:nvSpPr>
        <p:spPr>
          <a:xfrm xmlns:a="http://schemas.openxmlformats.org/drawingml/2006/main">
            <a:off x="9858375" y="32385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070C0"/>
                </a:solidFill>
                <a:latin typeface="Calibri"/>
                <a:ea typeface="Calibri"/>
                <a:cs typeface="Calibri"/>
              </a:defRPr>
            </a:defPPr>
          </a:lstStyle>
          <a:p xmlns:a="http://schemas.openxmlformats.org/drawingml/2006/main">
            <a:pPr algn="l">
              <a:lnSpc>
                <a:spcPct val="95000"/>
              </a:lnSpc>
              <a:buNone/>
              <a:defRPr sz="975" b="1" i="0">
                <a:solidFill>
                  <a:srgbClr val="0070C0"/>
                </a:solidFill>
                <a:latin typeface="Calibri"/>
                <a:ea typeface="Calibri"/>
                <a:cs typeface="Calibri"/>
              </a:defRPr>
            </a:pPr>
            <a:r>
              <a:rPr sz="975" b="1" i="0">
                <a:solidFill>
                  <a:srgbClr val="0070C0"/>
                </a:solidFill>
                <a:latin typeface="Calibri"/>
                <a:ea typeface="Calibri"/>
                <a:cs typeface="Calibri"/>
              </a:rPr>
              <a:t>SELECTIVE</a:t>
            </a:r>
          </a:p>
        </p:txBody>
      </p:sp>
      <p:sp>
        <p:nvSpPr>
          <p:cNvPr id="32" name="">
            <a:extLst xmlns:a="http://schemas.openxmlformats.org/drawingml/2006/main">
              <a:ext uri="{FF2B5EF4-FFF2-40B4-BE49-F238E27FC236}">
                <a16:creationId xmlns:a16="http://schemas.microsoft.com/office/drawing/2014/main" id="{AA5E64A9-A48B-4969-80FE-4534F569A568}"/>
              </a:ext>
            </a:extLst>
          </p:cNvPr>
          <p:cNvSpPr>
            <a:spLocks xmlns:a="http://schemas.openxmlformats.org/drawingml/2006/main" noGrp="1"/>
          </p:cNvSpPr>
          <p:nvPr/>
        </p:nvSpPr>
        <p:spPr>
          <a:xfrm xmlns:a="http://schemas.openxmlformats.org/drawingml/2006/main">
            <a:off x="9858375" y="35242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Tencent / Ant</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Large banks</a:t>
            </a:r>
          </a:p>
        </p:txBody>
      </p:sp>
      <p:sp>
        <p:nvSpPr>
          <p:cNvPr id="33" name="">
            <a:extLst xmlns:a="http://schemas.openxmlformats.org/drawingml/2006/main">
              <a:ext uri="{FF2B5EF4-FFF2-40B4-BE49-F238E27FC236}">
                <a16:creationId xmlns:a16="http://schemas.microsoft.com/office/drawing/2014/main" id="{23D884ED-1CB4-491A-A9E5-1A839B04EE90}"/>
              </a:ext>
            </a:extLst>
          </p:cNvPr>
          <p:cNvSpPr>
            <a:spLocks xmlns:a="http://schemas.openxmlformats.org/drawingml/2006/main" noGrp="1"/>
          </p:cNvSpPr>
          <p:nvPr/>
        </p:nvSpPr>
        <p:spPr>
          <a:xfrm xmlns:a="http://schemas.openxmlformats.org/drawingml/2006/main">
            <a:off x="9667875" y="4429125"/>
            <a:ext cx="1857375" cy="1143000"/>
          </a:xfrm>
          <a:prstGeom xmlns:a="http://schemas.openxmlformats.org/drawingml/2006/main" prst="roundRect">
            <a:avLst>
              <a:gd name="adj" fmla="val 3333"/>
            </a:avLst>
          </a:prstGeom>
          <a:solidFill xmlns:a="http://schemas.openxmlformats.org/drawingml/2006/main">
            <a:srgbClr val="FCEDE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6CC399E-91E6-4C59-B03E-CCDFF5594F1F}"/>
              </a:ext>
            </a:extLst>
          </p:cNvPr>
          <p:cNvSpPr>
            <a:spLocks xmlns:a="http://schemas.openxmlformats.org/drawingml/2006/main" noGrp="1"/>
          </p:cNvSpPr>
          <p:nvPr/>
        </p:nvSpPr>
        <p:spPr>
          <a:xfrm xmlns:a="http://schemas.openxmlformats.org/drawingml/2006/main">
            <a:off x="9858375" y="4572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E97132"/>
                </a:solidFill>
                <a:latin typeface="Calibri"/>
                <a:ea typeface="Calibri"/>
                <a:cs typeface="Calibri"/>
              </a:defRPr>
            </a:defPPr>
          </a:lstStyle>
          <a:p xmlns:a="http://schemas.openxmlformats.org/drawingml/2006/main">
            <a:pPr algn="l">
              <a:lnSpc>
                <a:spcPct val="95000"/>
              </a:lnSpc>
              <a:buNone/>
              <a:defRPr sz="975" b="1" i="0">
                <a:solidFill>
                  <a:srgbClr val="E97132"/>
                </a:solidFill>
                <a:latin typeface="Calibri"/>
                <a:ea typeface="Calibri"/>
                <a:cs typeface="Calibri"/>
              </a:defRPr>
            </a:pPr>
            <a:r>
              <a:rPr sz="975" b="1" i="0">
                <a:solidFill>
                  <a:srgbClr val="E97132"/>
                </a:solidFill>
                <a:latin typeface="Calibri"/>
                <a:ea typeface="Calibri"/>
                <a:cs typeface="Calibri"/>
              </a:rPr>
              <a:t>CAUTIOUS</a:t>
            </a:r>
          </a:p>
        </p:txBody>
      </p:sp>
      <p:sp>
        <p:nvSpPr>
          <p:cNvPr id="35" name="">
            <a:extLst xmlns:a="http://schemas.openxmlformats.org/drawingml/2006/main">
              <a:ext uri="{FF2B5EF4-FFF2-40B4-BE49-F238E27FC236}">
                <a16:creationId xmlns:a16="http://schemas.microsoft.com/office/drawing/2014/main" id="{781DDF3A-3393-4CFD-89C7-82D95BC59F1B}"/>
              </a:ext>
            </a:extLst>
          </p:cNvPr>
          <p:cNvSpPr>
            <a:spLocks xmlns:a="http://schemas.openxmlformats.org/drawingml/2006/main" noGrp="1"/>
          </p:cNvSpPr>
          <p:nvPr/>
        </p:nvSpPr>
        <p:spPr>
          <a:xfrm xmlns:a="http://schemas.openxmlformats.org/drawingml/2006/main">
            <a:off x="9858375" y="48577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Pure loan</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facilitators</a:t>
            </a:r>
          </a:p>
        </p:txBody>
      </p:sp>
      <p:sp>
        <p:nvSpPr>
          <p:cNvPr id="36" name="">
            <a:extLst xmlns:a="http://schemas.openxmlformats.org/drawingml/2006/main">
              <a:ext uri="{FF2B5EF4-FFF2-40B4-BE49-F238E27FC236}">
                <a16:creationId xmlns:a16="http://schemas.microsoft.com/office/drawing/2014/main" id="{A60AFFCA-0630-4B7B-82E9-06B47D8AFF71}"/>
              </a:ext>
            </a:extLst>
          </p:cNvPr>
          <p:cNvSpPr>
            <a:spLocks xmlns:a="http://schemas.openxmlformats.org/drawingml/2006/main" noGrp="1"/>
          </p:cNvSpPr>
          <p:nvPr/>
        </p:nvSpPr>
        <p:spPr>
          <a:xfrm xmlns:a="http://schemas.openxmlformats.org/drawingml/2006/main">
            <a:off x="1381125" y="6096000"/>
            <a:ext cx="10144125" cy="26670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7" name="">
            <a:extLst xmlns:a="http://schemas.openxmlformats.org/drawingml/2006/main">
              <a:ext uri="{FF2B5EF4-FFF2-40B4-BE49-F238E27FC236}">
                <a16:creationId xmlns:a16="http://schemas.microsoft.com/office/drawing/2014/main" id="{1FF71451-8E33-4E3D-80E3-903017728A11}"/>
              </a:ext>
            </a:extLst>
          </p:cNvPr>
          <p:cNvSpPr>
            <a:spLocks xmlns:a="http://schemas.openxmlformats.org/drawingml/2006/main" noGrp="1"/>
          </p:cNvSpPr>
          <p:nvPr/>
        </p:nvSpPr>
        <p:spPr>
          <a:xfrm xmlns:a="http://schemas.openxmlformats.org/drawingml/2006/main">
            <a:off x="1571625" y="6143625"/>
            <a:ext cx="9763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FFFFFF"/>
                </a:solidFill>
                <a:latin typeface="Calibri"/>
                <a:ea typeface="Calibri"/>
                <a:cs typeface="Calibri"/>
              </a:defRPr>
            </a:defPPr>
          </a:lstStyle>
          <a:p xmlns:a="http://schemas.openxmlformats.org/drawingml/2006/main">
            <a:pPr algn="ctr">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Barbell: bank funding resilience + licensed, high-engagement digital distribution</a:t>
            </a:r>
          </a:p>
        </p:txBody>
      </p:sp>
    </p:spTree>
    <p:extLst>
      <p:ext uri="{BB962C8B-B14F-4D97-AF65-F5344CB8AC3E}">
        <p14:creationId xmlns:p14="http://schemas.microsoft.com/office/powerpoint/2010/main" val="482793343"/>
      </p:ext>
    </p:extLst>
  </p:cSld>
</p:sld>
</file>

<file path=ppt/theme/theme1.xml><?xml version="1.0" encoding="utf-8"?>
<a:theme xmlns:a="http://schemas.openxmlformats.org/drawingml/2006/main" name="ChatGPT">
  <a:themeElements>
    <a:clrScheme name="BCA Market Update Reference">
      <a:dk1>
        <a:srgbClr val="000000"/>
      </a:dk1>
      <a:lt1>
        <a:srgbClr val="FFFFFF"/>
      </a:lt1>
      <a:dk2>
        <a:srgbClr val="002060"/>
      </a:dk2>
      <a:lt2>
        <a:srgbClr val="D9D9D9"/>
      </a:lt2>
      <a:accent1>
        <a:srgbClr val="002060"/>
      </a:accent1>
      <a:accent2>
        <a:srgbClr val="E97132"/>
      </a:accent2>
      <a:accent3>
        <a:srgbClr val="0070C0"/>
      </a:accent3>
      <a:accent4>
        <a:srgbClr val="548235"/>
      </a:accent4>
      <a:accent5>
        <a:srgbClr val="7A838E"/>
      </a:accent5>
      <a:accent6>
        <a:srgbClr val="D9D9D9"/>
      </a:accent6>
      <a:hlink>
        <a:srgbClr val="0070C0"/>
      </a:hlink>
      <a:folHlink>
        <a:srgbClr val="E97132"/>
      </a:folHlink>
    </a:clrScheme>
    <a:fontScheme name="">
      <a:majorFont>
        <a:latin typeface="Calibri"/>
        <a:ea typeface=""/>
        <a:cs typeface=""/>
      </a:majorFont>
      <a:minorFont>
        <a:latin typeface="Calibri"/>
        <a:ea typeface=""/>
        <a:cs typeface=""/>
      </a:minorFont>
    </a:fontScheme>
    <a:fmtScheme name="BCA Market Update Re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2026-10-14T07:38:52.5300000Z</dcterms:created>
  <dcterms:modified xsi:type="dcterms:W3CDTF">2026-10-14T07:38:52.5300000Z</dcterms:modified>
</coreProperties>
</file>