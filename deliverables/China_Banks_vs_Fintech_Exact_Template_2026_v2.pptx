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9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6df74c49840cf" /><Relationship Type="http://schemas.openxmlformats.org/officeDocument/2006/relationships/extended-properties" Target="/docProps/app.xml" Id="R870f753ddc8f4f3b" /><Relationship Type="http://schemas.openxmlformats.org/officeDocument/2006/relationships/officeDocument" Target="/ppt/presentation.xml" Id="R66646c6b403d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193c186724da0"/>
  </p:sldMasterIdLst>
  <p:notesMasterIdLst>
    <p:notesMasterId xmlns:r="http://schemas.openxmlformats.org/officeDocument/2006/relationships" r:id="R1ec07779796b4054"/>
  </p:notesMasterIdLst>
  <p:sldIdLst>
    <p:sldId xmlns:r="http://schemas.openxmlformats.org/officeDocument/2006/relationships" id="256" r:id="Rddc64eb207e94afa"/>
    <p:sldId xmlns:r="http://schemas.openxmlformats.org/officeDocument/2006/relationships" id="257" r:id="Rbf680613da954f7e"/>
    <p:sldId xmlns:r="http://schemas.openxmlformats.org/officeDocument/2006/relationships" id="258" r:id="R259e533c6e0a40ab"/>
    <p:sldId xmlns:r="http://schemas.openxmlformats.org/officeDocument/2006/relationships" id="259" r:id="Ra3c6db98fdce47e5"/>
    <p:sldId xmlns:r="http://schemas.openxmlformats.org/officeDocument/2006/relationships" id="260" r:id="R5d39d48da224457c"/>
    <p:sldId xmlns:r="http://schemas.openxmlformats.org/officeDocument/2006/relationships" id="261" r:id="R1b5d5321ff1d4d5c"/>
    <p:sldId xmlns:r="http://schemas.openxmlformats.org/officeDocument/2006/relationships" id="262" r:id="Rf13554189f5d46fd"/>
    <p:sldId xmlns:r="http://schemas.openxmlformats.org/officeDocument/2006/relationships" id="263" r:id="R3d429ab6a17f450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fcb59260740c0" /><Relationship Type="http://schemas.openxmlformats.org/officeDocument/2006/relationships/slideMaster" Target="/ppt/slideMasters/slideMaster1.xml" Id="Re9c193c186724da0" /><Relationship Type="http://schemas.openxmlformats.org/officeDocument/2006/relationships/notesMaster" Target="/ppt/notesMasters/notesMaster1.xml" Id="R1ec07779796b4054" /><Relationship Type="http://schemas.openxmlformats.org/officeDocument/2006/relationships/presProps" Target="/ppt/presProps.xml" Id="R69d55eb834b844be" /><Relationship Type="http://schemas.openxmlformats.org/officeDocument/2006/relationships/viewProps" Target="/ppt/viewProps.xml" Id="R817dcdfbabf846f5" /><Relationship Type="http://schemas.openxmlformats.org/officeDocument/2006/relationships/tableStyles" Target="/ppt/tableStyles.xml" Id="Rb86ed5eee4fd414e" /><Relationship Type="http://schemas.openxmlformats.org/officeDocument/2006/relationships/slide" Target="/ppt/slides/slide1.xml" Id="Rddc64eb207e94afa" /><Relationship Type="http://schemas.openxmlformats.org/officeDocument/2006/relationships/slide" Target="/ppt/slides/slide2.xml" Id="Rbf680613da954f7e" /><Relationship Type="http://schemas.openxmlformats.org/officeDocument/2006/relationships/slide" Target="/ppt/slides/slide3.xml" Id="R259e533c6e0a40ab" /><Relationship Type="http://schemas.openxmlformats.org/officeDocument/2006/relationships/slide" Target="/ppt/slides/slide4.xml" Id="Ra3c6db98fdce47e5" /><Relationship Type="http://schemas.openxmlformats.org/officeDocument/2006/relationships/slide" Target="/ppt/slides/slide5.xml" Id="R5d39d48da224457c" /><Relationship Type="http://schemas.openxmlformats.org/officeDocument/2006/relationships/slide" Target="/ppt/slides/slide6.xml" Id="R1b5d5321ff1d4d5c" /><Relationship Type="http://schemas.openxmlformats.org/officeDocument/2006/relationships/slide" Target="/ppt/slides/slide7.xml" Id="Rf13554189f5d46fd" /><Relationship Type="http://schemas.openxmlformats.org/officeDocument/2006/relationships/slide" Target="/ppt/slides/slide8.xml" Id="R3d429ab6a17f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81285623a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2a3e999424fba" /><Relationship Type="http://schemas.openxmlformats.org/officeDocument/2006/relationships/notesMaster" Target="/ppt/notesMasters/notesMaster1.xml" Id="Rb4ae80f938a1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2b3f9df2f84e6b" /><Relationship Type="http://schemas.openxmlformats.org/officeDocument/2006/relationships/notesMaster" Target="/ppt/notesMasters/notesMaster1.xml" Id="Re075bd4f133b48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444722c9a9490b" /><Relationship Type="http://schemas.openxmlformats.org/officeDocument/2006/relationships/notesMaster" Target="/ppt/notesMasters/notesMaster1.xml" Id="R7ea0e73259964b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37a8b16684d02" /><Relationship Type="http://schemas.openxmlformats.org/officeDocument/2006/relationships/notesMaster" Target="/ppt/notesMasters/notesMaster1.xml" Id="R6a0137202b5a42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791f6feea64a48" /><Relationship Type="http://schemas.openxmlformats.org/officeDocument/2006/relationships/notesMaster" Target="/ppt/notesMasters/notesMaster1.xml" Id="R4d541477479d43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560c31c58e4d61" /><Relationship Type="http://schemas.openxmlformats.org/officeDocument/2006/relationships/notesMaster" Target="/ppt/notesMasters/notesMaster1.xml" Id="Rb0b0f4d93c9f48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1b88130e454d11" /><Relationship Type="http://schemas.openxmlformats.org/officeDocument/2006/relationships/notesMaster" Target="/ppt/notesMasters/notesMaster1.xml" Id="R7d0e73cf1f3d45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4da70d6253468c" /><Relationship Type="http://schemas.openxmlformats.org/officeDocument/2006/relationships/notesMaster" Target="/ppt/notesMasters/notesMaster1.xml" Id="Rd63a4dabf8fa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Banks vs Fintech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Cover illustration generated for this presentation; no company logos or documentary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Fintech Owns Frequency; Banks Still Own Value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PBOC 2013 payment-system report: https://www.gov.cn/gzdt/att/att/site1/20140217/782bcb8883ce146be61101.pdf</a:t>
            </a:r>
          </a:p>
          <a:p xmlns:a="http://schemas.openxmlformats.org/drawingml/2006/main">
            <a:r>
              <a:t>- PBOC 2023 definitions and overlap footnotes: https://www.pbc.gov.cn/zhifujiesuansi/128525/128545/128643/e65053157ab14b9abf06bc9b18badb3a/2024032815235914509.pdf</a:t>
            </a:r>
          </a:p>
          <a:p xmlns:a="http://schemas.openxmlformats.org/drawingml/2006/main">
            <a:r>
              <a:t>- 2025 data reproduced in Cuiwei filing: https://static.cninfo.com.cn/finalpage/2026-03-28/1225042491.PDF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displayed shares combine overlapping PBOC bank-electronic and non-bank network-payment series. They are a mechanical activity index, not mutually exclusive ownership shares.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Finance Splits Across Four Layers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AMRO 2025: https://amro-asia.org/wp-content/uploads/2025/10/AMRO-AFSR-2025-Full-Report-Web.pdf</a:t>
            </a:r>
          </a:p>
          <a:p xmlns:a="http://schemas.openxmlformats.org/drawingml/2006/main">
            <a:r>
              <a:t>- PBOC/Cuiwei 2025 activity data: https://static.cninfo.com.cn/finalpage/2026-03-28/1225042491.PDF</a:t>
            </a:r>
          </a:p>
          <a:p xmlns:a="http://schemas.openxmlformats.org/drawingml/2006/main">
            <a:r>
              <a:t>- NBS 2025 communiqué: https://www.stats.gov.cn/english/PressRelease/202602/t20260228_1962661.html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1 Alipay plus WeChat Pay estimate. 2 Mechanical combined-series index. 3 Clearing-rail share. Denominators differ and must not be summed.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Banks Still Own the Balance Sheet</a:t>
            </a:r>
            <a:endParaRPr/>
          </a:p>
          <a:p xmlns:a="http://schemas.openxmlformats.org/drawingml/2006/main">
            <a:r>
              <a:t>Sources:</a:t>
            </a:r>
            <a:endParaRPr/>
          </a:p>
          <a:p xmlns:a="http://schemas.openxmlformats.org/drawingml/2006/main">
            <a:r>
              <a:t>- CBRC 2010 annual report: https://www.nfra.gov.cn/chinese/subject/subject/nianbao2010/english/1.pdf</a:t>
            </a:r>
            <a:endParaRPr/>
          </a:p>
          <a:p xmlns:a="http://schemas.openxmlformats.org/drawingml/2006/main">
            <a:r>
              <a:t>- NFRA 2025 sector data: https://www.nfra.gov.cn/en/view/pages/ItemDetail.html?docId=1251267&amp;itemId=980</a:t>
            </a:r>
            <a:endParaRPr/>
          </a:p>
          <a:p xmlns:a="http://schemas.openxmlformats.org/drawingml/2006/main">
            <a:r>
              <a:t>- NBS 2025 communiqué: https://www.stats.gov.cn/english/PressRelease/202602/t20260228_1962661.html</a:t>
            </a:r>
            <a:endParaRPr/>
          </a:p>
          <a:p xmlns:a="http://schemas.openxmlformats.org/drawingml/2006/main">
            <a:r>
              <a:t>- NFRA 2026 H1/Q2: https://www.nfra.gov.cn/en/view/pages/ItemDetail.html?docId=1270720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Clients Use Both Stacks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CNNIC historical multi-homing: https://www3.cnnic.cn/n4/2022/0401/c119-1026.html</a:t>
            </a:r>
          </a:p>
          <a:p xmlns:a="http://schemas.openxmlformats.org/drawingml/2006/main">
            <a:r>
              <a:t>- Ant prospectus: https://wynthia.com/wp-content/uploads/2020/09/ant-draft-ipo-prospectus-2020-08-read.pdf</a:t>
            </a:r>
          </a:p>
          <a:p xmlns:a="http://schemas.openxmlformats.org/drawingml/2006/main">
            <a:r>
              <a:t>- WeBank 2024 report: https://tctp.tctpwebankcdn.net/owb-admin/data/appsystems/owb-admin/1756804158938-13423.pdf</a:t>
            </a:r>
          </a:p>
          <a:p xmlns:a="http://schemas.openxmlformats.org/drawingml/2006/main">
            <a:r>
              <a:t>- MYbank 2024 report: https://qxb-pdf-osscache.qixin.com/AnBaseinfo/7f4fb677abdf6a905d911992520c8b93.pdf</a:t>
            </a:r>
          </a:p>
          <a:p xmlns:a="http://schemas.openxmlformats.org/drawingml/2006/main">
            <a:r>
              <a:t>- Bloomberg Intelligence, China fintech report, Nov 2019 (user-provided PDF 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Reported digital-bank loan balances are company-filing / Bloomberg Intelligence figures. They are not comparable with platform-enabled origination volumes without a funding and risk-bearing bridge.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 Prices Business Models, Not Categories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User-provided Bloomberg workbook: TIM - 11.xlsx, Bank 1 and Fin sheets.</a:t>
            </a:r>
          </a:p>
          <a:p xmlns:a="http://schemas.openxmlformats.org/drawingml/2006/main">
            <a:r>
              <a:t>- Bank peer medians exclude the workbook's mislabeled 601995 / CICC block. Fintech valuation medians use names with populated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fintech sample is heterogeneous and includes platforms, digital brokers, insurers and loan facilitators. Medians describe the supplied listed sample, not the whole sector.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Business Models; Three Different Risk Profiles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Bloomberg workbook supplied by user for listed bank and fintech valuation/financial comparisons.</a:t>
            </a:r>
          </a:p>
          <a:p xmlns:a="http://schemas.openxmlformats.org/drawingml/2006/main">
            <a:r>
              <a:t>- WeBank and MYbank company reports; Ant prospectus; Tencent and East Money filings.</a:t>
            </a:r>
          </a:p>
          <a:p xmlns:a="http://schemas.openxmlformats.org/drawingml/2006/main">
            <a:r>
              <a:t>- NFRA/PBOC 2020–2026 regulatory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Bubble size is a qualitative depiction of relative business-model emphasis, not a quantitative market-share or valuation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Analysis based on PBOC, NFRA/CBRC/CBIRC, NBS, company filings, Bloomberg Intelligence PDFs and the user-provided Bloomberg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bece94f4a4f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b152629944a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57a815eb344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56480c7f74c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933cf603048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363a848d64e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702bc8f4746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709b7e4eb437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84e8a20e445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92ec215d14f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3666d24f0400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EF7692-D0BF-93E1-909C-4E7603BD51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1B751A-B839-B89D-B1F1-EF83525010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6B04B9-DA51-0C5C-84F1-5149F15A1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63838-D73B-0177-BE1E-F060223B20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62382D-5257-7891-9412-A5AF7D732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EFEE7-2F08-FAF1-1B31-DEFF8150A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D69C-C848-0D16-1DD6-A16745FC9E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15FF82-FF0A-C0CA-FD64-673606F109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F7E66C-FA75-96D9-C2C5-C36B0B11A1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630CD9-E546-98E1-0E0F-7139EDCFC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91720D-E9ED-F886-C762-1988C483C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FA7F8A-5FC1-D265-7FDE-93DB0642B0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51043C-4C97-FE32-B1E2-2D3A23C83D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E6E5E8-B2D7-6E1C-DCE5-A6D3BBCC1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1DE801-3919-34A4-E54F-1448AE9A9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C8005A-77D3-E8FB-D58C-B99B8BAE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3EA38-6E80-3AC4-DB11-B2623C72F9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C82C40-99EB-6C74-B65D-3546B8D175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397756-14C0-337D-9E42-071D3E85EE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7E310F-8954-A5D3-CA32-ECCA5BE74F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1E1D85-93E2-54F9-C9E1-3CE0E511A2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0D513-A6DF-2DA0-BBAB-3BE825DD7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BCBB2-0578-A11F-3A14-891149CC3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C6B3C6A-C714-9F64-B721-EF4CD9B240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F3C3A4-D272-5428-F1BB-DD72447EFD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D33C8C4-F01B-E70B-2D57-621098F5CA1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EE74FE-3EE1-AABF-6C20-D677B9553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4D84C70-8038-F23A-4B87-D2912EF46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47A143-6627-961A-1B12-E9DEFC5D2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768E0F-8410-6191-2596-68A21FF66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3F06390-B68E-B76E-07F1-FC4C1A88C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E66337C-2985-ABE2-C010-6C480591A1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4A865D-5C65-8DB7-6FA7-D8503A74F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A78279E-0B83-293B-F314-B5A3A2DE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58050AA-6F7B-0949-35A0-CFA7E54C6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090F705-CED0-13ED-5D0F-B2104E94F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5DC4CE-C968-BB3D-483C-42A98322A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99A83B-FE61-7D87-EDF4-D9E04B6B12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AF4B5-E79A-8B4E-14D2-69C7366D5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36254C-D882-D6F2-1248-D31907BA1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9CB0F7-BC81-23EA-8948-5002D886F1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6C97F6-5E24-2AEC-7E70-8A7D32725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9BFC6-2F8D-38B7-41DA-AF2F844DD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32A14E9-946F-2D0C-7CE2-CC0405EDBA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EAC576-6871-B647-D8FF-F745218997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18E932-DB6B-3454-3099-B08F2170A8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7F6556-34D4-3C85-D150-34A37B32E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C85435-53CF-E107-8D3E-6B7D0ABE7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F197F9-2AE8-CEA3-3D27-5FE9CF20B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40D77-CF95-32F1-A330-34658DFB57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61D249-0864-C56E-0D1E-53D3AFC07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064013-CE5B-42DA-B215-DBF391243A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419A1B-C0C2-F215-02A7-8AF6AFF49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D537FD5-9C5C-4C69-66E7-4F6B928F7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A47AF-BFDE-DB74-B082-D1AC37729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80A0E6-6021-087D-7A6F-33845A917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5ACEDA-6026-FB62-D7A8-593A902F7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B4ADBC-2137-EA5E-64A2-6ECDA2D719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3d3082b9b645da" /><Relationship Type="http://schemas.openxmlformats.org/officeDocument/2006/relationships/slideLayout" Target="/ppt/slideLayouts/slideLayout1.xml" Id="R51ea39fd357d4b82" /><Relationship Type="http://schemas.openxmlformats.org/officeDocument/2006/relationships/slideLayout" Target="/ppt/slideLayouts/slideLayout2.xml" Id="R3373bd48c7954272" /><Relationship Type="http://schemas.openxmlformats.org/officeDocument/2006/relationships/slideLayout" Target="/ppt/slideLayouts/slideLayout3.xml" Id="Ra723f302a9b64de6" /><Relationship Type="http://schemas.openxmlformats.org/officeDocument/2006/relationships/slideLayout" Target="/ppt/slideLayouts/slideLayout4.xml" Id="Rb9e264c41c524fa6" /><Relationship Type="http://schemas.openxmlformats.org/officeDocument/2006/relationships/slideLayout" Target="/ppt/slideLayouts/slideLayout5.xml" Id="Rf208ec3033b64968" /><Relationship Type="http://schemas.openxmlformats.org/officeDocument/2006/relationships/slideLayout" Target="/ppt/slideLayouts/slideLayout6.xml" Id="R88a6fffdaa8f4874" /><Relationship Type="http://schemas.openxmlformats.org/officeDocument/2006/relationships/slideLayout" Target="/ppt/slideLayouts/slideLayout7.xml" Id="R60377fd8e9bc40bd" /><Relationship Type="http://schemas.openxmlformats.org/officeDocument/2006/relationships/slideLayout" Target="/ppt/slideLayouts/slideLayout8.xml" Id="Rdb2ed5edbd6142e1" /><Relationship Type="http://schemas.openxmlformats.org/officeDocument/2006/relationships/slideLayout" Target="/ppt/slideLayouts/slideLayout9.xml" Id="R61f0969bd28044f5" /><Relationship Type="http://schemas.openxmlformats.org/officeDocument/2006/relationships/slideLayout" Target="/ppt/slideLayouts/slideLayout10.xml" Id="R6e9084a4302942b8" /><Relationship Type="http://schemas.openxmlformats.org/officeDocument/2006/relationships/slideLayout" Target="/ppt/slideLayouts/slideLayout11.xml" Id="Rf18dd2d78cb949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69ED60-E438-BA2C-7AE8-133BD9517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AC153-BA00-431B-12A1-8833AB6EA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470832-0887-2137-B91B-6C97233FAA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5765DA-7464-0E50-5D3F-9E96E96B40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24007-E902-00A7-B84C-02F0976626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a39fd357d4b82"/>
    <p:sldLayoutId xmlns:r="http://schemas.openxmlformats.org/officeDocument/2006/relationships" id="2147483650" r:id="R3373bd48c7954272"/>
    <p:sldLayoutId xmlns:r="http://schemas.openxmlformats.org/officeDocument/2006/relationships" id="2147483651" r:id="Ra723f302a9b64de6"/>
    <p:sldLayoutId xmlns:r="http://schemas.openxmlformats.org/officeDocument/2006/relationships" id="2147483652" r:id="Rb9e264c41c524fa6"/>
    <p:sldLayoutId xmlns:r="http://schemas.openxmlformats.org/officeDocument/2006/relationships" id="2147483653" r:id="Rf208ec3033b64968"/>
    <p:sldLayoutId xmlns:r="http://schemas.openxmlformats.org/officeDocument/2006/relationships" id="2147483654" r:id="R88a6fffdaa8f4874"/>
    <p:sldLayoutId xmlns:r="http://schemas.openxmlformats.org/officeDocument/2006/relationships" id="2147483655" r:id="R60377fd8e9bc40bd"/>
    <p:sldLayoutId xmlns:r="http://schemas.openxmlformats.org/officeDocument/2006/relationships" id="2147483656" r:id="Rdb2ed5edbd6142e1"/>
    <p:sldLayoutId xmlns:r="http://schemas.openxmlformats.org/officeDocument/2006/relationships" id="2147483657" r:id="R61f0969bd28044f5"/>
    <p:sldLayoutId xmlns:r="http://schemas.openxmlformats.org/officeDocument/2006/relationships" id="2147483658" r:id="R6e9084a4302942b8"/>
    <p:sldLayoutId xmlns:r="http://schemas.openxmlformats.org/officeDocument/2006/relationships" id="2147483659" r:id="Rf18dd2d78cb9498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a226afeef4540" /><Relationship Type="http://schemas.openxmlformats.org/officeDocument/2006/relationships/image" Target="/ppt/media/image.png" Id="Raa5d2b6b329c460c" /><Relationship Type="http://schemas.openxmlformats.org/officeDocument/2006/relationships/notesSlide" Target="/ppt/notesSlides/notesSlide1.xml" Id="Rc70e949c3777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d5ee9820e44685" /><Relationship Type="http://schemas.openxmlformats.org/officeDocument/2006/relationships/chart" Target="/ppt/slides/charts/chart1.xml" Id="R8fd1b3a59d524a79" /><Relationship Type="http://schemas.openxmlformats.org/officeDocument/2006/relationships/chart" Target="/ppt/slides/charts/chart2.xml" Id="R58a36aa29aec4354" /><Relationship Type="http://schemas.openxmlformats.org/officeDocument/2006/relationships/chart" Target="/ppt/slides/charts/chart3.xml" Id="Rbd63e2a6a66d486e" /><Relationship Type="http://schemas.openxmlformats.org/officeDocument/2006/relationships/notesSlide" Target="/ppt/notesSlides/notesSlide2.xml" Id="Rf2752ac413094a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12466cb7374d15" /><Relationship Type="http://schemas.openxmlformats.org/officeDocument/2006/relationships/chart" Target="/ppt/slides/charts/chart4.xml" Id="R02f026011a204945" /><Relationship Type="http://schemas.openxmlformats.org/officeDocument/2006/relationships/chart" Target="/ppt/slides/charts/chart5.xml" Id="R22233218c9be4f2a" /><Relationship Type="http://schemas.openxmlformats.org/officeDocument/2006/relationships/chart" Target="/ppt/slides/charts/chart6.xml" Id="R843d6ab18a0a49af" /><Relationship Type="http://schemas.openxmlformats.org/officeDocument/2006/relationships/notesSlide" Target="/ppt/notesSlides/notesSlide3.xml" Id="Rb50e1b5218a04a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5483ec98024154" /><Relationship Type="http://schemas.openxmlformats.org/officeDocument/2006/relationships/chart" Target="/ppt/slides/charts/chart7.xml" Id="R48d39f8720ce426c" /><Relationship Type="http://schemas.openxmlformats.org/officeDocument/2006/relationships/chart" Target="/ppt/slides/charts/chart8.xml" Id="R75092381c6424de9" /><Relationship Type="http://schemas.openxmlformats.org/officeDocument/2006/relationships/notesSlide" Target="/ppt/notesSlides/notesSlide4.xml" Id="R7749cec3da64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e918679d6b4266" /><Relationship Type="http://schemas.openxmlformats.org/officeDocument/2006/relationships/chart" Target="/ppt/slides/charts/chart9.xml" Id="Ra93a9ee20a5145bd" /><Relationship Type="http://schemas.openxmlformats.org/officeDocument/2006/relationships/notesSlide" Target="/ppt/notesSlides/notesSlide5.xml" Id="R0b208bac28694d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e45d6625864b5e" /><Relationship Type="http://schemas.openxmlformats.org/officeDocument/2006/relationships/chart" Target="/ppt/slides/charts/chart10.xml" Id="Rfec07a437cf54275" /><Relationship Type="http://schemas.openxmlformats.org/officeDocument/2006/relationships/chart" Target="/ppt/slides/charts/chart11.xml" Id="R2f99f0a79f57470c" /><Relationship Type="http://schemas.openxmlformats.org/officeDocument/2006/relationships/notesSlide" Target="/ppt/notesSlides/notesSlide6.xml" Id="Rcd65eead419f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ea1f3ff0c74c30" /><Relationship Type="http://schemas.openxmlformats.org/officeDocument/2006/relationships/notesSlide" Target="/ppt/notesSlides/notesSlide7.xml" Id="R2622f18c3ee2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25c8a80104c7c" /><Relationship Type="http://schemas.openxmlformats.org/officeDocument/2006/relationships/notesSlide" Target="/ppt/notesSlides/notesSlide8.xml" Id="R6f3dac93d6304b9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count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2860">
              <a:solidFill>
                <a:srgbClr val="00206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2060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827</c:v>
                </c:pt>
                <c:pt idx="2">
                  <c:v>2243</c:v>
                </c:pt>
                <c:pt idx="3">
                  <c:v>6060</c:v>
                </c:pt>
                <c:pt idx="4">
                  <c:v>9034</c:v>
                </c:pt>
                <c:pt idx="5">
                  <c:v>11060</c:v>
                </c:pt>
                <c:pt idx="6">
                  <c:v>13827</c:v>
                </c:pt>
              </c:numCache>
            </c:numRef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2860">
              <a:solidFill>
                <a:srgbClr val="E9713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E9713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536</c:v>
                </c:pt>
                <c:pt idx="2">
                  <c:v>1869</c:v>
                </c:pt>
                <c:pt idx="3">
                  <c:v>4694</c:v>
                </c:pt>
                <c:pt idx="4">
                  <c:v>6704</c:v>
                </c:pt>
                <c:pt idx="5">
                  <c:v>8020</c:v>
                </c:pt>
                <c:pt idx="6">
                  <c:v>8642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value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0955">
              <a:solidFill>
                <a:srgbClr val="002060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2060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1123</c:v>
                </c:pt>
                <c:pt idx="2">
                  <c:v>2105</c:v>
                </c:pt>
                <c:pt idx="3">
                  <c:v>3601</c:v>
                </c:pt>
                <c:pt idx="4">
                  <c:v>5467</c:v>
                </c:pt>
                <c:pt idx="5">
                  <c:v>5761</c:v>
                </c:pt>
                <c:pt idx="6">
                  <c:v>5933</c:v>
                </c:pt>
              </c:numCache>
            </c:numRef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0955">
              <a:solidFill>
                <a:srgbClr val="E9713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E9713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537</c:v>
                </c:pt>
                <c:pt idx="2">
                  <c:v>1554</c:v>
                </c:pt>
                <c:pt idx="3">
                  <c:v>2710</c:v>
                </c:pt>
                <c:pt idx="4">
                  <c:v>3855</c:v>
                </c:pt>
                <c:pt idx="5">
                  <c:v>3690</c:v>
                </c:pt>
                <c:pt idx="6">
                  <c:v>3664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Combined-series activity split, 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Bank count</c:v>
                </c:pt>
                <c:pt idx="1">
                  <c:v>Non-bank count</c:v>
                </c:pt>
                <c:pt idx="2">
                  <c:v>Bank value</c:v>
                </c:pt>
                <c:pt idx="3">
                  <c:v>Non-bank value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19.4</c:v>
                </c:pt>
                <c:pt idx="1">
                  <c:v>80.6</c:v>
                </c:pt>
                <c:pt idx="2">
                  <c:v>91.5</c:v>
                </c:pt>
                <c:pt idx="3">
                  <c:v>8.5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Leading share by market layer, 2024–2025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Leading 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Wallet interface¹</c:v>
                </c:pt>
                <c:pt idx="1">
                  <c:v>Non-bank activity count²</c:v>
                </c:pt>
                <c:pt idx="2">
                  <c:v>NetsUnion clearing count³</c:v>
                </c:pt>
                <c:pt idx="3">
                  <c:v>Bank activity value²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94</c:v>
                </c:pt>
                <c:pt idx="1">
                  <c:v>80.6</c:v>
                </c:pt>
                <c:pt idx="2">
                  <c:v>75.9</c:v>
                </c:pt>
                <c:pt idx="3">
                  <c:v>91.5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 vs non-bank count share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Bank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Ref>
              <c:f>'Chart Data'!$A$2:$A$2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</c:v>
                </c:pt>
              </c:numCache>
            </c:numRef>
          </c:val>
        </c:ser>
        <c:ser>
          <c:idx val="1"/>
          <c:order val="1"/>
          <c:tx>
            <c:v>Non-bank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Ref>
              <c:f>'Chart Data'!$C$2:$C$2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80.6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FFFF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Average transaction ticket, 2025 (RMB '000)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RMB '000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Bank electronic</c:v>
                </c:pt>
                <c:pt idx="1">
                  <c:v>Non-bank network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11.332</c:v>
                </c:pt>
                <c:pt idx="1">
                  <c:v>0.255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Banking-system assets (RMB tn)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Assets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Ref>
              <c:f>'Chart Data'!$A$2:$A$5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2025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95.3</c:v>
                </c:pt>
                <c:pt idx="1">
                  <c:v>199.3</c:v>
                </c:pt>
                <c:pt idx="2">
                  <c:v>319.7</c:v>
                </c:pt>
                <c:pt idx="3">
                  <c:v>480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Sector ROE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ROE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2010</c:v>
                </c:pt>
                <c:pt idx="1">
                  <c:v>2020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17.5</c:v>
                </c:pt>
                <c:pt idx="1">
                  <c:v>9.48</c:v>
                </c:pt>
                <c:pt idx="2">
                  <c:v>8.93</c:v>
                </c:pt>
                <c:pt idx="3">
                  <c:v>8.1</c:v>
                </c:pt>
                <c:pt idx="4">
                  <c:v>7.78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Reported loan balance (RMB bn)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Loans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WeBank 2018</c:v>
                </c:pt>
                <c:pt idx="1">
                  <c:v>WeBank 2024</c:v>
                </c:pt>
                <c:pt idx="2">
                  <c:v>MYbank 2018</c:v>
                </c:pt>
                <c:pt idx="3">
                  <c:v>MYbank 2024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120</c:v>
                </c:pt>
                <c:pt idx="1">
                  <c:v>436</c:v>
                </c:pt>
                <c:pt idx="2">
                  <c:v>48</c:v>
                </c:pt>
                <c:pt idx="3">
                  <c:v>298.5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2025Q4 median ROE (%) and trailing P/E (x)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Median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Banks ROE</c:v>
                </c:pt>
                <c:pt idx="1">
                  <c:v>Fintech ROE</c:v>
                </c:pt>
                <c:pt idx="2">
                  <c:v>Banks P/E</c:v>
                </c:pt>
                <c:pt idx="3">
                  <c:v>Fintech P/E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9.68</c:v>
                </c:pt>
                <c:pt idx="1">
                  <c:v>14.78</c:v>
                </c:pt>
                <c:pt idx="2">
                  <c:v>7.35</c:v>
                </c:pt>
                <c:pt idx="3">
                  <c:v>17.29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income growth, H1 2026 (% YoY)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Growth</c:v>
          </c:tx>
          <c:spPr>
            <a:solidFill xmlns:a="http://schemas.openxmlformats.org/drawingml/2006/main">
              <a:srgbClr val="E9713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206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Tencent</c:v>
                </c:pt>
                <c:pt idx="1">
                  <c:v>East Money</c:v>
                </c:pt>
                <c:pt idx="2">
                  <c:v>Qfin</c:v>
                </c:pt>
                <c:pt idx="3">
                  <c:v>Lexin</c:v>
                </c:pt>
                <c:pt idx="4">
                  <c:v>FinVolution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10.3</c:v>
                </c:pt>
                <c:pt idx="1">
                  <c:v>44.8</c:v>
                </c:pt>
                <c:pt idx="2">
                  <c:v>-63.5</c:v>
                </c:pt>
                <c:pt idx="3">
                  <c:v>-67.9</c:v>
                </c:pt>
                <c:pt idx="4">
                  <c:v>-42.6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-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2700534"/>
            <a:ext cx="5288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 i="0" u="none" strike="noStrike">
                <a:solidFill>
                  <a:srgbClr val="002060"/>
                </a:solidFill>
              </a:rPr>
              <a:t>China Banks vs Fintech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3280144"/>
            <a:ext cx="682815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0" i="0" u="none" strike="noStrike">
                <a:solidFill>
                  <a:srgbClr val="002060"/>
                </a:solidFill>
              </a:rPr>
              <a:t>The interface moved, the balance sheet stayed | 2010 to H1 2026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FFCDEF7B-97F5-472D-B01A-25EE1D874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d2b6b329c46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95" y="1619619"/>
            <a:ext cx="3262140" cy="332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69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2C4A1C-A300-419B-AABF-A0E26DA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MARKET STRUCTURE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EC2083-F7A1-4CD2-803F-EC74891A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Fintech Owns Frequency; Banks Still Own Value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7311C5-CAB9-4564-B001-E64E7CF4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The same transaction can be platform-initiated, bank-funded and bank-settled.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EE6D5F-01FC-48FB-84D0-12DBE51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PBOC payment-system statistics; 2025 figures reproduced by Cuiwei; internal calculations. Bank and non-bank series overlap and are not ownership shares.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5A55A2-6771-4C4F-A6EA-D16FFA9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F0C12D-C8E8-413D-89F7-47D968A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F3A188-BD7A-4866-9047-7C8DB45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960B101-F151-4469-9124-326BEC8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COUNT INDEX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71DB59-7557-4C00-9B89-5B3A74DD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05" y="3248387"/>
            <a:ext cx="4937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F318DF-AA63-4C5D-9DCE-6472A7B3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334256"/>
            <a:ext cx="5760720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8B5A9A-D0F8-498C-A830-7B46C930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1272E8-CBD7-4670-9270-CF90C17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VALUE INDEX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319E1C-2544-4EDD-A102-1AB9AB3B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3" y="4608576"/>
            <a:ext cx="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3B309A-BA0A-4233-B906-FFFB041A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4791456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38464-ED43-493A-B62A-1AB89AE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009126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/>
            </a:r>
            <a:endParaRPr sz="2400" b="1" i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5148DF-8879-44C1-9A5F-13969D2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431536"/>
            <a:ext cx="137160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D0C79F7-28BF-49F2-B645-8EEDF99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1" y="4334256"/>
            <a:ext cx="4956048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6DA71D2-3602-4ECC-AAA2-1A9B7761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20B697-8547-43DD-AF0B-6F22D73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SPLIT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E5E6D98-7398-4915-9B4C-E41FDF18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366140"/>
            <a:ext cx="1459396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AD3A44-752D-4820-B9C6-720367A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640460"/>
            <a:ext cx="1459396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4F7BAD1D-6917-434F-B1FD-16C43F785B65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23408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d1b3a59d524a79"/>
          </a:graphicData>
        </a:graphic>
      </p:graphicFrame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5573EF7C-B9A3-405A-9F8C-CF8C9400DF21}"/>
              </a:ext>
            </a:extLst>
          </p:cNvPr>
          <p:cNvGraphicFramePr/>
          <p:nvPr/>
        </p:nvGraphicFramePr>
        <p:xfrm>
          <a:off xmlns:a="http://schemas.openxmlformats.org/drawingml/2006/main" x="694944" y="4517136"/>
          <a:ext xmlns:a="http://schemas.openxmlformats.org/drawingml/2006/main" cx="5541264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36aa29aec4354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2AF4BD59-D4F8-4D05-A5E0-E59101D3704A}"/>
              </a:ext>
            </a:extLst>
          </p:cNvPr>
          <p:cNvGraphicFramePr/>
          <p:nvPr/>
        </p:nvGraphicFramePr>
        <p:xfrm>
          <a:off xmlns:a="http://schemas.openxmlformats.org/drawingml/2006/main" x="6766560" y="4517136"/>
          <a:ext xmlns:a="http://schemas.openxmlformats.org/drawingml/2006/main" cx="4736592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63e2a6a66d486e"/>
          </a:graphicData>
        </a:graphic>
      </p:graphicFrame>
    </p:spTree>
    <p:extLst>
      <p:ext uri="{BB962C8B-B14F-4D97-AF65-F5344CB8AC3E}">
        <p14:creationId xmlns:p14="http://schemas.microsoft.com/office/powerpoint/2010/main" val="432989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5C0C37-97C1-4B6E-8FB9-A0FC100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FOUR-LAYER 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E823D6-E559-441E-86A0-268763D8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Finance Splits Across Four Layers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4FF866-5CA7-4A58-B3C1-0A7764AA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Interface, activity, clearing and settlement produce different winners.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C2F065-777F-47B5-9ACF-64C3E8DA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AMRO; IMF; PBOC; NetsUnion statistics; NBS; internal calculations. Each layer uses a different denominator.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9B2983E-A1A5-4773-A20F-480941A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F3634F-2A4B-4301-B357-3C911C4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6492240" cy="4809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E73F29F-D498-45BC-AA29-46348BC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520E96D-BB0C-4380-9B9C-6DA20D79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LEADING SHARE BY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0DEB3F-C1F5-4013-AF08-6714980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5" y="2271003"/>
            <a:ext cx="0" cy="340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95959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02D574E-AF63-4B24-BF40-49DCDA77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07" y="5398617"/>
            <a:ext cx="237744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366846-5CC2-4066-9BFB-C8248FE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408176"/>
            <a:ext cx="4224528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89ABFE9-7F2E-4292-AC38-C1D4C0DC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8E20B9-D8AE-4A4B-A37F-9BFD732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D89B5F3-4060-49B0-ADB5-3A3A4499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3427872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4F2FE3A-8BB1-4B2A-A8A5-7FFB1FC7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3A3E964-21E4-473E-9170-A70566B4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053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B360D76-F04E-4EF8-B0BD-0E8213F6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048256"/>
            <a:ext cx="342787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06C7B6-BD10-4756-B640-DBDAF4E4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70" y="2885846"/>
            <a:ext cx="10972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1427D88-318B-4909-A904-73D2DC7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566160"/>
            <a:ext cx="4224528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D63EB99-FC8F-45DD-8B7D-5FCE0174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8D5654-18A6-4972-8D0B-2291371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AVERAGE TICKET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680878-D756-4FF1-BDF9-1245902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833872"/>
            <a:ext cx="4224528" cy="3785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 channels move larger-value money; wallets win daily frequency.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6BCE608C-9CCB-4770-8D6D-7CB311A281F6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6272784" cy="45354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026011a204945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F3C46F86-640B-4410-A402-1ADB0B450DA2}"/>
              </a:ext>
            </a:extLst>
          </p:cNvPr>
          <p:cNvGraphicFramePr/>
          <p:nvPr/>
        </p:nvGraphicFramePr>
        <p:xfrm>
          <a:off xmlns:a="http://schemas.openxmlformats.org/drawingml/2006/main" x="7498080" y="1591056"/>
          <a:ext xmlns:a="http://schemas.openxmlformats.org/drawingml/2006/main" cx="4005072" cy="157276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233218c9be4f2a"/>
          </a:graphicData>
        </a:graphic>
      </p:graphicFrame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7B9444E3-B42D-4C78-BBC2-36AAB6C3B1A0}"/>
              </a:ext>
            </a:extLst>
          </p:cNvPr>
          <p:cNvGraphicFramePr/>
          <p:nvPr/>
        </p:nvGraphicFramePr>
        <p:xfrm>
          <a:off xmlns:a="http://schemas.openxmlformats.org/drawingml/2006/main" x="7498080" y="3749040"/>
          <a:ext xmlns:a="http://schemas.openxmlformats.org/drawingml/2006/main" cx="4005072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3d6ab18a0a49af"/>
          </a:graphicData>
        </a:graphic>
      </p:graphicFrame>
    </p:spTree>
    <p:extLst>
      <p:ext uri="{BB962C8B-B14F-4D97-AF65-F5344CB8AC3E}">
        <p14:creationId xmlns:p14="http://schemas.microsoft.com/office/powerpoint/2010/main" val="3991993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D4281B-20B7-43FE-921E-733FC667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BANKING CAPACITY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10F6E3-54D1-4034-AF48-8B7B0BD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 Still Own the Balance Sheet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5583A2-9E08-429C-871D-6995C55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Assets quintupled while ROE halved and margins compressed.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C75249-1241-4446-9D5F-7FB44183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CBRC/CBIRC/NFRA; NBS; Bloomberg workbook; internal calculations. 2025 values are full-year actuals.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CC23D1-3FD8-4BA7-8117-82BA96C7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914450-669B-42BE-A282-D50EF673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3A9818-CF83-4A70-AE21-7395658B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3ACC881-65E5-4980-B0DC-51FD24D6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ASSET SCALE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A37048-5E48-4867-A10A-4A8FBE3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84" y="2011679"/>
            <a:ext cx="0" cy="1243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D07DABE-4446-4054-AEFC-E74C080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248" y="1819655"/>
            <a:ext cx="20116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2010–2025 CAGR: 11.4%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4B0ACAD-E073-4F53-A542-7748071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BB3593F-4D07-43EF-9C38-9CAB73B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B35191-D89E-4DF8-B985-FABE696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PROFITABILITY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D635B0E-9CE5-4607-A3CD-96473E5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840480"/>
            <a:ext cx="11027664" cy="2377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DC22958-9823-49B0-9CA9-FC09BE9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242570-2F6D-492F-8DC4-2845CAC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BALANCE-SHEET CAPACITY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7E8271D-AC7A-4928-9EB1-83FC387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0660C0F-A28C-4D9F-85F1-694B830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74545AC-1110-4F66-A783-3B02DFDD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606CE03-71E6-4A5B-8048-227A31B1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Deposits and loans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E08CBEF-52E7-4E5B-9BFD-78A4F9EB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RMB tn, end-2025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738F6EC-1616-457D-93EF-74408B4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553712"/>
            <a:ext cx="22466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8EAAF76-3E74-4F55-8426-526AA750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Deposits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5B8B711-5A13-4A04-A7C7-2D9F8B2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336.1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5FD1A06-9282-4125-BBFB-8784C7B4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919472"/>
            <a:ext cx="1800636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AE17548-D21B-4A98-BF6F-C20FC33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69F101-3499-43DF-A089-F6DE188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275.7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DDAF9D4-A211-4CC2-AF93-E65E6D7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RMB2.4tn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A1ACF94-5A68-4C6A-80F7-9A2DFC8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profit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2EE11EC-2F83-432A-BF77-690356CB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interest margin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8A449B4-1611-4C1F-899A-082EF6D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CC8635B-40AB-4803-A4D2-66026AA3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7B6621D-D34F-4AB1-B6F6-FCB452D5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02250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921A140-19B2-43F8-8015-CBE269A8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194935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1.42%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7966E75-91C0-4EC9-9847-D885FCE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09B75BB-C18B-46BB-BFEE-FAAEAD26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ROA 0.60%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B710A1A-5171-4171-A6E5-EBFCF3CE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7.78%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266F6CB-FCB0-4F6A-B3EB-8BDE2A6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ROE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1206E5-6F58-4228-8A79-A0B0901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Capital adequacy ratio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F49C9EF-0CB5-430D-9FCB-CBB1CBC6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86C4413C-4244-4E78-8A98-A415A3A2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4DA5C14-CA08-4EA0-A5AB-9A7C07D8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75103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5546975-9430-4B17-B85B-668DA36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01951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15.46%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FEC6418-9963-404A-866C-9BC578B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404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C2322FA-DC60-4916-B211-D9066E7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16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NPL 1.50%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6939ABC-5311-44EF-AD63-6555361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4.9x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FB6DF86F-CAB7-4F8F-9243-5AFB9402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assets vs 2010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CF8DAD-543C-4594-8037-B1131D0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078224"/>
            <a:ext cx="1335024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2026 H1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BEE4059-F126-45B0-96F2-35F77BE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306824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latest system snapshot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366D79B6-9C40-4CEC-BDC9-BA6AEAF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608576"/>
            <a:ext cx="1335024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RMB498tn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5F520B17-1132-46AF-81ED-781AB46B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5010912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total banking assets</a:t>
            </a:r>
          </a:p>
        </p:txBody>
      </p:sp>
      <p:graphicFrame>
        <p:nvGraphicFramePr>
          <p:cNvPr id="55" name="Chart">
            <a:extLst xmlns:a="http://schemas.openxmlformats.org/drawingml/2006/main">
              <a:ext uri="{FF2B5EF4-FFF2-40B4-BE49-F238E27FC236}">
                <a16:creationId xmlns:a16="http://schemas.microsoft.com/office/drawing/2014/main" id="{94998337-8F7C-4185-A6D4-B259843E2F2F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39f8720ce426c"/>
          </a:graphicData>
        </a:graphic>
      </p:graphicFrame>
      <p:graphicFrame>
        <p:nvGraphicFramePr>
          <p:cNvPr id="56" name="Chart">
            <a:extLst xmlns:a="http://schemas.openxmlformats.org/drawingml/2006/main">
              <a:ext uri="{FF2B5EF4-FFF2-40B4-BE49-F238E27FC236}">
                <a16:creationId xmlns:a16="http://schemas.microsoft.com/office/drawing/2014/main" id="{C7B8CE96-D9E3-45BB-99CD-B5A249E1BB1C}"/>
              </a:ext>
            </a:extLst>
          </p:cNvPr>
          <p:cNvGraphicFramePr/>
          <p:nvPr/>
        </p:nvGraphicFramePr>
        <p:xfrm>
          <a:off xmlns:a="http://schemas.openxmlformats.org/drawingml/2006/main" x="636422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092381c6424de9"/>
          </a:graphicData>
        </a:graphic>
      </p:graphicFrame>
    </p:spTree>
    <p:extLst>
      <p:ext uri="{BB962C8B-B14F-4D97-AF65-F5344CB8AC3E}">
        <p14:creationId xmlns:p14="http://schemas.microsoft.com/office/powerpoint/2010/main" val="283632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463634-D813-42C5-918C-E1D9E0C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CLIENT JOURNEY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53D5B2-0C47-4E0E-8BAA-225064C7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Clients Use Both Stacks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7C9746-C392-443B-ABBE-7498CF50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 own context; licensed institutions hold deposits, custody and most credit risk.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D9A112-AF12-4D97-87D1-2A9B17B6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CNNIC; NBS; Ant prospectus; WeBank and MYbank reports; Bloomberg Intelligence. Diagram is a functional map,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3BB3BC-EFD6-4AAA-B643-24D3C33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066E88-FFCC-4805-ACF4-FE58CFB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4CF20DB-9D08-4ECB-B428-26F44A31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026E3D-8FD3-4C72-A8F3-6D0ACB58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FUNCTION MAP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01245FC-F469-464C-8A28-12FF5A1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79392"/>
            <a:ext cx="4846320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FC8B9C9-38AA-4C3D-99C3-E93FA01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0BDE63A-9F50-4FF3-BA49-30DAAA1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 BANK LOAN SCALE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AF3F27E-4792-4C55-A205-C75733B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616061"/>
            <a:ext cx="4480559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EE620F2-3292-42E2-B629-23EEF4C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1" y="4279392"/>
            <a:ext cx="5870448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7CD001-D416-4D9C-998A-425B4AAB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39EDDD-BC72-4290-8AEA-1E042B0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 MODEL, 2024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FEC884E-4A89-4B31-B780-AF4A2737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189BDD7-C13F-4ECB-9716-543D5D6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AF2C58F-B7AB-4213-A330-E15986E0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700016"/>
            <a:ext cx="201168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81B1711-2751-40AF-B222-772C567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047488"/>
            <a:ext cx="9509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436bn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2D82EA6-26A3-45FF-81E0-72C793C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FC10A1A-5C61-400E-A055-38D9AB3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047488"/>
            <a:ext cx="9509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424m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35B0484-FE79-45FB-BE26-8D22F684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retail clients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89BFB97-89DE-4E38-98BD-03D99E54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700016"/>
            <a:ext cx="11887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MYbank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FFCD3F8-7FDE-42A4-9675-971B5EA6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85623"/>
            <a:ext cx="11887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299bn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00E125F-F0F1-44F9-BA8C-30015D5B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9824"/>
            <a:ext cx="11887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608206E-5245-458A-BEB8-178AA2FC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700016"/>
            <a:ext cx="16459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MYbank clients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FECDDFE-FB1E-40CB-991A-2AA9F06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047488"/>
            <a:ext cx="16459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68m+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6D16E03-45B3-414C-9F47-A41B1903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449824"/>
            <a:ext cx="16459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cumulative SMEs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3586E00-CB60-4384-981D-CF8D30D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952744"/>
            <a:ext cx="11027664" cy="129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5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functions overlap; funding, custody and final risk-bearing remain concentrated in licensed institutions.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8FE4FB-46EE-44B7-9B73-EB8E29E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40957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2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</a:t>
            </a:r>
          </a:p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Deposits • custody • settlement</a:t>
            </a:r>
          </a:p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Long-term / corporate 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8081D4-B0E2-4125-8720-744696A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40957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5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FINTECH</a:t>
            </a:r>
          </a:p>
          <a:p xmlns:a="http://schemas.openxmlformats.org/drawingml/2006/main">
            <a: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Daily UX • discovery</a:t>
            </a:r>
          </a:p>
          <a:p xmlns:a="http://schemas.openxmlformats.org/drawingml/2006/main">
            <a: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Data • distribution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CEFD01-14C7-4F4E-9C30-8528294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3335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PAYMENTS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99519-49FF-4E3D-8A3E-AC03935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1238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WEALTH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E8480-9DC2-44E8-B8A2-AFCA85E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1381125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SHORT CREDIT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79DE83-2D9D-47C9-B667-F9C8AE4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571625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2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LICENSED</a:t>
            </a:r>
          </a:p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HYBRID</a:t>
            </a:r>
          </a:p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 • MYbank</a:t>
            </a:r>
          </a:p>
        </p:txBody>
      </p:sp>
      <p:graphicFrame>
        <p:nvGraphicFramePr>
          <p:cNvPr id="46" name="Chart">
            <a:extLst xmlns:a="http://schemas.openxmlformats.org/drawingml/2006/main">
              <a:ext uri="{FF2B5EF4-FFF2-40B4-BE49-F238E27FC236}">
                <a16:creationId xmlns:a16="http://schemas.microsoft.com/office/drawing/2014/main" id="{868620B5-EF0A-4A52-89A1-C0288F6C3D56}"/>
              </a:ext>
            </a:extLst>
          </p:cNvPr>
          <p:cNvGraphicFramePr/>
          <p:nvPr/>
        </p:nvGraphicFramePr>
        <p:xfrm>
          <a:off xmlns:a="http://schemas.openxmlformats.org/drawingml/2006/main" x="694944" y="4462272"/>
          <a:ext xmlns:a="http://schemas.openxmlformats.org/drawingml/2006/main" cx="4626864" cy="13350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3a9ee20a5145bd"/>
          </a:graphicData>
        </a:graphic>
      </p:graphicFrame>
    </p:spTree>
    <p:extLst>
      <p:ext uri="{BB962C8B-B14F-4D97-AF65-F5344CB8AC3E}">
        <p14:creationId xmlns:p14="http://schemas.microsoft.com/office/powerpoint/2010/main" val="9399637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AB26A4-F11F-447C-93A8-3A663E6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PUBLIC-MARKET LENS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3C0418-3331-4C94-B7E4-BB6C6D3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Market Prices Business Models, Not Categories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3A03A7-AC29-4B39-A2BD-A55D15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Banks trade at a discount; platform returns command a premium; facilitators weakened in H1 2026.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35D512-52D6-40FB-939F-8F9C2E90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Bloomberg workbook supplied by user; internal cleaning and calculations. Valuation and ROE are 2025Q4 medians; earnings growth is H1 2026 actual.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C69DED-2BDA-4673-BC4E-C28712A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777F48-FEF7-4F35-ADFE-C01C265E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1938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869A3C-4D63-4BA2-BA58-04E2A1D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F9C289-5B65-4BFB-9E6F-DAA7C08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AND RETURNS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46AC72-D1E7-4D4B-BE2E-7E64FECD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2D070B-99A0-4BCF-B4BC-D86ED10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694176"/>
            <a:ext cx="210312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1D1BB23E-66E9-40BE-998C-BE6ECE4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18ED6C0-D8B2-4732-9A4C-FEA0C3C3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76876A-4C00-416C-A1C4-C1174A0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70BA67B9-6F77-41D8-BDC3-66522979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4113536-B236-4C0A-9985-E90D710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RISK / RULES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2F5776-3ED1-425B-95CB-C7E49C18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Facilitators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8F6F789-897C-4243-91E6-54BB460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639312"/>
            <a:ext cx="237744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A598879-683B-495C-ADF2-BFA7AD9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114800"/>
            <a:ext cx="110276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AFDE48B-8DF6-49B9-A837-E702FD6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05072"/>
            <a:ext cx="14169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D3075CA-4B86-4831-A73A-1F15945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47000"/>
            <a:ext cx="14169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H1 2026 EARNINGS DISPERSION</a:t>
            </a:r>
            <a:endParaRPr sz="10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1E8CFDD7-84FB-483D-B180-6954B5A463D3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16642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07a437cf54275"/>
          </a:graphicData>
        </a:graphic>
      </p:graphicFrame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6A3C4053-5CCE-491D-9BCC-66FA855689E6}"/>
              </a:ext>
            </a:extLst>
          </p:cNvPr>
          <p:cNvGraphicFramePr/>
          <p:nvPr/>
        </p:nvGraphicFramePr>
        <p:xfrm>
          <a:off xmlns:a="http://schemas.openxmlformats.org/drawingml/2006/main" x="694944" y="4297680"/>
          <a:ext xmlns:a="http://schemas.openxmlformats.org/drawingml/2006/main" cx="1080820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9f0a79f57470c"/>
          </a:graphicData>
        </a:graphic>
      </p:graphicFrame>
    </p:spTree>
    <p:extLst>
      <p:ext uri="{BB962C8B-B14F-4D97-AF65-F5344CB8AC3E}">
        <p14:creationId xmlns:p14="http://schemas.microsoft.com/office/powerpoint/2010/main" val="20481745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4578B4-F223-4EA1-84BD-C4576328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 BUSINESS MODELS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D21DBB-C866-437C-B4CF-C6507C5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Three Business Models; Three Different Risk Profiles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B3BD3E-8553-4BC0-8820-2EB4E9FA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Funding control and interface control determine the investment case.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E1AD7-EEC1-46D2-90EC-2F1F316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company filings; Bloomberg workbook; regulatory chronology; internal synthesis. Bubble size is qualitative,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8E96C7-82B0-4913-ABE2-6395C029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</a:t>
            </a: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7</a:t>
            </a:r>
            <a:endParaRPr sz="1100" b="0" i="0">
              <a:solidFill>
                <a:srgbClr val="7A838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DA016-C9CE-4C96-891E-2D47B013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B1111C-0E29-4E38-B29B-0FC78BD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66DD54-D765-4C37-9D26-1B54A02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65648B-0CDF-49E1-9D07-76293DA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BALANCE SHEET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8A0E4C-D9A5-4E9C-A047-3402E58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Large banks / CMB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B20DAD-265C-4B73-BD63-5D53E18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Cheap valuation | yield | policy exposure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837ACD78-2C57-4AB4-A06D-BB879566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F1E1A01-8C6C-4B56-90AC-305DCF4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BCA7C3A0-B845-4881-A323-658712AF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WeBank / MYbank / East Money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51DB72AF-3C02-4747-90BA-7EFEA966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Preferred structure | two or more advantages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40EEE756-2B76-4EEB-9EAB-6E26303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F3F61538-E4F9-4A9C-95EB-897D4518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PLATFORM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B65658B1-B75E-402D-9CEE-411A41F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Tencent / Ant / loan facilitators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C2F28AE8-C872-410D-B3AE-06968303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Selective | transparency and funding matter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DFB654-64B3-46CD-9211-B87C3AE9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1571625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5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667F5C-6FA3-426D-844C-7D31AF6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5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7936CE-A328-49CD-AA74-41AA59C5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10953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2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13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13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61AE83D-E2D4-4707-9CAB-93BB020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4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0BB2379-6B9F-4A81-83E8-46D16240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EB473B-6E74-469D-9C28-3599517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57625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4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2136CE-BACE-4728-8569-72E6E40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6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FF93DB-EAF6-40EB-A9AE-1B009DB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REGULATION</a:t>
            </a:r>
          </a:p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+ FUNDING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86580D-A226-4FFA-BDAF-54B4532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0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</p:spTree>
    <p:extLst>
      <p:ext uri="{BB962C8B-B14F-4D97-AF65-F5344CB8AC3E}">
        <p14:creationId xmlns:p14="http://schemas.microsoft.com/office/powerpoint/2010/main" val="1581689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2700534"/>
            <a:ext cx="2443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sz="36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Thank you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3280144"/>
            <a:ext cx="438023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banks vs fintech | 2010 to H1 2026</a:t>
            </a:r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1550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2026-10-14T08:15:16.6430000Z</dcterms:created>
  <dcterms:modified xsi:type="dcterms:W3CDTF">2026-10-14T08:15:16.6430000Z</dcterms:modified>
</coreProperties>
</file>